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315" r:id="rId66"/>
    <p:sldId id="259" r:id="rId9"/>
    <p:sldId id="260" r:id="rId10"/>
    <p:sldId id="261" r:id="rId11"/>
    <p:sldId id="314" r:id="rId65"/>
    <p:sldId id="262" r:id="rId12"/>
    <p:sldId id="263" r:id="rId13"/>
    <p:sldId id="264" r:id="rId14"/>
    <p:sldId id="313" r:id="rId64"/>
    <p:sldId id="265" r:id="rId15"/>
    <p:sldId id="266" r:id="rId16"/>
    <p:sldId id="267" r:id="rId17"/>
    <p:sldId id="312" r:id="rId63"/>
    <p:sldId id="268" r:id="rId18"/>
    <p:sldId id="269" r:id="rId19"/>
    <p:sldId id="270" r:id="rId20"/>
    <p:sldId id="311" r:id="rId62"/>
    <p:sldId id="271" r:id="rId21"/>
    <p:sldId id="272" r:id="rId22"/>
    <p:sldId id="273" r:id="rId23"/>
    <p:sldId id="310" r:id="rId61"/>
    <p:sldId id="274" r:id="rId24"/>
    <p:sldId id="275" r:id="rId25"/>
    <p:sldId id="276" r:id="rId26"/>
    <p:sldId id="309" r:id="rId60"/>
    <p:sldId id="277" r:id="rId27"/>
    <p:sldId id="278" r:id="rId28"/>
    <p:sldId id="279" r:id="rId29"/>
    <p:sldId id="308" r:id="rId59"/>
    <p:sldId id="280" r:id="rId30"/>
    <p:sldId id="281" r:id="rId31"/>
    <p:sldId id="282" r:id="rId32"/>
    <p:sldId id="307" r:id="rId58"/>
    <p:sldId id="283" r:id="rId33"/>
    <p:sldId id="284" r:id="rId34"/>
    <p:sldId id="285" r:id="rId35"/>
    <p:sldId id="306" r:id="rId57"/>
    <p:sldId id="286" r:id="rId36"/>
    <p:sldId id="287" r:id="rId37"/>
    <p:sldId id="288" r:id="rId38"/>
    <p:sldId id="305" r:id="rId56"/>
    <p:sldId id="289" r:id="rId39"/>
    <p:sldId id="290" r:id="rId40"/>
    <p:sldId id="291" r:id="rId41"/>
    <p:sldId id="304" r:id="rId55"/>
    <p:sldId id="292" r:id="rId42"/>
    <p:sldId id="293" r:id="rId43"/>
    <p:sldId id="294" r:id="rId44"/>
    <p:sldId id="303" r:id="rId54"/>
    <p:sldId id="295" r:id="rId45"/>
    <p:sldId id="296" r:id="rId46"/>
    <p:sldId id="297" r:id="rId47"/>
    <p:sldId id="302" r:id="rId53"/>
    <p:sldId id="298" r:id="rId48"/>
    <p:sldId id="299" r:id="rId49"/>
    <p:sldId id="300" r:id="rId50"/>
    <p:sldId id="301" r:id="rId5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i4BX6vUICEcOaR4O1rZkRE6eNL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customschemas.google.com/relationships/presentationmetadata" Target="metadata"/><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Navigation III: monarch butterfly migration and the circadian sun compass</a:t>
            </a:r>
            <a:endParaRPr/>
          </a:p>
          <a:p>
            <a:pPr indent="0" lvl="0" marL="0" rtl="0" algn="l">
              <a:spcBef>
                <a:spcPts val="0"/>
              </a:spcBef>
              <a:spcAft>
                <a:spcPts val="0"/>
              </a:spcAft>
              <a:buNone/>
            </a:pPr>
            <a:r>
              <a:rPr lang="en-US" sz="1200">
                <a:latin typeface="Arial"/>
                <a:ea typeface="Arial"/>
                <a:cs typeface="Arial"/>
                <a:sym typeface="Arial"/>
              </a:rPr>
              <a:t>Lecture 30. NEUR 411 · NEUROETHOLOGY · FALL 2026. Wednesday, November 4, 2026.</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Henrik Mouritsen; Barrie J. Frost (2002). Virtual migration in tethered flying monarch butterflies reveals their orientation mechanisms. Proceedings of the National Academy of Sciences, 99(15): 10162-10166. https://doi.org/10.1073/pnas.152137299</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Eastern North American monarch butterflies, Danaus plexippus, migrate toward overwintering sites in central Mexico. Some journeys exceed 3,500 km. A bearing is a direction measured around the horizon relative to geographic north.</a:t>
            </a:r>
            <a:endParaRPr/>
          </a:p>
          <a:p>
            <a:pPr indent="0" lvl="0" marL="0" rtl="0" algn="l">
              <a:spcBef>
                <a:spcPts val="0"/>
              </a:spcBef>
              <a:spcAft>
                <a:spcPts val="0"/>
              </a:spcAft>
              <a:buNone/>
            </a:pPr>
            <a:r>
              <a:rPr lang="en-US" sz="1200">
                <a:latin typeface="Arial"/>
                <a:ea typeface="Arial"/>
                <a:cs typeface="Arial"/>
                <a:sym typeface="Arial"/>
              </a:rPr>
              <a:t>• Mouritsen and Frost recorded autumn migrants in an outdoor flight simulator that permitted turning around a vertical tether. Butterflies maintained southwest headings under a visible sky, with a group mean of 225° when their light schedule matched local time.</a:t>
            </a:r>
            <a:endParaRPr/>
          </a:p>
          <a:p>
            <a:pPr indent="0" lvl="0" marL="0" rtl="0" algn="l">
              <a:spcBef>
                <a:spcPts val="0"/>
              </a:spcBef>
              <a:spcAft>
                <a:spcPts val="0"/>
              </a:spcAft>
              <a:buNone/>
            </a:pPr>
            <a:r>
              <a:rPr lang="en-US" sz="1200">
                <a:latin typeface="Arial"/>
                <a:ea typeface="Arial"/>
                <a:cs typeface="Arial"/>
                <a:sym typeface="Arial"/>
              </a:rPr>
              <a:t>  – Geographic bearings increase clockwise from north: east is 90°, south 180° and west 270°. A southwest heading of 225° lies between south and west. The simulator measures the direction an animal attempts to fly, whereas arrival in Mexico would require additional observations of travel and destination finding.</a:t>
            </a:r>
            <a:endParaRPr/>
          </a:p>
          <a:p>
            <a:pPr indent="0" lvl="0" marL="0" rtl="0" algn="l">
              <a:spcBef>
                <a:spcPts val="0"/>
              </a:spcBef>
              <a:spcAft>
                <a:spcPts val="0"/>
              </a:spcAft>
              <a:buNone/>
            </a:pPr>
            <a:r>
              <a:rPr lang="en-US" sz="1200">
                <a:latin typeface="Arial"/>
                <a:ea typeface="Arial"/>
                <a:cs typeface="Arial"/>
                <a:sym typeface="Arial"/>
              </a:rPr>
              <a:t>• Their sun compass uses solar direction as an orientation reference. Sustained headings establish directional behavior in this preparation, but the tether prevents actual travel. A southwest bearing alone cannot establish destination recognition, route selection or how an insect corrects displacement during a complete migration.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Henrik Mouritsen; Barrie J. Frost (2002). Virtual migration in tethered flying monarch butterflies reveals their orientation mechanisms. Proceedings of the National Academy of Sciences, 99(15): 10162-10166. https://doi.org/10.1073/pnas.152137299</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Mouritsen &amp; Frost (2002), Fig. 2(A). Local-time migrants maintain southwest headings.</a:t>
            </a:r>
            <a:endParaRPr/>
          </a:p>
          <a:p>
            <a:pPr indent="0" lvl="0" marL="0" rtl="0" algn="l">
              <a:spcBef>
                <a:spcPts val="0"/>
              </a:spcBef>
              <a:spcAft>
                <a:spcPts val="0"/>
              </a:spcAft>
              <a:buNone/>
            </a:pPr>
            <a:r>
              <a:rPr lang="en-US" sz="1200">
                <a:latin typeface="Arial"/>
                <a:ea typeface="Arial"/>
                <a:cs typeface="Arial"/>
                <a:sym typeface="Arial"/>
              </a:rPr>
              <a:t>Figure source: https://doi.org/10.1073/pnas.152137299</a:t>
            </a:r>
            <a:endParaRP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The simulator separated heading control from forward travel. A fine wire attached to the dorsal thorax allowed the butterfly to rotate freely, while a cylinder approximately 59 cm wide and 64 cm high restricted its view to the sky above.</a:t>
            </a:r>
            <a:endParaRPr/>
          </a:p>
          <a:p>
            <a:pPr indent="0" lvl="0" marL="0" rtl="0" algn="l">
              <a:spcBef>
                <a:spcPts val="0"/>
              </a:spcBef>
              <a:spcAft>
                <a:spcPts val="0"/>
              </a:spcAft>
              <a:buNone/>
            </a:pPr>
            <a:r>
              <a:rPr lang="en-US" sz="1200">
                <a:latin typeface="Arial"/>
                <a:ea typeface="Arial"/>
                <a:cs typeface="Arial"/>
                <a:sym typeface="Arial"/>
              </a:rPr>
              <a:t>• Vertical airflow supported flight without supplying a horizontal wind direction. The apparatus sampled heading every 200 ms, preserving sustained orientation and changes in course during an individual trial.</a:t>
            </a:r>
            <a:endParaRPr/>
          </a:p>
          <a:p>
            <a:pPr indent="0" lvl="0" marL="0" rtl="0" algn="l">
              <a:spcBef>
                <a:spcPts val="0"/>
              </a:spcBef>
              <a:spcAft>
                <a:spcPts val="0"/>
              </a:spcAft>
              <a:buNone/>
            </a:pPr>
            <a:r>
              <a:rPr lang="en-US" sz="1200">
                <a:latin typeface="Arial"/>
                <a:ea typeface="Arial"/>
                <a:cs typeface="Arial"/>
                <a:sym typeface="Arial"/>
              </a:rPr>
              <a:t>  – The tether fixes position but leaves the relevant horizontal turning movement available. A virtual track integrates recorded headings under the authors’ speed assumption of 18 km/h. Neither a long reconstructed path nor a straight one means that the tethered insect actually covered that distance.</a:t>
            </a:r>
            <a:endParaRPr/>
          </a:p>
          <a:p>
            <a:pPr indent="0" lvl="0" marL="0" rtl="0" algn="l">
              <a:spcBef>
                <a:spcPts val="0"/>
              </a:spcBef>
              <a:spcAft>
                <a:spcPts val="0"/>
              </a:spcAft>
              <a:buNone/>
            </a:pPr>
            <a:r>
              <a:rPr lang="en-US" sz="1200">
                <a:latin typeface="Arial"/>
                <a:ea typeface="Arial"/>
                <a:cs typeface="Arial"/>
                <a:sym typeface="Arial"/>
              </a:rPr>
              <a:t>• Published virtual trajectories were reconstructed from those headings using an assumed flight speed. Their apparent distances are therefore calculated paths, not measured displacement. The original trajectories retain evidence of stable versus variable heading, while the preparation excludes landscape landmarks and limits conclusions about unrestricted flight. These constraints allow solar orientation to be tested under controlled visual access.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Henrik Mouritsen; Barrie J. Frost (2002). Virtual migration in tethered flying monarch butterflies reveals their orientation mechanisms. Proceedings of the National Academy of Sciences, 99(15): 10162-10166. https://doi.org/10.1073/pnas.152137299</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Mouritsen &amp; Frost (2002), Fig. 1(B–D). Published virtual trajectories derived from tethered headings.</a:t>
            </a:r>
            <a:endParaRPr/>
          </a:p>
          <a:p>
            <a:pPr indent="0" lvl="0" marL="0" rtl="0" algn="l">
              <a:spcBef>
                <a:spcPts val="0"/>
              </a:spcBef>
              <a:spcAft>
                <a:spcPts val="0"/>
              </a:spcAft>
              <a:buNone/>
            </a:pPr>
            <a:r>
              <a:rPr lang="en-US" sz="1200">
                <a:latin typeface="Arial"/>
                <a:ea typeface="Arial"/>
                <a:cs typeface="Arial"/>
                <a:sym typeface="Arial"/>
              </a:rPr>
              <a:t>Figure source: https://doi.org/10.1073/pnas.152137299</a:t>
            </a:r>
            <a:endParaRPr/>
          </a:p>
        </p:txBody>
      </p:sp>
      <p:sp>
        <p:nvSpPr>
          <p:cNvPr id="108" name="Google Shape;10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 consistent tethered heading could arise from an unnoticed feature of the simulator rather than a geographic cue. Mouritsen and Frost therefore rotated the entire apparatus and separately rotated its components during directional flight.</a:t>
            </a:r>
            <a:endParaRPr/>
          </a:p>
          <a:p>
            <a:pPr indent="0" lvl="0" marL="0" rtl="0" algn="l">
              <a:spcBef>
                <a:spcPts val="0"/>
              </a:spcBef>
              <a:spcAft>
                <a:spcPts val="0"/>
              </a:spcAft>
              <a:buNone/>
            </a:pPr>
            <a:r>
              <a:rPr lang="en-US" sz="1200">
                <a:latin typeface="Arial"/>
                <a:ea typeface="Arial"/>
                <a:cs typeface="Arial"/>
                <a:sym typeface="Arial"/>
              </a:rPr>
              <a:t>• Butterflies did not follow the new apparatus orientation. When an individual was manually turned away from its established heading, it could return toward the previous geographic direction. The heading records contained sustained orientation despite the absence of forward movement.</a:t>
            </a:r>
            <a:endParaRPr/>
          </a:p>
          <a:p>
            <a:pPr indent="0" lvl="0" marL="0" rtl="0" algn="l">
              <a:spcBef>
                <a:spcPts val="0"/>
              </a:spcBef>
              <a:spcAft>
                <a:spcPts val="0"/>
              </a:spcAft>
              <a:buNone/>
            </a:pPr>
            <a:r>
              <a:rPr lang="en-US" sz="1200">
                <a:latin typeface="Arial"/>
                <a:ea typeface="Arial"/>
                <a:cs typeface="Arial"/>
                <a:sym typeface="Arial"/>
              </a:rPr>
              <a:t>  – The same geographic direction has a different relationship to the apparatus after rotation. Maintaining that direction is therefore inconsistent with following a mark that rotates with the cylinder. This control does not eliminate every sensory artifact, and the virtual trajectories remain reconstructions rather than movement through a landscape.</a:t>
            </a:r>
            <a:endParaRPr/>
          </a:p>
          <a:p>
            <a:pPr indent="0" lvl="0" marL="0" rtl="0" algn="l">
              <a:spcBef>
                <a:spcPts val="0"/>
              </a:spcBef>
              <a:spcAft>
                <a:spcPts val="0"/>
              </a:spcAft>
              <a:buNone/>
            </a:pPr>
            <a:r>
              <a:rPr lang="en-US" sz="1200">
                <a:latin typeface="Arial"/>
                <a:ea typeface="Arial"/>
                <a:cs typeface="Arial"/>
                <a:sym typeface="Arial"/>
              </a:rPr>
              <a:t>• These controls reduce explanations based on a fixed mark, mechanical asymmetry or the tether’s angular position. They do not specify which sky cue is necessary. An intervention that changes internal time while retaining the same external sky can distinguish solar orientation with time compensation from a response determined only by the current sun position.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Henrik Mouritsen; Barrie J. Frost (2002). Virtual migration in tethered flying monarch butterflies reveals their orientation mechanisms. Proceedings of the National Academy of Sciences, 99(15): 10162-10166. https://doi.org/10.1073/pnas.152137299</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Mouritsen &amp; Frost (2002), Fig. 1(B–D). Published virtual trajectories derived from tethered headings.</a:t>
            </a:r>
            <a:endParaRPr/>
          </a:p>
          <a:p>
            <a:pPr indent="0" lvl="0" marL="0" rtl="0" algn="l">
              <a:spcBef>
                <a:spcPts val="0"/>
              </a:spcBef>
              <a:spcAft>
                <a:spcPts val="0"/>
              </a:spcAft>
              <a:buNone/>
            </a:pPr>
            <a:r>
              <a:rPr lang="en-US" sz="1200">
                <a:latin typeface="Arial"/>
                <a:ea typeface="Arial"/>
                <a:cs typeface="Arial"/>
                <a:sym typeface="Arial"/>
              </a:rPr>
              <a:t>Figure source: https://doi.org/10.1073/pnas.152137299</a:t>
            </a:r>
            <a:endParaRPr/>
          </a:p>
        </p:txBody>
      </p:sp>
      <p:sp>
        <p:nvSpPr>
          <p:cNvPr id="120" name="Google Shape;12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Time compensation adjusts compass output as the sun changes its position during the day. A circadian clock is an internal timing system with a rhythm close to 24 h; entrainment aligns its phase with a recurring environmental cycle.</a:t>
            </a:r>
            <a:endParaRPr/>
          </a:p>
          <a:p>
            <a:pPr indent="0" lvl="0" marL="0" rtl="0" algn="l">
              <a:spcBef>
                <a:spcPts val="0"/>
              </a:spcBef>
              <a:spcAft>
                <a:spcPts val="0"/>
              </a:spcAft>
              <a:buNone/>
            </a:pPr>
            <a:r>
              <a:rPr lang="en-US" sz="1200">
                <a:latin typeface="Arial"/>
                <a:ea typeface="Arial"/>
                <a:cs typeface="Arial"/>
                <a:sym typeface="Arial"/>
              </a:rPr>
              <a:t>• Migrants experienced a 12-h light:12-h dark cycle advanced by 6 h for at least five days. Tested outdoors under the same actual sky as local-time controls, the advanced group oriented near 136°, toward the southeast, rather than the controls’ 225° southwest.</a:t>
            </a:r>
            <a:endParaRPr/>
          </a:p>
          <a:p>
            <a:pPr indent="0" lvl="0" marL="0" rtl="0" algn="l">
              <a:spcBef>
                <a:spcPts val="0"/>
              </a:spcBef>
              <a:spcAft>
                <a:spcPts val="0"/>
              </a:spcAft>
              <a:buNone/>
            </a:pPr>
            <a:r>
              <a:rPr lang="en-US" sz="1200">
                <a:latin typeface="Arial"/>
                <a:ea typeface="Arial"/>
                <a:cs typeface="Arial"/>
                <a:sym typeface="Arial"/>
              </a:rPr>
              <a:t>  – Phase is the position within a repeating cycle, such as the timing of light onset. Advancing the light schedule changes the animal’s temporal interpretation while the testing sky remains shared with controls. The observed angular shift belongs to these dates and solar positions; a 6-h clock shift does not imply one universal rotation angle.</a:t>
            </a:r>
            <a:endParaRPr/>
          </a:p>
          <a:p>
            <a:pPr indent="0" lvl="0" marL="0" rtl="0" algn="l">
              <a:spcBef>
                <a:spcPts val="0"/>
              </a:spcBef>
              <a:spcAft>
                <a:spcPts val="0"/>
              </a:spcAft>
              <a:buNone/>
            </a:pPr>
            <a:r>
              <a:rPr lang="en-US" sz="1200">
                <a:latin typeface="Arial"/>
                <a:ea typeface="Arial"/>
                <a:cs typeface="Arial"/>
                <a:sym typeface="Arial"/>
              </a:rPr>
              <a:t>• The approximately 89° counterclockwise change links orientation to internal time. An insect treating the afternoon sun as a later time must select a different bearing to maintain its programmed compass relationship. The manipulation supports a time-compensated sun compass, without identifying the clock tissue or its neural output.</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Henrik Mouritsen; Barrie J. Frost (2002). Virtual migration in tethered flying monarch butterflies reveals their orientation mechanisms. Proceedings of the National Academy of Sciences, 99(15): 10162-10166. https://doi.org/10.1073/pnas.152137299</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Mouritsen &amp; Frost (2002), Fig. 2(A–C). Headings on local, advanced and delayed light cycles.</a:t>
            </a:r>
            <a:endParaRPr/>
          </a:p>
          <a:p>
            <a:pPr indent="0" lvl="0" marL="0" rtl="0" algn="l">
              <a:spcBef>
                <a:spcPts val="0"/>
              </a:spcBef>
              <a:spcAft>
                <a:spcPts val="0"/>
              </a:spcAft>
              <a:buNone/>
            </a:pPr>
            <a:r>
              <a:rPr lang="en-US" sz="1200">
                <a:latin typeface="Arial"/>
                <a:ea typeface="Arial"/>
                <a:cs typeface="Arial"/>
                <a:sym typeface="Arial"/>
              </a:rPr>
              <a:t>Figure source: https://doi.org/10.1073/pnas.152137299</a:t>
            </a:r>
            <a:endParaRPr/>
          </a:p>
        </p:txBody>
      </p:sp>
      <p:sp>
        <p:nvSpPr>
          <p:cNvPr id="132" name="Google Shape;13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 reciprocal clock manipulation tests whether the heading change has the direction expected from solar time compensation. Mouritsen and Frost delayed the entraining 12-h light:12-h dark cycle by 6 h before testing autumn migrants in the same simulator.</a:t>
            </a:r>
            <a:endParaRPr/>
          </a:p>
          <a:p>
            <a:pPr indent="0" lvl="0" marL="0" rtl="0" algn="l">
              <a:spcBef>
                <a:spcPts val="0"/>
              </a:spcBef>
              <a:spcAft>
                <a:spcPts val="0"/>
              </a:spcAft>
              <a:buNone/>
            </a:pPr>
            <a:r>
              <a:rPr lang="en-US" sz="1200">
                <a:latin typeface="Arial"/>
                <a:ea typeface="Arial"/>
                <a:cs typeface="Arial"/>
                <a:sym typeface="Arial"/>
              </a:rPr>
              <a:t>• Delayed butterflies oriented near 335°, toward the northwest. Relative to the local-time mean of 225°, their heading changed approximately 110° clockwise, opposite to the counterclockwise change after a 6-h advance.</a:t>
            </a:r>
            <a:endParaRPr/>
          </a:p>
          <a:p>
            <a:pPr indent="0" lvl="0" marL="0" rtl="0" algn="l">
              <a:spcBef>
                <a:spcPts val="0"/>
              </a:spcBef>
              <a:spcAft>
                <a:spcPts val="0"/>
              </a:spcAft>
              <a:buNone/>
            </a:pPr>
            <a:r>
              <a:rPr lang="en-US" sz="1200">
                <a:latin typeface="Arial"/>
                <a:ea typeface="Arial"/>
                <a:cs typeface="Arial"/>
                <a:sym typeface="Arial"/>
              </a:rPr>
              <a:t>  – A geographic map would provide information about position or destination, whereas a compass provides a direction. Advancing and delaying time can alter a compass even if the insect has no positional information. The observed clock-shift responses therefore support directional time compensation without resolving a map mechanism.</a:t>
            </a:r>
            <a:endParaRPr/>
          </a:p>
          <a:p>
            <a:pPr indent="0" lvl="0" marL="0" rtl="0" algn="l">
              <a:spcBef>
                <a:spcPts val="0"/>
              </a:spcBef>
              <a:spcAft>
                <a:spcPts val="0"/>
              </a:spcAft>
              <a:buNone/>
            </a:pPr>
            <a:r>
              <a:rPr lang="en-US" sz="1200">
                <a:latin typeface="Arial"/>
                <a:ea typeface="Arial"/>
                <a:cs typeface="Arial"/>
                <a:sym typeface="Arial"/>
              </a:rPr>
              <a:t>• The two shifts support a signed relationship between clock phase and compass direction rather than a nonspecific disturbance from laboratory housing. Their unequal magnitudes reflect the observed solar geometry and experimental conditions. These results establish a compass response to manipulated time, rather than a direct measure of the complete molecular clock or a geographic map.</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Henrik Mouritsen; Barrie J. Frost (2002). Virtual migration in tethered flying monarch butterflies reveals their orientation mechanisms. Proceedings of the National Academy of Sciences, 99(15): 10162-10166. https://doi.org/10.1073/pnas.152137299</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Mouritsen &amp; Frost (2002), Fig. 2(A–C). Headings on local, advanced and delayed light cycles.</a:t>
            </a:r>
            <a:endParaRPr/>
          </a:p>
          <a:p>
            <a:pPr indent="0" lvl="0" marL="0" rtl="0" algn="l">
              <a:spcBef>
                <a:spcPts val="0"/>
              </a:spcBef>
              <a:spcAft>
                <a:spcPts val="0"/>
              </a:spcAft>
              <a:buNone/>
            </a:pPr>
            <a:r>
              <a:rPr lang="en-US" sz="1200">
                <a:latin typeface="Arial"/>
                <a:ea typeface="Arial"/>
                <a:cs typeface="Arial"/>
                <a:sym typeface="Arial"/>
              </a:rPr>
              <a:t>Figure source: https://doi.org/10.1073/pnas.152137299</a:t>
            </a:r>
            <a:endParaRPr/>
          </a:p>
        </p:txBody>
      </p:sp>
      <p:sp>
        <p:nvSpPr>
          <p:cNvPr id="144" name="Google Shape;14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Froy and colleagues compared migrants entrained to local or 6-h-advanced light schedules. Under normal light–dark conditions, their mean headings were 233° and 118°, respectively, retaining the expected dependence on internal time.</a:t>
            </a:r>
            <a:endParaRPr/>
          </a:p>
          <a:p>
            <a:pPr indent="0" lvl="0" marL="0" rtl="0" algn="l">
              <a:spcBef>
                <a:spcPts val="0"/>
              </a:spcBef>
              <a:spcAft>
                <a:spcPts val="0"/>
              </a:spcAft>
              <a:buNone/>
            </a:pPr>
            <a:r>
              <a:rPr lang="en-US" sz="1200">
                <a:latin typeface="Arial"/>
                <a:ea typeface="Arial"/>
                <a:cs typeface="Arial"/>
                <a:sym typeface="Arial"/>
              </a:rPr>
              <a:t>• After five days in constant light, uninterrupted illumination rather than a daily light–dark cycle, the two groups no longer retained their distinct compass bearings. They oriented near 161° while the sun lay approximately between 136° and 160°.</a:t>
            </a:r>
            <a:endParaRPr/>
          </a:p>
          <a:p>
            <a:pPr indent="0" lvl="0" marL="0" rtl="0" algn="l">
              <a:spcBef>
                <a:spcPts val="0"/>
              </a:spcBef>
              <a:spcAft>
                <a:spcPts val="0"/>
              </a:spcAft>
              <a:buNone/>
            </a:pPr>
            <a:r>
              <a:rPr lang="en-US" sz="1200">
                <a:latin typeface="Arial"/>
                <a:ea typeface="Arial"/>
                <a:cs typeface="Arial"/>
                <a:sym typeface="Arial"/>
              </a:rPr>
              <a:t>  – The butterflies remained capable of directional flight after constant-light exposure. Losing the separation between previously entrained groups is therefore different from becoming unable to fly. Orientation close to the solar azimuth can persist when normal time compensation is disrupted, but that relationship alone does not establish the underlying sensory rule.</a:t>
            </a:r>
            <a:endParaRPr/>
          </a:p>
          <a:p>
            <a:pPr indent="0" lvl="0" marL="0" rtl="0" algn="l">
              <a:spcBef>
                <a:spcPts val="0"/>
              </a:spcBef>
              <a:spcAft>
                <a:spcPts val="0"/>
              </a:spcAft>
              <a:buNone/>
            </a:pPr>
            <a:r>
              <a:rPr lang="en-US" sz="1200">
                <a:latin typeface="Arial"/>
                <a:ea typeface="Arial"/>
                <a:cs typeface="Arial"/>
                <a:sym typeface="Arial"/>
              </a:rPr>
              <a:t>• A direction toward the current sun is compatible with positive phototaxis, movement toward a light source. Such orientation differs from maintaining a migration bearing as the sun moves. Constant light disrupts normal circadian organization, but it can affect other physiological processes; the treatment does not selectively isolate one clock molecule.</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Oren Froy; Anthony L. Gotter; Amy L. Casselman; Steven M. Reppert (2003). Illuminating the Circadian Clock in Monarch Butterfly Migration. Science, 300(5623): 1303-1305. https://doi.org/10.1126/science.1084874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Froy et al. (2003), Fig. 2. Orientation after shifted cycles or constant light.</a:t>
            </a:r>
            <a:endParaRPr/>
          </a:p>
          <a:p>
            <a:pPr indent="0" lvl="0" marL="0" rtl="0" algn="l">
              <a:spcBef>
                <a:spcPts val="0"/>
              </a:spcBef>
              <a:spcAft>
                <a:spcPts val="0"/>
              </a:spcAft>
              <a:buNone/>
            </a:pPr>
            <a:r>
              <a:rPr lang="en-US" sz="1200">
                <a:latin typeface="Arial"/>
                <a:ea typeface="Arial"/>
                <a:cs typeface="Arial"/>
                <a:sym typeface="Arial"/>
              </a:rPr>
              <a:t>Figure source: https://doi.org/10.1126/science.1084874</a:t>
            </a:r>
            <a:endParaRPr/>
          </a:p>
        </p:txBody>
      </p:sp>
      <p:sp>
        <p:nvSpPr>
          <p:cNvPr id="156" name="Google Shape;15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Ultraviolet light, or UV, has shorter wavelengths than human-visible violet light. Froy and colleagues placed a filter blocking wavelengths below 394 nm over outdoor flight tests while retaining approximately 87% of photopic luminous transmission.</a:t>
            </a:r>
            <a:endParaRPr/>
          </a:p>
          <a:p>
            <a:pPr indent="0" lvl="0" marL="0" rtl="0" algn="l">
              <a:spcBef>
                <a:spcPts val="0"/>
              </a:spcBef>
              <a:spcAft>
                <a:spcPts val="0"/>
              </a:spcAft>
              <a:buNone/>
            </a:pPr>
            <a:r>
              <a:rPr lang="en-US" sz="1200">
                <a:latin typeface="Arial"/>
                <a:ea typeface="Arial"/>
                <a:cs typeface="Arial"/>
                <a:sym typeface="Arial"/>
              </a:rPr>
              <a:t>• The filter interrupted sustained flight or altered heading records; removing it restored sustained flight in most affected butterflies. Sauman and colleagues localized UV-sensitive visual pigment to the dorsal rim area, a specialized strip along the upper compound-eye margin.</a:t>
            </a:r>
            <a:endParaRPr/>
          </a:p>
          <a:p>
            <a:pPr indent="0" lvl="0" marL="0" rtl="0" algn="l">
              <a:spcBef>
                <a:spcPts val="0"/>
              </a:spcBef>
              <a:spcAft>
                <a:spcPts val="0"/>
              </a:spcAft>
              <a:buNone/>
            </a:pPr>
            <a:r>
              <a:rPr lang="en-US" sz="1200">
                <a:latin typeface="Arial"/>
                <a:ea typeface="Arial"/>
                <a:cs typeface="Arial"/>
                <a:sym typeface="Arial"/>
              </a:rPr>
              <a:t>  – Photopic luminous transmission weights light according to human daylight vision. Retaining most of that measure does not mean that a monarch receives an unchanged stimulus. Removing UV can alter a sensory channel disproportionately even when the scene remains visibly bright to a human observer. The eye staining identifies a UV-specialized region, while the flight manipulation tests behavior.</a:t>
            </a:r>
            <a:endParaRPr/>
          </a:p>
          <a:p>
            <a:pPr indent="0" lvl="0" marL="0" rtl="0" algn="l">
              <a:spcBef>
                <a:spcPts val="0"/>
              </a:spcBef>
              <a:spcAft>
                <a:spcPts val="0"/>
              </a:spcAft>
              <a:buNone/>
            </a:pPr>
            <a:r>
              <a:rPr lang="en-US" sz="1200">
                <a:latin typeface="Arial"/>
                <a:ea typeface="Arial"/>
                <a:cs typeface="Arial"/>
                <a:sym typeface="Arial"/>
              </a:rPr>
              <a:t>• The reversible effect associates the available UV signal with flight under these conditions. It does not uniquely establish a polarization compass, because the intervention changes spectral input and the continuity of flight together. A loss of stable heading may result partly from altered flight behavior rather than selective removal of directional information.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Oren Froy; Anthony L. Gotter; Amy L. Casselman; Steven M. Reppert (2003). Illuminating the Circadian Clock in Monarch Butterfly Migration. Science, 300(5623): 1303-1305. https://doi.org/10.1126/science.1084874</a:t>
            </a:r>
            <a:endParaRPr/>
          </a:p>
          <a:p>
            <a:pPr indent="0" lvl="0" marL="0" rtl="0" algn="l">
              <a:spcBef>
                <a:spcPts val="0"/>
              </a:spcBef>
              <a:spcAft>
                <a:spcPts val="0"/>
              </a:spcAft>
              <a:buNone/>
            </a:pPr>
            <a:r>
              <a:rPr lang="en-US" sz="1200">
                <a:latin typeface="Arial"/>
                <a:ea typeface="Arial"/>
                <a:cs typeface="Arial"/>
                <a:sym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Froy et al. (2003), Fig. 3(C). Heading distributions before, during and after UV interference.</a:t>
            </a:r>
            <a:endParaRPr/>
          </a:p>
          <a:p>
            <a:pPr indent="0" lvl="0" marL="0" rtl="0" algn="l">
              <a:spcBef>
                <a:spcPts val="0"/>
              </a:spcBef>
              <a:spcAft>
                <a:spcPts val="0"/>
              </a:spcAft>
              <a:buNone/>
            </a:pPr>
            <a:r>
              <a:rPr lang="en-US" sz="1200">
                <a:latin typeface="Arial"/>
                <a:ea typeface="Arial"/>
                <a:cs typeface="Arial"/>
                <a:sym typeface="Arial"/>
              </a:rPr>
              <a:t>Figure source: https://doi.org/10.1126/science.1084874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Sauman et al. (2005), Fig. 3(D). UV opsin staining in the dorsal rim area.</a:t>
            </a:r>
            <a:endParaRPr/>
          </a:p>
          <a:p>
            <a:pPr indent="0" lvl="0" marL="0" rtl="0" algn="l">
              <a:spcBef>
                <a:spcPts val="0"/>
              </a:spcBef>
              <a:spcAft>
                <a:spcPts val="0"/>
              </a:spcAft>
              <a:buNone/>
            </a:pPr>
            <a:r>
              <a:rPr lang="en-US" sz="1200">
                <a:latin typeface="Arial"/>
                <a:ea typeface="Arial"/>
                <a:cs typeface="Arial"/>
                <a:sym typeface="Arial"/>
              </a:rPr>
              <a:t>Figure source: https://doi.org/10.1016/j.neuron.2005.03.014</a:t>
            </a:r>
            <a:endParaRPr/>
          </a:p>
        </p:txBody>
      </p:sp>
      <p:sp>
        <p:nvSpPr>
          <p:cNvPr id="168" name="Google Shape;16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The wavelengths needed for an oriented-flight assay need not be identical to those that entrain the clock. Froy and colleagues reared pupae under light–dark cycles with a UV-blocking filter and measured the timing of eclosion, adult emergence from the pupal case.</a:t>
            </a:r>
            <a:endParaRPr/>
          </a:p>
          <a:p>
            <a:pPr indent="0" lvl="0" marL="0" rtl="0" algn="l">
              <a:spcBef>
                <a:spcPts val="0"/>
              </a:spcBef>
              <a:spcAft>
                <a:spcPts val="0"/>
              </a:spcAft>
              <a:buNone/>
            </a:pPr>
            <a:r>
              <a:rPr lang="en-US" sz="1200">
                <a:latin typeface="Arial"/>
                <a:ea typeface="Arial"/>
                <a:cs typeface="Arial"/>
                <a:sym typeface="Arial"/>
              </a:rPr>
              <a:t>• Emergence remained concentrated at a particular phase of the daily cycle. Advancing the UV-filtered light schedule by 6 h moved the emergence peaks approximately 5.5 h apart, establishing effective temporal entrainment without ultraviolet illumination.</a:t>
            </a:r>
            <a:endParaRPr/>
          </a:p>
          <a:p>
            <a:pPr indent="0" lvl="0" marL="0" rtl="0" algn="l">
              <a:spcBef>
                <a:spcPts val="0"/>
              </a:spcBef>
              <a:spcAft>
                <a:spcPts val="0"/>
              </a:spcAft>
              <a:buNone/>
            </a:pPr>
            <a:r>
              <a:rPr lang="en-US" sz="1200">
                <a:latin typeface="Arial"/>
                <a:ea typeface="Arial"/>
                <a:cs typeface="Arial"/>
                <a:sym typeface="Arial"/>
              </a:rPr>
              <a:t>  – The pupal emergence assay and the adult flight assay measure different behaviors at different developmental stages. A spectral treatment can preserve one while disrupting the other. The 5.5-h separation refers to observed emergence peaks after the two light schedules, rather than a measured angular change in flight direction.</a:t>
            </a:r>
            <a:endParaRPr/>
          </a:p>
          <a:p>
            <a:pPr indent="0" lvl="0" marL="0" rtl="0" algn="l">
              <a:spcBef>
                <a:spcPts val="0"/>
              </a:spcBef>
              <a:spcAft>
                <a:spcPts val="0"/>
              </a:spcAft>
              <a:buNone/>
            </a:pPr>
            <a:r>
              <a:rPr lang="en-US" sz="1200">
                <a:latin typeface="Arial"/>
                <a:ea typeface="Arial"/>
                <a:cs typeface="Arial"/>
                <a:sym typeface="Arial"/>
              </a:rPr>
              <a:t>• The result separates a timing response from the previously observed flight disruption. Visible wavelengths can convey daily timing information in this preparation. Eclosion is an output of circadian organization, however, and its entrainment does not by itself identify the sensory pathway that supports migratory heading in an adult.</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Oren Froy; Anthony L. Gotter; Amy L. Casselman; Steven M. Reppert (2003). Illuminating the Circadian Clock in Monarch Butterfly Migration. Science, 300(5623): 1303-1305. https://doi.org/10.1126/science.1084874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Froy et al. (2003), Fig. 3(D). Adult emergence entrained without ultraviolet light.</a:t>
            </a:r>
            <a:endParaRPr/>
          </a:p>
          <a:p>
            <a:pPr indent="0" lvl="0" marL="0" rtl="0" algn="l">
              <a:spcBef>
                <a:spcPts val="0"/>
              </a:spcBef>
              <a:spcAft>
                <a:spcPts val="0"/>
              </a:spcAft>
              <a:buNone/>
            </a:pPr>
            <a:r>
              <a:rPr lang="en-US" sz="1200">
                <a:latin typeface="Arial"/>
                <a:ea typeface="Arial"/>
                <a:cs typeface="Arial"/>
                <a:sym typeface="Arial"/>
              </a:rPr>
              <a:t>Figure source: https://doi.org/10.1126/science.1084874</a:t>
            </a:r>
            <a:endParaRPr/>
          </a:p>
        </p:txBody>
      </p:sp>
      <p:sp>
        <p:nvSpPr>
          <p:cNvPr id="182" name="Google Shape;182;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 compound eye contains repeated optical units called ommatidia. Each monarch ommatidium contains photoreceptor cells whose light-sensitive membrane forms a rhabdom. An opsin is the protein component of a visual pigment that contributes to its spectral sensitivity.</a:t>
            </a:r>
            <a:endParaRPr/>
          </a:p>
          <a:p>
            <a:pPr indent="0" lvl="0" marL="0" rtl="0" algn="l">
              <a:spcBef>
                <a:spcPts val="0"/>
              </a:spcBef>
              <a:spcAft>
                <a:spcPts val="0"/>
              </a:spcAft>
              <a:buNone/>
            </a:pPr>
            <a:r>
              <a:rPr lang="en-US" sz="1200">
                <a:latin typeface="Arial"/>
                <a:ea typeface="Arial"/>
                <a:cs typeface="Arial"/>
                <a:sym typeface="Arial"/>
              </a:rPr>
              <a:t>• Sauman and colleagues used in situ hybridization, labeled probes that locate specific RNA sequences in tissue sections, to identify UV-, blue- and long-wavelength opsin expression. UV and blue opsin RNA occupied R1 or R2 cells; long-wavelength opsin RNA occupied R3–R8.</a:t>
            </a:r>
            <a:endParaRPr/>
          </a:p>
          <a:p>
            <a:pPr indent="0" lvl="0" marL="0" rtl="0" algn="l">
              <a:spcBef>
                <a:spcPts val="0"/>
              </a:spcBef>
              <a:spcAft>
                <a:spcPts val="0"/>
              </a:spcAft>
              <a:buNone/>
            </a:pPr>
            <a:r>
              <a:rPr lang="en-US" sz="1200">
                <a:latin typeface="Arial"/>
                <a:ea typeface="Arial"/>
                <a:cs typeface="Arial"/>
                <a:sym typeface="Arial"/>
              </a:rPr>
              <a:t>  – RNA is a molecular transcript used in producing a protein. The probes distinguish opsin transcripts rather than recording receptor voltage. Adjacent tissue sections allowed cells with different transcripts to be compared. An ommatidium’s spectral composition concerns its receptor molecules; the eventual compass response also depends on neural processing after light detection.</a:t>
            </a:r>
            <a:endParaRPr/>
          </a:p>
          <a:p>
            <a:pPr indent="0" lvl="0" marL="0" rtl="0" algn="l">
              <a:spcBef>
                <a:spcPts val="0"/>
              </a:spcBef>
              <a:spcAft>
                <a:spcPts val="0"/>
              </a:spcAft>
              <a:buNone/>
            </a:pPr>
            <a:r>
              <a:rPr lang="en-US" sz="1200">
                <a:latin typeface="Arial"/>
                <a:ea typeface="Arial"/>
                <a:cs typeface="Arial"/>
                <a:sym typeface="Arial"/>
              </a:rPr>
              <a:t>• These distributions establish distinct molecular receptor types in the main retina. They support multiple spectral inputs to vision, but RNA localization alone does not measure a cell’s electrical response or the sensitivity of an entire compass neuron. The reported patterns do not identify downstream transmitters, ion channels or synaptic connections.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Sauman et al. (2005), Fig. 2(A–C). UV, blue and long-wavelength opsin RNA in retinal cells.</a:t>
            </a:r>
            <a:endParaRPr/>
          </a:p>
          <a:p>
            <a:pPr indent="0" lvl="0" marL="0" rtl="0" algn="l">
              <a:spcBef>
                <a:spcPts val="0"/>
              </a:spcBef>
              <a:spcAft>
                <a:spcPts val="0"/>
              </a:spcAft>
              <a:buNone/>
            </a:pPr>
            <a:r>
              <a:rPr lang="en-US" sz="1200">
                <a:latin typeface="Arial"/>
                <a:ea typeface="Arial"/>
                <a:cs typeface="Arial"/>
                <a:sym typeface="Arial"/>
              </a:rPr>
              <a:t>Figure source: https://doi.org/10.1016/j.neuron.2005.03.014</a:t>
            </a:r>
            <a:endParaRPr/>
          </a:p>
        </p:txBody>
      </p:sp>
      <p:sp>
        <p:nvSpPr>
          <p:cNvPr id="194" name="Google Shape;194;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The dorsal rim area differs molecularly from adjacent main-retina ommatidia. Sauman and colleagues found UV opsin RNA throughout R1–R8 in this strip, with no detected blue or long-wavelength opsin RNA in those dorsal-rim cells.</a:t>
            </a:r>
            <a:endParaRPr/>
          </a:p>
          <a:p>
            <a:pPr indent="0" lvl="0" marL="0" rtl="0" algn="l">
              <a:spcBef>
                <a:spcPts val="0"/>
              </a:spcBef>
              <a:spcAft>
                <a:spcPts val="0"/>
              </a:spcAft>
              <a:buNone/>
            </a:pPr>
            <a:r>
              <a:rPr lang="en-US" sz="1200">
                <a:latin typeface="Arial"/>
                <a:ea typeface="Arial"/>
                <a:cs typeface="Arial"/>
                <a:sym typeface="Arial"/>
              </a:rPr>
              <a:t>• The specialization extended approximately 40–50 ommatidia along the eye margin and one to three ommatidia inward, totaling roughly 100 per eye. Antibody labeling localized UV opsin protein to their rhabdoms; adjacent retinal tissue provided a comparison with mixed receptor types.</a:t>
            </a:r>
            <a:endParaRPr/>
          </a:p>
          <a:p>
            <a:pPr indent="0" lvl="0" marL="0" rtl="0" algn="l">
              <a:spcBef>
                <a:spcPts val="0"/>
              </a:spcBef>
              <a:spcAft>
                <a:spcPts val="0"/>
              </a:spcAft>
              <a:buNone/>
            </a:pPr>
            <a:r>
              <a:rPr lang="en-US" sz="1200">
                <a:latin typeface="Arial"/>
                <a:ea typeface="Arial"/>
                <a:cs typeface="Arial"/>
                <a:sym typeface="Arial"/>
              </a:rPr>
              <a:t>  – Antibody labeling detects the visual-pigment protein, complementing the RNA probes. The anatomical difference is localized to a narrow dorsal strip rather than the entire retina. Photoreceptor geometry and behavioral use are additional questions: UV expression identifies a sensory specialization but does not establish a complete navigational computation.</a:t>
            </a:r>
            <a:endParaRPr/>
          </a:p>
          <a:p>
            <a:pPr indent="0" lvl="0" marL="0" rtl="0" algn="l">
              <a:spcBef>
                <a:spcPts val="0"/>
              </a:spcBef>
              <a:spcAft>
                <a:spcPts val="0"/>
              </a:spcAft>
              <a:buNone/>
            </a:pPr>
            <a:r>
              <a:rPr lang="en-US" sz="1200">
                <a:latin typeface="Arial"/>
                <a:ea typeface="Arial"/>
                <a:cs typeface="Arial"/>
                <a:sym typeface="Arial"/>
              </a:rPr>
              <a:t>• A common spectral class is consistent with sampling polarization without mixing distinct color signals. Linear polarization specifies the orientation of the light wave’s electric field. Molecular specialization supports a candidate polarization input, but selective expression alone does not establish how the animal uses that input during migration.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Sauman et al. (2005), Fig. 3(A–D). UV-specialized ommatidia in the dorsal rim area.</a:t>
            </a:r>
            <a:endParaRPr/>
          </a:p>
          <a:p>
            <a:pPr indent="0" lvl="0" marL="0" rtl="0" algn="l">
              <a:spcBef>
                <a:spcPts val="0"/>
              </a:spcBef>
              <a:spcAft>
                <a:spcPts val="0"/>
              </a:spcAft>
              <a:buNone/>
            </a:pPr>
            <a:r>
              <a:rPr lang="en-US" sz="1200">
                <a:latin typeface="Arial"/>
                <a:ea typeface="Arial"/>
                <a:cs typeface="Arial"/>
                <a:sym typeface="Arial"/>
              </a:rPr>
              <a:t>Figure source: https://doi.org/10.1016/j.neuron.2005.03.014</a:t>
            </a:r>
            <a:endParaRPr/>
          </a:p>
        </p:txBody>
      </p:sp>
      <p:sp>
        <p:nvSpPr>
          <p:cNvPr id="206" name="Google Shape;206;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Sauman and colleagues tested tethered monarchs beneath a linear polarizing filter that restricted skylight access to an 80° field and excluded direct sight of the sun. Turning the filter by 90° changed the available electric-field orientation.</a:t>
            </a:r>
            <a:endParaRPr/>
          </a:p>
          <a:p>
            <a:pPr indent="0" lvl="0" marL="0" rtl="0" algn="l">
              <a:spcBef>
                <a:spcPts val="0"/>
              </a:spcBef>
              <a:spcAft>
                <a:spcPts val="0"/>
              </a:spcAft>
              <a:buNone/>
            </a:pPr>
            <a:r>
              <a:rPr lang="en-US" sz="1200">
                <a:latin typeface="Arial"/>
                <a:ea typeface="Arial"/>
                <a:cs typeface="Arial"/>
                <a:sym typeface="Arial"/>
              </a:rPr>
              <a:t>• Sequential 5-min records compared flight before rotation, after rotation, during UV interference below 397 nm, and after removing the UV filter. UV interference often produced circling and reduced virtual progress by at least 70%; removal restored sustained directional flight.</a:t>
            </a:r>
            <a:endParaRPr/>
          </a:p>
          <a:p>
            <a:pPr indent="0" lvl="0" marL="0" rtl="0" algn="l">
              <a:spcBef>
                <a:spcPts val="0"/>
              </a:spcBef>
              <a:spcAft>
                <a:spcPts val="0"/>
              </a:spcAft>
              <a:buNone/>
            </a:pPr>
            <a:r>
              <a:rPr lang="en-US" sz="1200">
                <a:latin typeface="Arial"/>
                <a:ea typeface="Arial"/>
                <a:cs typeface="Arial"/>
                <a:sym typeface="Arial"/>
              </a:rPr>
              <a:t>  – A polarization axis repeats after 180°, unlike a directed bearing that repeats after 360°. A 90° filter rotation therefore exchanges orthogonal axes. The assay combined an artificial polarizer with restricted sky access, and the reported virtual progress depends on flight stability as well as heading. It cannot by itself establish normal migratory use.</a:t>
            </a:r>
            <a:endParaRPr/>
          </a:p>
          <a:p>
            <a:pPr indent="0" lvl="0" marL="0" rtl="0" algn="l">
              <a:spcBef>
                <a:spcPts val="0"/>
              </a:spcBef>
              <a:spcAft>
                <a:spcPts val="0"/>
              </a:spcAft>
              <a:buNone/>
            </a:pPr>
            <a:r>
              <a:rPr lang="en-US" sz="1200">
                <a:latin typeface="Arial"/>
                <a:ea typeface="Arial"/>
                <a:cs typeface="Arial"/>
                <a:sym typeface="Arial"/>
              </a:rPr>
              <a:t>• The responses support sensitivity to manipulated polarized UV under this restricted arrangement. They do not establish that natural migration depends on the same cue. Spectral interference also altered flight continuity, and a polarizer can introduce brightness-dependent effects that require separate controls. The UV-specialized dorsal rim provides an anatomical candidate for this input.</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Sauman et al. (2005), Fig. 4(A–D). Filter rotation and UV interference during tethered flight.</a:t>
            </a:r>
            <a:endParaRPr/>
          </a:p>
          <a:p>
            <a:pPr indent="0" lvl="0" marL="0" rtl="0" algn="l">
              <a:spcBef>
                <a:spcPts val="0"/>
              </a:spcBef>
              <a:spcAft>
                <a:spcPts val="0"/>
              </a:spcAft>
              <a:buNone/>
            </a:pPr>
            <a:r>
              <a:rPr lang="en-US" sz="1200">
                <a:latin typeface="Arial"/>
                <a:ea typeface="Arial"/>
                <a:cs typeface="Arial"/>
                <a:sym typeface="Arial"/>
              </a:rPr>
              <a:t>Figure source: https://doi.org/10.1016/j.neuron.2005.03.014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Sauman et al. (2005), Fig. 3(D). UV opsin staining in the dorsal rim area.</a:t>
            </a:r>
            <a:endParaRPr/>
          </a:p>
          <a:p>
            <a:pPr indent="0" lvl="0" marL="0" rtl="0" algn="l">
              <a:spcBef>
                <a:spcPts val="0"/>
              </a:spcBef>
              <a:spcAft>
                <a:spcPts val="0"/>
              </a:spcAft>
              <a:buNone/>
            </a:pPr>
            <a:r>
              <a:rPr lang="en-US" sz="1200">
                <a:latin typeface="Arial"/>
                <a:ea typeface="Arial"/>
                <a:cs typeface="Arial"/>
                <a:sym typeface="Arial"/>
              </a:rPr>
              <a:t>Figure source: https://doi.org/10.1016/j.neuron.2005.03.014</a:t>
            </a:r>
            <a:endParaRPr/>
          </a:p>
        </p:txBody>
      </p:sp>
      <p:sp>
        <p:nvSpPr>
          <p:cNvPr id="218" name="Google Shape;218;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Stalleicken and colleagues compared orientation under a polarizing filter when the sun was excluded, when the sun was visible, and with an unpolarized-light control. Their controlled tests did not establish reliable migratory orientation based on polarized skylight alone.</a:t>
            </a:r>
            <a:endParaRPr/>
          </a:p>
          <a:p>
            <a:pPr indent="0" lvl="0" marL="0" rtl="0" algn="l">
              <a:spcBef>
                <a:spcPts val="0"/>
              </a:spcBef>
              <a:spcAft>
                <a:spcPts val="0"/>
              </a:spcAft>
              <a:buNone/>
            </a:pPr>
            <a:r>
              <a:rPr lang="en-US" sz="1200">
                <a:latin typeface="Arial"/>
                <a:ea typeface="Arial"/>
                <a:cs typeface="Arial"/>
                <a:sym typeface="Arial"/>
              </a:rPr>
              <a:t>• With the sun available, monarchs retained directional orientation. The study identified brightness-related cues associated with the experimental optical arrangement as a possible contributor to earlier polarizer responses; rotating a filter need not change only polarization direction.</a:t>
            </a:r>
            <a:endParaRPr/>
          </a:p>
          <a:p>
            <a:pPr indent="0" lvl="0" marL="0" rtl="0" algn="l">
              <a:spcBef>
                <a:spcPts val="0"/>
              </a:spcBef>
              <a:spcAft>
                <a:spcPts val="0"/>
              </a:spcAft>
              <a:buNone/>
            </a:pPr>
            <a:r>
              <a:rPr lang="en-US" sz="1200">
                <a:latin typeface="Arial"/>
                <a:ea typeface="Arial"/>
                <a:cs typeface="Arial"/>
                <a:sym typeface="Arial"/>
              </a:rPr>
              <a:t>  – A filter can interact with surrounding surfaces and illumination so that different viewing directions have different brightness. A butterfly could then follow an intensity feature instead of computing a skylight polarization axis. The study’s negative result concerns migratory orientation in its tested conditions and does not erase direct recordings of polarization-sensitive neurons.</a:t>
            </a:r>
            <a:endParaRPr/>
          </a:p>
          <a:p>
            <a:pPr indent="0" lvl="0" marL="0" rtl="0" algn="l">
              <a:spcBef>
                <a:spcPts val="0"/>
              </a:spcBef>
              <a:spcAft>
                <a:spcPts val="0"/>
              </a:spcAft>
              <a:buNone/>
            </a:pPr>
            <a:r>
              <a:rPr lang="en-US" sz="1200">
                <a:latin typeface="Arial"/>
                <a:ea typeface="Arial"/>
                <a:cs typeface="Arial"/>
                <a:sym typeface="Arial"/>
              </a:rPr>
              <a:t>• These findings qualify the behavioral interpretation without denying polarization-sensitive visual physiology. A response to an artificial stimulus and a cue’s necessity for migration are different claims. Natural compass use requires controls that separate polarization from intensity patterns and access to other celestial cues, rather than treating every polarizer-induced turn as time-compensated navigation.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Julia Stalleicken; Maya Mukhida; Thomas Labhart; Rüdiger Wehner; Barrie Frost; Henrik Mouritsen (2005). Do monarch butterflies use polarized skylight for migratory orientation? Journal of Experimental Biology, 208(12): 2399-2408. https://doi.org/10.1242/jeb.01613</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Stalleicken et al. (2005), Fig. 4(A–C). Orientation with polarization, sun and unpolarized controls.</a:t>
            </a:r>
            <a:endParaRPr/>
          </a:p>
          <a:p>
            <a:pPr indent="0" lvl="0" marL="0" rtl="0" algn="l">
              <a:spcBef>
                <a:spcPts val="0"/>
              </a:spcBef>
              <a:spcAft>
                <a:spcPts val="0"/>
              </a:spcAft>
              <a:buNone/>
            </a:pPr>
            <a:r>
              <a:rPr lang="en-US" sz="1200">
                <a:latin typeface="Arial"/>
                <a:ea typeface="Arial"/>
                <a:cs typeface="Arial"/>
                <a:sym typeface="Arial"/>
              </a:rPr>
              <a:t>Figure source: https://doi.org/10.1242/jeb.01613</a:t>
            </a:r>
            <a:endParaRPr/>
          </a:p>
        </p:txBody>
      </p:sp>
      <p:sp>
        <p:nvSpPr>
          <p:cNvPr id="232" name="Google Shape;232;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Selective masking asks whether the UV-specialized dorsal eye margin is necessary when other sky cues remain available. Stalleicken and colleagues covered the dorsal rim area and compared migratory orientation with that of untreated butterflies under a visible sun.</a:t>
            </a:r>
            <a:endParaRPr/>
          </a:p>
          <a:p>
            <a:pPr indent="0" lvl="0" marL="0" rtl="0" algn="l">
              <a:spcBef>
                <a:spcPts val="0"/>
              </a:spcBef>
              <a:spcAft>
                <a:spcPts val="0"/>
              </a:spcAft>
              <a:buNone/>
            </a:pPr>
            <a:r>
              <a:rPr lang="en-US" sz="1200">
                <a:latin typeface="Arial"/>
                <a:ea typeface="Arial"/>
                <a:cs typeface="Arial"/>
                <a:sym typeface="Arial"/>
              </a:rPr>
              <a:t>• Masked animals retained directional flight, and the study’s clock-shifted tests remained consistent with a time-compensated sun compass. The published eye preparation documents the position of the mask rather than assuming that the whole retina was obstructed.</a:t>
            </a:r>
            <a:endParaRPr/>
          </a:p>
          <a:p>
            <a:pPr indent="0" lvl="0" marL="0" rtl="0" algn="l">
              <a:spcBef>
                <a:spcPts val="0"/>
              </a:spcBef>
              <a:spcAft>
                <a:spcPts val="0"/>
              </a:spcAft>
              <a:buNone/>
            </a:pPr>
            <a:r>
              <a:rPr lang="en-US" sz="1200">
                <a:latin typeface="Arial"/>
                <a:ea typeface="Arial"/>
                <a:cs typeface="Arial"/>
                <a:sym typeface="Arial"/>
              </a:rPr>
              <a:t>  – The dorsal-rim mask targets a limited region, leaving much of the compound eye available. A retained compass response is evidence against strict necessity in that preparation. It does not determine whether polarization helps under other conditions, nor does it identify the retinal cells that carry the surviving solar-direction signal.</a:t>
            </a:r>
            <a:endParaRPr/>
          </a:p>
          <a:p>
            <a:pPr indent="0" lvl="0" marL="0" rtl="0" algn="l">
              <a:spcBef>
                <a:spcPts val="0"/>
              </a:spcBef>
              <a:spcAft>
                <a:spcPts val="0"/>
              </a:spcAft>
              <a:buNone/>
            </a:pPr>
            <a:r>
              <a:rPr lang="en-US" sz="1200">
                <a:latin typeface="Arial"/>
                <a:ea typeface="Arial"/>
                <a:cs typeface="Arial"/>
                <a:sym typeface="Arial"/>
              </a:rPr>
              <a:t>• The result supports a sun-based pathway that can operate without normal dorsal-rim input in these conditions. It does not establish that polarization information is never used or that every possible sky condition yields the same outcome. Receptor specialization, neural responsiveness and behavioral necessity must be tested separately.</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Julia Stalleicken; Maya Mukhida; Thomas Labhart; Rüdiger Wehner; Barrie Frost; Henrik Mouritsen (2005). Do monarch butterflies use polarized skylight for migratory orientation? Journal of Experimental Biology, 208(12): 2399-2408. https://doi.org/10.1242/jeb.01613</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Stalleicken et al. (2005), Fig. 5(A–F). Orientation with dorsal rim masking and the masked eye.</a:t>
            </a:r>
            <a:endParaRPr/>
          </a:p>
          <a:p>
            <a:pPr indent="0" lvl="0" marL="0" rtl="0" algn="l">
              <a:spcBef>
                <a:spcPts val="0"/>
              </a:spcBef>
              <a:spcAft>
                <a:spcPts val="0"/>
              </a:spcAft>
              <a:buNone/>
            </a:pPr>
            <a:r>
              <a:rPr lang="en-US" sz="1200">
                <a:latin typeface="Arial"/>
                <a:ea typeface="Arial"/>
                <a:cs typeface="Arial"/>
                <a:sym typeface="Arial"/>
              </a:rPr>
              <a:t>Figure source: https://doi.org/10.1242/jeb.01613</a:t>
            </a:r>
            <a:endParaRPr/>
          </a:p>
        </p:txBody>
      </p:sp>
      <p:sp>
        <p:nvSpPr>
          <p:cNvPr id="244" name="Google Shape;244;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 name="Google Shape;25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An endogenous rhythm continues after the external cycle is removed. Froy and colleagues entrained monarch pupae under a light–dark schedule and then compared adult emergence in continued cycling light, constant darkness and constant light.</a:t>
            </a:r>
            <a:endParaRPr/>
          </a:p>
          <a:p>
            <a:pPr indent="0" lvl="0" marL="0" rtl="0" algn="l">
              <a:spcBef>
                <a:spcPts val="0"/>
              </a:spcBef>
              <a:spcAft>
                <a:spcPts val="0"/>
              </a:spcAft>
              <a:buNone/>
            </a:pPr>
            <a:r>
              <a:rPr lang="en-US" sz="1200">
                <a:latin typeface="Arial"/>
                <a:ea typeface="Arial"/>
                <a:cs typeface="Arial"/>
                <a:sym typeface="Arial"/>
              </a:rPr>
              <a:t>• Eclosion clustered early in the light phase and remained rhythmic in constant darkness. A 6-h shift in the prior light schedule altered the emergence phase. Constant light disrupted the normal temporal concentration of emergence.</a:t>
            </a:r>
            <a:endParaRPr/>
          </a:p>
          <a:p>
            <a:pPr indent="0" lvl="0" marL="0" rtl="0" algn="l">
              <a:spcBef>
                <a:spcPts val="0"/>
              </a:spcBef>
              <a:spcAft>
                <a:spcPts val="0"/>
              </a:spcAft>
              <a:buNone/>
            </a:pPr>
            <a:r>
              <a:rPr lang="en-US" sz="1200">
                <a:latin typeface="Arial"/>
                <a:ea typeface="Arial"/>
                <a:cs typeface="Arial"/>
                <a:sym typeface="Arial"/>
              </a:rPr>
              <a:t>  – An environmental cycle can impose a daily pattern even without an autonomous clock. Continued rhythmic emergence in darkness provides a stronger test because the light transition is absent. Constant light and constant darkness are biologically different treatments: removing the daily transition does not guarantee that both conditions affect clock organization in the same way.</a:t>
            </a:r>
            <a:endParaRPr/>
          </a:p>
          <a:p>
            <a:pPr indent="0" lvl="0" marL="0" rtl="0" algn="l">
              <a:spcBef>
                <a:spcPts val="0"/>
              </a:spcBef>
              <a:spcAft>
                <a:spcPts val="0"/>
              </a:spcAft>
              <a:buNone/>
            </a:pPr>
            <a:r>
              <a:rPr lang="en-US" sz="1200">
                <a:latin typeface="Arial"/>
                <a:ea typeface="Arial"/>
                <a:cs typeface="Arial"/>
                <a:sym typeface="Arial"/>
              </a:rPr>
              <a:t>• Persistence in darkness supports an internal circadian oscillator rather than an immediate response only to lights turning on. Free-running means that a rhythm proceeds without daily entrainment. The emergence assay establishes an endogenous timing output, but its phase and tissue requirements should not automatically be equated with the adult migratory compass.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Oren Froy; Anthony L. Gotter; Amy L. Casselman; Steven M. Reppert (2003). Illuminating the Circadian Clock in Monarch Butterfly Migration. Science, 300(5623): 1303-1305. https://doi.org/10.1126/science.1084874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Froy et al. (2003), Fig. 1(A). Adult emergence under light–dark and constant conditions.</a:t>
            </a:r>
            <a:endParaRPr/>
          </a:p>
          <a:p>
            <a:pPr indent="0" lvl="0" marL="0" rtl="0" algn="l">
              <a:spcBef>
                <a:spcPts val="0"/>
              </a:spcBef>
              <a:spcAft>
                <a:spcPts val="0"/>
              </a:spcAft>
              <a:buNone/>
            </a:pPr>
            <a:r>
              <a:rPr lang="en-US" sz="1200">
                <a:latin typeface="Arial"/>
                <a:ea typeface="Arial"/>
                <a:cs typeface="Arial"/>
                <a:sym typeface="Arial"/>
              </a:rPr>
              <a:t>Figure source: https://doi.org/10.1126/science.1084874</a:t>
            </a:r>
            <a:endParaRPr/>
          </a:p>
        </p:txBody>
      </p:sp>
      <p:sp>
        <p:nvSpPr>
          <p:cNvPr id="256" name="Google Shape;256;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The period gene, abbreviated per, encodes a clock-associated protein. Froy and colleagues measured its RNA in monarch heads across the day to connect behavioral timing with a molecular rhythm. Transcription is the production of RNA from a DNA template.</a:t>
            </a:r>
            <a:endParaRPr/>
          </a:p>
          <a:p>
            <a:pPr indent="0" lvl="0" marL="0" rtl="0" algn="l">
              <a:spcBef>
                <a:spcPts val="0"/>
              </a:spcBef>
              <a:spcAft>
                <a:spcPts val="0"/>
              </a:spcAft>
              <a:buNone/>
            </a:pPr>
            <a:r>
              <a:rPr lang="en-US" sz="1200">
                <a:latin typeface="Arial"/>
                <a:ea typeface="Arial"/>
                <a:cs typeface="Arial"/>
                <a:sym typeface="Arial"/>
              </a:rPr>
              <a:t>• Head per RNA was higher at night and lower during the day in a light–dark cycle. Its rhythm persisted, with altered amplitude and phase, in constant darkness; constant light maintained comparatively low, nonrhythmic levels in this assay.</a:t>
            </a:r>
            <a:endParaRPr/>
          </a:p>
          <a:p>
            <a:pPr indent="0" lvl="0" marL="0" rtl="0" algn="l">
              <a:spcBef>
                <a:spcPts val="0"/>
              </a:spcBef>
              <a:spcAft>
                <a:spcPts val="0"/>
              </a:spcAft>
              <a:buNone/>
            </a:pPr>
            <a:r>
              <a:rPr lang="en-US" sz="1200">
                <a:latin typeface="Arial"/>
                <a:ea typeface="Arial"/>
                <a:cs typeface="Arial"/>
                <a:sym typeface="Arial"/>
              </a:rPr>
              <a:t>  – The daily RNA change is not a direct reading of an animal’s perceived hour. It is one molecular feature associated with clock phase. Pooling head tissue also combines signals that can differ among cell populations, so a strong aggregate rhythm cannot establish where the relevant timing information originates.</a:t>
            </a:r>
            <a:endParaRPr/>
          </a:p>
          <a:p>
            <a:pPr indent="0" lvl="0" marL="0" rtl="0" algn="l">
              <a:spcBef>
                <a:spcPts val="0"/>
              </a:spcBef>
              <a:spcAft>
                <a:spcPts val="0"/>
              </a:spcAft>
              <a:buNone/>
            </a:pPr>
            <a:r>
              <a:rPr lang="en-US" sz="1200">
                <a:latin typeface="Arial"/>
                <a:ea typeface="Arial"/>
                <a:cs typeface="Arial"/>
                <a:sym typeface="Arial"/>
              </a:rPr>
              <a:t>• The molecular and emergence measurements support endogenous circadian organization. Whole-head sampling combines multiple tissues, however, so the RNA profile does not locate a unique compass clock. A rhythmic transcript is a candidate component whose functional role requires perturbation, rather than proof that its abundance alone specifies flight direction.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Oren Froy; Anthony L. Gotter; Amy L. Casselman; Steven M. Reppert (2003). Illuminating the Circadian Clock in Monarch Butterfly Migration. Science, 300(5623): 1303-1305. https://doi.org/10.1126/science.1084874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Froy et al. (2003), Fig. 1(B). Head per RNA: blue, light–dark; teal, darkness; magenta, constant light.</a:t>
            </a:r>
            <a:endParaRPr/>
          </a:p>
          <a:p>
            <a:pPr indent="0" lvl="0" marL="0" rtl="0" algn="l">
              <a:spcBef>
                <a:spcPts val="0"/>
              </a:spcBef>
              <a:spcAft>
                <a:spcPts val="0"/>
              </a:spcAft>
              <a:buNone/>
            </a:pPr>
            <a:r>
              <a:rPr lang="en-US" sz="1200">
                <a:latin typeface="Arial"/>
                <a:ea typeface="Arial"/>
                <a:cs typeface="Arial"/>
                <a:sym typeface="Arial"/>
              </a:rPr>
              <a:t>Figure source: https://doi.org/10.1126/science.1084874</a:t>
            </a:r>
            <a:endParaRPr/>
          </a:p>
        </p:txBody>
      </p:sp>
      <p:sp>
        <p:nvSpPr>
          <p:cNvPr id="268" name="Google Shape;268;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Sauman and colleagues localized PER, the protein encoded by per, using antibodies in adult monarch brain sections. The pars lateralis, or PL, is a lateral brain region containing candidate clock cells; the pars intercerebralis, or PI, is a medial region with neurosecretory cells.</a:t>
            </a:r>
            <a:endParaRPr/>
          </a:p>
          <a:p>
            <a:pPr indent="0" lvl="0" marL="0" rtl="0" algn="l">
              <a:spcBef>
                <a:spcPts val="0"/>
              </a:spcBef>
              <a:spcAft>
                <a:spcPts val="0"/>
              </a:spcAft>
              <a:buNone/>
            </a:pPr>
            <a:r>
              <a:rPr lang="en-US" sz="1200">
                <a:latin typeface="Arial"/>
                <a:ea typeface="Arial"/>
                <a:cs typeface="Arial"/>
                <a:sym typeface="Arial"/>
              </a:rPr>
              <a:t>• PL cells had little detectable PER at zeitgeber time 6 but strong labeling near zeitgeber time 18. Zeitgeber time, abbreviated ZT, measures hours relative to the entraining cycle, with ZT0 at lights-on. Daily PL staining persisted in constant darkness and was disrupted in constant light.</a:t>
            </a:r>
            <a:endParaRPr/>
          </a:p>
          <a:p>
            <a:pPr indent="0" lvl="0" marL="0" rtl="0" algn="l">
              <a:spcBef>
                <a:spcPts val="0"/>
              </a:spcBef>
              <a:spcAft>
                <a:spcPts val="0"/>
              </a:spcAft>
              <a:buNone/>
            </a:pPr>
            <a:r>
              <a:rPr lang="en-US" sz="1200">
                <a:latin typeface="Arial"/>
                <a:ea typeface="Arial"/>
                <a:cs typeface="Arial"/>
                <a:sym typeface="Arial"/>
              </a:rPr>
              <a:t>  – An antibody signal indicates the location and relative abundance of the recognized protein. The nighttime increase in PL staining is compatible with a clock-associated rhythm, while the constant-dark condition tests persistence without daily illumination. Identifying a rhythmic brain population does not establish which behavior requires that population.</a:t>
            </a:r>
            <a:endParaRPr/>
          </a:p>
          <a:p>
            <a:pPr indent="0" lvl="0" marL="0" rtl="0" algn="l">
              <a:spcBef>
                <a:spcPts val="0"/>
              </a:spcBef>
              <a:spcAft>
                <a:spcPts val="0"/>
              </a:spcAft>
              <a:buNone/>
            </a:pPr>
            <a:r>
              <a:rPr lang="en-US" sz="1200">
                <a:latin typeface="Arial"/>
                <a:ea typeface="Arial"/>
                <a:cs typeface="Arial"/>
                <a:sym typeface="Arial"/>
              </a:rPr>
              <a:t>• These observations localize rhythmic molecular components more precisely than a whole-head assay. They do not prove that PL clocks exclusively supply migratory time compensation. Rhythmic brain cells can coexist with timing oscillators elsewhere in the animal.</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Sauman et al. (2005), Fig. 5(B–J). PER-stained cells and daily staining changes.</a:t>
            </a:r>
            <a:endParaRPr/>
          </a:p>
          <a:p>
            <a:pPr indent="0" lvl="0" marL="0" rtl="0" algn="l">
              <a:spcBef>
                <a:spcPts val="0"/>
              </a:spcBef>
              <a:spcAft>
                <a:spcPts val="0"/>
              </a:spcAft>
              <a:buNone/>
            </a:pPr>
            <a:r>
              <a:rPr lang="en-US" sz="1200">
                <a:latin typeface="Arial"/>
                <a:ea typeface="Arial"/>
                <a:cs typeface="Arial"/>
                <a:sym typeface="Arial"/>
              </a:rPr>
              <a:t>Figure source: https://doi.org/10.1016/j.neuron.2005.03.014</a:t>
            </a:r>
            <a:endParaRPr/>
          </a:p>
        </p:txBody>
      </p:sp>
      <p:sp>
        <p:nvSpPr>
          <p:cNvPr id="280" name="Google Shape;280;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Monarchs possess two cryptochromes, proteins associated with light sensing and circadian timing. CRY1 acts as a blue-light-responsive component. Zhu and colleagues used cultured monarch DpN1 cells to test how reducing CRY1 changes the response to illumination.</a:t>
            </a:r>
            <a:endParaRPr/>
          </a:p>
          <a:p>
            <a:pPr indent="0" lvl="0" marL="0" rtl="0" algn="l">
              <a:spcBef>
                <a:spcPts val="0"/>
              </a:spcBef>
              <a:spcAft>
                <a:spcPts val="0"/>
              </a:spcAft>
              <a:buNone/>
            </a:pPr>
            <a:r>
              <a:rPr lang="en-US" sz="1200">
                <a:latin typeface="Arial"/>
                <a:ea typeface="Arial"/>
                <a:cs typeface="Arial"/>
                <a:sym typeface="Arial"/>
              </a:rPr>
              <a:t>• RNA interference reduces expression using complementary RNA. Compared with a control targeting green fluorescent protein, cry1 interference prevented the normal light-dependent decline of TIM, the TIMELESS clock protein. In controls, TIM decreased before PER and CRY2 during the light-exposure time course.</a:t>
            </a:r>
            <a:endParaRPr/>
          </a:p>
          <a:p>
            <a:pPr indent="0" lvl="0" marL="0" rtl="0" algn="l">
              <a:spcBef>
                <a:spcPts val="0"/>
              </a:spcBef>
              <a:spcAft>
                <a:spcPts val="0"/>
              </a:spcAft>
              <a:buNone/>
            </a:pPr>
            <a:r>
              <a:rPr lang="en-US" sz="1200">
                <a:latin typeface="Arial"/>
                <a:ea typeface="Arial"/>
                <a:cs typeface="Arial"/>
                <a:sym typeface="Arial"/>
              </a:rPr>
              <a:t>  – The depletion sequence separates the timing of measured protein changes from an inferred molecular cascade. TIM declined from approximately 10 min of illumination, whereas substantial PER and CRY2 decreases occurred later, near 120 and 240 min. A control RNA interference treatment addresses effects of the manipulation that are unrelated to reducing CRY1.</a:t>
            </a:r>
            <a:endParaRPr/>
          </a:p>
          <a:p>
            <a:pPr indent="0" lvl="0" marL="0" rtl="0" algn="l">
              <a:spcBef>
                <a:spcPts val="0"/>
              </a:spcBef>
              <a:spcAft>
                <a:spcPts val="0"/>
              </a:spcAft>
              <a:buNone/>
            </a:pPr>
            <a:r>
              <a:rPr lang="en-US" sz="1200">
                <a:latin typeface="Arial"/>
                <a:ea typeface="Arial"/>
                <a:cs typeface="Arial"/>
                <a:sym typeface="Arial"/>
              </a:rPr>
              <a:t>• These protein measurements support CRY1-dependent light input to clock regulation. They do not identify a complete biochemical degradation pathway or prove that cultured cells reproduce every property of adult antennal clocks. Brain labeling places CRY1 with PER in candidate clock cells.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endParaRPr/>
          </a:p>
          <a:p>
            <a:pPr indent="0" lvl="0" marL="0" rtl="0" algn="l">
              <a:spcBef>
                <a:spcPts val="0"/>
              </a:spcBef>
              <a:spcAft>
                <a:spcPts val="0"/>
              </a:spcAft>
              <a:buNone/>
            </a:pPr>
            <a:r>
              <a:rPr lang="en-US" sz="1200">
                <a:latin typeface="Arial"/>
                <a:ea typeface="Arial"/>
                <a:cs typeface="Arial"/>
                <a:sym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2(A–D). Clock-protein levels after light and cry1 knockdown.</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Sauman et al. (2005), Fig. 6(D–E). CRY1 and PER labeling in the same pars lateralis cell.</a:t>
            </a:r>
            <a:endParaRPr/>
          </a:p>
          <a:p>
            <a:pPr indent="0" lvl="0" marL="0" rtl="0" algn="l">
              <a:spcBef>
                <a:spcPts val="0"/>
              </a:spcBef>
              <a:spcAft>
                <a:spcPts val="0"/>
              </a:spcAft>
              <a:buNone/>
            </a:pPr>
            <a:r>
              <a:rPr lang="en-US" sz="1200">
                <a:latin typeface="Arial"/>
                <a:ea typeface="Arial"/>
                <a:cs typeface="Arial"/>
                <a:sym typeface="Arial"/>
              </a:rPr>
              <a:t>Figure source: https://doi.org/10.1016/j.neuron.2005.03.014</a:t>
            </a:r>
            <a:endParaRPr/>
          </a:p>
        </p:txBody>
      </p:sp>
      <p:sp>
        <p:nvSpPr>
          <p:cNvPr id="292" name="Google Shape;292;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 name="Google Shape;305;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Zhu and colleagues localized TIMELESS protein in monarch brain cells and compared its abundance across daily phases. In the pars lateralis, TIM labeling overlapped with corazonin, a neuropeptide marker identifying the same cell group.</a:t>
            </a:r>
            <a:endParaRPr/>
          </a:p>
          <a:p>
            <a:pPr indent="0" lvl="0" marL="0" rtl="0" algn="l">
              <a:spcBef>
                <a:spcPts val="0"/>
              </a:spcBef>
              <a:spcAft>
                <a:spcPts val="0"/>
              </a:spcAft>
              <a:buNone/>
            </a:pPr>
            <a:r>
              <a:rPr lang="en-US" sz="1200">
                <a:latin typeface="Arial"/>
                <a:ea typeface="Arial"/>
                <a:cs typeface="Arial"/>
                <a:sym typeface="Arial"/>
              </a:rPr>
              <a:t>• TIM staining was stronger near ZT15 than ZT6, and PL differences persisted in constant darkness. A 1-h light pulse at ZT15 reduced the PL signal relative to the unpulsed condition. These measurements connect molecular phase with acute sensitivity to illumination.</a:t>
            </a:r>
            <a:endParaRPr/>
          </a:p>
          <a:p>
            <a:pPr indent="0" lvl="0" marL="0" rtl="0" algn="l">
              <a:spcBef>
                <a:spcPts val="0"/>
              </a:spcBef>
              <a:spcAft>
                <a:spcPts val="0"/>
              </a:spcAft>
              <a:buNone/>
            </a:pPr>
            <a:r>
              <a:rPr lang="en-US" sz="1200">
                <a:latin typeface="Arial"/>
                <a:ea typeface="Arial"/>
                <a:cs typeface="Arial"/>
                <a:sym typeface="Arial"/>
              </a:rPr>
              <a:t>  – The red TIM and green corazonin labels were obtained by double-labeling the same brain region. Co-localization means that both markers occur in the identified cells; it is not a measurement of peptide release. The light-pulse comparison concerns TIM abundance, whereas the identity of a synaptic output requires different experiments.</a:t>
            </a:r>
            <a:endParaRPr/>
          </a:p>
          <a:p>
            <a:pPr indent="0" lvl="0" marL="0" rtl="0" algn="l">
              <a:spcBef>
                <a:spcPts val="0"/>
              </a:spcBef>
              <a:spcAft>
                <a:spcPts val="0"/>
              </a:spcAft>
              <a:buNone/>
            </a:pPr>
            <a:r>
              <a:rPr lang="en-US" sz="1200">
                <a:latin typeface="Arial"/>
                <a:ea typeface="Arial"/>
                <a:cs typeface="Arial"/>
                <a:sym typeface="Arial"/>
              </a:rPr>
              <a:t>• The anatomical overlap identifies candidate timing cells, while the pulse tests their protein response. Corazonin labeling does not establish that corazonin transmits clock information to the compass. Neither the peptide’s downstream receptor nor a complete pathway from these cells to steering was identified by the staining experiment.</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3(B–C). TIM and corazonin labeling in pars lateralis cells.</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p:txBody>
      </p:sp>
      <p:sp>
        <p:nvSpPr>
          <p:cNvPr id="306" name="Google Shape;306;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CRY2 is the second monarch cryptochrome and has a different tested role from CRY1. Zhu and colleagues introduced clock proteins into DpN1 cells and measured a per regulatory sequence coupled to a luciferase reporter, a light-producing readout of transcriptional activity.</a:t>
            </a:r>
            <a:endParaRPr/>
          </a:p>
          <a:p>
            <a:pPr indent="0" lvl="0" marL="0" rtl="0" algn="l">
              <a:spcBef>
                <a:spcPts val="0"/>
              </a:spcBef>
              <a:spcAft>
                <a:spcPts val="0"/>
              </a:spcAft>
              <a:buNone/>
            </a:pPr>
            <a:r>
              <a:rPr lang="en-US" sz="1200">
                <a:latin typeface="Arial"/>
                <a:ea typeface="Arial"/>
                <a:cs typeface="Arial"/>
                <a:sym typeface="Arial"/>
              </a:rPr>
              <a:t>• The transcription factors CLOCK and CYCLE, abbreviated CLK and CYC, activated the reporter. Adding CRY2 reduced this activity with increasing amounts of CRY2 expression construct, including 5, 15 and 50 ng; CRY1 did not provide the same repression.</a:t>
            </a:r>
            <a:endParaRPr/>
          </a:p>
          <a:p>
            <a:pPr indent="0" lvl="0" marL="0" rtl="0" algn="l">
              <a:spcBef>
                <a:spcPts val="0"/>
              </a:spcBef>
              <a:spcAft>
                <a:spcPts val="0"/>
              </a:spcAft>
              <a:buNone/>
            </a:pPr>
            <a:r>
              <a:rPr lang="en-US" sz="1200">
                <a:latin typeface="Arial"/>
                <a:ea typeface="Arial"/>
                <a:cs typeface="Arial"/>
                <a:sym typeface="Arial"/>
              </a:rPr>
              <a:t>  – A transcription factor is a protein that regulates expression through DNA-associated interactions. The reporter places light production under the tested per regulatory sequence, allowing its activation and repression to be compared. The nanogram values describe DNA introduced into cultured cells, rather than endogenous protein concentrations in a butterfly.</a:t>
            </a:r>
            <a:endParaRPr/>
          </a:p>
          <a:p>
            <a:pPr indent="0" lvl="0" marL="0" rtl="0" algn="l">
              <a:spcBef>
                <a:spcPts val="0"/>
              </a:spcBef>
              <a:spcAft>
                <a:spcPts val="0"/>
              </a:spcAft>
              <a:buNone/>
            </a:pPr>
            <a:r>
              <a:rPr lang="en-US" sz="1200">
                <a:latin typeface="Arial"/>
                <a:ea typeface="Arial"/>
                <a:cs typeface="Arial"/>
                <a:sym typeface="Arial"/>
              </a:rPr>
              <a:t>• This functional assay supports CRY2 as a negative regulator of clock transcription. Brain staining also localized CRY2 to corazonin-positive PL cells. A reporter assay identifies a regulatory relationship, but it does not directly measure migratory heading or prove how clock phase is communicated beyond the cell.</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5(A). Transcriptional reporter responses to clock proteins.</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6(D–E). CRY2 and corazonin in pars lateralis cells.</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p:txBody>
      </p:sp>
      <p:sp>
        <p:nvSpPr>
          <p:cNvPr id="318" name="Google Shape;318;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 name="Google Shape;331;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 loss-of-function test complements adding CRY2 to a transcriptional reporter. Zhu and colleagues reduced endogenous CRY2 in DpN1 cells using RNA interference and compared the treatment with interference directed against a control sequence.</a:t>
            </a:r>
            <a:endParaRPr/>
          </a:p>
          <a:p>
            <a:pPr indent="0" lvl="0" marL="0" rtl="0" algn="l">
              <a:spcBef>
                <a:spcPts val="0"/>
              </a:spcBef>
              <a:spcAft>
                <a:spcPts val="0"/>
              </a:spcAft>
              <a:buNone/>
            </a:pPr>
            <a:r>
              <a:rPr lang="en-US" sz="1200">
                <a:latin typeface="Arial"/>
                <a:ea typeface="Arial"/>
                <a:cs typeface="Arial"/>
                <a:sym typeface="Arial"/>
              </a:rPr>
              <a:t>• CRY2 reduction increased reporter activity approximately threefold. Across a 24-h light–dark cycle, per RNA remained near peak values after cry2 interference instead of following the control’s rise and fall. The protein measurements confirmed depletion of the targeted regulator.</a:t>
            </a:r>
            <a:endParaRPr/>
          </a:p>
          <a:p>
            <a:pPr indent="0" lvl="0" marL="0" rtl="0" algn="l">
              <a:spcBef>
                <a:spcPts val="0"/>
              </a:spcBef>
              <a:spcAft>
                <a:spcPts val="0"/>
              </a:spcAft>
              <a:buNone/>
            </a:pPr>
            <a:r>
              <a:rPr lang="en-US" sz="1200">
                <a:latin typeface="Arial"/>
                <a:ea typeface="Arial"/>
                <a:cs typeface="Arial"/>
                <a:sym typeface="Arial"/>
              </a:rPr>
              <a:t>  – Negative feedback means that an output acts back to reduce the process producing it. The knockdown and reporter assays support that relationship for CRY2, rather than merely correlating its abundance with time. The separate constant-dark result limits what can be inferred about autonomous timing from the cultured-cell light–dark cycle.</a:t>
            </a:r>
            <a:endParaRPr/>
          </a:p>
          <a:p>
            <a:pPr indent="0" lvl="0" marL="0" rtl="0" algn="l">
              <a:spcBef>
                <a:spcPts val="0"/>
              </a:spcBef>
              <a:spcAft>
                <a:spcPts val="0"/>
              </a:spcAft>
              <a:buNone/>
            </a:pPr>
            <a:r>
              <a:rPr lang="en-US" sz="1200">
                <a:latin typeface="Arial"/>
                <a:ea typeface="Arial"/>
                <a:cs typeface="Arial"/>
                <a:sym typeface="Arial"/>
              </a:rPr>
              <a:t>• These findings support CRY2-mediated negative feedback: clock-associated proteins restrain the transcription that contributes to their production. The cells’ light-driven molecular changes were not sustained as autonomous rhythms in constant darkness, so this preparation does not establish a fully self-sustained cellular oscillator under every condition.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5(B). Protein knockdown and transcriptional reporter activity.</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5(D). per RNA after cry2 knockdown across a light–dark cycle.</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p:txBody>
      </p:sp>
      <p:sp>
        <p:nvSpPr>
          <p:cNvPr id="332" name="Google Shape;332;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Clock regulation depends on protein interactions as well as transcription. Zhu and colleagues used co-immunoprecipitation, antibody capture of a protein together with associated molecules, to examine PER, TIM and CRY2 in monarch brain extracts and cultured cells.</a:t>
            </a:r>
            <a:endParaRPr/>
          </a:p>
          <a:p>
            <a:pPr indent="0" lvl="0" marL="0" rtl="0" algn="l">
              <a:spcBef>
                <a:spcPts val="0"/>
              </a:spcBef>
              <a:spcAft>
                <a:spcPts val="0"/>
              </a:spcAft>
              <a:buNone/>
            </a:pPr>
            <a:r>
              <a:rPr lang="en-US" sz="1200">
                <a:latin typeface="Arial"/>
                <a:ea typeface="Arial"/>
                <a:cs typeface="Arial"/>
                <a:sym typeface="Arial"/>
              </a:rPr>
              <a:t>• The captured material contained combinations of PER, TIM and CRY2. Reducing PER also reduced CRY2 protein without a corresponding reduction in cry2 RNA, supporting regulation after transcription. TIM interference produced a more modest reduction of PER and CRY2.</a:t>
            </a:r>
            <a:endParaRPr/>
          </a:p>
          <a:p>
            <a:pPr indent="0" lvl="0" marL="0" rtl="0" algn="l">
              <a:spcBef>
                <a:spcPts val="0"/>
              </a:spcBef>
              <a:spcAft>
                <a:spcPts val="0"/>
              </a:spcAft>
              <a:buNone/>
            </a:pPr>
            <a:r>
              <a:rPr lang="en-US" sz="1200">
                <a:latin typeface="Arial"/>
                <a:ea typeface="Arial"/>
                <a:cs typeface="Arial"/>
                <a:sym typeface="Arial"/>
              </a:rPr>
              <a:t>  – Post-transcriptional regulation changes protein production or persistence without requiring a parallel change in the RNA encoding it. The association experiment and the knockdown experiment supply different evidence: one identifies co-captured complexes, and the other tests dependence of protein abundance on another clock component.</a:t>
            </a:r>
            <a:endParaRPr/>
          </a:p>
          <a:p>
            <a:pPr indent="0" lvl="0" marL="0" rtl="0" algn="l">
              <a:spcBef>
                <a:spcPts val="0"/>
              </a:spcBef>
              <a:spcAft>
                <a:spcPts val="0"/>
              </a:spcAft>
              <a:buNone/>
            </a:pPr>
            <a:r>
              <a:rPr lang="en-US" sz="1200">
                <a:latin typeface="Arial"/>
                <a:ea typeface="Arial"/>
                <a:cs typeface="Arial"/>
                <a:sym typeface="Arial"/>
              </a:rPr>
              <a:t>• The findings are consistent with PER and TIM helping stabilize CRY2-containing complexes. Co-capture does not prove that every pair binds directly, and protein depletion does not specify the degradation enzymes. The evidence constrains a molecular feedback mechanism without establishing a complete biochemical reaction sequence.</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5(C). Clock-protein co-immunoprecipitation from brain and cells.</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6(D–E). CRY2 and corazonin in pars lateralis cells.</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p:txBody>
      </p:sp>
      <p:sp>
        <p:nvSpPr>
          <p:cNvPr id="346" name="Google Shape;346;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The nucleus contains the DNA used for transcription, so a transcriptional repressor’s cellular location affects its access to clock regulation. Zhu and colleagues compared CRY2 nuclear labeling with per RNA across circadian phase.</a:t>
            </a:r>
            <a:endParaRPr/>
          </a:p>
          <a:p>
            <a:pPr indent="0" lvl="0" marL="0" rtl="0" algn="l">
              <a:spcBef>
                <a:spcPts val="0"/>
              </a:spcBef>
              <a:spcAft>
                <a:spcPts val="0"/>
              </a:spcAft>
              <a:buNone/>
            </a:pPr>
            <a:r>
              <a:rPr lang="en-US" sz="1200">
                <a:latin typeface="Arial"/>
                <a:ea typeface="Arial"/>
                <a:cs typeface="Arial"/>
                <a:sym typeface="Arial"/>
              </a:rPr>
              <a:t>• In pars lateralis clock cells, nuclear CRY2 was concentrated around ZT2–4 and near circadian time 3 in constant darkness. Circadian time, or CT, refers to internal phase under free-running conditions. The measured nuclear signal changed with phase rather than remaining continuously high.</a:t>
            </a:r>
            <a:endParaRPr/>
          </a:p>
          <a:p>
            <a:pPr indent="0" lvl="0" marL="0" rtl="0" algn="l">
              <a:spcBef>
                <a:spcPts val="0"/>
              </a:spcBef>
              <a:spcAft>
                <a:spcPts val="0"/>
              </a:spcAft>
              <a:buNone/>
            </a:pPr>
            <a:r>
              <a:rPr lang="en-US" sz="1200">
                <a:latin typeface="Arial"/>
                <a:ea typeface="Arial"/>
                <a:cs typeface="Arial"/>
                <a:sym typeface="Arial"/>
              </a:rPr>
              <a:t>  – The plotted nuclear signal is a measured localization outcome, distinct from total protein abundance. CRY2 can therefore change its regulatory availability without requiring an identical change in the whole-cell amount. Persistence of a phase-dependent signal in darkness supports endogenous timing, while the mechanism transporting CRY2 remains incompletely specified.</a:t>
            </a:r>
            <a:endParaRPr/>
          </a:p>
          <a:p>
            <a:pPr indent="0" lvl="0" marL="0" rtl="0" algn="l">
              <a:spcBef>
                <a:spcPts val="0"/>
              </a:spcBef>
              <a:spcAft>
                <a:spcPts val="0"/>
              </a:spcAft>
              <a:buNone/>
            </a:pPr>
            <a:r>
              <a:rPr lang="en-US" sz="1200">
                <a:latin typeface="Arial"/>
                <a:ea typeface="Arial"/>
                <a:cs typeface="Arial"/>
                <a:sym typeface="Arial"/>
              </a:rPr>
              <a:t>• The relationship supports timed nuclear repression within the molecular feedback cycle. Tissue labeling and RNA measurements do not establish every transport step or the causal timing of each interaction. They also do not locate the downstream signal that turns an intracellular clock phase into a particular migratory bearing.</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6(G–H). Nuclear CRY2 and per RNA across circadian phase.</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p:txBody>
      </p:sp>
      <p:sp>
        <p:nvSpPr>
          <p:cNvPr id="360" name="Google Shape;360;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The central body is a component of the insect central complex, a group of brain neuropils associated with orientation. A neuropil is a region rich in neuronal processes and synaptic connections rather than only cell bodies.</a:t>
            </a:r>
            <a:endParaRPr/>
          </a:p>
          <a:p>
            <a:pPr indent="0" lvl="0" marL="0" rtl="0" algn="l">
              <a:spcBef>
                <a:spcPts val="0"/>
              </a:spcBef>
              <a:spcAft>
                <a:spcPts val="0"/>
              </a:spcAft>
              <a:buNone/>
            </a:pPr>
            <a:r>
              <a:rPr lang="en-US" sz="1200">
                <a:latin typeface="Arial"/>
                <a:ea typeface="Arial"/>
                <a:cs typeface="Arial"/>
                <a:sym typeface="Arial"/>
              </a:rPr>
              <a:t>• Zhu and colleagues detected CRY2-containing fibers in the central body. Staining intensity varied in constant darkness, with a maximum near CT15 and a minimum near CT9. Independent synapsin labeling by Heinze and Reppert identifies the relevant central-complex anatomy.</a:t>
            </a:r>
            <a:endParaRPr/>
          </a:p>
          <a:p>
            <a:pPr indent="0" lvl="0" marL="0" rtl="0" algn="l">
              <a:spcBef>
                <a:spcPts val="0"/>
              </a:spcBef>
              <a:spcAft>
                <a:spcPts val="0"/>
              </a:spcAft>
              <a:buNone/>
            </a:pPr>
            <a:r>
              <a:rPr lang="en-US" sz="1200">
                <a:latin typeface="Arial"/>
                <a:ea typeface="Arial"/>
                <a:cs typeface="Arial"/>
                <a:sym typeface="Arial"/>
              </a:rPr>
              <a:t>  – Synapsin is a synapse-associated protein used to delineate neuropil boundaries, whereas CRY2 labeling identifies a clock-associated molecule. Their use in separate studies does not create a direct connection between the labeled populations. The proposed clock-output interpretation therefore remains distinct from the measured phase-dependent staining.</a:t>
            </a:r>
            <a:endParaRPr/>
          </a:p>
          <a:p>
            <a:pPr indent="0" lvl="0" marL="0" rtl="0" algn="l">
              <a:spcBef>
                <a:spcPts val="0"/>
              </a:spcBef>
              <a:spcAft>
                <a:spcPts val="0"/>
              </a:spcAft>
              <a:buNone/>
            </a:pPr>
            <a:r>
              <a:rPr lang="en-US" sz="1200">
                <a:latin typeface="Arial"/>
                <a:ea typeface="Arial"/>
                <a:cs typeface="Arial"/>
                <a:sym typeface="Arial"/>
              </a:rPr>
              <a:t>• Rhythmic protein labeling in an orientation-associated region supports a possible connection between clock state and compass processing. It does not establish a functional clock-output synapse or the route carrying antennal timing. A causal pathway would require identifying the connected cells and manipulating their signal while measuring compass output.</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Zhu et al. (2008), Fig. 7(I–K). Central-body CRY2 staining varies in constant darkness.</a:t>
            </a:r>
            <a:endParaRPr/>
          </a:p>
          <a:p>
            <a:pPr indent="0" lvl="0" marL="0" rtl="0" algn="l">
              <a:spcBef>
                <a:spcPts val="0"/>
              </a:spcBef>
              <a:spcAft>
                <a:spcPts val="0"/>
              </a:spcAft>
              <a:buNone/>
            </a:pPr>
            <a:r>
              <a:rPr lang="en-US" sz="1200">
                <a:latin typeface="Arial"/>
                <a:ea typeface="Arial"/>
                <a:cs typeface="Arial"/>
                <a:sym typeface="Arial"/>
              </a:rPr>
              <a:t>Figure source: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2(A–J). Synapsin-labeled central-complex and associated neuropils.</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p:txBody>
      </p:sp>
      <p:sp>
        <p:nvSpPr>
          <p:cNvPr id="372" name="Google Shape;372;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 name="Google Shape;385;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The antennae are paired head appendages that contain sensory tissue and molecular clocks. Merlin and colleagues removed the antennal flagella, the long distal portions, and compared migratory orientation with intact butterflies.</a:t>
            </a:r>
            <a:endParaRPr/>
          </a:p>
          <a:p>
            <a:pPr indent="0" lvl="0" marL="0" rtl="0" algn="l">
              <a:spcBef>
                <a:spcPts val="0"/>
              </a:spcBef>
              <a:spcAft>
                <a:spcPts val="0"/>
              </a:spcAft>
              <a:buNone/>
            </a:pPr>
            <a:r>
              <a:rPr lang="en-US" sz="1200">
                <a:latin typeface="Arial"/>
                <a:ea typeface="Arial"/>
                <a:cs typeface="Arial"/>
                <a:sym typeface="Arial"/>
              </a:rPr>
              <a:t>• Intact animals oriented near 211° on the normal light schedule and near 355° after a 6-h delay. Antenna-less butterflies could sustain an individual heading, but their directions no longer formed the normal common migratory bearing across animals.</a:t>
            </a:r>
            <a:endParaRPr/>
          </a:p>
          <a:p>
            <a:pPr indent="0" lvl="0" marL="0" rtl="0" algn="l">
              <a:spcBef>
                <a:spcPts val="0"/>
              </a:spcBef>
              <a:spcAft>
                <a:spcPts val="0"/>
              </a:spcAft>
              <a:buNone/>
            </a:pPr>
            <a:r>
              <a:rPr lang="en-US" sz="1200">
                <a:latin typeface="Arial"/>
                <a:ea typeface="Arial"/>
                <a:cs typeface="Arial"/>
                <a:sym typeface="Arial"/>
              </a:rPr>
              <a:t>  – A strongly directed individual can still belong to a disorganized group if different animals select different directions. The analysis distinguishes the stability of one flight from agreement among migratory bearings. The removed antennal flagella are visible external structures, but the relevant deficit cannot be attributed to one sensory modality from removal alone.</a:t>
            </a:r>
            <a:endParaRPr/>
          </a:p>
          <a:p>
            <a:pPr indent="0" lvl="0" marL="0" rtl="0" algn="l">
              <a:spcBef>
                <a:spcPts val="0"/>
              </a:spcBef>
              <a:spcAft>
                <a:spcPts val="0"/>
              </a:spcAft>
              <a:buNone/>
            </a:pPr>
            <a:r>
              <a:rPr lang="en-US" sz="1200">
                <a:latin typeface="Arial"/>
                <a:ea typeface="Arial"/>
                <a:cs typeface="Arial"/>
                <a:sym typeface="Arial"/>
              </a:rPr>
              <a:t>• The dissociation identifies an antennal contribution to time-compensated orientation rather than a complete loss of flight or direction-holding ability. Removal affects several antennal functions, so this experiment alone cannot assign the deficit specifically to a molecular clock. Paint and isolated-tissue experiments test the timing explanation more selectively.</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Christine Merlin; Robert J. Gegear; Steven M. Reppert (2009). Antennal Circadian Clocks Coordinate Sun Compass Orientation in Migratory Monarch Butterflies. Science, 325(5948): 1700-1704.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Merlin et al. (2009), Fig. 1(A–B). Intact and antenna-less headings on two light cycles.</a:t>
            </a:r>
            <a:endParaRPr/>
          </a:p>
          <a:p>
            <a:pPr indent="0" lvl="0" marL="0" rtl="0" algn="l">
              <a:spcBef>
                <a:spcPts val="0"/>
              </a:spcBef>
              <a:spcAft>
                <a:spcPts val="0"/>
              </a:spcAft>
              <a:buNone/>
            </a:pPr>
            <a:r>
              <a:rPr lang="en-US" sz="1200">
                <a:latin typeface="Arial"/>
                <a:ea typeface="Arial"/>
                <a:cs typeface="Arial"/>
                <a:sym typeface="Arial"/>
              </a:rPr>
              <a:t>Figure source: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p:txBody>
      </p:sp>
      <p:sp>
        <p:nvSpPr>
          <p:cNvPr id="386" name="Google Shape;386;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9" name="Google Shape;399;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An orientation deficit requires a motor control when the manipulated organ could influence flight. Merlin and colleagues released intact and antenna-less monarchs outdoors and compared whether they could maintain normal upward flight.</a:t>
            </a:r>
            <a:endParaRPr/>
          </a:p>
          <a:p>
            <a:pPr indent="0" lvl="0" marL="0" rtl="0" algn="l">
              <a:spcBef>
                <a:spcPts val="0"/>
              </a:spcBef>
              <a:spcAft>
                <a:spcPts val="0"/>
              </a:spcAft>
              <a:buNone/>
            </a:pPr>
            <a:r>
              <a:rPr lang="en-US" sz="1200">
                <a:latin typeface="Arial"/>
                <a:ea typeface="Arial"/>
                <a:cs typeface="Arial"/>
                <a:sym typeface="Arial"/>
              </a:rPr>
              <a:t>• Most butterflies in both conditions flew normally after release. In simulator trials, antenna-less individuals also retained directional flight within a recording, despite losing the consistent group bearing expected from the entraining light cycle.</a:t>
            </a:r>
            <a:endParaRPr/>
          </a:p>
          <a:p>
            <a:pPr indent="0" lvl="0" marL="0" rtl="0" algn="l">
              <a:spcBef>
                <a:spcPts val="0"/>
              </a:spcBef>
              <a:spcAft>
                <a:spcPts val="0"/>
              </a:spcAft>
              <a:buNone/>
            </a:pPr>
            <a:r>
              <a:rPr lang="en-US" sz="1200">
                <a:latin typeface="Arial"/>
                <a:ea typeface="Arial"/>
                <a:cs typeface="Arial"/>
                <a:sym typeface="Arial"/>
              </a:rPr>
              <a:t>  – Free-flight release is a motor check outside the tethered apparatus. It establishes that the manipulated animals can leave the release point and sustain upward flight, rather than testing an entire migration. Stable individual headings and normal release flight together constrain a motor explanation for the compass deficit.</a:t>
            </a:r>
            <a:endParaRPr/>
          </a:p>
          <a:p>
            <a:pPr indent="0" lvl="0" marL="0" rtl="0" algn="l">
              <a:spcBef>
                <a:spcPts val="0"/>
              </a:spcBef>
              <a:spcAft>
                <a:spcPts val="0"/>
              </a:spcAft>
              <a:buNone/>
            </a:pPr>
            <a:r>
              <a:rPr lang="en-US" sz="1200">
                <a:latin typeface="Arial"/>
                <a:ea typeface="Arial"/>
                <a:cs typeface="Arial"/>
                <a:sym typeface="Arial"/>
              </a:rPr>
              <a:t>• The combined observations reduce an explanation based on general inability to fly. They do not prove that antennal removal leaves every aspect of aerodynamic control unchanged. The measured outcome is sufficient to separate severe flight incapacity from compass disorganization, while preserving the need to identify which antennal signal supports the shared migratory direction.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Christine Merlin; Robert J. Gegear; Steven M. Reppert (2009). Antennal Circadian Clocks Coordinate Sun Compass Orientation in Migratory Monarch Butterflies. Science, 325(5948): 1700-1704.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Merlin et al. (2009), Fig. 1(C). Released intact and antenna-less butterflies maintain flight.</a:t>
            </a:r>
            <a:endParaRPr/>
          </a:p>
          <a:p>
            <a:pPr indent="0" lvl="0" marL="0" rtl="0" algn="l">
              <a:spcBef>
                <a:spcPts val="0"/>
              </a:spcBef>
              <a:spcAft>
                <a:spcPts val="0"/>
              </a:spcAft>
              <a:buNone/>
            </a:pPr>
            <a:r>
              <a:rPr lang="en-US" sz="1200">
                <a:latin typeface="Arial"/>
                <a:ea typeface="Arial"/>
                <a:cs typeface="Arial"/>
                <a:sym typeface="Arial"/>
              </a:rPr>
              <a:t>Figure source: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p:txBody>
      </p:sp>
      <p:sp>
        <p:nvSpPr>
          <p:cNvPr id="400" name="Google Shape;400;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3" name="Google Shape;413;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Merlin and colleagues measured clock-associated RNA in isolated samples of monarch antennae. Quantitative PCR estimates the abundance of selected RNA sequences after conversion to DNA, allowing the same transcripts to be compared across time points.</a:t>
            </a:r>
            <a:endParaRPr/>
          </a:p>
          <a:p>
            <a:pPr indent="0" lvl="0" marL="0" rtl="0" algn="l">
              <a:spcBef>
                <a:spcPts val="0"/>
              </a:spcBef>
              <a:spcAft>
                <a:spcPts val="0"/>
              </a:spcAft>
              <a:buNone/>
            </a:pPr>
            <a:r>
              <a:rPr lang="en-US" sz="1200">
                <a:latin typeface="Arial"/>
                <a:ea typeface="Arial"/>
                <a:cs typeface="Arial"/>
                <a:sym typeface="Arial"/>
              </a:rPr>
              <a:t>• Antennal per, tim and cry2 RNA varied across a light–dark cycle and remained rhythmic after transfer to constant darkness. Their levels were lower near ZT6 than ZT18 in the cycling condition; cry1 RNA did not have the same phase difference.</a:t>
            </a:r>
            <a:endParaRPr/>
          </a:p>
          <a:p>
            <a:pPr indent="0" lvl="0" marL="0" rtl="0" algn="l">
              <a:spcBef>
                <a:spcPts val="0"/>
              </a:spcBef>
              <a:spcAft>
                <a:spcPts val="0"/>
              </a:spcAft>
              <a:buNone/>
            </a:pPr>
            <a:r>
              <a:rPr lang="en-US" sz="1200">
                <a:latin typeface="Arial"/>
                <a:ea typeface="Arial"/>
                <a:cs typeface="Arial"/>
                <a:sym typeface="Arial"/>
              </a:rPr>
              <a:t>  – The RNA measurements sample the antenna as a tissue, so they can combine several cellular populations. Different clock components need not have identical expression profiles. The presence of rhythmic per, tim and cry2 therefore supports a local clock program without requiring cry1 RNA itself to oscillate strongly.</a:t>
            </a:r>
            <a:endParaRPr/>
          </a:p>
          <a:p>
            <a:pPr indent="0" lvl="0" marL="0" rtl="0" algn="l">
              <a:spcBef>
                <a:spcPts val="0"/>
              </a:spcBef>
              <a:spcAft>
                <a:spcPts val="0"/>
              </a:spcAft>
              <a:buNone/>
            </a:pPr>
            <a:r>
              <a:rPr lang="en-US" sz="1200">
                <a:latin typeface="Arial"/>
                <a:ea typeface="Arial"/>
                <a:cs typeface="Arial"/>
                <a:sym typeface="Arial"/>
              </a:rPr>
              <a:t>• These measurements place a circadian molecular program in the appendages required for normal orientation. Tissue-level rhythms do not identify which antennal cells contain the oscillator or how their output reaches the compass. Persistence without the light cycle supports endogenous timing, rather than merely a direct response to illumination.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Christine Merlin; Robert J. Gegear; Steven M. Reppert (2009). Antennal Circadian Clocks Coordinate Sun Compass Orientation in Migratory Monarch Butterflies. Science, 325(5948): 1700-1704.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Merlin et al. (2009), Fig. 2(A–B). Antennal clock RNA in light–dark and constant darkness.</a:t>
            </a:r>
            <a:endParaRPr/>
          </a:p>
          <a:p>
            <a:pPr indent="0" lvl="0" marL="0" rtl="0" algn="l">
              <a:spcBef>
                <a:spcPts val="0"/>
              </a:spcBef>
              <a:spcAft>
                <a:spcPts val="0"/>
              </a:spcAft>
              <a:buNone/>
            </a:pPr>
            <a:r>
              <a:rPr lang="en-US" sz="1200">
                <a:latin typeface="Arial"/>
                <a:ea typeface="Arial"/>
                <a:cs typeface="Arial"/>
                <a:sym typeface="Arial"/>
              </a:rPr>
              <a:t>Figure source: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p:txBody>
      </p:sp>
      <p:sp>
        <p:nvSpPr>
          <p:cNvPr id="414" name="Google Shape;414;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 clock measured in antennae could still depend continuously on another tissue. Merlin and colleagues cultured separated antennae and exposed different explants, isolated tissue maintained outside the animal, to oppositely phased light–dark schedules.</a:t>
            </a:r>
            <a:endParaRPr/>
          </a:p>
          <a:p>
            <a:pPr indent="0" lvl="0" marL="0" rtl="0" algn="l">
              <a:spcBef>
                <a:spcPts val="0"/>
              </a:spcBef>
              <a:spcAft>
                <a:spcPts val="0"/>
              </a:spcAft>
              <a:buNone/>
            </a:pPr>
            <a:r>
              <a:rPr lang="en-US" sz="1200">
                <a:latin typeface="Arial"/>
                <a:ea typeface="Arial"/>
                <a:cs typeface="Arial"/>
                <a:sym typeface="Arial"/>
              </a:rPr>
              <a:t>• TIM protein was lower around ZT6 and higher around ZT18 relative to each explant’s own light schedule. The rhythm continued with reduced amplitude during the first day of constant darkness after entrainment. No intact nervous-system connection remained in the culture.</a:t>
            </a:r>
            <a:endParaRPr/>
          </a:p>
          <a:p>
            <a:pPr indent="0" lvl="0" marL="0" rtl="0" algn="l">
              <a:spcBef>
                <a:spcPts val="0"/>
              </a:spcBef>
              <a:spcAft>
                <a:spcPts val="0"/>
              </a:spcAft>
              <a:buNone/>
            </a:pPr>
            <a:r>
              <a:rPr lang="en-US" sz="1200">
                <a:latin typeface="Arial"/>
                <a:ea typeface="Arial"/>
                <a:cs typeface="Arial"/>
                <a:sym typeface="Arial"/>
              </a:rPr>
              <a:t>  – The two opposing schedules provide different time references for otherwise comparable tissue cultures. TIM following each local schedule is stronger evidence for local entrainment than simply finding a rhythm in an intact antenna. The dark interval was limited, so autonomy should be described over that tested duration.</a:t>
            </a:r>
            <a:endParaRPr/>
          </a:p>
          <a:p>
            <a:pPr indent="0" lvl="0" marL="0" rtl="0" algn="l">
              <a:spcBef>
                <a:spcPts val="0"/>
              </a:spcBef>
              <a:spcAft>
                <a:spcPts val="0"/>
              </a:spcAft>
              <a:buNone/>
            </a:pPr>
            <a:r>
              <a:rPr lang="en-US" sz="1200">
                <a:latin typeface="Arial"/>
                <a:ea typeface="Arial"/>
                <a:cs typeface="Arial"/>
                <a:sym typeface="Arial"/>
              </a:rPr>
              <a:t>• The result supports autonomous, light-entrainable timing within antennal tissue over the measured interval. It does not establish indefinite persistence in culture or identify every oscillator cell. Removing central input distinguishes a local molecular rhythm from one that must be continuously imposed by the rest of the animal.</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Christine Merlin; Robert J. Gegear; Steven M. Reppert (2009). Antennal Circadian Clocks Coordinate Sun Compass Orientation in Migratory Monarch Butterflies. Science, 325(5948): 1700-1704.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Merlin et al. (2009), Fig. 2(D–E). TIM rhythms in isolated antennal cultures.</a:t>
            </a:r>
            <a:endParaRPr/>
          </a:p>
          <a:p>
            <a:pPr indent="0" lvl="0" marL="0" rtl="0" algn="l">
              <a:spcBef>
                <a:spcPts val="0"/>
              </a:spcBef>
              <a:spcAft>
                <a:spcPts val="0"/>
              </a:spcAft>
              <a:buNone/>
            </a:pPr>
            <a:r>
              <a:rPr lang="en-US" sz="1200">
                <a:latin typeface="Arial"/>
                <a:ea typeface="Arial"/>
                <a:cs typeface="Arial"/>
                <a:sym typeface="Arial"/>
              </a:rPr>
              <a:t>Figure source: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p:txBody>
      </p:sp>
      <p:sp>
        <p:nvSpPr>
          <p:cNvPr id="428" name="Google Shape;428;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Merlin and colleagues coated antennal flagella with either black or clear enamel to distinguish light access from the general consequences of painting. Black paint blocked transmission across the tested 300–800 nm range; clear paint preserved transmission.</a:t>
            </a:r>
            <a:endParaRPr/>
          </a:p>
          <a:p>
            <a:pPr indent="0" lvl="0" marL="0" rtl="0" algn="l">
              <a:spcBef>
                <a:spcPts val="0"/>
              </a:spcBef>
              <a:spcAft>
                <a:spcPts val="0"/>
              </a:spcAft>
              <a:buNone/>
            </a:pPr>
            <a:r>
              <a:rPr lang="en-US" sz="1200">
                <a:latin typeface="Arial"/>
                <a:ea typeface="Arial"/>
                <a:cs typeface="Arial"/>
                <a:sym typeface="Arial"/>
              </a:rPr>
              <a:t>• A 2-h light pulse during CT16–18 reduced antennal TIM protein when the coating was clear, but not when it was black. The pulse compared a molecular response to illumination while keeping the appendage physically present.</a:t>
            </a:r>
            <a:endParaRPr/>
          </a:p>
          <a:p>
            <a:pPr indent="0" lvl="0" marL="0" rtl="0" algn="l">
              <a:spcBef>
                <a:spcPts val="0"/>
              </a:spcBef>
              <a:spcAft>
                <a:spcPts val="0"/>
              </a:spcAft>
              <a:buNone/>
            </a:pPr>
            <a:r>
              <a:rPr lang="en-US" sz="1200">
                <a:latin typeface="Arial"/>
                <a:ea typeface="Arial"/>
                <a:cs typeface="Arial"/>
                <a:sym typeface="Arial"/>
              </a:rPr>
              <a:t>  – A physical coating can interfere with more than one sensory function. Comparing black with clear enamel retains coating effects while changing optical transmission. The TIM response measures a clock-associated molecular consequence of light exposure, rather than the butterfly’s directional decision. The spectral transmission test verifies that the intended optical difference was achieved.</a:t>
            </a:r>
            <a:endParaRPr/>
          </a:p>
          <a:p>
            <a:pPr indent="0" lvl="0" marL="0" rtl="0" algn="l">
              <a:spcBef>
                <a:spcPts val="0"/>
              </a:spcBef>
              <a:spcAft>
                <a:spcPts val="0"/>
              </a:spcAft>
              <a:buNone/>
            </a:pPr>
            <a:r>
              <a:rPr lang="en-US" sz="1200">
                <a:latin typeface="Arial"/>
                <a:ea typeface="Arial"/>
                <a:cs typeface="Arial"/>
                <a:sym typeface="Arial"/>
              </a:rPr>
              <a:t>• The comparison supports direct photic input, meaning input from light, to the antennal clock. It does not establish the full sequence from photon absorption to protein turnover. Clear paint also controls for coating-related interference with odor reception, allowing a later behavioral difference to be linked more specifically to blocked light access.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Christine Merlin; Robert J. Gegear; Steven M. Reppert (2009). Antennal Circadian Clocks Coordinate Sun Compass Orientation in Migratory Monarch Butterflies. Science, 325(5948): 1700-1704.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Merlin et al. (2009), Fig. 3(A–B). Paint transmission and light-dependent TIM depletion.</a:t>
            </a:r>
            <a:endParaRPr/>
          </a:p>
          <a:p>
            <a:pPr indent="0" lvl="0" marL="0" rtl="0" algn="l">
              <a:spcBef>
                <a:spcPts val="0"/>
              </a:spcBef>
              <a:spcAft>
                <a:spcPts val="0"/>
              </a:spcAft>
              <a:buNone/>
            </a:pPr>
            <a:r>
              <a:rPr lang="en-US" sz="1200">
                <a:latin typeface="Arial"/>
                <a:ea typeface="Arial"/>
                <a:cs typeface="Arial"/>
                <a:sym typeface="Arial"/>
              </a:rPr>
              <a:t>Figure source: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p:txBody>
      </p:sp>
      <p:sp>
        <p:nvSpPr>
          <p:cNvPr id="442" name="Google Shape;442;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Butterflies with clear-painted antennae retained a consistent orientation and shifted their heading after a 6-h delay in the light cycle. In this later-autumn experiment, clear-painted controls oriented near 162°, and delayed controls near 269°.</a:t>
            </a:r>
            <a:endParaRPr/>
          </a:p>
          <a:p>
            <a:pPr indent="0" lvl="0" marL="0" rtl="0" algn="l">
              <a:spcBef>
                <a:spcPts val="0"/>
              </a:spcBef>
              <a:spcAft>
                <a:spcPts val="0"/>
              </a:spcAft>
              <a:buNone/>
            </a:pPr>
            <a:r>
              <a:rPr lang="en-US" sz="1200">
                <a:latin typeface="Arial"/>
                <a:ea typeface="Arial"/>
                <a:cs typeface="Arial"/>
                <a:sym typeface="Arial"/>
              </a:rPr>
              <a:t>• Black-painted animals instead selected an abnormal northward bearing near 344° on the normal schedule; delayed black-painted animals were disorganized as a group. The antennae remained physically present, and the clear coating supplied a control for the painting procedure.</a:t>
            </a:r>
            <a:endParaRPr/>
          </a:p>
          <a:p>
            <a:pPr indent="0" lvl="0" marL="0" rtl="0" algn="l">
              <a:spcBef>
                <a:spcPts val="0"/>
              </a:spcBef>
              <a:spcAft>
                <a:spcPts val="0"/>
              </a:spcAft>
              <a:buNone/>
            </a:pPr>
            <a:r>
              <a:rPr lang="en-US" sz="1200">
                <a:latin typeface="Arial"/>
                <a:ea typeface="Arial"/>
                <a:cs typeface="Arial"/>
                <a:sym typeface="Arial"/>
              </a:rPr>
              <a:t>  – Clear-coated antennae were not normal odor receptors, yet they supported an oriented compass response. That comparison weakens an explanation based solely on olfactory impairment. The abnormal black-painted heading is a behavioral outcome; the inferred loss of appropriate antennal entrainment requires the separate molecular light-response evidence.</a:t>
            </a:r>
            <a:endParaRPr/>
          </a:p>
          <a:p>
            <a:pPr indent="0" lvl="0" marL="0" rtl="0" algn="l">
              <a:spcBef>
                <a:spcPts val="0"/>
              </a:spcBef>
              <a:spcAft>
                <a:spcPts val="0"/>
              </a:spcAft>
              <a:buNone/>
            </a:pPr>
            <a:r>
              <a:rPr lang="en-US" sz="1200">
                <a:latin typeface="Arial"/>
                <a:ea typeface="Arial"/>
                <a:cs typeface="Arial"/>
                <a:sym typeface="Arial"/>
              </a:rPr>
              <a:t>• The results connect antennal light access to normal time-compensated orientation. Different unshifted means across studies do not imply a universal fixed angle: collection date and testing conditions differed. Blocking light can desynchronize or free-run antennal clocks, but an abnormal heading alone does not identify the precise clock phase in each animal.</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Christine Merlin; Robert J. Gegear; Steven M. Reppert (2009). Antennal Circadian Clocks Coordinate Sun Compass Orientation in Migratory Monarch Butterflies. Science, 325(5948): 1700-1704.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Merlin et al. (2009), Fig. 4(A). Orientation with clear or black antennal paint.</a:t>
            </a:r>
            <a:endParaRPr/>
          </a:p>
          <a:p>
            <a:pPr indent="0" lvl="0" marL="0" rtl="0" algn="l">
              <a:spcBef>
                <a:spcPts val="0"/>
              </a:spcBef>
              <a:spcAft>
                <a:spcPts val="0"/>
              </a:spcAft>
              <a:buNone/>
            </a:pPr>
            <a:r>
              <a:rPr lang="en-US" sz="1200">
                <a:latin typeface="Arial"/>
                <a:ea typeface="Arial"/>
                <a:cs typeface="Arial"/>
                <a:sym typeface="Arial"/>
              </a:rPr>
              <a:t>Figure source: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p:txBody>
      </p:sp>
      <p:sp>
        <p:nvSpPr>
          <p:cNvPr id="456" name="Google Shape;456;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9" name="Google Shape;469;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Guerra and colleagues tested migrants after removing either the left or the right antenna. The remaining appendage retained access to light, allowing its timing contribution to be evaluated without a second functional antenna.</a:t>
            </a:r>
            <a:endParaRPr/>
          </a:p>
          <a:p>
            <a:pPr indent="0" lvl="0" marL="0" rtl="0" algn="l">
              <a:spcBef>
                <a:spcPts val="0"/>
              </a:spcBef>
              <a:spcAft>
                <a:spcPts val="0"/>
              </a:spcAft>
              <a:buNone/>
            </a:pPr>
            <a:r>
              <a:rPr lang="en-US" sz="1200">
                <a:latin typeface="Arial"/>
                <a:ea typeface="Arial"/>
                <a:cs typeface="Arial"/>
                <a:sym typeface="Arial"/>
              </a:rPr>
              <a:t>• Both single-antenna groups selected a southwest bearing, with a combined mean near 217°. After a 6-h delay of the light cycle, their combined heading shifted to about 359°, approximately 142° clockwise. Left and right removal produced comparable compass performance.</a:t>
            </a:r>
            <a:endParaRPr/>
          </a:p>
          <a:p>
            <a:pPr indent="0" lvl="0" marL="0" rtl="0" algn="l">
              <a:spcBef>
                <a:spcPts val="0"/>
              </a:spcBef>
              <a:spcAft>
                <a:spcPts val="0"/>
              </a:spcAft>
              <a:buNone/>
            </a:pPr>
            <a:r>
              <a:rPr lang="en-US" sz="1200">
                <a:latin typeface="Arial"/>
                <a:ea typeface="Arial"/>
                <a:cs typeface="Arial"/>
                <a:sym typeface="Arial"/>
              </a:rPr>
              <a:t>  – Sufficiency means that the remaining antenna can support the measured behavior in this preparation. It does not establish that two antennae are redundant in every environment. The clockwise shift follows a delay, consistent with time compensation, while its magnitude belongs to the solar geometry of this particular experiment.</a:t>
            </a:r>
            <a:endParaRPr/>
          </a:p>
          <a:p>
            <a:pPr indent="0" lvl="0" marL="0" rtl="0" algn="l">
              <a:spcBef>
                <a:spcPts val="0"/>
              </a:spcBef>
              <a:spcAft>
                <a:spcPts val="0"/>
              </a:spcAft>
              <a:buNone/>
            </a:pPr>
            <a:r>
              <a:rPr lang="en-US" sz="1200">
                <a:latin typeface="Arial"/>
                <a:ea typeface="Arial"/>
                <a:cs typeface="Arial"/>
                <a:sym typeface="Arial"/>
              </a:rPr>
              <a:t>• The results support functional sufficiency of either antenna under the tested conditions. They do not establish how outputs from two intact antennae are combined. A system can work with one source of timing yet become disrupted when a second source supplies a conflicting signal rather than no signal.</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Patrick A. Guerra; Christine Merlin; Robert J. Gegear; Steven M. Reppert (2012). Discordant timing between antennae disrupts sun compass orientation in migratory monarch butterflies. Nature Communications, 3(1): 958. https://doi.org/10.1038/ncomms1965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Guerra et al. (2012), Fig. 1(a–b). A single antenna supports clock-shifted orientation.</a:t>
            </a:r>
            <a:endParaRPr/>
          </a:p>
          <a:p>
            <a:pPr indent="0" lvl="0" marL="0" rtl="0" algn="l">
              <a:spcBef>
                <a:spcPts val="0"/>
              </a:spcBef>
              <a:spcAft>
                <a:spcPts val="0"/>
              </a:spcAft>
              <a:buNone/>
            </a:pPr>
            <a:r>
              <a:rPr lang="en-US" sz="1200">
                <a:latin typeface="Arial"/>
                <a:ea typeface="Arial"/>
                <a:cs typeface="Arial"/>
                <a:sym typeface="Arial"/>
              </a:rPr>
              <a:t>Figure source: https://doi.org/10.1038/ncomms1965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p:txBody>
      </p:sp>
      <p:sp>
        <p:nvSpPr>
          <p:cNvPr id="470" name="Google Shape;470;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 name="Google Shape;483;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Guerra and colleagues painted one antenna black and the other clear, leaving one light-accessible timing system alongside one deprived of normal photic entrainment. They compared the condition with the orientation supported by a single accessible antenna.</a:t>
            </a:r>
            <a:endParaRPr/>
          </a:p>
          <a:p>
            <a:pPr indent="0" lvl="0" marL="0" rtl="0" algn="l">
              <a:spcBef>
                <a:spcPts val="0"/>
              </a:spcBef>
              <a:spcAft>
                <a:spcPts val="0"/>
              </a:spcAft>
              <a:buNone/>
            </a:pPr>
            <a:r>
              <a:rPr lang="en-US" sz="1200">
                <a:latin typeface="Arial"/>
                <a:ea typeface="Arial"/>
                <a:cs typeface="Arial"/>
                <a:sym typeface="Arial"/>
              </a:rPr>
              <a:t>• Butterflies with discordant coatings maintained directed individual flights but lacked a consistent group migratory bearing. Either side could be black-painted, so the effect was not restricted to one lateral antenna. The unblocked appendage did not simply dominate the conflicting condition.</a:t>
            </a:r>
            <a:endParaRPr/>
          </a:p>
          <a:p>
            <a:pPr indent="0" lvl="0" marL="0" rtl="0" algn="l">
              <a:spcBef>
                <a:spcPts val="0"/>
              </a:spcBef>
              <a:spcAft>
                <a:spcPts val="0"/>
              </a:spcAft>
              <a:buNone/>
            </a:pPr>
            <a:r>
              <a:rPr lang="en-US" sz="1200">
                <a:latin typeface="Arial"/>
                <a:ea typeface="Arial"/>
                <a:cs typeface="Arial"/>
                <a:sym typeface="Arial"/>
              </a:rPr>
              <a:t>  – Discordant means that the two timing sources are not appropriately aligned. A black coating prevents normal light entrainment, but the experiment does not directly measure a unique phase in each blocked clock cell. Disorganization despite an accessible antenna is evidence that the second appendage can interfere with otherwise sufficient timing information.</a:t>
            </a:r>
            <a:endParaRPr/>
          </a:p>
          <a:p>
            <a:pPr indent="0" lvl="0" marL="0" rtl="0" algn="l">
              <a:spcBef>
                <a:spcPts val="0"/>
              </a:spcBef>
              <a:spcAft>
                <a:spcPts val="0"/>
              </a:spcAft>
              <a:buNone/>
            </a:pPr>
            <a:r>
              <a:rPr lang="en-US" sz="1200">
                <a:latin typeface="Arial"/>
                <a:ea typeface="Arial"/>
                <a:cs typeface="Arial"/>
                <a:sym typeface="Arial"/>
              </a:rPr>
              <a:t>• These observations support integration of information from both antennae. Antennal clock measurements associated the blocked side with disrupted population rhythms, but the experiment did not record the signal sent by each clock. The central site and cellular rules combining those signals remain unresolved.</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Patrick A. Guerra; Christine Merlin; Robert J. Gegear; Steven M. Reppert (2012). Discordant timing between antennae disrupts sun compass orientation in migratory monarch butterflies. Nature Communications, 3(1): 958. https://doi.org/10.1038/ncomms1965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Guerra et al. (2012), Fig. 2(A–C). Conflicting antennae and rescue after black antenna removal.</a:t>
            </a:r>
            <a:endParaRPr/>
          </a:p>
          <a:p>
            <a:pPr indent="0" lvl="0" marL="0" rtl="0" algn="l">
              <a:spcBef>
                <a:spcPts val="0"/>
              </a:spcBef>
              <a:spcAft>
                <a:spcPts val="0"/>
              </a:spcAft>
              <a:buNone/>
            </a:pPr>
            <a:r>
              <a:rPr lang="en-US" sz="1200">
                <a:latin typeface="Arial"/>
                <a:ea typeface="Arial"/>
                <a:cs typeface="Arial"/>
                <a:sym typeface="Arial"/>
              </a:rPr>
              <a:t>Figure source: https://doi.org/10.1038/ncomms1965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p:txBody>
      </p:sp>
      <p:sp>
        <p:nvSpPr>
          <p:cNvPr id="484" name="Google Shape;484;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7" name="Google Shape;497;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 within-animal rescue tested whether the abnormal second antenna caused the compass deficit. Guerra and colleagues first flew migrants with one black-painted and one clear-painted antenna, then removed the black-painted appendage and tested flight again.</a:t>
            </a:r>
            <a:endParaRPr/>
          </a:p>
          <a:p>
            <a:pPr indent="0" lvl="0" marL="0" rtl="0" algn="l">
              <a:spcBef>
                <a:spcPts val="0"/>
              </a:spcBef>
              <a:spcAft>
                <a:spcPts val="0"/>
              </a:spcAft>
              <a:buNone/>
            </a:pPr>
            <a:r>
              <a:rPr lang="en-US" sz="1200">
                <a:latin typeface="Arial"/>
                <a:ea typeface="Arial"/>
                <a:cs typeface="Arial"/>
                <a:sym typeface="Arial"/>
              </a:rPr>
              <a:t>• The previously disorganized animals regained a southwest group heading near 214°. Combining repeated-flight and first-flight removal controls gave a mean near 216°, reducing an explanation based on experience with the simulator alone. The clear antenna remained available throughout the intervention.</a:t>
            </a:r>
            <a:endParaRPr/>
          </a:p>
          <a:p>
            <a:pPr indent="0" lvl="0" marL="0" rtl="0" algn="l">
              <a:spcBef>
                <a:spcPts val="0"/>
              </a:spcBef>
              <a:spcAft>
                <a:spcPts val="0"/>
              </a:spcAft>
              <a:buNone/>
            </a:pPr>
            <a:r>
              <a:rPr lang="en-US" sz="1200">
                <a:latin typeface="Arial"/>
                <a:ea typeface="Arial"/>
                <a:cs typeface="Arial"/>
                <a:sym typeface="Arial"/>
              </a:rPr>
              <a:t>  – A rescue reverses a deficit by changing a proposed cause. Here the remaining clear antenna could support orientation once the blocked antenna was absent. First-flight controls address the possibility that the second simulator exposure, rather than removal of the conflicting signal, produced the recovered group bearing.</a:t>
            </a:r>
            <a:endParaRPr/>
          </a:p>
          <a:p>
            <a:pPr indent="0" lvl="0" marL="0" rtl="0" algn="l">
              <a:spcBef>
                <a:spcPts val="0"/>
              </a:spcBef>
              <a:spcAft>
                <a:spcPts val="0"/>
              </a:spcAft>
              <a:buNone/>
            </a:pPr>
            <a:r>
              <a:rPr lang="en-US" sz="1200">
                <a:latin typeface="Arial"/>
                <a:ea typeface="Arial"/>
                <a:cs typeface="Arial"/>
                <a:sym typeface="Arial"/>
              </a:rPr>
              <a:t>• Restoring orientation by removing a conflicting source provides stronger causal evidence than comparing unrelated groups alone. It supports coordinated antennal timing input while leaving its neural integration mechanism unidentified. The rescue does not imply that antennal removal is generally beneficial; its effect depends on which timing source is removed.</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Patrick A. Guerra; Christine Merlin; Robert J. Gegear; Steven M. Reppert (2012). Discordant timing between antennae disrupts sun compass orientation in migratory monarch butterflies. Nature Communications, 3(1): 958. https://doi.org/10.1038/ncomms1965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Guerra et al. (2012), Fig. 2(A–C). Conflicting antennae and rescue after black antenna removal.</a:t>
            </a:r>
            <a:endParaRPr/>
          </a:p>
          <a:p>
            <a:pPr indent="0" lvl="0" marL="0" rtl="0" algn="l">
              <a:spcBef>
                <a:spcPts val="0"/>
              </a:spcBef>
              <a:spcAft>
                <a:spcPts val="0"/>
              </a:spcAft>
              <a:buNone/>
            </a:pPr>
            <a:r>
              <a:rPr lang="en-US" sz="1200">
                <a:latin typeface="Arial"/>
                <a:ea typeface="Arial"/>
                <a:cs typeface="Arial"/>
                <a:sym typeface="Arial"/>
              </a:rPr>
              <a:t>Figure source: https://doi.org/10.1038/ncomms1965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Image: Photo: Monarch butterfly with compound eye and antenna visible. Credit: U.S. Fish and Wildlife Service. License: Public Domain. Source: https://www.fws.gov/media/monarch-butterfly-danaus-plexippus</a:t>
            </a:r>
            <a:endParaRPr/>
          </a:p>
        </p:txBody>
      </p:sp>
      <p:sp>
        <p:nvSpPr>
          <p:cNvPr id="498" name="Google Shape;498;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1" name="Google Shape;511;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Heinze and Reppert mapped the monarch central complex using synapsin antibody labeling and three-dimensional reconstruction. The central body has upper and lower divisions, associated with a protocerebral bridge, a transverse neuropil, and paired noduli, compact neighboring neuropils.</a:t>
            </a:r>
            <a:endParaRPr/>
          </a:p>
          <a:p>
            <a:pPr indent="0" lvl="0" marL="0" rtl="0" algn="l">
              <a:spcBef>
                <a:spcPts val="0"/>
              </a:spcBef>
              <a:spcAft>
                <a:spcPts val="0"/>
              </a:spcAft>
              <a:buNone/>
            </a:pPr>
            <a:r>
              <a:rPr lang="en-US" sz="1200">
                <a:latin typeface="Arial"/>
                <a:ea typeface="Arial"/>
                <a:cs typeface="Arial"/>
                <a:sym typeface="Arial"/>
              </a:rPr>
              <a:t>• The anterior optic tubercle is an additional visual-processing region. The lateral accessory lobe lies beside the central complex and receives identified neuronal processes associated with compass circuitry. Source scale bars distinguish whole-brain organization at 500 µm from central-complex details at 50 µm.</a:t>
            </a:r>
            <a:endParaRPr/>
          </a:p>
          <a:p>
            <a:pPr indent="0" lvl="0" marL="0" rtl="0" algn="l">
              <a:spcBef>
                <a:spcPts val="0"/>
              </a:spcBef>
              <a:spcAft>
                <a:spcPts val="0"/>
              </a:spcAft>
              <a:buNone/>
            </a:pPr>
            <a:r>
              <a:rPr lang="en-US" sz="1200">
                <a:latin typeface="Arial"/>
                <a:ea typeface="Arial"/>
                <a:cs typeface="Arial"/>
                <a:sym typeface="Arial"/>
              </a:rPr>
              <a:t>  – Synapsin labeling delineates regions containing many synaptic processes. A reconstructed neuropil is an anatomical compartment, not a single neuron. The upper and lower central-body divisions, bridge and noduli can therefore be distinguished spatially before asking which recorded cell types connect them and what those cells encode.</a:t>
            </a:r>
            <a:endParaRPr/>
          </a:p>
          <a:p>
            <a:pPr indent="0" lvl="0" marL="0" rtl="0" algn="l">
              <a:spcBef>
                <a:spcPts val="0"/>
              </a:spcBef>
              <a:spcAft>
                <a:spcPts val="0"/>
              </a:spcAft>
              <a:buNone/>
            </a:pPr>
            <a:r>
              <a:rPr lang="en-US" sz="1200">
                <a:latin typeface="Arial"/>
                <a:ea typeface="Arial"/>
                <a:cs typeface="Arial"/>
                <a:sym typeface="Arial"/>
              </a:rPr>
              <a:t>• This anatomy specifies locations for cell recording and dye reconstruction. Synapse-rich boundaries do not themselves identify information flow, transmitter identity or behavioral necessity. Combining the map with individual-cell physiology tests which neurons respond to skylight cues rather than assigning a compass function from location alone.</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2(A–J). Synapsin-labeled central-complex and associated neuropils.</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p:txBody>
      </p:sp>
      <p:sp>
        <p:nvSpPr>
          <p:cNvPr id="512" name="Google Shape;512;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Heinze and Reppert combined intracellular recordings with dye injection to recover the anatomy of individual compass-related neurons. Intracellular recording measures electrical activity from within a cell; subsequent dye filling associates that response with its neuronal processes.</a:t>
            </a:r>
            <a:endParaRPr/>
          </a:p>
          <a:p>
            <a:pPr indent="0" lvl="0" marL="0" rtl="0" algn="l">
              <a:spcBef>
                <a:spcPts val="0"/>
              </a:spcBef>
              <a:spcAft>
                <a:spcPts val="0"/>
              </a:spcAft>
              <a:buNone/>
            </a:pPr>
            <a:r>
              <a:rPr lang="en-US" sz="1200">
                <a:latin typeface="Arial"/>
                <a:ea typeface="Arial"/>
                <a:cs typeface="Arial"/>
                <a:sym typeface="Arial"/>
              </a:rPr>
              <a:t>• Tangential neurons TL2 and TL3 connected the lateral triangle, an input region near the lateral accessory lobe, with distinct layers of the lower central body. Their processes spread across this compass-associated neuropil. The recovered pathways provide candidate stages through which visual information reaches central-complex activity.</a:t>
            </a:r>
            <a:endParaRPr/>
          </a:p>
          <a:p>
            <a:pPr indent="0" lvl="0" marL="0" rtl="0" algn="l">
              <a:spcBef>
                <a:spcPts val="0"/>
              </a:spcBef>
              <a:spcAft>
                <a:spcPts val="0"/>
              </a:spcAft>
              <a:buNone/>
            </a:pPr>
            <a:r>
              <a:rPr lang="en-US" sz="1200">
                <a:latin typeface="Arial"/>
                <a:ea typeface="Arial"/>
                <a:cs typeface="Arial"/>
                <a:sym typeface="Arial"/>
              </a:rPr>
              <a:t>  – Tangential cells distribute processes across part of the central-body width, whereas columnar cells connect more restricted subdivisions with other central-complex regions. The single-cell fills associate one electrical response with one recovered morphology. A complete synaptic circuit would require direct connectivity evidence in addition to overlapping projection territories.</a:t>
            </a:r>
            <a:endParaRPr/>
          </a:p>
          <a:p>
            <a:pPr indent="0" lvl="0" marL="0" rtl="0" algn="l">
              <a:spcBef>
                <a:spcPts val="0"/>
              </a:spcBef>
              <a:spcAft>
                <a:spcPts val="0"/>
              </a:spcAft>
              <a:buNone/>
            </a:pPr>
            <a:r>
              <a:rPr lang="en-US" sz="1200">
                <a:latin typeface="Arial"/>
                <a:ea typeface="Arial"/>
                <a:cs typeface="Arial"/>
                <a:sym typeface="Arial"/>
              </a:rPr>
              <a:t>• The recovered projections and light responses support a circuit-level organization, but morphological polarity does not establish every synaptic connection. The studies did not identify a complete sequence of neurotransmitters, postsynaptic receptors or ion channels through the migratory compass pathway.</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3(A). Dye-filled tangential input neuron TL2.</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3(B). Dye-filled tangential input neuron TL3.</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p:txBody>
      </p:sp>
      <p:sp>
        <p:nvSpPr>
          <p:cNvPr id="524" name="Google Shape;524;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Heinze and Reppert presented polarized 365-nm UV light from above while recording identified compass neurons. The electric-field orientation, called the E-vector, rotated through 360° at controlled speeds of 30° or 60° per second.</a:t>
            </a:r>
            <a:endParaRPr/>
          </a:p>
          <a:p>
            <a:pPr indent="0" lvl="0" marL="0" rtl="0" algn="l">
              <a:spcBef>
                <a:spcPts val="0"/>
              </a:spcBef>
              <a:spcAft>
                <a:spcPts val="0"/>
              </a:spcAft>
              <a:buNone/>
            </a:pPr>
            <a:r>
              <a:rPr lang="en-US" sz="1200">
                <a:latin typeface="Arial"/>
                <a:ea typeface="Arial"/>
                <a:cs typeface="Arial"/>
                <a:sym typeface="Arial"/>
              </a:rPr>
              <a:t>• Action potentials, brief electrical spikes, occurred at different rates for different E-vector angles. Preferred and suppressed axes were approximately 90° apart, and the response repeated after 180°, matching the axial symmetry of linear polarization. Intracellular traces preserved voltage and time calibration.</a:t>
            </a:r>
            <a:endParaRPr/>
          </a:p>
          <a:p>
            <a:pPr indent="0" lvl="0" marL="0" rtl="0" algn="l">
              <a:spcBef>
                <a:spcPts val="0"/>
              </a:spcBef>
              <a:spcAft>
                <a:spcPts val="0"/>
              </a:spcAft>
              <a:buNone/>
            </a:pPr>
            <a:r>
              <a:rPr lang="en-US" sz="1200">
                <a:latin typeface="Arial"/>
                <a:ea typeface="Arial"/>
                <a:cs typeface="Arial"/>
                <a:sym typeface="Arial"/>
              </a:rPr>
              <a:t>  – Polarization describes an axis rather than a directed arrow, so orientations separated by 180° are equivalent. A repeating neuronal response at that interval is consistent with polarization-axis coding. Opponent excitation and suppression can distinguish orthogonal axes, but converting such activity into a geographic direction requires additional context.</a:t>
            </a:r>
            <a:endParaRPr/>
          </a:p>
          <a:p>
            <a:pPr indent="0" lvl="0" marL="0" rtl="0" algn="l">
              <a:spcBef>
                <a:spcPts val="0"/>
              </a:spcBef>
              <a:spcAft>
                <a:spcPts val="0"/>
              </a:spcAft>
              <a:buNone/>
            </a:pPr>
            <a:r>
              <a:rPr lang="en-US" sz="1200">
                <a:latin typeface="Arial"/>
                <a:ea typeface="Arial"/>
                <a:cs typeface="Arial"/>
                <a:sym typeface="Arial"/>
              </a:rPr>
              <a:t>• These measurements establish neuronal sensitivity to polarization under controlled stimulation. They do not prove that this cue is necessary for migratory orientation when the sun is available. Behavioral masking and sensory recordings address different causal claims, even when they concern related input structures.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4(A–D). Intracellular polarization responses and tuning.</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3(A). Dye-filled tangential input neuron TL2.</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p:txBody>
      </p:sp>
      <p:sp>
        <p:nvSpPr>
          <p:cNvPr id="538" name="Google Shape;538;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Azimuth is the angular position of a stimulus around the horizon. Heinze and Reppert moved an unpolarized light spot around the animal at 30° elevation while recording compass-related cells responsive to skylight polarization.</a:t>
            </a:r>
            <a:endParaRPr/>
          </a:p>
          <a:p>
            <a:pPr indent="0" lvl="0" marL="0" rtl="0" algn="l">
              <a:spcBef>
                <a:spcPts val="0"/>
              </a:spcBef>
              <a:spcAft>
                <a:spcPts val="0"/>
              </a:spcAft>
              <a:buNone/>
            </a:pPr>
            <a:r>
              <a:rPr lang="en-US" sz="1200">
                <a:latin typeface="Arial"/>
                <a:ea typeface="Arial"/>
                <a:cs typeface="Arial"/>
                <a:sym typeface="Arial"/>
              </a:rPr>
              <a:t>• The cells also changed spike rate with spot azimuth. Tests used UV at 365 nm, blue at 470 nm and green at 530 nm; many cells responded to multiple wavelengths with comparable preferred directions rather than opposite spectral preferences.</a:t>
            </a:r>
            <a:endParaRPr/>
          </a:p>
          <a:p>
            <a:pPr indent="0" lvl="0" marL="0" rtl="0" algn="l">
              <a:spcBef>
                <a:spcPts val="0"/>
              </a:spcBef>
              <a:spcAft>
                <a:spcPts val="0"/>
              </a:spcAft>
              <a:buNone/>
            </a:pPr>
            <a:r>
              <a:rPr lang="en-US" sz="1200">
                <a:latin typeface="Arial"/>
                <a:ea typeface="Arial"/>
                <a:cs typeface="Arial"/>
                <a:sym typeface="Arial"/>
              </a:rPr>
              <a:t>  – The stimulus changes position while its wavelength can be held fixed, separating angular tuning from a response simply to light onset. Testing different wavelengths then asks whether the preferred angle reverses with spectral input. The reported cells lacked the consistent spectral opponency that would require opposite directional effects from different wavelength classes.</a:t>
            </a:r>
            <a:endParaRPr/>
          </a:p>
          <a:p>
            <a:pPr indent="0" lvl="0" marL="0" rtl="0" algn="l">
              <a:spcBef>
                <a:spcPts val="0"/>
              </a:spcBef>
              <a:spcAft>
                <a:spcPts val="0"/>
              </a:spcAft>
              <a:buNone/>
            </a:pPr>
            <a:r>
              <a:rPr lang="en-US" sz="1200">
                <a:latin typeface="Arial"/>
                <a:ea typeface="Arial"/>
                <a:cs typeface="Arial"/>
                <a:sym typeface="Arial"/>
              </a:rPr>
              <a:t>• These responses support convergence of polarization and sun-like positional signals within the compass network. An isolated spot is a controlled proxy for solar direction, rather than the full natural sky. The experiment identifies neuronal coding of cue position, but not a complete transformation from retinal photoreceptors through named chemical synapses to steering muscles.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5(A–F). Azimuth tuning to UV, blue and green light spots.</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3(A). Dye-filled tangential input neuron TL2.</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p:txBody>
      </p:sp>
      <p:sp>
        <p:nvSpPr>
          <p:cNvPr id="552" name="Google Shape;552;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 name="Google Shape;565;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A neuron responsive to both polarization and a light spot could receive those signals through the same receptors or through separate inputs. Heinze and Reppert covered the dorsal visual field and repeated both stimulus tests during intracellular recording.</a:t>
            </a:r>
            <a:endParaRPr/>
          </a:p>
          <a:p>
            <a:pPr indent="0" lvl="0" marL="0" rtl="0" algn="l">
              <a:spcBef>
                <a:spcPts val="0"/>
              </a:spcBef>
              <a:spcAft>
                <a:spcPts val="0"/>
              </a:spcAft>
              <a:buNone/>
            </a:pPr>
            <a:r>
              <a:rPr lang="en-US" sz="1200">
                <a:latin typeface="Arial"/>
                <a:ea typeface="Arial"/>
                <a:cs typeface="Arial"/>
                <a:sym typeface="Arial"/>
              </a:rPr>
              <a:t>• The shield abolished or strongly reduced the response to zenithal polarized UV, while a green spot moving around the horizon retained its azimuth-dependent response. Sauman and colleagues’ dorsal-rim staining identifies the UV-specialized retinal territory associated with the overhead pathway.</a:t>
            </a:r>
            <a:endParaRPr/>
          </a:p>
          <a:p>
            <a:pPr indent="0" lvl="0" marL="0" rtl="0" algn="l">
              <a:spcBef>
                <a:spcPts val="0"/>
              </a:spcBef>
              <a:spcAft>
                <a:spcPts val="0"/>
              </a:spcAft>
              <a:buNone/>
            </a:pPr>
            <a:r>
              <a:rPr lang="en-US" sz="1200">
                <a:latin typeface="Arial"/>
                <a:ea typeface="Arial"/>
                <a:cs typeface="Arial"/>
                <a:sym typeface="Arial"/>
              </a:rPr>
              <a:t>  – The same recorded cell provides a control for differences between neuronal populations. Loss of one response while another remains also argues against a general failure of the recording or of the cell’s excitability. The shield manipulates visual access; it does not chemically isolate a transmitter or identify the full retinal-to-central pathway.</a:t>
            </a:r>
            <a:endParaRPr/>
          </a:p>
          <a:p>
            <a:pPr indent="0" lvl="0" marL="0" rtl="0" algn="l">
              <a:spcBef>
                <a:spcPts val="0"/>
              </a:spcBef>
              <a:spcAft>
                <a:spcPts val="0"/>
              </a:spcAft>
              <a:buNone/>
            </a:pPr>
            <a:r>
              <a:rPr lang="en-US" sz="1200">
                <a:latin typeface="Arial"/>
                <a:ea typeface="Arial"/>
                <a:cs typeface="Arial"/>
                <a:sym typeface="Arial"/>
              </a:rPr>
              <a:t>• The within-cell comparison supports distinct sensory routes converging on compass neurons. Masking identifies an input dependency, but it does not reveal each intervening synapse. The surviving spot response is consistent with a sun-related pathway that can function when the dorsal polarization signal is unavailable.</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rPr lang="en-US" sz="1200">
                <a:latin typeface="Arial"/>
                <a:ea typeface="Arial"/>
                <a:cs typeface="Arial"/>
                <a:sym typeface="Arial"/>
              </a:rPr>
              <a:t>Ivo Sauman; Adriana D. Briscoe; Haisun Zhu; Dingding Shi; Oren Froy; Julia Stalleicken; Quan Yuan; Amy Casselman; Steven M. Reppert (2005). Connecting the Navigational Clock to Sun Compass Input in Monarch Butterfly Brain. Neuron, 46(3): 457-467. https://doi.org/10.1016/j.neuron.2005.03.014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6(A–F). Dorsal masking separates polarization and azimuth responses.</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Sauman et al. (2005), Fig. 3(D). UV opsin staining in the dorsal rim area.</a:t>
            </a:r>
            <a:endParaRPr/>
          </a:p>
          <a:p>
            <a:pPr indent="0" lvl="0" marL="0" rtl="0" algn="l">
              <a:spcBef>
                <a:spcPts val="0"/>
              </a:spcBef>
              <a:spcAft>
                <a:spcPts val="0"/>
              </a:spcAft>
              <a:buNone/>
            </a:pPr>
            <a:r>
              <a:rPr lang="en-US" sz="1200">
                <a:latin typeface="Arial"/>
                <a:ea typeface="Arial"/>
                <a:cs typeface="Arial"/>
                <a:sym typeface="Arial"/>
              </a:rPr>
              <a:t>Figure source: https://doi.org/10.1016/j.neuron.2005.03.014</a:t>
            </a:r>
            <a:endParaRPr/>
          </a:p>
        </p:txBody>
      </p:sp>
      <p:sp>
        <p:nvSpPr>
          <p:cNvPr id="566" name="Google Shape;566;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9" name="Google Shape;579;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Nguyen and colleagues compared tangential-neuron recordings from autumn migrants with non-migratory monarchs. They rotated a green 530-nm light spot at 30° elevation and measured the angular range producing elevated spike rates.</a:t>
            </a:r>
            <a:endParaRPr/>
          </a:p>
          <a:p>
            <a:pPr indent="0" lvl="0" marL="0" rtl="0" algn="l">
              <a:spcBef>
                <a:spcPts val="0"/>
              </a:spcBef>
              <a:spcAft>
                <a:spcPts val="0"/>
              </a:spcAft>
              <a:buNone/>
            </a:pPr>
            <a:r>
              <a:rPr lang="en-US" sz="1200">
                <a:latin typeface="Arial"/>
                <a:ea typeface="Arial"/>
                <a:cs typeface="Arial"/>
                <a:sym typeface="Arial"/>
              </a:rPr>
              <a:t>• Full width at half maximum measures a tuning curve’s width at half its peak response. Mean green-light width was approximately 83° in migrants and 118° in non-migrants. Peak rates were broadly similar, so the distinction concerned angular selectivity more than a simple increase in firing.</a:t>
            </a:r>
            <a:endParaRPr/>
          </a:p>
          <a:p>
            <a:pPr indent="0" lvl="0" marL="0" rtl="0" algn="l">
              <a:spcBef>
                <a:spcPts val="0"/>
              </a:spcBef>
              <a:spcAft>
                <a:spcPts val="0"/>
              </a:spcAft>
              <a:buNone/>
            </a:pPr>
            <a:r>
              <a:rPr lang="en-US" sz="1200">
                <a:latin typeface="Arial"/>
                <a:ea typeface="Arial"/>
                <a:cs typeface="Arial"/>
                <a:sym typeface="Arial"/>
              </a:rPr>
              <a:t>  – A narrow tuning curve restricts elevated activity to a smaller range of stimulus angles. The source reported mean widths of 82.94° and 118.33° for green light, whereas polarization tuning widths were similar between groups. Similar maximum rates help separate tuning shape from a general difference in responsiveness.</a:t>
            </a:r>
            <a:endParaRPr/>
          </a:p>
          <a:p>
            <a:pPr indent="0" lvl="0" marL="0" rtl="0" algn="l">
              <a:spcBef>
                <a:spcPts val="0"/>
              </a:spcBef>
              <a:spcAft>
                <a:spcPts val="0"/>
              </a:spcAft>
              <a:buNone/>
            </a:pPr>
            <a:r>
              <a:rPr lang="en-US" sz="1200">
                <a:latin typeface="Arial"/>
                <a:ea typeface="Arial"/>
                <a:cs typeface="Arial"/>
                <a:sym typeface="Arial"/>
              </a:rPr>
              <a:t>• The comparison associates migratory condition with narrower solar-proxy tuning. Wild migrants and commercially sourced non-migrants differed in origin and rearing, however, so migration state was not isolated experimentally. The measurements do not establish that narrower tuning causes improved migratory accuracy.</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Tu Anh Thi Nguyen; M. Jerome Beetz; Christine Merlin; Basil el Jundi (2021). Sun compass neurons are tuned to migratory orientation in monarch butterflies. Proceedings of the Royal Society B: Biological Sciences, 288(1945): 20202988. https://doi.org/10.1098/rspb.2020.2988</a:t>
            </a:r>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Nguyen et al. (2021), Fig. 3(a–c). Migratory and non-migratory tangential-neuron tuning.</a:t>
            </a:r>
            <a:endParaRPr/>
          </a:p>
          <a:p>
            <a:pPr indent="0" lvl="0" marL="0" rtl="0" algn="l">
              <a:spcBef>
                <a:spcPts val="0"/>
              </a:spcBef>
              <a:spcAft>
                <a:spcPts val="0"/>
              </a:spcAft>
              <a:buNone/>
            </a:pPr>
            <a:r>
              <a:rPr lang="en-US" sz="1200">
                <a:latin typeface="Arial"/>
                <a:ea typeface="Arial"/>
                <a:cs typeface="Arial"/>
                <a:sym typeface="Arial"/>
              </a:rPr>
              <a:t>Figure source: https://doi.org/10.1098/rspb.2020.2988</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3(A). Dye-filled tangential input neuron TL2.</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p:txBody>
      </p:sp>
      <p:sp>
        <p:nvSpPr>
          <p:cNvPr id="580" name="Google Shape;580;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3" name="Google Shape;593;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Nguyen and colleagues analyzed how strongly a change in green-light azimuth altered tangential-neuron activity. This angular sensitivity depends on the slope of the tuning response, rather than its maximum firing rate alone.</a:t>
            </a:r>
            <a:endParaRPr/>
          </a:p>
          <a:p>
            <a:pPr indent="0" lvl="0" marL="0" rtl="0" algn="l">
              <a:spcBef>
                <a:spcPts val="0"/>
              </a:spcBef>
              <a:spcAft>
                <a:spcPts val="0"/>
              </a:spcAft>
              <a:buNone/>
            </a:pPr>
            <a:r>
              <a:rPr lang="en-US" sz="1200">
                <a:latin typeface="Arial"/>
                <a:ea typeface="Arial"/>
                <a:cs typeface="Arial"/>
                <a:sym typeface="Arial"/>
              </a:rPr>
              <a:t>• Migrant recordings concentrated greater sensitivity within approximately 60° of the preferred direction. Non-migrant responses distributed more sensitivity along flanks roughly 60°–180° away. The published analysis used 5° angular bins and compared the pattern with solar geometry expected during migration.</a:t>
            </a:r>
            <a:endParaRPr/>
          </a:p>
          <a:p>
            <a:pPr indent="0" lvl="0" marL="0" rtl="0" algn="l">
              <a:spcBef>
                <a:spcPts val="0"/>
              </a:spcBef>
              <a:spcAft>
                <a:spcPts val="0"/>
              </a:spcAft>
              <a:buNone/>
            </a:pPr>
            <a:r>
              <a:rPr lang="en-US" sz="1200">
                <a:latin typeface="Arial"/>
                <a:ea typeface="Arial"/>
                <a:cs typeface="Arial"/>
                <a:sym typeface="Arial"/>
              </a:rPr>
              <a:t>  – A slope measures how much the response changes when stimulus angle changes. A high peak can coexist with low angular sensitivity if nearby angles produce similar activity. The source’s geographical comparison relates recorded tuning to potential sun positions; those map-related predictions are distinct from direct measurements of a butterfly’s route.</a:t>
            </a:r>
            <a:endParaRPr/>
          </a:p>
          <a:p>
            <a:pPr indent="0" lvl="0" marL="0" rtl="0" algn="l">
              <a:spcBef>
                <a:spcPts val="0"/>
              </a:spcBef>
              <a:spcAft>
                <a:spcPts val="0"/>
              </a:spcAft>
              <a:buNone/>
            </a:pPr>
            <a:r>
              <a:rPr lang="en-US" sz="1200">
                <a:latin typeface="Arial"/>
                <a:ea typeface="Arial"/>
                <a:cs typeface="Arial"/>
                <a:sym typeface="Arial"/>
              </a:rPr>
              <a:t>• The pattern supports a physiological difference in how nearby directions are discriminated. Its proposed relevance to frontal sun positions is an interpretation based on cue geometry. The study did not manipulate tuning width during free migration or establish a causal gain in arrival accuracy; cohort origin and rearing remained potential confounds.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Tu Anh Thi Nguyen; M. Jerome Beetz; Christine Merlin; Basil el Jundi (2021). Sun compass neurons are tuned to migratory orientation in monarch butterflies. Proceedings of the Royal Society B: Biological Sciences, 288(1945): 20202988. https://doi.org/10.1098/rspb.2020.2988</a:t>
            </a:r>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Nguyen et al. (2021), Fig. 4(a–c). Angular sensitivity and its inferred solar geometry.</a:t>
            </a:r>
            <a:endParaRPr/>
          </a:p>
          <a:p>
            <a:pPr indent="0" lvl="0" marL="0" rtl="0" algn="l">
              <a:spcBef>
                <a:spcPts val="0"/>
              </a:spcBef>
              <a:spcAft>
                <a:spcPts val="0"/>
              </a:spcAft>
              <a:buNone/>
            </a:pPr>
            <a:r>
              <a:rPr lang="en-US" sz="1200">
                <a:latin typeface="Arial"/>
                <a:ea typeface="Arial"/>
                <a:cs typeface="Arial"/>
                <a:sym typeface="Arial"/>
              </a:rPr>
              <a:t>Figure source: https://doi.org/10.1098/rspb.2020.2988</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3(A). Dye-filled tangential input neuron TL2.</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p:txBody>
      </p:sp>
      <p:sp>
        <p:nvSpPr>
          <p:cNvPr id="594" name="Google Shape;594;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7" name="Google Shape;607;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Guerra and Reppert measured freely released fall migrants and spring remigrants, butterflies leaving the overwintering phase. Fall animals disappeared toward a mean bearing of 209°, whereas spring animals selected approximately 45°, toward the northeast.</a:t>
            </a:r>
            <a:endParaRPr/>
          </a:p>
          <a:p>
            <a:pPr indent="0" lvl="0" marL="0" rtl="0" algn="l">
              <a:spcBef>
                <a:spcPts val="0"/>
              </a:spcBef>
              <a:spcAft>
                <a:spcPts val="0"/>
              </a:spcAft>
              <a:buNone/>
            </a:pPr>
            <a:r>
              <a:rPr lang="en-US" sz="1200">
                <a:latin typeface="Arial"/>
                <a:ea typeface="Arial"/>
                <a:cs typeface="Arial"/>
                <a:sym typeface="Arial"/>
              </a:rPr>
              <a:t>• Spring migrants entrained to a 6-h-delayed light cycle instead departed near 142°, a clockwise shift of about 97°. The opposite seasonal direction therefore retained the response expected from a time-compensated sun compass.</a:t>
            </a:r>
            <a:endParaRPr/>
          </a:p>
          <a:p>
            <a:pPr indent="0" lvl="0" marL="0" rtl="0" algn="l">
              <a:spcBef>
                <a:spcPts val="0"/>
              </a:spcBef>
              <a:spcAft>
                <a:spcPts val="0"/>
              </a:spcAft>
              <a:buNone/>
            </a:pPr>
            <a:r>
              <a:rPr lang="en-US" sz="1200">
                <a:latin typeface="Arial"/>
                <a:ea typeface="Arial"/>
                <a:cs typeface="Arial"/>
                <a:sym typeface="Arial"/>
              </a:rPr>
              <a:t>  – The spring clock shift was imposed before release, while the geographic sky was available during the test. Its effect separates a seasonally selected heading from loss of time compensation. A disappearance bearing can establish initial travel direction, but it does not verify that the same direction was maintained over the entire return journey.</a:t>
            </a:r>
            <a:endParaRPr/>
          </a:p>
          <a:p>
            <a:pPr indent="0" lvl="0" marL="0" rtl="0" algn="l">
              <a:spcBef>
                <a:spcPts val="0"/>
              </a:spcBef>
              <a:spcAft>
                <a:spcPts val="0"/>
              </a:spcAft>
              <a:buNone/>
            </a:pPr>
            <a:r>
              <a:rPr lang="en-US" sz="1200">
                <a:latin typeface="Arial"/>
                <a:ea typeface="Arial"/>
                <a:cs typeface="Arial"/>
                <a:sym typeface="Arial"/>
              </a:rPr>
              <a:t>• The comparison supports a change in the selected migratory direction while preserving the timing-based orientation mechanism. A disappearance bearing is the final observed direction after release, rather than a complete travel route. Seasonal reversal does not establish a different clock tissue or reveal how the preferred direction is represented in the nervous system.</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Patrick A. Guerra; Steven M. Reppert (2013). Coldness Triggers Northward Flight in Remigrant Monarch Butterflies. Current Biology, 23(5): 419-423. https://doi.org/10.1016/j.cub.2013.01.052</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Guerra &amp; Reppert (2013), Fig. 1(A–C). Migration map and seasonal bearings, including a clock shift.</a:t>
            </a:r>
            <a:endParaRPr/>
          </a:p>
          <a:p>
            <a:pPr indent="0" lvl="0" marL="0" rtl="0" algn="l">
              <a:spcBef>
                <a:spcPts val="0"/>
              </a:spcBef>
              <a:spcAft>
                <a:spcPts val="0"/>
              </a:spcAft>
              <a:buNone/>
            </a:pPr>
            <a:r>
              <a:rPr lang="en-US" sz="1200">
                <a:latin typeface="Arial"/>
                <a:ea typeface="Arial"/>
                <a:cs typeface="Arial"/>
                <a:sym typeface="Arial"/>
              </a:rPr>
              <a:t>Figure source: https://doi.org/10.1016/j.cub.2013.01.052</a:t>
            </a:r>
            <a:endParaRPr/>
          </a:p>
        </p:txBody>
      </p:sp>
      <p:sp>
        <p:nvSpPr>
          <p:cNvPr id="608" name="Google Shape;608;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9" name="Google Shape;619;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Guerra and Reppert exposed fall migrants to 24 days resembling the overwintering thermal environment: 11°C during the light phase and 4°C during darkness. One treatment gradually increased day length; another maintained a constant 12-h light:12-h dark cycle.</a:t>
            </a:r>
            <a:endParaRPr/>
          </a:p>
          <a:p>
            <a:pPr indent="0" lvl="0" marL="0" rtl="0" algn="l">
              <a:spcBef>
                <a:spcPts val="0"/>
              </a:spcBef>
              <a:spcAft>
                <a:spcPts val="0"/>
              </a:spcAft>
              <a:buNone/>
            </a:pPr>
            <a:r>
              <a:rPr lang="en-US" sz="1200">
                <a:latin typeface="Arial"/>
                <a:ea typeface="Arial"/>
                <a:cs typeface="Arial"/>
                <a:sym typeface="Arial"/>
              </a:rPr>
              <a:t>• Both cold-treated groups subsequently oriented near 358°, approximately north, after warming sufficiently for flight. Warm-housed comparison animals retained a southwest direction near 227°. Northward orientation therefore did not require the treatment’s changing photoperiod, the daily duration of light.</a:t>
            </a:r>
            <a:endParaRPr/>
          </a:p>
          <a:p>
            <a:pPr indent="0" lvl="0" marL="0" rtl="0" algn="l">
              <a:spcBef>
                <a:spcPts val="0"/>
              </a:spcBef>
              <a:spcAft>
                <a:spcPts val="0"/>
              </a:spcAft>
              <a:buNone/>
            </a:pPr>
            <a:r>
              <a:rPr lang="en-US" sz="1200">
                <a:latin typeface="Arial"/>
                <a:ea typeface="Arial"/>
                <a:cs typeface="Arial"/>
                <a:sym typeface="Arial"/>
              </a:rPr>
              <a:t>  – The cold manipulation occurred during housing, and testing followed warming above approximately 15°C to permit flight. The direction change is therefore distinct from an immediate motor effect of trying to fly at 4°C. Holding photoperiod constant in one cold treatment separates the thermal effect from increasing day length.</a:t>
            </a:r>
            <a:endParaRPr/>
          </a:p>
          <a:p>
            <a:pPr indent="0" lvl="0" marL="0" rtl="0" algn="l">
              <a:spcBef>
                <a:spcPts val="0"/>
              </a:spcBef>
              <a:spcAft>
                <a:spcPts val="0"/>
              </a:spcAft>
              <a:buNone/>
            </a:pPr>
            <a:r>
              <a:rPr lang="en-US" sz="1200">
                <a:latin typeface="Arial"/>
                <a:ea typeface="Arial"/>
                <a:cs typeface="Arial"/>
                <a:sym typeface="Arial"/>
              </a:rPr>
              <a:t>• The intervention supports cold exposure as a trigger for seasonal compass reversal under these conditions. It does not identify the temperature-sensitive cells, molecular sensor or central switch. The 24-day treatment establishes an effective exposure, rather than the minimum cold duration required for reversal.</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Patrick A. Guerra; Steven M. Reppert (2013). Coldness Triggers Northward Flight in Remigrant Monarch Butterflies. Current Biology, 23(5): 419-423. https://doi.org/10.1016/j.cub.2013.01.052</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Guerra &amp; Reppert (2013), Fig. 3(B–C). Northward headings after two cold-treatment schedules.</a:t>
            </a:r>
            <a:endParaRPr/>
          </a:p>
          <a:p>
            <a:pPr indent="0" lvl="0" marL="0" rtl="0" algn="l">
              <a:spcBef>
                <a:spcPts val="0"/>
              </a:spcBef>
              <a:spcAft>
                <a:spcPts val="0"/>
              </a:spcAft>
              <a:buNone/>
            </a:pPr>
            <a:r>
              <a:rPr lang="en-US" sz="1200">
                <a:latin typeface="Arial"/>
                <a:ea typeface="Arial"/>
                <a:cs typeface="Arial"/>
                <a:sym typeface="Arial"/>
              </a:rPr>
              <a:t>Figure source: https://doi.org/10.1016/j.cub.2013.01.052</a:t>
            </a:r>
            <a:endParaRPr/>
          </a:p>
        </p:txBody>
      </p:sp>
      <p:sp>
        <p:nvSpPr>
          <p:cNvPr id="620" name="Google Shape;620;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1" name="Google Shape;631;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Fall migrants kept warm for more than four months still selected a mean southward bearing near 166° when tested in March. Their housing alternated approximately 21°C by day and 12°C by night rather than imposing the colder overwintering treatment.</a:t>
            </a:r>
            <a:endParaRPr/>
          </a:p>
          <a:p>
            <a:pPr indent="0" lvl="0" marL="0" rtl="0" algn="l">
              <a:spcBef>
                <a:spcPts val="0"/>
              </a:spcBef>
              <a:spcAft>
                <a:spcPts val="0"/>
              </a:spcAft>
              <a:buNone/>
            </a:pPr>
            <a:r>
              <a:rPr lang="en-US" sz="1200">
                <a:latin typeface="Arial"/>
                <a:ea typeface="Arial"/>
                <a:cs typeface="Arial"/>
                <a:sym typeface="Arial"/>
              </a:rPr>
              <a:t>• The animals had reached the calendar period associated with spring migration. Some females also contained mature eggs, so reproductive maturation and prolonged survival could occur without the experimental northward reversal. The recorded direction remained characteristic of aged fall migrants.</a:t>
            </a:r>
            <a:endParaRPr/>
          </a:p>
          <a:p>
            <a:pPr indent="0" lvl="0" marL="0" rtl="0" algn="l">
              <a:spcBef>
                <a:spcPts val="0"/>
              </a:spcBef>
              <a:spcAft>
                <a:spcPts val="0"/>
              </a:spcAft>
              <a:buNone/>
            </a:pPr>
            <a:r>
              <a:rPr lang="en-US" sz="1200">
                <a:latin typeface="Arial"/>
                <a:ea typeface="Arial"/>
                <a:cs typeface="Arial"/>
                <a:sym typeface="Arial"/>
              </a:rPr>
              <a:t>  – A calendar date is not a controlled internal signal available to the butterfly. Warm housing allowed time to pass without the tested cold experience. Continued southward orientation despite advanced age separates that experience from chronological aging, while the egg observations address one potential association with reproductive state.</a:t>
            </a:r>
            <a:endParaRPr/>
          </a:p>
          <a:p>
            <a:pPr indent="0" lvl="0" marL="0" rtl="0" algn="l">
              <a:spcBef>
                <a:spcPts val="0"/>
              </a:spcBef>
              <a:spcAft>
                <a:spcPts val="0"/>
              </a:spcAft>
              <a:buNone/>
            </a:pPr>
            <a:r>
              <a:rPr lang="en-US" sz="1200">
                <a:latin typeface="Arial"/>
                <a:ea typeface="Arial"/>
                <a:cs typeface="Arial"/>
                <a:sym typeface="Arial"/>
              </a:rPr>
              <a:t>• The comparison supports an environmental thermal contribution rather than a switch produced by elapsed time alone. It does not imply that age, reproduction or photoperiod never influence migration. Their insufficiency applies to the tested housing conditions and measured orientation, while the mechanism sensing the effective cold exposure remains unidentified.</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Patrick A. Guerra; Steven M. Reppert (2013). Coldness Triggers Northward Flight in Remigrant Monarch Butterflies. Current Biology, 23(5): 419-423. https://doi.org/10.1016/j.cub.2013.01.052</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Guerra &amp; Reppert (2013), Fig. 4(A–B). Warm-housed fall migrants retain southward orientation.</a:t>
            </a:r>
            <a:endParaRPr/>
          </a:p>
          <a:p>
            <a:pPr indent="0" lvl="0" marL="0" rtl="0" algn="l">
              <a:spcBef>
                <a:spcPts val="0"/>
              </a:spcBef>
              <a:spcAft>
                <a:spcPts val="0"/>
              </a:spcAft>
              <a:buNone/>
            </a:pPr>
            <a:r>
              <a:rPr lang="en-US" sz="1200">
                <a:latin typeface="Arial"/>
                <a:ea typeface="Arial"/>
                <a:cs typeface="Arial"/>
                <a:sym typeface="Arial"/>
              </a:rPr>
              <a:t>Figure source: https://doi.org/10.1016/j.cub.2013.01.052</a:t>
            </a:r>
            <a:endParaRPr/>
          </a:p>
        </p:txBody>
      </p:sp>
      <p:sp>
        <p:nvSpPr>
          <p:cNvPr id="632" name="Google Shape;632;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3" name="Google Shape;643;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Iiams and colleagues tested monarchs lacking functional CRY1, comparing them with wild-type butterflies. After 12-h light:12-h dark entrainment at 25°C, mutant emergence rhythms weakened in constant darkness. Brain clock-gene rhythms were also disrupted in adults re-entrained to cycling light.</a:t>
            </a:r>
            <a:endParaRPr/>
          </a:p>
          <a:p>
            <a:pPr indent="0" lvl="0" marL="0" rtl="0" algn="l">
              <a:spcBef>
                <a:spcPts val="0"/>
              </a:spcBef>
              <a:spcAft>
                <a:spcPts val="0"/>
              </a:spcAft>
              <a:buNone/>
            </a:pPr>
            <a:r>
              <a:rPr lang="en-US" sz="1200">
                <a:latin typeface="Arial"/>
                <a:ea typeface="Arial"/>
                <a:cs typeface="Arial"/>
                <a:sym typeface="Arial"/>
              </a:rPr>
              <a:t>• Adult flight-mill tests measured revolutions as distance traveled per hour during a 15-h light:9-h dark cycle at 21°C. Wild-type activity concentrated around midday; mutants distributed activity more broadly after a morning increase. Daily temperature cycles could restore some rhythmic outputs.</a:t>
            </a:r>
            <a:endParaRPr/>
          </a:p>
          <a:p>
            <a:pPr indent="0" lvl="0" marL="0" rtl="0" algn="l">
              <a:spcBef>
                <a:spcPts val="0"/>
              </a:spcBef>
              <a:spcAft>
                <a:spcPts val="0"/>
              </a:spcAft>
              <a:buNone/>
            </a:pPr>
            <a:r>
              <a:rPr lang="en-US" sz="1200">
                <a:latin typeface="Arial"/>
                <a:ea typeface="Arial"/>
                <a:cs typeface="Arial"/>
                <a:sym typeface="Arial"/>
              </a:rPr>
              <a:t>  – A flight mill converts repeated movement around a fixed axis into an activity measure, rather than recording a geographic destination. Temperature cycles alternating 15°C and 25°C provided an additional entraining signal in the source experiments. Those daily cycles should not be equated with the multiweek cold exposure that changes seasonal compass direction.</a:t>
            </a:r>
            <a:endParaRPr/>
          </a:p>
          <a:p>
            <a:pPr indent="0" lvl="0" marL="0" rtl="0" algn="l">
              <a:spcBef>
                <a:spcPts val="0"/>
              </a:spcBef>
              <a:spcAft>
                <a:spcPts val="0"/>
              </a:spcAft>
              <a:buNone/>
            </a:pPr>
            <a:r>
              <a:rPr lang="en-US" sz="1200">
                <a:latin typeface="Arial"/>
                <a:ea typeface="Arial"/>
                <a:cs typeface="Arial"/>
                <a:sym typeface="Arial"/>
              </a:rPr>
              <a:t>• The results connect CRY1 function to robust timing and daytime flight organization. Flight activity is not migratory compass heading, and flight was not tested as a free-running rhythm in darkness. Neither altered activity nor emergence alone establishes that the same mutation abolishes time-compensated migration.</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Samantha E. Iiams; Guijun Wan; Jiwei Zhang; Aldrin B. Lugena; Ying Zhang; Ashley N. Hayden; Christine Merlin (2024). Loss of functional cryptochrome 1 reduces robustness of 24-hour behavioral rhythms in monarch butterflies. iScience, 27(2): 108980. https://doi.org/10.1016/j.isci.2024.108980</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Iiams et al. (2024), Fig. 1(A–C). Cry1 loss alters emergence rhythms and brain clock RNA.</a:t>
            </a:r>
            <a:endParaRPr/>
          </a:p>
          <a:p>
            <a:pPr indent="0" lvl="0" marL="0" rtl="0" algn="l">
              <a:spcBef>
                <a:spcPts val="0"/>
              </a:spcBef>
              <a:spcAft>
                <a:spcPts val="0"/>
              </a:spcAft>
              <a:buNone/>
            </a:pPr>
            <a:r>
              <a:rPr lang="en-US" sz="1200">
                <a:latin typeface="Arial"/>
                <a:ea typeface="Arial"/>
                <a:cs typeface="Arial"/>
                <a:sym typeface="Arial"/>
              </a:rPr>
              <a:t>Figure source: https://doi.org/10.1016/j.isci.2024.108980</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Iiams et al. (2024), Fig. 3(A–B). Hourly flight activity in wild-type and Cry1 mutants.</a:t>
            </a:r>
            <a:endParaRPr/>
          </a:p>
          <a:p>
            <a:pPr indent="0" lvl="0" marL="0" rtl="0" algn="l">
              <a:spcBef>
                <a:spcPts val="0"/>
              </a:spcBef>
              <a:spcAft>
                <a:spcPts val="0"/>
              </a:spcAft>
              <a:buNone/>
            </a:pPr>
            <a:r>
              <a:rPr lang="en-US" sz="1200">
                <a:latin typeface="Arial"/>
                <a:ea typeface="Arial"/>
                <a:cs typeface="Arial"/>
                <a:sym typeface="Arial"/>
              </a:rPr>
              <a:t>Figure source: https://doi.org/10.1016/j.isci.2024.108980</a:t>
            </a:r>
            <a:endParaRPr/>
          </a:p>
        </p:txBody>
      </p:sp>
      <p:sp>
        <p:nvSpPr>
          <p:cNvPr id="644" name="Google Shape;644;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7" name="Google Shape;657;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 Beetz and colleagues recorded central-complex neurons while non-migratory monarchs oriented toward a virtual sun. A heading signal represents current orientation; a goal-direction signal represents the direction the animal attempts to maintain.</a:t>
            </a:r>
            <a:endParaRPr/>
          </a:p>
          <a:p>
            <a:pPr indent="0" lvl="0" marL="0" rtl="0" algn="l">
              <a:spcBef>
                <a:spcPts val="0"/>
              </a:spcBef>
              <a:spcAft>
                <a:spcPts val="0"/>
              </a:spcAft>
              <a:buNone/>
            </a:pPr>
            <a:r>
              <a:rPr lang="en-US" sz="1200">
                <a:latin typeface="Arial"/>
                <a:ea typeface="Arial"/>
                <a:cs typeface="Arial"/>
                <a:sym typeface="Arial"/>
              </a:rPr>
              <a:t>• Moving the sun-like stimulus altered heading-related tuning, while candidate goal cells retained their association with the chosen target. Aversive conditioning using neck stimulation changed the selected goal by about 130° on average; goal-related neural tuning changed with that preference rather than simply following a solar displacement.</a:t>
            </a:r>
            <a:endParaRPr/>
          </a:p>
          <a:p>
            <a:pPr indent="0" lvl="0" marL="0" rtl="0" algn="l">
              <a:spcBef>
                <a:spcPts val="0"/>
              </a:spcBef>
              <a:spcAft>
                <a:spcPts val="0"/>
              </a:spcAft>
              <a:buNone/>
            </a:pPr>
            <a:r>
              <a:rPr lang="en-US" sz="1200">
                <a:latin typeface="Arial"/>
                <a:ea typeface="Arial"/>
                <a:cs typeface="Arial"/>
                <a:sym typeface="Arial"/>
              </a:rPr>
              <a:t>  – Aversive conditioning associates a heading sector with an unpleasant stimulus, allowing the preferred direction to change without treating that change as a natural seasonal migration. Putative goal cells followed the conditioned preference, whereas heading cells followed the animal’s current orientation. A cellular representation is supported, but the complete synaptic circuit combining time, goal and motor output remains unresolved.</a:t>
            </a:r>
            <a:endParaRPr/>
          </a:p>
          <a:p>
            <a:pPr indent="0" lvl="0" marL="0" rtl="0" algn="l">
              <a:spcBef>
                <a:spcPts val="0"/>
              </a:spcBef>
              <a:spcAft>
                <a:spcPts val="0"/>
              </a:spcAft>
              <a:buNone/>
            </a:pPr>
            <a:r>
              <a:rPr lang="en-US" sz="1200">
                <a:latin typeface="Arial"/>
                <a:ea typeface="Arial"/>
                <a:cs typeface="Arial"/>
                <a:sym typeface="Arial"/>
              </a:rPr>
              <a:t>• The dissociation supports distinct representations of present and desired direction. Controlled stimulation and stable recorded waveforms addressed alternative explanations. These were arbitrary laboratory goals in non-migrants: the experiment does not establish how antennal clocks set an autumn goal or how cold exposure reverses it.</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rPr lang="en-US" sz="1200">
                <a:latin typeface="Arial"/>
                <a:ea typeface="Arial"/>
                <a:cs typeface="Arial"/>
                <a:sym typeface="Arial"/>
              </a:rPr>
              <a:t>M. Jerome Beetz; Christian Kraus; Basil el Jundi (2023). Neural representation of goal direction in the monarch butterfly brain. Nature Communications, 14(1): 5859. https://doi.org/10.1038/s41467-023-41526-w</a:t>
            </a:r>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Beetz et al. (2023), Fig. 3(b,f). Neural tuning during heading and goal manipulations.</a:t>
            </a:r>
            <a:endParaRPr/>
          </a:p>
          <a:p>
            <a:pPr indent="0" lvl="0" marL="0" rtl="0" algn="l">
              <a:spcBef>
                <a:spcPts val="0"/>
              </a:spcBef>
              <a:spcAft>
                <a:spcPts val="0"/>
              </a:spcAft>
              <a:buNone/>
            </a:pPr>
            <a:r>
              <a:rPr lang="en-US" sz="1200">
                <a:latin typeface="Arial"/>
                <a:ea typeface="Arial"/>
                <a:cs typeface="Arial"/>
                <a:sym typeface="Arial"/>
              </a:rPr>
              <a:t>Figure source: https://doi.org/10.1038/s41467-023-41526-w</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Figure: Heinze &amp; Reppert (2011), Fig. 2(A–J). Synapsin-labeled central-complex and associated neuropils.</a:t>
            </a:r>
            <a:endParaRPr/>
          </a:p>
          <a:p>
            <a:pPr indent="0" lvl="0" marL="0" rtl="0" algn="l">
              <a:spcBef>
                <a:spcPts val="0"/>
              </a:spcBef>
              <a:spcAft>
                <a:spcPts val="0"/>
              </a:spcAft>
              <a:buNone/>
            </a:pPr>
            <a:r>
              <a:rPr lang="en-US" sz="1200">
                <a:latin typeface="Arial"/>
                <a:ea typeface="Arial"/>
                <a:cs typeface="Arial"/>
                <a:sym typeface="Arial"/>
              </a:rPr>
              <a:t>Figure source: https://doi.org/10.1016/j.neuron.2010.12.025</a:t>
            </a:r>
            <a:endParaRPr/>
          </a:p>
        </p:txBody>
      </p:sp>
      <p:sp>
        <p:nvSpPr>
          <p:cNvPr id="658" name="Google Shape;658;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1" name="Google Shape;671;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Arial"/>
                <a:ea typeface="Arial"/>
                <a:cs typeface="Arial"/>
                <a:sym typeface="Arial"/>
              </a:rPr>
              <a:t>References: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Henrik Mouritsen; Barrie J. Frost (2002). Virtual migration in tethered flying monarch butterflies reveals their orientation mechanisms. Proceedings of the National Academy of Sciences, 99(15): 10162-10166. https://doi.org/10.1073/pnas.152137299</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Haisun Zhu; Ivo Sauman; Quan Yuan; Amy Casselman; Myai Emery-Le; Patrick Emery; Steven M Reppert (2008). Cryptochromes Define a Novel Circadian Clock Mechanism in Monarch Butterflies That May Underlie Sun Compass Navigation. PLoS Biology, 6(1): e4. https://doi.org/10.1371/journal.pbio.0060004</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Christine Merlin; Robert J. Gegear; Steven M. Reppert (2009). Antennal Circadian Clocks Coordinate Sun Compass Orientation in Migratory Monarch Butterflies. Science, 325(5948): 1700-1704. https://doi.org/10.1126/science.1176221</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Patrick A. Guerra; Christine Merlin; Robert J. Gegear; Steven M. Reppert (2012). Discordant timing between antennae disrupts sun compass orientation in migratory monarch butterflies. Nature Communications, 3(1): 958. https://doi.org/10.1038/ncomms1965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Stanley Heinze; Steven M. Reppert (2011). Sun Compass Integration of Skylight Cues in Migratory Monarch Butterflies. Neuron, 69(2): 345-358. https://doi.org/10.1016/j.neuron.2010.12.025</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Patrick A. Guerra; Steven M. Reppert (2013). Coldness Triggers Northward Flight in Remigrant Monarch Butterflies. Current Biology, 23(5): 419-423. https://doi.org/10.1016/j.cub.2013.01.052</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M. Jerome Beetz; Christian Kraus; Basil el Jundi (2023). Neural representation of goal direction in the monarch butterfly brain. Nature Communications, 14(1): 5859. https://doi.org/10.1038/s41467-023-41526-w</a:t>
            </a:r>
            <a:endParaRPr/>
          </a:p>
        </p:txBody>
      </p:sp>
      <p:sp>
        <p:nvSpPr>
          <p:cNvPr id="672" name="Google Shape;672;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Cold exposure produces northward headings.</a:t>
            </a:r>
          </a:p>
          <a:p>
            <a:r>
              <a:rPr lang="en-US" sz="1200"/>
              <a:t>• Explanation 1.</a:t>
            </a:r>
          </a:p>
          <a:p>
            <a:r>
              <a:rPr lang="en-US" sz="1200"/>
              <a:t>– Guerra and Reppert exposed fall migrants to 24 days of conditions resembling the overwintering environment, at 11°C during the light phase and 4°C during darkness</a:t>
            </a:r>
          </a:p>
          <a:p>
            <a:r>
              <a:rPr lang="en-US" sz="1200"/>
              <a:t>– Both treatments included cold, but one gradually increased day length while the other kept a constant 12-h light:12-h dark cycle. Those conditions simulate the overwintering thermal regime.</a:t>
            </a:r>
          </a:p>
          <a:p>
            <a:r>
              <a:rPr lang="en-US" sz="1200"/>
              <a:t>• Explanation 2.</a:t>
            </a:r>
          </a:p>
          <a:p>
            <a:r>
              <a:rPr lang="en-US" sz="1200"/>
              <a:t>– Both cold-treated groups oriented near 358° after warming enough to fly</a:t>
            </a:r>
          </a:p>
          <a:p>
            <a:r>
              <a:rPr lang="en-US" sz="1200"/>
              <a:t>– Warm-housed animals retained a southwest direction near 227°. The northward orientation appeared with or without the changing photoperiod. Northward headings were measured after the animals warmed enough to fly. The warm group's southwest heading was the reference for that response.</a:t>
            </a:r>
          </a:p>
          <a:p>
            <a:r>
              <a:rPr lang="en-US" sz="1200"/>
              <a:t>• Explanation 3.</a:t>
            </a:r>
          </a:p>
          <a:p>
            <a:r>
              <a:rPr lang="en-US" sz="1200"/>
              <a:t>– The 24-day treatment provides an effective exposure for inducing the reversal in these experiments</a:t>
            </a:r>
          </a:p>
          <a:p>
            <a:r>
              <a:rPr lang="en-US" sz="1200"/>
              <a:t>– Cold therefore acts as an environmental trigger, while time-compensated sun orientation remains available after the switch. The duration of exposure was 24 days, which set the exposure used here. Cold exposure tested here was a sufficient trigger in these conditions.</a:t>
            </a:r>
          </a:p>
          <a:p>
            <a:r>
              <a:rPr lang="en-US" sz="1200"/>
              <a:t>• Source.</a:t>
            </a:r>
          </a:p>
          <a:p>
            <a:r>
              <a:rPr lang="en-US" sz="1200"/>
              <a:t>– The figure and the measurements come from Guerra &amp; Reppert (2013).</a:t>
            </a:r>
          </a:p>
          <a:p>
            <a:r>
              <a:rPr lang="en-US" sz="1200"/>
              <a:t>– Each statement is tied to the recordings or observations of that study.</a:t>
            </a:r>
          </a:p>
          <a:p>
            <a:r>
              <a:rPr lang="en-US" sz="1200"/>
              <a:t/>
            </a:r>
          </a:p>
          <a:p>
            <a:r>
              <a:rPr lang="en-US" sz="1200"/>
              <a:t>References:</a:t>
            </a:r>
          </a:p>
          <a:p>
            <a:r>
              <a:rPr lang="en-US" sz="1200"/>
              <a:t>Patrick A. Guerra; Steven M. Reppert (2013). Coldness Triggers Northward Flight in Remigrant Monarch Butterflies. Current Biology, 23(5): 419-423. https://doi.org/10.1016/j.cub.2013.01.052</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Migrants show narrower green-light tuning.</a:t>
            </a:r>
          </a:p>
          <a:p>
            <a:r>
              <a:rPr lang="en-US" sz="1200"/>
              <a:t>• Explanation 1.</a:t>
            </a:r>
          </a:p>
          <a:p>
            <a:r>
              <a:rPr lang="en-US" sz="1200"/>
              <a:t>– Nguyen and colleagues recorded tangential neurons from autumn migrants and from non-migratory monarchs</a:t>
            </a:r>
          </a:p>
          <a:p>
            <a:r>
              <a:rPr lang="en-US" sz="1200"/>
              <a:t>– A green 530-nm light spot rotated around the animal at 30° elevation, and the angular range producing elevated spike rates was measured. The angular range is a direct measure of tuning width.</a:t>
            </a:r>
          </a:p>
          <a:p>
            <a:r>
              <a:rPr lang="en-US" sz="1200"/>
              <a:t>• Explanation 2.</a:t>
            </a:r>
          </a:p>
          <a:p>
            <a:r>
              <a:rPr lang="en-US" sz="1200"/>
              <a:t>– Full width at half maximum gives the width of a tuning curve at half its peak response</a:t>
            </a:r>
          </a:p>
          <a:p>
            <a:r>
              <a:rPr lang="en-US" sz="1200"/>
              <a:t>– Migrants averaged about 83°, and non-migrants averaged about 118°. Peak firing rates were broadly similar, so migrants differed mainly in how narrowly they selected direction. Full width at half maximum is a standard width measure for tuning curves.</a:t>
            </a:r>
          </a:p>
          <a:p>
            <a:r>
              <a:rPr lang="en-US" sz="1200"/>
              <a:t>• Explanation 3.</a:t>
            </a:r>
          </a:p>
          <a:p>
            <a:r>
              <a:rPr lang="en-US" sz="1200"/>
              <a:t>– The narrower tuning is associated with migratory condition in these recordings</a:t>
            </a:r>
          </a:p>
          <a:p>
            <a:r>
              <a:rPr lang="en-US" sz="1200"/>
              <a:t>– Wild migrants and commercially sourced non-migrants differed in origin and rearing, so the link between tuning and migration is an association between two groups. Narrower tuning therefore characterizes the migrants in this data set. Peak rates contributed less to the difference than width did.</a:t>
            </a:r>
          </a:p>
          <a:p>
            <a:r>
              <a:rPr lang="en-US" sz="1200"/>
              <a:t>• Source.</a:t>
            </a:r>
          </a:p>
          <a:p>
            <a:r>
              <a:rPr lang="en-US" sz="1200"/>
              <a:t>– The figure and the measurements come from Nguyen et al. (2021); Heinze &amp; Reppert (2011).</a:t>
            </a:r>
          </a:p>
          <a:p>
            <a:r>
              <a:rPr lang="en-US" sz="1200"/>
              <a:t>– Each statement is tied to the recordings or observations of that study.</a:t>
            </a:r>
          </a:p>
          <a:p>
            <a:r>
              <a:rPr lang="en-US" sz="1200"/>
              <a:t/>
            </a:r>
          </a:p>
          <a:p>
            <a:r>
              <a:rPr lang="en-US" sz="1200"/>
              <a:t>References:</a:t>
            </a:r>
          </a:p>
          <a:p>
            <a:r>
              <a:rPr lang="en-US" sz="1200"/>
              <a:t>Tu Anh Thi Nguyen; M. Jerome Beetz; Christine Merlin; Basil el Jundi (2021). Sun compass neurons are tuned to migratory orientation in monarch butterflies. Proceedings of the Royal Society B: Biological Sciences, 288(1945): 20202988. https://doi.org/10.1098/rspb.2020.2988</a:t>
            </a:r>
          </a:p>
          <a:p>
            <a:r>
              <a:rPr lang="en-US" sz="1200"/>
              <a:t>Stanley Heinze; Steven M. Reppert (2011). Sun Compass Integration of Skylight Cues in Migratory Monarch Butterflies. Neuron, 69(2): 345-358. https://doi.org/10.1016/j.neuron.2010.12.025</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Compass neurons prefer specific E-vector angles.</a:t>
            </a:r>
          </a:p>
          <a:p>
            <a:r>
              <a:rPr lang="en-US" sz="1200"/>
              <a:t>• Explanation 1.</a:t>
            </a:r>
          </a:p>
          <a:p>
            <a:r>
              <a:rPr lang="en-US" sz="1200"/>
              <a:t>– Heinze and Reppert recorded identified compass neurons while presenting polarized 365-nm UV light from above</a:t>
            </a:r>
          </a:p>
          <a:p>
            <a:r>
              <a:rPr lang="en-US" sz="1200"/>
              <a:t>– The E-vector rotated through 360° at 30° or 60° per second, so every polarization angle was presented during the recording. Each sweep covered the full polarization axis during the recording.</a:t>
            </a:r>
          </a:p>
          <a:p>
            <a:r>
              <a:rPr lang="en-US" sz="1200"/>
              <a:t>• Explanation 2.</a:t>
            </a:r>
          </a:p>
          <a:p>
            <a:r>
              <a:rPr lang="en-US" sz="1200"/>
              <a:t>– Action potentials, brief electrical spikes, occurred at different rates for different E-vector angles</a:t>
            </a:r>
          </a:p>
          <a:p>
            <a:r>
              <a:rPr lang="en-US" sz="1200"/>
              <a:t>– The preferred and suppressed axes sat about 90° apart, and the response repeated after 180°, matching the axial symmetry of linear polarization. Intracellular traces kept voltage and time calibration. Responses to each angle were measured in the same cell.</a:t>
            </a:r>
          </a:p>
          <a:p>
            <a:r>
              <a:rPr lang="en-US" sz="1200"/>
              <a:t>• Explanation 3.</a:t>
            </a:r>
          </a:p>
          <a:p>
            <a:r>
              <a:rPr lang="en-US" sz="1200"/>
              <a:t>– Neurons in this circuit are sensitive to the polarization axis under controlled stimulation</a:t>
            </a:r>
          </a:p>
          <a:p>
            <a:r>
              <a:rPr lang="en-US" sz="1200"/>
              <a:t>– Behavioral masking addresses a different question, because it tests whether the input drives orientation during flight. Lab tuning curves give the expected response to each E-vector angle.</a:t>
            </a:r>
          </a:p>
          <a:p>
            <a:r>
              <a:rPr lang="en-US" sz="1200"/>
              <a:t>• Source.</a:t>
            </a:r>
          </a:p>
          <a:p>
            <a:r>
              <a:rPr lang="en-US" sz="1200"/>
              <a:t>– The figure and the measurements come from Heinze &amp; Reppert (2011).</a:t>
            </a:r>
          </a:p>
          <a:p>
            <a:r>
              <a:rPr lang="en-US" sz="1200"/>
              <a:t>– Each statement is tied to the recordings or observations of that study.</a:t>
            </a:r>
          </a:p>
          <a:p>
            <a:r>
              <a:rPr lang="en-US" sz="1200"/>
              <a:t/>
            </a:r>
          </a:p>
          <a:p>
            <a:r>
              <a:rPr lang="en-US" sz="1200"/>
              <a:t>References:</a:t>
            </a:r>
          </a:p>
          <a:p>
            <a:r>
              <a:rPr lang="en-US" sz="1200"/>
              <a:t>Stanley Heinze; Steven M. Reppert (2011). Sun Compass Integration of Skylight Cues in Migratory Monarch Butterflies. Neuron, 69(2): 345-358. https://doi.org/10.1016/j.neuron.2010.12.025</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Removing a conflicting antenna restores bearing.</a:t>
            </a:r>
          </a:p>
          <a:p>
            <a:r>
              <a:rPr lang="en-US" sz="1200"/>
              <a:t>• Explanation 1.</a:t>
            </a:r>
          </a:p>
          <a:p>
            <a:r>
              <a:rPr lang="en-US" sz="1200"/>
              <a:t>– Guerra and colleagues first flew migrants with one black-painted and one clear-painted antenna, which produced disorganized group headings</a:t>
            </a:r>
          </a:p>
          <a:p>
            <a:r>
              <a:rPr lang="en-US" sz="1200"/>
              <a:t>– The black-painted appendage was then removed, and flight was tested again in the same animals. The same animal therefore carried both conditions in turn. That sequence keeps the individual constant across conditions.</a:t>
            </a:r>
          </a:p>
          <a:p>
            <a:r>
              <a:rPr lang="en-US" sz="1200"/>
              <a:t>• Explanation 2.</a:t>
            </a:r>
          </a:p>
          <a:p>
            <a:r>
              <a:rPr lang="en-US" sz="1200"/>
              <a:t>– The previously disorganized animals regained a southwest group heading near 214°</a:t>
            </a:r>
          </a:p>
          <a:p>
            <a:r>
              <a:rPr lang="en-US" sz="1200"/>
              <a:t>– Combining repeated-flight controls with first-flight removal controls gave a mean near 216°, which reduces the chance that simulator experience explains the recovery. Removing the black-painted antenna restored a common bearing. The group mean moved to a value close to the earlier southwest headings.</a:t>
            </a:r>
          </a:p>
          <a:p>
            <a:r>
              <a:rPr lang="en-US" sz="1200"/>
              <a:t>• Explanation 3.</a:t>
            </a:r>
          </a:p>
          <a:p>
            <a:r>
              <a:rPr lang="en-US" sz="1200"/>
              <a:t>– Removing a conflicting timing source restored a consistent bearing, which supports coordinated input from both antennae</a:t>
            </a:r>
          </a:p>
          <a:p>
            <a:r>
              <a:rPr lang="en-US" sz="1200"/>
              <a:t>– The effect depends on which source is removed, and the clear antenna stayed available throughout the intervention. The clear antenna carried the timing signal through both phases. Coordinated input supports the recovery.</a:t>
            </a:r>
          </a:p>
          <a:p>
            <a:r>
              <a:rPr lang="en-US" sz="1200"/>
              <a:t>• Source.</a:t>
            </a:r>
          </a:p>
          <a:p>
            <a:r>
              <a:rPr lang="en-US" sz="1200"/>
              <a:t>– The figure and the measurements come from Guerra et al. (2012).</a:t>
            </a:r>
          </a:p>
          <a:p>
            <a:r>
              <a:rPr lang="en-US" sz="1200"/>
              <a:t>– Each statement is tied to the recordings or observations of that study.</a:t>
            </a:r>
          </a:p>
          <a:p>
            <a:r>
              <a:rPr lang="en-US" sz="1200"/>
              <a:t/>
            </a:r>
          </a:p>
          <a:p>
            <a:r>
              <a:rPr lang="en-US" sz="1200"/>
              <a:t>References:</a:t>
            </a:r>
          </a:p>
          <a:p>
            <a:r>
              <a:rPr lang="en-US" sz="1200"/>
              <a:t>Patrick A. Guerra; Christine Merlin; Robert J. Gegear; Steven M. Reppert (2012). Discordant timing between antennae disrupts sun compass orientation in migratory monarch butterflies. Nature Communications, 3(1): 958. https://doi.org/10.1038/ncomms1965</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Black antennal paint shifts the selected heading.</a:t>
            </a:r>
          </a:p>
          <a:p>
            <a:r>
              <a:rPr lang="en-US" sz="1200"/>
              <a:t>• Explanation 1.</a:t>
            </a:r>
          </a:p>
          <a:p>
            <a:r>
              <a:rPr lang="en-US" sz="1200"/>
              <a:t>– Merlin and colleagues coated the antennae with black or clear enamel</a:t>
            </a:r>
          </a:p>
          <a:p>
            <a:r>
              <a:rPr lang="en-US" sz="1200"/>
              <a:t>– Black paint blocked transmission across the tested 300–800 nm range, while clear paint kept transmission high and served as the control for the painting procedure. Both coatings left the appendage physically present. Both groups were tested at the same later-autumn season.</a:t>
            </a:r>
          </a:p>
          <a:p>
            <a:r>
              <a:rPr lang="en-US" sz="1200"/>
              <a:t>• Explanation 2.</a:t>
            </a:r>
          </a:p>
          <a:p>
            <a:r>
              <a:rPr lang="en-US" sz="1200"/>
              <a:t>– Black-painted butterflies chose an abnormal northward bearing near 344° on the normal schedule</a:t>
            </a:r>
          </a:p>
          <a:p>
            <a:r>
              <a:rPr lang="en-US" sz="1200"/>
              <a:t>– Delayed black-painted animals lost group organization, with directions disorganized across the group rather than sharing one heading. The 344° bearing sits well north of the clear-painted mean. Delayed black-painted groups showed no coherent direction. Their abnormal heading shows the effect of blocked antennal light.</a:t>
            </a:r>
          </a:p>
          <a:p>
            <a:r>
              <a:rPr lang="en-US" sz="1200"/>
              <a:t>• Explanation 3.</a:t>
            </a:r>
          </a:p>
          <a:p>
            <a:r>
              <a:rPr lang="en-US" sz="1200"/>
              <a:t>– Clear-painted animals kept a consistent heading and moved it after a 6-h delay, shifting from about 162° to 269°</a:t>
            </a:r>
          </a:p>
          <a:p>
            <a:r>
              <a:rPr lang="en-US" sz="1200"/>
              <a:t>– The paint result connects antennal light access to time-compensated orientation. The clear-painted shift is the reference against which black-painted animals were judged. Its magnitude was about 107°. Antennal light access is therefore a determinant of the selected heading.</a:t>
            </a:r>
          </a:p>
          <a:p>
            <a:r>
              <a:rPr lang="en-US" sz="1200"/>
              <a:t>• Source.</a:t>
            </a:r>
          </a:p>
          <a:p>
            <a:r>
              <a:rPr lang="en-US" sz="1200"/>
              <a:t>– The figure and the measurements come from Merlin et al. (2009).</a:t>
            </a:r>
          </a:p>
          <a:p>
            <a:r>
              <a:rPr lang="en-US" sz="1200"/>
              <a:t>– Each statement is tied to the recordings or observations of that study.</a:t>
            </a:r>
          </a:p>
          <a:p>
            <a:r>
              <a:rPr lang="en-US" sz="1200"/>
              <a:t/>
            </a:r>
          </a:p>
          <a:p>
            <a:r>
              <a:rPr lang="en-US" sz="1200"/>
              <a:t>References:</a:t>
            </a:r>
          </a:p>
          <a:p>
            <a:r>
              <a:rPr lang="en-US" sz="1200"/>
              <a:t>Christine Merlin; Robert J. Gegear; Steven M. Reppert (2009). Antennal Circadian Clocks Coordinate Sun Compass Orientation in Migratory Monarch Butterflies. Science, 325(5948): 1700-1704. https://doi.org/10.1126/science.1176221</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Antennal clock RNA rhythms persist in darkness.</a:t>
            </a:r>
          </a:p>
          <a:p>
            <a:r>
              <a:rPr lang="en-US" sz="1200"/>
              <a:t>• Explanation 1.</a:t>
            </a:r>
          </a:p>
          <a:p>
            <a:r>
              <a:rPr lang="en-US" sz="1200"/>
              <a:t>– Merlin and colleagues measured clock-associated RNA in isolated monarch antennae across a light–dark cycle</a:t>
            </a:r>
          </a:p>
          <a:p>
            <a:r>
              <a:rPr lang="en-US" sz="1200"/>
              <a:t>– The transcripts were per, tim and cry2, and cry1 was assessed alongside them. Quantitative PCR converts RNA to DNA so that abundance can be estimated for each sequence. The quantitative assay therefore reports transcript abundance across the cycle.</a:t>
            </a:r>
          </a:p>
          <a:p>
            <a:r>
              <a:rPr lang="en-US" sz="1200"/>
              <a:t>• Explanation 2.</a:t>
            </a:r>
          </a:p>
          <a:p>
            <a:r>
              <a:rPr lang="en-US" sz="1200"/>
              <a:t>– Antennal per, tim and cry2 RNA varied across the cycle and continued to vary after transfer to constant darkness</a:t>
            </a:r>
          </a:p>
          <a:p>
            <a:r>
              <a:rPr lang="en-US" sz="1200"/>
              <a:t>– Levels were lower near ZT6 than near ZT18, while cry1 RNA showed no such phase difference. Their rhythms persisted without the light cycle present. Levels changed across the day in the cycling condition.</a:t>
            </a:r>
          </a:p>
          <a:p>
            <a:r>
              <a:rPr lang="en-US" sz="1200"/>
              <a:t>• Explanation 3.</a:t>
            </a:r>
          </a:p>
          <a:p>
            <a:r>
              <a:rPr lang="en-US" sz="1200"/>
              <a:t>– A molecular clock program is present in the appendages needed for normal orientation</a:t>
            </a:r>
          </a:p>
          <a:p>
            <a:r>
              <a:rPr lang="en-US" sz="1200"/>
              <a:t>– Rhythms that continue in darkness point to endogenous timing rather than a direct response to light onset, and they come from the antenna itself. Quantitative PCR measured these transcripts in the same isolated samples. Tissue-level measurements therefore underlie this rhythm claim.</a:t>
            </a:r>
          </a:p>
          <a:p>
            <a:r>
              <a:rPr lang="en-US" sz="1200"/>
              <a:t>• Source.</a:t>
            </a:r>
          </a:p>
          <a:p>
            <a:r>
              <a:rPr lang="en-US" sz="1200"/>
              <a:t>– The figure and the measurements come from Merlin et al. (2009).</a:t>
            </a:r>
          </a:p>
          <a:p>
            <a:r>
              <a:rPr lang="en-US" sz="1200"/>
              <a:t>– Each statement is tied to the recordings or observations of that study.</a:t>
            </a:r>
          </a:p>
          <a:p>
            <a:r>
              <a:rPr lang="en-US" sz="1200"/>
              <a:t/>
            </a:r>
          </a:p>
          <a:p>
            <a:r>
              <a:rPr lang="en-US" sz="1200"/>
              <a:t>References:</a:t>
            </a:r>
          </a:p>
          <a:p>
            <a:r>
              <a:rPr lang="en-US" sz="1200"/>
              <a:t>Christine Merlin; Robert J. Gegear; Steven M. Reppert (2009). Antennal Circadian Clocks Coordinate Sun Compass Orientation in Migratory Monarch Butterflies. Science, 325(5948): 1700-1704. https://doi.org/10.1126/science.1176221</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CRY2 fibers in the central body vary daily.</a:t>
            </a:r>
          </a:p>
          <a:p>
            <a:r>
              <a:rPr lang="en-US" sz="1200"/>
              <a:t>• Explanation 1.</a:t>
            </a:r>
          </a:p>
          <a:p>
            <a:r>
              <a:rPr lang="en-US" sz="1200"/>
              <a:t>– The central body is part of the insect central complex, a set of brain neuropils linked to orientation</a:t>
            </a:r>
          </a:p>
          <a:p>
            <a:r>
              <a:rPr lang="en-US" sz="1200"/>
              <a:t>– Neuropils are regions dense with neuronal processes and synaptic connections, so they can carry signals between cell groups. Zhu and colleagues found CRY2-containing fibers in this region.</a:t>
            </a:r>
          </a:p>
          <a:p>
            <a:r>
              <a:rPr lang="en-US" sz="1200"/>
              <a:t>• Explanation 2.</a:t>
            </a:r>
          </a:p>
          <a:p>
            <a:r>
              <a:rPr lang="en-US" sz="1200"/>
              <a:t>– The maximum CRY2 staining occurred near CT15, and the minimum occurred near CT9, both measured in constant darkness</a:t>
            </a:r>
          </a:p>
          <a:p>
            <a:r>
              <a:rPr lang="en-US" sz="1200"/>
              <a:t>– Heinze and Reppert's synapsin labeling identifies the central-complex anatomy in which these fibers sit. Staining varied with clock phase in constant darkness. The fiber signal was measured across circadian time. The timing of the maximum and minimum differs by six circadian hours.</a:t>
            </a:r>
          </a:p>
          <a:p>
            <a:r>
              <a:rPr lang="en-US" sz="1200"/>
              <a:t>• Explanation 3.</a:t>
            </a:r>
          </a:p>
          <a:p>
            <a:r>
              <a:rPr lang="en-US" sz="1200"/>
              <a:t>– A rhythmic protein signal in an orientation-associated region suggests a possible route from clock state to compass processing</a:t>
            </a:r>
          </a:p>
          <a:p>
            <a:r>
              <a:rPr lang="en-US" sz="1200"/>
              <a:t>– Establishing that route depends on identifying the connected cells and manipulating their signal during compass recording. Recording compass output during manipulation tests that connection directly. The link would be tested by manipulating those cells during recording.</a:t>
            </a:r>
          </a:p>
          <a:p>
            <a:r>
              <a:rPr lang="en-US" sz="1200"/>
              <a:t>• Source.</a:t>
            </a:r>
          </a:p>
          <a:p>
            <a:r>
              <a:rPr lang="en-US" sz="1200"/>
              <a:t>– The figure and the measurements come from Zhu et al. (2008); Heinze &amp; Reppert (2011).</a:t>
            </a:r>
          </a:p>
          <a:p>
            <a:r>
              <a:rPr lang="en-US" sz="1200"/>
              <a:t>– Each statement is tied to the recordings or observations of that study.</a:t>
            </a:r>
          </a:p>
          <a:p>
            <a:r>
              <a:rPr lang="en-US" sz="1200"/>
              <a:t/>
            </a:r>
          </a:p>
          <a:p>
            <a:r>
              <a:rPr lang="en-US" sz="1200"/>
              <a:t>References:</a:t>
            </a:r>
          </a:p>
          <a:p>
            <a:r>
              <a:rPr lang="en-US" sz="1200"/>
              <a:t>Haisun Zhu; Ivo Sauman; Quan Yuan; Amy Casselman; Myai Emery-Le; Patrick Emery; Steven M Reppert (2008). Cryptochromes Define a Novel Circadian Clock Mechanism in Monarch Butterflies That May Underlie Sun Compass Navigation. PLoS Biology, 6(1): e4. https://doi.org/10.1371/journal.pbio.0060004</a:t>
            </a:r>
          </a:p>
          <a:p>
            <a:r>
              <a:rPr lang="en-US" sz="1200"/>
              <a:t>Stanley Heinze; Steven M. Reppert (2011). Sun Compass Integration of Skylight Cues in Migratory Monarch Butterflies. Neuron, 69(2): 345-358. https://doi.org/10.1016/j.neuron.2010.12.025</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CRY2 knockdown raises reporter activity.</a:t>
            </a:r>
          </a:p>
          <a:p>
            <a:r>
              <a:rPr lang="en-US" sz="1200"/>
              <a:t>• Explanation 1.</a:t>
            </a:r>
          </a:p>
          <a:p>
            <a:r>
              <a:rPr lang="en-US" sz="1200"/>
              <a:t>– Zhu and colleagues reduced endogenous CRY2 in DpN1 cells with RNA interference and set the results against a control sequence</a:t>
            </a:r>
          </a:p>
          <a:p>
            <a:r>
              <a:rPr lang="en-US" sz="1200"/>
              <a:t>– Protein measurements confirmed that the targeted regulator was depleted. Each treatment used the same culture system and reporter readout. Knockdown acted on endogenous CRY2 in these cells. Knockdown was measured at the protein and RNA levels.</a:t>
            </a:r>
          </a:p>
          <a:p>
            <a:r>
              <a:rPr lang="en-US" sz="1200"/>
              <a:t>• Explanation 2.</a:t>
            </a:r>
          </a:p>
          <a:p>
            <a:r>
              <a:rPr lang="en-US" sz="1200"/>
              <a:t>– CRY2 reduction increased reporter activity about threefold</a:t>
            </a:r>
          </a:p>
          <a:p>
            <a:r>
              <a:rPr lang="en-US" sz="1200"/>
              <a:t>– Across a 24-h light–dark cycle, per RNA remained near its peak values after cry2 interference, instead of following the rise and fall seen in controls. The control cells showed the normal daily rise and fall. The knockdown therefore changed both reporter and RNA rhythms.</a:t>
            </a:r>
          </a:p>
          <a:p>
            <a:r>
              <a:rPr lang="en-US" sz="1200"/>
              <a:t>• Explanation 3.</a:t>
            </a:r>
          </a:p>
          <a:p>
            <a:r>
              <a:rPr lang="en-US" sz="1200"/>
              <a:t>– The loss-of-function result matches the gain-of-function assay, in which added CRY2 reduced transcription</a:t>
            </a:r>
          </a:p>
          <a:p>
            <a:r>
              <a:rPr lang="en-US" sz="1200"/>
              <a:t>– Together, the two tests show negative feedback, with clock-associated proteins restraining the transcription that produces them. Adding CRY2 suppressed transcription in one test, and removing it raised transcription in the other. The two experiments point the same way.</a:t>
            </a:r>
          </a:p>
          <a:p>
            <a:r>
              <a:rPr lang="en-US" sz="1200"/>
              <a:t>• Source.</a:t>
            </a:r>
          </a:p>
          <a:p>
            <a:r>
              <a:rPr lang="en-US" sz="1200"/>
              <a:t>– The figure and the measurements come from Zhu et al. (2008).</a:t>
            </a:r>
          </a:p>
          <a:p>
            <a:r>
              <a:rPr lang="en-US" sz="1200"/>
              <a:t>– Each statement is tied to the recordings or observations of that study.</a:t>
            </a:r>
          </a:p>
          <a:p>
            <a:r>
              <a:rPr lang="en-US" sz="1200"/>
              <a:t/>
            </a:r>
          </a:p>
          <a:p>
            <a:r>
              <a:rPr lang="en-US" sz="1200"/>
              <a:t>References:</a:t>
            </a:r>
          </a:p>
          <a:p>
            <a:r>
              <a:rPr lang="en-US" sz="1200"/>
              <a:t>Haisun Zhu; Ivo Sauman; Quan Yuan; Amy Casselman; Myai Emery-Le; Patrick Emery; Steven M Reppert (2008). Cryptochromes Define a Novel Circadian Clock Mechanism in Monarch Butterflies That May Underlie Sun Compass Navigation. PLoS Biology, 6(1): e4. https://doi.org/10.1371/journal.pbio.0060004</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CRY1 knockdown blocks light-driven TIM decline.</a:t>
            </a:r>
          </a:p>
          <a:p>
            <a:r>
              <a:rPr lang="en-US" sz="1200"/>
              <a:t>• Explanation 1.</a:t>
            </a:r>
          </a:p>
          <a:p>
            <a:r>
              <a:rPr lang="en-US" sz="1200"/>
              <a:t>– Zhu and colleagues used cultured monarch DpN1 cells and RNA interference to lower CRY1 expression</a:t>
            </a:r>
          </a:p>
          <a:p>
            <a:r>
              <a:rPr lang="en-US" sz="1200"/>
              <a:t>– Control cells received interference directed against green fluorescent protein, which served as the reference treatment. Protein levels were measured after the light exposure time course. Cultured cells allow the light response to be examined in isolation.</a:t>
            </a:r>
          </a:p>
          <a:p>
            <a:r>
              <a:rPr lang="en-US" sz="1200"/>
              <a:t>• Explanation 2.</a:t>
            </a:r>
          </a:p>
          <a:p>
            <a:r>
              <a:rPr lang="en-US" sz="1200"/>
              <a:t>– Under the control treatment, TIM decreased during the light-exposure time course before PER and CRY2 decreased</a:t>
            </a:r>
          </a:p>
          <a:p>
            <a:r>
              <a:rPr lang="en-US" sz="1200"/>
              <a:t>– The cry1 interference prevented this normal light-dependent decline of TIM, the TIMELESS clock protein. CRY1 knockdown therefore changes the light response of TIM. The TIM result is a protein measurement rather than an RNA one.</a:t>
            </a:r>
          </a:p>
          <a:p>
            <a:r>
              <a:rPr lang="en-US" sz="1200"/>
              <a:t>• Explanation 3.</a:t>
            </a:r>
          </a:p>
          <a:p>
            <a:r>
              <a:rPr lang="en-US" sz="1200"/>
              <a:t>– These protein measurements support CRY1-dependent light input to clock regulation</a:t>
            </a:r>
          </a:p>
          <a:p>
            <a:r>
              <a:rPr lang="en-US" sz="1200"/>
              <a:t>– Brain labeling places CRY1 alongside PER in candidate clock cells, which connects the cell-culture result to the brain. CRY1 is thus a light-responsive input to the clock. The cell-culture result has a brain counterpart in the same cell group.</a:t>
            </a:r>
          </a:p>
          <a:p>
            <a:r>
              <a:rPr lang="en-US" sz="1200"/>
              <a:t>• Source.</a:t>
            </a:r>
          </a:p>
          <a:p>
            <a:r>
              <a:rPr lang="en-US" sz="1200"/>
              <a:t>– The figure and the measurements come from Zhu et al. (2008).</a:t>
            </a:r>
          </a:p>
          <a:p>
            <a:r>
              <a:rPr lang="en-US" sz="1200"/>
              <a:t>– Each statement is tied to the recordings or observations of that study.</a:t>
            </a:r>
          </a:p>
          <a:p>
            <a:r>
              <a:rPr lang="en-US" sz="1200"/>
              <a:t/>
            </a:r>
          </a:p>
          <a:p>
            <a:r>
              <a:rPr lang="en-US" sz="1200"/>
              <a:t>References:</a:t>
            </a:r>
          </a:p>
          <a:p>
            <a:r>
              <a:rPr lang="en-US" sz="1200"/>
              <a:t>Haisun Zhu; Ivo Sauman; Quan Yuan; Amy Casselman; Myai Emery-Le; Patrick Emery; Steven M Reppert (2008). Cryptochromes Define a Novel Circadian Clock Mechanism in Monarch Butterflies That May Underlie Sun Compass Navigation. PLoS Biology, 6(1): e4. https://doi.org/10.1371/journal.pbio.0060004</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Emergence rhythm free-runs in constant darkness.</a:t>
            </a:r>
          </a:p>
          <a:p>
            <a:r>
              <a:rPr lang="en-US" sz="1200"/>
              <a:t>• Explanation 1.</a:t>
            </a:r>
          </a:p>
          <a:p>
            <a:r>
              <a:rPr lang="en-US" sz="1200"/>
              <a:t>– Froy and colleagues entrained monarch pupae to a light–dark schedule and then exposed them to three conditions: continued cycling light, constant darkness and constant light</a:t>
            </a:r>
          </a:p>
          <a:p>
            <a:r>
              <a:rPr lang="en-US" sz="1200"/>
              <a:t>– Adult emergence time was recorded in each condition. The three conditions tested whether the rhythm needed daily light cues. Emergence timing was the readout across all three conditions.</a:t>
            </a:r>
          </a:p>
          <a:p>
            <a:r>
              <a:rPr lang="en-US" sz="1200"/>
              <a:t>• Explanation 2.</a:t>
            </a:r>
          </a:p>
          <a:p>
            <a:r>
              <a:rPr lang="en-US" sz="1200"/>
              <a:t>– Eclosion clustered early in the light phase and remained rhythmic in constant darkness, which shows that the rhythm persisted once daily lights were removed</a:t>
            </a:r>
          </a:p>
          <a:p>
            <a:r>
              <a:rPr lang="en-US" sz="1200"/>
              <a:t>– A 6-h shift in the prior light schedule altered the emergence phase. Constant light disrupted the normal temporal concentration of emergence. Emergence timing reflected the light schedule each pupa experienced.</a:t>
            </a:r>
          </a:p>
          <a:p>
            <a:r>
              <a:rPr lang="en-US" sz="1200"/>
              <a:t>• Explanation 3.</a:t>
            </a:r>
          </a:p>
          <a:p>
            <a:r>
              <a:rPr lang="en-US" sz="1200"/>
              <a:t>– Continuous light disrupted the timing that darkness preserved, so light exposure changes the emergence pattern</a:t>
            </a:r>
          </a:p>
          <a:p>
            <a:r>
              <a:rPr lang="en-US" sz="1200"/>
              <a:t>– Free-running rhythms proceed without daily entrainment, and emergence therefore measures an endogenous timing output. Light exposure therefore changes the emergence timing that darkness keeps. Persistent timing in the dark is evidence of an internal oscillator.</a:t>
            </a:r>
          </a:p>
          <a:p>
            <a:r>
              <a:rPr lang="en-US" sz="1200"/>
              <a:t>• Source.</a:t>
            </a:r>
          </a:p>
          <a:p>
            <a:r>
              <a:rPr lang="en-US" sz="1200"/>
              <a:t>– The figure and the measurements come from Froy et al. (2003).</a:t>
            </a:r>
          </a:p>
          <a:p>
            <a:r>
              <a:rPr lang="en-US" sz="1200"/>
              <a:t>– Each statement is tied to the recordings or observations of that study.</a:t>
            </a:r>
          </a:p>
          <a:p>
            <a:r>
              <a:rPr lang="en-US" sz="1200"/>
              <a:t/>
            </a:r>
          </a:p>
          <a:p>
            <a:r>
              <a:rPr lang="en-US" sz="1200"/>
              <a:t>References:</a:t>
            </a:r>
          </a:p>
          <a:p>
            <a:r>
              <a:rPr lang="en-US" sz="1200"/>
              <a:t>Oren Froy; Anthony L. Gotter; Amy L. Casselman; Steven M. Reppert (2003). Illuminating the Circadian Clock in Monarch Butterfly Migration. Science, 300(5623): 1303-1305. https://doi.org/10.1126/science.1084874</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Polarizer rotation tested under restricted skylight.</a:t>
            </a:r>
          </a:p>
          <a:p>
            <a:r>
              <a:rPr lang="en-US" sz="1200"/>
              <a:t>• Explanation 1.</a:t>
            </a:r>
          </a:p>
          <a:p>
            <a:r>
              <a:rPr lang="en-US" sz="1200"/>
              <a:t>– Sauman and colleagues fixed monarchs to a tether beneath a linear polarizing filter, which limited the skylight to an 80° field and excluded sight of the sun</a:t>
            </a:r>
          </a:p>
          <a:p>
            <a:r>
              <a:rPr lang="en-US" sz="1200"/>
              <a:t>– Rotating the filter by 90° changed the electric-field orientation of the light available to the animal. The sun itself was kept out of direct view throughout.</a:t>
            </a:r>
          </a:p>
          <a:p>
            <a:r>
              <a:rPr lang="en-US" sz="1200"/>
              <a:t>• Explanation 2.</a:t>
            </a:r>
          </a:p>
          <a:p>
            <a:r>
              <a:rPr lang="en-US" sz="1200"/>
              <a:t>– Each trial used sequential 5-min records taken before rotation, after rotation, during UV interference below 397 nm, and after the UV filter was removed</a:t>
            </a:r>
          </a:p>
          <a:p>
            <a:r>
              <a:rPr lang="en-US" sz="1200"/>
              <a:t>– Interference frequently produced circling and cut virtual progress by at least 70%. Circling was a common response to UV interference. Virtual progress was the measure of each record.</a:t>
            </a:r>
          </a:p>
          <a:p>
            <a:r>
              <a:rPr lang="en-US" sz="1200"/>
              <a:t>• Explanation 3.</a:t>
            </a:r>
          </a:p>
          <a:p>
            <a:r>
              <a:rPr lang="en-US" sz="1200"/>
              <a:t>– Removing the UV filter restored sustained directional flight, so the effect reversed with the treatment</a:t>
            </a:r>
          </a:p>
          <a:p>
            <a:r>
              <a:rPr lang="en-US" sz="1200"/>
              <a:t>– Spectral interference also altered flight continuity, which mixes the loss of direction with changes in flight behavior. The restricted arrangement limited what the animal could see. Its heading record reflects the skylight that remained visible.</a:t>
            </a:r>
          </a:p>
          <a:p>
            <a:r>
              <a:rPr lang="en-US" sz="1200"/>
              <a:t>• Source.</a:t>
            </a:r>
          </a:p>
          <a:p>
            <a:r>
              <a:rPr lang="en-US" sz="1200"/>
              <a:t>– The figure and the measurements come from Sauman et al. (2005).</a:t>
            </a:r>
          </a:p>
          <a:p>
            <a:r>
              <a:rPr lang="en-US" sz="1200"/>
              <a:t>– Each statement is tied to the recordings or observations of that study.</a:t>
            </a:r>
          </a:p>
          <a:p>
            <a:r>
              <a:rPr lang="en-US" sz="1200"/>
              <a:t/>
            </a:r>
          </a:p>
          <a:p>
            <a:r>
              <a:rPr lang="en-US" sz="1200"/>
              <a:t>References:</a:t>
            </a:r>
          </a:p>
          <a:p>
            <a:r>
              <a:rPr lang="en-US" sz="1200"/>
              <a:t>Ivo Sauman; Adriana D. Briscoe; Haisun Zhu; Dingding Shi; Oren Froy; Julia Stalleicken; Quan Yuan; Amy Casselman; Steven M. Reppert (2005). Connecting the Navigational Clock to Sun Compass Input in Monarch Butterfly Brain. Neuron, 46(3): 457-467. https://doi.org/10.1016/j.neuron.2005.03.014</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UV-blocked light still sets emergence timing.</a:t>
            </a:r>
          </a:p>
          <a:p>
            <a:r>
              <a:rPr lang="en-US" sz="1200"/>
              <a:t>• Explanation 1.</a:t>
            </a:r>
          </a:p>
          <a:p>
            <a:r>
              <a:rPr lang="en-US" sz="1200"/>
              <a:t>– Froy and colleagues reared monarch pupae under light–dark cycles with a filter that blocked UV, then recorded eclosion, the emergence of adults from the pupal case</a:t>
            </a:r>
          </a:p>
          <a:p>
            <a:r>
              <a:rPr lang="en-US" sz="1200"/>
              <a:t>– Advancing the filtered schedule by 6 h moved the emergence peaks approximately 5.5 h, which shows that the schedule carried the timing signal. The filter kept UV light out of the rearing chamber.</a:t>
            </a:r>
          </a:p>
          <a:p>
            <a:r>
              <a:rPr lang="en-US" sz="1200"/>
              <a:t>• Explanation 2.</a:t>
            </a:r>
          </a:p>
          <a:p>
            <a:r>
              <a:rPr lang="en-US" sz="1200"/>
              <a:t>– Emergence remained concentrated at one phase of the daily cycle in these pupae</a:t>
            </a:r>
          </a:p>
          <a:p>
            <a:r>
              <a:rPr lang="en-US" sz="1200"/>
              <a:t>– The timing response occurred without ultraviolet illumination, so visible wavelengths were sufficient to set the daily emergence phase. The emergence peaks moved in step with the filtered schedule. Adults were scored for their emergence phase, so the timing measurement was direct.</a:t>
            </a:r>
          </a:p>
          <a:p>
            <a:r>
              <a:rPr lang="en-US" sz="1200"/>
              <a:t>• Explanation 3.</a:t>
            </a:r>
          </a:p>
          <a:p>
            <a:r>
              <a:rPr lang="en-US" sz="1200"/>
              <a:t>– The flight disruption caused by the UV filter in adults is a separate observation from the emergence result</a:t>
            </a:r>
          </a:p>
          <a:p>
            <a:r>
              <a:rPr lang="en-US" sz="1200"/>
              <a:t>– Visible wavelengths can carry daily timing information in this preparation, so the wavelength that disrupts flight and the wavelength that sets the clock can differ. Those pupal rhythms are a separate output of circadian timing.</a:t>
            </a:r>
          </a:p>
          <a:p>
            <a:r>
              <a:rPr lang="en-US" sz="1200"/>
              <a:t>• Source.</a:t>
            </a:r>
          </a:p>
          <a:p>
            <a:r>
              <a:rPr lang="en-US" sz="1200"/>
              <a:t>– The figure and the measurements come from Froy et al. (2003).</a:t>
            </a:r>
          </a:p>
          <a:p>
            <a:r>
              <a:rPr lang="en-US" sz="1200"/>
              <a:t>– Each statement is tied to the recordings or observations of that study.</a:t>
            </a:r>
          </a:p>
          <a:p>
            <a:r>
              <a:rPr lang="en-US" sz="1200"/>
              <a:t/>
            </a:r>
          </a:p>
          <a:p>
            <a:r>
              <a:rPr lang="en-US" sz="1200"/>
              <a:t>References:</a:t>
            </a:r>
          </a:p>
          <a:p>
            <a:r>
              <a:rPr lang="en-US" sz="1200"/>
              <a:t>Oren Froy; Anthony L. Gotter; Amy L. Casselman; Steven M. Reppert (2003). Illuminating the Circadian Clock in Monarch Butterfly Migration. Science, 300(5623): 1303-1305. https://doi.org/10.1126/science.1084874</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Opposite clock shifts rotate headings oppositely.</a:t>
            </a:r>
          </a:p>
          <a:p>
            <a:r>
              <a:rPr lang="en-US" sz="1200"/>
              <a:t>• Explanation 1.</a:t>
            </a:r>
          </a:p>
          <a:p>
            <a:r>
              <a:rPr lang="en-US" sz="1200"/>
              <a:t>– Mouritsen and Frost delayed the entraining 12-h light:12-h dark cycle by 6 h, creating the reverse of the advance tested earlier</a:t>
            </a:r>
          </a:p>
          <a:p>
            <a:r>
              <a:rPr lang="en-US" sz="1200"/>
              <a:t>– The delayed group was tested in the same simulator as the autumn migrants, so the apparatus stayed constant while the light schedule changed. The advance and delay therefore differ in their clock phase.</a:t>
            </a:r>
          </a:p>
          <a:p>
            <a:r>
              <a:rPr lang="en-US" sz="1200"/>
              <a:t>• Explanation 2.</a:t>
            </a:r>
          </a:p>
          <a:p>
            <a:r>
              <a:rPr lang="en-US" sz="1200"/>
              <a:t>– Delayed butterflies oriented near 335°, toward the northwest, a change of about 110° clockwise from the local-time mean of 225°</a:t>
            </a:r>
          </a:p>
          <a:p>
            <a:r>
              <a:rPr lang="en-US" sz="1200"/>
              <a:t>– The advance had produced a counterclockwise change, so the two manipulations moved the heading in opposite directions. Both results come from the same simulator and season. The heading shifts were measured relative to the local-time mean.</a:t>
            </a:r>
          </a:p>
          <a:p>
            <a:r>
              <a:rPr lang="en-US" sz="1200"/>
              <a:t>• Explanation 3.</a:t>
            </a:r>
          </a:p>
          <a:p>
            <a:r>
              <a:rPr lang="en-US" sz="1200"/>
              <a:t>– Unequal magnitudes between the two shifts reflect the observed solar geometry and the experimental conditions</a:t>
            </a:r>
          </a:p>
          <a:p>
            <a:r>
              <a:rPr lang="en-US" sz="1200"/>
              <a:t>– Opposite shifts from opposite clock manipulations indicate a signed link between clock phase and compass direction. Each manipulation therefore produces a predictable heading change. The sign of the change follows the sign of the clock shift.</a:t>
            </a:r>
          </a:p>
          <a:p>
            <a:r>
              <a:rPr lang="en-US" sz="1200"/>
              <a:t>• Source.</a:t>
            </a:r>
          </a:p>
          <a:p>
            <a:r>
              <a:rPr lang="en-US" sz="1200"/>
              <a:t>– The figure and the measurements come from Mouritsen &amp; Frost (2002).</a:t>
            </a:r>
          </a:p>
          <a:p>
            <a:r>
              <a:rPr lang="en-US" sz="1200"/>
              <a:t>– Each statement is tied to the recordings or observations of that study.</a:t>
            </a:r>
          </a:p>
          <a:p>
            <a:r>
              <a:rPr lang="en-US" sz="1200"/>
              <a:t/>
            </a:r>
          </a:p>
          <a:p>
            <a:r>
              <a:rPr lang="en-US" sz="1200"/>
              <a:t>References:</a:t>
            </a:r>
          </a:p>
          <a:p>
            <a:r>
              <a:rPr lang="en-US" sz="1200"/>
              <a:t>Henrik Mouritsen; Barrie J. Frost (2002). Virtual migration in tethered flying monarch butterflies reveals their orientation mechanisms. Proceedings of the National Academy of Sciences, 99(15): 10162-10166. https://doi.org/10.1073/pnas.152137299</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Tethered headings reveal sustained orientation.</a:t>
            </a:r>
          </a:p>
          <a:p>
            <a:r>
              <a:rPr lang="en-US" sz="1200"/>
              <a:t>• Explanation 1.</a:t>
            </a:r>
          </a:p>
          <a:p>
            <a:r>
              <a:rPr lang="en-US" sz="1200"/>
              <a:t>– A fine wire attached to the dorsal thorax held each monarch in place while it rotated freely</a:t>
            </a:r>
          </a:p>
          <a:p>
            <a:r>
              <a:rPr lang="en-US" sz="1200"/>
              <a:t>– A cylinder roughly 59 cm wide and 64 cm high limited its view to the sky overhead, so the sky was the visual reference available to the insect. Vertical airflow lifted the butterfly without supplying a horizontal wind direction.</a:t>
            </a:r>
          </a:p>
          <a:p>
            <a:r>
              <a:rPr lang="en-US" sz="1200"/>
              <a:t>• Explanation 2.</a:t>
            </a:r>
          </a:p>
          <a:p>
            <a:r>
              <a:rPr lang="en-US" sz="1200"/>
              <a:t>– The system sampled heading every 200 ms, which recorded both sustained orientation and course changes within a single trial</a:t>
            </a:r>
          </a:p>
          <a:p>
            <a:r>
              <a:rPr lang="en-US" sz="1200"/>
              <a:t>– Virtual trajectories were built from those headings by assuming a flight speed, so the distances shown are calculated rather than measured. Each trial therefore gives a continuous record of the butterfly's chosen direction.</a:t>
            </a:r>
          </a:p>
          <a:p>
            <a:r>
              <a:rPr lang="en-US" sz="1200"/>
              <a:t>• Explanation 3.</a:t>
            </a:r>
          </a:p>
          <a:p>
            <a:r>
              <a:rPr lang="en-US" sz="1200"/>
              <a:t>– Excluding landscape landmarks allowed solar orientation to be tested under controlled visual access, which isolates the sky as the reference</a:t>
            </a:r>
          </a:p>
          <a:p>
            <a:r>
              <a:rPr lang="en-US" sz="1200"/>
              <a:t>– Because the record is continuous, each trial keeps changes in course as they occur. The sky served as the sole visual reference in each trial. The experiment therefore isolates direction-holding from travel.</a:t>
            </a:r>
          </a:p>
          <a:p>
            <a:r>
              <a:rPr lang="en-US" sz="1200"/>
              <a:t>• Source.</a:t>
            </a:r>
          </a:p>
          <a:p>
            <a:r>
              <a:rPr lang="en-US" sz="1200"/>
              <a:t>– The figure and the measurements come from Mouritsen &amp; Frost (2002).</a:t>
            </a:r>
          </a:p>
          <a:p>
            <a:r>
              <a:rPr lang="en-US" sz="1200"/>
              <a:t>– Each statement is tied to the recordings or observations of that study.</a:t>
            </a:r>
          </a:p>
          <a:p>
            <a:r>
              <a:rPr lang="en-US" sz="1200"/>
              <a:t/>
            </a:r>
          </a:p>
          <a:p>
            <a:r>
              <a:rPr lang="en-US" sz="1200"/>
              <a:t>References:</a:t>
            </a:r>
          </a:p>
          <a:p>
            <a:r>
              <a:rPr lang="en-US" sz="1200"/>
              <a:t>Henrik Mouritsen; Barrie J. Frost (2002). Virtual migration in tethered flying monarch butterflies reveals their orientation mechanisms. Proceedings of the National Academy of Sciences, 99(15): 10162-10166. https://doi.org/10.1073/pnas.152137299</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1792288" y="612775"/>
            <a:ext cx="5486400" cy="4114800"/>
          </a:xfrm>
          <a:prstGeom prst="rect">
            <a:avLst/>
          </a:prstGeom>
          <a:noFill/>
          <a:ln>
            <a:noFill/>
          </a:ln>
        </p:spPr>
      </p:sp>
      <p:sp>
        <p:nvSpPr>
          <p:cNvPr id="64" name="Google Shape;64;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6.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1.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4.png"/><Relationship Id="rId4"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8.png"/><Relationship Id="rId4"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5.png"/><Relationship Id="rId4"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9.png"/><Relationship Id="rId4"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5.png"/><Relationship Id="rId4"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6.png"/><Relationship Id="rId4"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4.png"/><Relationship Id="rId4"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0.png"/><Relationship Id="rId4"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0.png"/><Relationship Id="rId4"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3.pn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2.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1.pn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0.png"/><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8.png"/><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4.png"/><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3.png"/><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8.png"/><Relationship Id="rId4" Type="http://schemas.openxmlformats.org/officeDocument/2006/relationships/image" Target="../media/image3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6.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33.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 Id="rId3" Type="http://schemas.openxmlformats.org/officeDocument/2006/relationships/image" Target="../media/image33.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 Id="rId3" Type="http://schemas.openxmlformats.org/officeDocument/2006/relationships/image" Target="../media/image1.jp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 Id="rId3" Type="http://schemas.openxmlformats.org/officeDocument/2006/relationships/image" Target="../media/image1.jp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image" Target="../media/image1.jp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image" Target="../media/image18.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9.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6.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6095847" cy="6858000"/>
          </a:xfrm>
          <a:prstGeom prst="rect">
            <a:avLst/>
          </a:prstGeom>
          <a:solidFill>
            <a:srgbClr val="66198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6D6F9"/>
              </a:solidFill>
              <a:latin typeface="Calibri"/>
              <a:ea typeface="Calibri"/>
              <a:cs typeface="Calibri"/>
              <a:sym typeface="Calibri"/>
            </a:endParaRPr>
          </a:p>
        </p:txBody>
      </p:sp>
      <p:sp>
        <p:nvSpPr>
          <p:cNvPr id="86" name="Google Shape;86;p1"/>
          <p:cNvSpPr txBox="1"/>
          <p:nvPr/>
        </p:nvSpPr>
        <p:spPr>
          <a:xfrm>
            <a:off x="685800" y="822960"/>
            <a:ext cx="4724100" cy="1848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F6D6F9"/>
                </a:solidFill>
                <a:latin typeface="Arial"/>
                <a:ea typeface="Arial"/>
                <a:cs typeface="Arial"/>
                <a:sym typeface="Arial"/>
              </a:rPr>
              <a:t>NEUR 411 · NEUROETHOLOGY · FALL 2026</a:t>
            </a:r>
            <a:endParaRPr>
              <a:solidFill>
                <a:srgbClr val="F6D6F9"/>
              </a:solidFill>
            </a:endParaRPr>
          </a:p>
        </p:txBody>
      </p:sp>
      <p:sp>
        <p:nvSpPr>
          <p:cNvPr id="87" name="Google Shape;87;p1"/>
          <p:cNvSpPr txBox="1"/>
          <p:nvPr/>
        </p:nvSpPr>
        <p:spPr>
          <a:xfrm>
            <a:off x="685800" y="1783080"/>
            <a:ext cx="4724100" cy="4366920"/>
          </a:xfrm>
          <a:prstGeom prst="rect">
            <a:avLst/>
          </a:prstGeom>
          <a:noFill/>
          <a:ln>
            <a:noFill/>
          </a:ln>
        </p:spPr>
        <p:txBody>
          <a:bodyPr anchorCtr="0" anchor="t" bIns="0" lIns="0" spcFirstLastPara="1" rIns="0" wrap="square" tIns="0">
            <a:spAutoFit/>
          </a:bodyPr>
          <a:lstStyle/>
          <a:p>
            <a:pPr indent="0" lvl="0" marL="0" marR="0" rtl="0" algn="l">
              <a:lnSpc>
                <a:spcPct val="108000"/>
              </a:lnSpc>
              <a:spcAft>
                <a:spcPts val="1200"/>
              </a:spcAft>
              <a:buNone/>
            </a:pPr>
            <a:r>
              <a:rPr b="0" i="0" lang="en-US" sz="1500" u="none" cap="none" strike="noStrike">
                <a:solidFill>
                  <a:srgbClr val="F6D6F9"/>
                </a:solidFill>
                <a:latin typeface="Arial"/>
                <a:ea typeface="Arial"/>
                <a:cs typeface="Arial"/>
                <a:sym typeface="Arial"/>
              </a:rPr>
              <a:t>Lecture 30</a:t>
            </a:r>
            <a:endParaRPr>
              <a:solidFill>
                <a:srgbClr val="F6D6F9"/>
              </a:solidFill>
            </a:endParaRPr>
          </a:p>
          <a:p>
            <a:pPr indent="0" lvl="0" marL="0" marR="0" rtl="0" algn="l">
              <a:lnSpc>
                <a:spcPct val="108000"/>
              </a:lnSpc>
              <a:spcAft>
                <a:spcPts val="1200"/>
              </a:spcAft>
              <a:buNone/>
            </a:pPr>
            <a:r>
              <a:rPr b="1" i="0" lang="en-US" sz="1500" u="none" cap="none" strike="noStrike">
                <a:solidFill>
                  <a:schemeClr val="lt1"/>
                </a:solidFill>
                <a:latin typeface="Arial"/>
                <a:ea typeface="Arial"/>
                <a:cs typeface="Arial"/>
                <a:sym typeface="Arial"/>
              </a:rPr>
              <a:t>Navigation III:</a:t>
            </a:r>
            <a:endParaRPr>
              <a:solidFill>
                <a:schemeClr val="lt1"/>
              </a:solidFill>
            </a:endParaRPr>
          </a:p>
          <a:p>
            <a:pPr indent="0" lvl="0" marL="0" marR="0" rtl="0" algn="l">
              <a:lnSpc>
                <a:spcPct val="108000"/>
              </a:lnSpc>
              <a:spcAft>
                <a:spcPts val="1200"/>
              </a:spcAft>
              <a:buNone/>
            </a:pPr>
            <a:r>
              <a:rPr b="1" i="0" lang="en-US" sz="1500" u="none" cap="none" strike="noStrike">
                <a:solidFill>
                  <a:schemeClr val="lt1"/>
                </a:solidFill>
                <a:latin typeface="Arial"/>
                <a:ea typeface="Arial"/>
                <a:cs typeface="Arial"/>
                <a:sym typeface="Arial"/>
              </a:rPr>
              <a:t>monarch butterfly migration and the circadian sun compass</a:t>
            </a:r>
            <a:endParaRPr>
              <a:solidFill>
                <a:schemeClr val="lt1"/>
              </a:solidFill>
            </a:endParaRPr>
          </a:p>
          <a:p>
            <a:pPr indent="0" lvl="0" marL="0" marR="0" rtl="0" algn="l">
              <a:lnSpc>
                <a:spcPct val="108000"/>
              </a:lnSpc>
              <a:spcAft>
                <a:spcPts val="1200"/>
              </a:spcAft>
              <a:buNone/>
            </a:pPr>
            <a:r>
              <a:rPr b="0" i="0" lang="en-US" sz="1500" u="none" cap="none" strike="noStrike">
                <a:solidFill>
                  <a:srgbClr val="F6D6F9"/>
                </a:solidFill>
                <a:latin typeface="Arial"/>
                <a:ea typeface="Arial"/>
                <a:cs typeface="Arial"/>
                <a:sym typeface="Arial"/>
              </a:rPr>
              <a:t>Wednesday, November 4, 2026</a:t>
            </a:r>
            <a:endParaRPr>
              <a:solidFill>
                <a:srgbClr val="F6D6F9"/>
              </a:solidFill>
            </a:endParaRPr>
          </a:p>
          <a:p>
            <a:pPr indent="0" lvl="0" marL="0" marR="0" rtl="0" algn="l">
              <a:lnSpc>
                <a:spcPct val="108000"/>
              </a:lnSpc>
              <a:spcAft>
                <a:spcPts val="1200"/>
              </a:spcAft>
              <a:buNone/>
            </a:pPr>
            <a:r>
              <a:rPr b="0" i="0" lang="en-US" sz="1500" u="none" cap="none" strike="noStrike">
                <a:solidFill>
                  <a:srgbClr val="F6D6F9"/>
                </a:solidFill>
                <a:latin typeface="Arial"/>
                <a:ea typeface="Arial"/>
                <a:cs typeface="Arial"/>
                <a:sym typeface="Arial"/>
              </a:rPr>
              <a:t>Jordan Lopez, Ph.D.</a:t>
            </a:r>
            <a:endParaRPr>
              <a:solidFill>
                <a:srgbClr val="F6D6F9"/>
              </a:solidFill>
            </a:endParaRPr>
          </a:p>
          <a:p>
            <a:pPr indent="0" lvl="0" marL="0" marR="0" rtl="0" algn="l">
              <a:lnSpc>
                <a:spcPct val="108000"/>
              </a:lnSpc>
              <a:spcAft>
                <a:spcPts val="1200"/>
              </a:spcAft>
              <a:buNone/>
            </a:pPr>
            <a:r>
              <a:rPr b="0" i="0" lang="en-US" sz="1500" u="none" cap="none" strike="noStrike">
                <a:solidFill>
                  <a:srgbClr val="F6D6F9"/>
                </a:solidFill>
                <a:latin typeface="Arial"/>
                <a:ea typeface="Arial"/>
                <a:cs typeface="Arial"/>
                <a:sym typeface="Arial"/>
              </a:rPr>
              <a:t>Professor of Neurobiology &amp; Biomedical Engineering</a:t>
            </a:r>
            <a:endParaRPr>
              <a:solidFill>
                <a:srgbClr val="F6D6F9"/>
              </a:solidFill>
            </a:endParaRPr>
          </a:p>
        </p:txBody>
      </p:sp>
      <p:pic>
        <p:nvPicPr>
          <p:cNvPr descr="monarch_fws.jpg" id="91" name="Google Shape;91;p1"/>
          <p:cNvPicPr preferRelativeResize="0"/>
          <p:nvPr/>
        </p:nvPicPr>
        <p:blipFill rotWithShape="1">
          <a:blip r:embed="rId3">
            <a:alphaModFix/>
          </a:blip>
          <a:srcRect b="0" l="0" r="0" t="0"/>
          <a:stretch/>
        </p:blipFill>
        <p:spPr>
          <a:xfrm>
            <a:off x="6553047" y="822960"/>
            <a:ext cx="5181447" cy="3454298"/>
          </a:xfrm>
          <a:prstGeom prst="rect">
            <a:avLst/>
          </a:prstGeom>
          <a:noFill/>
          <a:ln>
            <a:noFill/>
          </a:ln>
        </p:spPr>
      </p:pic>
      <p:sp>
        <p:nvSpPr>
          <p:cNvPr id="92" name="Google Shape;92;p1"/>
          <p:cNvSpPr txBox="1"/>
          <p:nvPr/>
        </p:nvSpPr>
        <p:spPr>
          <a:xfrm>
            <a:off x="6553047" y="5943600"/>
            <a:ext cx="5181447"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65717E"/>
                </a:solidFill>
                <a:latin typeface="Arial"/>
                <a:ea typeface="Arial"/>
                <a:cs typeface="Arial"/>
                <a:sym typeface="Arial"/>
              </a:rPr>
              <a:t>Photo: Monarch butterfly with compound eye and antenna visible.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Autumn migrants maintain a southwest flight bearing</a:t>
            </a:r>
            <a:endParaRPr/>
          </a:p>
        </p:txBody>
      </p:sp>
      <p:sp>
        <p:nvSpPr>
          <p:cNvPr id="99" name="Google Shape;99;p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Eastern North American monarch butterflies migrate toward overwintering sites in central Mexico, and some journeys exceed 3,500 km. Each migrant's </a:t>
            </a:r>
            <a:r>
              <a:rPr b="1" i="0" lang="en-US" sz="1400" u="none" cap="none" strike="noStrike">
                <a:solidFill>
                  <a:srgbClr val="52146E"/>
                </a:solidFill>
                <a:latin typeface="Arial"/>
                <a:ea typeface="Arial"/>
                <a:cs typeface="Arial"/>
                <a:sym typeface="Arial"/>
              </a:rPr>
              <a:t>bearing</a:t>
            </a:r>
            <a:r>
              <a:rPr b="0" i="0" lang="en-US" sz="1400" u="none" cap="none" strike="noStrike">
                <a:solidFill>
                  <a:srgbClr val="000000"/>
                </a:solidFill>
                <a:latin typeface="Arial"/>
                <a:ea typeface="Arial"/>
                <a:cs typeface="Arial"/>
                <a:sym typeface="Arial"/>
              </a:rPr>
              <a:t> is a direction measured around the horizon relative to geographic north. Autumn migrants in this population hold a southwest bearing for the length of the journey. The heading is held across the whole autumn flight.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Mouritsen and Frost recorded autumn migrants in an outdoor flight simulator that allowed turning around a vertical tether. Under a visible sky, the butterflies held southwest headings, with a group mean of 225° when their light schedule matched local time. That mean gives one shared direction for the autumn flight. The local-time schedule produced this southwest group mean.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a:t>
            </a:r>
            <a:r>
              <a:rPr b="1" i="0" lang="en-US" sz="1400" u="none" cap="none" strike="noStrike">
                <a:solidFill>
                  <a:srgbClr val="52146E"/>
                </a:solidFill>
                <a:latin typeface="Arial"/>
                <a:ea typeface="Arial"/>
                <a:cs typeface="Arial"/>
                <a:sym typeface="Arial"/>
              </a:rPr>
              <a:t>sun compass</a:t>
            </a:r>
            <a:r>
              <a:rPr b="0" i="0" lang="en-US" sz="1400" u="none" cap="none" strike="noStrike">
                <a:solidFill>
                  <a:srgbClr val="000000"/>
                </a:solidFill>
                <a:latin typeface="Arial"/>
                <a:ea typeface="Arial"/>
                <a:cs typeface="Arial"/>
                <a:sym typeface="Arial"/>
              </a:rPr>
              <a:t> uses the position of the sun as a reference for direction. Sustained tethered headings show that this orientation operates even though the butterfly never travels. A southwest bearing describes the chosen direction, which is one component of a full migration. Solar direction serves as the reference, so the chosen bearing is set relative to the sun.</a:t>
            </a:r>
            <a:endParaRPr/>
          </a:p>
        </p:txBody>
      </p:sp>
      <p:pic>
        <p:nvPicPr>
          <p:cNvPr descr="f02_f2a.png" id="100" name="Google Shape;100;p2"/>
          <p:cNvPicPr preferRelativeResize="0"/>
          <p:nvPr/>
        </p:nvPicPr>
        <p:blipFill rotWithShape="1">
          <a:blip r:embed="rId3">
            <a:alphaModFix/>
          </a:blip>
          <a:srcRect b="0" l="0" r="0" t="0"/>
          <a:stretch/>
        </p:blipFill>
        <p:spPr>
          <a:xfrm>
            <a:off x="7825778" y="1280160"/>
            <a:ext cx="2111576" cy="4297679"/>
          </a:xfrm>
          <a:prstGeom prst="rect">
            <a:avLst/>
          </a:prstGeom>
          <a:noFill/>
          <a:ln>
            <a:noFill/>
          </a:ln>
        </p:spPr>
      </p:pic>
      <p:sp>
        <p:nvSpPr>
          <p:cNvPr id="101" name="Google Shape;101;p2"/>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Mouritsen &amp; Frost (2002), Fig. 2(A). Local-time migrants maintain southwest headings.</a:t>
            </a:r>
            <a:endParaRPr/>
          </a:p>
        </p:txBody>
      </p:sp>
      <p:sp>
        <p:nvSpPr>
          <p:cNvPr id="102" name="Google Shape;102;p2"/>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Mouritsen &amp; Frost (2002)</a:t>
            </a:r>
            <a:endParaRPr/>
          </a:p>
        </p:txBody>
      </p:sp>
      <p:sp>
        <p:nvSpPr>
          <p:cNvPr id="104" name="Google Shape;104;p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A vertical tether preserves turning without translation</a:t>
            </a:r>
            <a:endParaRPr/>
          </a:p>
        </p:txBody>
      </p:sp>
      <p:sp>
        <p:nvSpPr>
          <p:cNvPr id="111" name="Google Shape;111;p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fine wire attached to the dorsal thorax allowed each butterfly to rotate freely. A cylinder about 59 cm wide and 64 cm high restricted its view to the sky above, so the insect turned in place while seeing the sky alone. Vertical airflow supported flight without supplying a horizontal wind direction. The sky above served as the visual reference.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apparatus sampled heading every 200 ms, which preserved sustained orientation and changes in course during each trial. Each trial therefore captured the course changes made by one individual. Heading records of this kind separate heading control from forward travel in the simulator. Every heading was logged in one continuous record, so each course can be read as a trace.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Virtual trajectories were reconstructed from the recorded headings by assuming a flight speed. Their distances are calculated paths rather than measured displacement. Landscape landmarks were excluded, so solar orientation could be tested under controlled visual access. Heading records alone give direction, and the distance is derived from an assumed speed.</a:t>
            </a:r>
            <a:endParaRPr/>
          </a:p>
        </p:txBody>
      </p:sp>
      <p:pic>
        <p:nvPicPr>
          <p:cNvPr descr="f02_f1bcd.png" id="112" name="Google Shape;112;p3"/>
          <p:cNvPicPr preferRelativeResize="0"/>
          <p:nvPr/>
        </p:nvPicPr>
        <p:blipFill rotWithShape="1">
          <a:blip r:embed="rId3">
            <a:alphaModFix/>
          </a:blip>
          <a:srcRect b="0" l="0" r="0" t="0"/>
          <a:stretch/>
        </p:blipFill>
        <p:spPr>
          <a:xfrm>
            <a:off x="7880522" y="1280160"/>
            <a:ext cx="2002089" cy="4297679"/>
          </a:xfrm>
          <a:prstGeom prst="rect">
            <a:avLst/>
          </a:prstGeom>
          <a:noFill/>
          <a:ln>
            <a:noFill/>
          </a:ln>
        </p:spPr>
      </p:pic>
      <p:sp>
        <p:nvSpPr>
          <p:cNvPr id="113" name="Google Shape;113;p3"/>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Mouritsen &amp; Frost (2002), Fig. 1(B–D). Published virtual trajectories derived from tethered headings.</a:t>
            </a:r>
            <a:endParaRPr/>
          </a:p>
        </p:txBody>
      </p:sp>
      <p:sp>
        <p:nvSpPr>
          <p:cNvPr id="114" name="Google Shape;114;p3"/>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Mouritsen &amp; Frost (2002)</a:t>
            </a:r>
            <a:endParaRPr/>
          </a:p>
        </p:txBody>
      </p:sp>
      <p:sp>
        <p:nvSpPr>
          <p:cNvPr id="116" name="Google Shape;116;p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Rotating the apparatus does not rotate the compass</a:t>
            </a:r>
            <a:endParaRPr/>
          </a:p>
        </p:txBody>
      </p:sp>
      <p:sp>
        <p:nvSpPr>
          <p:cNvPr id="123" name="Google Shape;123;p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steady tethered heading could arise from a hidden mark on the simulator rather than from a geographic cue. Mouritsen and Frost therefore rotated the whole apparatus, and rotated its components separately, during directional flight. The test asked whether the heading followed the apparatus or the sky. Each rotation tested one possible source of the heading.</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Butterflies kept their heading toward the geographic direction rather than following the new apparatus orientation. When an individual was turned manually away from its established heading, it returned toward the previous geographic direction. Sustained orientation appeared despite the absence of forward movement. The heading trace recorded that return in full.</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These controls rule out explanations based on a fixed mark, mechanical asymmetry or the tether's angular position. A manipulation that changes internal time while the same external sky stays in view can distinguish time-compensated solar orientation from a response driven by the current sun position alone. The control results therefore constrain the cue to the sky.</a:t>
            </a:r>
            <a:endParaRPr/>
          </a:p>
        </p:txBody>
      </p:sp>
      <p:pic>
        <p:nvPicPr>
          <p:cNvPr descr="f02_f1bcd.png" id="124" name="Google Shape;124;p4"/>
          <p:cNvPicPr preferRelativeResize="0"/>
          <p:nvPr/>
        </p:nvPicPr>
        <p:blipFill rotWithShape="1">
          <a:blip r:embed="rId3">
            <a:alphaModFix/>
          </a:blip>
          <a:srcRect b="0" l="0" r="0" t="0"/>
          <a:stretch/>
        </p:blipFill>
        <p:spPr>
          <a:xfrm>
            <a:off x="7880522" y="1280160"/>
            <a:ext cx="2002089" cy="4297679"/>
          </a:xfrm>
          <a:prstGeom prst="rect">
            <a:avLst/>
          </a:prstGeom>
          <a:noFill/>
          <a:ln>
            <a:noFill/>
          </a:ln>
        </p:spPr>
      </p:pic>
      <p:sp>
        <p:nvSpPr>
          <p:cNvPr id="125" name="Google Shape;125;p4"/>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Mouritsen &amp; Frost (2002), Fig. 1(B–D). Published virtual trajectories derived from tethered headings.</a:t>
            </a:r>
            <a:endParaRPr/>
          </a:p>
        </p:txBody>
      </p:sp>
      <p:sp>
        <p:nvSpPr>
          <p:cNvPr id="126" name="Google Shape;126;p4"/>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Mouritsen &amp; Frost (2002)</a:t>
            </a:r>
            <a:endParaRPr/>
          </a:p>
        </p:txBody>
      </p:sp>
      <p:sp>
        <p:nvSpPr>
          <p:cNvPr id="128" name="Google Shape;128;p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Advancing the clock rotates flight toward the southeast</a:t>
            </a:r>
            <a:endParaRPr/>
          </a:p>
        </p:txBody>
      </p:sp>
      <p:sp>
        <p:nvSpPr>
          <p:cNvPr id="135" name="Google Shape;135;p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52146E"/>
                </a:solidFill>
                <a:latin typeface="Arial"/>
                <a:ea typeface="Arial"/>
                <a:cs typeface="Arial"/>
                <a:sym typeface="Arial"/>
              </a:rPr>
              <a:t>Time compensation</a:t>
            </a:r>
            <a:r>
              <a:rPr b="0" i="0" lang="en-US" sz="1400" u="none" cap="none" strike="noStrike">
                <a:solidFill>
                  <a:srgbClr val="000000"/>
                </a:solidFill>
                <a:latin typeface="Arial"/>
                <a:ea typeface="Arial"/>
                <a:cs typeface="Arial"/>
                <a:sym typeface="Arial"/>
              </a:rPr>
              <a:t> adjusts compass output as the sun changes position during the day. A </a:t>
            </a:r>
            <a:r>
              <a:rPr b="1" i="0" lang="en-US" sz="1400" u="none" cap="none" strike="noStrike">
                <a:solidFill>
                  <a:srgbClr val="52146E"/>
                </a:solidFill>
                <a:latin typeface="Arial"/>
                <a:ea typeface="Arial"/>
                <a:cs typeface="Arial"/>
                <a:sym typeface="Arial"/>
              </a:rPr>
              <a:t>circadian clock</a:t>
            </a:r>
            <a:r>
              <a:rPr b="0" i="0" lang="en-US" sz="1400" u="none" cap="none" strike="noStrike">
                <a:solidFill>
                  <a:srgbClr val="000000"/>
                </a:solidFill>
                <a:latin typeface="Arial"/>
                <a:ea typeface="Arial"/>
                <a:cs typeface="Arial"/>
                <a:sym typeface="Arial"/>
              </a:rPr>
              <a:t> is an internal timing system with a rhythm close to 24 h, and entrainment aligns its phase with a recurring environmental cycle. The compass corrects its solar reading using that internal schedule. The compass must correct for that shift.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Migrants experienced a 12-h light:12-h dark cycle advanced by 6 h for at least five days. Tested outdoors under the same actual sky as local-time controls, the advanced group oriented near 136°, toward the southeast, instead of the controls' 225° southwest heading. The advanced group therefore faced a different time of day than the controls did.</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counterclockwise change of roughly 89° links orientation to internal time. An insect that treats the afternoon sun as a later time must select a different bearing to keep its programmed compass relationship. The manipulation supports a time-compensated sun compass in which clock output corrects the solar angle. Its direction matches the clock shift.</a:t>
            </a:r>
            <a:endParaRPr/>
          </a:p>
        </p:txBody>
      </p:sp>
      <p:pic>
        <p:nvPicPr>
          <p:cNvPr descr="f02_f2abc.png" id="136" name="Google Shape;136;p5"/>
          <p:cNvPicPr preferRelativeResize="0"/>
          <p:nvPr/>
        </p:nvPicPr>
        <p:blipFill rotWithShape="1">
          <a:blip r:embed="rId3">
            <a:alphaModFix/>
          </a:blip>
          <a:srcRect b="0" l="0" r="0" t="0"/>
          <a:stretch/>
        </p:blipFill>
        <p:spPr>
          <a:xfrm>
            <a:off x="6138367" y="1280160"/>
            <a:ext cx="5486400" cy="3698840"/>
          </a:xfrm>
          <a:prstGeom prst="rect">
            <a:avLst/>
          </a:prstGeom>
          <a:noFill/>
          <a:ln>
            <a:noFill/>
          </a:ln>
        </p:spPr>
      </p:pic>
      <p:sp>
        <p:nvSpPr>
          <p:cNvPr id="137" name="Google Shape;137;p5"/>
          <p:cNvSpPr txBox="1"/>
          <p:nvPr/>
        </p:nvSpPr>
        <p:spPr>
          <a:xfrm>
            <a:off x="6138367" y="507044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Mouritsen &amp; Frost (2002), Fig. 2(A–C). Headings on local, advanced and delayed light cycles.</a:t>
            </a:r>
            <a:endParaRPr/>
          </a:p>
        </p:txBody>
      </p:sp>
      <p:sp>
        <p:nvSpPr>
          <p:cNvPr id="138" name="Google Shape;138;p5"/>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Mouritsen &amp; Frost (2002)</a:t>
            </a:r>
            <a:endParaRPr/>
          </a:p>
        </p:txBody>
      </p:sp>
      <p:sp>
        <p:nvSpPr>
          <p:cNvPr id="140" name="Google Shape;140;p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Delaying the clock produces the opposite heading change</a:t>
            </a:r>
            <a:endParaRPr/>
          </a:p>
        </p:txBody>
      </p:sp>
      <p:sp>
        <p:nvSpPr>
          <p:cNvPr id="147" name="Google Shape;147;p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reciprocal manipulation tests whether the heading change matches the direction predicted by solar time compensation. Mouritsen and Frost delayed the entraining 12-h light:12-h dark cycle by 6 h before testing autumn migrants in the same simulator. The delay produced the opposite clock phase from the advance. Its delay runs opposite to the advance.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Delayed butterflies oriented near 335°, toward the northwest. Relative to the local-time mean of 225°, their heading changed by approximately 110° clockwise, the reverse of the counterclockwise change produced by the 6-h advance. Each manipulated group moved its heading in a direction set by the sign of the clock shift. Local time was the schedule that produced the 225° group mean.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Opposite shifts from opposite clock manipulations point to a signed relationship between clock phase and compass direction. A nonspecific disturbance from laboratory housing would be unlikely to produce changes in opposite directions. These results establish a compass response to manipulated time. Both shifts were measured in the same simulator, which leaves the apparatus unchanged between them.</a:t>
            </a:r>
            <a:endParaRPr/>
          </a:p>
        </p:txBody>
      </p:sp>
      <p:pic>
        <p:nvPicPr>
          <p:cNvPr descr="f02_f2abc.png" id="148" name="Google Shape;148;p6"/>
          <p:cNvPicPr preferRelativeResize="0"/>
          <p:nvPr/>
        </p:nvPicPr>
        <p:blipFill rotWithShape="1">
          <a:blip r:embed="rId3">
            <a:alphaModFix/>
          </a:blip>
          <a:srcRect b="0" l="0" r="0" t="0"/>
          <a:stretch/>
        </p:blipFill>
        <p:spPr>
          <a:xfrm>
            <a:off x="6138367" y="1280160"/>
            <a:ext cx="5486400" cy="3698840"/>
          </a:xfrm>
          <a:prstGeom prst="rect">
            <a:avLst/>
          </a:prstGeom>
          <a:noFill/>
          <a:ln>
            <a:noFill/>
          </a:ln>
        </p:spPr>
      </p:pic>
      <p:sp>
        <p:nvSpPr>
          <p:cNvPr id="149" name="Google Shape;149;p6"/>
          <p:cNvSpPr txBox="1"/>
          <p:nvPr/>
        </p:nvSpPr>
        <p:spPr>
          <a:xfrm>
            <a:off x="6138367" y="507044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Mouritsen &amp; Frost (2002), Fig. 2(A–C). Headings on local, advanced and delayed light cycles.</a:t>
            </a:r>
            <a:endParaRPr/>
          </a:p>
        </p:txBody>
      </p:sp>
      <p:sp>
        <p:nvSpPr>
          <p:cNvPr id="150" name="Google Shape;150;p6"/>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Mouritsen &amp; Frost (2002)</a:t>
            </a:r>
            <a:endParaRPr/>
          </a:p>
        </p:txBody>
      </p:sp>
      <p:sp>
        <p:nvSpPr>
          <p:cNvPr id="152" name="Google Shape;152;p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Constant light leaves orientation tied to the visible sun</a:t>
            </a:r>
            <a:endParaRPr/>
          </a:p>
        </p:txBody>
      </p:sp>
      <p:sp>
        <p:nvSpPr>
          <p:cNvPr id="159" name="Google Shape;159;p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Froy and colleagues tested migrants entrained to local or 6-h-advanced light schedules. Under normal light–dark conditions, mean headings were 233° and 118°, respectively, so each group kept a bearing that followed its internal time. Both groups were tested in the same arrangement, so the light schedule was the difference between them.</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After five days of constant light, the two groups lost their distinct compass bearings. Both oriented near 161°, while the sun lay between about 136° and 160°, so the heading tracked the current sun position. Uninterrupted illumination replaced the daily light–dark cycle. Their headings moved to match the sun's current position rather than a fixed bearing.</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heading toward the current sun fits positive phototaxis, which is movement toward a light source. Migration bearings instead stay fixed as the sun moves. Constant light disturbs circadian organization broadly, so the treatment also affects other physiological processes. The heading therefore followed present sun position rather than internal time under this treatment.</a:t>
            </a:r>
            <a:endParaRPr/>
          </a:p>
        </p:txBody>
      </p:sp>
      <p:pic>
        <p:nvPicPr>
          <p:cNvPr descr="f03_f2.png" id="160" name="Google Shape;160;p7"/>
          <p:cNvPicPr preferRelativeResize="0"/>
          <p:nvPr/>
        </p:nvPicPr>
        <p:blipFill rotWithShape="1">
          <a:blip r:embed="rId3">
            <a:alphaModFix/>
          </a:blip>
          <a:srcRect b="0" l="0" r="0" t="0"/>
          <a:stretch/>
        </p:blipFill>
        <p:spPr>
          <a:xfrm>
            <a:off x="7968474" y="1280160"/>
            <a:ext cx="1826184" cy="4297679"/>
          </a:xfrm>
          <a:prstGeom prst="rect">
            <a:avLst/>
          </a:prstGeom>
          <a:noFill/>
          <a:ln>
            <a:noFill/>
          </a:ln>
        </p:spPr>
      </p:pic>
      <p:sp>
        <p:nvSpPr>
          <p:cNvPr id="161" name="Google Shape;161;p7"/>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Froy et al. (2003), Fig. 2. Orientation after shifted cycles or constant light.</a:t>
            </a:r>
            <a:endParaRPr/>
          </a:p>
        </p:txBody>
      </p:sp>
      <p:sp>
        <p:nvSpPr>
          <p:cNvPr id="162" name="Google Shape;162;p7"/>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Froy et al. (2003)</a:t>
            </a:r>
            <a:endParaRPr/>
          </a:p>
        </p:txBody>
      </p:sp>
      <p:sp>
        <p:nvSpPr>
          <p:cNvPr id="164" name="Google Shape;164;p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Blocking ultraviolet light disrupts sustained flight</a:t>
            </a:r>
            <a:endParaRPr/>
          </a:p>
        </p:txBody>
      </p:sp>
      <p:sp>
        <p:nvSpPr>
          <p:cNvPr id="171" name="Google Shape;171;p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52146E"/>
                </a:solidFill>
                <a:latin typeface="Arial"/>
                <a:ea typeface="Arial"/>
                <a:cs typeface="Arial"/>
                <a:sym typeface="Arial"/>
              </a:rPr>
              <a:t>Ultraviolet light</a:t>
            </a:r>
            <a:r>
              <a:rPr b="0" i="0" lang="en-US" sz="1400" u="none" cap="none" strike="noStrike">
                <a:solidFill>
                  <a:srgbClr val="000000"/>
                </a:solidFill>
                <a:latin typeface="Arial"/>
                <a:ea typeface="Arial"/>
                <a:cs typeface="Arial"/>
                <a:sym typeface="Arial"/>
              </a:rPr>
              <a:t>, or UV, has shorter wavelengths than human-visible violet light. Froy and colleagues placed a filter that blocked wavelengths below 394 nm over outdoor flight tests, while passing about 87% of photopic luminous transmission, the brightness weighted for human vision. The filter sat over outdoor flight tests, so the sky reached the butterfly through it.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filter interrupted sustained flight or altered heading records, and removing it restored sustained flight in most affected butterflies. Sauman and colleagues localized UV-sensitive visual pigment to the dorsal rim area, a specialized strip along the upper margin of the compound eye. That strip lies along the upper margin of each eye.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reversible effect links the UV signal to flight under these conditions. Because the filter changes spectral input and flight continuity together, a loss of stable heading may partly reflect altered flight behavior rather than lost directional information. The filter changed the spectrum more than the overall brightness. Flight was restored once the filter was removed.</a:t>
            </a:r>
            <a:endParaRPr/>
          </a:p>
        </p:txBody>
      </p:sp>
      <p:pic>
        <p:nvPicPr>
          <p:cNvPr descr="f03_f3c.png" id="172" name="Google Shape;172;p8"/>
          <p:cNvPicPr preferRelativeResize="0"/>
          <p:nvPr/>
        </p:nvPicPr>
        <p:blipFill rotWithShape="1">
          <a:blip r:embed="rId3">
            <a:alphaModFix/>
          </a:blip>
          <a:srcRect b="0" l="0" r="0" t="0"/>
          <a:stretch/>
        </p:blipFill>
        <p:spPr>
          <a:xfrm>
            <a:off x="6641489" y="1280160"/>
            <a:ext cx="2377035" cy="4297679"/>
          </a:xfrm>
          <a:prstGeom prst="rect">
            <a:avLst/>
          </a:prstGeom>
          <a:noFill/>
          <a:ln>
            <a:noFill/>
          </a:ln>
        </p:spPr>
      </p:pic>
      <p:sp>
        <p:nvSpPr>
          <p:cNvPr id="173" name="Google Shape;173;p8"/>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Froy et al. (2003), Fig. 3(C). Heading distributions before, during and after UV interference.</a:t>
            </a:r>
            <a:endParaRPr/>
          </a:p>
        </p:txBody>
      </p:sp>
      <p:pic>
        <p:nvPicPr>
          <p:cNvPr descr="s05_dra.png" id="174" name="Google Shape;174;p8"/>
          <p:cNvPicPr preferRelativeResize="0"/>
          <p:nvPr/>
        </p:nvPicPr>
        <p:blipFill rotWithShape="1">
          <a:blip r:embed="rId4">
            <a:alphaModFix/>
          </a:blip>
          <a:srcRect b="0" l="0" r="0" t="0"/>
          <a:stretch/>
        </p:blipFill>
        <p:spPr>
          <a:xfrm>
            <a:off x="9704527" y="2148840"/>
            <a:ext cx="1920239" cy="1883108"/>
          </a:xfrm>
          <a:prstGeom prst="rect">
            <a:avLst/>
          </a:prstGeom>
          <a:noFill/>
          <a:ln>
            <a:noFill/>
          </a:ln>
        </p:spPr>
      </p:pic>
      <p:sp>
        <p:nvSpPr>
          <p:cNvPr id="175" name="Google Shape;175;p8"/>
          <p:cNvSpPr txBox="1"/>
          <p:nvPr/>
        </p:nvSpPr>
        <p:spPr>
          <a:xfrm>
            <a:off x="9704527" y="4105100"/>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3(D). UV opsin staining in the dorsal rim area.</a:t>
            </a:r>
            <a:endParaRPr/>
          </a:p>
        </p:txBody>
      </p:sp>
      <p:sp>
        <p:nvSpPr>
          <p:cNvPr id="176" name="Google Shape;176;p8"/>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Froy et al. (2003); Sauman et al. (2005)</a:t>
            </a:r>
            <a:endParaRPr/>
          </a:p>
        </p:txBody>
      </p:sp>
      <p:sp>
        <p:nvSpPr>
          <p:cNvPr id="178" name="Google Shape;178;p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sp>
        <p:nvSpPr>
          <p:cNvPr id="184" name="Google Shape;184;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Visible light can entrain the emergence rhythm</a:t>
            </a:r>
            <a:endParaRPr/>
          </a:p>
        </p:txBody>
      </p:sp>
      <p:sp>
        <p:nvSpPr>
          <p:cNvPr id="185" name="Google Shape;185;p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Wavelengths that work in an oriented-flight assay can differ from those that entrain the clock. Froy and colleagues reared pupae under light–dark cycles with a UV-blocking filter and measured </a:t>
            </a:r>
            <a:r>
              <a:rPr b="1" i="0" lang="en-US" sz="1400" u="none" cap="none" strike="noStrike">
                <a:solidFill>
                  <a:srgbClr val="52146E"/>
                </a:solidFill>
                <a:latin typeface="Arial"/>
                <a:ea typeface="Arial"/>
                <a:cs typeface="Arial"/>
                <a:sym typeface="Arial"/>
              </a:rPr>
              <a:t>eclosion</a:t>
            </a:r>
            <a:r>
              <a:rPr b="0" i="0" lang="en-US" sz="1400" u="none" cap="none" strike="noStrike">
                <a:solidFill>
                  <a:srgbClr val="000000"/>
                </a:solidFill>
                <a:latin typeface="Arial"/>
                <a:ea typeface="Arial"/>
                <a:cs typeface="Arial"/>
                <a:sym typeface="Arial"/>
              </a:rPr>
              <a:t>, the emergence of adults from the pupal case, across each day. The filter was used during rearing, so emergence depended on visible wavelengths alone.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Emergence stayed concentrated at a particular phase of the daily cycle. Advancing the UV-filtered light schedule by 6 h moved the emergence peaks approximately 5.5 h, which establishes effective temporal entrainment without ultraviolet illumination. Peak emergence occurred at a consistent time of day in each condition. The 5.5-h shift between peaks tracks the 6-h advance closely.</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Visible wavelengths therefore convey daily timing information in this preparation. Eclosion is an output of circadian organization, and its entrainment identifies a timing response in pupae rather than the sensory pathway that supports migratory heading in adults. Eclosion timing is measured in pupae, which is a different life stage from the adult flight assay.</a:t>
            </a:r>
            <a:endParaRPr/>
          </a:p>
        </p:txBody>
      </p:sp>
      <p:pic>
        <p:nvPicPr>
          <p:cNvPr descr="f03_f3d.png" id="186" name="Google Shape;186;p9"/>
          <p:cNvPicPr preferRelativeResize="0"/>
          <p:nvPr/>
        </p:nvPicPr>
        <p:blipFill rotWithShape="1">
          <a:blip r:embed="rId3">
            <a:alphaModFix/>
          </a:blip>
          <a:srcRect b="0" l="0" r="0" t="0"/>
          <a:stretch/>
        </p:blipFill>
        <p:spPr>
          <a:xfrm>
            <a:off x="6648260" y="1280160"/>
            <a:ext cx="4466613" cy="4297679"/>
          </a:xfrm>
          <a:prstGeom prst="rect">
            <a:avLst/>
          </a:prstGeom>
          <a:noFill/>
          <a:ln>
            <a:noFill/>
          </a:ln>
        </p:spPr>
      </p:pic>
      <p:sp>
        <p:nvSpPr>
          <p:cNvPr id="187" name="Google Shape;187;p9"/>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Froy et al. (2003), Fig. 3(D). Adult emergence entrained without ultraviolet light.</a:t>
            </a:r>
            <a:endParaRPr/>
          </a:p>
        </p:txBody>
      </p:sp>
      <p:sp>
        <p:nvSpPr>
          <p:cNvPr id="188" name="Google Shape;188;p9"/>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Froy et al. (2003)</a:t>
            </a:r>
            <a:endParaRPr/>
          </a:p>
        </p:txBody>
      </p:sp>
      <p:sp>
        <p:nvSpPr>
          <p:cNvPr id="190" name="Google Shape;190;p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 name="Shape 195"/>
        <p:cNvGrpSpPr/>
        <p:nvPr/>
      </p:nvGrpSpPr>
      <p:grpSpPr>
        <a:xfrm>
          <a:off x="0" y="0"/>
          <a:ext cx="0" cy="0"/>
          <a:chOff x="0" y="0"/>
          <a:chExt cx="0" cy="0"/>
        </a:xfrm>
      </p:grpSpPr>
      <p:sp>
        <p:nvSpPr>
          <p:cNvPr id="196" name="Google Shape;196;p1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Retinal cells express distinct visual-pigment proteins</a:t>
            </a:r>
            <a:endParaRPr/>
          </a:p>
        </p:txBody>
      </p:sp>
      <p:sp>
        <p:nvSpPr>
          <p:cNvPr id="197" name="Google Shape;197;p1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a:t>
            </a:r>
            <a:r>
              <a:rPr b="1" i="0" lang="en-US" sz="1400" u="none" cap="none" strike="noStrike">
                <a:solidFill>
                  <a:srgbClr val="52146E"/>
                </a:solidFill>
                <a:latin typeface="Arial"/>
                <a:ea typeface="Arial"/>
                <a:cs typeface="Arial"/>
                <a:sym typeface="Arial"/>
              </a:rPr>
              <a:t>compound eye</a:t>
            </a:r>
            <a:r>
              <a:rPr b="0" i="0" lang="en-US" sz="1400" u="none" cap="none" strike="noStrike">
                <a:solidFill>
                  <a:srgbClr val="000000"/>
                </a:solidFill>
                <a:latin typeface="Arial"/>
                <a:ea typeface="Arial"/>
                <a:cs typeface="Arial"/>
                <a:sym typeface="Arial"/>
              </a:rPr>
              <a:t> contains repeated optical units called </a:t>
            </a:r>
            <a:r>
              <a:rPr b="1" i="0" lang="en-US" sz="1400" u="none" cap="none" strike="noStrike">
                <a:solidFill>
                  <a:srgbClr val="52146E"/>
                </a:solidFill>
                <a:latin typeface="Arial"/>
                <a:ea typeface="Arial"/>
                <a:cs typeface="Arial"/>
                <a:sym typeface="Arial"/>
              </a:rPr>
              <a:t>ommatidia</a:t>
            </a:r>
            <a:r>
              <a:rPr b="0" i="0" lang="en-US" sz="1400" u="none" cap="none" strike="noStrike">
                <a:solidFill>
                  <a:srgbClr val="000000"/>
                </a:solidFill>
                <a:latin typeface="Arial"/>
                <a:ea typeface="Arial"/>
                <a:cs typeface="Arial"/>
                <a:sym typeface="Arial"/>
              </a:rPr>
              <a:t>. Each monarch ommatidium holds photoreceptor cells whose light-sensitive membrane forms a rhabdom. An </a:t>
            </a:r>
            <a:r>
              <a:rPr b="1" i="0" lang="en-US" sz="1400" u="none" cap="none" strike="noStrike">
                <a:solidFill>
                  <a:srgbClr val="52146E"/>
                </a:solidFill>
                <a:latin typeface="Arial"/>
                <a:ea typeface="Arial"/>
                <a:cs typeface="Arial"/>
                <a:sym typeface="Arial"/>
              </a:rPr>
              <a:t>opsin</a:t>
            </a:r>
            <a:r>
              <a:rPr b="0" i="0" lang="en-US" sz="1400" u="none" cap="none" strike="noStrike">
                <a:solidFill>
                  <a:srgbClr val="000000"/>
                </a:solidFill>
                <a:latin typeface="Arial"/>
                <a:ea typeface="Arial"/>
                <a:cs typeface="Arial"/>
                <a:sym typeface="Arial"/>
              </a:rPr>
              <a:t> is the protein component of a visual pigment that contributes to its spectral sensitivity. A rhabdom is the light-sensitive membrane that houses visual pigment. Visual pigment is embedded in that membrane.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Sauman and colleagues used in situ hybridization, a method that locates specific RNA sequences in tissue sections, to map opsin expression. UV and blue opsin RNA occupied R1 or R2 cells, while long-wavelength opsin RNA occupied R3 through R8. These maps came from in situ hybridization on tissue sections. The probes marked each receptor class in the retina.</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These distributions establish distinct molecular receptor types in the main retina, which gives the eye several spectral inputs. Localizing RNA identifies which cells express each opsin, and that map is the first step toward tracing spectral input into the brain. Spectral channels in the main retina are separate from those in the dorsal rim.</a:t>
            </a:r>
            <a:endParaRPr/>
          </a:p>
        </p:txBody>
      </p:sp>
      <p:pic>
        <p:nvPicPr>
          <p:cNvPr descr="s05_f2.png" id="198" name="Google Shape;198;p10"/>
          <p:cNvPicPr preferRelativeResize="0"/>
          <p:nvPr/>
        </p:nvPicPr>
        <p:blipFill rotWithShape="1">
          <a:blip r:embed="rId3">
            <a:alphaModFix/>
          </a:blip>
          <a:srcRect b="0" l="0" r="0" t="0"/>
          <a:stretch/>
        </p:blipFill>
        <p:spPr>
          <a:xfrm>
            <a:off x="8151535" y="1280160"/>
            <a:ext cx="1460063" cy="4297679"/>
          </a:xfrm>
          <a:prstGeom prst="rect">
            <a:avLst/>
          </a:prstGeom>
          <a:noFill/>
          <a:ln>
            <a:noFill/>
          </a:ln>
        </p:spPr>
      </p:pic>
      <p:sp>
        <p:nvSpPr>
          <p:cNvPr id="199" name="Google Shape;199;p10"/>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2(A–C). UV, blue and long-wavelength opsin RNA in retinal cells.</a:t>
            </a:r>
            <a:endParaRPr/>
          </a:p>
        </p:txBody>
      </p:sp>
      <p:sp>
        <p:nvSpPr>
          <p:cNvPr id="200" name="Google Shape;200;p10"/>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1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Sauman et al. (2005)</a:t>
            </a:r>
            <a:endParaRPr/>
          </a:p>
        </p:txBody>
      </p:sp>
      <p:sp>
        <p:nvSpPr>
          <p:cNvPr id="202" name="Google Shape;202;p1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sp>
        <p:nvSpPr>
          <p:cNvPr id="208" name="Google Shape;208;p1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The dorsal rim area is specialized for ultraviolet input</a:t>
            </a:r>
            <a:endParaRPr/>
          </a:p>
        </p:txBody>
      </p:sp>
      <p:sp>
        <p:nvSpPr>
          <p:cNvPr id="209" name="Google Shape;209;p1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a:t>
            </a:r>
            <a:r>
              <a:rPr b="1" i="0" lang="en-US" sz="1400" u="none" cap="none" strike="noStrike">
                <a:solidFill>
                  <a:srgbClr val="52146E"/>
                </a:solidFill>
                <a:latin typeface="Arial"/>
                <a:ea typeface="Arial"/>
                <a:cs typeface="Arial"/>
                <a:sym typeface="Arial"/>
              </a:rPr>
              <a:t>dorsal rim area</a:t>
            </a:r>
            <a:r>
              <a:rPr b="0" i="0" lang="en-US" sz="1400" u="none" cap="none" strike="noStrike">
                <a:solidFill>
                  <a:srgbClr val="000000"/>
                </a:solidFill>
                <a:latin typeface="Arial"/>
                <a:ea typeface="Arial"/>
                <a:cs typeface="Arial"/>
                <a:sym typeface="Arial"/>
              </a:rPr>
              <a:t> differs molecularly from adjacent main-retina ommatidia. Sauman and colleagues found UV opsin RNA throughout R1–R8 in this strip, and detected no blue or long-wavelength opsin RNA in those dorsal-rim cells. That molecular contrast defines the specialized strip. The strip differs from its neighbors in receptor composition. Each ommatidium in the strip shows the same contrast.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specialization extended about 40–50 ommatidia along the eye margin and one to three ommatidia inward, roughly 100 per eye. Antibody labeling localized UV opsin protein to the rhabdoms of these cells, and adjacent retina provided a reference with mixed receptor types. Each dorsal-rim unit carries one spectral class across all eight receptor cells.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Linear polarization specifies the orientation of the light wave's electric field. A single spectral class is consistent with sampling that orientation without mixing color signals, which points to a candidate polarization input for the migratory compass. The dorsal rim therefore differs from adjacent ommatidia in receptor class. The UV-specialized strip therefore defines a candidate input channel.</a:t>
            </a:r>
            <a:endParaRPr/>
          </a:p>
        </p:txBody>
      </p:sp>
      <p:pic>
        <p:nvPicPr>
          <p:cNvPr descr="s05_f3.png" id="210" name="Google Shape;210;p11"/>
          <p:cNvPicPr preferRelativeResize="0"/>
          <p:nvPr/>
        </p:nvPicPr>
        <p:blipFill rotWithShape="1">
          <a:blip r:embed="rId3">
            <a:alphaModFix/>
          </a:blip>
          <a:srcRect b="0" l="0" r="0" t="0"/>
          <a:stretch/>
        </p:blipFill>
        <p:spPr>
          <a:xfrm>
            <a:off x="6817661" y="1280160"/>
            <a:ext cx="4127811" cy="4297679"/>
          </a:xfrm>
          <a:prstGeom prst="rect">
            <a:avLst/>
          </a:prstGeom>
          <a:noFill/>
          <a:ln>
            <a:noFill/>
          </a:ln>
        </p:spPr>
      </p:pic>
      <p:sp>
        <p:nvSpPr>
          <p:cNvPr id="211" name="Google Shape;211;p11"/>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3(A–D). UV-specialized ommatidia in the dorsal rim area.</a:t>
            </a:r>
            <a:endParaRPr/>
          </a:p>
        </p:txBody>
      </p:sp>
      <p:sp>
        <p:nvSpPr>
          <p:cNvPr id="212" name="Google Shape;212;p11"/>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1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Sauman et al. (2005)</a:t>
            </a:r>
            <a:endParaRPr/>
          </a:p>
        </p:txBody>
      </p:sp>
      <p:sp>
        <p:nvSpPr>
          <p:cNvPr id="214" name="Google Shape;214;p1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Polarizer rotation changes flight in a restricted assay</a:t>
            </a:r>
            <a:endParaRPr/>
          </a:p>
        </p:txBody>
      </p:sp>
      <p:sp>
        <p:nvSpPr>
          <p:cNvPr id="221" name="Google Shape;221;p1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Sauman and colleagues tested tethered monarchs beneath a linear polarizing filter that restricted skylight to an 80° field and excluded direct sight of the sun. Turning the filter by 90° changed the available electric-field orientation, so the assay manipulated polarized skylight during tethered flight. The filter placed the sun outside the animal's view.</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Each butterfly was recorded in sequential 5-min periods before rotation, after rotation, during UV interference below 397 nm, and after the UV filter was removed. UV interference often produced circling and reduced virtual progress by at least 70%, and removal restored sustained directional flight. Each record captured one stage of the test sequence.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Sensitivity to manipulated polarized UV appears under this restricted arrangement. Polarizers also change brightness, so the rotation effect is entangled with intensity patterns. The UV-specialized dorsal rim offers an anatomical candidate for this input. The filter restricted the field to 80°, which shaped the view available to each animal during rotation.</a:t>
            </a:r>
            <a:endParaRPr/>
          </a:p>
        </p:txBody>
      </p:sp>
      <p:pic>
        <p:nvPicPr>
          <p:cNvPr descr="s05_f4.png" id="222" name="Google Shape;222;p12"/>
          <p:cNvPicPr preferRelativeResize="0"/>
          <p:nvPr/>
        </p:nvPicPr>
        <p:blipFill rotWithShape="1">
          <a:blip r:embed="rId3">
            <a:alphaModFix/>
          </a:blip>
          <a:srcRect b="0" l="0" r="0" t="0"/>
          <a:stretch/>
        </p:blipFill>
        <p:spPr>
          <a:xfrm>
            <a:off x="6586031" y="1280160"/>
            <a:ext cx="2487951" cy="4297679"/>
          </a:xfrm>
          <a:prstGeom prst="rect">
            <a:avLst/>
          </a:prstGeom>
          <a:noFill/>
          <a:ln>
            <a:noFill/>
          </a:ln>
        </p:spPr>
      </p:pic>
      <p:sp>
        <p:nvSpPr>
          <p:cNvPr id="223" name="Google Shape;223;p12"/>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4(A–D). Filter rotation and UV interference during tethered flight.</a:t>
            </a:r>
            <a:endParaRPr/>
          </a:p>
        </p:txBody>
      </p:sp>
      <p:pic>
        <p:nvPicPr>
          <p:cNvPr descr="s05_dra.png" id="224" name="Google Shape;224;p12"/>
          <p:cNvPicPr preferRelativeResize="0"/>
          <p:nvPr/>
        </p:nvPicPr>
        <p:blipFill rotWithShape="1">
          <a:blip r:embed="rId4">
            <a:alphaModFix/>
          </a:blip>
          <a:srcRect b="0" l="0" r="0" t="0"/>
          <a:stretch/>
        </p:blipFill>
        <p:spPr>
          <a:xfrm>
            <a:off x="9704527" y="2148840"/>
            <a:ext cx="1920239" cy="1883108"/>
          </a:xfrm>
          <a:prstGeom prst="rect">
            <a:avLst/>
          </a:prstGeom>
          <a:noFill/>
          <a:ln>
            <a:noFill/>
          </a:ln>
        </p:spPr>
      </p:pic>
      <p:sp>
        <p:nvSpPr>
          <p:cNvPr id="225" name="Google Shape;225;p12"/>
          <p:cNvSpPr txBox="1"/>
          <p:nvPr/>
        </p:nvSpPr>
        <p:spPr>
          <a:xfrm>
            <a:off x="9704527" y="4105100"/>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3(D). UV opsin staining in the dorsal rim area.</a:t>
            </a:r>
            <a:endParaRPr/>
          </a:p>
        </p:txBody>
      </p:sp>
      <p:sp>
        <p:nvSpPr>
          <p:cNvPr id="226" name="Google Shape;226;p12"/>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Sauman et al. (2005)</a:t>
            </a:r>
            <a:endParaRPr/>
          </a:p>
        </p:txBody>
      </p:sp>
      <p:sp>
        <p:nvSpPr>
          <p:cNvPr id="228" name="Google Shape;228;p1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1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Polarized-light behavior requires brightness controls</a:t>
            </a:r>
            <a:endParaRPr/>
          </a:p>
        </p:txBody>
      </p:sp>
      <p:sp>
        <p:nvSpPr>
          <p:cNvPr id="235" name="Google Shape;235;p1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Stalleicken and colleagues tested orientation under a polarizing filter in three conditions: with the sun excluded, with the sun visible, and with an unpolarized-light control. Under polarized skylight alone, orientation was unreliable in these tests, which points to brightness-related cues as a possible contributor to earlier polarizer responses. Visible sun conditions set the reliability of orientation.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With the sun available, monarchs retained directional orientation. Rotating a filter can change more than polarization direction, because it also alters the brightness pattern that reaches the eye, and the experimental optical arrangement carries those brightness cues. The polarizer produced those brightness changes alongside its polarization effect. The filter stayed in place across these conditions.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These findings refine the behavioral interpretation without denying polarization-sensitive visual physiology. A response to an artificial stimulus and a cue's necessity for migration are different claims. Natural compass use calls for controls that separate polarization from intensity patterns and access to other celestial cues. Polarization and brightness both shape the response.</a:t>
            </a:r>
            <a:endParaRPr/>
          </a:p>
        </p:txBody>
      </p:sp>
      <p:pic>
        <p:nvPicPr>
          <p:cNvPr descr="st05_f4.png" id="236" name="Google Shape;236;p13"/>
          <p:cNvPicPr preferRelativeResize="0"/>
          <p:nvPr/>
        </p:nvPicPr>
        <p:blipFill rotWithShape="1">
          <a:blip r:embed="rId3">
            <a:alphaModFix/>
          </a:blip>
          <a:srcRect b="0" l="0" r="0" t="0"/>
          <a:stretch/>
        </p:blipFill>
        <p:spPr>
          <a:xfrm>
            <a:off x="6138367" y="1280160"/>
            <a:ext cx="5486400" cy="2247331"/>
          </a:xfrm>
          <a:prstGeom prst="rect">
            <a:avLst/>
          </a:prstGeom>
          <a:noFill/>
          <a:ln>
            <a:noFill/>
          </a:ln>
        </p:spPr>
      </p:pic>
      <p:sp>
        <p:nvSpPr>
          <p:cNvPr id="237" name="Google Shape;237;p13"/>
          <p:cNvSpPr txBox="1"/>
          <p:nvPr/>
        </p:nvSpPr>
        <p:spPr>
          <a:xfrm>
            <a:off x="6138367" y="3618931"/>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Stalleicken et al. (2005), Fig. 4(A–C). Orientation with polarization, sun and unpolarized controls.</a:t>
            </a:r>
            <a:endParaRPr/>
          </a:p>
        </p:txBody>
      </p:sp>
      <p:sp>
        <p:nvSpPr>
          <p:cNvPr id="238" name="Google Shape;238;p13"/>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1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Stalleicken et al. (2005)</a:t>
            </a:r>
            <a:endParaRPr/>
          </a:p>
        </p:txBody>
      </p:sp>
      <p:sp>
        <p:nvSpPr>
          <p:cNvPr id="240" name="Google Shape;240;p1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1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Dorsal-rim masking leaves sun-based orientation intact</a:t>
            </a:r>
            <a:endParaRPr/>
          </a:p>
        </p:txBody>
      </p:sp>
      <p:sp>
        <p:nvSpPr>
          <p:cNvPr id="247" name="Google Shape;247;p1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Selective masking tests whether the UV-specialized dorsal eye margin is needed when other sky cues stay available. Stalleicken and colleagues covered the dorsal rim area and measured migratory orientation in these animals against untreated butterflies under a visible sun. The dorsal rim is the UV-specialized area identified in earlier staining.</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Masked animals kept directional flight, and their clock-shifted tests remained consistent with a time-compensated sun compass. The published eye preparation documents the position of the mask, which confirms a targeted covering of the dorsal rim instead of a blanket obstruction of the retina. The mask location was recorded in the eye preparation.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Sun-based orientation therefore works through a pathway that functions without normal dorsal-rim input in these conditions. Polarization information may still contribute under other sky conditions, and receptor specialization, neural responsiveness and behavioral necessity are tested separately. Each of those properties is a separate line of evidence, and the masked butterflies still flew in directed paths.</a:t>
            </a:r>
            <a:endParaRPr/>
          </a:p>
        </p:txBody>
      </p:sp>
      <p:pic>
        <p:nvPicPr>
          <p:cNvPr descr="st05_f5.png" id="248" name="Google Shape;248;p14"/>
          <p:cNvPicPr preferRelativeResize="0"/>
          <p:nvPr/>
        </p:nvPicPr>
        <p:blipFill rotWithShape="1">
          <a:blip r:embed="rId3">
            <a:alphaModFix/>
          </a:blip>
          <a:srcRect b="0" l="0" r="0" t="0"/>
          <a:stretch/>
        </p:blipFill>
        <p:spPr>
          <a:xfrm>
            <a:off x="7348050" y="1280160"/>
            <a:ext cx="3067033" cy="4297679"/>
          </a:xfrm>
          <a:prstGeom prst="rect">
            <a:avLst/>
          </a:prstGeom>
          <a:noFill/>
          <a:ln>
            <a:noFill/>
          </a:ln>
        </p:spPr>
      </p:pic>
      <p:sp>
        <p:nvSpPr>
          <p:cNvPr id="249" name="Google Shape;249;p14"/>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Stalleicken et al. (2005), Fig. 5(A–F). Orientation with dorsal rim masking and the masked eye.</a:t>
            </a:r>
            <a:endParaRPr/>
          </a:p>
        </p:txBody>
      </p:sp>
      <p:sp>
        <p:nvSpPr>
          <p:cNvPr id="250" name="Google Shape;250;p14"/>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1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Stalleicken et al. (2005)</a:t>
            </a:r>
            <a:endParaRPr/>
          </a:p>
        </p:txBody>
      </p:sp>
      <p:sp>
        <p:nvSpPr>
          <p:cNvPr id="252" name="Google Shape;252;p1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sp>
        <p:nvSpPr>
          <p:cNvPr id="258" name="Google Shape;258;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Emergence persists without a daily light signal</a:t>
            </a:r>
            <a:endParaRPr/>
          </a:p>
        </p:txBody>
      </p:sp>
      <p:sp>
        <p:nvSpPr>
          <p:cNvPr id="259" name="Google Shape;259;p1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An </a:t>
            </a:r>
            <a:r>
              <a:rPr b="1" i="0" lang="en-US" sz="1400" u="none" cap="none" strike="noStrike">
                <a:solidFill>
                  <a:srgbClr val="52146E"/>
                </a:solidFill>
                <a:latin typeface="Arial"/>
                <a:ea typeface="Arial"/>
                <a:cs typeface="Arial"/>
                <a:sym typeface="Arial"/>
              </a:rPr>
              <a:t>endogenous rhythm</a:t>
            </a:r>
            <a:r>
              <a:rPr b="0" i="0" lang="en-US" sz="1400" u="none" cap="none" strike="noStrike">
                <a:solidFill>
                  <a:srgbClr val="000000"/>
                </a:solidFill>
                <a:latin typeface="Arial"/>
                <a:ea typeface="Arial"/>
                <a:cs typeface="Arial"/>
                <a:sym typeface="Arial"/>
              </a:rPr>
              <a:t> continues after the external cycle is removed. Froy and colleagues entrained monarch pupae to a light–dark schedule, then measured adult emergence in continued cycling light, constant darkness and constant light. Emergence timing served as the readout in each condition. The emergence record covered each condition from start to finish.</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Eclosion clustered early in the light phase and stayed rhythmic in constant darkness, so adults emerged at predictable times without a light cue at the time. A 6-h shift in the prior light schedule altered the emergence phase. Constant light disrupted the normal temporal concentration of emergence. The 6-h shift confirms that the prior schedule sets the emergence phase.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Persistence in darkness supports an internal </a:t>
            </a:r>
            <a:r>
              <a:rPr b="1" i="0" lang="en-US" sz="1400" u="none" cap="none" strike="noStrike">
                <a:solidFill>
                  <a:srgbClr val="52146E"/>
                </a:solidFill>
                <a:latin typeface="Arial"/>
                <a:ea typeface="Arial"/>
                <a:cs typeface="Arial"/>
                <a:sym typeface="Arial"/>
              </a:rPr>
              <a:t>circadian oscillator</a:t>
            </a:r>
            <a:r>
              <a:rPr b="0" i="0" lang="en-US" sz="1400" u="none" cap="none" strike="noStrike">
                <a:solidFill>
                  <a:srgbClr val="000000"/>
                </a:solidFill>
                <a:latin typeface="Arial"/>
                <a:ea typeface="Arial"/>
                <a:cs typeface="Arial"/>
                <a:sym typeface="Arial"/>
              </a:rPr>
              <a:t> rather than a direct response that starts when the lights turn on. Free-running rhythms proceed without daily entrainment, so the emergence assay establishes an endogenous timing output. Light cues were removed in one condition and kept continuous in another. Emergence therefore reads out the internal oscillator in pupae.</a:t>
            </a:r>
            <a:endParaRPr/>
          </a:p>
        </p:txBody>
      </p:sp>
      <p:pic>
        <p:nvPicPr>
          <p:cNvPr descr="f03_f1a.png" id="260" name="Google Shape;260;p15"/>
          <p:cNvPicPr preferRelativeResize="0"/>
          <p:nvPr/>
        </p:nvPicPr>
        <p:blipFill rotWithShape="1">
          <a:blip r:embed="rId3">
            <a:alphaModFix/>
          </a:blip>
          <a:srcRect b="0" l="0" r="0" t="0"/>
          <a:stretch/>
        </p:blipFill>
        <p:spPr>
          <a:xfrm>
            <a:off x="7374909" y="1280160"/>
            <a:ext cx="3013315" cy="4297679"/>
          </a:xfrm>
          <a:prstGeom prst="rect">
            <a:avLst/>
          </a:prstGeom>
          <a:noFill/>
          <a:ln>
            <a:noFill/>
          </a:ln>
        </p:spPr>
      </p:pic>
      <p:sp>
        <p:nvSpPr>
          <p:cNvPr id="261" name="Google Shape;261;p15"/>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Froy et al. (2003), Fig. 1(A). Adult emergence under light–dark and constant conditions.</a:t>
            </a:r>
            <a:endParaRPr/>
          </a:p>
        </p:txBody>
      </p:sp>
      <p:sp>
        <p:nvSpPr>
          <p:cNvPr id="262" name="Google Shape;262;p15"/>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Froy et al. (2003)</a:t>
            </a:r>
            <a:endParaRPr/>
          </a:p>
        </p:txBody>
      </p:sp>
      <p:sp>
        <p:nvSpPr>
          <p:cNvPr id="264" name="Google Shape;264;p1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1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The per transcript changes with circadian phase</a:t>
            </a:r>
            <a:endParaRPr/>
          </a:p>
        </p:txBody>
      </p:sp>
      <p:sp>
        <p:nvSpPr>
          <p:cNvPr id="271" name="Google Shape;271;p1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a:t>
            </a:r>
            <a:r>
              <a:rPr b="1" i="0" lang="en-US" sz="1400" u="none" cap="none" strike="noStrike">
                <a:solidFill>
                  <a:srgbClr val="52146E"/>
                </a:solidFill>
                <a:latin typeface="Arial"/>
                <a:ea typeface="Arial"/>
                <a:cs typeface="Arial"/>
                <a:sym typeface="Arial"/>
              </a:rPr>
              <a:t>period</a:t>
            </a:r>
            <a:r>
              <a:rPr b="0" i="0" lang="en-US" sz="1400" u="none" cap="none" strike="noStrike">
                <a:solidFill>
                  <a:srgbClr val="000000"/>
                </a:solidFill>
                <a:latin typeface="Arial"/>
                <a:ea typeface="Arial"/>
                <a:cs typeface="Arial"/>
                <a:sym typeface="Arial"/>
              </a:rPr>
              <a:t> gene, abbreviated per, encodes a clock-associated protein. Froy and colleagues measured per RNA in monarch heads across the day to connect behavioral timing with a molecular rhythm. </a:t>
            </a:r>
            <a:r>
              <a:rPr b="1" i="0" lang="en-US" sz="1400" u="none" cap="none" strike="noStrike">
                <a:solidFill>
                  <a:srgbClr val="52146E"/>
                </a:solidFill>
                <a:latin typeface="Arial"/>
                <a:ea typeface="Arial"/>
                <a:cs typeface="Arial"/>
                <a:sym typeface="Arial"/>
              </a:rPr>
              <a:t>Transcription</a:t>
            </a:r>
            <a:r>
              <a:rPr b="0" i="0" lang="en-US" sz="1400" u="none" cap="none" strike="noStrike">
                <a:solidFill>
                  <a:srgbClr val="000000"/>
                </a:solidFill>
                <a:latin typeface="Arial"/>
                <a:ea typeface="Arial"/>
                <a:cs typeface="Arial"/>
                <a:sym typeface="Arial"/>
              </a:rPr>
              <a:t> is the production of RNA from a DNA template. RNA levels report how actively a gene is transcribed at a given time.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Head per RNA was higher at night and lower during the day in a light–dark cycle. Its rhythm persisted in constant darkness, with altered amplitude and phase, while constant light kept levels comparatively low and nonrhythmic. The molecular rhythm tracks the same daily structure as emergence. Head per RNA therefore tracks the daily structure of the light cycle.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Whole-head sampling pools signals from multiple tissues, so the RNA profile places the rhythm in the head as a whole rather than in one clock. A rhythmic transcript becomes a candidate component once perturbation shows that it affects function. Perturbing the transcript would show whether its rhythm matters for orientation.</a:t>
            </a:r>
            <a:endParaRPr/>
          </a:p>
        </p:txBody>
      </p:sp>
      <p:pic>
        <p:nvPicPr>
          <p:cNvPr descr="f03_f1b.png" id="272" name="Google Shape;272;p16"/>
          <p:cNvPicPr preferRelativeResize="0"/>
          <p:nvPr/>
        </p:nvPicPr>
        <p:blipFill rotWithShape="1">
          <a:blip r:embed="rId3">
            <a:alphaModFix/>
          </a:blip>
          <a:srcRect b="0" l="0" r="0" t="0"/>
          <a:stretch/>
        </p:blipFill>
        <p:spPr>
          <a:xfrm>
            <a:off x="6381344" y="1280160"/>
            <a:ext cx="5000445" cy="4297679"/>
          </a:xfrm>
          <a:prstGeom prst="rect">
            <a:avLst/>
          </a:prstGeom>
          <a:noFill/>
          <a:ln>
            <a:noFill/>
          </a:ln>
        </p:spPr>
      </p:pic>
      <p:sp>
        <p:nvSpPr>
          <p:cNvPr id="273" name="Google Shape;273;p16"/>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Froy et al. (2003), Fig. 1(B). Head per RNA: blue, light–dark; teal, darkness; magenta, constant light.</a:t>
            </a:r>
            <a:endParaRPr/>
          </a:p>
        </p:txBody>
      </p:sp>
      <p:sp>
        <p:nvSpPr>
          <p:cNvPr id="274" name="Google Shape;274;p16"/>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1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Froy et al. (2003)</a:t>
            </a:r>
            <a:endParaRPr/>
          </a:p>
        </p:txBody>
      </p:sp>
      <p:sp>
        <p:nvSpPr>
          <p:cNvPr id="276" name="Google Shape;276;p1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1" name="Shape 281"/>
        <p:cNvGrpSpPr/>
        <p:nvPr/>
      </p:nvGrpSpPr>
      <p:grpSpPr>
        <a:xfrm>
          <a:off x="0" y="0"/>
          <a:ext cx="0" cy="0"/>
          <a:chOff x="0" y="0"/>
          <a:chExt cx="0" cy="0"/>
        </a:xfrm>
      </p:grpSpPr>
      <p:sp>
        <p:nvSpPr>
          <p:cNvPr id="282" name="Google Shape;282;p1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PER marks candidate clock cells in the lateral brain</a:t>
            </a:r>
            <a:endParaRPr/>
          </a:p>
        </p:txBody>
      </p:sp>
      <p:sp>
        <p:nvSpPr>
          <p:cNvPr id="283" name="Google Shape;283;p1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Sauman and colleagues localized PER, the protein encoded by per, using antibodies in adult monarch brain sections. The </a:t>
            </a:r>
            <a:r>
              <a:rPr b="1" i="0" lang="en-US" sz="1500" u="none" cap="none" strike="noStrike">
                <a:solidFill>
                  <a:srgbClr val="52146E"/>
                </a:solidFill>
                <a:latin typeface="Arial"/>
                <a:ea typeface="Arial"/>
                <a:cs typeface="Arial"/>
                <a:sym typeface="Arial"/>
              </a:rPr>
              <a:t>pars lateralis</a:t>
            </a:r>
            <a:r>
              <a:rPr b="0" i="0" lang="en-US" sz="1500" u="none" cap="none" strike="noStrike">
                <a:solidFill>
                  <a:srgbClr val="000000"/>
                </a:solidFill>
                <a:latin typeface="Arial"/>
                <a:ea typeface="Arial"/>
                <a:cs typeface="Arial"/>
                <a:sym typeface="Arial"/>
              </a:rPr>
              <a:t>, or PL, is a lateral brain region containing candidate clock cells. The </a:t>
            </a:r>
            <a:r>
              <a:rPr b="1" i="0" lang="en-US" sz="1500" u="none" cap="none" strike="noStrike">
                <a:solidFill>
                  <a:srgbClr val="52146E"/>
                </a:solidFill>
                <a:latin typeface="Arial"/>
                <a:ea typeface="Arial"/>
                <a:cs typeface="Arial"/>
                <a:sym typeface="Arial"/>
              </a:rPr>
              <a:t>pars intercerebralis</a:t>
            </a:r>
            <a:r>
              <a:rPr b="0" i="0" lang="en-US" sz="1500" u="none" cap="none" strike="noStrike">
                <a:solidFill>
                  <a:srgbClr val="000000"/>
                </a:solidFill>
                <a:latin typeface="Arial"/>
                <a:ea typeface="Arial"/>
                <a:cs typeface="Arial"/>
                <a:sym typeface="Arial"/>
              </a:rPr>
              <a:t>, or PI, is a medial region with neurosecretory cells. PI contains neurosecretory cells in a medial position.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PL cells had little detectable PER at zeitgeber time 6 but strong labeling near zeitgeber time 18. </a:t>
            </a:r>
            <a:r>
              <a:rPr b="1" i="0" lang="en-US" sz="1500" u="none" cap="none" strike="noStrike">
                <a:solidFill>
                  <a:srgbClr val="52146E"/>
                </a:solidFill>
                <a:latin typeface="Arial"/>
                <a:ea typeface="Arial"/>
                <a:cs typeface="Arial"/>
                <a:sym typeface="Arial"/>
              </a:rPr>
              <a:t>Zeitgeber time</a:t>
            </a:r>
            <a:r>
              <a:rPr b="0" i="0" lang="en-US" sz="1500" u="none" cap="none" strike="noStrike">
                <a:solidFill>
                  <a:srgbClr val="000000"/>
                </a:solidFill>
                <a:latin typeface="Arial"/>
                <a:ea typeface="Arial"/>
                <a:cs typeface="Arial"/>
                <a:sym typeface="Arial"/>
              </a:rPr>
              <a:t>, abbreviated ZT, measures hours relative to the entraining cycle, with ZT0 at lights-on. Daily PL staining persisted in constant darkness and was disrupted in constant light. Daily PL labeling therefore follows a consistent phase pattern.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Localization in brain cells resolves rhythmic molecular components more precisely than a whole-head assay. Rhythmic brain cells can coexist with timing oscillators elsewhere in the animal, so PL staining marks one candidate population among possibly several. Brain sections supply the spatial detail that a whole-head sample lacks in this assay.</a:t>
            </a:r>
            <a:endParaRPr/>
          </a:p>
        </p:txBody>
      </p:sp>
      <p:pic>
        <p:nvPicPr>
          <p:cNvPr descr="s05_f5.png" id="284" name="Google Shape;284;p17"/>
          <p:cNvPicPr preferRelativeResize="0"/>
          <p:nvPr/>
        </p:nvPicPr>
        <p:blipFill rotWithShape="1">
          <a:blip r:embed="rId3">
            <a:alphaModFix/>
          </a:blip>
          <a:srcRect b="0" l="0" r="0" t="0"/>
          <a:stretch/>
        </p:blipFill>
        <p:spPr>
          <a:xfrm>
            <a:off x="6138367" y="1280160"/>
            <a:ext cx="5486400" cy="4124728"/>
          </a:xfrm>
          <a:prstGeom prst="rect">
            <a:avLst/>
          </a:prstGeom>
          <a:noFill/>
          <a:ln>
            <a:noFill/>
          </a:ln>
        </p:spPr>
      </p:pic>
      <p:sp>
        <p:nvSpPr>
          <p:cNvPr id="285" name="Google Shape;285;p17"/>
          <p:cNvSpPr txBox="1"/>
          <p:nvPr/>
        </p:nvSpPr>
        <p:spPr>
          <a:xfrm>
            <a:off x="6138367" y="5496328"/>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5(B–J). PER-stained cells and daily staining changes.</a:t>
            </a:r>
            <a:endParaRPr/>
          </a:p>
        </p:txBody>
      </p:sp>
      <p:sp>
        <p:nvSpPr>
          <p:cNvPr id="286" name="Google Shape;286;p17"/>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7" name="Google Shape;287;p1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Sauman et al. (2005)</a:t>
            </a:r>
            <a:endParaRPr/>
          </a:p>
        </p:txBody>
      </p:sp>
      <p:sp>
        <p:nvSpPr>
          <p:cNvPr id="288" name="Google Shape;288;p1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sp>
        <p:nvSpPr>
          <p:cNvPr id="294" name="Google Shape;294;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CRY1 links light exposure to clock-protein depletion</a:t>
            </a:r>
            <a:endParaRPr/>
          </a:p>
        </p:txBody>
      </p:sp>
      <p:sp>
        <p:nvSpPr>
          <p:cNvPr id="295" name="Google Shape;295;p1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Monarchs possess two cryptochromes, proteins associated with light sensing and circadian timing. </a:t>
            </a:r>
            <a:r>
              <a:rPr b="1" i="0" lang="en-US" sz="1400" u="none" cap="none" strike="noStrike">
                <a:solidFill>
                  <a:srgbClr val="52146E"/>
                </a:solidFill>
                <a:latin typeface="Arial"/>
                <a:ea typeface="Arial"/>
                <a:cs typeface="Arial"/>
                <a:sym typeface="Arial"/>
              </a:rPr>
              <a:t>CRY1</a:t>
            </a:r>
            <a:r>
              <a:rPr b="0" i="0" lang="en-US" sz="1400" u="none" cap="none" strike="noStrike">
                <a:solidFill>
                  <a:srgbClr val="000000"/>
                </a:solidFill>
                <a:latin typeface="Arial"/>
                <a:ea typeface="Arial"/>
                <a:cs typeface="Arial"/>
                <a:sym typeface="Arial"/>
              </a:rPr>
              <a:t> acts as a blue-light-responsive component. Zhu and colleagues used cultured monarch DpN1 cells to test how reducing CRY1 changes the response to illumination. Light exposure is the input that CRY1 responds to. Cultured cells allow that light response to be isolated.</a:t>
            </a:r>
            <a:endParaRPr/>
          </a:p>
          <a:p>
            <a:pPr indent="0" lvl="0" marL="0" marR="0" rtl="0" algn="l">
              <a:lnSpc>
                <a:spcPct val="108000"/>
              </a:lnSpc>
              <a:spcBef>
                <a:spcPts val="0"/>
              </a:spcBef>
              <a:spcAft>
                <a:spcPts val="1200"/>
              </a:spcAft>
              <a:buNone/>
            </a:pPr>
            <a:r>
              <a:rPr b="1" i="0" lang="en-US" sz="1400" u="none" cap="none" strike="noStrike">
                <a:solidFill>
                  <a:srgbClr val="52146E"/>
                </a:solidFill>
                <a:latin typeface="Arial"/>
                <a:ea typeface="Arial"/>
                <a:cs typeface="Arial"/>
                <a:sym typeface="Arial"/>
              </a:rPr>
              <a:t>RNA interference</a:t>
            </a:r>
            <a:r>
              <a:rPr b="0" i="0" lang="en-US" sz="1400" u="none" cap="none" strike="noStrike">
                <a:solidFill>
                  <a:srgbClr val="000000"/>
                </a:solidFill>
                <a:latin typeface="Arial"/>
                <a:ea typeface="Arial"/>
                <a:cs typeface="Arial"/>
                <a:sym typeface="Arial"/>
              </a:rPr>
              <a:t> reduces expression with complementary RNA. Relative to a control targeting green fluorescent protein, cry1 interference prevented the normal light-dependent decline of TIM, the TIMELESS clock protein. In controls, TIM decreased before PER and CRY2 during the light-exposure time course. The difference between the two treatments isolates the effect of reducing CRY1.</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These protein measurements support CRY1-dependent light input to clock regulation. Brain labeling places CRY1 alongside PER in candidate clock cells, which links the cell-culture result to the intact brain. CRY1 is a light-dependent step in clock regulation. Its role is to convey light information to the clock. The CRY1 response is tested in cells and brain alike.</a:t>
            </a:r>
            <a:endParaRPr/>
          </a:p>
        </p:txBody>
      </p:sp>
      <p:pic>
        <p:nvPicPr>
          <p:cNvPr descr="z08_f2.png" id="296" name="Google Shape;296;p18"/>
          <p:cNvPicPr preferRelativeResize="0"/>
          <p:nvPr/>
        </p:nvPicPr>
        <p:blipFill rotWithShape="1">
          <a:blip r:embed="rId3">
            <a:alphaModFix/>
          </a:blip>
          <a:srcRect b="0" l="0" r="0" t="0"/>
          <a:stretch/>
        </p:blipFill>
        <p:spPr>
          <a:xfrm>
            <a:off x="6138367" y="1280160"/>
            <a:ext cx="3383280" cy="4086086"/>
          </a:xfrm>
          <a:prstGeom prst="rect">
            <a:avLst/>
          </a:prstGeom>
          <a:noFill/>
          <a:ln>
            <a:noFill/>
          </a:ln>
        </p:spPr>
      </p:pic>
      <p:sp>
        <p:nvSpPr>
          <p:cNvPr id="297" name="Google Shape;297;p18"/>
          <p:cNvSpPr txBox="1"/>
          <p:nvPr/>
        </p:nvSpPr>
        <p:spPr>
          <a:xfrm>
            <a:off x="6138367" y="5457686"/>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2(A–D). Clock-protein levels after light and cry1 knockdown.</a:t>
            </a:r>
            <a:endParaRPr/>
          </a:p>
        </p:txBody>
      </p:sp>
      <p:pic>
        <p:nvPicPr>
          <p:cNvPr descr="s05_f6de.png" id="298" name="Google Shape;298;p18"/>
          <p:cNvPicPr preferRelativeResize="0"/>
          <p:nvPr/>
        </p:nvPicPr>
        <p:blipFill rotWithShape="1">
          <a:blip r:embed="rId4">
            <a:alphaModFix/>
          </a:blip>
          <a:srcRect b="0" l="0" r="0" t="0"/>
          <a:stretch/>
        </p:blipFill>
        <p:spPr>
          <a:xfrm>
            <a:off x="9704527" y="2148840"/>
            <a:ext cx="1920239" cy="535451"/>
          </a:xfrm>
          <a:prstGeom prst="rect">
            <a:avLst/>
          </a:prstGeom>
          <a:noFill/>
          <a:ln>
            <a:noFill/>
          </a:ln>
        </p:spPr>
      </p:pic>
      <p:sp>
        <p:nvSpPr>
          <p:cNvPr id="299" name="Google Shape;299;p18"/>
          <p:cNvSpPr txBox="1"/>
          <p:nvPr/>
        </p:nvSpPr>
        <p:spPr>
          <a:xfrm>
            <a:off x="9704527" y="2757443"/>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6(D–E). CRY1 and PER labeling in the same pars lateralis cell.</a:t>
            </a:r>
            <a:endParaRPr/>
          </a:p>
        </p:txBody>
      </p:sp>
      <p:sp>
        <p:nvSpPr>
          <p:cNvPr id="300" name="Google Shape;300;p18"/>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Zhu et al. (2008); Sauman et al. (2005)</a:t>
            </a:r>
            <a:endParaRPr/>
          </a:p>
        </p:txBody>
      </p:sp>
      <p:sp>
        <p:nvSpPr>
          <p:cNvPr id="302" name="Google Shape;302;p1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sp>
        <p:nvSpPr>
          <p:cNvPr id="308" name="Google Shape;308;p1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Brain TIMELESS responds to circadian phase and light</a:t>
            </a:r>
            <a:endParaRPr/>
          </a:p>
        </p:txBody>
      </p:sp>
      <p:sp>
        <p:nvSpPr>
          <p:cNvPr id="309" name="Google Shape;309;p1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Zhu and colleagues localized TIMELESS protein in monarch brain cells and measured its abundance across daily phases. In the pars lateralis, TIM labeling overlapped with </a:t>
            </a:r>
            <a:r>
              <a:rPr b="1" i="0" lang="en-US" sz="1400" u="none" cap="none" strike="noStrike">
                <a:solidFill>
                  <a:srgbClr val="52146E"/>
                </a:solidFill>
                <a:latin typeface="Arial"/>
                <a:ea typeface="Arial"/>
                <a:cs typeface="Arial"/>
                <a:sym typeface="Arial"/>
              </a:rPr>
              <a:t>corazonin</a:t>
            </a:r>
            <a:r>
              <a:rPr b="0" i="0" lang="en-US" sz="1400" u="none" cap="none" strike="noStrike">
                <a:solidFill>
                  <a:srgbClr val="000000"/>
                </a:solidFill>
                <a:latin typeface="Arial"/>
                <a:ea typeface="Arial"/>
                <a:cs typeface="Arial"/>
                <a:sym typeface="Arial"/>
              </a:rPr>
              <a:t>, a neuropeptide marker that identifies the same cell group. Labeling both markers in one cell group defines a candidate timing population. TIM abundance differs between ZT6 and ZT15.</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TIM staining was stronger near ZT15 than ZT6, and PL differences persisted in constant darkness. A 1-h light pulse at ZT15 reduced the PL signal below the level seen in unpulsed animals. These measurements connect molecular phase with acute sensitivity to illumination. The PL differences persisted in constant darkness, which means the rhythm continues without a light cue.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anatomical overlap identifies candidate timing cells, and the light pulse tests how their protein responds to illumination. Corazonin marks these same cells, while the target receptors of that peptide lie outside the staining experiment. The pulse experiment links the protein response to illumination in those cells. Corazonin labeling therefore marks a defined neuropeptide population.</a:t>
            </a:r>
            <a:endParaRPr/>
          </a:p>
        </p:txBody>
      </p:sp>
      <p:pic>
        <p:nvPicPr>
          <p:cNvPr descr="z08_f3bc.png" id="310" name="Google Shape;310;p19"/>
          <p:cNvPicPr preferRelativeResize="0"/>
          <p:nvPr/>
        </p:nvPicPr>
        <p:blipFill rotWithShape="1">
          <a:blip r:embed="rId3">
            <a:alphaModFix/>
          </a:blip>
          <a:srcRect b="0" l="0" r="0" t="0"/>
          <a:stretch/>
        </p:blipFill>
        <p:spPr>
          <a:xfrm>
            <a:off x="6138367" y="1280160"/>
            <a:ext cx="5486400" cy="1782501"/>
          </a:xfrm>
          <a:prstGeom prst="rect">
            <a:avLst/>
          </a:prstGeom>
          <a:noFill/>
          <a:ln>
            <a:noFill/>
          </a:ln>
        </p:spPr>
      </p:pic>
      <p:sp>
        <p:nvSpPr>
          <p:cNvPr id="311" name="Google Shape;311;p19"/>
          <p:cNvSpPr txBox="1"/>
          <p:nvPr/>
        </p:nvSpPr>
        <p:spPr>
          <a:xfrm>
            <a:off x="6138367" y="3154101"/>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3(B–C). TIM and corazonin labeling in pars lateralis cells.</a:t>
            </a:r>
            <a:endParaRPr/>
          </a:p>
        </p:txBody>
      </p:sp>
      <p:sp>
        <p:nvSpPr>
          <p:cNvPr id="312" name="Google Shape;312;p19"/>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1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Zhu et al. (2008)</a:t>
            </a:r>
            <a:endParaRPr/>
          </a:p>
        </p:txBody>
      </p:sp>
      <p:sp>
        <p:nvSpPr>
          <p:cNvPr id="314" name="Google Shape;314;p1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9" name="Shape 319"/>
        <p:cNvGrpSpPr/>
        <p:nvPr/>
      </p:nvGrpSpPr>
      <p:grpSpPr>
        <a:xfrm>
          <a:off x="0" y="0"/>
          <a:ext cx="0" cy="0"/>
          <a:chOff x="0" y="0"/>
          <a:chExt cx="0" cy="0"/>
        </a:xfrm>
      </p:grpSpPr>
      <p:sp>
        <p:nvSpPr>
          <p:cNvPr id="320" name="Google Shape;320;p2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CRY2 represses clock-controlled transcription</a:t>
            </a:r>
            <a:endParaRPr/>
          </a:p>
        </p:txBody>
      </p:sp>
      <p:sp>
        <p:nvSpPr>
          <p:cNvPr id="321" name="Google Shape;321;p2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CRY2 is the second monarch cryptochrome, and it plays a different tested role from CRY1. Zhu and colleagues introduced clock proteins into DpN1 cells and measured the activity of a per regulatory sequence coupled to a </a:t>
            </a:r>
            <a:r>
              <a:rPr b="1" i="0" lang="en-US" sz="1400" u="none" cap="none" strike="noStrike">
                <a:solidFill>
                  <a:srgbClr val="52146E"/>
                </a:solidFill>
                <a:latin typeface="Arial"/>
                <a:ea typeface="Arial"/>
                <a:cs typeface="Arial"/>
                <a:sym typeface="Arial"/>
              </a:rPr>
              <a:t>luciferase</a:t>
            </a:r>
            <a:r>
              <a:rPr b="0" i="0" lang="en-US" sz="1400" u="none" cap="none" strike="noStrike">
                <a:solidFill>
                  <a:srgbClr val="000000"/>
                </a:solidFill>
                <a:latin typeface="Arial"/>
                <a:ea typeface="Arial"/>
                <a:cs typeface="Arial"/>
                <a:sym typeface="Arial"/>
              </a:rPr>
              <a:t> reporter, a light-producing readout of transcription. The reporter is a light-producing readout that makes the transcription measurable.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transcription factors </a:t>
            </a:r>
            <a:r>
              <a:rPr b="1" i="0" lang="en-US" sz="1400" u="none" cap="none" strike="noStrike">
                <a:solidFill>
                  <a:srgbClr val="52146E"/>
                </a:solidFill>
                <a:latin typeface="Arial"/>
                <a:ea typeface="Arial"/>
                <a:cs typeface="Arial"/>
                <a:sym typeface="Arial"/>
              </a:rPr>
              <a:t>CLOCK</a:t>
            </a:r>
            <a:r>
              <a:rPr b="0" i="0" lang="en-US" sz="1400" u="none" cap="none" strike="noStrike">
                <a:solidFill>
                  <a:srgbClr val="000000"/>
                </a:solidFill>
                <a:latin typeface="Arial"/>
                <a:ea typeface="Arial"/>
                <a:cs typeface="Arial"/>
                <a:sym typeface="Arial"/>
              </a:rPr>
              <a:t> and </a:t>
            </a:r>
            <a:r>
              <a:rPr b="1" i="0" lang="en-US" sz="1400" u="none" cap="none" strike="noStrike">
                <a:solidFill>
                  <a:srgbClr val="52146E"/>
                </a:solidFill>
                <a:latin typeface="Arial"/>
                <a:ea typeface="Arial"/>
                <a:cs typeface="Arial"/>
                <a:sym typeface="Arial"/>
              </a:rPr>
              <a:t>CYCLE</a:t>
            </a:r>
            <a:r>
              <a:rPr b="0" i="0" lang="en-US" sz="1400" u="none" cap="none" strike="noStrike">
                <a:solidFill>
                  <a:srgbClr val="000000"/>
                </a:solidFill>
                <a:latin typeface="Arial"/>
                <a:ea typeface="Arial"/>
                <a:cs typeface="Arial"/>
                <a:sym typeface="Arial"/>
              </a:rPr>
              <a:t>, abbreviated CLK and CYC, activated the reporter. Adding CRY2 reduced this activity in a dose-dependent way, with 5, 15 and 50 ng of expression construct, while CRY1 provided no comparable repression. CLK and CYC together drive reporter activation. CRY2 then counteracts that activation. The effect of CRY2 depends on how much of it is added.</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CRY2 acts as a negative regulator of clock transcription in this assay. Brain staining localized CRY2 to corazonin-positive PL cells, which links the repressor to the same candidate clock population. The repressor and other clock proteins occupy the same candidate cells. PL cells are the candidate clock population in this study.</a:t>
            </a:r>
            <a:endParaRPr/>
          </a:p>
        </p:txBody>
      </p:sp>
      <p:pic>
        <p:nvPicPr>
          <p:cNvPr descr="z08_f5a.png" id="322" name="Google Shape;322;p20"/>
          <p:cNvPicPr preferRelativeResize="0"/>
          <p:nvPr/>
        </p:nvPicPr>
        <p:blipFill rotWithShape="1">
          <a:blip r:embed="rId3">
            <a:alphaModFix/>
          </a:blip>
          <a:srcRect b="0" l="0" r="0" t="0"/>
          <a:stretch/>
        </p:blipFill>
        <p:spPr>
          <a:xfrm>
            <a:off x="6138367" y="1280160"/>
            <a:ext cx="3383280" cy="3620300"/>
          </a:xfrm>
          <a:prstGeom prst="rect">
            <a:avLst/>
          </a:prstGeom>
          <a:noFill/>
          <a:ln>
            <a:noFill/>
          </a:ln>
        </p:spPr>
      </p:pic>
      <p:sp>
        <p:nvSpPr>
          <p:cNvPr id="323" name="Google Shape;323;p20"/>
          <p:cNvSpPr txBox="1"/>
          <p:nvPr/>
        </p:nvSpPr>
        <p:spPr>
          <a:xfrm>
            <a:off x="6138367" y="4991900"/>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5(A). Transcriptional reporter responses to clock proteins.</a:t>
            </a:r>
            <a:endParaRPr/>
          </a:p>
        </p:txBody>
      </p:sp>
      <p:pic>
        <p:nvPicPr>
          <p:cNvPr descr="z08_f6de.png" id="324" name="Google Shape;324;p20"/>
          <p:cNvPicPr preferRelativeResize="0"/>
          <p:nvPr/>
        </p:nvPicPr>
        <p:blipFill rotWithShape="1">
          <a:blip r:embed="rId4">
            <a:alphaModFix/>
          </a:blip>
          <a:srcRect b="0" l="0" r="0" t="0"/>
          <a:stretch/>
        </p:blipFill>
        <p:spPr>
          <a:xfrm>
            <a:off x="9704527" y="2148840"/>
            <a:ext cx="1920239" cy="762583"/>
          </a:xfrm>
          <a:prstGeom prst="rect">
            <a:avLst/>
          </a:prstGeom>
          <a:noFill/>
          <a:ln>
            <a:noFill/>
          </a:ln>
        </p:spPr>
      </p:pic>
      <p:sp>
        <p:nvSpPr>
          <p:cNvPr id="325" name="Google Shape;325;p20"/>
          <p:cNvSpPr txBox="1"/>
          <p:nvPr/>
        </p:nvSpPr>
        <p:spPr>
          <a:xfrm>
            <a:off x="9704527" y="2984575"/>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6(D–E). CRY2 and corazonin in pars lateralis cells.</a:t>
            </a:r>
            <a:endParaRPr/>
          </a:p>
        </p:txBody>
      </p:sp>
      <p:sp>
        <p:nvSpPr>
          <p:cNvPr id="326" name="Google Shape;326;p20"/>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7" name="Google Shape;327;p2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Zhu et al. (2008)</a:t>
            </a:r>
            <a:endParaRPr/>
          </a:p>
        </p:txBody>
      </p:sp>
      <p:sp>
        <p:nvSpPr>
          <p:cNvPr id="328" name="Google Shape;328;p2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 name="Shape 333"/>
        <p:cNvGrpSpPr/>
        <p:nvPr/>
      </p:nvGrpSpPr>
      <p:grpSpPr>
        <a:xfrm>
          <a:off x="0" y="0"/>
          <a:ext cx="0" cy="0"/>
          <a:chOff x="0" y="0"/>
          <a:chExt cx="0" cy="0"/>
        </a:xfrm>
      </p:grpSpPr>
      <p:sp>
        <p:nvSpPr>
          <p:cNvPr id="334" name="Google Shape;334;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Reducing CRY2 removes normal transcriptional repression</a:t>
            </a:r>
            <a:endParaRPr/>
          </a:p>
        </p:txBody>
      </p:sp>
      <p:sp>
        <p:nvSpPr>
          <p:cNvPr id="335" name="Google Shape;335;p2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loss-of-function test complements adding CRY2 to a transcriptional reporter. Zhu and colleagues reduced endogenous CRY2 in DpN1 cells with RNA interference and set the results against a control sequence. Protein measurements confirmed depletion of the targeted regulator. Each treatment was measured against the same reporter readout. Knockdown acted on endogenous CRY2 in these cells.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CRY2 reduction increased reporter activity approximately threefold. Across a 24-h light–dark cycle, per RNA stayed near peak values after cry2 interference, instead of following the rise and fall seen in the control. The repressor's loss raised transcription in these cells. Reduced CRY2 kept per RNA high at phases where controls fell.</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These findings support CRY2-mediated </a:t>
            </a:r>
            <a:r>
              <a:rPr b="1" i="0" lang="en-US" sz="1400" u="none" cap="none" strike="noStrike">
                <a:solidFill>
                  <a:srgbClr val="52146E"/>
                </a:solidFill>
                <a:latin typeface="Arial"/>
                <a:ea typeface="Arial"/>
                <a:cs typeface="Arial"/>
                <a:sym typeface="Arial"/>
              </a:rPr>
              <a:t>negative feedback</a:t>
            </a:r>
            <a:r>
              <a:rPr b="0" i="0" lang="en-US" sz="1400" u="none" cap="none" strike="noStrike">
                <a:solidFill>
                  <a:srgbClr val="000000"/>
                </a:solidFill>
                <a:latin typeface="Arial"/>
                <a:ea typeface="Arial"/>
                <a:cs typeface="Arial"/>
                <a:sym typeface="Arial"/>
              </a:rPr>
              <a:t>, in which clock-associated proteins restrain the transcription that contributes to their own production. In constant darkness, light-driven changes in these cells faded instead of persisting as autonomous rhythms. The feedback loop closes on itself within the cell. Each assay supports the same feedback model from a different direction.</a:t>
            </a:r>
            <a:endParaRPr/>
          </a:p>
        </p:txBody>
      </p:sp>
      <p:pic>
        <p:nvPicPr>
          <p:cNvPr descr="z08_f5b.png" id="336" name="Google Shape;336;p21"/>
          <p:cNvPicPr preferRelativeResize="0"/>
          <p:nvPr/>
        </p:nvPicPr>
        <p:blipFill rotWithShape="1">
          <a:blip r:embed="rId3">
            <a:alphaModFix/>
          </a:blip>
          <a:srcRect b="0" l="0" r="0" t="0"/>
          <a:stretch/>
        </p:blipFill>
        <p:spPr>
          <a:xfrm>
            <a:off x="7604353" y="1280160"/>
            <a:ext cx="2554427" cy="2560320"/>
          </a:xfrm>
          <a:prstGeom prst="rect">
            <a:avLst/>
          </a:prstGeom>
          <a:noFill/>
          <a:ln>
            <a:noFill/>
          </a:ln>
        </p:spPr>
      </p:pic>
      <p:sp>
        <p:nvSpPr>
          <p:cNvPr id="337" name="Google Shape;337;p21"/>
          <p:cNvSpPr txBox="1"/>
          <p:nvPr/>
        </p:nvSpPr>
        <p:spPr>
          <a:xfrm>
            <a:off x="6138367" y="393192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5(B). Protein knockdown and transcriptional reporter activity.</a:t>
            </a:r>
            <a:endParaRPr/>
          </a:p>
        </p:txBody>
      </p:sp>
      <p:pic>
        <p:nvPicPr>
          <p:cNvPr descr="z08_f5d.png" id="338" name="Google Shape;338;p21"/>
          <p:cNvPicPr preferRelativeResize="0"/>
          <p:nvPr/>
        </p:nvPicPr>
        <p:blipFill rotWithShape="1">
          <a:blip r:embed="rId4">
            <a:alphaModFix/>
          </a:blip>
          <a:srcRect b="0" l="0" r="0" t="0"/>
          <a:stretch/>
        </p:blipFill>
        <p:spPr>
          <a:xfrm>
            <a:off x="7973745" y="4389120"/>
            <a:ext cx="1815643" cy="1371599"/>
          </a:xfrm>
          <a:prstGeom prst="rect">
            <a:avLst/>
          </a:prstGeom>
          <a:noFill/>
          <a:ln>
            <a:noFill/>
          </a:ln>
        </p:spPr>
      </p:pic>
      <p:sp>
        <p:nvSpPr>
          <p:cNvPr id="339" name="Google Shape;339;p21"/>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5(D). per RNA after cry2 knockdown across a light–dark cycle.</a:t>
            </a:r>
            <a:endParaRPr/>
          </a:p>
        </p:txBody>
      </p:sp>
      <p:sp>
        <p:nvSpPr>
          <p:cNvPr id="340" name="Google Shape;340;p21"/>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1" name="Google Shape;341;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Zhu et al. (2008)</a:t>
            </a:r>
            <a:endParaRPr/>
          </a:p>
        </p:txBody>
      </p:sp>
      <p:sp>
        <p:nvSpPr>
          <p:cNvPr id="342" name="Google Shape;342;p2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7" name="Shape 347"/>
        <p:cNvGrpSpPr/>
        <p:nvPr/>
      </p:nvGrpSpPr>
      <p:grpSpPr>
        <a:xfrm>
          <a:off x="0" y="0"/>
          <a:ext cx="0" cy="0"/>
          <a:chOff x="0" y="0"/>
          <a:chExt cx="0" cy="0"/>
        </a:xfrm>
      </p:grpSpPr>
      <p:sp>
        <p:nvSpPr>
          <p:cNvPr id="348" name="Google Shape;348;p2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Clock proteins form complexes that support CRY2 stability</a:t>
            </a:r>
            <a:endParaRPr/>
          </a:p>
        </p:txBody>
      </p:sp>
      <p:sp>
        <p:nvSpPr>
          <p:cNvPr id="349" name="Google Shape;349;p2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Clock regulation depends on protein interactions as well as transcription. Zhu and colleagues used </a:t>
            </a:r>
            <a:r>
              <a:rPr b="1" i="0" lang="en-US" sz="1400" u="none" cap="none" strike="noStrike">
                <a:solidFill>
                  <a:srgbClr val="52146E"/>
                </a:solidFill>
                <a:latin typeface="Arial"/>
                <a:ea typeface="Arial"/>
                <a:cs typeface="Arial"/>
                <a:sym typeface="Arial"/>
              </a:rPr>
              <a:t>co-immunoprecipitation</a:t>
            </a:r>
            <a:r>
              <a:rPr b="0" i="0" lang="en-US" sz="1400" u="none" cap="none" strike="noStrike">
                <a:solidFill>
                  <a:srgbClr val="000000"/>
                </a:solidFill>
                <a:latin typeface="Arial"/>
                <a:ea typeface="Arial"/>
                <a:cs typeface="Arial"/>
                <a:sym typeface="Arial"/>
              </a:rPr>
              <a:t>, an antibody capture of one protein together with its associated molecules, to examine PER, TIM and CRY2 in monarch brain extracts and cultured cells. The method reveals which clock proteins are present together in one complex.</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captured material contained combinations of PER, TIM and CRY2. Reducing PER also reduced CRY2 protein without a corresponding drop in cry2 RNA, which supports regulation after transcription. TIM interference produced a smaller reduction of PER and CRY2. PER depletion shows that a protein partner supports CRY2 levels. TIM contributes a smaller share of that support.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findings are consistent with PER and TIM helping stabilize CRY2-containing complexes. Co-capture identifies molecules that associate in a complex, which constrains a molecular feedback mechanism in this model. Regulation after transcription therefore sets CRY2 protein level. Stabilized CRY2 complexes persist longer in the cell. Stabilizing CRY2 complexes is one proposed route to that control.</a:t>
            </a:r>
            <a:endParaRPr/>
          </a:p>
        </p:txBody>
      </p:sp>
      <p:pic>
        <p:nvPicPr>
          <p:cNvPr descr="z08_f5c.png" id="350" name="Google Shape;350;p22"/>
          <p:cNvPicPr preferRelativeResize="0"/>
          <p:nvPr/>
        </p:nvPicPr>
        <p:blipFill rotWithShape="1">
          <a:blip r:embed="rId3">
            <a:alphaModFix/>
          </a:blip>
          <a:srcRect b="0" l="0" r="0" t="0"/>
          <a:stretch/>
        </p:blipFill>
        <p:spPr>
          <a:xfrm>
            <a:off x="6138367" y="1280160"/>
            <a:ext cx="3383280" cy="3338169"/>
          </a:xfrm>
          <a:prstGeom prst="rect">
            <a:avLst/>
          </a:prstGeom>
          <a:noFill/>
          <a:ln>
            <a:noFill/>
          </a:ln>
        </p:spPr>
      </p:pic>
      <p:sp>
        <p:nvSpPr>
          <p:cNvPr id="351" name="Google Shape;351;p22"/>
          <p:cNvSpPr txBox="1"/>
          <p:nvPr/>
        </p:nvSpPr>
        <p:spPr>
          <a:xfrm>
            <a:off x="6138367" y="470976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5(C). Clock-protein co-immunoprecipitation from brain and cells.</a:t>
            </a:r>
            <a:endParaRPr/>
          </a:p>
        </p:txBody>
      </p:sp>
      <p:pic>
        <p:nvPicPr>
          <p:cNvPr descr="z08_f6de.png" id="352" name="Google Shape;352;p22"/>
          <p:cNvPicPr preferRelativeResize="0"/>
          <p:nvPr/>
        </p:nvPicPr>
        <p:blipFill rotWithShape="1">
          <a:blip r:embed="rId4">
            <a:alphaModFix/>
          </a:blip>
          <a:srcRect b="0" l="0" r="0" t="0"/>
          <a:stretch/>
        </p:blipFill>
        <p:spPr>
          <a:xfrm>
            <a:off x="9704527" y="2148840"/>
            <a:ext cx="1920239" cy="762583"/>
          </a:xfrm>
          <a:prstGeom prst="rect">
            <a:avLst/>
          </a:prstGeom>
          <a:noFill/>
          <a:ln>
            <a:noFill/>
          </a:ln>
        </p:spPr>
      </p:pic>
      <p:sp>
        <p:nvSpPr>
          <p:cNvPr id="353" name="Google Shape;353;p22"/>
          <p:cNvSpPr txBox="1"/>
          <p:nvPr/>
        </p:nvSpPr>
        <p:spPr>
          <a:xfrm>
            <a:off x="9704527" y="2984575"/>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6(D–E). CRY2 and corazonin in pars lateralis cells.</a:t>
            </a:r>
            <a:endParaRPr/>
          </a:p>
        </p:txBody>
      </p:sp>
      <p:sp>
        <p:nvSpPr>
          <p:cNvPr id="354" name="Google Shape;354;p22"/>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2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Zhu et al. (2008)</a:t>
            </a:r>
            <a:endParaRPr/>
          </a:p>
        </p:txBody>
      </p:sp>
      <p:sp>
        <p:nvSpPr>
          <p:cNvPr id="356" name="Google Shape;356;p2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p2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Nuclear CRY2 varies with clock phase</a:t>
            </a:r>
            <a:endParaRPr/>
          </a:p>
        </p:txBody>
      </p:sp>
      <p:sp>
        <p:nvSpPr>
          <p:cNvPr id="363" name="Google Shape;363;p2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nucleus holds the DNA used for transcription, so a repressor's location affects its access to clock regulation. Zhu and colleagues measured nuclear CRY2 labeling alongside per RNA across circadian phase. Location is therefore part of how the repressor works. Nuclear labeling reports where CRY2 sits within the cell. Its nuclear position therefore carries regulatory information.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In pars lateralis clock cells, nuclear CRY2 concentrated around ZT2–4 and near circadian time 3 in constant darkness. </a:t>
            </a:r>
            <a:r>
              <a:rPr b="1" i="0" lang="en-US" sz="1400" u="none" cap="none" strike="noStrike">
                <a:solidFill>
                  <a:srgbClr val="52146E"/>
                </a:solidFill>
                <a:latin typeface="Arial"/>
                <a:ea typeface="Arial"/>
                <a:cs typeface="Arial"/>
                <a:sym typeface="Arial"/>
              </a:rPr>
              <a:t>Circadian time</a:t>
            </a:r>
            <a:r>
              <a:rPr b="0" i="0" lang="en-US" sz="1400" u="none" cap="none" strike="noStrike">
                <a:solidFill>
                  <a:srgbClr val="000000"/>
                </a:solidFill>
                <a:latin typeface="Arial"/>
                <a:ea typeface="Arial"/>
                <a:cs typeface="Arial"/>
                <a:sym typeface="Arial"/>
              </a:rPr>
              <a:t>, or CT, refers to internal phase under free-running conditions. The nuclear signal changed with phase rather than staying high throughout the day. Each measured phase gives a snapshot of the nuclear pattern.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relationship supports timed nuclear repression within the molecular feedback cycle. Labeling and RNA measurements reveal when the nuclear signal peaks, which is a molecular timing result rather than a description of transport steps. Those snapshots together define the daily nuclear rhythm. The phase pattern itself is the main measurement reported.</a:t>
            </a:r>
            <a:endParaRPr/>
          </a:p>
        </p:txBody>
      </p:sp>
      <p:pic>
        <p:nvPicPr>
          <p:cNvPr descr="z08_f6gh.png" id="364" name="Google Shape;364;p23"/>
          <p:cNvPicPr preferRelativeResize="0"/>
          <p:nvPr/>
        </p:nvPicPr>
        <p:blipFill rotWithShape="1">
          <a:blip r:embed="rId3">
            <a:alphaModFix/>
          </a:blip>
          <a:srcRect b="0" l="0" r="0" t="0"/>
          <a:stretch/>
        </p:blipFill>
        <p:spPr>
          <a:xfrm>
            <a:off x="7929873" y="1280160"/>
            <a:ext cx="1903387" cy="4297679"/>
          </a:xfrm>
          <a:prstGeom prst="rect">
            <a:avLst/>
          </a:prstGeom>
          <a:noFill/>
          <a:ln>
            <a:noFill/>
          </a:ln>
        </p:spPr>
      </p:pic>
      <p:sp>
        <p:nvSpPr>
          <p:cNvPr id="365" name="Google Shape;365;p23"/>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6(G–H). Nuclear CRY2 and per RNA across circadian phase.</a:t>
            </a:r>
            <a:endParaRPr/>
          </a:p>
        </p:txBody>
      </p:sp>
      <p:sp>
        <p:nvSpPr>
          <p:cNvPr id="366" name="Google Shape;366;p23"/>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2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Zhu et al. (2008)</a:t>
            </a:r>
            <a:endParaRPr/>
          </a:p>
        </p:txBody>
      </p:sp>
      <p:sp>
        <p:nvSpPr>
          <p:cNvPr id="368" name="Google Shape;368;p2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Rhythmic CRY2 occurs in central-body fibers</a:t>
            </a:r>
            <a:endParaRPr/>
          </a:p>
        </p:txBody>
      </p:sp>
      <p:sp>
        <p:nvSpPr>
          <p:cNvPr id="375" name="Google Shape;375;p2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a:t>
            </a:r>
            <a:r>
              <a:rPr b="1" i="0" lang="en-US" sz="1400" u="none" cap="none" strike="noStrike">
                <a:solidFill>
                  <a:srgbClr val="52146E"/>
                </a:solidFill>
                <a:latin typeface="Arial"/>
                <a:ea typeface="Arial"/>
                <a:cs typeface="Arial"/>
                <a:sym typeface="Arial"/>
              </a:rPr>
              <a:t>central body</a:t>
            </a:r>
            <a:r>
              <a:rPr b="0" i="0" lang="en-US" sz="1400" u="none" cap="none" strike="noStrike">
                <a:solidFill>
                  <a:srgbClr val="000000"/>
                </a:solidFill>
                <a:latin typeface="Arial"/>
                <a:ea typeface="Arial"/>
                <a:cs typeface="Arial"/>
                <a:sym typeface="Arial"/>
              </a:rPr>
              <a:t> is a component of the insect central complex, a group of brain neuropils associated with orientation. A </a:t>
            </a:r>
            <a:r>
              <a:rPr b="1" i="0" lang="en-US" sz="1400" u="none" cap="none" strike="noStrike">
                <a:solidFill>
                  <a:srgbClr val="52146E"/>
                </a:solidFill>
                <a:latin typeface="Arial"/>
                <a:ea typeface="Arial"/>
                <a:cs typeface="Arial"/>
                <a:sym typeface="Arial"/>
              </a:rPr>
              <a:t>neuropil</a:t>
            </a:r>
            <a:r>
              <a:rPr b="0" i="0" lang="en-US" sz="1400" u="none" cap="none" strike="noStrike">
                <a:solidFill>
                  <a:srgbClr val="000000"/>
                </a:solidFill>
                <a:latin typeface="Arial"/>
                <a:ea typeface="Arial"/>
                <a:cs typeface="Arial"/>
                <a:sym typeface="Arial"/>
              </a:rPr>
              <a:t> is a region rich in neuronal processes and synaptic connections, rather than mainly cell bodies. The central complex is associated with orientation, which makes this region relevant to compass processing.</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Zhu and colleagues detected CRY2-containing fibers in the central body. Staining intensity varied in constant darkness, with a maximum near CT15 and a minimum near CT9. Synapsin labeling by Heinze and Reppert identifies the central-complex anatomy in which these fibers sit. Synapsin labeling marks the dense neuropil regions in this area.</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Rhythmic protein labeling in an orientation-associated region supports a possible connection between clock state and compass processing. Establishing that connection requires identifying the connected cells and manipulating their signal while measuring compass output. Its neuropil structure supplies the connections such a link would need. A link from clock state to compass processing would be a new pathway.</a:t>
            </a:r>
            <a:endParaRPr/>
          </a:p>
        </p:txBody>
      </p:sp>
      <p:pic>
        <p:nvPicPr>
          <p:cNvPr descr="z08_f7ijk.png" id="376" name="Google Shape;376;p24"/>
          <p:cNvPicPr preferRelativeResize="0"/>
          <p:nvPr/>
        </p:nvPicPr>
        <p:blipFill rotWithShape="1">
          <a:blip r:embed="rId3">
            <a:alphaModFix/>
          </a:blip>
          <a:srcRect b="0" l="0" r="0" t="0"/>
          <a:stretch/>
        </p:blipFill>
        <p:spPr>
          <a:xfrm>
            <a:off x="7137101" y="1280160"/>
            <a:ext cx="1385811" cy="4297679"/>
          </a:xfrm>
          <a:prstGeom prst="rect">
            <a:avLst/>
          </a:prstGeom>
          <a:noFill/>
          <a:ln>
            <a:noFill/>
          </a:ln>
        </p:spPr>
      </p:pic>
      <p:sp>
        <p:nvSpPr>
          <p:cNvPr id="377" name="Google Shape;377;p24"/>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7(I–K). Central-body CRY2 staining varies in constant darkness.</a:t>
            </a:r>
            <a:endParaRPr/>
          </a:p>
        </p:txBody>
      </p:sp>
      <p:pic>
        <p:nvPicPr>
          <p:cNvPr descr="h11_f2.png" id="378" name="Google Shape;378;p24"/>
          <p:cNvPicPr preferRelativeResize="0"/>
          <p:nvPr/>
        </p:nvPicPr>
        <p:blipFill rotWithShape="1">
          <a:blip r:embed="rId4">
            <a:alphaModFix/>
          </a:blip>
          <a:srcRect b="0" l="0" r="0" t="0"/>
          <a:stretch/>
        </p:blipFill>
        <p:spPr>
          <a:xfrm>
            <a:off x="9704527" y="2148840"/>
            <a:ext cx="1920239" cy="1632272"/>
          </a:xfrm>
          <a:prstGeom prst="rect">
            <a:avLst/>
          </a:prstGeom>
          <a:noFill/>
          <a:ln>
            <a:noFill/>
          </a:ln>
        </p:spPr>
      </p:pic>
      <p:sp>
        <p:nvSpPr>
          <p:cNvPr id="379" name="Google Shape;379;p24"/>
          <p:cNvSpPr txBox="1"/>
          <p:nvPr/>
        </p:nvSpPr>
        <p:spPr>
          <a:xfrm>
            <a:off x="9704527" y="3854264"/>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2(A–J). Synapsin-labeled central-complex and associated neuropils.</a:t>
            </a:r>
            <a:endParaRPr/>
          </a:p>
        </p:txBody>
      </p:sp>
      <p:sp>
        <p:nvSpPr>
          <p:cNvPr id="380" name="Google Shape;380;p24"/>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Zhu et al. (2008); Heinze &amp; Reppert (2011)</a:t>
            </a:r>
            <a:endParaRPr/>
          </a:p>
        </p:txBody>
      </p:sp>
      <p:sp>
        <p:nvSpPr>
          <p:cNvPr id="382" name="Google Shape;382;p2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7" name="Shape 387"/>
        <p:cNvGrpSpPr/>
        <p:nvPr/>
      </p:nvGrpSpPr>
      <p:grpSpPr>
        <a:xfrm>
          <a:off x="0" y="0"/>
          <a:ext cx="0" cy="0"/>
          <a:chOff x="0" y="0"/>
          <a:chExt cx="0" cy="0"/>
        </a:xfrm>
      </p:grpSpPr>
      <p:sp>
        <p:nvSpPr>
          <p:cNvPr id="388" name="Google Shape;388;p2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Removing antennae disrupts the group compass bearing</a:t>
            </a:r>
            <a:endParaRPr/>
          </a:p>
        </p:txBody>
      </p:sp>
      <p:sp>
        <p:nvSpPr>
          <p:cNvPr id="389" name="Google Shape;389;p2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a:t>
            </a:r>
            <a:r>
              <a:rPr b="1" i="0" lang="en-US" sz="1400" u="none" cap="none" strike="noStrike">
                <a:solidFill>
                  <a:srgbClr val="52146E"/>
                </a:solidFill>
                <a:latin typeface="Arial"/>
                <a:ea typeface="Arial"/>
                <a:cs typeface="Arial"/>
                <a:sym typeface="Arial"/>
              </a:rPr>
              <a:t>antennae</a:t>
            </a:r>
            <a:r>
              <a:rPr b="0" i="0" lang="en-US" sz="1400" u="none" cap="none" strike="noStrike">
                <a:solidFill>
                  <a:srgbClr val="000000"/>
                </a:solidFill>
                <a:latin typeface="Arial"/>
                <a:ea typeface="Arial"/>
                <a:cs typeface="Arial"/>
                <a:sym typeface="Arial"/>
              </a:rPr>
              <a:t> are paired head appendages that contain sensory tissue and molecular clocks. Merlin and colleagues removed the antennal flagella, the long distal portions, and measured migratory orientation in those animals alongside intact butterflies. The removed portions were the long distal parts of the flagella. Several functions of the antenna depend on these flagella.</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Intact animals oriented near 211° on the normal light schedule and near 355° after a 6-h delay. Antenna-less butterflies sustained individual headings, but their directions no longer formed the normal common migratory bearing across animals. The shared bearing was lost while individual flight persisted. The deficit thus lies in the shared bearing rather than in flight.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results identify an antennal contribution to time-compensated orientation, with flight and individual direction holding left intact. Removal affects several antennal functions, and paint and isolated-tissue experiments test the timing explanation more selectively. Antennae carry the molecular clock that the later tissue experiments examine. Paint and tissue experiments follow up on this removal result.</a:t>
            </a:r>
            <a:endParaRPr/>
          </a:p>
        </p:txBody>
      </p:sp>
      <p:pic>
        <p:nvPicPr>
          <p:cNvPr descr="m09_f1ab.png" id="390" name="Google Shape;390;p25"/>
          <p:cNvPicPr preferRelativeResize="0"/>
          <p:nvPr/>
        </p:nvPicPr>
        <p:blipFill rotWithShape="1">
          <a:blip r:embed="rId3">
            <a:alphaModFix/>
          </a:blip>
          <a:srcRect b="0" l="0" r="0" t="0"/>
          <a:stretch/>
        </p:blipFill>
        <p:spPr>
          <a:xfrm>
            <a:off x="6138367" y="1280160"/>
            <a:ext cx="3383279" cy="3554070"/>
          </a:xfrm>
          <a:prstGeom prst="rect">
            <a:avLst/>
          </a:prstGeom>
          <a:noFill/>
          <a:ln>
            <a:noFill/>
          </a:ln>
        </p:spPr>
      </p:pic>
      <p:sp>
        <p:nvSpPr>
          <p:cNvPr id="391" name="Google Shape;391;p25"/>
          <p:cNvSpPr txBox="1"/>
          <p:nvPr/>
        </p:nvSpPr>
        <p:spPr>
          <a:xfrm>
            <a:off x="6138367" y="4925670"/>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Merlin et al. (2009), Fig. 1(A–B). Intact and antenna-less headings on two light cycles.</a:t>
            </a:r>
            <a:endParaRPr/>
          </a:p>
        </p:txBody>
      </p:sp>
      <p:pic>
        <p:nvPicPr>
          <p:cNvPr descr="monarch_fws.jpg" id="392" name="Google Shape;392;p25"/>
          <p:cNvPicPr preferRelativeResize="0"/>
          <p:nvPr/>
        </p:nvPicPr>
        <p:blipFill rotWithShape="1">
          <a:blip r:embed="rId4">
            <a:alphaModFix/>
          </a:blip>
          <a:srcRect b="0" l="0" r="0" t="0"/>
          <a:stretch/>
        </p:blipFill>
        <p:spPr>
          <a:xfrm>
            <a:off x="9704527" y="2148840"/>
            <a:ext cx="1920239" cy="1280159"/>
          </a:xfrm>
          <a:prstGeom prst="rect">
            <a:avLst/>
          </a:prstGeom>
          <a:noFill/>
          <a:ln>
            <a:noFill/>
          </a:ln>
        </p:spPr>
      </p:pic>
      <p:sp>
        <p:nvSpPr>
          <p:cNvPr id="394" name="Google Shape;394;p25"/>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5" name="Google Shape;395;p2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Merlin et al. (2009)</a:t>
            </a:r>
            <a:endParaRPr/>
          </a:p>
        </p:txBody>
      </p:sp>
      <p:sp>
        <p:nvSpPr>
          <p:cNvPr id="396" name="Google Shape;396;p2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1" name="Shape 401"/>
        <p:cNvGrpSpPr/>
        <p:nvPr/>
      </p:nvGrpSpPr>
      <p:grpSpPr>
        <a:xfrm>
          <a:off x="0" y="0"/>
          <a:ext cx="0" cy="0"/>
          <a:chOff x="0" y="0"/>
          <a:chExt cx="0" cy="0"/>
        </a:xfrm>
      </p:grpSpPr>
      <p:sp>
        <p:nvSpPr>
          <p:cNvPr id="402" name="Google Shape;402;p2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Antenna-less butterflies remain capable of free flight</a:t>
            </a:r>
            <a:endParaRPr/>
          </a:p>
        </p:txBody>
      </p:sp>
      <p:sp>
        <p:nvSpPr>
          <p:cNvPr id="403" name="Google Shape;403;p2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An orientation deficit calls for a motor-control check when the manipulated organ could influence flight. Merlin and colleagues released intact and antenna-less monarchs outdoors and checked whether each group could keep normal upward flight. Upward flight was checked outdoors, where the animals were free to fly. Release outdoors tests free flight rather than tethered flight.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Most butterflies in both conditions flew normally after release. In simulator trials, antenna-less individuals also retained directional flight within a recording, even though they lost the consistent group bearing expected from the entraining light cycle. Flight ability therefore matched between the intact and antenna-less groups. The result discards a general flight deficit as the cause.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combined observations reduce an explanation based on a general inability to fly. The lost group bearing points to an antennal signal that supports the shared migratory direction, while overall flight ability stays intact. Sustained individual headings are a separate measure from the group mean. Each animal's heading is tracked across the recording.</a:t>
            </a:r>
            <a:endParaRPr/>
          </a:p>
        </p:txBody>
      </p:sp>
      <p:pic>
        <p:nvPicPr>
          <p:cNvPr descr="m09_f1c.png" id="404" name="Google Shape;404;p26"/>
          <p:cNvPicPr preferRelativeResize="0"/>
          <p:nvPr/>
        </p:nvPicPr>
        <p:blipFill rotWithShape="1">
          <a:blip r:embed="rId3">
            <a:alphaModFix/>
          </a:blip>
          <a:srcRect b="0" l="0" r="0" t="0"/>
          <a:stretch/>
        </p:blipFill>
        <p:spPr>
          <a:xfrm>
            <a:off x="6138367" y="1280160"/>
            <a:ext cx="5486400" cy="2472468"/>
          </a:xfrm>
          <a:prstGeom prst="rect">
            <a:avLst/>
          </a:prstGeom>
          <a:noFill/>
          <a:ln>
            <a:noFill/>
          </a:ln>
        </p:spPr>
      </p:pic>
      <p:sp>
        <p:nvSpPr>
          <p:cNvPr id="405" name="Google Shape;405;p26"/>
          <p:cNvSpPr txBox="1"/>
          <p:nvPr/>
        </p:nvSpPr>
        <p:spPr>
          <a:xfrm>
            <a:off x="6138367" y="3844068"/>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Merlin et al. (2009), Fig. 1(C). Released intact and antenna-less butterflies maintain flight.</a:t>
            </a:r>
            <a:endParaRPr/>
          </a:p>
        </p:txBody>
      </p:sp>
      <p:pic>
        <p:nvPicPr>
          <p:cNvPr descr="monarch_fws.jpg" id="406" name="Google Shape;406;p26"/>
          <p:cNvPicPr preferRelativeResize="0"/>
          <p:nvPr/>
        </p:nvPicPr>
        <p:blipFill rotWithShape="1">
          <a:blip r:embed="rId4">
            <a:alphaModFix/>
          </a:blip>
          <a:srcRect b="0" l="0" r="0" t="0"/>
          <a:stretch/>
        </p:blipFill>
        <p:spPr>
          <a:xfrm>
            <a:off x="7852867" y="4389120"/>
            <a:ext cx="2057399" cy="1371599"/>
          </a:xfrm>
          <a:prstGeom prst="rect">
            <a:avLst/>
          </a:prstGeom>
          <a:noFill/>
          <a:ln>
            <a:noFill/>
          </a:ln>
        </p:spPr>
      </p:pic>
      <p:sp>
        <p:nvSpPr>
          <p:cNvPr id="408" name="Google Shape;408;p26"/>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9" name="Google Shape;409;p2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Merlin et al. (2009)</a:t>
            </a:r>
            <a:endParaRPr/>
          </a:p>
        </p:txBody>
      </p:sp>
      <p:sp>
        <p:nvSpPr>
          <p:cNvPr id="410" name="Google Shape;410;p2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 name="Shape 415"/>
        <p:cNvGrpSpPr/>
        <p:nvPr/>
      </p:nvGrpSpPr>
      <p:grpSpPr>
        <a:xfrm>
          <a:off x="0" y="0"/>
          <a:ext cx="0" cy="0"/>
          <a:chOff x="0" y="0"/>
          <a:chExt cx="0" cy="0"/>
        </a:xfrm>
      </p:grpSpPr>
      <p:sp>
        <p:nvSpPr>
          <p:cNvPr id="416" name="Google Shape;416;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Antennal clock-gene RNA remains rhythmic in darkness</a:t>
            </a:r>
            <a:endParaRPr/>
          </a:p>
        </p:txBody>
      </p:sp>
      <p:sp>
        <p:nvSpPr>
          <p:cNvPr id="417" name="Google Shape;417;p2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Merlin and colleagues measured clock-associated RNA in isolated samples of monarch antennae. </a:t>
            </a:r>
            <a:r>
              <a:rPr b="1" i="0" lang="en-US" sz="1400" u="none" cap="none" strike="noStrike">
                <a:solidFill>
                  <a:srgbClr val="52146E"/>
                </a:solidFill>
                <a:latin typeface="Arial"/>
                <a:ea typeface="Arial"/>
                <a:cs typeface="Arial"/>
                <a:sym typeface="Arial"/>
              </a:rPr>
              <a:t>Quantitative PCR</a:t>
            </a:r>
            <a:r>
              <a:rPr b="0" i="0" lang="en-US" sz="1400" u="none" cap="none" strike="noStrike">
                <a:solidFill>
                  <a:srgbClr val="000000"/>
                </a:solidFill>
                <a:latin typeface="Arial"/>
                <a:ea typeface="Arial"/>
                <a:cs typeface="Arial"/>
                <a:sym typeface="Arial"/>
              </a:rPr>
              <a:t> estimates the abundance of selected RNA sequences after conversion to DNA, which allows the same transcripts to be followed across time points. Quantification relies on converting RNA to DNA first. Each time point then yields a value for the same transcripts.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Antennal per, tim and cry2 RNA varied across a light–dark cycle and stayed rhythmic after transfer to constant darkness. Their levels were lower near ZT6 than near ZT18 in the cycling condition, while cry1 RNA lacked the same phase difference. Cry1 RNA showed a flatter profile, so its phase difference was absent.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These measurements place a circadian molecular program in the appendages needed for normal orientation. Tissue-level rhythms identify a molecular program in the antennae, while the oscillating cells and their route to the compass are left to later experiments. Antennae contain the transcripts that express this rhythm. The rhythmic appendage tissue is a source of molecular timing.</a:t>
            </a:r>
            <a:endParaRPr/>
          </a:p>
        </p:txBody>
      </p:sp>
      <p:pic>
        <p:nvPicPr>
          <p:cNvPr descr="m09_f2ab.png" id="418" name="Google Shape;418;p27"/>
          <p:cNvPicPr preferRelativeResize="0"/>
          <p:nvPr/>
        </p:nvPicPr>
        <p:blipFill rotWithShape="1">
          <a:blip r:embed="rId3">
            <a:alphaModFix/>
          </a:blip>
          <a:srcRect b="0" l="0" r="0" t="0"/>
          <a:stretch/>
        </p:blipFill>
        <p:spPr>
          <a:xfrm>
            <a:off x="7095860" y="1280160"/>
            <a:ext cx="1468292" cy="4297679"/>
          </a:xfrm>
          <a:prstGeom prst="rect">
            <a:avLst/>
          </a:prstGeom>
          <a:noFill/>
          <a:ln>
            <a:noFill/>
          </a:ln>
        </p:spPr>
      </p:pic>
      <p:sp>
        <p:nvSpPr>
          <p:cNvPr id="419" name="Google Shape;419;p27"/>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Merlin et al. (2009), Fig. 2(A–B). Antennal clock RNA in light–dark and constant darkness.</a:t>
            </a:r>
            <a:endParaRPr/>
          </a:p>
        </p:txBody>
      </p:sp>
      <p:pic>
        <p:nvPicPr>
          <p:cNvPr descr="monarch_fws.jpg" id="420" name="Google Shape;420;p27"/>
          <p:cNvPicPr preferRelativeResize="0"/>
          <p:nvPr/>
        </p:nvPicPr>
        <p:blipFill rotWithShape="1">
          <a:blip r:embed="rId4">
            <a:alphaModFix/>
          </a:blip>
          <a:srcRect b="0" l="0" r="0" t="0"/>
          <a:stretch/>
        </p:blipFill>
        <p:spPr>
          <a:xfrm>
            <a:off x="9704527" y="2148840"/>
            <a:ext cx="1920239" cy="1280159"/>
          </a:xfrm>
          <a:prstGeom prst="rect">
            <a:avLst/>
          </a:prstGeom>
          <a:noFill/>
          <a:ln>
            <a:noFill/>
          </a:ln>
        </p:spPr>
      </p:pic>
      <p:sp>
        <p:nvSpPr>
          <p:cNvPr id="422" name="Google Shape;422;p27"/>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Merlin et al. (2009)</a:t>
            </a:r>
            <a:endParaRPr/>
          </a:p>
        </p:txBody>
      </p:sp>
      <p:sp>
        <p:nvSpPr>
          <p:cNvPr id="424" name="Google Shape;424;p2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9" name="Shape 429"/>
        <p:cNvGrpSpPr/>
        <p:nvPr/>
      </p:nvGrpSpPr>
      <p:grpSpPr>
        <a:xfrm>
          <a:off x="0" y="0"/>
          <a:ext cx="0" cy="0"/>
          <a:chOff x="0" y="0"/>
          <a:chExt cx="0" cy="0"/>
        </a:xfrm>
      </p:grpSpPr>
      <p:sp>
        <p:nvSpPr>
          <p:cNvPr id="430" name="Google Shape;430;p2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Isolated antennae retain a locally entrainable rhythm</a:t>
            </a:r>
            <a:endParaRPr/>
          </a:p>
        </p:txBody>
      </p:sp>
      <p:sp>
        <p:nvSpPr>
          <p:cNvPr id="431" name="Google Shape;431;p2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clock measured in the antennae could still depend continuously on another tissue. Merlin and colleagues cultured separated antennae and exposed different explants, isolated tissue maintained outside the animal, to oppositely phased light–dark schedules. Each explant was entrained by its own schedule. The two cultures therefore carried opposite light phases.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TIM protein was lower near ZT6 and higher near ZT18, relative to each explant's own light schedule. The rhythm continued with reduced amplitude through the first day of constant darkness after entrainment, with no intact nervous-system connection left in the culture. The TIM rhythm persisted after entrainment. Its amplitude shrank over the first day of darkness.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result supports autonomous, light-entrainable timing within antennal tissue over the measured interval. Central input was absent from the culture, so the rhythm reflects local molecular timing rather than a rhythm imposed by the rest of the animal. Autonomous timing in culture means the tissue sustains its rhythm alone. Light cues entrain the explants individually.</a:t>
            </a:r>
            <a:endParaRPr/>
          </a:p>
        </p:txBody>
      </p:sp>
      <p:pic>
        <p:nvPicPr>
          <p:cNvPr descr="m09_f2de.png" id="432" name="Google Shape;432;p28"/>
          <p:cNvPicPr preferRelativeResize="0"/>
          <p:nvPr/>
        </p:nvPicPr>
        <p:blipFill rotWithShape="1">
          <a:blip r:embed="rId3">
            <a:alphaModFix/>
          </a:blip>
          <a:srcRect b="0" l="0" r="0" t="0"/>
          <a:stretch/>
        </p:blipFill>
        <p:spPr>
          <a:xfrm>
            <a:off x="6917596" y="1280160"/>
            <a:ext cx="1824821" cy="4297679"/>
          </a:xfrm>
          <a:prstGeom prst="rect">
            <a:avLst/>
          </a:prstGeom>
          <a:noFill/>
          <a:ln>
            <a:noFill/>
          </a:ln>
        </p:spPr>
      </p:pic>
      <p:sp>
        <p:nvSpPr>
          <p:cNvPr id="433" name="Google Shape;433;p28"/>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Merlin et al. (2009), Fig. 2(D–E). TIM rhythms in isolated antennal cultures.</a:t>
            </a:r>
            <a:endParaRPr/>
          </a:p>
        </p:txBody>
      </p:sp>
      <p:pic>
        <p:nvPicPr>
          <p:cNvPr descr="monarch_fws.jpg" id="434" name="Google Shape;434;p28"/>
          <p:cNvPicPr preferRelativeResize="0"/>
          <p:nvPr/>
        </p:nvPicPr>
        <p:blipFill rotWithShape="1">
          <a:blip r:embed="rId4">
            <a:alphaModFix/>
          </a:blip>
          <a:srcRect b="0" l="0" r="0" t="0"/>
          <a:stretch/>
        </p:blipFill>
        <p:spPr>
          <a:xfrm>
            <a:off x="9704527" y="2148840"/>
            <a:ext cx="1920239" cy="1280159"/>
          </a:xfrm>
          <a:prstGeom prst="rect">
            <a:avLst/>
          </a:prstGeom>
          <a:noFill/>
          <a:ln>
            <a:noFill/>
          </a:ln>
        </p:spPr>
      </p:pic>
      <p:sp>
        <p:nvSpPr>
          <p:cNvPr id="436" name="Google Shape;436;p28"/>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7" name="Google Shape;437;p2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Merlin et al. (2009)</a:t>
            </a:r>
            <a:endParaRPr/>
          </a:p>
        </p:txBody>
      </p:sp>
      <p:sp>
        <p:nvSpPr>
          <p:cNvPr id="438" name="Google Shape;438;p2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2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Black paint blocks the antennal light response</a:t>
            </a:r>
            <a:endParaRPr/>
          </a:p>
        </p:txBody>
      </p:sp>
      <p:sp>
        <p:nvSpPr>
          <p:cNvPr id="445" name="Google Shape;445;p2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Merlin and colleagues coated antennal flagella with either black or clear enamel, which distinguishes light access from the general effects of painting. Black paint blocked transmission across the tested 300–800 nm range, while clear paint preserved transmission. Light access was the variable that the coatings changed. Both appendages remained in place throughout the experiment.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2-h light pulse during CT16–18 reduced antennal TIM protein when the coating was clear, and the same pulse had no effect under black paint. The appendage stayed physically present, so the molecular response to illumination was measured with the antenna in place. Light entering the antenna was blocked in the black-painted group and transmitted in the clear-painted group.</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results support direct </a:t>
            </a:r>
            <a:r>
              <a:rPr b="1" i="0" lang="en-US" sz="1400" u="none" cap="none" strike="noStrike">
                <a:solidFill>
                  <a:srgbClr val="52146E"/>
                </a:solidFill>
                <a:latin typeface="Arial"/>
                <a:ea typeface="Arial"/>
                <a:cs typeface="Arial"/>
                <a:sym typeface="Arial"/>
              </a:rPr>
              <a:t>photic input</a:t>
            </a:r>
            <a:r>
              <a:rPr b="0" i="0" lang="en-US" sz="1400" u="none" cap="none" strike="noStrike">
                <a:solidFill>
                  <a:srgbClr val="000000"/>
                </a:solidFill>
                <a:latin typeface="Arial"/>
                <a:ea typeface="Arial"/>
                <a:cs typeface="Arial"/>
                <a:sym typeface="Arial"/>
              </a:rPr>
              <a:t>, meaning input from light, to the antennal clock. Clear paint also controls for coating-related interference with odor reception, which ties a later behavioral difference to blocked light access. The effect on protein turnover was measured as a molecular readout. Clear paint is the control for that coating effect.</a:t>
            </a:r>
            <a:endParaRPr/>
          </a:p>
        </p:txBody>
      </p:sp>
      <p:pic>
        <p:nvPicPr>
          <p:cNvPr descr="m09_f3ab.png" id="446" name="Google Shape;446;p29"/>
          <p:cNvPicPr preferRelativeResize="0"/>
          <p:nvPr/>
        </p:nvPicPr>
        <p:blipFill rotWithShape="1">
          <a:blip r:embed="rId3">
            <a:alphaModFix/>
          </a:blip>
          <a:srcRect b="0" l="0" r="0" t="0"/>
          <a:stretch/>
        </p:blipFill>
        <p:spPr>
          <a:xfrm>
            <a:off x="6986335" y="1280160"/>
            <a:ext cx="1687344" cy="4297679"/>
          </a:xfrm>
          <a:prstGeom prst="rect">
            <a:avLst/>
          </a:prstGeom>
          <a:noFill/>
          <a:ln>
            <a:noFill/>
          </a:ln>
        </p:spPr>
      </p:pic>
      <p:sp>
        <p:nvSpPr>
          <p:cNvPr id="447" name="Google Shape;447;p29"/>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Merlin et al. (2009), Fig. 3(A–B). Paint transmission and light-dependent TIM depletion.</a:t>
            </a:r>
            <a:endParaRPr/>
          </a:p>
        </p:txBody>
      </p:sp>
      <p:pic>
        <p:nvPicPr>
          <p:cNvPr descr="monarch_fws.jpg" id="448" name="Google Shape;448;p29"/>
          <p:cNvPicPr preferRelativeResize="0"/>
          <p:nvPr/>
        </p:nvPicPr>
        <p:blipFill rotWithShape="1">
          <a:blip r:embed="rId4">
            <a:alphaModFix/>
          </a:blip>
          <a:srcRect b="0" l="0" r="0" t="0"/>
          <a:stretch/>
        </p:blipFill>
        <p:spPr>
          <a:xfrm>
            <a:off x="9704527" y="2148840"/>
            <a:ext cx="1920239" cy="1280159"/>
          </a:xfrm>
          <a:prstGeom prst="rect">
            <a:avLst/>
          </a:prstGeom>
          <a:noFill/>
          <a:ln>
            <a:noFill/>
          </a:ln>
        </p:spPr>
      </p:pic>
      <p:sp>
        <p:nvSpPr>
          <p:cNvPr id="450" name="Google Shape;450;p29"/>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2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Merlin et al. (2009)</a:t>
            </a:r>
            <a:endParaRPr/>
          </a:p>
        </p:txBody>
      </p:sp>
      <p:sp>
        <p:nvSpPr>
          <p:cNvPr id="452" name="Google Shape;452;p2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7" name="Shape 457"/>
        <p:cNvGrpSpPr/>
        <p:nvPr/>
      </p:nvGrpSpPr>
      <p:grpSpPr>
        <a:xfrm>
          <a:off x="0" y="0"/>
          <a:ext cx="0" cy="0"/>
          <a:chOff x="0" y="0"/>
          <a:chExt cx="0" cy="0"/>
        </a:xfrm>
      </p:grpSpPr>
      <p:sp>
        <p:nvSpPr>
          <p:cNvPr id="458" name="Google Shape;458;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Optically blocking antennae changes the selected heading</a:t>
            </a:r>
            <a:endParaRPr/>
          </a:p>
        </p:txBody>
      </p:sp>
      <p:sp>
        <p:nvSpPr>
          <p:cNvPr id="459" name="Google Shape;459;p3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Butterflies with clear-painted antennae kept a consistent orientation and shifted their heading after a 6-h delay in the light cycle. In this later-autumn experiment, clear-painted controls oriented near 162°, while delayed controls oriented near 269°. Both clear-painted and delayed controls were tested in that experiment. Their heading difference was about 107°.</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Black-painted animals selected an abnormal northward bearing near 344° on the normal schedule. Delayed black-painted animals were disorganized as a group, although the antennae remained physically present and the clear coating served as a control for the painting procedure. Black paint blocked the light reaching the antenna during that test.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results tie antennal light access to normal time-compensated orientation. Unshifted means differ between studies because collection date and testing conditions changed. Blocking light can desynchronize or free-run antennal clocks, so an abnormal heading reflects the clock state broadly. The heading shift depends on the clock phase imposed by the schedule.</a:t>
            </a:r>
            <a:endParaRPr/>
          </a:p>
        </p:txBody>
      </p:sp>
      <p:pic>
        <p:nvPicPr>
          <p:cNvPr descr="m09_f4a.png" id="460" name="Google Shape;460;p30"/>
          <p:cNvPicPr preferRelativeResize="0"/>
          <p:nvPr/>
        </p:nvPicPr>
        <p:blipFill rotWithShape="1">
          <a:blip r:embed="rId3">
            <a:alphaModFix/>
          </a:blip>
          <a:srcRect b="0" l="0" r="0" t="0"/>
          <a:stretch/>
        </p:blipFill>
        <p:spPr>
          <a:xfrm>
            <a:off x="6359648" y="1280160"/>
            <a:ext cx="2940716" cy="4297679"/>
          </a:xfrm>
          <a:prstGeom prst="rect">
            <a:avLst/>
          </a:prstGeom>
          <a:noFill/>
          <a:ln>
            <a:noFill/>
          </a:ln>
        </p:spPr>
      </p:pic>
      <p:sp>
        <p:nvSpPr>
          <p:cNvPr id="461" name="Google Shape;461;p30"/>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Merlin et al. (2009), Fig. 4(A). Orientation with clear or black antennal paint.</a:t>
            </a:r>
            <a:endParaRPr/>
          </a:p>
        </p:txBody>
      </p:sp>
      <p:pic>
        <p:nvPicPr>
          <p:cNvPr descr="monarch_fws.jpg" id="462" name="Google Shape;462;p30"/>
          <p:cNvPicPr preferRelativeResize="0"/>
          <p:nvPr/>
        </p:nvPicPr>
        <p:blipFill rotWithShape="1">
          <a:blip r:embed="rId4">
            <a:alphaModFix/>
          </a:blip>
          <a:srcRect b="0" l="0" r="0" t="0"/>
          <a:stretch/>
        </p:blipFill>
        <p:spPr>
          <a:xfrm>
            <a:off x="9704527" y="2148840"/>
            <a:ext cx="1920239" cy="1280159"/>
          </a:xfrm>
          <a:prstGeom prst="rect">
            <a:avLst/>
          </a:prstGeom>
          <a:noFill/>
          <a:ln>
            <a:noFill/>
          </a:ln>
        </p:spPr>
      </p:pic>
      <p:sp>
        <p:nvSpPr>
          <p:cNvPr id="464" name="Google Shape;464;p30"/>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Merlin et al. (2009)</a:t>
            </a:r>
            <a:endParaRPr/>
          </a:p>
        </p:txBody>
      </p:sp>
      <p:sp>
        <p:nvSpPr>
          <p:cNvPr id="466" name="Google Shape;466;p3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1" name="Shape 471"/>
        <p:cNvGrpSpPr/>
        <p:nvPr/>
      </p:nvGrpSpPr>
      <p:grpSpPr>
        <a:xfrm>
          <a:off x="0" y="0"/>
          <a:ext cx="0" cy="0"/>
          <a:chOff x="0" y="0"/>
          <a:chExt cx="0" cy="0"/>
        </a:xfrm>
      </p:grpSpPr>
      <p:sp>
        <p:nvSpPr>
          <p:cNvPr id="472" name="Google Shape;472;p3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One functioning antenna is sufficient for compensation</a:t>
            </a:r>
            <a:endParaRPr/>
          </a:p>
        </p:txBody>
      </p:sp>
      <p:sp>
        <p:nvSpPr>
          <p:cNvPr id="473" name="Google Shape;473;p3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Guerra and colleagues tested migrants after removing either the left or the right antenna. The remaining appendage kept access to light, so its timing contribution could be evaluated without a second functional antenna. Each single-antenna group was tested under the same light schedule. The remaining antenna was intact and kept access to light.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Both single-antenna groups selected a southwest bearing, with a combined mean near 217°. After a 6-h delay of the light cycle, their combined heading shifted to about 359°, roughly 142° clockwise. Left and right removal produced comparable compass performance. Both groups were tested under the same delay schedule. The shift amount was similar in both removal conditions.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results support functional sufficiency of either antenna under the tested conditions. A system can work with one timing source, yet a second source sending a conflicting signal can disrupt it. Conflicting input therefore produces a different outcome than a missing input. Two intact antennae would supply two timing inputs in the normal condition.</a:t>
            </a:r>
            <a:endParaRPr/>
          </a:p>
        </p:txBody>
      </p:sp>
      <p:pic>
        <p:nvPicPr>
          <p:cNvPr descr="g12_f1.png" id="474" name="Google Shape;474;p31"/>
          <p:cNvPicPr preferRelativeResize="0"/>
          <p:nvPr/>
        </p:nvPicPr>
        <p:blipFill rotWithShape="1">
          <a:blip r:embed="rId3">
            <a:alphaModFix/>
          </a:blip>
          <a:srcRect b="0" l="0" r="0" t="0"/>
          <a:stretch/>
        </p:blipFill>
        <p:spPr>
          <a:xfrm>
            <a:off x="6865302" y="1280160"/>
            <a:ext cx="1929409" cy="4297679"/>
          </a:xfrm>
          <a:prstGeom prst="rect">
            <a:avLst/>
          </a:prstGeom>
          <a:noFill/>
          <a:ln>
            <a:noFill/>
          </a:ln>
        </p:spPr>
      </p:pic>
      <p:sp>
        <p:nvSpPr>
          <p:cNvPr id="475" name="Google Shape;475;p31"/>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Guerra et al. (2012), Fig. 1(a–b). A single antenna supports clock-shifted orientation.</a:t>
            </a:r>
            <a:endParaRPr/>
          </a:p>
        </p:txBody>
      </p:sp>
      <p:pic>
        <p:nvPicPr>
          <p:cNvPr descr="monarch_fws.jpg" id="476" name="Google Shape;476;p31"/>
          <p:cNvPicPr preferRelativeResize="0"/>
          <p:nvPr/>
        </p:nvPicPr>
        <p:blipFill rotWithShape="1">
          <a:blip r:embed="rId4">
            <a:alphaModFix/>
          </a:blip>
          <a:srcRect b="0" l="0" r="0" t="0"/>
          <a:stretch/>
        </p:blipFill>
        <p:spPr>
          <a:xfrm>
            <a:off x="9704527" y="2148840"/>
            <a:ext cx="1920239" cy="1280159"/>
          </a:xfrm>
          <a:prstGeom prst="rect">
            <a:avLst/>
          </a:prstGeom>
          <a:noFill/>
          <a:ln>
            <a:noFill/>
          </a:ln>
        </p:spPr>
      </p:pic>
      <p:sp>
        <p:nvSpPr>
          <p:cNvPr id="478" name="Google Shape;478;p31"/>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9" name="Google Shape;479;p3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Guerra et al. (2012)</a:t>
            </a:r>
            <a:endParaRPr/>
          </a:p>
        </p:txBody>
      </p:sp>
      <p:sp>
        <p:nvSpPr>
          <p:cNvPr id="480" name="Google Shape;480;p3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5" name="Shape 485"/>
        <p:cNvGrpSpPr/>
        <p:nvPr/>
      </p:nvGrpSpPr>
      <p:grpSpPr>
        <a:xfrm>
          <a:off x="0" y="0"/>
          <a:ext cx="0" cy="0"/>
          <a:chOff x="0" y="0"/>
          <a:chExt cx="0" cy="0"/>
        </a:xfrm>
      </p:grpSpPr>
      <p:sp>
        <p:nvSpPr>
          <p:cNvPr id="486" name="Google Shape;486;p3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Conflicting antennal timing disrupts the shared bearing</a:t>
            </a:r>
            <a:endParaRPr/>
          </a:p>
        </p:txBody>
      </p:sp>
      <p:sp>
        <p:nvSpPr>
          <p:cNvPr id="487" name="Google Shape;487;p3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Guerra and colleagues painted one antenna black and the other clear, so one timing system had light access while the other was deprived of normal photic entrainment. The black-and-clear condition was set against animals with a single accessible antenna. The clear side received normal light, which kept its clock entrained.</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Butterflies with discordant coatings maintained directed individual flights but lacked a consistent group migratory bearing. Either side could carry the black paint, so the effect applied to either lateral antenna. The unblocked antenna failed to override the conflicting input. Their individual flights were directed, so single-animal navigation was intact. Disruption followed the blocked antenna regardless of side.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These observations support integration of information from both antennae. Antennal clock measurements linked the blocked side to disrupted population rhythms, and the central site where the two signals combine lies outside this experiment. Clock signals from the two antennae therefore influence one shared bearing. Removing one conflicting input acts as a test of that integration.</a:t>
            </a:r>
            <a:endParaRPr/>
          </a:p>
        </p:txBody>
      </p:sp>
      <p:pic>
        <p:nvPicPr>
          <p:cNvPr descr="g12_f2.png" id="488" name="Google Shape;488;p32"/>
          <p:cNvPicPr preferRelativeResize="0"/>
          <p:nvPr/>
        </p:nvPicPr>
        <p:blipFill rotWithShape="1">
          <a:blip r:embed="rId3">
            <a:alphaModFix/>
          </a:blip>
          <a:srcRect b="0" l="0" r="0" t="0"/>
          <a:stretch/>
        </p:blipFill>
        <p:spPr>
          <a:xfrm>
            <a:off x="7024594" y="1280160"/>
            <a:ext cx="1610824" cy="4297679"/>
          </a:xfrm>
          <a:prstGeom prst="rect">
            <a:avLst/>
          </a:prstGeom>
          <a:noFill/>
          <a:ln>
            <a:noFill/>
          </a:ln>
        </p:spPr>
      </p:pic>
      <p:sp>
        <p:nvSpPr>
          <p:cNvPr id="489" name="Google Shape;489;p32"/>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Guerra et al. (2012), Fig. 2(A–C). Conflicting antennae and rescue after black antenna removal.</a:t>
            </a:r>
            <a:endParaRPr/>
          </a:p>
        </p:txBody>
      </p:sp>
      <p:pic>
        <p:nvPicPr>
          <p:cNvPr descr="monarch_fws.jpg" id="490" name="Google Shape;490;p32"/>
          <p:cNvPicPr preferRelativeResize="0"/>
          <p:nvPr/>
        </p:nvPicPr>
        <p:blipFill rotWithShape="1">
          <a:blip r:embed="rId4">
            <a:alphaModFix/>
          </a:blip>
          <a:srcRect b="0" l="0" r="0" t="0"/>
          <a:stretch/>
        </p:blipFill>
        <p:spPr>
          <a:xfrm>
            <a:off x="9704527" y="2148840"/>
            <a:ext cx="1920239" cy="1280159"/>
          </a:xfrm>
          <a:prstGeom prst="rect">
            <a:avLst/>
          </a:prstGeom>
          <a:noFill/>
          <a:ln>
            <a:noFill/>
          </a:ln>
        </p:spPr>
      </p:pic>
      <p:sp>
        <p:nvSpPr>
          <p:cNvPr id="492" name="Google Shape;492;p32"/>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3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Guerra et al. (2012)</a:t>
            </a:r>
            <a:endParaRPr/>
          </a:p>
        </p:txBody>
      </p:sp>
      <p:sp>
        <p:nvSpPr>
          <p:cNvPr id="494" name="Google Shape;494;p3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9" name="Shape 499"/>
        <p:cNvGrpSpPr/>
        <p:nvPr/>
      </p:nvGrpSpPr>
      <p:grpSpPr>
        <a:xfrm>
          <a:off x="0" y="0"/>
          <a:ext cx="0" cy="0"/>
          <a:chOff x="0" y="0"/>
          <a:chExt cx="0" cy="0"/>
        </a:xfrm>
      </p:grpSpPr>
      <p:sp>
        <p:nvSpPr>
          <p:cNvPr id="500" name="Google Shape;500;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Removing the conflicting antenna restores orientation</a:t>
            </a:r>
            <a:endParaRPr/>
          </a:p>
        </p:txBody>
      </p:sp>
      <p:sp>
        <p:nvSpPr>
          <p:cNvPr id="501" name="Google Shape;501;p3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within-animal rescue tested whether the abnormal second antenna caused the compass deficit. Guerra and colleagues first flew migrants with one black-painted and one clear-painted antenna, then removed the black-painted appendage and tested flight again. The same animals served as their own controls. Animal identity was held constant across both test sessions.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previously disorganized animals regained a southwest group heading near 214°. Combining repeated-flight and first-flight removal controls gave a mean near 216°, which argues against an explanation based on experience with the simulator alone. Experience in the simulator was therefore unlikely to cause the deficit. The repeated flights served as controls for experience.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Restoring orientation by removing a conflicting source provides causal evidence that is stronger than comparing unrelated groups. The result supports coordinated antennal timing input, while the neural mechanism of integration is left for later work. The within-animal design holds the individual constant across both conditions. Each animal's own history is therefore held constant in the rescue.</a:t>
            </a:r>
            <a:endParaRPr/>
          </a:p>
        </p:txBody>
      </p:sp>
      <p:pic>
        <p:nvPicPr>
          <p:cNvPr descr="g12_f2.png" id="502" name="Google Shape;502;p33"/>
          <p:cNvPicPr preferRelativeResize="0"/>
          <p:nvPr/>
        </p:nvPicPr>
        <p:blipFill rotWithShape="1">
          <a:blip r:embed="rId3">
            <a:alphaModFix/>
          </a:blip>
          <a:srcRect b="0" l="0" r="0" t="0"/>
          <a:stretch/>
        </p:blipFill>
        <p:spPr>
          <a:xfrm>
            <a:off x="7024594" y="1280160"/>
            <a:ext cx="1610824" cy="4297679"/>
          </a:xfrm>
          <a:prstGeom prst="rect">
            <a:avLst/>
          </a:prstGeom>
          <a:noFill/>
          <a:ln>
            <a:noFill/>
          </a:ln>
        </p:spPr>
      </p:pic>
      <p:sp>
        <p:nvSpPr>
          <p:cNvPr id="503" name="Google Shape;503;p33"/>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Guerra et al. (2012), Fig. 2(A–C). Conflicting antennae and rescue after black antenna removal.</a:t>
            </a:r>
            <a:endParaRPr/>
          </a:p>
        </p:txBody>
      </p:sp>
      <p:pic>
        <p:nvPicPr>
          <p:cNvPr descr="monarch_fws.jpg" id="504" name="Google Shape;504;p33"/>
          <p:cNvPicPr preferRelativeResize="0"/>
          <p:nvPr/>
        </p:nvPicPr>
        <p:blipFill rotWithShape="1">
          <a:blip r:embed="rId4">
            <a:alphaModFix/>
          </a:blip>
          <a:srcRect b="0" l="0" r="0" t="0"/>
          <a:stretch/>
        </p:blipFill>
        <p:spPr>
          <a:xfrm>
            <a:off x="9704527" y="2148840"/>
            <a:ext cx="1920239" cy="1280159"/>
          </a:xfrm>
          <a:prstGeom prst="rect">
            <a:avLst/>
          </a:prstGeom>
          <a:noFill/>
          <a:ln>
            <a:noFill/>
          </a:ln>
        </p:spPr>
      </p:pic>
      <p:sp>
        <p:nvSpPr>
          <p:cNvPr id="506" name="Google Shape;506;p33"/>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7" name="Google Shape;507;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Guerra et al. (2012)</a:t>
            </a:r>
            <a:endParaRPr/>
          </a:p>
        </p:txBody>
      </p:sp>
      <p:sp>
        <p:nvSpPr>
          <p:cNvPr id="508" name="Google Shape;508;p3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3" name="Shape 513"/>
        <p:cNvGrpSpPr/>
        <p:nvPr/>
      </p:nvGrpSpPr>
      <p:grpSpPr>
        <a:xfrm>
          <a:off x="0" y="0"/>
          <a:ext cx="0" cy="0"/>
          <a:chOff x="0" y="0"/>
          <a:chExt cx="0" cy="0"/>
        </a:xfrm>
      </p:grpSpPr>
      <p:sp>
        <p:nvSpPr>
          <p:cNvPr id="514" name="Google Shape;514;p3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Central-complex neuropils define a compass substrate</a:t>
            </a:r>
            <a:endParaRPr/>
          </a:p>
        </p:txBody>
      </p:sp>
      <p:sp>
        <p:nvSpPr>
          <p:cNvPr id="515" name="Google Shape;515;p3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Heinze and Reppert mapped the monarch central complex with synapsin antibody labeling and three-dimensional reconstruction. The central body has upper and lower divisions, and it associates with a protocerebral bridge, a transverse neuropil and paired noduli, which are compact neighboring neuropils. Synapsin marks the dense neuropil regions in the brain.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a:t>
            </a:r>
            <a:r>
              <a:rPr b="1" i="0" lang="en-US" sz="1400" u="none" cap="none" strike="noStrike">
                <a:solidFill>
                  <a:srgbClr val="52146E"/>
                </a:solidFill>
                <a:latin typeface="Arial"/>
                <a:ea typeface="Arial"/>
                <a:cs typeface="Arial"/>
                <a:sym typeface="Arial"/>
              </a:rPr>
              <a:t>anterior optic tubercle</a:t>
            </a:r>
            <a:r>
              <a:rPr b="0" i="0" lang="en-US" sz="1400" u="none" cap="none" strike="noStrike">
                <a:solidFill>
                  <a:srgbClr val="000000"/>
                </a:solidFill>
                <a:latin typeface="Arial"/>
                <a:ea typeface="Arial"/>
                <a:cs typeface="Arial"/>
                <a:sym typeface="Arial"/>
              </a:rPr>
              <a:t> is an additional visual-processing region. The </a:t>
            </a:r>
            <a:r>
              <a:rPr b="1" i="0" lang="en-US" sz="1400" u="none" cap="none" strike="noStrike">
                <a:solidFill>
                  <a:srgbClr val="52146E"/>
                </a:solidFill>
                <a:latin typeface="Arial"/>
                <a:ea typeface="Arial"/>
                <a:cs typeface="Arial"/>
                <a:sym typeface="Arial"/>
              </a:rPr>
              <a:t>lateral accessory lobe</a:t>
            </a:r>
            <a:r>
              <a:rPr b="0" i="0" lang="en-US" sz="1400" u="none" cap="none" strike="noStrike">
                <a:solidFill>
                  <a:srgbClr val="000000"/>
                </a:solidFill>
                <a:latin typeface="Arial"/>
                <a:ea typeface="Arial"/>
                <a:cs typeface="Arial"/>
                <a:sym typeface="Arial"/>
              </a:rPr>
              <a:t> lies beside the central complex and receives identified neuronal processes associated with compass circuitry. Together, these neuropils form the anatomical substrate for compass circuitry in the brain. Each neuropil carries its own pattern of synapse-rich labeling, which varies by region.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This anatomy specifies locations for cell recording and dye reconstruction. Combining the map with individual-cell physiology identifies which neurons respond to skylight cues, so a compass function is assigned from measured responses rather than from location alone. Anatomy supplies the framework for the physiology within each neuropil. Its boundaries therefore define recording targets.</a:t>
            </a:r>
            <a:endParaRPr/>
          </a:p>
        </p:txBody>
      </p:sp>
      <p:pic>
        <p:nvPicPr>
          <p:cNvPr descr="h11_f2.png" id="516" name="Google Shape;516;p34"/>
          <p:cNvPicPr preferRelativeResize="0"/>
          <p:nvPr/>
        </p:nvPicPr>
        <p:blipFill rotWithShape="1">
          <a:blip r:embed="rId3">
            <a:alphaModFix/>
          </a:blip>
          <a:srcRect b="0" l="0" r="0" t="0"/>
          <a:stretch/>
        </p:blipFill>
        <p:spPr>
          <a:xfrm>
            <a:off x="6353625" y="1280160"/>
            <a:ext cx="5055882" cy="4297679"/>
          </a:xfrm>
          <a:prstGeom prst="rect">
            <a:avLst/>
          </a:prstGeom>
          <a:noFill/>
          <a:ln>
            <a:noFill/>
          </a:ln>
        </p:spPr>
      </p:pic>
      <p:sp>
        <p:nvSpPr>
          <p:cNvPr id="517" name="Google Shape;517;p34"/>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2(A–J). Synapsin-labeled central-complex and associated neuropils.</a:t>
            </a:r>
            <a:endParaRPr/>
          </a:p>
        </p:txBody>
      </p:sp>
      <p:sp>
        <p:nvSpPr>
          <p:cNvPr id="518" name="Google Shape;518;p34"/>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9" name="Google Shape;519;p3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Heinze &amp; Reppert (2011)</a:t>
            </a:r>
            <a:endParaRPr/>
          </a:p>
        </p:txBody>
      </p:sp>
      <p:sp>
        <p:nvSpPr>
          <p:cNvPr id="520" name="Google Shape;520;p3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sp>
        <p:nvSpPr>
          <p:cNvPr id="526" name="Google Shape;526;p3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Dye-filled neurons connect visual input to compass regions</a:t>
            </a:r>
            <a:endParaRPr/>
          </a:p>
        </p:txBody>
      </p:sp>
      <p:sp>
        <p:nvSpPr>
          <p:cNvPr id="527" name="Google Shape;527;p3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Heinze and Reppert combined intracellular recordings with dye injection to recover the anatomy of individual compass-related neurons. </a:t>
            </a:r>
            <a:r>
              <a:rPr b="1" i="0" lang="en-US" sz="1400" u="none" cap="none" strike="noStrike">
                <a:solidFill>
                  <a:srgbClr val="52146E"/>
                </a:solidFill>
                <a:latin typeface="Arial"/>
                <a:ea typeface="Arial"/>
                <a:cs typeface="Arial"/>
                <a:sym typeface="Arial"/>
              </a:rPr>
              <a:t>Intracellular recording</a:t>
            </a:r>
            <a:r>
              <a:rPr b="0" i="0" lang="en-US" sz="1400" u="none" cap="none" strike="noStrike">
                <a:solidFill>
                  <a:srgbClr val="000000"/>
                </a:solidFill>
                <a:latin typeface="Arial"/>
                <a:ea typeface="Arial"/>
                <a:cs typeface="Arial"/>
                <a:sym typeface="Arial"/>
              </a:rPr>
              <a:t> measures electrical activity from inside a cell, and subsequent dye filling links that activity to the neuron's processes. Dye filling follows recording in the same cell. The method recovers both function and form.</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tangential neurons TL2 and TL3 connected the </a:t>
            </a:r>
            <a:r>
              <a:rPr b="1" i="0" lang="en-US" sz="1400" u="none" cap="none" strike="noStrike">
                <a:solidFill>
                  <a:srgbClr val="52146E"/>
                </a:solidFill>
                <a:latin typeface="Arial"/>
                <a:ea typeface="Arial"/>
                <a:cs typeface="Arial"/>
                <a:sym typeface="Arial"/>
              </a:rPr>
              <a:t>lateral triangle</a:t>
            </a:r>
            <a:r>
              <a:rPr b="0" i="0" lang="en-US" sz="1400" u="none" cap="none" strike="noStrike">
                <a:solidFill>
                  <a:srgbClr val="000000"/>
                </a:solidFill>
                <a:latin typeface="Arial"/>
                <a:ea typeface="Arial"/>
                <a:cs typeface="Arial"/>
                <a:sym typeface="Arial"/>
              </a:rPr>
              <a:t>, an input region near the lateral accessory lobe, with distinct layers of the lower central body. Their processes spread across this compass-associated neuropil, providing candidate stages through which visual information reaches central-complex activity. Dye injection makes the full neuron visible across its branches.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recovered projections and light responses support a circuit-level organization. Morphological polarity suggests the direction of signal flow, and the neurotransmitters, receptors and ion channels along the pathway require chemical analysis. Synapse-rich boundaries mark neuron contacts. Tracing the processes shows where each neuron's branches lie. Those branch positions define candidate stages in the pathway.</a:t>
            </a:r>
            <a:endParaRPr/>
          </a:p>
        </p:txBody>
      </p:sp>
      <p:pic>
        <p:nvPicPr>
          <p:cNvPr descr="h11_tl.png" id="528" name="Google Shape;528;p35"/>
          <p:cNvPicPr preferRelativeResize="0"/>
          <p:nvPr/>
        </p:nvPicPr>
        <p:blipFill rotWithShape="1">
          <a:blip r:embed="rId3">
            <a:alphaModFix/>
          </a:blip>
          <a:srcRect b="0" l="0" r="0" t="0"/>
          <a:stretch/>
        </p:blipFill>
        <p:spPr>
          <a:xfrm>
            <a:off x="6587195" y="1280160"/>
            <a:ext cx="4588742" cy="2560320"/>
          </a:xfrm>
          <a:prstGeom prst="rect">
            <a:avLst/>
          </a:prstGeom>
          <a:noFill/>
          <a:ln>
            <a:noFill/>
          </a:ln>
        </p:spPr>
      </p:pic>
      <p:sp>
        <p:nvSpPr>
          <p:cNvPr id="529" name="Google Shape;529;p35"/>
          <p:cNvSpPr txBox="1"/>
          <p:nvPr/>
        </p:nvSpPr>
        <p:spPr>
          <a:xfrm>
            <a:off x="6138367" y="393192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3(A). Dye-filled tangential input neuron TL2.</a:t>
            </a:r>
            <a:endParaRPr/>
          </a:p>
        </p:txBody>
      </p:sp>
      <p:pic>
        <p:nvPicPr>
          <p:cNvPr descr="h11_tl3.png" id="530" name="Google Shape;530;p35"/>
          <p:cNvPicPr preferRelativeResize="0"/>
          <p:nvPr/>
        </p:nvPicPr>
        <p:blipFill rotWithShape="1">
          <a:blip r:embed="rId4">
            <a:alphaModFix/>
          </a:blip>
          <a:srcRect b="0" l="0" r="0" t="0"/>
          <a:stretch/>
        </p:blipFill>
        <p:spPr>
          <a:xfrm>
            <a:off x="7751608" y="4389120"/>
            <a:ext cx="2259918" cy="1371599"/>
          </a:xfrm>
          <a:prstGeom prst="rect">
            <a:avLst/>
          </a:prstGeom>
          <a:noFill/>
          <a:ln>
            <a:noFill/>
          </a:ln>
        </p:spPr>
      </p:pic>
      <p:sp>
        <p:nvSpPr>
          <p:cNvPr id="531" name="Google Shape;531;p35"/>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3(B). Dye-filled tangential input neuron TL3.</a:t>
            </a:r>
            <a:endParaRPr/>
          </a:p>
        </p:txBody>
      </p:sp>
      <p:sp>
        <p:nvSpPr>
          <p:cNvPr id="532" name="Google Shape;532;p35"/>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3" name="Google Shape;533;p3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Heinze &amp; Reppert (2011)</a:t>
            </a:r>
            <a:endParaRPr/>
          </a:p>
        </p:txBody>
      </p:sp>
      <p:sp>
        <p:nvSpPr>
          <p:cNvPr id="534" name="Google Shape;534;p3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9" name="Shape 539"/>
        <p:cNvGrpSpPr/>
        <p:nvPr/>
      </p:nvGrpSpPr>
      <p:grpSpPr>
        <a:xfrm>
          <a:off x="0" y="0"/>
          <a:ext cx="0" cy="0"/>
          <a:chOff x="0" y="0"/>
          <a:chExt cx="0" cy="0"/>
        </a:xfrm>
      </p:grpSpPr>
      <p:sp>
        <p:nvSpPr>
          <p:cNvPr id="540" name="Google Shape;540;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Compass neurons respond to the polarization axis</a:t>
            </a:r>
            <a:endParaRPr/>
          </a:p>
        </p:txBody>
      </p:sp>
      <p:sp>
        <p:nvSpPr>
          <p:cNvPr id="541" name="Google Shape;541;p3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Heinze and Reppert presented polarized 365-nm UV light from above while recording identified compass neurons. The </a:t>
            </a:r>
            <a:r>
              <a:rPr b="1" i="0" lang="en-US" sz="1400" u="none" cap="none" strike="noStrike">
                <a:solidFill>
                  <a:srgbClr val="52146E"/>
                </a:solidFill>
                <a:latin typeface="Arial"/>
                <a:ea typeface="Arial"/>
                <a:cs typeface="Arial"/>
                <a:sym typeface="Arial"/>
              </a:rPr>
              <a:t>E-vector</a:t>
            </a:r>
            <a:r>
              <a:rPr b="0" i="0" lang="en-US" sz="1400" u="none" cap="none" strike="noStrike">
                <a:solidFill>
                  <a:srgbClr val="000000"/>
                </a:solidFill>
                <a:latin typeface="Arial"/>
                <a:ea typeface="Arial"/>
                <a:cs typeface="Arial"/>
                <a:sym typeface="Arial"/>
              </a:rPr>
              <a:t>, the electric-field orientation of the light, rotated through 360° at controlled speeds of 30° or 60° per second. Each sweep covered the full axis, so the response across all angles was recorded. The spike rates therefore map the neuron's response to polarization.</a:t>
            </a:r>
            <a:endParaRPr/>
          </a:p>
          <a:p>
            <a:pPr indent="0" lvl="0" marL="0" marR="0" rtl="0" algn="l">
              <a:lnSpc>
                <a:spcPct val="108000"/>
              </a:lnSpc>
              <a:spcBef>
                <a:spcPts val="0"/>
              </a:spcBef>
              <a:spcAft>
                <a:spcPts val="1200"/>
              </a:spcAft>
              <a:buNone/>
            </a:pPr>
            <a:r>
              <a:rPr b="1" i="0" lang="en-US" sz="1400" u="none" cap="none" strike="noStrike">
                <a:solidFill>
                  <a:srgbClr val="52146E"/>
                </a:solidFill>
                <a:latin typeface="Arial"/>
                <a:ea typeface="Arial"/>
                <a:cs typeface="Arial"/>
                <a:sym typeface="Arial"/>
              </a:rPr>
              <a:t>Action potentials</a:t>
            </a:r>
            <a:r>
              <a:rPr b="0" i="0" lang="en-US" sz="1400" u="none" cap="none" strike="noStrike">
                <a:solidFill>
                  <a:srgbClr val="000000"/>
                </a:solidFill>
                <a:latin typeface="Arial"/>
                <a:ea typeface="Arial"/>
                <a:cs typeface="Arial"/>
                <a:sym typeface="Arial"/>
              </a:rPr>
              <a:t>, brief electrical spikes, occurred at different rates for different E-vector angles. Preferred and suppressed axes were approximately 90° apart, and the response repeated after 180°, matching the axial symmetry of linear polarization. Intracellular traces preserved voltage and time calibration. The recordings also held the stimulus at a controlled speed.</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These measurements establish neuronal sensitivity to polarization under controlled stimulation. Behavioral masking and sensory recordings address different causal claims, since sensory recordings identify tuning while masking identifies whether the input drives orientation. Sensitivity is tuned to the axis, which repeats every 180°. Sensitivity to the polarization axis is a property of the neuron.</a:t>
            </a:r>
            <a:endParaRPr/>
          </a:p>
        </p:txBody>
      </p:sp>
      <p:pic>
        <p:nvPicPr>
          <p:cNvPr descr="h11_f4b.png" id="542" name="Google Shape;542;p36"/>
          <p:cNvPicPr preferRelativeResize="0"/>
          <p:nvPr/>
        </p:nvPicPr>
        <p:blipFill rotWithShape="1">
          <a:blip r:embed="rId3">
            <a:alphaModFix/>
          </a:blip>
          <a:srcRect b="0" l="0" r="0" t="0"/>
          <a:stretch/>
        </p:blipFill>
        <p:spPr>
          <a:xfrm>
            <a:off x="6138367" y="1280160"/>
            <a:ext cx="3383280" cy="3585778"/>
          </a:xfrm>
          <a:prstGeom prst="rect">
            <a:avLst/>
          </a:prstGeom>
          <a:noFill/>
          <a:ln>
            <a:noFill/>
          </a:ln>
        </p:spPr>
      </p:pic>
      <p:sp>
        <p:nvSpPr>
          <p:cNvPr id="543" name="Google Shape;543;p36"/>
          <p:cNvSpPr txBox="1"/>
          <p:nvPr/>
        </p:nvSpPr>
        <p:spPr>
          <a:xfrm>
            <a:off x="6138367" y="4957378"/>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4(A–D). Intracellular polarization responses and tuning.</a:t>
            </a:r>
            <a:endParaRPr/>
          </a:p>
        </p:txBody>
      </p:sp>
      <p:pic>
        <p:nvPicPr>
          <p:cNvPr descr="h11_tl.png" id="544" name="Google Shape;544;p36"/>
          <p:cNvPicPr preferRelativeResize="0"/>
          <p:nvPr/>
        </p:nvPicPr>
        <p:blipFill rotWithShape="1">
          <a:blip r:embed="rId4">
            <a:alphaModFix/>
          </a:blip>
          <a:srcRect b="0" l="0" r="0" t="0"/>
          <a:stretch/>
        </p:blipFill>
        <p:spPr>
          <a:xfrm>
            <a:off x="9704527" y="2148840"/>
            <a:ext cx="1920239" cy="1071410"/>
          </a:xfrm>
          <a:prstGeom prst="rect">
            <a:avLst/>
          </a:prstGeom>
          <a:noFill/>
          <a:ln>
            <a:noFill/>
          </a:ln>
        </p:spPr>
      </p:pic>
      <p:sp>
        <p:nvSpPr>
          <p:cNvPr id="545" name="Google Shape;545;p36"/>
          <p:cNvSpPr txBox="1"/>
          <p:nvPr/>
        </p:nvSpPr>
        <p:spPr>
          <a:xfrm>
            <a:off x="9704527" y="3293402"/>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3(A). Dye-filled tangential input neuron TL2.</a:t>
            </a:r>
            <a:endParaRPr/>
          </a:p>
        </p:txBody>
      </p:sp>
      <p:sp>
        <p:nvSpPr>
          <p:cNvPr id="546" name="Google Shape;546;p36"/>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Heinze &amp; Reppert (2011)</a:t>
            </a:r>
            <a:endParaRPr/>
          </a:p>
        </p:txBody>
      </p:sp>
      <p:sp>
        <p:nvSpPr>
          <p:cNvPr id="548" name="Google Shape;548;p3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3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The same compass circuit represents solar azimuth</a:t>
            </a:r>
            <a:endParaRPr/>
          </a:p>
        </p:txBody>
      </p:sp>
      <p:sp>
        <p:nvSpPr>
          <p:cNvPr id="555" name="Google Shape;555;p3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1" i="0" lang="en-US" sz="1400" u="none" cap="none" strike="noStrike">
                <a:solidFill>
                  <a:srgbClr val="52146E"/>
                </a:solidFill>
                <a:latin typeface="Arial"/>
                <a:ea typeface="Arial"/>
                <a:cs typeface="Arial"/>
                <a:sym typeface="Arial"/>
              </a:rPr>
              <a:t>Azimuth</a:t>
            </a:r>
            <a:r>
              <a:rPr b="0" i="0" lang="en-US" sz="1400" u="none" cap="none" strike="noStrike">
                <a:solidFill>
                  <a:srgbClr val="000000"/>
                </a:solidFill>
                <a:latin typeface="Arial"/>
                <a:ea typeface="Arial"/>
                <a:cs typeface="Arial"/>
                <a:sym typeface="Arial"/>
              </a:rPr>
              <a:t> is the angular position of a stimulus around the horizon. Heinze and Reppert moved an unpolarized light spot around the animal at 30° elevation while recording compass-related cells sensitive to skylight polarization. The spot served as a stand-in for the sun's position. The spot served as a stand-in for the sun's position.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cells also changed spike rate with spot azimuth. Tests used UV at 365 nm, blue at 470 nm and green at 530 nm, and many cells responded to multiple wavelengths with comparable preferred directions rather than opposite spectral preferences. Spike rate tracked the spot's position in each cell's preferred range.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These responses support convergence of polarization and sun-like positional signals within the compass network. A spot is a controlled proxy for solar direction, and the chain from photoreceptors through named synapses to steering muscles lies beyond this recording. Positional coding is therefore shared across wavelengths in these cells. A sun-like spot drives the same network as the polarization stimulus.</a:t>
            </a:r>
            <a:endParaRPr/>
          </a:p>
        </p:txBody>
      </p:sp>
      <p:pic>
        <p:nvPicPr>
          <p:cNvPr descr="h11_f5.png" id="556" name="Google Shape;556;p37"/>
          <p:cNvPicPr preferRelativeResize="0"/>
          <p:nvPr/>
        </p:nvPicPr>
        <p:blipFill rotWithShape="1">
          <a:blip r:embed="rId3">
            <a:alphaModFix/>
          </a:blip>
          <a:srcRect b="0" l="0" r="0" t="0"/>
          <a:stretch/>
        </p:blipFill>
        <p:spPr>
          <a:xfrm>
            <a:off x="6138367" y="1280160"/>
            <a:ext cx="3383280" cy="3474915"/>
          </a:xfrm>
          <a:prstGeom prst="rect">
            <a:avLst/>
          </a:prstGeom>
          <a:noFill/>
          <a:ln>
            <a:noFill/>
          </a:ln>
        </p:spPr>
      </p:pic>
      <p:sp>
        <p:nvSpPr>
          <p:cNvPr id="557" name="Google Shape;557;p37"/>
          <p:cNvSpPr txBox="1"/>
          <p:nvPr/>
        </p:nvSpPr>
        <p:spPr>
          <a:xfrm>
            <a:off x="6138367" y="4846515"/>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5(A–F). Azimuth tuning to UV, blue and green light spots.</a:t>
            </a:r>
            <a:endParaRPr/>
          </a:p>
        </p:txBody>
      </p:sp>
      <p:pic>
        <p:nvPicPr>
          <p:cNvPr descr="h11_tl.png" id="558" name="Google Shape;558;p37"/>
          <p:cNvPicPr preferRelativeResize="0"/>
          <p:nvPr/>
        </p:nvPicPr>
        <p:blipFill rotWithShape="1">
          <a:blip r:embed="rId4">
            <a:alphaModFix/>
          </a:blip>
          <a:srcRect b="0" l="0" r="0" t="0"/>
          <a:stretch/>
        </p:blipFill>
        <p:spPr>
          <a:xfrm>
            <a:off x="9704527" y="2148840"/>
            <a:ext cx="1920239" cy="1071410"/>
          </a:xfrm>
          <a:prstGeom prst="rect">
            <a:avLst/>
          </a:prstGeom>
          <a:noFill/>
          <a:ln>
            <a:noFill/>
          </a:ln>
        </p:spPr>
      </p:pic>
      <p:sp>
        <p:nvSpPr>
          <p:cNvPr id="559" name="Google Shape;559;p37"/>
          <p:cNvSpPr txBox="1"/>
          <p:nvPr/>
        </p:nvSpPr>
        <p:spPr>
          <a:xfrm>
            <a:off x="9704527" y="3293402"/>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3(A). Dye-filled tangential input neuron TL2.</a:t>
            </a:r>
            <a:endParaRPr/>
          </a:p>
        </p:txBody>
      </p:sp>
      <p:sp>
        <p:nvSpPr>
          <p:cNvPr id="560" name="Google Shape;560;p37"/>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1" name="Google Shape;561;p3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Heinze &amp; Reppert (2011)</a:t>
            </a:r>
            <a:endParaRPr/>
          </a:p>
        </p:txBody>
      </p:sp>
      <p:sp>
        <p:nvSpPr>
          <p:cNvPr id="562" name="Google Shape;562;p3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37</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7" name="Shape 567"/>
        <p:cNvGrpSpPr/>
        <p:nvPr/>
      </p:nvGrpSpPr>
      <p:grpSpPr>
        <a:xfrm>
          <a:off x="0" y="0"/>
          <a:ext cx="0" cy="0"/>
          <a:chOff x="0" y="0"/>
          <a:chExt cx="0" cy="0"/>
        </a:xfrm>
      </p:grpSpPr>
      <p:sp>
        <p:nvSpPr>
          <p:cNvPr id="568" name="Google Shape;568;p3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Dorsal masking separates two converging visual inputs</a:t>
            </a:r>
            <a:endParaRPr/>
          </a:p>
        </p:txBody>
      </p:sp>
      <p:sp>
        <p:nvSpPr>
          <p:cNvPr id="569" name="Google Shape;569;p3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neuron responsive to both polarization and a light spot could receive those signals through shared receptors or through separate inputs. Heinze and Reppert covered the dorsal visual field and repeated both stimulus tests during intracellular recording, so the two tests ran within the same cell. The two tests ran within the same cell.</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shield abolished or strongly reduced the response to zenithal polarized UV, while a green spot moving around the horizon kept its azimuth-dependent response. Sauman and colleagues' dorsal-rim staining identifies the UV-specialized retinal territory associated with the overhead pathway. The masked response measures how much the overhead route depends on dorsal input.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within-cell result indicates distinct sensory routes that converge on compass neurons. The surviving spot response is consistent with a sun-related pathway that can function when the dorsal polarization signal is unavailable. One neuron therefore carries both inputs, which arrive through distinct routes. The overhead route is the one dependent on dorsal input.</a:t>
            </a:r>
            <a:endParaRPr/>
          </a:p>
        </p:txBody>
      </p:sp>
      <p:pic>
        <p:nvPicPr>
          <p:cNvPr descr="h11_f6.png" id="570" name="Google Shape;570;p38"/>
          <p:cNvPicPr preferRelativeResize="0"/>
          <p:nvPr/>
        </p:nvPicPr>
        <p:blipFill rotWithShape="1">
          <a:blip r:embed="rId3">
            <a:alphaModFix/>
          </a:blip>
          <a:srcRect b="0" l="0" r="0" t="0"/>
          <a:stretch/>
        </p:blipFill>
        <p:spPr>
          <a:xfrm>
            <a:off x="6192023" y="1280160"/>
            <a:ext cx="3275967" cy="4297679"/>
          </a:xfrm>
          <a:prstGeom prst="rect">
            <a:avLst/>
          </a:prstGeom>
          <a:noFill/>
          <a:ln>
            <a:noFill/>
          </a:ln>
        </p:spPr>
      </p:pic>
      <p:sp>
        <p:nvSpPr>
          <p:cNvPr id="571" name="Google Shape;571;p38"/>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6(A–F). Dorsal masking separates polarization and azimuth responses.</a:t>
            </a:r>
            <a:endParaRPr/>
          </a:p>
        </p:txBody>
      </p:sp>
      <p:pic>
        <p:nvPicPr>
          <p:cNvPr descr="s05_dra.png" id="572" name="Google Shape;572;p38"/>
          <p:cNvPicPr preferRelativeResize="0"/>
          <p:nvPr/>
        </p:nvPicPr>
        <p:blipFill rotWithShape="1">
          <a:blip r:embed="rId4">
            <a:alphaModFix/>
          </a:blip>
          <a:srcRect b="0" l="0" r="0" t="0"/>
          <a:stretch/>
        </p:blipFill>
        <p:spPr>
          <a:xfrm>
            <a:off x="9704527" y="2148840"/>
            <a:ext cx="1920239" cy="1883108"/>
          </a:xfrm>
          <a:prstGeom prst="rect">
            <a:avLst/>
          </a:prstGeom>
          <a:noFill/>
          <a:ln>
            <a:noFill/>
          </a:ln>
        </p:spPr>
      </p:pic>
      <p:sp>
        <p:nvSpPr>
          <p:cNvPr id="573" name="Google Shape;573;p38"/>
          <p:cNvSpPr txBox="1"/>
          <p:nvPr/>
        </p:nvSpPr>
        <p:spPr>
          <a:xfrm>
            <a:off x="9704527" y="4105100"/>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3(D). UV opsin staining in the dorsal rim area.</a:t>
            </a:r>
            <a:endParaRPr/>
          </a:p>
        </p:txBody>
      </p:sp>
      <p:sp>
        <p:nvSpPr>
          <p:cNvPr id="574" name="Google Shape;574;p38"/>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5" name="Google Shape;575;p3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Heinze &amp; Reppert (2011); Sauman et al. (2005)</a:t>
            </a:r>
            <a:endParaRPr/>
          </a:p>
        </p:txBody>
      </p:sp>
      <p:sp>
        <p:nvSpPr>
          <p:cNvPr id="576" name="Google Shape;576;p3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1" name="Shape 581"/>
        <p:cNvGrpSpPr/>
        <p:nvPr/>
      </p:nvGrpSpPr>
      <p:grpSpPr>
        <a:xfrm>
          <a:off x="0" y="0"/>
          <a:ext cx="0" cy="0"/>
          <a:chOff x="0" y="0"/>
          <a:chExt cx="0" cy="0"/>
        </a:xfrm>
      </p:grpSpPr>
      <p:sp>
        <p:nvSpPr>
          <p:cNvPr id="582" name="Google Shape;582;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Migratory butterflies have narrower green-light tuning</a:t>
            </a:r>
            <a:endParaRPr/>
          </a:p>
        </p:txBody>
      </p:sp>
      <p:sp>
        <p:nvSpPr>
          <p:cNvPr id="583" name="Google Shape;583;p3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Nguyen and colleagues recorded tangential neurons from autumn migrants and from non-migratory monarchs. They rotated a green 530-nm light spot at 30° elevation and measured the angular range that produced elevated spike rates. Non-migrants came from commercial sources, and migrants were wild. Their tuning was measured at the same 530-nm stimulus.</a:t>
            </a:r>
            <a:endParaRPr/>
          </a:p>
          <a:p>
            <a:pPr indent="0" lvl="0" marL="0" marR="0" rtl="0" algn="l">
              <a:lnSpc>
                <a:spcPct val="108000"/>
              </a:lnSpc>
              <a:spcBef>
                <a:spcPts val="0"/>
              </a:spcBef>
              <a:spcAft>
                <a:spcPts val="1200"/>
              </a:spcAft>
              <a:buNone/>
            </a:pPr>
            <a:r>
              <a:rPr b="1" i="0" lang="en-US" sz="1400" u="none" cap="none" strike="noStrike">
                <a:solidFill>
                  <a:srgbClr val="52146E"/>
                </a:solidFill>
                <a:latin typeface="Arial"/>
                <a:ea typeface="Arial"/>
                <a:cs typeface="Arial"/>
                <a:sym typeface="Arial"/>
              </a:rPr>
              <a:t>Full width at half maximum</a:t>
            </a:r>
            <a:r>
              <a:rPr b="0" i="0" lang="en-US" sz="1400" u="none" cap="none" strike="noStrike">
                <a:solidFill>
                  <a:srgbClr val="000000"/>
                </a:solidFill>
                <a:latin typeface="Arial"/>
                <a:ea typeface="Arial"/>
                <a:cs typeface="Arial"/>
                <a:sym typeface="Arial"/>
              </a:rPr>
              <a:t> measures a tuning curve's width at half its peak response. Mean green-light width was about 83° in migrants and 118° in non-migrants. Peak rates were broadly similar, so the difference concerned angular selectivity rather than overall firing. Peak rates were similar, so tuning width is the measured difference.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Migratory condition is therefore associated with narrower solar-proxy tuning. Wild migrants and commercially sourced non-migrants differed in origin and rearing, so the difference is an association between two groups rather than a manipulation. Angular selectivity is the feature that differs between the two groups. Migration condition is the factor that tracks the narrower tuning.</a:t>
            </a:r>
            <a:endParaRPr/>
          </a:p>
        </p:txBody>
      </p:sp>
      <p:pic>
        <p:nvPicPr>
          <p:cNvPr descr="n21_f3.png" id="584" name="Google Shape;584;p39"/>
          <p:cNvPicPr preferRelativeResize="0"/>
          <p:nvPr/>
        </p:nvPicPr>
        <p:blipFill rotWithShape="1">
          <a:blip r:embed="rId3">
            <a:alphaModFix/>
          </a:blip>
          <a:srcRect b="0" l="0" r="0" t="0"/>
          <a:stretch/>
        </p:blipFill>
        <p:spPr>
          <a:xfrm>
            <a:off x="6138367" y="1280160"/>
            <a:ext cx="3383280" cy="2763296"/>
          </a:xfrm>
          <a:prstGeom prst="rect">
            <a:avLst/>
          </a:prstGeom>
          <a:noFill/>
          <a:ln>
            <a:noFill/>
          </a:ln>
        </p:spPr>
      </p:pic>
      <p:sp>
        <p:nvSpPr>
          <p:cNvPr id="585" name="Google Shape;585;p39"/>
          <p:cNvSpPr txBox="1"/>
          <p:nvPr/>
        </p:nvSpPr>
        <p:spPr>
          <a:xfrm>
            <a:off x="6138367" y="4134896"/>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Nguyen et al. (2021), Fig. 3(a–c). Migratory and non-migratory tangential-neuron tuning.</a:t>
            </a:r>
            <a:endParaRPr/>
          </a:p>
        </p:txBody>
      </p:sp>
      <p:pic>
        <p:nvPicPr>
          <p:cNvPr descr="h11_tl.png" id="586" name="Google Shape;586;p39"/>
          <p:cNvPicPr preferRelativeResize="0"/>
          <p:nvPr/>
        </p:nvPicPr>
        <p:blipFill rotWithShape="1">
          <a:blip r:embed="rId4">
            <a:alphaModFix/>
          </a:blip>
          <a:srcRect b="0" l="0" r="0" t="0"/>
          <a:stretch/>
        </p:blipFill>
        <p:spPr>
          <a:xfrm>
            <a:off x="9704527" y="2148840"/>
            <a:ext cx="1920239" cy="1071410"/>
          </a:xfrm>
          <a:prstGeom prst="rect">
            <a:avLst/>
          </a:prstGeom>
          <a:noFill/>
          <a:ln>
            <a:noFill/>
          </a:ln>
        </p:spPr>
      </p:pic>
      <p:sp>
        <p:nvSpPr>
          <p:cNvPr id="587" name="Google Shape;587;p39"/>
          <p:cNvSpPr txBox="1"/>
          <p:nvPr/>
        </p:nvSpPr>
        <p:spPr>
          <a:xfrm>
            <a:off x="9704527" y="3293402"/>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3(A). Dye-filled tangential input neuron TL2.</a:t>
            </a:r>
            <a:endParaRPr/>
          </a:p>
        </p:txBody>
      </p:sp>
      <p:sp>
        <p:nvSpPr>
          <p:cNvPr id="588" name="Google Shape;588;p39"/>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9" name="Google Shape;589;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Nguyen et al. (2021); Heinze &amp; Reppert (2011)</a:t>
            </a:r>
            <a:endParaRPr/>
          </a:p>
        </p:txBody>
      </p:sp>
      <p:sp>
        <p:nvSpPr>
          <p:cNvPr id="590" name="Google Shape;590;p3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5" name="Shape 595"/>
        <p:cNvGrpSpPr/>
        <p:nvPr/>
      </p:nvGrpSpPr>
      <p:grpSpPr>
        <a:xfrm>
          <a:off x="0" y="0"/>
          <a:ext cx="0" cy="0"/>
          <a:chOff x="0" y="0"/>
          <a:chExt cx="0" cy="0"/>
        </a:xfrm>
      </p:grpSpPr>
      <p:sp>
        <p:nvSpPr>
          <p:cNvPr id="596" name="Google Shape;596;p4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Migratory tuning concentrates sensitivity near the front</a:t>
            </a:r>
            <a:endParaRPr/>
          </a:p>
        </p:txBody>
      </p:sp>
      <p:sp>
        <p:nvSpPr>
          <p:cNvPr id="597" name="Google Shape;597;p4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Nguyen and colleagues analyzed how strongly a change in green-light azimuth altered tangential-neuron activity. This </a:t>
            </a:r>
            <a:r>
              <a:rPr b="1" i="0" lang="en-US" sz="1400" u="none" cap="none" strike="noStrike">
                <a:solidFill>
                  <a:srgbClr val="52146E"/>
                </a:solidFill>
                <a:latin typeface="Arial"/>
                <a:ea typeface="Arial"/>
                <a:cs typeface="Arial"/>
                <a:sym typeface="Arial"/>
              </a:rPr>
              <a:t>angular sensitivity</a:t>
            </a:r>
            <a:r>
              <a:rPr b="0" i="0" lang="en-US" sz="1400" u="none" cap="none" strike="noStrike">
                <a:solidFill>
                  <a:srgbClr val="000000"/>
                </a:solidFill>
                <a:latin typeface="Arial"/>
                <a:ea typeface="Arial"/>
                <a:cs typeface="Arial"/>
                <a:sym typeface="Arial"/>
              </a:rPr>
              <a:t> depends on the slope of the tuning response rather than on its maximum firing rate alone. Steep slopes mark directions where a small change in azimuth produces a large change in firing. Each response was analyzed in angular steps around the preferred direction.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Migrant recordings concentrated greater sensitivity within about 60° of the preferred direction. Non-migrant responses spread sensitivity along flanks roughly 60° to 180° away. The analysis used 5° angular bins to map where the sensitivity fell. Binned values show where sensitivity is greatest across directions. Sensitivity peaks near the preferred direction in migrants.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pattern supports a physiological difference in how nearby directions are discriminated. Its relevance to frontal sun positions rests on an interpretation of cue geometry, and the migratory role of the tuning is inferred from that geometry. Angular sensitivity therefore sits in the slope of each tuning curve. The slope is measured from the same recordings.</a:t>
            </a:r>
            <a:endParaRPr/>
          </a:p>
        </p:txBody>
      </p:sp>
      <p:pic>
        <p:nvPicPr>
          <p:cNvPr descr="n21_f4.png" id="598" name="Google Shape;598;p40"/>
          <p:cNvPicPr preferRelativeResize="0"/>
          <p:nvPr/>
        </p:nvPicPr>
        <p:blipFill rotWithShape="1">
          <a:blip r:embed="rId3">
            <a:alphaModFix/>
          </a:blip>
          <a:srcRect b="0" l="0" r="0" t="0"/>
          <a:stretch/>
        </p:blipFill>
        <p:spPr>
          <a:xfrm>
            <a:off x="6138367" y="1280160"/>
            <a:ext cx="5486400" cy="1581968"/>
          </a:xfrm>
          <a:prstGeom prst="rect">
            <a:avLst/>
          </a:prstGeom>
          <a:noFill/>
          <a:ln>
            <a:noFill/>
          </a:ln>
        </p:spPr>
      </p:pic>
      <p:sp>
        <p:nvSpPr>
          <p:cNvPr id="599" name="Google Shape;599;p40"/>
          <p:cNvSpPr txBox="1"/>
          <p:nvPr/>
        </p:nvSpPr>
        <p:spPr>
          <a:xfrm>
            <a:off x="6138367" y="2953568"/>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Nguyen et al. (2021), Fig. 4(a–c). Angular sensitivity and its inferred solar geometry.</a:t>
            </a:r>
            <a:endParaRPr/>
          </a:p>
        </p:txBody>
      </p:sp>
      <p:pic>
        <p:nvPicPr>
          <p:cNvPr descr="h11_tl.png" id="600" name="Google Shape;600;p40"/>
          <p:cNvPicPr preferRelativeResize="0"/>
          <p:nvPr/>
        </p:nvPicPr>
        <p:blipFill rotWithShape="1">
          <a:blip r:embed="rId4">
            <a:alphaModFix/>
          </a:blip>
          <a:srcRect b="0" l="0" r="0" t="0"/>
          <a:stretch/>
        </p:blipFill>
        <p:spPr>
          <a:xfrm>
            <a:off x="7488556" y="4206240"/>
            <a:ext cx="2786022" cy="1554479"/>
          </a:xfrm>
          <a:prstGeom prst="rect">
            <a:avLst/>
          </a:prstGeom>
          <a:noFill/>
          <a:ln>
            <a:noFill/>
          </a:ln>
        </p:spPr>
      </p:pic>
      <p:sp>
        <p:nvSpPr>
          <p:cNvPr id="601" name="Google Shape;601;p40"/>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3(A). Dye-filled tangential input neuron TL2.</a:t>
            </a:r>
            <a:endParaRPr/>
          </a:p>
        </p:txBody>
      </p:sp>
      <p:sp>
        <p:nvSpPr>
          <p:cNvPr id="602" name="Google Shape;602;p40"/>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3" name="Google Shape;603;p4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Nguyen et al. (2021); Heinze &amp; Reppert (2011)</a:t>
            </a:r>
            <a:endParaRPr/>
          </a:p>
        </p:txBody>
      </p:sp>
      <p:sp>
        <p:nvSpPr>
          <p:cNvPr id="604" name="Google Shape;604;p4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9" name="Shape 609"/>
        <p:cNvGrpSpPr/>
        <p:nvPr/>
      </p:nvGrpSpPr>
      <p:grpSpPr>
        <a:xfrm>
          <a:off x="0" y="0"/>
          <a:ext cx="0" cy="0"/>
          <a:chOff x="0" y="0"/>
          <a:chExt cx="0" cy="0"/>
        </a:xfrm>
      </p:grpSpPr>
      <p:sp>
        <p:nvSpPr>
          <p:cNvPr id="610" name="Google Shape;610;p4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Spring remigrants reverse direction but retain compensation</a:t>
            </a:r>
            <a:endParaRPr/>
          </a:p>
        </p:txBody>
      </p:sp>
      <p:sp>
        <p:nvSpPr>
          <p:cNvPr id="611" name="Google Shape;611;p4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Guerra and Reppert measured freely released fall migrants and spring remigrants, butterflies leaving the overwintering phase. Fall animals disappeared toward a mean bearing of 209°, while spring animals selected approximately 45°, toward the northeast. A disappearance bearing is the final direction seen after release. Both groups were measured after free release.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Spring migrants entrained to a 6-h-delayed light cycle departed near 142°, a clockwise shift of about 97°. The opposite seasonal direction therefore retained the response expected from a time-compensated sun compass. The shift equals about 97° relative to the undelayed spring bearing of 45°. The clockwise direction matches the delayed fall result.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seasonal change alters the selected migratory direction while the timing-based orientation mechanism persists. The reversal is a behavioral result, and the neural code for the preferred direction is a distinct problem. Seasonal reversal changes the chosen direction, while the clock still supplies the offset. The reversal therefore changes direction rather than timing.</a:t>
            </a:r>
            <a:endParaRPr/>
          </a:p>
        </p:txBody>
      </p:sp>
      <p:pic>
        <p:nvPicPr>
          <p:cNvPr descr="g13_f1bc.png" id="612" name="Google Shape;612;p41"/>
          <p:cNvPicPr preferRelativeResize="0"/>
          <p:nvPr/>
        </p:nvPicPr>
        <p:blipFill rotWithShape="1">
          <a:blip r:embed="rId3">
            <a:alphaModFix/>
          </a:blip>
          <a:srcRect b="0" l="0" r="0" t="0"/>
          <a:stretch/>
        </p:blipFill>
        <p:spPr>
          <a:xfrm>
            <a:off x="6209638" y="1280160"/>
            <a:ext cx="5343858" cy="4297679"/>
          </a:xfrm>
          <a:prstGeom prst="rect">
            <a:avLst/>
          </a:prstGeom>
          <a:noFill/>
          <a:ln>
            <a:noFill/>
          </a:ln>
        </p:spPr>
      </p:pic>
      <p:sp>
        <p:nvSpPr>
          <p:cNvPr id="613" name="Google Shape;613;p41"/>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Guerra &amp; Reppert (2013), Fig. 1(A–C). Migration map and seasonal bearings, including a clock shift.</a:t>
            </a:r>
            <a:endParaRPr/>
          </a:p>
        </p:txBody>
      </p:sp>
      <p:sp>
        <p:nvSpPr>
          <p:cNvPr id="614" name="Google Shape;614;p41"/>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5" name="Google Shape;615;p4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Guerra &amp; Reppert (2013)</a:t>
            </a:r>
            <a:endParaRPr/>
          </a:p>
        </p:txBody>
      </p:sp>
      <p:sp>
        <p:nvSpPr>
          <p:cNvPr id="616" name="Google Shape;616;p4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1" name="Shape 621"/>
        <p:cNvGrpSpPr/>
        <p:nvPr/>
      </p:nvGrpSpPr>
      <p:grpSpPr>
        <a:xfrm>
          <a:off x="0" y="0"/>
          <a:ext cx="0" cy="0"/>
          <a:chOff x="0" y="0"/>
          <a:chExt cx="0" cy="0"/>
        </a:xfrm>
      </p:grpSpPr>
      <p:sp>
        <p:nvSpPr>
          <p:cNvPr id="622" name="Google Shape;622;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Cold exposure triggers northward orientation</a:t>
            </a:r>
            <a:endParaRPr/>
          </a:p>
        </p:txBody>
      </p:sp>
      <p:sp>
        <p:nvSpPr>
          <p:cNvPr id="623" name="Google Shape;623;p4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Guerra and Reppert exposed fall migrants to 24 days resembling the overwintering thermal environment, with 11°C during the light phase and 4°C during darkness. One treatment gradually increased day length, while another kept a constant 12-h light:12-h dark cycle. Light was the variable that differed between the two cold treatments.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Both cold-treated groups subsequently oriented near 358°, approximately north, after warming enough for flight. Warm-housed animals retained a southwest direction near 227°. Northward orientation therefore appeared without the changing photoperiod, the daily duration of light. The warm group's southwest heading recorded the reference direction. Each treatment cycle lasted the full 24 days.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Cold exposure acts as a trigger for seasonal compass reversal under these conditions. The 24-day treatment was an effective exposure, which fixes the exposure time that worked here rather than the minimum cold duration needed for reversal. The triggering cold exposure was delivered at 4°C in darkness and 11°C in light.</a:t>
            </a:r>
            <a:endParaRPr/>
          </a:p>
        </p:txBody>
      </p:sp>
      <p:pic>
        <p:nvPicPr>
          <p:cNvPr descr="g13_f3bc.png" id="624" name="Google Shape;624;p42"/>
          <p:cNvPicPr preferRelativeResize="0"/>
          <p:nvPr/>
        </p:nvPicPr>
        <p:blipFill rotWithShape="1">
          <a:blip r:embed="rId3">
            <a:alphaModFix/>
          </a:blip>
          <a:srcRect b="0" l="0" r="0" t="0"/>
          <a:stretch/>
        </p:blipFill>
        <p:spPr>
          <a:xfrm>
            <a:off x="6138367" y="1280160"/>
            <a:ext cx="5486400" cy="4068112"/>
          </a:xfrm>
          <a:prstGeom prst="rect">
            <a:avLst/>
          </a:prstGeom>
          <a:noFill/>
          <a:ln>
            <a:noFill/>
          </a:ln>
        </p:spPr>
      </p:pic>
      <p:sp>
        <p:nvSpPr>
          <p:cNvPr id="625" name="Google Shape;625;p42"/>
          <p:cNvSpPr txBox="1"/>
          <p:nvPr/>
        </p:nvSpPr>
        <p:spPr>
          <a:xfrm>
            <a:off x="6138367" y="543971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Guerra &amp; Reppert (2013), Fig. 3(B–C). Northward headings after two cold-treatment schedules.</a:t>
            </a:r>
            <a:endParaRPr/>
          </a:p>
        </p:txBody>
      </p:sp>
      <p:sp>
        <p:nvSpPr>
          <p:cNvPr id="626" name="Google Shape;626;p42"/>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7" name="Google Shape;627;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Guerra &amp; Reppert (2013)</a:t>
            </a:r>
            <a:endParaRPr/>
          </a:p>
        </p:txBody>
      </p:sp>
      <p:sp>
        <p:nvSpPr>
          <p:cNvPr id="628" name="Google Shape;628;p4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3" name="Shape 633"/>
        <p:cNvGrpSpPr/>
        <p:nvPr/>
      </p:nvGrpSpPr>
      <p:grpSpPr>
        <a:xfrm>
          <a:off x="0" y="0"/>
          <a:ext cx="0" cy="0"/>
          <a:chOff x="0" y="0"/>
          <a:chExt cx="0" cy="0"/>
        </a:xfrm>
      </p:grpSpPr>
      <p:sp>
        <p:nvSpPr>
          <p:cNvPr id="634" name="Google Shape;634;p4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Age and calendar date do not replace the cold trigger</a:t>
            </a:r>
            <a:endParaRPr/>
          </a:p>
        </p:txBody>
      </p:sp>
      <p:sp>
        <p:nvSpPr>
          <p:cNvPr id="635" name="Google Shape;635;p4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Fall migrants kept warm for more than four months still selected a mean southward bearing near 166° when tested in March. Their housing alternated between about 21°C by day and 12°C by night, instead of the colder overwintering treatment. The animals had reached the calendar period linked to spring migration.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Some females also contained mature eggs, so reproductive maturation and prolonged survival can occur without the northward reversal. The recorded direction remained characteristic of aged fall migrants, and it was measured alongside each animal's reproductive state. Reproductive maturation is also a physiological process, separate from migratory direction in these animals.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results support an environmental thermal contribution to the reversal rather than a switch set by elapsed time alone. Age, reproduction and photoperiod can influence migration, and the tested housing conditions show that none of them replaces the cold trigger. The thermal trigger acts beyond calendar time in these animals.</a:t>
            </a:r>
            <a:endParaRPr/>
          </a:p>
        </p:txBody>
      </p:sp>
      <p:pic>
        <p:nvPicPr>
          <p:cNvPr descr="g13_f4.png" id="636" name="Google Shape;636;p43"/>
          <p:cNvPicPr preferRelativeResize="0"/>
          <p:nvPr/>
        </p:nvPicPr>
        <p:blipFill rotWithShape="1">
          <a:blip r:embed="rId3">
            <a:alphaModFix/>
          </a:blip>
          <a:srcRect b="0" l="0" r="0" t="0"/>
          <a:stretch/>
        </p:blipFill>
        <p:spPr>
          <a:xfrm>
            <a:off x="6666778" y="1280160"/>
            <a:ext cx="4429578" cy="4297679"/>
          </a:xfrm>
          <a:prstGeom prst="rect">
            <a:avLst/>
          </a:prstGeom>
          <a:noFill/>
          <a:ln>
            <a:noFill/>
          </a:ln>
        </p:spPr>
      </p:pic>
      <p:sp>
        <p:nvSpPr>
          <p:cNvPr id="637" name="Google Shape;637;p43"/>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Guerra &amp; Reppert (2013), Fig. 4(A–B). Warm-housed fall migrants retain southward orientation.</a:t>
            </a:r>
            <a:endParaRPr/>
          </a:p>
        </p:txBody>
      </p:sp>
      <p:sp>
        <p:nvSpPr>
          <p:cNvPr id="638" name="Google Shape;638;p43"/>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9" name="Google Shape;639;p4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Guerra &amp; Reppert (2013)</a:t>
            </a:r>
            <a:endParaRPr/>
          </a:p>
        </p:txBody>
      </p:sp>
      <p:sp>
        <p:nvSpPr>
          <p:cNvPr id="640" name="Google Shape;640;p4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5" name="Shape 645"/>
        <p:cNvGrpSpPr/>
        <p:nvPr/>
      </p:nvGrpSpPr>
      <p:grpSpPr>
        <a:xfrm>
          <a:off x="0" y="0"/>
          <a:ext cx="0" cy="0"/>
          <a:chOff x="0" y="0"/>
          <a:chExt cx="0" cy="0"/>
        </a:xfrm>
      </p:grpSpPr>
      <p:sp>
        <p:nvSpPr>
          <p:cNvPr id="646" name="Google Shape;646;p4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Loss of CRY1 weakens behavioral and molecular rhythms</a:t>
            </a:r>
            <a:endParaRPr/>
          </a:p>
        </p:txBody>
      </p:sp>
      <p:sp>
        <p:nvSpPr>
          <p:cNvPr id="647" name="Google Shape;647;p4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Iiams and colleagues tested monarchs lacking functional CRY1 against wild-type butterflies. After 12-h light:12-h dark entrainment at 25°C, mutant emergence rhythms weakened in constant darkness, and brain clock-gene rhythms were disrupted in adults re-entrained to cycling light. Emergence rhythms were tested in constant darkness after that entrainment. Wild-type monarchs served as the reference group.</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Adult flight-mill tests recorded revolutions as distance traveled per hour during a 15-h light:9-h dark cycle at 21°C. Wild-type activity concentrated around midday, while mutants spread activity more broadly after a morning increase. Daily temperature cycles could restore some rhythmic outputs. Wild-type activity was the reference pattern for the mutants.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results connect CRY1 function to robust timing and daytime flight organization. Flight activity reflects daily organization rather than migratory compass heading, so the mutation's effect on time-compensated migration is a separate matter. Robust timing is a property that the mutant loses in these tests. Mutant emergence and daily flight patterns were both affected.</a:t>
            </a:r>
            <a:endParaRPr/>
          </a:p>
        </p:txBody>
      </p:sp>
      <p:pic>
        <p:nvPicPr>
          <p:cNvPr descr="i24_f1.png" id="648" name="Google Shape;648;p44"/>
          <p:cNvPicPr preferRelativeResize="0"/>
          <p:nvPr/>
        </p:nvPicPr>
        <p:blipFill rotWithShape="1">
          <a:blip r:embed="rId3">
            <a:alphaModFix/>
          </a:blip>
          <a:srcRect b="0" l="0" r="0" t="0"/>
          <a:stretch/>
        </p:blipFill>
        <p:spPr>
          <a:xfrm>
            <a:off x="6138367" y="1280160"/>
            <a:ext cx="3383280" cy="3099349"/>
          </a:xfrm>
          <a:prstGeom prst="rect">
            <a:avLst/>
          </a:prstGeom>
          <a:noFill/>
          <a:ln>
            <a:noFill/>
          </a:ln>
        </p:spPr>
      </p:pic>
      <p:sp>
        <p:nvSpPr>
          <p:cNvPr id="649" name="Google Shape;649;p44"/>
          <p:cNvSpPr txBox="1"/>
          <p:nvPr/>
        </p:nvSpPr>
        <p:spPr>
          <a:xfrm>
            <a:off x="6138367" y="447094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Iiams et al. (2024), Fig. 1(A–C). Cry1 loss alters emergence rhythms and brain clock RNA.</a:t>
            </a:r>
            <a:endParaRPr/>
          </a:p>
        </p:txBody>
      </p:sp>
      <p:pic>
        <p:nvPicPr>
          <p:cNvPr descr="i24_f3.png" id="650" name="Google Shape;650;p44"/>
          <p:cNvPicPr preferRelativeResize="0"/>
          <p:nvPr/>
        </p:nvPicPr>
        <p:blipFill rotWithShape="1">
          <a:blip r:embed="rId4">
            <a:alphaModFix/>
          </a:blip>
          <a:srcRect b="0" l="0" r="0" t="0"/>
          <a:stretch/>
        </p:blipFill>
        <p:spPr>
          <a:xfrm>
            <a:off x="9704527" y="2148840"/>
            <a:ext cx="1920239" cy="884198"/>
          </a:xfrm>
          <a:prstGeom prst="rect">
            <a:avLst/>
          </a:prstGeom>
          <a:noFill/>
          <a:ln>
            <a:noFill/>
          </a:ln>
        </p:spPr>
      </p:pic>
      <p:sp>
        <p:nvSpPr>
          <p:cNvPr id="651" name="Google Shape;651;p44"/>
          <p:cNvSpPr txBox="1"/>
          <p:nvPr/>
        </p:nvSpPr>
        <p:spPr>
          <a:xfrm>
            <a:off x="9704527" y="3106190"/>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Iiams et al. (2024), Fig. 3(A–B). Hourly flight activity in wild-type and Cry1 mutants.</a:t>
            </a:r>
            <a:endParaRPr/>
          </a:p>
        </p:txBody>
      </p:sp>
      <p:sp>
        <p:nvSpPr>
          <p:cNvPr id="652" name="Google Shape;652;p44"/>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3" name="Google Shape;653;p4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Iiams et al. (2024)</a:t>
            </a:r>
            <a:endParaRPr/>
          </a:p>
        </p:txBody>
      </p:sp>
      <p:sp>
        <p:nvSpPr>
          <p:cNvPr id="654" name="Google Shape;654;p4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9" name="Shape 659"/>
        <p:cNvGrpSpPr/>
        <p:nvPr/>
      </p:nvGrpSpPr>
      <p:grpSpPr>
        <a:xfrm>
          <a:off x="0" y="0"/>
          <a:ext cx="0" cy="0"/>
          <a:chOff x="0" y="0"/>
          <a:chExt cx="0" cy="0"/>
        </a:xfrm>
      </p:grpSpPr>
      <p:sp>
        <p:nvSpPr>
          <p:cNvPr id="660" name="Google Shape;660;p4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Goal coding differs from coding the current heading</a:t>
            </a:r>
            <a:endParaRPr/>
          </a:p>
        </p:txBody>
      </p:sp>
      <p:sp>
        <p:nvSpPr>
          <p:cNvPr id="661" name="Google Shape;661;p4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Beetz and colleagues recorded central-complex neurons while non-migratory monarchs oriented toward a virtual sun. A </a:t>
            </a:r>
            <a:r>
              <a:rPr b="1" i="0" lang="en-US" sz="1400" u="none" cap="none" strike="noStrike">
                <a:solidFill>
                  <a:srgbClr val="52146E"/>
                </a:solidFill>
                <a:latin typeface="Arial"/>
                <a:ea typeface="Arial"/>
                <a:cs typeface="Arial"/>
                <a:sym typeface="Arial"/>
              </a:rPr>
              <a:t>heading signal</a:t>
            </a:r>
            <a:r>
              <a:rPr b="0" i="0" lang="en-US" sz="1400" u="none" cap="none" strike="noStrike">
                <a:solidFill>
                  <a:srgbClr val="000000"/>
                </a:solidFill>
                <a:latin typeface="Arial"/>
                <a:ea typeface="Arial"/>
                <a:cs typeface="Arial"/>
                <a:sym typeface="Arial"/>
              </a:rPr>
              <a:t> represents current orientation, while a </a:t>
            </a:r>
            <a:r>
              <a:rPr b="1" i="0" lang="en-US" sz="1400" u="none" cap="none" strike="noStrike">
                <a:solidFill>
                  <a:srgbClr val="52146E"/>
                </a:solidFill>
                <a:latin typeface="Arial"/>
                <a:ea typeface="Arial"/>
                <a:cs typeface="Arial"/>
                <a:sym typeface="Arial"/>
              </a:rPr>
              <a:t>goal-direction signal</a:t>
            </a:r>
            <a:r>
              <a:rPr b="0" i="0" lang="en-US" sz="1400" u="none" cap="none" strike="noStrike">
                <a:solidFill>
                  <a:srgbClr val="000000"/>
                </a:solidFill>
                <a:latin typeface="Arial"/>
                <a:ea typeface="Arial"/>
                <a:cs typeface="Arial"/>
                <a:sym typeface="Arial"/>
              </a:rPr>
              <a:t> represents the direction the animal attempts to maintain. Both signals were tested with the same virtual sun. Both signals were tested with the same virtual sun.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Moving the sun-like stimulus altered heading-related tuning, while candidate goal cells kept their association with the chosen target. Aversive conditioning with neck stimulation changed the selected goal by about 130° on average, and goal-related tuning shifted with that preference. Goal-related tuning shifted along with the learned preference. Candidate goal cells held their target association during the sun shift.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dissociation supports distinct neuronal representations of present and desired direction. Controlled stimulation and stable recorded waveforms addressed alternative explanations, and the goals in these non-migrants were arbitrary laboratory targets. Two signals together describe where the animal is pointing and where it aims. Stimulus-driven changes and learned goals act on different neural signals.</a:t>
            </a:r>
            <a:endParaRPr/>
          </a:p>
        </p:txBody>
      </p:sp>
      <p:pic>
        <p:nvPicPr>
          <p:cNvPr descr="b23_f3bf.png" id="662" name="Google Shape;662;p45"/>
          <p:cNvPicPr preferRelativeResize="0"/>
          <p:nvPr/>
        </p:nvPicPr>
        <p:blipFill rotWithShape="1">
          <a:blip r:embed="rId3">
            <a:alphaModFix/>
          </a:blip>
          <a:srcRect b="0" l="0" r="0" t="0"/>
          <a:stretch/>
        </p:blipFill>
        <p:spPr>
          <a:xfrm>
            <a:off x="6138367" y="1280160"/>
            <a:ext cx="3383280" cy="3044318"/>
          </a:xfrm>
          <a:prstGeom prst="rect">
            <a:avLst/>
          </a:prstGeom>
          <a:noFill/>
          <a:ln>
            <a:noFill/>
          </a:ln>
        </p:spPr>
      </p:pic>
      <p:sp>
        <p:nvSpPr>
          <p:cNvPr id="663" name="Google Shape;663;p45"/>
          <p:cNvSpPr txBox="1"/>
          <p:nvPr/>
        </p:nvSpPr>
        <p:spPr>
          <a:xfrm>
            <a:off x="6138367" y="4415918"/>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Beetz et al. (2023), Fig. 3(b,f). Neural tuning during heading and goal manipulations.</a:t>
            </a:r>
            <a:endParaRPr/>
          </a:p>
        </p:txBody>
      </p:sp>
      <p:pic>
        <p:nvPicPr>
          <p:cNvPr descr="h11_f2.png" id="664" name="Google Shape;664;p45"/>
          <p:cNvPicPr preferRelativeResize="0"/>
          <p:nvPr/>
        </p:nvPicPr>
        <p:blipFill rotWithShape="1">
          <a:blip r:embed="rId4">
            <a:alphaModFix/>
          </a:blip>
          <a:srcRect b="0" l="0" r="0" t="0"/>
          <a:stretch/>
        </p:blipFill>
        <p:spPr>
          <a:xfrm>
            <a:off x="9704527" y="2148840"/>
            <a:ext cx="1920239" cy="1632272"/>
          </a:xfrm>
          <a:prstGeom prst="rect">
            <a:avLst/>
          </a:prstGeom>
          <a:noFill/>
          <a:ln>
            <a:noFill/>
          </a:ln>
        </p:spPr>
      </p:pic>
      <p:sp>
        <p:nvSpPr>
          <p:cNvPr id="665" name="Google Shape;665;p45"/>
          <p:cNvSpPr txBox="1"/>
          <p:nvPr/>
        </p:nvSpPr>
        <p:spPr>
          <a:xfrm>
            <a:off x="9704527" y="3854264"/>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2(A–J). Synapsin-labeled central-complex and associated neuropils.</a:t>
            </a:r>
            <a:endParaRPr/>
          </a:p>
        </p:txBody>
      </p:sp>
      <p:sp>
        <p:nvSpPr>
          <p:cNvPr id="666" name="Google Shape;666;p45"/>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7" name="Google Shape;667;p4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Beetz et al. (2023); Heinze &amp; Reppert (2011)</a:t>
            </a:r>
            <a:endParaRPr/>
          </a:p>
        </p:txBody>
      </p:sp>
      <p:sp>
        <p:nvSpPr>
          <p:cNvPr id="668" name="Google Shape;668;p4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3" name="Shape 673"/>
        <p:cNvGrpSpPr/>
        <p:nvPr/>
      </p:nvGrpSpPr>
      <p:grpSpPr>
        <a:xfrm>
          <a:off x="0" y="0"/>
          <a:ext cx="0" cy="0"/>
          <a:chOff x="0" y="0"/>
          <a:chExt cx="0" cy="0"/>
        </a:xfrm>
      </p:grpSpPr>
      <p:sp>
        <p:nvSpPr>
          <p:cNvPr id="674" name="Google Shape;674;p4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Key takeaways</a:t>
            </a:r>
            <a:endParaRPr/>
          </a:p>
        </p:txBody>
      </p:sp>
      <p:sp>
        <p:nvSpPr>
          <p:cNvPr id="675" name="Google Shape;675;p46"/>
          <p:cNvSpPr/>
          <p:nvPr/>
        </p:nvSpPr>
        <p:spPr>
          <a:xfrm>
            <a:off x="566928" y="1234440"/>
            <a:ext cx="5391759" cy="1478279"/>
          </a:xfrm>
          <a:prstGeom prst="rect">
            <a:avLst/>
          </a:prstGeom>
          <a:solidFill>
            <a:srgbClr val="F6F1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6" name="Google Shape;676;p46"/>
          <p:cNvSpPr txBox="1"/>
          <p:nvPr/>
        </p:nvSpPr>
        <p:spPr>
          <a:xfrm>
            <a:off x="749808"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2146E"/>
                </a:solidFill>
                <a:latin typeface="Arial"/>
                <a:ea typeface="Arial"/>
                <a:cs typeface="Arial"/>
                <a:sym typeface="Arial"/>
              </a:rPr>
              <a:t>Time compensation:</a:t>
            </a:r>
            <a:r>
              <a:rPr b="0" i="0" lang="en-US" sz="1500" u="none" cap="none" strike="noStrike">
                <a:solidFill>
                  <a:srgbClr val="000000"/>
                </a:solidFill>
                <a:latin typeface="Arial"/>
                <a:ea typeface="Arial"/>
                <a:cs typeface="Arial"/>
                <a:sym typeface="Arial"/>
              </a:rPr>
              <a:t> Advancing and delaying the entraining light cycle rotate migratory headings in opposite directions. A compass bearing is distinct from a geographic map or a complete migration route.</a:t>
            </a:r>
            <a:endParaRPr/>
          </a:p>
        </p:txBody>
      </p:sp>
      <p:sp>
        <p:nvSpPr>
          <p:cNvPr id="677" name="Google Shape;677;p46"/>
          <p:cNvSpPr/>
          <p:nvPr/>
        </p:nvSpPr>
        <p:spPr>
          <a:xfrm>
            <a:off x="6233007" y="1234440"/>
            <a:ext cx="5391759" cy="1478279"/>
          </a:xfrm>
          <a:prstGeom prst="rect">
            <a:avLst/>
          </a:prstGeom>
          <a:solidFill>
            <a:srgbClr val="F6F1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8" name="Google Shape;678;p46"/>
          <p:cNvSpPr txBox="1"/>
          <p:nvPr/>
        </p:nvSpPr>
        <p:spPr>
          <a:xfrm>
            <a:off x="6415887"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52146E"/>
                </a:solidFill>
                <a:latin typeface="Arial"/>
                <a:ea typeface="Arial"/>
                <a:cs typeface="Arial"/>
                <a:sym typeface="Arial"/>
              </a:rPr>
              <a:t>Antennal clocks:</a:t>
            </a:r>
            <a:r>
              <a:rPr b="0" i="0" lang="en-US" sz="1600" u="none" cap="none" strike="noStrike">
                <a:solidFill>
                  <a:srgbClr val="000000"/>
                </a:solidFill>
                <a:latin typeface="Arial"/>
                <a:ea typeface="Arial"/>
                <a:cs typeface="Arial"/>
                <a:sym typeface="Arial"/>
              </a:rPr>
              <a:t> Either light-accessible antenna can support compensation. Conflicting antennal timing disrupts the shared bearing, and removing the conflicting antenna restores orientation.</a:t>
            </a:r>
            <a:endParaRPr/>
          </a:p>
        </p:txBody>
      </p:sp>
      <p:sp>
        <p:nvSpPr>
          <p:cNvPr id="679" name="Google Shape;679;p46"/>
          <p:cNvSpPr/>
          <p:nvPr/>
        </p:nvSpPr>
        <p:spPr>
          <a:xfrm>
            <a:off x="566928" y="2987040"/>
            <a:ext cx="5391759" cy="1478279"/>
          </a:xfrm>
          <a:prstGeom prst="rect">
            <a:avLst/>
          </a:prstGeom>
          <a:solidFill>
            <a:srgbClr val="F6F1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0" name="Google Shape;680;p46"/>
          <p:cNvSpPr txBox="1"/>
          <p:nvPr/>
        </p:nvSpPr>
        <p:spPr>
          <a:xfrm>
            <a:off x="749808"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2146E"/>
                </a:solidFill>
                <a:latin typeface="Arial"/>
                <a:ea typeface="Arial"/>
                <a:cs typeface="Arial"/>
                <a:sym typeface="Arial"/>
              </a:rPr>
              <a:t>Molecular feedback:</a:t>
            </a:r>
            <a:r>
              <a:rPr b="0" i="0" lang="en-US" sz="1500" u="none" cap="none" strike="noStrike">
                <a:solidFill>
                  <a:srgbClr val="000000"/>
                </a:solidFill>
                <a:latin typeface="Arial"/>
                <a:ea typeface="Arial"/>
                <a:cs typeface="Arial"/>
                <a:sym typeface="Arial"/>
              </a:rPr>
              <a:t> CRY1 supplies light-sensitive clock input, while CRY2 represses clock-controlled transcription. Protein interactions and timed nuclear localization contribute to the feedback cycle.</a:t>
            </a:r>
            <a:endParaRPr/>
          </a:p>
        </p:txBody>
      </p:sp>
      <p:sp>
        <p:nvSpPr>
          <p:cNvPr id="681" name="Google Shape;681;p46"/>
          <p:cNvSpPr/>
          <p:nvPr/>
        </p:nvSpPr>
        <p:spPr>
          <a:xfrm>
            <a:off x="6233007" y="2987040"/>
            <a:ext cx="5391759" cy="1478279"/>
          </a:xfrm>
          <a:prstGeom prst="rect">
            <a:avLst/>
          </a:prstGeom>
          <a:solidFill>
            <a:srgbClr val="F6F1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2" name="Google Shape;682;p46"/>
          <p:cNvSpPr txBox="1"/>
          <p:nvPr/>
        </p:nvSpPr>
        <p:spPr>
          <a:xfrm>
            <a:off x="6415887"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2146E"/>
                </a:solidFill>
                <a:latin typeface="Arial"/>
                <a:ea typeface="Arial"/>
                <a:cs typeface="Arial"/>
                <a:sym typeface="Arial"/>
              </a:rPr>
              <a:t>Converging visual cues:</a:t>
            </a:r>
            <a:r>
              <a:rPr b="0" i="0" lang="en-US" sz="1500" u="none" cap="none" strike="noStrike">
                <a:solidFill>
                  <a:srgbClr val="000000"/>
                </a:solidFill>
                <a:latin typeface="Arial"/>
                <a:ea typeface="Arial"/>
                <a:cs typeface="Arial"/>
                <a:sym typeface="Arial"/>
              </a:rPr>
              <a:t> Central-complex neurons encode polarization and sun-like azimuth. Neural sensitivity to polarization does not establish its necessity for migration when the sun is available.</a:t>
            </a:r>
            <a:endParaRPr/>
          </a:p>
        </p:txBody>
      </p:sp>
      <p:sp>
        <p:nvSpPr>
          <p:cNvPr id="683" name="Google Shape;683;p46"/>
          <p:cNvSpPr/>
          <p:nvPr/>
        </p:nvSpPr>
        <p:spPr>
          <a:xfrm>
            <a:off x="566928" y="4739640"/>
            <a:ext cx="5391759" cy="1478279"/>
          </a:xfrm>
          <a:prstGeom prst="rect">
            <a:avLst/>
          </a:prstGeom>
          <a:solidFill>
            <a:srgbClr val="F6F1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4" name="Google Shape;684;p46"/>
          <p:cNvSpPr txBox="1"/>
          <p:nvPr/>
        </p:nvSpPr>
        <p:spPr>
          <a:xfrm>
            <a:off x="749808"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52146E"/>
                </a:solidFill>
                <a:latin typeface="Arial"/>
                <a:ea typeface="Arial"/>
                <a:cs typeface="Arial"/>
                <a:sym typeface="Arial"/>
              </a:rPr>
              <a:t>Seasonal reversal:</a:t>
            </a:r>
            <a:r>
              <a:rPr b="0" i="0" lang="en-US" sz="1600" u="none" cap="none" strike="noStrike">
                <a:solidFill>
                  <a:srgbClr val="000000"/>
                </a:solidFill>
                <a:latin typeface="Arial"/>
                <a:ea typeface="Arial"/>
                <a:cs typeface="Arial"/>
                <a:sym typeface="Arial"/>
              </a:rPr>
              <a:t> Effective multiweek cold exposure induces northward orientation while time compensation remains available. Warm aging alone did not produce reversal in the tested migrants.</a:t>
            </a:r>
            <a:endParaRPr/>
          </a:p>
        </p:txBody>
      </p:sp>
      <p:sp>
        <p:nvSpPr>
          <p:cNvPr id="685" name="Google Shape;685;p46"/>
          <p:cNvSpPr/>
          <p:nvPr/>
        </p:nvSpPr>
        <p:spPr>
          <a:xfrm>
            <a:off x="6233007" y="4739640"/>
            <a:ext cx="5391759" cy="1478279"/>
          </a:xfrm>
          <a:prstGeom prst="rect">
            <a:avLst/>
          </a:prstGeom>
          <a:solidFill>
            <a:srgbClr val="F6F1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6" name="Google Shape;686;p46"/>
          <p:cNvSpPr txBox="1"/>
          <p:nvPr/>
        </p:nvSpPr>
        <p:spPr>
          <a:xfrm>
            <a:off x="6415887"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2146E"/>
                </a:solidFill>
                <a:latin typeface="Arial"/>
                <a:ea typeface="Arial"/>
                <a:cs typeface="Arial"/>
                <a:sym typeface="Arial"/>
              </a:rPr>
              <a:t>Representations and limits:</a:t>
            </a:r>
            <a:r>
              <a:rPr b="0" i="0" lang="en-US" sz="1500" u="none" cap="none" strike="noStrike">
                <a:solidFill>
                  <a:srgbClr val="000000"/>
                </a:solidFill>
                <a:latin typeface="Arial"/>
                <a:ea typeface="Arial"/>
                <a:cs typeface="Arial"/>
                <a:sym typeface="Arial"/>
              </a:rPr>
              <a:t> Current heading and desired direction have distinct neuronal correlates. A complete causal pathway from antennal timing through compass computation to steering remains unidentified.</a:t>
            </a:r>
            <a:endParaRPr/>
          </a:p>
        </p:txBody>
      </p:sp>
      <p:sp>
        <p:nvSpPr>
          <p:cNvPr id="687" name="Google Shape;687;p46"/>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8" name="Google Shape;688;p4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Mouritsen &amp; Frost (2002); Merlin et al. (2009); Guerra et al. (2012, 2013); Beetz et al. (2023)</a:t>
            </a:r>
            <a:endParaRPr/>
          </a:p>
        </p:txBody>
      </p:sp>
      <p:sp>
        <p:nvSpPr>
          <p:cNvPr id="689" name="Google Shape;689;p4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46</a:t>
            </a:r>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22" name="Google Shape;622;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Cold exposure produces northward headings</a:t>
            </a:r>
            <a:endParaRPr/>
          </a:p>
        </p:txBody>
      </p:sp>
      <p:sp>
        <p:nvSpPr>
          <p:cNvPr id="623" name="Google Shape;623;p4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Guerra and Reppert exposed fall migrants to 24 days of conditions resembling the overwintering environment, at 11°C during the light phase and 4°C during darkness. Both treatments included cold, but one gradually increased day length while the other kept a constant 12-h light:12-h dark cycle. Those conditions simulate the overwintering thermal regime.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Both cold-treated groups oriented near 358° after warming enough to fly. Warm-housed animals retained a southwest direction near 227°. The northward orientation appeared with or without the changing photoperiod. Northward headings were measured after the animals warmed enough to fly. The warm group's southwest heading was the reference for that response.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24-day treatment provides an effective exposure for inducing the reversal in these experiments. Cold therefore acts as an environmental trigger, while time-compensated sun orientation remains available after the switch. The duration of exposure was 24 days, which set the exposure used here. Cold exposure tested here was a sufficient trigger in these conditions.</a:t>
            </a:r>
            <a:endParaRPr/>
          </a:p>
        </p:txBody>
      </p:sp>
      <p:pic>
        <p:nvPicPr>
          <p:cNvPr descr="g13_f3bc.png" id="624" name="Google Shape;624;p42"/>
          <p:cNvPicPr preferRelativeResize="0"/>
          <p:nvPr/>
        </p:nvPicPr>
        <p:blipFill rotWithShape="1">
          <a:blip r:embed="rId2">
            <a:alphaModFix/>
          </a:blip>
          <a:srcRect b="0" l="0" r="0" t="0"/>
          <a:stretch/>
        </p:blipFill>
        <p:spPr>
          <a:xfrm>
            <a:off x="6138367" y="1280160"/>
            <a:ext cx="5486400" cy="4068112"/>
          </a:xfrm>
          <a:prstGeom prst="rect">
            <a:avLst/>
          </a:prstGeom>
          <a:noFill/>
          <a:ln>
            <a:noFill/>
          </a:ln>
        </p:spPr>
      </p:pic>
      <p:sp>
        <p:nvSpPr>
          <p:cNvPr id="625" name="Google Shape;625;p42"/>
          <p:cNvSpPr txBox="1"/>
          <p:nvPr/>
        </p:nvSpPr>
        <p:spPr>
          <a:xfrm>
            <a:off x="6138367" y="543971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Guerra &amp; Reppert (2013), Fig. 3(B–C). Northward headings after two cold-treatment schedules.</a:t>
            </a:r>
            <a:endParaRPr/>
          </a:p>
        </p:txBody>
      </p:sp>
      <p:sp>
        <p:nvSpPr>
          <p:cNvPr id="626" name="Google Shape;626;p42"/>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7" name="Google Shape;627;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Guerra &amp; Reppert (2013)</a:t>
            </a:r>
            <a:endParaRPr/>
          </a:p>
        </p:txBody>
      </p:sp>
      <p:sp>
        <p:nvSpPr>
          <p:cNvPr id="628" name="Google Shape;628;p42"/>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42a</a:t>
            </a:r>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82" name="Google Shape;582;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Migrants show narrower green-light tuning</a:t>
            </a:r>
            <a:endParaRPr/>
          </a:p>
        </p:txBody>
      </p:sp>
      <p:sp>
        <p:nvSpPr>
          <p:cNvPr id="583" name="Google Shape;583;p3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Nguyen and colleagues recorded tangential neurons from autumn migrants and from non-migratory monarchs. A green 530-nm light spot rotated around the animal at 30° elevation, and the angular range producing elevated spike rates was measured. The angular range is a direct measure of tuning width.</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Full width at half maximum gives the width of a tuning curve at half its peak response. Migrants averaged about 83°, and non-migrants averaged about 118°. Peak firing rates were broadly similar, so migrants differed mainly in how narrowly they selected direction. Full width at half maximum is a standard width measure for tuning curves.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narrower tuning is associated with migratory condition in these recordings. Wild migrants and commercially sourced non-migrants differed in origin and rearing, so the link between tuning and migration is an association between two groups. Narrower tuning therefore characterizes the migrants in this data set. Peak rates contributed less to the difference than width did.</a:t>
            </a:r>
            <a:endParaRPr/>
          </a:p>
        </p:txBody>
      </p:sp>
      <p:pic>
        <p:nvPicPr>
          <p:cNvPr descr="n21_f3.png" id="584" name="Google Shape;584;p39"/>
          <p:cNvPicPr preferRelativeResize="0"/>
          <p:nvPr/>
        </p:nvPicPr>
        <p:blipFill rotWithShape="1">
          <a:blip r:embed="rId2">
            <a:alphaModFix/>
          </a:blip>
          <a:srcRect b="0" l="0" r="0" t="0"/>
          <a:stretch/>
        </p:blipFill>
        <p:spPr>
          <a:xfrm>
            <a:off x="6138367" y="1280160"/>
            <a:ext cx="3383280" cy="2763296"/>
          </a:xfrm>
          <a:prstGeom prst="rect">
            <a:avLst/>
          </a:prstGeom>
          <a:noFill/>
          <a:ln>
            <a:noFill/>
          </a:ln>
        </p:spPr>
      </p:pic>
      <p:sp>
        <p:nvSpPr>
          <p:cNvPr id="585" name="Google Shape;585;p39"/>
          <p:cNvSpPr txBox="1"/>
          <p:nvPr/>
        </p:nvSpPr>
        <p:spPr>
          <a:xfrm>
            <a:off x="6138367" y="4134896"/>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Nguyen et al. (2021), Fig. 3(a–c). Migratory and non-migratory tangential-neuron tuning.</a:t>
            </a:r>
            <a:endParaRPr/>
          </a:p>
        </p:txBody>
      </p:sp>
      <p:pic>
        <p:nvPicPr>
          <p:cNvPr descr="h11_tl.png" id="586" name="Google Shape;586;p39"/>
          <p:cNvPicPr preferRelativeResize="0"/>
          <p:nvPr/>
        </p:nvPicPr>
        <p:blipFill rotWithShape="1">
          <a:blip r:embed="rId3">
            <a:alphaModFix/>
          </a:blip>
          <a:srcRect b="0" l="0" r="0" t="0"/>
          <a:stretch/>
        </p:blipFill>
        <p:spPr>
          <a:xfrm>
            <a:off x="9704527" y="2148840"/>
            <a:ext cx="1920239" cy="1071410"/>
          </a:xfrm>
          <a:prstGeom prst="rect">
            <a:avLst/>
          </a:prstGeom>
          <a:noFill/>
          <a:ln>
            <a:noFill/>
          </a:ln>
        </p:spPr>
      </p:pic>
      <p:sp>
        <p:nvSpPr>
          <p:cNvPr id="587" name="Google Shape;587;p39"/>
          <p:cNvSpPr txBox="1"/>
          <p:nvPr/>
        </p:nvSpPr>
        <p:spPr>
          <a:xfrm>
            <a:off x="9704527" y="3293402"/>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3(A). Dye-filled tangential input neuron TL2.</a:t>
            </a:r>
            <a:endParaRPr/>
          </a:p>
        </p:txBody>
      </p:sp>
      <p:sp>
        <p:nvSpPr>
          <p:cNvPr id="588" name="Google Shape;588;p39"/>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9" name="Google Shape;589;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Nguyen et al. (2021); Heinze &amp; Reppert (2011)</a:t>
            </a:r>
            <a:endParaRPr/>
          </a:p>
        </p:txBody>
      </p:sp>
      <p:sp>
        <p:nvSpPr>
          <p:cNvPr id="590" name="Google Shape;590;p39"/>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39a</a:t>
            </a:r>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40" name="Google Shape;540;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Compass neurons prefer specific E-vector angles</a:t>
            </a:r>
            <a:endParaRPr/>
          </a:p>
        </p:txBody>
      </p:sp>
      <p:sp>
        <p:nvSpPr>
          <p:cNvPr id="541" name="Google Shape;541;p3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Heinze and Reppert recorded identified compass neurons while presenting polarized 365-nm UV light from above. The E-vector rotated through 360° at 30° or 60° per second, so every polarization angle was presented during the recording. Each sweep covered the full polarization axis during the recording.</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Action potentials, brief electrical spikes, occurred at different rates for different E-vector angles. The preferred and suppressed axes sat about 90° apart, and the response repeated after 180°, matching the axial symmetry of linear polarization. Intracellular traces kept voltage and time calibration. Responses to each angle were measured in the same cell.</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Neurons in this circuit are sensitive to the polarization axis under controlled stimulation. Behavioral masking addresses a different question, because it tests whether the input drives orientation during flight. Lab tuning curves give the expected response to each E-vector angle.</a:t>
            </a:r>
            <a:endParaRPr/>
          </a:p>
        </p:txBody>
      </p:sp>
      <p:pic>
        <p:nvPicPr>
          <p:cNvPr descr="h11_f4b.png" id="542" name="Google Shape;542;p36"/>
          <p:cNvPicPr preferRelativeResize="0"/>
          <p:nvPr/>
        </p:nvPicPr>
        <p:blipFill rotWithShape="1">
          <a:blip r:embed="rId2">
            <a:alphaModFix/>
          </a:blip>
          <a:srcRect b="0" l="0" r="0" t="0"/>
          <a:stretch/>
        </p:blipFill>
        <p:spPr>
          <a:xfrm>
            <a:off x="6138367" y="1280160"/>
            <a:ext cx="3383280" cy="3585778"/>
          </a:xfrm>
          <a:prstGeom prst="rect">
            <a:avLst/>
          </a:prstGeom>
          <a:noFill/>
          <a:ln>
            <a:noFill/>
          </a:ln>
        </p:spPr>
      </p:pic>
      <p:sp>
        <p:nvSpPr>
          <p:cNvPr id="543" name="Google Shape;543;p36"/>
          <p:cNvSpPr txBox="1"/>
          <p:nvPr/>
        </p:nvSpPr>
        <p:spPr>
          <a:xfrm>
            <a:off x="6138367" y="4957378"/>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4(A–D). Intracellular polarization responses and tuning.</a:t>
            </a:r>
            <a:endParaRPr/>
          </a:p>
        </p:txBody>
      </p:sp>
      <p:pic>
        <p:nvPicPr>
          <p:cNvPr descr="h11_tl.png" id="544" name="Google Shape;544;p36"/>
          <p:cNvPicPr preferRelativeResize="0"/>
          <p:nvPr/>
        </p:nvPicPr>
        <p:blipFill rotWithShape="1">
          <a:blip r:embed="rId3">
            <a:alphaModFix/>
          </a:blip>
          <a:srcRect b="0" l="0" r="0" t="0"/>
          <a:stretch/>
        </p:blipFill>
        <p:spPr>
          <a:xfrm>
            <a:off x="9704527" y="2148840"/>
            <a:ext cx="1920239" cy="1071410"/>
          </a:xfrm>
          <a:prstGeom prst="rect">
            <a:avLst/>
          </a:prstGeom>
          <a:noFill/>
          <a:ln>
            <a:noFill/>
          </a:ln>
        </p:spPr>
      </p:pic>
      <p:sp>
        <p:nvSpPr>
          <p:cNvPr id="545" name="Google Shape;545;p36"/>
          <p:cNvSpPr txBox="1"/>
          <p:nvPr/>
        </p:nvSpPr>
        <p:spPr>
          <a:xfrm>
            <a:off x="9704527" y="3293402"/>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3(A). Dye-filled tangential input neuron TL2.</a:t>
            </a:r>
            <a:endParaRPr/>
          </a:p>
        </p:txBody>
      </p:sp>
      <p:sp>
        <p:nvSpPr>
          <p:cNvPr id="546" name="Google Shape;546;p36"/>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Heinze &amp; Reppert (2011)</a:t>
            </a:r>
            <a:endParaRPr/>
          </a:p>
        </p:txBody>
      </p:sp>
      <p:sp>
        <p:nvSpPr>
          <p:cNvPr id="548" name="Google Shape;548;p36"/>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36a</a:t>
            </a:r>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00" name="Google Shape;500;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Removing a conflicting antenna restores bearing</a:t>
            </a:r>
            <a:endParaRPr/>
          </a:p>
        </p:txBody>
      </p:sp>
      <p:sp>
        <p:nvSpPr>
          <p:cNvPr id="501" name="Google Shape;501;p3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Guerra and colleagues first flew migrants with one black-painted and one clear-painted antenna, which produced disorganized group headings. The black-painted appendage was then removed, and flight was tested again in the same animals. The same animal therefore carried both conditions in turn. That sequence keeps the individual constant across conditions.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previously disorganized animals regained a southwest group heading near 214°. Combining repeated-flight controls with first-flight removal controls gave a mean near 216°, which reduces the chance that simulator experience explains the recovery. Removing the black-painted antenna restored a common bearing. The group mean moved to a value close to the earlier southwest headings.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Removing a conflicting timing source restored a consistent bearing, which supports coordinated input from both antennae. The effect depends on which source is removed, and the clear antenna stayed available throughout the intervention. The clear antenna carried the timing signal through both phases. Coordinated input supports the recovery.</a:t>
            </a:r>
            <a:endParaRPr/>
          </a:p>
        </p:txBody>
      </p:sp>
      <p:pic>
        <p:nvPicPr>
          <p:cNvPr descr="g12_f2.png" id="502" name="Google Shape;502;p33"/>
          <p:cNvPicPr preferRelativeResize="0"/>
          <p:nvPr/>
        </p:nvPicPr>
        <p:blipFill rotWithShape="1">
          <a:blip r:embed="rId2">
            <a:alphaModFix/>
          </a:blip>
          <a:srcRect b="0" l="0" r="0" t="0"/>
          <a:stretch/>
        </p:blipFill>
        <p:spPr>
          <a:xfrm>
            <a:off x="7024594" y="1280160"/>
            <a:ext cx="1610824" cy="4297679"/>
          </a:xfrm>
          <a:prstGeom prst="rect">
            <a:avLst/>
          </a:prstGeom>
          <a:noFill/>
          <a:ln>
            <a:noFill/>
          </a:ln>
        </p:spPr>
      </p:pic>
      <p:sp>
        <p:nvSpPr>
          <p:cNvPr id="503" name="Google Shape;503;p33"/>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Guerra et al. (2012), Fig. 2(A–C). Conflicting antennae and rescue after black antenna removal.</a:t>
            </a:r>
            <a:endParaRPr/>
          </a:p>
        </p:txBody>
      </p:sp>
      <p:pic>
        <p:nvPicPr>
          <p:cNvPr descr="monarch_fws.jpg" id="504" name="Google Shape;504;p33"/>
          <p:cNvPicPr preferRelativeResize="0"/>
          <p:nvPr/>
        </p:nvPicPr>
        <p:blipFill rotWithShape="1">
          <a:blip r:embed="rId3">
            <a:alphaModFix/>
          </a:blip>
          <a:srcRect b="0" l="0" r="0" t="0"/>
          <a:stretch/>
        </p:blipFill>
        <p:spPr>
          <a:xfrm>
            <a:off x="9704527" y="2148840"/>
            <a:ext cx="1920239" cy="1280159"/>
          </a:xfrm>
          <a:prstGeom prst="rect">
            <a:avLst/>
          </a:prstGeom>
          <a:noFill/>
          <a:ln>
            <a:noFill/>
          </a:ln>
        </p:spPr>
      </p:pic>
      <p:sp>
        <p:nvSpPr>
          <p:cNvPr id="506" name="Google Shape;506;p33"/>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7" name="Google Shape;507;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Guerra et al. (2012)</a:t>
            </a:r>
            <a:endParaRPr/>
          </a:p>
        </p:txBody>
      </p:sp>
      <p:sp>
        <p:nvSpPr>
          <p:cNvPr id="508" name="Google Shape;508;p33"/>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33a</a:t>
            </a:r>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58" name="Google Shape;458;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Black antennal paint shifts the selected heading</a:t>
            </a:r>
            <a:endParaRPr/>
          </a:p>
        </p:txBody>
      </p:sp>
      <p:sp>
        <p:nvSpPr>
          <p:cNvPr id="459" name="Google Shape;459;p30"/>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Merlin and colleagues coated the antennae with black or clear enamel. Black paint blocked transmission across the tested 300–800 nm range, while clear paint kept transmission high and served as the control for the painting procedure. Both coatings left the appendage physically present. Both groups were tested at the same later-autumn season.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Black-painted butterflies chose an abnormal northward bearing near 344° on the normal schedule. Delayed black-painted animals lost group organization, with directions disorganized across the group rather than sharing one heading. The 344° bearing sits well north of the clear-painted mean. Delayed black-painted groups showed no coherent direction. Their abnormal heading shows the effect of blocked antennal light.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Clear-painted animals kept a consistent heading and moved it after a 6-h delay, shifting from about 162° to 269°. The paint result connects antennal light access to time-compensated orientation. The clear-painted shift is the reference against which black-painted animals were judged. Its magnitude was about 107°. Antennal light access is therefore a determinant of the selected heading.</a:t>
            </a:r>
            <a:endParaRPr/>
          </a:p>
        </p:txBody>
      </p:sp>
      <p:pic>
        <p:nvPicPr>
          <p:cNvPr descr="m09_f4a.png" id="460" name="Google Shape;460;p30"/>
          <p:cNvPicPr preferRelativeResize="0"/>
          <p:nvPr/>
        </p:nvPicPr>
        <p:blipFill rotWithShape="1">
          <a:blip r:embed="rId2">
            <a:alphaModFix/>
          </a:blip>
          <a:srcRect b="0" l="0" r="0" t="0"/>
          <a:stretch/>
        </p:blipFill>
        <p:spPr>
          <a:xfrm>
            <a:off x="6359648" y="1280160"/>
            <a:ext cx="2940716" cy="4297679"/>
          </a:xfrm>
          <a:prstGeom prst="rect">
            <a:avLst/>
          </a:prstGeom>
          <a:noFill/>
          <a:ln>
            <a:noFill/>
          </a:ln>
        </p:spPr>
      </p:pic>
      <p:sp>
        <p:nvSpPr>
          <p:cNvPr id="461" name="Google Shape;461;p30"/>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Merlin et al. (2009), Fig. 4(A). Orientation with clear or black antennal paint.</a:t>
            </a:r>
            <a:endParaRPr/>
          </a:p>
        </p:txBody>
      </p:sp>
      <p:pic>
        <p:nvPicPr>
          <p:cNvPr descr="monarch_fws.jpg" id="462" name="Google Shape;462;p30"/>
          <p:cNvPicPr preferRelativeResize="0"/>
          <p:nvPr/>
        </p:nvPicPr>
        <p:blipFill rotWithShape="1">
          <a:blip r:embed="rId3">
            <a:alphaModFix/>
          </a:blip>
          <a:srcRect b="0" l="0" r="0" t="0"/>
          <a:stretch/>
        </p:blipFill>
        <p:spPr>
          <a:xfrm>
            <a:off x="9704527" y="2148840"/>
            <a:ext cx="1920239" cy="1280159"/>
          </a:xfrm>
          <a:prstGeom prst="rect">
            <a:avLst/>
          </a:prstGeom>
          <a:noFill/>
          <a:ln>
            <a:noFill/>
          </a:ln>
        </p:spPr>
      </p:pic>
      <p:sp>
        <p:nvSpPr>
          <p:cNvPr id="464" name="Google Shape;464;p30"/>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Merlin et al. (2009)</a:t>
            </a:r>
            <a:endParaRPr/>
          </a:p>
        </p:txBody>
      </p:sp>
      <p:sp>
        <p:nvSpPr>
          <p:cNvPr id="466" name="Google Shape;466;p30"/>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30a</a:t>
            </a:r>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16" name="Google Shape;416;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Antennal clock RNA rhythms persist in darkness</a:t>
            </a:r>
            <a:endParaRPr/>
          </a:p>
        </p:txBody>
      </p:sp>
      <p:sp>
        <p:nvSpPr>
          <p:cNvPr id="417" name="Google Shape;417;p27"/>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Merlin and colleagues measured clock-associated RNA in isolated monarch antennae across a light–dark cycle. The transcripts were per, tim and cry2, and cry1 was assessed alongside them. Quantitative PCR converts RNA to DNA so that abundance can be estimated for each sequence. The quantitative assay therefore reports transcript abundance across the cycle.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Antennal per, tim and cry2 RNA varied across the cycle and continued to vary after transfer to constant darkness. Levels were lower near ZT6 than near ZT18, while cry1 RNA showed no such phase difference. Their rhythms persisted without the light cycle present. Levels changed across the day in the cycling condition.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molecular clock program is present in the appendages needed for normal orientation. Rhythms that continue in darkness point to endogenous timing rather than a direct response to light onset, and they come from the antenna itself. Quantitative PCR measured these transcripts in the same isolated samples. Tissue-level measurements therefore underlie this rhythm claim.</a:t>
            </a:r>
            <a:endParaRPr/>
          </a:p>
        </p:txBody>
      </p:sp>
      <p:pic>
        <p:nvPicPr>
          <p:cNvPr descr="m09_f2ab.png" id="418" name="Google Shape;418;p27"/>
          <p:cNvPicPr preferRelativeResize="0"/>
          <p:nvPr/>
        </p:nvPicPr>
        <p:blipFill rotWithShape="1">
          <a:blip r:embed="rId2">
            <a:alphaModFix/>
          </a:blip>
          <a:srcRect b="0" l="0" r="0" t="0"/>
          <a:stretch/>
        </p:blipFill>
        <p:spPr>
          <a:xfrm>
            <a:off x="7095860" y="1280160"/>
            <a:ext cx="1468292" cy="4297679"/>
          </a:xfrm>
          <a:prstGeom prst="rect">
            <a:avLst/>
          </a:prstGeom>
          <a:noFill/>
          <a:ln>
            <a:noFill/>
          </a:ln>
        </p:spPr>
      </p:pic>
      <p:sp>
        <p:nvSpPr>
          <p:cNvPr id="419" name="Google Shape;419;p27"/>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Merlin et al. (2009), Fig. 2(A–B). Antennal clock RNA in light–dark and constant darkness.</a:t>
            </a:r>
            <a:endParaRPr/>
          </a:p>
        </p:txBody>
      </p:sp>
      <p:pic>
        <p:nvPicPr>
          <p:cNvPr descr="monarch_fws.jpg" id="420" name="Google Shape;420;p27"/>
          <p:cNvPicPr preferRelativeResize="0"/>
          <p:nvPr/>
        </p:nvPicPr>
        <p:blipFill rotWithShape="1">
          <a:blip r:embed="rId3">
            <a:alphaModFix/>
          </a:blip>
          <a:srcRect b="0" l="0" r="0" t="0"/>
          <a:stretch/>
        </p:blipFill>
        <p:spPr>
          <a:xfrm>
            <a:off x="9704527" y="2148840"/>
            <a:ext cx="1920239" cy="1280159"/>
          </a:xfrm>
          <a:prstGeom prst="rect">
            <a:avLst/>
          </a:prstGeom>
          <a:noFill/>
          <a:ln>
            <a:noFill/>
          </a:ln>
        </p:spPr>
      </p:pic>
      <p:sp>
        <p:nvSpPr>
          <p:cNvPr id="422" name="Google Shape;422;p27"/>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Merlin et al. (2009)</a:t>
            </a:r>
            <a:endParaRPr/>
          </a:p>
        </p:txBody>
      </p:sp>
      <p:sp>
        <p:nvSpPr>
          <p:cNvPr id="424" name="Google Shape;424;p27"/>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27a</a:t>
            </a:r>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74" name="Google Shape;374;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CRY2 fibers in the central body vary daily</a:t>
            </a:r>
            <a:endParaRPr/>
          </a:p>
        </p:txBody>
      </p:sp>
      <p:sp>
        <p:nvSpPr>
          <p:cNvPr id="375" name="Google Shape;375;p24"/>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central body is part of the insect central complex, a set of brain neuropils linked to orientation. Neuropils are regions dense with neuronal processes and synaptic connections, so they can carry signals between cell groups. Zhu and colleagues found CRY2-containing fibers in this region.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maximum CRY2 staining occurred near CT15, and the minimum occurred near CT9, both measured in constant darkness. Heinze and Reppert's synapsin labeling identifies the central-complex anatomy in which these fibers sit. Staining varied with clock phase in constant darkness. The fiber signal was measured across circadian time. The timing of the maximum and minimum differs by six circadian hours.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A rhythmic protein signal in an orientation-associated region suggests a possible route from clock state to compass processing. Establishing that route depends on identifying the connected cells and manipulating their signal during compass recording. Recording compass output during manipulation tests that connection directly. The link would be tested by manipulating those cells during recording.</a:t>
            </a:r>
            <a:endParaRPr/>
          </a:p>
        </p:txBody>
      </p:sp>
      <p:pic>
        <p:nvPicPr>
          <p:cNvPr descr="z08_f7ijk.png" id="376" name="Google Shape;376;p24"/>
          <p:cNvPicPr preferRelativeResize="0"/>
          <p:nvPr/>
        </p:nvPicPr>
        <p:blipFill rotWithShape="1">
          <a:blip r:embed="rId2">
            <a:alphaModFix/>
          </a:blip>
          <a:srcRect b="0" l="0" r="0" t="0"/>
          <a:stretch/>
        </p:blipFill>
        <p:spPr>
          <a:xfrm>
            <a:off x="7137101" y="1280160"/>
            <a:ext cx="1385811" cy="4297679"/>
          </a:xfrm>
          <a:prstGeom prst="rect">
            <a:avLst/>
          </a:prstGeom>
          <a:noFill/>
          <a:ln>
            <a:noFill/>
          </a:ln>
        </p:spPr>
      </p:pic>
      <p:sp>
        <p:nvSpPr>
          <p:cNvPr id="377" name="Google Shape;377;p24"/>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7(I–K). Central-body CRY2 staining varies in constant darkness.</a:t>
            </a:r>
            <a:endParaRPr/>
          </a:p>
        </p:txBody>
      </p:sp>
      <p:pic>
        <p:nvPicPr>
          <p:cNvPr descr="h11_f2.png" id="378" name="Google Shape;378;p24"/>
          <p:cNvPicPr preferRelativeResize="0"/>
          <p:nvPr/>
        </p:nvPicPr>
        <p:blipFill rotWithShape="1">
          <a:blip r:embed="rId3">
            <a:alphaModFix/>
          </a:blip>
          <a:srcRect b="0" l="0" r="0" t="0"/>
          <a:stretch/>
        </p:blipFill>
        <p:spPr>
          <a:xfrm>
            <a:off x="9704527" y="2148840"/>
            <a:ext cx="1920239" cy="1632272"/>
          </a:xfrm>
          <a:prstGeom prst="rect">
            <a:avLst/>
          </a:prstGeom>
          <a:noFill/>
          <a:ln>
            <a:noFill/>
          </a:ln>
        </p:spPr>
      </p:pic>
      <p:sp>
        <p:nvSpPr>
          <p:cNvPr id="379" name="Google Shape;379;p24"/>
          <p:cNvSpPr txBox="1"/>
          <p:nvPr/>
        </p:nvSpPr>
        <p:spPr>
          <a:xfrm>
            <a:off x="9704527" y="3854264"/>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Heinze &amp; Reppert (2011), Fig. 2(A–J). Synapsin-labeled central-complex and associated neuropils.</a:t>
            </a:r>
            <a:endParaRPr/>
          </a:p>
        </p:txBody>
      </p:sp>
      <p:sp>
        <p:nvSpPr>
          <p:cNvPr id="380" name="Google Shape;380;p24"/>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Zhu et al. (2008); Heinze &amp; Reppert (2011)</a:t>
            </a:r>
            <a:endParaRPr/>
          </a:p>
        </p:txBody>
      </p:sp>
      <p:sp>
        <p:nvSpPr>
          <p:cNvPr id="382" name="Google Shape;382;p24"/>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24a</a:t>
            </a:r>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34" name="Google Shape;334;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CRY2 knockdown raises reporter activity</a:t>
            </a:r>
            <a:endParaRPr/>
          </a:p>
        </p:txBody>
      </p:sp>
      <p:sp>
        <p:nvSpPr>
          <p:cNvPr id="335" name="Google Shape;335;p21"/>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Zhu and colleagues reduced endogenous CRY2 in DpN1 cells with RNA interference and set the results against a control sequence. Protein measurements confirmed that the targeted regulator was depleted. Each treatment used the same culture system and reporter readout. Knockdown acted on endogenous CRY2 in these cells. Knockdown was measured at the protein and RNA levels.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CRY2 reduction increased reporter activity about threefold. Across a 24-h light–dark cycle, per RNA remained near its peak values after cry2 interference, instead of following the rise and fall seen in controls. The control cells showed the normal daily rise and fall. The knockdown therefore changed both reporter and RNA rhythms.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loss-of-function result matches the gain-of-function assay, in which added CRY2 reduced transcription. Together, the two tests show negative feedback, with clock-associated proteins restraining the transcription that produces them. Adding CRY2 suppressed transcription in one test, and removing it raised transcription in the other. The two experiments point the same way.</a:t>
            </a:r>
            <a:endParaRPr/>
          </a:p>
        </p:txBody>
      </p:sp>
      <p:pic>
        <p:nvPicPr>
          <p:cNvPr descr="z08_f5b.png" id="336" name="Google Shape;336;p21"/>
          <p:cNvPicPr preferRelativeResize="0"/>
          <p:nvPr/>
        </p:nvPicPr>
        <p:blipFill rotWithShape="1">
          <a:blip r:embed="rId2">
            <a:alphaModFix/>
          </a:blip>
          <a:srcRect b="0" l="0" r="0" t="0"/>
          <a:stretch/>
        </p:blipFill>
        <p:spPr>
          <a:xfrm>
            <a:off x="7604353" y="1280160"/>
            <a:ext cx="2554427" cy="2560320"/>
          </a:xfrm>
          <a:prstGeom prst="rect">
            <a:avLst/>
          </a:prstGeom>
          <a:noFill/>
          <a:ln>
            <a:noFill/>
          </a:ln>
        </p:spPr>
      </p:pic>
      <p:sp>
        <p:nvSpPr>
          <p:cNvPr id="337" name="Google Shape;337;p21"/>
          <p:cNvSpPr txBox="1"/>
          <p:nvPr/>
        </p:nvSpPr>
        <p:spPr>
          <a:xfrm>
            <a:off x="6138367" y="393192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5(B). Protein knockdown and transcriptional reporter activity.</a:t>
            </a:r>
            <a:endParaRPr/>
          </a:p>
        </p:txBody>
      </p:sp>
      <p:pic>
        <p:nvPicPr>
          <p:cNvPr descr="z08_f5d.png" id="338" name="Google Shape;338;p21"/>
          <p:cNvPicPr preferRelativeResize="0"/>
          <p:nvPr/>
        </p:nvPicPr>
        <p:blipFill rotWithShape="1">
          <a:blip r:embed="rId3">
            <a:alphaModFix/>
          </a:blip>
          <a:srcRect b="0" l="0" r="0" t="0"/>
          <a:stretch/>
        </p:blipFill>
        <p:spPr>
          <a:xfrm>
            <a:off x="7973745" y="4389120"/>
            <a:ext cx="1815643" cy="1371599"/>
          </a:xfrm>
          <a:prstGeom prst="rect">
            <a:avLst/>
          </a:prstGeom>
          <a:noFill/>
          <a:ln>
            <a:noFill/>
          </a:ln>
        </p:spPr>
      </p:pic>
      <p:sp>
        <p:nvSpPr>
          <p:cNvPr id="339" name="Google Shape;339;p21"/>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5(D). per RNA after cry2 knockdown across a light–dark cycle.</a:t>
            </a:r>
            <a:endParaRPr/>
          </a:p>
        </p:txBody>
      </p:sp>
      <p:sp>
        <p:nvSpPr>
          <p:cNvPr id="340" name="Google Shape;340;p21"/>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1" name="Google Shape;341;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Zhu et al. (2008)</a:t>
            </a:r>
            <a:endParaRPr/>
          </a:p>
        </p:txBody>
      </p:sp>
      <p:sp>
        <p:nvSpPr>
          <p:cNvPr id="342" name="Google Shape;342;p21"/>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21a</a:t>
            </a:r>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94" name="Google Shape;294;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CRY1 knockdown blocks light-driven TIM decline</a:t>
            </a:r>
            <a:endParaRPr/>
          </a:p>
        </p:txBody>
      </p:sp>
      <p:sp>
        <p:nvSpPr>
          <p:cNvPr id="295" name="Google Shape;295;p18"/>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Zhu and colleagues used cultured monarch DpN1 cells and RNA interference to lower CRY1 expression. Control cells received interference directed against green fluorescent protein, which served as the reference treatment. Protein levels were measured after the light exposure time course. Cultured cells allow the light response to be examined in isolation.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Under the control treatment, TIM decreased during the light-exposure time course before PER and CRY2 decreased. The cry1 interference prevented this normal light-dependent decline of TIM, the TIMELESS clock protein. CRY1 knockdown therefore changes the light response of TIM. The TIM result is a protein measurement rather than an RNA one.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These protein measurements support CRY1-dependent light input to clock regulation. Brain labeling places CRY1 alongside PER in candidate clock cells, which connects the cell-culture result to the brain. CRY1 is thus a light-responsive input to the clock. The cell-culture result has a brain counterpart in the same cell group.</a:t>
            </a:r>
            <a:endParaRPr/>
          </a:p>
        </p:txBody>
      </p:sp>
      <p:pic>
        <p:nvPicPr>
          <p:cNvPr descr="z08_f2.png" id="296" name="Google Shape;296;p18"/>
          <p:cNvPicPr preferRelativeResize="0"/>
          <p:nvPr/>
        </p:nvPicPr>
        <p:blipFill rotWithShape="1">
          <a:blip r:embed="rId2">
            <a:alphaModFix/>
          </a:blip>
          <a:srcRect b="0" l="0" r="0" t="0"/>
          <a:stretch/>
        </p:blipFill>
        <p:spPr>
          <a:xfrm>
            <a:off x="6138367" y="1280160"/>
            <a:ext cx="3383280" cy="4086086"/>
          </a:xfrm>
          <a:prstGeom prst="rect">
            <a:avLst/>
          </a:prstGeom>
          <a:noFill/>
          <a:ln>
            <a:noFill/>
          </a:ln>
        </p:spPr>
      </p:pic>
      <p:sp>
        <p:nvSpPr>
          <p:cNvPr id="297" name="Google Shape;297;p18"/>
          <p:cNvSpPr txBox="1"/>
          <p:nvPr/>
        </p:nvSpPr>
        <p:spPr>
          <a:xfrm>
            <a:off x="6138367" y="5457686"/>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Zhu et al. (2008), Fig. 2(A–D). Clock-protein levels after light and cry1 knockdown.</a:t>
            </a:r>
            <a:endParaRPr/>
          </a:p>
        </p:txBody>
      </p:sp>
      <p:pic>
        <p:nvPicPr>
          <p:cNvPr descr="s05_f6de.png" id="298" name="Google Shape;298;p18"/>
          <p:cNvPicPr preferRelativeResize="0"/>
          <p:nvPr/>
        </p:nvPicPr>
        <p:blipFill rotWithShape="1">
          <a:blip r:embed="rId3">
            <a:alphaModFix/>
          </a:blip>
          <a:srcRect b="0" l="0" r="0" t="0"/>
          <a:stretch/>
        </p:blipFill>
        <p:spPr>
          <a:xfrm>
            <a:off x="9704527" y="2148840"/>
            <a:ext cx="1920239" cy="535451"/>
          </a:xfrm>
          <a:prstGeom prst="rect">
            <a:avLst/>
          </a:prstGeom>
          <a:noFill/>
          <a:ln>
            <a:noFill/>
          </a:ln>
        </p:spPr>
      </p:pic>
      <p:sp>
        <p:nvSpPr>
          <p:cNvPr id="299" name="Google Shape;299;p18"/>
          <p:cNvSpPr txBox="1"/>
          <p:nvPr/>
        </p:nvSpPr>
        <p:spPr>
          <a:xfrm>
            <a:off x="9704527" y="2757443"/>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6(D–E). CRY1 and PER labeling in the same pars lateralis cell.</a:t>
            </a:r>
            <a:endParaRPr/>
          </a:p>
        </p:txBody>
      </p:sp>
      <p:sp>
        <p:nvSpPr>
          <p:cNvPr id="300" name="Google Shape;300;p18"/>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Zhu et al. (2008)</a:t>
            </a:r>
            <a:endParaRPr/>
          </a:p>
        </p:txBody>
      </p:sp>
      <p:sp>
        <p:nvSpPr>
          <p:cNvPr id="302" name="Google Shape;302;p18"/>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18a</a:t>
            </a:r>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58" name="Google Shape;258;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Emergence rhythm free-runs in constant darkness</a:t>
            </a:r>
            <a:endParaRPr/>
          </a:p>
        </p:txBody>
      </p:sp>
      <p:sp>
        <p:nvSpPr>
          <p:cNvPr id="259" name="Google Shape;259;p15"/>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Froy and colleagues entrained monarch pupae to a light–dark schedule and then exposed them to three conditions: continued cycling light, constant darkness and constant light. Adult emergence time was recorded in each condition. The three conditions tested whether the rhythm needed daily light cues. Emergence timing was the readout across all three conditions.</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Eclosion clustered early in the light phase and remained rhythmic in constant darkness, which shows that the rhythm persisted once daily lights were removed. A 6-h shift in the prior light schedule altered the emergence phase. Constant light disrupted the normal temporal concentration of emergence. Emergence timing reflected the light schedule each pupa experienced.</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Continuous light disrupted the timing that darkness preserved, so light exposure changes the emergence pattern. Free-running rhythms proceed without daily entrainment, and emergence therefore measures an endogenous timing output. Light exposure therefore changes the emergence timing that darkness keeps. Persistent timing in the dark is evidence of an internal oscillator.</a:t>
            </a:r>
            <a:endParaRPr/>
          </a:p>
        </p:txBody>
      </p:sp>
      <p:pic>
        <p:nvPicPr>
          <p:cNvPr descr="f03_f1a.png" id="260" name="Google Shape;260;p15"/>
          <p:cNvPicPr preferRelativeResize="0"/>
          <p:nvPr/>
        </p:nvPicPr>
        <p:blipFill rotWithShape="1">
          <a:blip r:embed="rId2">
            <a:alphaModFix/>
          </a:blip>
          <a:srcRect b="0" l="0" r="0" t="0"/>
          <a:stretch/>
        </p:blipFill>
        <p:spPr>
          <a:xfrm>
            <a:off x="7374909" y="1280160"/>
            <a:ext cx="3013315" cy="4297679"/>
          </a:xfrm>
          <a:prstGeom prst="rect">
            <a:avLst/>
          </a:prstGeom>
          <a:noFill/>
          <a:ln>
            <a:noFill/>
          </a:ln>
        </p:spPr>
      </p:pic>
      <p:sp>
        <p:nvSpPr>
          <p:cNvPr id="261" name="Google Shape;261;p15"/>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Froy et al. (2003), Fig. 1(A). Adult emergence under light–dark and constant conditions.</a:t>
            </a:r>
            <a:endParaRPr/>
          </a:p>
        </p:txBody>
      </p:sp>
      <p:sp>
        <p:nvSpPr>
          <p:cNvPr id="262" name="Google Shape;262;p15"/>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Froy et al. (2003)</a:t>
            </a:r>
            <a:endParaRPr/>
          </a:p>
        </p:txBody>
      </p:sp>
      <p:sp>
        <p:nvSpPr>
          <p:cNvPr id="264" name="Google Shape;264;p15"/>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15a</a:t>
            </a:r>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20" name="Google Shape;220;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Polarizer rotation tested under restricted skylight</a:t>
            </a:r>
            <a:endParaRPr/>
          </a:p>
        </p:txBody>
      </p:sp>
      <p:sp>
        <p:nvSpPr>
          <p:cNvPr id="221" name="Google Shape;221;p12"/>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Sauman and colleagues fixed monarchs to a tether beneath a linear polarizing filter, which limited the skylight to an 80° field and excluded sight of the sun. Rotating the filter by 90° changed the electric-field orientation of the light available to the animal. The sun itself was kept out of direct view throughout.</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Each trial used sequential 5-min records taken before rotation, after rotation, during UV interference below 397 nm, and after the UV filter was removed. Interference frequently produced circling and cut virtual progress by at least 70%. Circling was a common response to UV interference. Virtual progress was the measure of each record.</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Removing the UV filter restored sustained directional flight, so the effect reversed with the treatment. Spectral interference also altered flight continuity, which mixes the loss of direction with changes in flight behavior. The restricted arrangement limited what the animal could see. Its heading record reflects the skylight that remained visible.</a:t>
            </a:r>
            <a:endParaRPr/>
          </a:p>
        </p:txBody>
      </p:sp>
      <p:pic>
        <p:nvPicPr>
          <p:cNvPr descr="s05_f4.png" id="222" name="Google Shape;222;p12"/>
          <p:cNvPicPr preferRelativeResize="0"/>
          <p:nvPr/>
        </p:nvPicPr>
        <p:blipFill rotWithShape="1">
          <a:blip r:embed="rId2">
            <a:alphaModFix/>
          </a:blip>
          <a:srcRect b="0" l="0" r="0" t="0"/>
          <a:stretch/>
        </p:blipFill>
        <p:spPr>
          <a:xfrm>
            <a:off x="6586031" y="1280160"/>
            <a:ext cx="2487951" cy="4297679"/>
          </a:xfrm>
          <a:prstGeom prst="rect">
            <a:avLst/>
          </a:prstGeom>
          <a:noFill/>
          <a:ln>
            <a:noFill/>
          </a:ln>
        </p:spPr>
      </p:pic>
      <p:sp>
        <p:nvSpPr>
          <p:cNvPr id="223" name="Google Shape;223;p12"/>
          <p:cNvSpPr txBox="1"/>
          <p:nvPr/>
        </p:nvSpPr>
        <p:spPr>
          <a:xfrm>
            <a:off x="6138367" y="5669279"/>
            <a:ext cx="3383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4(A–D). Filter rotation and UV interference during tethered flight.</a:t>
            </a:r>
            <a:endParaRPr/>
          </a:p>
        </p:txBody>
      </p:sp>
      <p:pic>
        <p:nvPicPr>
          <p:cNvPr descr="s05_dra.png" id="224" name="Google Shape;224;p12"/>
          <p:cNvPicPr preferRelativeResize="0"/>
          <p:nvPr/>
        </p:nvPicPr>
        <p:blipFill rotWithShape="1">
          <a:blip r:embed="rId3">
            <a:alphaModFix/>
          </a:blip>
          <a:srcRect b="0" l="0" r="0" t="0"/>
          <a:stretch/>
        </p:blipFill>
        <p:spPr>
          <a:xfrm>
            <a:off x="9704527" y="2148840"/>
            <a:ext cx="1920239" cy="1883108"/>
          </a:xfrm>
          <a:prstGeom prst="rect">
            <a:avLst/>
          </a:prstGeom>
          <a:noFill/>
          <a:ln>
            <a:noFill/>
          </a:ln>
        </p:spPr>
      </p:pic>
      <p:sp>
        <p:nvSpPr>
          <p:cNvPr id="225" name="Google Shape;225;p12"/>
          <p:cNvSpPr txBox="1"/>
          <p:nvPr/>
        </p:nvSpPr>
        <p:spPr>
          <a:xfrm>
            <a:off x="9704527" y="4105100"/>
            <a:ext cx="19202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Sauman et al. (2005), Fig. 3(D). UV opsin staining in the dorsal rim area.</a:t>
            </a:r>
            <a:endParaRPr/>
          </a:p>
        </p:txBody>
      </p:sp>
      <p:sp>
        <p:nvSpPr>
          <p:cNvPr id="226" name="Google Shape;226;p12"/>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Sauman et al. (2005)</a:t>
            </a:r>
            <a:endParaRPr/>
          </a:p>
        </p:txBody>
      </p:sp>
      <p:sp>
        <p:nvSpPr>
          <p:cNvPr id="228" name="Google Shape;228;p12"/>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12a</a:t>
            </a:r>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84" name="Google Shape;184;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UV-blocked light still sets emergence timing</a:t>
            </a:r>
            <a:endParaRPr/>
          </a:p>
        </p:txBody>
      </p:sp>
      <p:sp>
        <p:nvSpPr>
          <p:cNvPr id="185" name="Google Shape;185;p9"/>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Froy and colleagues reared monarch pupae under light–dark cycles with a filter that blocked UV, then recorded eclosion, the emergence of adults from the pupal case. Advancing the filtered schedule by 6 h moved the emergence peaks approximately 5.5 h, which shows that the schedule carried the timing signal. The filter kept UV light out of the rearing chamber.</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Emergence remained concentrated at one phase of the daily cycle in these pupae. The timing response occurred without ultraviolet illumination, so visible wavelengths were sufficient to set the daily emergence phase. The emergence peaks moved in step with the filtered schedule. Adults were scored for their emergence phase, so the timing measurement was direct.</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The flight disruption caused by the UV filter in adults is a separate observation from the emergence result. Visible wavelengths can carry daily timing information in this preparation, so the wavelength that disrupts flight and the wavelength that sets the clock can differ. Those pupal rhythms are a separate output of circadian timing.</a:t>
            </a:r>
            <a:endParaRPr/>
          </a:p>
        </p:txBody>
      </p:sp>
      <p:pic>
        <p:nvPicPr>
          <p:cNvPr descr="f03_f3d.png" id="186" name="Google Shape;186;p9"/>
          <p:cNvPicPr preferRelativeResize="0"/>
          <p:nvPr/>
        </p:nvPicPr>
        <p:blipFill rotWithShape="1">
          <a:blip r:embed="rId2">
            <a:alphaModFix/>
          </a:blip>
          <a:srcRect b="0" l="0" r="0" t="0"/>
          <a:stretch/>
        </p:blipFill>
        <p:spPr>
          <a:xfrm>
            <a:off x="6648260" y="1280160"/>
            <a:ext cx="4466613" cy="4297679"/>
          </a:xfrm>
          <a:prstGeom prst="rect">
            <a:avLst/>
          </a:prstGeom>
          <a:noFill/>
          <a:ln>
            <a:noFill/>
          </a:ln>
        </p:spPr>
      </p:pic>
      <p:sp>
        <p:nvSpPr>
          <p:cNvPr id="187" name="Google Shape;187;p9"/>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Froy et al. (2003), Fig. 3(D). Adult emergence entrained without ultraviolet light.</a:t>
            </a:r>
            <a:endParaRPr/>
          </a:p>
        </p:txBody>
      </p:sp>
      <p:sp>
        <p:nvSpPr>
          <p:cNvPr id="188" name="Google Shape;188;p9"/>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Froy et al. (2003)</a:t>
            </a:r>
            <a:endParaRPr/>
          </a:p>
        </p:txBody>
      </p:sp>
      <p:sp>
        <p:nvSpPr>
          <p:cNvPr id="190" name="Google Shape;190;p9"/>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09a</a:t>
            </a:r>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46" name="Google Shape;146;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Opposite clock shifts rotate headings oppositely</a:t>
            </a:r>
            <a:endParaRPr/>
          </a:p>
        </p:txBody>
      </p:sp>
      <p:sp>
        <p:nvSpPr>
          <p:cNvPr id="147" name="Google Shape;147;p6"/>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Mouritsen and Frost delayed the entraining 12-h light:12-h dark cycle by 6 h, creating the reverse of the advance tested earlier. The delayed group was tested in the same simulator as the autumn migrants, so the apparatus stayed constant while the light schedule changed. The advance and delay therefore differ in their clock phase.</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Delayed butterflies oriented near 335°, toward the northwest, a change of about 110° clockwise from the local-time mean of 225°. The advance had produced a counterclockwise change, so the two manipulations moved the heading in opposite directions. Both results come from the same simulator and season. The heading shifts were measured relative to the local-time mean.</a:t>
            </a:r>
            <a:endParaRPr/>
          </a:p>
          <a:p>
            <a:pPr indent="0" lvl="0" marL="0" marR="0" rtl="0" algn="l">
              <a:lnSpc>
                <a:spcPct val="108000"/>
              </a:lnSpc>
              <a:spcBef>
                <a:spcPts val="0"/>
              </a:spcBef>
              <a:spcAft>
                <a:spcPts val="1200"/>
              </a:spcAft>
              <a:buNone/>
            </a:pPr>
            <a:r>
              <a:rPr b="0" i="0" lang="en-US" sz="1400" u="none" cap="none" strike="noStrike">
                <a:solidFill>
                  <a:srgbClr val="000000"/>
                </a:solidFill>
                <a:latin typeface="Arial"/>
                <a:ea typeface="Arial"/>
                <a:cs typeface="Arial"/>
                <a:sym typeface="Arial"/>
              </a:rPr>
              <a:t>Unequal magnitudes between the two shifts reflect the observed solar geometry and the experimental conditions. Opposite shifts from opposite clock manipulations indicate a signed link between clock phase and compass direction. Each manipulation therefore produces a predictable heading change. The sign of the change follows the sign of the clock shift.</a:t>
            </a:r>
            <a:endParaRPr/>
          </a:p>
        </p:txBody>
      </p:sp>
      <p:pic>
        <p:nvPicPr>
          <p:cNvPr descr="f02_f2abc.png" id="148" name="Google Shape;148;p6"/>
          <p:cNvPicPr preferRelativeResize="0"/>
          <p:nvPr/>
        </p:nvPicPr>
        <p:blipFill rotWithShape="1">
          <a:blip r:embed="rId2">
            <a:alphaModFix/>
          </a:blip>
          <a:srcRect b="0" l="0" r="0" t="0"/>
          <a:stretch/>
        </p:blipFill>
        <p:spPr>
          <a:xfrm>
            <a:off x="6138367" y="1280160"/>
            <a:ext cx="5486400" cy="3698840"/>
          </a:xfrm>
          <a:prstGeom prst="rect">
            <a:avLst/>
          </a:prstGeom>
          <a:noFill/>
          <a:ln>
            <a:noFill/>
          </a:ln>
        </p:spPr>
      </p:pic>
      <p:sp>
        <p:nvSpPr>
          <p:cNvPr id="149" name="Google Shape;149;p6"/>
          <p:cNvSpPr txBox="1"/>
          <p:nvPr/>
        </p:nvSpPr>
        <p:spPr>
          <a:xfrm>
            <a:off x="6138367" y="507044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Mouritsen &amp; Frost (2002), Fig. 2(A–C). Headings on local, advanced and delayed light cycles.</a:t>
            </a:r>
            <a:endParaRPr/>
          </a:p>
        </p:txBody>
      </p:sp>
      <p:sp>
        <p:nvSpPr>
          <p:cNvPr id="150" name="Google Shape;150;p6"/>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Mouritsen &amp; Frost (2002)</a:t>
            </a:r>
            <a:endParaRPr/>
          </a:p>
        </p:txBody>
      </p:sp>
      <p:sp>
        <p:nvSpPr>
          <p:cNvPr id="152" name="Google Shape;152;p6"/>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06a</a:t>
            </a:r>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10" name="Google Shape;110;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2146E"/>
                </a:solidFill>
                <a:latin typeface="Arial"/>
                <a:ea typeface="Arial"/>
                <a:cs typeface="Arial"/>
                <a:sym typeface="Arial"/>
              </a:rPr>
              <a:t>Tethered headings reveal sustained orientation</a:t>
            </a:r>
            <a:endParaRPr/>
          </a:p>
        </p:txBody>
      </p:sp>
      <p:sp>
        <p:nvSpPr>
          <p:cNvPr id="111" name="Google Shape;111;p3"/>
          <p:cNvSpPr txBox="1"/>
          <p:nvPr/>
        </p:nvSpPr>
        <p:spPr>
          <a:xfrm>
            <a:off x="566000" y="1234440"/>
            <a:ext cx="5480000" cy="49155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A fine wire attached to the dorsal thorax held each monarch in place while it rotated freely. A cylinder roughly 59 cm wide and 64 cm high limited its view to the sky overhead, so the sky was the visual reference available to the insect. Vertical airflow lifted the butterfly without supplying a horizontal wind direction.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The system sampled heading every 200 ms, which recorded both sustained orientation and course changes within a single trial. Virtual trajectories were built from those headings by assuming a flight speed, so the distances shown are calculated rather than measured. Each trial therefore gives a continuous record of the butterfly's chosen direction.</a:t>
            </a:r>
            <a:endParaRPr/>
          </a:p>
          <a:p>
            <a:pPr indent="0" lvl="0" marL="0" marR="0" rtl="0" algn="l">
              <a:lnSpc>
                <a:spcPct val="108000"/>
              </a:lnSpc>
              <a:spcBef>
                <a:spcPts val="0"/>
              </a:spcBef>
              <a:spcAft>
                <a:spcPts val="1200"/>
              </a:spcAft>
              <a:buNone/>
            </a:pPr>
            <a:r>
              <a:rPr b="0" i="0" lang="en-US" sz="1500" u="none" cap="none" strike="noStrike">
                <a:solidFill>
                  <a:srgbClr val="000000"/>
                </a:solidFill>
                <a:latin typeface="Arial"/>
                <a:ea typeface="Arial"/>
                <a:cs typeface="Arial"/>
                <a:sym typeface="Arial"/>
              </a:rPr>
              <a:t>Excluding landscape landmarks allowed solar orientation to be tested under controlled visual access, which isolates the sky as the reference. Because the record is continuous, each trial keeps changes in course as they occur. The sky served as the sole visual reference in each trial. The experiment therefore isolates direction-holding from travel.</a:t>
            </a:r>
            <a:endParaRPr/>
          </a:p>
        </p:txBody>
      </p:sp>
      <p:pic>
        <p:nvPicPr>
          <p:cNvPr descr="f02_f1bcd.png" id="112" name="Google Shape;112;p3"/>
          <p:cNvPicPr preferRelativeResize="0"/>
          <p:nvPr/>
        </p:nvPicPr>
        <p:blipFill rotWithShape="1">
          <a:blip r:embed="rId2">
            <a:alphaModFix/>
          </a:blip>
          <a:srcRect b="0" l="0" r="0" t="0"/>
          <a:stretch/>
        </p:blipFill>
        <p:spPr>
          <a:xfrm>
            <a:off x="7880522" y="1280160"/>
            <a:ext cx="2002089" cy="4297679"/>
          </a:xfrm>
          <a:prstGeom prst="rect">
            <a:avLst/>
          </a:prstGeom>
          <a:noFill/>
          <a:ln>
            <a:noFill/>
          </a:ln>
        </p:spPr>
      </p:pic>
      <p:sp>
        <p:nvSpPr>
          <p:cNvPr id="113" name="Google Shape;113;p3"/>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Mouritsen &amp; Frost (2002), Fig. 1(B–D). Published virtual trajectories derived from tethered headings.</a:t>
            </a:r>
            <a:endParaRPr/>
          </a:p>
        </p:txBody>
      </p:sp>
      <p:sp>
        <p:nvSpPr>
          <p:cNvPr id="114" name="Google Shape;114;p3"/>
          <p:cNvSpPr/>
          <p:nvPr/>
        </p:nvSpPr>
        <p:spPr>
          <a:xfrm>
            <a:off x="566928" y="6382512"/>
            <a:ext cx="11057839" cy="9144"/>
          </a:xfrm>
          <a:prstGeom prst="rect">
            <a:avLst/>
          </a:prstGeom>
          <a:solidFill>
            <a:srgbClr val="DACC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Mouritsen &amp; Frost (2002)</a:t>
            </a:r>
            <a:endParaRPr/>
          </a:p>
        </p:txBody>
      </p:sp>
      <p:sp>
        <p:nvSpPr>
          <p:cNvPr id="116" name="Google Shape;116;p3"/>
          <p:cNvSpPr txBox="1"/>
          <p:nvPr/>
        </p:nvSpPr>
        <p:spPr>
          <a:xfrm>
            <a:off x="11105150" y="6455664"/>
            <a:ext cx="519617"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03a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Jordan Lopez, Ph.D.</dc:creator>
</cp:coreProperties>
</file>