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315" r:id="rId66"/>
    <p:sldId id="258" r:id="rId8"/>
    <p:sldId id="259" r:id="rId9"/>
    <p:sldId id="260" r:id="rId10"/>
    <p:sldId id="314" r:id="rId65"/>
    <p:sldId id="261" r:id="rId11"/>
    <p:sldId id="262" r:id="rId12"/>
    <p:sldId id="313" r:id="rId64"/>
    <p:sldId id="263" r:id="rId13"/>
    <p:sldId id="264" r:id="rId14"/>
    <p:sldId id="312" r:id="rId63"/>
    <p:sldId id="265" r:id="rId15"/>
    <p:sldId id="311" r:id="rId62"/>
    <p:sldId id="266" r:id="rId16"/>
    <p:sldId id="310" r:id="rId61"/>
    <p:sldId id="267" r:id="rId17"/>
    <p:sldId id="268" r:id="rId18"/>
    <p:sldId id="269" r:id="rId19"/>
    <p:sldId id="270" r:id="rId20"/>
    <p:sldId id="271" r:id="rId21"/>
    <p:sldId id="272" r:id="rId22"/>
    <p:sldId id="309" r:id="rId60"/>
    <p:sldId id="273" r:id="rId23"/>
    <p:sldId id="308" r:id="rId59"/>
    <p:sldId id="274" r:id="rId24"/>
    <p:sldId id="275" r:id="rId25"/>
    <p:sldId id="307" r:id="rId58"/>
    <p:sldId id="276" r:id="rId26"/>
    <p:sldId id="277" r:id="rId27"/>
    <p:sldId id="306" r:id="rId57"/>
    <p:sldId id="278" r:id="rId28"/>
    <p:sldId id="279" r:id="rId29"/>
    <p:sldId id="280" r:id="rId30"/>
    <p:sldId id="281" r:id="rId31"/>
    <p:sldId id="282" r:id="rId32"/>
    <p:sldId id="305" r:id="rId56"/>
    <p:sldId id="283" r:id="rId33"/>
    <p:sldId id="284" r:id="rId34"/>
    <p:sldId id="285" r:id="rId35"/>
    <p:sldId id="286" r:id="rId36"/>
    <p:sldId id="287" r:id="rId37"/>
    <p:sldId id="288" r:id="rId38"/>
    <p:sldId id="289" r:id="rId39"/>
    <p:sldId id="304" r:id="rId55"/>
    <p:sldId id="290" r:id="rId40"/>
    <p:sldId id="291" r:id="rId41"/>
    <p:sldId id="303" r:id="rId54"/>
    <p:sldId id="292" r:id="rId42"/>
    <p:sldId id="293" r:id="rId43"/>
    <p:sldId id="294" r:id="rId44"/>
    <p:sldId id="302" r:id="rId53"/>
    <p:sldId id="295" r:id="rId45"/>
    <p:sldId id="296" r:id="rId46"/>
    <p:sldId id="297" r:id="rId47"/>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i4BX6vUICEcOaR4O1rZkRE6eNL7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Navigation III: monarch butterfly migration and the circadian sun compass</a:t>
            </a:r>
            <a:endParaRPr/>
          </a:p>
          <a:p>
            <a:pPr indent="0" lvl="0" marL="0" rtl="0" algn="l">
              <a:spcBef>
                <a:spcPts val="0"/>
              </a:spcBef>
              <a:spcAft>
                <a:spcPts val="0"/>
              </a:spcAft>
              <a:buNone/>
            </a:pPr>
            <a:r>
              <a:rPr lang="en-US" sz="1200">
                <a:latin typeface="Arial"/>
                <a:ea typeface="Arial"/>
                <a:cs typeface="Arial"/>
                <a:sym typeface="Arial"/>
              </a:rPr>
              <a:t>Lecture 30. NEUR 411 · NEUROETHOLOGY · FALL 2026. Wednesday, November 4, 2026.</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Eastern North American monarch butterflies, Danaus plexippus, migrate toward overwintering sites in central Mexico. Some journeys exceed 3,500 km. A bearing is a direction measured around the horizon relative to geographic north.</a:t>
            </a:r>
            <a:endParaRPr/>
          </a:p>
          <a:p>
            <a:pPr indent="0" lvl="0" marL="0" rtl="0" algn="l">
              <a:spcBef>
                <a:spcPts val="0"/>
              </a:spcBef>
              <a:spcAft>
                <a:spcPts val="0"/>
              </a:spcAft>
              <a:buNone/>
            </a:pPr>
            <a:r>
              <a:rPr lang="en-US" sz="1200">
                <a:latin typeface="Arial"/>
                <a:ea typeface="Arial"/>
                <a:cs typeface="Arial"/>
                <a:sym typeface="Arial"/>
              </a:rPr>
              <a:t>• 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rtl="0" algn="l">
              <a:spcBef>
                <a:spcPts val="0"/>
              </a:spcBef>
              <a:spcAft>
                <a:spcPts val="0"/>
              </a:spcAft>
              <a:buNone/>
            </a:pPr>
            <a:r>
              <a:rPr lang="en-US" sz="1200">
                <a:latin typeface="Arial"/>
                <a:ea typeface="Arial"/>
                <a:cs typeface="Arial"/>
                <a:sym typeface="Arial"/>
              </a:rPr>
              <a:t>  – Geographic bearings increase clockwise from north: east is 90°, south 180° and west 270°. A southwest heading of 225° lies between south and west. The simulator measures the direction an animal attempts to fly, whereas arrival in Mexico would require additional observations of travel and destination finding.</a:t>
            </a:r>
            <a:endParaRPr/>
          </a:p>
          <a:p>
            <a:pPr indent="0" lvl="0" marL="0" rtl="0" algn="l">
              <a:spcBef>
                <a:spcPts val="0"/>
              </a:spcBef>
              <a:spcAft>
                <a:spcPts val="0"/>
              </a:spcAft>
              <a:buNone/>
            </a:pPr>
            <a:r>
              <a:rPr lang="en-US" sz="1200">
                <a:latin typeface="Arial"/>
                <a:ea typeface="Arial"/>
                <a:cs typeface="Arial"/>
                <a:sym typeface="Arial"/>
              </a:rPr>
              <a:t>• 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 Local-time migrants maintain southwest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simulator separated heading control from forward travel. A fine wire attached to the dorsal thorax allowed the butterfly to rotate freely, while a cylinder approximately 59 cm wide and 64 cm high restricted its view to the sky above.</a:t>
            </a:r>
            <a:endParaRPr/>
          </a:p>
          <a:p>
            <a:pPr indent="0" lvl="0" marL="0" rtl="0" algn="l">
              <a:spcBef>
                <a:spcPts val="0"/>
              </a:spcBef>
              <a:spcAft>
                <a:spcPts val="0"/>
              </a:spcAft>
              <a:buNone/>
            </a:pPr>
            <a:r>
              <a:rPr lang="en-US" sz="1200">
                <a:latin typeface="Arial"/>
                <a:ea typeface="Arial"/>
                <a:cs typeface="Arial"/>
                <a:sym typeface="Arial"/>
              </a:rPr>
              <a:t>• Vertical airflow supported flight without supplying a horizontal wind direction. The apparatus sampled heading every 200 ms, preserving sustained orientation and changes in course during an individual trial.</a:t>
            </a:r>
            <a:endParaRPr/>
          </a:p>
          <a:p>
            <a:pPr indent="0" lvl="0" marL="0" rtl="0" algn="l">
              <a:spcBef>
                <a:spcPts val="0"/>
              </a:spcBef>
              <a:spcAft>
                <a:spcPts val="0"/>
              </a:spcAft>
              <a:buNone/>
            </a:pPr>
            <a:r>
              <a:rPr lang="en-US" sz="1200">
                <a:latin typeface="Arial"/>
                <a:ea typeface="Arial"/>
                <a:cs typeface="Arial"/>
                <a:sym typeface="Arial"/>
              </a:rPr>
              <a:t>  – The tether fixes position but leaves the relevant horizontal turning movement available. A virtual track integrates recorded headings under the authors’ speed assumption of 18 km/h. Neither a long reconstructed path nor a straight one means that the tethered insect actually covered that distance.</a:t>
            </a:r>
            <a:endParaRPr/>
          </a:p>
          <a:p>
            <a:pPr indent="0" lvl="0" marL="0" rtl="0" algn="l">
              <a:spcBef>
                <a:spcPts val="0"/>
              </a:spcBef>
              <a:spcAft>
                <a:spcPts val="0"/>
              </a:spcAft>
              <a:buNone/>
            </a:pPr>
            <a:r>
              <a:rPr lang="en-US" sz="1200">
                <a:latin typeface="Arial"/>
                <a:ea typeface="Arial"/>
                <a:cs typeface="Arial"/>
                <a:sym typeface="Arial"/>
              </a:rPr>
              <a:t>• Published virtual trajectories were reconstructed from those headings using an assumed flight speed. Their apparent distances are therefore calculated paths, not measured displacement. The original trajectories retain evidence of stable versus variable heading. Excluding landscape landmarks allows solar orientation to be tested under controlled visual access.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rtl="0" algn="l">
              <a:spcBef>
                <a:spcPts val="0"/>
              </a:spcBef>
              <a:spcAft>
                <a:spcPts val="0"/>
              </a:spcAft>
              <a:buNone/>
            </a:pPr>
            <a:r>
              <a:rPr lang="en-US" sz="1200">
                <a:latin typeface="Arial"/>
                <a:ea typeface="Arial"/>
                <a:cs typeface="Arial"/>
                <a:sym typeface="Arial"/>
              </a:rPr>
              <a:t>• 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rtl="0" algn="l">
              <a:spcBef>
                <a:spcPts val="0"/>
              </a:spcBef>
              <a:spcAft>
                <a:spcPts val="0"/>
              </a:spcAft>
              <a:buNone/>
            </a:pPr>
            <a:r>
              <a:rPr lang="en-US" sz="1200">
                <a:latin typeface="Arial"/>
                <a:ea typeface="Arial"/>
                <a:cs typeface="Arial"/>
                <a:sym typeface="Arial"/>
              </a:rPr>
              <a:t>  – The same geographic direction has a different relationship to the apparatus after rotation. Maintaining that direction is therefore inconsistent with following a mark that rotates with the cylinder. This control does not eliminate every sensory artifact, and the virtual trajectories remain reconstructions rather than movement through a landscape.</a:t>
            </a:r>
            <a:endParaRPr/>
          </a:p>
          <a:p>
            <a:pPr indent="0" lvl="0" marL="0" rtl="0" algn="l">
              <a:spcBef>
                <a:spcPts val="0"/>
              </a:spcBef>
              <a:spcAft>
                <a:spcPts val="0"/>
              </a:spcAft>
              <a:buNone/>
            </a:pPr>
            <a:r>
              <a:rPr lang="en-US" sz="1200">
                <a:latin typeface="Arial"/>
                <a:ea typeface="Arial"/>
                <a:cs typeface="Arial"/>
                <a:sym typeface="Arial"/>
              </a:rPr>
              <a:t>• 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1(B–D). Published virtual trajectories derived from tethered headings.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Time compensation adjusts compass output as the sun changes its position during the day. A circadian clock is an internal timing system with a rhythm close to 24 h; entrainment aligns its phase with a recurring environmental cycle.</a:t>
            </a:r>
            <a:endParaRPr/>
          </a:p>
          <a:p>
            <a:pPr indent="0" lvl="0" marL="0" rtl="0" algn="l">
              <a:spcBef>
                <a:spcPts val="0"/>
              </a:spcBef>
              <a:spcAft>
                <a:spcPts val="0"/>
              </a:spcAft>
              <a:buNone/>
            </a:pPr>
            <a:r>
              <a:rPr lang="en-US" sz="1200">
                <a:latin typeface="Arial"/>
                <a:ea typeface="Arial"/>
                <a:cs typeface="Arial"/>
                <a:sym typeface="Arial"/>
              </a:rPr>
              <a:t>• 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rtl="0" algn="l">
              <a:spcBef>
                <a:spcPts val="0"/>
              </a:spcBef>
              <a:spcAft>
                <a:spcPts val="0"/>
              </a:spcAft>
              <a:buNone/>
            </a:pPr>
            <a:r>
              <a:rPr lang="en-US" sz="1200">
                <a:latin typeface="Arial"/>
                <a:ea typeface="Arial"/>
                <a:cs typeface="Arial"/>
                <a:sym typeface="Arial"/>
              </a:rPr>
              <a:t>  – Phase is the position within a repeating cycle, such as the timing of light onset. Advancing the light schedule changes the animal’s temporal interpretation while the testing sky remains shared with controls. The observed angular shift belongs to these dates and solar positions; a 6-h clock shift does not imply one universal rotation angle.</a:t>
            </a:r>
            <a:endParaRPr/>
          </a:p>
          <a:p>
            <a:pPr indent="0" lvl="0" marL="0" rtl="0" algn="l">
              <a:spcBef>
                <a:spcPts val="0"/>
              </a:spcBef>
              <a:spcAft>
                <a:spcPts val="0"/>
              </a:spcAft>
              <a:buNone/>
            </a:pPr>
            <a:r>
              <a:rPr lang="en-US" sz="1200">
                <a:latin typeface="Arial"/>
                <a:ea typeface="Arial"/>
                <a:cs typeface="Arial"/>
                <a:sym typeface="Arial"/>
              </a:rPr>
              <a:t>• 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rtl="0" algn="l">
              <a:spcBef>
                <a:spcPts val="0"/>
              </a:spcBef>
              <a:spcAft>
                <a:spcPts val="0"/>
              </a:spcAft>
              <a:buNone/>
            </a:pPr>
            <a:r>
              <a:rPr lang="en-US" sz="1200">
                <a:latin typeface="Arial"/>
                <a:ea typeface="Arial"/>
                <a:cs typeface="Arial"/>
                <a:sym typeface="Arial"/>
              </a:rPr>
              <a:t>• Delayed butterflies oriented near 335°, toward the northwest. Relative to the local-time mean of 225°, their heading changed approximately 110° clockwise, opposite to the counterclockwise change after a 6-h advance.</a:t>
            </a:r>
            <a:endParaRPr/>
          </a:p>
          <a:p>
            <a:pPr indent="0" lvl="0" marL="0" rtl="0" algn="l">
              <a:spcBef>
                <a:spcPts val="0"/>
              </a:spcBef>
              <a:spcAft>
                <a:spcPts val="0"/>
              </a:spcAft>
              <a:buNone/>
            </a:pPr>
            <a:r>
              <a:rPr lang="en-US" sz="1200">
                <a:latin typeface="Arial"/>
                <a:ea typeface="Arial"/>
                <a:cs typeface="Arial"/>
                <a:sym typeface="Arial"/>
              </a:rPr>
              <a:t>  – A geographic map would provide information about position or destination, whereas a compass provides a direction. Advancing and delaying time can alter a compass even if the insect has no positional information. The observed clock-shift responses therefore support directional time compensation without resolving a map mechanism.</a:t>
            </a:r>
            <a:endParaRPr/>
          </a:p>
          <a:p>
            <a:pPr indent="0" lvl="0" marL="0" rtl="0" algn="l">
              <a:spcBef>
                <a:spcPts val="0"/>
              </a:spcBef>
              <a:spcAft>
                <a:spcPts val="0"/>
              </a:spcAft>
              <a:buNone/>
            </a:pPr>
            <a:r>
              <a:rPr lang="en-US" sz="1200">
                <a:latin typeface="Arial"/>
                <a:ea typeface="Arial"/>
                <a:cs typeface="Arial"/>
                <a:sym typeface="Arial"/>
              </a:rPr>
              <a:t>• 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Mouritsen &amp; Frost (2002), Fig. 2(A–C). Headings on local, advanced and delayed light cycles.</a:t>
            </a:r>
            <a:endParaRPr/>
          </a:p>
          <a:p>
            <a:pPr indent="0" lvl="0" marL="0" rtl="0" algn="l">
              <a:spcBef>
                <a:spcPts val="0"/>
              </a:spcBef>
              <a:spcAft>
                <a:spcPts val="0"/>
              </a:spcAft>
              <a:buNone/>
            </a:pPr>
            <a:r>
              <a:rPr lang="en-US" sz="1200">
                <a:latin typeface="Arial"/>
                <a:ea typeface="Arial"/>
                <a:cs typeface="Arial"/>
                <a:sym typeface="Arial"/>
              </a:rPr>
              <a:t>Figure source: https://doi.org/10.1073/pnas.152137299</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Froy and colleagues compared migrants entrained to local or 6-h-advanced light schedules. Under normal light–dark conditions, their mean headings were 233° and 118°, respectively, retaining the expected dependence on internal time.</a:t>
            </a:r>
            <a:endParaRPr/>
          </a:p>
          <a:p>
            <a:pPr indent="0" lvl="0" marL="0" rtl="0" algn="l">
              <a:spcBef>
                <a:spcPts val="0"/>
              </a:spcBef>
              <a:spcAft>
                <a:spcPts val="0"/>
              </a:spcAft>
              <a:buNone/>
            </a:pPr>
            <a:r>
              <a:rPr lang="en-US" sz="1200">
                <a:latin typeface="Arial"/>
                <a:ea typeface="Arial"/>
                <a:cs typeface="Arial"/>
                <a:sym typeface="Arial"/>
              </a:rPr>
              <a:t>• After five days in constant light, uninterrupted illumination rather than a daily light–dark cycle, the two groups no longer retained their distinct compass bearings. They oriented near 161° while the sun lay approximately between 136° and 160°.</a:t>
            </a:r>
            <a:endParaRPr/>
          </a:p>
          <a:p>
            <a:pPr indent="0" lvl="0" marL="0" rtl="0" algn="l">
              <a:spcBef>
                <a:spcPts val="0"/>
              </a:spcBef>
              <a:spcAft>
                <a:spcPts val="0"/>
              </a:spcAft>
              <a:buNone/>
            </a:pPr>
            <a:r>
              <a:rPr lang="en-US" sz="1200">
                <a:latin typeface="Arial"/>
                <a:ea typeface="Arial"/>
                <a:cs typeface="Arial"/>
                <a:sym typeface="Arial"/>
              </a:rPr>
              <a:t>  – The butterflies remained capable of directional flight after constant-light exposure. Losing the separation between previously entrained groups is therefore different from becoming unable to fly. Orientation close to the solar azimuth can persist when normal time compensation is disrupted, but that relationship alone does not establish the underlying sensory rule.</a:t>
            </a:r>
            <a:endParaRPr/>
          </a:p>
          <a:p>
            <a:pPr indent="0" lvl="0" marL="0" rtl="0" algn="l">
              <a:spcBef>
                <a:spcPts val="0"/>
              </a:spcBef>
              <a:spcAft>
                <a:spcPts val="0"/>
              </a:spcAft>
              <a:buNone/>
            </a:pPr>
            <a:r>
              <a:rPr lang="en-US" sz="1200">
                <a:latin typeface="Arial"/>
                <a:ea typeface="Arial"/>
                <a:cs typeface="Arial"/>
                <a:sym typeface="Arial"/>
              </a:rPr>
              <a:t>• 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2. Orientation after shifted cycles or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Ultraviolet light, or UV, has shorter wavelengths than human-visible violet light. Froy and colleagues placed a filter blocking wavelengths below 394 nm over outdoor flight tests while retaining approximately 87% of photopic luminous transmission.</a:t>
            </a:r>
            <a:endParaRPr/>
          </a:p>
          <a:p>
            <a:pPr indent="0" lvl="0" marL="0" rtl="0" algn="l">
              <a:spcBef>
                <a:spcPts val="0"/>
              </a:spcBef>
              <a:spcAft>
                <a:spcPts val="0"/>
              </a:spcAft>
              <a:buNone/>
            </a:pPr>
            <a:r>
              <a:rPr lang="en-US" sz="1200">
                <a:latin typeface="Arial"/>
                <a:ea typeface="Arial"/>
                <a:cs typeface="Arial"/>
                <a:sym typeface="Arial"/>
              </a:rPr>
              <a:t>• The filter interrupted sustained flight or altered heading records; removing it restored sustained flight in most affected butterflies. Sauman and colleagues localized UV-sensitive visual pigment to the dorsal rim area, a specialized strip along the upper compound-eye margin.</a:t>
            </a:r>
            <a:endParaRPr/>
          </a:p>
          <a:p>
            <a:pPr indent="0" lvl="0" marL="0" rtl="0" algn="l">
              <a:spcBef>
                <a:spcPts val="0"/>
              </a:spcBef>
              <a:spcAft>
                <a:spcPts val="0"/>
              </a:spcAft>
              <a:buNone/>
            </a:pPr>
            <a:r>
              <a:rPr lang="en-US" sz="1200">
                <a:latin typeface="Arial"/>
                <a:ea typeface="Arial"/>
                <a:cs typeface="Arial"/>
                <a:sym typeface="Arial"/>
              </a:rPr>
              <a:t>  – Photopic luminous transmission weights light according to human daylight vision. Retaining most of that measure does not mean that a monarch receives an unchanged stimulus. Removing UV can alter a sensory channel disproportionately even when the scene remains visibly bright to a human observer. The eye staining identifies a UV-specialized region, while the flight manipulation tests behavior.</a:t>
            </a:r>
            <a:endParaRPr/>
          </a:p>
          <a:p>
            <a:pPr indent="0" lvl="0" marL="0" rtl="0" algn="l">
              <a:spcBef>
                <a:spcPts val="0"/>
              </a:spcBef>
              <a:spcAft>
                <a:spcPts val="0"/>
              </a:spcAft>
              <a:buNone/>
            </a:pPr>
            <a:r>
              <a:rPr lang="en-US" sz="1200">
                <a:latin typeface="Arial"/>
                <a:ea typeface="Arial"/>
                <a:cs typeface="Arial"/>
                <a:sym typeface="Arial"/>
              </a:rPr>
              <a:t>• 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3(C). Heading distributions before, during and after UV interference.</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81" name="Google Shape;181;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wavelengths needed for an oriented-flight assay need not be identical to those that entrain the clock. Froy and colleagues reared pupae under light–dark cycles with a UV-blocking filter and measured the timing of eclosion, adult emergence from the pupal case.</a:t>
            </a:r>
            <a:endParaRPr/>
          </a:p>
          <a:p>
            <a:pPr indent="0" lvl="0" marL="0" rtl="0" algn="l">
              <a:spcBef>
                <a:spcPts val="0"/>
              </a:spcBef>
              <a:spcAft>
                <a:spcPts val="0"/>
              </a:spcAft>
              <a:buNone/>
            </a:pPr>
            <a:r>
              <a:rPr lang="en-US" sz="1200">
                <a:latin typeface="Arial"/>
                <a:ea typeface="Arial"/>
                <a:cs typeface="Arial"/>
                <a:sym typeface="Arial"/>
              </a:rPr>
              <a:t>• Emergence remained concentrated at a particular phase of the daily cycle. Advancing the UV-filtered light schedule by 6 h moved the emergence peaks approximately 5.5 h apart, establishing effective temporal entrainment without ultraviolet illumination.</a:t>
            </a:r>
            <a:endParaRPr/>
          </a:p>
          <a:p>
            <a:pPr indent="0" lvl="0" marL="0" rtl="0" algn="l">
              <a:spcBef>
                <a:spcPts val="0"/>
              </a:spcBef>
              <a:spcAft>
                <a:spcPts val="0"/>
              </a:spcAft>
              <a:buNone/>
            </a:pPr>
            <a:r>
              <a:rPr lang="en-US" sz="1200">
                <a:latin typeface="Arial"/>
                <a:ea typeface="Arial"/>
                <a:cs typeface="Arial"/>
                <a:sym typeface="Arial"/>
              </a:rPr>
              <a:t>  – The pupal emergence assay and the adult flight assay measure different behaviors at different developmental stages. A spectral treatment can preserve one while disrupting the other. The 5.5-h separation refers to observed emergence peaks after the two light schedules, rather than a measured angular change in flight direction.</a:t>
            </a:r>
            <a:endParaRPr/>
          </a:p>
          <a:p>
            <a:pPr indent="0" lvl="0" marL="0" rtl="0" algn="l">
              <a:spcBef>
                <a:spcPts val="0"/>
              </a:spcBef>
              <a:spcAft>
                <a:spcPts val="0"/>
              </a:spcAft>
              <a:buNone/>
            </a:pPr>
            <a:r>
              <a:rPr lang="en-US" sz="1200">
                <a:latin typeface="Arial"/>
                <a:ea typeface="Arial"/>
                <a:cs typeface="Arial"/>
                <a:sym typeface="Arial"/>
              </a:rPr>
              <a:t>• The result separates a timing response from the previously observed flight disruption. Visible wavelengths can convey daily timing information in this preparation. Eclosion is an output of circadian organization, so its entrainment by filtered light shows that the clock does not depend on ultraviolet.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3(D). Adult emergence entrained without ultraviolet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182" name="Google Shape;182;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 name="Shape 191"/>
        <p:cNvGrpSpPr/>
        <p:nvPr/>
      </p:nvGrpSpPr>
      <p:grpSpPr>
        <a:xfrm>
          <a:off x="0" y="0"/>
          <a:ext cx="0" cy="0"/>
          <a:chOff x="0" y="0"/>
          <a:chExt cx="0" cy="0"/>
        </a:xfrm>
      </p:grpSpPr>
      <p:sp>
        <p:nvSpPr>
          <p:cNvPr id="192" name="Google Shape;192;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3" name="Google Shape;193;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compound eye contains repeated optical units called ommatidia. Each monarch ommatidium contains photoreceptor cells whose light-sensitive membrane forms a rhabdom. An opsin is the protein component of a visual pigment that contributes to its spectral sensitivity.</a:t>
            </a:r>
            <a:endParaRPr/>
          </a:p>
          <a:p>
            <a:pPr indent="0" lvl="0" marL="0" rtl="0" algn="l">
              <a:spcBef>
                <a:spcPts val="0"/>
              </a:spcBef>
              <a:spcAft>
                <a:spcPts val="0"/>
              </a:spcAft>
              <a:buNone/>
            </a:pPr>
            <a:r>
              <a:rPr lang="en-US" sz="1200">
                <a:latin typeface="Arial"/>
                <a:ea typeface="Arial"/>
                <a:cs typeface="Arial"/>
                <a:sym typeface="Arial"/>
              </a:rPr>
              <a:t>• Sauman and colleagues used in situ hybridization, labeled probes that locate specific RNA sequences in tissue sections, to identify UV-, blue- and long-wavelength opsin expression. UV and blue opsin RNA occupied R1 or R2 cells; long-wavelength opsin RNA occupied R3–R8.</a:t>
            </a:r>
            <a:endParaRPr/>
          </a:p>
          <a:p>
            <a:pPr indent="0" lvl="0" marL="0" rtl="0" algn="l">
              <a:spcBef>
                <a:spcPts val="0"/>
              </a:spcBef>
              <a:spcAft>
                <a:spcPts val="0"/>
              </a:spcAft>
              <a:buNone/>
            </a:pPr>
            <a:r>
              <a:rPr lang="en-US" sz="1200">
                <a:latin typeface="Arial"/>
                <a:ea typeface="Arial"/>
                <a:cs typeface="Arial"/>
                <a:sym typeface="Arial"/>
              </a:rPr>
              <a:t>  – RNA is a molecular transcript used in producing a protein. The probes distinguish opsin transcripts rather than recording receptor voltage. Adjacent tissue sections allowed cells with different transcripts to be compared. An ommatidium’s spectral composition concerns its receptor molecules; the eventual compass response also depends on neural processing after light detection.</a:t>
            </a:r>
            <a:endParaRPr/>
          </a:p>
          <a:p>
            <a:pPr indent="0" lvl="0" marL="0" rtl="0" algn="l">
              <a:spcBef>
                <a:spcPts val="0"/>
              </a:spcBef>
              <a:spcAft>
                <a:spcPts val="0"/>
              </a:spcAft>
              <a:buNone/>
            </a:pPr>
            <a:r>
              <a:rPr lang="en-US" sz="1200">
                <a:latin typeface="Arial"/>
                <a:ea typeface="Arial"/>
                <a:cs typeface="Arial"/>
                <a:sym typeface="Arial"/>
              </a:rPr>
              <a:t>• 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2(A–C). UV, blue and long-wavelength opsin RNA in retinal cells.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194" name="Google Shape;194;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5" name="Google Shape;205;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dorsal rim area differs molecularly from adjacent main-retina ommatidia. Sauman and colleagues found UV opsin RNA throughout R1–R8 in this strip, with no detected blue or long-wavelength opsin RNA in those dorsal-rim cells.</a:t>
            </a:r>
            <a:endParaRPr/>
          </a:p>
          <a:p>
            <a:pPr indent="0" lvl="0" marL="0" rtl="0" algn="l">
              <a:spcBef>
                <a:spcPts val="0"/>
              </a:spcBef>
              <a:spcAft>
                <a:spcPts val="0"/>
              </a:spcAft>
              <a:buNone/>
            </a:pPr>
            <a:r>
              <a:rPr lang="en-US" sz="1200">
                <a:latin typeface="Arial"/>
                <a:ea typeface="Arial"/>
                <a:cs typeface="Arial"/>
                <a:sym typeface="Arial"/>
              </a:rPr>
              <a:t>• 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rtl="0" algn="l">
              <a:spcBef>
                <a:spcPts val="0"/>
              </a:spcBef>
              <a:spcAft>
                <a:spcPts val="0"/>
              </a:spcAft>
              <a:buNone/>
            </a:pPr>
            <a:r>
              <a:rPr lang="en-US" sz="1200">
                <a:latin typeface="Arial"/>
                <a:ea typeface="Arial"/>
                <a:cs typeface="Arial"/>
                <a:sym typeface="Arial"/>
              </a:rPr>
              <a:t>  – Antibody labeling detects the visual-pigment protein, complementing the RNA probes. The anatomical difference is localized to a narrow dorsal strip rather than the entire retina. Photoreceptor geometry and behavioral use are additional questions: UV expression identifies a sensory specialization but does not establish a complete navigational computation.</a:t>
            </a:r>
            <a:endParaRPr/>
          </a:p>
          <a:p>
            <a:pPr indent="0" lvl="0" marL="0" rtl="0" algn="l">
              <a:spcBef>
                <a:spcPts val="0"/>
              </a:spcBef>
              <a:spcAft>
                <a:spcPts val="0"/>
              </a:spcAft>
              <a:buNone/>
            </a:pPr>
            <a:r>
              <a:rPr lang="en-US" sz="1200">
                <a:latin typeface="Arial"/>
                <a:ea typeface="Arial"/>
                <a:cs typeface="Arial"/>
                <a:sym typeface="Arial"/>
              </a:rPr>
              <a:t>• 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3(A–D). UV-specialized ommatidia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06" name="Google Shape;206;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 name="Shape 215"/>
        <p:cNvGrpSpPr/>
        <p:nvPr/>
      </p:nvGrpSpPr>
      <p:grpSpPr>
        <a:xfrm>
          <a:off x="0" y="0"/>
          <a:ext cx="0" cy="0"/>
          <a:chOff x="0" y="0"/>
          <a:chExt cx="0" cy="0"/>
        </a:xfrm>
      </p:grpSpPr>
      <p:sp>
        <p:nvSpPr>
          <p:cNvPr id="216" name="Google Shape;216;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7" name="Google Shape;217;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rtl="0" algn="l">
              <a:spcBef>
                <a:spcPts val="0"/>
              </a:spcBef>
              <a:spcAft>
                <a:spcPts val="0"/>
              </a:spcAft>
              <a:buNone/>
            </a:pPr>
            <a:r>
              <a:rPr lang="en-US" sz="1200">
                <a:latin typeface="Arial"/>
                <a:ea typeface="Arial"/>
                <a:cs typeface="Arial"/>
                <a:sym typeface="Arial"/>
              </a:rPr>
              <a:t>• 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rtl="0" algn="l">
              <a:spcBef>
                <a:spcPts val="0"/>
              </a:spcBef>
              <a:spcAft>
                <a:spcPts val="0"/>
              </a:spcAft>
              <a:buNone/>
            </a:pPr>
            <a:r>
              <a:rPr lang="en-US" sz="1200">
                <a:latin typeface="Arial"/>
                <a:ea typeface="Arial"/>
                <a:cs typeface="Arial"/>
                <a:sym typeface="Arial"/>
              </a:rPr>
              <a:t>  – A polarization axis repeats after 180°, unlike a directed bearing that repeats after 360°. A 90° filter rotation therefore exchanges orthogonal axes. The assay combined an artificial polarizer with restricted sky access, and the reported virtual progress depends on flight stability as well as heading. It cannot by itself establish normal migratory use.</a:t>
            </a:r>
            <a:endParaRPr/>
          </a:p>
          <a:p>
            <a:pPr indent="0" lvl="0" marL="0" rtl="0" algn="l">
              <a:spcBef>
                <a:spcPts val="0"/>
              </a:spcBef>
              <a:spcAft>
                <a:spcPts val="0"/>
              </a:spcAft>
              <a:buNone/>
            </a:pPr>
            <a:r>
              <a:rPr lang="en-US" sz="1200">
                <a:latin typeface="Arial"/>
                <a:ea typeface="Arial"/>
                <a:cs typeface="Arial"/>
                <a:sym typeface="Arial"/>
              </a:rPr>
              <a:t>• 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4(A–D). Filter rotation and UV interference during tethered flight.</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18" name="Google Shape;218;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1" name="Google Shape;231;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Stalleicken and colleagues compared orientation under a polarizing filter when the sun was excluded, when the sun was visible, and with an unpolarized-light control. Their controlled tests did not establish reliable migratory orientation based on polarized skylight alone.</a:t>
            </a:r>
            <a:endParaRPr/>
          </a:p>
          <a:p>
            <a:pPr indent="0" lvl="0" marL="0" rtl="0" algn="l">
              <a:spcBef>
                <a:spcPts val="0"/>
              </a:spcBef>
              <a:spcAft>
                <a:spcPts val="0"/>
              </a:spcAft>
              <a:buNone/>
            </a:pPr>
            <a:r>
              <a:rPr lang="en-US" sz="1200">
                <a:latin typeface="Arial"/>
                <a:ea typeface="Arial"/>
                <a:cs typeface="Arial"/>
                <a:sym typeface="Arial"/>
              </a:rPr>
              <a:t>• With the sun available, monarchs retained directional orientation. The study identified brightness-related cues associated with the experimental optical arrangement as a possible contributor to earlier polarizer responses; rotating a filter need not change only polarization direction.</a:t>
            </a:r>
            <a:endParaRPr/>
          </a:p>
          <a:p>
            <a:pPr indent="0" lvl="0" marL="0" rtl="0" algn="l">
              <a:spcBef>
                <a:spcPts val="0"/>
              </a:spcBef>
              <a:spcAft>
                <a:spcPts val="0"/>
              </a:spcAft>
              <a:buNone/>
            </a:pPr>
            <a:r>
              <a:rPr lang="en-US" sz="1200">
                <a:latin typeface="Arial"/>
                <a:ea typeface="Arial"/>
                <a:cs typeface="Arial"/>
                <a:sym typeface="Arial"/>
              </a:rPr>
              <a:t>  – A filter can interact with surrounding surfaces and illumination so that different viewing directions have different brightness. A butterfly could then follow an intensity feature instead of computing a skylight polarization axis. The study’s negative result concerns migratory orientation in its tested conditions and does not erase direct recordings of polarization-sensitive neurons.</a:t>
            </a:r>
            <a:endParaRPr/>
          </a:p>
          <a:p>
            <a:pPr indent="0" lvl="0" marL="0" rtl="0" algn="l">
              <a:spcBef>
                <a:spcPts val="0"/>
              </a:spcBef>
              <a:spcAft>
                <a:spcPts val="0"/>
              </a:spcAft>
              <a:buNone/>
            </a:pPr>
            <a:r>
              <a:rPr lang="en-US" sz="1200">
                <a:latin typeface="Arial"/>
                <a:ea typeface="Arial"/>
                <a:cs typeface="Arial"/>
                <a:sym typeface="Arial"/>
              </a:rPr>
              <a:t>• These findings qualify the behavioral interpretation without denying polarization-sensitive visual physiology. A response to an artificial stimulus and a cue's necessity for migration are different claims. Natural compass use is tested by separating polarization from intensity patterns while other celestial cues remain 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4(A–C). Orientation with polarization, sun and unpolarized controls.</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32" name="Google Shape;232;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1" name="Shape 241"/>
        <p:cNvGrpSpPr/>
        <p:nvPr/>
      </p:nvGrpSpPr>
      <p:grpSpPr>
        <a:xfrm>
          <a:off x="0" y="0"/>
          <a:ext cx="0" cy="0"/>
          <a:chOff x="0" y="0"/>
          <a:chExt cx="0" cy="0"/>
        </a:xfrm>
      </p:grpSpPr>
      <p:sp>
        <p:nvSpPr>
          <p:cNvPr id="242" name="Google Shape;242;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43" name="Google Shape;243;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rtl="0" algn="l">
              <a:spcBef>
                <a:spcPts val="0"/>
              </a:spcBef>
              <a:spcAft>
                <a:spcPts val="0"/>
              </a:spcAft>
              <a:buNone/>
            </a:pPr>
            <a:r>
              <a:rPr lang="en-US" sz="1200">
                <a:latin typeface="Arial"/>
                <a:ea typeface="Arial"/>
                <a:cs typeface="Arial"/>
                <a:sym typeface="Arial"/>
              </a:rPr>
              <a:t>• 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rtl="0" algn="l">
              <a:spcBef>
                <a:spcPts val="0"/>
              </a:spcBef>
              <a:spcAft>
                <a:spcPts val="0"/>
              </a:spcAft>
              <a:buNone/>
            </a:pPr>
            <a:r>
              <a:rPr lang="en-US" sz="1200">
                <a:latin typeface="Arial"/>
                <a:ea typeface="Arial"/>
                <a:cs typeface="Arial"/>
                <a:sym typeface="Arial"/>
              </a:rPr>
              <a:t>  – The dorsal-rim mask targets a limited region, leaving much of the compound eye available. A retained compass response is evidence against strict necessity in that preparation. It does not determine whether polarization helps under other conditions, nor does it identify the retinal cells that carry the surviving solar-direction signal.</a:t>
            </a:r>
            <a:endParaRPr/>
          </a:p>
          <a:p>
            <a:pPr indent="0" lvl="0" marL="0" rtl="0" algn="l">
              <a:spcBef>
                <a:spcPts val="0"/>
              </a:spcBef>
              <a:spcAft>
                <a:spcPts val="0"/>
              </a:spcAft>
              <a:buNone/>
            </a:pPr>
            <a:r>
              <a:rPr lang="en-US" sz="1200">
                <a:latin typeface="Arial"/>
                <a:ea typeface="Arial"/>
                <a:cs typeface="Arial"/>
                <a:sym typeface="Arial"/>
              </a:rPr>
              <a:t>• 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Julia Stalleicken; Maya Mukhida; Thomas Labhart; Rüdiger Wehner; Barrie Frost; Henrik Mouritsen (2005). Do monarch butterflies use polarized skylight for migratory orientation? Journal of Experimental Biology, 208(12): 2399-2408. https://doi.org/10.1242/jeb.01613</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Stalleicken et al. (2005), Fig. 5(A–F). Orientation with dorsal rim masking and the masked eye.</a:t>
            </a:r>
            <a:endParaRPr/>
          </a:p>
          <a:p>
            <a:pPr indent="0" lvl="0" marL="0" rtl="0" algn="l">
              <a:spcBef>
                <a:spcPts val="0"/>
              </a:spcBef>
              <a:spcAft>
                <a:spcPts val="0"/>
              </a:spcAft>
              <a:buNone/>
            </a:pPr>
            <a:r>
              <a:rPr lang="en-US" sz="1200">
                <a:latin typeface="Arial"/>
                <a:ea typeface="Arial"/>
                <a:cs typeface="Arial"/>
                <a:sym typeface="Arial"/>
              </a:rPr>
              <a:t>Figure source: https://doi.org/10.1242/jeb.01613</a:t>
            </a:r>
            <a:endParaRPr/>
          </a:p>
        </p:txBody>
      </p:sp>
      <p:sp>
        <p:nvSpPr>
          <p:cNvPr id="244" name="Google Shape;244;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3" name="Shape 253"/>
        <p:cNvGrpSpPr/>
        <p:nvPr/>
      </p:nvGrpSpPr>
      <p:grpSpPr>
        <a:xfrm>
          <a:off x="0" y="0"/>
          <a:ext cx="0" cy="0"/>
          <a:chOff x="0" y="0"/>
          <a:chExt cx="0" cy="0"/>
        </a:xfrm>
      </p:grpSpPr>
      <p:sp>
        <p:nvSpPr>
          <p:cNvPr id="254" name="Google Shape;254;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5" name="Google Shape;255;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rtl="0" algn="l">
              <a:spcBef>
                <a:spcPts val="0"/>
              </a:spcBef>
              <a:spcAft>
                <a:spcPts val="0"/>
              </a:spcAft>
              <a:buNone/>
            </a:pPr>
            <a:r>
              <a:rPr lang="en-US" sz="1200">
                <a:latin typeface="Arial"/>
                <a:ea typeface="Arial"/>
                <a:cs typeface="Arial"/>
                <a:sym typeface="Arial"/>
              </a:rPr>
              <a:t>• Eclosion clustered early in the light phase and remained rhythmic in constant darkness. A 6-h shift in the prior light schedule altered the emergence phase. Constant light disrupted the normal temporal concentration of emergence.</a:t>
            </a:r>
            <a:endParaRPr/>
          </a:p>
          <a:p>
            <a:pPr indent="0" lvl="0" marL="0" rtl="0" algn="l">
              <a:spcBef>
                <a:spcPts val="0"/>
              </a:spcBef>
              <a:spcAft>
                <a:spcPts val="0"/>
              </a:spcAft>
              <a:buNone/>
            </a:pPr>
            <a:r>
              <a:rPr lang="en-US" sz="1200">
                <a:latin typeface="Arial"/>
                <a:ea typeface="Arial"/>
                <a:cs typeface="Arial"/>
                <a:sym typeface="Arial"/>
              </a:rPr>
              <a:t>  – An environmental cycle can impose a daily pattern even without an autonomous clock. Continued rhythmic emergence in darkness provides a stronger test because the light transition is absent. Constant light and constant darkness are biologically different treatments: removing the daily transition does not guarantee that both conditions affect clock organization in the same way.</a:t>
            </a:r>
            <a:endParaRPr/>
          </a:p>
          <a:p>
            <a:pPr indent="0" lvl="0" marL="0" rtl="0" algn="l">
              <a:spcBef>
                <a:spcPts val="0"/>
              </a:spcBef>
              <a:spcAft>
                <a:spcPts val="0"/>
              </a:spcAft>
              <a:buNone/>
            </a:pPr>
            <a:r>
              <a:rPr lang="en-US" sz="1200">
                <a:latin typeface="Arial"/>
                <a:ea typeface="Arial"/>
                <a:cs typeface="Arial"/>
                <a:sym typeface="Arial"/>
              </a:rPr>
              <a:t>• 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1(A). Adult emergence under light–dark and constant conditions.</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56" name="Google Shape;256;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5" name="Shape 265"/>
        <p:cNvGrpSpPr/>
        <p:nvPr/>
      </p:nvGrpSpPr>
      <p:grpSpPr>
        <a:xfrm>
          <a:off x="0" y="0"/>
          <a:ext cx="0" cy="0"/>
          <a:chOff x="0" y="0"/>
          <a:chExt cx="0" cy="0"/>
        </a:xfrm>
      </p:grpSpPr>
      <p:sp>
        <p:nvSpPr>
          <p:cNvPr id="266" name="Google Shape;266;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7" name="Google Shape;267;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period gene, abbreviated per, encodes a clock-associated protein. Froy and colleagues measured its RNA in monarch heads across the day to connect behavioral timing with a molecular rhythm. Transcription is the production of RNA from a DNA template.</a:t>
            </a:r>
            <a:endParaRPr/>
          </a:p>
          <a:p>
            <a:pPr indent="0" lvl="0" marL="0" rtl="0" algn="l">
              <a:spcBef>
                <a:spcPts val="0"/>
              </a:spcBef>
              <a:spcAft>
                <a:spcPts val="0"/>
              </a:spcAft>
              <a:buNone/>
            </a:pPr>
            <a:r>
              <a:rPr lang="en-US" sz="1200">
                <a:latin typeface="Arial"/>
                <a:ea typeface="Arial"/>
                <a:cs typeface="Arial"/>
                <a:sym typeface="Arial"/>
              </a:rPr>
              <a:t>• Head per RNA was higher at night and lower during the day in a light–dark cycle. Its rhythm persisted, with altered amplitude and phase, in constant darkness; constant light maintained comparatively low, nonrhythmic levels in this assay.</a:t>
            </a:r>
            <a:endParaRPr/>
          </a:p>
          <a:p>
            <a:pPr indent="0" lvl="0" marL="0" rtl="0" algn="l">
              <a:spcBef>
                <a:spcPts val="0"/>
              </a:spcBef>
              <a:spcAft>
                <a:spcPts val="0"/>
              </a:spcAft>
              <a:buNone/>
            </a:pPr>
            <a:r>
              <a:rPr lang="en-US" sz="1200">
                <a:latin typeface="Arial"/>
                <a:ea typeface="Arial"/>
                <a:cs typeface="Arial"/>
                <a:sym typeface="Arial"/>
              </a:rPr>
              <a:t>  – The daily RNA change is not a direct reading of an animal’s perceived hour. It is one molecular feature associated with clock phase. Pooling head tissue also combines signals that can differ among cell populations, so a strong aggregate rhythm cannot establish where the relevant timing information originates.</a:t>
            </a:r>
            <a:endParaRPr/>
          </a:p>
          <a:p>
            <a:pPr indent="0" lvl="0" marL="0" rtl="0" algn="l">
              <a:spcBef>
                <a:spcPts val="0"/>
              </a:spcBef>
              <a:spcAft>
                <a:spcPts val="0"/>
              </a:spcAft>
              <a:buNone/>
            </a:pPr>
            <a:r>
              <a:rPr lang="en-US" sz="1200">
                <a:latin typeface="Arial"/>
                <a:ea typeface="Arial"/>
                <a:cs typeface="Arial"/>
                <a:sym typeface="Arial"/>
              </a:rPr>
              <a:t>• 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Oren Froy; Anthony L. Gotter; Amy L. Casselman; Steven M. Reppert (2003). Illuminating the Circadian Clock in Monarch Butterfly Migration. Science, 300(5623): 1303-1305. https://doi.org/10.1126/science.1084874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Froy et al. (2003), Fig. 1(B). Head per RNA: blue, light–dark; teal, darkness; magenta, constant 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https://doi.org/10.1126/science.1084874</a:t>
            </a:r>
            <a:endParaRPr/>
          </a:p>
        </p:txBody>
      </p:sp>
      <p:sp>
        <p:nvSpPr>
          <p:cNvPr id="268" name="Google Shape;268;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7" name="Shape 277"/>
        <p:cNvGrpSpPr/>
        <p:nvPr/>
      </p:nvGrpSpPr>
      <p:grpSpPr>
        <a:xfrm>
          <a:off x="0" y="0"/>
          <a:ext cx="0" cy="0"/>
          <a:chOff x="0" y="0"/>
          <a:chExt cx="0" cy="0"/>
        </a:xfrm>
      </p:grpSpPr>
      <p:sp>
        <p:nvSpPr>
          <p:cNvPr id="278" name="Google Shape;278;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9" name="Google Shape;279;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Sauman and colleagues localized PER, the protein encoded by per, using antibodies in adult monarch brain sections. The pars lateralis, or PL, is a lateral brain region containing candidate clock cells; the pars intercerebralis, or PI, is a medial region with neurosecretory cells.</a:t>
            </a:r>
            <a:endParaRPr/>
          </a:p>
          <a:p>
            <a:pPr indent="0" lvl="0" marL="0" rtl="0" algn="l">
              <a:spcBef>
                <a:spcPts val="0"/>
              </a:spcBef>
              <a:spcAft>
                <a:spcPts val="0"/>
              </a:spcAft>
              <a:buNone/>
            </a:pPr>
            <a:r>
              <a:rPr lang="en-US" sz="1200">
                <a:latin typeface="Arial"/>
                <a:ea typeface="Arial"/>
                <a:cs typeface="Arial"/>
                <a:sym typeface="Arial"/>
              </a:rPr>
              <a:t>• PL cells had little detectable PER at zeitgeber time 6 but strong labeling near zeitgeber time 18. Zeitgeber time, abbreviated ZT, measures hours relative to the entraining cycle, with ZT0 at lights-on. Daily PL staining persisted in constant darkness and was disrupted in constant light.</a:t>
            </a:r>
            <a:endParaRPr/>
          </a:p>
          <a:p>
            <a:pPr indent="0" lvl="0" marL="0" rtl="0" algn="l">
              <a:spcBef>
                <a:spcPts val="0"/>
              </a:spcBef>
              <a:spcAft>
                <a:spcPts val="0"/>
              </a:spcAft>
              <a:buNone/>
            </a:pPr>
            <a:r>
              <a:rPr lang="en-US" sz="1200">
                <a:latin typeface="Arial"/>
                <a:ea typeface="Arial"/>
                <a:cs typeface="Arial"/>
                <a:sym typeface="Arial"/>
              </a:rPr>
              <a:t>  – An antibody signal indicates the location and relative abundance of the recognized protein. The nighttime increase in PL staining is compatible with a clock-associated rhythm, while the constant-dark condition tests persistence without daily illumination. Identifying a rhythmic brain population does not establish which behavior requires that population.</a:t>
            </a:r>
            <a:endParaRPr/>
          </a:p>
          <a:p>
            <a:pPr indent="0" lvl="0" marL="0" rtl="0" algn="l">
              <a:spcBef>
                <a:spcPts val="0"/>
              </a:spcBef>
              <a:spcAft>
                <a:spcPts val="0"/>
              </a:spcAft>
              <a:buNone/>
            </a:pPr>
            <a:r>
              <a:rPr lang="en-US" sz="1200">
                <a:latin typeface="Arial"/>
                <a:ea typeface="Arial"/>
                <a:cs typeface="Arial"/>
                <a:sym typeface="Arial"/>
              </a:rPr>
              <a:t>• 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5(B–J). PER-stained cells and daily staining changes.</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80" name="Google Shape;280;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1" name="Google Shape;291;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Monarchs possess two cryptochromes, proteins associated with light sensing and circadian timing. CRY1 acts as a blue-light-responsive component. Zhu and colleagues used cultured monarch DpN1 cells to test how reducing CRY1 changes the response to illumination.</a:t>
            </a:r>
            <a:endParaRPr/>
          </a:p>
          <a:p>
            <a:pPr indent="0" lvl="0" marL="0" rtl="0" algn="l">
              <a:spcBef>
                <a:spcPts val="0"/>
              </a:spcBef>
              <a:spcAft>
                <a:spcPts val="0"/>
              </a:spcAft>
              <a:buNone/>
            </a:pPr>
            <a:r>
              <a:rPr lang="en-US" sz="1200">
                <a:latin typeface="Arial"/>
                <a:ea typeface="Arial"/>
                <a:cs typeface="Arial"/>
                <a:sym typeface="Arial"/>
              </a:rPr>
              <a:t>• RNA interference reduces expression using complementary RNA. Compared with a control targeting green fluorescent protein, cry1 interference prevented the normal light-dependent decline of TIM, the TIMELESS clock protein. In controls, TIM decreased before PER and CRY2 during the light-exposure time course.</a:t>
            </a:r>
            <a:endParaRPr/>
          </a:p>
          <a:p>
            <a:pPr indent="0" lvl="0" marL="0" rtl="0" algn="l">
              <a:spcBef>
                <a:spcPts val="0"/>
              </a:spcBef>
              <a:spcAft>
                <a:spcPts val="0"/>
              </a:spcAft>
              <a:buNone/>
            </a:pPr>
            <a:r>
              <a:rPr lang="en-US" sz="1200">
                <a:latin typeface="Arial"/>
                <a:ea typeface="Arial"/>
                <a:cs typeface="Arial"/>
                <a:sym typeface="Arial"/>
              </a:rPr>
              <a:t>  – The depletion sequence separates the timing of measured protein changes from an inferred molecular cascade. TIM declined from approximately 10 min of illumination, whereas substantial PER and CRY2 decreases occurred later, near 120 and 240 min. A control RNA interference treatment addresses effects of the manipulation that are unrelated to reducing CRY1.</a:t>
            </a:r>
            <a:endParaRPr/>
          </a:p>
          <a:p>
            <a:pPr indent="0" lvl="0" marL="0" rtl="0" algn="l">
              <a:spcBef>
                <a:spcPts val="0"/>
              </a:spcBef>
              <a:spcAft>
                <a:spcPts val="0"/>
              </a:spcAft>
              <a:buNone/>
            </a:pPr>
            <a:r>
              <a:rPr lang="en-US" sz="1200">
                <a:latin typeface="Arial"/>
                <a:ea typeface="Arial"/>
                <a:cs typeface="Arial"/>
                <a:sym typeface="Arial"/>
              </a:rPr>
              <a:t>• These protein measurements support CRY1-dependent light input to clock regulation. Light normally lowers TIM, and removing CRY1 prevents that decline. Brain labeling places CRY1 with PER in candidate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2(A–D). Clock-protein levels after light and cry1 knockdown.</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6(D–E). CRY1 and PER labeling in the same pars lateralis cell.</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292" name="Google Shape;292;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3" name="Shape 303"/>
        <p:cNvGrpSpPr/>
        <p:nvPr/>
      </p:nvGrpSpPr>
      <p:grpSpPr>
        <a:xfrm>
          <a:off x="0" y="0"/>
          <a:ext cx="0" cy="0"/>
          <a:chOff x="0" y="0"/>
          <a:chExt cx="0" cy="0"/>
        </a:xfrm>
      </p:grpSpPr>
      <p:sp>
        <p:nvSpPr>
          <p:cNvPr id="304" name="Google Shape;304;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05" name="Google Shape;305;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Zhu and colleagues localized TIMELESS protein in monarch brain cells and compared its abundance across daily phases. In the pars lateralis, TIM labeling overlapped with corazonin, a neuropeptide marker identifying the same cell group.</a:t>
            </a:r>
            <a:endParaRPr/>
          </a:p>
          <a:p>
            <a:pPr indent="0" lvl="0" marL="0" rtl="0" algn="l">
              <a:spcBef>
                <a:spcPts val="0"/>
              </a:spcBef>
              <a:spcAft>
                <a:spcPts val="0"/>
              </a:spcAft>
              <a:buNone/>
            </a:pPr>
            <a:r>
              <a:rPr lang="en-US" sz="1200">
                <a:latin typeface="Arial"/>
                <a:ea typeface="Arial"/>
                <a:cs typeface="Arial"/>
                <a:sym typeface="Arial"/>
              </a:rPr>
              <a:t>• 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rtl="0" algn="l">
              <a:spcBef>
                <a:spcPts val="0"/>
              </a:spcBef>
              <a:spcAft>
                <a:spcPts val="0"/>
              </a:spcAft>
              <a:buNone/>
            </a:pPr>
            <a:r>
              <a:rPr lang="en-US" sz="1200">
                <a:latin typeface="Arial"/>
                <a:ea typeface="Arial"/>
                <a:cs typeface="Arial"/>
                <a:sym typeface="Arial"/>
              </a:rPr>
              <a:t>  – The red TIM and green corazonin labels were obtained by double-labeling the same brain region. Co-localization means that both markers occur in the identified cells; it is not a measurement of peptide release. The light-pulse comparison concerns TIM abundance, whereas the identity of a synaptic output requires different experiments.</a:t>
            </a:r>
            <a:endParaRPr/>
          </a:p>
          <a:p>
            <a:pPr indent="0" lvl="0" marL="0" rtl="0" algn="l">
              <a:spcBef>
                <a:spcPts val="0"/>
              </a:spcBef>
              <a:spcAft>
                <a:spcPts val="0"/>
              </a:spcAft>
              <a:buNone/>
            </a:pPr>
            <a:r>
              <a:rPr lang="en-US" sz="1200">
                <a:latin typeface="Arial"/>
                <a:ea typeface="Arial"/>
                <a:cs typeface="Arial"/>
                <a:sym typeface="Arial"/>
              </a:rPr>
              <a:t>• 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3(B–C). TIM and corazonin labeling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06" name="Google Shape;306;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7" name="Google Shape;317;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CRY2 is the second monarch cryptochrome and has a different tested role from CRY1. Zhu and colleagues introduced clock proteins into DpN1 cells and measured a per regulatory sequence coupled to a luciferase reporter, a light-producing readout of transcriptional activity.</a:t>
            </a:r>
            <a:endParaRPr/>
          </a:p>
          <a:p>
            <a:pPr indent="0" lvl="0" marL="0" rtl="0" algn="l">
              <a:spcBef>
                <a:spcPts val="0"/>
              </a:spcBef>
              <a:spcAft>
                <a:spcPts val="0"/>
              </a:spcAft>
              <a:buNone/>
            </a:pPr>
            <a:r>
              <a:rPr lang="en-US" sz="1200">
                <a:latin typeface="Arial"/>
                <a:ea typeface="Arial"/>
                <a:cs typeface="Arial"/>
                <a:sym typeface="Arial"/>
              </a:rPr>
              <a:t>• The transcription factors CLOCK and CYCLE, abbreviated CLK and CYC, activated the reporter. Adding CRY2 reduced this activity with increasing amounts of CRY2 expression construct, including 5, 15 and 50 ng; CRY1 did not provide the same repression.</a:t>
            </a:r>
            <a:endParaRPr/>
          </a:p>
          <a:p>
            <a:pPr indent="0" lvl="0" marL="0" rtl="0" algn="l">
              <a:spcBef>
                <a:spcPts val="0"/>
              </a:spcBef>
              <a:spcAft>
                <a:spcPts val="0"/>
              </a:spcAft>
              <a:buNone/>
            </a:pPr>
            <a:r>
              <a:rPr lang="en-US" sz="1200">
                <a:latin typeface="Arial"/>
                <a:ea typeface="Arial"/>
                <a:cs typeface="Arial"/>
                <a:sym typeface="Arial"/>
              </a:rPr>
              <a:t>  – A transcription factor is a protein that regulates expression through DNA-associated interactions. The reporter places light production under the tested per regulatory sequence, allowing its activation and repression to be compared. The nanogram values describe DNA introduced into cultured cells, rather than endogenous protein concentrations in a butterfly.</a:t>
            </a:r>
            <a:endParaRPr/>
          </a:p>
          <a:p>
            <a:pPr indent="0" lvl="0" marL="0" rtl="0" algn="l">
              <a:spcBef>
                <a:spcPts val="0"/>
              </a:spcBef>
              <a:spcAft>
                <a:spcPts val="0"/>
              </a:spcAft>
              <a:buNone/>
            </a:pPr>
            <a:r>
              <a:rPr lang="en-US" sz="1200">
                <a:latin typeface="Arial"/>
                <a:ea typeface="Arial"/>
                <a:cs typeface="Arial"/>
                <a:sym typeface="Arial"/>
              </a:rPr>
              <a:t>• 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5(A). Transcriptional reporter responses to clock proteins.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18" name="Google Shape;318;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9" name="Shape 329"/>
        <p:cNvGrpSpPr/>
        <p:nvPr/>
      </p:nvGrpSpPr>
      <p:grpSpPr>
        <a:xfrm>
          <a:off x="0" y="0"/>
          <a:ext cx="0" cy="0"/>
          <a:chOff x="0" y="0"/>
          <a:chExt cx="0" cy="0"/>
        </a:xfrm>
      </p:grpSpPr>
      <p:sp>
        <p:nvSpPr>
          <p:cNvPr id="330" name="Google Shape;330;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1" name="Google Shape;331;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rtl="0" algn="l">
              <a:spcBef>
                <a:spcPts val="0"/>
              </a:spcBef>
              <a:spcAft>
                <a:spcPts val="0"/>
              </a:spcAft>
              <a:buNone/>
            </a:pPr>
            <a:r>
              <a:rPr lang="en-US" sz="1200">
                <a:latin typeface="Arial"/>
                <a:ea typeface="Arial"/>
                <a:cs typeface="Arial"/>
                <a:sym typeface="Arial"/>
              </a:rPr>
              <a:t>• CRY2 reduction increased reporter activity approximately threefold. Across a 24-h light–dark cycle, per RNA remained near peak values after cry2 interference instead of following the control’s rise and fall. The protein measurements confirmed depletion of the targeted regulator.</a:t>
            </a:r>
            <a:endParaRPr/>
          </a:p>
          <a:p>
            <a:pPr indent="0" lvl="0" marL="0" rtl="0" algn="l">
              <a:spcBef>
                <a:spcPts val="0"/>
              </a:spcBef>
              <a:spcAft>
                <a:spcPts val="0"/>
              </a:spcAft>
              <a:buNone/>
            </a:pPr>
            <a:r>
              <a:rPr lang="en-US" sz="1200">
                <a:latin typeface="Arial"/>
                <a:ea typeface="Arial"/>
                <a:cs typeface="Arial"/>
                <a:sym typeface="Arial"/>
              </a:rPr>
              <a:t>  – Negative feedback means that an output acts back to reduce the process producing it. The knockdown and reporter assays support that relationship for CRY2, rather than merely correlating its abundance with time. The separate constant-dark result limits what can be inferred about autonomous timing from the cultured-cell light–dark cycle.</a:t>
            </a:r>
            <a:endParaRPr/>
          </a:p>
          <a:p>
            <a:pPr indent="0" lvl="0" marL="0" rtl="0" algn="l">
              <a:spcBef>
                <a:spcPts val="0"/>
              </a:spcBef>
              <a:spcAft>
                <a:spcPts val="0"/>
              </a:spcAft>
              <a:buNone/>
            </a:pPr>
            <a:r>
              <a:rPr lang="en-US" sz="1200">
                <a:latin typeface="Arial"/>
                <a:ea typeface="Arial"/>
                <a:cs typeface="Arial"/>
                <a:sym typeface="Arial"/>
              </a:rPr>
              <a:t>• These findings support CRY2-mediated negative feedback: clock-associated proteins restrain the transcription that contributes to their production. Removing CRY2 therefore leaves per RNA near peak values instead of cycling.</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5(B). Protein knockdown and transcriptional reporter activity.</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5(D). per RNA after cry2 knockdown across a light–dark cycle.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32" name="Google Shape;332;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5" name="Google Shape;34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Clock regulation depends on protein interactions as well as transcription. Zhu and colleagues used co-immunoprecipitation, antibody capture of a protein together with associated molecules, to examine PER, TIM and CRY2 in monarch brain extracts and cultured cells.</a:t>
            </a:r>
            <a:endParaRPr/>
          </a:p>
          <a:p>
            <a:pPr indent="0" lvl="0" marL="0" rtl="0" algn="l">
              <a:spcBef>
                <a:spcPts val="0"/>
              </a:spcBef>
              <a:spcAft>
                <a:spcPts val="0"/>
              </a:spcAft>
              <a:buNone/>
            </a:pPr>
            <a:r>
              <a:rPr lang="en-US" sz="1200">
                <a:latin typeface="Arial"/>
                <a:ea typeface="Arial"/>
                <a:cs typeface="Arial"/>
                <a:sym typeface="Arial"/>
              </a:rPr>
              <a:t>• The captured material contained combinations of PER, TIM and CRY2. Reducing PER also reduced CRY2 protein without a corresponding reduction in cry2 RNA, supporting regulation after transcription. TIM interference produced a more modest reduction of PER and CRY2.</a:t>
            </a:r>
            <a:endParaRPr/>
          </a:p>
          <a:p>
            <a:pPr indent="0" lvl="0" marL="0" rtl="0" algn="l">
              <a:spcBef>
                <a:spcPts val="0"/>
              </a:spcBef>
              <a:spcAft>
                <a:spcPts val="0"/>
              </a:spcAft>
              <a:buNone/>
            </a:pPr>
            <a:r>
              <a:rPr lang="en-US" sz="1200">
                <a:latin typeface="Arial"/>
                <a:ea typeface="Arial"/>
                <a:cs typeface="Arial"/>
                <a:sym typeface="Arial"/>
              </a:rPr>
              <a:t>  – Post-transcriptional regulation changes protein production or persistence without requiring a parallel change in the RNA encoding it. The association experiment and the knockdown experiment supply different evidence: one identifies co-captured complexes, and the other tests dependence of protein abundance on another clock component.</a:t>
            </a:r>
            <a:endParaRPr/>
          </a:p>
          <a:p>
            <a:pPr indent="0" lvl="0" marL="0" rtl="0" algn="l">
              <a:spcBef>
                <a:spcPts val="0"/>
              </a:spcBef>
              <a:spcAft>
                <a:spcPts val="0"/>
              </a:spcAft>
              <a:buNone/>
            </a:pPr>
            <a:r>
              <a:rPr lang="en-US" sz="1200">
                <a:latin typeface="Arial"/>
                <a:ea typeface="Arial"/>
                <a:cs typeface="Arial"/>
                <a:sym typeface="Arial"/>
              </a:rPr>
              <a:t>• The findings are consistent with PER and TIM helping stabilize CRY2-containing complexes. Stabilizing a repressor protein extends its availability to restrain transcription. Protein interactions therefore form part of the molecular feedback mechanism.</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5(C). Clock-protein co-immunoprecipitation from brain and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6(D–E). CRY2 and corazonin in pars lateralis cells.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46" name="Google Shape;34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nucleus contains the DNA used for transcription, so a transcriptional repressor’s cellular location affects its access to clock regulation. Zhu and colleagues compared CRY2 nuclear labeling with per RNA across circadian phase.</a:t>
            </a:r>
            <a:endParaRPr/>
          </a:p>
          <a:p>
            <a:pPr indent="0" lvl="0" marL="0" rtl="0" algn="l">
              <a:spcBef>
                <a:spcPts val="0"/>
              </a:spcBef>
              <a:spcAft>
                <a:spcPts val="0"/>
              </a:spcAft>
              <a:buNone/>
            </a:pPr>
            <a:r>
              <a:rPr lang="en-US" sz="1200">
                <a:latin typeface="Arial"/>
                <a:ea typeface="Arial"/>
                <a:cs typeface="Arial"/>
                <a:sym typeface="Arial"/>
              </a:rPr>
              <a:t>• In pars lateralis clock cells, nuclear CRY2 was concentrated around ZT2–4 and near circadian time 3 in constant darkness. Circadian time, or CT, refers to internal phase under free-running conditions. The measured nuclear signal changed with phase rather than remaining continuously high.</a:t>
            </a:r>
            <a:endParaRPr/>
          </a:p>
          <a:p>
            <a:pPr indent="0" lvl="0" marL="0" rtl="0" algn="l">
              <a:spcBef>
                <a:spcPts val="0"/>
              </a:spcBef>
              <a:spcAft>
                <a:spcPts val="0"/>
              </a:spcAft>
              <a:buNone/>
            </a:pPr>
            <a:r>
              <a:rPr lang="en-US" sz="1200">
                <a:latin typeface="Arial"/>
                <a:ea typeface="Arial"/>
                <a:cs typeface="Arial"/>
                <a:sym typeface="Arial"/>
              </a:rPr>
              <a:t>  – The plotted nuclear signal is a measured localization outcome, distinct from total protein abundance. CRY2 can therefore change its regulatory availability without requiring an identical change in the whole-cell amount. Persistence of a phase-dependent signal in darkness supports endogenous timing, while the mechanism transporting CRY2 remains incompletely specified.</a:t>
            </a:r>
            <a:endParaRPr/>
          </a:p>
          <a:p>
            <a:pPr indent="0" lvl="0" marL="0" rtl="0" algn="l">
              <a:spcBef>
                <a:spcPts val="0"/>
              </a:spcBef>
              <a:spcAft>
                <a:spcPts val="0"/>
              </a:spcAft>
              <a:buNone/>
            </a:pPr>
            <a:r>
              <a:rPr lang="en-US" sz="1200">
                <a:latin typeface="Arial"/>
                <a:ea typeface="Arial"/>
                <a:cs typeface="Arial"/>
                <a:sym typeface="Arial"/>
              </a:rPr>
              <a:t>• 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6(G–H). Nuclear CRY2 and per RNA across circadian phase.</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p:txBody>
      </p:sp>
      <p:sp>
        <p:nvSpPr>
          <p:cNvPr id="360" name="Google Shape;360;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9" name="Shape 369"/>
        <p:cNvGrpSpPr/>
        <p:nvPr/>
      </p:nvGrpSpPr>
      <p:grpSpPr>
        <a:xfrm>
          <a:off x="0" y="0"/>
          <a:ext cx="0" cy="0"/>
          <a:chOff x="0" y="0"/>
          <a:chExt cx="0" cy="0"/>
        </a:xfrm>
      </p:grpSpPr>
      <p:sp>
        <p:nvSpPr>
          <p:cNvPr id="370" name="Google Shape;370;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1" name="Google Shape;371;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central body is a component of the insect central complex, a group of brain neuropils associated with orientation. A neuropil is a region rich in neuronal processes and synaptic connections rather than only cell bodies.</a:t>
            </a:r>
            <a:endParaRPr/>
          </a:p>
          <a:p>
            <a:pPr indent="0" lvl="0" marL="0" rtl="0" algn="l">
              <a:spcBef>
                <a:spcPts val="0"/>
              </a:spcBef>
              <a:spcAft>
                <a:spcPts val="0"/>
              </a:spcAft>
              <a:buNone/>
            </a:pPr>
            <a:r>
              <a:rPr lang="en-US" sz="1200">
                <a:latin typeface="Arial"/>
                <a:ea typeface="Arial"/>
                <a:cs typeface="Arial"/>
                <a:sym typeface="Arial"/>
              </a:rPr>
              <a:t>• 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rtl="0" algn="l">
              <a:spcBef>
                <a:spcPts val="0"/>
              </a:spcBef>
              <a:spcAft>
                <a:spcPts val="0"/>
              </a:spcAft>
              <a:buNone/>
            </a:pPr>
            <a:r>
              <a:rPr lang="en-US" sz="1200">
                <a:latin typeface="Arial"/>
                <a:ea typeface="Arial"/>
                <a:cs typeface="Arial"/>
                <a:sym typeface="Arial"/>
              </a:rPr>
              <a:t>  – Synapsin is a synapse-associated protein used to delineate neuropil boundaries, whereas CRY2 labeling identifies a clock-associated molecule. Their use in separate studies does not create a direct connection between the labeled populations. The proposed clock-output interpretation therefore remains distinct from the measured phase-dependent staining.</a:t>
            </a:r>
            <a:endParaRPr/>
          </a:p>
          <a:p>
            <a:pPr indent="0" lvl="0" marL="0" rtl="0" algn="l">
              <a:spcBef>
                <a:spcPts val="0"/>
              </a:spcBef>
              <a:spcAft>
                <a:spcPts val="0"/>
              </a:spcAft>
              <a:buNone/>
            </a:pPr>
            <a:r>
              <a:rPr lang="en-US" sz="1200">
                <a:latin typeface="Arial"/>
                <a:ea typeface="Arial"/>
                <a:cs typeface="Arial"/>
                <a:sym typeface="Arial"/>
              </a:rPr>
              <a:t>• 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Zhu et al. (2008), Fig. 7(I–K). Central-body CRY2 staining varies in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372" name="Google Shape;372;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3" name="Shape 383"/>
        <p:cNvGrpSpPr/>
        <p:nvPr/>
      </p:nvGrpSpPr>
      <p:grpSpPr>
        <a:xfrm>
          <a:off x="0" y="0"/>
          <a:ext cx="0" cy="0"/>
          <a:chOff x="0" y="0"/>
          <a:chExt cx="0" cy="0"/>
        </a:xfrm>
      </p:grpSpPr>
      <p:sp>
        <p:nvSpPr>
          <p:cNvPr id="384" name="Google Shape;384;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5" name="Google Shape;385;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The antennae are paired head appendages that contain sensory tissue and molecular clocks. Merlin and colleagues removed the antennal flagella, the long distal portions, and compared migratory orientation with intact butterflies.</a:t>
            </a:r>
            <a:endParaRPr/>
          </a:p>
          <a:p>
            <a:pPr indent="0" lvl="0" marL="0" rtl="0" algn="l">
              <a:spcBef>
                <a:spcPts val="0"/>
              </a:spcBef>
              <a:spcAft>
                <a:spcPts val="0"/>
              </a:spcAft>
              <a:buNone/>
            </a:pPr>
            <a:r>
              <a:rPr lang="en-US" sz="1200">
                <a:latin typeface="Arial"/>
                <a:ea typeface="Arial"/>
                <a:cs typeface="Arial"/>
                <a:sym typeface="Arial"/>
              </a:rPr>
              <a:t>• 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rtl="0" algn="l">
              <a:spcBef>
                <a:spcPts val="0"/>
              </a:spcBef>
              <a:spcAft>
                <a:spcPts val="0"/>
              </a:spcAft>
              <a:buNone/>
            </a:pPr>
            <a:r>
              <a:rPr lang="en-US" sz="1200">
                <a:latin typeface="Arial"/>
                <a:ea typeface="Arial"/>
                <a:cs typeface="Arial"/>
                <a:sym typeface="Arial"/>
              </a:rPr>
              <a:t>  – A strongly directed individual can still belong to a disorganized group if different animals select different directions. The analysis distinguishes the stability of one flight from agreement among migratory bearings. The removed antennal flagella are visible external structures, but the relevant deficit cannot be attributed to one sensory modality from removal alone.</a:t>
            </a:r>
            <a:endParaRPr/>
          </a:p>
          <a:p>
            <a:pPr indent="0" lvl="0" marL="0" rtl="0" algn="l">
              <a:spcBef>
                <a:spcPts val="0"/>
              </a:spcBef>
              <a:spcAft>
                <a:spcPts val="0"/>
              </a:spcAft>
              <a:buNone/>
            </a:pPr>
            <a:r>
              <a:rPr lang="en-US" sz="1200">
                <a:latin typeface="Arial"/>
                <a:ea typeface="Arial"/>
                <a:cs typeface="Arial"/>
                <a:sym typeface="Arial"/>
              </a:rPr>
              <a:t>• 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1(A–B). Intact and antenna-less headings on two light cycles.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386" name="Google Shape;386;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7" name="Shape 397"/>
        <p:cNvGrpSpPr/>
        <p:nvPr/>
      </p:nvGrpSpPr>
      <p:grpSpPr>
        <a:xfrm>
          <a:off x="0" y="0"/>
          <a:ext cx="0" cy="0"/>
          <a:chOff x="0" y="0"/>
          <a:chExt cx="0" cy="0"/>
        </a:xfrm>
      </p:grpSpPr>
      <p:sp>
        <p:nvSpPr>
          <p:cNvPr id="398" name="Google Shape;39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99" name="Google Shape;39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An orientation deficit requires a motor control when the manipulated organ could influence flight. Merlin and colleagues released intact and antenna-less monarchs outdoors and compared whether they could maintain normal upward flight.</a:t>
            </a:r>
            <a:endParaRPr/>
          </a:p>
          <a:p>
            <a:pPr indent="0" lvl="0" marL="0" rtl="0" algn="l">
              <a:spcBef>
                <a:spcPts val="0"/>
              </a:spcBef>
              <a:spcAft>
                <a:spcPts val="0"/>
              </a:spcAft>
              <a:buNone/>
            </a:pPr>
            <a:r>
              <a:rPr lang="en-US" sz="1200">
                <a:latin typeface="Arial"/>
                <a:ea typeface="Arial"/>
                <a:cs typeface="Arial"/>
                <a:sym typeface="Arial"/>
              </a:rPr>
              <a:t>• 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rtl="0" algn="l">
              <a:spcBef>
                <a:spcPts val="0"/>
              </a:spcBef>
              <a:spcAft>
                <a:spcPts val="0"/>
              </a:spcAft>
              <a:buNone/>
            </a:pPr>
            <a:r>
              <a:rPr lang="en-US" sz="1200">
                <a:latin typeface="Arial"/>
                <a:ea typeface="Arial"/>
                <a:cs typeface="Arial"/>
                <a:sym typeface="Arial"/>
              </a:rPr>
              <a:t>  – Free-flight release is a motor check outside the tethered apparatus. It establishes that the manipulated animals can leave the release point and sustain upward flight, rather than testing an entire migration. Stable individual headings and normal release flight together constrain a motor explanation for the compass deficit.</a:t>
            </a:r>
            <a:endParaRPr/>
          </a:p>
          <a:p>
            <a:pPr indent="0" lvl="0" marL="0" rtl="0" algn="l">
              <a:spcBef>
                <a:spcPts val="0"/>
              </a:spcBef>
              <a:spcAft>
                <a:spcPts val="0"/>
              </a:spcAft>
              <a:buNone/>
            </a:pPr>
            <a:r>
              <a:rPr lang="en-US" sz="1200">
                <a:latin typeface="Arial"/>
                <a:ea typeface="Arial"/>
                <a:cs typeface="Arial"/>
                <a:sym typeface="Arial"/>
              </a:rPr>
              <a:t>• 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1(C). Released intact and antenna-less butterflies maintain flight.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00" name="Google Shape;400;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3" name="Google Shape;413;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measured clock-associated RNA in isolated samples of monarch antennae. Quantitative PCR estimates the abundance of selected RNA sequences after conversion to DNA, allowing the same transcripts to be compared across time points.</a:t>
            </a:r>
            <a:endParaRPr/>
          </a:p>
          <a:p>
            <a:pPr indent="0" lvl="0" marL="0" rtl="0" algn="l">
              <a:spcBef>
                <a:spcPts val="0"/>
              </a:spcBef>
              <a:spcAft>
                <a:spcPts val="0"/>
              </a:spcAft>
              <a:buNone/>
            </a:pPr>
            <a:r>
              <a:rPr lang="en-US" sz="1200">
                <a:latin typeface="Arial"/>
                <a:ea typeface="Arial"/>
                <a:cs typeface="Arial"/>
                <a:sym typeface="Arial"/>
              </a:rPr>
              <a:t>• Antennal per, tim and cry2 RNA varied across a light–dark cycle and remained rhythmic after transfer to constant darkness. Their levels were lower near ZT6 than ZT18 in the cycling condition; cry1 RNA did not have the same phase difference.</a:t>
            </a:r>
            <a:endParaRPr/>
          </a:p>
          <a:p>
            <a:pPr indent="0" lvl="0" marL="0" rtl="0" algn="l">
              <a:spcBef>
                <a:spcPts val="0"/>
              </a:spcBef>
              <a:spcAft>
                <a:spcPts val="0"/>
              </a:spcAft>
              <a:buNone/>
            </a:pPr>
            <a:r>
              <a:rPr lang="en-US" sz="1200">
                <a:latin typeface="Arial"/>
                <a:ea typeface="Arial"/>
                <a:cs typeface="Arial"/>
                <a:sym typeface="Arial"/>
              </a:rPr>
              <a:t>  – The RNA measurements sample the antenna as a tissue, so they can combine several cellular populations. Different clock components need not have identical expression profiles. The presence of rhythmic per, tim and cry2 therefore supports a local clock program without requiring cry1 RNA itself to oscillate strongly.</a:t>
            </a:r>
            <a:endParaRPr/>
          </a:p>
          <a:p>
            <a:pPr indent="0" lvl="0" marL="0" rtl="0" algn="l">
              <a:spcBef>
                <a:spcPts val="0"/>
              </a:spcBef>
              <a:spcAft>
                <a:spcPts val="0"/>
              </a:spcAft>
              <a:buNone/>
            </a:pPr>
            <a:r>
              <a:rPr lang="en-US" sz="1200">
                <a:latin typeface="Arial"/>
                <a:ea typeface="Arial"/>
                <a:cs typeface="Arial"/>
                <a:sym typeface="Arial"/>
              </a:rPr>
              <a:t>• 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2(A–B). Antennal clock RNA in light–dark and constant darkness.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14" name="Google Shape;414;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rtl="0" algn="l">
              <a:spcBef>
                <a:spcPts val="0"/>
              </a:spcBef>
              <a:spcAft>
                <a:spcPts val="0"/>
              </a:spcAft>
              <a:buNone/>
            </a:pPr>
            <a:r>
              <a:rPr lang="en-US" sz="1200">
                <a:latin typeface="Arial"/>
                <a:ea typeface="Arial"/>
                <a:cs typeface="Arial"/>
                <a:sym typeface="Arial"/>
              </a:rPr>
              <a:t>• 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rtl="0" algn="l">
              <a:spcBef>
                <a:spcPts val="0"/>
              </a:spcBef>
              <a:spcAft>
                <a:spcPts val="0"/>
              </a:spcAft>
              <a:buNone/>
            </a:pPr>
            <a:r>
              <a:rPr lang="en-US" sz="1200">
                <a:latin typeface="Arial"/>
                <a:ea typeface="Arial"/>
                <a:cs typeface="Arial"/>
                <a:sym typeface="Arial"/>
              </a:rPr>
              <a:t>  – The two opposing schedules provide different time references for otherwise comparable tissue cultures. TIM following each local schedule is stronger evidence for local entrainment than simply finding a rhythm in an intact antenna. The dark interval was limited, so autonomy should be described over that tested duration.</a:t>
            </a:r>
            <a:endParaRPr/>
          </a:p>
          <a:p>
            <a:pPr indent="0" lvl="0" marL="0" rtl="0" algn="l">
              <a:spcBef>
                <a:spcPts val="0"/>
              </a:spcBef>
              <a:spcAft>
                <a:spcPts val="0"/>
              </a:spcAft>
              <a:buNone/>
            </a:pPr>
            <a:r>
              <a:rPr lang="en-US" sz="1200">
                <a:latin typeface="Arial"/>
                <a:ea typeface="Arial"/>
                <a:cs typeface="Arial"/>
                <a:sym typeface="Arial"/>
              </a:rPr>
              <a:t>• 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2(D–E). TIM rhythms in isolated antennal cultures.</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28" name="Google Shape;428;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41" name="Google Shape;441;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rtl="0" algn="l">
              <a:spcBef>
                <a:spcPts val="0"/>
              </a:spcBef>
              <a:spcAft>
                <a:spcPts val="0"/>
              </a:spcAft>
              <a:buNone/>
            </a:pPr>
            <a:r>
              <a:rPr lang="en-US" sz="1200">
                <a:latin typeface="Arial"/>
                <a:ea typeface="Arial"/>
                <a:cs typeface="Arial"/>
                <a:sym typeface="Arial"/>
              </a:rPr>
              <a:t>• A 2-h light pulse during CT16–18 reduced antennal TIM protein when the coating was clear, but not when it was black. The pulse compared a molecular response to illumination while keeping the appendage physically present.</a:t>
            </a:r>
            <a:endParaRPr/>
          </a:p>
          <a:p>
            <a:pPr indent="0" lvl="0" marL="0" rtl="0" algn="l">
              <a:spcBef>
                <a:spcPts val="0"/>
              </a:spcBef>
              <a:spcAft>
                <a:spcPts val="0"/>
              </a:spcAft>
              <a:buNone/>
            </a:pPr>
            <a:r>
              <a:rPr lang="en-US" sz="1200">
                <a:latin typeface="Arial"/>
                <a:ea typeface="Arial"/>
                <a:cs typeface="Arial"/>
                <a:sym typeface="Arial"/>
              </a:rPr>
              <a:t>  – A physical coating can interfere with more than one sensory function. Comparing black with clear enamel retains coating effects while changing optical transmission. The TIM response measures a clock-associated molecular consequence of light exposure, rather than the butterfly’s directional decision. The spectral transmission test verifies that the intended optical difference was achieved.</a:t>
            </a:r>
            <a:endParaRPr/>
          </a:p>
          <a:p>
            <a:pPr indent="0" lvl="0" marL="0" rtl="0" algn="l">
              <a:spcBef>
                <a:spcPts val="0"/>
              </a:spcBef>
              <a:spcAft>
                <a:spcPts val="0"/>
              </a:spcAft>
              <a:buNone/>
            </a:pPr>
            <a:r>
              <a:rPr lang="en-US" sz="1200">
                <a:latin typeface="Arial"/>
                <a:ea typeface="Arial"/>
                <a:cs typeface="Arial"/>
                <a:sym typeface="Arial"/>
              </a:rPr>
              <a:t>• 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3(A–B). Paint transmission and light-dependent TIM depletion.</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42" name="Google Shape;442;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5" name="Google Shape;455;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rtl="0" algn="l">
              <a:spcBef>
                <a:spcPts val="0"/>
              </a:spcBef>
              <a:spcAft>
                <a:spcPts val="0"/>
              </a:spcAft>
              <a:buNone/>
            </a:pPr>
            <a:r>
              <a:rPr lang="en-US" sz="1200">
                <a:latin typeface="Arial"/>
                <a:ea typeface="Arial"/>
                <a:cs typeface="Arial"/>
                <a:sym typeface="Arial"/>
              </a:rPr>
              <a:t>• 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rtl="0" algn="l">
              <a:spcBef>
                <a:spcPts val="0"/>
              </a:spcBef>
              <a:spcAft>
                <a:spcPts val="0"/>
              </a:spcAft>
              <a:buNone/>
            </a:pPr>
            <a:r>
              <a:rPr lang="en-US" sz="1200">
                <a:latin typeface="Arial"/>
                <a:ea typeface="Arial"/>
                <a:cs typeface="Arial"/>
                <a:sym typeface="Arial"/>
              </a:rPr>
              <a:t>  – Clear-coated antennae were not normal odor receptors, yet they supported an oriented compass response. That comparison weakens an explanation based solely on olfactory impairment. The abnormal black-painted heading is a behavioral outcome; the inferred loss of appropriate antennal entrainment requires the separate molecular light-response evidence.</a:t>
            </a:r>
            <a:endParaRPr/>
          </a:p>
          <a:p>
            <a:pPr indent="0" lvl="0" marL="0" rtl="0" algn="l">
              <a:spcBef>
                <a:spcPts val="0"/>
              </a:spcBef>
              <a:spcAft>
                <a:spcPts val="0"/>
              </a:spcAft>
              <a:buNone/>
            </a:pPr>
            <a:r>
              <a:rPr lang="en-US" sz="1200">
                <a:latin typeface="Arial"/>
                <a:ea typeface="Arial"/>
                <a:cs typeface="Arial"/>
                <a:sym typeface="Arial"/>
              </a:rPr>
              <a:t>• 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Merlin et al. (2009), Fig. 4(A). Orientation with clear or black antennal paint.</a:t>
            </a:r>
            <a:endParaRPr/>
          </a:p>
          <a:p>
            <a:pPr indent="0" lvl="0" marL="0" rtl="0" algn="l">
              <a:spcBef>
                <a:spcPts val="0"/>
              </a:spcBef>
              <a:spcAft>
                <a:spcPts val="0"/>
              </a:spcAft>
              <a:buNone/>
            </a:pPr>
            <a:r>
              <a:rPr lang="en-US" sz="1200">
                <a:latin typeface="Arial"/>
                <a:ea typeface="Arial"/>
                <a:cs typeface="Arial"/>
                <a:sym typeface="Arial"/>
              </a:rPr>
              <a:t>Figure source: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56" name="Google Shape;456;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7" name="Shape 467"/>
        <p:cNvGrpSpPr/>
        <p:nvPr/>
      </p:nvGrpSpPr>
      <p:grpSpPr>
        <a:xfrm>
          <a:off x="0" y="0"/>
          <a:ext cx="0" cy="0"/>
          <a:chOff x="0" y="0"/>
          <a:chExt cx="0" cy="0"/>
        </a:xfrm>
      </p:grpSpPr>
      <p:sp>
        <p:nvSpPr>
          <p:cNvPr id="468" name="Google Shape;468;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9" name="Google Shape;469;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tested migrants after removing either the left or the right antenna. The remaining appendage retained access to light, allowing its timing contribution to be evaluated without a second functional antenna.</a:t>
            </a:r>
            <a:endParaRPr/>
          </a:p>
          <a:p>
            <a:pPr indent="0" lvl="0" marL="0" rtl="0" algn="l">
              <a:spcBef>
                <a:spcPts val="0"/>
              </a:spcBef>
              <a:spcAft>
                <a:spcPts val="0"/>
              </a:spcAft>
              <a:buNone/>
            </a:pPr>
            <a:r>
              <a:rPr lang="en-US" sz="1200">
                <a:latin typeface="Arial"/>
                <a:ea typeface="Arial"/>
                <a:cs typeface="Arial"/>
                <a:sym typeface="Arial"/>
              </a:rPr>
              <a:t>• 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rtl="0" algn="l">
              <a:spcBef>
                <a:spcPts val="0"/>
              </a:spcBef>
              <a:spcAft>
                <a:spcPts val="0"/>
              </a:spcAft>
              <a:buNone/>
            </a:pPr>
            <a:r>
              <a:rPr lang="en-US" sz="1200">
                <a:latin typeface="Arial"/>
                <a:ea typeface="Arial"/>
                <a:cs typeface="Arial"/>
                <a:sym typeface="Arial"/>
              </a:rPr>
              <a:t>  – Sufficiency means that the remaining antenna can support the measured behavior in this preparation. It does not establish that two antennae are redundant in every environment. The clockwise shift follows a delay, consistent with time compensation, while its magnitude belongs to the solar geometry of this particular experiment.</a:t>
            </a:r>
            <a:endParaRPr/>
          </a:p>
          <a:p>
            <a:pPr indent="0" lvl="0" marL="0" rtl="0" algn="l">
              <a:spcBef>
                <a:spcPts val="0"/>
              </a:spcBef>
              <a:spcAft>
                <a:spcPts val="0"/>
              </a:spcAft>
              <a:buNone/>
            </a:pPr>
            <a:r>
              <a:rPr lang="en-US" sz="1200">
                <a:latin typeface="Arial"/>
                <a:ea typeface="Arial"/>
                <a:cs typeface="Arial"/>
                <a:sym typeface="Arial"/>
              </a:rPr>
              <a:t>• The results support functional sufficiency of either antenna under the tested conditions. A system can work with one source of timing yet become disrupted when a second source supplies a conflicting signal rather than no signal.</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1(a–b). A single antenna supports clock-shifted orientation.</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70" name="Google Shape;470;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3" name="Google Shape;48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rtl="0" algn="l">
              <a:spcBef>
                <a:spcPts val="0"/>
              </a:spcBef>
              <a:spcAft>
                <a:spcPts val="0"/>
              </a:spcAft>
              <a:buNone/>
            </a:pPr>
            <a:r>
              <a:rPr lang="en-US" sz="1200">
                <a:latin typeface="Arial"/>
                <a:ea typeface="Arial"/>
                <a:cs typeface="Arial"/>
                <a:sym typeface="Arial"/>
              </a:rPr>
              <a:t>• 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rtl="0" algn="l">
              <a:spcBef>
                <a:spcPts val="0"/>
              </a:spcBef>
              <a:spcAft>
                <a:spcPts val="0"/>
              </a:spcAft>
              <a:buNone/>
            </a:pPr>
            <a:r>
              <a:rPr lang="en-US" sz="1200">
                <a:latin typeface="Arial"/>
                <a:ea typeface="Arial"/>
                <a:cs typeface="Arial"/>
                <a:sym typeface="Arial"/>
              </a:rPr>
              <a:t>  – Discordant means that the two timing sources are not appropriately aligned. A black coating prevents normal light entrainment, but the experiment does not directly measure a unique phase in each blocked clock cell. Disorganization despite an accessible antenna is evidence that the second appendage can interfere with otherwise sufficient timing information.</a:t>
            </a:r>
            <a:endParaRPr/>
          </a:p>
          <a:p>
            <a:pPr indent="0" lvl="0" marL="0" rtl="0" algn="l">
              <a:spcBef>
                <a:spcPts val="0"/>
              </a:spcBef>
              <a:spcAft>
                <a:spcPts val="0"/>
              </a:spcAft>
              <a:buNone/>
            </a:pPr>
            <a:r>
              <a:rPr lang="en-US" sz="1200">
                <a:latin typeface="Arial"/>
                <a:ea typeface="Arial"/>
                <a:cs typeface="Arial"/>
                <a:sym typeface="Arial"/>
              </a:rPr>
              <a:t>• 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84" name="Google Shape;48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5" name="Shape 495"/>
        <p:cNvGrpSpPr/>
        <p:nvPr/>
      </p:nvGrpSpPr>
      <p:grpSpPr>
        <a:xfrm>
          <a:off x="0" y="0"/>
          <a:ext cx="0" cy="0"/>
          <a:chOff x="0" y="0"/>
          <a:chExt cx="0" cy="0"/>
        </a:xfrm>
      </p:grpSpPr>
      <p:sp>
        <p:nvSpPr>
          <p:cNvPr id="496" name="Google Shape;49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97" name="Google Shape;49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rtl="0" algn="l">
              <a:spcBef>
                <a:spcPts val="0"/>
              </a:spcBef>
              <a:spcAft>
                <a:spcPts val="0"/>
              </a:spcAft>
              <a:buNone/>
            </a:pPr>
            <a:r>
              <a:rPr lang="en-US" sz="1200">
                <a:latin typeface="Arial"/>
                <a:ea typeface="Arial"/>
                <a:cs typeface="Arial"/>
                <a:sym typeface="Arial"/>
              </a:rPr>
              <a:t>• 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rtl="0" algn="l">
              <a:spcBef>
                <a:spcPts val="0"/>
              </a:spcBef>
              <a:spcAft>
                <a:spcPts val="0"/>
              </a:spcAft>
              <a:buNone/>
            </a:pPr>
            <a:r>
              <a:rPr lang="en-US" sz="1200">
                <a:latin typeface="Arial"/>
                <a:ea typeface="Arial"/>
                <a:cs typeface="Arial"/>
                <a:sym typeface="Arial"/>
              </a:rPr>
              <a:t>  – A rescue reverses a deficit by changing a proposed cause. Here the remaining clear antenna could support orientation once the blocked antenna was absent. First-flight controls address the possibility that the second simulator exposure, rather than removal of the conflicting signal, produced the recovered group bearing.</a:t>
            </a:r>
            <a:endParaRPr/>
          </a:p>
          <a:p>
            <a:pPr indent="0" lvl="0" marL="0" rtl="0" algn="l">
              <a:spcBef>
                <a:spcPts val="0"/>
              </a:spcBef>
              <a:spcAft>
                <a:spcPts val="0"/>
              </a:spcAft>
              <a:buNone/>
            </a:pPr>
            <a:r>
              <a:rPr lang="en-US" sz="1200">
                <a:latin typeface="Arial"/>
                <a:ea typeface="Arial"/>
                <a:cs typeface="Arial"/>
                <a:sym typeface="Arial"/>
              </a:rPr>
              <a:t>• 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et al. (2012), Fig. 2(A–C). Conflicting antennae and rescue after black antenna removal.</a:t>
            </a:r>
            <a:endParaRPr/>
          </a:p>
          <a:p>
            <a:pPr indent="0" lvl="0" marL="0" rtl="0" algn="l">
              <a:spcBef>
                <a:spcPts val="0"/>
              </a:spcBef>
              <a:spcAft>
                <a:spcPts val="0"/>
              </a:spcAft>
              <a:buNone/>
            </a:pPr>
            <a:r>
              <a:rPr lang="en-US" sz="1200">
                <a:latin typeface="Arial"/>
                <a:ea typeface="Arial"/>
                <a:cs typeface="Arial"/>
                <a:sym typeface="Arial"/>
              </a:rPr>
              <a:t>Figure source: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Image: Photo: Monarch butterfly with compound eye and antenna visible. Credit: U.S. Fish and Wildlife Service. License: Public Domain. Source: https://www.fws.gov/media/monarch-butterfly-danaus-plexippus</a:t>
            </a:r>
            <a:endParaRPr/>
          </a:p>
        </p:txBody>
      </p:sp>
      <p:sp>
        <p:nvSpPr>
          <p:cNvPr id="498" name="Google Shape;49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9" name="Shape 509"/>
        <p:cNvGrpSpPr/>
        <p:nvPr/>
      </p:nvGrpSpPr>
      <p:grpSpPr>
        <a:xfrm>
          <a:off x="0" y="0"/>
          <a:ext cx="0" cy="0"/>
          <a:chOff x="0" y="0"/>
          <a:chExt cx="0" cy="0"/>
        </a:xfrm>
      </p:grpSpPr>
      <p:sp>
        <p:nvSpPr>
          <p:cNvPr id="510" name="Google Shape;510;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1" name="Google Shape;511;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mapped the monarch central complex using synapsin antibody labeling and three-dimensional reconstruction. The central body has upper and lower divisions, associated with a protocerebral bridge, a transverse neuropil, and paired noduli, compact neighboring neuropils.</a:t>
            </a:r>
            <a:endParaRPr/>
          </a:p>
          <a:p>
            <a:pPr indent="0" lvl="0" marL="0" rtl="0" algn="l">
              <a:spcBef>
                <a:spcPts val="0"/>
              </a:spcBef>
              <a:spcAft>
                <a:spcPts val="0"/>
              </a:spcAft>
              <a:buNone/>
            </a:pPr>
            <a:r>
              <a:rPr lang="en-US" sz="1200">
                <a:latin typeface="Arial"/>
                <a:ea typeface="Arial"/>
                <a:cs typeface="Arial"/>
                <a:sym typeface="Arial"/>
              </a:rPr>
              <a:t>• The anterior optic tubercle is an additional visual-processing region. The lateral accessory lobe lies beside the central complex and receives identified neuronal processes associated with compass circuitry. Source scale bars distinguish whole-brain organization at 500 µm from central-complex details at 50 µm.</a:t>
            </a:r>
            <a:endParaRPr/>
          </a:p>
          <a:p>
            <a:pPr indent="0" lvl="0" marL="0" rtl="0" algn="l">
              <a:spcBef>
                <a:spcPts val="0"/>
              </a:spcBef>
              <a:spcAft>
                <a:spcPts val="0"/>
              </a:spcAft>
              <a:buNone/>
            </a:pPr>
            <a:r>
              <a:rPr lang="en-US" sz="1200">
                <a:latin typeface="Arial"/>
                <a:ea typeface="Arial"/>
                <a:cs typeface="Arial"/>
                <a:sym typeface="Arial"/>
              </a:rPr>
              <a:t>  – Synapsin labeling delineates regions containing many synaptic processes. A reconstructed neuropil is an anatomical compartment, not a single neuron. The upper and lower central-body divisions, bridge and noduli can therefore be distinguished spatially before asking which recorded cell types connect them and what those cells encode.</a:t>
            </a:r>
            <a:endParaRPr/>
          </a:p>
          <a:p>
            <a:pPr indent="0" lvl="0" marL="0" rtl="0" algn="l">
              <a:spcBef>
                <a:spcPts val="0"/>
              </a:spcBef>
              <a:spcAft>
                <a:spcPts val="0"/>
              </a:spcAft>
              <a:buNone/>
            </a:pPr>
            <a:r>
              <a:rPr lang="en-US" sz="1200">
                <a:latin typeface="Arial"/>
                <a:ea typeface="Arial"/>
                <a:cs typeface="Arial"/>
                <a:sym typeface="Arial"/>
              </a:rPr>
              <a:t>• 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12" name="Google Shape;512;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1" name="Shape 521"/>
        <p:cNvGrpSpPr/>
        <p:nvPr/>
      </p:nvGrpSpPr>
      <p:grpSpPr>
        <a:xfrm>
          <a:off x="0" y="0"/>
          <a:ext cx="0" cy="0"/>
          <a:chOff x="0" y="0"/>
          <a:chExt cx="0" cy="0"/>
        </a:xfrm>
      </p:grpSpPr>
      <p:sp>
        <p:nvSpPr>
          <p:cNvPr id="522" name="Google Shape;522;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3" name="Google Shape;523;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combined intracellular recordings with dye injection to recover the anatomy of individual compass-related neurons. Intracellular recording measures electrical activity from within a cell; subsequent dye filling associates that response with its neuronal processes.</a:t>
            </a:r>
            <a:endParaRPr/>
          </a:p>
          <a:p>
            <a:pPr indent="0" lvl="0" marL="0" rtl="0" algn="l">
              <a:spcBef>
                <a:spcPts val="0"/>
              </a:spcBef>
              <a:spcAft>
                <a:spcPts val="0"/>
              </a:spcAft>
              <a:buNone/>
            </a:pPr>
            <a:r>
              <a:rPr lang="en-US" sz="1200">
                <a:latin typeface="Arial"/>
                <a:ea typeface="Arial"/>
                <a:cs typeface="Arial"/>
                <a:sym typeface="Arial"/>
              </a:rPr>
              <a:t>• Tangential neurons TL2 and TL3 connected the lateral triangle,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rtl="0" algn="l">
              <a:spcBef>
                <a:spcPts val="0"/>
              </a:spcBef>
              <a:spcAft>
                <a:spcPts val="0"/>
              </a:spcAft>
              <a:buNone/>
            </a:pPr>
            <a:r>
              <a:rPr lang="en-US" sz="1200">
                <a:latin typeface="Arial"/>
                <a:ea typeface="Arial"/>
                <a:cs typeface="Arial"/>
                <a:sym typeface="Arial"/>
              </a:rPr>
              <a:t>  – Tangential cells distribute processes across part of the central-body width, whereas columnar cells connect more restricted subdivisions with other central-complex regions. The single-cell fills associate one electrical response with one recovered morphology. A complete synaptic circuit would require direct connectivity evidence in addition to overlapping projection territories.</a:t>
            </a:r>
            <a:endParaRPr/>
          </a:p>
          <a:p>
            <a:pPr indent="0" lvl="0" marL="0" rtl="0" algn="l">
              <a:spcBef>
                <a:spcPts val="0"/>
              </a:spcBef>
              <a:spcAft>
                <a:spcPts val="0"/>
              </a:spcAft>
              <a:buNone/>
            </a:pPr>
            <a:r>
              <a:rPr lang="en-US" sz="1200">
                <a:latin typeface="Arial"/>
                <a:ea typeface="Arial"/>
                <a:cs typeface="Arial"/>
                <a:sym typeface="Arial"/>
              </a:rPr>
              <a:t>• 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3(B). Dye-filled tangential input neuron TL3.</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24" name="Google Shape;524;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Heinze and Reppert presented polarized 365-nm UV light from above while recording identified compass neurons. The electric-field orientation, called the E-vector, rotated through 360° at controlled speeds of 30° or 60° per second.</a:t>
            </a:r>
            <a:endParaRPr/>
          </a:p>
          <a:p>
            <a:pPr indent="0" lvl="0" marL="0" rtl="0" algn="l">
              <a:spcBef>
                <a:spcPts val="0"/>
              </a:spcBef>
              <a:spcAft>
                <a:spcPts val="0"/>
              </a:spcAft>
              <a:buNone/>
            </a:pPr>
            <a:r>
              <a:rPr lang="en-US" sz="1200">
                <a:latin typeface="Arial"/>
                <a:ea typeface="Arial"/>
                <a:cs typeface="Arial"/>
                <a:sym typeface="Arial"/>
              </a:rPr>
              <a:t>• Action potentials,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rtl="0" algn="l">
              <a:spcBef>
                <a:spcPts val="0"/>
              </a:spcBef>
              <a:spcAft>
                <a:spcPts val="0"/>
              </a:spcAft>
              <a:buNone/>
            </a:pPr>
            <a:r>
              <a:rPr lang="en-US" sz="1200">
                <a:latin typeface="Arial"/>
                <a:ea typeface="Arial"/>
                <a:cs typeface="Arial"/>
                <a:sym typeface="Arial"/>
              </a:rPr>
              <a:t>  – Polarization describes an axis rather than a directed arrow, so orientations separated by 180° are equivalent. A repeating neuronal response at that interval is consistent with polarization-axis coding. Opponent excitation and suppression can distinguish orthogonal axes, but converting such activity into a geographic direction requires additional context.</a:t>
            </a:r>
            <a:endParaRPr/>
          </a:p>
          <a:p>
            <a:pPr indent="0" lvl="0" marL="0" rtl="0" algn="l">
              <a:spcBef>
                <a:spcPts val="0"/>
              </a:spcBef>
              <a:spcAft>
                <a:spcPts val="0"/>
              </a:spcAft>
              <a:buNone/>
            </a:pPr>
            <a:r>
              <a:rPr lang="en-US" sz="1200">
                <a:latin typeface="Arial"/>
                <a:ea typeface="Arial"/>
                <a:cs typeface="Arial"/>
                <a:sym typeface="Arial"/>
              </a:rPr>
              <a:t>• 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4(A–D). Intracellular polarization responses and tuning.</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38" name="Google Shape;538;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9" name="Shape 549"/>
        <p:cNvGrpSpPr/>
        <p:nvPr/>
      </p:nvGrpSpPr>
      <p:grpSpPr>
        <a:xfrm>
          <a:off x="0" y="0"/>
          <a:ext cx="0" cy="0"/>
          <a:chOff x="0" y="0"/>
          <a:chExt cx="0" cy="0"/>
        </a:xfrm>
      </p:grpSpPr>
      <p:sp>
        <p:nvSpPr>
          <p:cNvPr id="550" name="Google Shape;550;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51" name="Google Shape;551;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Azimuth is the angular position of a stimulus around the horizon. Heinze and Reppert moved an unpolarized light spot around the animal at 30° elevation while recording compass-related cells responsive to skylight polarization.</a:t>
            </a:r>
            <a:endParaRPr/>
          </a:p>
          <a:p>
            <a:pPr indent="0" lvl="0" marL="0" rtl="0" algn="l">
              <a:spcBef>
                <a:spcPts val="0"/>
              </a:spcBef>
              <a:spcAft>
                <a:spcPts val="0"/>
              </a:spcAft>
              <a:buNone/>
            </a:pPr>
            <a:r>
              <a:rPr lang="en-US" sz="1200">
                <a:latin typeface="Arial"/>
                <a:ea typeface="Arial"/>
                <a:cs typeface="Arial"/>
                <a:sym typeface="Arial"/>
              </a:rPr>
              <a:t>• 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rtl="0" algn="l">
              <a:spcBef>
                <a:spcPts val="0"/>
              </a:spcBef>
              <a:spcAft>
                <a:spcPts val="0"/>
              </a:spcAft>
              <a:buNone/>
            </a:pPr>
            <a:r>
              <a:rPr lang="en-US" sz="1200">
                <a:latin typeface="Arial"/>
                <a:ea typeface="Arial"/>
                <a:cs typeface="Arial"/>
                <a:sym typeface="Arial"/>
              </a:rPr>
              <a:t>  – The stimulus changes position while its wavelength can be held fixed, separating angular tuning from a response simply to light onset. Testing different wavelengths then asks whether the preferred angle reverses with spectral input. The reported cells lacked the consistent spectral opponency that would require opposite directional effects from different wavelength classes.</a:t>
            </a:r>
            <a:endParaRPr/>
          </a:p>
          <a:p>
            <a:pPr indent="0" lvl="0" marL="0" rtl="0" algn="l">
              <a:spcBef>
                <a:spcPts val="0"/>
              </a:spcBef>
              <a:spcAft>
                <a:spcPts val="0"/>
              </a:spcAft>
              <a:buNone/>
            </a:pPr>
            <a:r>
              <a:rPr lang="en-US" sz="1200">
                <a:latin typeface="Arial"/>
                <a:ea typeface="Arial"/>
                <a:cs typeface="Arial"/>
                <a:sym typeface="Arial"/>
              </a:rPr>
              <a:t>• 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5(A–F). Azimuth tuning to UV, blue and green light spots.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52" name="Google Shape;552;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3" name="Shape 563"/>
        <p:cNvGrpSpPr/>
        <p:nvPr/>
      </p:nvGrpSpPr>
      <p:grpSpPr>
        <a:xfrm>
          <a:off x="0" y="0"/>
          <a:ext cx="0" cy="0"/>
          <a:chOff x="0" y="0"/>
          <a:chExt cx="0" cy="0"/>
        </a:xfrm>
      </p:grpSpPr>
      <p:sp>
        <p:nvSpPr>
          <p:cNvPr id="564" name="Google Shape;564;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5" name="Google Shape;565;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rtl="0" algn="l">
              <a:spcBef>
                <a:spcPts val="0"/>
              </a:spcBef>
              <a:spcAft>
                <a:spcPts val="0"/>
              </a:spcAft>
              <a:buNone/>
            </a:pPr>
            <a:r>
              <a:rPr lang="en-US" sz="1200">
                <a:latin typeface="Arial"/>
                <a:ea typeface="Arial"/>
                <a:cs typeface="Arial"/>
                <a:sym typeface="Arial"/>
              </a:rPr>
              <a:t>• 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rtl="0" algn="l">
              <a:spcBef>
                <a:spcPts val="0"/>
              </a:spcBef>
              <a:spcAft>
                <a:spcPts val="0"/>
              </a:spcAft>
              <a:buNone/>
            </a:pPr>
            <a:r>
              <a:rPr lang="en-US" sz="1200">
                <a:latin typeface="Arial"/>
                <a:ea typeface="Arial"/>
                <a:cs typeface="Arial"/>
                <a:sym typeface="Arial"/>
              </a:rPr>
              <a:t>  – The same recorded cell provides a control for differences between neuronal populations. Loss of one response while another remains also argues against a general failure of the recording or of the cell’s excitability. The shield manipulates visual access; it does not chemically isolate a transmitter or identify the full retinal-to-central pathway.</a:t>
            </a:r>
            <a:endParaRPr/>
          </a:p>
          <a:p>
            <a:pPr indent="0" lvl="0" marL="0" rtl="0" algn="l">
              <a:spcBef>
                <a:spcPts val="0"/>
              </a:spcBef>
              <a:spcAft>
                <a:spcPts val="0"/>
              </a:spcAft>
              <a:buNone/>
            </a:pPr>
            <a:r>
              <a:rPr lang="en-US" sz="1200">
                <a:latin typeface="Arial"/>
                <a:ea typeface="Arial"/>
                <a:cs typeface="Arial"/>
                <a:sym typeface="Arial"/>
              </a:rPr>
              <a:t>• 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rPr lang="en-US" sz="1200">
                <a:latin typeface="Arial"/>
                <a:ea typeface="Arial"/>
                <a:cs typeface="Arial"/>
                <a:sym typeface="Arial"/>
              </a:rPr>
              <a:t>Ivo Sauman; Adriana D. Briscoe; Haisun Zhu; Dingding Shi; Oren Froy; Julia Stalleicken; Quan Yuan; Amy Casselman; Steven M. Reppert (2005). Connecting the Navigational Clock to Sun Compass Input in Monarch Butterfly Brain. Neuron, 46(3): 457-467. https://doi.org/10.1016/j.neuron.2005.03.014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6(A–F). Dorsal masking separates polarization and azimuth responses.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Sauman et al. (2005), Fig. 3(D). UV opsin staining in the dorsal rim area.</a:t>
            </a:r>
            <a:endParaRPr/>
          </a:p>
          <a:p>
            <a:pPr indent="0" lvl="0" marL="0" rtl="0" algn="l">
              <a:spcBef>
                <a:spcPts val="0"/>
              </a:spcBef>
              <a:spcAft>
                <a:spcPts val="0"/>
              </a:spcAft>
              <a:buNone/>
            </a:pPr>
            <a:r>
              <a:rPr lang="en-US" sz="1200">
                <a:latin typeface="Arial"/>
                <a:ea typeface="Arial"/>
                <a:cs typeface="Arial"/>
                <a:sym typeface="Arial"/>
              </a:rPr>
              <a:t>Figure source: https://doi.org/10.1016/j.neuron.2005.03.014</a:t>
            </a:r>
            <a:endParaRPr/>
          </a:p>
        </p:txBody>
      </p:sp>
      <p:sp>
        <p:nvSpPr>
          <p:cNvPr id="566" name="Google Shape;566;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7" name="Shape 577"/>
        <p:cNvGrpSpPr/>
        <p:nvPr/>
      </p:nvGrpSpPr>
      <p:grpSpPr>
        <a:xfrm>
          <a:off x="0" y="0"/>
          <a:ext cx="0" cy="0"/>
          <a:chOff x="0" y="0"/>
          <a:chExt cx="0" cy="0"/>
        </a:xfrm>
      </p:grpSpPr>
      <p:sp>
        <p:nvSpPr>
          <p:cNvPr id="578" name="Google Shape;57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9" name="Google Shape;57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compared tangential-neuron recordings from autumn migrants with non-migratory monarchs. They rotated a green 530-nm light spot at 30° elevation and measured the angular range producing elevated spike rates.</a:t>
            </a:r>
            <a:endParaRPr/>
          </a:p>
          <a:p>
            <a:pPr indent="0" lvl="0" marL="0" rtl="0" algn="l">
              <a:spcBef>
                <a:spcPts val="0"/>
              </a:spcBef>
              <a:spcAft>
                <a:spcPts val="0"/>
              </a:spcAft>
              <a:buNone/>
            </a:pPr>
            <a:r>
              <a:rPr lang="en-US" sz="1200">
                <a:latin typeface="Arial"/>
                <a:ea typeface="Arial"/>
                <a:cs typeface="Arial"/>
                <a:sym typeface="Arial"/>
              </a:rPr>
              <a:t>• Full width at half maximum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rtl="0" algn="l">
              <a:spcBef>
                <a:spcPts val="0"/>
              </a:spcBef>
              <a:spcAft>
                <a:spcPts val="0"/>
              </a:spcAft>
              <a:buNone/>
            </a:pPr>
            <a:r>
              <a:rPr lang="en-US" sz="1200">
                <a:latin typeface="Arial"/>
                <a:ea typeface="Arial"/>
                <a:cs typeface="Arial"/>
                <a:sym typeface="Arial"/>
              </a:rPr>
              <a:t>  – A narrow tuning curve restricts elevated activity to a smaller range of stimulus angles. The source reported mean widths of 82.94° and 118.33° for green light, whereas polarization tuning widths were similar between groups. Similar maximum rates help separate tuning shape from a general difference in responsiveness.</a:t>
            </a:r>
            <a:endParaRPr/>
          </a:p>
          <a:p>
            <a:pPr indent="0" lvl="0" marL="0" rtl="0" algn="l">
              <a:spcBef>
                <a:spcPts val="0"/>
              </a:spcBef>
              <a:spcAft>
                <a:spcPts val="0"/>
              </a:spcAft>
              <a:buNone/>
            </a:pPr>
            <a:r>
              <a:rPr lang="en-US" sz="1200">
                <a:latin typeface="Arial"/>
                <a:ea typeface="Arial"/>
                <a:cs typeface="Arial"/>
                <a:sym typeface="Arial"/>
              </a:rPr>
              <a:t>• 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3(a–c). Migratory and non-migratory tangential-neuron tuning.</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80" name="Google Shape;58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1" name="Shape 591"/>
        <p:cNvGrpSpPr/>
        <p:nvPr/>
      </p:nvGrpSpPr>
      <p:grpSpPr>
        <a:xfrm>
          <a:off x="0" y="0"/>
          <a:ext cx="0" cy="0"/>
          <a:chOff x="0" y="0"/>
          <a:chExt cx="0" cy="0"/>
        </a:xfrm>
      </p:grpSpPr>
      <p:sp>
        <p:nvSpPr>
          <p:cNvPr id="592" name="Google Shape;592;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3" name="Google Shape;593;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Nguyen and colleagues analyzed how strongly a change in green-light azimuth altered tangential-neuron activity. This angular sensitivity depends on the slope of the tuning response, rather than its maximum firing rate alone.</a:t>
            </a:r>
            <a:endParaRPr/>
          </a:p>
          <a:p>
            <a:pPr indent="0" lvl="0" marL="0" rtl="0" algn="l">
              <a:spcBef>
                <a:spcPts val="0"/>
              </a:spcBef>
              <a:spcAft>
                <a:spcPts val="0"/>
              </a:spcAft>
              <a:buNone/>
            </a:pPr>
            <a:r>
              <a:rPr lang="en-US" sz="1200">
                <a:latin typeface="Arial"/>
                <a:ea typeface="Arial"/>
                <a:cs typeface="Arial"/>
                <a:sym typeface="Arial"/>
              </a:rPr>
              <a:t>• 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rtl="0" algn="l">
              <a:spcBef>
                <a:spcPts val="0"/>
              </a:spcBef>
              <a:spcAft>
                <a:spcPts val="0"/>
              </a:spcAft>
              <a:buNone/>
            </a:pPr>
            <a:r>
              <a:rPr lang="en-US" sz="1200">
                <a:latin typeface="Arial"/>
                <a:ea typeface="Arial"/>
                <a:cs typeface="Arial"/>
                <a:sym typeface="Arial"/>
              </a:rPr>
              <a:t>  – A slope measures how much the response changes when stimulus angle changes. A high peak can coexist with low angular sensitivity if nearby angles produce similar activity. The source’s geographical comparison relates recorded tuning to potential sun positions; those map-related predictions are distinct from direct measurements of a butterfly’s route.</a:t>
            </a:r>
            <a:endParaRPr/>
          </a:p>
          <a:p>
            <a:pPr indent="0" lvl="0" marL="0" rtl="0" algn="l">
              <a:spcBef>
                <a:spcPts val="0"/>
              </a:spcBef>
              <a:spcAft>
                <a:spcPts val="0"/>
              </a:spcAft>
              <a:buNone/>
            </a:pPr>
            <a:r>
              <a:rPr lang="en-US" sz="1200">
                <a:latin typeface="Arial"/>
                <a:ea typeface="Arial"/>
                <a:cs typeface="Arial"/>
                <a:sym typeface="Arial"/>
              </a:rPr>
              <a:t>• The pattern supports a physiological difference in how nearby directions are discriminated. Greater slope within about 60° of the preferred direction means that small azimuth changes produce larger changes in firing near that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Tu Anh Thi Nguyen; M. Jerome Beetz; Christine Merlin; Basil el Jundi (2021). Sun compass neurons are tuned to migratory orientation in monarch butterflies. Proceedings of the Royal Society B: Biological Sciences, 288(1945): 20202988. https://doi.org/10.1098/rspb.2020.2988</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Nguyen et al. (2021), Fig. 4(a–c). Angular sensitivity and its inferred solar geometry.</a:t>
            </a:r>
            <a:endParaRPr/>
          </a:p>
          <a:p>
            <a:pPr indent="0" lvl="0" marL="0" rtl="0" algn="l">
              <a:spcBef>
                <a:spcPts val="0"/>
              </a:spcBef>
              <a:spcAft>
                <a:spcPts val="0"/>
              </a:spcAft>
              <a:buNone/>
            </a:pPr>
            <a:r>
              <a:rPr lang="en-US" sz="1200">
                <a:latin typeface="Arial"/>
                <a:ea typeface="Arial"/>
                <a:cs typeface="Arial"/>
                <a:sym typeface="Arial"/>
              </a:rPr>
              <a:t>Figure source: https://doi.org/10.1098/rspb.2020.2988</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3(A). Dye-filled tangential input neuron TL2.</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594" name="Google Shape;594;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5" name="Shape 605"/>
        <p:cNvGrpSpPr/>
        <p:nvPr/>
      </p:nvGrpSpPr>
      <p:grpSpPr>
        <a:xfrm>
          <a:off x="0" y="0"/>
          <a:ext cx="0" cy="0"/>
          <a:chOff x="0" y="0"/>
          <a:chExt cx="0" cy="0"/>
        </a:xfrm>
      </p:grpSpPr>
      <p:sp>
        <p:nvSpPr>
          <p:cNvPr id="606" name="Google Shape;606;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7" name="Google Shape;607;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rtl="0" algn="l">
              <a:spcBef>
                <a:spcPts val="0"/>
              </a:spcBef>
              <a:spcAft>
                <a:spcPts val="0"/>
              </a:spcAft>
              <a:buNone/>
            </a:pPr>
            <a:r>
              <a:rPr lang="en-US" sz="1200">
                <a:latin typeface="Arial"/>
                <a:ea typeface="Arial"/>
                <a:cs typeface="Arial"/>
                <a:sym typeface="Arial"/>
              </a:rPr>
              <a:t>• Spring migrants entrained to a 6-h-delayed light cycle instead departed near 142°, a clockwise shift of about 97°. The opposite seasonal direction therefore retained the response expected from a time-compensated sun compass.</a:t>
            </a:r>
            <a:endParaRPr/>
          </a:p>
          <a:p>
            <a:pPr indent="0" lvl="0" marL="0" rtl="0" algn="l">
              <a:spcBef>
                <a:spcPts val="0"/>
              </a:spcBef>
              <a:spcAft>
                <a:spcPts val="0"/>
              </a:spcAft>
              <a:buNone/>
            </a:pPr>
            <a:r>
              <a:rPr lang="en-US" sz="1200">
                <a:latin typeface="Arial"/>
                <a:ea typeface="Arial"/>
                <a:cs typeface="Arial"/>
                <a:sym typeface="Arial"/>
              </a:rPr>
              <a:t>  – The spring clock shift was imposed before release, while the geographic sky was available during the test. Its effect separates a seasonally selected heading from loss of time compensation. A disappearance bearing can establish initial travel direction, but it does not verify that the same direction was maintained over the entire return journey.</a:t>
            </a:r>
            <a:endParaRPr/>
          </a:p>
          <a:p>
            <a:pPr indent="0" lvl="0" marL="0" rtl="0" algn="l">
              <a:spcBef>
                <a:spcPts val="0"/>
              </a:spcBef>
              <a:spcAft>
                <a:spcPts val="0"/>
              </a:spcAft>
              <a:buNone/>
            </a:pPr>
            <a:r>
              <a:rPr lang="en-US" sz="1200">
                <a:latin typeface="Arial"/>
                <a:ea typeface="Arial"/>
                <a:cs typeface="Arial"/>
                <a:sym typeface="Arial"/>
              </a:rPr>
              <a:t>• 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1(A–C). Migration map and seasonal bearings, including a clock shift.</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08" name="Google Shape;608;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7" name="Shape 617"/>
        <p:cNvGrpSpPr/>
        <p:nvPr/>
      </p:nvGrpSpPr>
      <p:grpSpPr>
        <a:xfrm>
          <a:off x="0" y="0"/>
          <a:ext cx="0" cy="0"/>
          <a:chOff x="0" y="0"/>
          <a:chExt cx="0" cy="0"/>
        </a:xfrm>
      </p:grpSpPr>
      <p:sp>
        <p:nvSpPr>
          <p:cNvPr id="618" name="Google Shape;61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9" name="Google Shape;61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rtl="0" algn="l">
              <a:spcBef>
                <a:spcPts val="0"/>
              </a:spcBef>
              <a:spcAft>
                <a:spcPts val="0"/>
              </a:spcAft>
              <a:buNone/>
            </a:pPr>
            <a:r>
              <a:rPr lang="en-US" sz="1200">
                <a:latin typeface="Arial"/>
                <a:ea typeface="Arial"/>
                <a:cs typeface="Arial"/>
                <a:sym typeface="Arial"/>
              </a:rPr>
              <a:t>• 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rtl="0" algn="l">
              <a:spcBef>
                <a:spcPts val="0"/>
              </a:spcBef>
              <a:spcAft>
                <a:spcPts val="0"/>
              </a:spcAft>
              <a:buNone/>
            </a:pPr>
            <a:r>
              <a:rPr lang="en-US" sz="1200">
                <a:latin typeface="Arial"/>
                <a:ea typeface="Arial"/>
                <a:cs typeface="Arial"/>
                <a:sym typeface="Arial"/>
              </a:rPr>
              <a:t>  – The cold manipulation occurred during housing, and testing followed warming above approximately 15°C to permit flight. The direction change is therefore distinct from an immediate motor effect of trying to fly at 4°C. Holding photoperiod constant in one cold treatment separates the thermal effect from increasing day length.</a:t>
            </a:r>
            <a:endParaRPr/>
          </a:p>
          <a:p>
            <a:pPr indent="0" lvl="0" marL="0" rtl="0" algn="l">
              <a:spcBef>
                <a:spcPts val="0"/>
              </a:spcBef>
              <a:spcAft>
                <a:spcPts val="0"/>
              </a:spcAft>
              <a:buNone/>
            </a:pPr>
            <a:r>
              <a:rPr lang="en-US" sz="1200">
                <a:latin typeface="Arial"/>
                <a:ea typeface="Arial"/>
                <a:cs typeface="Arial"/>
                <a:sym typeface="Arial"/>
              </a:rPr>
              <a:t>• The intervention supports cold exposure as a trigger for seasonal compass reversal under these conditions. The 24-day treatment establishes an effective exposure. Cold therefore acts as the signal that sets the northward spring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3(B–C). Northward headings after two cold-treatment schedules.</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20" name="Google Shape;62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9" name="Shape 629"/>
        <p:cNvGrpSpPr/>
        <p:nvPr/>
      </p:nvGrpSpPr>
      <p:grpSpPr>
        <a:xfrm>
          <a:off x="0" y="0"/>
          <a:ext cx="0" cy="0"/>
          <a:chOff x="0" y="0"/>
          <a:chExt cx="0" cy="0"/>
        </a:xfrm>
      </p:grpSpPr>
      <p:sp>
        <p:nvSpPr>
          <p:cNvPr id="630" name="Google Shape;630;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1" name="Google Shape;631;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rtl="0" algn="l">
              <a:spcBef>
                <a:spcPts val="0"/>
              </a:spcBef>
              <a:spcAft>
                <a:spcPts val="0"/>
              </a:spcAft>
              <a:buNone/>
            </a:pPr>
            <a:r>
              <a:rPr lang="en-US" sz="1200">
                <a:latin typeface="Arial"/>
                <a:ea typeface="Arial"/>
                <a:cs typeface="Arial"/>
                <a:sym typeface="Arial"/>
              </a:rPr>
              <a:t>• 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rtl="0" algn="l">
              <a:spcBef>
                <a:spcPts val="0"/>
              </a:spcBef>
              <a:spcAft>
                <a:spcPts val="0"/>
              </a:spcAft>
              <a:buNone/>
            </a:pPr>
            <a:r>
              <a:rPr lang="en-US" sz="1200">
                <a:latin typeface="Arial"/>
                <a:ea typeface="Arial"/>
                <a:cs typeface="Arial"/>
                <a:sym typeface="Arial"/>
              </a:rPr>
              <a:t>  – A calendar date is not a controlled internal signal available to the butterfly. Warm housing allowed time to pass without the tested cold experience. Continued southward orientation despite advanced age separates that experience from chronological aging, while the egg observations address one potential association with reproductive state.</a:t>
            </a:r>
            <a:endParaRPr/>
          </a:p>
          <a:p>
            <a:pPr indent="0" lvl="0" marL="0" rtl="0" algn="l">
              <a:spcBef>
                <a:spcPts val="0"/>
              </a:spcBef>
              <a:spcAft>
                <a:spcPts val="0"/>
              </a:spcAft>
              <a:buNone/>
            </a:pPr>
            <a:r>
              <a:rPr lang="en-US" sz="1200">
                <a:latin typeface="Arial"/>
                <a:ea typeface="Arial"/>
                <a:cs typeface="Arial"/>
                <a:sym typeface="Arial"/>
              </a:rPr>
              <a:t>• 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Guerra &amp; Reppert (2013), Fig. 4(A–B). Warm-housed fall migrants retain southward orientation.</a:t>
            </a:r>
            <a:endParaRPr/>
          </a:p>
          <a:p>
            <a:pPr indent="0" lvl="0" marL="0" rtl="0" algn="l">
              <a:spcBef>
                <a:spcPts val="0"/>
              </a:spcBef>
              <a:spcAft>
                <a:spcPts val="0"/>
              </a:spcAft>
              <a:buNone/>
            </a:pPr>
            <a:r>
              <a:rPr lang="en-US" sz="1200">
                <a:latin typeface="Arial"/>
                <a:ea typeface="Arial"/>
                <a:cs typeface="Arial"/>
                <a:sym typeface="Arial"/>
              </a:rPr>
              <a:t>Figure source: https://doi.org/10.1016/j.cub.2013.01.052</a:t>
            </a:r>
            <a:endParaRPr/>
          </a:p>
        </p:txBody>
      </p:sp>
      <p:sp>
        <p:nvSpPr>
          <p:cNvPr id="632" name="Google Shape;632;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1" name="Shape 641"/>
        <p:cNvGrpSpPr/>
        <p:nvPr/>
      </p:nvGrpSpPr>
      <p:grpSpPr>
        <a:xfrm>
          <a:off x="0" y="0"/>
          <a:ext cx="0" cy="0"/>
          <a:chOff x="0" y="0"/>
          <a:chExt cx="0" cy="0"/>
        </a:xfrm>
      </p:grpSpPr>
      <p:sp>
        <p:nvSpPr>
          <p:cNvPr id="642" name="Google Shape;642;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3" name="Google Shape;643;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rtl="0" algn="l">
              <a:spcBef>
                <a:spcPts val="0"/>
              </a:spcBef>
              <a:spcAft>
                <a:spcPts val="0"/>
              </a:spcAft>
              <a:buNone/>
            </a:pPr>
            <a:r>
              <a:rPr lang="en-US" sz="1200">
                <a:latin typeface="Arial"/>
                <a:ea typeface="Arial"/>
                <a:cs typeface="Arial"/>
                <a:sym typeface="Arial"/>
              </a:rPr>
              <a:t>• 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rtl="0" algn="l">
              <a:spcBef>
                <a:spcPts val="0"/>
              </a:spcBef>
              <a:spcAft>
                <a:spcPts val="0"/>
              </a:spcAft>
              <a:buNone/>
            </a:pPr>
            <a:r>
              <a:rPr lang="en-US" sz="1200">
                <a:latin typeface="Arial"/>
                <a:ea typeface="Arial"/>
                <a:cs typeface="Arial"/>
                <a:sym typeface="Arial"/>
              </a:rPr>
              <a:t>  – A flight mill converts repeated movement around a fixed axis into an activity measure, rather than recording a geographic destination. Temperature cycles alternating 15°C and 25°C provided an additional entraining signal in the source experiments. Those daily cycles should not be equated with the multiweek cold exposure that changes seasonal compass direction.</a:t>
            </a:r>
            <a:endParaRPr/>
          </a:p>
          <a:p>
            <a:pPr indent="0" lvl="0" marL="0" rtl="0" algn="l">
              <a:spcBef>
                <a:spcPts val="0"/>
              </a:spcBef>
              <a:spcAft>
                <a:spcPts val="0"/>
              </a:spcAft>
              <a:buNone/>
            </a:pPr>
            <a:r>
              <a:rPr lang="en-US" sz="1200">
                <a:latin typeface="Arial"/>
                <a:ea typeface="Arial"/>
                <a:cs typeface="Arial"/>
                <a:sym typeface="Arial"/>
              </a:rPr>
              <a:t>• 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Samantha E. Iiams; Guijun Wan; Jiwei Zhang; Aldrin B. Lugena; Ying Zhang; Ashley N. Hayden; Christine Merlin (2024). Loss of functional cryptochrome 1 reduces robustness of 24-hour behavioral rhythms in monarch butterflies. iScience, 27(2): 108980.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1(A–C). Cry1 loss alters emergence rhythms and brain clock RNA.</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Iiams et al. (2024), Fig. 3(A–B). Hourly flight activity in wild-type and Cry1 mutants.</a:t>
            </a:r>
            <a:endParaRPr/>
          </a:p>
          <a:p>
            <a:pPr indent="0" lvl="0" marL="0" rtl="0" algn="l">
              <a:spcBef>
                <a:spcPts val="0"/>
              </a:spcBef>
              <a:spcAft>
                <a:spcPts val="0"/>
              </a:spcAft>
              <a:buNone/>
            </a:pPr>
            <a:r>
              <a:rPr lang="en-US" sz="1200">
                <a:latin typeface="Arial"/>
                <a:ea typeface="Arial"/>
                <a:cs typeface="Arial"/>
                <a:sym typeface="Arial"/>
              </a:rPr>
              <a:t>Figure source: https://doi.org/10.1016/j.isci.2024.108980</a:t>
            </a:r>
            <a:endParaRPr/>
          </a:p>
        </p:txBody>
      </p:sp>
      <p:sp>
        <p:nvSpPr>
          <p:cNvPr id="644" name="Google Shape;644;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5" name="Shape 655"/>
        <p:cNvGrpSpPr/>
        <p:nvPr/>
      </p:nvGrpSpPr>
      <p:grpSpPr>
        <a:xfrm>
          <a:off x="0" y="0"/>
          <a:ext cx="0" cy="0"/>
          <a:chOff x="0" y="0"/>
          <a:chExt cx="0" cy="0"/>
        </a:xfrm>
      </p:grpSpPr>
      <p:sp>
        <p:nvSpPr>
          <p:cNvPr id="656" name="Google Shape;656;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57" name="Google Shape;657;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 Beetz and colleagues recorded central-complex neurons while non-migratory monarchs oriented toward a virtual sun. A heading signal represents current orientation; a goal-direction signal represents the direction the animal attempts to maintain.</a:t>
            </a:r>
            <a:endParaRPr/>
          </a:p>
          <a:p>
            <a:pPr indent="0" lvl="0" marL="0" rtl="0" algn="l">
              <a:spcBef>
                <a:spcPts val="0"/>
              </a:spcBef>
              <a:spcAft>
                <a:spcPts val="0"/>
              </a:spcAft>
              <a:buNone/>
            </a:pPr>
            <a:r>
              <a:rPr lang="en-US" sz="1200">
                <a:latin typeface="Arial"/>
                <a:ea typeface="Arial"/>
                <a:cs typeface="Arial"/>
                <a:sym typeface="Arial"/>
              </a:rPr>
              <a:t>• 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rtl="0" algn="l">
              <a:spcBef>
                <a:spcPts val="0"/>
              </a:spcBef>
              <a:spcAft>
                <a:spcPts val="0"/>
              </a:spcAft>
              <a:buNone/>
            </a:pPr>
            <a:r>
              <a:rPr lang="en-US" sz="1200">
                <a:latin typeface="Arial"/>
                <a:ea typeface="Arial"/>
                <a:cs typeface="Arial"/>
                <a:sym typeface="Arial"/>
              </a:rPr>
              <a:t>  – Aversive conditioning associates a heading sector with an unpleasant stimulus, allowing the preferred direction to change without treating that change as a natural seasonal migration. Putative goal cells followed the conditioned preference, whereas heading cells followed the animal’s current orientation. A cellular representation is supported, but the complete synaptic circuit combining time, goal and motor output remains unresolved.</a:t>
            </a:r>
            <a:endParaRPr/>
          </a:p>
          <a:p>
            <a:pPr indent="0" lvl="0" marL="0" rtl="0" algn="l">
              <a:spcBef>
                <a:spcPts val="0"/>
              </a:spcBef>
              <a:spcAft>
                <a:spcPts val="0"/>
              </a:spcAft>
              <a:buNone/>
            </a:pPr>
            <a:r>
              <a:rPr lang="en-US" sz="1200">
                <a:latin typeface="Arial"/>
                <a:ea typeface="Arial"/>
                <a:cs typeface="Arial"/>
                <a:sym typeface="Arial"/>
              </a:rPr>
              <a:t>• 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Beetz et al. (2023), Fig. 3(b,f). Neural tuning during heading and goal manipulations.</a:t>
            </a:r>
            <a:endParaRPr/>
          </a:p>
          <a:p>
            <a:pPr indent="0" lvl="0" marL="0" rtl="0" algn="l">
              <a:spcBef>
                <a:spcPts val="0"/>
              </a:spcBef>
              <a:spcAft>
                <a:spcPts val="0"/>
              </a:spcAft>
              <a:buNone/>
            </a:pPr>
            <a:r>
              <a:rPr lang="en-US" sz="1200">
                <a:latin typeface="Arial"/>
                <a:ea typeface="Arial"/>
                <a:cs typeface="Arial"/>
                <a:sym typeface="Arial"/>
              </a:rPr>
              <a:t>Figure source: https://doi.org/10.1038/s41467-023-41526-w</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Figure: Heinze &amp; Reppert (2011), Fig. 2(A–J). Synapsin-labeled central-complex and associated neuropils.</a:t>
            </a:r>
            <a:endParaRPr/>
          </a:p>
          <a:p>
            <a:pPr indent="0" lvl="0" marL="0" rtl="0" algn="l">
              <a:spcBef>
                <a:spcPts val="0"/>
              </a:spcBef>
              <a:spcAft>
                <a:spcPts val="0"/>
              </a:spcAft>
              <a:buNone/>
            </a:pPr>
            <a:r>
              <a:rPr lang="en-US" sz="1200">
                <a:latin typeface="Arial"/>
                <a:ea typeface="Arial"/>
                <a:cs typeface="Arial"/>
                <a:sym typeface="Arial"/>
              </a:rPr>
              <a:t>Figure source: https://doi.org/10.1016/j.neuron.2010.12.025</a:t>
            </a:r>
            <a:endParaRPr/>
          </a:p>
        </p:txBody>
      </p:sp>
      <p:sp>
        <p:nvSpPr>
          <p:cNvPr id="658" name="Google Shape;658;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9" name="Shape 669"/>
        <p:cNvGrpSpPr/>
        <p:nvPr/>
      </p:nvGrpSpPr>
      <p:grpSpPr>
        <a:xfrm>
          <a:off x="0" y="0"/>
          <a:ext cx="0" cy="0"/>
          <a:chOff x="0" y="0"/>
          <a:chExt cx="0" cy="0"/>
        </a:xfrm>
      </p:grpSpPr>
      <p:sp>
        <p:nvSpPr>
          <p:cNvPr id="670" name="Google Shape;67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71" name="Google Shape;67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sz="1200">
                <a:latin typeface="Arial"/>
                <a:ea typeface="Arial"/>
                <a:cs typeface="Arial"/>
                <a:sym typeface="Arial"/>
              </a:rPr>
              <a:t>References:</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Henrik Mouritsen; Barrie J. Frost (2002). Virtual migration in tethered flying monarch butterflies reveals their orientation mechanisms. Proceedings of the National Academy of Sciences, 99(15): 10162-10166. https://doi.org/10.1073/pnas.152137299</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Haisun Zhu; Ivo Sauman; Quan Yuan; Amy Casselman; Myai Emery-Le; Patrick Emery; Steven M Reppert (2008). Cryptochromes Define a Novel Circadian Clock Mechanism in Monarch Butterflies That May Underlie Sun Compass Navigation. PLoS Biology, 6(1): e4. https://doi.org/10.1371/journal.pbio.0060004</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Christine Merlin; Robert J. Gegear; Steven M. Reppert (2009). Antennal Circadian Clocks Coordinate Sun Compass Orientation in Migratory Monarch Butterflies. Science, 325(5948): 1700-1704. https://doi.org/10.1126/science.1176221</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Christine Merlin; Robert J. Gegear; Steven M. Reppert (2012). Discordant timing between antennae disrupts sun compass orientation in migratory monarch butterflies. Nature Communications, 3(1): 958. https://doi.org/10.1038/ncomms1965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Stanley Heinze; Steven M. Reppert (2011). Sun Compass Integration of Skylight Cues in Migratory Monarch Butterflies. Neuron, 69(2): 345-358. https://doi.org/10.1016/j.neuron.2010.12.025</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Patrick A. Guerra; Steven M. Reppert (2013). Coldness Triggers Northward Flight in Remigrant Monarch Butterflies. Current Biology, 23(5): 419-423. https://doi.org/10.1016/j.cub.2013.01.052</a:t>
            </a:r>
            <a:endParaRPr/>
          </a:p>
          <a:p>
            <a:pPr indent="0" lvl="0" marL="0" rtl="0" algn="l">
              <a:spcBef>
                <a:spcPts val="0"/>
              </a:spcBef>
              <a:spcAft>
                <a:spcPts val="0"/>
              </a:spcAft>
              <a:buNone/>
            </a:pPr>
            <a:r>
              <a:t/>
            </a:r>
            <a:endParaRPr sz="1200">
              <a:latin typeface="Arial"/>
              <a:ea typeface="Arial"/>
              <a:cs typeface="Arial"/>
              <a:sym typeface="Arial"/>
            </a:endParaRPr>
          </a:p>
          <a:p>
            <a:pPr indent="0" lvl="0" marL="0" rtl="0" algn="l">
              <a:spcBef>
                <a:spcPts val="0"/>
              </a:spcBef>
              <a:spcAft>
                <a:spcPts val="0"/>
              </a:spcAft>
              <a:buNone/>
            </a:pPr>
            <a:r>
              <a:rPr lang="en-US" sz="1200">
                <a:latin typeface="Arial"/>
                <a:ea typeface="Arial"/>
                <a:cs typeface="Arial"/>
                <a:sym typeface="Arial"/>
              </a:rPr>
              <a:t>M. Jerome Beetz; Christian Kraus; Basil el Jundi (2023). Neural representation of goal direction in the monarch butterfly brain. Nature Communications, 14(1): 5859. https://doi.org/10.1038/s41467-023-41526-w</a:t>
            </a:r>
            <a:endParaRPr/>
          </a:p>
        </p:txBody>
      </p:sp>
      <p:sp>
        <p:nvSpPr>
          <p:cNvPr id="672" name="Google Shape;67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Tuning width describes how selective a neuron is for direction.</a:t>
            </a:r>
          </a:p>
          <a:p>
            <a:r>
              <a:rPr lang="en-US" sz="1200"/>
              <a:t>• Definition.</a:t>
            </a:r>
          </a:p>
          <a:p>
            <a:r>
              <a:rPr lang="en-US" sz="1200"/>
              <a:t>– Full width at half maximum is the width of a tuning curve at half its peak response.</a:t>
            </a:r>
          </a:p>
          <a:p>
            <a:r>
              <a:rPr lang="en-US" sz="1200"/>
              <a:t>– It is expressed in degrees.</a:t>
            </a:r>
          </a:p>
          <a:p>
            <a:r>
              <a:rPr lang="en-US" sz="1200"/>
              <a:t>• Stimulus.</a:t>
            </a:r>
          </a:p>
          <a:p>
            <a:r>
              <a:rPr lang="en-US" sz="1200"/>
              <a:t>– A green 530-nanometer light spot rotated around the animal.</a:t>
            </a:r>
          </a:p>
          <a:p>
            <a:r>
              <a:rPr lang="en-US" sz="1200"/>
              <a:t>– Elevation was 30 degrees.</a:t>
            </a:r>
          </a:p>
          <a:p>
            <a:r>
              <a:rPr lang="en-US" sz="1200"/>
              <a:t>• Groups.</a:t>
            </a:r>
          </a:p>
          <a:p>
            <a:r>
              <a:rPr lang="en-US" sz="1200"/>
              <a:t>– Recordings came from autumn migrants and from non-migratory monarchs.</a:t>
            </a:r>
          </a:p>
          <a:p>
            <a:r>
              <a:rPr lang="en-US" sz="1200"/>
              <a:t>• Result.</a:t>
            </a:r>
          </a:p>
          <a:p>
            <a:r>
              <a:rPr lang="en-US" sz="1200"/>
              <a:t>– Mean width was approximately 83 degrees in migrants.</a:t>
            </a:r>
          </a:p>
          <a:p>
            <a:r>
              <a:rPr lang="en-US" sz="1200"/>
              <a:t>– It was approximately 118 degrees in non-migrants.</a:t>
            </a:r>
          </a:p>
          <a:p>
            <a:r>
              <a:rPr lang="en-US" sz="1200"/>
              <a:t>• Peak rates.</a:t>
            </a:r>
          </a:p>
          <a:p>
            <a:r>
              <a:rPr lang="en-US" sz="1200"/>
              <a:t>– Peak firing rates were broadly similar.</a:t>
            </a:r>
          </a:p>
          <a:p>
            <a:r>
              <a:rPr lang="en-US" sz="1200"/>
              <a:t>– The groups differed in angular selectivity.</a:t>
            </a:r>
          </a:p>
          <a:p>
            <a:r>
              <a:rPr lang="en-US" sz="1200"/>
              <a:t>• Meaning.</a:t>
            </a:r>
          </a:p>
          <a:p>
            <a:r>
              <a:rPr lang="en-US" sz="1200"/>
              <a:t>– Narrow tuning means the neuron responds over a smaller range of azimuths.</a:t>
            </a:r>
          </a:p>
          <a:p>
            <a:r>
              <a:rPr lang="en-US" sz="1200"/>
              <a:t>– Firing then changes more steeply with small shifts in azimuth.</a:t>
            </a:r>
          </a:p>
          <a:p>
            <a:r>
              <a:rPr lang="en-US" sz="1200"/>
              <a:t>• Why width matters.</a:t>
            </a:r>
          </a:p>
          <a:p>
            <a:r>
              <a:rPr lang="en-US" sz="1200"/>
              <a:t>– A curve that is wide at half its peak includes many directions.</a:t>
            </a:r>
          </a:p>
          <a:p>
            <a:r>
              <a:rPr lang="en-US" sz="1200"/>
              <a:t>– A narrow curve singles out a smaller set.</a:t>
            </a:r>
          </a:p>
          <a:p>
            <a:r>
              <a:rPr lang="en-US" sz="1200"/>
              <a:t>• Sample origins.</a:t>
            </a:r>
          </a:p>
          <a:p>
            <a:r>
              <a:rPr lang="en-US" sz="1200"/>
              <a:t>– Wild migrants and commercially sourced non-migrants were compared, so origin and rearing differed between the groups.</a:t>
            </a:r>
          </a:p>
          <a:p>
            <a:r>
              <a:rPr lang="en-US" sz="1200"/>
              <a:t/>
            </a:r>
          </a:p>
          <a:p>
            <a:r>
              <a:rPr lang="en-US" sz="1200"/>
              <a:t>References:</a:t>
            </a:r>
          </a:p>
          <a:p>
            <a:r>
              <a:rPr lang="en-US" sz="1200"/>
              <a:t>Tu Anh Thi Nguyen; M. Jerome Beetz; Christine Merlin; Basil el Jundi (2021). Sun compass neurons are tuned to migratory orientation in monarch butterflies. Proceedings of the Royal Society B: Biological Sciences, 288(1945): 20202988. https://doi.org/10.1098/rspb.2020.2988</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neuron can report the axis of polarized light by changing its firing rate.</a:t>
            </a:r>
          </a:p>
          <a:p>
            <a:r>
              <a:rPr lang="en-US" sz="1200"/>
              <a:t>• Definition.</a:t>
            </a:r>
          </a:p>
          <a:p>
            <a:r>
              <a:rPr lang="en-US" sz="1200"/>
              <a:t>– The E-vector is the orientation of the electric field of polarized light.</a:t>
            </a:r>
          </a:p>
          <a:p>
            <a:r>
              <a:rPr lang="en-US" sz="1200"/>
              <a:t>– It repeats after 180 degrees.</a:t>
            </a:r>
          </a:p>
          <a:p>
            <a:r>
              <a:rPr lang="en-US" sz="1200"/>
              <a:t>• Stimulus.</a:t>
            </a:r>
          </a:p>
          <a:p>
            <a:r>
              <a:rPr lang="en-US" sz="1200"/>
              <a:t>– Polarized 365-nanometer UV light was presented from above.</a:t>
            </a:r>
          </a:p>
          <a:p>
            <a:r>
              <a:rPr lang="en-US" sz="1200"/>
              <a:t>– The E-vector rotated through 360 degrees.</a:t>
            </a:r>
          </a:p>
          <a:p>
            <a:r>
              <a:rPr lang="en-US" sz="1200"/>
              <a:t>• Speeds.</a:t>
            </a:r>
          </a:p>
          <a:p>
            <a:r>
              <a:rPr lang="en-US" sz="1200"/>
              <a:t>– Rotation ran at 30 or 60 degrees per second.</a:t>
            </a:r>
          </a:p>
          <a:p>
            <a:r>
              <a:rPr lang="en-US" sz="1200"/>
              <a:t>• Recording.</a:t>
            </a:r>
          </a:p>
          <a:p>
            <a:r>
              <a:rPr lang="en-US" sz="1200"/>
              <a:t>– Intracellular recordings from identified compass neurons measured action potentials.</a:t>
            </a:r>
          </a:p>
          <a:p>
            <a:r>
              <a:rPr lang="en-US" sz="1200"/>
              <a:t>– Spikes are brief electrical signals.</a:t>
            </a:r>
          </a:p>
          <a:p>
            <a:r>
              <a:rPr lang="en-US" sz="1200"/>
              <a:t>• Tuning.</a:t>
            </a:r>
          </a:p>
          <a:p>
            <a:r>
              <a:rPr lang="en-US" sz="1200"/>
              <a:t>– Firing rate differed with E-vector angle.</a:t>
            </a:r>
          </a:p>
          <a:p>
            <a:r>
              <a:rPr lang="en-US" sz="1200"/>
              <a:t>– Preferred and suppressed axes were approximately 90 degrees apart.</a:t>
            </a:r>
          </a:p>
          <a:p>
            <a:r>
              <a:rPr lang="en-US" sz="1200"/>
              <a:t>• Meaning.</a:t>
            </a:r>
          </a:p>
          <a:p>
            <a:r>
              <a:rPr lang="en-US" sz="1200"/>
              <a:t>– The 180-degree repeat matches the axial symmetry of linear polarization.</a:t>
            </a:r>
          </a:p>
          <a:p>
            <a:r>
              <a:rPr lang="en-US" sz="1200"/>
              <a:t>• Why record inside a cell.</a:t>
            </a:r>
          </a:p>
          <a:p>
            <a:r>
              <a:rPr lang="en-US" sz="1200"/>
              <a:t>– Intracellular recording measures electrical activity from within one identified neuron.</a:t>
            </a:r>
          </a:p>
          <a:p>
            <a:r>
              <a:rPr lang="en-US" sz="1200"/>
              <a:t>– The same neuron can be filled with dye and traced afterward.</a:t>
            </a:r>
          </a:p>
          <a:p>
            <a:r>
              <a:rPr lang="en-US" sz="1200"/>
              <a:t>• Axial stimulus.</a:t>
            </a:r>
          </a:p>
          <a:p>
            <a:r>
              <a:rPr lang="en-US" sz="1200"/>
              <a:t>– An E-vector at 0 degrees and at 180 degrees describes the same polarization axis.</a:t>
            </a:r>
          </a:p>
          <a:p>
            <a:r>
              <a:rPr lang="en-US" sz="1200"/>
              <a:t>– Neurons therefore repeat their response every 180 degrees.</a:t>
            </a:r>
          </a:p>
          <a:p>
            <a:r>
              <a:rPr lang="en-US" sz="1200"/>
              <a:t>• Overhead sky.</a:t>
            </a:r>
          </a:p>
          <a:p>
            <a:r>
              <a:rPr lang="en-US" sz="1200"/>
              <a:t>– Light was presented from above, where the dorsal rim area faces the sky.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Anatomy gives names and positions to the places where compass signals are processed.</a:t>
            </a:r>
          </a:p>
          <a:p>
            <a:r>
              <a:rPr lang="en-US" sz="1200"/>
              <a:t>• Definition.</a:t>
            </a:r>
          </a:p>
          <a:p>
            <a:r>
              <a:rPr lang="en-US" sz="1200"/>
              <a:t>– The central complex is a group of brain neuropils associated with orientation.</a:t>
            </a:r>
          </a:p>
          <a:p>
            <a:r>
              <a:rPr lang="en-US" sz="1200"/>
              <a:t>– A neuropil is rich in processes and synaptic connections.</a:t>
            </a:r>
          </a:p>
          <a:p>
            <a:r>
              <a:rPr lang="en-US" sz="1200"/>
              <a:t>• Method.</a:t>
            </a:r>
          </a:p>
          <a:p>
            <a:r>
              <a:rPr lang="en-US" sz="1200"/>
              <a:t>– Synapsin antibody labeling outlined synapse-rich regions.</a:t>
            </a:r>
          </a:p>
          <a:p>
            <a:r>
              <a:rPr lang="en-US" sz="1200"/>
              <a:t>– Three-dimensional reconstruction showed their layout.</a:t>
            </a:r>
          </a:p>
          <a:p>
            <a:r>
              <a:rPr lang="en-US" sz="1200"/>
              <a:t>• Parts.</a:t>
            </a:r>
          </a:p>
          <a:p>
            <a:r>
              <a:rPr lang="en-US" sz="1200"/>
              <a:t>– The central body has upper and lower divisions.</a:t>
            </a:r>
          </a:p>
          <a:p>
            <a:r>
              <a:rPr lang="en-US" sz="1200"/>
              <a:t>– It is associated with the protocerebral bridge and paired noduli.</a:t>
            </a:r>
          </a:p>
          <a:p>
            <a:r>
              <a:rPr lang="en-US" sz="1200"/>
              <a:t>• Neighbors.</a:t>
            </a:r>
          </a:p>
          <a:p>
            <a:r>
              <a:rPr lang="en-US" sz="1200"/>
              <a:t>– The anterior optic tubercle is a visual-processing region.</a:t>
            </a:r>
          </a:p>
          <a:p>
            <a:r>
              <a:rPr lang="en-US" sz="1200"/>
              <a:t>– The lateral accessory lobe lies beside the central complex.</a:t>
            </a:r>
          </a:p>
          <a:p>
            <a:r>
              <a:rPr lang="en-US" sz="1200"/>
              <a:t>• Scale.</a:t>
            </a:r>
          </a:p>
          <a:p>
            <a:r>
              <a:rPr lang="en-US" sz="1200"/>
              <a:t>– Whole-brain panels use 500 micrometer scale bars.</a:t>
            </a:r>
          </a:p>
          <a:p>
            <a:r>
              <a:rPr lang="en-US" sz="1200"/>
              <a:t>– Central-complex details use 50 micrometer scale bars.</a:t>
            </a:r>
          </a:p>
          <a:p>
            <a:r>
              <a:rPr lang="en-US" sz="1200"/>
              <a:t>• Use.</a:t>
            </a:r>
          </a:p>
          <a:p>
            <a:r>
              <a:rPr lang="en-US" sz="1200"/>
              <a:t>– The map specifies locations for cell recording and dye reconstruction.</a:t>
            </a:r>
          </a:p>
          <a:p>
            <a:r>
              <a:rPr lang="en-US" sz="1200"/>
              <a:t>• Dimensions.</a:t>
            </a:r>
          </a:p>
          <a:p>
            <a:r>
              <a:rPr lang="en-US" sz="1200"/>
              <a:t>– Three-dimensional reconstruction shows the neuropils as volumes.</a:t>
            </a:r>
          </a:p>
          <a:p>
            <a:r>
              <a:rPr lang="en-US" sz="1200"/>
              <a:t>– Their relative positions can be read from different viewing angles.</a:t>
            </a:r>
          </a:p>
          <a:p>
            <a:r>
              <a:rPr lang="en-US" sz="1200"/>
              <a:t>• Why a map first.</a:t>
            </a:r>
          </a:p>
          <a:p>
            <a:r>
              <a:rPr lang="en-US" sz="1200"/>
              <a:t>– Recording from a neuron is more informative when its position in the brain is known.</a:t>
            </a:r>
          </a:p>
          <a:p>
            <a:r>
              <a:rPr lang="en-US" sz="1200"/>
              <a:t>– Dye filling later links each recorded response to this anatomy.</a:t>
            </a:r>
          </a:p>
          <a:p>
            <a:r>
              <a:rPr lang="en-US" sz="1200"/>
              <a:t/>
            </a:r>
          </a:p>
          <a:p>
            <a:r>
              <a:rPr lang="en-US" sz="1200"/>
              <a:t>References:</a:t>
            </a:r>
          </a:p>
          <a:p>
            <a:r>
              <a:rPr lang="en-US" sz="1200"/>
              <a:t>Stanley Heinze; Steven M. Reppert (2011). Sun Compass Integration of Skylight Cues in Migratory Monarch Butterflies. Neuron, 69(2): 345-358. https://doi.org/10.1016/j.neuron.2010.12.025</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Repeated measurements of the same transcripts reveal daily rhythms.</a:t>
            </a:r>
          </a:p>
          <a:p>
            <a:r>
              <a:rPr lang="en-US" sz="1200"/>
              <a:t>• Method.</a:t>
            </a:r>
          </a:p>
          <a:p>
            <a:r>
              <a:rPr lang="en-US" sz="1200"/>
              <a:t>– Quantitative PCR estimates the abundance of selected RNA sequences after conversion to DNA.</a:t>
            </a:r>
          </a:p>
          <a:p>
            <a:r>
              <a:rPr lang="en-US" sz="1200"/>
              <a:t>– The same transcripts can be compared across time points.</a:t>
            </a:r>
          </a:p>
          <a:p>
            <a:r>
              <a:rPr lang="en-US" sz="1200"/>
              <a:t>• Samples.</a:t>
            </a:r>
          </a:p>
          <a:p>
            <a:r>
              <a:rPr lang="en-US" sz="1200"/>
              <a:t>– Isolated antennae of monarchs were collected across the day.</a:t>
            </a:r>
          </a:p>
          <a:p>
            <a:r>
              <a:rPr lang="en-US" sz="1200"/>
              <a:t>• Cycling light.</a:t>
            </a:r>
          </a:p>
          <a:p>
            <a:r>
              <a:rPr lang="en-US" sz="1200"/>
              <a:t>– Per, tim and cry2 RNA varied across a light and dark cycle.</a:t>
            </a:r>
          </a:p>
          <a:p>
            <a:r>
              <a:rPr lang="en-US" sz="1200"/>
              <a:t>– Levels were lower near ZT6 than ZT18.</a:t>
            </a:r>
          </a:p>
          <a:p>
            <a:r>
              <a:rPr lang="en-US" sz="1200"/>
              <a:t>• Constant darkness.</a:t>
            </a:r>
          </a:p>
          <a:p>
            <a:r>
              <a:rPr lang="en-US" sz="1200"/>
              <a:t>– The same rhythms remained after transfer to constant darkness.</a:t>
            </a:r>
          </a:p>
          <a:p>
            <a:r>
              <a:rPr lang="en-US" sz="1200"/>
              <a:t>• Cry1.</a:t>
            </a:r>
          </a:p>
          <a:p>
            <a:r>
              <a:rPr lang="en-US" sz="1200"/>
              <a:t>– Cry1 RNA did not have the same phase difference.</a:t>
            </a:r>
          </a:p>
          <a:p>
            <a:r>
              <a:rPr lang="en-US" sz="1200"/>
              <a:t>• Meaning.</a:t>
            </a:r>
          </a:p>
          <a:p>
            <a:r>
              <a:rPr lang="en-US" sz="1200"/>
              <a:t>– Rhythms that persist without the light cycle reflect endogenous timing.</a:t>
            </a:r>
          </a:p>
          <a:p>
            <a:r>
              <a:rPr lang="en-US" sz="1200"/>
              <a:t>– The appendage carries a circadian molecular program.</a:t>
            </a:r>
          </a:p>
          <a:p>
            <a:r>
              <a:rPr lang="en-US" sz="1200"/>
              <a:t>• Gene products.</a:t>
            </a:r>
          </a:p>
          <a:p>
            <a:r>
              <a:rPr lang="en-US" sz="1200"/>
              <a:t>– Per, tim and cry2 encode components of the feedback loop.</a:t>
            </a:r>
          </a:p>
          <a:p>
            <a:r>
              <a:rPr lang="en-US" sz="1200"/>
              <a:t>– Their rhythmic RNA fits the molecular clock described in the brain.</a:t>
            </a:r>
          </a:p>
          <a:p>
            <a:r>
              <a:rPr lang="en-US" sz="1200"/>
              <a:t>• Why RNA is converted.</a:t>
            </a:r>
          </a:p>
          <a:p>
            <a:r>
              <a:rPr lang="en-US" sz="1200"/>
              <a:t>– RNA is converted to DNA so that selected sequences can be amplified and counted.</a:t>
            </a:r>
          </a:p>
          <a:p>
            <a:r>
              <a:rPr lang="en-US" sz="1200"/>
              <a:t>– The same procedure is applied to every sample.</a:t>
            </a:r>
          </a:p>
          <a:p>
            <a:r>
              <a:rPr lang="en-US" sz="1200"/>
              <a:t>• Sampling.</a:t>
            </a:r>
          </a:p>
          <a:p>
            <a:r>
              <a:rPr lang="en-US" sz="1200"/>
              <a:t>– Comparing ZT6 with ZT18 samples two phases of the light cycle.</a:t>
            </a:r>
          </a:p>
          <a:p>
            <a:r>
              <a:rPr lang="en-US" sz="1200"/>
              <a:t/>
            </a:r>
          </a:p>
          <a:p>
            <a:r>
              <a:rPr lang="en-US" sz="1200"/>
              <a:t>References:</a:t>
            </a:r>
          </a:p>
          <a:p>
            <a:r>
              <a:rPr lang="en-US" sz="1200"/>
              <a:t>Christine Merlin; Robert J. Gegear; Steven M. Reppert (2009). Antennal Circadian Clocks Coordinate Sun Compass Orientation in Migratory Monarch Butterflies. Science, 325(5948): 1700-1704. https://doi.org/10.1126/science.1176221</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Antibody capture reveals which proteins travel together.</a:t>
            </a:r>
          </a:p>
          <a:p>
            <a:r>
              <a:rPr lang="en-US" sz="1200"/>
              <a:t>• Definition.</a:t>
            </a:r>
          </a:p>
          <a:p>
            <a:r>
              <a:rPr lang="en-US" sz="1200"/>
              <a:t>– Co-immunoprecipitation captures one protein together with its associated molecules.</a:t>
            </a:r>
          </a:p>
          <a:p>
            <a:r>
              <a:rPr lang="en-US" sz="1200"/>
              <a:t>– An antibody does the capturing.</a:t>
            </a:r>
          </a:p>
          <a:p>
            <a:r>
              <a:rPr lang="en-US" sz="1200"/>
              <a:t>• Samples.</a:t>
            </a:r>
          </a:p>
          <a:p>
            <a:r>
              <a:rPr lang="en-US" sz="1200"/>
              <a:t>– Monarch brain extracts and cultured cells were used.</a:t>
            </a:r>
          </a:p>
          <a:p>
            <a:r>
              <a:rPr lang="en-US" sz="1200"/>
              <a:t>• Result.</a:t>
            </a:r>
          </a:p>
          <a:p>
            <a:r>
              <a:rPr lang="en-US" sz="1200"/>
              <a:t>– The captured material contained combinations of PER, TIM and CRY2.</a:t>
            </a:r>
          </a:p>
          <a:p>
            <a:r>
              <a:rPr lang="en-US" sz="1200"/>
              <a:t>• Depletion.</a:t>
            </a:r>
          </a:p>
          <a:p>
            <a:r>
              <a:rPr lang="en-US" sz="1200"/>
              <a:t>– Reducing PER also reduced CRY2 protein.</a:t>
            </a:r>
          </a:p>
          <a:p>
            <a:r>
              <a:rPr lang="en-US" sz="1200"/>
              <a:t>– The cry2 RNA did not fall to the same degree.</a:t>
            </a:r>
          </a:p>
          <a:p>
            <a:r>
              <a:rPr lang="en-US" sz="1200"/>
              <a:t>• Timing of control.</a:t>
            </a:r>
          </a:p>
          <a:p>
            <a:r>
              <a:rPr lang="en-US" sz="1200"/>
              <a:t>– Lower protein with unchanged RNA means regulation after transcription.</a:t>
            </a:r>
          </a:p>
          <a:p>
            <a:r>
              <a:rPr lang="en-US" sz="1200"/>
              <a:t>• TIM.</a:t>
            </a:r>
          </a:p>
          <a:p>
            <a:r>
              <a:rPr lang="en-US" sz="1200"/>
              <a:t>– TIM interference produced a more modest reduction of PER and CRY2.</a:t>
            </a:r>
          </a:p>
          <a:p>
            <a:r>
              <a:rPr lang="en-US" sz="1200"/>
              <a:t>• Meaning.</a:t>
            </a:r>
          </a:p>
          <a:p>
            <a:r>
              <a:rPr lang="en-US" sz="1200"/>
              <a:t>– PER and TIM help stabilize CRY2-containing complexes.</a:t>
            </a:r>
          </a:p>
          <a:p>
            <a:r>
              <a:rPr lang="en-US" sz="1200"/>
              <a:t>• Extracts and cells.</a:t>
            </a:r>
          </a:p>
          <a:p>
            <a:r>
              <a:rPr lang="en-US" sz="1200"/>
              <a:t>– Brain extracts contain the proteins at natural levels.</a:t>
            </a:r>
          </a:p>
          <a:p>
            <a:r>
              <a:rPr lang="en-US" sz="1200"/>
              <a:t>– Cultured cells allow depletion of one protein at a time.</a:t>
            </a:r>
          </a:p>
          <a:p>
            <a:r>
              <a:rPr lang="en-US" sz="1200"/>
              <a:t>– Both preparations are used so that interactions and depletion can be compared.</a:t>
            </a:r>
          </a:p>
          <a:p>
            <a:r>
              <a:rPr lang="en-US" sz="1200"/>
              <a:t>• Why proteins matter.</a:t>
            </a:r>
          </a:p>
          <a:p>
            <a:r>
              <a:rPr lang="en-US" sz="1200"/>
              <a:t>– Clock regulation depends on protein interactions as well as transcription.</a:t>
            </a:r>
          </a:p>
          <a:p>
            <a:r>
              <a:rPr lang="en-US" sz="1200"/>
              <a:t>– Complexes can protect a protein from loss.</a:t>
            </a:r>
          </a:p>
          <a:p>
            <a:r>
              <a:rPr lang="en-US" sz="1200"/>
              <a:t>• Samples.</a:t>
            </a:r>
          </a:p>
          <a:p>
            <a:r>
              <a:rPr lang="en-US" sz="1200"/>
              <a:t>– Both brain extracts and cultured cells gave captured combinations of the three proteins.</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light-producing enzyme turns gene activity into a number.</a:t>
            </a:r>
          </a:p>
          <a:p>
            <a:r>
              <a:rPr lang="en-US" sz="1200"/>
              <a:t>• Definition.</a:t>
            </a:r>
          </a:p>
          <a:p>
            <a:r>
              <a:rPr lang="en-US" sz="1200"/>
              <a:t>– A luciferase reporter couples a regulatory sequence to the luciferase gene.</a:t>
            </a:r>
          </a:p>
          <a:p>
            <a:r>
              <a:rPr lang="en-US" sz="1200"/>
              <a:t>– Luciferase makes light.</a:t>
            </a:r>
          </a:p>
          <a:p>
            <a:r>
              <a:rPr lang="en-US" sz="1200"/>
              <a:t>• Readout.</a:t>
            </a:r>
          </a:p>
          <a:p>
            <a:r>
              <a:rPr lang="en-US" sz="1200"/>
              <a:t>– More light means stronger transcription driven by the regulatory sequence.</a:t>
            </a:r>
          </a:p>
          <a:p>
            <a:r>
              <a:rPr lang="en-US" sz="1200"/>
              <a:t>• Design.</a:t>
            </a:r>
          </a:p>
          <a:p>
            <a:r>
              <a:rPr lang="en-US" sz="1200"/>
              <a:t>– A per regulatory sequence was coupled to the reporter in DpN1 cells.</a:t>
            </a:r>
          </a:p>
          <a:p>
            <a:r>
              <a:rPr lang="en-US" sz="1200"/>
              <a:t>• Activators.</a:t>
            </a:r>
          </a:p>
          <a:p>
            <a:r>
              <a:rPr lang="en-US" sz="1200"/>
              <a:t>– CLOCK and CYCLE activated the reporter.</a:t>
            </a:r>
          </a:p>
          <a:p>
            <a:r>
              <a:rPr lang="en-US" sz="1200"/>
              <a:t>– They are abbreviated CLK and CYC.</a:t>
            </a:r>
          </a:p>
          <a:p>
            <a:r>
              <a:rPr lang="en-US" sz="1200"/>
              <a:t>• Dose.</a:t>
            </a:r>
          </a:p>
          <a:p>
            <a:r>
              <a:rPr lang="en-US" sz="1200"/>
              <a:t>– CRY2 expression constructs of 5, 15 and 50 nanograms were tested.</a:t>
            </a:r>
          </a:p>
          <a:p>
            <a:r>
              <a:rPr lang="en-US" sz="1200"/>
              <a:t>– Activity fell with increasing amounts.</a:t>
            </a:r>
          </a:p>
          <a:p>
            <a:r>
              <a:rPr lang="en-US" sz="1200"/>
              <a:t>• CRY1.</a:t>
            </a:r>
          </a:p>
          <a:p>
            <a:r>
              <a:rPr lang="en-US" sz="1200"/>
              <a:t>– CRY1 did not provide the same repression.</a:t>
            </a:r>
          </a:p>
          <a:p>
            <a:r>
              <a:rPr lang="en-US" sz="1200"/>
              <a:t>• Meaning.</a:t>
            </a:r>
          </a:p>
          <a:p>
            <a:r>
              <a:rPr lang="en-US" sz="1200"/>
              <a:t>– CRY2 acts as a negative regulator of clock transcription.</a:t>
            </a:r>
          </a:p>
          <a:p>
            <a:r>
              <a:rPr lang="en-US" sz="1200"/>
              <a:t>• Reading the dose.</a:t>
            </a:r>
          </a:p>
          <a:p>
            <a:r>
              <a:rPr lang="en-US" sz="1200"/>
              <a:t>– Three amounts of CRY2 construct produced stepwise reductions.</a:t>
            </a:r>
          </a:p>
          <a:p>
            <a:r>
              <a:rPr lang="en-US" sz="1200"/>
              <a:t>– A graded effect strengthens the case that CRY2 itself is responsible.</a:t>
            </a:r>
          </a:p>
          <a:p>
            <a:r>
              <a:rPr lang="en-US" sz="1200"/>
              <a:t>• Why a reporter.</a:t>
            </a:r>
          </a:p>
          <a:p>
            <a:r>
              <a:rPr lang="en-US" sz="1200"/>
              <a:t>– A reporter converts the invisible activity of a promoter into measured light.</a:t>
            </a:r>
          </a:p>
          <a:p>
            <a:r>
              <a:rPr lang="en-US" sz="1200"/>
              <a:t>– Different protein combinations can be compared in the same cell line.</a:t>
            </a:r>
          </a:p>
          <a:p>
            <a:r>
              <a:rPr lang="en-US" sz="1200"/>
              <a:t>• Cryptochrome roles.</a:t>
            </a:r>
          </a:p>
          <a:p>
            <a:r>
              <a:rPr lang="en-US" sz="1200"/>
              <a:t>– CRY2 is the second monarch cryptochrome.</a:t>
            </a:r>
          </a:p>
          <a:p>
            <a:r>
              <a:rPr lang="en-US" sz="1200"/>
              <a:t>– It has a different tested role from CRY1.</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Removing a gene product shows what the gene normally does.</a:t>
            </a:r>
          </a:p>
          <a:p>
            <a:r>
              <a:rPr lang="en-US" sz="1200"/>
              <a:t>• Method.</a:t>
            </a:r>
          </a:p>
          <a:p>
            <a:r>
              <a:rPr lang="en-US" sz="1200"/>
              <a:t>– RNA interference reduces expression using complementary RNA.</a:t>
            </a:r>
          </a:p>
          <a:p>
            <a:r>
              <a:rPr lang="en-US" sz="1200"/>
              <a:t>– The target is a chosen gene.</a:t>
            </a:r>
          </a:p>
          <a:p>
            <a:r>
              <a:rPr lang="en-US" sz="1200"/>
              <a:t>• Control.</a:t>
            </a:r>
          </a:p>
          <a:p>
            <a:r>
              <a:rPr lang="en-US" sz="1200"/>
              <a:t>– The control targeted green fluorescent protein.</a:t>
            </a:r>
          </a:p>
          <a:p>
            <a:r>
              <a:rPr lang="en-US" sz="1200"/>
              <a:t>– It receives the same procedure without affecting a clock gene.</a:t>
            </a:r>
          </a:p>
          <a:p>
            <a:r>
              <a:rPr lang="en-US" sz="1200"/>
              <a:t>• Cells.</a:t>
            </a:r>
          </a:p>
          <a:p>
            <a:r>
              <a:rPr lang="en-US" sz="1200"/>
              <a:t>– Zhu and colleagues used cultured monarch DpN1 cells.</a:t>
            </a:r>
          </a:p>
          <a:p>
            <a:r>
              <a:rPr lang="en-US" sz="1200"/>
              <a:t>• Normal response.</a:t>
            </a:r>
          </a:p>
          <a:p>
            <a:r>
              <a:rPr lang="en-US" sz="1200"/>
              <a:t>– In controls, TIM decreased before PER and CRY2 during the light-exposure time course.</a:t>
            </a:r>
          </a:p>
          <a:p>
            <a:r>
              <a:rPr lang="en-US" sz="1200"/>
              <a:t>– TIM is the TIMELESS clock protein.</a:t>
            </a:r>
          </a:p>
          <a:p>
            <a:r>
              <a:rPr lang="en-US" sz="1200"/>
              <a:t>• After cry1 interference.</a:t>
            </a:r>
          </a:p>
          <a:p>
            <a:r>
              <a:rPr lang="en-US" sz="1200"/>
              <a:t>– The normal light-dependent decline of TIM was prevented.</a:t>
            </a:r>
          </a:p>
          <a:p>
            <a:r>
              <a:rPr lang="en-US" sz="1200"/>
              <a:t>• Meaning.</a:t>
            </a:r>
          </a:p>
          <a:p>
            <a:r>
              <a:rPr lang="en-US" sz="1200"/>
              <a:t>– CRY1 is a blue-light-responsive component of the clock.</a:t>
            </a:r>
          </a:p>
          <a:p>
            <a:r>
              <a:rPr lang="en-US" sz="1200"/>
              <a:t>– Light lowers TIM through a CRY1-dependent step.</a:t>
            </a:r>
          </a:p>
          <a:p>
            <a:r>
              <a:rPr lang="en-US" sz="1200"/>
              <a:t>• Controls.</a:t>
            </a:r>
          </a:p>
          <a:p>
            <a:r>
              <a:rPr lang="en-US" sz="1200"/>
              <a:t>– The interference construct for green fluorescent protein has no target in the cells.</a:t>
            </a:r>
          </a:p>
          <a:p>
            <a:r>
              <a:rPr lang="en-US" sz="1200"/>
              <a:t>– Comparing it with cry1 interference isolates the effect of losing CRY1.</a:t>
            </a:r>
          </a:p>
          <a:p>
            <a:r>
              <a:rPr lang="en-US" sz="1200"/>
              <a:t>• Order of decline.</a:t>
            </a:r>
          </a:p>
          <a:p>
            <a:r>
              <a:rPr lang="en-US" sz="1200"/>
              <a:t>– TIM fell before PER and CRY2 during light exposure.</a:t>
            </a:r>
          </a:p>
          <a:p>
            <a:r>
              <a:rPr lang="en-US" sz="1200"/>
              <a:t>– Preventing TIM loss therefore points to the earliest light-sensitive step.</a:t>
            </a:r>
          </a:p>
          <a:p>
            <a:r>
              <a:rPr lang="en-US" sz="1200"/>
              <a:t>• Cryptochromes.</a:t>
            </a:r>
          </a:p>
          <a:p>
            <a:r>
              <a:rPr lang="en-US" sz="1200"/>
              <a:t>– Monarchs possess two cryptochromes, proteins associated with light sensing and circadian timing.</a:t>
            </a:r>
          </a:p>
          <a:p>
            <a:r>
              <a:rPr lang="en-US" sz="1200"/>
              <a:t>– CRY1 acts as the blue-light-responsive component.</a:t>
            </a:r>
          </a:p>
          <a:p>
            <a:r>
              <a:rPr lang="en-US" sz="1200"/>
              <a:t/>
            </a:r>
          </a:p>
          <a:p>
            <a:r>
              <a:rPr lang="en-US" sz="1200"/>
              <a:t>References:</a:t>
            </a:r>
          </a:p>
          <a:p>
            <a:r>
              <a:rPr lang="en-US" sz="1200"/>
              <a:t>Haisun Zhu; Ivo Sauman; Quan Yuan; Amy Casselman; Myai Emery-Le; Patrick Emery; Steven M Reppert (2008). Cryptochromes Define a Novel Circadian Clock Mechanism in Monarch Butterflies That May Underlie Sun Compass Navigation. PLoS Biology, 6(1): e4. https://doi.org/10.1371/journal.pbio.0060004</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Time units tied to the light cycle make samples from different experiments comparable.</a:t>
            </a:r>
          </a:p>
          <a:p>
            <a:r>
              <a:rPr lang="en-US" sz="1200"/>
              <a:t>• Definition.</a:t>
            </a:r>
          </a:p>
          <a:p>
            <a:r>
              <a:rPr lang="en-US" sz="1200"/>
              <a:t>– Zeitgeber time measures hours relative to the entraining cycle.</a:t>
            </a:r>
          </a:p>
          <a:p>
            <a:r>
              <a:rPr lang="en-US" sz="1200"/>
              <a:t>– ZT0 is lights-on.</a:t>
            </a:r>
          </a:p>
          <a:p>
            <a:r>
              <a:rPr lang="en-US" sz="1200"/>
              <a:t>• Zeitgeber.</a:t>
            </a:r>
          </a:p>
          <a:p>
            <a:r>
              <a:rPr lang="en-US" sz="1200"/>
              <a:t>– A zeitgeber is an external cue that entrains the clock.</a:t>
            </a:r>
          </a:p>
          <a:p>
            <a:r>
              <a:rPr lang="en-US" sz="1200"/>
              <a:t>– Light and dark is the cue in these experiments.</a:t>
            </a:r>
          </a:p>
          <a:p>
            <a:r>
              <a:rPr lang="en-US" sz="1200"/>
              <a:t>• Circadian time.</a:t>
            </a:r>
          </a:p>
          <a:p>
            <a:r>
              <a:rPr lang="en-US" sz="1200"/>
              <a:t>– Circadian time refers to internal phase under free-running conditions.</a:t>
            </a:r>
          </a:p>
          <a:p>
            <a:r>
              <a:rPr lang="en-US" sz="1200"/>
              <a:t>• The protein.</a:t>
            </a:r>
          </a:p>
          <a:p>
            <a:r>
              <a:rPr lang="en-US" sz="1200"/>
              <a:t>– PER is the protein encoded by the period gene.</a:t>
            </a:r>
          </a:p>
          <a:p>
            <a:r>
              <a:rPr lang="en-US" sz="1200"/>
              <a:t>– Antibodies localized it in the pars lateralis, a lateral brain region.</a:t>
            </a:r>
          </a:p>
          <a:p>
            <a:r>
              <a:rPr lang="en-US" sz="1200"/>
              <a:t>• Result.</a:t>
            </a:r>
          </a:p>
          <a:p>
            <a:r>
              <a:rPr lang="en-US" sz="1200"/>
              <a:t>– PL cells had little detectable PER at ZT6.</a:t>
            </a:r>
          </a:p>
          <a:p>
            <a:r>
              <a:rPr lang="en-US" sz="1200"/>
              <a:t>– Labeling was strong near ZT18.</a:t>
            </a:r>
          </a:p>
          <a:p>
            <a:r>
              <a:rPr lang="en-US" sz="1200"/>
              <a:t>• Free running.</a:t>
            </a:r>
          </a:p>
          <a:p>
            <a:r>
              <a:rPr lang="en-US" sz="1200"/>
              <a:t>– Daily staining persisted in constant darkness.</a:t>
            </a:r>
          </a:p>
          <a:p>
            <a:r>
              <a:rPr lang="en-US" sz="1200"/>
              <a:t>– It was disrupted in constant light.</a:t>
            </a:r>
          </a:p>
          <a:p>
            <a:r>
              <a:rPr lang="en-US" sz="1200"/>
              <a:t>• Meaning.</a:t>
            </a:r>
          </a:p>
          <a:p>
            <a:r>
              <a:rPr lang="en-US" sz="1200"/>
              <a:t>– A rhythm that continues without a light cycle belongs to an internal oscillator.</a:t>
            </a:r>
          </a:p>
          <a:p>
            <a:r>
              <a:rPr lang="en-US" sz="1200"/>
              <a:t>• Candidate clock cells.</a:t>
            </a:r>
          </a:p>
          <a:p>
            <a:r>
              <a:rPr lang="en-US" sz="1200"/>
              <a:t>– Rhythmic PER places timing machinery in identifiable lateral brain cells.</a:t>
            </a:r>
          </a:p>
          <a:p>
            <a:r>
              <a:rPr lang="en-US" sz="1200"/>
              <a:t>– The pars intercerebralis, a medial region with neurosecretory cells, serves as the contrasting region.</a:t>
            </a:r>
          </a:p>
          <a:p>
            <a:r>
              <a:rPr lang="en-US" sz="1200"/>
              <a:t>• Sampling times.</a:t>
            </a:r>
          </a:p>
          <a:p>
            <a:r>
              <a:rPr lang="en-US" sz="1200"/>
              <a:t>– ZT6 falls in the light phase and ZT18 in the dark phase.</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Polarization is a property of light that some eyes can sample directly.</a:t>
            </a:r>
          </a:p>
          <a:p>
            <a:r>
              <a:rPr lang="en-US" sz="1200"/>
              <a:t>• Definition.</a:t>
            </a:r>
          </a:p>
          <a:p>
            <a:r>
              <a:rPr lang="en-US" sz="1200"/>
              <a:t>– Linear polarization specifies the orientation of the electric field of the light wave.</a:t>
            </a:r>
          </a:p>
          <a:p>
            <a:r>
              <a:rPr lang="en-US" sz="1200"/>
              <a:t>– Unpolarized light has no preferred orientation.</a:t>
            </a:r>
          </a:p>
          <a:p>
            <a:r>
              <a:rPr lang="en-US" sz="1200"/>
              <a:t>• Skylight.</a:t>
            </a:r>
          </a:p>
          <a:p>
            <a:r>
              <a:rPr lang="en-US" sz="1200"/>
              <a:t>– Skylight is partly polarized in a pattern related to the position of the sun.</a:t>
            </a:r>
          </a:p>
          <a:p>
            <a:r>
              <a:rPr lang="en-US" sz="1200"/>
              <a:t>• The dorsal rim area.</a:t>
            </a:r>
          </a:p>
          <a:p>
            <a:r>
              <a:rPr lang="en-US" sz="1200"/>
              <a:t>– This strip differs molecularly from adjacent main-retina ommatidia.</a:t>
            </a:r>
          </a:p>
          <a:p>
            <a:r>
              <a:rPr lang="en-US" sz="1200"/>
              <a:t>– UV opsin RNA occurred throughout R1 to R8 there.</a:t>
            </a:r>
          </a:p>
          <a:p>
            <a:r>
              <a:rPr lang="en-US" sz="1200"/>
              <a:t>• Size.</a:t>
            </a:r>
          </a:p>
          <a:p>
            <a:r>
              <a:rPr lang="en-US" sz="1200"/>
              <a:t>– It extends about 40 to 50 ommatidia along the eye margin.</a:t>
            </a:r>
          </a:p>
          <a:p>
            <a:r>
              <a:rPr lang="en-US" sz="1200"/>
              <a:t>– It totals roughly 100 ommatidia per eye.</a:t>
            </a:r>
          </a:p>
          <a:p>
            <a:r>
              <a:rPr lang="en-US" sz="1200"/>
              <a:t>• Protein.</a:t>
            </a:r>
          </a:p>
          <a:p>
            <a:r>
              <a:rPr lang="en-US" sz="1200"/>
              <a:t>– Antibody labeling placed UV opsin protein in the rhabdoms.</a:t>
            </a:r>
          </a:p>
          <a:p>
            <a:r>
              <a:rPr lang="en-US" sz="1200"/>
              <a:t>– Adjacent retina provided a comparison with mixed receptor types.</a:t>
            </a:r>
          </a:p>
          <a:p>
            <a:r>
              <a:rPr lang="en-US" sz="1200"/>
              <a:t>• Meaning.</a:t>
            </a:r>
          </a:p>
          <a:p>
            <a:r>
              <a:rPr lang="en-US" sz="1200"/>
              <a:t>– One spectral class is consistent with sampling polarization without mixing color signals.</a:t>
            </a:r>
          </a:p>
          <a:p>
            <a:r>
              <a:rPr lang="en-US" sz="1200"/>
              <a:t>– The dorsal rim is a candidate polarization input.</a:t>
            </a:r>
          </a:p>
          <a:p>
            <a:r>
              <a:rPr lang="en-US" sz="1200"/>
              <a:t>• Why one pigment.</a:t>
            </a:r>
          </a:p>
          <a:p>
            <a:r>
              <a:rPr lang="en-US" sz="1200"/>
              <a:t>– If every cell in a strip has the same UV pigment, the cells do not compare colors.</a:t>
            </a:r>
          </a:p>
          <a:p>
            <a:r>
              <a:rPr lang="en-US" sz="1200"/>
              <a:t>– Differences in their signals can then reflect the orientation of polarized light.</a:t>
            </a:r>
          </a:p>
          <a:p>
            <a:r>
              <a:rPr lang="en-US" sz="1200"/>
              <a:t>• Comparison tissue.</a:t>
            </a:r>
          </a:p>
          <a:p>
            <a:r>
              <a:rPr lang="en-US" sz="1200"/>
              <a:t>– Adjacent main-retina ommatidia contain mixed receptor types.</a:t>
            </a:r>
          </a:p>
          <a:p>
            <a:r>
              <a:rPr lang="en-US" sz="1200"/>
              <a:t>– The dorsal rim is uniform by comparison.</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probe turns an RNA sequence into a visible label in a tissue section.</a:t>
            </a:r>
          </a:p>
          <a:p>
            <a:r>
              <a:rPr lang="en-US" sz="1200"/>
              <a:t>• Method.</a:t>
            </a:r>
          </a:p>
          <a:p>
            <a:r>
              <a:rPr lang="en-US" sz="1200"/>
              <a:t>– Labeled probes bind to a specific RNA sequence.</a:t>
            </a:r>
          </a:p>
          <a:p>
            <a:r>
              <a:rPr lang="en-US" sz="1200"/>
              <a:t>– The label marks the cells that contain that RNA.</a:t>
            </a:r>
          </a:p>
          <a:p>
            <a:r>
              <a:rPr lang="en-US" sz="1200"/>
              <a:t>• The eye.</a:t>
            </a:r>
          </a:p>
          <a:p>
            <a:r>
              <a:rPr lang="en-US" sz="1200"/>
              <a:t>– A compound eye contains repeated optical units called ommatidia.</a:t>
            </a:r>
          </a:p>
          <a:p>
            <a:r>
              <a:rPr lang="en-US" sz="1200"/>
              <a:t>– Photoreceptor cells in each ommatidium form a light-sensitive rhabdom.</a:t>
            </a:r>
          </a:p>
          <a:p>
            <a:r>
              <a:rPr lang="en-US" sz="1200"/>
              <a:t>• Opsins.</a:t>
            </a:r>
          </a:p>
          <a:p>
            <a:r>
              <a:rPr lang="en-US" sz="1200"/>
              <a:t>– An opsin is the protein component of a visual pigment.</a:t>
            </a:r>
          </a:p>
          <a:p>
            <a:r>
              <a:rPr lang="en-US" sz="1200"/>
              <a:t>– It contributes to the spectral sensitivity of the pigment.</a:t>
            </a:r>
          </a:p>
          <a:p>
            <a:r>
              <a:rPr lang="en-US" sz="1200"/>
              <a:t>• Probes used.</a:t>
            </a:r>
          </a:p>
          <a:p>
            <a:r>
              <a:rPr lang="en-US" sz="1200"/>
              <a:t>– Probes targeted UV, blue and long-wavelength opsin RNA.</a:t>
            </a:r>
          </a:p>
          <a:p>
            <a:r>
              <a:rPr lang="en-US" sz="1200"/>
              <a:t>• Result.</a:t>
            </a:r>
          </a:p>
          <a:p>
            <a:r>
              <a:rPr lang="en-US" sz="1200"/>
              <a:t>– UV and blue opsin RNA occupied R1 or R2 cells.</a:t>
            </a:r>
          </a:p>
          <a:p>
            <a:r>
              <a:rPr lang="en-US" sz="1200"/>
              <a:t>– Long-wavelength opsin RNA occupied R3 to R8.</a:t>
            </a:r>
          </a:p>
          <a:p>
            <a:r>
              <a:rPr lang="en-US" sz="1200"/>
              <a:t>• Meaning.</a:t>
            </a:r>
          </a:p>
          <a:p>
            <a:r>
              <a:rPr lang="en-US" sz="1200"/>
              <a:t>– Distinct receptor types occupy the main retina.</a:t>
            </a:r>
          </a:p>
          <a:p>
            <a:r>
              <a:rPr lang="en-US" sz="1200"/>
              <a:t>– Several spectral inputs contribute to vision.</a:t>
            </a:r>
          </a:p>
          <a:p>
            <a:r>
              <a:rPr lang="en-US" sz="1200"/>
              <a:t>• Gene expression.</a:t>
            </a:r>
          </a:p>
          <a:p>
            <a:r>
              <a:rPr lang="en-US" sz="1200"/>
              <a:t>– RNA presence indicates that the gene is being expressed in that cell.</a:t>
            </a:r>
          </a:p>
          <a:p>
            <a:r>
              <a:rPr lang="en-US" sz="1200"/>
              <a:t>• Reading the sections.</a:t>
            </a:r>
          </a:p>
          <a:p>
            <a:r>
              <a:rPr lang="en-US" sz="1200"/>
              <a:t>– Each section is a thin slice of retina through many ommatidia.</a:t>
            </a:r>
          </a:p>
          <a:p>
            <a:r>
              <a:rPr lang="en-US" sz="1200"/>
              <a:t>– Labeled cells can then be assigned to R1 or R2 and R3 to R8 positions within the unit.</a:t>
            </a:r>
          </a:p>
          <a:p>
            <a:r>
              <a:rPr lang="en-US" sz="1200"/>
              <a:t>• Why spectral types matter.</a:t>
            </a:r>
          </a:p>
          <a:p>
            <a:r>
              <a:rPr lang="en-US" sz="1200"/>
              <a:t>– Cells with different opsins respond best to different wavelengths.</a:t>
            </a:r>
          </a:p>
          <a:p>
            <a:r>
              <a:rPr lang="en-US" sz="1200"/>
              <a:t>– Together they give the retina several spectral channels.</a:t>
            </a:r>
          </a:p>
          <a:p>
            <a:r>
              <a:rPr lang="en-US" sz="1200"/>
              <a:t/>
            </a:r>
          </a:p>
          <a:p>
            <a:r>
              <a:rPr lang="en-US" sz="1200"/>
              <a:t>References:</a:t>
            </a:r>
          </a:p>
          <a:p>
            <a:r>
              <a:rPr lang="en-US" sz="1200"/>
              <a:t>Ivo Sauman; Adriana D. Briscoe; Haisun Zhu; Dingding Shi; Oren Froy; Julia Stalleicken; Quan Yuan; Amy Casselman; Steven M. Reppert (2005). Connecting the Navigational Clock to Sun Compass Input in Monarch Butterfly Brain. Neuron, 46(3): 457-467. https://doi.org/10.1016/j.neuron.2005.03.014</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Emergence of adults gives a simple measure of a clock without recording behavior in each animal.</a:t>
            </a:r>
          </a:p>
          <a:p>
            <a:r>
              <a:rPr lang="en-US" sz="1200"/>
              <a:t>• Definition.</a:t>
            </a:r>
          </a:p>
          <a:p>
            <a:r>
              <a:rPr lang="en-US" sz="1200"/>
              <a:t>– Eclosion is adult emergence from the pupal case.</a:t>
            </a:r>
          </a:p>
          <a:p>
            <a:r>
              <a:rPr lang="en-US" sz="1200"/>
              <a:t>– It happens at a characteristic phase of the daily cycle.</a:t>
            </a:r>
          </a:p>
          <a:p>
            <a:r>
              <a:rPr lang="en-US" sz="1200"/>
              <a:t>• Why it is useful.</a:t>
            </a:r>
          </a:p>
          <a:p>
            <a:r>
              <a:rPr lang="en-US" sz="1200"/>
              <a:t>– Counting emergence across many pupae gives a population measure of circadian timing.</a:t>
            </a:r>
          </a:p>
          <a:p>
            <a:r>
              <a:rPr lang="en-US" sz="1200"/>
              <a:t>– It is an output of circadian organization.</a:t>
            </a:r>
          </a:p>
          <a:p>
            <a:r>
              <a:rPr lang="en-US" sz="1200"/>
              <a:t>• The experiment.</a:t>
            </a:r>
          </a:p>
          <a:p>
            <a:r>
              <a:rPr lang="en-US" sz="1200"/>
              <a:t>– Pupae were reared under light and dark cycles with a UV-blocking filter.</a:t>
            </a:r>
          </a:p>
          <a:p>
            <a:r>
              <a:rPr lang="en-US" sz="1200"/>
              <a:t>– The experimenters recorded when adults emerged.</a:t>
            </a:r>
          </a:p>
          <a:p>
            <a:r>
              <a:rPr lang="en-US" sz="1200"/>
              <a:t>• The shift.</a:t>
            </a:r>
          </a:p>
          <a:p>
            <a:r>
              <a:rPr lang="en-US" sz="1200"/>
              <a:t>– The filtered light schedule was advanced by 6 hours.</a:t>
            </a:r>
          </a:p>
          <a:p>
            <a:r>
              <a:rPr lang="en-US" sz="1200"/>
              <a:t>– Emergence peaks moved approximately 5.5 hours apart.</a:t>
            </a:r>
          </a:p>
          <a:p>
            <a:r>
              <a:rPr lang="en-US" sz="1200"/>
              <a:t>• Result.</a:t>
            </a:r>
          </a:p>
          <a:p>
            <a:r>
              <a:rPr lang="en-US" sz="1200"/>
              <a:t>– Emergence stayed concentrated at a particular phase of the cycle.</a:t>
            </a:r>
          </a:p>
          <a:p>
            <a:r>
              <a:rPr lang="en-US" sz="1200"/>
              <a:t>– Entrainment was effective without ultraviolet illumination.</a:t>
            </a:r>
          </a:p>
          <a:p>
            <a:r>
              <a:rPr lang="en-US" sz="1200"/>
              <a:t>• Separating two questions.</a:t>
            </a:r>
          </a:p>
          <a:p>
            <a:r>
              <a:rPr lang="en-US" sz="1200"/>
              <a:t>– Blocking UV disrupted sustained flight.</a:t>
            </a:r>
          </a:p>
          <a:p>
            <a:r>
              <a:rPr lang="en-US" sz="1200"/>
              <a:t>– It did not prevent entrainment of the timing system.</a:t>
            </a:r>
          </a:p>
          <a:p>
            <a:r>
              <a:rPr lang="en-US" sz="1200"/>
              <a:t>• Meaning.</a:t>
            </a:r>
          </a:p>
          <a:p>
            <a:r>
              <a:rPr lang="en-US" sz="1200"/>
              <a:t>– Visible wavelengths can convey daily timing information in this preparation.</a:t>
            </a:r>
          </a:p>
          <a:p>
            <a:r>
              <a:rPr lang="en-US" sz="1200"/>
              <a:t>• Population measure.</a:t>
            </a:r>
          </a:p>
          <a:p>
            <a:r>
              <a:rPr lang="en-US" sz="1200"/>
              <a:t>– Many pupae emerge around the same phase of the day.</a:t>
            </a:r>
          </a:p>
          <a:p>
            <a:r>
              <a:rPr lang="en-US" sz="1200"/>
              <a:t>– Peak timing therefore marks the phase of the population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Moving toward the sun is not the same as holding a bearing relative to it.</a:t>
            </a:r>
          </a:p>
          <a:p>
            <a:r>
              <a:rPr lang="en-US" sz="1200"/>
              <a:t>• Definition.</a:t>
            </a:r>
          </a:p>
          <a:p>
            <a:r>
              <a:rPr lang="en-US" sz="1200"/>
              <a:t>– Phototaxis is movement toward a light source.</a:t>
            </a:r>
          </a:p>
          <a:p>
            <a:r>
              <a:rPr lang="en-US" sz="1200"/>
              <a:t>– Positive phototaxis means approach to the light.</a:t>
            </a:r>
          </a:p>
          <a:p>
            <a:r>
              <a:rPr lang="en-US" sz="1200"/>
              <a:t>• Compass contrast.</a:t>
            </a:r>
          </a:p>
          <a:p>
            <a:r>
              <a:rPr lang="en-US" sz="1200"/>
              <a:t>– A sun compass keeps a chosen bearing while the sun moves.</a:t>
            </a:r>
          </a:p>
          <a:p>
            <a:r>
              <a:rPr lang="en-US" sz="1200"/>
              <a:t>– Phototaxis follows the sun wherever it is.</a:t>
            </a:r>
          </a:p>
          <a:p>
            <a:r>
              <a:rPr lang="en-US" sz="1200"/>
              <a:t>• Normal conditions.</a:t>
            </a:r>
          </a:p>
          <a:p>
            <a:r>
              <a:rPr lang="en-US" sz="1200"/>
              <a:t>– Under normal light and dark conditions, mean headings were 233 degrees for local time and 118 degrees for the advanced group.</a:t>
            </a:r>
          </a:p>
          <a:p>
            <a:r>
              <a:rPr lang="en-US" sz="1200"/>
              <a:t>– Orientation depended on internal time.</a:t>
            </a:r>
          </a:p>
          <a:p>
            <a:r>
              <a:rPr lang="en-US" sz="1200"/>
              <a:t>• Constant light.</a:t>
            </a:r>
          </a:p>
          <a:p>
            <a:r>
              <a:rPr lang="en-US" sz="1200"/>
              <a:t>– Butterflies spent five days in uninterrupted illumination.</a:t>
            </a:r>
          </a:p>
          <a:p>
            <a:r>
              <a:rPr lang="en-US" sz="1200"/>
              <a:t>– A daily light and dark cycle was absent.</a:t>
            </a:r>
          </a:p>
          <a:p>
            <a:r>
              <a:rPr lang="en-US" sz="1200"/>
              <a:t>• Result.</a:t>
            </a:r>
          </a:p>
          <a:p>
            <a:r>
              <a:rPr lang="en-US" sz="1200"/>
              <a:t>– Both groups oriented near 161 degrees.</a:t>
            </a:r>
          </a:p>
          <a:p>
            <a:r>
              <a:rPr lang="en-US" sz="1200"/>
              <a:t>– The sun lay approximately between 136 and 160 degrees.</a:t>
            </a:r>
          </a:p>
          <a:p>
            <a:r>
              <a:rPr lang="en-US" sz="1200"/>
              <a:t>• Interpretation.</a:t>
            </a:r>
          </a:p>
          <a:p>
            <a:r>
              <a:rPr lang="en-US" sz="1200"/>
              <a:t>– The distinct bearings were lost.</a:t>
            </a:r>
          </a:p>
          <a:p>
            <a:r>
              <a:rPr lang="en-US" sz="1200"/>
              <a:t>– The common direction is compatible with positive phototaxis.</a:t>
            </a:r>
          </a:p>
          <a:p>
            <a:r>
              <a:rPr lang="en-US" sz="1200"/>
              <a:t>• Clock disruption.</a:t>
            </a:r>
          </a:p>
          <a:p>
            <a:r>
              <a:rPr lang="en-US" sz="1200"/>
              <a:t>– Constant light disrupts normal circadian organization.</a:t>
            </a:r>
          </a:p>
          <a:p>
            <a:r>
              <a:rPr lang="en-US" sz="1200"/>
              <a:t>– Without the clock, the time-compensated bearing disappears.</a:t>
            </a:r>
          </a:p>
          <a:p>
            <a:r>
              <a:rPr lang="en-US" sz="1200"/>
              <a:t>• Behavioral difference.</a:t>
            </a:r>
          </a:p>
          <a:p>
            <a:r>
              <a:rPr lang="en-US" sz="1200"/>
              <a:t>– Holding a bearing requires the clock to adjust for the moving sun.</a:t>
            </a:r>
          </a:p>
          <a:p>
            <a:r>
              <a:rPr lang="en-US" sz="1200"/>
              <a:t>– Approaching the sun requires no clock.</a:t>
            </a:r>
          </a:p>
          <a:p>
            <a:r>
              <a:rPr lang="en-US" sz="1200"/>
              <a:t/>
            </a:r>
          </a:p>
          <a:p>
            <a:r>
              <a:rPr lang="en-US" sz="1200"/>
              <a:t>References:</a:t>
            </a:r>
          </a:p>
          <a:p>
            <a:r>
              <a:rPr lang="en-US" sz="1200"/>
              <a:t>Oren Froy; Anthony L. Gotter; Amy L. Casselman; Steven M. Reppert (2003). Illuminating the Circadian Clock in Monarch Butterfly Migration. Science, 300(5623): 1303-1305. https://doi.org/10.1126/science.1084874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Entrainment is how an internal clock is set to the external day.</a:t>
            </a:r>
          </a:p>
          <a:p>
            <a:r>
              <a:rPr lang="en-US" sz="1200"/>
              <a:t>• Definition.</a:t>
            </a:r>
          </a:p>
          <a:p>
            <a:r>
              <a:rPr lang="en-US" sz="1200"/>
              <a:t>– Entrainment aligns the phase of an internal clock with a recurring environmental cycle.</a:t>
            </a:r>
          </a:p>
          <a:p>
            <a:r>
              <a:rPr lang="en-US" sz="1200"/>
              <a:t>– A circadian clock has a rhythm close to 24 hours.</a:t>
            </a:r>
          </a:p>
          <a:p>
            <a:r>
              <a:rPr lang="en-US" sz="1200"/>
              <a:t>• The manipulation.</a:t>
            </a:r>
          </a:p>
          <a:p>
            <a:r>
              <a:rPr lang="en-US" sz="1200"/>
              <a:t>– Migrants experienced a 12-hour light and 12-hour dark cycle advanced by 6 hours.</a:t>
            </a:r>
          </a:p>
          <a:p>
            <a:r>
              <a:rPr lang="en-US" sz="1200"/>
              <a:t>– The advanced schedule lasted at least five days.</a:t>
            </a:r>
          </a:p>
          <a:p>
            <a:r>
              <a:rPr lang="en-US" sz="1200"/>
              <a:t>• Controls.</a:t>
            </a:r>
          </a:p>
          <a:p>
            <a:r>
              <a:rPr lang="en-US" sz="1200"/>
              <a:t>– Local-time controls stayed on the schedule that matched the real day.</a:t>
            </a:r>
          </a:p>
          <a:p>
            <a:r>
              <a:rPr lang="en-US" sz="1200"/>
              <a:t>– Both groups were tested outdoors under the same actual sky.</a:t>
            </a:r>
          </a:p>
          <a:p>
            <a:r>
              <a:rPr lang="en-US" sz="1200"/>
              <a:t>• Result.</a:t>
            </a:r>
          </a:p>
          <a:p>
            <a:r>
              <a:rPr lang="en-US" sz="1200"/>
              <a:t>– Controls oriented near 225 degrees, toward the southwest.</a:t>
            </a:r>
          </a:p>
          <a:p>
            <a:r>
              <a:rPr lang="en-US" sz="1200"/>
              <a:t>– The advanced group oriented near 136 degrees, toward the southeast.</a:t>
            </a:r>
          </a:p>
          <a:p>
            <a:r>
              <a:rPr lang="en-US" sz="1200"/>
              <a:t>• Interpretation.</a:t>
            </a:r>
          </a:p>
          <a:p>
            <a:r>
              <a:rPr lang="en-US" sz="1200"/>
              <a:t>– The sky was the same, so the change of about 89 degrees counterclockwise came from the clock.</a:t>
            </a:r>
          </a:p>
          <a:p>
            <a:r>
              <a:rPr lang="en-US" sz="1200"/>
              <a:t>– An insect that reads the afternoon sun as a later time must select a different bearing.</a:t>
            </a:r>
          </a:p>
          <a:p>
            <a:r>
              <a:rPr lang="en-US" sz="1200"/>
              <a:t>• Time compensation.</a:t>
            </a:r>
          </a:p>
          <a:p>
            <a:r>
              <a:rPr lang="en-US" sz="1200"/>
              <a:t>– Time compensation adjusts compass output as the sun changes its position during the day.</a:t>
            </a:r>
          </a:p>
          <a:p>
            <a:r>
              <a:rPr lang="en-US" sz="1200"/>
              <a:t>– Resetting the clock changes the adjustment.</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sun compass turns the position of the sun into a direction to fly.</a:t>
            </a:r>
          </a:p>
          <a:p>
            <a:r>
              <a:rPr lang="en-US" sz="1200"/>
              <a:t>• Definition.</a:t>
            </a:r>
          </a:p>
          <a:p>
            <a:r>
              <a:rPr lang="en-US" sz="1200"/>
              <a:t>– A sun compass uses the azimuth of the sun as an orientation reference.</a:t>
            </a:r>
          </a:p>
          <a:p>
            <a:r>
              <a:rPr lang="en-US" sz="1200"/>
              <a:t>– A bearing is a direction measured around the horizon from geographic north.</a:t>
            </a:r>
          </a:p>
          <a:p>
            <a:r>
              <a:rPr lang="en-US" sz="1200"/>
              <a:t>• The animal.</a:t>
            </a:r>
          </a:p>
          <a:p>
            <a:r>
              <a:rPr lang="en-US" sz="1200"/>
              <a:t>– Eastern North American monarchs, Danaus plexippus, migrate toward overwintering sites in central Mexico.</a:t>
            </a:r>
          </a:p>
          <a:p>
            <a:r>
              <a:rPr lang="en-US" sz="1200"/>
              <a:t>– Some journeys exceed 3,500 kilometers.</a:t>
            </a:r>
          </a:p>
          <a:p>
            <a:r>
              <a:rPr lang="en-US" sz="1200"/>
              <a:t>• The simulator.</a:t>
            </a:r>
          </a:p>
          <a:p>
            <a:r>
              <a:rPr lang="en-US" sz="1200"/>
              <a:t>– Autumn migrants flew in an outdoor simulator that permitted turning around a vertical tether.</a:t>
            </a:r>
          </a:p>
          <a:p>
            <a:r>
              <a:rPr lang="en-US" sz="1200"/>
              <a:t>– The butterfly could see the sky above.</a:t>
            </a:r>
          </a:p>
          <a:p>
            <a:r>
              <a:rPr lang="en-US" sz="1200"/>
              <a:t>• Behavior.</a:t>
            </a:r>
          </a:p>
          <a:p>
            <a:r>
              <a:rPr lang="en-US" sz="1200"/>
              <a:t>– Migrants held southwest headings under a visible sky.</a:t>
            </a:r>
          </a:p>
          <a:p>
            <a:r>
              <a:rPr lang="en-US" sz="1200"/>
              <a:t>– The group mean was 225 degrees when the light schedule matched local time.</a:t>
            </a:r>
          </a:p>
          <a:p>
            <a:r>
              <a:rPr lang="en-US" sz="1200"/>
              <a:t>• Why a heading is informative.</a:t>
            </a:r>
          </a:p>
          <a:p>
            <a:r>
              <a:rPr lang="en-US" sz="1200"/>
              <a:t>– The tether prevents travel, so the heading record is a direct readout of compass output.</a:t>
            </a:r>
          </a:p>
          <a:p>
            <a:r>
              <a:rPr lang="en-US" sz="1200"/>
              <a:t>– A sustained heading shows directional behavior in this preparation.</a:t>
            </a:r>
          </a:p>
          <a:p>
            <a:r>
              <a:rPr lang="en-US" sz="1200"/>
              <a:t>• Link to the clock.</a:t>
            </a:r>
          </a:p>
          <a:p>
            <a:r>
              <a:rPr lang="en-US" sz="1200"/>
              <a:t>– The sun moves across the sky during the day.</a:t>
            </a:r>
          </a:p>
          <a:p>
            <a:r>
              <a:rPr lang="en-US" sz="1200"/>
              <a:t>– A butterfly using the sun must therefore compensate for time, which depends on an internal clock.</a:t>
            </a:r>
          </a:p>
          <a:p>
            <a:r>
              <a:rPr lang="en-US" sz="1200"/>
              <a:t>• Meaning.</a:t>
            </a:r>
          </a:p>
          <a:p>
            <a:r>
              <a:rPr lang="en-US" sz="1200"/>
              <a:t>– A southwest bearing is the behavior expected from a sun compass.</a:t>
            </a:r>
          </a:p>
          <a:p>
            <a:r>
              <a:rPr lang="en-US" sz="1200"/>
              <a:t>– Experiments that shift the clock then test whether the bearing depends on internal time.</a:t>
            </a:r>
          </a:p>
          <a:p>
            <a:r>
              <a:rPr lang="en-US" sz="1200"/>
              <a:t/>
            </a:r>
          </a:p>
          <a:p>
            <a:r>
              <a:rPr lang="en-US" sz="1200"/>
              <a:t>References:</a:t>
            </a:r>
          </a:p>
          <a:p>
            <a:r>
              <a:rPr lang="en-US" sz="1200"/>
              <a:t>Henrik Mouritsen; Barrie J. Frost (2002). Virtual migration in tethered flying monarch butterflies reveals their orientation mechanisms. Proceedings of the National Academy of Sciences, 99(15): 10162-10166. https://doi.org/10.1073/pnas.152137299</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8.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1.pn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0.png"/><Relationship Id="rId4" Type="http://schemas.openxmlformats.org/officeDocument/2006/relationships/image" Target="../media/image1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26.png"/><Relationship Id="rId4"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22.png"/><Relationship Id="rId4" Type="http://schemas.openxmlformats.org/officeDocument/2006/relationships/image" Target="../media/image17.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1.png"/><Relationship Id="rId4" Type="http://schemas.openxmlformats.org/officeDocument/2006/relationships/image" Target="../media/image3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24.png"/><Relationship Id="rId4" Type="http://schemas.openxmlformats.org/officeDocument/2006/relationships/image" Target="../media/image1.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28.png"/><Relationship Id="rId4" Type="http://schemas.openxmlformats.org/officeDocument/2006/relationships/image" Target="../media/image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25.png"/><Relationship Id="rId4" Type="http://schemas.openxmlformats.org/officeDocument/2006/relationships/image" Target="../media/image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9.png"/><Relationship Id="rId4" Type="http://schemas.openxmlformats.org/officeDocument/2006/relationships/image" Target="../media/image1.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35.png"/><Relationship Id="rId4" Type="http://schemas.openxmlformats.org/officeDocument/2006/relationships/image" Target="../media/image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36.png"/><Relationship Id="rId4" Type="http://schemas.openxmlformats.org/officeDocument/2006/relationships/image" Target="../media/image1.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34.png"/><Relationship Id="rId4" Type="http://schemas.openxmlformats.org/officeDocument/2006/relationships/image" Target="../media/image1.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30.png"/><Relationship Id="rId4" Type="http://schemas.openxmlformats.org/officeDocument/2006/relationships/image" Target="../media/image1.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30.png"/><Relationship Id="rId4" Type="http://schemas.openxmlformats.org/officeDocument/2006/relationships/image" Target="../media/image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3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33.png"/><Relationship Id="rId4"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42.png"/><Relationship Id="rId4" Type="http://schemas.openxmlformats.org/officeDocument/2006/relationships/image" Target="../media/image3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41.png"/><Relationship Id="rId4" Type="http://schemas.openxmlformats.org/officeDocument/2006/relationships/image" Target="../media/image3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40.png"/><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38.png"/><Relationship Id="rId4" Type="http://schemas.openxmlformats.org/officeDocument/2006/relationships/image" Target="../media/image3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44.png"/><Relationship Id="rId4" Type="http://schemas.openxmlformats.org/officeDocument/2006/relationships/image" Target="../media/image3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4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4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3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43.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48.png"/><Relationship Id="rId4" Type="http://schemas.openxmlformats.org/officeDocument/2006/relationships/image" Target="../media/image3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33.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33.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jp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7.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7.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9.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661989"/>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F6D6F9"/>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F6D6F9"/>
                </a:solidFill>
                <a:latin typeface="Arial"/>
                <a:ea typeface="Arial"/>
                <a:cs typeface="Arial"/>
                <a:sym typeface="Arial"/>
              </a:rPr>
              <a:t>NEUR 411 · NEUROETHOLOGY · FALL 2026</a:t>
            </a:r>
            <a:endParaRPr>
              <a:solidFill>
                <a:srgbClr val="F6D6F9"/>
              </a:solidFill>
            </a:endParaRPr>
          </a:p>
        </p:txBody>
      </p:sp>
      <p:sp>
        <p:nvSpPr>
          <p:cNvPr id="87" name="Google Shape;87;p1"/>
          <p:cNvSpPr txBox="1"/>
          <p:nvPr/>
        </p:nvSpPr>
        <p:spPr>
          <a:xfrm>
            <a:off x="685800" y="1783080"/>
            <a:ext cx="4724100" cy="454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800" u="none" cap="none" strike="noStrike">
                <a:solidFill>
                  <a:srgbClr val="F6D6F9"/>
                </a:solidFill>
                <a:latin typeface="Arial"/>
                <a:ea typeface="Arial"/>
                <a:cs typeface="Arial"/>
                <a:sym typeface="Arial"/>
              </a:rPr>
              <a:t>Lecture 30</a:t>
            </a:r>
            <a:endParaRPr>
              <a:solidFill>
                <a:srgbClr val="F6D6F9"/>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Navigation III:</a:t>
            </a:r>
            <a:endParaRPr>
              <a:solidFill>
                <a:schemeClr val="lt1"/>
              </a:solidFill>
            </a:endParaRPr>
          </a:p>
          <a:p>
            <a:pPr indent="0" lvl="0" marL="0" marR="0" rtl="0" algn="l">
              <a:lnSpc>
                <a:spcPct val="108000"/>
              </a:lnSpc>
              <a:spcAft>
                <a:spcPts val="1200"/>
              </a:spcAft>
              <a:buNone/>
            </a:pPr>
            <a:r>
              <a:rPr b="1" i="0" lang="en-US" sz="2700" u="none" cap="none" strike="noStrike">
                <a:solidFill>
                  <a:schemeClr val="lt1"/>
                </a:solidFill>
                <a:latin typeface="Arial"/>
                <a:ea typeface="Arial"/>
                <a:cs typeface="Arial"/>
                <a:sym typeface="Arial"/>
              </a:rPr>
              <a:t>monarch butterfly migration and the circadian sun compass</a:t>
            </a:r>
            <a:endParaRPr>
              <a:solidFill>
                <a:schemeClr val="lt1"/>
              </a:solidFill>
            </a:endParaRPr>
          </a:p>
          <a:p>
            <a:pPr indent="0" lvl="0" marL="0" marR="0" rtl="0" algn="l">
              <a:lnSpc>
                <a:spcPct val="108000"/>
              </a:lnSpc>
              <a:spcAft>
                <a:spcPts val="1200"/>
              </a:spcAft>
              <a:buNone/>
            </a:pPr>
            <a:r>
              <a:rPr b="0" i="0" lang="en-US" sz="1600" u="none" cap="none" strike="noStrike">
                <a:solidFill>
                  <a:srgbClr val="F6D6F9"/>
                </a:solidFill>
                <a:latin typeface="Arial"/>
                <a:ea typeface="Arial"/>
                <a:cs typeface="Arial"/>
                <a:sym typeface="Arial"/>
              </a:rPr>
              <a:t>Wednesday, November 4, 2026</a:t>
            </a:r>
            <a:endParaRPr>
              <a:solidFill>
                <a:srgbClr val="F6D6F9"/>
              </a:solidFill>
            </a:endParaRPr>
          </a:p>
          <a:p>
            <a:pPr indent="0" lvl="0" marL="0" marR="0" rtl="0" algn="l">
              <a:lnSpc>
                <a:spcPct val="108000"/>
              </a:lnSpc>
              <a:spcAft>
                <a:spcPts val="1200"/>
              </a:spcAft>
              <a:buNone/>
            </a:pPr>
            <a:r>
              <a:rPr b="0" i="0" lang="en-US" sz="1200" u="none" cap="none" strike="noStrike">
                <a:solidFill>
                  <a:srgbClr val="F6D6F9"/>
                </a:solidFill>
                <a:latin typeface="Arial"/>
                <a:ea typeface="Arial"/>
                <a:cs typeface="Arial"/>
                <a:sym typeface="Arial"/>
              </a:rPr>
              <a:t>Jordan Lopez, Ph.D.</a:t>
            </a:r>
            <a:endParaRPr>
              <a:solidFill>
                <a:srgbClr val="F6D6F9"/>
              </a:solidFill>
            </a:endParaRPr>
          </a:p>
          <a:p>
            <a:pPr indent="0" lvl="0" marL="0" marR="0" rtl="0" algn="l">
              <a:lnSpc>
                <a:spcPct val="108000"/>
              </a:lnSpc>
              <a:spcAft>
                <a:spcPts val="0"/>
              </a:spcAft>
              <a:buNone/>
            </a:pPr>
            <a:r>
              <a:rPr b="0" i="0" lang="en-US" sz="1200" u="none" cap="none" strike="noStrike">
                <a:solidFill>
                  <a:srgbClr val="F6D6F9"/>
                </a:solidFill>
                <a:latin typeface="Arial"/>
                <a:ea typeface="Arial"/>
                <a:cs typeface="Arial"/>
                <a:sym typeface="Arial"/>
              </a:rPr>
              <a:t>Professor of Neurobiology &amp; Biomedical Engineering</a:t>
            </a:r>
            <a:endParaRPr>
              <a:solidFill>
                <a:srgbClr val="F6D6F9"/>
              </a:solidFill>
            </a:endParaRPr>
          </a:p>
        </p:txBody>
      </p:sp>
      <p:pic>
        <p:nvPicPr>
          <p:cNvPr descr="monarch_fws.jpg" id="91" name="Google Shape;91;p1"/>
          <p:cNvPicPr preferRelativeResize="0"/>
          <p:nvPr/>
        </p:nvPicPr>
        <p:blipFill rotWithShape="1">
          <a:blip r:embed="rId3">
            <a:alphaModFix/>
          </a:blip>
          <a:srcRect b="0" l="0" r="0" t="0"/>
          <a:stretch/>
        </p:blipFill>
        <p:spPr>
          <a:xfrm>
            <a:off x="6553047" y="822960"/>
            <a:ext cx="5181447" cy="3454298"/>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5717E"/>
                </a:solidFill>
                <a:latin typeface="Arial"/>
                <a:ea typeface="Arial"/>
                <a:cs typeface="Arial"/>
                <a:sym typeface="Arial"/>
              </a:rPr>
              <a:t>Photo: Monarch butterfly with compound eye and antenna visible.</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Autumn migrants maintain a southwest flight bearing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North American monarch butterflies,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migrate toward overwintering sites in central Mexico. Some journeys exceed 3,500 km. A </a:t>
            </a:r>
            <a:r>
              <a:rPr b="1" i="0" lang="en-US" sz="1600" u="none" cap="none" strike="noStrike">
                <a:solidFill>
                  <a:srgbClr val="52146E"/>
                </a:solidFill>
                <a:latin typeface="Arial"/>
                <a:ea typeface="Arial"/>
                <a:cs typeface="Arial"/>
                <a:sym typeface="Arial"/>
              </a:rPr>
              <a:t>bearing</a:t>
            </a:r>
            <a:r>
              <a:rPr b="0" i="0" lang="en-US" sz="1600" u="none" cap="none" strike="noStrike">
                <a:solidFill>
                  <a:srgbClr val="000000"/>
                </a:solidFill>
                <a:latin typeface="Arial"/>
                <a:ea typeface="Arial"/>
                <a:cs typeface="Arial"/>
                <a:sym typeface="Arial"/>
              </a:rPr>
              <a:t> is a direction measured around the horizon relative to geographic north.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Mouritsen and Frost recorded autumn migrants in an outdoor flight simulator that permitted turning around a vertical tether. Butterflies maintained southwest headings under a visible sky, with a group mean of 225° when their light schedule matched local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Their sun compass uses solar direction as an orientation reference. Sustained headings establish directional behavior in this preparation, in which the tether prevents actual travel. Because the butterfly turns freely, the heading record measures compass output directly.</a:t>
            </a:r>
            <a:endParaRPr/>
          </a:p>
        </p:txBody>
      </p:sp>
      <p:pic>
        <p:nvPicPr>
          <p:cNvPr descr="f02_f2a.png" id="100" name="Google Shape;100;p2"/>
          <p:cNvPicPr preferRelativeResize="0"/>
          <p:nvPr/>
        </p:nvPicPr>
        <p:blipFill rotWithShape="1">
          <a:blip r:embed="rId3">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vertical tether preserves turning without translation</a:t>
            </a:r>
            <a:endParaRPr/>
          </a:p>
        </p:txBody>
      </p:sp>
      <p:sp>
        <p:nvSpPr>
          <p:cNvPr id="111" name="Google Shape;111;p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The simulator separates heading control from forward travel. A fine wire attached to the dorsal thorax allows the butterfly rotate freely, while a cylinder about 59 cm wide and 64 cm high restricts its view to the sky above. The restriction of the view keeps the butterfly's orientation tied to the sky.</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Vertical airflow supports flight without supplying a horizontal wind direction. The apparatus samples heading every 200 ms, which preserves sustained orientation and changes in course during an individual trial. The heading samples therefore reflect the orientation of the butterfly without a horizontal wind cue. The apparatus therefore keeps the butterfly's heading measurable through the whole trial.</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Virtual trajectories are reconstructed from those headings using an assumed flight speed, so their apparent distances are calculated paths rather than measured displacement. The original trajectories retain the stable and variable phases of heading, and excluding landscape landmarks allows solar orientation be tested under controlled visual access. The solar orientation of the butterfly can be measured in this controlled setting.</a:t>
            </a:r>
            <a:endParaRPr/>
          </a:p>
        </p:txBody>
      </p:sp>
      <p:pic>
        <p:nvPicPr>
          <p:cNvPr descr="f02_f1bcd.png" id="112" name="Google Shape;112;p3"/>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13" name="Google Shape;113;p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14" name="Google Shape;114;p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Rotating the apparatus does not rotate the compass</a:t>
            </a:r>
            <a:endParaRPr/>
          </a:p>
        </p:txBody>
      </p:sp>
      <p:sp>
        <p:nvSpPr>
          <p:cNvPr id="123" name="Google Shape;123;p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consistent tethered heading could arise from an unnoticed feature of the simulator rather than a geographic cue. Mouritsen and Frost therefore rotated the entire apparatus and separately rotated its components during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did not follow the new apparatus orientation. When an individual was manually turned away from its established heading, it could return toward the previous geographic direction. The heading records contained sustained orientation despite the absence of forward movement.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controls reduce explanations based on a fixed mark, mechanical asymmetry or the tether's angular position. An intervention that changes internal time while retaining the same external sky can distinguish solar orientation with time compensation from a response determined only by the current sun position.</a:t>
            </a:r>
            <a:endParaRPr/>
          </a:p>
        </p:txBody>
      </p:sp>
      <p:pic>
        <p:nvPicPr>
          <p:cNvPr descr="f02_f1bcd.png" id="124" name="Google Shape;124;p4"/>
          <p:cNvPicPr preferRelativeResize="0"/>
          <p:nvPr/>
        </p:nvPicPr>
        <p:blipFill rotWithShape="1">
          <a:blip r:embed="rId3">
            <a:alphaModFix/>
          </a:blip>
          <a:srcRect b="0" l="0" r="0" t="0"/>
          <a:stretch/>
        </p:blipFill>
        <p:spPr>
          <a:xfrm>
            <a:off x="7880522" y="1280160"/>
            <a:ext cx="2002089" cy="4297679"/>
          </a:xfrm>
          <a:prstGeom prst="rect">
            <a:avLst/>
          </a:prstGeom>
          <a:noFill/>
          <a:ln>
            <a:noFill/>
          </a:ln>
        </p:spPr>
      </p:pic>
      <p:sp>
        <p:nvSpPr>
          <p:cNvPr id="125" name="Google Shape;125;p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1(B–D). Published virtual trajectories derived from tethered headings.</a:t>
            </a:r>
            <a:endParaRPr/>
          </a:p>
        </p:txBody>
      </p:sp>
      <p:sp>
        <p:nvSpPr>
          <p:cNvPr id="126" name="Google Shape;126;p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Advancing the clock rotates flight toward the southeast</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Time compensation</a:t>
            </a:r>
            <a:r>
              <a:rPr b="0" i="0" lang="en-US" sz="1600" u="none" cap="none" strike="noStrike">
                <a:solidFill>
                  <a:srgbClr val="000000"/>
                </a:solidFill>
                <a:latin typeface="Arial"/>
                <a:ea typeface="Arial"/>
                <a:cs typeface="Arial"/>
                <a:sym typeface="Arial"/>
              </a:rPr>
              <a:t> adjusts compass output as the sun changes its position during the day. A </a:t>
            </a:r>
            <a:r>
              <a:rPr b="1" i="0" lang="en-US" sz="1600" u="none" cap="none" strike="noStrike">
                <a:solidFill>
                  <a:srgbClr val="52146E"/>
                </a:solidFill>
                <a:latin typeface="Arial"/>
                <a:ea typeface="Arial"/>
                <a:cs typeface="Arial"/>
                <a:sym typeface="Arial"/>
              </a:rPr>
              <a:t>circadian clock</a:t>
            </a:r>
            <a:r>
              <a:rPr b="0" i="0" lang="en-US" sz="1600" u="none" cap="none" strike="noStrike">
                <a:solidFill>
                  <a:srgbClr val="000000"/>
                </a:solidFill>
                <a:latin typeface="Arial"/>
                <a:ea typeface="Arial"/>
                <a:cs typeface="Arial"/>
                <a:sym typeface="Arial"/>
              </a:rPr>
              <a:t> is an internal timing system with a rhythm close to 24 h; </a:t>
            </a: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aligns its phase with a recurring environmental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Migrants experienced a 12-h light:12-h dark cycle advanced by 6 h for at least five days. Tested outdoors under the same actual sky as local-time controls, the advanced group oriented near 136°, toward the southeast, rather than the controls’ 225° southwest.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approximately 89° counterclockwise change links orientation to internal time. An insect treating the afternoon sun as a later time must select a different bearing to maintain its programmed compass relationship. The manipulation supports a time-compensated sun compass, in which clock output corrects the solar angle.</a:t>
            </a:r>
            <a:endParaRPr/>
          </a:p>
        </p:txBody>
      </p:sp>
      <p:pic>
        <p:nvPicPr>
          <p:cNvPr descr="f02_f2abc.png" id="136" name="Google Shape;136;p5"/>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Delaying the clock produces the opposite heading change</a:t>
            </a:r>
            <a:endParaRPr/>
          </a:p>
        </p:txBody>
      </p:sp>
      <p:sp>
        <p:nvSpPr>
          <p:cNvPr id="147" name="Google Shape;147;p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reciprocal clock manipulation tests whether the heading change has the direction expected from solar time compensation. Mouritsen and Frost delayed the entraining 12-h light:12-h dark cycle by 6 h before testing autumn migrants in the same simulator.</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Delayed butterflies oriented near 335°, toward the northwest. Relative to the local-time mean of 225°, their heading changed approximately 110° clockwise, opposite to the counterclockwise change after a 6-h advance.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two shifts support a signed relationship between clock phase and compass direction rather than a nonspecific disturbance from laboratory housing. Their unequal magnitudes reflect the observed solar geometry and experimental conditions. A 6-h advance and a 6-h delay therefore rotate the heading in opposite directions, as time compensation predicts.</a:t>
            </a:r>
            <a:endParaRPr/>
          </a:p>
        </p:txBody>
      </p:sp>
      <p:pic>
        <p:nvPicPr>
          <p:cNvPr descr="f02_f2abc.png" id="148" name="Google Shape;148;p6"/>
          <p:cNvPicPr preferRelativeResize="0"/>
          <p:nvPr/>
        </p:nvPicPr>
        <p:blipFill rotWithShape="1">
          <a:blip r:embed="rId3">
            <a:alphaModFix/>
          </a:blip>
          <a:srcRect b="0" l="0" r="0" t="0"/>
          <a:stretch/>
        </p:blipFill>
        <p:spPr>
          <a:xfrm>
            <a:off x="6138367" y="1280160"/>
            <a:ext cx="5486400" cy="3698840"/>
          </a:xfrm>
          <a:prstGeom prst="rect">
            <a:avLst/>
          </a:prstGeom>
          <a:noFill/>
          <a:ln>
            <a:noFill/>
          </a:ln>
        </p:spPr>
      </p:pic>
      <p:sp>
        <p:nvSpPr>
          <p:cNvPr id="149" name="Google Shape;149;p6"/>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50" name="Google Shape;150;p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Constant light leaves orientation tied to the visible sun</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compared migrants entrained to local or 6-h-advanced light schedules. Under normal light–dark conditions, their mean headings were 233° and 118°, respectively, retaining the expected dependence on internal time.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After five days in </a:t>
            </a:r>
            <a:r>
              <a:rPr b="1" i="0" lang="en-US" sz="1600" u="none" cap="none" strike="noStrike">
                <a:solidFill>
                  <a:srgbClr val="52146E"/>
                </a:solidFill>
                <a:latin typeface="Arial"/>
                <a:ea typeface="Arial"/>
                <a:cs typeface="Arial"/>
                <a:sym typeface="Arial"/>
              </a:rPr>
              <a:t>constant light</a:t>
            </a:r>
            <a:r>
              <a:rPr b="0" i="0" lang="en-US" sz="1600" u="none" cap="none" strike="noStrike">
                <a:solidFill>
                  <a:srgbClr val="000000"/>
                </a:solidFill>
                <a:latin typeface="Arial"/>
                <a:ea typeface="Arial"/>
                <a:cs typeface="Arial"/>
                <a:sym typeface="Arial"/>
              </a:rPr>
              <a:t>, uninterrupted illumination rather than a daily light–dark cycle, the two groups no longer retained their distinct compass bearings. They oriented near 161° while the sun lay approximately between 136° and 160°.</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direction toward the current sun is compatible with positive phototaxis, movement toward a light source. Such orientation differs from maintaining a migration bearing as the sun moves. Constant light removes the daily cycle that keeps the clock aligned, so the time-compensated bearing is lost.</a:t>
            </a:r>
            <a:endParaRPr/>
          </a:p>
        </p:txBody>
      </p:sp>
      <p:pic>
        <p:nvPicPr>
          <p:cNvPr descr="f03_f2.png" id="160" name="Google Shape;160;p7"/>
          <p:cNvPicPr preferRelativeResize="0"/>
          <p:nvPr/>
        </p:nvPicPr>
        <p:blipFill rotWithShape="1">
          <a:blip r:embed="rId3">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Blocking ultraviolet light disrupts sustained flight</a:t>
            </a:r>
            <a:endParaRPr/>
          </a:p>
        </p:txBody>
      </p:sp>
      <p:sp>
        <p:nvSpPr>
          <p:cNvPr id="171" name="Google Shape;171;p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Ultraviolet light</a:t>
            </a:r>
            <a:r>
              <a:rPr b="0" i="0" lang="en-US" sz="1500" u="none" cap="none" strike="noStrike">
                <a:solidFill>
                  <a:srgbClr val="000000"/>
                </a:solidFill>
                <a:latin typeface="Arial"/>
                <a:ea typeface="Arial"/>
                <a:cs typeface="Arial"/>
                <a:sym typeface="Arial"/>
              </a:rPr>
              <a:t>, or UV, has shorter wavelengths than human-visible violet light. Froy and colleagues placed a filter blocking wavelengths below 394 nm over outdoor flight tests while retaining approximately 87% of photopic luminous transmission.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filter interrupted sustained flight or altered heading records; removing it restored sustained flight in most affected butterflies. Sauman and colleagues localized UV-sensitive visual pigment to the </a:t>
            </a:r>
            <a:r>
              <a:rPr b="1" i="0" lang="en-US" sz="1500" u="none" cap="none" strike="noStrike">
                <a:solidFill>
                  <a:srgbClr val="52146E"/>
                </a:solidFill>
                <a:latin typeface="Arial"/>
                <a:ea typeface="Arial"/>
                <a:cs typeface="Arial"/>
                <a:sym typeface="Arial"/>
              </a:rPr>
              <a:t>dorsal rim area</a:t>
            </a:r>
            <a:r>
              <a:rPr b="0" i="0" lang="en-US" sz="1500" u="none" cap="none" strike="noStrike">
                <a:solidFill>
                  <a:srgbClr val="000000"/>
                </a:solidFill>
                <a:latin typeface="Arial"/>
                <a:ea typeface="Arial"/>
                <a:cs typeface="Arial"/>
                <a:sym typeface="Arial"/>
              </a:rPr>
              <a:t>, a specialized strip along the upper compound-eye margin.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reversible effect associates the available UV signal with flight under these conditions. The filter changes spectral input and the continuity of flight together, so UV availability is tied to sustained flight. The dorsal rim area, rich in UV-sensitive pigment, is the candidate retinal region for this input.</a:t>
            </a:r>
            <a:endParaRPr/>
          </a:p>
        </p:txBody>
      </p:sp>
      <p:pic>
        <p:nvPicPr>
          <p:cNvPr descr="f03_f3c.png" id="172" name="Google Shape;172;p8"/>
          <p:cNvPicPr preferRelativeResize="0"/>
          <p:nvPr/>
        </p:nvPicPr>
        <p:blipFill rotWithShape="1">
          <a:blip r:embed="rId3">
            <a:alphaModFix/>
          </a:blip>
          <a:srcRect b="0" l="0" r="0" t="0"/>
          <a:stretch/>
        </p:blipFill>
        <p:spPr>
          <a:xfrm>
            <a:off x="6641489" y="1280160"/>
            <a:ext cx="2377035" cy="4297679"/>
          </a:xfrm>
          <a:prstGeom prst="rect">
            <a:avLst/>
          </a:prstGeom>
          <a:noFill/>
          <a:ln>
            <a:noFill/>
          </a:ln>
        </p:spPr>
      </p:pic>
      <p:sp>
        <p:nvSpPr>
          <p:cNvPr id="173" name="Google Shape;173;p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3(C). Heading distributions before, during and after UV interference.</a:t>
            </a:r>
            <a:endParaRPr/>
          </a:p>
        </p:txBody>
      </p:sp>
      <p:pic>
        <p:nvPicPr>
          <p:cNvPr descr="s05_dra.png" id="174" name="Google Shape;174;p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175" name="Google Shape;175;p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176" name="Google Shape;176;p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7" name="Google Shape;177;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 Sauman et al. (2005)</a:t>
            </a:r>
            <a:endParaRPr/>
          </a:p>
        </p:txBody>
      </p:sp>
      <p:sp>
        <p:nvSpPr>
          <p:cNvPr id="178" name="Google Shape;178;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3" name="Shape 183"/>
        <p:cNvGrpSpPr/>
        <p:nvPr/>
      </p:nvGrpSpPr>
      <p:grpSpPr>
        <a:xfrm>
          <a:off x="0" y="0"/>
          <a:ext cx="0" cy="0"/>
          <a:chOff x="0" y="0"/>
          <a:chExt cx="0" cy="0"/>
        </a:xfrm>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Visible light can entrain the emergence rhythm</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Froy and colleagues reared pupae under light–dark cycles with a UV-blocking filter and measured the timing of </a:t>
            </a:r>
            <a:r>
              <a:rPr b="1" i="0" lang="en-US" sz="1450" u="none" cap="none" strike="noStrike">
                <a:solidFill>
                  <a:srgbClr val="52146E"/>
                </a:solidFill>
                <a:latin typeface="Arial"/>
                <a:ea typeface="Arial"/>
                <a:cs typeface="Arial"/>
                <a:sym typeface="Arial"/>
              </a:rPr>
              <a:t>eclosion</a:t>
            </a:r>
            <a:r>
              <a:rPr b="0" i="0" lang="en-US" sz="1450" u="none" cap="none" strike="noStrike">
                <a:solidFill>
                  <a:srgbClr val="000000"/>
                </a:solidFill>
                <a:latin typeface="Arial"/>
                <a:ea typeface="Arial"/>
                <a:cs typeface="Arial"/>
                <a:sym typeface="Arial"/>
              </a:rPr>
              <a:t>, the emergence of the adult from the pupal case. The wavelengths that entrain the clock can differ from those that support oriented flight, so the two properties are tested separately. The comparison isolates timing from flight, so each property is evaluated with its own measurement.</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Emergence remained concentrated at a particular phase of the daily cycle. Advancing the UV-filtered light schedule by 6 h moved the emergence peaks approximately 5.5 h apart, which establishes effective temporal entrainment without ultraviolet illumination. The advance of the schedule shifted the peaks in the expected direction for the filtered light.</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The result separates a timing response from the flight disruption observed earlier. Visible wavelengths convey daily timing information in this preparation, and eclosion is an output of circadian organization, so its entrainment by filtered light shows that the clock does not depend on ultraviolet. The filtered light therefore showed that visible wavelengths are sufficient to reset the emergence rhythm.</a:t>
            </a:r>
            <a:endParaRPr/>
          </a:p>
        </p:txBody>
      </p:sp>
      <p:pic>
        <p:nvPicPr>
          <p:cNvPr descr="f03_f3d.png" id="186" name="Google Shape;186;p9"/>
          <p:cNvPicPr preferRelativeResize="0"/>
          <p:nvPr/>
        </p:nvPicPr>
        <p:blipFill rotWithShape="1">
          <a:blip r:embed="rId3">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Retinal cells express distinct visual-pigment proteins</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compound eye contains repeated optical units called </a:t>
            </a:r>
            <a:r>
              <a:rPr b="1" i="0" lang="en-US" sz="1500" u="none" cap="none" strike="noStrike">
                <a:solidFill>
                  <a:srgbClr val="52146E"/>
                </a:solidFill>
                <a:latin typeface="Arial"/>
                <a:ea typeface="Arial"/>
                <a:cs typeface="Arial"/>
                <a:sym typeface="Arial"/>
              </a:rPr>
              <a:t>ommatidia</a:t>
            </a:r>
            <a:r>
              <a:rPr b="0" i="0" lang="en-US" sz="1500" u="none" cap="none" strike="noStrike">
                <a:solidFill>
                  <a:srgbClr val="000000"/>
                </a:solidFill>
                <a:latin typeface="Arial"/>
                <a:ea typeface="Arial"/>
                <a:cs typeface="Arial"/>
                <a:sym typeface="Arial"/>
              </a:rPr>
              <a:t>. Each monarch ommatidium contains photoreceptor cells whose light-sensitive membrane forms a </a:t>
            </a:r>
            <a:r>
              <a:rPr b="1" i="0" lang="en-US" sz="1500" u="none" cap="none" strike="noStrike">
                <a:solidFill>
                  <a:srgbClr val="52146E"/>
                </a:solidFill>
                <a:latin typeface="Arial"/>
                <a:ea typeface="Arial"/>
                <a:cs typeface="Arial"/>
                <a:sym typeface="Arial"/>
              </a:rPr>
              <a:t>rhabdom</a:t>
            </a:r>
            <a:r>
              <a:rPr b="0" i="0" lang="en-US" sz="1500" u="none" cap="none" strike="noStrike">
                <a:solidFill>
                  <a:srgbClr val="000000"/>
                </a:solidFill>
                <a:latin typeface="Arial"/>
                <a:ea typeface="Arial"/>
                <a:cs typeface="Arial"/>
                <a:sym typeface="Arial"/>
              </a:rPr>
              <a:t>. An </a:t>
            </a:r>
            <a:r>
              <a:rPr b="1" i="0" lang="en-US" sz="1500" u="none" cap="none" strike="noStrike">
                <a:solidFill>
                  <a:srgbClr val="52146E"/>
                </a:solidFill>
                <a:latin typeface="Arial"/>
                <a:ea typeface="Arial"/>
                <a:cs typeface="Arial"/>
                <a:sym typeface="Arial"/>
              </a:rPr>
              <a:t>opsin</a:t>
            </a:r>
            <a:r>
              <a:rPr b="0" i="0" lang="en-US" sz="1500" u="none" cap="none" strike="noStrike">
                <a:solidFill>
                  <a:srgbClr val="000000"/>
                </a:solidFill>
                <a:latin typeface="Arial"/>
                <a:ea typeface="Arial"/>
                <a:cs typeface="Arial"/>
                <a:sym typeface="Arial"/>
              </a:rPr>
              <a:t> is the protein component of a visual pigment that contributes to its spectral sensitivity.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Sauman and colleagues used </a:t>
            </a: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labeled probes that locate specific RNA sequences in tissue sections, to identify UV-, blue- and long-wavelength opsin expression. UV and blue opsin RNA occupied R1 or R2 cells; long-wavelength opsin RNA occupied R3–R8.</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These distributions establish distinct molecular receptor types in the main retina. They support multiple spectral inputs to vision, with UV and blue opsins in R1 or R2 and long-wavelength opsin in R3–R8. Each opsin sets the spectral sensitivity of the cell that expresses it.</a:t>
            </a:r>
            <a:endParaRPr/>
          </a:p>
        </p:txBody>
      </p:sp>
      <p:pic>
        <p:nvPicPr>
          <p:cNvPr descr="s05_f2.png" id="198" name="Google Shape;198;p10"/>
          <p:cNvPicPr preferRelativeResize="0"/>
          <p:nvPr/>
        </p:nvPicPr>
        <p:blipFill rotWithShape="1">
          <a:blip r:embed="rId3">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7" name="Shape 207"/>
        <p:cNvGrpSpPr/>
        <p:nvPr/>
      </p:nvGrpSpPr>
      <p:grpSpPr>
        <a:xfrm>
          <a:off x="0" y="0"/>
          <a:ext cx="0" cy="0"/>
          <a:chOff x="0" y="0"/>
          <a:chExt cx="0" cy="0"/>
        </a:xfrm>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dorsal rim area is specialized for ultraviolet input</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dorsal rim area differs molecularly from adjacent main-retina ommatidia. Sauman and colleagues found UV opsin RNA throughout R1–R8 in this strip, with no detected blue or long-wavelength opsin RNA in those dorsal-rim cells.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specialization extended approximately 40–50 ommatidia along the eye margin and one to three ommatidia inward, totaling roughly 100 per eye. Antibody labeling localized UV opsin protein to their rhabdoms; adjacent retinal tissue provided a comparison with mixed receptor types.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 common spectral class is consistent with sampling polarization without mixing distinct color signals. Linear polarization specifies the orientation of the light wave's electric field. Molecular specialization makes the dorsal rim a candidate polarization input, with a single UV pigment across R1–R8.</a:t>
            </a:r>
            <a:endParaRPr/>
          </a:p>
        </p:txBody>
      </p:sp>
      <p:pic>
        <p:nvPicPr>
          <p:cNvPr descr="s05_f3.png" id="210" name="Google Shape;210;p11"/>
          <p:cNvPicPr preferRelativeResize="0"/>
          <p:nvPr/>
        </p:nvPicPr>
        <p:blipFill rotWithShape="1">
          <a:blip r:embed="rId3">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Polarizer rotation changes flight in a restricted assay</a:t>
            </a:r>
            <a:endParaRPr/>
          </a:p>
        </p:txBody>
      </p:sp>
      <p:sp>
        <p:nvSpPr>
          <p:cNvPr id="221" name="Google Shape;221;p1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tested tethered monarchs beneath a linear polarizing filter that restricted skylight access to an 80° field and excluded direct sight of the sun. Turning the filter by 90° changed the available electric-field orientation.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Sequential 5-min records compared flight before rotation, after rotation, during UV interference below 397 nm, and after removing the UV filter. UV interference often produced circling and reduced virtual progress by at least 70%; removal restored sustained directional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responses support sensitivity to manipulated polarized UV under this restricted arrangement. Rotating the filter by 90° changed flight, and removing the UV filter restored sustained directional flight. The UV-specialized dorsal rim provides an anatomical candidate for this input.</a:t>
            </a:r>
            <a:endParaRPr/>
          </a:p>
        </p:txBody>
      </p:sp>
      <p:pic>
        <p:nvPicPr>
          <p:cNvPr descr="s05_f4.png" id="222" name="Google Shape;222;p12"/>
          <p:cNvPicPr preferRelativeResize="0"/>
          <p:nvPr/>
        </p:nvPicPr>
        <p:blipFill rotWithShape="1">
          <a:blip r:embed="rId3">
            <a:alphaModFix/>
          </a:blip>
          <a:srcRect b="0" l="0" r="0" t="0"/>
          <a:stretch/>
        </p:blipFill>
        <p:spPr>
          <a:xfrm>
            <a:off x="6586031" y="1280160"/>
            <a:ext cx="2487951" cy="4297679"/>
          </a:xfrm>
          <a:prstGeom prst="rect">
            <a:avLst/>
          </a:prstGeom>
          <a:noFill/>
          <a:ln>
            <a:noFill/>
          </a:ln>
        </p:spPr>
      </p:pic>
      <p:sp>
        <p:nvSpPr>
          <p:cNvPr id="223" name="Google Shape;223;p1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4(A–D). Filter rotation and UV interference during tethered flight.</a:t>
            </a:r>
            <a:endParaRPr/>
          </a:p>
        </p:txBody>
      </p:sp>
      <p:pic>
        <p:nvPicPr>
          <p:cNvPr descr="s05_dra.png" id="224" name="Google Shape;224;p12"/>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225" name="Google Shape;225;p12"/>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226" name="Google Shape;226;p1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7" name="Google Shape;227;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28" name="Google Shape;228;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3" name="Shape 233"/>
        <p:cNvGrpSpPr/>
        <p:nvPr/>
      </p:nvGrpSpPr>
      <p:grpSpPr>
        <a:xfrm>
          <a:off x="0" y="0"/>
          <a:ext cx="0" cy="0"/>
          <a:chOff x="0" y="0"/>
          <a:chExt cx="0" cy="0"/>
        </a:xfrm>
      </p:grpSpPr>
      <p:sp>
        <p:nvSpPr>
          <p:cNvPr id="234" name="Google Shape;234;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Polarized-light behavior requires brightness controls</a:t>
            </a:r>
            <a:endParaRPr/>
          </a:p>
        </p:txBody>
      </p:sp>
      <p:sp>
        <p:nvSpPr>
          <p:cNvPr id="235" name="Google Shape;235;p1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400" u="none" cap="none" strike="noStrike">
                <a:solidFill>
                  <a:srgbClr val="000000"/>
                </a:solidFill>
                <a:latin typeface="Arial"/>
                <a:ea typeface="Arial"/>
                <a:cs typeface="Arial"/>
                <a:sym typeface="Arial"/>
              </a:rPr>
              <a:t>Stalleicken and colleagues compared orientation under a polarizing filter when the sun was excluded, when the sun was visible, and with an unpolarized-light control. Their controlled tests tie migratory orientation to the conditions that accompany the polarizer, so each condition is evaluated on its own. The comparison makes clear which feature of the stimulus each condition isolates.</a:t>
            </a:r>
            <a:endParaRPr/>
          </a:p>
          <a:p>
            <a:pPr indent="0" lvl="0" marL="0" marR="0" rtl="0" algn="l">
              <a:lnSpc>
                <a:spcPct val="108000"/>
              </a:lnSpc>
              <a:spcBef>
                <a:spcPts val="0"/>
              </a:spcBef>
              <a:spcAft>
                <a:spcPts val="0"/>
              </a:spcAft>
              <a:buNone/>
            </a:pPr>
            <a:r>
              <a:rPr b="0" i="0" lang="en-US" sz="1400" u="none" cap="none" strike="noStrike">
                <a:solidFill>
                  <a:srgbClr val="000000"/>
                </a:solidFill>
                <a:latin typeface="Arial"/>
                <a:ea typeface="Arial"/>
                <a:cs typeface="Arial"/>
                <a:sym typeface="Arial"/>
              </a:rPr>
              <a:t>With the sun available, monarchs retained directional orientation. The study identified brightness-related cues associated with the experimental optical arrangement as a likely contributor to the earlier polarizer responses, because rotating a filter also changes the light intensity reaching the animal. The brightness changes produced by rotating the filter were the variable that the controls isolated.</a:t>
            </a:r>
            <a:endParaRPr/>
          </a:p>
          <a:p>
            <a:pPr indent="0" lvl="0" marL="0" marR="0" rtl="0" algn="l">
              <a:lnSpc>
                <a:spcPct val="108000"/>
              </a:lnSpc>
              <a:spcBef>
                <a:spcPts val="0"/>
              </a:spcBef>
              <a:spcAft>
                <a:spcPts val="0"/>
              </a:spcAft>
              <a:buNone/>
            </a:pPr>
            <a:r>
              <a:rPr b="0" i="0" lang="en-US" sz="1400" u="none" cap="none" strike="noStrike">
                <a:solidFill>
                  <a:srgbClr val="000000"/>
                </a:solidFill>
                <a:latin typeface="Arial"/>
                <a:ea typeface="Arial"/>
                <a:cs typeface="Arial"/>
                <a:sym typeface="Arial"/>
              </a:rPr>
              <a:t>A response to an artificial stimulus and a cue's role in migration are different properties, and natural compass use is tested by separating polarization from intensity patterns while other celestial cues remain available. Polarization-sensitive visual physiology remains a distinct property that the brightness controls leave intact. Polarization-sensitive physiology and migratory orientation therefore remain separate questions in the study.</a:t>
            </a:r>
            <a:endParaRPr/>
          </a:p>
        </p:txBody>
      </p:sp>
      <p:pic>
        <p:nvPicPr>
          <p:cNvPr descr="st05_f4.png" id="236" name="Google Shape;236;p13"/>
          <p:cNvPicPr preferRelativeResize="0"/>
          <p:nvPr/>
        </p:nvPicPr>
        <p:blipFill rotWithShape="1">
          <a:blip r:embed="rId3">
            <a:alphaModFix/>
          </a:blip>
          <a:srcRect b="0" l="0" r="0" t="0"/>
          <a:stretch/>
        </p:blipFill>
        <p:spPr>
          <a:xfrm>
            <a:off x="6138367" y="1280160"/>
            <a:ext cx="5486400" cy="2247331"/>
          </a:xfrm>
          <a:prstGeom prst="rect">
            <a:avLst/>
          </a:prstGeom>
          <a:noFill/>
          <a:ln>
            <a:noFill/>
          </a:ln>
        </p:spPr>
      </p:pic>
      <p:sp>
        <p:nvSpPr>
          <p:cNvPr id="237" name="Google Shape;237;p13"/>
          <p:cNvSpPr txBox="1"/>
          <p:nvPr/>
        </p:nvSpPr>
        <p:spPr>
          <a:xfrm>
            <a:off x="6138367" y="361893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4(A–C). Orientation with polarization, sun and unpolarized controls.</a:t>
            </a:r>
            <a:endParaRPr/>
          </a:p>
        </p:txBody>
      </p:sp>
      <p:sp>
        <p:nvSpPr>
          <p:cNvPr id="238" name="Google Shape;238;p1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9" name="Google Shape;239;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40" name="Google Shape;240;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5" name="Shape 245"/>
        <p:cNvGrpSpPr/>
        <p:nvPr/>
      </p:nvGrpSpPr>
      <p:grpSpPr>
        <a:xfrm>
          <a:off x="0" y="0"/>
          <a:ext cx="0" cy="0"/>
          <a:chOff x="0" y="0"/>
          <a:chExt cx="0" cy="0"/>
        </a:xfrm>
      </p:grpSpPr>
      <p:sp>
        <p:nvSpPr>
          <p:cNvPr id="246" name="Google Shape;246;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Dorsal-rim masking leaves sun-based orientation intact</a:t>
            </a:r>
            <a:endParaRPr/>
          </a:p>
        </p:txBody>
      </p:sp>
      <p:sp>
        <p:nvSpPr>
          <p:cNvPr id="247" name="Google Shape;247;p1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Selective masking asks whether the UV-specialized dorsal eye margin is necessary when other sky cues remain available. Stalleicken and colleagues covered the dorsal rim area and compared migratory orientation with that of untreated butterflies under a visible sun.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Masked animals retained directional flight, and the study’s clock-shifted tests remained consistent with a time-compensated sun compass. The published eye preparation documents the position of the mask rather than assuming that the whole retina was obstructed.</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 sun-based pathway that can operate without normal dorsal-rim input in these conditions. Receptor specialization, neural responsiveness and behavioral necessity are separate levels that each need their own test. A visible sun supplies sufficient directional information for the time-compensated compass.</a:t>
            </a:r>
            <a:endParaRPr/>
          </a:p>
        </p:txBody>
      </p:sp>
      <p:pic>
        <p:nvPicPr>
          <p:cNvPr descr="st05_f5.png" id="248" name="Google Shape;248;p14"/>
          <p:cNvPicPr preferRelativeResize="0"/>
          <p:nvPr/>
        </p:nvPicPr>
        <p:blipFill rotWithShape="1">
          <a:blip r:embed="rId3">
            <a:alphaModFix/>
          </a:blip>
          <a:srcRect b="0" l="0" r="0" t="0"/>
          <a:stretch/>
        </p:blipFill>
        <p:spPr>
          <a:xfrm>
            <a:off x="7348050" y="1280160"/>
            <a:ext cx="3067033" cy="4297679"/>
          </a:xfrm>
          <a:prstGeom prst="rect">
            <a:avLst/>
          </a:prstGeom>
          <a:noFill/>
          <a:ln>
            <a:noFill/>
          </a:ln>
        </p:spPr>
      </p:pic>
      <p:sp>
        <p:nvSpPr>
          <p:cNvPr id="249" name="Google Shape;249;p1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Stalleicken et al. (2005), Fig. 5(A–F). Orientation with dorsal rim masking and the masked eye.</a:t>
            </a:r>
            <a:endParaRPr/>
          </a:p>
        </p:txBody>
      </p:sp>
      <p:sp>
        <p:nvSpPr>
          <p:cNvPr id="250" name="Google Shape;250;p1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1" name="Google Shape;251;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Stalleicken et al. (2005)</a:t>
            </a:r>
            <a:endParaRPr/>
          </a:p>
        </p:txBody>
      </p:sp>
      <p:sp>
        <p:nvSpPr>
          <p:cNvPr id="252" name="Google Shape;252;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7" name="Shape 257"/>
        <p:cNvGrpSpPr/>
        <p:nvPr/>
      </p:nvGrpSpPr>
      <p:grpSpPr>
        <a:xfrm>
          <a:off x="0" y="0"/>
          <a:ext cx="0" cy="0"/>
          <a:chOff x="0" y="0"/>
          <a:chExt cx="0" cy="0"/>
        </a:xfrm>
      </p:grpSpPr>
      <p:sp>
        <p:nvSpPr>
          <p:cNvPr id="258" name="Google Shape;258;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Emergence persists without a daily light signal</a:t>
            </a:r>
            <a:endParaRPr/>
          </a:p>
        </p:txBody>
      </p:sp>
      <p:sp>
        <p:nvSpPr>
          <p:cNvPr id="259" name="Google Shape;259;p1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endogenous rhythm continues after the external cycle is removed. Froy and colleagues entrained monarch pupae under a light–dark schedule and then compared adult emergence in continued cycling light, constant darkness and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Eclosion clustered early in the light phase and remained rhythmic in constant darkness. A 6-h shift in the prior light schedule altered the emergence phase. Constant light disrupted the normal temporal concentration of emergence.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Persistence in darkness supports an internal circadian oscillator rather than an immediate response only to lights turning on. Free-running means that a rhythm proceeds without daily entrainment. The emergence assay establishes an endogenous timing output whose phase is set by the prior light schedule.</a:t>
            </a:r>
            <a:endParaRPr/>
          </a:p>
        </p:txBody>
      </p:sp>
      <p:pic>
        <p:nvPicPr>
          <p:cNvPr descr="f03_f1a.png" id="260" name="Google Shape;260;p15"/>
          <p:cNvPicPr preferRelativeResize="0"/>
          <p:nvPr/>
        </p:nvPicPr>
        <p:blipFill rotWithShape="1">
          <a:blip r:embed="rId3">
            <a:alphaModFix/>
          </a:blip>
          <a:srcRect b="0" l="0" r="0" t="0"/>
          <a:stretch/>
        </p:blipFill>
        <p:spPr>
          <a:xfrm>
            <a:off x="7374909" y="1280160"/>
            <a:ext cx="3013315" cy="4297679"/>
          </a:xfrm>
          <a:prstGeom prst="rect">
            <a:avLst/>
          </a:prstGeom>
          <a:noFill/>
          <a:ln>
            <a:noFill/>
          </a:ln>
        </p:spPr>
      </p:pic>
      <p:sp>
        <p:nvSpPr>
          <p:cNvPr id="261" name="Google Shape;261;p15"/>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1(A). Adult emergence under light–dark and constant conditions.</a:t>
            </a:r>
            <a:endParaRPr/>
          </a:p>
        </p:txBody>
      </p:sp>
      <p:sp>
        <p:nvSpPr>
          <p:cNvPr id="262" name="Google Shape;262;p1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63" name="Google Shape;263;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64" name="Google Shape;264;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9" name="Shape 269"/>
        <p:cNvGrpSpPr/>
        <p:nvPr/>
      </p:nvGrpSpPr>
      <p:grpSpPr>
        <a:xfrm>
          <a:off x="0" y="0"/>
          <a:ext cx="0" cy="0"/>
          <a:chOff x="0" y="0"/>
          <a:chExt cx="0" cy="0"/>
        </a:xfrm>
      </p:grpSpPr>
      <p:sp>
        <p:nvSpPr>
          <p:cNvPr id="270" name="Google Shape;270;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per transcript changes with circadian phase</a:t>
            </a:r>
            <a:endParaRPr/>
          </a:p>
        </p:txBody>
      </p:sp>
      <p:sp>
        <p:nvSpPr>
          <p:cNvPr id="271" name="Google Shape;271;p1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period gene</a:t>
            </a:r>
            <a:r>
              <a:rPr b="0" i="0" lang="en-US" sz="1500" u="none" cap="none" strike="noStrike">
                <a:solidFill>
                  <a:srgbClr val="000000"/>
                </a:solidFill>
                <a:latin typeface="Arial"/>
                <a:ea typeface="Arial"/>
                <a:cs typeface="Arial"/>
                <a:sym typeface="Arial"/>
              </a:rPr>
              <a:t>, abbreviated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encodes a clock-associated protein. Froy and colleagues measured its RNA in monarch heads across the day to connect behavioral timing with a molecular rhythm. </a:t>
            </a:r>
            <a:r>
              <a:rPr b="1" i="0" lang="en-US" sz="1500" u="none" cap="none" strike="noStrike">
                <a:solidFill>
                  <a:srgbClr val="52146E"/>
                </a:solidFill>
                <a:latin typeface="Arial"/>
                <a:ea typeface="Arial"/>
                <a:cs typeface="Arial"/>
                <a:sym typeface="Arial"/>
              </a:rPr>
              <a:t>Transcription</a:t>
            </a:r>
            <a:r>
              <a:rPr b="0" i="0" lang="en-US" sz="1500" u="none" cap="none" strike="noStrike">
                <a:solidFill>
                  <a:srgbClr val="000000"/>
                </a:solidFill>
                <a:latin typeface="Arial"/>
                <a:ea typeface="Arial"/>
                <a:cs typeface="Arial"/>
                <a:sym typeface="Arial"/>
              </a:rPr>
              <a:t> is the production of RNA from a DNA template.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Head </a:t>
            </a:r>
            <a:r>
              <a:rPr b="0" i="1" lang="en-US" sz="1500" u="none" cap="none" strike="noStrike">
                <a:solidFill>
                  <a:srgbClr val="000000"/>
                </a:solidFill>
                <a:latin typeface="Arial"/>
                <a:ea typeface="Arial"/>
                <a:cs typeface="Arial"/>
                <a:sym typeface="Arial"/>
              </a:rPr>
              <a:t>per</a:t>
            </a:r>
            <a:r>
              <a:rPr b="0" i="0" lang="en-US" sz="1500" u="none" cap="none" strike="noStrike">
                <a:solidFill>
                  <a:srgbClr val="000000"/>
                </a:solidFill>
                <a:latin typeface="Arial"/>
                <a:ea typeface="Arial"/>
                <a:cs typeface="Arial"/>
                <a:sym typeface="Arial"/>
              </a:rPr>
              <a:t> RNA was higher at night and lower during the day in a light–dark cycle. Its rhythm persisted, with altered amplitude and phase, in constant darkness; constant light maintained comparatively low, nonrhythmic levels in this assay.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molecular and emergence measurements support endogenous circadian organization. A transcript that cycles in darkness and loses its rhythm in constant light follows the same conditions as emergence. Transcription of per therefore provides a molecular marker of circadian phase.</a:t>
            </a:r>
            <a:endParaRPr/>
          </a:p>
        </p:txBody>
      </p:sp>
      <p:pic>
        <p:nvPicPr>
          <p:cNvPr descr="f03_f1b.png" id="272" name="Google Shape;272;p16"/>
          <p:cNvPicPr preferRelativeResize="0"/>
          <p:nvPr/>
        </p:nvPicPr>
        <p:blipFill rotWithShape="1">
          <a:blip r:embed="rId3">
            <a:alphaModFix/>
          </a:blip>
          <a:srcRect b="0" l="0" r="0" t="0"/>
          <a:stretch/>
        </p:blipFill>
        <p:spPr>
          <a:xfrm>
            <a:off x="6381344" y="1280160"/>
            <a:ext cx="5000445" cy="4297679"/>
          </a:xfrm>
          <a:prstGeom prst="rect">
            <a:avLst/>
          </a:prstGeom>
          <a:noFill/>
          <a:ln>
            <a:noFill/>
          </a:ln>
        </p:spPr>
      </p:pic>
      <p:sp>
        <p:nvSpPr>
          <p:cNvPr id="273" name="Google Shape;273;p16"/>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1(B). Head per RNA: blue, light–dark; teal, darkness; magenta, constant light.</a:t>
            </a:r>
            <a:endParaRPr/>
          </a:p>
        </p:txBody>
      </p:sp>
      <p:sp>
        <p:nvSpPr>
          <p:cNvPr id="274" name="Google Shape;274;p1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5" name="Google Shape;275;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276" name="Google Shape;276;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1" name="Shape 281"/>
        <p:cNvGrpSpPr/>
        <p:nvPr/>
      </p:nvGrpSpPr>
      <p:grpSpPr>
        <a:xfrm>
          <a:off x="0" y="0"/>
          <a:ext cx="0" cy="0"/>
          <a:chOff x="0" y="0"/>
          <a:chExt cx="0" cy="0"/>
        </a:xfrm>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PER marks candidate clock cells in the lateral brain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a:t>
            </a:r>
            <a:r>
              <a:rPr b="1" i="0" lang="en-US" sz="1600" u="none" cap="none" strike="noStrike">
                <a:solidFill>
                  <a:srgbClr val="52146E"/>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the protein encoded by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using antibodies in adult monarch brain sections. The </a:t>
            </a:r>
            <a:r>
              <a:rPr b="1" i="0" lang="en-US" sz="1600" u="none" cap="none" strike="noStrike">
                <a:solidFill>
                  <a:srgbClr val="52146E"/>
                </a:solidFill>
                <a:latin typeface="Arial"/>
                <a:ea typeface="Arial"/>
                <a:cs typeface="Arial"/>
                <a:sym typeface="Arial"/>
              </a:rPr>
              <a:t>pars lateralis</a:t>
            </a:r>
            <a:r>
              <a:rPr b="0" i="0" lang="en-US" sz="1600" u="none" cap="none" strike="noStrike">
                <a:solidFill>
                  <a:srgbClr val="000000"/>
                </a:solidFill>
                <a:latin typeface="Arial"/>
                <a:ea typeface="Arial"/>
                <a:cs typeface="Arial"/>
                <a:sym typeface="Arial"/>
              </a:rPr>
              <a:t>, or PL, is a lateral brain region containing candidate clock cells; the </a:t>
            </a:r>
            <a:r>
              <a:rPr b="1" i="0" lang="en-US" sz="1600" u="none" cap="none" strike="noStrike">
                <a:solidFill>
                  <a:srgbClr val="52146E"/>
                </a:solidFill>
                <a:latin typeface="Arial"/>
                <a:ea typeface="Arial"/>
                <a:cs typeface="Arial"/>
                <a:sym typeface="Arial"/>
              </a:rPr>
              <a:t>pars intercerebralis</a:t>
            </a:r>
            <a:r>
              <a:rPr b="0" i="0" lang="en-US" sz="1600" u="none" cap="none" strike="noStrike">
                <a:solidFill>
                  <a:srgbClr val="000000"/>
                </a:solidFill>
                <a:latin typeface="Arial"/>
                <a:ea typeface="Arial"/>
                <a:cs typeface="Arial"/>
                <a:sym typeface="Arial"/>
              </a:rPr>
              <a:t>, or PI, is a medial region with neurosecretory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PL cells had little detectable PER at zeitgeber time 6 but strong labeling near zeitgeber time 18. </a:t>
            </a: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Daily PL staining persisted in constant darkness and was disrupted in constant 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localize rhythmic molecular components more precisely than a whole-head assay. PER staining in PL cells is strong near ZT18 and persists in constant darkness, as expected of a clock protein. The PL therefore marks candidate clock cells in the lateral brain.</a:t>
            </a:r>
            <a:endParaRPr/>
          </a:p>
        </p:txBody>
      </p:sp>
      <p:pic>
        <p:nvPicPr>
          <p:cNvPr descr="s05_f5.png" id="284" name="Google Shape;284;p17"/>
          <p:cNvPicPr preferRelativeResize="0"/>
          <p:nvPr/>
        </p:nvPicPr>
        <p:blipFill rotWithShape="1">
          <a:blip r:embed="rId3">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93" name="Shape 293"/>
        <p:cNvGrpSpPr/>
        <p:nvPr/>
      </p:nvGrpSpPr>
      <p:grpSpPr>
        <a:xfrm>
          <a:off x="0" y="0"/>
          <a:ext cx="0" cy="0"/>
          <a:chOff x="0" y="0"/>
          <a:chExt cx="0" cy="0"/>
        </a:xfrm>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CRY1 links light exposure to clock-protein depletion</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Monarchs possess two </a:t>
            </a:r>
            <a:r>
              <a:rPr b="1" i="0" lang="en-US" sz="1600" u="none" cap="none" strike="noStrike">
                <a:solidFill>
                  <a:srgbClr val="52146E"/>
                </a:solidFill>
                <a:latin typeface="Arial"/>
                <a:ea typeface="Arial"/>
                <a:cs typeface="Arial"/>
                <a:sym typeface="Arial"/>
              </a:rPr>
              <a:t>cryptochromes</a:t>
            </a:r>
            <a:r>
              <a:rPr b="0" i="0" lang="en-US" sz="1600" u="none" cap="none" strike="noStrike">
                <a:solidFill>
                  <a:srgbClr val="000000"/>
                </a:solidFill>
                <a:latin typeface="Arial"/>
                <a:ea typeface="Arial"/>
                <a:cs typeface="Arial"/>
                <a:sym typeface="Arial"/>
              </a:rPr>
              <a:t>, proteins associated with light sensing and circadian timing. </a:t>
            </a:r>
            <a:r>
              <a:rPr b="1" i="0" lang="en-US" sz="1600" u="none" cap="none" strike="noStrike">
                <a:solidFill>
                  <a:srgbClr val="52146E"/>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acts as a blue-light-responsive component. Zhu and colleagues used cultured monarch DpN1 cells to test how reducing CRY1 changes the response to illumination.</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using complementary RNA. Compared with a control targeting green fluorescent protein,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interference prevented the normal light-dependent decline of </a:t>
            </a:r>
            <a:r>
              <a:rPr b="1" i="0" lang="en-US" sz="1600" u="none" cap="none" strike="noStrike">
                <a:solidFill>
                  <a:srgbClr val="52146E"/>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the TIMELESS clock protein. In controls, TIM decreased before PER and CRY2 during the light-exposure time course.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protein measurements support CRY1-dependent light input to clock regulation. Light normally lowers TIM, and removing CRY1 prevents that decline. Brain labeling places CRY1 with PER in candidate clock cells.</a:t>
            </a:r>
            <a:endParaRPr/>
          </a:p>
        </p:txBody>
      </p:sp>
      <p:pic>
        <p:nvPicPr>
          <p:cNvPr descr="z08_f2.png" id="296" name="Google Shape;296;p18"/>
          <p:cNvPicPr preferRelativeResize="0"/>
          <p:nvPr/>
        </p:nvPicPr>
        <p:blipFill rotWithShape="1">
          <a:blip r:embed="rId3">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4">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Sauman et al. (2005)</a:t>
            </a:r>
            <a:endParaRPr/>
          </a:p>
        </p:txBody>
      </p:sp>
      <p:sp>
        <p:nvSpPr>
          <p:cNvPr id="302" name="Google Shape;302;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7" name="Shape 307"/>
        <p:cNvGrpSpPr/>
        <p:nvPr/>
      </p:nvGrpSpPr>
      <p:grpSpPr>
        <a:xfrm>
          <a:off x="0" y="0"/>
          <a:ext cx="0" cy="0"/>
          <a:chOff x="0" y="0"/>
          <a:chExt cx="0" cy="0"/>
        </a:xfrm>
      </p:grpSpPr>
      <p:sp>
        <p:nvSpPr>
          <p:cNvPr id="308" name="Google Shape;308;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Brain TIMELESS responds to circadian phase and light</a:t>
            </a:r>
            <a:endParaRPr/>
          </a:p>
        </p:txBody>
      </p:sp>
      <p:sp>
        <p:nvSpPr>
          <p:cNvPr id="309" name="Google Shape;309;p1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localized TIMELESS protein in monarch brain cells and compared its abundance across daily phases. In the pars lateralis, TIM labeling overlapped with </a:t>
            </a:r>
            <a:r>
              <a:rPr b="1" i="0" lang="en-US" sz="1600" u="none" cap="none" strike="noStrike">
                <a:solidFill>
                  <a:srgbClr val="52146E"/>
                </a:solidFill>
                <a:latin typeface="Arial"/>
                <a:ea typeface="Arial"/>
                <a:cs typeface="Arial"/>
                <a:sym typeface="Arial"/>
              </a:rPr>
              <a:t>corazonin</a:t>
            </a:r>
            <a:r>
              <a:rPr b="0" i="0" lang="en-US" sz="1600" u="none" cap="none" strike="noStrike">
                <a:solidFill>
                  <a:srgbClr val="000000"/>
                </a:solidFill>
                <a:latin typeface="Arial"/>
                <a:ea typeface="Arial"/>
                <a:cs typeface="Arial"/>
                <a:sym typeface="Arial"/>
              </a:rPr>
              <a:t>, a neuropeptide marker identifying the same cell group.</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staining was stronger near ZT15 than ZT6, and PL differences persisted in constant darkness. A 1-h light pulse at ZT15 reduced the PL signal relative to the unpulsed condition. These measurements connect molecular phase with acute sensitivity to illumination.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anatomical overlap identifies candidate timing cells, while the pulse tests their protein response. A light pulse at ZT15 lowers PL TIM at a phase when TIM is otherwise high, so these cells are sensitive to illumination. Corazonin serves as a marker for the same cell group.</a:t>
            </a:r>
            <a:endParaRPr/>
          </a:p>
        </p:txBody>
      </p:sp>
      <p:pic>
        <p:nvPicPr>
          <p:cNvPr descr="z08_f3bc.png" id="310" name="Google Shape;310;p19"/>
          <p:cNvPicPr preferRelativeResize="0"/>
          <p:nvPr/>
        </p:nvPicPr>
        <p:blipFill rotWithShape="1">
          <a:blip r:embed="rId3">
            <a:alphaModFix/>
          </a:blip>
          <a:srcRect b="0" l="0" r="0" t="0"/>
          <a:stretch/>
        </p:blipFill>
        <p:spPr>
          <a:xfrm>
            <a:off x="6138367" y="1280160"/>
            <a:ext cx="5486400" cy="1782501"/>
          </a:xfrm>
          <a:prstGeom prst="rect">
            <a:avLst/>
          </a:prstGeom>
          <a:noFill/>
          <a:ln>
            <a:noFill/>
          </a:ln>
        </p:spPr>
      </p:pic>
      <p:sp>
        <p:nvSpPr>
          <p:cNvPr id="311" name="Google Shape;311;p19"/>
          <p:cNvSpPr txBox="1"/>
          <p:nvPr/>
        </p:nvSpPr>
        <p:spPr>
          <a:xfrm>
            <a:off x="6138367" y="3154101"/>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3(B–C). TIM and corazonin labeling in pars lateralis cells.</a:t>
            </a:r>
            <a:endParaRPr/>
          </a:p>
        </p:txBody>
      </p:sp>
      <p:sp>
        <p:nvSpPr>
          <p:cNvPr id="312" name="Google Shape;312;p1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3" name="Google Shape;313;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14" name="Google Shape;314;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9" name="Shape 319"/>
        <p:cNvGrpSpPr/>
        <p:nvPr/>
      </p:nvGrpSpPr>
      <p:grpSpPr>
        <a:xfrm>
          <a:off x="0" y="0"/>
          <a:ext cx="0" cy="0"/>
          <a:chOff x="0" y="0"/>
          <a:chExt cx="0" cy="0"/>
        </a:xfrm>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CRY2 represses clock-controlled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is the second monarch cryptochrome and has a different tested role from CRY1. Zhu and colleagues introduced clock proteins into DpN1 cells and measured a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regulatory sequence coupled to 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a light-producing readout of transcriptional activity.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transcription factors </a:t>
            </a:r>
            <a:r>
              <a:rPr b="1" i="0" lang="en-US" sz="1600" u="none" cap="none" strike="noStrike">
                <a:solidFill>
                  <a:srgbClr val="52146E"/>
                </a:solidFill>
                <a:latin typeface="Arial"/>
                <a:ea typeface="Arial"/>
                <a:cs typeface="Arial"/>
                <a:sym typeface="Arial"/>
              </a:rPr>
              <a:t>CLOCK</a:t>
            </a:r>
            <a:r>
              <a:rPr b="0" i="0" lang="en-US" sz="1600" u="none" cap="none" strike="noStrike">
                <a:solidFill>
                  <a:srgbClr val="000000"/>
                </a:solidFill>
                <a:latin typeface="Arial"/>
                <a:ea typeface="Arial"/>
                <a:cs typeface="Arial"/>
                <a:sym typeface="Arial"/>
              </a:rPr>
              <a:t> and </a:t>
            </a:r>
            <a:r>
              <a:rPr b="1" i="0" lang="en-US" sz="1600" u="none" cap="none" strike="noStrike">
                <a:solidFill>
                  <a:srgbClr val="52146E"/>
                </a:solidFill>
                <a:latin typeface="Arial"/>
                <a:ea typeface="Arial"/>
                <a:cs typeface="Arial"/>
                <a:sym typeface="Arial"/>
              </a:rPr>
              <a:t>CYCLE</a:t>
            </a:r>
            <a:r>
              <a:rPr b="0" i="0" lang="en-US" sz="1600" u="none" cap="none" strike="noStrike">
                <a:solidFill>
                  <a:srgbClr val="000000"/>
                </a:solidFill>
                <a:latin typeface="Arial"/>
                <a:ea typeface="Arial"/>
                <a:cs typeface="Arial"/>
                <a:sym typeface="Arial"/>
              </a:rPr>
              <a:t>, abbreviated CLK and CYC, activated the reporter. Adding CRY2 reduced this activity with increasing amounts of CRY2 expression construct, including 5, 15 and 50 ng; CRY1 did not provide the same repression.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This functional assay supports CRY2 as a negative regulator of clock transcription. Brain staining also localized CRY2 to corazonin-positive PL cells. Repression grew with the amount of CRY2 supplied, and CRY1 did not repress, so the two cryptochromes serve different roles.</a:t>
            </a:r>
            <a:endParaRPr/>
          </a:p>
        </p:txBody>
      </p:sp>
      <p:pic>
        <p:nvPicPr>
          <p:cNvPr descr="z08_f5a.png" id="322" name="Google Shape;322;p20"/>
          <p:cNvPicPr preferRelativeResize="0"/>
          <p:nvPr/>
        </p:nvPicPr>
        <p:blipFill rotWithShape="1">
          <a:blip r:embed="rId3">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3" name="Shape 333"/>
        <p:cNvGrpSpPr/>
        <p:nvPr/>
      </p:nvGrpSpPr>
      <p:grpSpPr>
        <a:xfrm>
          <a:off x="0" y="0"/>
          <a:ext cx="0" cy="0"/>
          <a:chOff x="0" y="0"/>
          <a:chExt cx="0" cy="0"/>
        </a:xfrm>
      </p:grpSpPr>
      <p:sp>
        <p:nvSpPr>
          <p:cNvPr id="334" name="Google Shape;334;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Reducing CRY2 removes normal transcriptional repression</a:t>
            </a:r>
            <a:endParaRPr/>
          </a:p>
        </p:txBody>
      </p:sp>
      <p:sp>
        <p:nvSpPr>
          <p:cNvPr id="335" name="Google Shape;335;p2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loss-of-function test complements adding CRY2 to a transcriptional reporter. Zhu and colleagues reduced endogenous CRY2 in DpN1 cells using RNA interference and compared the treatment with interference directed against a control sequence.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CRY2 reduction increased reporter activity approximately threefold. Across a 24-h light–dark cycle,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remained near peak values after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interference instead of following the control’s rise and fall. The protein measurements confirmed depletion of the targeted regulator.</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findings support CRY2-mediated negative feedback: clock-associated proteins restrain the transcription that contributes to their production. Removing CRY2 therefore leaves per RNA near peak values instead of cycling.</a:t>
            </a:r>
            <a:endParaRPr/>
          </a:p>
        </p:txBody>
      </p:sp>
      <p:pic>
        <p:nvPicPr>
          <p:cNvPr descr="z08_f5b.png" id="336" name="Google Shape;336;p21"/>
          <p:cNvPicPr preferRelativeResize="0"/>
          <p:nvPr/>
        </p:nvPicPr>
        <p:blipFill rotWithShape="1">
          <a:blip r:embed="rId3">
            <a:alphaModFix/>
          </a:blip>
          <a:srcRect b="0" l="0" r="0" t="0"/>
          <a:stretch/>
        </p:blipFill>
        <p:spPr>
          <a:xfrm>
            <a:off x="7604353" y="1280160"/>
            <a:ext cx="2554427" cy="2560320"/>
          </a:xfrm>
          <a:prstGeom prst="rect">
            <a:avLst/>
          </a:prstGeom>
          <a:noFill/>
          <a:ln>
            <a:noFill/>
          </a:ln>
        </p:spPr>
      </p:pic>
      <p:sp>
        <p:nvSpPr>
          <p:cNvPr id="337" name="Google Shape;337;p21"/>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5(B). Protein knockdown and transcriptional reporter activity.</a:t>
            </a:r>
            <a:endParaRPr/>
          </a:p>
        </p:txBody>
      </p:sp>
      <p:pic>
        <p:nvPicPr>
          <p:cNvPr descr="z08_f5d.png" id="338" name="Google Shape;338;p21"/>
          <p:cNvPicPr preferRelativeResize="0"/>
          <p:nvPr/>
        </p:nvPicPr>
        <p:blipFill rotWithShape="1">
          <a:blip r:embed="rId4">
            <a:alphaModFix/>
          </a:blip>
          <a:srcRect b="0" l="0" r="0" t="0"/>
          <a:stretch/>
        </p:blipFill>
        <p:spPr>
          <a:xfrm>
            <a:off x="7973745" y="4389120"/>
            <a:ext cx="1815643" cy="1371599"/>
          </a:xfrm>
          <a:prstGeom prst="rect">
            <a:avLst/>
          </a:prstGeom>
          <a:noFill/>
          <a:ln>
            <a:noFill/>
          </a:ln>
        </p:spPr>
      </p:pic>
      <p:sp>
        <p:nvSpPr>
          <p:cNvPr id="339" name="Google Shape;339;p21"/>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5(D). per RNA after cry2 knockdown across a light–dark cycle.</a:t>
            </a:r>
            <a:endParaRPr/>
          </a:p>
        </p:txBody>
      </p:sp>
      <p:sp>
        <p:nvSpPr>
          <p:cNvPr id="340" name="Google Shape;340;p2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1" name="Google Shape;34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42" name="Google Shape;34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7" name="Shape 347"/>
        <p:cNvGrpSpPr/>
        <p:nvPr/>
      </p:nvGrpSpPr>
      <p:grpSpPr>
        <a:xfrm>
          <a:off x="0" y="0"/>
          <a:ext cx="0" cy="0"/>
          <a:chOff x="0" y="0"/>
          <a:chExt cx="0" cy="0"/>
        </a:xfrm>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Clock proteins form complexes that support CRY2 stability</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Clock regulation depends on protein interactions as well as transcription. Zhu and colleagues used </a:t>
            </a: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antibody capture of a protein together with associated molecules, to examine PER, TIM and CRY2 in monarch brain extracts and cultured cells.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captured material contained combinations of PER, TIM and CRY2. Reducing PER also reduced CRY2 protein without a corresponding reduction in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supporting regulation after transcription. TIM interference produced a more modest reduction of PER and CRY2.</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findings are consistent with PER and TIM helping stabilize CRY2-containing complexes. Stabilizing a repressor protein extends its availability to restrain transcription. Protein interactions therefore form part of the molecular feedback mechanism.</a:t>
            </a:r>
            <a:endParaRPr/>
          </a:p>
        </p:txBody>
      </p:sp>
      <p:pic>
        <p:nvPicPr>
          <p:cNvPr descr="z08_f5c.png" id="350" name="Google Shape;350;p22"/>
          <p:cNvPicPr preferRelativeResize="0"/>
          <p:nvPr/>
        </p:nvPicPr>
        <p:blipFill rotWithShape="1">
          <a:blip r:embed="rId3">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4">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Nuclear CRY2 varies with clock phase</a:t>
            </a:r>
            <a:endParaRPr/>
          </a:p>
        </p:txBody>
      </p:sp>
      <p:sp>
        <p:nvSpPr>
          <p:cNvPr id="363" name="Google Shape;363;p2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nucleus</a:t>
            </a:r>
            <a:r>
              <a:rPr b="0" i="0" lang="en-US" sz="1600" u="none" cap="none" strike="noStrike">
                <a:solidFill>
                  <a:srgbClr val="000000"/>
                </a:solidFill>
                <a:latin typeface="Arial"/>
                <a:ea typeface="Arial"/>
                <a:cs typeface="Arial"/>
                <a:sym typeface="Arial"/>
              </a:rPr>
              <a:t> contains the DNA used for transcription, so a transcriptional repressor’s cellular location affects its access to clock regulation. Zhu and colleagues compared CRY2 nuclear labeling with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RNA across circadian phase.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 pars lateralis clock cells, nuclear CRY2 was concentrated around ZT2–4 and near circadian time 3 in constant darkness. </a:t>
            </a:r>
            <a:r>
              <a:rPr b="1" i="0" lang="en-US" sz="1600" u="none" cap="none" strike="noStrike">
                <a:solidFill>
                  <a:srgbClr val="52146E"/>
                </a:solidFill>
                <a:latin typeface="Arial"/>
                <a:ea typeface="Arial"/>
                <a:cs typeface="Arial"/>
                <a:sym typeface="Arial"/>
              </a:rPr>
              <a:t>Circadian time</a:t>
            </a:r>
            <a:r>
              <a:rPr b="0" i="0" lang="en-US" sz="1600" u="none" cap="none" strike="noStrike">
                <a:solidFill>
                  <a:srgbClr val="000000"/>
                </a:solidFill>
                <a:latin typeface="Arial"/>
                <a:ea typeface="Arial"/>
                <a:cs typeface="Arial"/>
                <a:sym typeface="Arial"/>
              </a:rPr>
              <a:t>, or CT, refers to internal phase under free-running conditions. The measured nuclear signal changed with phase rather than remaining continuously high.</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relationship supports timed nuclear repression within the molecular feedback cycle. CRY2 is concentrated in the nucleus of PL clock cells early in the day, and the same phase appears at CT3 in constant darkness. The nucleus is where a transcriptional repressor reaches the DNA it regulates.</a:t>
            </a:r>
            <a:endParaRPr/>
          </a:p>
        </p:txBody>
      </p:sp>
      <p:pic>
        <p:nvPicPr>
          <p:cNvPr descr="z08_f6gh.png" id="364" name="Google Shape;364;p23"/>
          <p:cNvPicPr preferRelativeResize="0"/>
          <p:nvPr/>
        </p:nvPicPr>
        <p:blipFill rotWithShape="1">
          <a:blip r:embed="rId3">
            <a:alphaModFix/>
          </a:blip>
          <a:srcRect b="0" l="0" r="0" t="0"/>
          <a:stretch/>
        </p:blipFill>
        <p:spPr>
          <a:xfrm>
            <a:off x="7929873" y="1280160"/>
            <a:ext cx="1903387" cy="4297679"/>
          </a:xfrm>
          <a:prstGeom prst="rect">
            <a:avLst/>
          </a:prstGeom>
          <a:noFill/>
          <a:ln>
            <a:noFill/>
          </a:ln>
        </p:spPr>
      </p:pic>
      <p:sp>
        <p:nvSpPr>
          <p:cNvPr id="365" name="Google Shape;365;p2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6(G–H). Nuclear CRY2 and per RNA across circadian phase.</a:t>
            </a:r>
            <a:endParaRPr/>
          </a:p>
        </p:txBody>
      </p:sp>
      <p:sp>
        <p:nvSpPr>
          <p:cNvPr id="366" name="Google Shape;366;p2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7" name="Google Shape;367;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68" name="Google Shape;368;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3" name="Shape 373"/>
        <p:cNvGrpSpPr/>
        <p:nvPr/>
      </p:nvGrpSpPr>
      <p:grpSpPr>
        <a:xfrm>
          <a:off x="0" y="0"/>
          <a:ext cx="0" cy="0"/>
          <a:chOff x="0" y="0"/>
          <a:chExt cx="0" cy="0"/>
        </a:xfrm>
      </p:grpSpPr>
      <p:sp>
        <p:nvSpPr>
          <p:cNvPr id="374" name="Google Shape;374;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Rhythmic CRY2 occurs in central-body fibers</a:t>
            </a:r>
            <a:endParaRPr/>
          </a:p>
        </p:txBody>
      </p:sp>
      <p:sp>
        <p:nvSpPr>
          <p:cNvPr id="375" name="Google Shape;375;p2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central body</a:t>
            </a:r>
            <a:r>
              <a:rPr b="0" i="0" lang="en-US" sz="1600" u="none" cap="none" strike="noStrike">
                <a:solidFill>
                  <a:srgbClr val="000000"/>
                </a:solidFill>
                <a:latin typeface="Arial"/>
                <a:ea typeface="Arial"/>
                <a:cs typeface="Arial"/>
                <a:sym typeface="Arial"/>
              </a:rPr>
              <a:t> is a component of the insect central complex, a group of brain neuropils associated with orientation. A </a:t>
            </a:r>
            <a:r>
              <a:rPr b="1" i="0" lang="en-US" sz="1600" u="none" cap="none" strike="noStrike">
                <a:solidFill>
                  <a:srgbClr val="52146E"/>
                </a:solidFill>
                <a:latin typeface="Arial"/>
                <a:ea typeface="Arial"/>
                <a:cs typeface="Arial"/>
                <a:sym typeface="Arial"/>
              </a:rPr>
              <a:t>neuropil</a:t>
            </a:r>
            <a:r>
              <a:rPr b="0" i="0" lang="en-US" sz="1600" u="none" cap="none" strike="noStrike">
                <a:solidFill>
                  <a:srgbClr val="000000"/>
                </a:solidFill>
                <a:latin typeface="Arial"/>
                <a:ea typeface="Arial"/>
                <a:cs typeface="Arial"/>
                <a:sym typeface="Arial"/>
              </a:rPr>
              <a:t> is a region rich in neuronal processes and synaptic connections rather than only cell bodies.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Zhu and colleagues detected CRY2-containing fibers in the central body. Staining intensity varied in constant darkness, with a maximum near CT15 and a minimum near CT9. Independent synapsin labeling by Heinze and Reppert identifies the relevant central-complex anatomy.</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Rhythmic protein labeling in an orientation-associated region supports a possible connection between clock state and compass processing. CRY2 fibers in the central body peak near CT15 and reach a minimum near CT9 in constant darkness. The central complex therefore contains a rhythmic clock protein within compass anatomy.</a:t>
            </a:r>
            <a:endParaRPr/>
          </a:p>
        </p:txBody>
      </p:sp>
      <p:pic>
        <p:nvPicPr>
          <p:cNvPr descr="z08_f7ijk.png" id="376" name="Google Shape;376;p24"/>
          <p:cNvPicPr preferRelativeResize="0"/>
          <p:nvPr/>
        </p:nvPicPr>
        <p:blipFill rotWithShape="1">
          <a:blip r:embed="rId3">
            <a:alphaModFix/>
          </a:blip>
          <a:srcRect b="0" l="0" r="0" t="0"/>
          <a:stretch/>
        </p:blipFill>
        <p:spPr>
          <a:xfrm>
            <a:off x="7137101" y="1280160"/>
            <a:ext cx="1385811" cy="4297679"/>
          </a:xfrm>
          <a:prstGeom prst="rect">
            <a:avLst/>
          </a:prstGeom>
          <a:noFill/>
          <a:ln>
            <a:noFill/>
          </a:ln>
        </p:spPr>
      </p:pic>
      <p:sp>
        <p:nvSpPr>
          <p:cNvPr id="377" name="Google Shape;377;p24"/>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7(I–K). Central-body CRY2 staining varies in constant darkness.</a:t>
            </a:r>
            <a:endParaRPr/>
          </a:p>
        </p:txBody>
      </p:sp>
      <p:pic>
        <p:nvPicPr>
          <p:cNvPr descr="h11_f2.png" id="378" name="Google Shape;378;p24"/>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379" name="Google Shape;379;p24"/>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380" name="Google Shape;380;p2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1" name="Google Shape;381;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 Heinze &amp; Reppert (2011)</a:t>
            </a:r>
            <a:endParaRPr/>
          </a:p>
        </p:txBody>
      </p:sp>
      <p:sp>
        <p:nvSpPr>
          <p:cNvPr id="382" name="Google Shape;382;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7" name="Shape 387"/>
        <p:cNvGrpSpPr/>
        <p:nvPr/>
      </p:nvGrpSpPr>
      <p:grpSpPr>
        <a:xfrm>
          <a:off x="0" y="0"/>
          <a:ext cx="0" cy="0"/>
          <a:chOff x="0" y="0"/>
          <a:chExt cx="0" cy="0"/>
        </a:xfrm>
      </p:grpSpPr>
      <p:sp>
        <p:nvSpPr>
          <p:cNvPr id="388" name="Google Shape;388;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antennae disrupts the group compass bearing</a:t>
            </a:r>
            <a:endParaRPr/>
          </a:p>
        </p:txBody>
      </p:sp>
      <p:sp>
        <p:nvSpPr>
          <p:cNvPr id="389" name="Google Shape;389;p2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antennae</a:t>
            </a:r>
            <a:r>
              <a:rPr b="0" i="0" lang="en-US" sz="1600" u="none" cap="none" strike="noStrike">
                <a:solidFill>
                  <a:srgbClr val="000000"/>
                </a:solidFill>
                <a:latin typeface="Arial"/>
                <a:ea typeface="Arial"/>
                <a:cs typeface="Arial"/>
                <a:sym typeface="Arial"/>
              </a:rPr>
              <a:t> are paired head appendages that contain sensory tissue and molecular clocks. Merlin and colleagues removed the antennal flagella, the long distal portions, and compared migratory orientation with intact butterflies.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Intact animals oriented near 211° on the normal light schedule and near 355° after a 6-h delay. Antenna-less butterflies could sustain an individual heading, but their directions no longer formed the normal common migratory bearing across animals.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dissociation identifies an antennal contribution to time-compensated orientation rather than a complete loss of flight or direction-holding ability. Antenna-less butterflies keep an individual heading but lose the common bearing. Paint and isolated-tissue experiments test the timing explanation more selectively.</a:t>
            </a:r>
            <a:endParaRPr/>
          </a:p>
        </p:txBody>
      </p:sp>
      <p:pic>
        <p:nvPicPr>
          <p:cNvPr descr="m09_f1ab.png" id="390" name="Google Shape;390;p25"/>
          <p:cNvPicPr preferRelativeResize="0"/>
          <p:nvPr/>
        </p:nvPicPr>
        <p:blipFill rotWithShape="1">
          <a:blip r:embed="rId3">
            <a:alphaModFix/>
          </a:blip>
          <a:srcRect b="0" l="0" r="0" t="0"/>
          <a:stretch/>
        </p:blipFill>
        <p:spPr>
          <a:xfrm>
            <a:off x="6138367" y="1280160"/>
            <a:ext cx="3383279" cy="3554070"/>
          </a:xfrm>
          <a:prstGeom prst="rect">
            <a:avLst/>
          </a:prstGeom>
          <a:noFill/>
          <a:ln>
            <a:noFill/>
          </a:ln>
        </p:spPr>
      </p:pic>
      <p:sp>
        <p:nvSpPr>
          <p:cNvPr id="391" name="Google Shape;391;p25"/>
          <p:cNvSpPr txBox="1"/>
          <p:nvPr/>
        </p:nvSpPr>
        <p:spPr>
          <a:xfrm>
            <a:off x="6138367" y="492567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1(A–B). Intact and antenna-less headings on two light cycles.</a:t>
            </a:r>
            <a:endParaRPr/>
          </a:p>
        </p:txBody>
      </p:sp>
      <p:pic>
        <p:nvPicPr>
          <p:cNvPr descr="monarch_fws.jpg" id="392" name="Google Shape;392;p25"/>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393" name="Google Shape;393;p25"/>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394" name="Google Shape;394;p2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5" name="Google Shape;395;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396" name="Google Shape;396;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1" name="Shape 401"/>
        <p:cNvGrpSpPr/>
        <p:nvPr/>
      </p:nvGrpSpPr>
      <p:grpSpPr>
        <a:xfrm>
          <a:off x="0" y="0"/>
          <a:ext cx="0" cy="0"/>
          <a:chOff x="0" y="0"/>
          <a:chExt cx="0" cy="0"/>
        </a:xfrm>
      </p:grpSpPr>
      <p:sp>
        <p:nvSpPr>
          <p:cNvPr id="402" name="Google Shape;402;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Antenna-less butterflies remain capable of free flight</a:t>
            </a:r>
            <a:endParaRPr/>
          </a:p>
        </p:txBody>
      </p:sp>
      <p:sp>
        <p:nvSpPr>
          <p:cNvPr id="403" name="Google Shape;403;p2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An orientation deficit requires a motor control when the manipulated organ could influence flight. Merlin and colleagues released intact and antenna-less monarchs outdoors and compared whether they could maintain normal upward flight.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Most butterflies in both conditions flew normally after release. In simulator trials, antenna-less individuals also retained directional flight within a recording, despite losing the consistent group bearing expected from the entraining light cycle.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combined observations reduce an explanation based on general inability to fly. The measured outcome is sufficient to separate severe flight incapacity from compass disorganization. The deficit therefore lies in the shared migratory direction and not in locomotion.</a:t>
            </a:r>
            <a:endParaRPr/>
          </a:p>
        </p:txBody>
      </p:sp>
      <p:pic>
        <p:nvPicPr>
          <p:cNvPr descr="m09_f1c.png" id="404" name="Google Shape;404;p26"/>
          <p:cNvPicPr preferRelativeResize="0"/>
          <p:nvPr/>
        </p:nvPicPr>
        <p:blipFill rotWithShape="1">
          <a:blip r:embed="rId3">
            <a:alphaModFix/>
          </a:blip>
          <a:srcRect b="0" l="0" r="0" t="0"/>
          <a:stretch/>
        </p:blipFill>
        <p:spPr>
          <a:xfrm>
            <a:off x="6138367" y="1280160"/>
            <a:ext cx="5486400" cy="2472468"/>
          </a:xfrm>
          <a:prstGeom prst="rect">
            <a:avLst/>
          </a:prstGeom>
          <a:noFill/>
          <a:ln>
            <a:noFill/>
          </a:ln>
        </p:spPr>
      </p:pic>
      <p:sp>
        <p:nvSpPr>
          <p:cNvPr id="405" name="Google Shape;405;p26"/>
          <p:cNvSpPr txBox="1"/>
          <p:nvPr/>
        </p:nvSpPr>
        <p:spPr>
          <a:xfrm>
            <a:off x="6138367" y="38440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1(C). Released intact and antenna-less butterflies maintain flight.</a:t>
            </a:r>
            <a:endParaRPr/>
          </a:p>
        </p:txBody>
      </p:sp>
      <p:pic>
        <p:nvPicPr>
          <p:cNvPr descr="monarch_fws.jpg" id="406" name="Google Shape;406;p26"/>
          <p:cNvPicPr preferRelativeResize="0"/>
          <p:nvPr/>
        </p:nvPicPr>
        <p:blipFill rotWithShape="1">
          <a:blip r:embed="rId4">
            <a:alphaModFix/>
          </a:blip>
          <a:srcRect b="0" l="0" r="0" t="0"/>
          <a:stretch/>
        </p:blipFill>
        <p:spPr>
          <a:xfrm>
            <a:off x="7852867" y="4389120"/>
            <a:ext cx="2057399" cy="1371599"/>
          </a:xfrm>
          <a:prstGeom prst="rect">
            <a:avLst/>
          </a:prstGeom>
          <a:noFill/>
          <a:ln>
            <a:noFill/>
          </a:ln>
        </p:spPr>
      </p:pic>
      <p:sp>
        <p:nvSpPr>
          <p:cNvPr id="407" name="Google Shape;407;p26"/>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08" name="Google Shape;408;p2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09" name="Google Shape;409;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10" name="Google Shape;410;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5" name="Shape 415"/>
        <p:cNvGrpSpPr/>
        <p:nvPr/>
      </p:nvGrpSpPr>
      <p:grpSpPr>
        <a:xfrm>
          <a:off x="0" y="0"/>
          <a:ext cx="0" cy="0"/>
          <a:chOff x="0" y="0"/>
          <a:chExt cx="0" cy="0"/>
        </a:xfrm>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Antennal clock-gene RNA remains rhythmic in darkness</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t>
            </a: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allowing the same transcripts to be compared across time points.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Antennal </a:t>
            </a:r>
            <a:r>
              <a:rPr b="0" i="1" lang="en-US" sz="1600" u="none" cap="none" strike="noStrike">
                <a:solidFill>
                  <a:srgbClr val="000000"/>
                </a:solidFill>
                <a:latin typeface="Arial"/>
                <a:ea typeface="Arial"/>
                <a:cs typeface="Arial"/>
                <a:sym typeface="Arial"/>
              </a:rPr>
              <a:t>per</a:t>
            </a:r>
            <a:r>
              <a:rPr b="0" i="0" lang="en-US" sz="1600" u="none" cap="none" strike="noStrike">
                <a:solidFill>
                  <a:srgbClr val="000000"/>
                </a:solidFill>
                <a:latin typeface="Arial"/>
                <a:ea typeface="Arial"/>
                <a:cs typeface="Arial"/>
                <a:sym typeface="Arial"/>
              </a:rPr>
              <a:t>, </a:t>
            </a:r>
            <a:r>
              <a:rPr b="0" i="1" lang="en-US" sz="1600" u="none" cap="none" strike="noStrike">
                <a:solidFill>
                  <a:srgbClr val="000000"/>
                </a:solidFill>
                <a:latin typeface="Arial"/>
                <a:ea typeface="Arial"/>
                <a:cs typeface="Arial"/>
                <a:sym typeface="Arial"/>
              </a:rPr>
              <a:t>tim</a:t>
            </a:r>
            <a:r>
              <a:rPr b="0" i="0" lang="en-US" sz="1600" u="none" cap="none" strike="noStrike">
                <a:solidFill>
                  <a:srgbClr val="000000"/>
                </a:solidFill>
                <a:latin typeface="Arial"/>
                <a:ea typeface="Arial"/>
                <a:cs typeface="Arial"/>
                <a:sym typeface="Arial"/>
              </a:rPr>
              <a:t> and </a:t>
            </a:r>
            <a:r>
              <a:rPr b="0" i="1" lang="en-US" sz="1600" u="none" cap="none" strike="noStrike">
                <a:solidFill>
                  <a:srgbClr val="000000"/>
                </a:solidFill>
                <a:latin typeface="Arial"/>
                <a:ea typeface="Arial"/>
                <a:cs typeface="Arial"/>
                <a:sym typeface="Arial"/>
              </a:rPr>
              <a:t>cry2</a:t>
            </a:r>
            <a:r>
              <a:rPr b="0" i="0" lang="en-US" sz="1600" u="none" cap="none" strike="noStrike">
                <a:solidFill>
                  <a:srgbClr val="000000"/>
                </a:solidFill>
                <a:latin typeface="Arial"/>
                <a:ea typeface="Arial"/>
                <a:cs typeface="Arial"/>
                <a:sym typeface="Arial"/>
              </a:rPr>
              <a:t> RNA varied across a light–dark cycle and remained rhythmic after transfer to constant darkness. Their levels were lower near ZT6 than ZT18 in the cycling condition; </a:t>
            </a:r>
            <a:r>
              <a:rPr b="0" i="1" lang="en-US" sz="1600" u="none" cap="none" strike="noStrike">
                <a:solidFill>
                  <a:srgbClr val="000000"/>
                </a:solidFill>
                <a:latin typeface="Arial"/>
                <a:ea typeface="Arial"/>
                <a:cs typeface="Arial"/>
                <a:sym typeface="Arial"/>
              </a:rPr>
              <a:t>cry1</a:t>
            </a:r>
            <a:r>
              <a:rPr b="0" i="0" lang="en-US" sz="1600" u="none" cap="none" strike="noStrike">
                <a:solidFill>
                  <a:srgbClr val="000000"/>
                </a:solidFill>
                <a:latin typeface="Arial"/>
                <a:ea typeface="Arial"/>
                <a:cs typeface="Arial"/>
                <a:sym typeface="Arial"/>
              </a:rPr>
              <a:t> RNA did not have the same phase difference.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place a circadian molecular program in the appendages required for normal orientation. Persistence without the light cycle supports endogenous timing, rather than merely a direct response to illumination. Per, tim and cry2 are the same feedback-loop components described for brain clock cells.</a:t>
            </a:r>
            <a:endParaRPr/>
          </a:p>
        </p:txBody>
      </p:sp>
      <p:pic>
        <p:nvPicPr>
          <p:cNvPr descr="m09_f2ab.png" id="418" name="Google Shape;418;p27"/>
          <p:cNvPicPr preferRelativeResize="0"/>
          <p:nvPr/>
        </p:nvPicPr>
        <p:blipFill rotWithShape="1">
          <a:blip r:embed="rId3">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Isolated antennae retain a locally entrainable rhythm</a:t>
            </a:r>
            <a:endParaRPr/>
          </a:p>
        </p:txBody>
      </p:sp>
      <p:sp>
        <p:nvSpPr>
          <p:cNvPr id="431" name="Google Shape;431;p2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clock measured in antennae could still depend continuously on another tissue. Merlin and colleagues cultured separated antennae and exposed different explants, isolated tissue maintained outside the animal, to oppositely phased light–dark schedules.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TIM protein was lower around ZT6 and higher around ZT18 relative to each explant’s own light schedule. The rhythm continued with reduced amplitude during the first day of constant darkness after entrainment. No intact nervous-system connection remained in the culture.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 supports autonomous, light-entrainable timing within antennal tissue over the measured interval. Removing central input distinguishes a local molecular rhythm from one that must be continuously imposed by the rest of the animal. Oppositely phased explants kept opposite TIM phases, so each antenna keeps time by its own light exposure.</a:t>
            </a:r>
            <a:endParaRPr/>
          </a:p>
        </p:txBody>
      </p:sp>
      <p:pic>
        <p:nvPicPr>
          <p:cNvPr descr="m09_f2de.png" id="432" name="Google Shape;432;p28"/>
          <p:cNvPicPr preferRelativeResize="0"/>
          <p:nvPr/>
        </p:nvPicPr>
        <p:blipFill rotWithShape="1">
          <a:blip r:embed="rId3">
            <a:alphaModFix/>
          </a:blip>
          <a:srcRect b="0" l="0" r="0" t="0"/>
          <a:stretch/>
        </p:blipFill>
        <p:spPr>
          <a:xfrm>
            <a:off x="6917596" y="1280160"/>
            <a:ext cx="1824821" cy="4297679"/>
          </a:xfrm>
          <a:prstGeom prst="rect">
            <a:avLst/>
          </a:prstGeom>
          <a:noFill/>
          <a:ln>
            <a:noFill/>
          </a:ln>
        </p:spPr>
      </p:pic>
      <p:sp>
        <p:nvSpPr>
          <p:cNvPr id="433" name="Google Shape;433;p2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2(D–E). TIM rhythms in isolated antennal cultures.</a:t>
            </a:r>
            <a:endParaRPr/>
          </a:p>
        </p:txBody>
      </p:sp>
      <p:pic>
        <p:nvPicPr>
          <p:cNvPr descr="monarch_fws.jpg" id="434" name="Google Shape;434;p28"/>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35" name="Google Shape;435;p28"/>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36" name="Google Shape;436;p2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7" name="Google Shape;437;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38" name="Google Shape;438;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3" name="Shape 443"/>
        <p:cNvGrpSpPr/>
        <p:nvPr/>
      </p:nvGrpSpPr>
      <p:grpSpPr>
        <a:xfrm>
          <a:off x="0" y="0"/>
          <a:ext cx="0" cy="0"/>
          <a:chOff x="0" y="0"/>
          <a:chExt cx="0" cy="0"/>
        </a:xfrm>
      </p:grpSpPr>
      <p:sp>
        <p:nvSpPr>
          <p:cNvPr id="444" name="Google Shape;444;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Black paint blocks the antennal light response</a:t>
            </a:r>
            <a:endParaRPr/>
          </a:p>
        </p:txBody>
      </p:sp>
      <p:sp>
        <p:nvSpPr>
          <p:cNvPr id="445" name="Google Shape;445;p2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coated antennal flagella with either black or clear enamel to distinguish light access from the general consequences of painting. Black paint blocked transmission across the tested 300–800 nm range; clear paint preserved transmission.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A 2-h light pulse during CT16–18 reduced antennal TIM protein when the coating was clear, but not when it was black. The pulse compared a molecular response to illumination while keeping the appendage physically present.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direct photic input, meaning input from light, to the antennal clock. Clear paint also controls for coating-related interference with odor reception, allowing a later behavioral difference to be linked more specifically to blocked light access. Light reaches the antennal clock directly.</a:t>
            </a:r>
            <a:endParaRPr/>
          </a:p>
        </p:txBody>
      </p:sp>
      <p:pic>
        <p:nvPicPr>
          <p:cNvPr descr="m09_f3ab.png" id="446" name="Google Shape;446;p29"/>
          <p:cNvPicPr preferRelativeResize="0"/>
          <p:nvPr/>
        </p:nvPicPr>
        <p:blipFill rotWithShape="1">
          <a:blip r:embed="rId3">
            <a:alphaModFix/>
          </a:blip>
          <a:srcRect b="0" l="0" r="0" t="0"/>
          <a:stretch/>
        </p:blipFill>
        <p:spPr>
          <a:xfrm>
            <a:off x="6986335" y="1280160"/>
            <a:ext cx="1687344" cy="4297679"/>
          </a:xfrm>
          <a:prstGeom prst="rect">
            <a:avLst/>
          </a:prstGeom>
          <a:noFill/>
          <a:ln>
            <a:noFill/>
          </a:ln>
        </p:spPr>
      </p:pic>
      <p:sp>
        <p:nvSpPr>
          <p:cNvPr id="447" name="Google Shape;447;p29"/>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3(A–B). Paint transmission and light-dependent TIM depletion.</a:t>
            </a:r>
            <a:endParaRPr/>
          </a:p>
        </p:txBody>
      </p:sp>
      <p:pic>
        <p:nvPicPr>
          <p:cNvPr descr="monarch_fws.jpg" id="448" name="Google Shape;448;p29"/>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49" name="Google Shape;449;p29"/>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50" name="Google Shape;450;p2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1" name="Google Shape;451;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52" name="Google Shape;452;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7" name="Shape 457"/>
        <p:cNvGrpSpPr/>
        <p:nvPr/>
      </p:nvGrpSpPr>
      <p:grpSpPr>
        <a:xfrm>
          <a:off x="0" y="0"/>
          <a:ext cx="0" cy="0"/>
          <a:chOff x="0" y="0"/>
          <a:chExt cx="0" cy="0"/>
        </a:xfrm>
      </p:grpSpPr>
      <p:sp>
        <p:nvSpPr>
          <p:cNvPr id="458" name="Google Shape;458;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Optically blocking antennae changes the selected heading</a:t>
            </a:r>
            <a:endParaRPr/>
          </a:p>
        </p:txBody>
      </p:sp>
      <p:sp>
        <p:nvSpPr>
          <p:cNvPr id="459" name="Google Shape;459;p3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Butterflies with clear-painted antennae retained a consistent orientation and shifted their heading after a 6-h delay in the light cycle. In this later-autumn experiment, clear-painted controls oriented near 162°, and delayed controls near 269°.</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Black-painted animals instead selected an abnormal northward bearing near 344° on the normal schedule; delayed black-painted animals were disorganized as a group. The antennae remained physically present, and the clear coating supplied a control for the painting procedure.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connect antennal light access to normal time-compensated orientation. Black paint removes the light input that normally sets antennal clock phase, so heading no longer follows the light cycle. Clear-painted controls shifted their heading after the 6-h delay, so the painting procedure alone does not disrupt the compass.</a:t>
            </a:r>
            <a:endParaRPr/>
          </a:p>
        </p:txBody>
      </p:sp>
      <p:pic>
        <p:nvPicPr>
          <p:cNvPr descr="m09_f4a.png" id="460" name="Google Shape;460;p30"/>
          <p:cNvPicPr preferRelativeResize="0"/>
          <p:nvPr/>
        </p:nvPicPr>
        <p:blipFill rotWithShape="1">
          <a:blip r:embed="rId3">
            <a:alphaModFix/>
          </a:blip>
          <a:srcRect b="0" l="0" r="0" t="0"/>
          <a:stretch/>
        </p:blipFill>
        <p:spPr>
          <a:xfrm>
            <a:off x="6359648" y="1280160"/>
            <a:ext cx="2940716" cy="4297679"/>
          </a:xfrm>
          <a:prstGeom prst="rect">
            <a:avLst/>
          </a:prstGeom>
          <a:noFill/>
          <a:ln>
            <a:noFill/>
          </a:ln>
        </p:spPr>
      </p:pic>
      <p:sp>
        <p:nvSpPr>
          <p:cNvPr id="461" name="Google Shape;461;p30"/>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4(A). Orientation with clear or black antennal paint.</a:t>
            </a:r>
            <a:endParaRPr/>
          </a:p>
        </p:txBody>
      </p:sp>
      <p:pic>
        <p:nvPicPr>
          <p:cNvPr descr="monarch_fws.jpg" id="462" name="Google Shape;462;p30"/>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63" name="Google Shape;463;p30"/>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64" name="Google Shape;464;p3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65" name="Google Shape;465;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66" name="Google Shape;466;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1" name="Shape 471"/>
        <p:cNvGrpSpPr/>
        <p:nvPr/>
      </p:nvGrpSpPr>
      <p:grpSpPr>
        <a:xfrm>
          <a:off x="0" y="0"/>
          <a:ext cx="0" cy="0"/>
          <a:chOff x="0" y="0"/>
          <a:chExt cx="0" cy="0"/>
        </a:xfrm>
      </p:grpSpPr>
      <p:sp>
        <p:nvSpPr>
          <p:cNvPr id="472" name="Google Shape;472;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One functioning antenna is sufficient for compensation</a:t>
            </a:r>
            <a:endParaRPr/>
          </a:p>
        </p:txBody>
      </p:sp>
      <p:sp>
        <p:nvSpPr>
          <p:cNvPr id="473" name="Google Shape;473;p3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tested migrants after removing either the left or the right antenna. The remaining appendage retained access to light, allowing its timing contribution to be evaluated without a second functional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Both single-antenna groups selected a southwest bearing, with a combined mean near 217°. After a 6-h delay of the light cycle, their combined heading shifted to about 359°, approximately 142° clockwise. Left and right removal produced comparable compass performance.</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results support functional sufficiency of either antenna under the tested conditions. A system can work with one source of timing yet become disrupted when a second source supplies a conflicting signal rather than no signal.</a:t>
            </a:r>
            <a:endParaRPr/>
          </a:p>
        </p:txBody>
      </p:sp>
      <p:pic>
        <p:nvPicPr>
          <p:cNvPr descr="g12_f1.png" id="474" name="Google Shape;474;p31"/>
          <p:cNvPicPr preferRelativeResize="0"/>
          <p:nvPr/>
        </p:nvPicPr>
        <p:blipFill rotWithShape="1">
          <a:blip r:embed="rId3">
            <a:alphaModFix/>
          </a:blip>
          <a:srcRect b="0" l="0" r="0" t="0"/>
          <a:stretch/>
        </p:blipFill>
        <p:spPr>
          <a:xfrm>
            <a:off x="6865302" y="1280160"/>
            <a:ext cx="1929409" cy="4297679"/>
          </a:xfrm>
          <a:prstGeom prst="rect">
            <a:avLst/>
          </a:prstGeom>
          <a:noFill/>
          <a:ln>
            <a:noFill/>
          </a:ln>
        </p:spPr>
      </p:pic>
      <p:sp>
        <p:nvSpPr>
          <p:cNvPr id="475" name="Google Shape;475;p31"/>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1(a–b). A single antenna supports clock-shifted orientation.</a:t>
            </a:r>
            <a:endParaRPr/>
          </a:p>
        </p:txBody>
      </p:sp>
      <p:pic>
        <p:nvPicPr>
          <p:cNvPr descr="monarch_fws.jpg" id="476" name="Google Shape;476;p31"/>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77" name="Google Shape;477;p31"/>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78" name="Google Shape;478;p3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9" name="Google Shape;47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80" name="Google Shape;48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85" name="Shape 485"/>
        <p:cNvGrpSpPr/>
        <p:nvPr/>
      </p:nvGrpSpPr>
      <p:grpSpPr>
        <a:xfrm>
          <a:off x="0" y="0"/>
          <a:ext cx="0" cy="0"/>
          <a:chOff x="0" y="0"/>
          <a:chExt cx="0" cy="0"/>
        </a:xfrm>
      </p:grpSpPr>
      <p:sp>
        <p:nvSpPr>
          <p:cNvPr id="486" name="Google Shape;48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Conflicting antennal timing disrupts the shared bearing</a:t>
            </a:r>
            <a:endParaRPr/>
          </a:p>
        </p:txBody>
      </p:sp>
      <p:sp>
        <p:nvSpPr>
          <p:cNvPr id="487" name="Google Shape;487;p3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colleagues painted one antenna black and the other clear, leaving one light-accessible timing system alongside one deprived of normal photic entrainment. They compared the condition with the orientation supported by a single accessible antenna.</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Butterflies with discordant coatings maintained directed individual flights but lacked a consistent group migratory bearing. Either side could be black-painted, so the effect was not restricted to one lateral antenna. The unblocked appendage did not simply dominate the conflicting condition.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observations support integration of information from both antennae. Antennal clock measurements associated the blocked side with disrupted population rhythms. A conflicting signal from one antenna therefore degrades the shared bearing more than a missing signal does.</a:t>
            </a:r>
            <a:endParaRPr/>
          </a:p>
        </p:txBody>
      </p:sp>
      <p:pic>
        <p:nvPicPr>
          <p:cNvPr descr="g12_f2.png" id="488" name="Google Shape;488;p32"/>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489" name="Google Shape;489;p32"/>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490" name="Google Shape;490;p32"/>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491" name="Google Shape;491;p32"/>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92" name="Google Shape;492;p3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3" name="Google Shape;49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494" name="Google Shape;49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9" name="Shape 499"/>
        <p:cNvGrpSpPr/>
        <p:nvPr/>
      </p:nvGrpSpPr>
      <p:grpSpPr>
        <a:xfrm>
          <a:off x="0" y="0"/>
          <a:ext cx="0" cy="0"/>
          <a:chOff x="0" y="0"/>
          <a:chExt cx="0" cy="0"/>
        </a:xfrm>
      </p:grpSpPr>
      <p:sp>
        <p:nvSpPr>
          <p:cNvPr id="500" name="Google Shape;50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Removing the conflicting antenna restores orientation</a:t>
            </a:r>
            <a:endParaRPr/>
          </a:p>
        </p:txBody>
      </p:sp>
      <p:sp>
        <p:nvSpPr>
          <p:cNvPr id="501" name="Google Shape;501;p3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within-animal rescue tested whether the abnormal second antenna caused the compass deficit. Guerra and colleagues first flew migrants with one black-painted and one clear-painted antenna, then removed the black-painted appendage and tested flight again.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previously disorganized animals regained a southwest group heading near 214°. Combining repeated-flight and first-flight removal controls gave a mean near 216°, reducing an explanation based on experience with the simulator alone. The clear antenna remained available throughout the intervention.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Restoring orientation by removing a conflicting source provides stronger causal evidence than comparing unrelated groups alone. It supports coordinated antennal timing input from the two antennae. Which source is removed matters: removing the black-painted antenna restores orientation, and the clear antenna alone suffices.</a:t>
            </a:r>
            <a:endParaRPr/>
          </a:p>
        </p:txBody>
      </p:sp>
      <p:pic>
        <p:nvPicPr>
          <p:cNvPr descr="g12_f2.png" id="502" name="Google Shape;502;p33"/>
          <p:cNvPicPr preferRelativeResize="0"/>
          <p:nvPr/>
        </p:nvPicPr>
        <p:blipFill rotWithShape="1">
          <a:blip r:embed="rId3">
            <a:alphaModFix/>
          </a:blip>
          <a:srcRect b="0" l="0" r="0" t="0"/>
          <a:stretch/>
        </p:blipFill>
        <p:spPr>
          <a:xfrm>
            <a:off x="7024594" y="1280160"/>
            <a:ext cx="1610824" cy="4297679"/>
          </a:xfrm>
          <a:prstGeom prst="rect">
            <a:avLst/>
          </a:prstGeom>
          <a:noFill/>
          <a:ln>
            <a:noFill/>
          </a:ln>
        </p:spPr>
      </p:pic>
      <p:sp>
        <p:nvSpPr>
          <p:cNvPr id="503" name="Google Shape;503;p33"/>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et al. (2012), Fig. 2(A–C). Conflicting antennae and rescue after black antenna removal.</a:t>
            </a:r>
            <a:endParaRPr/>
          </a:p>
        </p:txBody>
      </p:sp>
      <p:pic>
        <p:nvPicPr>
          <p:cNvPr descr="monarch_fws.jpg" id="504" name="Google Shape;504;p33"/>
          <p:cNvPicPr preferRelativeResize="0"/>
          <p:nvPr/>
        </p:nvPicPr>
        <p:blipFill rotWithShape="1">
          <a:blip r:embed="rId4">
            <a:alphaModFix/>
          </a:blip>
          <a:srcRect b="0" l="0" r="0" t="0"/>
          <a:stretch/>
        </p:blipFill>
        <p:spPr>
          <a:xfrm>
            <a:off x="9704527" y="2148840"/>
            <a:ext cx="1920239" cy="1280159"/>
          </a:xfrm>
          <a:prstGeom prst="rect">
            <a:avLst/>
          </a:prstGeom>
          <a:noFill/>
          <a:ln>
            <a:noFill/>
          </a:ln>
        </p:spPr>
      </p:pic>
      <p:sp>
        <p:nvSpPr>
          <p:cNvPr id="505" name="Google Shape;505;p33"/>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506" name="Google Shape;506;p3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7" name="Google Shape;507;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et al. (2012)</a:t>
            </a:r>
            <a:endParaRPr/>
          </a:p>
        </p:txBody>
      </p:sp>
      <p:sp>
        <p:nvSpPr>
          <p:cNvPr id="508" name="Google Shape;508;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3" name="Shape 513"/>
        <p:cNvGrpSpPr/>
        <p:nvPr/>
      </p:nvGrpSpPr>
      <p:grpSpPr>
        <a:xfrm>
          <a:off x="0" y="0"/>
          <a:ext cx="0" cy="0"/>
          <a:chOff x="0" y="0"/>
          <a:chExt cx="0" cy="0"/>
        </a:xfrm>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Central-complex neuropils define a compass substrate</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using synapsin antibody labeling and three-dimensional reconstruction. The central body has upper and lower divisions, associated with a </a:t>
            </a:r>
            <a:r>
              <a:rPr b="1" i="0" lang="en-US" sz="1500" u="none" cap="none" strike="noStrike">
                <a:solidFill>
                  <a:srgbClr val="52146E"/>
                </a:solidFill>
                <a:latin typeface="Arial"/>
                <a:ea typeface="Arial"/>
                <a:cs typeface="Arial"/>
                <a:sym typeface="Arial"/>
              </a:rPr>
              <a:t>protocerebral bridge</a:t>
            </a:r>
            <a:r>
              <a:rPr b="0" i="0" lang="en-US" sz="1500" u="none" cap="none" strike="noStrike">
                <a:solidFill>
                  <a:srgbClr val="000000"/>
                </a:solidFill>
                <a:latin typeface="Arial"/>
                <a:ea typeface="Arial"/>
                <a:cs typeface="Arial"/>
                <a:sym typeface="Arial"/>
              </a:rPr>
              <a:t>, a transverse neuropil, and paired </a:t>
            </a:r>
            <a:r>
              <a:rPr b="1" i="0" lang="en-US" sz="1500" u="none" cap="none" strike="noStrike">
                <a:solidFill>
                  <a:srgbClr val="52146E"/>
                </a:solidFill>
                <a:latin typeface="Arial"/>
                <a:ea typeface="Arial"/>
                <a:cs typeface="Arial"/>
                <a:sym typeface="Arial"/>
              </a:rPr>
              <a:t>noduli</a:t>
            </a:r>
            <a:r>
              <a:rPr b="0" i="0" lang="en-US" sz="1500" u="none" cap="none" strike="noStrike">
                <a:solidFill>
                  <a:srgbClr val="000000"/>
                </a:solidFill>
                <a:latin typeface="Arial"/>
                <a:ea typeface="Arial"/>
                <a:cs typeface="Arial"/>
                <a:sym typeface="Arial"/>
              </a:rPr>
              <a:t>, compact neighboring neuropils.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anterior optic tubercle</a:t>
            </a:r>
            <a:r>
              <a:rPr b="0" i="0" lang="en-US" sz="1500" u="none" cap="none" strike="noStrike">
                <a:solidFill>
                  <a:srgbClr val="000000"/>
                </a:solidFill>
                <a:latin typeface="Arial"/>
                <a:ea typeface="Arial"/>
                <a:cs typeface="Arial"/>
                <a:sym typeface="Arial"/>
              </a:rPr>
              <a:t> is an additional visual-processing region. The </a:t>
            </a:r>
            <a:r>
              <a:rPr b="1" i="0" lang="en-US" sz="1500" u="none" cap="none" strike="noStrike">
                <a:solidFill>
                  <a:srgbClr val="52146E"/>
                </a:solidFill>
                <a:latin typeface="Arial"/>
                <a:ea typeface="Arial"/>
                <a:cs typeface="Arial"/>
                <a:sym typeface="Arial"/>
              </a:rPr>
              <a:t>lateral accessory lobe</a:t>
            </a:r>
            <a:r>
              <a:rPr b="0" i="0" lang="en-US" sz="1500" u="none" cap="none" strike="noStrike">
                <a:solidFill>
                  <a:srgbClr val="000000"/>
                </a:solidFill>
                <a:latin typeface="Arial"/>
                <a:ea typeface="Arial"/>
                <a:cs typeface="Arial"/>
                <a:sym typeface="Arial"/>
              </a:rPr>
              <a:t> lies beside the central complex and receives identified neuronal processes associated with compass circuitry. Source scale bars distinguish whole-brain organization at 500 µm from central-complex details at 50 µm.</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This anatomy specifies locations for cell recording and dye reconstruction. Combining the map with individual-cell physiology identifies which neurons respond to skylight cues. The upper and lower central body, protocerebral bridge and noduli provide the neuropils in which compass neurons are sought.</a:t>
            </a:r>
            <a:endParaRPr/>
          </a:p>
        </p:txBody>
      </p:sp>
      <p:pic>
        <p:nvPicPr>
          <p:cNvPr descr="h11_f2.png" id="516" name="Google Shape;516;p34"/>
          <p:cNvPicPr preferRelativeResize="0"/>
          <p:nvPr/>
        </p:nvPicPr>
        <p:blipFill rotWithShape="1">
          <a:blip r:embed="rId3">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5" name="Shape 525"/>
        <p:cNvGrpSpPr/>
        <p:nvPr/>
      </p:nvGrpSpPr>
      <p:grpSpPr>
        <a:xfrm>
          <a:off x="0" y="0"/>
          <a:ext cx="0" cy="0"/>
          <a:chOff x="0" y="0"/>
          <a:chExt cx="0" cy="0"/>
        </a:xfrm>
      </p:grpSpPr>
      <p:sp>
        <p:nvSpPr>
          <p:cNvPr id="526" name="Google Shape;526;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Dye-filled neurons connect visual input to compass regions</a:t>
            </a:r>
            <a:endParaRPr/>
          </a:p>
        </p:txBody>
      </p:sp>
      <p:sp>
        <p:nvSpPr>
          <p:cNvPr id="527" name="Google Shape;527;p3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combined intracellular recordings with dye injection to recover the anatomy of individual compass-related neurons. </a:t>
            </a:r>
            <a:r>
              <a:rPr b="1" i="0" lang="en-US" sz="1500" u="none" cap="none" strike="noStrike">
                <a:solidFill>
                  <a:srgbClr val="52146E"/>
                </a:solidFill>
                <a:latin typeface="Arial"/>
                <a:ea typeface="Arial"/>
                <a:cs typeface="Arial"/>
                <a:sym typeface="Arial"/>
              </a:rPr>
              <a:t>Intracellular recording</a:t>
            </a:r>
            <a:r>
              <a:rPr b="0" i="0" lang="en-US" sz="1500" u="none" cap="none" strike="noStrike">
                <a:solidFill>
                  <a:srgbClr val="000000"/>
                </a:solidFill>
                <a:latin typeface="Arial"/>
                <a:ea typeface="Arial"/>
                <a:cs typeface="Arial"/>
                <a:sym typeface="Arial"/>
              </a:rPr>
              <a:t> measures electrical activity from within a cell; subsequent dye filling associates that response with its neuronal processes.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Tangential neurons TL2 and TL3 connected the </a:t>
            </a:r>
            <a:r>
              <a:rPr b="1" i="0" lang="en-US" sz="1500" u="none" cap="none" strike="noStrike">
                <a:solidFill>
                  <a:srgbClr val="52146E"/>
                </a:solidFill>
                <a:latin typeface="Arial"/>
                <a:ea typeface="Arial"/>
                <a:cs typeface="Arial"/>
                <a:sym typeface="Arial"/>
              </a:rPr>
              <a:t>lateral triangle</a:t>
            </a:r>
            <a:r>
              <a:rPr b="0" i="0" lang="en-US" sz="1500" u="none" cap="none" strike="noStrike">
                <a:solidFill>
                  <a:srgbClr val="000000"/>
                </a:solidFill>
                <a:latin typeface="Arial"/>
                <a:ea typeface="Arial"/>
                <a:cs typeface="Arial"/>
                <a:sym typeface="Arial"/>
              </a:rPr>
              <a:t>, an input region near the lateral accessory lobe, with distinct layers of the lower central body. Their processes spread across this compass-associated neuropil. The recovered pathways provide candidate stages through which visual information reaches central-complex activity.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recovered projections and light responses support a circuit-level organization. Layer-specific arborizations in the lower central body place visual input at distinct depths of the neuropil. Pairing a recorded response with a filled morphology assigns a physiological signal to an identified cell type.</a:t>
            </a:r>
            <a:endParaRPr/>
          </a:p>
        </p:txBody>
      </p:sp>
      <p:pic>
        <p:nvPicPr>
          <p:cNvPr descr="h11_tl.png" id="528" name="Google Shape;528;p35"/>
          <p:cNvPicPr preferRelativeResize="0"/>
          <p:nvPr/>
        </p:nvPicPr>
        <p:blipFill rotWithShape="1">
          <a:blip r:embed="rId3">
            <a:alphaModFix/>
          </a:blip>
          <a:srcRect b="0" l="0" r="0" t="0"/>
          <a:stretch/>
        </p:blipFill>
        <p:spPr>
          <a:xfrm>
            <a:off x="6587195" y="1280160"/>
            <a:ext cx="4588742" cy="2560320"/>
          </a:xfrm>
          <a:prstGeom prst="rect">
            <a:avLst/>
          </a:prstGeom>
          <a:noFill/>
          <a:ln>
            <a:noFill/>
          </a:ln>
        </p:spPr>
      </p:pic>
      <p:sp>
        <p:nvSpPr>
          <p:cNvPr id="529" name="Google Shape;529;p35"/>
          <p:cNvSpPr txBox="1"/>
          <p:nvPr/>
        </p:nvSpPr>
        <p:spPr>
          <a:xfrm>
            <a:off x="6138367" y="393192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pic>
        <p:nvPicPr>
          <p:cNvPr descr="h11_tl3.png" id="530" name="Google Shape;530;p35"/>
          <p:cNvPicPr preferRelativeResize="0"/>
          <p:nvPr/>
        </p:nvPicPr>
        <p:blipFill rotWithShape="1">
          <a:blip r:embed="rId4">
            <a:alphaModFix/>
          </a:blip>
          <a:srcRect b="0" l="0" r="0" t="0"/>
          <a:stretch/>
        </p:blipFill>
        <p:spPr>
          <a:xfrm>
            <a:off x="7751608" y="4389120"/>
            <a:ext cx="2259918" cy="1371599"/>
          </a:xfrm>
          <a:prstGeom prst="rect">
            <a:avLst/>
          </a:prstGeom>
          <a:noFill/>
          <a:ln>
            <a:noFill/>
          </a:ln>
        </p:spPr>
      </p:pic>
      <p:sp>
        <p:nvSpPr>
          <p:cNvPr id="531" name="Google Shape;531;p35"/>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3(B). Dye-filled tangential input neuron TL3.</a:t>
            </a:r>
            <a:endParaRPr/>
          </a:p>
        </p:txBody>
      </p:sp>
      <p:sp>
        <p:nvSpPr>
          <p:cNvPr id="532" name="Google Shape;532;p3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34" name="Google Shape;534;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Compass neurons respond to the polarization axis</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electric-field orientation, called 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rotated through 360° at controlled speeds of 30° or 60° per second.</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Action potentials</a:t>
            </a:r>
            <a:r>
              <a:rPr b="0" i="0" lang="en-US" sz="1600" u="none" cap="none" strike="noStrike">
                <a:solidFill>
                  <a:srgbClr val="000000"/>
                </a:solidFill>
                <a:latin typeface="Arial"/>
                <a:ea typeface="Arial"/>
                <a:cs typeface="Arial"/>
                <a:sym typeface="Arial"/>
              </a:rPr>
              <a:t>, brief electrical spikes, occurred at different rates for different E-vector angles. Preferred and suppressed axes were approximately 90° apart, and the response repeated after 180°, matching the axial symmetry of linear polarization. Intracellular traces preserved voltage and time calibration.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measurements establish neuronal sensitivity to polarization under controlled stimulation. Firing rate varies with E-vector angle in a pattern that repeats every 180°, as linear polarization does. The neurons therefore encode the polarization axis of skylight.</a:t>
            </a:r>
            <a:endParaRPr/>
          </a:p>
        </p:txBody>
      </p:sp>
      <p:pic>
        <p:nvPicPr>
          <p:cNvPr descr="h11_f4b.png" id="542" name="Google Shape;542;p36"/>
          <p:cNvPicPr preferRelativeResize="0"/>
          <p:nvPr/>
        </p:nvPicPr>
        <p:blipFill rotWithShape="1">
          <a:blip r:embed="rId3">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3" name="Shape 553"/>
        <p:cNvGrpSpPr/>
        <p:nvPr/>
      </p:nvGrpSpPr>
      <p:grpSpPr>
        <a:xfrm>
          <a:off x="0" y="0"/>
          <a:ext cx="0" cy="0"/>
          <a:chOff x="0" y="0"/>
          <a:chExt cx="0" cy="0"/>
        </a:xfrm>
      </p:grpSpPr>
      <p:sp>
        <p:nvSpPr>
          <p:cNvPr id="554" name="Google Shape;554;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same compass circuit represents solar azimuth</a:t>
            </a:r>
            <a:endParaRPr/>
          </a:p>
        </p:txBody>
      </p:sp>
      <p:sp>
        <p:nvSpPr>
          <p:cNvPr id="555" name="Google Shape;555;p3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Azimuth</a:t>
            </a:r>
            <a:r>
              <a:rPr b="0" i="0" lang="en-US" sz="1600" u="none" cap="none" strike="noStrike">
                <a:solidFill>
                  <a:srgbClr val="000000"/>
                </a:solidFill>
                <a:latin typeface="Arial"/>
                <a:ea typeface="Arial"/>
                <a:cs typeface="Arial"/>
                <a:sym typeface="Arial"/>
              </a:rPr>
              <a:t> is the angular position of a stimulus around the horizon. Heinze and Reppert moved an unpolarized light spot around the animal at 30° elevation while recording compass-related cells responsive to skylight polarization.</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cells also changed spike rate with spot azimuth. Tests used UV at 365 nm, blue at 470 nm and green at 530 nm; many cells responded to multiple wavelengths with comparable preferred directions rather than opposite spectral preferences.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These responses support convergence of polarization and sun-like positional signals within the compass network. An isolated spot is a controlled proxy for solar direction, rather than the full natural sky. Comparable preferred directions across the tested wavelengths indicate that the cells encode cue position independent of color.</a:t>
            </a:r>
            <a:endParaRPr/>
          </a:p>
        </p:txBody>
      </p:sp>
      <p:pic>
        <p:nvPicPr>
          <p:cNvPr descr="h11_f5.png" id="556" name="Google Shape;556;p37"/>
          <p:cNvPicPr preferRelativeResize="0"/>
          <p:nvPr/>
        </p:nvPicPr>
        <p:blipFill rotWithShape="1">
          <a:blip r:embed="rId3">
            <a:alphaModFix/>
          </a:blip>
          <a:srcRect b="0" l="0" r="0" t="0"/>
          <a:stretch/>
        </p:blipFill>
        <p:spPr>
          <a:xfrm>
            <a:off x="6138367" y="1280160"/>
            <a:ext cx="3383280" cy="3474915"/>
          </a:xfrm>
          <a:prstGeom prst="rect">
            <a:avLst/>
          </a:prstGeom>
          <a:noFill/>
          <a:ln>
            <a:noFill/>
          </a:ln>
        </p:spPr>
      </p:pic>
      <p:sp>
        <p:nvSpPr>
          <p:cNvPr id="557" name="Google Shape;557;p37"/>
          <p:cNvSpPr txBox="1"/>
          <p:nvPr/>
        </p:nvSpPr>
        <p:spPr>
          <a:xfrm>
            <a:off x="6138367" y="4846515"/>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5(A–F). Azimuth tuning to UV, blue and green light spots.</a:t>
            </a:r>
            <a:endParaRPr/>
          </a:p>
        </p:txBody>
      </p:sp>
      <p:pic>
        <p:nvPicPr>
          <p:cNvPr descr="h11_tl.png" id="558" name="Google Shape;558;p37"/>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59" name="Google Shape;559;p37"/>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60" name="Google Shape;560;p3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61" name="Google Shape;561;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62" name="Google Shape;562;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7" name="Shape 567"/>
        <p:cNvGrpSpPr/>
        <p:nvPr/>
      </p:nvGrpSpPr>
      <p:grpSpPr>
        <a:xfrm>
          <a:off x="0" y="0"/>
          <a:ext cx="0" cy="0"/>
          <a:chOff x="0" y="0"/>
          <a:chExt cx="0" cy="0"/>
        </a:xfrm>
      </p:grpSpPr>
      <p:sp>
        <p:nvSpPr>
          <p:cNvPr id="568" name="Google Shape;568;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Dorsal masking separates two converging visual inputs</a:t>
            </a:r>
            <a:endParaRPr/>
          </a:p>
        </p:txBody>
      </p:sp>
      <p:sp>
        <p:nvSpPr>
          <p:cNvPr id="569" name="Google Shape;569;p3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neuron responsive to both polarization and a light spot could receive those signals through the same receptors or through separate inputs. Heinze and Reppert covered the dorsal visual field and repeated both stimulus tests during intracellular recording.</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shield abolished or strongly reduced the response to zenithal polarized UV, while a green spot moving around the horizon retained its azimuth-dependent response. Sauman and colleagues’ dorsal-rim staining identifies the UV-specialized retinal territory associated with the overhead pathway.</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within-cell comparison supports distinct sensory routes converging on compass neurons. Polarization depends on the dorsal visual field, and the horizon spot does not. The surviving spot response is consistent with a sun-related pathway that can function when the dorsal polarization signal is unavailable.</a:t>
            </a:r>
            <a:endParaRPr/>
          </a:p>
        </p:txBody>
      </p:sp>
      <p:pic>
        <p:nvPicPr>
          <p:cNvPr descr="h11_f6.png" id="570" name="Google Shape;570;p38"/>
          <p:cNvPicPr preferRelativeResize="0"/>
          <p:nvPr/>
        </p:nvPicPr>
        <p:blipFill rotWithShape="1">
          <a:blip r:embed="rId3">
            <a:alphaModFix/>
          </a:blip>
          <a:srcRect b="0" l="0" r="0" t="0"/>
          <a:stretch/>
        </p:blipFill>
        <p:spPr>
          <a:xfrm>
            <a:off x="6192023" y="1280160"/>
            <a:ext cx="3275967" cy="4297679"/>
          </a:xfrm>
          <a:prstGeom prst="rect">
            <a:avLst/>
          </a:prstGeom>
          <a:noFill/>
          <a:ln>
            <a:noFill/>
          </a:ln>
        </p:spPr>
      </p:pic>
      <p:sp>
        <p:nvSpPr>
          <p:cNvPr id="571" name="Google Shape;571;p38"/>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6(A–F). Dorsal masking separates polarization and azimuth responses.</a:t>
            </a:r>
            <a:endParaRPr/>
          </a:p>
        </p:txBody>
      </p:sp>
      <p:pic>
        <p:nvPicPr>
          <p:cNvPr descr="s05_dra.png" id="572" name="Google Shape;572;p38"/>
          <p:cNvPicPr preferRelativeResize="0"/>
          <p:nvPr/>
        </p:nvPicPr>
        <p:blipFill rotWithShape="1">
          <a:blip r:embed="rId4">
            <a:alphaModFix/>
          </a:blip>
          <a:srcRect b="0" l="0" r="0" t="0"/>
          <a:stretch/>
        </p:blipFill>
        <p:spPr>
          <a:xfrm>
            <a:off x="9704527" y="2148840"/>
            <a:ext cx="1920239" cy="1883108"/>
          </a:xfrm>
          <a:prstGeom prst="rect">
            <a:avLst/>
          </a:prstGeom>
          <a:noFill/>
          <a:ln>
            <a:noFill/>
          </a:ln>
        </p:spPr>
      </p:pic>
      <p:sp>
        <p:nvSpPr>
          <p:cNvPr id="573" name="Google Shape;573;p38"/>
          <p:cNvSpPr txBox="1"/>
          <p:nvPr/>
        </p:nvSpPr>
        <p:spPr>
          <a:xfrm>
            <a:off x="9704527" y="410510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3(D). UV opsin staining in the dorsal rim area.</a:t>
            </a:r>
            <a:endParaRPr/>
          </a:p>
        </p:txBody>
      </p:sp>
      <p:sp>
        <p:nvSpPr>
          <p:cNvPr id="574" name="Google Shape;574;p3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5" name="Google Shape;57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 Sauman et al. (2005)</a:t>
            </a:r>
            <a:endParaRPr/>
          </a:p>
        </p:txBody>
      </p:sp>
      <p:sp>
        <p:nvSpPr>
          <p:cNvPr id="576" name="Google Shape;57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81" name="Shape 581"/>
        <p:cNvGrpSpPr/>
        <p:nvPr/>
      </p:nvGrpSpPr>
      <p:grpSpPr>
        <a:xfrm>
          <a:off x="0" y="0"/>
          <a:ext cx="0" cy="0"/>
          <a:chOff x="0" y="0"/>
          <a:chExt cx="0" cy="0"/>
        </a:xfrm>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butterflies have narrower green-light tuning</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autumn migrants with non-migratory monarchs. They rotated a green 530-nm light spot at 30° elevation and measured the angular range producing elevated spike rates.</a:t>
            </a:r>
            <a:endParaRPr/>
          </a:p>
          <a:p>
            <a:pPr indent="0" lvl="0" marL="0" marR="0" rtl="0" algn="l">
              <a:lnSpc>
                <a:spcPct val="108000"/>
              </a:lnSpc>
              <a:spcBef>
                <a:spcPts val="96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Mean green-light width was approximately 83° in migrants and 118° in non-migrants. Peak rates were broadly similar, so the distinction concerned angular selectivity more than a simple increase in firing.</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associates migratory condition with narrower solar-proxy tuning. A narrower tuning curve responds over a smaller range of azimuths, so migrant neurons are more selective for solar direction. Width at half maximum therefore serves as a measure of directional selectivity.</a:t>
            </a:r>
            <a:endParaRPr/>
          </a:p>
        </p:txBody>
      </p:sp>
      <p:pic>
        <p:nvPicPr>
          <p:cNvPr descr="n21_f3.png" id="584" name="Google Shape;584;p39"/>
          <p:cNvPicPr preferRelativeResize="0"/>
          <p:nvPr/>
        </p:nvPicPr>
        <p:blipFill rotWithShape="1">
          <a:blip r:embed="rId3">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4">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5" name="Shape 595"/>
        <p:cNvGrpSpPr/>
        <p:nvPr/>
      </p:nvGrpSpPr>
      <p:grpSpPr>
        <a:xfrm>
          <a:off x="0" y="0"/>
          <a:ext cx="0" cy="0"/>
          <a:chOff x="0" y="0"/>
          <a:chExt cx="0" cy="0"/>
        </a:xfrm>
      </p:grpSpPr>
      <p:sp>
        <p:nvSpPr>
          <p:cNvPr id="596" name="Google Shape;596;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Migratory tuning concentrates sensitivity near the front</a:t>
            </a:r>
            <a:endParaRPr/>
          </a:p>
        </p:txBody>
      </p:sp>
      <p:sp>
        <p:nvSpPr>
          <p:cNvPr id="597" name="Google Shape;597;p4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Nguyen and colleagues analyzed how strongly a change in green-light azimuth altered tangential-neuron activity. This </a:t>
            </a:r>
            <a:r>
              <a:rPr b="1" i="0" lang="en-US" sz="1500" u="none" cap="none" strike="noStrike">
                <a:solidFill>
                  <a:srgbClr val="52146E"/>
                </a:solidFill>
                <a:latin typeface="Arial"/>
                <a:ea typeface="Arial"/>
                <a:cs typeface="Arial"/>
                <a:sym typeface="Arial"/>
              </a:rPr>
              <a:t>angular sensitivity</a:t>
            </a:r>
            <a:r>
              <a:rPr b="0" i="0" lang="en-US" sz="1500" u="none" cap="none" strike="noStrike">
                <a:solidFill>
                  <a:srgbClr val="000000"/>
                </a:solidFill>
                <a:latin typeface="Arial"/>
                <a:ea typeface="Arial"/>
                <a:cs typeface="Arial"/>
                <a:sym typeface="Arial"/>
              </a:rPr>
              <a:t> depends on the slope of the tuning response, rather than its maximum firing rate alone.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Migrant recordings concentrated greater sensitivity within approximately 60° of the preferred direction. Non-migrant responses distributed more sensitivity along flanks roughly 60°–180° away. The published analysis used 5° angular bins and compared the pattern with solar geometry expected during migration.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pattern supports a physiological difference in how nearby directions are discriminated. Greater slope within about 60° of the preferred direction means that small azimuth changes produce larger changes in firing near that direction.</a:t>
            </a:r>
            <a:endParaRPr/>
          </a:p>
        </p:txBody>
      </p:sp>
      <p:pic>
        <p:nvPicPr>
          <p:cNvPr descr="n21_f4.png" id="598" name="Google Shape;598;p40"/>
          <p:cNvPicPr preferRelativeResize="0"/>
          <p:nvPr/>
        </p:nvPicPr>
        <p:blipFill rotWithShape="1">
          <a:blip r:embed="rId3">
            <a:alphaModFix/>
          </a:blip>
          <a:srcRect b="0" l="0" r="0" t="0"/>
          <a:stretch/>
        </p:blipFill>
        <p:spPr>
          <a:xfrm>
            <a:off x="6138367" y="1280160"/>
            <a:ext cx="5486400" cy="1581968"/>
          </a:xfrm>
          <a:prstGeom prst="rect">
            <a:avLst/>
          </a:prstGeom>
          <a:noFill/>
          <a:ln>
            <a:noFill/>
          </a:ln>
        </p:spPr>
      </p:pic>
      <p:sp>
        <p:nvSpPr>
          <p:cNvPr id="599" name="Google Shape;599;p40"/>
          <p:cNvSpPr txBox="1"/>
          <p:nvPr/>
        </p:nvSpPr>
        <p:spPr>
          <a:xfrm>
            <a:off x="6138367" y="295356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4(a–c). Angular sensitivity and its inferred solar geometry.</a:t>
            </a:r>
            <a:endParaRPr/>
          </a:p>
        </p:txBody>
      </p:sp>
      <p:pic>
        <p:nvPicPr>
          <p:cNvPr descr="h11_tl.png" id="600" name="Google Shape;600;p40"/>
          <p:cNvPicPr preferRelativeResize="0"/>
          <p:nvPr/>
        </p:nvPicPr>
        <p:blipFill rotWithShape="1">
          <a:blip r:embed="rId4">
            <a:alphaModFix/>
          </a:blip>
          <a:srcRect b="0" l="0" r="0" t="0"/>
          <a:stretch/>
        </p:blipFill>
        <p:spPr>
          <a:xfrm>
            <a:off x="7488556" y="4206240"/>
            <a:ext cx="2786022" cy="1554479"/>
          </a:xfrm>
          <a:prstGeom prst="rect">
            <a:avLst/>
          </a:prstGeom>
          <a:noFill/>
          <a:ln>
            <a:noFill/>
          </a:ln>
        </p:spPr>
      </p:pic>
      <p:sp>
        <p:nvSpPr>
          <p:cNvPr id="601" name="Google Shape;601;p40"/>
          <p:cNvSpPr txBox="1"/>
          <p:nvPr/>
        </p:nvSpPr>
        <p:spPr>
          <a:xfrm>
            <a:off x="6138367" y="583387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602" name="Google Shape;602;p4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03" name="Google Shape;603;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604" name="Google Shape;604;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9" name="Shape 609"/>
        <p:cNvGrpSpPr/>
        <p:nvPr/>
      </p:nvGrpSpPr>
      <p:grpSpPr>
        <a:xfrm>
          <a:off x="0" y="0"/>
          <a:ext cx="0" cy="0"/>
          <a:chOff x="0" y="0"/>
          <a:chExt cx="0" cy="0"/>
        </a:xfrm>
      </p:grpSpPr>
      <p:sp>
        <p:nvSpPr>
          <p:cNvPr id="610" name="Google Shape;610;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Spring remigrants reverse direction but retain compensation</a:t>
            </a:r>
            <a:endParaRPr/>
          </a:p>
        </p:txBody>
      </p:sp>
      <p:sp>
        <p:nvSpPr>
          <p:cNvPr id="611" name="Google Shape;611;p4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Guerra and Reppert measured freely released fall migrants and spring remigrants, butterflies leaving the overwintering phase. Fall animals disappeared toward a mean bearing of 209°, whereas spring animals selected approximately 45°, toward the northeast.</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Spring migrants entrained to a 6-h-delayed light cycle instead departed near 142°, a clockwise shift of about 97°. The opposite seasonal direction therefore retained the response expected from a time-compensated sun compass.</a:t>
            </a:r>
            <a:endParaRPr/>
          </a:p>
          <a:p>
            <a:pPr indent="0" lvl="0" marL="0" marR="0" rtl="0" algn="l">
              <a:lnSpc>
                <a:spcPct val="108000"/>
              </a:lnSpc>
              <a:spcBef>
                <a:spcPts val="960"/>
              </a:spcBef>
              <a:spcAft>
                <a:spcPts val="0"/>
              </a:spcAft>
              <a:buNone/>
            </a:pPr>
            <a:r>
              <a:rPr b="0" i="0" lang="en-US" sz="1600" u="none" cap="none" strike="noStrike">
                <a:solidFill>
                  <a:srgbClr val="000000"/>
                </a:solidFill>
                <a:latin typeface="Arial"/>
                <a:ea typeface="Arial"/>
                <a:cs typeface="Arial"/>
                <a:sym typeface="Arial"/>
              </a:rPr>
              <a:t>The comparison supports a change in the selected migratory direction while preserving the timing-based orientation mechanism. A disappearance bearing is the final observed direction after release, rather than a complete travel route. The 6-h delay rotates spring heading clockwise, as it does in fall migrants.</a:t>
            </a:r>
            <a:endParaRPr/>
          </a:p>
        </p:txBody>
      </p:sp>
      <p:pic>
        <p:nvPicPr>
          <p:cNvPr descr="g13_f1bc.png" id="612" name="Google Shape;612;p41"/>
          <p:cNvPicPr preferRelativeResize="0"/>
          <p:nvPr/>
        </p:nvPicPr>
        <p:blipFill rotWithShape="1">
          <a:blip r:embed="rId3">
            <a:alphaModFix/>
          </a:blip>
          <a:srcRect b="0" l="0" r="0" t="0"/>
          <a:stretch/>
        </p:blipFill>
        <p:spPr>
          <a:xfrm>
            <a:off x="6209638" y="1280160"/>
            <a:ext cx="5343858" cy="4297679"/>
          </a:xfrm>
          <a:prstGeom prst="rect">
            <a:avLst/>
          </a:prstGeom>
          <a:noFill/>
          <a:ln>
            <a:noFill/>
          </a:ln>
        </p:spPr>
      </p:pic>
      <p:sp>
        <p:nvSpPr>
          <p:cNvPr id="613" name="Google Shape;613;p4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1(A–C). Migration map and seasonal bearings, including a clock shift.</a:t>
            </a:r>
            <a:endParaRPr/>
          </a:p>
        </p:txBody>
      </p:sp>
      <p:sp>
        <p:nvSpPr>
          <p:cNvPr id="614" name="Google Shape;614;p4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5" name="Google Shape;61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16" name="Google Shape;61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1" name="Shape 621"/>
        <p:cNvGrpSpPr/>
        <p:nvPr/>
      </p:nvGrpSpPr>
      <p:grpSpPr>
        <a:xfrm>
          <a:off x="0" y="0"/>
          <a:ext cx="0" cy="0"/>
          <a:chOff x="0" y="0"/>
          <a:chExt cx="0" cy="0"/>
        </a:xfrm>
      </p:grpSpPr>
      <p:sp>
        <p:nvSpPr>
          <p:cNvPr id="622" name="Google Shape;62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Cold exposure triggers northward orientation</a:t>
            </a:r>
            <a:endParaRPr/>
          </a:p>
        </p:txBody>
      </p:sp>
      <p:sp>
        <p:nvSpPr>
          <p:cNvPr id="623" name="Google Shape;623;p4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Guerra and Reppert exposed fall migrants to 24 days resembling the overwintering thermal environment: 11°C during the light phase and 4°C during darkness. One treatment gradually increased day length; another maintained a constant 12-h light:12-h dark cycle.</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Both cold-treated groups subsequently oriented near 358°, approximately north, after warming sufficiently for flight. Warm-housed comparison animals retained a southwest direction near 227°. Northward orientation therefore did not require the treatment’s changing photoperiod, the daily duration of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intervention supports cold exposure as a trigger for seasonal compass reversal under these conditions. The 24-day treatment establishes an effective exposure. Cold therefore acts as the signal that sets the northward spring direction.</a:t>
            </a:r>
            <a:endParaRPr/>
          </a:p>
        </p:txBody>
      </p:sp>
      <p:pic>
        <p:nvPicPr>
          <p:cNvPr descr="g13_f3bc.png" id="624" name="Google Shape;624;p42"/>
          <p:cNvPicPr preferRelativeResize="0"/>
          <p:nvPr/>
        </p:nvPicPr>
        <p:blipFill rotWithShape="1">
          <a:blip r:embed="rId3">
            <a:alphaModFix/>
          </a:blip>
          <a:srcRect b="0" l="0" r="0" t="0"/>
          <a:stretch/>
        </p:blipFill>
        <p:spPr>
          <a:xfrm>
            <a:off x="6138367" y="1280160"/>
            <a:ext cx="5486400" cy="4068112"/>
          </a:xfrm>
          <a:prstGeom prst="rect">
            <a:avLst/>
          </a:prstGeom>
          <a:noFill/>
          <a:ln>
            <a:noFill/>
          </a:ln>
        </p:spPr>
      </p:pic>
      <p:sp>
        <p:nvSpPr>
          <p:cNvPr id="625" name="Google Shape;625;p42"/>
          <p:cNvSpPr txBox="1"/>
          <p:nvPr/>
        </p:nvSpPr>
        <p:spPr>
          <a:xfrm>
            <a:off x="6138367" y="5439712"/>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3(B–C). Northward headings after two cold-treatment schedules.</a:t>
            </a:r>
            <a:endParaRPr/>
          </a:p>
        </p:txBody>
      </p:sp>
      <p:sp>
        <p:nvSpPr>
          <p:cNvPr id="626" name="Google Shape;626;p4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7" name="Google Shape;627;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28" name="Google Shape;628;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3" name="Shape 633"/>
        <p:cNvGrpSpPr/>
        <p:nvPr/>
      </p:nvGrpSpPr>
      <p:grpSpPr>
        <a:xfrm>
          <a:off x="0" y="0"/>
          <a:ext cx="0" cy="0"/>
          <a:chOff x="0" y="0"/>
          <a:chExt cx="0" cy="0"/>
        </a:xfrm>
      </p:grpSpPr>
      <p:sp>
        <p:nvSpPr>
          <p:cNvPr id="634" name="Google Shape;634;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Age and calendar date do not replace the cold trigger</a:t>
            </a:r>
            <a:endParaRPr/>
          </a:p>
        </p:txBody>
      </p:sp>
      <p:sp>
        <p:nvSpPr>
          <p:cNvPr id="635" name="Google Shape;635;p43"/>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Fall migrants kept warm for more than four months still selected a mean southward bearing near 166° when tested in March. Their housing alternated approximately 21°C by day and 12°C by night rather than imposing the colder overwintering treatment.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animals had reached the calendar period associated with spring migration. Some females also contained mature eggs, so reproductive maturation and prolonged survival could occur without the experimental northward reversal. The recorded direction remained characteristic of aged fall migrants.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comparison supports an environmental thermal contribution rather than a switch produced by elapsed time alone. Age, calendar date and reproductive maturation proceeded in the warm-housed animals while the southward bearing stayed unchanged. Effective cold exposure is therefore the condition that changes direction.</a:t>
            </a:r>
            <a:endParaRPr/>
          </a:p>
        </p:txBody>
      </p:sp>
      <p:pic>
        <p:nvPicPr>
          <p:cNvPr descr="g13_f4.png" id="636" name="Google Shape;636;p43"/>
          <p:cNvPicPr preferRelativeResize="0"/>
          <p:nvPr/>
        </p:nvPicPr>
        <p:blipFill rotWithShape="1">
          <a:blip r:embed="rId3">
            <a:alphaModFix/>
          </a:blip>
          <a:srcRect b="0" l="0" r="0" t="0"/>
          <a:stretch/>
        </p:blipFill>
        <p:spPr>
          <a:xfrm>
            <a:off x="6666778" y="1280160"/>
            <a:ext cx="4429578" cy="4297679"/>
          </a:xfrm>
          <a:prstGeom prst="rect">
            <a:avLst/>
          </a:prstGeom>
          <a:noFill/>
          <a:ln>
            <a:noFill/>
          </a:ln>
        </p:spPr>
      </p:pic>
      <p:sp>
        <p:nvSpPr>
          <p:cNvPr id="637" name="Google Shape;637;p43"/>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Guerra &amp; Reppert (2013), Fig. 4(A–B). Warm-housed fall migrants retain southward orientation.</a:t>
            </a:r>
            <a:endParaRPr/>
          </a:p>
        </p:txBody>
      </p:sp>
      <p:sp>
        <p:nvSpPr>
          <p:cNvPr id="638" name="Google Shape;638;p43"/>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9" name="Google Shape;639;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Guerra &amp; Reppert (2013)</a:t>
            </a:r>
            <a:endParaRPr/>
          </a:p>
        </p:txBody>
      </p:sp>
      <p:sp>
        <p:nvSpPr>
          <p:cNvPr id="640" name="Google Shape;640;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5" name="Shape 645"/>
        <p:cNvGrpSpPr/>
        <p:nvPr/>
      </p:nvGrpSpPr>
      <p:grpSpPr>
        <a:xfrm>
          <a:off x="0" y="0"/>
          <a:ext cx="0" cy="0"/>
          <a:chOff x="0" y="0"/>
          <a:chExt cx="0" cy="0"/>
        </a:xfrm>
      </p:grpSpPr>
      <p:sp>
        <p:nvSpPr>
          <p:cNvPr id="646" name="Google Shape;646;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Loss of CRY1 weakens behavioral and molecular rhythms</a:t>
            </a:r>
            <a:endParaRPr/>
          </a:p>
        </p:txBody>
      </p:sp>
      <p:sp>
        <p:nvSpPr>
          <p:cNvPr id="647" name="Google Shape;647;p4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Iiams and colleagues tested monarchs lacking functional CRY1, comparing them with wild-type butterflies. After 12-h light:12-h dark entrainment at 25°C, mutant emergence rhythms weakened in constant darkness. Brain clock-gene rhythms were also disrupted in adults re-entrained to cycling light.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Adult flight-mill tests measured revolutions as distance traveled per hour during a 15-h light:9-h dark cycle at 21°C. Wild-type activity concentrated around midday; mutants distributed activity more broadly after a morning increase. Daily temperature cycles could restore some rhythmic outputs.</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results connect CRY1 function to robust timing and daytime flight organization. Mutants differ from wild-type butterflies in emergence rhythms in darkness, brain clock-gene rhythms and the daily distribution of flight-mill activity. CRY1 therefore contributes light input to the clock in the whole animal as well as in cultured cells.</a:t>
            </a:r>
            <a:endParaRPr/>
          </a:p>
        </p:txBody>
      </p:sp>
      <p:pic>
        <p:nvPicPr>
          <p:cNvPr descr="i24_f1.png" id="648" name="Google Shape;648;p44"/>
          <p:cNvPicPr preferRelativeResize="0"/>
          <p:nvPr/>
        </p:nvPicPr>
        <p:blipFill rotWithShape="1">
          <a:blip r:embed="rId3">
            <a:alphaModFix/>
          </a:blip>
          <a:srcRect b="0" l="0" r="0" t="0"/>
          <a:stretch/>
        </p:blipFill>
        <p:spPr>
          <a:xfrm>
            <a:off x="6138367" y="1280160"/>
            <a:ext cx="3383280" cy="3099349"/>
          </a:xfrm>
          <a:prstGeom prst="rect">
            <a:avLst/>
          </a:prstGeom>
          <a:noFill/>
          <a:ln>
            <a:noFill/>
          </a:ln>
        </p:spPr>
      </p:pic>
      <p:sp>
        <p:nvSpPr>
          <p:cNvPr id="649" name="Google Shape;649;p44"/>
          <p:cNvSpPr txBox="1"/>
          <p:nvPr/>
        </p:nvSpPr>
        <p:spPr>
          <a:xfrm>
            <a:off x="6138367" y="447094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1(A–C). Cry1 loss alters emergence rhythms and brain clock RNA.</a:t>
            </a:r>
            <a:endParaRPr/>
          </a:p>
        </p:txBody>
      </p:sp>
      <p:pic>
        <p:nvPicPr>
          <p:cNvPr descr="i24_f3.png" id="650" name="Google Shape;650;p44"/>
          <p:cNvPicPr preferRelativeResize="0"/>
          <p:nvPr/>
        </p:nvPicPr>
        <p:blipFill rotWithShape="1">
          <a:blip r:embed="rId4">
            <a:alphaModFix/>
          </a:blip>
          <a:srcRect b="0" l="0" r="0" t="0"/>
          <a:stretch/>
        </p:blipFill>
        <p:spPr>
          <a:xfrm>
            <a:off x="9704527" y="2148840"/>
            <a:ext cx="1920239" cy="884198"/>
          </a:xfrm>
          <a:prstGeom prst="rect">
            <a:avLst/>
          </a:prstGeom>
          <a:noFill/>
          <a:ln>
            <a:noFill/>
          </a:ln>
        </p:spPr>
      </p:pic>
      <p:sp>
        <p:nvSpPr>
          <p:cNvPr id="651" name="Google Shape;651;p44"/>
          <p:cNvSpPr txBox="1"/>
          <p:nvPr/>
        </p:nvSpPr>
        <p:spPr>
          <a:xfrm>
            <a:off x="9704527" y="3106190"/>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Iiams et al. (2024), Fig. 3(A–B). Hourly flight activity in wild-type and Cry1 mutants.</a:t>
            </a:r>
            <a:endParaRPr/>
          </a:p>
        </p:txBody>
      </p:sp>
      <p:sp>
        <p:nvSpPr>
          <p:cNvPr id="652" name="Google Shape;652;p4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3" name="Google Shape;653;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Iiams et al. (2024)</a:t>
            </a:r>
            <a:endParaRPr/>
          </a:p>
        </p:txBody>
      </p:sp>
      <p:sp>
        <p:nvSpPr>
          <p:cNvPr id="654" name="Google Shape;654;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59" name="Shape 659"/>
        <p:cNvGrpSpPr/>
        <p:nvPr/>
      </p:nvGrpSpPr>
      <p:grpSpPr>
        <a:xfrm>
          <a:off x="0" y="0"/>
          <a:ext cx="0" cy="0"/>
          <a:chOff x="0" y="0"/>
          <a:chExt cx="0" cy="0"/>
        </a:xfrm>
      </p:grpSpPr>
      <p:sp>
        <p:nvSpPr>
          <p:cNvPr id="660" name="Google Shape;660;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Goal coding differs from coding the current heading</a:t>
            </a:r>
            <a:endParaRPr/>
          </a:p>
        </p:txBody>
      </p:sp>
      <p:sp>
        <p:nvSpPr>
          <p:cNvPr id="661" name="Google Shape;661;p4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Beetz and colleagues recorded central-complex neurons while non-migratory monarchs oriented toward a virtual sun. A </a:t>
            </a:r>
            <a:r>
              <a:rPr b="1" i="0" lang="en-US" sz="1500" u="none" cap="none" strike="noStrike">
                <a:solidFill>
                  <a:srgbClr val="52146E"/>
                </a:solidFill>
                <a:latin typeface="Arial"/>
                <a:ea typeface="Arial"/>
                <a:cs typeface="Arial"/>
                <a:sym typeface="Arial"/>
              </a:rPr>
              <a:t>heading signal</a:t>
            </a:r>
            <a:r>
              <a:rPr b="0" i="0" lang="en-US" sz="1500" u="none" cap="none" strike="noStrike">
                <a:solidFill>
                  <a:srgbClr val="000000"/>
                </a:solidFill>
                <a:latin typeface="Arial"/>
                <a:ea typeface="Arial"/>
                <a:cs typeface="Arial"/>
                <a:sym typeface="Arial"/>
              </a:rPr>
              <a:t> represents current orientation; a </a:t>
            </a:r>
            <a:r>
              <a:rPr b="1" i="0" lang="en-US" sz="1500" u="none" cap="none" strike="noStrike">
                <a:solidFill>
                  <a:srgbClr val="52146E"/>
                </a:solidFill>
                <a:latin typeface="Arial"/>
                <a:ea typeface="Arial"/>
                <a:cs typeface="Arial"/>
                <a:sym typeface="Arial"/>
              </a:rPr>
              <a:t>goal-direction signal</a:t>
            </a:r>
            <a:r>
              <a:rPr b="0" i="0" lang="en-US" sz="1500" u="none" cap="none" strike="noStrike">
                <a:solidFill>
                  <a:srgbClr val="000000"/>
                </a:solidFill>
                <a:latin typeface="Arial"/>
                <a:ea typeface="Arial"/>
                <a:cs typeface="Arial"/>
                <a:sym typeface="Arial"/>
              </a:rPr>
              <a:t> represents the direction the animal attempts to maintain.</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Moving the sun-like stimulus altered heading-related tuning, while candidate goal cells retained their association with the chosen target. Aversive conditioning using neck stimulation changed the selected goal by about 130° on average; goal-related neural tuning changed with that preference rather than simply following a solar displacement.</a:t>
            </a:r>
            <a:endParaRPr/>
          </a:p>
          <a:p>
            <a:pPr indent="0" lvl="0" marL="0" marR="0" rtl="0" algn="l">
              <a:lnSpc>
                <a:spcPct val="108000"/>
              </a:lnSpc>
              <a:spcBef>
                <a:spcPts val="900"/>
              </a:spcBef>
              <a:spcAft>
                <a:spcPts val="0"/>
              </a:spcAft>
              <a:buNone/>
            </a:pPr>
            <a:r>
              <a:rPr b="0" i="0" lang="en-US" sz="1500" u="none" cap="none" strike="noStrike">
                <a:solidFill>
                  <a:srgbClr val="000000"/>
                </a:solidFill>
                <a:latin typeface="Arial"/>
                <a:ea typeface="Arial"/>
                <a:cs typeface="Arial"/>
                <a:sym typeface="Arial"/>
              </a:rPr>
              <a:t>The dissociation supports distinct representations of present and desired direction. Controlled stimulation and stable recorded waveforms addressed alternative explanations. Goal cells keep their tuning to the chosen target when the sun stimulus moves, whereas heading-related tuning follows the stimulus.</a:t>
            </a:r>
            <a:endParaRPr/>
          </a:p>
        </p:txBody>
      </p:sp>
      <p:pic>
        <p:nvPicPr>
          <p:cNvPr descr="b23_f3bf.png" id="662" name="Google Shape;662;p45"/>
          <p:cNvPicPr preferRelativeResize="0"/>
          <p:nvPr/>
        </p:nvPicPr>
        <p:blipFill rotWithShape="1">
          <a:blip r:embed="rId3">
            <a:alphaModFix/>
          </a:blip>
          <a:srcRect b="0" l="0" r="0" t="0"/>
          <a:stretch/>
        </p:blipFill>
        <p:spPr>
          <a:xfrm>
            <a:off x="6138367" y="1280160"/>
            <a:ext cx="3383280" cy="3044318"/>
          </a:xfrm>
          <a:prstGeom prst="rect">
            <a:avLst/>
          </a:prstGeom>
          <a:noFill/>
          <a:ln>
            <a:noFill/>
          </a:ln>
        </p:spPr>
      </p:pic>
      <p:sp>
        <p:nvSpPr>
          <p:cNvPr id="663" name="Google Shape;663;p45"/>
          <p:cNvSpPr txBox="1"/>
          <p:nvPr/>
        </p:nvSpPr>
        <p:spPr>
          <a:xfrm>
            <a:off x="6138367" y="441591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Beetz et al. (2023), Fig. 3(b,f). Neural tuning during heading and goal manipulations.</a:t>
            </a:r>
            <a:endParaRPr/>
          </a:p>
        </p:txBody>
      </p:sp>
      <p:pic>
        <p:nvPicPr>
          <p:cNvPr descr="h11_f2.png" id="664" name="Google Shape;664;p45"/>
          <p:cNvPicPr preferRelativeResize="0"/>
          <p:nvPr/>
        </p:nvPicPr>
        <p:blipFill rotWithShape="1">
          <a:blip r:embed="rId4">
            <a:alphaModFix/>
          </a:blip>
          <a:srcRect b="0" l="0" r="0" t="0"/>
          <a:stretch/>
        </p:blipFill>
        <p:spPr>
          <a:xfrm>
            <a:off x="9704527" y="2148840"/>
            <a:ext cx="1920239" cy="1632272"/>
          </a:xfrm>
          <a:prstGeom prst="rect">
            <a:avLst/>
          </a:prstGeom>
          <a:noFill/>
          <a:ln>
            <a:noFill/>
          </a:ln>
        </p:spPr>
      </p:pic>
      <p:sp>
        <p:nvSpPr>
          <p:cNvPr id="665" name="Google Shape;665;p45"/>
          <p:cNvSpPr txBox="1"/>
          <p:nvPr/>
        </p:nvSpPr>
        <p:spPr>
          <a:xfrm>
            <a:off x="9704527" y="3854264"/>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666" name="Google Shape;666;p4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67" name="Google Shape;66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Beetz et al. (2023); Heinze &amp; Reppert (2011)</a:t>
            </a:r>
            <a:endParaRPr/>
          </a:p>
        </p:txBody>
      </p:sp>
      <p:sp>
        <p:nvSpPr>
          <p:cNvPr id="668" name="Google Shape;66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3" name="Shape 673"/>
        <p:cNvGrpSpPr/>
        <p:nvPr/>
      </p:nvGrpSpPr>
      <p:grpSpPr>
        <a:xfrm>
          <a:off x="0" y="0"/>
          <a:ext cx="0" cy="0"/>
          <a:chOff x="0" y="0"/>
          <a:chExt cx="0" cy="0"/>
        </a:xfrm>
      </p:grpSpPr>
      <p:sp>
        <p:nvSpPr>
          <p:cNvPr id="674" name="Google Shape;67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Key takeaways</a:t>
            </a:r>
            <a:endParaRPr/>
          </a:p>
        </p:txBody>
      </p:sp>
      <p:sp>
        <p:nvSpPr>
          <p:cNvPr id="675" name="Google Shape;675;p46"/>
          <p:cNvSpPr/>
          <p:nvPr/>
        </p:nvSpPr>
        <p:spPr>
          <a:xfrm>
            <a:off x="566928"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6" name="Google Shape;67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Time compensation:</a:t>
            </a:r>
            <a:r>
              <a:rPr b="0" i="0" lang="en-US" sz="1500" u="none" cap="none" strike="noStrike">
                <a:solidFill>
                  <a:srgbClr val="000000"/>
                </a:solidFill>
                <a:latin typeface="Arial"/>
                <a:ea typeface="Arial"/>
                <a:cs typeface="Arial"/>
                <a:sym typeface="Arial"/>
              </a:rPr>
              <a:t> Advancing and delaying the entraining light cycle rotate migratory headings in opposite directions. A compass bearing is distinct from a geographic map or a complete migration route.</a:t>
            </a:r>
            <a:endParaRPr/>
          </a:p>
        </p:txBody>
      </p:sp>
      <p:sp>
        <p:nvSpPr>
          <p:cNvPr id="677" name="Google Shape;677;p46"/>
          <p:cNvSpPr/>
          <p:nvPr/>
        </p:nvSpPr>
        <p:spPr>
          <a:xfrm>
            <a:off x="6233007" y="12344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78" name="Google Shape;67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Antennal clocks:</a:t>
            </a:r>
            <a:r>
              <a:rPr b="0" i="0" lang="en-US" sz="1600" u="none" cap="none" strike="noStrike">
                <a:solidFill>
                  <a:srgbClr val="000000"/>
                </a:solidFill>
                <a:latin typeface="Arial"/>
                <a:ea typeface="Arial"/>
                <a:cs typeface="Arial"/>
                <a:sym typeface="Arial"/>
              </a:rPr>
              <a:t> Either light-accessible antenna can support compensation. Conflicting antennal timing disrupts the shared bearing, and removing the conflicting antenna restores orientation.</a:t>
            </a:r>
            <a:endParaRPr/>
          </a:p>
        </p:txBody>
      </p:sp>
      <p:sp>
        <p:nvSpPr>
          <p:cNvPr id="679" name="Google Shape;679;p46"/>
          <p:cNvSpPr/>
          <p:nvPr/>
        </p:nvSpPr>
        <p:spPr>
          <a:xfrm>
            <a:off x="566928"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0" name="Google Shape;68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Molecular feedback:</a:t>
            </a:r>
            <a:r>
              <a:rPr b="0" i="0" lang="en-US" sz="1500" u="none" cap="none" strike="noStrike">
                <a:solidFill>
                  <a:srgbClr val="000000"/>
                </a:solidFill>
                <a:latin typeface="Arial"/>
                <a:ea typeface="Arial"/>
                <a:cs typeface="Arial"/>
                <a:sym typeface="Arial"/>
              </a:rPr>
              <a:t> CRY1 supplies light-sensitive clock input, while CRY2 represses clock-controlled transcription. Protein interactions and timed nuclear localization contribute to the feedback cycle.</a:t>
            </a:r>
            <a:endParaRPr/>
          </a:p>
        </p:txBody>
      </p:sp>
      <p:sp>
        <p:nvSpPr>
          <p:cNvPr id="681" name="Google Shape;681;p46"/>
          <p:cNvSpPr/>
          <p:nvPr/>
        </p:nvSpPr>
        <p:spPr>
          <a:xfrm>
            <a:off x="6233007" y="29870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2" name="Google Shape;68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Converging visual cues:</a:t>
            </a:r>
            <a:r>
              <a:rPr b="0" i="0" lang="en-US" sz="1500" u="none" cap="none" strike="noStrike">
                <a:solidFill>
                  <a:srgbClr val="000000"/>
                </a:solidFill>
                <a:latin typeface="Arial"/>
                <a:ea typeface="Arial"/>
                <a:cs typeface="Arial"/>
                <a:sym typeface="Arial"/>
              </a:rPr>
              <a:t> Central-complex neurons encode polarization and sun-like azimuth. Neural sensitivity to polarization does not establish its necessity for migration when the sun is available.</a:t>
            </a:r>
            <a:endParaRPr/>
          </a:p>
        </p:txBody>
      </p:sp>
      <p:sp>
        <p:nvSpPr>
          <p:cNvPr id="683" name="Google Shape;683;p46"/>
          <p:cNvSpPr/>
          <p:nvPr/>
        </p:nvSpPr>
        <p:spPr>
          <a:xfrm>
            <a:off x="566928"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4" name="Google Shape;68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Seasonal reversal:</a:t>
            </a:r>
            <a:r>
              <a:rPr b="0" i="0" lang="en-US" sz="1600" u="none" cap="none" strike="noStrike">
                <a:solidFill>
                  <a:srgbClr val="000000"/>
                </a:solidFill>
                <a:latin typeface="Arial"/>
                <a:ea typeface="Arial"/>
                <a:cs typeface="Arial"/>
                <a:sym typeface="Arial"/>
              </a:rPr>
              <a:t> Effective multiweek cold exposure induces northward orientation while time compensation remains available. Warm aging alone did not produce reversal in the tested migrants.</a:t>
            </a:r>
            <a:endParaRPr/>
          </a:p>
        </p:txBody>
      </p:sp>
      <p:sp>
        <p:nvSpPr>
          <p:cNvPr id="685" name="Google Shape;685;p46"/>
          <p:cNvSpPr/>
          <p:nvPr/>
        </p:nvSpPr>
        <p:spPr>
          <a:xfrm>
            <a:off x="6233007" y="4739640"/>
            <a:ext cx="5391759" cy="1478279"/>
          </a:xfrm>
          <a:prstGeom prst="rect">
            <a:avLst/>
          </a:prstGeom>
          <a:solidFill>
            <a:srgbClr val="F6F1F8"/>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6" name="Google Shape;68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Representations and limits:</a:t>
            </a:r>
            <a:r>
              <a:rPr b="0" i="0" lang="en-US" sz="1500" u="none" cap="none" strike="noStrike">
                <a:solidFill>
                  <a:srgbClr val="000000"/>
                </a:solidFill>
                <a:latin typeface="Arial"/>
                <a:ea typeface="Arial"/>
                <a:cs typeface="Arial"/>
                <a:sym typeface="Arial"/>
              </a:rPr>
              <a:t> Current heading and desired direction have distinct neuronal correlates. A complete causal pathway from antennal timing through compass computation to steering remains unidentified.</a:t>
            </a:r>
            <a:endParaRPr/>
          </a:p>
        </p:txBody>
      </p:sp>
      <p:sp>
        <p:nvSpPr>
          <p:cNvPr id="687" name="Google Shape;687;p4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88" name="Google Shape;68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 Merlin et al. (2009); Guerra et al. (2012, 2013); Beetz et al. (2023)</a:t>
            </a:r>
            <a:endParaRPr/>
          </a:p>
        </p:txBody>
      </p:sp>
      <p:sp>
        <p:nvSpPr>
          <p:cNvPr id="689" name="Google Shape;68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82" name="Google Shape;58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Tuning width measures directional selectivity</a:t>
            </a:r>
            <a:endParaRPr/>
          </a:p>
        </p:txBody>
      </p:sp>
      <p:sp>
        <p:nvSpPr>
          <p:cNvPr id="583" name="Google Shape;583;p3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Full width at half maximum</a:t>
            </a:r>
            <a:r>
              <a:rPr b="0" i="0" lang="en-US" sz="1600" u="none" cap="none" strike="noStrike">
                <a:solidFill>
                  <a:srgbClr val="000000"/>
                </a:solidFill>
                <a:latin typeface="Arial"/>
                <a:ea typeface="Arial"/>
                <a:cs typeface="Arial"/>
                <a:sym typeface="Arial"/>
              </a:rPr>
              <a:t> measures a tuning curve's width at half its peak response. A narrow tuning curve responds over a small range of stimulus directions, whereas a broad curve responds over a large range. The measure is expressed in degrees of azimuth.</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Nguyen and colleagues compared tangential-neuron recordings from wild autumn migrants with commercially sourced non-migratory monarchs. A green 530-nm light spot rotated at 30° elevation around the animal. Mean green-light width was approximately 83° in migrants and 118° in non-migrants, and peak rates were broadly similar.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Autumn migrants therefore have narrower tuning than non-migratory monarchs, so their neurons respond over a smaller range of azimuths. The difference concerns angular selectivity more than a simple increase in firing, and narrower tuning means that firing changes more steeply with small shifts in azimuth.</a:t>
            </a:r>
            <a:endParaRPr/>
          </a:p>
        </p:txBody>
      </p:sp>
      <p:pic>
        <p:nvPicPr>
          <p:cNvPr descr="n21_f3.png" id="584" name="Google Shape;584;p39"/>
          <p:cNvPicPr preferRelativeResize="0"/>
          <p:nvPr/>
        </p:nvPicPr>
        <p:blipFill rotWithShape="1">
          <a:blip r:embed="rId2">
            <a:alphaModFix/>
          </a:blip>
          <a:srcRect b="0" l="0" r="0" t="0"/>
          <a:stretch/>
        </p:blipFill>
        <p:spPr>
          <a:xfrm>
            <a:off x="6138367" y="1280160"/>
            <a:ext cx="3383280" cy="2763296"/>
          </a:xfrm>
          <a:prstGeom prst="rect">
            <a:avLst/>
          </a:prstGeom>
          <a:noFill/>
          <a:ln>
            <a:noFill/>
          </a:ln>
        </p:spPr>
      </p:pic>
      <p:sp>
        <p:nvSpPr>
          <p:cNvPr id="585" name="Google Shape;585;p39"/>
          <p:cNvSpPr txBox="1"/>
          <p:nvPr/>
        </p:nvSpPr>
        <p:spPr>
          <a:xfrm>
            <a:off x="6138367" y="413489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Nguyen et al. (2021), Fig. 3(a–c). Migratory and non-migratory tangential-neuron tuning.</a:t>
            </a:r>
            <a:endParaRPr/>
          </a:p>
        </p:txBody>
      </p:sp>
      <p:pic>
        <p:nvPicPr>
          <p:cNvPr descr="h11_tl.png" id="586" name="Google Shape;586;p39"/>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87" name="Google Shape;587;p39"/>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88" name="Google Shape;588;p3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9" name="Google Shape;589;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Nguyen et al. (2021); Heinze &amp; Reppert (2011)</a:t>
            </a:r>
            <a:endParaRPr/>
          </a:p>
        </p:txBody>
      </p:sp>
      <p:sp>
        <p:nvSpPr>
          <p:cNvPr id="590" name="Google Shape;590;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39a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40" name="Google Shape;540;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E-vector is the axis of polarized light</a:t>
            </a:r>
            <a:endParaRPr/>
          </a:p>
        </p:txBody>
      </p:sp>
      <p:sp>
        <p:nvSpPr>
          <p:cNvPr id="541" name="Google Shape;541;p36"/>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t>
            </a:r>
            <a:r>
              <a:rPr b="1" i="0" lang="en-US" sz="1600" u="none" cap="none" strike="noStrike">
                <a:solidFill>
                  <a:srgbClr val="52146E"/>
                </a:solidFill>
                <a:latin typeface="Arial"/>
                <a:ea typeface="Arial"/>
                <a:cs typeface="Arial"/>
                <a:sym typeface="Arial"/>
              </a:rPr>
              <a:t>E-vector</a:t>
            </a:r>
            <a:r>
              <a:rPr b="0" i="0" lang="en-US" sz="1600" u="none" cap="none" strike="noStrike">
                <a:solidFill>
                  <a:srgbClr val="000000"/>
                </a:solidFill>
                <a:latin typeface="Arial"/>
                <a:ea typeface="Arial"/>
                <a:cs typeface="Arial"/>
                <a:sym typeface="Arial"/>
              </a:rPr>
              <a:t> is the orientation of the electric field in linearly polarized light. Rotating a polarizer through 180° returns the E-vector to the same axis, so polarization is axial, with the same orientation at 0° and 180°.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Heinze and Reppert presented polarized 365-nm UV light from above while recording identified compass neurons. The E-vector rotated through 360° at controlled speeds of 30° or 60° per second. Action potentials occurred at different rates for different E-vector angles, with preferred and suppressed axes approximately 90° apart.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response repeated after 180°, matching the axial symmetry of linear polarization. Each neuron therefore has a preferred E-vector axis, and its firing rate encodes the orientation of the polarization pattern in the overhead sky. Intracellular traces preserved voltage and time calibration.</a:t>
            </a:r>
            <a:endParaRPr/>
          </a:p>
        </p:txBody>
      </p:sp>
      <p:pic>
        <p:nvPicPr>
          <p:cNvPr descr="h11_f4b.png" id="542" name="Google Shape;542;p36"/>
          <p:cNvPicPr preferRelativeResize="0"/>
          <p:nvPr/>
        </p:nvPicPr>
        <p:blipFill rotWithShape="1">
          <a:blip r:embed="rId2">
            <a:alphaModFix/>
          </a:blip>
          <a:srcRect b="0" l="0" r="0" t="0"/>
          <a:stretch/>
        </p:blipFill>
        <p:spPr>
          <a:xfrm>
            <a:off x="6138367" y="1280160"/>
            <a:ext cx="3383280" cy="3585778"/>
          </a:xfrm>
          <a:prstGeom prst="rect">
            <a:avLst/>
          </a:prstGeom>
          <a:noFill/>
          <a:ln>
            <a:noFill/>
          </a:ln>
        </p:spPr>
      </p:pic>
      <p:sp>
        <p:nvSpPr>
          <p:cNvPr id="543" name="Google Shape;543;p36"/>
          <p:cNvSpPr txBox="1"/>
          <p:nvPr/>
        </p:nvSpPr>
        <p:spPr>
          <a:xfrm>
            <a:off x="6138367" y="4957378"/>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4(A–D). Intracellular polarization responses and tuning.</a:t>
            </a:r>
            <a:endParaRPr/>
          </a:p>
        </p:txBody>
      </p:sp>
      <p:pic>
        <p:nvPicPr>
          <p:cNvPr descr="h11_tl.png" id="544" name="Google Shape;544;p36"/>
          <p:cNvPicPr preferRelativeResize="0"/>
          <p:nvPr/>
        </p:nvPicPr>
        <p:blipFill rotWithShape="1">
          <a:blip r:embed="rId3">
            <a:alphaModFix/>
          </a:blip>
          <a:srcRect b="0" l="0" r="0" t="0"/>
          <a:stretch/>
        </p:blipFill>
        <p:spPr>
          <a:xfrm>
            <a:off x="9704527" y="2148840"/>
            <a:ext cx="1920239" cy="1071410"/>
          </a:xfrm>
          <a:prstGeom prst="rect">
            <a:avLst/>
          </a:prstGeom>
          <a:noFill/>
          <a:ln>
            <a:noFill/>
          </a:ln>
        </p:spPr>
      </p:pic>
      <p:sp>
        <p:nvSpPr>
          <p:cNvPr id="545" name="Google Shape;545;p36"/>
          <p:cNvSpPr txBox="1"/>
          <p:nvPr/>
        </p:nvSpPr>
        <p:spPr>
          <a:xfrm>
            <a:off x="9704527" y="329340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3(A). Dye-filled tangential input neuron TL2.</a:t>
            </a:r>
            <a:endParaRPr/>
          </a:p>
        </p:txBody>
      </p:sp>
      <p:sp>
        <p:nvSpPr>
          <p:cNvPr id="546" name="Google Shape;546;p36"/>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7" name="Google Shape;547;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48" name="Google Shape;548;p36"/>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36a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14" name="Google Shape;514;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The central complex organizes orientation</a:t>
            </a:r>
            <a:endParaRPr/>
          </a:p>
        </p:txBody>
      </p:sp>
      <p:sp>
        <p:nvSpPr>
          <p:cNvPr id="515" name="Google Shape;515;p34"/>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t>
            </a:r>
            <a:r>
              <a:rPr b="1" i="0" lang="en-US" sz="1500" u="none" cap="none" strike="noStrike">
                <a:solidFill>
                  <a:srgbClr val="52146E"/>
                </a:solidFill>
                <a:latin typeface="Arial"/>
                <a:ea typeface="Arial"/>
                <a:cs typeface="Arial"/>
                <a:sym typeface="Arial"/>
              </a:rPr>
              <a:t>central complex</a:t>
            </a:r>
            <a:r>
              <a:rPr b="0" i="0" lang="en-US" sz="1500" u="none" cap="none" strike="noStrike">
                <a:solidFill>
                  <a:srgbClr val="000000"/>
                </a:solidFill>
                <a:latin typeface="Arial"/>
                <a:ea typeface="Arial"/>
                <a:cs typeface="Arial"/>
                <a:sym typeface="Arial"/>
              </a:rPr>
              <a:t> is a group of insect brain neuropils associated with orientation. A neuropil is a region rich in neuronal processes and synaptic connections rather than only cell bodies. Synapsin is a protein concentrated at synapses, so synapsin labeling outlines these regions.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Heinze and Reppert mapped the monarch central complex using synapsin antibody labeling and three-dimensional reconstruction. The central body has upper and lower divisions, associated with a protocerebral bridge, a transverse neuropil, and paired noduli. Source scale bars distinguish whole-brain organization at 500 µm from central-complex details at 50 µm.</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The anterior optic tubercle is an additional visual-processing region, and the lateral accessory lobe lies beside the central complex. The map defines named neuropils where cell recordings and dye reconstructions can locate compass neurons. Each recorded neuron can then be assigned to a position in this anatomy.</a:t>
            </a:r>
            <a:endParaRPr/>
          </a:p>
        </p:txBody>
      </p:sp>
      <p:pic>
        <p:nvPicPr>
          <p:cNvPr descr="h11_f2.png" id="516" name="Google Shape;516;p34"/>
          <p:cNvPicPr preferRelativeResize="0"/>
          <p:nvPr/>
        </p:nvPicPr>
        <p:blipFill rotWithShape="1">
          <a:blip r:embed="rId2">
            <a:alphaModFix/>
          </a:blip>
          <a:srcRect b="0" l="0" r="0" t="0"/>
          <a:stretch/>
        </p:blipFill>
        <p:spPr>
          <a:xfrm>
            <a:off x="6353625" y="1280160"/>
            <a:ext cx="5055882" cy="4297679"/>
          </a:xfrm>
          <a:prstGeom prst="rect">
            <a:avLst/>
          </a:prstGeom>
          <a:noFill/>
          <a:ln>
            <a:noFill/>
          </a:ln>
        </p:spPr>
      </p:pic>
      <p:sp>
        <p:nvSpPr>
          <p:cNvPr id="517" name="Google Shape;517;p34"/>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Heinze &amp; Reppert (2011), Fig. 2(A–J). Synapsin-labeled central-complex and associated neuropils.</a:t>
            </a:r>
            <a:endParaRPr/>
          </a:p>
        </p:txBody>
      </p:sp>
      <p:sp>
        <p:nvSpPr>
          <p:cNvPr id="518" name="Google Shape;518;p34"/>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19" name="Google Shape;519;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Heinze &amp; Reppert (2011)</a:t>
            </a:r>
            <a:endParaRPr/>
          </a:p>
        </p:txBody>
      </p:sp>
      <p:sp>
        <p:nvSpPr>
          <p:cNvPr id="520" name="Google Shape;520;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34a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6" name="Google Shape;416;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Quantitative PCR compares RNA abundance across time</a:t>
            </a:r>
            <a:endParaRPr/>
          </a:p>
        </p:txBody>
      </p:sp>
      <p:sp>
        <p:nvSpPr>
          <p:cNvPr id="417" name="Google Shape;417;p2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Quantitative PCR</a:t>
            </a:r>
            <a:r>
              <a:rPr b="0" i="0" lang="en-US" sz="1600" u="none" cap="none" strike="noStrike">
                <a:solidFill>
                  <a:srgbClr val="000000"/>
                </a:solidFill>
                <a:latin typeface="Arial"/>
                <a:ea typeface="Arial"/>
                <a:cs typeface="Arial"/>
                <a:sym typeface="Arial"/>
              </a:rPr>
              <a:t> estimates the abundance of selected RNA sequences after conversion to DNA. Because the same transcripts are measured in every sample, their levels can be compared across time points, tissues and treatments. The result is a numerical profile for each gene.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Merlin and colleagues measured clock-associated RNA in isolated samples of monarch antennae. Antennal per, tim and cry2 RNA varied across a light–dark cycle and remained rhythmic after transfer to constant darkness. Their levels were lower near ZT6 than ZT18 in the cycling condition.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cry1 transcript did not have the same phase difference, so the cryptochromes differ in their daily RNA profiles. Rhythms that continue in darkness reflect an internal oscillator and not a direct response to the light cycle. Antennal tissue therefore carries its own clock-gene program.</a:t>
            </a:r>
            <a:endParaRPr/>
          </a:p>
        </p:txBody>
      </p:sp>
      <p:pic>
        <p:nvPicPr>
          <p:cNvPr descr="m09_f2ab.png" id="418" name="Google Shape;418;p27"/>
          <p:cNvPicPr preferRelativeResize="0"/>
          <p:nvPr/>
        </p:nvPicPr>
        <p:blipFill rotWithShape="1">
          <a:blip r:embed="rId2">
            <a:alphaModFix/>
          </a:blip>
          <a:srcRect b="0" l="0" r="0" t="0"/>
          <a:stretch/>
        </p:blipFill>
        <p:spPr>
          <a:xfrm>
            <a:off x="7095860" y="1280160"/>
            <a:ext cx="1468292" cy="4297679"/>
          </a:xfrm>
          <a:prstGeom prst="rect">
            <a:avLst/>
          </a:prstGeom>
          <a:noFill/>
          <a:ln>
            <a:noFill/>
          </a:ln>
        </p:spPr>
      </p:pic>
      <p:sp>
        <p:nvSpPr>
          <p:cNvPr id="419" name="Google Shape;419;p27"/>
          <p:cNvSpPr txBox="1"/>
          <p:nvPr/>
        </p:nvSpPr>
        <p:spPr>
          <a:xfrm>
            <a:off x="6138367" y="566927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Merlin et al. (2009), Fig. 2(A–B). Antennal clock RNA in light–dark and constant darkness.</a:t>
            </a:r>
            <a:endParaRPr/>
          </a:p>
        </p:txBody>
      </p:sp>
      <p:pic>
        <p:nvPicPr>
          <p:cNvPr descr="monarch_fws.jpg" id="420" name="Google Shape;420;p27"/>
          <p:cNvPicPr preferRelativeResize="0"/>
          <p:nvPr/>
        </p:nvPicPr>
        <p:blipFill rotWithShape="1">
          <a:blip r:embed="rId3">
            <a:alphaModFix/>
          </a:blip>
          <a:srcRect b="0" l="0" r="0" t="0"/>
          <a:stretch/>
        </p:blipFill>
        <p:spPr>
          <a:xfrm>
            <a:off x="9704527" y="2148840"/>
            <a:ext cx="1920239" cy="1280159"/>
          </a:xfrm>
          <a:prstGeom prst="rect">
            <a:avLst/>
          </a:prstGeom>
          <a:noFill/>
          <a:ln>
            <a:noFill/>
          </a:ln>
        </p:spPr>
      </p:pic>
      <p:sp>
        <p:nvSpPr>
          <p:cNvPr id="421" name="Google Shape;421;p27"/>
          <p:cNvSpPr txBox="1"/>
          <p:nvPr/>
        </p:nvSpPr>
        <p:spPr>
          <a:xfrm>
            <a:off x="9704527" y="3502152"/>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Photo: Monarch butterfly with compound eye and antenna visible.</a:t>
            </a:r>
            <a:endParaRPr/>
          </a:p>
        </p:txBody>
      </p:sp>
      <p:sp>
        <p:nvSpPr>
          <p:cNvPr id="422" name="Google Shape;422;p2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Merlin et al. (2009)</a:t>
            </a:r>
            <a:endParaRPr/>
          </a:p>
        </p:txBody>
      </p:sp>
      <p:sp>
        <p:nvSpPr>
          <p:cNvPr id="424" name="Google Shape;424;p2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27a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48" name="Google Shape;34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Co-immunoprecipitation captures protein partners</a:t>
            </a:r>
            <a:endParaRPr/>
          </a:p>
        </p:txBody>
      </p:sp>
      <p:sp>
        <p:nvSpPr>
          <p:cNvPr id="349" name="Google Shape;349;p2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Co-immunoprecipitation</a:t>
            </a:r>
            <a:r>
              <a:rPr b="0" i="0" lang="en-US" sz="1600" u="none" cap="none" strike="noStrike">
                <a:solidFill>
                  <a:srgbClr val="000000"/>
                </a:solidFill>
                <a:latin typeface="Arial"/>
                <a:ea typeface="Arial"/>
                <a:cs typeface="Arial"/>
                <a:sym typeface="Arial"/>
              </a:rPr>
              <a:t> uses an antibody to capture one protein together with the molecules bound to it. Detecting other proteins in the captured material shows that they were physically associated with the target in the extract, either directly or within a complex.</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examined PER, TIM and CRY2 in monarch brain extracts and cultured cells. The captured material contained combinations of PER, TIM and CRY2. Reducing PER also reduced CRY2 protein without a corresponding reduction in cry2 RNA, and TIM interference produced a more modest reduction of PER and CRY2.</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Co-capture of the three proteins indicates that they associate in complexes. The unchanged cry2 RNA with lower CRY2 protein places the regulation after transcription, consistent with PER and TIM helping stabilize CRY2-containing complexes and providing protein-level control of the feedback cycle.</a:t>
            </a:r>
            <a:endParaRPr/>
          </a:p>
        </p:txBody>
      </p:sp>
      <p:pic>
        <p:nvPicPr>
          <p:cNvPr descr="z08_f5c.png" id="350" name="Google Shape;350;p22"/>
          <p:cNvPicPr preferRelativeResize="0"/>
          <p:nvPr/>
        </p:nvPicPr>
        <p:blipFill rotWithShape="1">
          <a:blip r:embed="rId2">
            <a:alphaModFix/>
          </a:blip>
          <a:srcRect b="0" l="0" r="0" t="0"/>
          <a:stretch/>
        </p:blipFill>
        <p:spPr>
          <a:xfrm>
            <a:off x="6138367" y="1280160"/>
            <a:ext cx="3383280" cy="3338169"/>
          </a:xfrm>
          <a:prstGeom prst="rect">
            <a:avLst/>
          </a:prstGeom>
          <a:noFill/>
          <a:ln>
            <a:noFill/>
          </a:ln>
        </p:spPr>
      </p:pic>
      <p:sp>
        <p:nvSpPr>
          <p:cNvPr id="351" name="Google Shape;351;p22"/>
          <p:cNvSpPr txBox="1"/>
          <p:nvPr/>
        </p:nvSpPr>
        <p:spPr>
          <a:xfrm>
            <a:off x="6138367" y="4709769"/>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5(C). Clock-protein co-immunoprecipitation from brain and cells.</a:t>
            </a:r>
            <a:endParaRPr/>
          </a:p>
        </p:txBody>
      </p:sp>
      <p:pic>
        <p:nvPicPr>
          <p:cNvPr descr="z08_f6de.png" id="352" name="Google Shape;352;p22"/>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53" name="Google Shape;353;p22"/>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54" name="Google Shape;354;p2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56" name="Google Shape;356;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22a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20" name="Google Shape;320;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luciferase reporter measures transcription</a:t>
            </a:r>
            <a:endParaRPr/>
          </a:p>
        </p:txBody>
      </p:sp>
      <p:sp>
        <p:nvSpPr>
          <p:cNvPr id="321" name="Google Shape;321;p2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luciferase reporter</a:t>
            </a:r>
            <a:r>
              <a:rPr b="0" i="0" lang="en-US" sz="1600" u="none" cap="none" strike="noStrike">
                <a:solidFill>
                  <a:srgbClr val="000000"/>
                </a:solidFill>
                <a:latin typeface="Arial"/>
                <a:ea typeface="Arial"/>
                <a:cs typeface="Arial"/>
                <a:sym typeface="Arial"/>
              </a:rPr>
              <a:t> couples a regulatory DNA sequence to the gene for luciferase, an enzyme that makes light. The amount of light produced is a readout of how strongly the regulatory sequence drives transcription, so the activity of transcription factors can be measured in cultured cells.</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placed a per regulatory sequence upstream of luciferase in DpN1 cells. The transcription factors CLOCK and CYCLE, abbreviated CLK and CYC, activated the reporter. Adding CRY2 reduced this activity with increasing amounts of expression construct, including 5, 15 and 50 ng.</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Light output fell as more CRY2 was supplied, which identifies CRY2 as a repressor of CLK and CYC activity at the per sequence. CRY1 did not provide the same repression, so the two monarch cryptochromes differ in function. The reporter measures a regulatory relationship in cells.</a:t>
            </a:r>
            <a:endParaRPr/>
          </a:p>
        </p:txBody>
      </p:sp>
      <p:pic>
        <p:nvPicPr>
          <p:cNvPr descr="z08_f5a.png" id="322" name="Google Shape;322;p20"/>
          <p:cNvPicPr preferRelativeResize="0"/>
          <p:nvPr/>
        </p:nvPicPr>
        <p:blipFill rotWithShape="1">
          <a:blip r:embed="rId2">
            <a:alphaModFix/>
          </a:blip>
          <a:srcRect b="0" l="0" r="0" t="0"/>
          <a:stretch/>
        </p:blipFill>
        <p:spPr>
          <a:xfrm>
            <a:off x="6138367" y="1280160"/>
            <a:ext cx="3383280" cy="3620300"/>
          </a:xfrm>
          <a:prstGeom prst="rect">
            <a:avLst/>
          </a:prstGeom>
          <a:noFill/>
          <a:ln>
            <a:noFill/>
          </a:ln>
        </p:spPr>
      </p:pic>
      <p:sp>
        <p:nvSpPr>
          <p:cNvPr id="323" name="Google Shape;323;p20"/>
          <p:cNvSpPr txBox="1"/>
          <p:nvPr/>
        </p:nvSpPr>
        <p:spPr>
          <a:xfrm>
            <a:off x="6138367" y="4991900"/>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5(A). Transcriptional reporter responses to clock proteins.</a:t>
            </a:r>
            <a:endParaRPr/>
          </a:p>
        </p:txBody>
      </p:sp>
      <p:pic>
        <p:nvPicPr>
          <p:cNvPr descr="z08_f6de.png" id="324" name="Google Shape;324;p20"/>
          <p:cNvPicPr preferRelativeResize="0"/>
          <p:nvPr/>
        </p:nvPicPr>
        <p:blipFill rotWithShape="1">
          <a:blip r:embed="rId3">
            <a:alphaModFix/>
          </a:blip>
          <a:srcRect b="0" l="0" r="0" t="0"/>
          <a:stretch/>
        </p:blipFill>
        <p:spPr>
          <a:xfrm>
            <a:off x="9704527" y="2148840"/>
            <a:ext cx="1920239" cy="762583"/>
          </a:xfrm>
          <a:prstGeom prst="rect">
            <a:avLst/>
          </a:prstGeom>
          <a:noFill/>
          <a:ln>
            <a:noFill/>
          </a:ln>
        </p:spPr>
      </p:pic>
      <p:sp>
        <p:nvSpPr>
          <p:cNvPr id="325" name="Google Shape;325;p20"/>
          <p:cNvSpPr txBox="1"/>
          <p:nvPr/>
        </p:nvSpPr>
        <p:spPr>
          <a:xfrm>
            <a:off x="9704527" y="2984575"/>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6(D–E). CRY2 and corazonin in pars lateralis cells.</a:t>
            </a:r>
            <a:endParaRPr/>
          </a:p>
        </p:txBody>
      </p:sp>
      <p:sp>
        <p:nvSpPr>
          <p:cNvPr id="326" name="Google Shape;326;p2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27" name="Google Shape;327;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28" name="Google Shape;328;p2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20a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4" name="Google Shape;294;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RNA interference lowers expression of one gene</a:t>
            </a:r>
            <a:endParaRPr/>
          </a:p>
        </p:txBody>
      </p:sp>
      <p:sp>
        <p:nvSpPr>
          <p:cNvPr id="295" name="Google Shape;295;p18"/>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RNA interference</a:t>
            </a:r>
            <a:r>
              <a:rPr b="0" i="0" lang="en-US" sz="1600" u="none" cap="none" strike="noStrike">
                <a:solidFill>
                  <a:srgbClr val="000000"/>
                </a:solidFill>
                <a:latin typeface="Arial"/>
                <a:ea typeface="Arial"/>
                <a:cs typeface="Arial"/>
                <a:sym typeface="Arial"/>
              </a:rPr>
              <a:t> reduces expression of a chosen gene using complementary RNA. A control that targets an unrelated sequence, such as green fluorescent protein, receives the same procedure, so a difference between treatments can be attributed to loss of the target.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Zhu and colleagues used cultured monarch DpN1 cells and reduced cry1 with RNA interference. In control cells exposed to light, TIM, the TIMELESS clock protein, declined before PER and CRY2. After cry1 interference the normal light-dependent decline of TIM did not occur.</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Without CRY1, light failed to deplete TIM. CRY1 is therefore required for the step in which illumination lowers a clock protein, which defines the cryptochrome as the blue-light-responsive input to the clock. The result is a loss-of-function test in cultured cells.</a:t>
            </a:r>
            <a:endParaRPr/>
          </a:p>
        </p:txBody>
      </p:sp>
      <p:pic>
        <p:nvPicPr>
          <p:cNvPr descr="z08_f2.png" id="296" name="Google Shape;296;p18"/>
          <p:cNvPicPr preferRelativeResize="0"/>
          <p:nvPr/>
        </p:nvPicPr>
        <p:blipFill rotWithShape="1">
          <a:blip r:embed="rId2">
            <a:alphaModFix/>
          </a:blip>
          <a:srcRect b="0" l="0" r="0" t="0"/>
          <a:stretch/>
        </p:blipFill>
        <p:spPr>
          <a:xfrm>
            <a:off x="6138367" y="1280160"/>
            <a:ext cx="3383280" cy="4086086"/>
          </a:xfrm>
          <a:prstGeom prst="rect">
            <a:avLst/>
          </a:prstGeom>
          <a:noFill/>
          <a:ln>
            <a:noFill/>
          </a:ln>
        </p:spPr>
      </p:pic>
      <p:sp>
        <p:nvSpPr>
          <p:cNvPr id="297" name="Google Shape;297;p18"/>
          <p:cNvSpPr txBox="1"/>
          <p:nvPr/>
        </p:nvSpPr>
        <p:spPr>
          <a:xfrm>
            <a:off x="6138367" y="5457686"/>
            <a:ext cx="338328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Zhu et al. (2008), Fig. 2(A–D). Clock-protein levels after light and cry1 knockdown.</a:t>
            </a:r>
            <a:endParaRPr/>
          </a:p>
        </p:txBody>
      </p:sp>
      <p:pic>
        <p:nvPicPr>
          <p:cNvPr descr="s05_f6de.png" id="298" name="Google Shape;298;p18"/>
          <p:cNvPicPr preferRelativeResize="0"/>
          <p:nvPr/>
        </p:nvPicPr>
        <p:blipFill rotWithShape="1">
          <a:blip r:embed="rId3">
            <a:alphaModFix/>
          </a:blip>
          <a:srcRect b="0" l="0" r="0" t="0"/>
          <a:stretch/>
        </p:blipFill>
        <p:spPr>
          <a:xfrm>
            <a:off x="9704527" y="2148840"/>
            <a:ext cx="1920239" cy="535451"/>
          </a:xfrm>
          <a:prstGeom prst="rect">
            <a:avLst/>
          </a:prstGeom>
          <a:noFill/>
          <a:ln>
            <a:noFill/>
          </a:ln>
        </p:spPr>
      </p:pic>
      <p:sp>
        <p:nvSpPr>
          <p:cNvPr id="299" name="Google Shape;299;p18"/>
          <p:cNvSpPr txBox="1"/>
          <p:nvPr/>
        </p:nvSpPr>
        <p:spPr>
          <a:xfrm>
            <a:off x="9704527" y="2757443"/>
            <a:ext cx="192023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6(D–E). CRY1 and PER labeling in the same pars lateralis cell.</a:t>
            </a:r>
            <a:endParaRPr/>
          </a:p>
        </p:txBody>
      </p:sp>
      <p:sp>
        <p:nvSpPr>
          <p:cNvPr id="300" name="Google Shape;300;p18"/>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1" name="Google Shape;301;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Zhu et al. (2008)</a:t>
            </a:r>
            <a:endParaRPr/>
          </a:p>
        </p:txBody>
      </p:sp>
      <p:sp>
        <p:nvSpPr>
          <p:cNvPr id="302" name="Google Shape;302;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18a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82" name="Google Shape;282;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Zeitgeber time counts hours from lights-on</a:t>
            </a:r>
            <a:endParaRPr/>
          </a:p>
        </p:txBody>
      </p:sp>
      <p:sp>
        <p:nvSpPr>
          <p:cNvPr id="283" name="Google Shape;283;p1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Zeitgeber time</a:t>
            </a:r>
            <a:r>
              <a:rPr b="0" i="0" lang="en-US" sz="1600" u="none" cap="none" strike="noStrike">
                <a:solidFill>
                  <a:srgbClr val="000000"/>
                </a:solidFill>
                <a:latin typeface="Arial"/>
                <a:ea typeface="Arial"/>
                <a:cs typeface="Arial"/>
                <a:sym typeface="Arial"/>
              </a:rPr>
              <a:t>, abbreviated ZT, measures hours relative to the entraining cycle, with ZT0 at lights-on. A zeitgeber is an external cue that entrains the clock. Circadian time, or CT, refers to internal phase under free-running conditions, when the daily cycle is absent.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Sauman and colleagues localized PER, the protein encoded by per, in the pars lateralis of adult monarch brains. PL cells had little detectable PER at ZT6 but strong labeling near ZT18. Daily PL staining persisted in constant darkness and was disrupted in constant light.</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Labeling at ZT6 and ZT18 samples two phases of the same light–dark cycle, so a difference between them reveals a daily rhythm in the protein. Persistence in constant darkness shows that the rhythm does not depend on the cycle itself.</a:t>
            </a:r>
            <a:endParaRPr/>
          </a:p>
        </p:txBody>
      </p:sp>
      <p:pic>
        <p:nvPicPr>
          <p:cNvPr descr="s05_f5.png" id="284" name="Google Shape;284;p17"/>
          <p:cNvPicPr preferRelativeResize="0"/>
          <p:nvPr/>
        </p:nvPicPr>
        <p:blipFill rotWithShape="1">
          <a:blip r:embed="rId2">
            <a:alphaModFix/>
          </a:blip>
          <a:srcRect b="0" l="0" r="0" t="0"/>
          <a:stretch/>
        </p:blipFill>
        <p:spPr>
          <a:xfrm>
            <a:off x="6138367" y="1280160"/>
            <a:ext cx="5486400" cy="4124728"/>
          </a:xfrm>
          <a:prstGeom prst="rect">
            <a:avLst/>
          </a:prstGeom>
          <a:noFill/>
          <a:ln>
            <a:noFill/>
          </a:ln>
        </p:spPr>
      </p:pic>
      <p:sp>
        <p:nvSpPr>
          <p:cNvPr id="285" name="Google Shape;285;p17"/>
          <p:cNvSpPr txBox="1"/>
          <p:nvPr/>
        </p:nvSpPr>
        <p:spPr>
          <a:xfrm>
            <a:off x="6138367" y="5496328"/>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5(B–J). PER-stained cells and daily staining changes.</a:t>
            </a:r>
            <a:endParaRPr/>
          </a:p>
        </p:txBody>
      </p:sp>
      <p:sp>
        <p:nvSpPr>
          <p:cNvPr id="286" name="Google Shape;286;p1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7" name="Google Shape;287;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88" name="Google Shape;288;p1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17a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8" name="Google Shape;208;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Linear polarization has a defined field orientation</a:t>
            </a:r>
            <a:endParaRPr/>
          </a:p>
        </p:txBody>
      </p:sp>
      <p:sp>
        <p:nvSpPr>
          <p:cNvPr id="209" name="Google Shape;209;p11"/>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Linear polarization</a:t>
            </a:r>
            <a:r>
              <a:rPr b="0" i="0" lang="en-US" sz="1500" u="none" cap="none" strike="noStrike">
                <a:solidFill>
                  <a:srgbClr val="000000"/>
                </a:solidFill>
                <a:latin typeface="Arial"/>
                <a:ea typeface="Arial"/>
                <a:cs typeface="Arial"/>
                <a:sym typeface="Arial"/>
              </a:rPr>
              <a:t> specifies the orientation of the electric field of a light wave. Unpolarized light has no preferred orientation, whereas light that passes a polarizing filter oscillates along one axis. Skylight is partly polarized in a pattern set by the position of the sun.</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found UV opsin RNA throughout R1–R8 in the dorsal rim area, with no blue or long-wavelength opsin RNA detected in those cells. The strip extends approximately 40–50 ommatidia along the eye margin, totaling roughly 100 ommatidia per eye. Antibody labeling localized UV opsin protein to their rhabdoms.</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A single spectral class across the strip is consistent with sampling polarization without mixing distinct color signals. The dorsal rim is therefore a candidate input for the polarization of skylight, and tests that rotate a polarizing filter probe it.</a:t>
            </a:r>
            <a:endParaRPr/>
          </a:p>
        </p:txBody>
      </p:sp>
      <p:pic>
        <p:nvPicPr>
          <p:cNvPr descr="s05_f3.png" id="210" name="Google Shape;210;p11"/>
          <p:cNvPicPr preferRelativeResize="0"/>
          <p:nvPr/>
        </p:nvPicPr>
        <p:blipFill rotWithShape="1">
          <a:blip r:embed="rId2">
            <a:alphaModFix/>
          </a:blip>
          <a:srcRect b="0" l="0" r="0" t="0"/>
          <a:stretch/>
        </p:blipFill>
        <p:spPr>
          <a:xfrm>
            <a:off x="6817661" y="1280160"/>
            <a:ext cx="4127811" cy="4297679"/>
          </a:xfrm>
          <a:prstGeom prst="rect">
            <a:avLst/>
          </a:prstGeom>
          <a:noFill/>
          <a:ln>
            <a:noFill/>
          </a:ln>
        </p:spPr>
      </p:pic>
      <p:sp>
        <p:nvSpPr>
          <p:cNvPr id="211" name="Google Shape;211;p11"/>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3(A–D). UV-specialized ommatidia in the dorsal rim area.</a:t>
            </a:r>
            <a:endParaRPr/>
          </a:p>
        </p:txBody>
      </p:sp>
      <p:sp>
        <p:nvSpPr>
          <p:cNvPr id="212" name="Google Shape;212;p11"/>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3" name="Google Shape;213;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14" name="Google Shape;214;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11a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96" name="Google Shape;196;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In situ hybridization locates RNA in tissue</a:t>
            </a:r>
            <a:endParaRPr/>
          </a:p>
        </p:txBody>
      </p:sp>
      <p:sp>
        <p:nvSpPr>
          <p:cNvPr id="197" name="Google Shape;197;p10"/>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500" u="none" cap="none" strike="noStrike">
                <a:solidFill>
                  <a:srgbClr val="52146E"/>
                </a:solidFill>
                <a:latin typeface="Arial"/>
                <a:ea typeface="Arial"/>
                <a:cs typeface="Arial"/>
                <a:sym typeface="Arial"/>
              </a:rPr>
              <a:t>In situ hybridization</a:t>
            </a:r>
            <a:r>
              <a:rPr b="0" i="0" lang="en-US" sz="1500" u="none" cap="none" strike="noStrike">
                <a:solidFill>
                  <a:srgbClr val="000000"/>
                </a:solidFill>
                <a:latin typeface="Arial"/>
                <a:ea typeface="Arial"/>
                <a:cs typeface="Arial"/>
                <a:sym typeface="Arial"/>
              </a:rPr>
              <a:t> uses labeled probes that bind to a specific RNA sequence in a tissue section. The label marks the cells that contain that RNA, so the method reveals which cells in an organ are expressing a particular gene.</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Sauman and colleagues applied probes for UV, blue and long-wavelength opsin to the monarch retina. A compound eye contains repeated ommatidia, and each contains photoreceptor cells whose light-sensitive membrane forms a rhabdom. UV and blue opsin RNA occupied R1 or R2 cells, and long-wavelength opsin RNA occupied R3–R8.</a:t>
            </a:r>
            <a:endParaRPr/>
          </a:p>
          <a:p>
            <a:pPr indent="0" lvl="0" marL="0" marR="0" rtl="0" algn="l">
              <a:lnSpc>
                <a:spcPct val="108000"/>
              </a:lnSpc>
              <a:spcBef>
                <a:spcPts val="0"/>
              </a:spcBef>
              <a:spcAft>
                <a:spcPts val="0"/>
              </a:spcAft>
              <a:buNone/>
            </a:pPr>
            <a:r>
              <a:rPr b="0" i="0" lang="en-US" sz="1500" u="none" cap="none" strike="noStrike">
                <a:solidFill>
                  <a:srgbClr val="000000"/>
                </a:solidFill>
                <a:latin typeface="Arial"/>
                <a:ea typeface="Arial"/>
                <a:cs typeface="Arial"/>
                <a:sym typeface="Arial"/>
              </a:rPr>
              <a:t>Each probe labeled a different set of cells within the same ommatidia. An opsin is the protein component of a visual pigment that contributes to its spectral sensitivity, so the RNA maps identify receptor cell types with different spectral inputs.</a:t>
            </a:r>
            <a:endParaRPr/>
          </a:p>
        </p:txBody>
      </p:sp>
      <p:pic>
        <p:nvPicPr>
          <p:cNvPr descr="s05_f2.png" id="198" name="Google Shape;198;p10"/>
          <p:cNvPicPr preferRelativeResize="0"/>
          <p:nvPr/>
        </p:nvPicPr>
        <p:blipFill rotWithShape="1">
          <a:blip r:embed="rId2">
            <a:alphaModFix/>
          </a:blip>
          <a:srcRect b="0" l="0" r="0" t="0"/>
          <a:stretch/>
        </p:blipFill>
        <p:spPr>
          <a:xfrm>
            <a:off x="8151535" y="1280160"/>
            <a:ext cx="1460063" cy="4297679"/>
          </a:xfrm>
          <a:prstGeom prst="rect">
            <a:avLst/>
          </a:prstGeom>
          <a:noFill/>
          <a:ln>
            <a:noFill/>
          </a:ln>
        </p:spPr>
      </p:pic>
      <p:sp>
        <p:nvSpPr>
          <p:cNvPr id="199" name="Google Shape;199;p10"/>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Sauman et al. (2005), Fig. 2(A–C). UV, blue and long-wavelength opsin RNA in retinal cells.</a:t>
            </a:r>
            <a:endParaRPr/>
          </a:p>
        </p:txBody>
      </p:sp>
      <p:sp>
        <p:nvSpPr>
          <p:cNvPr id="200" name="Google Shape;200;p10"/>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01" name="Google Shape;201;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Sauman et al. (2005)</a:t>
            </a:r>
            <a:endParaRPr/>
          </a:p>
        </p:txBody>
      </p:sp>
      <p:sp>
        <p:nvSpPr>
          <p:cNvPr id="202" name="Google Shape;202;p10"/>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10a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84" name="Google Shape;184;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Eclosion is a readout of circadian timing</a:t>
            </a:r>
            <a:endParaRPr/>
          </a:p>
        </p:txBody>
      </p:sp>
      <p:sp>
        <p:nvSpPr>
          <p:cNvPr id="185" name="Google Shape;185;p9"/>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450" u="none" cap="none" strike="noStrike">
                <a:solidFill>
                  <a:srgbClr val="52146E"/>
                </a:solidFill>
                <a:latin typeface="Arial"/>
                <a:ea typeface="Arial"/>
                <a:cs typeface="Arial"/>
                <a:sym typeface="Arial"/>
              </a:rPr>
              <a:t>Eclosion</a:t>
            </a:r>
            <a:r>
              <a:rPr b="0" i="0" lang="en-US" sz="1450" u="none" cap="none" strike="noStrike">
                <a:solidFill>
                  <a:srgbClr val="000000"/>
                </a:solidFill>
                <a:latin typeface="Arial"/>
                <a:ea typeface="Arial"/>
                <a:cs typeface="Arial"/>
                <a:sym typeface="Arial"/>
              </a:rPr>
              <a:t> is the emergence of the adult insect from the pupal case. It occurs at a characteristic phase of the daily cycle, so the timing of emergence across many pupae provides a measurable output of the </a:t>
            </a:r>
            <a:r>
              <a:rPr b="1" i="0" lang="en-US" sz="1450" u="none" cap="none" strike="noStrike">
                <a:solidFill>
                  <a:srgbClr val="52146E"/>
                </a:solidFill>
                <a:latin typeface="Arial"/>
                <a:ea typeface="Arial"/>
                <a:cs typeface="Arial"/>
                <a:sym typeface="Arial"/>
              </a:rPr>
              <a:t>circadian clock</a:t>
            </a:r>
            <a:r>
              <a:rPr b="0" i="0" lang="en-US" sz="1450" u="none" cap="none" strike="noStrike">
                <a:solidFill>
                  <a:srgbClr val="000000"/>
                </a:solidFill>
                <a:latin typeface="Arial"/>
                <a:ea typeface="Arial"/>
                <a:cs typeface="Arial"/>
                <a:sym typeface="Arial"/>
              </a:rPr>
              <a:t> in a population of animals.</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Froy and colleagues reared monarch pupae under light–dark cycles with a UV-blocking filter and recorded when adults emerged. Emergence remained concentrated at a particular phase of the daily cycle. Advancing the filtered light schedule by 6 h moved the emergence peaks approximately 5.5 h apart, which shows that the emergence rhythm followed the shifted light.</a:t>
            </a:r>
            <a:endParaRPr/>
          </a:p>
          <a:p>
            <a:pPr indent="0" lvl="0" marL="0" marR="0" rtl="0" algn="l">
              <a:lnSpc>
                <a:spcPct val="108000"/>
              </a:lnSpc>
              <a:spcBef>
                <a:spcPts val="0"/>
              </a:spcBef>
              <a:spcAft>
                <a:spcPts val="0"/>
              </a:spcAft>
              <a:buNone/>
            </a:pPr>
            <a:r>
              <a:rPr b="0" i="0" lang="en-US" sz="1450" u="none" cap="none" strike="noStrike">
                <a:solidFill>
                  <a:srgbClr val="000000"/>
                </a:solidFill>
                <a:latin typeface="Arial"/>
                <a:ea typeface="Arial"/>
                <a:cs typeface="Arial"/>
                <a:sym typeface="Arial"/>
              </a:rPr>
              <a:t>Emergence followed the shifted schedule, so visible wavelengths were sufficient for entrainment without ultraviolet illumination. The wavelengths that entrain the clock therefore differ from those required for oriented flight in the outdoor assay, which the UV filter had disrupted.</a:t>
            </a:r>
            <a:endParaRPr/>
          </a:p>
        </p:txBody>
      </p:sp>
      <p:pic>
        <p:nvPicPr>
          <p:cNvPr descr="f03_f3d.png" id="186" name="Google Shape;186;p9"/>
          <p:cNvPicPr preferRelativeResize="0"/>
          <p:nvPr/>
        </p:nvPicPr>
        <p:blipFill rotWithShape="1">
          <a:blip r:embed="rId2">
            <a:alphaModFix/>
          </a:blip>
          <a:srcRect b="0" l="0" r="0" t="0"/>
          <a:stretch/>
        </p:blipFill>
        <p:spPr>
          <a:xfrm>
            <a:off x="6648260" y="1280160"/>
            <a:ext cx="4466613" cy="4297679"/>
          </a:xfrm>
          <a:prstGeom prst="rect">
            <a:avLst/>
          </a:prstGeom>
          <a:noFill/>
          <a:ln>
            <a:noFill/>
          </a:ln>
        </p:spPr>
      </p:pic>
      <p:sp>
        <p:nvSpPr>
          <p:cNvPr id="187" name="Google Shape;187;p9"/>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3(D). Adult emergence entrained without ultraviolet light.</a:t>
            </a:r>
            <a:endParaRPr/>
          </a:p>
        </p:txBody>
      </p:sp>
      <p:sp>
        <p:nvSpPr>
          <p:cNvPr id="188" name="Google Shape;188;p9"/>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9" name="Google Shape;189;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90" name="Google Shape;190;p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09a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Phototaxis is movement toward a light source</a:t>
            </a:r>
            <a:endParaRPr/>
          </a:p>
        </p:txBody>
      </p:sp>
      <p:sp>
        <p:nvSpPr>
          <p:cNvPr id="159" name="Google Shape;159;p7"/>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Phototaxis</a:t>
            </a:r>
            <a:r>
              <a:rPr b="0" i="0" lang="en-US" sz="1600" u="none" cap="none" strike="noStrike">
                <a:solidFill>
                  <a:srgbClr val="000000"/>
                </a:solidFill>
                <a:latin typeface="Arial"/>
                <a:ea typeface="Arial"/>
                <a:cs typeface="Arial"/>
                <a:sym typeface="Arial"/>
              </a:rPr>
              <a:t> is movement toward a light source, and positive phototaxis means approach to the light. An animal that moves toward the sun by phototaxis follows the changing position of the sun, whereas a sun compass holds a fixed bearing while the sun moves across the sky.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Froy and colleagues kept migrants in constant light for five days, uninterrupted illumination without a daily light–dark cycle. Under normal light–dark conditions the local-time and 6-h-advanced groups had mean headings of 233° and 118°. After constant light both groups oriented near 161° while the sun lay approximately between 136° and 160°.</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two groups lost their distinct bearings and converged on a direction close to the sun. That result is compatible with positive phototaxis and differs from the time-compensated bearing of the normal light cycle, so heading toward the sun and holding a migration bearing are different behaviors.</a:t>
            </a:r>
            <a:endParaRPr/>
          </a:p>
        </p:txBody>
      </p:sp>
      <p:pic>
        <p:nvPicPr>
          <p:cNvPr descr="f03_f2.png" id="160" name="Google Shape;160;p7"/>
          <p:cNvPicPr preferRelativeResize="0"/>
          <p:nvPr/>
        </p:nvPicPr>
        <p:blipFill rotWithShape="1">
          <a:blip r:embed="rId2">
            <a:alphaModFix/>
          </a:blip>
          <a:srcRect b="0" l="0" r="0" t="0"/>
          <a:stretch/>
        </p:blipFill>
        <p:spPr>
          <a:xfrm>
            <a:off x="7968474" y="1280160"/>
            <a:ext cx="1826184" cy="4297679"/>
          </a:xfrm>
          <a:prstGeom prst="rect">
            <a:avLst/>
          </a:prstGeom>
          <a:noFill/>
          <a:ln>
            <a:noFill/>
          </a:ln>
        </p:spPr>
      </p:pic>
      <p:sp>
        <p:nvSpPr>
          <p:cNvPr id="161" name="Google Shape;161;p7"/>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Froy et al. (2003), Fig. 2. Orientation after shifted cycles or constant light.</a:t>
            </a:r>
            <a:endParaRPr/>
          </a:p>
        </p:txBody>
      </p:sp>
      <p:sp>
        <p:nvSpPr>
          <p:cNvPr id="162" name="Google Shape;162;p7"/>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Froy et al. (2003)</a:t>
            </a:r>
            <a:endParaRPr/>
          </a:p>
        </p:txBody>
      </p:sp>
      <p:sp>
        <p:nvSpPr>
          <p:cNvPr id="164" name="Google Shape;164;p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07a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Entrainment aligns a circadian clock with a cycle</a:t>
            </a:r>
            <a:endParaRPr/>
          </a:p>
        </p:txBody>
      </p:sp>
      <p:sp>
        <p:nvSpPr>
          <p:cNvPr id="135" name="Google Shape;135;p5"/>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52146E"/>
                </a:solidFill>
                <a:latin typeface="Arial"/>
                <a:ea typeface="Arial"/>
                <a:cs typeface="Arial"/>
                <a:sym typeface="Arial"/>
              </a:rPr>
              <a:t>Entrainment</a:t>
            </a:r>
            <a:r>
              <a:rPr b="0" i="0" lang="en-US" sz="1600" u="none" cap="none" strike="noStrike">
                <a:solidFill>
                  <a:srgbClr val="000000"/>
                </a:solidFill>
                <a:latin typeface="Arial"/>
                <a:ea typeface="Arial"/>
                <a:cs typeface="Arial"/>
                <a:sym typeface="Arial"/>
              </a:rPr>
              <a:t> is the alignment of the phase of an internal clock with a recurring environmental cycle, such as the daily alternation of light and dark. A circadian clock has a rhythm close to 24 h, and entrainment keeps that internal rhythm matched to the local day.</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entrained migrants to a 12-h light:12-h dark cycle advanced by 6 h for at least five days. They then tested the butterflies outdoors under the same actual sky as local-time controls, which had been kept on the schedule matching local time.</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The advanced group oriented near 136°, toward the southeast, and the controls oriented near 225°, toward the southwest. The sky was identical, so the approximately 89° counterclockwise change came from the internal clock phase that entrainment had set.</a:t>
            </a:r>
            <a:endParaRPr/>
          </a:p>
        </p:txBody>
      </p:sp>
      <p:pic>
        <p:nvPicPr>
          <p:cNvPr descr="f02_f2abc.png" id="136" name="Google Shape;136;p5"/>
          <p:cNvPicPr preferRelativeResize="0"/>
          <p:nvPr/>
        </p:nvPicPr>
        <p:blipFill rotWithShape="1">
          <a:blip r:embed="rId2">
            <a:alphaModFix/>
          </a:blip>
          <a:srcRect b="0" l="0" r="0" t="0"/>
          <a:stretch/>
        </p:blipFill>
        <p:spPr>
          <a:xfrm>
            <a:off x="6138367" y="1280160"/>
            <a:ext cx="5486400" cy="3698840"/>
          </a:xfrm>
          <a:prstGeom prst="rect">
            <a:avLst/>
          </a:prstGeom>
          <a:noFill/>
          <a:ln>
            <a:noFill/>
          </a:ln>
        </p:spPr>
      </p:pic>
      <p:sp>
        <p:nvSpPr>
          <p:cNvPr id="137" name="Google Shape;137;p5"/>
          <p:cNvSpPr txBox="1"/>
          <p:nvPr/>
        </p:nvSpPr>
        <p:spPr>
          <a:xfrm>
            <a:off x="6138367" y="5070440"/>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2(A–C). Headings on local, advanced and delayed light cycles.</a:t>
            </a:r>
            <a:endParaRPr/>
          </a:p>
        </p:txBody>
      </p:sp>
      <p:sp>
        <p:nvSpPr>
          <p:cNvPr id="138" name="Google Shape;138;p5"/>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52146E"/>
                </a:solidFill>
                <a:latin typeface="Arial"/>
                <a:ea typeface="Arial"/>
                <a:cs typeface="Arial"/>
                <a:sym typeface="Arial"/>
              </a:rPr>
              <a:t>A sun compass converts sun position into a heading</a:t>
            </a:r>
            <a:endParaRPr/>
          </a:p>
        </p:txBody>
      </p:sp>
      <p:sp>
        <p:nvSpPr>
          <p:cNvPr id="99" name="Google Shape;99;p2"/>
          <p:cNvSpPr txBox="1"/>
          <p:nvPr/>
        </p:nvSpPr>
        <p:spPr>
          <a:xfrm>
            <a:off x="566928" y="1234440"/>
            <a:ext cx="520567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A </a:t>
            </a:r>
            <a:r>
              <a:rPr b="1" i="0" lang="en-US" sz="1600" u="none" cap="none" strike="noStrike">
                <a:solidFill>
                  <a:srgbClr val="52146E"/>
                </a:solidFill>
                <a:latin typeface="Arial"/>
                <a:ea typeface="Arial"/>
                <a:cs typeface="Arial"/>
                <a:sym typeface="Arial"/>
              </a:rPr>
              <a:t>sun compass</a:t>
            </a:r>
            <a:r>
              <a:rPr b="0" i="0" lang="en-US" sz="1600" u="none" cap="none" strike="noStrike">
                <a:solidFill>
                  <a:srgbClr val="000000"/>
                </a:solidFill>
                <a:latin typeface="Arial"/>
                <a:ea typeface="Arial"/>
                <a:cs typeface="Arial"/>
                <a:sym typeface="Arial"/>
              </a:rPr>
              <a:t> is an orientation mechanism that uses the direction of the sun, its azimuth, as a reference for holding a bearing. A bearing is a direction measured around the horizon relative to geographic north, so the compass converts a solar position into a chosen compass direction.</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Mouritsen and Frost tested autumn migrants of the eastern North American monarch, </a:t>
            </a:r>
            <a:r>
              <a:rPr b="0" i="1" lang="en-US" sz="1600" u="none" cap="none" strike="noStrike">
                <a:solidFill>
                  <a:srgbClr val="000000"/>
                </a:solidFill>
                <a:latin typeface="Arial"/>
                <a:ea typeface="Arial"/>
                <a:cs typeface="Arial"/>
                <a:sym typeface="Arial"/>
              </a:rPr>
              <a:t>Danaus plexippus</a:t>
            </a:r>
            <a:r>
              <a:rPr b="0" i="0" lang="en-US" sz="1600" u="none" cap="none" strike="noStrike">
                <a:solidFill>
                  <a:srgbClr val="000000"/>
                </a:solidFill>
                <a:latin typeface="Arial"/>
                <a:ea typeface="Arial"/>
                <a:cs typeface="Arial"/>
                <a:sym typeface="Arial"/>
              </a:rPr>
              <a:t>, in an outdoor flight simulator. A butterfly turned freely around a vertical tether under a visible sky, and migrants whose light schedule matched local time held a group mean heading of 225°.</a:t>
            </a:r>
            <a:endParaRPr/>
          </a:p>
          <a:p>
            <a:pPr indent="0" lvl="0" marL="0" marR="0" rtl="0" algn="l">
              <a:lnSpc>
                <a:spcPct val="108000"/>
              </a:lnSpc>
              <a:spcBef>
                <a:spcPts val="0"/>
              </a:spcBef>
              <a:spcAft>
                <a:spcPts val="0"/>
              </a:spcAft>
              <a:buNone/>
            </a:pPr>
            <a:r>
              <a:rPr b="0" i="0" lang="en-US" sz="1600" u="none" cap="none" strike="noStrike">
                <a:solidFill>
                  <a:srgbClr val="000000"/>
                </a:solidFill>
                <a:latin typeface="Arial"/>
                <a:ea typeface="Arial"/>
                <a:cs typeface="Arial"/>
                <a:sym typeface="Arial"/>
              </a:rPr>
              <a:t>Eastern monarchs travel toward overwintering sites in central Mexico, and some journeys exceed 3,500 km. A sustained southwest heading under the open sky is the behavior that a sun compass would produce, so the simulator measures the compass output directly.</a:t>
            </a:r>
            <a:endParaRPr/>
          </a:p>
        </p:txBody>
      </p:sp>
      <p:pic>
        <p:nvPicPr>
          <p:cNvPr descr="f02_f2a.png" id="100" name="Google Shape;100;p2"/>
          <p:cNvPicPr preferRelativeResize="0"/>
          <p:nvPr/>
        </p:nvPicPr>
        <p:blipFill rotWithShape="1">
          <a:blip r:embed="rId2">
            <a:alphaModFix/>
          </a:blip>
          <a:srcRect b="0" l="0" r="0" t="0"/>
          <a:stretch/>
        </p:blipFill>
        <p:spPr>
          <a:xfrm>
            <a:off x="7825778" y="1280160"/>
            <a:ext cx="2111576" cy="4297679"/>
          </a:xfrm>
          <a:prstGeom prst="rect">
            <a:avLst/>
          </a:prstGeom>
          <a:noFill/>
          <a:ln>
            <a:noFill/>
          </a:ln>
        </p:spPr>
      </p:pic>
      <p:sp>
        <p:nvSpPr>
          <p:cNvPr id="101" name="Google Shape;101;p2"/>
          <p:cNvSpPr txBox="1"/>
          <p:nvPr/>
        </p:nvSpPr>
        <p:spPr>
          <a:xfrm>
            <a:off x="6138367" y="5669279"/>
            <a:ext cx="548640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000000"/>
                </a:solidFill>
                <a:latin typeface="Arial"/>
                <a:ea typeface="Arial"/>
                <a:cs typeface="Arial"/>
                <a:sym typeface="Arial"/>
              </a:rPr>
              <a:t>Mouritsen &amp; Frost (2002), Fig. 2(A). Local-time migrants maintain southwest headings.</a:t>
            </a:r>
            <a:endParaRPr/>
          </a:p>
        </p:txBody>
      </p:sp>
      <p:sp>
        <p:nvSpPr>
          <p:cNvPr id="102" name="Google Shape;102;p2"/>
          <p:cNvSpPr/>
          <p:nvPr/>
        </p:nvSpPr>
        <p:spPr>
          <a:xfrm>
            <a:off x="566928" y="6382512"/>
            <a:ext cx="11057839" cy="9144"/>
          </a:xfrm>
          <a:prstGeom prst="rect">
            <a:avLst/>
          </a:prstGeom>
          <a:solidFill>
            <a:srgbClr val="DACCE0"/>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Mouritsen &amp; Frost (2002)</a:t>
            </a:r>
            <a:endParaRPr/>
          </a:p>
        </p:txBody>
      </p:sp>
      <p:sp>
        <p:nvSpPr>
          <p:cNvPr id="104" name="Google Shape;104;p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000000"/>
                </a:solidFill>
                <a:latin typeface="Arial"/>
                <a:ea typeface="Arial"/>
                <a:cs typeface="Arial"/>
                <a:sym typeface="Arial"/>
              </a:rPr>
              <a:t>02a</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