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315" r:id="rId65"/>
    <p:sldId id="258" r:id="rId7"/>
    <p:sldId id="259" r:id="rId8"/>
    <p:sldId id="314" r:id="rId64"/>
    <p:sldId id="260" r:id="rId9"/>
    <p:sldId id="313" r:id="rId63"/>
    <p:sldId id="261" r:id="rId10"/>
    <p:sldId id="262" r:id="rId11"/>
    <p:sldId id="263" r:id="rId12"/>
    <p:sldId id="312" r:id="rId62"/>
    <p:sldId id="264" r:id="rId13"/>
    <p:sldId id="265" r:id="rId14"/>
    <p:sldId id="266" r:id="rId15"/>
    <p:sldId id="311" r:id="rId61"/>
    <p:sldId id="267" r:id="rId16"/>
    <p:sldId id="268" r:id="rId17"/>
    <p:sldId id="269" r:id="rId18"/>
    <p:sldId id="310" r:id="rId60"/>
    <p:sldId id="270" r:id="rId19"/>
    <p:sldId id="271" r:id="rId20"/>
    <p:sldId id="309" r:id="rId59"/>
    <p:sldId id="272" r:id="rId21"/>
    <p:sldId id="273" r:id="rId22"/>
    <p:sldId id="274" r:id="rId23"/>
    <p:sldId id="308" r:id="rId58"/>
    <p:sldId id="275" r:id="rId24"/>
    <p:sldId id="276" r:id="rId25"/>
    <p:sldId id="277" r:id="rId26"/>
    <p:sldId id="278" r:id="rId27"/>
    <p:sldId id="279" r:id="rId28"/>
    <p:sldId id="307" r:id="rId57"/>
    <p:sldId id="280" r:id="rId29"/>
    <p:sldId id="281" r:id="rId30"/>
    <p:sldId id="282" r:id="rId31"/>
    <p:sldId id="306" r:id="rId56"/>
    <p:sldId id="283" r:id="rId32"/>
    <p:sldId id="284" r:id="rId33"/>
    <p:sldId id="285" r:id="rId34"/>
    <p:sldId id="305" r:id="rId55"/>
    <p:sldId id="286" r:id="rId35"/>
    <p:sldId id="287" r:id="rId36"/>
    <p:sldId id="288" r:id="rId37"/>
    <p:sldId id="289" r:id="rId38"/>
    <p:sldId id="290" r:id="rId39"/>
    <p:sldId id="291" r:id="rId40"/>
    <p:sldId id="304" r:id="rId54"/>
    <p:sldId id="292" r:id="rId41"/>
    <p:sldId id="293" r:id="rId42"/>
    <p:sldId id="294" r:id="rId43"/>
    <p:sldId id="295" r:id="rId44"/>
    <p:sldId id="303" r:id="rId53"/>
    <p:sldId id="296" r:id="rId45"/>
    <p:sldId id="297" r:id="rId46"/>
    <p:sldId id="298" r:id="rId47"/>
    <p:sldId id="302" r:id="rId52"/>
    <p:sldId id="299" r:id="rId48"/>
    <p:sldId id="300" r:id="rId49"/>
    <p:sldId id="301" r:id="rId50"/>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51" roundtripDataSignature="AMtx7mhb12cxDPWGcjKrqk0SUJTxLQCS5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slide" Target="slides/slide24.xml"/><Relationship Id="rId29" Type="http://schemas.openxmlformats.org/officeDocument/2006/relationships/slide" Target="slides/slide25.xml"/><Relationship Id="rId30" Type="http://schemas.openxmlformats.org/officeDocument/2006/relationships/slide" Target="slides/slide26.xml"/><Relationship Id="rId31" Type="http://schemas.openxmlformats.org/officeDocument/2006/relationships/slide" Target="slides/slide27.xml"/><Relationship Id="rId32" Type="http://schemas.openxmlformats.org/officeDocument/2006/relationships/slide" Target="slides/slide28.xml"/><Relationship Id="rId33" Type="http://schemas.openxmlformats.org/officeDocument/2006/relationships/slide" Target="slides/slide29.xml"/><Relationship Id="rId34" Type="http://schemas.openxmlformats.org/officeDocument/2006/relationships/slide" Target="slides/slide30.xml"/><Relationship Id="rId35" Type="http://schemas.openxmlformats.org/officeDocument/2006/relationships/slide" Target="slides/slide31.xml"/><Relationship Id="rId36" Type="http://schemas.openxmlformats.org/officeDocument/2006/relationships/slide" Target="slides/slide32.xml"/><Relationship Id="rId37" Type="http://schemas.openxmlformats.org/officeDocument/2006/relationships/slide" Target="slides/slide33.xml"/><Relationship Id="rId38" Type="http://schemas.openxmlformats.org/officeDocument/2006/relationships/slide" Target="slides/slide34.xml"/><Relationship Id="rId39" Type="http://schemas.openxmlformats.org/officeDocument/2006/relationships/slide" Target="slides/slide35.xml"/><Relationship Id="rId40" Type="http://schemas.openxmlformats.org/officeDocument/2006/relationships/slide" Target="slides/slide36.xml"/><Relationship Id="rId41" Type="http://schemas.openxmlformats.org/officeDocument/2006/relationships/slide" Target="slides/slide37.xml"/><Relationship Id="rId42" Type="http://schemas.openxmlformats.org/officeDocument/2006/relationships/slide" Target="slides/slide38.xml"/><Relationship Id="rId43" Type="http://schemas.openxmlformats.org/officeDocument/2006/relationships/slide" Target="slides/slide39.xml"/><Relationship Id="rId44" Type="http://schemas.openxmlformats.org/officeDocument/2006/relationships/slide" Target="slides/slide40.xml"/><Relationship Id="rId45" Type="http://schemas.openxmlformats.org/officeDocument/2006/relationships/slide" Target="slides/slide41.xml"/><Relationship Id="rId46" Type="http://schemas.openxmlformats.org/officeDocument/2006/relationships/slide" Target="slides/slide42.xml"/><Relationship Id="rId47" Type="http://schemas.openxmlformats.org/officeDocument/2006/relationships/slide" Target="slides/slide43.xml"/><Relationship Id="rId48" Type="http://schemas.openxmlformats.org/officeDocument/2006/relationships/slide" Target="slides/slide44.xml"/><Relationship Id="rId49" Type="http://schemas.openxmlformats.org/officeDocument/2006/relationships/slide" Target="slides/slide45.xml"/><Relationship Id="rId50" Type="http://schemas.openxmlformats.org/officeDocument/2006/relationships/slide" Target="slides/slide46.xml"/><Relationship Id="rId51" Type="http://customschemas.google.com/relationships/presentationmetadata" Target="metadata"/><Relationship Id="rId52" Type="http://schemas.openxmlformats.org/officeDocument/2006/relationships/slide" Target="slides/slide47.xml"/><Relationship Id="rId53" Type="http://schemas.openxmlformats.org/officeDocument/2006/relationships/slide" Target="slides/slide48.xml"/><Relationship Id="rId54" Type="http://schemas.openxmlformats.org/officeDocument/2006/relationships/slide" Target="slides/slide49.xml"/><Relationship Id="rId55" Type="http://schemas.openxmlformats.org/officeDocument/2006/relationships/slide" Target="slides/slide50.xml"/><Relationship Id="rId56" Type="http://schemas.openxmlformats.org/officeDocument/2006/relationships/slide" Target="slides/slide51.xml"/><Relationship Id="rId57" Type="http://schemas.openxmlformats.org/officeDocument/2006/relationships/slide" Target="slides/slide52.xml"/><Relationship Id="rId58" Type="http://schemas.openxmlformats.org/officeDocument/2006/relationships/slide" Target="slides/slide53.xml"/><Relationship Id="rId59" Type="http://schemas.openxmlformats.org/officeDocument/2006/relationships/slide" Target="slides/slide54.xml"/><Relationship Id="rId60" Type="http://schemas.openxmlformats.org/officeDocument/2006/relationships/slide" Target="slides/slide55.xml"/><Relationship Id="rId61" Type="http://schemas.openxmlformats.org/officeDocument/2006/relationships/slide" Target="slides/slide56.xml"/><Relationship Id="rId62" Type="http://schemas.openxmlformats.org/officeDocument/2006/relationships/slide" Target="slides/slide57.xml"/><Relationship Id="rId63" Type="http://schemas.openxmlformats.org/officeDocument/2006/relationships/slide" Target="slides/slide58.xml"/><Relationship Id="rId64" Type="http://schemas.openxmlformats.org/officeDocument/2006/relationships/slide" Target="slides/slide59.xml"/><Relationship Id="rId65" Type="http://schemas.openxmlformats.org/officeDocument/2006/relationships/slide" Target="slides/slide6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 name="Shape 15"/>
        <p:cNvGrpSpPr/>
        <p:nvPr/>
      </p:nvGrpSpPr>
      <p:grpSpPr>
        <a:xfrm>
          <a:off x="0" y="0"/>
          <a:ext cx="0" cy="0"/>
          <a:chOff x="0" y="0"/>
          <a:chExt cx="0" cy="0"/>
        </a:xfrm>
      </p:grpSpPr>
      <p:sp>
        <p:nvSpPr>
          <p:cNvPr id="16" name="Google Shape;16;p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 name="Google Shape;17;p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Magnetoreception: sea turtle and migratory bird magnetic compasses</a:t>
            </a: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Lecture 23. NEUR 411 · NEUROETHOLOGY · FALL 2026. Monday, October 19, 2026.</a:t>
            </a:r>
            <a:br>
              <a:rPr b="0" i="0" lang="en-US" sz="1200" u="none" cap="none" strike="noStrike">
                <a:solidFill>
                  <a:schemeClr val="dk1"/>
                </a:solidFill>
                <a:latin typeface="Calibri"/>
                <a:ea typeface="Calibri"/>
                <a:cs typeface="Calibri"/>
                <a:sym typeface="Calibri"/>
              </a:rPr>
            </a:b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Figure: Lohmann (1991), Fig. 1. Published drawing of the loggerhead hatchling and swimming preparation.</a:t>
            </a: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Figure source: https://doi.org/10.1242/jeb.155.1.37</a:t>
            </a:r>
            <a:br>
              <a:rPr b="0" i="0" lang="en-US" sz="1200" u="none" cap="none" strike="noStrike">
                <a:solidFill>
                  <a:schemeClr val="dk1"/>
                </a:solidFill>
                <a:latin typeface="Calibri"/>
                <a:ea typeface="Calibri"/>
                <a:cs typeface="Calibri"/>
                <a:sym typeface="Calibri"/>
              </a:rPr>
            </a:b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 Loggerhead hatchlings can orient in Earth-strength magnetic fields before ocean experience. The title figure shows the original turtle orientation preparation from Lohmann (1991).</a:t>
            </a:r>
            <a:br>
              <a:rPr b="0" i="0" lang="en-US" sz="1200" u="none" cap="none" strike="noStrike">
                <a:solidFill>
                  <a:schemeClr val="dk1"/>
                </a:solidFill>
                <a:latin typeface="Calibri"/>
                <a:ea typeface="Calibri"/>
                <a:cs typeface="Calibri"/>
                <a:sym typeface="Calibri"/>
              </a:rPr>
            </a:b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References:</a:t>
            </a: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Lohmann KJ (1991). Magnetic Orientation By Hatchling Loggerhead Sea Turtles (Caretta Caretta). Journal of Experimental Biology 155(1):37-49. https://doi.org/10.1242/jeb.155.1.37</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 name="Shape 28"/>
        <p:cNvGrpSpPr/>
        <p:nvPr/>
      </p:nvGrpSpPr>
      <p:grpSpPr>
        <a:xfrm>
          <a:off x="0" y="0"/>
          <a:ext cx="0" cy="0"/>
          <a:chOff x="0" y="0"/>
          <a:chExt cx="0" cy="0"/>
        </a:xfrm>
      </p:grpSpPr>
      <p:sp>
        <p:nvSpPr>
          <p:cNvPr id="29" name="Google Shape;29;p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 name="Google Shape;30;p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Magnetoreception is the detection of magnetic fields. Loggerhead sea turtles, Caretta caretta, leave their nesting beach before navigating offshore. Lohmann tested whether newly emerged hatchlings could derive a swimming direction from Earth-strength magnetic fields when visible landmarks were unavailable.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 compass provides direction rather than location. The light exposure preceding the dark test is part of the preparation, so the result cannot be interpreted as magnetic orientation without any previous visual experience.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Hatchlings swam in a harness connected to a freely rotating lever. A rheostat converted lever position into an electrical record of heading. After exposure to a dim eastern light, turtles swam for 90–180 min in complete darkness under either the natural field or an experimentally reversed horizontal component.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natural-field group preferred 42°, whereas the reversed-field group preferred 196°. The field manipulation therefore changed the directional response. Magnetic influence on orientation was therefore demonstrated in a preparation in which visible landmarks were unavailable and the magnetic field was the controlled variable.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Lohmann KJ (1991). Magnetic Orientation By Hatchling Loggerhead Sea Turtles (Caretta Caretta). Journal of Experimental Biology 155(1):37-49. https://doi.org/10.1242/jeb.155.1.37</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Lohmann (1991), Fig. 2(A–B). Magnetic reversal shifts the preferred swimming direction.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https://doi.org/10.1242/jeb.155.1.37</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 name="Shape 41"/>
        <p:cNvGrpSpPr/>
        <p:nvPr/>
      </p:nvGrpSpPr>
      <p:grpSpPr>
        <a:xfrm>
          <a:off x="0" y="0"/>
          <a:ext cx="0" cy="0"/>
          <a:chOff x="0" y="0"/>
          <a:chExt cx="0" cy="0"/>
        </a:xfrm>
      </p:grpSpPr>
      <p:sp>
        <p:nvSpPr>
          <p:cNvPr id="42" name="Google Shape;42;p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 name="Google Shape;43;p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Lohmann’s orientation arena was a 1.02-m-diameter inverted satellite dish surrounded by a 130-cm magnetic coil. A harness encircled the carapace without preventing swimming. The turtle could pull the lever through a full circle while remaining inside a controlled water-filled preparation.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harness and tracking system are a behavioral readout. They do not record magnetic receptor activity, and they do not reveal whether the turtle obtains magnetic information from its eyes, head or another tissue.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recording system was calibrated against known directions and resolved heading within 15°. Investigators distinguished circling from oriented swimming, defined as remaining within a 90° sector for at least 3 min. This definition selected periods in which the animal maintained a course rather than repeatedly traversing every direction.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experiment measured attempted swimming direction, not geographical displacement or migratory speed. Waves, ocean currents and distant landmarks were absent. Its strength is control over a single sensory variable, so a change in heading can be attributed to the magnetic field.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Lohmann KJ (1991). Magnetic Orientation By Hatchling Loggerhead Sea Turtles (Caretta Caretta). Journal of Experimental Biology 155(1):37-49. https://doi.org/10.1242/jeb.155.1.37</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Lohmann (1991), Fig. 1. Original turtle harness, orientation arena and magnetic coil.</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https://doi.org/10.1242/jeb.155.1.37</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 name="Google Shape;56;p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The coil reversed the horizontal magnetic component while leaving the vertical component unchanged. The imposed field opposed the natural horizontal field, so magnetic north shifted by 180°. The reversed horizontal field ranged from 0.23 to 0.26 Oe within the swimming zone; the natural horizontal field was 0.26 Oe.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Oersted is the magnetic field unit retained in this historical paper. Keep the reported units attached to their original measurements; the experiment compared controlled field configurations rather than testing responses to a modern everyday magnetic compass.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Both groups received the same initial eastern light and were subsequently tested in darkness. Preferred headings changed from 42° in the natural field to 196° after reversal, a reported shift of 154°. Orientation under reversal was more dispersed, so the behavioral response was not a perfectly rigid copy of the imposed rotation.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These controls weaken an explanation based solely on a fixed room direction. The experiment demonstrates sensitivity to the manipulated field geometry. The horizontal reversal shifts magnetic north by 180°, and experiments that vary inclination test whether the compass depends on the polarity of the field or on the slope of the field lines.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Lohmann KJ (1991). Magnetic Orientation By Hatchling Loggerhead Sea Turtles (Caretta Caretta). Journal of Experimental Biology 155(1):37-49. https://doi.org/10.1242/jeb.155.1.37</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Lohmann (1991), Fig. 2(B). Orientation under reversal of the horizontal field component.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https://doi.org/10.1242/jeb.155.1.37</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p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9" name="Google Shape;69;p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Magnetic inclination is the angle at which field lines intersect the horizontal surface. Lohmann and Lohmann varied inclination while keeping total field strength approximately constant. Their preparation therefore separated the directional slope of the field from intensity, the magnitude of the magnetic field.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total field is composed of horizontal and vertical components. Changing their relative contribution changes inclination, whereas the controlled overall magnitude prevents intensity from supplying the explanation for the treatment difference.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Two orthogonal coil systems controlled the horizontal and vertical components independently. Hatchlings swam in a 1.22-m arena, and a digital encoder recorded heading to the nearest 1.4° every 10 s. The measured total field strength was 0.044–0.045 mT across the experimental conditions.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Computers and power supplies remained active in every treatment and were located in an adjacent room. Similar sounds and vibrations were therefore present regardless of inclination. A change in behavior under these conditions can be attributed more specifically to field geometry than to equipment switching or a correlated change in field magnitude.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Lohmann KJ, Lohmann CMF (1994). Detection of Magnetic Inclination Angle by Sea Turtles: A Possible Mechanism for Determining Latitude. Journal of Experimental Biology 194(1):23-32. https://doi.org/10.1242/jeb.194.1.23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Lohmann &amp; Lohmann (1994), Fig. 1. Independent horizontal and vertical coils control inclination.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https://doi.org/10.1242/jeb.194.1.23</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6: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 name="Google Shape;82;p6: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Hatchlings first swam toward an eastern light for 10 min. After the light was extinguished, investigators changed inclination, allowed 3 min for adjustment, and recorded swimming for 5 min in darkness. Each animal experienced only one inclination treatment, avoiding repeated exposure to an unfamiliar sequence of fields.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experiment distinguishes sensory detection from the expression of an oriented motor response. A detectable field can fail to trigger a shared heading, especially when it lacks the ecological meaning of a field encountered near a route boundary.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At the local inclination of 57°, turtles preferred 90°, approximately east. At 60°, they preferred 200°, south-southwest. At 30°, their preferred heading was 57°, northeast. Fields inclined at 75°, 45° or 15° did not produce a consistent group direction under the same test procedure.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contrast between 57° and 60° establishes discrimination between nearby inclination conditions while field strength remains constant. The different headings at 57°, 60° and 30° show that hatchlings respond to the angle of the field lines, and some inclinations produced no consistent group direction under the same procedure.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Lohmann KJ, Lohmann CMF (1994). Detection of Magnetic Inclination Angle by Sea Turtles: A Possible Mechanism for Determining Latitude. Journal of Experimental Biology 194(1):23-32. https://doi.org/10.1242/jeb.194.1.23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Lohmann &amp; Lohmann (1994), Fig. 2. Swimming responses to six field inclination angles.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https://doi.org/10.1242/jeb.194.1.23</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7: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5" name="Google Shape;95;p7: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An isoclinic is a line connecting locations with the same magnetic inclination. The published North Atlantic map places inclination values alongside currents followed by young loggerheads. The northern gyre boundary approaches the region where the Gulf Stream divides and colder water lies farther north.</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 latitude-related signal is not automatically a unique address. The same inclination can occur at multiple locations, so positional use requires an appropriate geographical range, additional magnetic parameters or information from other sensory systems.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Turtles exposed to 60° inclination swam south-southwest, whereas those exposed to 30° swam northeast. These directions are consistent with movements away from the northern and southern extremes of the gyre. The controlled experiment established inclination-dependent behavior; the geographical interpretation connects that behavior to plausible survival consequences.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authors proposed that inclination could contribute to approximate latitude detection and recognition of nesting regions. Inclination varies with latitude, so the angle of the field lines could mark approximate position along the migratory route.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Lohmann KJ, Lohmann CMF (1994). Detection of Magnetic Inclination Angle by Sea Turtles: A Possible Mechanism for Determining Latitude. Journal of Experimental Biology 194(1):23-32. https://doi.org/10.1242/jeb.194.1.23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Lohmann &amp; Lohmann (1994), Fig. 3. Published gyre currents and magnetic inclination isolines.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https://doi.org/10.1242/jeb.194.1.23</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8: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8" name="Google Shape;108;p8: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A magnetic signature is the combination of magnetic parameters characteristic of a location. Lohmann and colleagues replicated three fields from the North Atlantic migratory route. Unlike experiments that changed inclination alone, these treatments used combinations of inclination and intensity that naturally occur in widely separated oceanic regions.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experimental variable was the regional magnetic field rather than physical travel. The hatchlings did not encounter different water masses, coastlines or currents during testing, so those cues cannot account for the between-treatment headings.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Hatchlings tethered inside a computerized coil system oriented east-southeast in the northern Florida field, approximately south in the northeastern gyre field, and west-northwest in the southern gyre field. The tracking apparatus recorded heading while the animals remained physically in the same laboratory arena.</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field-dependent changes are consistent with entering favorable currents and avoiding displacement beyond the gyre. They establish recognition of regional magnetic conditions with different motor responses. Hatchlings therefore respond to combinations of inclination and intensity that mark regions of the route, with a different heading for each regional field.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Lohmann KJ, Cain SD, Dodge SA, Lohmann CMF (2001). Regional Magnetic Fields as Navigational Markers for Sea Turtles. Science 294(5541):364-366. https://doi.org/10.1126/science.1064557</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Lohmann et al. (2001), Fig. 1. Three regional fields evoke different hatchling headings.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https://doi.org/10.1126/science.1064557</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9: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1" name="Google Shape;121;p9: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The hatchlings in the regional-field experiment had never entered the ocean. Their different headings therefore did not require previous experience of the tested oceanic regions. A directional response could be expressed upon first exposure to a magnetic signature encountered naturally near a critical route boundary.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 map sense determines something about position, whereas a compass sets a heading. The regional-field assay requires a location-dependent change in compass direction, but it does not reveal how the brain represents the field or chooses the resulting action.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An inherited large-scale map is one possible interpretation. A simpler alternative is a set of field-triggered instructions: swim south under one signature and west-northwest under another. Both accounts predict appropriate local heading changes, but only the first requires a more general representation of geographical position.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laboratory responses distinguish regional fields without deciding between an inherited map and field-triggered instructions. More sophisticated navigation could develop as turtles mature, and experience-dependent magnetic learning can coexist with early boundary responses.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Lohmann KJ, Cain SD, Dodge SA, Lohmann CMF (2001). Regional Magnetic Fields as Navigational Markers for Sea Turtles. Science 294(5541):364-366. https://doi.org/10.1126/science.1064557</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Lohmann et al. (2001), Fig. 1. Regional orientation responses along the North Atlantic gyre.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https://doi.org/10.1126/science.1064557</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10: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4" name="Google Shape;134;p10: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Associative learning links a sensory cue with an outcome. Goforth and colleagues conditioned captive juvenile loggerheads for 2 months using two replicated geographical fields. Animals spent equal amounts of time in the fields, but food was delivered only in one assigned magnetic signature.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Counterbalancing means that the relationship between a field and its reward differs between animals. A field that predicts food for one turtle predicts no food for another, allowing the learned association to be separated from an intrinsic response to that field.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first pairing represented the Gulf of Mexico and New Hampshire. Reward assignments were counterbalanced: either field could predict food. This control separates recognition of a particular magnetic signature from a universal preference for a northern field, southern field or fixed condition of the coil apparatus.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After conditioning, turtles were tested without food. Their responses were stronger in the field previously paired with feeding. Magnetic information therefore acquired learned behavioral significance. The learned response shows that magnetic signatures can serve as cues that predict food.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Goforth KM, Lohmann CMF, Gavin A, Henning R, Harvey A, Hinton TL, Lim DS, Lohmann KJ (2025). Learned magnetic map cues and two mechanisms of magnetoreception in turtles. Nature 638(8052):1015-1022. https://doi.org/10.1038/s41586-024-08554-y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Goforth et al. (2025), Fig. 1(a). Locations of the two conditioned magnetic signatures.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https://doi.org/10.1038/s41586-024-08554-y</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1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7" name="Google Shape;147;p1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The conditioned response was turtle dancing, a food-anticipatory pattern involving vertical body tilt, the head near or above water, mouth opening and alternating front-flipper movement. Investigators scored the duration of this behavior from video recordings while turtles experienced a magnetic field without receiving food.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Blind scoring reduces the chance that knowledge of the field influences behavioral classification. Testing without food also prevents the animal from using food odor or the immediate presence of a feeding reward to distinguish the two fields.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Observers were blind to magnetic treatment. Turtles danced more in the rewarded signature than in the unrewarded signature after equivalent exposure to both during training. The measured output was time spent in a defined behavioral state rather than the direction of swimming toward a remembered destination.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This assay tests discrimination of location-related magnetic cues without requiring a magnetic compass heading. That separation permits selective tests of a map mechanism. Turtle dancing is a behavioral readout of the learned significance of the field, and it can be scored from video by observers who do not know the treatment.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Goforth KM, Lohmann CMF, Gavin A, Henning R, Harvey A, Hinton TL, Lim DS, Lohmann KJ (2025). Learned magnetic map cues and two mechanisms of magnetoreception in turtles. Nature 638(8052):1015-1022. https://doi.org/10.1038/s41586-024-08554-y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Goforth et al. (2025), Fig. 1(b). Rewarded fields elicit stronger food-anticipatory behavior.</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https://doi.org/10.1038/s41586-024-08554-y</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1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0" name="Google Shape;160;p1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Additional cohorts learned pairs representing Cuba and Delaware, Florida and Maine, and locations elsewhere in the western Atlantic. These pairings differed in geographical and magnetic separation. Recognition therefore was not restricted to the first Gulf of Mexico–New Hampshire contrast used to establish the assay.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evidence concerns acquisition under controlled reinforcement. A laboratory capacity to learn multiple signatures is compatible with natural return to different feeding areas, but the behavioral experiment does not directly document such a journey.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Turtles first conditioned with the Florida–Maine pair were subsequently conditioned with a second pair representing a second set of magnetic signatures. They also discriminated the rewarded and unrewarded signatures in that second pairing. The same animals could acquire an additional association after the first training period.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result supports flexibility in magnetic learning rather than a single fixed regional response. Recognition extended across pairs that differed in geographical and magnetic separation, and a second pair was learned after the first.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Goforth KM, Lohmann CMF, Gavin A, Henning R, Harvey A, Hinton TL, Lim DS, Lohmann KJ (2025). Learned magnetic map cues and two mechanisms of magnetoreception in turtles. Nature 638(8052):1015-1022. https://doi.org/10.1038/s41586-024-08554-y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Goforth et al. (2025), Fig. 2(c). A second pair of fields can acquire a learned association.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https://doi.org/10.1038/s41586-024-08554-y</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1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3" name="Google Shape;173;p1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The Gulf of Mexico–New Hampshire cohort was tested again 4 months after initial conditioning. No conditioning to those two fields occurred during the intervening period. The follow-up therefore assessed persistence of the association rather than immediate responses after another reinforced training session.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learned response can persist without immediate reinforcement, but its expression still depends on the animal’s motivational and behavioral state. The experiment measures an available association through food anticipation, not an isolated physical trace of memory in neural tissue.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Turtles continued to express more food-anticipatory behavior in their originally rewarded field. Magnetic signature information can remain behaviorally available for several months. Retention was assessed through the same compass-free discrimination task used after the initial 2-month conditioning period.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result establishes that a learned magnetic association can persist for at least four months in captivity. Retention was measured with the same compass-free discrimination task, without further conditioning during the interval.</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Goforth KM, Lohmann CMF, Gavin A, Henning R, Harvey A, Hinton TL, Lim DS, Lohmann KJ (2025). Learned magnetic map cues and two mechanisms of magnetoreception in turtles. Nature 638(8052):1015-1022. https://doi.org/10.1038/s41586-024-08554-y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Goforth et al. (2025), Fig. 1(c). Field discrimination persists four months after conditioning.</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https://doi.org/10.1038/s41586-024-08554-y</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1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6" name="Google Shape;186;p1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Inclination and intensity varied together during conditioning. To determine whether either parameter alone could explain recognition, Goforth and colleagues constructed mismatched fields that combined the inclination of one learned field with the intensity of the other. These combinations separated features that normally occurred as a pair.</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mismatched combinations were designed from the trained fields rather than from an animal’s physical displacement. Their purpose was to isolate the contribution of each magnetic parameter to recognition of the rewarded condition.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Turtles were tested in the rewarded field, the unrewarded field and the two mismatched combinations. The manipulation retained one rewarded component while changing the other. It therefore tested whether a familiar inclination or a familiar intensity was sufficient to evoke the learned food-anticipatory response.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 signature can function as a compound cue rather than a single coordinate. This experimental design addresses the information used for discrimination, without requiring assumptions about a complete geographical map. Mismatched fields separate the contribution of inclination from that of intensity, so the compound cue can be analyzed into its components.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Goforth KM, Lohmann CMF, Gavin A, Henning R, Harvey A, Hinton TL, Lim DS, Lohmann KJ (2025). Learned magnetic map cues and two mechanisms of magnetoreception in turtles. Nature 638(8052):1015-1022. https://doi.org/10.1038/s41586-024-08554-y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Goforth et al. (2025), Fig. 4(a). Published inclination–intensity combinations used in cue mixing.</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https://doi.org/10.1038/s41586-024-08554-y</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1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9" name="Google Shape;199;p1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Turtles responded more strongly to the rewarded signature than to either mismatched combination. Neither the rewarded inclination paired with the wrong intensity nor the rewarded intensity paired with the wrong inclination produced the response expected from the complete trained field.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response criterion is learned recognition. The field measurements define the physical stimuli, while behavioral duration reports whether a stimulus has acquired reward-related meaning; neither measurement records the intermediate neural computation.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mismatch responses resembled those to the unrewarded field. The result supports joint use of inclination and intensity in this task. It does not mean that animals cannot detect either parameter individually; it means that one familiar component was insufficient to identify the rewarded compound under the tested conditions.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distinction separates sensory discrimination from learned decision rules. An animal may detect several field properties but respond only when their combination matches a stored association. The comparison with a stored association could occur in transduction, sensory pathways, memory circuits or the selection of a food-anticipatory action.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Goforth KM, Lohmann CMF, Gavin A, Henning R, Harvey A, Hinton TL, Lim DS, Lohmann KJ (2025). Learned magnetic map cues and two mechanisms of magnetoreception in turtles. Nature 638(8052):1015-1022. https://doi.org/10.1038/s41586-024-08554-y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Goforth et al. (2025), Fig. 4(b–c). Mismatched field components do not evoke the rewarded response.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https://doi.org/10.1038/s41586-024-08554-y</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16: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2" name="Google Shape;212;p16: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Radiofrequency fields are rapidly oscillating electromagnetic fields. Goforth and colleagues used broadband magnetic noise spanning 0.1–10 MHz to compare a learned map-only assay with a hatchling orientation task requiring map and compass information. The same class of perturbation was tested against different behavioral outputs.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 negative disruption result must be limited to the applied exposure. Persistence of map discrimination under 0.1–10 MHz noise does not prove that every possible oscillating field is ineffective, and compass disruption alone does not identify cryptochrome in turtles.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learned rewarded-field response persisted with radiofrequency exposure. In contrast, hatchlings exposed to the Cape Verde signature lost their consistent group heading under the noise treatment. Without noise, their reported preferred direction was 293.1°, approximately westward; with noise, the group no longer maintained a shared direction.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dissociation is consistent with different mechanisms contributing to map and compass behavior. The learned map response persisted with radiofrequency noise, whereas the compass-dependent heading was lost, and the two tasks used different developmental stages and preparations.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Goforth KM, Lohmann CMF, Gavin A, Henning R, Harvey A, Hinton TL, Lim DS, Lohmann KJ (2025). Learned magnetic map cues and two mechanisms of magnetoreception in turtles. Nature 638(8052):1015-1022. https://doi.org/10.1038/s41586-024-08554-y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Goforth et al. (2025), Fig. 5(a–b). Radiofrequency fields spare learned maps but disrupt orientation.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https://doi.org/10.1038/s41586-024-08554-y</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17: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5" name="Google Shape;225;p17: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Mackiewicz and colleagues conditioned young loggerheads with signatures representing Turks and Caicos and Haiti. Animals learned which field predicted food, with the rewarded location counterbalanced. Testing again quantified turtle dancing rather than a compass heading, preserving the separation between positional cue recognition and directed swimming.</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Magnetite is an iron oxide that can carry a magnetic moment. A particle-based transduction hypothesis predicts that remagnetization can disturb a sensory signal, but a behavioral pulse effect is not itself a microscopic identification of such a particle.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Conditioning alternated rewarded and unrewarded sessions over 2 months. Turtles received food 5–15 min after the field changed during rewarded sessions. Initial tests without food confirmed greater responding in the rewarded field before the magnetic-pulse treatments were introduced.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 magnetic pulse is a strong, brief field intended to alter magnetization in iron-based candidate receptors. The task provides an opportunity to perturb a learned map response without requiring compass use. A pulse that changes learned map responses would support a magnetization-based receptor mechanism for the map.</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Mackiewicz AG, Glazener AM, Goforth KM, Lim DS, Lohmann CMF, Lohmann KJ (2025). Disruption of the sea turtle magnetic map sense by a magnetic pulse. Journal of Experimental Biology 228(22):jeb251243. https://doi.org/10.1242/jeb.251243</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Goforth KM, Lohmann CMF, Gavin A, Henning R, Harvey A, Hinton TL, Lim DS, Lohmann KJ (2025). Learned magnetic map cues and two mechanisms of magnetoreception in turtles. Nature 638(8052):1015-1022. https://doi.org/10.1038/s41586-024-08554-y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Mackiewicz et al. (2025), Fig. 1(A). Locations of learned magnetic signatures in the pulse experiment.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https://doi.org/10.1242/jeb.251243</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18: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8" name="Google Shape;238;p18: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Turtles were assessed after no-pulse, sham-pulse and actual-pulse treatments. Sham animals were handled in the magnetizer without receiving a pulse. The actual treatment lasted 5 ms and reached a maximum intensity of 85 mT, far stronger than the Earth-strength fields used for ordinary magnetic discrimination.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 sham control reproduces the nonmagnetic components of an intervention. It cannot remove every conceivable effect of the actual pulse, but it tests whether placement in the apparatus and handling alone account for the change in behavior.</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Sham and actual treatments were followed by at least 12 h of overnight recovery before testing. Controls were completed before the pulse treatment to prevent a previous pulse from contaminating control behavior. The order of the two control conditions was randomized, and observers scoring video were blind to treatment.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These precautions separate pulse exposure from much of the handling disturbance. The initial conditioning result establishes a measurable learned response against which the subsequent perturbation can be assessed, and the controls were completed before the pulse treatment so that a previous pulse could not contaminate them.</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Mackiewicz AG, Glazener AM, Goforth KM, Lim DS, Lohmann CMF, Lohmann KJ (2025). Disruption of the sea turtle magnetic map sense by a magnetic pulse. Journal of Experimental Biology 228(22):jeb251243. https://doi.org/10.1242/jeb.251243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Mackiewicz et al. (2025), Fig. 1(B). Conditioning establishes magnetic field discrimination.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https://doi.org/10.1242/jeb.251243</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19: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1" name="Google Shape;251;p19: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After a magnetic pulse, turtles spent less time dancing in their rewarded field relative to the no-pulse condition. Sham handling did not cause the same reduction. Pulse directions parallel and antiparallel to the horizontal Earth field did not produce distinguishable responses in this preparation and were considered together.</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map-only task is important because reduced directional swimming could reflect either compass impairment or failed location recognition. Here the measured change concerns a learned magnetic discrimination response rather than the ability to maintain a bearing.</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result is consistent with disturbance of a particle-based map mechanism. A brief pulse could alter the arrangement or magnetic moments of magnetite-containing structures, whereas it is not expected to leave the same persistent change in a radical-pair reaction. These are mechanistic predictions used to interpret the behavioral effect.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Pulse sensitivity supports a candidate class of mechanism, magnetite-containing structures whose magnetic moments a strong pulse could alter. The receptor cells, their connection to a sensory nerve and the ion channel through which a particle might affect membrane voltage are the elements that a complete receptor pathway would include.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Mackiewicz AG, Glazener AM, Goforth KM, Lim DS, Lohmann CMF, Lohmann KJ (2025). Disruption of the sea turtle magnetic map sense by a magnetic pulse. Journal of Experimental Biology 228(22):jeb251243. https://doi.org/10.1242/jeb.251243</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Goforth KM, Lohmann CMF, Gavin A, Henning R, Harvey A, Hinton TL, Lim DS, Lohmann KJ (2025). Learned magnetic map cues and two mechanisms of magnetoreception in turtles. Nature 638(8052):1015-1022. https://doi.org/10.1038/s41586-024-08554-y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Mackiewicz et al. (2025), Fig. 2. A magnetic pulse reduces the response to the rewarded field.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https://doi.org/10.1242/jeb.251243</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20: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4" name="Google Shape;264;p20: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McNally and colleagues examined loggerhead nesting records from Pinellas County, Florida. Their study mapped nesting beaches alongside developed shorelines and classified hatchling disorientation events. This field context concerns the initial movement from nest to sea rather than the controlled offshore magnetic-compass preparations.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Disorientation refers to hatchlings failing to proceed appropriately toward the ocean. The field records describe an ecological outcome influenced by multiple cues; their observational associations cannot establish a specific neural or magnetic causal mechanism.</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Across the recorded nests, disorientation occurred in 35.18%, and roughly 30.48% of hatchlings from affected nests were classified as disoriented. The authors evaluated shoreline context, nest characteristics and spatial patterns. These observational measures document a substantial problem at the transition between terrestrial emergence and marine migration.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Artificial light on a developed beach can compete with orientation cues, and the observational records document how often hatchlings fail to reach the sea. Controlled laboratory experiments with magnetic fields address the sensory basis of a compass, and beach disorientation concerns a separate stage of the journey.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McNally KL, Oakley C, Davila M, Farinelli S (2026). Disorientation patterns of loggerhead sea turtle (Caretta caretta) hatchlings in Pinellas County, Florida, USA. PLOS One 21(4):e0347104. https://doi.org/10.1371/journal.pone.0347104</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McNally et al. (2026), Fig. 1. Published map of nesting beaches and developed shorelines.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https://doi.org/10.1371/journal.pone.0347104</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2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7" name="Google Shape;277;p2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European robins, Erithacus rubecula, display migratory restlessness, directional activity expressed during the season when they would normally migrate. Wiltschko and Wiltschko used the frequency of perch activation in circular cages to measure preferred direction without requiring birds to undertake a free flight.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Migratory state supplies the behavioral context. A sensory compass can guide different seasonal directions, so a spring northerly preference is an interaction between magnetic direction information and the animal’s current migratory program.</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In spring, robins tested in the local field preferred 29°, north-northeast. The historical study reported a field strength of 0.46 gauss and an inclination of +66°. The behavioral readout therefore related a seasonal directional tendency to a controlled geomagnetic configuration.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experiment concerns a compass because it measures direction rather than a location-dependent correction toward a distant target. Perch activation provides a simple orientation measure that is recorded without a free flight.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Wiltschko W, Wiltschko R (1972). Magnetic Compass of European Robins. Science 176(4030):62-64. https://doi.org/10.1126/science.176.4030.62</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Wiltschko &amp; Wiltschko (1972), Fig. 1(a). European robin orientation in the local magnetic field.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https://doi.org/10.1126/science.176.4030.62</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2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0" name="Google Shape;290;p2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A polarity compass distinguishes the two directed ends of a magnetic vector. An inclination compass uses the axial slope of field lines relative to the horizontal or gravity. Wiltschko and Wiltschko reversed individual field components and then reversed both to distinguish these alternatives.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Field axis and field polarity are different properties. Reversing both components changes the direction of the vector while retaining the same undirected line in space, which is why the two compass hypotheses predict different behavioral outcomes.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Reversing the horizontal component changed the preferred course from 29° to 240°. Reversing both horizontal and vertical components preserved the field axis despite reversing vector polarity. Robins then retained a northerly preference, which is incompatible with treating magnetic polarity alone as the directional cue.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behavioral pattern supports an inclination-based compass. An inclination compass reads the axis of the field lines relative to gravity, so reversing both components preserves the information that the bird uses.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Wiltschko W, Wiltschko R (1972). Magnetic Compass of European Robins. Science 176(4030):62-64. https://doi.org/10.1126/science.176.4030.62</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Wiltschko &amp; Wiltschko (1972), Fig. 1(b,d). Horizontal reversal and full polarity reversal have different effects.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https://doi.org/10.1126/science.176.4030.62</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2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3" name="Google Shape;303;p2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The historical experiments also used a field of 0.46 gauss with zero inclination. Its horizontal direction and total strength were maintained, but the field no longer had a downward or upward slope. This manipulation tested whether horizontal magnetic polarity was enough to guide a shared migratory preference.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conclusion depends on the pattern across several field configurations. A single disorientation treatment can have many explanations, whereas component reversal and preserved behavior after full polarity reversal constrain the information available to the animal.</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Robins did not express a consistent direction under that horizontal condition. Together with the component-reversal experiments, this result supports use of inclination relative to the animal’s up–down reference. In the northern hemisphere, an inclined axis permits a distinction between poleward and equatorward directions.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result shows that the directional code of the compass depends on the inclined axis of the field relative to the up–down reference of the bird, and a horizontal field does not supply it.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Wiltschko W, Wiltschko R (1972). Magnetic Compass of European Robins. Science 176(4030):62-64. https://doi.org/10.1126/science.176.4030.62</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Wiltschko &amp; Wiltschko (1972), Fig. 1(e). Robins lose directional preference in a horizontal field.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https://doi.org/10.1126/science.176.4030.62</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2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6" name="Google Shape;316;p2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Mouritsen and colleagues used activity-associated gene expression to identify brain regions recruited during night vision. They measured ZENK, an immediate-early transcriptional marker whose expression changes with neuronal activation. Migratory garden warblers and European robins were compared with non-migratory zebra finches and canaries.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authors collected brains after birds had been relatively still and awake, limiting movement-related expression. That control strengthens the association with the sensory condition without turning a gene-expression marker into proof of a magnetic receptor.</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Birds were exposed to dim illumination approximating moonlight, 0.04 lux, or ordinary daytime room light. Brain sections revealed a dorsal forebrain region designated Cluster N with strong night-time expression in migrants. The anatomical preparation linked a defined group of forebrain regions to a controlled visual condition.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ZENK expression is an indirect activity measure integrated over time rather than an instantaneous spike recording. Cluster N is therefore a candidate processing region for night vision in migratory songbirds, and its activity can reflect visual sensitivity, magnetic information or other orientation cues.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Mouritsen H, Feenders G, Liedvogel M, Wada K, Jarvis ED (2005). Night-vision brain area in migratory songbirds. Proceedings of the National Academy of Sciences 102(23):8339-8344. https://doi.org/10.1073/pnas.0409575102</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Mouritsen et al. (2005), Fig. 1(A–B). Activity-associated gene expression marks Cluster N anatomy.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https://doi.org/10.1073/pnas.0409575102</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p2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9" name="Google Shape;329;p2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Cluster N expression was stronger during night vision in the migratory species than during daytime testing. Non-migratory zebra finches and canaries did not exhibit the same nocturnal increase. The comparison therefore connected the response to both illumination conditions and the tested species’ ecological specialization.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 regional gene-expression difference provides an anatomical hypothesis that requires functional tests. A necessary pathway is established more directly when manipulating the region selectively changes the target behavior while suitable control behaviors remain available.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dim-light condition was 0.04 lux, whereas daytime room illumination exceeded 275 lux. Investigators also minimized recent movement before collecting brain tissue. The published expression measurements compare sensory states while reducing the possibility that flight or gross locomotor activity alone produced the regional difference.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Cluster N expression was higher at night in migratory species than in non-migratory species, which supports specialization of this region for nocturnal sensory processing. Minimizing recent movement before tissue collection reduced the possibility that flight alone produced the difference.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Mouritsen H, Feenders G, Liedvogel M, Wada K, Jarvis ED (2005). Night-vision brain area in migratory songbirds. Proceedings of the National Academy of Sciences 102(23):8339-8344. https://doi.org/10.1073/pnas.0409575102</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Mouritsen et al. (2005), Fig. 1(C). Cluster N activity differs between day, night and species.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https://doi.org/10.1073/pnas.0409575102</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Mouritsen et al. (2005), Fig. 2. Dorsal brain preparation and location of Cluster 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https://doi.org/10.1073/pnas.0409575102</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p26: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4" name="Google Shape;344;p26: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To test dependence on visual input, Mouritsen and colleagues covered both eyes of European robins with light-tight caps during nocturnal testing. This manipulation prevented light from reaching the retina while retaining the general night-time context of the experiment. Control birds experienced the same dim-light period with uncovered eyes.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retina is the light-sensitive tissue lining the eye. Removing retinal illumination changes many signals simultaneously, which is why eye occlusion is a pathway-dependence test rather than a molecularly selective magnetoreception experiment.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Cluster N activation fell markedly when both eyes were covered. The response therefore depends on input associated with vision rather than merely the time of night or an internal migratory state. The published histology pairs the anatomical signal with measurements of expression and observed behavior.</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Eye covering blocks ordinary vision, so the fall in Cluster N activation places the region in a visually dependent processing pathway. More selective tests can then separate magnetic information from other dim-light visual signals.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Mouritsen H, Feenders G, Liedvogel M, Wada K, Jarvis ED (2005). Night-vision brain area in migratory songbirds. Proceedings of the National Academy of Sciences 102(23):8339-8344. https://doi.org/10.1073/pnas.0409575102</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Mouritsen et al. (2005), Fig. 3(A–E). Eye covering suppresses night-time Cluster N activation.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https://doi.org/10.1073/pnas.0409575102</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Mouritsen et al. (2005), Fig. 2. Dorsal brain preparation and location of Cluster 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https://doi.org/10.1073/pnas.0409575102</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p27: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9" name="Google Shape;359;p27: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Zapka and colleagues tested European robin orientation before and after bilateral chemical lesions of Cluster N. Ibotenic acid, the lesion agent, was injected locally; sham-operated birds underwent the corresponding procedure without the active injection. Subsequent tests followed at least 1 week of recovery.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 regional lesion interrupts multiple cells and their local interactions. The behavioral loss localizes a necessary processing stage more strongly than gene expression alone, but it cannot assign magnetic computation to one identified cell type or synapse.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Tests compared the natural magnetic field, a field with magnetic north rotated 120° anticlockwise, and an inverted vertical component. Sham-lesioned birds changed direction appropriately with the field manipulations. Cluster-N-lesioned birds failed to express coherent magnetic compass orientation across those conditions.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intervention establishes that the damaged region is necessary for normal magnetic compass performance in this preparation. Sham-operated birds changed direction with each field manipulation, so the loss of orientation in lesioned birds is attributable to damage to Cluster N and not to the surgery.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Zapka M, Heyers D, Hein CM, Engels S, Schneider NL, Hans J, Weiler S, Dreyer D, Kishkinev D, Wild JM, Mouritsen H (2009). Visual but not trigeminal mediation of magnetic compass information in a migratory bird. Nature 461(7268):1274-1277. https://doi.org/10.1038/nature08528</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Mouritsen H, Feenders G, Liedvogel M, Wada K, Jarvis ED (2005). Night-vision brain area in migratory songbirds. Proceedings of the National Academy of Sciences 102(23):8339-8344. https://doi.org/10.1073/pnas.0409575102</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Zapka et al. (2009), Fig. 2(a–h). Cluster N lesions abolish magnetic compass orientation.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https://doi.org/10.1038/nature08528</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Mouritsen et al. (2005), Fig. 2. Dorsal brain preparation and location of Cluster 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https://doi.org/10.1073/pnas.0409575102</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p28: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4" name="Google Shape;374;p28: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Cluster-N-lesioned birds retained orientation under a stationary planetarium sky simulating local stars. Lesioned and sham-operated birds also oriented during natural sunset. These tests assessed whether the intervention had caused a general inability to move directionally or use visual orientation information.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Phototaxis is directed movement toward or away from light. A sunset response can contain both light attraction and compass information, so a preserved directional response is useful as a control without requiring that every component be magnetically mediated.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preserved celestial responses contrast with loss of magnetic compass orientation. The sunset response included a tendency toward the setting sun, so the authors considered the interaction between migratory direction and phototaxis. The star test supplied an additional orientation condition under controlled celestial information.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controls support a relatively selective magnetic-compass deficit rather than complete blindness or loss of all orientation behavior. Birds with Cluster N lesions oriented with stars and at sunset, so the deficit is specific to the magnetic compass among the tested orientation behaviors.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Zapka M, Heyers D, Hein CM, Engels S, Schneider NL, Hans J, Weiler S, Dreyer D, Kishkinev D, Wild JM, Mouritsen H (2009). Visual but not trigeminal mediation of magnetic compass information in a migratory bird. Nature 461(7268):1274-1277. https://doi.org/10.1038/nature08528</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Mouritsen H, Feenders G, Liedvogel M, Wada K, Jarvis ED (2005). Night-vision brain area in migratory songbirds. Proceedings of the National Academy of Sciences 102(23):8339-8344. https://doi.org/10.1073/pnas.0409575102</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Zapka et al. (2009), Fig. 3(a–c). Lesioned birds retain star and sun compass orientation.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https://doi.org/10.1038/nature08528</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Mouritsen et al. (2005), Fig. 2. Dorsal brain preparation and location of Cluster 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https://doi.org/10.1073/pnas.0409575102</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p29: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9" name="Google Shape;389;p29: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The ophthalmic branch of the trigeminal nerve, designated V1, carries sensory information from structures around the upper beak and head. Zapka and colleagues cut this branch bilaterally or performed sham surgery to test its necessity for the European robin’s magnetic compass.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 nerve-section experiment establishes necessity for the behavior actually tested. Preserved compass performance after V1 section cannot be generalized to every navigational problem, especially a task that requires the bird to recognize geographical displacement.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Sham-operated birds preferred approximately 10° in the natural field and 245° after magnetic north was rotated. V1-sectioned birds preferred approximately 354° and 264°, respectively. Both groups therefore changed their headings with the experimentally rotated field despite the loss of this trigeminal input in one group.</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result means V1 is not necessary for the compass task under these conditions. Compass direction and location-related map information are different functions, and this experiment tested the compass and not a displacement correction.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Zapka M, Heyers D, Hein CM, Engels S, Schneider NL, Hans J, Weiler S, Dreyer D, Kishkinev D, Wild JM, Mouritsen H (2009). Visual but not trigeminal mediation of magnetic compass information in a migratory bird. Nature 461(7268):1274-1277. https://doi.org/10.1038/nature08528</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Zapka et al. (2009), Fig. 1(a–f). Ophthalmic trigeminal sections spare the robin magnetic compass.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https://doi.org/10.1038/nature08528</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p30: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2" name="Google Shape;402;p30: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Pakhomov and colleagues tested Eurasian reed warblers, Acrocephalus scirpaceus, in spring migration. Virtual magnetic displacement changes local magnetic parameters to those of another place while leaving the animal physically at its capture site. Celestial, olfactory and landmark information therefore remains associated with the original location.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coil changed several geographical field properties together. The experiment tests the combined magnetic signature, so it cannot assign the compensatory response solely to inclination, intensity or declination.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capture-site field had intensity 50,118 nT and inclination 70.1°. The replicated field from Zvenigorod, approximately 1,000 km east, had intensity 52,175 nT and inclination 71.2°. Declination also changed from +5.5° to +10.1°; declination is the angular difference between geographical and magnetic north.</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Intact sensory pathways permit a response to this conflicting magnetic location cue. A heading change after virtual displacement can test map-based compensation more specifically than a simple compass rotation. The birds stay at the capture site, so a heading change reflects the magnetic information alone while celestial, olfactory and landmark cues keep their original values.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Pakhomov A, Anashina A, Heyers D, Kobylkov D, Mouritsen H, Chernetsov N (2018). Magnetic map navigation in a migratory songbird requires trigeminal input. Scientific Reports 8(1):11975. https://doi.org/10.1038/s41598-018-30477-8</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Zapka M, Heyers D, Hein CM, Engels S, Schneider NL, Hans J, Weiler S, Dreyer D, Kishkinev D, Wild JM, Mouritsen H (2009). Visual but not trigeminal mediation of magnetic compass information in a migratory bird. Nature 461(7268):1274-1277. https://doi.org/10.1038/nature08528</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Pakhomov et al. (2018), Fig. 1(A–D). A virtual displacement tests magnetic map compensation.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https://doi.org/10.1038/s41598-018-30477-8</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Zapka et al. (2009), Fig. 1(a–f). Published V1 section diagram and robin compass controls.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https://doi.org/10.1038/nature08528</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p3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7" name="Google Shape;417;p3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After bilateral V1 section or sham surgery, reed warblers were exposed to the virtual displacement field. Sham-operated birds changed from a northeasterly capture-site course to approximately 323°, northwest, consistent with compensating for an eastward displacement relative to their breeding destinations.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Map and compass functions can depend on different inputs. The loss of a location-dependent correction while a consistent heading remains available is a stronger distinction than disorientation alone, but it still does not reveal the nerve’s exact magnetic coding scheme.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V1-sectioned birds instead maintained a course near 34°, northeast, similar to their original direction. They remained directionally active but did not make the compensatory change. Preserved oriented behavior makes a complete failure of movement or all compass function an inadequate explanation of the result.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experiment establishes a requirement for trigeminal input in this magnetic map task. The complementary results come from reed warblers for the map and from robins for the compass.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Pakhomov A, Anashina A, Heyers D, Kobylkov D, Mouritsen H, Chernetsov N (2018). Magnetic map navigation in a migratory songbird requires trigeminal input. Scientific Reports 8(1):11975. https://doi.org/10.1038/s41598-018-30477-8</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Zapka M, Heyers D, Hein CM, Engels S, Schneider NL, Hans J, Weiler S, Dreyer D, Kishkinev D, Wild JM, Mouritsen H (2009). Visual but not trigeminal mediation of magnetic compass information in a migratory bird. Nature 461(7268):1274-1277. https://doi.org/10.1038/nature08528</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Pakhomov et al. (2018), Fig. 1(A–D). Trigeminal sections prevent the compensatory heading change.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https://doi.org/10.1038/s41598-018-30477-8</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Zapka et al. (2009), Fig. 1(a–f). Published V1 section diagram and robin compass controls.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https://doi.org/10.1038/nature08528</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p3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2" name="Google Shape;432;p3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Engels and colleagues found that European robins in wooden huts on an urban campus failed to express their expected migratory direction. They added electrically connected, grounded aluminum screening to reduce ambient electromagnetic noise while leaving the static Earth field available.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 static field remains approximately constant in time, whereas radiofrequency noise oscillates rapidly. The weak oscillating exposure can interfere with a sensory process even though its amplitude is far smaller than the static field that normally supplies compass information.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screening attenuated noise from about 50 kHz to at least 20 MHz by roughly two orders of magnitude. Birds then recovered seasonal magnetic orientation. Reported ambient noise had peak magnetic intensities of approximately 0.1–50 nT at individual frequencies, much smaller than the local static field of about 49,000 nT.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intervention linked orientation performance to the electromagnetic environment. Screening alone changes more than one potential environmental variable, so the authors followed it with grounding and deliberate-noise controls. Grounding the screens and adding deliberate noise then test whether electromagnetic noise is the variable responsible.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Engels S, Schneider NL, Lefeldt N, Hein CM, Zapka M, Michalik A, Elbers D, Kittel A, Hore PJ, Mouritsen H (2014). Anthropogenic electromagnetic noise disrupts magnetic compass orientation in a migratory bird. Nature 509(7500):353-356. https://doi.org/10.1038/nature13290</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Engels et al. (2014), Fig. 1(a–d). Shielding restores robin orientation and reduces electromagnetic noise.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https://doi.org/10.1038/nature13290</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p3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5" name="Google Shape;445;p3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The aluminum screens lost much of their protective effect when disconnected from electrical ground. Engels and colleagues alternated tests of the same birds between grounded and ungrounded screened huts, while the experimenters evaluating orientation were unaware which hut carried which electrical condition.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Grounding connects conductive screening to an electrical reference so that its effect on noise differs from an isolated metal enclosure. The behavioral comparison is tied to measured exposure conditions, not merely to the nominal construction of the huts.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Birds oriented toward their spring migratory direction in grounded huts but lacked a consistent direction in ungrounded huts. The accompanying field measurements documented the difference in electromagnetic noise rather than treating the presence of metal screening alone as a sufficient control.</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reversible manipulation strengthens the causal association between the screened electromagnetic environment and compass performance. Field measurements documented the difference in electromagnetic noise between grounded and ungrounded huts, which links the change in orientation to the electromagnetic environment.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Engels S, Schneider NL, Lefeldt N, Hein CM, Zapka M, Michalik A, Elbers D, Kittel A, Hore PJ, Mouritsen H (2014). Anthropogenic electromagnetic noise disrupts magnetic compass orientation in a migratory bird. Nature 509(7500):353-356. https://doi.org/10.1038/nature13290</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Engels et al. (2014), Fig. 2(a–f). Grounding controls the effect of shielding on orientation.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https://doi.org/10.1038/nature13290</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p3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8" name="Google Shape;458;p3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Inside grounded screened huts, investigators deliberately introduced broadband electromagnetic noise from approximately 2 kHz to 9 MHz. Robins again became disoriented. The treatment therefore recreated the behavioral deficit in a preparation that otherwise supported normal magnetic orientation.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study measured behavioral direction and exposure spectra. It did not record a retinal ion channel or magnetic-sensitive neuron, so radiofrequency susceptibility constrains possible mechanisms without completing the transduction pathway.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With the same electronics present but generator output reduced to its minimum, birds recovered their seasonal direction and responded to a 120° anticlockwise rotation of the static field. Separate bands near 20–450 kHz and 600 kHz–3 MHz also interfered with orientation in further tests.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controls make the mere presence of a generator an inadequate explanation. The effects support an electromagnetic sensitivity relevant to compass processing, and independent molecular and anatomical tests evaluate the candidate radical-pair mechanism.</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Engels S, Schneider NL, Lefeldt N, Hein CM, Zapka M, Michalik A, Elbers D, Kittel A, Hore PJ, Mouritsen H (2014). Anthropogenic electromagnetic noise disrupts magnetic compass orientation in a migratory bird. Nature 509(7500):353-356. https://doi.org/10.1038/nature13290</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Engels et al. (2014), Fig. 3(a–e). Reintroduced broadband noise disrupts magnetic orientation.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https://doi.org/10.1038/nature13290</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p3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71" name="Google Shape;471;p3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Cryptochromes are flavoproteins, proteins containing a flavin cofactor, related to photolyases, proteins involved in light-dependent DNA repair. Günther and colleagues compared retinal cryptochrome messenger RNA, the transcript used to produce protein, across migratory and non-migratory seasons in European robins and domestic chickens.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 circadian pattern is a roughly daily rhythm. A protein available across the night is compatible with a sensory role, but the expression experiment alone cannot separate that role from other physiological functions associated with the migratory season.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Cry4 transcript abundance increased during spring and autumn migratory seasons in robins, whereas the same migratory-season increase was not observed in chickens. The study also measured 24-h expression profiles: Cry1 and Cry2 varied more strongly over the day than Cry4, which exhibited relatively weak circadian variation.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expression pattern makes Cry4 a candidate relevant to nocturnal navigation rather than solely a strongly rhythmic clock transcript. Seasonal expression of Cry4 correlates with the migratory period, which makes it a candidate for a role in nocturnal navigation.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Günther A, Einwich A, Sjulstok E, Feederle R, Bolte P, Koch KW, Solov’yov IA, Mouritsen H (2018). Double-Cone Localization and Seasonal Expression Pattern Suggest a Role in Magnetoreception for European Robin Cryptochrome 4. Current Biology 28(2):211-223.e4. https://doi.org/10.1016/j.cub.2017.12.003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Günther et al. (2018), Fig. 2. Cry4 expression differs between migratory and non-migratory seasons.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https://doi.org/10.1016/j.cub.2017.12.003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Günther et al. (2018), Fig. 4(F–G). Magnified outer segments compare Cry4 with ultraviolet opsin staining.</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https://doi.org/10.1016/j.cub.2017.12.003</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p36: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86" name="Google Shape;486;p36: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The retina contains light-sensitive photoreceptors, including cones and rods. A photoreceptor’s outer segment is the specialized compartment containing light-sensitive membrane structures. Günther and colleagues used immunohistochemistry, antibody-based protein localization, to examine where Cry4 occurs in robin retinal tissue.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Monoclonal antibodies recognize a selected antigenic target, whereas polyclonal preparations include several antibody populations. Agreement between independent reagents helps constrain a localization claim, provided that their specificity is tested rather than assumed.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Cry4 immunoreactivity was concentrated in photoreceptor outer segments and appeared across peripheral and central retinal regions. The authors compared the staining pattern in robins and chickens and used both monoclonal and polyclonal reagents rather than relying on one antibody preparation.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Localization places the candidate protein in photoreceptor outer segments, a tissue compatible with a visually mediated magnetic process. The staining pattern was examined in robins and chickens with both monoclonal and polyclonal reagents.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Günther A, Einwich A, Sjulstok E, Feederle R, Bolte P, Koch KW, Solov’yov IA, Mouritsen H (2018). Double-Cone Localization and Seasonal Expression Pattern Suggest a Role in Magnetoreception for European Robin Cryptochrome 4. Current Biology 28(2):211-223.e4. https://doi.org/10.1016/j.cub.2017.12.003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Günther et al. (2018), Fig. 3(A–D). Cry4 staining is concentrated in photoreceptor outer segments.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https://doi.org/10.1016/j.cub.2017.12.003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Günther et al. (2018), Fig. 4(F–G). Magnified outer segments compare Cry4 with ultraviolet opsin staining.</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https://doi.org/10.1016/j.cub.2017.12.003</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p37: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01" name="Google Shape;501;p37: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Opsins are light-sensitive receptor proteins that help distinguish photoreceptor classes. The study combined Cry4 staining with antibodies to iodopsin, ultraviolet opsin, blue opsin and rhodopsin. Double staining tests whether two molecular labels occupy the same cellular compartment rather than merely nearby tissue.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Rhodopsin identifies rod photoreceptors in these comparisons. The absence of overlapping Cry4 signal in rod outer segments is a localization result, not proof that rods or other retinal cells are irrelevant to every stage of magnetic compass behavior.</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Cry4 signal overlapped iodopsin-positive outer segments, associated with long-wavelength single cones and double cones. It did not overlap the outer segments labeled by ultraviolet opsin, blue opsin or rhodopsin. Additional calbindin staining identified inner segments of double cones and supported the assignment of Cry4 to these cone classes.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Cry4 overlapped iodopsin-positive outer segments, which narrows the candidate cellular location to long-wavelength single cones and double cones. Ordinary photoreceptor identity and a hypothesized magnetic role are separate properties that experiments on function address.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Günther A, Einwich A, Sjulstok E, Feederle R, Bolte P, Koch KW, Solov’yov IA, Mouritsen H (2018). Double-Cone Localization and Seasonal Expression Pattern Suggest a Role in Magnetoreception for European Robin Cryptochrome 4. Current Biology 28(2):211-223.e4. https://doi.org/10.1016/j.cub.2017.12.003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Günther et al. (2018), Fig. 4(A–O). Double staining identifies the Cry4-positive cone classes.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https://doi.org/10.1016/j.cub.2017.12.003</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2" name="Shape 512"/>
        <p:cNvGrpSpPr/>
        <p:nvPr/>
      </p:nvGrpSpPr>
      <p:grpSpPr>
        <a:xfrm>
          <a:off x="0" y="0"/>
          <a:ext cx="0" cy="0"/>
          <a:chOff x="0" y="0"/>
          <a:chExt cx="0" cy="0"/>
        </a:xfrm>
      </p:grpSpPr>
      <p:sp>
        <p:nvSpPr>
          <p:cNvPr id="513" name="Google Shape;513;p38: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14" name="Google Shape;514;p38: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Günther and colleagues tested antibody specificity by replacing the primary antibody with pre-immune serum, absorbing it with its antigenic peptide, and expressing different cryptochromes in cultured cells. These controls address background staining and cross-reaction with related proteins rather than treating any fluorescent signal as Cry4.</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Antigenic-peptide absorption tests whether the staining depends on recognition of the antibody’s intended target sequence. A loss of signal after that control is useful evidence of specificity, while independent cell-expression controls address recognition of related proteins.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Western blots detected an approximately 61-kDa retinal protein and an approximately 89-kDa Cry4–GFP fusion protein in the expression preparation. GFP is green fluorescent protein used as a molecular tag. Cry4 antibody did not produce the corresponding signal in control cells expressing other tested cryptochromes or GFP alone.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controls support identification of the stained protein and strengthen the anatomical result. Reliable molecular localization is a prerequisite for a receptor hypothesis, and the antibody controls make the staining specific for Cry4.</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Günther A, Einwich A, Sjulstok E, Feederle R, Bolte P, Koch KW, Solov’yov IA, Mouritsen H (2018). Double-Cone Localization and Seasonal Expression Pattern Suggest a Role in Magnetoreception for European Robin Cryptochrome 4. Current Biology 28(2):211-223.e4. https://doi.org/10.1016/j.cub.2017.12.003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Günther et al. (2018), Fig. 6(A–N). Antibody controls test Cry4 localization and specificity.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https://doi.org/10.1016/j.cub.2017.12.003</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p39: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7" name="Google Shape;527;p39: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Xu and colleagues expressed and purified European robin Cry4 to test its photochemistry directly. Flavin adenine dinucleotide, or FAD, is the bound light-absorbing cofactor that can participate in electron transfer. A cofactor is a nonprotein component needed for a protein’s chemical function.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structural image is the authors’ published model, not an experimentally solved robin Cry4 structure. Its role is to represent a proposed molecular arrangement; spectroscopy and mass measurements provide the experimental evidence for the purified preparation.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Optical spectroscopy and native mass spectrometry indicated that more than 97% of the purified wild-type Cry4 population carried FAD. The supplementary spectrum separated major FAD-bound protein peaks from minor peaks assigned to protein lacking the cofactor. This preparation supplied a controlled molecular system independent of an intact animal.</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FAD binding establishes that the purified candidate possesses the component required for the studied radical-pair chemistry. The published structural model places FAD near a chain of tryptophan residues. Cry4 therefore has the cofactor and the electron-transfer chain on which the radical-pair mechanism depends.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Xu J, Jarocha LE, Zollitsch T, Konowalczyk M, Henbest KB, Richert S, Golesworthy MJ, Schmidt J, Déjean V, Sowood DJC, Bassetto M, Luo J, Walton JR, Fleming J, Wei Y, Pitcher TL, Moise G, Herrmann M, Yin H, Wu H, Bartölke R, Käsehagen SJ, Horst S, Dautaj G, Murton PDF, Gehrckens AS, Chelliah Y, Takahashi JS, Koch KW, Weber S, Solov’yov IA, Xie C, Mackenzie SR, Timmel CR, Mouritsen H, Hore PJ (2021). Magnetic sensitivity of cryptochrome 4 from a migratory songbird. Nature 594(7864):535-540. https://doi.org/10.1038/s41586-021-03618-9</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Günther A, Einwich A, Sjulstok E, Feederle R, Bolte P, Koch KW, Solov’yov IA, Mouritsen H (2018). Double-Cone Localization and Seasonal Expression Pattern Suggest a Role in Magnetoreception for European Robin Cryptochrome 4. Current Biology 28(2):211-223.e4. https://doi.org/10.1016/j.cub.2017.12.003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Xu et al. (2021), Supplementary Fig. S13. Mass spectra identify FAD-bound cryptochrome 4.</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https://doi.org/10.1038/s41586-021-03618-9</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Günther et al. (2018), Fig. 7(A–F). Published Cry4 structural model and FAD-binding region.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https://doi.org/10.1016/j.cub.2017.12.003</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0" name="Shape 540"/>
        <p:cNvGrpSpPr/>
        <p:nvPr/>
      </p:nvGrpSpPr>
      <p:grpSpPr>
        <a:xfrm>
          <a:off x="0" y="0"/>
          <a:ext cx="0" cy="0"/>
          <a:chOff x="0" y="0"/>
          <a:chExt cx="0" cy="0"/>
        </a:xfrm>
      </p:grpSpPr>
      <p:sp>
        <p:nvSpPr>
          <p:cNvPr id="541" name="Google Shape;541;p40: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42" name="Google Shape;542;p40: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A radical is a molecular species with an unpaired electron; a radical pair contains two radicals generated through a linked reaction. In Cry4, light-excited FAD can receive an electron through a chain of tryptophan residues, producing radicals whose subsequent reactions depend on their electronic states.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electron-transfer chain is a molecular pathway rather than a neural circuit. Changing radical lifetime alters the time available for magnetic interactions, but the experiment does not identify a neuronal membrane channel controlled by that chemistry.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Xu and colleagues replaced individual tryptophans with redox-inactive phenylalanine. Redox refers to electron-transfer chemistry. After 450-nm excitation, transient absorption measurements tracked changes over time. In the supplementary measurements, interrupted early transfer pathways produced radical-loss time constants of 180 ps and 900 ps.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Longer transfer pathways supported radicals persisting beyond the earliest nanosecond responses. The nearest-tryptophan mutation prevented the normal radical production observed in the wild-type preparation. Particular tryptophan residues therefore determine how quickly radicals form and how long they persist.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Xu J, Jarocha LE, Zollitsch T, Konowalczyk M, Henbest KB, Richert S, Golesworthy MJ, Schmidt J, Déjean V, Sowood DJC, Bassetto M, Luo J, Walton JR, Fleming J, Wei Y, Pitcher TL, Moise G, Herrmann M, Yin H, Wu H, Bartölke R, Käsehagen SJ, Horst S, Dautaj G, Murton PDF, Gehrckens AS, Chelliah Y, Takahashi JS, Koch KW, Weber S, Solov’yov IA, Xie C, Mackenzie SR, Timmel CR, Mouritsen H, Hore PJ (2021). Magnetic sensitivity of cryptochrome 4 from a migratory songbird. Nature 594(7864):535-540. https://doi.org/10.1038/s41586-021-03618-9</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Günther A, Einwich A, Sjulstok E, Feederle R, Bolte P, Koch KW, Solov’yov IA, Mouritsen H (2018). Double-Cone Localization and Seasonal Expression Pattern Suggest a Role in Magnetoreception for European Robin Cryptochrome 4. Current Biology 28(2):211-223.e4. https://doi.org/10.1016/j.cub.2017.12.003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Xu et al. (2021), Supplementary Fig. S2(a–d). Tryptophan mutations change radical kinetics and spectra.</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https://doi.org/10.1038/s41586-021-03618-9</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Günther et al. (2018), Fig. 7(A–F). Published Cry4 structural model and FAD-binding region.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https://doi.org/10.1016/j.cub.2017.12.003</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5" name="Shape 555"/>
        <p:cNvGrpSpPr/>
        <p:nvPr/>
      </p:nvGrpSpPr>
      <p:grpSpPr>
        <a:xfrm>
          <a:off x="0" y="0"/>
          <a:ext cx="0" cy="0"/>
          <a:chOff x="0" y="0"/>
          <a:chExt cx="0" cy="0"/>
        </a:xfrm>
      </p:grpSpPr>
      <p:sp>
        <p:nvSpPr>
          <p:cNvPr id="556" name="Google Shape;556;p4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57" name="Google Shape;557;p4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Electron spin is a quantum property of an electron, not literal mechanical spinning. Spin-correlated radical pairs can occupy singlet and triplet states with different reaction possibilities. A magnetic field can alter transitions between these states and thereby influence the yield of chemical products.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Singlet and triplet describe different combined spin states of the two electrons. The proposed compass mechanism requires field direction to influence a biologically useful chemical signal; this experiment measures chemical sensitivity rather than a completed retinal-to-brain encoding pathway.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Xu and colleagues measured field-dependent radical absorption in purified Cry4 after 450-nm excitation. The supplementary comparison covered fields up to 30 mT and tested wild-type protein against a tryptophan mutant. The mutant and wild type exhibited different magnetic field effects, connecting molecular structure to measured photochemical sensitivity.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measurements establish magnetic sensitivity of the radical chemistry in vitro. Wild-type protein and the tryptophan mutant showed different magnetic field effects, which connects molecular structure to photochemical sensitivity under controlled temperature and chemical conditions.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Xu J, Jarocha LE, Zollitsch T, Konowalczyk M, Henbest KB, Richert S, Golesworthy MJ, Schmidt J, Déjean V, Sowood DJC, Bassetto M, Luo J, Walton JR, Fleming J, Wei Y, Pitcher TL, Moise G, Herrmann M, Yin H, Wu H, Bartölke R, Käsehagen SJ, Horst S, Dautaj G, Murton PDF, Gehrckens AS, Chelliah Y, Takahashi JS, Koch KW, Weber S, Solov’yov IA, Xie C, Mackenzie SR, Timmel CR, Mouritsen H, Hore PJ (2021). Magnetic sensitivity of cryptochrome 4 from a migratory songbird. Nature 594(7864):535-540. https://doi.org/10.1038/s41586-021-03618-9</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Günther A, Einwich A, Sjulstok E, Feederle R, Bolte P, Koch KW, Solov’yov IA, Mouritsen H (2018). Double-Cone Localization and Seasonal Expression Pattern Suggest a Role in Magnetoreception for European Robin Cryptochrome 4. Current Biology 28(2):211-223.e4. https://doi.org/10.1016/j.cub.2017.12.003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Xu et al. (2021), Supplementary Fig. S3(a–b). Wild-type and mutant Cry4 have different magnetic field effects.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https://doi.org/10.1038/s41586-021-03618-9</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Günther et al. (2018), Fig. 7(A–F). Published Cry4 structural model and FAD-binding region.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https://doi.org/10.1016/j.cub.2017.12.003</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0" name="Shape 570"/>
        <p:cNvGrpSpPr/>
        <p:nvPr/>
      </p:nvGrpSpPr>
      <p:grpSpPr>
        <a:xfrm>
          <a:off x="0" y="0"/>
          <a:ext cx="0" cy="0"/>
          <a:chOff x="0" y="0"/>
          <a:chExt cx="0" cy="0"/>
        </a:xfrm>
      </p:grpSpPr>
      <p:sp>
        <p:nvSpPr>
          <p:cNvPr id="571" name="Google Shape;571;p4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72" name="Google Shape;572;p4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Photoreduction is light-driven electron gain. After illumination changes FAD’s oxidation state, a reusable sensory protein must return toward an appropriate starting state. Xu and colleagues measured optical spectra as photoreduced Cry4 reoxidized in contact with air without added redox reagents.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 receptor cycle includes both activation and recovery. Demonstrating that the candidate can reset is different from demonstrating that its changing state is read by a neuron; the downstream signaling partner and membrane mechanism remain unresolved in these studies.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supplementary experiment used 2 min of 450-nm illumination followed by spectra recorded at 2-min intervals. The main analysis reported recycling times of approximately 13 min from the neutral radical state toward oxidized FAD and approximately 1 min from the fully reduced state toward the neutral radical.</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These measurements establish a route for chemical resetting under the tested conditions. Recycling of the protein toward its starting state supports its plausibility as a reusable sensor, with times of about 13 minutes and about 1 minute for the two steps.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Xu J, Jarocha LE, Zollitsch T, Konowalczyk M, Henbest KB, Richert S, Golesworthy MJ, Schmidt J, Déjean V, Sowood DJC, Bassetto M, Luo J, Walton JR, Fleming J, Wei Y, Pitcher TL, Moise G, Herrmann M, Yin H, Wu H, Bartölke R, Käsehagen SJ, Horst S, Dautaj G, Murton PDF, Gehrckens AS, Chelliah Y, Takahashi JS, Koch KW, Weber S, Solov’yov IA, Xie C, Mackenzie SR, Timmel CR, Mouritsen H, Hore PJ (2021). Magnetic sensitivity of cryptochrome 4 from a migratory songbird. Nature 594(7864):535-540. https://doi.org/10.1038/s41586-021-03618-9</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Günther A, Einwich A, Sjulstok E, Feederle R, Bolte P, Koch KW, Solov’yov IA, Mouritsen H (2018). Double-Cone Localization and Seasonal Expression Pattern Suggest a Role in Magnetoreception for European Robin Cryptochrome 4. Current Biology 28(2):211-223.e4. https://doi.org/10.1016/j.cub.2017.12.003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Xu et al. (2021), Supplementary Fig. S15(a–b). Photoreduced Cry4 returns toward the oxidized state.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https://doi.org/10.1038/s41586-021-03618-9</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Günther et al. (2018), Fig. 7(A–F). Published Cry4 structural model and FAD-binding region.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https://doi.org/10.1016/j.cub.2017.12.003</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5" name="Shape 585"/>
        <p:cNvGrpSpPr/>
        <p:nvPr/>
      </p:nvGrpSpPr>
      <p:grpSpPr>
        <a:xfrm>
          <a:off x="0" y="0"/>
          <a:ext cx="0" cy="0"/>
          <a:chOff x="0" y="0"/>
          <a:chExt cx="0" cy="0"/>
        </a:xfrm>
      </p:grpSpPr>
      <p:sp>
        <p:nvSpPr>
          <p:cNvPr id="586" name="Google Shape;586;p4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87" name="Google Shape;587;p4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A proposed alternative receptor uses magnetite, an iron oxide whose particles can interact with magnetic fields. Treiber and colleagues reexamined iron-rich cells in pigeon upper beaks that had been proposed as magnetosensitive neurons. Prussian blue staining detects a form of iron accumulation but does not establish neuronal identity.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pigeon is a different species from the robin and reed warbler. The negative anatomical finding constrains a specific upper-beak receptor claim, rather than directly locating the receptor responsible for every trigeminally mediated map response.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Iron-positive cells occurred in subepidermal tissue, respiratory epithelium and feather follicles. Their positions and abundance varied strongly across birds rather than forming the claimed stereotyped bilateral sensory arrangement. At least 97% of the stained cells in the examined compartments contained visible nuclei.</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anatomy challenged identification of this particular iron-rich population as an organized receptor system. A material sensitive to magnetism must be linked to an identified sensory cell and pathway before it can be considered a receptor, and the iron-positive cells varied strongly across birds.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Treiber CD, Salzer MC, Riegler J, Edelman N, Sugar C, Breuss M, Pichler P, Cadiou H, Saunders M, Lythgoe M, Shaw J, Keays DA (2012). Clusters of iron-rich cells in the upper beak of pigeons are macrophages not magnetosensitive neurons. Nature 484(7394):367-370. https://doi.org/10.1038/nature11046</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Treiber et al. (2012), Fig. 1(a–k). Iron-positive cells occur in several upper-beak compartments.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https://doi.org/10.1038/nature11046</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8" name="Shape 598"/>
        <p:cNvGrpSpPr/>
        <p:nvPr/>
      </p:nvGrpSpPr>
      <p:grpSpPr>
        <a:xfrm>
          <a:off x="0" y="0"/>
          <a:ext cx="0" cy="0"/>
          <a:chOff x="0" y="0"/>
          <a:chExt cx="0" cy="0"/>
        </a:xfrm>
      </p:grpSpPr>
      <p:sp>
        <p:nvSpPr>
          <p:cNvPr id="599" name="Google Shape;599;p4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00" name="Google Shape;600;p4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Macrophages are immune cells that can accumulate and process material within tissues. Treiber and colleagues combined iron staining with neuronal markers, immune-marker staining and electron microscopy. This approach tested cell identity rather than assuming that an iron deposit near a sensory nerve is part of a magnetoreceptor.</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Ferritin stores iron, and siderosomes are iron-rich intracellular structures. Their presence can reflect immune-cell iron handling rather than a sensory transducer; chemical composition must be interpreted together with cellular identity and physiological function.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iron-positive populations rarely overlapped the tested neuronal markers and overlapped MHC class II, an antigen-presentation marker. Electron microscopy revealed ferritin-like granules about 6–9 nm across and iron-containing structures including siderosomes approximately 300 nm in size.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These results support macrophage identity for the examined cells. The iron-rich clusters examined in the upper beak are therefore immune cells and not magnetosensitive neurons, and the peripheral source of trigeminal magnetic information is a separate question.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Treiber CD, Salzer MC, Riegler J, Edelman N, Sugar C, Breuss M, Pichler P, Cadiou H, Saunders M, Lythgoe M, Shaw J, Keays DA (2012). Clusters of iron-rich cells in the upper beak of pigeons are macrophages not magnetosensitive neurons. Nature 484(7394):367-370. https://doi.org/10.1038/nature11046</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Treiber et al. (2012), Fig. 4(a–c). Immune-marker staining identifies iron-rich cells as macrophages.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https://doi.org/10.1038/nature11046</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Treiber et al. (2012), Fig. 3(a–f). Electron microscopy of iron-storing granules and siderosomes.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https://doi.org/10.1038/nature11046</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3" name="Shape 613"/>
        <p:cNvGrpSpPr/>
        <p:nvPr/>
      </p:nvGrpSpPr>
      <p:grpSpPr>
        <a:xfrm>
          <a:off x="0" y="0"/>
          <a:ext cx="0" cy="0"/>
          <a:chOff x="0" y="0"/>
          <a:chExt cx="0" cy="0"/>
        </a:xfrm>
      </p:grpSpPr>
      <p:sp>
        <p:nvSpPr>
          <p:cNvPr id="614" name="Google Shape;614;p4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15" name="Google Shape;615;p4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The turtle studies distinguish regional-field recognition from the direction selected after recognition. A learned food-anticipatory assay tests magnetic signatures without requiring a compass heading, whereas hatchling swimming assays can require both positional cues and directional information to produce an appropriate course.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Functional separation does not require that a navigation system use each sense independently during natural travel. A map can select the appropriate course and a compass can maintain it, while other sensory information influences both decisions.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Radiofrequency exposure spared learned turtle map discrimination but disrupted the compass-dependent orientation task. A strong magnetic pulse reduced learned map responses. In birds, Cluster N lesions disrupted compass behavior, whereas trigeminal sections impaired map compensation in reed warblers while sparing the tested robin compass.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converging evidence supports separable functions and candidate transduction processes, with important differences between species and preparations. Cry4 localization and purified photochemistry support a radical-pair hypothesis; particle-based maps remain plausible but lack an identified receptor pathway. The receptor-to-behavior circuits, including the transmitters and ion channels, connect these candidate mechanisms to behavior.</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Goforth KM, Lohmann CMF, Gavin A, Henning R, Harvey A, Hinton TL, Lim DS, Lohmann KJ (2025). Learned magnetic map cues and two mechanisms of magnetoreception in turtles. Nature 638(8052):1015-1022. https://doi.org/10.1038/s41586-024-08554-y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Mackiewicz AG, Glazener AM, Goforth KM, Lim DS, Lohmann CMF, Lohmann KJ (2025). Disruption of the sea turtle magnetic map sense by a magnetic pulse. Journal of Experimental Biology 228(22):jeb251243. https://doi.org/10.1242/jeb.251243</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Zapka M, Heyers D, Hein CM, Engels S, Schneider NL, Hans J, Weiler S, Dreyer D, Kishkinev D, Wild JM, Mouritsen H (2009). Visual but not trigeminal mediation of magnetic compass information in a migratory bird. Nature 461(7268):1274-1277. https://doi.org/10.1038/nature08528</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Pakhomov A, Anashina A, Heyers D, Kobylkov D, Mouritsen H, Chernetsov N (2018). Magnetic map navigation in a migratory songbird requires trigeminal input. Scientific Reports 8(1):11975. https://doi.org/10.1038/s41598-018-30477-8</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Günther A, Einwich A, Sjulstok E, Feederle R, Bolte P, Koch KW, Solov’yov IA, Mouritsen H (2018). Double-Cone Localization and Seasonal Expression Pattern Suggest a Role in Magnetoreception for European Robin Cryptochrome 4. Current Biology 28(2):211-223.e4. https://doi.org/10.1016/j.cub.2017.12.003</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Xu J, Jarocha LE, Zollitsch T, Konowalczyk M, Henbest KB, Richert S, Golesworthy MJ, Schmidt J, Déjean V, Sowood DJC, Bassetto M, Luo J, Walton JR, Fleming J, Wei Y, Pitcher TL, Moise G, Herrmann M, Yin H, Wu H, Bartölke R, Käsehagen SJ, Horst S, Dautaj G, Murton PDF, Gehrckens AS, Chelliah Y, Takahashi JS, Koch KW, Weber S, Solov’yov IA, Xie C, Mackenzie SR, Timmel CR, Mouritsen H, Hore PJ (2021). Magnetic sensitivity of cryptochrome 4 from a migratory songbird. Nature 594(7864):535-540. https://doi.org/10.1038/s41586-021-03618-9</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Goforth et al. (2025), Fig. 5(a–b). Map discrimination and compass-dependent orientation dissociate.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https://doi.org/10.1038/s41586-024-08554-y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Günther et al. (2018), Fig. 7(A–F). Published Cry4 structural model and FAD-binding region.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https://doi.org/10.1016/j.cub.2017.12.003</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8" name="Shape 628"/>
        <p:cNvGrpSpPr/>
        <p:nvPr/>
      </p:nvGrpSpPr>
      <p:grpSpPr>
        <a:xfrm>
          <a:off x="0" y="0"/>
          <a:ext cx="0" cy="0"/>
          <a:chOff x="0" y="0"/>
          <a:chExt cx="0" cy="0"/>
        </a:xfrm>
      </p:grpSpPr>
      <p:sp>
        <p:nvSpPr>
          <p:cNvPr id="629" name="Google Shape;629;p46: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30" name="Google Shape;630;p46: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Compass and map differ. A compass supplies direction; a magnetic map uses location-related field information. An orientation assay can require both.</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Turtles discriminate field geometry. Controlled inclination and regional-field changes evoke different swimming headings, including appropriate responses in ocean-inexperienced hatchlings.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Magnetic signatures can be learned. Juvenile loggerheads learn compound inclination–intensity cues and retain rewarded-field discrimination for at least four months.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Bird pathways serve different tasks. Cluster N is necessary for the tested robin magnetic compass; V1 input is necessary for magnetic map compensation in reed warblers.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Cry4 is a supported candidate. Retinal localization, antibody controls and magnetic-sensitive purified photochemistry support a radical-pair hypothesis without proving its complete neural mechanism.</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Receptor identity remains unresolved. Pulse effects support candidate particle-based maps, but iron-positive beak cells can be macrophages; a magnetic material alone is not an identified sensory receptor.</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Lohmann KJ, Cain SD, Dodge SA, Lohmann CMF (2001). Regional Magnetic Fields as Navigational Markers for Sea Turtles. Science 294(5541):364-366. https://doi.org/10.1126/science.1064557</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Goforth KM, Lohmann CMF, Gavin A, Henning R, Harvey A, Hinton TL, Lim DS, Lohmann KJ (2025). Learned magnetic map cues and two mechanisms of magnetoreception in turtles. Nature 638(8052):1015-1022. https://doi.org/10.1038/s41586-024-08554-y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Mackiewicz AG, Glazener AM, Goforth KM, Lim DS, Lohmann CMF, Lohmann KJ (2025). Disruption of the sea turtle magnetic map sense by a magnetic pulse. Journal of Experimental Biology 228(22):jeb251243. https://doi.org/10.1242/jeb.251243</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Zapka M, Heyers D, Hein CM, Engels S, Schneider NL, Hans J, Weiler S, Dreyer D, Kishkinev D, Wild JM, Mouritsen H (2009). Visual but not trigeminal mediation of magnetic compass information in a migratory bird. Nature 461(7268):1274-1277. https://doi.org/10.1038/nature08528</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Pakhomov A, Anashina A, Heyers D, Kobylkov D, Mouritsen H, Chernetsov N (2018). Magnetic map navigation in a migratory songbird requires trigeminal input. Scientific Reports 8(1):11975. https://doi.org/10.1038/s41598-018-30477-8</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Günther A, Einwich A, Sjulstok E, Feederle R, Bolte P, Koch KW, Solov’yov IA, Mouritsen H (2018). Double-Cone Localization and Seasonal Expression Pattern Suggest a Role in Magnetoreception for European Robin Cryptochrome 4. Current Biology 28(2):211-223.e4. https://doi.org/10.1016/j.cub.2017.12.003</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Xu J, Jarocha LE, Zollitsch T, Konowalczyk M, Henbest KB, Richert S, Golesworthy MJ, Schmidt J, Déjean V, Sowood DJC, Bassetto M, Luo J, Walton JR, Fleming J, Wei Y, Pitcher TL, Moise G, Herrmann M, Yin H, Wu H, Bartölke R, Käsehagen SJ, Horst S, Dautaj G, Murton PDF, Gehrckens AS, Chelliah Y, Takahashi JS, Koch KW, Weber S, Solov’yov IA, Xie C, Mackenzie SR, Timmel CR, Mouritsen H, Hore PJ (2021). Magnetic sensitivity of cryptochrome 4 from a migratory songbird. Nature 594(7864):535-540. https://doi.org/10.1038/s41586-021-03618-9</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Treiber CD, Salzer MC, Riegler J, Edelman N, Sugar C, Breuss M, Pichler P, Cadiou H, Saunders M, Lythgoe M, Shaw J, Keays DA (2012). Clusters of iron-rich cells in the upper beak of pigeons are macrophages not magnetosensitive neurons. Nature 484(7394):367-370. https://doi.org/10.1038/nature11046</a:t>
            </a:r>
            <a:endParaRPr/>
          </a:p>
        </p:txBody>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A stain that detects a material cannot identify a cell by itself.</a:t>
            </a:r>
          </a:p>
          <a:p>
            <a:r>
              <a:rPr lang="en-US" sz="1200"/>
              <a:t>• Stain.</a:t>
            </a:r>
          </a:p>
          <a:p>
            <a:r>
              <a:rPr lang="en-US" sz="1200"/>
              <a:t>– Prussian blue detects a form of iron accumulation.</a:t>
            </a:r>
          </a:p>
          <a:p>
            <a:r>
              <a:rPr lang="en-US" sz="1200"/>
              <a:t>– It does not establish neuronal identity.</a:t>
            </a:r>
          </a:p>
          <a:p>
            <a:r>
              <a:rPr lang="en-US" sz="1200"/>
              <a:t>• The proposal.</a:t>
            </a:r>
          </a:p>
          <a:p>
            <a:r>
              <a:rPr lang="en-US" sz="1200"/>
              <a:t>– Iron-rich cells in the upper beak of pigeons had been proposed as magnetosensitive neurons.</a:t>
            </a:r>
          </a:p>
          <a:p>
            <a:r>
              <a:rPr lang="en-US" sz="1200"/>
              <a:t>• Where the cells were.</a:t>
            </a:r>
          </a:p>
          <a:p>
            <a:r>
              <a:rPr lang="en-US" sz="1200"/>
              <a:t>– Iron-positive cells occurred in subepidermal tissue, respiratory epithelium and feather follicles.</a:t>
            </a:r>
          </a:p>
          <a:p>
            <a:r>
              <a:rPr lang="en-US" sz="1200"/>
              <a:t>• Variability.</a:t>
            </a:r>
          </a:p>
          <a:p>
            <a:r>
              <a:rPr lang="en-US" sz="1200"/>
              <a:t>– Their positions and abundance varied strongly across birds.</a:t>
            </a:r>
          </a:p>
          <a:p>
            <a:r>
              <a:rPr lang="en-US" sz="1200"/>
              <a:t>– They did not form a stereotyped bilateral arrangement.</a:t>
            </a:r>
          </a:p>
          <a:p>
            <a:r>
              <a:rPr lang="en-US" sz="1200"/>
              <a:t>• Nuclei.</a:t>
            </a:r>
          </a:p>
          <a:p>
            <a:r>
              <a:rPr lang="en-US" sz="1200"/>
              <a:t>– At least 97 percent of the stained cells in the examined compartments contained visible nuclei.</a:t>
            </a:r>
          </a:p>
          <a:p>
            <a:r>
              <a:rPr lang="en-US" sz="1200"/>
              <a:t>• Meaning.</a:t>
            </a:r>
          </a:p>
          <a:p>
            <a:r>
              <a:rPr lang="en-US" sz="1200"/>
              <a:t>– A magnetic material has to be linked to an identified sensory cell and pathway to be a receptor.</a:t>
            </a:r>
          </a:p>
          <a:p>
            <a:r>
              <a:rPr lang="en-US" sz="1200"/>
              <a:t>• Sample details.</a:t>
            </a:r>
          </a:p>
          <a:p>
            <a:r>
              <a:rPr lang="en-US" sz="1200"/>
              <a:t>– Iron-positive cells were examined in several compartments of the upper beak.</a:t>
            </a:r>
          </a:p>
          <a:p>
            <a:r>
              <a:rPr lang="en-US" sz="1200"/>
              <a:t>– Their number differed greatly between individual birds.</a:t>
            </a:r>
          </a:p>
          <a:p>
            <a:r>
              <a:rPr lang="en-US" sz="1200"/>
              <a:t>• Why the identification matters.</a:t>
            </a:r>
          </a:p>
          <a:p>
            <a:r>
              <a:rPr lang="en-US" sz="1200"/>
              <a:t>– A receptor would need to show a consistent position and a connection to the nervous system.</a:t>
            </a:r>
          </a:p>
          <a:p>
            <a:r>
              <a:rPr lang="en-US" sz="1200"/>
              <a:t/>
            </a:r>
          </a:p>
          <a:p>
            <a:r>
              <a:rPr lang="en-US" sz="1200"/>
              <a:t>References:</a:t>
            </a:r>
          </a:p>
          <a:p>
            <a:r>
              <a:rPr lang="en-US" sz="1200"/>
              <a:t>Treiber CD, Salzer MC, Riegler J, Edelman N, Sugar C, Breuss M, Pichler P, Cadiou H, Saunders M, Lythgoe M, Shaw J, Keays DA (2012). Clusters of iron-rich cells in the upper beak of pigeons are macrophages not magnetosensitive neurons. Nature 484(7394):367-370. https://doi.org/10.1038/nature11046</a:t>
            </a:r>
          </a:p>
        </p:txBody>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The chemistry of a radical pair depends on electron spin.</a:t>
            </a:r>
          </a:p>
          <a:p>
            <a:r>
              <a:rPr lang="en-US" sz="1200"/>
              <a:t>• Radicals.</a:t>
            </a:r>
          </a:p>
          <a:p>
            <a:r>
              <a:rPr lang="en-US" sz="1200"/>
              <a:t>– A radical has an unpaired electron.</a:t>
            </a:r>
          </a:p>
          <a:p>
            <a:r>
              <a:rPr lang="en-US" sz="1200"/>
              <a:t>– A radical pair contains two radicals generated through a linked reaction.</a:t>
            </a:r>
          </a:p>
          <a:p>
            <a:r>
              <a:rPr lang="en-US" sz="1200"/>
              <a:t>• In Cry4.</a:t>
            </a:r>
          </a:p>
          <a:p>
            <a:r>
              <a:rPr lang="en-US" sz="1200"/>
              <a:t>– Light-excited FAD receives an electron through a chain of tryptophan residues.</a:t>
            </a:r>
          </a:p>
          <a:p>
            <a:r>
              <a:rPr lang="en-US" sz="1200"/>
              <a:t>– This produces radicals whose reactions depend on their electronic states.</a:t>
            </a:r>
          </a:p>
          <a:p>
            <a:r>
              <a:rPr lang="en-US" sz="1200"/>
              <a:t>• Mutations.</a:t>
            </a:r>
          </a:p>
          <a:p>
            <a:r>
              <a:rPr lang="en-US" sz="1200"/>
              <a:t>– Individual tryptophans were replaced with redox-inactive phenylalanine.</a:t>
            </a:r>
          </a:p>
          <a:p>
            <a:r>
              <a:rPr lang="en-US" sz="1200"/>
              <a:t>– Redox refers to electron-transfer chemistry.</a:t>
            </a:r>
          </a:p>
          <a:p>
            <a:r>
              <a:rPr lang="en-US" sz="1200"/>
              <a:t>• Measurement.</a:t>
            </a:r>
          </a:p>
          <a:p>
            <a:r>
              <a:rPr lang="en-US" sz="1200"/>
              <a:t>– Transient absorption tracked changes over time after 450-nanometer excitation.</a:t>
            </a:r>
          </a:p>
          <a:p>
            <a:r>
              <a:rPr lang="en-US" sz="1200"/>
              <a:t>• Result.</a:t>
            </a:r>
          </a:p>
          <a:p>
            <a:r>
              <a:rPr lang="en-US" sz="1200"/>
              <a:t>– Interrupted early transfer pathways gave radical-loss time constants of 180 and 900 picoseconds.</a:t>
            </a:r>
          </a:p>
          <a:p>
            <a:r>
              <a:rPr lang="en-US" sz="1200"/>
              <a:t>• Longer pathways.</a:t>
            </a:r>
          </a:p>
          <a:p>
            <a:r>
              <a:rPr lang="en-US" sz="1200"/>
              <a:t>– Longer transfer pathways supported radicals that persisted beyond the earliest nanosecond responses.</a:t>
            </a:r>
          </a:p>
          <a:p>
            <a:r>
              <a:rPr lang="en-US" sz="1200"/>
              <a:t>• Time scales.</a:t>
            </a:r>
          </a:p>
          <a:p>
            <a:r>
              <a:rPr lang="en-US" sz="1200"/>
              <a:t>– A picosecond is one trillionth of a second.</a:t>
            </a:r>
          </a:p>
          <a:p>
            <a:r>
              <a:rPr lang="en-US" sz="1200"/>
              <a:t>– The measured time constants were 180 and 900 picoseconds.</a:t>
            </a:r>
          </a:p>
          <a:p>
            <a:r>
              <a:rPr lang="en-US" sz="1200"/>
              <a:t>• Role of the chain.</a:t>
            </a:r>
          </a:p>
          <a:p>
            <a:r>
              <a:rPr lang="en-US" sz="1200"/>
              <a:t>– The nearest tryptophan prevented the normal radical production when it was replaced.</a:t>
            </a:r>
          </a:p>
          <a:p>
            <a:r>
              <a:rPr lang="en-US" sz="1200"/>
              <a:t>– Longer pathways supported longer-lived radicals.</a:t>
            </a:r>
          </a:p>
          <a:p>
            <a:r>
              <a:rPr lang="en-US" sz="1200"/>
              <a:t>– Measurements used purified protein, so the chemistry is studied outside the animal.</a:t>
            </a:r>
          </a:p>
          <a:p>
            <a:r>
              <a:rPr lang="en-US" sz="1200"/>
              <a:t/>
            </a:r>
          </a:p>
          <a:p>
            <a:r>
              <a:rPr lang="en-US" sz="1200"/>
              <a:t>References:</a:t>
            </a:r>
          </a:p>
          <a:p>
            <a:r>
              <a:rPr lang="en-US" sz="1200"/>
              <a:t>Xu J, Jarocha LE, Zollitsch T, Konowalczyk M, Henbest KB, Richert S, Golesworthy MJ, Schmidt J, Déjean V, Sowood DJC, Bassetto M, Luo J, Walton JR, Fleming J, Wei Y, Pitcher TL, Moise G, Herrmann M, Yin H, Wu H, Bartölke R, Käsehagen SJ, Horst S, Dautaj G, Murton PDF, Gehrckens AS, Chelliah Y, Takahashi JS, Koch KW, Weber S, Solov’yov IA, Xie C, Mackenzie SR, Timmel CR, Mouritsen H, Hore PJ (2021). Magnetic sensitivity of cryptochrome 4 from a migratory songbird. Nature 594(7864):535-540. https://doi.org/10.1038/s41586-021-03618-9</a:t>
            </a:r>
          </a:p>
          <a:p>
            <a:r>
              <a:rPr lang="en-US" sz="1200"/>
              <a:t>Günther A, Einwich A, Sjulstok E, Feederle R, Bolte P, Koch KW, Solov’yov IA, Mouritsen H (2018). Double-Cone Localization and Seasonal Expression Pattern Suggest a Role in Magnetoreception for European Robin Cryptochrome 4. Current Biology 28(2):211-223.e4. https://doi.org/10.1016/j.cub.2017.12.003</a:t>
            </a:r>
          </a:p>
        </p:txBody>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Antibody labeling shows where a protein is located in a tissue.</a:t>
            </a:r>
          </a:p>
          <a:p>
            <a:r>
              <a:rPr lang="en-US" sz="1200"/>
              <a:t>• Method.</a:t>
            </a:r>
          </a:p>
          <a:p>
            <a:r>
              <a:rPr lang="en-US" sz="1200"/>
              <a:t>– Antibodies bind to a specific protein in a tissue section.</a:t>
            </a:r>
          </a:p>
          <a:p>
            <a:r>
              <a:rPr lang="en-US" sz="1200"/>
              <a:t>– A fluorescent label marks the bound antibody.</a:t>
            </a:r>
          </a:p>
          <a:p>
            <a:r>
              <a:rPr lang="en-US" sz="1200"/>
              <a:t>• The retina.</a:t>
            </a:r>
          </a:p>
          <a:p>
            <a:r>
              <a:rPr lang="en-US" sz="1200"/>
              <a:t>– The retina contains light-sensitive photoreceptors, including cones and rods.</a:t>
            </a:r>
          </a:p>
          <a:p>
            <a:r>
              <a:rPr lang="en-US" sz="1200"/>
              <a:t>• Outer segments.</a:t>
            </a:r>
          </a:p>
          <a:p>
            <a:r>
              <a:rPr lang="en-US" sz="1200"/>
              <a:t>– The outer segment is the specialized compartment that contains light-sensitive membrane structures.</a:t>
            </a:r>
          </a:p>
          <a:p>
            <a:r>
              <a:rPr lang="en-US" sz="1200"/>
              <a:t>• Result.</a:t>
            </a:r>
          </a:p>
          <a:p>
            <a:r>
              <a:rPr lang="en-US" sz="1200"/>
              <a:t>– Cry4 immunoreactivity was concentrated in outer segments.</a:t>
            </a:r>
          </a:p>
          <a:p>
            <a:r>
              <a:rPr lang="en-US" sz="1200"/>
              <a:t>– It appeared across peripheral and central retinal regions.</a:t>
            </a:r>
          </a:p>
          <a:p>
            <a:r>
              <a:rPr lang="en-US" sz="1200"/>
              <a:t>• Reagents.</a:t>
            </a:r>
          </a:p>
          <a:p>
            <a:r>
              <a:rPr lang="en-US" sz="1200"/>
              <a:t>– Monoclonal and polyclonal reagents were both used, so the result does not rest on one antibody.</a:t>
            </a:r>
          </a:p>
          <a:p>
            <a:r>
              <a:rPr lang="en-US" sz="1200"/>
              <a:t>• Species comparison.</a:t>
            </a:r>
          </a:p>
          <a:p>
            <a:r>
              <a:rPr lang="en-US" sz="1200"/>
              <a:t>– The pattern was compared in robins and chickens.</a:t>
            </a:r>
          </a:p>
          <a:p>
            <a:r>
              <a:rPr lang="en-US" sz="1200"/>
              <a:t>• Controls for the antibody.</a:t>
            </a:r>
          </a:p>
          <a:p>
            <a:r>
              <a:rPr lang="en-US" sz="1200"/>
              <a:t>– Using different kinds of antibody reagents reduces the chance that the pattern comes from one preparation.</a:t>
            </a:r>
          </a:p>
          <a:p>
            <a:r>
              <a:rPr lang="en-US" sz="1200"/>
              <a:t>– The staining was compared with chicken retina.</a:t>
            </a:r>
          </a:p>
          <a:p>
            <a:r>
              <a:rPr lang="en-US" sz="1200"/>
              <a:t>• Where light is detected.</a:t>
            </a:r>
          </a:p>
          <a:p>
            <a:r>
              <a:rPr lang="en-US" sz="1200"/>
              <a:t>– Light-sensitive membrane structures sit in the outer segment, which makes it the site of the first steps of vision.</a:t>
            </a:r>
          </a:p>
          <a:p>
            <a:r>
              <a:rPr lang="en-US" sz="1200"/>
              <a:t>– A protein in this compartment is positioned to be exposed to light.</a:t>
            </a:r>
          </a:p>
          <a:p>
            <a:r>
              <a:rPr lang="en-US" sz="1200"/>
              <a:t/>
            </a:r>
          </a:p>
          <a:p>
            <a:r>
              <a:rPr lang="en-US" sz="1200"/>
              <a:t>References:</a:t>
            </a:r>
          </a:p>
          <a:p>
            <a:r>
              <a:rPr lang="en-US" sz="1200"/>
              <a:t>Günther A, Einwich A, Sjulstok E, Feederle R, Bolte P, Koch KW, Solov’yov IA, Mouritsen H (2018). Double-Cone Localization and Seasonal Expression Pattern Suggest a Role in Magnetoreception for European Robin Cryptochrome 4. Current Biology 28(2):211-223.e4. https://doi.org/10.1016/j.cub.2017.12.003</a:t>
            </a:r>
          </a:p>
        </p:txBody>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A virtual displacement creates a conflict between magnetic and other location cues.</a:t>
            </a:r>
          </a:p>
          <a:p>
            <a:r>
              <a:rPr lang="en-US" sz="1200"/>
              <a:t>• Definition.</a:t>
            </a:r>
          </a:p>
          <a:p>
            <a:r>
              <a:rPr lang="en-US" sz="1200"/>
              <a:t>– Virtual magnetic displacement changes the local magnetic parameters to those of another place.</a:t>
            </a:r>
          </a:p>
          <a:p>
            <a:r>
              <a:rPr lang="en-US" sz="1200"/>
              <a:t>• Other cues.</a:t>
            </a:r>
          </a:p>
          <a:p>
            <a:r>
              <a:rPr lang="en-US" sz="1200"/>
              <a:t>– Celestial, olfactory and landmark cues stay associated with the capture site.</a:t>
            </a:r>
          </a:p>
          <a:p>
            <a:r>
              <a:rPr lang="en-US" sz="1200"/>
              <a:t>• Capture site field.</a:t>
            </a:r>
          </a:p>
          <a:p>
            <a:r>
              <a:rPr lang="en-US" sz="1200"/>
              <a:t>– Intensity was 50,118 nanotesla and inclination was 70.1 degrees.</a:t>
            </a:r>
          </a:p>
          <a:p>
            <a:r>
              <a:rPr lang="en-US" sz="1200"/>
              <a:t>• Replicated field.</a:t>
            </a:r>
          </a:p>
          <a:p>
            <a:r>
              <a:rPr lang="en-US" sz="1200"/>
              <a:t>– Zvenigorod lies about 1,000 kilometers east.</a:t>
            </a:r>
          </a:p>
          <a:p>
            <a:r>
              <a:rPr lang="en-US" sz="1200"/>
              <a:t>– Its field had 52,175 nanotesla and 71.2 degrees.</a:t>
            </a:r>
          </a:p>
          <a:p>
            <a:r>
              <a:rPr lang="en-US" sz="1200"/>
              <a:t>• Declination.</a:t>
            </a:r>
          </a:p>
          <a:p>
            <a:r>
              <a:rPr lang="en-US" sz="1200"/>
              <a:t>– Declination is the angular difference between geographical and magnetic north.</a:t>
            </a:r>
          </a:p>
          <a:p>
            <a:r>
              <a:rPr lang="en-US" sz="1200"/>
              <a:t>– It changed from plus 5.5 to plus 10.1 degrees.</a:t>
            </a:r>
          </a:p>
          <a:p>
            <a:r>
              <a:rPr lang="en-US" sz="1200"/>
              <a:t>• Test of a map.</a:t>
            </a:r>
          </a:p>
          <a:p>
            <a:r>
              <a:rPr lang="en-US" sz="1200"/>
              <a:t>– Compensation for the apparent eastward displacement is a map-based response and not a simple compass rotation.</a:t>
            </a:r>
          </a:p>
          <a:p>
            <a:r>
              <a:rPr lang="en-US" sz="1200"/>
              <a:t>• Compensation.</a:t>
            </a:r>
          </a:p>
          <a:p>
            <a:r>
              <a:rPr lang="en-US" sz="1200"/>
              <a:t>– A bird that compensates for an eastward displacement changes its heading toward the west of its capture-site course.</a:t>
            </a:r>
          </a:p>
          <a:p>
            <a:r>
              <a:rPr lang="en-US" sz="1200"/>
              <a:t>– Sham-operated birds changed from a northeasterly course to about 323 degrees.</a:t>
            </a:r>
          </a:p>
          <a:p>
            <a:r>
              <a:rPr lang="en-US" sz="1200"/>
              <a:t>• Role of the trigeminal nerve.</a:t>
            </a:r>
          </a:p>
          <a:p>
            <a:r>
              <a:rPr lang="en-US" sz="1200"/>
              <a:t>– Birds with the ophthalmic branch cut maintained a course near 34 degrees and did not make the change.</a:t>
            </a:r>
          </a:p>
          <a:p>
            <a:r>
              <a:rPr lang="en-US" sz="1200"/>
              <a:t/>
            </a:r>
          </a:p>
          <a:p>
            <a:r>
              <a:rPr lang="en-US" sz="1200"/>
              <a:t>References:</a:t>
            </a:r>
          </a:p>
          <a:p>
            <a:r>
              <a:rPr lang="en-US" sz="1200"/>
              <a:t>Pakhomov A, Anashina A, Heyers D, Kobylkov D, Mouritsen H, Chernetsov N (2018). Magnetic map navigation in a migratory songbird requires trigeminal input. Scientific Reports 8(1):11975. https://doi.org/10.1038/s41598-018-30477-8</a:t>
            </a:r>
          </a:p>
        </p:txBody>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A lesion removes a region to test its role.</a:t>
            </a:r>
          </a:p>
          <a:p>
            <a:r>
              <a:rPr lang="en-US" sz="1200"/>
              <a:t>• Lesion and sham.</a:t>
            </a:r>
          </a:p>
          <a:p>
            <a:r>
              <a:rPr lang="en-US" sz="1200"/>
              <a:t>– A lesion damages a region.</a:t>
            </a:r>
          </a:p>
          <a:p>
            <a:r>
              <a:rPr lang="en-US" sz="1200"/>
              <a:t>– A sham operation repeats the procedure without the active injection.</a:t>
            </a:r>
          </a:p>
          <a:p>
            <a:r>
              <a:rPr lang="en-US" sz="1200"/>
              <a:t>• Method.</a:t>
            </a:r>
          </a:p>
          <a:p>
            <a:r>
              <a:rPr lang="en-US" sz="1200"/>
              <a:t>– Ibotenic acid was injected locally into Cluster N on both sides.</a:t>
            </a:r>
          </a:p>
          <a:p>
            <a:r>
              <a:rPr lang="en-US" sz="1200"/>
              <a:t>– Tests followed at least 1 week of recovery.</a:t>
            </a:r>
          </a:p>
          <a:p>
            <a:r>
              <a:rPr lang="en-US" sz="1200"/>
              <a:t>• Test fields.</a:t>
            </a:r>
          </a:p>
          <a:p>
            <a:r>
              <a:rPr lang="en-US" sz="1200"/>
              <a:t>– The natural field was compared with a field with magnetic north rotated 120 degrees anticlockwise.</a:t>
            </a:r>
          </a:p>
          <a:p>
            <a:r>
              <a:rPr lang="en-US" sz="1200"/>
              <a:t>– An inverted vertical component was also tested.</a:t>
            </a:r>
          </a:p>
          <a:p>
            <a:r>
              <a:rPr lang="en-US" sz="1200"/>
              <a:t>• Sham birds.</a:t>
            </a:r>
          </a:p>
          <a:p>
            <a:r>
              <a:rPr lang="en-US" sz="1200"/>
              <a:t>– They changed direction appropriately with the field manipulations.</a:t>
            </a:r>
          </a:p>
          <a:p>
            <a:r>
              <a:rPr lang="en-US" sz="1200"/>
              <a:t>• Lesioned birds.</a:t>
            </a:r>
          </a:p>
          <a:p>
            <a:r>
              <a:rPr lang="en-US" sz="1200"/>
              <a:t>– They failed to express coherent magnetic compass orientation.</a:t>
            </a:r>
          </a:p>
          <a:p>
            <a:r>
              <a:rPr lang="en-US" sz="1200"/>
              <a:t>• Meaning.</a:t>
            </a:r>
          </a:p>
          <a:p>
            <a:r>
              <a:rPr lang="en-US" sz="1200"/>
              <a:t>– Cluster N is necessary for the compass in this preparation, and its neurons need not all be magnetic.</a:t>
            </a:r>
          </a:p>
          <a:p>
            <a:r>
              <a:rPr lang="en-US" sz="1200"/>
              <a:t>• Selectivity.</a:t>
            </a:r>
          </a:p>
          <a:p>
            <a:r>
              <a:rPr lang="en-US" sz="1200"/>
              <a:t>– Lesioned birds still oriented with stars and at sunset.</a:t>
            </a:r>
          </a:p>
          <a:p>
            <a:r>
              <a:rPr lang="en-US" sz="1200"/>
              <a:t>– The loss of orientation is therefore specific to the magnetic compass.</a:t>
            </a:r>
          </a:p>
          <a:p>
            <a:r>
              <a:rPr lang="en-US" sz="1200"/>
              <a:t>• Inference.</a:t>
            </a:r>
          </a:p>
          <a:p>
            <a:r>
              <a:rPr lang="en-US" sz="1200"/>
              <a:t>– Cluster N is necessary for the tested compass behavior, and the neurons that respond to magnetic fields remain to be located within the pathway.</a:t>
            </a:r>
          </a:p>
          <a:p>
            <a:r>
              <a:rPr lang="en-US" sz="1200"/>
              <a:t/>
            </a:r>
          </a:p>
          <a:p>
            <a:r>
              <a:rPr lang="en-US" sz="1200"/>
              <a:t>References:</a:t>
            </a:r>
          </a:p>
          <a:p>
            <a:r>
              <a:rPr lang="en-US" sz="1200"/>
              <a:t>Zapka M, Heyers D, Hein CM, Engels S, Schneider NL, Hans J, Weiler S, Dreyer D, Kishkinev D, Wild JM, Mouritsen H (2009). Visual but not trigeminal mediation of magnetic compass information in a migratory bird. Nature 461(7268):1274-1277. https://doi.org/10.1038/nature08528</a:t>
            </a:r>
          </a:p>
          <a:p>
            <a:r>
              <a:rPr lang="en-US" sz="1200"/>
              <a:t>Mouritsen H, Feenders G, Liedvogel M, Wada K, Jarvis ED (2005). Night-vision brain area in migratory songbirds. Proceedings of the National Academy of Sciences 102(23):8339-8344. https://doi.org/10.1073/pnas.0409575102</a:t>
            </a:r>
          </a:p>
        </p:txBody>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A molecular marker can show where the brain was active during an experience.</a:t>
            </a:r>
          </a:p>
          <a:p>
            <a:r>
              <a:rPr lang="en-US" sz="1200"/>
              <a:t>• Marker.</a:t>
            </a:r>
          </a:p>
          <a:p>
            <a:r>
              <a:rPr lang="en-US" sz="1200"/>
              <a:t>– ZENK is an immediate-early transcriptional marker whose expression changes with neuronal activation.</a:t>
            </a:r>
          </a:p>
          <a:p>
            <a:r>
              <a:rPr lang="en-US" sz="1200"/>
              <a:t>• Species.</a:t>
            </a:r>
          </a:p>
          <a:p>
            <a:r>
              <a:rPr lang="en-US" sz="1200"/>
              <a:t>– Migratory garden warblers and European robins were compared with non-migratory zebra finches and canaries.</a:t>
            </a:r>
          </a:p>
          <a:p>
            <a:r>
              <a:rPr lang="en-US" sz="1200"/>
              <a:t>• Conditions.</a:t>
            </a:r>
          </a:p>
          <a:p>
            <a:r>
              <a:rPr lang="en-US" sz="1200"/>
              <a:t>– Birds were exposed to dim light of 0.04 lux or to ordinary daytime room light.</a:t>
            </a:r>
          </a:p>
          <a:p>
            <a:r>
              <a:rPr lang="en-US" sz="1200"/>
              <a:t>• Result.</a:t>
            </a:r>
          </a:p>
          <a:p>
            <a:r>
              <a:rPr lang="en-US" sz="1200"/>
              <a:t>– Brain sections revealed Cluster N, a dorsal forebrain region.</a:t>
            </a:r>
          </a:p>
          <a:p>
            <a:r>
              <a:rPr lang="en-US" sz="1200"/>
              <a:t>– Cluster N expression was strong at night in migrants.</a:t>
            </a:r>
          </a:p>
          <a:p>
            <a:r>
              <a:rPr lang="en-US" sz="1200"/>
              <a:t>• Time scale.</a:t>
            </a:r>
          </a:p>
          <a:p>
            <a:r>
              <a:rPr lang="en-US" sz="1200"/>
              <a:t>– ZENK reports activity integrated over time and does not report individual spikes.</a:t>
            </a:r>
          </a:p>
          <a:p>
            <a:r>
              <a:rPr lang="en-US" sz="1200"/>
              <a:t>• Meaning.</a:t>
            </a:r>
          </a:p>
          <a:p>
            <a:r>
              <a:rPr lang="en-US" sz="1200"/>
              <a:t>– Cluster N is a candidate region for night vision, with visual, magnetic or other functions possible.</a:t>
            </a:r>
          </a:p>
          <a:p>
            <a:r>
              <a:rPr lang="en-US" sz="1200"/>
              <a:t>• Why compare species.</a:t>
            </a:r>
          </a:p>
          <a:p>
            <a:r>
              <a:rPr lang="en-US" sz="1200"/>
              <a:t>– Non-migratory zebra finches and canaries did not show the same nocturnal increase.</a:t>
            </a:r>
          </a:p>
          <a:p>
            <a:r>
              <a:rPr lang="en-US" sz="1200"/>
              <a:t>– Differences between species can reflect specialization for night vision.</a:t>
            </a:r>
          </a:p>
          <a:p>
            <a:r>
              <a:rPr lang="en-US" sz="1200"/>
              <a:t>• Light levels.</a:t>
            </a:r>
          </a:p>
          <a:p>
            <a:r>
              <a:rPr lang="en-US" sz="1200"/>
              <a:t>– Dim illumination was 0.04 lux, and daytime room illumination exceeded 275 lux.</a:t>
            </a:r>
          </a:p>
          <a:p>
            <a:r>
              <a:rPr lang="en-US" sz="1200"/>
              <a:t>– Recent movement was minimized before tissue collection.</a:t>
            </a:r>
          </a:p>
          <a:p>
            <a:r>
              <a:rPr lang="en-US" sz="1200"/>
              <a:t/>
            </a:r>
          </a:p>
          <a:p>
            <a:r>
              <a:rPr lang="en-US" sz="1200"/>
              <a:t>References:</a:t>
            </a:r>
          </a:p>
          <a:p>
            <a:r>
              <a:rPr lang="en-US" sz="1200"/>
              <a:t>Mouritsen H, Feenders G, Liedvogel M, Wada K, Jarvis ED (2005). Night-vision brain area in migratory songbirds. Proceedings of the National Academy of Sciences 102(23):8339-8344. https://doi.org/10.1073/pnas.0409575102</a:t>
            </a:r>
          </a:p>
        </p:txBody>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The two main receptor hypotheses behave differently after a strong pulse.</a:t>
            </a:r>
          </a:p>
          <a:p>
            <a:r>
              <a:rPr lang="en-US" sz="1200"/>
              <a:t>• Magnetite.</a:t>
            </a:r>
          </a:p>
          <a:p>
            <a:r>
              <a:rPr lang="en-US" sz="1200"/>
              <a:t>– Magnetite is an iron oxide that can interact with magnetic fields.</a:t>
            </a:r>
          </a:p>
          <a:p>
            <a:r>
              <a:rPr lang="en-US" sz="1200"/>
              <a:t>– A pulse can alter its magnetic arrangement.</a:t>
            </a:r>
          </a:p>
          <a:p>
            <a:r>
              <a:rPr lang="en-US" sz="1200"/>
              <a:t>• Radical pair.</a:t>
            </a:r>
          </a:p>
          <a:p>
            <a:r>
              <a:rPr lang="en-US" sz="1200"/>
              <a:t>– A radical-pair reaction depends on the field while it is present.</a:t>
            </a:r>
          </a:p>
          <a:p>
            <a:r>
              <a:rPr lang="en-US" sz="1200"/>
              <a:t>– A brief pulse is not expected to leave a persistent change.</a:t>
            </a:r>
          </a:p>
          <a:p>
            <a:r>
              <a:rPr lang="en-US" sz="1200"/>
              <a:t>• Pulse.</a:t>
            </a:r>
          </a:p>
          <a:p>
            <a:r>
              <a:rPr lang="en-US" sz="1200"/>
              <a:t>– The pulse lasted 5 milliseconds and reached 85 millitesla.</a:t>
            </a:r>
          </a:p>
          <a:p>
            <a:r>
              <a:rPr lang="en-US" sz="1200"/>
              <a:t>– That is far stronger than Earth-strength fields.</a:t>
            </a:r>
          </a:p>
          <a:p>
            <a:r>
              <a:rPr lang="en-US" sz="1200"/>
              <a:t>• Controls.</a:t>
            </a:r>
          </a:p>
          <a:p>
            <a:r>
              <a:rPr lang="en-US" sz="1200"/>
              <a:t>– No-pulse, sham-pulse and actual-pulse treatments were compared.</a:t>
            </a:r>
          </a:p>
          <a:p>
            <a:r>
              <a:rPr lang="en-US" sz="1200"/>
              <a:t>– Sham handling did not cause the reduction.</a:t>
            </a:r>
          </a:p>
          <a:p>
            <a:r>
              <a:rPr lang="en-US" sz="1200"/>
              <a:t>• Result.</a:t>
            </a:r>
          </a:p>
          <a:p>
            <a:r>
              <a:rPr lang="en-US" sz="1200"/>
              <a:t>– Turtles danced less in the rewarded field after the pulse.</a:t>
            </a:r>
          </a:p>
          <a:p>
            <a:r>
              <a:rPr lang="en-US" sz="1200"/>
              <a:t>• Directions.</a:t>
            </a:r>
          </a:p>
          <a:p>
            <a:r>
              <a:rPr lang="en-US" sz="1200"/>
              <a:t>– Pulses parallel and antiparallel to the horizontal Earth field were considered together.</a:t>
            </a:r>
          </a:p>
          <a:p>
            <a:r>
              <a:rPr lang="en-US" sz="1200"/>
              <a:t>• Why direction of the pulse did not matter.</a:t>
            </a:r>
          </a:p>
          <a:p>
            <a:r>
              <a:rPr lang="en-US" sz="1200"/>
              <a:t>– Pulses parallel and antiparallel to the horizontal field did not produce distinguishable responses and were treated together.</a:t>
            </a:r>
          </a:p>
          <a:p>
            <a:r>
              <a:rPr lang="en-US" sz="1200"/>
              <a:t>• Controls.</a:t>
            </a:r>
          </a:p>
          <a:p>
            <a:r>
              <a:rPr lang="en-US" sz="1200"/>
              <a:t>– Sham animals were handled in the magnetizer without a pulse.</a:t>
            </a:r>
          </a:p>
          <a:p>
            <a:r>
              <a:rPr lang="en-US" sz="1200"/>
              <a:t>– Observers scoring video did not know the treatment.</a:t>
            </a:r>
          </a:p>
          <a:p>
            <a:r>
              <a:rPr lang="en-US" sz="1200"/>
              <a:t/>
            </a:r>
          </a:p>
          <a:p>
            <a:r>
              <a:rPr lang="en-US" sz="1200"/>
              <a:t>References:</a:t>
            </a:r>
          </a:p>
          <a:p>
            <a:r>
              <a:rPr lang="en-US" sz="1200"/>
              <a:t>Mackiewicz AG, Glazener AM, Goforth KM, Lim DS, Lohmann CMF, Lohmann KJ (2025). Disruption of the sea turtle magnetic map sense by a magnetic pulse. Journal of Experimental Biology 228(22):jeb251243. https://doi.org/10.1242/jeb.251243</a:t>
            </a:r>
          </a:p>
        </p:txBody>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A selective effect of a manipulation points to separate mechanisms.</a:t>
            </a:r>
          </a:p>
          <a:p>
            <a:r>
              <a:rPr lang="en-US" sz="1200"/>
              <a:t>• Definition.</a:t>
            </a:r>
          </a:p>
          <a:p>
            <a:r>
              <a:rPr lang="en-US" sz="1200"/>
              <a:t>– A dissociation is a change in one behavior with another behavior spared.</a:t>
            </a:r>
          </a:p>
          <a:p>
            <a:r>
              <a:rPr lang="en-US" sz="1200"/>
              <a:t>• Manipulation.</a:t>
            </a:r>
          </a:p>
          <a:p>
            <a:r>
              <a:rPr lang="en-US" sz="1200"/>
              <a:t>– Radiofrequency fields are rapidly oscillating electromagnetic fields.</a:t>
            </a:r>
          </a:p>
          <a:p>
            <a:r>
              <a:rPr lang="en-US" sz="1200"/>
              <a:t>– Broadband noise spanned 0.1 to 10 megahertz.</a:t>
            </a:r>
          </a:p>
          <a:p>
            <a:r>
              <a:rPr lang="en-US" sz="1200"/>
              <a:t>• Map-only assay.</a:t>
            </a:r>
          </a:p>
          <a:p>
            <a:r>
              <a:rPr lang="en-US" sz="1200"/>
              <a:t>– The learned rewarded-field response persisted with the noise.</a:t>
            </a:r>
          </a:p>
          <a:p>
            <a:r>
              <a:rPr lang="en-US" sz="1200"/>
              <a:t>• Orientation task.</a:t>
            </a:r>
          </a:p>
          <a:p>
            <a:r>
              <a:rPr lang="en-US" sz="1200"/>
              <a:t>– Hatchlings exposed to the Cape Verde signature lost a consistent group heading with noise.</a:t>
            </a:r>
          </a:p>
          <a:p>
            <a:r>
              <a:rPr lang="en-US" sz="1200"/>
              <a:t>– Without noise they preferred 293.1 degrees.</a:t>
            </a:r>
          </a:p>
          <a:p>
            <a:r>
              <a:rPr lang="en-US" sz="1200"/>
              <a:t>• Interpretation.</a:t>
            </a:r>
          </a:p>
          <a:p>
            <a:r>
              <a:rPr lang="en-US" sz="1200"/>
              <a:t>– Different mechanisms may contribute to the map and to the compass.</a:t>
            </a:r>
          </a:p>
          <a:p>
            <a:r>
              <a:rPr lang="en-US" sz="1200"/>
              <a:t>• Preparations.</a:t>
            </a:r>
          </a:p>
          <a:p>
            <a:r>
              <a:rPr lang="en-US" sz="1200"/>
              <a:t>– The two tasks used different developmental stages, so the comparison is between behaviors and not between receptors in one animal.</a:t>
            </a:r>
          </a:p>
          <a:p>
            <a:r>
              <a:rPr lang="en-US" sz="1200"/>
              <a:t>• Radiofrequency fields.</a:t>
            </a:r>
          </a:p>
          <a:p>
            <a:r>
              <a:rPr lang="en-US" sz="1200"/>
              <a:t>– These are rapidly oscillating electromagnetic fields.</a:t>
            </a:r>
          </a:p>
          <a:p>
            <a:r>
              <a:rPr lang="en-US" sz="1200"/>
              <a:t>– They are used as a perturbation that may disturb radical-pair processes.</a:t>
            </a:r>
          </a:p>
          <a:p>
            <a:r>
              <a:rPr lang="en-US" sz="1200"/>
              <a:t>• Interpretation.</a:t>
            </a:r>
          </a:p>
          <a:p>
            <a:r>
              <a:rPr lang="en-US" sz="1200"/>
              <a:t>– The map and the compass may use different mechanisms.</a:t>
            </a:r>
          </a:p>
          <a:p>
            <a:r>
              <a:rPr lang="en-US" sz="1200"/>
              <a:t>– The result does not name either mechanism.</a:t>
            </a:r>
          </a:p>
          <a:p>
            <a:r>
              <a:rPr lang="en-US" sz="1200"/>
              <a:t>– Only the compass-dependent task lost its group heading under the noise.</a:t>
            </a:r>
          </a:p>
          <a:p>
            <a:r>
              <a:rPr lang="en-US" sz="1200"/>
              <a:t/>
            </a:r>
          </a:p>
          <a:p>
            <a:r>
              <a:rPr lang="en-US" sz="1200"/>
              <a:t>References:</a:t>
            </a:r>
          </a:p>
          <a:p>
            <a:r>
              <a:rPr lang="en-US" sz="1200"/>
              <a:t>Goforth KM, Lohmann CMF, Gavin A, Henning R, Harvey A, Hinton TL, Lim DS, Lohmann KJ (2025). Learned magnetic map cues and two mechanisms of magnetoreception in turtles. Nature 638(8052):1015-1022. https://doi.org/10.1038/s41586-024-08554-y</a:t>
            </a:r>
          </a:p>
        </p:txBody>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A mismatch separates two features that normally occur together.</a:t>
            </a:r>
          </a:p>
          <a:p>
            <a:r>
              <a:rPr lang="en-US" sz="1200"/>
              <a:t>• Training fields.</a:t>
            </a:r>
          </a:p>
          <a:p>
            <a:r>
              <a:rPr lang="en-US" sz="1200"/>
              <a:t>– Inclination and intensity varied together during conditioning.</a:t>
            </a:r>
          </a:p>
          <a:p>
            <a:r>
              <a:rPr lang="en-US" sz="1200"/>
              <a:t>• Mismatched fields.</a:t>
            </a:r>
          </a:p>
          <a:p>
            <a:r>
              <a:rPr lang="en-US" sz="1200"/>
              <a:t>– One mismatched field combined the inclination of one learned field with the intensity of the other.</a:t>
            </a:r>
          </a:p>
          <a:p>
            <a:r>
              <a:rPr lang="en-US" sz="1200"/>
              <a:t>– The second mismatched field reversed this pairing.</a:t>
            </a:r>
          </a:p>
          <a:p>
            <a:r>
              <a:rPr lang="en-US" sz="1200"/>
              <a:t>• Test conditions.</a:t>
            </a:r>
          </a:p>
          <a:p>
            <a:r>
              <a:rPr lang="en-US" sz="1200"/>
              <a:t>– Turtles were tested in the rewarded field, the unrewarded field and both mismatched fields.</a:t>
            </a:r>
          </a:p>
          <a:p>
            <a:r>
              <a:rPr lang="en-US" sz="1200"/>
              <a:t>• Question.</a:t>
            </a:r>
          </a:p>
          <a:p>
            <a:r>
              <a:rPr lang="en-US" sz="1200"/>
              <a:t>– The test asks whether a familiar inclination or a familiar intensity alone is sufficient.</a:t>
            </a:r>
          </a:p>
          <a:p>
            <a:r>
              <a:rPr lang="en-US" sz="1200"/>
              <a:t>• Possible outcomes.</a:t>
            </a:r>
          </a:p>
          <a:p>
            <a:r>
              <a:rPr lang="en-US" sz="1200"/>
              <a:t>– A response to a mismatched field would show that one component is sufficient.</a:t>
            </a:r>
          </a:p>
          <a:p>
            <a:r>
              <a:rPr lang="en-US" sz="1200"/>
              <a:t>– No response would show that the combination is needed.</a:t>
            </a:r>
          </a:p>
          <a:p>
            <a:r>
              <a:rPr lang="en-US" sz="1200"/>
              <a:t>• Compound cue.</a:t>
            </a:r>
          </a:p>
          <a:p>
            <a:r>
              <a:rPr lang="en-US" sz="1200"/>
              <a:t>– A signature can function as a compound cue and not as a single coordinate.</a:t>
            </a:r>
          </a:p>
          <a:p>
            <a:r>
              <a:rPr lang="en-US" sz="1200"/>
              <a:t>• Possible readouts.</a:t>
            </a:r>
          </a:p>
          <a:p>
            <a:r>
              <a:rPr lang="en-US" sz="1200"/>
              <a:t>– If turtles danced in a mismatched field, one component would be sufficient.</a:t>
            </a:r>
          </a:p>
          <a:p>
            <a:r>
              <a:rPr lang="en-US" sz="1200"/>
              <a:t>– If they did not dance, both components would be needed.</a:t>
            </a:r>
          </a:p>
          <a:p>
            <a:r>
              <a:rPr lang="en-US" sz="1200"/>
              <a:t>• Compound signature.</a:t>
            </a:r>
          </a:p>
          <a:p>
            <a:r>
              <a:rPr lang="en-US" sz="1200"/>
              <a:t>– A signature can act as a compound cue, which is not a single coordinate.</a:t>
            </a:r>
          </a:p>
          <a:p>
            <a:r>
              <a:rPr lang="en-US" sz="1200"/>
              <a:t/>
            </a:r>
          </a:p>
          <a:p>
            <a:r>
              <a:rPr lang="en-US" sz="1200"/>
              <a:t>References:</a:t>
            </a:r>
          </a:p>
          <a:p>
            <a:r>
              <a:rPr lang="en-US" sz="1200"/>
              <a:t>Goforth KM, Lohmann CMF, Gavin A, Henning R, Harvey A, Hinton TL, Lim DS, Lohmann KJ (2025). Learned magnetic map cues and two mechanisms of magnetoreception in turtles. Nature 638(8052):1015-1022. https://doi.org/10.1038/s41586-024-08554-y</a:t>
            </a:r>
          </a:p>
        </p:txBody>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Learning gives magnetic fields a meaning that the experimenter assigns.</a:t>
            </a:r>
          </a:p>
          <a:p>
            <a:r>
              <a:rPr lang="en-US" sz="1200"/>
              <a:t>• Definition.</a:t>
            </a:r>
          </a:p>
          <a:p>
            <a:r>
              <a:rPr lang="en-US" sz="1200"/>
              <a:t>– Associative learning links a sensory cue with an outcome.</a:t>
            </a:r>
          </a:p>
          <a:p>
            <a:r>
              <a:rPr lang="en-US" sz="1200"/>
              <a:t>• Conditioning.</a:t>
            </a:r>
          </a:p>
          <a:p>
            <a:r>
              <a:rPr lang="en-US" sz="1200"/>
              <a:t>– Juvenile loggerheads were conditioned for 2 months with two replicated geographical fields.</a:t>
            </a:r>
          </a:p>
          <a:p>
            <a:r>
              <a:rPr lang="en-US" sz="1200"/>
              <a:t>– Time spent in the two fields was equal.</a:t>
            </a:r>
          </a:p>
          <a:p>
            <a:r>
              <a:rPr lang="en-US" sz="1200"/>
              <a:t>• Reward.</a:t>
            </a:r>
          </a:p>
          <a:p>
            <a:r>
              <a:rPr lang="en-US" sz="1200"/>
              <a:t>– Food was delivered only in one assigned signature.</a:t>
            </a:r>
          </a:p>
          <a:p>
            <a:r>
              <a:rPr lang="en-US" sz="1200"/>
              <a:t>• Counterbalancing.</a:t>
            </a:r>
          </a:p>
          <a:p>
            <a:r>
              <a:rPr lang="en-US" sz="1200"/>
              <a:t>– Either field could predict food across animals.</a:t>
            </a:r>
          </a:p>
          <a:p>
            <a:r>
              <a:rPr lang="en-US" sz="1200"/>
              <a:t>– This separates a learned association from a fixed preference.</a:t>
            </a:r>
          </a:p>
          <a:p>
            <a:r>
              <a:rPr lang="en-US" sz="1200"/>
              <a:t>• Test.</a:t>
            </a:r>
          </a:p>
          <a:p>
            <a:r>
              <a:rPr lang="en-US" sz="1200"/>
              <a:t>– Turtles were tested without food.</a:t>
            </a:r>
          </a:p>
          <a:p>
            <a:r>
              <a:rPr lang="en-US" sz="1200"/>
              <a:t>– Turtle dancing was scored from video.</a:t>
            </a:r>
          </a:p>
          <a:p>
            <a:r>
              <a:rPr lang="en-US" sz="1200"/>
              <a:t>• Result.</a:t>
            </a:r>
          </a:p>
          <a:p>
            <a:r>
              <a:rPr lang="en-US" sz="1200"/>
              <a:t>– Dancing was longer in the field that had been paired with food.</a:t>
            </a:r>
          </a:p>
          <a:p>
            <a:r>
              <a:rPr lang="en-US" sz="1200"/>
              <a:t>• Behavior scored.</a:t>
            </a:r>
          </a:p>
          <a:p>
            <a:r>
              <a:rPr lang="en-US" sz="1200"/>
              <a:t>– Turtle dancing includes vertical body tilt, the head near or above water, mouth opening and alternating front-flipper movement.</a:t>
            </a:r>
          </a:p>
          <a:p>
            <a:r>
              <a:rPr lang="en-US" sz="1200"/>
              <a:t>– Duration was scored from video recordings.</a:t>
            </a:r>
          </a:p>
          <a:p>
            <a:r>
              <a:rPr lang="en-US" sz="1200"/>
              <a:t>• Blind scoring.</a:t>
            </a:r>
          </a:p>
          <a:p>
            <a:r>
              <a:rPr lang="en-US" sz="1200"/>
              <a:t>– Observers did not know the magnetic treatment.</a:t>
            </a:r>
          </a:p>
          <a:p>
            <a:r>
              <a:rPr lang="en-US" sz="1200"/>
              <a:t>– Turtles danced more in the rewarded signature after equivalent exposure to both.</a:t>
            </a:r>
          </a:p>
          <a:p>
            <a:r>
              <a:rPr lang="en-US" sz="1200"/>
              <a:t>– The output is time spent in a behavioral state and not the direction of swimming.</a:t>
            </a:r>
          </a:p>
          <a:p>
            <a:r>
              <a:rPr lang="en-US" sz="1200"/>
              <a:t/>
            </a:r>
          </a:p>
          <a:p>
            <a:r>
              <a:rPr lang="en-US" sz="1200"/>
              <a:t>References:</a:t>
            </a:r>
          </a:p>
          <a:p>
            <a:r>
              <a:rPr lang="en-US" sz="1200"/>
              <a:t>Goforth KM, Lohmann CMF, Gavin A, Henning R, Harvey A, Hinton TL, Lim DS, Lohmann KJ (2025). Learned magnetic map cues and two mechanisms of magnetoreception in turtles. Nature 638(8052):1015-1022. https://doi.org/10.1038/s41586-024-08554-y</a:t>
            </a:r>
          </a:p>
        </p:txBody>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A location can be recognized from several field properties at once.</a:t>
            </a:r>
          </a:p>
          <a:p>
            <a:r>
              <a:rPr lang="en-US" sz="1200"/>
              <a:t>• Definition.</a:t>
            </a:r>
          </a:p>
          <a:p>
            <a:r>
              <a:rPr lang="en-US" sz="1200"/>
              <a:t>– A magnetic signature is the combination of magnetic parameters characteristic of a location.</a:t>
            </a:r>
          </a:p>
          <a:p>
            <a:r>
              <a:rPr lang="en-US" sz="1200"/>
              <a:t>• Why a combination.</a:t>
            </a:r>
          </a:p>
          <a:p>
            <a:r>
              <a:rPr lang="en-US" sz="1200"/>
              <a:t>– Inclination and intensity vary together across the ocean.</a:t>
            </a:r>
          </a:p>
          <a:p>
            <a:r>
              <a:rPr lang="en-US" sz="1200"/>
              <a:t>– A pair of values is more specific than either value alone.</a:t>
            </a:r>
          </a:p>
          <a:p>
            <a:r>
              <a:rPr lang="en-US" sz="1200"/>
              <a:t>• Fields tested.</a:t>
            </a:r>
          </a:p>
          <a:p>
            <a:r>
              <a:rPr lang="en-US" sz="1200"/>
              <a:t>– Three fields from the North Atlantic route were replicated.</a:t>
            </a:r>
          </a:p>
          <a:p>
            <a:r>
              <a:rPr lang="en-US" sz="1200"/>
              <a:t>• Responses.</a:t>
            </a:r>
          </a:p>
          <a:p>
            <a:r>
              <a:rPr lang="en-US" sz="1200"/>
              <a:t>– East-southeast in the northern Florida field.</a:t>
            </a:r>
          </a:p>
          <a:p>
            <a:r>
              <a:rPr lang="en-US" sz="1200"/>
              <a:t>– South in the northeastern gyre field and west-northwest in the southern gyre field.</a:t>
            </a:r>
          </a:p>
          <a:p>
            <a:r>
              <a:rPr lang="en-US" sz="1200"/>
              <a:t>• Apparatus.</a:t>
            </a:r>
          </a:p>
          <a:p>
            <a:r>
              <a:rPr lang="en-US" sz="1200"/>
              <a:t>– A computerized coil system set the field while the animals stayed in the same arena.</a:t>
            </a:r>
          </a:p>
          <a:p>
            <a:r>
              <a:rPr lang="en-US" sz="1200"/>
              <a:t>• Interpretation.</a:t>
            </a:r>
          </a:p>
          <a:p>
            <a:r>
              <a:rPr lang="en-US" sz="1200"/>
              <a:t>– The headings fit movement into favorable currents and away from displacement beyond the gyre.</a:t>
            </a:r>
          </a:p>
          <a:p>
            <a:r>
              <a:rPr lang="en-US" sz="1200"/>
              <a:t>• Hatchlings had not been to sea.</a:t>
            </a:r>
          </a:p>
          <a:p>
            <a:r>
              <a:rPr lang="en-US" sz="1200"/>
              <a:t>– The tested hatchlings had never entered the ocean, so the responses did not depend on prior travel in those regions.</a:t>
            </a:r>
          </a:p>
          <a:p>
            <a:r>
              <a:rPr lang="en-US" sz="1200"/>
              <a:t>• Routes.</a:t>
            </a:r>
          </a:p>
          <a:p>
            <a:r>
              <a:rPr lang="en-US" sz="1200"/>
              <a:t>– The route is the North Atlantic gyre followed by young loggerheads.</a:t>
            </a:r>
          </a:p>
          <a:p>
            <a:r>
              <a:rPr lang="en-US" sz="1200"/>
              <a:t>– The fields come from locations along that route.</a:t>
            </a:r>
          </a:p>
          <a:p>
            <a:r>
              <a:rPr lang="en-US" sz="1200"/>
              <a:t/>
            </a:r>
          </a:p>
          <a:p>
            <a:r>
              <a:rPr lang="en-US" sz="1200"/>
              <a:t>References:</a:t>
            </a:r>
          </a:p>
          <a:p>
            <a:r>
              <a:rPr lang="en-US" sz="1200"/>
              <a:t>Lohmann KJ, Cain SD, Dodge SA, Lohmann CMF (2001). Regional Magnetic Fields as Navigational Markers for Sea Turtles. Science 294(5541):364-366. https://doi.org/10.1126/science.1064557</a:t>
            </a:r>
          </a:p>
        </p:txBody>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Separating two properties of the field allows each to be tested alone.</a:t>
            </a:r>
          </a:p>
          <a:p>
            <a:r>
              <a:rPr lang="en-US" sz="1200"/>
              <a:t>• Definitions.</a:t>
            </a:r>
          </a:p>
          <a:p>
            <a:r>
              <a:rPr lang="en-US" sz="1200"/>
              <a:t>– Intensity is the magnitude of the field.</a:t>
            </a:r>
          </a:p>
          <a:p>
            <a:r>
              <a:rPr lang="en-US" sz="1200"/>
              <a:t>– Inclination is the angle at which field lines intersect the horizontal.</a:t>
            </a:r>
          </a:p>
          <a:p>
            <a:r>
              <a:rPr lang="en-US" sz="1200"/>
              <a:t>• Natural covariation.</a:t>
            </a:r>
          </a:p>
          <a:p>
            <a:r>
              <a:rPr lang="en-US" sz="1200"/>
              <a:t>– In nature both properties change with location.</a:t>
            </a:r>
          </a:p>
          <a:p>
            <a:r>
              <a:rPr lang="en-US" sz="1200"/>
              <a:t>– In the laboratory they can be set separately.</a:t>
            </a:r>
          </a:p>
          <a:p>
            <a:r>
              <a:rPr lang="en-US" sz="1200"/>
              <a:t>• Coils.</a:t>
            </a:r>
          </a:p>
          <a:p>
            <a:r>
              <a:rPr lang="en-US" sz="1200"/>
              <a:t>– Two orthogonal coil systems controlled the horizontal and vertical components independently.</a:t>
            </a:r>
          </a:p>
          <a:p>
            <a:r>
              <a:rPr lang="en-US" sz="1200"/>
              <a:t>• Arena.</a:t>
            </a:r>
          </a:p>
          <a:p>
            <a:r>
              <a:rPr lang="en-US" sz="1200"/>
              <a:t>– Hatchlings swam in a 1.22-meter arena.</a:t>
            </a:r>
          </a:p>
          <a:p>
            <a:r>
              <a:rPr lang="en-US" sz="1200"/>
              <a:t>– A digital encoder recorded heading to the nearest 1.4 degrees every 10 seconds.</a:t>
            </a:r>
          </a:p>
          <a:p>
            <a:r>
              <a:rPr lang="en-US" sz="1200"/>
              <a:t>• Constant strength.</a:t>
            </a:r>
          </a:p>
          <a:p>
            <a:r>
              <a:rPr lang="en-US" sz="1200"/>
              <a:t>– Total field strength was 0.044 to 0.045 millitesla across conditions.</a:t>
            </a:r>
          </a:p>
          <a:p>
            <a:r>
              <a:rPr lang="en-US" sz="1200"/>
              <a:t>• Equipment controls.</a:t>
            </a:r>
          </a:p>
          <a:p>
            <a:r>
              <a:rPr lang="en-US" sz="1200"/>
              <a:t>– Computers and power supplies stayed active in every treatment and sat in an adjacent room.</a:t>
            </a:r>
          </a:p>
          <a:p>
            <a:r>
              <a:rPr lang="en-US" sz="1200"/>
              <a:t>• Why intensity must be constant.</a:t>
            </a:r>
          </a:p>
          <a:p>
            <a:r>
              <a:rPr lang="en-US" sz="1200"/>
              <a:t>– A change in field strength could itself affect behavior.</a:t>
            </a:r>
          </a:p>
          <a:p>
            <a:r>
              <a:rPr lang="en-US" sz="1200"/>
              <a:t>– Holding strength near 0.045 millitesla removes that possibility.</a:t>
            </a:r>
          </a:p>
          <a:p>
            <a:r>
              <a:rPr lang="en-US" sz="1200"/>
              <a:t>• Interpretation.</a:t>
            </a:r>
          </a:p>
          <a:p>
            <a:r>
              <a:rPr lang="en-US" sz="1200"/>
              <a:t>– A change in heading across inclinations therefore reflects the angle of the field lines.</a:t>
            </a:r>
          </a:p>
          <a:p>
            <a:r>
              <a:rPr lang="en-US" sz="1200"/>
              <a:t>– The measured total field strength stayed within a narrow range in every condition.</a:t>
            </a:r>
          </a:p>
          <a:p>
            <a:r>
              <a:rPr lang="en-US" sz="1200"/>
              <a:t/>
            </a:r>
          </a:p>
          <a:p>
            <a:r>
              <a:rPr lang="en-US" sz="1200"/>
              <a:t>References:</a:t>
            </a:r>
          </a:p>
          <a:p>
            <a:r>
              <a:rPr lang="en-US" sz="1200"/>
              <a:t>Lohmann KJ, Lohmann CMF (1994). Detection of Magnetic Inclination Angle by Sea Turtles: A Possible Mechanism for Determining Latitude. Journal of Experimental Biology 194(1):23-32. https://doi.org/10.1242/jeb.194.1.23</a:t>
            </a:r>
          </a:p>
        </p:txBody>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The same behavior can arise from two different compass designs.</a:t>
            </a:r>
          </a:p>
          <a:p>
            <a:r>
              <a:rPr lang="en-US" sz="1200"/>
              <a:t>• Polarity compass.</a:t>
            </a:r>
          </a:p>
          <a:p>
            <a:r>
              <a:rPr lang="en-US" sz="1200"/>
              <a:t>– A polarity compass distinguishes the two directed ends of a magnetic vector.</a:t>
            </a:r>
          </a:p>
          <a:p>
            <a:r>
              <a:rPr lang="en-US" sz="1200"/>
              <a:t>• Inclination compass.</a:t>
            </a:r>
          </a:p>
          <a:p>
            <a:r>
              <a:rPr lang="en-US" sz="1200"/>
              <a:t>– An inclination compass uses the axial slope of the field lines relative to the horizontal.</a:t>
            </a:r>
          </a:p>
          <a:p>
            <a:r>
              <a:rPr lang="en-US" sz="1200"/>
              <a:t>– Poleward is the direction in which the field lines dip more steeply.</a:t>
            </a:r>
          </a:p>
          <a:p>
            <a:r>
              <a:rPr lang="en-US" sz="1200"/>
              <a:t>• The manipulation.</a:t>
            </a:r>
          </a:p>
          <a:p>
            <a:r>
              <a:rPr lang="en-US" sz="1200"/>
              <a:t>– The coil reversed the horizontal component and left the vertical component unchanged.</a:t>
            </a:r>
          </a:p>
          <a:p>
            <a:r>
              <a:rPr lang="en-US" sz="1200"/>
              <a:t>– Magnetic north shifted by 180 degrees.</a:t>
            </a:r>
          </a:p>
          <a:p>
            <a:r>
              <a:rPr lang="en-US" sz="1200"/>
              <a:t>• Field values.</a:t>
            </a:r>
          </a:p>
          <a:p>
            <a:r>
              <a:rPr lang="en-US" sz="1200"/>
              <a:t>– The natural horizontal field was 0.26 oersted.</a:t>
            </a:r>
          </a:p>
          <a:p>
            <a:r>
              <a:rPr lang="en-US" sz="1200"/>
              <a:t>– The reversed field ranged from 0.23 to 0.26 oersted in the swimming zone.</a:t>
            </a:r>
          </a:p>
          <a:p>
            <a:r>
              <a:rPr lang="en-US" sz="1200"/>
              <a:t>• Result.</a:t>
            </a:r>
          </a:p>
          <a:p>
            <a:r>
              <a:rPr lang="en-US" sz="1200"/>
              <a:t>– The preferred heading shifted from 42 to 196 degrees.</a:t>
            </a:r>
          </a:p>
          <a:p>
            <a:r>
              <a:rPr lang="en-US" sz="1200"/>
              <a:t>– Orientation under reversal was more dispersed.</a:t>
            </a:r>
          </a:p>
          <a:p>
            <a:r>
              <a:rPr lang="en-US" sz="1200"/>
              <a:t>• Next test.</a:t>
            </a:r>
          </a:p>
          <a:p>
            <a:r>
              <a:rPr lang="en-US" sz="1200"/>
              <a:t>– Varying inclination at constant intensity separates the slope of the field from its polarity.</a:t>
            </a:r>
          </a:p>
          <a:p>
            <a:r>
              <a:rPr lang="en-US" sz="1200"/>
              <a:t>• Why this does not separate the designs.</a:t>
            </a:r>
          </a:p>
          <a:p>
            <a:r>
              <a:rPr lang="en-US" sz="1200"/>
              <a:t>– Reversing the horizontal component reverses polarity and also reverses the horizontal direction of the field axis.</a:t>
            </a:r>
          </a:p>
          <a:p>
            <a:r>
              <a:rPr lang="en-US" sz="1200"/>
              <a:t>– Both designs predict a change in heading.</a:t>
            </a:r>
          </a:p>
          <a:p>
            <a:r>
              <a:rPr lang="en-US" sz="1200"/>
              <a:t/>
            </a:r>
          </a:p>
          <a:p>
            <a:r>
              <a:rPr lang="en-US" sz="1200"/>
              <a:t>References:</a:t>
            </a:r>
          </a:p>
          <a:p>
            <a:r>
              <a:rPr lang="en-US" sz="1200"/>
              <a:t>Lohmann KJ (1991). Magnetic Orientation By Hatchling Loggerhead Sea Turtles (Caretta Caretta). Journal of Experimental Biology 155(1):37-49. https://doi.org/10.1242/jeb.155.1.37</a:t>
            </a:r>
          </a:p>
        </p:txBody>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rPr lang="en-US" sz="1200"/>
              <a:t>• Navigation uses two different kinds of information, direction and position.</a:t>
            </a:r>
          </a:p>
          <a:p>
            <a:r>
              <a:rPr lang="en-US" sz="1200"/>
              <a:t>• Compass.</a:t>
            </a:r>
          </a:p>
          <a:p>
            <a:r>
              <a:rPr lang="en-US" sz="1200"/>
              <a:t>– A compass supplies direction.</a:t>
            </a:r>
          </a:p>
          <a:p>
            <a:r>
              <a:rPr lang="en-US" sz="1200"/>
              <a:t>– It tells the animal which way it is heading.</a:t>
            </a:r>
          </a:p>
          <a:p>
            <a:r>
              <a:rPr lang="en-US" sz="1200"/>
              <a:t>• Map.</a:t>
            </a:r>
          </a:p>
          <a:p>
            <a:r>
              <a:rPr lang="en-US" sz="1200"/>
              <a:t>– A map supplies information related to location.</a:t>
            </a:r>
          </a:p>
          <a:p>
            <a:r>
              <a:rPr lang="en-US" sz="1200"/>
              <a:t>– It tells the animal where it is relative to a goal.</a:t>
            </a:r>
          </a:p>
          <a:p>
            <a:r>
              <a:rPr lang="en-US" sz="1200"/>
              <a:t>• Experiment.</a:t>
            </a:r>
          </a:p>
          <a:p>
            <a:r>
              <a:rPr lang="en-US" sz="1200"/>
              <a:t>– Hatchlings swam in a harness connected to a freely rotating lever.</a:t>
            </a:r>
          </a:p>
          <a:p>
            <a:r>
              <a:rPr lang="en-US" sz="1200"/>
              <a:t>– A rheostat converted lever position into an electrical record of heading.</a:t>
            </a:r>
          </a:p>
          <a:p>
            <a:r>
              <a:rPr lang="en-US" sz="1200"/>
              <a:t>• Conditions.</a:t>
            </a:r>
          </a:p>
          <a:p>
            <a:r>
              <a:rPr lang="en-US" sz="1200"/>
              <a:t>– Turtles swam for 90 to 180 minutes in darkness.</a:t>
            </a:r>
          </a:p>
          <a:p>
            <a:r>
              <a:rPr lang="en-US" sz="1200"/>
              <a:t>– The field was either natural or had a reversed horizontal component.</a:t>
            </a:r>
          </a:p>
          <a:p>
            <a:r>
              <a:rPr lang="en-US" sz="1200"/>
              <a:t>• Result.</a:t>
            </a:r>
          </a:p>
          <a:p>
            <a:r>
              <a:rPr lang="en-US" sz="1200"/>
              <a:t>– The natural-field group preferred 42 degrees.</a:t>
            </a:r>
          </a:p>
          <a:p>
            <a:r>
              <a:rPr lang="en-US" sz="1200"/>
              <a:t>– The reversed-field group preferred 196 degrees.</a:t>
            </a:r>
          </a:p>
          <a:p>
            <a:r>
              <a:rPr lang="en-US" sz="1200"/>
              <a:t>• Meaning.</a:t>
            </a:r>
          </a:p>
          <a:p>
            <a:r>
              <a:rPr lang="en-US" sz="1200"/>
              <a:t>– A heading that follows the field is a compass response, because it reports a direction and not a location.</a:t>
            </a:r>
          </a:p>
          <a:p>
            <a:r>
              <a:rPr lang="en-US" sz="1200"/>
              <a:t>• Why darkness.</a:t>
            </a:r>
          </a:p>
          <a:p>
            <a:r>
              <a:rPr lang="en-US" sz="1200"/>
              <a:t>– Swimming in complete darkness removes visual landmarks, so the field is the available directional cue.</a:t>
            </a:r>
          </a:p>
          <a:p>
            <a:r>
              <a:rPr lang="en-US" sz="1200"/>
              <a:t>– The dim eastern light before the test gave all turtles the same starting experience.</a:t>
            </a:r>
          </a:p>
          <a:p>
            <a:r>
              <a:rPr lang="en-US" sz="1200"/>
              <a:t>• Recording heading.</a:t>
            </a:r>
          </a:p>
          <a:p>
            <a:r>
              <a:rPr lang="en-US" sz="1200"/>
              <a:t>– A harness and lever allow heading to be recorded continuously during swimming.</a:t>
            </a:r>
          </a:p>
          <a:p>
            <a:r>
              <a:rPr lang="en-US" sz="1200"/>
              <a:t/>
            </a:r>
          </a:p>
          <a:p>
            <a:r>
              <a:rPr lang="en-US" sz="1200"/>
              <a:t>References:</a:t>
            </a:r>
          </a:p>
          <a:p>
            <a:r>
              <a:rPr lang="en-US" sz="1200"/>
              <a:t>Lohmann KJ (1991). Magnetic Orientation By Hatchling Loggerhead Sea Turtles (Caretta Caretta). Journal of Experimental Biology 155(1):37-49. https://doi.org/10.1242/jeb.155.1.37</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48"/>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48"/>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48"/>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47"/>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4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4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4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4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0.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2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2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2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27.png"/><Relationship Id="rId4" Type="http://schemas.openxmlformats.org/officeDocument/2006/relationships/image" Target="../media/image2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33.png"/><Relationship Id="rId4" Type="http://schemas.openxmlformats.org/officeDocument/2006/relationships/image" Target="../media/image2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28.png"/><Relationship Id="rId4" Type="http://schemas.openxmlformats.org/officeDocument/2006/relationships/image" Target="../media/image2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19.png"/><Relationship Id="rId4" Type="http://schemas.openxmlformats.org/officeDocument/2006/relationships/image" Target="../media/image2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2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21.png"/><Relationship Id="rId4" Type="http://schemas.openxmlformats.org/officeDocument/2006/relationships/image" Target="../media/image2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21.png"/><Relationship Id="rId4" Type="http://schemas.openxmlformats.org/officeDocument/2006/relationships/image" Target="../media/image2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29.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3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3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34.png"/><Relationship Id="rId4" Type="http://schemas.openxmlformats.org/officeDocument/2006/relationships/image" Target="../media/image38.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39.png"/><Relationship Id="rId4" Type="http://schemas.openxmlformats.org/officeDocument/2006/relationships/image" Target="../media/image38.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36.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4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35.png"/><Relationship Id="rId4" Type="http://schemas.openxmlformats.org/officeDocument/2006/relationships/image" Target="../media/image40.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30.png"/><Relationship Id="rId4" Type="http://schemas.openxmlformats.org/officeDocument/2006/relationships/image" Target="../media/image40.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37.png"/><Relationship Id="rId4" Type="http://schemas.openxmlformats.org/officeDocument/2006/relationships/image" Target="../media/image40.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42.png"/><Relationship Id="rId4" Type="http://schemas.openxmlformats.org/officeDocument/2006/relationships/image" Target="../media/image40.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43.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45.png"/><Relationship Id="rId4" Type="http://schemas.openxmlformats.org/officeDocument/2006/relationships/image" Target="../media/image44.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18.png"/><Relationship Id="rId4" Type="http://schemas.openxmlformats.org/officeDocument/2006/relationships/image" Target="../media/image40.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3.png"/><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0.png"/><Relationship Id="rId3" Type="http://schemas.openxmlformats.org/officeDocument/2006/relationships/image" Target="../media/image40.png"/><Relationship Id="rId4"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9.png"/><Relationship Id="rId3" Type="http://schemas.openxmlformats.org/officeDocument/2006/relationships/image" Target="../media/image38.png"/><Relationship Id="rId4"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image" Target="../media/image26.png"/><Relationship Id="rId4"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8.png"/><Relationship Id="rId3" Type="http://schemas.openxmlformats.org/officeDocument/2006/relationships/image" Target="../media/image22.png"/><Relationship Id="rId4"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4.png"/><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png"/><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8.png"/><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3.png"/><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png"/><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4.png"/><Relationship Id="rId3" Type="http://schemas.openxmlformats.org/officeDocument/2006/relationships/notesSlide" Target="../notesSlides/notesSlide6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 name="Shape 18"/>
        <p:cNvGrpSpPr/>
        <p:nvPr/>
      </p:nvGrpSpPr>
      <p:grpSpPr>
        <a:xfrm>
          <a:off x="0" y="0"/>
          <a:ext cx="0" cy="0"/>
          <a:chOff x="0" y="0"/>
          <a:chExt cx="0" cy="0"/>
        </a:xfrm>
      </p:grpSpPr>
      <p:sp>
        <p:nvSpPr>
          <p:cNvPr id="19" name="Google Shape;19;p1"/>
          <p:cNvSpPr/>
          <p:nvPr/>
        </p:nvSpPr>
        <p:spPr>
          <a:xfrm>
            <a:off x="0" y="0"/>
            <a:ext cx="6096000" cy="6858000"/>
          </a:xfrm>
          <a:prstGeom prst="rect">
            <a:avLst/>
          </a:prstGeom>
          <a:solidFill>
            <a:srgbClr val="F1ECE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 name="Google Shape;20;p1"/>
          <p:cNvSpPr/>
          <p:nvPr/>
        </p:nvSpPr>
        <p:spPr>
          <a:xfrm>
            <a:off x="685800" y="822871"/>
            <a:ext cx="4743450" cy="164455"/>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8A3B32"/>
              </a:buClr>
              <a:buSzPts val="1200"/>
              <a:buFont typeface="Arial"/>
              <a:buNone/>
            </a:pPr>
            <a:r>
              <a:rPr b="0" i="0" lang="en-US" sz="1200">
                <a:solidFill>
                  <a:srgbClr val="8A3B32"/>
                </a:solidFill>
                <a:latin typeface="Arial"/>
                <a:ea typeface="Arial"/>
                <a:cs typeface="Arial"/>
                <a:sym typeface="Arial"/>
              </a:rPr>
              <a:t>NEUR 411 · NEUROETHOLOGY · FALL 2026</a:t>
            </a:r>
            <a:endParaRPr sz="1800">
              <a:solidFill>
                <a:schemeClr val="dk1"/>
              </a:solidFill>
              <a:latin typeface="Calibri"/>
              <a:ea typeface="Calibri"/>
              <a:cs typeface="Calibri"/>
              <a:sym typeface="Calibri"/>
            </a:endParaRPr>
          </a:p>
        </p:txBody>
      </p:sp>
      <p:sp>
        <p:nvSpPr>
          <p:cNvPr id="21" name="Google Shape;21;p1"/>
          <p:cNvSpPr/>
          <p:nvPr/>
        </p:nvSpPr>
        <p:spPr>
          <a:xfrm>
            <a:off x="685800" y="1782961"/>
            <a:ext cx="4743450" cy="4547039"/>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8A3B32"/>
              </a:buClr>
              <a:buSzPts val="1800"/>
              <a:buFont typeface="Arial"/>
              <a:buNone/>
            </a:pPr>
            <a:r>
              <a:rPr b="0" i="0" lang="en-US" sz="1800">
                <a:solidFill>
                  <a:srgbClr val="8A3B32"/>
                </a:solidFill>
                <a:latin typeface="Arial"/>
                <a:ea typeface="Arial"/>
                <a:cs typeface="Arial"/>
                <a:sym typeface="Arial"/>
              </a:rPr>
              <a:t>Lecture 23</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B2B2E"/>
              </a:buClr>
              <a:buSzPts val="2400"/>
              <a:buFont typeface="Arial"/>
              <a:buNone/>
            </a:pPr>
            <a:r>
              <a:rPr b="1" i="0" lang="en-US" sz="2400">
                <a:solidFill>
                  <a:schemeClr val="dk1"/>
                </a:solidFill>
                <a:latin typeface="Arial"/>
                <a:ea typeface="Arial"/>
                <a:cs typeface="Arial"/>
                <a:sym typeface="Arial"/>
              </a:rPr>
              <a:t>Magnetoreception: sea turtle and migratory bird magnetic compasses</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8A3B32"/>
              </a:buClr>
              <a:buSzPts val="1600"/>
              <a:buFont typeface="Arial"/>
              <a:buNone/>
            </a:pPr>
            <a:r>
              <a:rPr b="0" i="0" lang="en-US" sz="1600">
                <a:solidFill>
                  <a:srgbClr val="8A3B32"/>
                </a:solidFill>
                <a:latin typeface="Arial"/>
                <a:ea typeface="Arial"/>
                <a:cs typeface="Arial"/>
                <a:sym typeface="Arial"/>
              </a:rPr>
              <a:t>Monday, October 19, 2026</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8A3B32"/>
              </a:buClr>
              <a:buSzPts val="1200"/>
              <a:buFont typeface="Arial"/>
              <a:buNone/>
            </a:pPr>
            <a:r>
              <a:rPr b="0" i="0" lang="en-US" sz="1200">
                <a:solidFill>
                  <a:srgbClr val="8A3B32"/>
                </a:solidFill>
                <a:latin typeface="Arial"/>
                <a:ea typeface="Arial"/>
                <a:cs typeface="Arial"/>
                <a:sym typeface="Arial"/>
              </a:rPr>
              <a:t>Jordan Lopez, Ph.D.</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8A3B32"/>
              </a:buClr>
              <a:buSzPts val="1200"/>
              <a:buFont typeface="Arial"/>
              <a:buNone/>
            </a:pPr>
            <a:r>
              <a:rPr b="0" i="0" lang="en-US" sz="1200">
                <a:solidFill>
                  <a:srgbClr val="8A3B32"/>
                </a:solidFill>
                <a:latin typeface="Arial"/>
                <a:ea typeface="Arial"/>
                <a:cs typeface="Arial"/>
                <a:sym typeface="Arial"/>
              </a:rPr>
              <a:t>Professor of Neurobiology &amp; Biomedical Engineering</a:t>
            </a:r>
            <a:endParaRPr sz="1800">
              <a:solidFill>
                <a:schemeClr val="dk1"/>
              </a:solidFill>
              <a:latin typeface="Calibri"/>
              <a:ea typeface="Calibri"/>
              <a:cs typeface="Calibri"/>
              <a:sym typeface="Calibri"/>
            </a:endParaRPr>
          </a:p>
        </p:txBody>
      </p:sp>
      <p:pic>
        <p:nvPicPr>
          <p:cNvPr id="26" name="Google Shape;26;p1"/>
          <p:cNvPicPr preferRelativeResize="0"/>
          <p:nvPr/>
        </p:nvPicPr>
        <p:blipFill rotWithShape="1">
          <a:blip r:embed="rId3">
            <a:alphaModFix/>
          </a:blip>
          <a:srcRect b="0" l="0" r="0" t="0"/>
          <a:stretch/>
        </p:blipFill>
        <p:spPr>
          <a:xfrm>
            <a:off x="6723530" y="822871"/>
            <a:ext cx="4840642" cy="4937671"/>
          </a:xfrm>
          <a:prstGeom prst="rect">
            <a:avLst/>
          </a:prstGeom>
          <a:noFill/>
          <a:ln>
            <a:noFill/>
          </a:ln>
        </p:spPr>
      </p:pic>
      <p:sp>
        <p:nvSpPr>
          <p:cNvPr id="27" name="Google Shape;27;p1"/>
          <p:cNvSpPr/>
          <p:nvPr/>
        </p:nvSpPr>
        <p:spPr>
          <a:xfrm>
            <a:off x="6553200" y="5943600"/>
            <a:ext cx="52006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1000"/>
              <a:buFont typeface="Arial"/>
              <a:buNone/>
            </a:pPr>
            <a:r>
              <a:rPr b="0" i="0" lang="en-US" sz="1000">
                <a:solidFill>
                  <a:srgbClr val="62606A"/>
                </a:solidFill>
                <a:latin typeface="Arial"/>
                <a:ea typeface="Arial"/>
                <a:cs typeface="Arial"/>
                <a:sym typeface="Arial"/>
              </a:rPr>
              <a:t>Lohmann (1991), Fig. 1. Published drawing of the loggerhead hatchling and swimming preparation.</a:t>
            </a:r>
            <a:endParaRPr sz="180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 name="Shape 31"/>
        <p:cNvGrpSpPr/>
        <p:nvPr/>
      </p:nvGrpSpPr>
      <p:grpSpPr>
        <a:xfrm>
          <a:off x="0" y="0"/>
          <a:ext cx="0" cy="0"/>
          <a:chOff x="0" y="0"/>
          <a:chExt cx="0" cy="0"/>
        </a:xfrm>
      </p:grpSpPr>
      <p:sp>
        <p:nvSpPr>
          <p:cNvPr id="32" name="Google Shape;32;p2"/>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8A3B32"/>
              </a:buClr>
              <a:buSzPts val="3000"/>
              <a:buFont typeface="Arial"/>
              <a:buNone/>
            </a:pPr>
            <a:r>
              <a:rPr b="1" i="0" lang="en-US" sz="3000">
                <a:solidFill>
                  <a:srgbClr val="8A3B32"/>
                </a:solidFill>
                <a:latin typeface="Arial"/>
                <a:ea typeface="Arial"/>
                <a:cs typeface="Arial"/>
                <a:sym typeface="Arial"/>
              </a:rPr>
              <a:t>Hatchling turtles orient to the magnetic field</a:t>
            </a:r>
            <a:endParaRPr sz="1800">
              <a:solidFill>
                <a:schemeClr val="dk1"/>
              </a:solidFill>
              <a:latin typeface="Calibri"/>
              <a:ea typeface="Calibri"/>
              <a:cs typeface="Calibri"/>
              <a:sym typeface="Calibri"/>
            </a:endParaRPr>
          </a:p>
        </p:txBody>
      </p:sp>
      <p:sp>
        <p:nvSpPr>
          <p:cNvPr id="33" name="Google Shape;33;p2"/>
          <p:cNvSpPr/>
          <p:nvPr/>
        </p:nvSpPr>
        <p:spPr>
          <a:xfrm>
            <a:off x="566886" y="1234380"/>
            <a:ext cx="5956250"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8A3B32"/>
              </a:buClr>
              <a:buSzPts val="1600"/>
              <a:buFont typeface="Arial"/>
              <a:buNone/>
            </a:pPr>
            <a:r>
              <a:rPr b="1" i="0" lang="en-US" sz="1600">
                <a:solidFill>
                  <a:srgbClr val="8A3B32"/>
                </a:solidFill>
                <a:latin typeface="Arial"/>
                <a:ea typeface="Arial"/>
                <a:cs typeface="Arial"/>
                <a:sym typeface="Arial"/>
              </a:rPr>
              <a:t>Magnetoreception</a:t>
            </a:r>
            <a:r>
              <a:rPr b="0" i="0" lang="en-US" sz="1600">
                <a:solidFill>
                  <a:srgbClr val="26252A"/>
                </a:solidFill>
                <a:latin typeface="Arial"/>
                <a:ea typeface="Arial"/>
                <a:cs typeface="Arial"/>
                <a:sym typeface="Arial"/>
              </a:rPr>
              <a:t> is the detection of magnetic fields. Loggerhead sea turtles, </a:t>
            </a:r>
            <a:r>
              <a:rPr b="0" i="1" lang="en-US" sz="1600">
                <a:solidFill>
                  <a:srgbClr val="26252A"/>
                </a:solidFill>
                <a:latin typeface="Arial"/>
                <a:ea typeface="Arial"/>
                <a:cs typeface="Arial"/>
                <a:sym typeface="Arial"/>
              </a:rPr>
              <a:t>Caretta caretta</a:t>
            </a:r>
            <a:r>
              <a:rPr b="0" i="0" lang="en-US" sz="1600">
                <a:solidFill>
                  <a:srgbClr val="26252A"/>
                </a:solidFill>
                <a:latin typeface="Arial"/>
                <a:ea typeface="Arial"/>
                <a:cs typeface="Arial"/>
                <a:sym typeface="Arial"/>
              </a:rPr>
              <a:t>, leave their nesting beach before navigating offshore. Lohmann tested whether newly emerged hatchlings could derive a swimming direction from Earth-strength magnetic fields when visible landmarks were unavailable.</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6252A"/>
              </a:buClr>
              <a:buSzPts val="1600"/>
              <a:buFont typeface="Arial"/>
              <a:buNone/>
            </a:pPr>
            <a:r>
              <a:rPr b="0" i="0" lang="en-US" sz="1600">
                <a:solidFill>
                  <a:srgbClr val="26252A"/>
                </a:solidFill>
                <a:latin typeface="Arial"/>
                <a:ea typeface="Arial"/>
                <a:cs typeface="Arial"/>
                <a:sym typeface="Arial"/>
              </a:rPr>
              <a:t>Hatchlings swam in a harness connected to a freely rotating lever. A rheostat converted lever position into an electrical record of heading. After exposure to a dim eastern light, turtles swam for 90–180 min in complete darkness under either the natural field or an experimentally reversed horizontal component.</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6252A"/>
              </a:buClr>
              <a:buSzPts val="1600"/>
              <a:buFont typeface="Arial"/>
              <a:buNone/>
            </a:pPr>
            <a:r>
              <a:rPr b="0" i="0" lang="en-US" sz="1600">
                <a:solidFill>
                  <a:srgbClr val="26252A"/>
                </a:solidFill>
                <a:latin typeface="Arial"/>
                <a:ea typeface="Arial"/>
                <a:cs typeface="Arial"/>
                <a:sym typeface="Arial"/>
              </a:rPr>
              <a:t>The natural-field group preferred 42°, whereas the reversed-field group preferred 196°. The field manipulation therefore changed the directional response. Magnetic influence on orientation was therefore demonstrated in a preparation in which visible landmarks were unavailable and the magnetic field was the controlled variable.</a:t>
            </a:r>
            <a:endParaRPr sz="1800">
              <a:solidFill>
                <a:schemeClr val="dk1"/>
              </a:solidFill>
              <a:latin typeface="Calibri"/>
              <a:ea typeface="Calibri"/>
              <a:cs typeface="Calibri"/>
              <a:sym typeface="Calibri"/>
            </a:endParaRPr>
          </a:p>
        </p:txBody>
      </p:sp>
      <p:pic>
        <p:nvPicPr>
          <p:cNvPr id="36" name="Google Shape;36;p2"/>
          <p:cNvPicPr preferRelativeResize="0"/>
          <p:nvPr/>
        </p:nvPicPr>
        <p:blipFill rotWithShape="1">
          <a:blip r:embed="rId3">
            <a:alphaModFix/>
          </a:blip>
          <a:srcRect b="0" l="0" r="0" t="0"/>
          <a:stretch/>
        </p:blipFill>
        <p:spPr>
          <a:xfrm>
            <a:off x="6870128" y="1280071"/>
            <a:ext cx="4754763" cy="2234059"/>
          </a:xfrm>
          <a:prstGeom prst="rect">
            <a:avLst/>
          </a:prstGeom>
          <a:noFill/>
          <a:ln>
            <a:noFill/>
          </a:ln>
        </p:spPr>
      </p:pic>
      <p:sp>
        <p:nvSpPr>
          <p:cNvPr id="37" name="Google Shape;37;p2"/>
          <p:cNvSpPr/>
          <p:nvPr/>
        </p:nvSpPr>
        <p:spPr>
          <a:xfrm>
            <a:off x="6870055" y="3605659"/>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1000"/>
              <a:buFont typeface="Arial"/>
              <a:buNone/>
            </a:pPr>
            <a:r>
              <a:rPr b="0" i="0" lang="en-US" sz="1000">
                <a:solidFill>
                  <a:srgbClr val="62606A"/>
                </a:solidFill>
                <a:latin typeface="Arial"/>
                <a:ea typeface="Arial"/>
                <a:cs typeface="Arial"/>
                <a:sym typeface="Arial"/>
              </a:rPr>
              <a:t>Lohmann (1991), Fig. 2(A–B). Magnetic reversal shifts the preferred swimming direction.</a:t>
            </a:r>
            <a:endParaRPr sz="1800">
              <a:solidFill>
                <a:schemeClr val="dk1"/>
              </a:solidFill>
              <a:latin typeface="Calibri"/>
              <a:ea typeface="Calibri"/>
              <a:cs typeface="Calibri"/>
              <a:sym typeface="Calibri"/>
            </a:endParaRPr>
          </a:p>
        </p:txBody>
      </p:sp>
      <p:sp>
        <p:nvSpPr>
          <p:cNvPr id="38" name="Google Shape;38;p2"/>
          <p:cNvSpPr/>
          <p:nvPr/>
        </p:nvSpPr>
        <p:spPr>
          <a:xfrm>
            <a:off x="566886" y="6382494"/>
            <a:ext cx="11058079" cy="9079"/>
          </a:xfrm>
          <a:prstGeom prst="rect">
            <a:avLst/>
          </a:prstGeom>
          <a:solidFill>
            <a:srgbClr val="DAD1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 name="Google Shape;39;p2"/>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Lohmann (1991)</a:t>
            </a:r>
            <a:endParaRPr sz="1800">
              <a:solidFill>
                <a:schemeClr val="dk1"/>
              </a:solidFill>
              <a:latin typeface="Calibri"/>
              <a:ea typeface="Calibri"/>
              <a:cs typeface="Calibri"/>
              <a:sym typeface="Calibri"/>
            </a:endParaRPr>
          </a:p>
        </p:txBody>
      </p:sp>
      <p:sp>
        <p:nvSpPr>
          <p:cNvPr id="40" name="Google Shape;40;p2"/>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02</a:t>
            </a:r>
            <a:endParaRPr sz="18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4" name="Shape 44"/>
        <p:cNvGrpSpPr/>
        <p:nvPr/>
      </p:nvGrpSpPr>
      <p:grpSpPr>
        <a:xfrm>
          <a:off x="0" y="0"/>
          <a:ext cx="0" cy="0"/>
          <a:chOff x="0" y="0"/>
          <a:chExt cx="0" cy="0"/>
        </a:xfrm>
      </p:grpSpPr>
      <p:sp>
        <p:nvSpPr>
          <p:cNvPr id="45" name="Google Shape;45;p3"/>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8A3B32"/>
              </a:buClr>
              <a:buSzPts val="3000"/>
              <a:buFont typeface="Arial"/>
              <a:buNone/>
            </a:pPr>
            <a:r>
              <a:rPr b="1" i="0" lang="en-US" sz="3000">
                <a:solidFill>
                  <a:srgbClr val="8A3B32"/>
                </a:solidFill>
                <a:latin typeface="Arial"/>
                <a:ea typeface="Arial"/>
                <a:cs typeface="Arial"/>
                <a:sym typeface="Arial"/>
              </a:rPr>
              <a:t>A tether separates heading from ocean transport</a:t>
            </a:r>
            <a:endParaRPr sz="1800">
              <a:solidFill>
                <a:schemeClr val="dk1"/>
              </a:solidFill>
              <a:latin typeface="Calibri"/>
              <a:ea typeface="Calibri"/>
              <a:cs typeface="Calibri"/>
              <a:sym typeface="Calibri"/>
            </a:endParaRPr>
          </a:p>
        </p:txBody>
      </p:sp>
      <p:sp>
        <p:nvSpPr>
          <p:cNvPr id="46" name="Google Shape;46;p3"/>
          <p:cNvSpPr/>
          <p:nvPr/>
        </p:nvSpPr>
        <p:spPr>
          <a:xfrm>
            <a:off x="566886" y="1234380"/>
            <a:ext cx="5956250"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6252A"/>
              </a:buClr>
              <a:buSzPts val="1500"/>
              <a:buFont typeface="Arial"/>
              <a:buNone/>
            </a:pPr>
            <a:r>
              <a:rPr b="0" i="0" lang="en-US" sz="1500">
                <a:solidFill>
                  <a:srgbClr val="26252A"/>
                </a:solidFill>
                <a:latin typeface="Arial"/>
                <a:ea typeface="Arial"/>
                <a:cs typeface="Arial"/>
                <a:sym typeface="Arial"/>
              </a:rPr>
              <a:t>Lohmann’s </a:t>
            </a:r>
            <a:r>
              <a:rPr b="1" i="0" lang="en-US" sz="1500">
                <a:solidFill>
                  <a:srgbClr val="8A3B32"/>
                </a:solidFill>
                <a:latin typeface="Arial"/>
                <a:ea typeface="Arial"/>
                <a:cs typeface="Arial"/>
                <a:sym typeface="Arial"/>
              </a:rPr>
              <a:t>orientation arena</a:t>
            </a:r>
            <a:r>
              <a:rPr b="0" i="0" lang="en-US" sz="1500">
                <a:solidFill>
                  <a:srgbClr val="26252A"/>
                </a:solidFill>
                <a:latin typeface="Arial"/>
                <a:ea typeface="Arial"/>
                <a:cs typeface="Arial"/>
                <a:sym typeface="Arial"/>
              </a:rPr>
              <a:t> was a 1.02-m-diameter inverted satellite dish surrounded by a 130-cm magnetic coil. A harness encircled the carapace without preventing swimming. The turtle could pull the lever through a full circle while remaining inside a controlled water-filled preparation.</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6252A"/>
              </a:buClr>
              <a:buSzPts val="1500"/>
              <a:buFont typeface="Arial"/>
              <a:buNone/>
            </a:pPr>
            <a:r>
              <a:rPr b="0" i="0" lang="en-US" sz="1500">
                <a:solidFill>
                  <a:srgbClr val="26252A"/>
                </a:solidFill>
                <a:latin typeface="Arial"/>
                <a:ea typeface="Arial"/>
                <a:cs typeface="Arial"/>
                <a:sym typeface="Arial"/>
              </a:rPr>
              <a:t>The recording system was calibrated against known directions and resolved heading within 15°. Investigators distinguished circling from oriented swimming, defined as remaining within a 90° sector for at least 3 min. This definition selected periods in which the animal maintained a course rather than repeatedly traversing every direction.</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6252A"/>
              </a:buClr>
              <a:buSzPts val="1500"/>
              <a:buFont typeface="Arial"/>
              <a:buNone/>
            </a:pPr>
            <a:r>
              <a:rPr b="0" i="0" lang="en-US" sz="1500">
                <a:solidFill>
                  <a:srgbClr val="26252A"/>
                </a:solidFill>
                <a:latin typeface="Arial"/>
                <a:ea typeface="Arial"/>
                <a:cs typeface="Arial"/>
                <a:sym typeface="Arial"/>
              </a:rPr>
              <a:t>The experiment measured attempted swimming direction, not geographical displacement or migratory speed. Waves, ocean currents and distant landmarks were absent. Its strength is control over a single sensory variable, so a change in heading can be attributed to the magnetic field.</a:t>
            </a:r>
            <a:endParaRPr sz="1800">
              <a:solidFill>
                <a:schemeClr val="dk1"/>
              </a:solidFill>
              <a:latin typeface="Calibri"/>
              <a:ea typeface="Calibri"/>
              <a:cs typeface="Calibri"/>
              <a:sym typeface="Calibri"/>
            </a:endParaRPr>
          </a:p>
        </p:txBody>
      </p:sp>
      <p:pic>
        <p:nvPicPr>
          <p:cNvPr id="49" name="Google Shape;49;p3"/>
          <p:cNvPicPr preferRelativeResize="0"/>
          <p:nvPr/>
        </p:nvPicPr>
        <p:blipFill rotWithShape="1">
          <a:blip r:embed="rId3">
            <a:alphaModFix/>
          </a:blip>
          <a:srcRect b="0" l="0" r="0" t="0"/>
          <a:stretch/>
        </p:blipFill>
        <p:spPr>
          <a:xfrm>
            <a:off x="7140806" y="1280071"/>
            <a:ext cx="4213111" cy="4297561"/>
          </a:xfrm>
          <a:prstGeom prst="rect">
            <a:avLst/>
          </a:prstGeom>
          <a:noFill/>
          <a:ln>
            <a:noFill/>
          </a:ln>
        </p:spPr>
      </p:pic>
      <p:sp>
        <p:nvSpPr>
          <p:cNvPr id="50" name="Google Shape;50;p3"/>
          <p:cNvSpPr/>
          <p:nvPr/>
        </p:nvSpPr>
        <p:spPr>
          <a:xfrm>
            <a:off x="6870055" y="5669161"/>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1000"/>
              <a:buFont typeface="Arial"/>
              <a:buNone/>
            </a:pPr>
            <a:r>
              <a:rPr b="0" i="0" lang="en-US" sz="1000">
                <a:solidFill>
                  <a:srgbClr val="62606A"/>
                </a:solidFill>
                <a:latin typeface="Arial"/>
                <a:ea typeface="Arial"/>
                <a:cs typeface="Arial"/>
                <a:sym typeface="Arial"/>
              </a:rPr>
              <a:t>Lohmann (1991), Fig. 1. Original turtle harness, orientation arena and magnetic coil.</a:t>
            </a:r>
            <a:endParaRPr sz="1800">
              <a:solidFill>
                <a:schemeClr val="dk1"/>
              </a:solidFill>
              <a:latin typeface="Calibri"/>
              <a:ea typeface="Calibri"/>
              <a:cs typeface="Calibri"/>
              <a:sym typeface="Calibri"/>
            </a:endParaRPr>
          </a:p>
        </p:txBody>
      </p:sp>
      <p:sp>
        <p:nvSpPr>
          <p:cNvPr id="51" name="Google Shape;51;p3"/>
          <p:cNvSpPr/>
          <p:nvPr/>
        </p:nvSpPr>
        <p:spPr>
          <a:xfrm>
            <a:off x="566886" y="6382494"/>
            <a:ext cx="11058079" cy="9079"/>
          </a:xfrm>
          <a:prstGeom prst="rect">
            <a:avLst/>
          </a:prstGeom>
          <a:solidFill>
            <a:srgbClr val="DAD1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2" name="Google Shape;52;p3"/>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Lohmann (1991)</a:t>
            </a:r>
            <a:endParaRPr sz="1800">
              <a:solidFill>
                <a:schemeClr val="dk1"/>
              </a:solidFill>
              <a:latin typeface="Calibri"/>
              <a:ea typeface="Calibri"/>
              <a:cs typeface="Calibri"/>
              <a:sym typeface="Calibri"/>
            </a:endParaRPr>
          </a:p>
        </p:txBody>
      </p:sp>
      <p:sp>
        <p:nvSpPr>
          <p:cNvPr id="53" name="Google Shape;53;p3"/>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03</a:t>
            </a:r>
            <a:endParaRPr sz="18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7" name="Shape 57"/>
        <p:cNvGrpSpPr/>
        <p:nvPr/>
      </p:nvGrpSpPr>
      <p:grpSpPr>
        <a:xfrm>
          <a:off x="0" y="0"/>
          <a:ext cx="0" cy="0"/>
          <a:chOff x="0" y="0"/>
          <a:chExt cx="0" cy="0"/>
        </a:xfrm>
      </p:grpSpPr>
      <p:sp>
        <p:nvSpPr>
          <p:cNvPr id="58" name="Google Shape;58;p4"/>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8A3B32"/>
              </a:buClr>
              <a:buSzPts val="3000"/>
              <a:buFont typeface="Arial"/>
              <a:buNone/>
            </a:pPr>
            <a:r>
              <a:rPr b="1" i="0" lang="en-US" sz="3000">
                <a:solidFill>
                  <a:srgbClr val="8A3B32"/>
                </a:solidFill>
                <a:latin typeface="Arial"/>
                <a:ea typeface="Arial"/>
                <a:cs typeface="Arial"/>
                <a:sym typeface="Arial"/>
              </a:rPr>
              <a:t>Field reversal changes the preferred swimming course</a:t>
            </a:r>
            <a:endParaRPr sz="1800">
              <a:solidFill>
                <a:schemeClr val="dk1"/>
              </a:solidFill>
              <a:latin typeface="Calibri"/>
              <a:ea typeface="Calibri"/>
              <a:cs typeface="Calibri"/>
              <a:sym typeface="Calibri"/>
            </a:endParaRPr>
          </a:p>
        </p:txBody>
      </p:sp>
      <p:sp>
        <p:nvSpPr>
          <p:cNvPr id="59" name="Google Shape;59;p4"/>
          <p:cNvSpPr/>
          <p:nvPr/>
        </p:nvSpPr>
        <p:spPr>
          <a:xfrm>
            <a:off x="566886" y="1234380"/>
            <a:ext cx="5956250"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6252A"/>
              </a:buClr>
              <a:buSzPts val="1600"/>
              <a:buFont typeface="Arial"/>
              <a:buNone/>
            </a:pPr>
            <a:r>
              <a:rPr b="0" i="0" lang="en-US" sz="1600">
                <a:solidFill>
                  <a:srgbClr val="26252A"/>
                </a:solidFill>
                <a:latin typeface="Arial"/>
                <a:ea typeface="Arial"/>
                <a:cs typeface="Arial"/>
                <a:sym typeface="Arial"/>
              </a:rPr>
              <a:t>The coil reversed the horizontal magnetic component while leaving the vertical component unchanged. The imposed field opposed the natural horizontal field, so magnetic north shifted by 180°. The reversed horizontal field ranged from 0.23 to 0.26 Oe within the swimming zone; the natural horizontal field was 0.26 Oe.</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6252A"/>
              </a:buClr>
              <a:buSzPts val="1600"/>
              <a:buFont typeface="Arial"/>
              <a:buNone/>
            </a:pPr>
            <a:r>
              <a:rPr b="0" i="0" lang="en-US" sz="1600">
                <a:solidFill>
                  <a:srgbClr val="26252A"/>
                </a:solidFill>
                <a:latin typeface="Arial"/>
                <a:ea typeface="Arial"/>
                <a:cs typeface="Arial"/>
                <a:sym typeface="Arial"/>
              </a:rPr>
              <a:t>Both groups received the same initial eastern light and were subsequently tested in darkness. Preferred headings changed from 42° in the natural field to 196° after reversal, a reported shift of 154°. Orientation under reversal was more dispersed, so the behavioral response was not a perfectly rigid copy of the imposed rotation.</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6252A"/>
              </a:buClr>
              <a:buSzPts val="1600"/>
              <a:buFont typeface="Arial"/>
              <a:buNone/>
            </a:pPr>
            <a:r>
              <a:rPr b="0" i="0" lang="en-US" sz="1600">
                <a:solidFill>
                  <a:srgbClr val="26252A"/>
                </a:solidFill>
                <a:latin typeface="Arial"/>
                <a:ea typeface="Arial"/>
                <a:cs typeface="Arial"/>
                <a:sym typeface="Arial"/>
              </a:rPr>
              <a:t>These controls weaken an explanation based solely on a fixed room direction. The experiment demonstrates sensitivity to the manipulated field geometry. The horizontal reversal shifts magnetic north by 180°, and experiments that vary inclination test whether the compass depends on the polarity of the field or on the slope of the field lines.</a:t>
            </a:r>
            <a:endParaRPr sz="1800">
              <a:solidFill>
                <a:schemeClr val="dk1"/>
              </a:solidFill>
              <a:latin typeface="Calibri"/>
              <a:ea typeface="Calibri"/>
              <a:cs typeface="Calibri"/>
              <a:sym typeface="Calibri"/>
            </a:endParaRPr>
          </a:p>
        </p:txBody>
      </p:sp>
      <p:pic>
        <p:nvPicPr>
          <p:cNvPr id="62" name="Google Shape;62;p4"/>
          <p:cNvPicPr preferRelativeResize="0"/>
          <p:nvPr/>
        </p:nvPicPr>
        <p:blipFill rotWithShape="1">
          <a:blip r:embed="rId3">
            <a:alphaModFix/>
          </a:blip>
          <a:srcRect b="0" l="0" r="0" t="0"/>
          <a:stretch/>
        </p:blipFill>
        <p:spPr>
          <a:xfrm>
            <a:off x="6999175" y="1280071"/>
            <a:ext cx="4496522" cy="4297561"/>
          </a:xfrm>
          <a:prstGeom prst="rect">
            <a:avLst/>
          </a:prstGeom>
          <a:noFill/>
          <a:ln>
            <a:noFill/>
          </a:ln>
        </p:spPr>
      </p:pic>
      <p:sp>
        <p:nvSpPr>
          <p:cNvPr id="63" name="Google Shape;63;p4"/>
          <p:cNvSpPr/>
          <p:nvPr/>
        </p:nvSpPr>
        <p:spPr>
          <a:xfrm>
            <a:off x="6870055" y="5669161"/>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1000"/>
              <a:buFont typeface="Arial"/>
              <a:buNone/>
            </a:pPr>
            <a:r>
              <a:rPr b="0" i="0" lang="en-US" sz="1000">
                <a:solidFill>
                  <a:srgbClr val="62606A"/>
                </a:solidFill>
                <a:latin typeface="Arial"/>
                <a:ea typeface="Arial"/>
                <a:cs typeface="Arial"/>
                <a:sym typeface="Arial"/>
              </a:rPr>
              <a:t>Lohmann (1991), Fig. 2(B). Orientation under reversal of the horizontal field component.</a:t>
            </a:r>
            <a:endParaRPr sz="1800">
              <a:solidFill>
                <a:schemeClr val="dk1"/>
              </a:solidFill>
              <a:latin typeface="Calibri"/>
              <a:ea typeface="Calibri"/>
              <a:cs typeface="Calibri"/>
              <a:sym typeface="Calibri"/>
            </a:endParaRPr>
          </a:p>
        </p:txBody>
      </p:sp>
      <p:sp>
        <p:nvSpPr>
          <p:cNvPr id="64" name="Google Shape;64;p4"/>
          <p:cNvSpPr/>
          <p:nvPr/>
        </p:nvSpPr>
        <p:spPr>
          <a:xfrm>
            <a:off x="566886" y="6382494"/>
            <a:ext cx="11058079" cy="9079"/>
          </a:xfrm>
          <a:prstGeom prst="rect">
            <a:avLst/>
          </a:prstGeom>
          <a:solidFill>
            <a:srgbClr val="DAD1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5" name="Google Shape;65;p4"/>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Lohmann (1991)</a:t>
            </a:r>
            <a:endParaRPr sz="1800">
              <a:solidFill>
                <a:schemeClr val="dk1"/>
              </a:solidFill>
              <a:latin typeface="Calibri"/>
              <a:ea typeface="Calibri"/>
              <a:cs typeface="Calibri"/>
              <a:sym typeface="Calibri"/>
            </a:endParaRPr>
          </a:p>
        </p:txBody>
      </p:sp>
      <p:sp>
        <p:nvSpPr>
          <p:cNvPr id="66" name="Google Shape;66;p4"/>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04</a:t>
            </a:r>
            <a:endParaRPr sz="18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0" name="Shape 70"/>
        <p:cNvGrpSpPr/>
        <p:nvPr/>
      </p:nvGrpSpPr>
      <p:grpSpPr>
        <a:xfrm>
          <a:off x="0" y="0"/>
          <a:ext cx="0" cy="0"/>
          <a:chOff x="0" y="0"/>
          <a:chExt cx="0" cy="0"/>
        </a:xfrm>
      </p:grpSpPr>
      <p:sp>
        <p:nvSpPr>
          <p:cNvPr id="71" name="Google Shape;71;p5"/>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8A3B32"/>
              </a:buClr>
              <a:buSzPts val="3000"/>
              <a:buFont typeface="Arial"/>
              <a:buNone/>
            </a:pPr>
            <a:r>
              <a:rPr b="1" i="0" lang="en-US" sz="3000">
                <a:solidFill>
                  <a:srgbClr val="8A3B32"/>
                </a:solidFill>
                <a:latin typeface="Arial"/>
                <a:ea typeface="Arial"/>
                <a:cs typeface="Arial"/>
                <a:sym typeface="Arial"/>
              </a:rPr>
              <a:t>Independent field components isolate inclination</a:t>
            </a:r>
            <a:endParaRPr sz="1800">
              <a:solidFill>
                <a:schemeClr val="dk1"/>
              </a:solidFill>
              <a:latin typeface="Calibri"/>
              <a:ea typeface="Calibri"/>
              <a:cs typeface="Calibri"/>
              <a:sym typeface="Calibri"/>
            </a:endParaRPr>
          </a:p>
        </p:txBody>
      </p:sp>
      <p:sp>
        <p:nvSpPr>
          <p:cNvPr id="72" name="Google Shape;72;p5"/>
          <p:cNvSpPr/>
          <p:nvPr/>
        </p:nvSpPr>
        <p:spPr>
          <a:xfrm>
            <a:off x="566886" y="1234380"/>
            <a:ext cx="5956250"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8A3B32"/>
              </a:buClr>
              <a:buSzPts val="1600"/>
              <a:buFont typeface="Arial"/>
              <a:buNone/>
            </a:pPr>
            <a:r>
              <a:rPr b="1" i="0" lang="en-US" sz="1600">
                <a:solidFill>
                  <a:srgbClr val="8A3B32"/>
                </a:solidFill>
                <a:latin typeface="Arial"/>
                <a:ea typeface="Arial"/>
                <a:cs typeface="Arial"/>
                <a:sym typeface="Arial"/>
              </a:rPr>
              <a:t>Magnetic inclination</a:t>
            </a:r>
            <a:r>
              <a:rPr b="0" i="0" lang="en-US" sz="1600">
                <a:solidFill>
                  <a:srgbClr val="26252A"/>
                </a:solidFill>
                <a:latin typeface="Arial"/>
                <a:ea typeface="Arial"/>
                <a:cs typeface="Arial"/>
                <a:sym typeface="Arial"/>
              </a:rPr>
              <a:t> is the angle at which field lines intersect the horizontal surface. Lohmann and Lohmann varied inclination while keeping total field strength approximately constant. Their preparation therefore separated the directional slope of the field from </a:t>
            </a:r>
            <a:r>
              <a:rPr b="1" i="0" lang="en-US" sz="1600">
                <a:solidFill>
                  <a:srgbClr val="8A3B32"/>
                </a:solidFill>
                <a:latin typeface="Arial"/>
                <a:ea typeface="Arial"/>
                <a:cs typeface="Arial"/>
                <a:sym typeface="Arial"/>
              </a:rPr>
              <a:t>intensity</a:t>
            </a:r>
            <a:r>
              <a:rPr b="0" i="0" lang="en-US" sz="1600">
                <a:solidFill>
                  <a:srgbClr val="26252A"/>
                </a:solidFill>
                <a:latin typeface="Arial"/>
                <a:ea typeface="Arial"/>
                <a:cs typeface="Arial"/>
                <a:sym typeface="Arial"/>
              </a:rPr>
              <a:t>, the magnitude of the magnetic field.</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6252A"/>
              </a:buClr>
              <a:buSzPts val="1600"/>
              <a:buFont typeface="Arial"/>
              <a:buNone/>
            </a:pPr>
            <a:r>
              <a:rPr b="0" i="0" lang="en-US" sz="1600">
                <a:solidFill>
                  <a:srgbClr val="26252A"/>
                </a:solidFill>
                <a:latin typeface="Arial"/>
                <a:ea typeface="Arial"/>
                <a:cs typeface="Arial"/>
                <a:sym typeface="Arial"/>
              </a:rPr>
              <a:t>Two orthogonal coil systems controlled the horizontal and vertical components independently. Hatchlings swam in a 1.22-m arena, and a digital encoder recorded heading to the nearest 1.4° every 10 s. The measured total field strength was 0.044–0.045 mT across the experimental conditions.</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6252A"/>
              </a:buClr>
              <a:buSzPts val="1600"/>
              <a:buFont typeface="Arial"/>
              <a:buNone/>
            </a:pPr>
            <a:r>
              <a:rPr b="0" i="0" lang="en-US" sz="1600">
                <a:solidFill>
                  <a:srgbClr val="26252A"/>
                </a:solidFill>
                <a:latin typeface="Arial"/>
                <a:ea typeface="Arial"/>
                <a:cs typeface="Arial"/>
                <a:sym typeface="Arial"/>
              </a:rPr>
              <a:t>Computers and power supplies remained active in every treatment and were located in an adjacent room. Similar sounds and vibrations were therefore present regardless of inclination. A change in behavior under these conditions can be attributed more specifically to field geometry than to equipment switching or a correlated change in field magnitude.</a:t>
            </a:r>
            <a:endParaRPr sz="1800">
              <a:solidFill>
                <a:schemeClr val="dk1"/>
              </a:solidFill>
              <a:latin typeface="Calibri"/>
              <a:ea typeface="Calibri"/>
              <a:cs typeface="Calibri"/>
              <a:sym typeface="Calibri"/>
            </a:endParaRPr>
          </a:p>
        </p:txBody>
      </p:sp>
      <p:pic>
        <p:nvPicPr>
          <p:cNvPr id="75" name="Google Shape;75;p5"/>
          <p:cNvPicPr preferRelativeResize="0"/>
          <p:nvPr/>
        </p:nvPicPr>
        <p:blipFill rotWithShape="1">
          <a:blip r:embed="rId3">
            <a:alphaModFix/>
          </a:blip>
          <a:srcRect b="0" l="0" r="0" t="0"/>
          <a:stretch/>
        </p:blipFill>
        <p:spPr>
          <a:xfrm>
            <a:off x="6870158" y="1280071"/>
            <a:ext cx="4754703" cy="2473226"/>
          </a:xfrm>
          <a:prstGeom prst="rect">
            <a:avLst/>
          </a:prstGeom>
          <a:noFill/>
          <a:ln>
            <a:noFill/>
          </a:ln>
        </p:spPr>
      </p:pic>
      <p:sp>
        <p:nvSpPr>
          <p:cNvPr id="76" name="Google Shape;76;p5"/>
          <p:cNvSpPr/>
          <p:nvPr/>
        </p:nvSpPr>
        <p:spPr>
          <a:xfrm>
            <a:off x="6870055" y="3844826"/>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1000"/>
              <a:buFont typeface="Arial"/>
              <a:buNone/>
            </a:pPr>
            <a:r>
              <a:rPr b="0" i="0" lang="en-US" sz="1000">
                <a:solidFill>
                  <a:srgbClr val="62606A"/>
                </a:solidFill>
                <a:latin typeface="Arial"/>
                <a:ea typeface="Arial"/>
                <a:cs typeface="Arial"/>
                <a:sym typeface="Arial"/>
              </a:rPr>
              <a:t>Lohmann &amp; Lohmann (1994), Fig. 1. Independent horizontal and vertical coils control inclination.</a:t>
            </a:r>
            <a:endParaRPr sz="1800">
              <a:solidFill>
                <a:schemeClr val="dk1"/>
              </a:solidFill>
              <a:latin typeface="Calibri"/>
              <a:ea typeface="Calibri"/>
              <a:cs typeface="Calibri"/>
              <a:sym typeface="Calibri"/>
            </a:endParaRPr>
          </a:p>
        </p:txBody>
      </p:sp>
      <p:sp>
        <p:nvSpPr>
          <p:cNvPr id="77" name="Google Shape;77;p5"/>
          <p:cNvSpPr/>
          <p:nvPr/>
        </p:nvSpPr>
        <p:spPr>
          <a:xfrm>
            <a:off x="566886" y="6382494"/>
            <a:ext cx="11058079" cy="9079"/>
          </a:xfrm>
          <a:prstGeom prst="rect">
            <a:avLst/>
          </a:prstGeom>
          <a:solidFill>
            <a:srgbClr val="DAD1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8" name="Google Shape;78;p5"/>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Lohmann &amp; Lohmann (1994)</a:t>
            </a:r>
            <a:endParaRPr sz="1800">
              <a:solidFill>
                <a:schemeClr val="dk1"/>
              </a:solidFill>
              <a:latin typeface="Calibri"/>
              <a:ea typeface="Calibri"/>
              <a:cs typeface="Calibri"/>
              <a:sym typeface="Calibri"/>
            </a:endParaRPr>
          </a:p>
        </p:txBody>
      </p:sp>
      <p:sp>
        <p:nvSpPr>
          <p:cNvPr id="79" name="Google Shape;79;p5"/>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05</a:t>
            </a:r>
            <a:endParaRPr sz="18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3" name="Shape 83"/>
        <p:cNvGrpSpPr/>
        <p:nvPr/>
      </p:nvGrpSpPr>
      <p:grpSpPr>
        <a:xfrm>
          <a:off x="0" y="0"/>
          <a:ext cx="0" cy="0"/>
          <a:chOff x="0" y="0"/>
          <a:chExt cx="0" cy="0"/>
        </a:xfrm>
      </p:grpSpPr>
      <p:sp>
        <p:nvSpPr>
          <p:cNvPr id="84" name="Google Shape;84;p6"/>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8A3B32"/>
              </a:buClr>
              <a:buSzPts val="3000"/>
              <a:buFont typeface="Arial"/>
              <a:buNone/>
            </a:pPr>
            <a:r>
              <a:rPr b="1" i="0" lang="en-US" sz="3000">
                <a:solidFill>
                  <a:srgbClr val="8A3B32"/>
                </a:solidFill>
                <a:latin typeface="Arial"/>
                <a:ea typeface="Arial"/>
                <a:cs typeface="Arial"/>
                <a:sym typeface="Arial"/>
              </a:rPr>
              <a:t>Inclination changes evoke different turtle headings</a:t>
            </a:r>
            <a:endParaRPr sz="1800">
              <a:solidFill>
                <a:schemeClr val="dk1"/>
              </a:solidFill>
              <a:latin typeface="Calibri"/>
              <a:ea typeface="Calibri"/>
              <a:cs typeface="Calibri"/>
              <a:sym typeface="Calibri"/>
            </a:endParaRPr>
          </a:p>
        </p:txBody>
      </p:sp>
      <p:sp>
        <p:nvSpPr>
          <p:cNvPr id="85" name="Google Shape;85;p6"/>
          <p:cNvSpPr/>
          <p:nvPr/>
        </p:nvSpPr>
        <p:spPr>
          <a:xfrm>
            <a:off x="566886" y="1234380"/>
            <a:ext cx="5956250"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6252A"/>
              </a:buClr>
              <a:buSzPts val="1600"/>
              <a:buFont typeface="Arial"/>
              <a:buNone/>
            </a:pPr>
            <a:r>
              <a:rPr b="0" i="0" lang="en-US" sz="1600">
                <a:solidFill>
                  <a:srgbClr val="26252A"/>
                </a:solidFill>
                <a:latin typeface="Arial"/>
                <a:ea typeface="Arial"/>
                <a:cs typeface="Arial"/>
                <a:sym typeface="Arial"/>
              </a:rPr>
              <a:t>Hatchlings first swam toward an eastern light for 10 min. After the light was extinguished, investigators changed inclination, allowed 3 min for adjustment, and recorded swimming for 5 min in darkness. Each animal experienced only one inclination treatment, avoiding repeated exposure to an unfamiliar sequence of fields.</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6252A"/>
              </a:buClr>
              <a:buSzPts val="1600"/>
              <a:buFont typeface="Arial"/>
              <a:buNone/>
            </a:pPr>
            <a:r>
              <a:rPr b="0" i="0" lang="en-US" sz="1600">
                <a:solidFill>
                  <a:srgbClr val="26252A"/>
                </a:solidFill>
                <a:latin typeface="Arial"/>
                <a:ea typeface="Arial"/>
                <a:cs typeface="Arial"/>
                <a:sym typeface="Arial"/>
              </a:rPr>
              <a:t>At the local inclination of 57°, turtles preferred 90°, approximately east. At 60°, they preferred 200°, south-southwest. At 30°, their preferred heading was 57°, northeast. Fields inclined at 75°, 45° or 15° did not produce a consistent group direction under the same test procedure.</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6252A"/>
              </a:buClr>
              <a:buSzPts val="1600"/>
              <a:buFont typeface="Arial"/>
              <a:buNone/>
            </a:pPr>
            <a:r>
              <a:rPr b="0" i="0" lang="en-US" sz="1600">
                <a:solidFill>
                  <a:srgbClr val="26252A"/>
                </a:solidFill>
                <a:latin typeface="Arial"/>
                <a:ea typeface="Arial"/>
                <a:cs typeface="Arial"/>
                <a:sym typeface="Arial"/>
              </a:rPr>
              <a:t>The contrast between 57° and 60° establishes discrimination between nearby inclination conditions while field strength remains constant. The different headings at 57°, 60° and 30° show that hatchlings respond to the angle of the field lines, and some inclinations produced no consistent group direction under the same procedure.</a:t>
            </a:r>
            <a:endParaRPr sz="1800">
              <a:solidFill>
                <a:schemeClr val="dk1"/>
              </a:solidFill>
              <a:latin typeface="Calibri"/>
              <a:ea typeface="Calibri"/>
              <a:cs typeface="Calibri"/>
              <a:sym typeface="Calibri"/>
            </a:endParaRPr>
          </a:p>
        </p:txBody>
      </p:sp>
      <p:pic>
        <p:nvPicPr>
          <p:cNvPr id="88" name="Google Shape;88;p6"/>
          <p:cNvPicPr preferRelativeResize="0"/>
          <p:nvPr/>
        </p:nvPicPr>
        <p:blipFill rotWithShape="1">
          <a:blip r:embed="rId3">
            <a:alphaModFix/>
          </a:blip>
          <a:srcRect b="0" l="0" r="0" t="0"/>
          <a:stretch/>
        </p:blipFill>
        <p:spPr>
          <a:xfrm>
            <a:off x="7106430" y="1280071"/>
            <a:ext cx="4281862" cy="4297561"/>
          </a:xfrm>
          <a:prstGeom prst="rect">
            <a:avLst/>
          </a:prstGeom>
          <a:noFill/>
          <a:ln>
            <a:noFill/>
          </a:ln>
        </p:spPr>
      </p:pic>
      <p:sp>
        <p:nvSpPr>
          <p:cNvPr id="89" name="Google Shape;89;p6"/>
          <p:cNvSpPr/>
          <p:nvPr/>
        </p:nvSpPr>
        <p:spPr>
          <a:xfrm>
            <a:off x="6870055" y="5669161"/>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1000"/>
              <a:buFont typeface="Arial"/>
              <a:buNone/>
            </a:pPr>
            <a:r>
              <a:rPr b="0" i="0" lang="en-US" sz="1000">
                <a:solidFill>
                  <a:srgbClr val="62606A"/>
                </a:solidFill>
                <a:latin typeface="Arial"/>
                <a:ea typeface="Arial"/>
                <a:cs typeface="Arial"/>
                <a:sym typeface="Arial"/>
              </a:rPr>
              <a:t>Lohmann &amp; Lohmann (1994), Fig. 2. Swimming responses to six field inclination angles.</a:t>
            </a:r>
            <a:endParaRPr sz="1800">
              <a:solidFill>
                <a:schemeClr val="dk1"/>
              </a:solidFill>
              <a:latin typeface="Calibri"/>
              <a:ea typeface="Calibri"/>
              <a:cs typeface="Calibri"/>
              <a:sym typeface="Calibri"/>
            </a:endParaRPr>
          </a:p>
        </p:txBody>
      </p:sp>
      <p:sp>
        <p:nvSpPr>
          <p:cNvPr id="90" name="Google Shape;90;p6"/>
          <p:cNvSpPr/>
          <p:nvPr/>
        </p:nvSpPr>
        <p:spPr>
          <a:xfrm>
            <a:off x="566886" y="6382494"/>
            <a:ext cx="11058079" cy="9079"/>
          </a:xfrm>
          <a:prstGeom prst="rect">
            <a:avLst/>
          </a:prstGeom>
          <a:solidFill>
            <a:srgbClr val="DAD1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1" name="Google Shape;91;p6"/>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Lohmann &amp; Lohmann (1994)</a:t>
            </a:r>
            <a:endParaRPr sz="1800">
              <a:solidFill>
                <a:schemeClr val="dk1"/>
              </a:solidFill>
              <a:latin typeface="Calibri"/>
              <a:ea typeface="Calibri"/>
              <a:cs typeface="Calibri"/>
              <a:sym typeface="Calibri"/>
            </a:endParaRPr>
          </a:p>
        </p:txBody>
      </p:sp>
      <p:sp>
        <p:nvSpPr>
          <p:cNvPr id="92" name="Google Shape;92;p6"/>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06</a:t>
            </a:r>
            <a:endParaRPr sz="180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6" name="Shape 96"/>
        <p:cNvGrpSpPr/>
        <p:nvPr/>
      </p:nvGrpSpPr>
      <p:grpSpPr>
        <a:xfrm>
          <a:off x="0" y="0"/>
          <a:ext cx="0" cy="0"/>
          <a:chOff x="0" y="0"/>
          <a:chExt cx="0" cy="0"/>
        </a:xfrm>
      </p:grpSpPr>
      <p:sp>
        <p:nvSpPr>
          <p:cNvPr id="97" name="Google Shape;97;p7"/>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8A3B32"/>
              </a:buClr>
              <a:buSzPts val="3000"/>
              <a:buFont typeface="Arial"/>
              <a:buNone/>
            </a:pPr>
            <a:r>
              <a:rPr b="1" i="0" lang="en-US" sz="3000">
                <a:solidFill>
                  <a:srgbClr val="8A3B32"/>
                </a:solidFill>
                <a:latin typeface="Arial"/>
                <a:ea typeface="Arial"/>
                <a:cs typeface="Arial"/>
                <a:sym typeface="Arial"/>
              </a:rPr>
              <a:t>Magnetic slope can mark dangerous gyre boundaries</a:t>
            </a:r>
            <a:endParaRPr sz="1800">
              <a:solidFill>
                <a:schemeClr val="dk1"/>
              </a:solidFill>
              <a:latin typeface="Calibri"/>
              <a:ea typeface="Calibri"/>
              <a:cs typeface="Calibri"/>
              <a:sym typeface="Calibri"/>
            </a:endParaRPr>
          </a:p>
        </p:txBody>
      </p:sp>
      <p:sp>
        <p:nvSpPr>
          <p:cNvPr id="98" name="Google Shape;98;p7"/>
          <p:cNvSpPr/>
          <p:nvPr/>
        </p:nvSpPr>
        <p:spPr>
          <a:xfrm>
            <a:off x="566886" y="1234380"/>
            <a:ext cx="5956250"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6252A"/>
              </a:buClr>
              <a:buSzPts val="1600"/>
              <a:buFont typeface="Arial"/>
              <a:buNone/>
            </a:pPr>
            <a:r>
              <a:rPr b="0" i="0" lang="en-US" sz="1600">
                <a:solidFill>
                  <a:srgbClr val="26252A"/>
                </a:solidFill>
                <a:latin typeface="Arial"/>
                <a:ea typeface="Arial"/>
                <a:cs typeface="Arial"/>
                <a:sym typeface="Arial"/>
              </a:rPr>
              <a:t>An </a:t>
            </a:r>
            <a:r>
              <a:rPr b="1" i="0" lang="en-US" sz="1600">
                <a:solidFill>
                  <a:srgbClr val="8A3B32"/>
                </a:solidFill>
                <a:latin typeface="Arial"/>
                <a:ea typeface="Arial"/>
                <a:cs typeface="Arial"/>
                <a:sym typeface="Arial"/>
              </a:rPr>
              <a:t>isoclinic</a:t>
            </a:r>
            <a:r>
              <a:rPr b="0" i="0" lang="en-US" sz="1600">
                <a:solidFill>
                  <a:srgbClr val="26252A"/>
                </a:solidFill>
                <a:latin typeface="Arial"/>
                <a:ea typeface="Arial"/>
                <a:cs typeface="Arial"/>
                <a:sym typeface="Arial"/>
              </a:rPr>
              <a:t> is a line connecting locations with the same magnetic inclination. The published North Atlantic map places inclination values alongside currents followed by young loggerheads. The northern gyre boundary approaches the region where the Gulf Stream divides and colder water lies farther north.</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6252A"/>
              </a:buClr>
              <a:buSzPts val="1600"/>
              <a:buFont typeface="Arial"/>
              <a:buNone/>
            </a:pPr>
            <a:r>
              <a:rPr b="0" i="0" lang="en-US" sz="1600">
                <a:solidFill>
                  <a:srgbClr val="26252A"/>
                </a:solidFill>
                <a:latin typeface="Arial"/>
                <a:ea typeface="Arial"/>
                <a:cs typeface="Arial"/>
                <a:sym typeface="Arial"/>
              </a:rPr>
              <a:t>Turtles exposed to 60° inclination swam south-southwest, whereas those exposed to 30° swam northeast. These directions are consistent with movements away from the northern and southern extremes of the gyre. The controlled experiment established inclination-dependent behavior; the geographical interpretation connects that behavior to plausible survival consequences.</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6252A"/>
              </a:buClr>
              <a:buSzPts val="1600"/>
              <a:buFont typeface="Arial"/>
              <a:buNone/>
            </a:pPr>
            <a:r>
              <a:rPr b="0" i="0" lang="en-US" sz="1600">
                <a:solidFill>
                  <a:srgbClr val="26252A"/>
                </a:solidFill>
                <a:latin typeface="Arial"/>
                <a:ea typeface="Arial"/>
                <a:cs typeface="Arial"/>
                <a:sym typeface="Arial"/>
              </a:rPr>
              <a:t>The authors proposed that inclination could contribute to approximate latitude detection and recognition of nesting regions. Inclination varies with latitude, so the angle of the field lines could mark approximate position along the migratory route.</a:t>
            </a:r>
            <a:endParaRPr sz="1800">
              <a:solidFill>
                <a:schemeClr val="dk1"/>
              </a:solidFill>
              <a:latin typeface="Calibri"/>
              <a:ea typeface="Calibri"/>
              <a:cs typeface="Calibri"/>
              <a:sym typeface="Calibri"/>
            </a:endParaRPr>
          </a:p>
        </p:txBody>
      </p:sp>
      <p:pic>
        <p:nvPicPr>
          <p:cNvPr id="101" name="Google Shape;101;p7"/>
          <p:cNvPicPr preferRelativeResize="0"/>
          <p:nvPr/>
        </p:nvPicPr>
        <p:blipFill rotWithShape="1">
          <a:blip r:embed="rId3">
            <a:alphaModFix/>
          </a:blip>
          <a:srcRect b="0" l="0" r="0" t="0"/>
          <a:stretch/>
        </p:blipFill>
        <p:spPr>
          <a:xfrm>
            <a:off x="6870102" y="1280071"/>
            <a:ext cx="4754815" cy="3930104"/>
          </a:xfrm>
          <a:prstGeom prst="rect">
            <a:avLst/>
          </a:prstGeom>
          <a:noFill/>
          <a:ln>
            <a:noFill/>
          </a:ln>
        </p:spPr>
      </p:pic>
      <p:sp>
        <p:nvSpPr>
          <p:cNvPr id="102" name="Google Shape;102;p7"/>
          <p:cNvSpPr/>
          <p:nvPr/>
        </p:nvSpPr>
        <p:spPr>
          <a:xfrm>
            <a:off x="6870055" y="5301704"/>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1000"/>
              <a:buFont typeface="Arial"/>
              <a:buNone/>
            </a:pPr>
            <a:r>
              <a:rPr b="0" i="0" lang="en-US" sz="1000">
                <a:solidFill>
                  <a:srgbClr val="62606A"/>
                </a:solidFill>
                <a:latin typeface="Arial"/>
                <a:ea typeface="Arial"/>
                <a:cs typeface="Arial"/>
                <a:sym typeface="Arial"/>
              </a:rPr>
              <a:t>Lohmann &amp; Lohmann (1994), Fig. 3. Published gyre currents and magnetic inclination isolines.</a:t>
            </a:r>
            <a:endParaRPr sz="1800">
              <a:solidFill>
                <a:schemeClr val="dk1"/>
              </a:solidFill>
              <a:latin typeface="Calibri"/>
              <a:ea typeface="Calibri"/>
              <a:cs typeface="Calibri"/>
              <a:sym typeface="Calibri"/>
            </a:endParaRPr>
          </a:p>
        </p:txBody>
      </p:sp>
      <p:sp>
        <p:nvSpPr>
          <p:cNvPr id="103" name="Google Shape;103;p7"/>
          <p:cNvSpPr/>
          <p:nvPr/>
        </p:nvSpPr>
        <p:spPr>
          <a:xfrm>
            <a:off x="566886" y="6382494"/>
            <a:ext cx="11058079" cy="9079"/>
          </a:xfrm>
          <a:prstGeom prst="rect">
            <a:avLst/>
          </a:prstGeom>
          <a:solidFill>
            <a:srgbClr val="DAD1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4" name="Google Shape;104;p7"/>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Lohmann &amp; Lohmann (1994)</a:t>
            </a:r>
            <a:endParaRPr sz="1800">
              <a:solidFill>
                <a:schemeClr val="dk1"/>
              </a:solidFill>
              <a:latin typeface="Calibri"/>
              <a:ea typeface="Calibri"/>
              <a:cs typeface="Calibri"/>
              <a:sym typeface="Calibri"/>
            </a:endParaRPr>
          </a:p>
        </p:txBody>
      </p:sp>
      <p:sp>
        <p:nvSpPr>
          <p:cNvPr id="105" name="Google Shape;105;p7"/>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07</a:t>
            </a:r>
            <a:endParaRPr sz="18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9" name="Shape 109"/>
        <p:cNvGrpSpPr/>
        <p:nvPr/>
      </p:nvGrpSpPr>
      <p:grpSpPr>
        <a:xfrm>
          <a:off x="0" y="0"/>
          <a:ext cx="0" cy="0"/>
          <a:chOff x="0" y="0"/>
          <a:chExt cx="0" cy="0"/>
        </a:xfrm>
      </p:grpSpPr>
      <p:sp>
        <p:nvSpPr>
          <p:cNvPr id="110" name="Google Shape;110;p8"/>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8A3B32"/>
              </a:buClr>
              <a:buSzPts val="3000"/>
              <a:buFont typeface="Arial"/>
              <a:buNone/>
            </a:pPr>
            <a:r>
              <a:rPr b="1" i="0" lang="en-US" sz="3000">
                <a:solidFill>
                  <a:srgbClr val="8A3B32"/>
                </a:solidFill>
                <a:latin typeface="Arial"/>
                <a:ea typeface="Arial"/>
                <a:cs typeface="Arial"/>
                <a:sym typeface="Arial"/>
              </a:rPr>
              <a:t>Regional magnetic signatures trigger route changes</a:t>
            </a:r>
            <a:endParaRPr sz="1800">
              <a:solidFill>
                <a:schemeClr val="dk1"/>
              </a:solidFill>
              <a:latin typeface="Calibri"/>
              <a:ea typeface="Calibri"/>
              <a:cs typeface="Calibri"/>
              <a:sym typeface="Calibri"/>
            </a:endParaRPr>
          </a:p>
        </p:txBody>
      </p:sp>
      <p:sp>
        <p:nvSpPr>
          <p:cNvPr id="111" name="Google Shape;111;p8"/>
          <p:cNvSpPr/>
          <p:nvPr/>
        </p:nvSpPr>
        <p:spPr>
          <a:xfrm>
            <a:off x="566886" y="1234380"/>
            <a:ext cx="5956250"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6252A"/>
              </a:buClr>
              <a:buSzPts val="1500"/>
              <a:buFont typeface="Arial"/>
              <a:buNone/>
            </a:pPr>
            <a:r>
              <a:rPr b="0" i="0" lang="en-US" sz="1500">
                <a:solidFill>
                  <a:srgbClr val="26252A"/>
                </a:solidFill>
                <a:latin typeface="Arial"/>
                <a:ea typeface="Arial"/>
                <a:cs typeface="Arial"/>
                <a:sym typeface="Arial"/>
              </a:rPr>
              <a:t>A </a:t>
            </a:r>
            <a:r>
              <a:rPr b="1" i="0" lang="en-US" sz="1500">
                <a:solidFill>
                  <a:srgbClr val="8A3B32"/>
                </a:solidFill>
                <a:latin typeface="Arial"/>
                <a:ea typeface="Arial"/>
                <a:cs typeface="Arial"/>
                <a:sym typeface="Arial"/>
              </a:rPr>
              <a:t>magnetic signature</a:t>
            </a:r>
            <a:r>
              <a:rPr b="0" i="0" lang="en-US" sz="1500">
                <a:solidFill>
                  <a:srgbClr val="26252A"/>
                </a:solidFill>
                <a:latin typeface="Arial"/>
                <a:ea typeface="Arial"/>
                <a:cs typeface="Arial"/>
                <a:sym typeface="Arial"/>
              </a:rPr>
              <a:t> is the combination of magnetic parameters characteristic of a location. Lohmann and colleagues replicated three fields from the North Atlantic migratory route. Unlike experiments that changed inclination alone, these treatments used combinations of inclination and intensity that naturally occur in widely separated oceanic regions.</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6252A"/>
              </a:buClr>
              <a:buSzPts val="1500"/>
              <a:buFont typeface="Arial"/>
              <a:buNone/>
            </a:pPr>
            <a:r>
              <a:rPr b="0" i="0" lang="en-US" sz="1500">
                <a:solidFill>
                  <a:srgbClr val="26252A"/>
                </a:solidFill>
                <a:latin typeface="Arial"/>
                <a:ea typeface="Arial"/>
                <a:cs typeface="Arial"/>
                <a:sym typeface="Arial"/>
              </a:rPr>
              <a:t>Hatchlings tethered inside a computerized coil system oriented east-southeast in the northern Florida field, approximately south in the northeastern gyre field, and west-northwest in the southern gyre field. The tracking apparatus recorded heading while the animals remained physically in the same laboratory arena.</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6252A"/>
              </a:buClr>
              <a:buSzPts val="1500"/>
              <a:buFont typeface="Arial"/>
              <a:buNone/>
            </a:pPr>
            <a:r>
              <a:rPr b="0" i="0" lang="en-US" sz="1500">
                <a:solidFill>
                  <a:srgbClr val="26252A"/>
                </a:solidFill>
                <a:latin typeface="Arial"/>
                <a:ea typeface="Arial"/>
                <a:cs typeface="Arial"/>
                <a:sym typeface="Arial"/>
              </a:rPr>
              <a:t>The field-dependent changes are consistent with entering favorable currents and avoiding displacement beyond the gyre. They establish recognition of regional magnetic conditions with different motor responses. Hatchlings therefore respond to combinations of inclination and intensity that mark regions of the route, with a different heading for each regional field.</a:t>
            </a:r>
            <a:endParaRPr sz="1800">
              <a:solidFill>
                <a:schemeClr val="dk1"/>
              </a:solidFill>
              <a:latin typeface="Calibri"/>
              <a:ea typeface="Calibri"/>
              <a:cs typeface="Calibri"/>
              <a:sym typeface="Calibri"/>
            </a:endParaRPr>
          </a:p>
        </p:txBody>
      </p:sp>
      <p:pic>
        <p:nvPicPr>
          <p:cNvPr id="114" name="Google Shape;114;p8"/>
          <p:cNvPicPr preferRelativeResize="0"/>
          <p:nvPr/>
        </p:nvPicPr>
        <p:blipFill rotWithShape="1">
          <a:blip r:embed="rId3">
            <a:alphaModFix/>
          </a:blip>
          <a:srcRect b="0" l="0" r="0" t="0"/>
          <a:stretch/>
        </p:blipFill>
        <p:spPr>
          <a:xfrm>
            <a:off x="6870145" y="1280071"/>
            <a:ext cx="4754730" cy="3861792"/>
          </a:xfrm>
          <a:prstGeom prst="rect">
            <a:avLst/>
          </a:prstGeom>
          <a:noFill/>
          <a:ln>
            <a:noFill/>
          </a:ln>
        </p:spPr>
      </p:pic>
      <p:sp>
        <p:nvSpPr>
          <p:cNvPr id="115" name="Google Shape;115;p8"/>
          <p:cNvSpPr/>
          <p:nvPr/>
        </p:nvSpPr>
        <p:spPr>
          <a:xfrm>
            <a:off x="6870055" y="5233392"/>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1000"/>
              <a:buFont typeface="Arial"/>
              <a:buNone/>
            </a:pPr>
            <a:r>
              <a:rPr b="0" i="0" lang="en-US" sz="1000">
                <a:solidFill>
                  <a:srgbClr val="62606A"/>
                </a:solidFill>
                <a:latin typeface="Arial"/>
                <a:ea typeface="Arial"/>
                <a:cs typeface="Arial"/>
                <a:sym typeface="Arial"/>
              </a:rPr>
              <a:t>Lohmann et al. (2001), Fig. 1. Three regional fields evoke different hatchling headings.</a:t>
            </a:r>
            <a:endParaRPr sz="1800">
              <a:solidFill>
                <a:schemeClr val="dk1"/>
              </a:solidFill>
              <a:latin typeface="Calibri"/>
              <a:ea typeface="Calibri"/>
              <a:cs typeface="Calibri"/>
              <a:sym typeface="Calibri"/>
            </a:endParaRPr>
          </a:p>
        </p:txBody>
      </p:sp>
      <p:sp>
        <p:nvSpPr>
          <p:cNvPr id="116" name="Google Shape;116;p8"/>
          <p:cNvSpPr/>
          <p:nvPr/>
        </p:nvSpPr>
        <p:spPr>
          <a:xfrm>
            <a:off x="566886" y="6382494"/>
            <a:ext cx="11058079" cy="9079"/>
          </a:xfrm>
          <a:prstGeom prst="rect">
            <a:avLst/>
          </a:prstGeom>
          <a:solidFill>
            <a:srgbClr val="DAD1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7" name="Google Shape;117;p8"/>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Lohmann et al. (2001)</a:t>
            </a:r>
            <a:endParaRPr sz="1800">
              <a:solidFill>
                <a:schemeClr val="dk1"/>
              </a:solidFill>
              <a:latin typeface="Calibri"/>
              <a:ea typeface="Calibri"/>
              <a:cs typeface="Calibri"/>
              <a:sym typeface="Calibri"/>
            </a:endParaRPr>
          </a:p>
        </p:txBody>
      </p:sp>
      <p:sp>
        <p:nvSpPr>
          <p:cNvPr id="118" name="Google Shape;118;p8"/>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08</a:t>
            </a:r>
            <a:endParaRPr sz="180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2" name="Shape 122"/>
        <p:cNvGrpSpPr/>
        <p:nvPr/>
      </p:nvGrpSpPr>
      <p:grpSpPr>
        <a:xfrm>
          <a:off x="0" y="0"/>
          <a:ext cx="0" cy="0"/>
          <a:chOff x="0" y="0"/>
          <a:chExt cx="0" cy="0"/>
        </a:xfrm>
      </p:grpSpPr>
      <p:sp>
        <p:nvSpPr>
          <p:cNvPr id="123" name="Google Shape;123;p9"/>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8A3B32"/>
              </a:buClr>
              <a:buSzPts val="3000"/>
              <a:buFont typeface="Arial"/>
              <a:buNone/>
            </a:pPr>
            <a:r>
              <a:rPr b="1" i="0" lang="en-US" sz="3000">
                <a:solidFill>
                  <a:srgbClr val="8A3B32"/>
                </a:solidFill>
                <a:latin typeface="Arial"/>
                <a:ea typeface="Arial"/>
                <a:cs typeface="Arial"/>
                <a:sym typeface="Arial"/>
              </a:rPr>
              <a:t>Early route responses need not require prior travel</a:t>
            </a:r>
            <a:endParaRPr sz="1800">
              <a:solidFill>
                <a:schemeClr val="dk1"/>
              </a:solidFill>
              <a:latin typeface="Calibri"/>
              <a:ea typeface="Calibri"/>
              <a:cs typeface="Calibri"/>
              <a:sym typeface="Calibri"/>
            </a:endParaRPr>
          </a:p>
        </p:txBody>
      </p:sp>
      <p:sp>
        <p:nvSpPr>
          <p:cNvPr id="124" name="Google Shape;124;p9"/>
          <p:cNvSpPr/>
          <p:nvPr/>
        </p:nvSpPr>
        <p:spPr>
          <a:xfrm>
            <a:off x="566886" y="1234380"/>
            <a:ext cx="5956250"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6252A"/>
              </a:buClr>
              <a:buSzPts val="1500"/>
              <a:buFont typeface="Arial"/>
              <a:buNone/>
            </a:pPr>
            <a:r>
              <a:rPr b="0" i="0" lang="en-US" sz="1500">
                <a:solidFill>
                  <a:srgbClr val="26252A"/>
                </a:solidFill>
                <a:latin typeface="Arial"/>
                <a:ea typeface="Arial"/>
                <a:cs typeface="Arial"/>
                <a:sym typeface="Arial"/>
              </a:rPr>
              <a:t>The hatchlings in the regional-field experiment had never entered the ocean. Their different headings therefore did not require previous experience of the tested oceanic regions. A directional response could be expressed upon first exposure to a magnetic signature encountered naturally near a critical route boundary.</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6252A"/>
              </a:buClr>
              <a:buSzPts val="1500"/>
              <a:buFont typeface="Arial"/>
              <a:buNone/>
            </a:pPr>
            <a:r>
              <a:rPr b="0" i="0" lang="en-US" sz="1500">
                <a:solidFill>
                  <a:srgbClr val="26252A"/>
                </a:solidFill>
                <a:latin typeface="Arial"/>
                <a:ea typeface="Arial"/>
                <a:cs typeface="Arial"/>
                <a:sym typeface="Arial"/>
              </a:rPr>
              <a:t>An inherited large-scale map is one possible interpretation. A simpler alternative is a set of field-triggered instructions: swim south under one signature and west-northwest under another. Both accounts predict appropriate local heading changes, but only the first requires a more general representation of geographical position.</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6252A"/>
              </a:buClr>
              <a:buSzPts val="1500"/>
              <a:buFont typeface="Arial"/>
              <a:buNone/>
            </a:pPr>
            <a:r>
              <a:rPr b="0" i="0" lang="en-US" sz="1500">
                <a:solidFill>
                  <a:srgbClr val="26252A"/>
                </a:solidFill>
                <a:latin typeface="Arial"/>
                <a:ea typeface="Arial"/>
                <a:cs typeface="Arial"/>
                <a:sym typeface="Arial"/>
              </a:rPr>
              <a:t>The laboratory responses distinguish regional fields without deciding between an inherited map and field-triggered instructions. More sophisticated navigation could develop as turtles mature, and experience-dependent magnetic learning can coexist with early boundary responses.</a:t>
            </a:r>
            <a:endParaRPr sz="1800">
              <a:solidFill>
                <a:schemeClr val="dk1"/>
              </a:solidFill>
              <a:latin typeface="Calibri"/>
              <a:ea typeface="Calibri"/>
              <a:cs typeface="Calibri"/>
              <a:sym typeface="Calibri"/>
            </a:endParaRPr>
          </a:p>
        </p:txBody>
      </p:sp>
      <p:pic>
        <p:nvPicPr>
          <p:cNvPr id="127" name="Google Shape;127;p9"/>
          <p:cNvPicPr preferRelativeResize="0"/>
          <p:nvPr/>
        </p:nvPicPr>
        <p:blipFill rotWithShape="1">
          <a:blip r:embed="rId3">
            <a:alphaModFix/>
          </a:blip>
          <a:srcRect b="0" l="0" r="0" t="0"/>
          <a:stretch/>
        </p:blipFill>
        <p:spPr>
          <a:xfrm>
            <a:off x="6870145" y="1280071"/>
            <a:ext cx="4754730" cy="3861792"/>
          </a:xfrm>
          <a:prstGeom prst="rect">
            <a:avLst/>
          </a:prstGeom>
          <a:noFill/>
          <a:ln>
            <a:noFill/>
          </a:ln>
        </p:spPr>
      </p:pic>
      <p:sp>
        <p:nvSpPr>
          <p:cNvPr id="128" name="Google Shape;128;p9"/>
          <p:cNvSpPr/>
          <p:nvPr/>
        </p:nvSpPr>
        <p:spPr>
          <a:xfrm>
            <a:off x="6870055" y="5233392"/>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1000"/>
              <a:buFont typeface="Arial"/>
              <a:buNone/>
            </a:pPr>
            <a:r>
              <a:rPr b="0" i="0" lang="en-US" sz="1000">
                <a:solidFill>
                  <a:srgbClr val="62606A"/>
                </a:solidFill>
                <a:latin typeface="Arial"/>
                <a:ea typeface="Arial"/>
                <a:cs typeface="Arial"/>
                <a:sym typeface="Arial"/>
              </a:rPr>
              <a:t>Lohmann et al. (2001), Fig. 1. Regional orientation responses along the North Atlantic gyre.</a:t>
            </a:r>
            <a:endParaRPr sz="1800">
              <a:solidFill>
                <a:schemeClr val="dk1"/>
              </a:solidFill>
              <a:latin typeface="Calibri"/>
              <a:ea typeface="Calibri"/>
              <a:cs typeface="Calibri"/>
              <a:sym typeface="Calibri"/>
            </a:endParaRPr>
          </a:p>
        </p:txBody>
      </p:sp>
      <p:sp>
        <p:nvSpPr>
          <p:cNvPr id="129" name="Google Shape;129;p9"/>
          <p:cNvSpPr/>
          <p:nvPr/>
        </p:nvSpPr>
        <p:spPr>
          <a:xfrm>
            <a:off x="566886" y="6382494"/>
            <a:ext cx="11058079" cy="9079"/>
          </a:xfrm>
          <a:prstGeom prst="rect">
            <a:avLst/>
          </a:prstGeom>
          <a:solidFill>
            <a:srgbClr val="DAD1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0" name="Google Shape;130;p9"/>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Lohmann et al. (2001)</a:t>
            </a:r>
            <a:endParaRPr sz="1800">
              <a:solidFill>
                <a:schemeClr val="dk1"/>
              </a:solidFill>
              <a:latin typeface="Calibri"/>
              <a:ea typeface="Calibri"/>
              <a:cs typeface="Calibri"/>
              <a:sym typeface="Calibri"/>
            </a:endParaRPr>
          </a:p>
        </p:txBody>
      </p:sp>
      <p:sp>
        <p:nvSpPr>
          <p:cNvPr id="131" name="Google Shape;131;p9"/>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09</a:t>
            </a:r>
            <a:endParaRPr sz="180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5" name="Shape 135"/>
        <p:cNvGrpSpPr/>
        <p:nvPr/>
      </p:nvGrpSpPr>
      <p:grpSpPr>
        <a:xfrm>
          <a:off x="0" y="0"/>
          <a:ext cx="0" cy="0"/>
          <a:chOff x="0" y="0"/>
          <a:chExt cx="0" cy="0"/>
        </a:xfrm>
      </p:grpSpPr>
      <p:sp>
        <p:nvSpPr>
          <p:cNvPr id="136" name="Google Shape;136;p10"/>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8A3B32"/>
              </a:buClr>
              <a:buSzPts val="3000"/>
              <a:buFont typeface="Arial"/>
              <a:buNone/>
            </a:pPr>
            <a:r>
              <a:rPr b="1" i="0" lang="en-US" sz="3000">
                <a:solidFill>
                  <a:srgbClr val="8A3B32"/>
                </a:solidFill>
                <a:latin typeface="Arial"/>
                <a:ea typeface="Arial"/>
                <a:cs typeface="Arial"/>
                <a:sym typeface="Arial"/>
              </a:rPr>
              <a:t>Juvenile turtles learn rewarded magnetic signatures</a:t>
            </a:r>
            <a:endParaRPr sz="1800">
              <a:solidFill>
                <a:schemeClr val="dk1"/>
              </a:solidFill>
              <a:latin typeface="Calibri"/>
              <a:ea typeface="Calibri"/>
              <a:cs typeface="Calibri"/>
              <a:sym typeface="Calibri"/>
            </a:endParaRPr>
          </a:p>
        </p:txBody>
      </p:sp>
      <p:sp>
        <p:nvSpPr>
          <p:cNvPr id="137" name="Google Shape;137;p10"/>
          <p:cNvSpPr/>
          <p:nvPr/>
        </p:nvSpPr>
        <p:spPr>
          <a:xfrm>
            <a:off x="566886" y="1234380"/>
            <a:ext cx="5956250"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8A3B32"/>
              </a:buClr>
              <a:buSzPts val="1600"/>
              <a:buFont typeface="Arial"/>
              <a:buNone/>
            </a:pPr>
            <a:r>
              <a:rPr b="1" i="0" lang="en-US" sz="1600">
                <a:solidFill>
                  <a:srgbClr val="8A3B32"/>
                </a:solidFill>
                <a:latin typeface="Arial"/>
                <a:ea typeface="Arial"/>
                <a:cs typeface="Arial"/>
                <a:sym typeface="Arial"/>
              </a:rPr>
              <a:t>Associative learning</a:t>
            </a:r>
            <a:r>
              <a:rPr b="0" i="0" lang="en-US" sz="1600">
                <a:solidFill>
                  <a:srgbClr val="26252A"/>
                </a:solidFill>
                <a:latin typeface="Arial"/>
                <a:ea typeface="Arial"/>
                <a:cs typeface="Arial"/>
                <a:sym typeface="Arial"/>
              </a:rPr>
              <a:t> links a sensory cue with an outcome. Goforth and colleagues conditioned captive juvenile loggerheads for 2 months using two replicated geographical fields. Animals spent equal amounts of time in the fields, but food was delivered only in one assigned magnetic signature.</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6252A"/>
              </a:buClr>
              <a:buSzPts val="1600"/>
              <a:buFont typeface="Arial"/>
              <a:buNone/>
            </a:pPr>
            <a:r>
              <a:rPr b="0" i="0" lang="en-US" sz="1600">
                <a:solidFill>
                  <a:srgbClr val="26252A"/>
                </a:solidFill>
                <a:latin typeface="Arial"/>
                <a:ea typeface="Arial"/>
                <a:cs typeface="Arial"/>
                <a:sym typeface="Arial"/>
              </a:rPr>
              <a:t>The first pairing represented the Gulf of Mexico and New Hampshire. Reward assignments were counterbalanced: either field could predict food. This control separates recognition of a particular magnetic signature from a universal preference for a northern field, southern field or fixed condition of the coil apparatus.</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6252A"/>
              </a:buClr>
              <a:buSzPts val="1600"/>
              <a:buFont typeface="Arial"/>
              <a:buNone/>
            </a:pPr>
            <a:r>
              <a:rPr b="0" i="0" lang="en-US" sz="1600">
                <a:solidFill>
                  <a:srgbClr val="26252A"/>
                </a:solidFill>
                <a:latin typeface="Arial"/>
                <a:ea typeface="Arial"/>
                <a:cs typeface="Arial"/>
                <a:sym typeface="Arial"/>
              </a:rPr>
              <a:t>After conditioning, turtles were tested without food. Their responses were stronger in the field previously paired with feeding. Magnetic information therefore acquired learned behavioral significance. The learned response shows that magnetic signatures can serve as cues that predict food.</a:t>
            </a:r>
            <a:endParaRPr sz="1800">
              <a:solidFill>
                <a:schemeClr val="dk1"/>
              </a:solidFill>
              <a:latin typeface="Calibri"/>
              <a:ea typeface="Calibri"/>
              <a:cs typeface="Calibri"/>
              <a:sym typeface="Calibri"/>
            </a:endParaRPr>
          </a:p>
        </p:txBody>
      </p:sp>
      <p:pic>
        <p:nvPicPr>
          <p:cNvPr id="140" name="Google Shape;140;p10"/>
          <p:cNvPicPr preferRelativeResize="0"/>
          <p:nvPr/>
        </p:nvPicPr>
        <p:blipFill rotWithShape="1">
          <a:blip r:embed="rId3">
            <a:alphaModFix/>
          </a:blip>
          <a:srcRect b="0" l="0" r="0" t="0"/>
          <a:stretch/>
        </p:blipFill>
        <p:spPr>
          <a:xfrm>
            <a:off x="7147427" y="1280071"/>
            <a:ext cx="4200166" cy="4297561"/>
          </a:xfrm>
          <a:prstGeom prst="rect">
            <a:avLst/>
          </a:prstGeom>
          <a:noFill/>
          <a:ln>
            <a:noFill/>
          </a:ln>
        </p:spPr>
      </p:pic>
      <p:sp>
        <p:nvSpPr>
          <p:cNvPr id="141" name="Google Shape;141;p10"/>
          <p:cNvSpPr/>
          <p:nvPr/>
        </p:nvSpPr>
        <p:spPr>
          <a:xfrm>
            <a:off x="6870055" y="5669161"/>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1000"/>
              <a:buFont typeface="Arial"/>
              <a:buNone/>
            </a:pPr>
            <a:r>
              <a:rPr b="0" i="0" lang="en-US" sz="1000">
                <a:solidFill>
                  <a:srgbClr val="62606A"/>
                </a:solidFill>
                <a:latin typeface="Arial"/>
                <a:ea typeface="Arial"/>
                <a:cs typeface="Arial"/>
                <a:sym typeface="Arial"/>
              </a:rPr>
              <a:t>Goforth et al. (2025), Fig. 1(a). Locations of the two conditioned magnetic signatures.</a:t>
            </a:r>
            <a:endParaRPr sz="1800">
              <a:solidFill>
                <a:schemeClr val="dk1"/>
              </a:solidFill>
              <a:latin typeface="Calibri"/>
              <a:ea typeface="Calibri"/>
              <a:cs typeface="Calibri"/>
              <a:sym typeface="Calibri"/>
            </a:endParaRPr>
          </a:p>
        </p:txBody>
      </p:sp>
      <p:sp>
        <p:nvSpPr>
          <p:cNvPr id="142" name="Google Shape;142;p10"/>
          <p:cNvSpPr/>
          <p:nvPr/>
        </p:nvSpPr>
        <p:spPr>
          <a:xfrm>
            <a:off x="566886" y="6382494"/>
            <a:ext cx="11058079" cy="9079"/>
          </a:xfrm>
          <a:prstGeom prst="rect">
            <a:avLst/>
          </a:prstGeom>
          <a:solidFill>
            <a:srgbClr val="DAD1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3" name="Google Shape;143;p10"/>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Goforth et al. (2025)</a:t>
            </a:r>
            <a:endParaRPr sz="1800">
              <a:solidFill>
                <a:schemeClr val="dk1"/>
              </a:solidFill>
              <a:latin typeface="Calibri"/>
              <a:ea typeface="Calibri"/>
              <a:cs typeface="Calibri"/>
              <a:sym typeface="Calibri"/>
            </a:endParaRPr>
          </a:p>
        </p:txBody>
      </p:sp>
      <p:sp>
        <p:nvSpPr>
          <p:cNvPr id="144" name="Google Shape;144;p10"/>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10</a:t>
            </a:r>
            <a:endParaRPr sz="180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8" name="Shape 148"/>
        <p:cNvGrpSpPr/>
        <p:nvPr/>
      </p:nvGrpSpPr>
      <p:grpSpPr>
        <a:xfrm>
          <a:off x="0" y="0"/>
          <a:ext cx="0" cy="0"/>
          <a:chOff x="0" y="0"/>
          <a:chExt cx="0" cy="0"/>
        </a:xfrm>
      </p:grpSpPr>
      <p:sp>
        <p:nvSpPr>
          <p:cNvPr id="149" name="Google Shape;149;p11"/>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8A3B32"/>
              </a:buClr>
              <a:buSzPts val="3000"/>
              <a:buFont typeface="Arial"/>
              <a:buNone/>
            </a:pPr>
            <a:r>
              <a:rPr b="1" i="0" lang="en-US" sz="3000">
                <a:solidFill>
                  <a:srgbClr val="8A3B32"/>
                </a:solidFill>
                <a:latin typeface="Arial"/>
                <a:ea typeface="Arial"/>
                <a:cs typeface="Arial"/>
                <a:sym typeface="Arial"/>
              </a:rPr>
              <a:t>Food anticipation provides a compass-free map assay</a:t>
            </a:r>
            <a:endParaRPr sz="1800">
              <a:solidFill>
                <a:schemeClr val="dk1"/>
              </a:solidFill>
              <a:latin typeface="Calibri"/>
              <a:ea typeface="Calibri"/>
              <a:cs typeface="Calibri"/>
              <a:sym typeface="Calibri"/>
            </a:endParaRPr>
          </a:p>
        </p:txBody>
      </p:sp>
      <p:sp>
        <p:nvSpPr>
          <p:cNvPr id="150" name="Google Shape;150;p11"/>
          <p:cNvSpPr/>
          <p:nvPr/>
        </p:nvSpPr>
        <p:spPr>
          <a:xfrm>
            <a:off x="566886" y="1234380"/>
            <a:ext cx="5956250"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6252A"/>
              </a:buClr>
              <a:buSzPts val="1500"/>
              <a:buFont typeface="Arial"/>
              <a:buNone/>
            </a:pPr>
            <a:r>
              <a:rPr b="0" i="0" lang="en-US" sz="1500">
                <a:solidFill>
                  <a:srgbClr val="26252A"/>
                </a:solidFill>
                <a:latin typeface="Arial"/>
                <a:ea typeface="Arial"/>
                <a:cs typeface="Arial"/>
                <a:sym typeface="Arial"/>
              </a:rPr>
              <a:t>The conditioned response was </a:t>
            </a:r>
            <a:r>
              <a:rPr b="1" i="0" lang="en-US" sz="1500">
                <a:solidFill>
                  <a:srgbClr val="8A3B32"/>
                </a:solidFill>
                <a:latin typeface="Arial"/>
                <a:ea typeface="Arial"/>
                <a:cs typeface="Arial"/>
                <a:sym typeface="Arial"/>
              </a:rPr>
              <a:t>turtle dancing</a:t>
            </a:r>
            <a:r>
              <a:rPr b="0" i="0" lang="en-US" sz="1500">
                <a:solidFill>
                  <a:srgbClr val="26252A"/>
                </a:solidFill>
                <a:latin typeface="Arial"/>
                <a:ea typeface="Arial"/>
                <a:cs typeface="Arial"/>
                <a:sym typeface="Arial"/>
              </a:rPr>
              <a:t>, a food-anticipatory pattern involving vertical body tilt, the head near or above water, mouth opening and alternating front-flipper movement. Investigators scored the duration of this behavior from video recordings while turtles experienced a magnetic field without receiving food.</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6252A"/>
              </a:buClr>
              <a:buSzPts val="1500"/>
              <a:buFont typeface="Arial"/>
              <a:buNone/>
            </a:pPr>
            <a:r>
              <a:rPr b="0" i="0" lang="en-US" sz="1500">
                <a:solidFill>
                  <a:srgbClr val="26252A"/>
                </a:solidFill>
                <a:latin typeface="Arial"/>
                <a:ea typeface="Arial"/>
                <a:cs typeface="Arial"/>
                <a:sym typeface="Arial"/>
              </a:rPr>
              <a:t>Observers were blind to magnetic treatment. Turtles danced more in the rewarded signature than in the unrewarded signature after equivalent exposure to both during training. The measured output was time spent in a defined behavioral state rather than the direction of swimming toward a remembered destination.</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6252A"/>
              </a:buClr>
              <a:buSzPts val="1500"/>
              <a:buFont typeface="Arial"/>
              <a:buNone/>
            </a:pPr>
            <a:r>
              <a:rPr b="0" i="0" lang="en-US" sz="1500">
                <a:solidFill>
                  <a:srgbClr val="26252A"/>
                </a:solidFill>
                <a:latin typeface="Arial"/>
                <a:ea typeface="Arial"/>
                <a:cs typeface="Arial"/>
                <a:sym typeface="Arial"/>
              </a:rPr>
              <a:t>This assay tests discrimination of location-related magnetic cues without requiring a magnetic compass heading. That separation permits selective tests of a map mechanism. Turtle dancing is a behavioral readout of the learned significance of the field, and it can be scored from video by observers who do not know the treatment.</a:t>
            </a:r>
            <a:endParaRPr sz="1800">
              <a:solidFill>
                <a:schemeClr val="dk1"/>
              </a:solidFill>
              <a:latin typeface="Calibri"/>
              <a:ea typeface="Calibri"/>
              <a:cs typeface="Calibri"/>
              <a:sym typeface="Calibri"/>
            </a:endParaRPr>
          </a:p>
        </p:txBody>
      </p:sp>
      <p:pic>
        <p:nvPicPr>
          <p:cNvPr id="153" name="Google Shape;153;p11"/>
          <p:cNvPicPr preferRelativeResize="0"/>
          <p:nvPr/>
        </p:nvPicPr>
        <p:blipFill rotWithShape="1">
          <a:blip r:embed="rId3">
            <a:alphaModFix/>
          </a:blip>
          <a:srcRect b="0" l="0" r="0" t="0"/>
          <a:stretch/>
        </p:blipFill>
        <p:spPr>
          <a:xfrm>
            <a:off x="7414210" y="1280071"/>
            <a:ext cx="3666451" cy="4297561"/>
          </a:xfrm>
          <a:prstGeom prst="rect">
            <a:avLst/>
          </a:prstGeom>
          <a:noFill/>
          <a:ln>
            <a:noFill/>
          </a:ln>
        </p:spPr>
      </p:pic>
      <p:sp>
        <p:nvSpPr>
          <p:cNvPr id="154" name="Google Shape;154;p11"/>
          <p:cNvSpPr/>
          <p:nvPr/>
        </p:nvSpPr>
        <p:spPr>
          <a:xfrm>
            <a:off x="6870055" y="5669161"/>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1000"/>
              <a:buFont typeface="Arial"/>
              <a:buNone/>
            </a:pPr>
            <a:r>
              <a:rPr b="0" i="0" lang="en-US" sz="1000">
                <a:solidFill>
                  <a:srgbClr val="62606A"/>
                </a:solidFill>
                <a:latin typeface="Arial"/>
                <a:ea typeface="Arial"/>
                <a:cs typeface="Arial"/>
                <a:sym typeface="Arial"/>
              </a:rPr>
              <a:t>Goforth et al. (2025), Fig. 1(b). Rewarded fields elicit stronger food-anticipatory behavior.</a:t>
            </a:r>
            <a:endParaRPr sz="1800">
              <a:solidFill>
                <a:schemeClr val="dk1"/>
              </a:solidFill>
              <a:latin typeface="Calibri"/>
              <a:ea typeface="Calibri"/>
              <a:cs typeface="Calibri"/>
              <a:sym typeface="Calibri"/>
            </a:endParaRPr>
          </a:p>
        </p:txBody>
      </p:sp>
      <p:sp>
        <p:nvSpPr>
          <p:cNvPr id="155" name="Google Shape;155;p11"/>
          <p:cNvSpPr/>
          <p:nvPr/>
        </p:nvSpPr>
        <p:spPr>
          <a:xfrm>
            <a:off x="566886" y="6382494"/>
            <a:ext cx="11058079" cy="9079"/>
          </a:xfrm>
          <a:prstGeom prst="rect">
            <a:avLst/>
          </a:prstGeom>
          <a:solidFill>
            <a:srgbClr val="DAD1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6" name="Google Shape;156;p11"/>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Goforth et al. (2025)</a:t>
            </a:r>
            <a:endParaRPr sz="1800">
              <a:solidFill>
                <a:schemeClr val="dk1"/>
              </a:solidFill>
              <a:latin typeface="Calibri"/>
              <a:ea typeface="Calibri"/>
              <a:cs typeface="Calibri"/>
              <a:sym typeface="Calibri"/>
            </a:endParaRPr>
          </a:p>
        </p:txBody>
      </p:sp>
      <p:sp>
        <p:nvSpPr>
          <p:cNvPr id="157" name="Google Shape;157;p11"/>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11</a:t>
            </a:r>
            <a:endParaRPr sz="180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1" name="Shape 161"/>
        <p:cNvGrpSpPr/>
        <p:nvPr/>
      </p:nvGrpSpPr>
      <p:grpSpPr>
        <a:xfrm>
          <a:off x="0" y="0"/>
          <a:ext cx="0" cy="0"/>
          <a:chOff x="0" y="0"/>
          <a:chExt cx="0" cy="0"/>
        </a:xfrm>
      </p:grpSpPr>
      <p:sp>
        <p:nvSpPr>
          <p:cNvPr id="162" name="Google Shape;162;p12"/>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8A3B32"/>
              </a:buClr>
              <a:buSzPts val="3000"/>
              <a:buFont typeface="Arial"/>
              <a:buNone/>
            </a:pPr>
            <a:r>
              <a:rPr b="1" i="0" lang="en-US" sz="3000">
                <a:solidFill>
                  <a:srgbClr val="8A3B32"/>
                </a:solidFill>
                <a:latin typeface="Arial"/>
                <a:ea typeface="Arial"/>
                <a:cs typeface="Arial"/>
                <a:sym typeface="Arial"/>
              </a:rPr>
              <a:t>Magnetic learning extends beyond one pair of fields</a:t>
            </a:r>
            <a:endParaRPr sz="1800">
              <a:solidFill>
                <a:schemeClr val="dk1"/>
              </a:solidFill>
              <a:latin typeface="Calibri"/>
              <a:ea typeface="Calibri"/>
              <a:cs typeface="Calibri"/>
              <a:sym typeface="Calibri"/>
            </a:endParaRPr>
          </a:p>
        </p:txBody>
      </p:sp>
      <p:sp>
        <p:nvSpPr>
          <p:cNvPr id="163" name="Google Shape;163;p12"/>
          <p:cNvSpPr/>
          <p:nvPr/>
        </p:nvSpPr>
        <p:spPr>
          <a:xfrm>
            <a:off x="566886" y="1234380"/>
            <a:ext cx="5956250"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6252A"/>
              </a:buClr>
              <a:buSzPts val="1600"/>
              <a:buFont typeface="Arial"/>
              <a:buNone/>
            </a:pPr>
            <a:r>
              <a:rPr b="0" i="0" lang="en-US" sz="1600">
                <a:solidFill>
                  <a:srgbClr val="26252A"/>
                </a:solidFill>
                <a:latin typeface="Arial"/>
                <a:ea typeface="Arial"/>
                <a:cs typeface="Arial"/>
                <a:sym typeface="Arial"/>
              </a:rPr>
              <a:t>Additional cohorts learned pairs representing Cuba and Delaware, Florida and Maine, and locations elsewhere in the western Atlantic. These pairings differed in geographical and magnetic separation. Recognition therefore was not restricted to the first Gulf of Mexico–New Hampshire contrast used to establish the assay.</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6252A"/>
              </a:buClr>
              <a:buSzPts val="1600"/>
              <a:buFont typeface="Arial"/>
              <a:buNone/>
            </a:pPr>
            <a:r>
              <a:rPr b="0" i="0" lang="en-US" sz="1600">
                <a:solidFill>
                  <a:srgbClr val="26252A"/>
                </a:solidFill>
                <a:latin typeface="Arial"/>
                <a:ea typeface="Arial"/>
                <a:cs typeface="Arial"/>
                <a:sym typeface="Arial"/>
              </a:rPr>
              <a:t>Turtles first conditioned with the Florida–Maine pair were subsequently conditioned with a second pair representing a second set of magnetic signatures. They also discriminated the rewarded and unrewarded signatures in that second pairing. The same animals could acquire an additional association after the first training period.</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6252A"/>
              </a:buClr>
              <a:buSzPts val="1600"/>
              <a:buFont typeface="Arial"/>
              <a:buNone/>
            </a:pPr>
            <a:r>
              <a:rPr b="0" i="0" lang="en-US" sz="1600">
                <a:solidFill>
                  <a:srgbClr val="26252A"/>
                </a:solidFill>
                <a:latin typeface="Arial"/>
                <a:ea typeface="Arial"/>
                <a:cs typeface="Arial"/>
                <a:sym typeface="Arial"/>
              </a:rPr>
              <a:t>The result supports flexibility in magnetic learning rather than a single fixed regional response. Recognition extended across pairs that differed in geographical and magnetic separation, and a second pair was learned after the first.</a:t>
            </a:r>
            <a:endParaRPr sz="1800">
              <a:solidFill>
                <a:schemeClr val="dk1"/>
              </a:solidFill>
              <a:latin typeface="Calibri"/>
              <a:ea typeface="Calibri"/>
              <a:cs typeface="Calibri"/>
              <a:sym typeface="Calibri"/>
            </a:endParaRPr>
          </a:p>
        </p:txBody>
      </p:sp>
      <p:pic>
        <p:nvPicPr>
          <p:cNvPr id="166" name="Google Shape;166;p12"/>
          <p:cNvPicPr preferRelativeResize="0"/>
          <p:nvPr/>
        </p:nvPicPr>
        <p:blipFill rotWithShape="1">
          <a:blip r:embed="rId3">
            <a:alphaModFix/>
          </a:blip>
          <a:srcRect b="0" l="0" r="0" t="0"/>
          <a:stretch/>
        </p:blipFill>
        <p:spPr>
          <a:xfrm>
            <a:off x="6870154" y="1280071"/>
            <a:ext cx="4754711" cy="2226618"/>
          </a:xfrm>
          <a:prstGeom prst="rect">
            <a:avLst/>
          </a:prstGeom>
          <a:noFill/>
          <a:ln>
            <a:noFill/>
          </a:ln>
        </p:spPr>
      </p:pic>
      <p:sp>
        <p:nvSpPr>
          <p:cNvPr id="167" name="Google Shape;167;p12"/>
          <p:cNvSpPr/>
          <p:nvPr/>
        </p:nvSpPr>
        <p:spPr>
          <a:xfrm>
            <a:off x="6870055" y="3598218"/>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1000"/>
              <a:buFont typeface="Arial"/>
              <a:buNone/>
            </a:pPr>
            <a:r>
              <a:rPr b="0" i="0" lang="en-US" sz="1000">
                <a:solidFill>
                  <a:srgbClr val="62606A"/>
                </a:solidFill>
                <a:latin typeface="Arial"/>
                <a:ea typeface="Arial"/>
                <a:cs typeface="Arial"/>
                <a:sym typeface="Arial"/>
              </a:rPr>
              <a:t>Goforth et al. (2025), Fig. 2(c). A second pair of fields can acquire a learned association.</a:t>
            </a:r>
            <a:endParaRPr sz="1800">
              <a:solidFill>
                <a:schemeClr val="dk1"/>
              </a:solidFill>
              <a:latin typeface="Calibri"/>
              <a:ea typeface="Calibri"/>
              <a:cs typeface="Calibri"/>
              <a:sym typeface="Calibri"/>
            </a:endParaRPr>
          </a:p>
        </p:txBody>
      </p:sp>
      <p:sp>
        <p:nvSpPr>
          <p:cNvPr id="168" name="Google Shape;168;p12"/>
          <p:cNvSpPr/>
          <p:nvPr/>
        </p:nvSpPr>
        <p:spPr>
          <a:xfrm>
            <a:off x="566886" y="6382494"/>
            <a:ext cx="11058079" cy="9079"/>
          </a:xfrm>
          <a:prstGeom prst="rect">
            <a:avLst/>
          </a:prstGeom>
          <a:solidFill>
            <a:srgbClr val="DAD1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9" name="Google Shape;169;p12"/>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Goforth et al. (2025)</a:t>
            </a:r>
            <a:endParaRPr sz="1800">
              <a:solidFill>
                <a:schemeClr val="dk1"/>
              </a:solidFill>
              <a:latin typeface="Calibri"/>
              <a:ea typeface="Calibri"/>
              <a:cs typeface="Calibri"/>
              <a:sym typeface="Calibri"/>
            </a:endParaRPr>
          </a:p>
        </p:txBody>
      </p:sp>
      <p:sp>
        <p:nvSpPr>
          <p:cNvPr id="170" name="Google Shape;170;p12"/>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12</a:t>
            </a:r>
            <a:endParaRPr sz="1800">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4" name="Shape 174"/>
        <p:cNvGrpSpPr/>
        <p:nvPr/>
      </p:nvGrpSpPr>
      <p:grpSpPr>
        <a:xfrm>
          <a:off x="0" y="0"/>
          <a:ext cx="0" cy="0"/>
          <a:chOff x="0" y="0"/>
          <a:chExt cx="0" cy="0"/>
        </a:xfrm>
      </p:grpSpPr>
      <p:sp>
        <p:nvSpPr>
          <p:cNvPr id="175" name="Google Shape;175;p13"/>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8A3B32"/>
              </a:buClr>
              <a:buSzPts val="3000"/>
              <a:buFont typeface="Arial"/>
              <a:buNone/>
            </a:pPr>
            <a:r>
              <a:rPr b="1" i="0" lang="en-US" sz="3000">
                <a:solidFill>
                  <a:srgbClr val="8A3B32"/>
                </a:solidFill>
                <a:latin typeface="Arial"/>
                <a:ea typeface="Arial"/>
                <a:cs typeface="Arial"/>
                <a:sym typeface="Arial"/>
              </a:rPr>
              <a:t>A learned magnetic association persists for months</a:t>
            </a:r>
            <a:endParaRPr sz="1800">
              <a:solidFill>
                <a:schemeClr val="dk1"/>
              </a:solidFill>
              <a:latin typeface="Calibri"/>
              <a:ea typeface="Calibri"/>
              <a:cs typeface="Calibri"/>
              <a:sym typeface="Calibri"/>
            </a:endParaRPr>
          </a:p>
        </p:txBody>
      </p:sp>
      <p:sp>
        <p:nvSpPr>
          <p:cNvPr id="176" name="Google Shape;176;p13"/>
          <p:cNvSpPr/>
          <p:nvPr/>
        </p:nvSpPr>
        <p:spPr>
          <a:xfrm>
            <a:off x="566886" y="1234380"/>
            <a:ext cx="5956250"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6252A"/>
              </a:buClr>
              <a:buSzPts val="1600"/>
              <a:buFont typeface="Arial"/>
              <a:buNone/>
            </a:pPr>
            <a:r>
              <a:rPr b="0" i="0" lang="en-US" sz="1600">
                <a:solidFill>
                  <a:srgbClr val="26252A"/>
                </a:solidFill>
                <a:latin typeface="Arial"/>
                <a:ea typeface="Arial"/>
                <a:cs typeface="Arial"/>
                <a:sym typeface="Arial"/>
              </a:rPr>
              <a:t>The Gulf of Mexico–New Hampshire cohort was tested again 4 months after initial conditioning. No conditioning to those two fields occurred during the intervening period. The follow-up therefore assessed persistence of the association rather than immediate responses after another reinforced training session.</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6252A"/>
              </a:buClr>
              <a:buSzPts val="1600"/>
              <a:buFont typeface="Arial"/>
              <a:buNone/>
            </a:pPr>
            <a:r>
              <a:rPr b="0" i="0" lang="en-US" sz="1600">
                <a:solidFill>
                  <a:srgbClr val="26252A"/>
                </a:solidFill>
                <a:latin typeface="Arial"/>
                <a:ea typeface="Arial"/>
                <a:cs typeface="Arial"/>
                <a:sym typeface="Arial"/>
              </a:rPr>
              <a:t>Turtles continued to express more food-anticipatory behavior in their originally rewarded field. Magnetic signature information can remain behaviorally available for several months. Retention was assessed through the same compass-free discrimination task used after the initial 2-month conditioning period.</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6252A"/>
              </a:buClr>
              <a:buSzPts val="1600"/>
              <a:buFont typeface="Arial"/>
              <a:buNone/>
            </a:pPr>
            <a:r>
              <a:rPr b="0" i="0" lang="en-US" sz="1600">
                <a:solidFill>
                  <a:srgbClr val="26252A"/>
                </a:solidFill>
                <a:latin typeface="Arial"/>
                <a:ea typeface="Arial"/>
                <a:cs typeface="Arial"/>
                <a:sym typeface="Arial"/>
              </a:rPr>
              <a:t>The result establishes that a learned magnetic association can persist for at least four months in captivity. Retention was measured with the same compass-free discrimination task, without further conditioning during the interval.</a:t>
            </a:r>
            <a:endParaRPr sz="1800">
              <a:solidFill>
                <a:schemeClr val="dk1"/>
              </a:solidFill>
              <a:latin typeface="Calibri"/>
              <a:ea typeface="Calibri"/>
              <a:cs typeface="Calibri"/>
              <a:sym typeface="Calibri"/>
            </a:endParaRPr>
          </a:p>
        </p:txBody>
      </p:sp>
      <p:pic>
        <p:nvPicPr>
          <p:cNvPr id="179" name="Google Shape;179;p13"/>
          <p:cNvPicPr preferRelativeResize="0"/>
          <p:nvPr/>
        </p:nvPicPr>
        <p:blipFill rotWithShape="1">
          <a:blip r:embed="rId3">
            <a:alphaModFix/>
          </a:blip>
          <a:srcRect b="0" l="0" r="0" t="0"/>
          <a:stretch/>
        </p:blipFill>
        <p:spPr>
          <a:xfrm>
            <a:off x="6870075" y="1280071"/>
            <a:ext cx="4754871" cy="3925788"/>
          </a:xfrm>
          <a:prstGeom prst="rect">
            <a:avLst/>
          </a:prstGeom>
          <a:noFill/>
          <a:ln>
            <a:noFill/>
          </a:ln>
        </p:spPr>
      </p:pic>
      <p:sp>
        <p:nvSpPr>
          <p:cNvPr id="180" name="Google Shape;180;p13"/>
          <p:cNvSpPr/>
          <p:nvPr/>
        </p:nvSpPr>
        <p:spPr>
          <a:xfrm>
            <a:off x="6870055" y="5297388"/>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1000"/>
              <a:buFont typeface="Arial"/>
              <a:buNone/>
            </a:pPr>
            <a:r>
              <a:rPr b="0" i="0" lang="en-US" sz="1000">
                <a:solidFill>
                  <a:srgbClr val="62606A"/>
                </a:solidFill>
                <a:latin typeface="Arial"/>
                <a:ea typeface="Arial"/>
                <a:cs typeface="Arial"/>
                <a:sym typeface="Arial"/>
              </a:rPr>
              <a:t>Goforth et al. (2025), Fig. 1(c). Field discrimination persists four months after conditioning.</a:t>
            </a:r>
            <a:endParaRPr sz="1800">
              <a:solidFill>
                <a:schemeClr val="dk1"/>
              </a:solidFill>
              <a:latin typeface="Calibri"/>
              <a:ea typeface="Calibri"/>
              <a:cs typeface="Calibri"/>
              <a:sym typeface="Calibri"/>
            </a:endParaRPr>
          </a:p>
        </p:txBody>
      </p:sp>
      <p:sp>
        <p:nvSpPr>
          <p:cNvPr id="181" name="Google Shape;181;p13"/>
          <p:cNvSpPr/>
          <p:nvPr/>
        </p:nvSpPr>
        <p:spPr>
          <a:xfrm>
            <a:off x="566886" y="6382494"/>
            <a:ext cx="11058079" cy="9079"/>
          </a:xfrm>
          <a:prstGeom prst="rect">
            <a:avLst/>
          </a:prstGeom>
          <a:solidFill>
            <a:srgbClr val="DAD1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2" name="Google Shape;182;p13"/>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Goforth et al. (2025)</a:t>
            </a:r>
            <a:endParaRPr sz="1800">
              <a:solidFill>
                <a:schemeClr val="dk1"/>
              </a:solidFill>
              <a:latin typeface="Calibri"/>
              <a:ea typeface="Calibri"/>
              <a:cs typeface="Calibri"/>
              <a:sym typeface="Calibri"/>
            </a:endParaRPr>
          </a:p>
        </p:txBody>
      </p:sp>
      <p:sp>
        <p:nvSpPr>
          <p:cNvPr id="183" name="Google Shape;183;p13"/>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13</a:t>
            </a:r>
            <a:endParaRPr sz="1800">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7" name="Shape 187"/>
        <p:cNvGrpSpPr/>
        <p:nvPr/>
      </p:nvGrpSpPr>
      <p:grpSpPr>
        <a:xfrm>
          <a:off x="0" y="0"/>
          <a:ext cx="0" cy="0"/>
          <a:chOff x="0" y="0"/>
          <a:chExt cx="0" cy="0"/>
        </a:xfrm>
      </p:grpSpPr>
      <p:sp>
        <p:nvSpPr>
          <p:cNvPr id="188" name="Google Shape;188;p14"/>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8A3B32"/>
              </a:buClr>
              <a:buSzPts val="3000"/>
              <a:buFont typeface="Arial"/>
              <a:buNone/>
            </a:pPr>
            <a:r>
              <a:rPr b="1" i="0" lang="en-US" sz="3000">
                <a:solidFill>
                  <a:srgbClr val="8A3B32"/>
                </a:solidFill>
                <a:latin typeface="Arial"/>
                <a:ea typeface="Arial"/>
                <a:cs typeface="Arial"/>
                <a:sym typeface="Arial"/>
              </a:rPr>
              <a:t>Cue mixing tests what defines a learned signature</a:t>
            </a:r>
            <a:endParaRPr sz="1800">
              <a:solidFill>
                <a:schemeClr val="dk1"/>
              </a:solidFill>
              <a:latin typeface="Calibri"/>
              <a:ea typeface="Calibri"/>
              <a:cs typeface="Calibri"/>
              <a:sym typeface="Calibri"/>
            </a:endParaRPr>
          </a:p>
        </p:txBody>
      </p:sp>
      <p:sp>
        <p:nvSpPr>
          <p:cNvPr id="189" name="Google Shape;189;p14"/>
          <p:cNvSpPr/>
          <p:nvPr/>
        </p:nvSpPr>
        <p:spPr>
          <a:xfrm>
            <a:off x="566886" y="1234380"/>
            <a:ext cx="5956250"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6252A"/>
              </a:buClr>
              <a:buSzPts val="1500"/>
              <a:buFont typeface="Arial"/>
              <a:buNone/>
            </a:pPr>
            <a:r>
              <a:rPr b="0" i="0" lang="en-US" sz="1500">
                <a:solidFill>
                  <a:srgbClr val="26252A"/>
                </a:solidFill>
                <a:latin typeface="Arial"/>
                <a:ea typeface="Arial"/>
                <a:cs typeface="Arial"/>
                <a:sym typeface="Arial"/>
              </a:rPr>
              <a:t>Inclination and intensity varied together during conditioning. To determine whether either parameter alone could explain recognition, Goforth and colleagues constructed </a:t>
            </a:r>
            <a:r>
              <a:rPr b="1" i="0" lang="en-US" sz="1500">
                <a:solidFill>
                  <a:srgbClr val="8A3B32"/>
                </a:solidFill>
                <a:latin typeface="Arial"/>
                <a:ea typeface="Arial"/>
                <a:cs typeface="Arial"/>
                <a:sym typeface="Arial"/>
              </a:rPr>
              <a:t>mismatched fields</a:t>
            </a:r>
            <a:r>
              <a:rPr b="0" i="0" lang="en-US" sz="1500">
                <a:solidFill>
                  <a:srgbClr val="26252A"/>
                </a:solidFill>
                <a:latin typeface="Arial"/>
                <a:ea typeface="Arial"/>
                <a:cs typeface="Arial"/>
                <a:sym typeface="Arial"/>
              </a:rPr>
              <a:t> that combined the inclination of one learned field with the intensity of the other. These combinations separated features that normally occurred as a pair.</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6252A"/>
              </a:buClr>
              <a:buSzPts val="1500"/>
              <a:buFont typeface="Arial"/>
              <a:buNone/>
            </a:pPr>
            <a:r>
              <a:rPr b="0" i="0" lang="en-US" sz="1500">
                <a:solidFill>
                  <a:srgbClr val="26252A"/>
                </a:solidFill>
                <a:latin typeface="Arial"/>
                <a:ea typeface="Arial"/>
                <a:cs typeface="Arial"/>
                <a:sym typeface="Arial"/>
              </a:rPr>
              <a:t>Turtles were tested in the rewarded field, the unrewarded field and the two mismatched combinations. The manipulation retained one rewarded component while changing the other. It therefore tested whether a familiar inclination or a familiar intensity was sufficient to evoke the learned food-anticipatory response.</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6252A"/>
              </a:buClr>
              <a:buSzPts val="1500"/>
              <a:buFont typeface="Arial"/>
              <a:buNone/>
            </a:pPr>
            <a:r>
              <a:rPr b="0" i="0" lang="en-US" sz="1500">
                <a:solidFill>
                  <a:srgbClr val="26252A"/>
                </a:solidFill>
                <a:latin typeface="Arial"/>
                <a:ea typeface="Arial"/>
                <a:cs typeface="Arial"/>
                <a:sym typeface="Arial"/>
              </a:rPr>
              <a:t>A signature can function as a compound cue rather than a single coordinate. This experimental design addresses the information used for discrimination, without requiring assumptions about a complete geographical map. Mismatched fields separate the contribution of inclination from that of intensity, so the compound cue can be analyzed into its components.</a:t>
            </a:r>
            <a:endParaRPr sz="1800">
              <a:solidFill>
                <a:schemeClr val="dk1"/>
              </a:solidFill>
              <a:latin typeface="Calibri"/>
              <a:ea typeface="Calibri"/>
              <a:cs typeface="Calibri"/>
              <a:sym typeface="Calibri"/>
            </a:endParaRPr>
          </a:p>
        </p:txBody>
      </p:sp>
      <p:pic>
        <p:nvPicPr>
          <p:cNvPr id="192" name="Google Shape;192;p14"/>
          <p:cNvPicPr preferRelativeResize="0"/>
          <p:nvPr/>
        </p:nvPicPr>
        <p:blipFill rotWithShape="1">
          <a:blip r:embed="rId3">
            <a:alphaModFix/>
          </a:blip>
          <a:srcRect b="0" l="0" r="0" t="0"/>
          <a:stretch/>
        </p:blipFill>
        <p:spPr>
          <a:xfrm>
            <a:off x="6870109" y="1280071"/>
            <a:ext cx="4754801" cy="2808536"/>
          </a:xfrm>
          <a:prstGeom prst="rect">
            <a:avLst/>
          </a:prstGeom>
          <a:noFill/>
          <a:ln>
            <a:noFill/>
          </a:ln>
        </p:spPr>
      </p:pic>
      <p:sp>
        <p:nvSpPr>
          <p:cNvPr id="193" name="Google Shape;193;p14"/>
          <p:cNvSpPr/>
          <p:nvPr/>
        </p:nvSpPr>
        <p:spPr>
          <a:xfrm>
            <a:off x="6870055" y="4180136"/>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1000"/>
              <a:buFont typeface="Arial"/>
              <a:buNone/>
            </a:pPr>
            <a:r>
              <a:rPr b="0" i="0" lang="en-US" sz="1000">
                <a:solidFill>
                  <a:srgbClr val="62606A"/>
                </a:solidFill>
                <a:latin typeface="Arial"/>
                <a:ea typeface="Arial"/>
                <a:cs typeface="Arial"/>
                <a:sym typeface="Arial"/>
              </a:rPr>
              <a:t>Goforth et al. (2025), Fig. 4(a). Published inclination–intensity combinations used in cue mixing.</a:t>
            </a:r>
            <a:endParaRPr sz="1800">
              <a:solidFill>
                <a:schemeClr val="dk1"/>
              </a:solidFill>
              <a:latin typeface="Calibri"/>
              <a:ea typeface="Calibri"/>
              <a:cs typeface="Calibri"/>
              <a:sym typeface="Calibri"/>
            </a:endParaRPr>
          </a:p>
        </p:txBody>
      </p:sp>
      <p:sp>
        <p:nvSpPr>
          <p:cNvPr id="194" name="Google Shape;194;p14"/>
          <p:cNvSpPr/>
          <p:nvPr/>
        </p:nvSpPr>
        <p:spPr>
          <a:xfrm>
            <a:off x="566886" y="6382494"/>
            <a:ext cx="11058079" cy="9079"/>
          </a:xfrm>
          <a:prstGeom prst="rect">
            <a:avLst/>
          </a:prstGeom>
          <a:solidFill>
            <a:srgbClr val="DAD1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5" name="Google Shape;195;p14"/>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Goforth et al. (2025)</a:t>
            </a:r>
            <a:endParaRPr sz="1800">
              <a:solidFill>
                <a:schemeClr val="dk1"/>
              </a:solidFill>
              <a:latin typeface="Calibri"/>
              <a:ea typeface="Calibri"/>
              <a:cs typeface="Calibri"/>
              <a:sym typeface="Calibri"/>
            </a:endParaRPr>
          </a:p>
        </p:txBody>
      </p:sp>
      <p:sp>
        <p:nvSpPr>
          <p:cNvPr id="196" name="Google Shape;196;p14"/>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14</a:t>
            </a:r>
            <a:endParaRPr sz="1800">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0" name="Shape 200"/>
        <p:cNvGrpSpPr/>
        <p:nvPr/>
      </p:nvGrpSpPr>
      <p:grpSpPr>
        <a:xfrm>
          <a:off x="0" y="0"/>
          <a:ext cx="0" cy="0"/>
          <a:chOff x="0" y="0"/>
          <a:chExt cx="0" cy="0"/>
        </a:xfrm>
      </p:grpSpPr>
      <p:sp>
        <p:nvSpPr>
          <p:cNvPr id="201" name="Google Shape;201;p15"/>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8A3B32"/>
              </a:buClr>
              <a:buSzPts val="3000"/>
              <a:buFont typeface="Arial"/>
              <a:buNone/>
            </a:pPr>
            <a:r>
              <a:rPr b="1" i="0" lang="en-US" sz="3000">
                <a:solidFill>
                  <a:srgbClr val="8A3B32"/>
                </a:solidFill>
                <a:latin typeface="Arial"/>
                <a:ea typeface="Arial"/>
                <a:cs typeface="Arial"/>
                <a:sym typeface="Arial"/>
              </a:rPr>
              <a:t>Recognition requires the trained cue combination</a:t>
            </a:r>
            <a:endParaRPr sz="1800">
              <a:solidFill>
                <a:schemeClr val="dk1"/>
              </a:solidFill>
              <a:latin typeface="Calibri"/>
              <a:ea typeface="Calibri"/>
              <a:cs typeface="Calibri"/>
              <a:sym typeface="Calibri"/>
            </a:endParaRPr>
          </a:p>
        </p:txBody>
      </p:sp>
      <p:sp>
        <p:nvSpPr>
          <p:cNvPr id="202" name="Google Shape;202;p15"/>
          <p:cNvSpPr/>
          <p:nvPr/>
        </p:nvSpPr>
        <p:spPr>
          <a:xfrm>
            <a:off x="566886" y="1234380"/>
            <a:ext cx="5956250"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6252A"/>
              </a:buClr>
              <a:buSzPts val="1600"/>
              <a:buFont typeface="Arial"/>
              <a:buNone/>
            </a:pPr>
            <a:r>
              <a:rPr b="0" i="0" lang="en-US" sz="1600">
                <a:solidFill>
                  <a:srgbClr val="26252A"/>
                </a:solidFill>
                <a:latin typeface="Arial"/>
                <a:ea typeface="Arial"/>
                <a:cs typeface="Arial"/>
                <a:sym typeface="Arial"/>
              </a:rPr>
              <a:t>Turtles responded more strongly to the rewarded signature than to either mismatched combination. Neither the rewarded inclination paired with the wrong intensity nor the rewarded intensity paired with the wrong inclination produced the response expected from the complete trained field.</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6252A"/>
              </a:buClr>
              <a:buSzPts val="1600"/>
              <a:buFont typeface="Arial"/>
              <a:buNone/>
            </a:pPr>
            <a:r>
              <a:rPr b="0" i="0" lang="en-US" sz="1600">
                <a:solidFill>
                  <a:srgbClr val="26252A"/>
                </a:solidFill>
                <a:latin typeface="Arial"/>
                <a:ea typeface="Arial"/>
                <a:cs typeface="Arial"/>
                <a:sym typeface="Arial"/>
              </a:rPr>
              <a:t>The mismatch responses resembled those to the unrewarded field. The result supports joint use of inclination and intensity in this task. It does not mean that animals cannot detect either parameter individually; it means that one familiar component was insufficient to identify the rewarded compound under the tested conditions.</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6252A"/>
              </a:buClr>
              <a:buSzPts val="1600"/>
              <a:buFont typeface="Arial"/>
              <a:buNone/>
            </a:pPr>
            <a:r>
              <a:rPr b="0" i="0" lang="en-US" sz="1600">
                <a:solidFill>
                  <a:srgbClr val="26252A"/>
                </a:solidFill>
                <a:latin typeface="Arial"/>
                <a:ea typeface="Arial"/>
                <a:cs typeface="Arial"/>
                <a:sym typeface="Arial"/>
              </a:rPr>
              <a:t>The distinction separates sensory discrimination from learned decision rules. An animal may detect several field properties but respond only when their combination matches a stored association. The comparison with a stored association could occur in transduction, sensory pathways, memory circuits or the selection of a food-anticipatory action.</a:t>
            </a:r>
            <a:endParaRPr sz="1800">
              <a:solidFill>
                <a:schemeClr val="dk1"/>
              </a:solidFill>
              <a:latin typeface="Calibri"/>
              <a:ea typeface="Calibri"/>
              <a:cs typeface="Calibri"/>
              <a:sym typeface="Calibri"/>
            </a:endParaRPr>
          </a:p>
        </p:txBody>
      </p:sp>
      <p:pic>
        <p:nvPicPr>
          <p:cNvPr id="205" name="Google Shape;205;p15"/>
          <p:cNvPicPr preferRelativeResize="0"/>
          <p:nvPr/>
        </p:nvPicPr>
        <p:blipFill rotWithShape="1">
          <a:blip r:embed="rId3">
            <a:alphaModFix/>
          </a:blip>
          <a:srcRect b="0" l="0" r="0" t="0"/>
          <a:stretch/>
        </p:blipFill>
        <p:spPr>
          <a:xfrm>
            <a:off x="6870168" y="1280071"/>
            <a:ext cx="4754683" cy="2356098"/>
          </a:xfrm>
          <a:prstGeom prst="rect">
            <a:avLst/>
          </a:prstGeom>
          <a:noFill/>
          <a:ln>
            <a:noFill/>
          </a:ln>
        </p:spPr>
      </p:pic>
      <p:sp>
        <p:nvSpPr>
          <p:cNvPr id="206" name="Google Shape;206;p15"/>
          <p:cNvSpPr/>
          <p:nvPr/>
        </p:nvSpPr>
        <p:spPr>
          <a:xfrm>
            <a:off x="6870055" y="3727698"/>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1000"/>
              <a:buFont typeface="Arial"/>
              <a:buNone/>
            </a:pPr>
            <a:r>
              <a:rPr b="0" i="0" lang="en-US" sz="1000">
                <a:solidFill>
                  <a:srgbClr val="62606A"/>
                </a:solidFill>
                <a:latin typeface="Arial"/>
                <a:ea typeface="Arial"/>
                <a:cs typeface="Arial"/>
                <a:sym typeface="Arial"/>
              </a:rPr>
              <a:t>Goforth et al. (2025), Fig. 4(b–c). Mismatched field components do not evoke the rewarded response.</a:t>
            </a:r>
            <a:endParaRPr sz="1800">
              <a:solidFill>
                <a:schemeClr val="dk1"/>
              </a:solidFill>
              <a:latin typeface="Calibri"/>
              <a:ea typeface="Calibri"/>
              <a:cs typeface="Calibri"/>
              <a:sym typeface="Calibri"/>
            </a:endParaRPr>
          </a:p>
        </p:txBody>
      </p:sp>
      <p:sp>
        <p:nvSpPr>
          <p:cNvPr id="207" name="Google Shape;207;p15"/>
          <p:cNvSpPr/>
          <p:nvPr/>
        </p:nvSpPr>
        <p:spPr>
          <a:xfrm>
            <a:off x="566886" y="6382494"/>
            <a:ext cx="11058079" cy="9079"/>
          </a:xfrm>
          <a:prstGeom prst="rect">
            <a:avLst/>
          </a:prstGeom>
          <a:solidFill>
            <a:srgbClr val="DAD1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8" name="Google Shape;208;p15"/>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Goforth et al. (2025)</a:t>
            </a:r>
            <a:endParaRPr sz="1800">
              <a:solidFill>
                <a:schemeClr val="dk1"/>
              </a:solidFill>
              <a:latin typeface="Calibri"/>
              <a:ea typeface="Calibri"/>
              <a:cs typeface="Calibri"/>
              <a:sym typeface="Calibri"/>
            </a:endParaRPr>
          </a:p>
        </p:txBody>
      </p:sp>
      <p:sp>
        <p:nvSpPr>
          <p:cNvPr id="209" name="Google Shape;209;p15"/>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15</a:t>
            </a:r>
            <a:endParaRPr sz="1800">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3" name="Shape 213"/>
        <p:cNvGrpSpPr/>
        <p:nvPr/>
      </p:nvGrpSpPr>
      <p:grpSpPr>
        <a:xfrm>
          <a:off x="0" y="0"/>
          <a:ext cx="0" cy="0"/>
          <a:chOff x="0" y="0"/>
          <a:chExt cx="0" cy="0"/>
        </a:xfrm>
      </p:grpSpPr>
      <p:sp>
        <p:nvSpPr>
          <p:cNvPr id="214" name="Google Shape;214;p16"/>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8A3B32"/>
              </a:buClr>
              <a:buSzPts val="3000"/>
              <a:buFont typeface="Arial"/>
              <a:buNone/>
            </a:pPr>
            <a:r>
              <a:rPr b="1" i="0" lang="en-US" sz="3000">
                <a:solidFill>
                  <a:srgbClr val="8A3B32"/>
                </a:solidFill>
                <a:latin typeface="Arial"/>
                <a:ea typeface="Arial"/>
                <a:cs typeface="Arial"/>
                <a:sym typeface="Arial"/>
              </a:rPr>
              <a:t>Radiofrequency disruption separates two turtle tasks</a:t>
            </a:r>
            <a:endParaRPr sz="1800">
              <a:solidFill>
                <a:schemeClr val="dk1"/>
              </a:solidFill>
              <a:latin typeface="Calibri"/>
              <a:ea typeface="Calibri"/>
              <a:cs typeface="Calibri"/>
              <a:sym typeface="Calibri"/>
            </a:endParaRPr>
          </a:p>
        </p:txBody>
      </p:sp>
      <p:sp>
        <p:nvSpPr>
          <p:cNvPr id="215" name="Google Shape;215;p16"/>
          <p:cNvSpPr/>
          <p:nvPr/>
        </p:nvSpPr>
        <p:spPr>
          <a:xfrm>
            <a:off x="566886" y="1234380"/>
            <a:ext cx="5956250"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8A3B32"/>
              </a:buClr>
              <a:buSzPts val="1500"/>
              <a:buFont typeface="Arial"/>
              <a:buNone/>
            </a:pPr>
            <a:r>
              <a:rPr b="1" i="0" lang="en-US" sz="1500">
                <a:solidFill>
                  <a:srgbClr val="8A3B32"/>
                </a:solidFill>
                <a:latin typeface="Arial"/>
                <a:ea typeface="Arial"/>
                <a:cs typeface="Arial"/>
                <a:sym typeface="Arial"/>
              </a:rPr>
              <a:t>Radiofrequency fields</a:t>
            </a:r>
            <a:r>
              <a:rPr b="0" i="0" lang="en-US" sz="1500">
                <a:solidFill>
                  <a:srgbClr val="26252A"/>
                </a:solidFill>
                <a:latin typeface="Arial"/>
                <a:ea typeface="Arial"/>
                <a:cs typeface="Arial"/>
                <a:sym typeface="Arial"/>
              </a:rPr>
              <a:t> are rapidly oscillating electromagnetic fields. Goforth and colleagues used broadband magnetic noise spanning 0.1–10 MHz to compare a learned map-only assay with a hatchling orientation task requiring map and compass information. The same class of perturbation was tested against different behavioral outputs.</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6252A"/>
              </a:buClr>
              <a:buSzPts val="1500"/>
              <a:buFont typeface="Arial"/>
              <a:buNone/>
            </a:pPr>
            <a:r>
              <a:rPr b="0" i="0" lang="en-US" sz="1500">
                <a:solidFill>
                  <a:srgbClr val="26252A"/>
                </a:solidFill>
                <a:latin typeface="Arial"/>
                <a:ea typeface="Arial"/>
                <a:cs typeface="Arial"/>
                <a:sym typeface="Arial"/>
              </a:rPr>
              <a:t>The learned rewarded-field response persisted with radiofrequency exposure. In contrast, hatchlings exposed to the Cape Verde signature lost their consistent group heading under the noise treatment. Without noise, their reported preferred direction was 293.1°, approximately westward; with noise, the group no longer maintained a shared direction.</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6252A"/>
              </a:buClr>
              <a:buSzPts val="1500"/>
              <a:buFont typeface="Arial"/>
              <a:buNone/>
            </a:pPr>
            <a:r>
              <a:rPr b="0" i="0" lang="en-US" sz="1500">
                <a:solidFill>
                  <a:srgbClr val="26252A"/>
                </a:solidFill>
                <a:latin typeface="Arial"/>
                <a:ea typeface="Arial"/>
                <a:cs typeface="Arial"/>
                <a:sym typeface="Arial"/>
              </a:rPr>
              <a:t>The dissociation is consistent with different mechanisms contributing to map and compass behavior. The learned map response persisted with radiofrequency noise, whereas the compass-dependent heading was lost, and the two tasks used different developmental stages and preparations.</a:t>
            </a:r>
            <a:endParaRPr sz="1800">
              <a:solidFill>
                <a:schemeClr val="dk1"/>
              </a:solidFill>
              <a:latin typeface="Calibri"/>
              <a:ea typeface="Calibri"/>
              <a:cs typeface="Calibri"/>
              <a:sym typeface="Calibri"/>
            </a:endParaRPr>
          </a:p>
        </p:txBody>
      </p:sp>
      <p:pic>
        <p:nvPicPr>
          <p:cNvPr id="218" name="Google Shape;218;p16"/>
          <p:cNvPicPr preferRelativeResize="0"/>
          <p:nvPr/>
        </p:nvPicPr>
        <p:blipFill rotWithShape="1">
          <a:blip r:embed="rId3">
            <a:alphaModFix/>
          </a:blip>
          <a:srcRect b="0" l="0" r="0" t="0"/>
          <a:stretch/>
        </p:blipFill>
        <p:spPr>
          <a:xfrm>
            <a:off x="7349903" y="1280071"/>
            <a:ext cx="3795066" cy="4297561"/>
          </a:xfrm>
          <a:prstGeom prst="rect">
            <a:avLst/>
          </a:prstGeom>
          <a:noFill/>
          <a:ln>
            <a:noFill/>
          </a:ln>
        </p:spPr>
      </p:pic>
      <p:sp>
        <p:nvSpPr>
          <p:cNvPr id="219" name="Google Shape;219;p16"/>
          <p:cNvSpPr/>
          <p:nvPr/>
        </p:nvSpPr>
        <p:spPr>
          <a:xfrm>
            <a:off x="6870055" y="5669161"/>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1000"/>
              <a:buFont typeface="Arial"/>
              <a:buNone/>
            </a:pPr>
            <a:r>
              <a:rPr b="0" i="0" lang="en-US" sz="1000">
                <a:solidFill>
                  <a:srgbClr val="62606A"/>
                </a:solidFill>
                <a:latin typeface="Arial"/>
                <a:ea typeface="Arial"/>
                <a:cs typeface="Arial"/>
                <a:sym typeface="Arial"/>
              </a:rPr>
              <a:t>Goforth et al. (2025), Fig. 5(a–b). Radiofrequency fields spare learned maps but disrupt orientation.</a:t>
            </a:r>
            <a:endParaRPr sz="1800">
              <a:solidFill>
                <a:schemeClr val="dk1"/>
              </a:solidFill>
              <a:latin typeface="Calibri"/>
              <a:ea typeface="Calibri"/>
              <a:cs typeface="Calibri"/>
              <a:sym typeface="Calibri"/>
            </a:endParaRPr>
          </a:p>
        </p:txBody>
      </p:sp>
      <p:sp>
        <p:nvSpPr>
          <p:cNvPr id="220" name="Google Shape;220;p16"/>
          <p:cNvSpPr/>
          <p:nvPr/>
        </p:nvSpPr>
        <p:spPr>
          <a:xfrm>
            <a:off x="566886" y="6382494"/>
            <a:ext cx="11058079" cy="9079"/>
          </a:xfrm>
          <a:prstGeom prst="rect">
            <a:avLst/>
          </a:prstGeom>
          <a:solidFill>
            <a:srgbClr val="DAD1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1" name="Google Shape;221;p16"/>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Goforth et al. (2025)</a:t>
            </a:r>
            <a:endParaRPr sz="1800">
              <a:solidFill>
                <a:schemeClr val="dk1"/>
              </a:solidFill>
              <a:latin typeface="Calibri"/>
              <a:ea typeface="Calibri"/>
              <a:cs typeface="Calibri"/>
              <a:sym typeface="Calibri"/>
            </a:endParaRPr>
          </a:p>
        </p:txBody>
      </p:sp>
      <p:sp>
        <p:nvSpPr>
          <p:cNvPr id="222" name="Google Shape;222;p16"/>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16</a:t>
            </a:r>
            <a:endParaRPr sz="1800">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6" name="Shape 226"/>
        <p:cNvGrpSpPr/>
        <p:nvPr/>
      </p:nvGrpSpPr>
      <p:grpSpPr>
        <a:xfrm>
          <a:off x="0" y="0"/>
          <a:ext cx="0" cy="0"/>
          <a:chOff x="0" y="0"/>
          <a:chExt cx="0" cy="0"/>
        </a:xfrm>
      </p:grpSpPr>
      <p:sp>
        <p:nvSpPr>
          <p:cNvPr id="227" name="Google Shape;227;p17"/>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8A3B32"/>
              </a:buClr>
              <a:buSzPts val="3000"/>
              <a:buFont typeface="Arial"/>
              <a:buNone/>
            </a:pPr>
            <a:r>
              <a:rPr b="1" i="0" lang="en-US" sz="3000">
                <a:solidFill>
                  <a:srgbClr val="8A3B32"/>
                </a:solidFill>
                <a:latin typeface="Arial"/>
                <a:ea typeface="Arial"/>
                <a:cs typeface="Arial"/>
                <a:sym typeface="Arial"/>
              </a:rPr>
              <a:t>A learned map response enables a magnetic-pulse test</a:t>
            </a:r>
            <a:endParaRPr sz="1800">
              <a:solidFill>
                <a:schemeClr val="dk1"/>
              </a:solidFill>
              <a:latin typeface="Calibri"/>
              <a:ea typeface="Calibri"/>
              <a:cs typeface="Calibri"/>
              <a:sym typeface="Calibri"/>
            </a:endParaRPr>
          </a:p>
        </p:txBody>
      </p:sp>
      <p:sp>
        <p:nvSpPr>
          <p:cNvPr id="228" name="Google Shape;228;p17"/>
          <p:cNvSpPr/>
          <p:nvPr/>
        </p:nvSpPr>
        <p:spPr>
          <a:xfrm>
            <a:off x="566886" y="1234380"/>
            <a:ext cx="5956250"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6252A"/>
              </a:buClr>
              <a:buSzPts val="1600"/>
              <a:buFont typeface="Arial"/>
              <a:buNone/>
            </a:pPr>
            <a:r>
              <a:rPr b="0" i="0" lang="en-US" sz="1600">
                <a:solidFill>
                  <a:srgbClr val="26252A"/>
                </a:solidFill>
                <a:latin typeface="Arial"/>
                <a:ea typeface="Arial"/>
                <a:cs typeface="Arial"/>
                <a:sym typeface="Arial"/>
              </a:rPr>
              <a:t>Mackiewicz and colleagues conditioned young loggerheads with signatures representing Turks and Caicos and Haiti. Animals learned which field predicted food, with the rewarded location counterbalanced. Testing again quantified turtle dancing rather than a compass heading, preserving the separation between positional cue recognition and directed swimming.</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6252A"/>
              </a:buClr>
              <a:buSzPts val="1600"/>
              <a:buFont typeface="Arial"/>
              <a:buNone/>
            </a:pPr>
            <a:r>
              <a:rPr b="0" i="0" lang="en-US" sz="1600">
                <a:solidFill>
                  <a:srgbClr val="26252A"/>
                </a:solidFill>
                <a:latin typeface="Arial"/>
                <a:ea typeface="Arial"/>
                <a:cs typeface="Arial"/>
                <a:sym typeface="Arial"/>
              </a:rPr>
              <a:t>Conditioning alternated rewarded and unrewarded sessions over 2 months. Turtles received food 5–15 min after the field changed during rewarded sessions. Initial tests without food confirmed greater responding in the rewarded field before the magnetic-pulse treatments were introduced.</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6252A"/>
              </a:buClr>
              <a:buSzPts val="1600"/>
              <a:buFont typeface="Arial"/>
              <a:buNone/>
            </a:pPr>
            <a:r>
              <a:rPr b="0" i="0" lang="en-US" sz="1600">
                <a:solidFill>
                  <a:srgbClr val="26252A"/>
                </a:solidFill>
                <a:latin typeface="Arial"/>
                <a:ea typeface="Arial"/>
                <a:cs typeface="Arial"/>
                <a:sym typeface="Arial"/>
              </a:rPr>
              <a:t>A magnetic pulse is a strong, brief field intended to alter magnetization in iron-based candidate receptors. The task provides an opportunity to perturb a learned map response without requiring compass use. A pulse that changes learned map responses would support a magnetization-based receptor mechanism for the map.</a:t>
            </a:r>
            <a:endParaRPr sz="1800">
              <a:solidFill>
                <a:schemeClr val="dk1"/>
              </a:solidFill>
              <a:latin typeface="Calibri"/>
              <a:ea typeface="Calibri"/>
              <a:cs typeface="Calibri"/>
              <a:sym typeface="Calibri"/>
            </a:endParaRPr>
          </a:p>
        </p:txBody>
      </p:sp>
      <p:pic>
        <p:nvPicPr>
          <p:cNvPr id="231" name="Google Shape;231;p17"/>
          <p:cNvPicPr preferRelativeResize="0"/>
          <p:nvPr/>
        </p:nvPicPr>
        <p:blipFill rotWithShape="1">
          <a:blip r:embed="rId3">
            <a:alphaModFix/>
          </a:blip>
          <a:srcRect b="0" l="0" r="0" t="0"/>
          <a:stretch/>
        </p:blipFill>
        <p:spPr>
          <a:xfrm>
            <a:off x="7351136" y="1280071"/>
            <a:ext cx="3792747" cy="4297561"/>
          </a:xfrm>
          <a:prstGeom prst="rect">
            <a:avLst/>
          </a:prstGeom>
          <a:noFill/>
          <a:ln>
            <a:noFill/>
          </a:ln>
        </p:spPr>
      </p:pic>
      <p:sp>
        <p:nvSpPr>
          <p:cNvPr id="232" name="Google Shape;232;p17"/>
          <p:cNvSpPr/>
          <p:nvPr/>
        </p:nvSpPr>
        <p:spPr>
          <a:xfrm>
            <a:off x="6870055" y="5669161"/>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1000"/>
              <a:buFont typeface="Arial"/>
              <a:buNone/>
            </a:pPr>
            <a:r>
              <a:rPr b="0" i="0" lang="en-US" sz="1000">
                <a:solidFill>
                  <a:srgbClr val="62606A"/>
                </a:solidFill>
                <a:latin typeface="Arial"/>
                <a:ea typeface="Arial"/>
                <a:cs typeface="Arial"/>
                <a:sym typeface="Arial"/>
              </a:rPr>
              <a:t>Mackiewicz et al. (2025), Fig. 1(A). Locations of learned magnetic signatures in the pulse experiment.</a:t>
            </a:r>
            <a:endParaRPr sz="1800">
              <a:solidFill>
                <a:schemeClr val="dk1"/>
              </a:solidFill>
              <a:latin typeface="Calibri"/>
              <a:ea typeface="Calibri"/>
              <a:cs typeface="Calibri"/>
              <a:sym typeface="Calibri"/>
            </a:endParaRPr>
          </a:p>
        </p:txBody>
      </p:sp>
      <p:sp>
        <p:nvSpPr>
          <p:cNvPr id="233" name="Google Shape;233;p17"/>
          <p:cNvSpPr/>
          <p:nvPr/>
        </p:nvSpPr>
        <p:spPr>
          <a:xfrm>
            <a:off x="566886" y="6382494"/>
            <a:ext cx="11058079" cy="9079"/>
          </a:xfrm>
          <a:prstGeom prst="rect">
            <a:avLst/>
          </a:prstGeom>
          <a:solidFill>
            <a:srgbClr val="DAD1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4" name="Google Shape;234;p17"/>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Mackiewicz et al. (2025); Goforth et al. (2025)</a:t>
            </a:r>
            <a:endParaRPr sz="1800">
              <a:solidFill>
                <a:schemeClr val="dk1"/>
              </a:solidFill>
              <a:latin typeface="Calibri"/>
              <a:ea typeface="Calibri"/>
              <a:cs typeface="Calibri"/>
              <a:sym typeface="Calibri"/>
            </a:endParaRPr>
          </a:p>
        </p:txBody>
      </p:sp>
      <p:sp>
        <p:nvSpPr>
          <p:cNvPr id="235" name="Google Shape;235;p17"/>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17</a:t>
            </a:r>
            <a:endParaRPr sz="1800">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9" name="Shape 239"/>
        <p:cNvGrpSpPr/>
        <p:nvPr/>
      </p:nvGrpSpPr>
      <p:grpSpPr>
        <a:xfrm>
          <a:off x="0" y="0"/>
          <a:ext cx="0" cy="0"/>
          <a:chOff x="0" y="0"/>
          <a:chExt cx="0" cy="0"/>
        </a:xfrm>
      </p:grpSpPr>
      <p:sp>
        <p:nvSpPr>
          <p:cNvPr id="240" name="Google Shape;240;p18"/>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8A3B32"/>
              </a:buClr>
              <a:buSzPts val="3000"/>
              <a:buFont typeface="Arial"/>
              <a:buNone/>
            </a:pPr>
            <a:r>
              <a:rPr b="1" i="0" lang="en-US" sz="3000">
                <a:solidFill>
                  <a:srgbClr val="8A3B32"/>
                </a:solidFill>
                <a:latin typeface="Arial"/>
                <a:ea typeface="Arial"/>
                <a:cs typeface="Arial"/>
                <a:sym typeface="Arial"/>
              </a:rPr>
              <a:t>Sham handling controls the pulse experiment</a:t>
            </a:r>
            <a:endParaRPr sz="1800">
              <a:solidFill>
                <a:schemeClr val="dk1"/>
              </a:solidFill>
              <a:latin typeface="Calibri"/>
              <a:ea typeface="Calibri"/>
              <a:cs typeface="Calibri"/>
              <a:sym typeface="Calibri"/>
            </a:endParaRPr>
          </a:p>
        </p:txBody>
      </p:sp>
      <p:sp>
        <p:nvSpPr>
          <p:cNvPr id="241" name="Google Shape;241;p18"/>
          <p:cNvSpPr/>
          <p:nvPr/>
        </p:nvSpPr>
        <p:spPr>
          <a:xfrm>
            <a:off x="566886" y="1234380"/>
            <a:ext cx="5956250"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6252A"/>
              </a:buClr>
              <a:buSzPts val="1600"/>
              <a:buFont typeface="Arial"/>
              <a:buNone/>
            </a:pPr>
            <a:r>
              <a:rPr b="0" i="0" lang="en-US" sz="1600">
                <a:solidFill>
                  <a:srgbClr val="26252A"/>
                </a:solidFill>
                <a:latin typeface="Arial"/>
                <a:ea typeface="Arial"/>
                <a:cs typeface="Arial"/>
                <a:sym typeface="Arial"/>
              </a:rPr>
              <a:t>Turtles were assessed after no-pulse, sham-pulse and actual-pulse treatments. Sham animals were handled in the magnetizer without receiving a pulse. The actual treatment lasted 5 ms and reached a maximum intensity of 85 mT, far stronger than the Earth-strength fields used for ordinary magnetic discrimination.</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6252A"/>
              </a:buClr>
              <a:buSzPts val="1600"/>
              <a:buFont typeface="Arial"/>
              <a:buNone/>
            </a:pPr>
            <a:r>
              <a:rPr b="0" i="0" lang="en-US" sz="1600">
                <a:solidFill>
                  <a:srgbClr val="26252A"/>
                </a:solidFill>
                <a:latin typeface="Arial"/>
                <a:ea typeface="Arial"/>
                <a:cs typeface="Arial"/>
                <a:sym typeface="Arial"/>
              </a:rPr>
              <a:t>Sham and actual treatments were followed by at least 12 h of overnight recovery before testing. Controls were completed before the pulse treatment to prevent a previous pulse from contaminating control behavior. The order of the two control conditions was randomized, and observers scoring video were blind to treatment.</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6252A"/>
              </a:buClr>
              <a:buSzPts val="1600"/>
              <a:buFont typeface="Arial"/>
              <a:buNone/>
            </a:pPr>
            <a:r>
              <a:rPr b="0" i="0" lang="en-US" sz="1600">
                <a:solidFill>
                  <a:srgbClr val="26252A"/>
                </a:solidFill>
                <a:latin typeface="Arial"/>
                <a:ea typeface="Arial"/>
                <a:cs typeface="Arial"/>
                <a:sym typeface="Arial"/>
              </a:rPr>
              <a:t>These precautions separate pulse exposure from much of the handling disturbance. The initial conditioning result establishes a measurable learned response against which the subsequent perturbation can be assessed, and the controls were completed before the pulse treatment so that a previous pulse could not contaminate them.</a:t>
            </a:r>
            <a:endParaRPr sz="1800">
              <a:solidFill>
                <a:schemeClr val="dk1"/>
              </a:solidFill>
              <a:latin typeface="Calibri"/>
              <a:ea typeface="Calibri"/>
              <a:cs typeface="Calibri"/>
              <a:sym typeface="Calibri"/>
            </a:endParaRPr>
          </a:p>
        </p:txBody>
      </p:sp>
      <p:pic>
        <p:nvPicPr>
          <p:cNvPr id="244" name="Google Shape;244;p18"/>
          <p:cNvPicPr preferRelativeResize="0"/>
          <p:nvPr/>
        </p:nvPicPr>
        <p:blipFill rotWithShape="1">
          <a:blip r:embed="rId3">
            <a:alphaModFix/>
          </a:blip>
          <a:srcRect b="0" l="0" r="0" t="0"/>
          <a:stretch/>
        </p:blipFill>
        <p:spPr>
          <a:xfrm>
            <a:off x="7673139" y="1280071"/>
            <a:ext cx="3148445" cy="4297561"/>
          </a:xfrm>
          <a:prstGeom prst="rect">
            <a:avLst/>
          </a:prstGeom>
          <a:noFill/>
          <a:ln>
            <a:noFill/>
          </a:ln>
        </p:spPr>
      </p:pic>
      <p:sp>
        <p:nvSpPr>
          <p:cNvPr id="245" name="Google Shape;245;p18"/>
          <p:cNvSpPr/>
          <p:nvPr/>
        </p:nvSpPr>
        <p:spPr>
          <a:xfrm>
            <a:off x="6870055" y="5669161"/>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1000"/>
              <a:buFont typeface="Arial"/>
              <a:buNone/>
            </a:pPr>
            <a:r>
              <a:rPr b="0" i="0" lang="en-US" sz="1000">
                <a:solidFill>
                  <a:srgbClr val="62606A"/>
                </a:solidFill>
                <a:latin typeface="Arial"/>
                <a:ea typeface="Arial"/>
                <a:cs typeface="Arial"/>
                <a:sym typeface="Arial"/>
              </a:rPr>
              <a:t>Mackiewicz et al. (2025), Fig. 1(B). Conditioning establishes magnetic field discrimination.</a:t>
            </a:r>
            <a:endParaRPr sz="1800">
              <a:solidFill>
                <a:schemeClr val="dk1"/>
              </a:solidFill>
              <a:latin typeface="Calibri"/>
              <a:ea typeface="Calibri"/>
              <a:cs typeface="Calibri"/>
              <a:sym typeface="Calibri"/>
            </a:endParaRPr>
          </a:p>
        </p:txBody>
      </p:sp>
      <p:sp>
        <p:nvSpPr>
          <p:cNvPr id="246" name="Google Shape;246;p18"/>
          <p:cNvSpPr/>
          <p:nvPr/>
        </p:nvSpPr>
        <p:spPr>
          <a:xfrm>
            <a:off x="566886" y="6382494"/>
            <a:ext cx="11058079" cy="9079"/>
          </a:xfrm>
          <a:prstGeom prst="rect">
            <a:avLst/>
          </a:prstGeom>
          <a:solidFill>
            <a:srgbClr val="DAD1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7" name="Google Shape;247;p18"/>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Mackiewicz et al. (2025)</a:t>
            </a:r>
            <a:endParaRPr sz="1800">
              <a:solidFill>
                <a:schemeClr val="dk1"/>
              </a:solidFill>
              <a:latin typeface="Calibri"/>
              <a:ea typeface="Calibri"/>
              <a:cs typeface="Calibri"/>
              <a:sym typeface="Calibri"/>
            </a:endParaRPr>
          </a:p>
        </p:txBody>
      </p:sp>
      <p:sp>
        <p:nvSpPr>
          <p:cNvPr id="248" name="Google Shape;248;p18"/>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18</a:t>
            </a:r>
            <a:endParaRPr sz="1800">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2" name="Shape 252"/>
        <p:cNvGrpSpPr/>
        <p:nvPr/>
      </p:nvGrpSpPr>
      <p:grpSpPr>
        <a:xfrm>
          <a:off x="0" y="0"/>
          <a:ext cx="0" cy="0"/>
          <a:chOff x="0" y="0"/>
          <a:chExt cx="0" cy="0"/>
        </a:xfrm>
      </p:grpSpPr>
      <p:sp>
        <p:nvSpPr>
          <p:cNvPr id="253" name="Google Shape;253;p19"/>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8A3B32"/>
              </a:buClr>
              <a:buSzPts val="3000"/>
              <a:buFont typeface="Arial"/>
              <a:buNone/>
            </a:pPr>
            <a:r>
              <a:rPr b="1" i="0" lang="en-US" sz="3000">
                <a:solidFill>
                  <a:srgbClr val="8A3B32"/>
                </a:solidFill>
                <a:latin typeface="Arial"/>
                <a:ea typeface="Arial"/>
                <a:cs typeface="Arial"/>
                <a:sym typeface="Arial"/>
              </a:rPr>
              <a:t>A strong pulse weakens learned field recognition</a:t>
            </a:r>
            <a:endParaRPr sz="1800">
              <a:solidFill>
                <a:schemeClr val="dk1"/>
              </a:solidFill>
              <a:latin typeface="Calibri"/>
              <a:ea typeface="Calibri"/>
              <a:cs typeface="Calibri"/>
              <a:sym typeface="Calibri"/>
            </a:endParaRPr>
          </a:p>
        </p:txBody>
      </p:sp>
      <p:sp>
        <p:nvSpPr>
          <p:cNvPr id="254" name="Google Shape;254;p19"/>
          <p:cNvSpPr/>
          <p:nvPr/>
        </p:nvSpPr>
        <p:spPr>
          <a:xfrm>
            <a:off x="566886" y="1234380"/>
            <a:ext cx="5956250"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6252A"/>
              </a:buClr>
              <a:buSzPts val="1600"/>
              <a:buFont typeface="Arial"/>
              <a:buNone/>
            </a:pPr>
            <a:r>
              <a:rPr b="0" i="0" lang="en-US" sz="1600">
                <a:solidFill>
                  <a:srgbClr val="26252A"/>
                </a:solidFill>
                <a:latin typeface="Arial"/>
                <a:ea typeface="Arial"/>
                <a:cs typeface="Arial"/>
                <a:sym typeface="Arial"/>
              </a:rPr>
              <a:t>After a magnetic pulse, turtles spent less time dancing in their rewarded field relative to the no-pulse condition. Sham handling did not cause the same reduction. Pulse directions parallel and antiparallel to the horizontal Earth field did not produce distinguishable responses in this preparation and were considered together.</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6252A"/>
              </a:buClr>
              <a:buSzPts val="1600"/>
              <a:buFont typeface="Arial"/>
              <a:buNone/>
            </a:pPr>
            <a:r>
              <a:rPr b="0" i="0" lang="en-US" sz="1600">
                <a:solidFill>
                  <a:srgbClr val="26252A"/>
                </a:solidFill>
                <a:latin typeface="Arial"/>
                <a:ea typeface="Arial"/>
                <a:cs typeface="Arial"/>
                <a:sym typeface="Arial"/>
              </a:rPr>
              <a:t>The result is consistent with disturbance of a particle-based map mechanism. A brief pulse could alter the arrangement or magnetic moments of magnetite-containing structures, whereas it is not expected to leave the same persistent change in a radical-pair reaction. These are mechanistic predictions used to interpret the behavioral effect.</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6252A"/>
              </a:buClr>
              <a:buSzPts val="1600"/>
              <a:buFont typeface="Arial"/>
              <a:buNone/>
            </a:pPr>
            <a:r>
              <a:rPr b="0" i="0" lang="en-US" sz="1600">
                <a:solidFill>
                  <a:srgbClr val="26252A"/>
                </a:solidFill>
                <a:latin typeface="Arial"/>
                <a:ea typeface="Arial"/>
                <a:cs typeface="Arial"/>
                <a:sym typeface="Arial"/>
              </a:rPr>
              <a:t>Pulse sensitivity supports a candidate class of mechanism, magnetite-containing structures whose magnetic moments a strong pulse could alter. The receptor cells, their connection to a sensory nerve and the ion channel through which a particle might affect membrane voltage are the elements that a complete receptor pathway would include.</a:t>
            </a:r>
            <a:endParaRPr sz="1800">
              <a:solidFill>
                <a:schemeClr val="dk1"/>
              </a:solidFill>
              <a:latin typeface="Calibri"/>
              <a:ea typeface="Calibri"/>
              <a:cs typeface="Calibri"/>
              <a:sym typeface="Calibri"/>
            </a:endParaRPr>
          </a:p>
        </p:txBody>
      </p:sp>
      <p:pic>
        <p:nvPicPr>
          <p:cNvPr id="257" name="Google Shape;257;p19"/>
          <p:cNvPicPr preferRelativeResize="0"/>
          <p:nvPr/>
        </p:nvPicPr>
        <p:blipFill rotWithShape="1">
          <a:blip r:embed="rId3">
            <a:alphaModFix/>
          </a:blip>
          <a:srcRect b="0" l="0" r="0" t="0"/>
          <a:stretch/>
        </p:blipFill>
        <p:spPr>
          <a:xfrm>
            <a:off x="7790298" y="1280071"/>
            <a:ext cx="2914126" cy="4297561"/>
          </a:xfrm>
          <a:prstGeom prst="rect">
            <a:avLst/>
          </a:prstGeom>
          <a:noFill/>
          <a:ln>
            <a:noFill/>
          </a:ln>
        </p:spPr>
      </p:pic>
      <p:sp>
        <p:nvSpPr>
          <p:cNvPr id="258" name="Google Shape;258;p19"/>
          <p:cNvSpPr/>
          <p:nvPr/>
        </p:nvSpPr>
        <p:spPr>
          <a:xfrm>
            <a:off x="6870055" y="5669161"/>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1000"/>
              <a:buFont typeface="Arial"/>
              <a:buNone/>
            </a:pPr>
            <a:r>
              <a:rPr b="0" i="0" lang="en-US" sz="1000">
                <a:solidFill>
                  <a:srgbClr val="62606A"/>
                </a:solidFill>
                <a:latin typeface="Arial"/>
                <a:ea typeface="Arial"/>
                <a:cs typeface="Arial"/>
                <a:sym typeface="Arial"/>
              </a:rPr>
              <a:t>Mackiewicz et al. (2025), Fig. 2. A magnetic pulse reduces the response to the rewarded field.</a:t>
            </a:r>
            <a:endParaRPr sz="1800">
              <a:solidFill>
                <a:schemeClr val="dk1"/>
              </a:solidFill>
              <a:latin typeface="Calibri"/>
              <a:ea typeface="Calibri"/>
              <a:cs typeface="Calibri"/>
              <a:sym typeface="Calibri"/>
            </a:endParaRPr>
          </a:p>
        </p:txBody>
      </p:sp>
      <p:sp>
        <p:nvSpPr>
          <p:cNvPr id="259" name="Google Shape;259;p19"/>
          <p:cNvSpPr/>
          <p:nvPr/>
        </p:nvSpPr>
        <p:spPr>
          <a:xfrm>
            <a:off x="566886" y="6382494"/>
            <a:ext cx="11058079" cy="9079"/>
          </a:xfrm>
          <a:prstGeom prst="rect">
            <a:avLst/>
          </a:prstGeom>
          <a:solidFill>
            <a:srgbClr val="DAD1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0" name="Google Shape;260;p19"/>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Mackiewicz et al. (2025); Goforth et al. (2025)</a:t>
            </a:r>
            <a:endParaRPr sz="1800">
              <a:solidFill>
                <a:schemeClr val="dk1"/>
              </a:solidFill>
              <a:latin typeface="Calibri"/>
              <a:ea typeface="Calibri"/>
              <a:cs typeface="Calibri"/>
              <a:sym typeface="Calibri"/>
            </a:endParaRPr>
          </a:p>
        </p:txBody>
      </p:sp>
      <p:sp>
        <p:nvSpPr>
          <p:cNvPr id="261" name="Google Shape;261;p19"/>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19</a:t>
            </a:r>
            <a:endParaRPr sz="1800">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5" name="Shape 265"/>
        <p:cNvGrpSpPr/>
        <p:nvPr/>
      </p:nvGrpSpPr>
      <p:grpSpPr>
        <a:xfrm>
          <a:off x="0" y="0"/>
          <a:ext cx="0" cy="0"/>
          <a:chOff x="0" y="0"/>
          <a:chExt cx="0" cy="0"/>
        </a:xfrm>
      </p:grpSpPr>
      <p:sp>
        <p:nvSpPr>
          <p:cNvPr id="266" name="Google Shape;266;p20"/>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8A3B32"/>
              </a:buClr>
              <a:buSzPts val="3000"/>
              <a:buFont typeface="Arial"/>
              <a:buNone/>
            </a:pPr>
            <a:r>
              <a:rPr b="1" i="0" lang="en-US" sz="3000">
                <a:solidFill>
                  <a:srgbClr val="8A3B32"/>
                </a:solidFill>
                <a:latin typeface="Arial"/>
                <a:ea typeface="Arial"/>
                <a:cs typeface="Arial"/>
                <a:sym typeface="Arial"/>
              </a:rPr>
              <a:t>Coastal disorientation can involve competing light cues</a:t>
            </a:r>
            <a:endParaRPr sz="1800">
              <a:solidFill>
                <a:schemeClr val="dk1"/>
              </a:solidFill>
              <a:latin typeface="Calibri"/>
              <a:ea typeface="Calibri"/>
              <a:cs typeface="Calibri"/>
              <a:sym typeface="Calibri"/>
            </a:endParaRPr>
          </a:p>
        </p:txBody>
      </p:sp>
      <p:sp>
        <p:nvSpPr>
          <p:cNvPr id="267" name="Google Shape;267;p20"/>
          <p:cNvSpPr/>
          <p:nvPr/>
        </p:nvSpPr>
        <p:spPr>
          <a:xfrm>
            <a:off x="566886" y="1234380"/>
            <a:ext cx="5956250"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6252A"/>
              </a:buClr>
              <a:buSzPts val="1500"/>
              <a:buFont typeface="Arial"/>
              <a:buNone/>
            </a:pPr>
            <a:r>
              <a:rPr b="0" i="0" lang="en-US" sz="1500">
                <a:solidFill>
                  <a:srgbClr val="26252A"/>
                </a:solidFill>
                <a:latin typeface="Arial"/>
                <a:ea typeface="Arial"/>
                <a:cs typeface="Arial"/>
                <a:sym typeface="Arial"/>
              </a:rPr>
              <a:t>McNally and colleagues examined loggerhead nesting records from Pinellas County, Florida. Their study mapped nesting beaches alongside developed shorelines and classified hatchling disorientation events. This field context concerns the initial movement from nest to sea rather than the controlled offshore magnetic-compass preparations.</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6252A"/>
              </a:buClr>
              <a:buSzPts val="1500"/>
              <a:buFont typeface="Arial"/>
              <a:buNone/>
            </a:pPr>
            <a:r>
              <a:rPr b="0" i="0" lang="en-US" sz="1500">
                <a:solidFill>
                  <a:srgbClr val="26252A"/>
                </a:solidFill>
                <a:latin typeface="Arial"/>
                <a:ea typeface="Arial"/>
                <a:cs typeface="Arial"/>
                <a:sym typeface="Arial"/>
              </a:rPr>
              <a:t>Across the recorded nests, disorientation occurred in 35.18%, and roughly 30.48% of hatchlings from affected nests were classified as disoriented. The authors evaluated shoreline context, nest characteristics and spatial patterns. These observational measures document a substantial problem at the transition between terrestrial emergence and marine migration.</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6252A"/>
              </a:buClr>
              <a:buSzPts val="1500"/>
              <a:buFont typeface="Arial"/>
              <a:buNone/>
            </a:pPr>
            <a:r>
              <a:rPr b="0" i="0" lang="en-US" sz="1500">
                <a:solidFill>
                  <a:srgbClr val="26252A"/>
                </a:solidFill>
                <a:latin typeface="Arial"/>
                <a:ea typeface="Arial"/>
                <a:cs typeface="Arial"/>
                <a:sym typeface="Arial"/>
              </a:rPr>
              <a:t>Artificial light on a developed beach can compete with orientation cues, and the observational records document how often hatchlings fail to reach the sea. Controlled laboratory experiments with magnetic fields address the sensory basis of a compass, and beach disorientation concerns a separate stage of the journey.</a:t>
            </a:r>
            <a:endParaRPr sz="1800">
              <a:solidFill>
                <a:schemeClr val="dk1"/>
              </a:solidFill>
              <a:latin typeface="Calibri"/>
              <a:ea typeface="Calibri"/>
              <a:cs typeface="Calibri"/>
              <a:sym typeface="Calibri"/>
            </a:endParaRPr>
          </a:p>
        </p:txBody>
      </p:sp>
      <p:pic>
        <p:nvPicPr>
          <p:cNvPr id="270" name="Google Shape;270;p20"/>
          <p:cNvPicPr preferRelativeResize="0"/>
          <p:nvPr/>
        </p:nvPicPr>
        <p:blipFill rotWithShape="1">
          <a:blip r:embed="rId3">
            <a:alphaModFix/>
          </a:blip>
          <a:srcRect b="0" l="0" r="0" t="0"/>
          <a:stretch/>
        </p:blipFill>
        <p:spPr>
          <a:xfrm>
            <a:off x="7605472" y="1280071"/>
            <a:ext cx="3283926" cy="4297561"/>
          </a:xfrm>
          <a:prstGeom prst="rect">
            <a:avLst/>
          </a:prstGeom>
          <a:noFill/>
          <a:ln>
            <a:noFill/>
          </a:ln>
        </p:spPr>
      </p:pic>
      <p:sp>
        <p:nvSpPr>
          <p:cNvPr id="271" name="Google Shape;271;p20"/>
          <p:cNvSpPr/>
          <p:nvPr/>
        </p:nvSpPr>
        <p:spPr>
          <a:xfrm>
            <a:off x="6870055" y="5669161"/>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1000"/>
              <a:buFont typeface="Arial"/>
              <a:buNone/>
            </a:pPr>
            <a:r>
              <a:rPr b="0" i="0" lang="en-US" sz="1000">
                <a:solidFill>
                  <a:srgbClr val="62606A"/>
                </a:solidFill>
                <a:latin typeface="Arial"/>
                <a:ea typeface="Arial"/>
                <a:cs typeface="Arial"/>
                <a:sym typeface="Arial"/>
              </a:rPr>
              <a:t>McNally et al. (2026), Fig. 1. Published map of nesting beaches and developed shorelines.</a:t>
            </a:r>
            <a:endParaRPr sz="1800">
              <a:solidFill>
                <a:schemeClr val="dk1"/>
              </a:solidFill>
              <a:latin typeface="Calibri"/>
              <a:ea typeface="Calibri"/>
              <a:cs typeface="Calibri"/>
              <a:sym typeface="Calibri"/>
            </a:endParaRPr>
          </a:p>
        </p:txBody>
      </p:sp>
      <p:sp>
        <p:nvSpPr>
          <p:cNvPr id="272" name="Google Shape;272;p20"/>
          <p:cNvSpPr/>
          <p:nvPr/>
        </p:nvSpPr>
        <p:spPr>
          <a:xfrm>
            <a:off x="566886" y="6382494"/>
            <a:ext cx="11058079" cy="9079"/>
          </a:xfrm>
          <a:prstGeom prst="rect">
            <a:avLst/>
          </a:prstGeom>
          <a:solidFill>
            <a:srgbClr val="DAD1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3" name="Google Shape;273;p20"/>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McNally et al. (2026)</a:t>
            </a:r>
            <a:endParaRPr sz="1800">
              <a:solidFill>
                <a:schemeClr val="dk1"/>
              </a:solidFill>
              <a:latin typeface="Calibri"/>
              <a:ea typeface="Calibri"/>
              <a:cs typeface="Calibri"/>
              <a:sym typeface="Calibri"/>
            </a:endParaRPr>
          </a:p>
        </p:txBody>
      </p:sp>
      <p:sp>
        <p:nvSpPr>
          <p:cNvPr id="274" name="Google Shape;274;p20"/>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20</a:t>
            </a:r>
            <a:endParaRPr sz="1800">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8" name="Shape 278"/>
        <p:cNvGrpSpPr/>
        <p:nvPr/>
      </p:nvGrpSpPr>
      <p:grpSpPr>
        <a:xfrm>
          <a:off x="0" y="0"/>
          <a:ext cx="0" cy="0"/>
          <a:chOff x="0" y="0"/>
          <a:chExt cx="0" cy="0"/>
        </a:xfrm>
      </p:grpSpPr>
      <p:sp>
        <p:nvSpPr>
          <p:cNvPr id="279" name="Google Shape;279;p21"/>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8A3B32"/>
              </a:buClr>
              <a:buSzPts val="3000"/>
              <a:buFont typeface="Arial"/>
              <a:buNone/>
            </a:pPr>
            <a:r>
              <a:rPr b="1" i="0" lang="en-US" sz="3000">
                <a:solidFill>
                  <a:srgbClr val="8A3B32"/>
                </a:solidFill>
                <a:latin typeface="Arial"/>
                <a:ea typeface="Arial"/>
                <a:cs typeface="Arial"/>
                <a:sym typeface="Arial"/>
              </a:rPr>
              <a:t>European robins express a magnetic migratory heading</a:t>
            </a:r>
            <a:endParaRPr sz="1800">
              <a:solidFill>
                <a:schemeClr val="dk1"/>
              </a:solidFill>
              <a:latin typeface="Calibri"/>
              <a:ea typeface="Calibri"/>
              <a:cs typeface="Calibri"/>
              <a:sym typeface="Calibri"/>
            </a:endParaRPr>
          </a:p>
        </p:txBody>
      </p:sp>
      <p:sp>
        <p:nvSpPr>
          <p:cNvPr id="280" name="Google Shape;280;p21"/>
          <p:cNvSpPr/>
          <p:nvPr/>
        </p:nvSpPr>
        <p:spPr>
          <a:xfrm>
            <a:off x="566886" y="1234380"/>
            <a:ext cx="5956250"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6252A"/>
              </a:buClr>
              <a:buSzPts val="1600"/>
              <a:buFont typeface="Arial"/>
              <a:buNone/>
            </a:pPr>
            <a:r>
              <a:rPr b="0" i="0" lang="en-US" sz="1600">
                <a:solidFill>
                  <a:srgbClr val="26252A"/>
                </a:solidFill>
                <a:latin typeface="Arial"/>
                <a:ea typeface="Arial"/>
                <a:cs typeface="Arial"/>
                <a:sym typeface="Arial"/>
              </a:rPr>
              <a:t>European robins, </a:t>
            </a:r>
            <a:r>
              <a:rPr b="0" i="1" lang="en-US" sz="1600">
                <a:solidFill>
                  <a:srgbClr val="26252A"/>
                </a:solidFill>
                <a:latin typeface="Arial"/>
                <a:ea typeface="Arial"/>
                <a:cs typeface="Arial"/>
                <a:sym typeface="Arial"/>
              </a:rPr>
              <a:t>Erithacus rubecula</a:t>
            </a:r>
            <a:r>
              <a:rPr b="0" i="0" lang="en-US" sz="1600">
                <a:solidFill>
                  <a:srgbClr val="26252A"/>
                </a:solidFill>
                <a:latin typeface="Arial"/>
                <a:ea typeface="Arial"/>
                <a:cs typeface="Arial"/>
                <a:sym typeface="Arial"/>
              </a:rPr>
              <a:t>, display </a:t>
            </a:r>
            <a:r>
              <a:rPr b="1" i="0" lang="en-US" sz="1600">
                <a:solidFill>
                  <a:srgbClr val="8A3B32"/>
                </a:solidFill>
                <a:latin typeface="Arial"/>
                <a:ea typeface="Arial"/>
                <a:cs typeface="Arial"/>
                <a:sym typeface="Arial"/>
              </a:rPr>
              <a:t>migratory restlessness</a:t>
            </a:r>
            <a:r>
              <a:rPr b="0" i="0" lang="en-US" sz="1600">
                <a:solidFill>
                  <a:srgbClr val="26252A"/>
                </a:solidFill>
                <a:latin typeface="Arial"/>
                <a:ea typeface="Arial"/>
                <a:cs typeface="Arial"/>
                <a:sym typeface="Arial"/>
              </a:rPr>
              <a:t>, directional activity expressed during the season when they would normally migrate. Wiltschko and Wiltschko used the frequency of perch activation in circular cages to measure preferred direction without requiring birds to undertake a free flight.</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6252A"/>
              </a:buClr>
              <a:buSzPts val="1600"/>
              <a:buFont typeface="Arial"/>
              <a:buNone/>
            </a:pPr>
            <a:r>
              <a:rPr b="0" i="0" lang="en-US" sz="1600">
                <a:solidFill>
                  <a:srgbClr val="26252A"/>
                </a:solidFill>
                <a:latin typeface="Arial"/>
                <a:ea typeface="Arial"/>
                <a:cs typeface="Arial"/>
                <a:sym typeface="Arial"/>
              </a:rPr>
              <a:t>In spring, robins tested in the local field preferred 29°, north-northeast. The historical study reported a field strength of 0.46 gauss and an inclination of +66°. The behavioral readout therefore related a seasonal directional tendency to a controlled geomagnetic configuration.</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6252A"/>
              </a:buClr>
              <a:buSzPts val="1600"/>
              <a:buFont typeface="Arial"/>
              <a:buNone/>
            </a:pPr>
            <a:r>
              <a:rPr b="0" i="0" lang="en-US" sz="1600">
                <a:solidFill>
                  <a:srgbClr val="26252A"/>
                </a:solidFill>
                <a:latin typeface="Arial"/>
                <a:ea typeface="Arial"/>
                <a:cs typeface="Arial"/>
                <a:sym typeface="Arial"/>
              </a:rPr>
              <a:t>The experiment concerns a compass because it measures direction rather than a location-dependent correction toward a distant target. Perch activation provides a simple orientation measure that is recorded without a free flight.</a:t>
            </a:r>
            <a:endParaRPr sz="1800">
              <a:solidFill>
                <a:schemeClr val="dk1"/>
              </a:solidFill>
              <a:latin typeface="Calibri"/>
              <a:ea typeface="Calibri"/>
              <a:cs typeface="Calibri"/>
              <a:sym typeface="Calibri"/>
            </a:endParaRPr>
          </a:p>
        </p:txBody>
      </p:sp>
      <p:pic>
        <p:nvPicPr>
          <p:cNvPr id="283" name="Google Shape;283;p21"/>
          <p:cNvPicPr preferRelativeResize="0"/>
          <p:nvPr/>
        </p:nvPicPr>
        <p:blipFill rotWithShape="1">
          <a:blip r:embed="rId3">
            <a:alphaModFix/>
          </a:blip>
          <a:srcRect b="0" l="0" r="0" t="0"/>
          <a:stretch/>
        </p:blipFill>
        <p:spPr>
          <a:xfrm>
            <a:off x="7276432" y="1280071"/>
            <a:ext cx="3942007" cy="4297561"/>
          </a:xfrm>
          <a:prstGeom prst="rect">
            <a:avLst/>
          </a:prstGeom>
          <a:noFill/>
          <a:ln>
            <a:noFill/>
          </a:ln>
        </p:spPr>
      </p:pic>
      <p:sp>
        <p:nvSpPr>
          <p:cNvPr id="284" name="Google Shape;284;p21"/>
          <p:cNvSpPr/>
          <p:nvPr/>
        </p:nvSpPr>
        <p:spPr>
          <a:xfrm>
            <a:off x="6870055" y="5669161"/>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1000"/>
              <a:buFont typeface="Arial"/>
              <a:buNone/>
            </a:pPr>
            <a:r>
              <a:rPr b="0" i="0" lang="en-US" sz="1000">
                <a:solidFill>
                  <a:srgbClr val="62606A"/>
                </a:solidFill>
                <a:latin typeface="Arial"/>
                <a:ea typeface="Arial"/>
                <a:cs typeface="Arial"/>
                <a:sym typeface="Arial"/>
              </a:rPr>
              <a:t>Wiltschko &amp; Wiltschko (1972), Fig. 1(a). European robin orientation in the local magnetic field.</a:t>
            </a:r>
            <a:endParaRPr sz="1800">
              <a:solidFill>
                <a:schemeClr val="dk1"/>
              </a:solidFill>
              <a:latin typeface="Calibri"/>
              <a:ea typeface="Calibri"/>
              <a:cs typeface="Calibri"/>
              <a:sym typeface="Calibri"/>
            </a:endParaRPr>
          </a:p>
        </p:txBody>
      </p:sp>
      <p:sp>
        <p:nvSpPr>
          <p:cNvPr id="285" name="Google Shape;285;p21"/>
          <p:cNvSpPr/>
          <p:nvPr/>
        </p:nvSpPr>
        <p:spPr>
          <a:xfrm>
            <a:off x="566886" y="6382494"/>
            <a:ext cx="11058079" cy="9079"/>
          </a:xfrm>
          <a:prstGeom prst="rect">
            <a:avLst/>
          </a:prstGeom>
          <a:solidFill>
            <a:srgbClr val="DAD1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6" name="Google Shape;286;p21"/>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Wiltschko &amp; Wiltschko (1972)</a:t>
            </a:r>
            <a:endParaRPr sz="1800">
              <a:solidFill>
                <a:schemeClr val="dk1"/>
              </a:solidFill>
              <a:latin typeface="Calibri"/>
              <a:ea typeface="Calibri"/>
              <a:cs typeface="Calibri"/>
              <a:sym typeface="Calibri"/>
            </a:endParaRPr>
          </a:p>
        </p:txBody>
      </p:sp>
      <p:sp>
        <p:nvSpPr>
          <p:cNvPr id="287" name="Google Shape;287;p21"/>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21</a:t>
            </a:r>
            <a:endParaRPr sz="1800">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1" name="Shape 291"/>
        <p:cNvGrpSpPr/>
        <p:nvPr/>
      </p:nvGrpSpPr>
      <p:grpSpPr>
        <a:xfrm>
          <a:off x="0" y="0"/>
          <a:ext cx="0" cy="0"/>
          <a:chOff x="0" y="0"/>
          <a:chExt cx="0" cy="0"/>
        </a:xfrm>
      </p:grpSpPr>
      <p:sp>
        <p:nvSpPr>
          <p:cNvPr id="292" name="Google Shape;292;p22"/>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8A3B32"/>
              </a:buClr>
              <a:buSzPts val="3000"/>
              <a:buFont typeface="Arial"/>
              <a:buNone/>
            </a:pPr>
            <a:r>
              <a:rPr b="1" i="0" lang="en-US" sz="3000">
                <a:solidFill>
                  <a:srgbClr val="8A3B32"/>
                </a:solidFill>
                <a:latin typeface="Arial"/>
                <a:ea typeface="Arial"/>
                <a:cs typeface="Arial"/>
                <a:sym typeface="Arial"/>
              </a:rPr>
              <a:t>The robin compass follows inclination rather than polarity</a:t>
            </a:r>
            <a:endParaRPr sz="1800">
              <a:solidFill>
                <a:schemeClr val="dk1"/>
              </a:solidFill>
              <a:latin typeface="Calibri"/>
              <a:ea typeface="Calibri"/>
              <a:cs typeface="Calibri"/>
              <a:sym typeface="Calibri"/>
            </a:endParaRPr>
          </a:p>
        </p:txBody>
      </p:sp>
      <p:sp>
        <p:nvSpPr>
          <p:cNvPr id="293" name="Google Shape;293;p22"/>
          <p:cNvSpPr/>
          <p:nvPr/>
        </p:nvSpPr>
        <p:spPr>
          <a:xfrm>
            <a:off x="566886" y="1234380"/>
            <a:ext cx="5956250"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6252A"/>
              </a:buClr>
              <a:buSzPts val="1600"/>
              <a:buFont typeface="Arial"/>
              <a:buNone/>
            </a:pPr>
            <a:r>
              <a:rPr b="0" i="0" lang="en-US" sz="1600">
                <a:solidFill>
                  <a:srgbClr val="26252A"/>
                </a:solidFill>
                <a:latin typeface="Arial"/>
                <a:ea typeface="Arial"/>
                <a:cs typeface="Arial"/>
                <a:sym typeface="Arial"/>
              </a:rPr>
              <a:t>A </a:t>
            </a:r>
            <a:r>
              <a:rPr b="1" i="0" lang="en-US" sz="1600">
                <a:solidFill>
                  <a:srgbClr val="8A3B32"/>
                </a:solidFill>
                <a:latin typeface="Arial"/>
                <a:ea typeface="Arial"/>
                <a:cs typeface="Arial"/>
                <a:sym typeface="Arial"/>
              </a:rPr>
              <a:t>polarity compass</a:t>
            </a:r>
            <a:r>
              <a:rPr b="0" i="0" lang="en-US" sz="1600">
                <a:solidFill>
                  <a:srgbClr val="26252A"/>
                </a:solidFill>
                <a:latin typeface="Arial"/>
                <a:ea typeface="Arial"/>
                <a:cs typeface="Arial"/>
                <a:sym typeface="Arial"/>
              </a:rPr>
              <a:t> distinguishes the two directed ends of a magnetic vector. An </a:t>
            </a:r>
            <a:r>
              <a:rPr b="1" i="0" lang="en-US" sz="1600">
                <a:solidFill>
                  <a:srgbClr val="8A3B32"/>
                </a:solidFill>
                <a:latin typeface="Arial"/>
                <a:ea typeface="Arial"/>
                <a:cs typeface="Arial"/>
                <a:sym typeface="Arial"/>
              </a:rPr>
              <a:t>inclination compass</a:t>
            </a:r>
            <a:r>
              <a:rPr b="0" i="0" lang="en-US" sz="1600">
                <a:solidFill>
                  <a:srgbClr val="26252A"/>
                </a:solidFill>
                <a:latin typeface="Arial"/>
                <a:ea typeface="Arial"/>
                <a:cs typeface="Arial"/>
                <a:sym typeface="Arial"/>
              </a:rPr>
              <a:t> uses the axial slope of field lines relative to the horizontal or gravity. Wiltschko and Wiltschko reversed individual field components and then reversed both to distinguish these alternatives.</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6252A"/>
              </a:buClr>
              <a:buSzPts val="1600"/>
              <a:buFont typeface="Arial"/>
              <a:buNone/>
            </a:pPr>
            <a:r>
              <a:rPr b="0" i="0" lang="en-US" sz="1600">
                <a:solidFill>
                  <a:srgbClr val="26252A"/>
                </a:solidFill>
                <a:latin typeface="Arial"/>
                <a:ea typeface="Arial"/>
                <a:cs typeface="Arial"/>
                <a:sym typeface="Arial"/>
              </a:rPr>
              <a:t>Reversing the horizontal component changed the preferred course from 29° to 240°. Reversing both horizontal and vertical components preserved the field axis despite reversing vector polarity. Robins then retained a northerly preference, which is incompatible with treating magnetic polarity alone as the directional cue.</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6252A"/>
              </a:buClr>
              <a:buSzPts val="1600"/>
              <a:buFont typeface="Arial"/>
              <a:buNone/>
            </a:pPr>
            <a:r>
              <a:rPr b="0" i="0" lang="en-US" sz="1600">
                <a:solidFill>
                  <a:srgbClr val="26252A"/>
                </a:solidFill>
                <a:latin typeface="Arial"/>
                <a:ea typeface="Arial"/>
                <a:cs typeface="Arial"/>
                <a:sym typeface="Arial"/>
              </a:rPr>
              <a:t>The behavioral pattern supports an inclination-based compass. An inclination compass reads the axis of the field lines relative to gravity, so reversing both components preserves the information that the bird uses.</a:t>
            </a:r>
            <a:endParaRPr sz="1800">
              <a:solidFill>
                <a:schemeClr val="dk1"/>
              </a:solidFill>
              <a:latin typeface="Calibri"/>
              <a:ea typeface="Calibri"/>
              <a:cs typeface="Calibri"/>
              <a:sym typeface="Calibri"/>
            </a:endParaRPr>
          </a:p>
        </p:txBody>
      </p:sp>
      <p:pic>
        <p:nvPicPr>
          <p:cNvPr id="296" name="Google Shape;296;p22"/>
          <p:cNvPicPr preferRelativeResize="0"/>
          <p:nvPr/>
        </p:nvPicPr>
        <p:blipFill rotWithShape="1">
          <a:blip r:embed="rId3">
            <a:alphaModFix/>
          </a:blip>
          <a:srcRect b="0" l="0" r="0" t="0"/>
          <a:stretch/>
        </p:blipFill>
        <p:spPr>
          <a:xfrm>
            <a:off x="8311009" y="1280137"/>
            <a:ext cx="1872853" cy="4297429"/>
          </a:xfrm>
          <a:prstGeom prst="rect">
            <a:avLst/>
          </a:prstGeom>
          <a:noFill/>
          <a:ln>
            <a:noFill/>
          </a:ln>
        </p:spPr>
      </p:pic>
      <p:sp>
        <p:nvSpPr>
          <p:cNvPr id="297" name="Google Shape;297;p22"/>
          <p:cNvSpPr/>
          <p:nvPr/>
        </p:nvSpPr>
        <p:spPr>
          <a:xfrm>
            <a:off x="6870055" y="5669161"/>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1000"/>
              <a:buFont typeface="Arial"/>
              <a:buNone/>
            </a:pPr>
            <a:r>
              <a:rPr b="0" i="0" lang="en-US" sz="1000">
                <a:solidFill>
                  <a:srgbClr val="62606A"/>
                </a:solidFill>
                <a:latin typeface="Arial"/>
                <a:ea typeface="Arial"/>
                <a:cs typeface="Arial"/>
                <a:sym typeface="Arial"/>
              </a:rPr>
              <a:t>Wiltschko &amp; Wiltschko (1972), Fig. 1(b,d). Horizontal reversal and full polarity reversal have different effects.</a:t>
            </a:r>
            <a:endParaRPr sz="1800">
              <a:solidFill>
                <a:schemeClr val="dk1"/>
              </a:solidFill>
              <a:latin typeface="Calibri"/>
              <a:ea typeface="Calibri"/>
              <a:cs typeface="Calibri"/>
              <a:sym typeface="Calibri"/>
            </a:endParaRPr>
          </a:p>
        </p:txBody>
      </p:sp>
      <p:sp>
        <p:nvSpPr>
          <p:cNvPr id="298" name="Google Shape;298;p22"/>
          <p:cNvSpPr/>
          <p:nvPr/>
        </p:nvSpPr>
        <p:spPr>
          <a:xfrm>
            <a:off x="566886" y="6382494"/>
            <a:ext cx="11058079" cy="9079"/>
          </a:xfrm>
          <a:prstGeom prst="rect">
            <a:avLst/>
          </a:prstGeom>
          <a:solidFill>
            <a:srgbClr val="DAD1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9" name="Google Shape;299;p22"/>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Wiltschko &amp; Wiltschko (1972)</a:t>
            </a:r>
            <a:endParaRPr sz="1800">
              <a:solidFill>
                <a:schemeClr val="dk1"/>
              </a:solidFill>
              <a:latin typeface="Calibri"/>
              <a:ea typeface="Calibri"/>
              <a:cs typeface="Calibri"/>
              <a:sym typeface="Calibri"/>
            </a:endParaRPr>
          </a:p>
        </p:txBody>
      </p:sp>
      <p:sp>
        <p:nvSpPr>
          <p:cNvPr id="300" name="Google Shape;300;p22"/>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22</a:t>
            </a:r>
            <a:endParaRPr sz="1800">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4" name="Shape 304"/>
        <p:cNvGrpSpPr/>
        <p:nvPr/>
      </p:nvGrpSpPr>
      <p:grpSpPr>
        <a:xfrm>
          <a:off x="0" y="0"/>
          <a:ext cx="0" cy="0"/>
          <a:chOff x="0" y="0"/>
          <a:chExt cx="0" cy="0"/>
        </a:xfrm>
      </p:grpSpPr>
      <p:sp>
        <p:nvSpPr>
          <p:cNvPr id="305" name="Google Shape;305;p23"/>
          <p:cNvSpPr/>
          <p:nvPr/>
        </p:nvSpPr>
        <p:spPr>
          <a:xfrm>
            <a:off x="566886" y="329059"/>
            <a:ext cx="11077129" cy="82272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8A3B32"/>
              </a:buClr>
              <a:buSzPts val="3000"/>
              <a:buFont typeface="Arial"/>
              <a:buNone/>
            </a:pPr>
            <a:r>
              <a:rPr b="1" i="0" lang="en-US" sz="3000">
                <a:solidFill>
                  <a:srgbClr val="8A3B32"/>
                </a:solidFill>
                <a:latin typeface="Arial"/>
                <a:ea typeface="Arial"/>
                <a:cs typeface="Arial"/>
                <a:sym typeface="Arial"/>
              </a:rPr>
              <a:t>A horizontal field removes the robin directional preference</a:t>
            </a:r>
            <a:endParaRPr sz="1800">
              <a:solidFill>
                <a:schemeClr val="dk1"/>
              </a:solidFill>
              <a:latin typeface="Calibri"/>
              <a:ea typeface="Calibri"/>
              <a:cs typeface="Calibri"/>
              <a:sym typeface="Calibri"/>
            </a:endParaRPr>
          </a:p>
        </p:txBody>
      </p:sp>
      <p:sp>
        <p:nvSpPr>
          <p:cNvPr id="306" name="Google Shape;306;p23"/>
          <p:cNvSpPr/>
          <p:nvPr/>
        </p:nvSpPr>
        <p:spPr>
          <a:xfrm>
            <a:off x="566886" y="1234380"/>
            <a:ext cx="5956250"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6252A"/>
              </a:buClr>
              <a:buSzPts val="1600"/>
              <a:buFont typeface="Arial"/>
              <a:buNone/>
            </a:pPr>
            <a:r>
              <a:rPr b="0" i="0" lang="en-US" sz="1600">
                <a:solidFill>
                  <a:srgbClr val="26252A"/>
                </a:solidFill>
                <a:latin typeface="Arial"/>
                <a:ea typeface="Arial"/>
                <a:cs typeface="Arial"/>
                <a:sym typeface="Arial"/>
              </a:rPr>
              <a:t>The historical experiments also used a field of 0.46 gauss with zero inclination. Its horizontal direction and total strength were maintained, but the field no longer had a downward or upward slope. This manipulation tested whether horizontal magnetic polarity was enough to guide a shared migratory preference.</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6252A"/>
              </a:buClr>
              <a:buSzPts val="1600"/>
              <a:buFont typeface="Arial"/>
              <a:buNone/>
            </a:pPr>
            <a:r>
              <a:rPr b="0" i="0" lang="en-US" sz="1600">
                <a:solidFill>
                  <a:srgbClr val="26252A"/>
                </a:solidFill>
                <a:latin typeface="Arial"/>
                <a:ea typeface="Arial"/>
                <a:cs typeface="Arial"/>
                <a:sym typeface="Arial"/>
              </a:rPr>
              <a:t>Robins did not express a consistent direction under that horizontal condition. Together with the component-reversal experiments, this result supports use of inclination relative to the animal’s up–down reference. In the northern hemisphere, an inclined axis permits a distinction between poleward and equatorward directions.</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6252A"/>
              </a:buClr>
              <a:buSzPts val="1600"/>
              <a:buFont typeface="Arial"/>
              <a:buNone/>
            </a:pPr>
            <a:r>
              <a:rPr b="0" i="0" lang="en-US" sz="1600">
                <a:solidFill>
                  <a:srgbClr val="26252A"/>
                </a:solidFill>
                <a:latin typeface="Arial"/>
                <a:ea typeface="Arial"/>
                <a:cs typeface="Arial"/>
                <a:sym typeface="Arial"/>
              </a:rPr>
              <a:t>The result shows that the directional code of the compass depends on the inclined axis of the field relative to the up–down reference of the bird, and a horizontal field does not supply it.</a:t>
            </a:r>
            <a:endParaRPr sz="1800">
              <a:solidFill>
                <a:schemeClr val="dk1"/>
              </a:solidFill>
              <a:latin typeface="Calibri"/>
              <a:ea typeface="Calibri"/>
              <a:cs typeface="Calibri"/>
              <a:sym typeface="Calibri"/>
            </a:endParaRPr>
          </a:p>
        </p:txBody>
      </p:sp>
      <p:pic>
        <p:nvPicPr>
          <p:cNvPr id="309" name="Google Shape;309;p23"/>
          <p:cNvPicPr preferRelativeResize="0"/>
          <p:nvPr/>
        </p:nvPicPr>
        <p:blipFill rotWithShape="1">
          <a:blip r:embed="rId3">
            <a:alphaModFix/>
          </a:blip>
          <a:srcRect b="0" l="0" r="0" t="0"/>
          <a:stretch/>
        </p:blipFill>
        <p:spPr>
          <a:xfrm>
            <a:off x="7160049" y="1280071"/>
            <a:ext cx="4174773" cy="4297561"/>
          </a:xfrm>
          <a:prstGeom prst="rect">
            <a:avLst/>
          </a:prstGeom>
          <a:noFill/>
          <a:ln>
            <a:noFill/>
          </a:ln>
        </p:spPr>
      </p:pic>
      <p:sp>
        <p:nvSpPr>
          <p:cNvPr id="310" name="Google Shape;310;p23"/>
          <p:cNvSpPr/>
          <p:nvPr/>
        </p:nvSpPr>
        <p:spPr>
          <a:xfrm>
            <a:off x="6870055" y="5669161"/>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1000"/>
              <a:buFont typeface="Arial"/>
              <a:buNone/>
            </a:pPr>
            <a:r>
              <a:rPr b="0" i="0" lang="en-US" sz="1000">
                <a:solidFill>
                  <a:srgbClr val="62606A"/>
                </a:solidFill>
                <a:latin typeface="Arial"/>
                <a:ea typeface="Arial"/>
                <a:cs typeface="Arial"/>
                <a:sym typeface="Arial"/>
              </a:rPr>
              <a:t>Wiltschko &amp; Wiltschko (1972), Fig. 1(e). Robins lose directional preference in a horizontal field.</a:t>
            </a:r>
            <a:endParaRPr sz="1800">
              <a:solidFill>
                <a:schemeClr val="dk1"/>
              </a:solidFill>
              <a:latin typeface="Calibri"/>
              <a:ea typeface="Calibri"/>
              <a:cs typeface="Calibri"/>
              <a:sym typeface="Calibri"/>
            </a:endParaRPr>
          </a:p>
        </p:txBody>
      </p:sp>
      <p:sp>
        <p:nvSpPr>
          <p:cNvPr id="311" name="Google Shape;311;p23"/>
          <p:cNvSpPr/>
          <p:nvPr/>
        </p:nvSpPr>
        <p:spPr>
          <a:xfrm>
            <a:off x="566886" y="6382494"/>
            <a:ext cx="11058079" cy="9079"/>
          </a:xfrm>
          <a:prstGeom prst="rect">
            <a:avLst/>
          </a:prstGeom>
          <a:solidFill>
            <a:srgbClr val="DAD1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2" name="Google Shape;312;p23"/>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Wiltschko &amp; Wiltschko (1972)</a:t>
            </a:r>
            <a:endParaRPr sz="1800">
              <a:solidFill>
                <a:schemeClr val="dk1"/>
              </a:solidFill>
              <a:latin typeface="Calibri"/>
              <a:ea typeface="Calibri"/>
              <a:cs typeface="Calibri"/>
              <a:sym typeface="Calibri"/>
            </a:endParaRPr>
          </a:p>
        </p:txBody>
      </p:sp>
      <p:sp>
        <p:nvSpPr>
          <p:cNvPr id="313" name="Google Shape;313;p23"/>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23</a:t>
            </a:r>
            <a:endParaRPr sz="1800">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7" name="Shape 317"/>
        <p:cNvGrpSpPr/>
        <p:nvPr/>
      </p:nvGrpSpPr>
      <p:grpSpPr>
        <a:xfrm>
          <a:off x="0" y="0"/>
          <a:ext cx="0" cy="0"/>
          <a:chOff x="0" y="0"/>
          <a:chExt cx="0" cy="0"/>
        </a:xfrm>
      </p:grpSpPr>
      <p:sp>
        <p:nvSpPr>
          <p:cNvPr id="318" name="Google Shape;318;p24"/>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8A3B32"/>
              </a:buClr>
              <a:buSzPts val="3000"/>
              <a:buFont typeface="Arial"/>
              <a:buNone/>
            </a:pPr>
            <a:r>
              <a:rPr b="1" i="0" lang="en-US" sz="3000">
                <a:solidFill>
                  <a:srgbClr val="8A3B32"/>
                </a:solidFill>
                <a:latin typeface="Arial"/>
                <a:ea typeface="Arial"/>
                <a:cs typeface="Arial"/>
                <a:sym typeface="Arial"/>
              </a:rPr>
              <a:t>Cluster N is active during nocturnal vision</a:t>
            </a:r>
            <a:endParaRPr sz="1800">
              <a:solidFill>
                <a:schemeClr val="dk1"/>
              </a:solidFill>
              <a:latin typeface="Calibri"/>
              <a:ea typeface="Calibri"/>
              <a:cs typeface="Calibri"/>
              <a:sym typeface="Calibri"/>
            </a:endParaRPr>
          </a:p>
        </p:txBody>
      </p:sp>
      <p:sp>
        <p:nvSpPr>
          <p:cNvPr id="319" name="Google Shape;319;p24"/>
          <p:cNvSpPr/>
          <p:nvPr/>
        </p:nvSpPr>
        <p:spPr>
          <a:xfrm>
            <a:off x="566886" y="1234380"/>
            <a:ext cx="5956250"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6252A"/>
              </a:buClr>
              <a:buSzPts val="1500"/>
              <a:buFont typeface="Arial"/>
              <a:buNone/>
            </a:pPr>
            <a:r>
              <a:rPr b="0" i="0" lang="en-US" sz="1500">
                <a:solidFill>
                  <a:srgbClr val="26252A"/>
                </a:solidFill>
                <a:latin typeface="Arial"/>
                <a:ea typeface="Arial"/>
                <a:cs typeface="Arial"/>
                <a:sym typeface="Arial"/>
              </a:rPr>
              <a:t>Mouritsen and colleagues used </a:t>
            </a:r>
            <a:r>
              <a:rPr b="1" i="0" lang="en-US" sz="1500">
                <a:solidFill>
                  <a:srgbClr val="8A3B32"/>
                </a:solidFill>
                <a:latin typeface="Arial"/>
                <a:ea typeface="Arial"/>
                <a:cs typeface="Arial"/>
                <a:sym typeface="Arial"/>
              </a:rPr>
              <a:t>activity-associated gene expression</a:t>
            </a:r>
            <a:r>
              <a:rPr b="0" i="0" lang="en-US" sz="1500">
                <a:solidFill>
                  <a:srgbClr val="26252A"/>
                </a:solidFill>
                <a:latin typeface="Arial"/>
                <a:ea typeface="Arial"/>
                <a:cs typeface="Arial"/>
                <a:sym typeface="Arial"/>
              </a:rPr>
              <a:t> to identify brain regions recruited during night vision. They measured ZENK, an immediate-early transcriptional marker whose expression changes with neuronal activation. Migratory garden warblers and European robins were compared with non-migratory zebra finches and canaries.</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6252A"/>
              </a:buClr>
              <a:buSzPts val="1500"/>
              <a:buFont typeface="Arial"/>
              <a:buNone/>
            </a:pPr>
            <a:r>
              <a:rPr b="0" i="0" lang="en-US" sz="1500">
                <a:solidFill>
                  <a:srgbClr val="26252A"/>
                </a:solidFill>
                <a:latin typeface="Arial"/>
                <a:ea typeface="Arial"/>
                <a:cs typeface="Arial"/>
                <a:sym typeface="Arial"/>
              </a:rPr>
              <a:t>Birds were exposed to dim illumination approximating moonlight, 0.04 lux, or ordinary daytime room light. Brain sections revealed a dorsal forebrain region designated </a:t>
            </a:r>
            <a:r>
              <a:rPr b="1" i="0" lang="en-US" sz="1500">
                <a:solidFill>
                  <a:srgbClr val="8A3B32"/>
                </a:solidFill>
                <a:latin typeface="Arial"/>
                <a:ea typeface="Arial"/>
                <a:cs typeface="Arial"/>
                <a:sym typeface="Arial"/>
              </a:rPr>
              <a:t>Cluster N</a:t>
            </a:r>
            <a:r>
              <a:rPr b="0" i="0" lang="en-US" sz="1500">
                <a:solidFill>
                  <a:srgbClr val="26252A"/>
                </a:solidFill>
                <a:latin typeface="Arial"/>
                <a:ea typeface="Arial"/>
                <a:cs typeface="Arial"/>
                <a:sym typeface="Arial"/>
              </a:rPr>
              <a:t> with strong night-time expression in migrants. The anatomical preparation linked a defined group of forebrain regions to a controlled visual condition.</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6252A"/>
              </a:buClr>
              <a:buSzPts val="1500"/>
              <a:buFont typeface="Arial"/>
              <a:buNone/>
            </a:pPr>
            <a:r>
              <a:rPr b="0" i="0" lang="en-US" sz="1500">
                <a:solidFill>
                  <a:srgbClr val="26252A"/>
                </a:solidFill>
                <a:latin typeface="Arial"/>
                <a:ea typeface="Arial"/>
                <a:cs typeface="Arial"/>
                <a:sym typeface="Arial"/>
              </a:rPr>
              <a:t>ZENK expression is an indirect activity measure integrated over time rather than an instantaneous spike recording. Cluster N is therefore a candidate processing region for night vision in migratory songbirds, and its activity can reflect visual sensitivity, magnetic information or other orientation cues.</a:t>
            </a:r>
            <a:endParaRPr sz="1800">
              <a:solidFill>
                <a:schemeClr val="dk1"/>
              </a:solidFill>
              <a:latin typeface="Calibri"/>
              <a:ea typeface="Calibri"/>
              <a:cs typeface="Calibri"/>
              <a:sym typeface="Calibri"/>
            </a:endParaRPr>
          </a:p>
        </p:txBody>
      </p:sp>
      <p:pic>
        <p:nvPicPr>
          <p:cNvPr id="322" name="Google Shape;322;p24"/>
          <p:cNvPicPr preferRelativeResize="0"/>
          <p:nvPr/>
        </p:nvPicPr>
        <p:blipFill rotWithShape="1">
          <a:blip r:embed="rId3">
            <a:alphaModFix/>
          </a:blip>
          <a:srcRect b="0" l="0" r="0" t="0"/>
          <a:stretch/>
        </p:blipFill>
        <p:spPr>
          <a:xfrm>
            <a:off x="6870103" y="1280071"/>
            <a:ext cx="4754813" cy="3933527"/>
          </a:xfrm>
          <a:prstGeom prst="rect">
            <a:avLst/>
          </a:prstGeom>
          <a:noFill/>
          <a:ln>
            <a:noFill/>
          </a:ln>
        </p:spPr>
      </p:pic>
      <p:sp>
        <p:nvSpPr>
          <p:cNvPr id="323" name="Google Shape;323;p24"/>
          <p:cNvSpPr/>
          <p:nvPr/>
        </p:nvSpPr>
        <p:spPr>
          <a:xfrm>
            <a:off x="6870055" y="5305127"/>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1000"/>
              <a:buFont typeface="Arial"/>
              <a:buNone/>
            </a:pPr>
            <a:r>
              <a:rPr b="0" i="0" lang="en-US" sz="1000">
                <a:solidFill>
                  <a:srgbClr val="62606A"/>
                </a:solidFill>
                <a:latin typeface="Arial"/>
                <a:ea typeface="Arial"/>
                <a:cs typeface="Arial"/>
                <a:sym typeface="Arial"/>
              </a:rPr>
              <a:t>Mouritsen et al. (2005), Fig. 1(A–B). Activity-associated gene expression marks Cluster N anatomy.</a:t>
            </a:r>
            <a:endParaRPr sz="1800">
              <a:solidFill>
                <a:schemeClr val="dk1"/>
              </a:solidFill>
              <a:latin typeface="Calibri"/>
              <a:ea typeface="Calibri"/>
              <a:cs typeface="Calibri"/>
              <a:sym typeface="Calibri"/>
            </a:endParaRPr>
          </a:p>
        </p:txBody>
      </p:sp>
      <p:sp>
        <p:nvSpPr>
          <p:cNvPr id="324" name="Google Shape;324;p24"/>
          <p:cNvSpPr/>
          <p:nvPr/>
        </p:nvSpPr>
        <p:spPr>
          <a:xfrm>
            <a:off x="566886" y="6382494"/>
            <a:ext cx="11058079" cy="9079"/>
          </a:xfrm>
          <a:prstGeom prst="rect">
            <a:avLst/>
          </a:prstGeom>
          <a:solidFill>
            <a:srgbClr val="DAD1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5" name="Google Shape;325;p24"/>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Mouritsen et al. (2005)</a:t>
            </a:r>
            <a:endParaRPr sz="1800">
              <a:solidFill>
                <a:schemeClr val="dk1"/>
              </a:solidFill>
              <a:latin typeface="Calibri"/>
              <a:ea typeface="Calibri"/>
              <a:cs typeface="Calibri"/>
              <a:sym typeface="Calibri"/>
            </a:endParaRPr>
          </a:p>
        </p:txBody>
      </p:sp>
      <p:sp>
        <p:nvSpPr>
          <p:cNvPr id="326" name="Google Shape;326;p24"/>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24</a:t>
            </a:r>
            <a:endParaRPr sz="1800">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0" name="Shape 330"/>
        <p:cNvGrpSpPr/>
        <p:nvPr/>
      </p:nvGrpSpPr>
      <p:grpSpPr>
        <a:xfrm>
          <a:off x="0" y="0"/>
          <a:ext cx="0" cy="0"/>
          <a:chOff x="0" y="0"/>
          <a:chExt cx="0" cy="0"/>
        </a:xfrm>
      </p:grpSpPr>
      <p:sp>
        <p:nvSpPr>
          <p:cNvPr id="331" name="Google Shape;331;p25"/>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8A3B32"/>
              </a:buClr>
              <a:buSzPts val="3000"/>
              <a:buFont typeface="Arial"/>
              <a:buNone/>
            </a:pPr>
            <a:r>
              <a:rPr b="1" i="0" lang="en-US" sz="3000">
                <a:solidFill>
                  <a:srgbClr val="8A3B32"/>
                </a:solidFill>
                <a:latin typeface="Arial"/>
                <a:ea typeface="Arial"/>
                <a:cs typeface="Arial"/>
                <a:sym typeface="Arial"/>
              </a:rPr>
              <a:t>Nocturnal activation differs across species and conditions</a:t>
            </a:r>
            <a:endParaRPr sz="1800">
              <a:solidFill>
                <a:schemeClr val="dk1"/>
              </a:solidFill>
              <a:latin typeface="Calibri"/>
              <a:ea typeface="Calibri"/>
              <a:cs typeface="Calibri"/>
              <a:sym typeface="Calibri"/>
            </a:endParaRPr>
          </a:p>
        </p:txBody>
      </p:sp>
      <p:sp>
        <p:nvSpPr>
          <p:cNvPr id="332" name="Google Shape;332;p25"/>
          <p:cNvSpPr/>
          <p:nvPr/>
        </p:nvSpPr>
        <p:spPr>
          <a:xfrm>
            <a:off x="566886" y="1234380"/>
            <a:ext cx="5956250"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6252A"/>
              </a:buClr>
              <a:buSzPts val="1600"/>
              <a:buFont typeface="Arial"/>
              <a:buNone/>
            </a:pPr>
            <a:r>
              <a:rPr b="0" i="0" lang="en-US" sz="1600">
                <a:solidFill>
                  <a:srgbClr val="26252A"/>
                </a:solidFill>
                <a:latin typeface="Arial"/>
                <a:ea typeface="Arial"/>
                <a:cs typeface="Arial"/>
                <a:sym typeface="Arial"/>
              </a:rPr>
              <a:t>Cluster N expression was stronger during night vision in the migratory species than during daytime testing. Non-migratory zebra finches and canaries did not exhibit the same nocturnal increase. The comparison therefore connected the response to both illumination conditions and the tested species’ ecological specialization.</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6252A"/>
              </a:buClr>
              <a:buSzPts val="1600"/>
              <a:buFont typeface="Arial"/>
              <a:buNone/>
            </a:pPr>
            <a:r>
              <a:rPr b="0" i="0" lang="en-US" sz="1600">
                <a:solidFill>
                  <a:srgbClr val="26252A"/>
                </a:solidFill>
                <a:latin typeface="Arial"/>
                <a:ea typeface="Arial"/>
                <a:cs typeface="Arial"/>
                <a:sym typeface="Arial"/>
              </a:rPr>
              <a:t>The dim-light condition was 0.04 lux, whereas daytime room illumination exceeded 275 lux. Investigators also minimized recent movement before collecting brain tissue. The published expression measurements compare sensory states while reducing the possibility that flight or gross locomotor activity alone produced the regional difference.</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6252A"/>
              </a:buClr>
              <a:buSzPts val="1600"/>
              <a:buFont typeface="Arial"/>
              <a:buNone/>
            </a:pPr>
            <a:r>
              <a:rPr b="0" i="0" lang="en-US" sz="1600">
                <a:solidFill>
                  <a:srgbClr val="26252A"/>
                </a:solidFill>
                <a:latin typeface="Arial"/>
                <a:ea typeface="Arial"/>
                <a:cs typeface="Arial"/>
                <a:sym typeface="Arial"/>
              </a:rPr>
              <a:t>Cluster N expression was higher at night in migratory species than in non-migratory species, which supports specialization of this region for nocturnal sensory processing. Minimizing recent movement before tissue collection reduced the possibility that flight alone produced the difference.</a:t>
            </a:r>
            <a:endParaRPr sz="1800">
              <a:solidFill>
                <a:schemeClr val="dk1"/>
              </a:solidFill>
              <a:latin typeface="Calibri"/>
              <a:ea typeface="Calibri"/>
              <a:cs typeface="Calibri"/>
              <a:sym typeface="Calibri"/>
            </a:endParaRPr>
          </a:p>
        </p:txBody>
      </p:sp>
      <p:pic>
        <p:nvPicPr>
          <p:cNvPr id="335" name="Google Shape;335;p25"/>
          <p:cNvPicPr preferRelativeResize="0"/>
          <p:nvPr/>
        </p:nvPicPr>
        <p:blipFill rotWithShape="1">
          <a:blip r:embed="rId3">
            <a:alphaModFix/>
          </a:blip>
          <a:srcRect b="0" l="0" r="0" t="0"/>
          <a:stretch/>
        </p:blipFill>
        <p:spPr>
          <a:xfrm>
            <a:off x="7480184" y="1280071"/>
            <a:ext cx="3534652" cy="2880271"/>
          </a:xfrm>
          <a:prstGeom prst="rect">
            <a:avLst/>
          </a:prstGeom>
          <a:noFill/>
          <a:ln>
            <a:noFill/>
          </a:ln>
        </p:spPr>
      </p:pic>
      <p:sp>
        <p:nvSpPr>
          <p:cNvPr id="336" name="Google Shape;336;p25"/>
          <p:cNvSpPr/>
          <p:nvPr/>
        </p:nvSpPr>
        <p:spPr>
          <a:xfrm>
            <a:off x="6870055" y="4251871"/>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1000"/>
              <a:buFont typeface="Arial"/>
              <a:buNone/>
            </a:pPr>
            <a:r>
              <a:rPr b="0" i="0" lang="en-US" sz="1000">
                <a:solidFill>
                  <a:srgbClr val="62606A"/>
                </a:solidFill>
                <a:latin typeface="Arial"/>
                <a:ea typeface="Arial"/>
                <a:cs typeface="Arial"/>
                <a:sym typeface="Arial"/>
              </a:rPr>
              <a:t>Mouritsen et al. (2005), Fig. 1(C). Cluster N activity differs between day, night and species.</a:t>
            </a:r>
            <a:endParaRPr sz="1800">
              <a:solidFill>
                <a:schemeClr val="dk1"/>
              </a:solidFill>
              <a:latin typeface="Calibri"/>
              <a:ea typeface="Calibri"/>
              <a:cs typeface="Calibri"/>
              <a:sym typeface="Calibri"/>
            </a:endParaRPr>
          </a:p>
        </p:txBody>
      </p:sp>
      <p:pic>
        <p:nvPicPr>
          <p:cNvPr id="337" name="Google Shape;337;p25"/>
          <p:cNvPicPr preferRelativeResize="0"/>
          <p:nvPr/>
        </p:nvPicPr>
        <p:blipFill rotWithShape="1">
          <a:blip r:embed="rId4">
            <a:alphaModFix/>
          </a:blip>
          <a:srcRect b="0" l="0" r="0" t="0"/>
          <a:stretch/>
        </p:blipFill>
        <p:spPr>
          <a:xfrm>
            <a:off x="8674031" y="4709071"/>
            <a:ext cx="1146660" cy="1051471"/>
          </a:xfrm>
          <a:prstGeom prst="rect">
            <a:avLst/>
          </a:prstGeom>
          <a:noFill/>
          <a:ln>
            <a:noFill/>
          </a:ln>
        </p:spPr>
      </p:pic>
      <p:sp>
        <p:nvSpPr>
          <p:cNvPr id="338" name="Google Shape;338;p25"/>
          <p:cNvSpPr/>
          <p:nvPr/>
        </p:nvSpPr>
        <p:spPr>
          <a:xfrm>
            <a:off x="6870055" y="5833765"/>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1000"/>
              <a:buFont typeface="Arial"/>
              <a:buNone/>
            </a:pPr>
            <a:r>
              <a:rPr b="0" i="0" lang="en-US" sz="1000">
                <a:solidFill>
                  <a:srgbClr val="62606A"/>
                </a:solidFill>
                <a:latin typeface="Arial"/>
                <a:ea typeface="Arial"/>
                <a:cs typeface="Arial"/>
                <a:sym typeface="Arial"/>
              </a:rPr>
              <a:t>Mouritsen et al. (2005), Fig. 2. Dorsal brain preparation and location of Cluster N.</a:t>
            </a:r>
            <a:endParaRPr sz="1800">
              <a:solidFill>
                <a:schemeClr val="dk1"/>
              </a:solidFill>
              <a:latin typeface="Calibri"/>
              <a:ea typeface="Calibri"/>
              <a:cs typeface="Calibri"/>
              <a:sym typeface="Calibri"/>
            </a:endParaRPr>
          </a:p>
        </p:txBody>
      </p:sp>
      <p:sp>
        <p:nvSpPr>
          <p:cNvPr id="339" name="Google Shape;339;p25"/>
          <p:cNvSpPr/>
          <p:nvPr/>
        </p:nvSpPr>
        <p:spPr>
          <a:xfrm>
            <a:off x="566886" y="6382494"/>
            <a:ext cx="11058079" cy="9079"/>
          </a:xfrm>
          <a:prstGeom prst="rect">
            <a:avLst/>
          </a:prstGeom>
          <a:solidFill>
            <a:srgbClr val="DAD1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0" name="Google Shape;340;p25"/>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Mouritsen et al. (2005)</a:t>
            </a:r>
            <a:endParaRPr sz="1800">
              <a:solidFill>
                <a:schemeClr val="dk1"/>
              </a:solidFill>
              <a:latin typeface="Calibri"/>
              <a:ea typeface="Calibri"/>
              <a:cs typeface="Calibri"/>
              <a:sym typeface="Calibri"/>
            </a:endParaRPr>
          </a:p>
        </p:txBody>
      </p:sp>
      <p:sp>
        <p:nvSpPr>
          <p:cNvPr id="341" name="Google Shape;341;p25"/>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25</a:t>
            </a:r>
            <a:endParaRPr sz="1800">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45" name="Shape 345"/>
        <p:cNvGrpSpPr/>
        <p:nvPr/>
      </p:nvGrpSpPr>
      <p:grpSpPr>
        <a:xfrm>
          <a:off x="0" y="0"/>
          <a:ext cx="0" cy="0"/>
          <a:chOff x="0" y="0"/>
          <a:chExt cx="0" cy="0"/>
        </a:xfrm>
      </p:grpSpPr>
      <p:sp>
        <p:nvSpPr>
          <p:cNvPr id="346" name="Google Shape;346;p26"/>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8A3B32"/>
              </a:buClr>
              <a:buSzPts val="3000"/>
              <a:buFont typeface="Arial"/>
              <a:buNone/>
            </a:pPr>
            <a:r>
              <a:rPr b="1" i="0" lang="en-US" sz="3000">
                <a:solidFill>
                  <a:srgbClr val="8A3B32"/>
                </a:solidFill>
                <a:latin typeface="Arial"/>
                <a:ea typeface="Arial"/>
                <a:cs typeface="Arial"/>
                <a:sym typeface="Arial"/>
              </a:rPr>
              <a:t>Covering the eyes suppresses Cluster N activation</a:t>
            </a:r>
            <a:endParaRPr sz="1800">
              <a:solidFill>
                <a:schemeClr val="dk1"/>
              </a:solidFill>
              <a:latin typeface="Calibri"/>
              <a:ea typeface="Calibri"/>
              <a:cs typeface="Calibri"/>
              <a:sym typeface="Calibri"/>
            </a:endParaRPr>
          </a:p>
        </p:txBody>
      </p:sp>
      <p:sp>
        <p:nvSpPr>
          <p:cNvPr id="347" name="Google Shape;347;p26"/>
          <p:cNvSpPr/>
          <p:nvPr/>
        </p:nvSpPr>
        <p:spPr>
          <a:xfrm>
            <a:off x="566886" y="1234380"/>
            <a:ext cx="5956250"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6252A"/>
              </a:buClr>
              <a:buSzPts val="1500"/>
              <a:buFont typeface="Arial"/>
              <a:buNone/>
            </a:pPr>
            <a:r>
              <a:rPr b="0" i="0" lang="en-US" sz="1500">
                <a:solidFill>
                  <a:srgbClr val="26252A"/>
                </a:solidFill>
                <a:latin typeface="Arial"/>
                <a:ea typeface="Arial"/>
                <a:cs typeface="Arial"/>
                <a:sym typeface="Arial"/>
              </a:rPr>
              <a:t>To test dependence on visual input, Mouritsen and colleagues covered both eyes of European robins with light-tight caps during nocturnal testing. This manipulation prevented light from reaching the retina while retaining the general night-time context of the experiment. Control birds experienced the same dim-light period with uncovered eyes.</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6252A"/>
              </a:buClr>
              <a:buSzPts val="1500"/>
              <a:buFont typeface="Arial"/>
              <a:buNone/>
            </a:pPr>
            <a:r>
              <a:rPr b="0" i="0" lang="en-US" sz="1500">
                <a:solidFill>
                  <a:srgbClr val="26252A"/>
                </a:solidFill>
                <a:latin typeface="Arial"/>
                <a:ea typeface="Arial"/>
                <a:cs typeface="Arial"/>
                <a:sym typeface="Arial"/>
              </a:rPr>
              <a:t>Cluster N activation fell markedly when both eyes were covered. The response therefore depends on input associated with vision rather than merely the time of night or an internal migratory state. The published histology pairs the anatomical signal with measurements of expression and observed behavior.</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6252A"/>
              </a:buClr>
              <a:buSzPts val="1500"/>
              <a:buFont typeface="Arial"/>
              <a:buNone/>
            </a:pPr>
            <a:r>
              <a:rPr b="0" i="0" lang="en-US" sz="1500">
                <a:solidFill>
                  <a:srgbClr val="26252A"/>
                </a:solidFill>
                <a:latin typeface="Arial"/>
                <a:ea typeface="Arial"/>
                <a:cs typeface="Arial"/>
                <a:sym typeface="Arial"/>
              </a:rPr>
              <a:t>Eye covering blocks ordinary vision, so the fall in Cluster N activation places the region in a visually dependent processing pathway. More selective tests can then separate magnetic information from other dim-light visual signals.</a:t>
            </a:r>
            <a:endParaRPr sz="1800">
              <a:solidFill>
                <a:schemeClr val="dk1"/>
              </a:solidFill>
              <a:latin typeface="Calibri"/>
              <a:ea typeface="Calibri"/>
              <a:cs typeface="Calibri"/>
              <a:sym typeface="Calibri"/>
            </a:endParaRPr>
          </a:p>
        </p:txBody>
      </p:sp>
      <p:pic>
        <p:nvPicPr>
          <p:cNvPr id="350" name="Google Shape;350;p26"/>
          <p:cNvPicPr preferRelativeResize="0"/>
          <p:nvPr/>
        </p:nvPicPr>
        <p:blipFill rotWithShape="1">
          <a:blip r:embed="rId3">
            <a:alphaModFix/>
          </a:blip>
          <a:srcRect b="0" l="0" r="0" t="0"/>
          <a:stretch/>
        </p:blipFill>
        <p:spPr>
          <a:xfrm>
            <a:off x="7645914" y="1280071"/>
            <a:ext cx="3202895" cy="2880271"/>
          </a:xfrm>
          <a:prstGeom prst="rect">
            <a:avLst/>
          </a:prstGeom>
          <a:noFill/>
          <a:ln>
            <a:noFill/>
          </a:ln>
        </p:spPr>
      </p:pic>
      <p:sp>
        <p:nvSpPr>
          <p:cNvPr id="351" name="Google Shape;351;p26"/>
          <p:cNvSpPr/>
          <p:nvPr/>
        </p:nvSpPr>
        <p:spPr>
          <a:xfrm>
            <a:off x="6870055" y="4251871"/>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1000"/>
              <a:buFont typeface="Arial"/>
              <a:buNone/>
            </a:pPr>
            <a:r>
              <a:rPr b="0" i="0" lang="en-US" sz="1000">
                <a:solidFill>
                  <a:srgbClr val="62606A"/>
                </a:solidFill>
                <a:latin typeface="Arial"/>
                <a:ea typeface="Arial"/>
                <a:cs typeface="Arial"/>
                <a:sym typeface="Arial"/>
              </a:rPr>
              <a:t>Mouritsen et al. (2005), Fig. 3(A–E). Eye covering suppresses night-time Cluster N activation.</a:t>
            </a:r>
            <a:endParaRPr sz="1800">
              <a:solidFill>
                <a:schemeClr val="dk1"/>
              </a:solidFill>
              <a:latin typeface="Calibri"/>
              <a:ea typeface="Calibri"/>
              <a:cs typeface="Calibri"/>
              <a:sym typeface="Calibri"/>
            </a:endParaRPr>
          </a:p>
        </p:txBody>
      </p:sp>
      <p:pic>
        <p:nvPicPr>
          <p:cNvPr id="352" name="Google Shape;352;p26"/>
          <p:cNvPicPr preferRelativeResize="0"/>
          <p:nvPr/>
        </p:nvPicPr>
        <p:blipFill rotWithShape="1">
          <a:blip r:embed="rId4">
            <a:alphaModFix/>
          </a:blip>
          <a:srcRect b="0" l="0" r="0" t="0"/>
          <a:stretch/>
        </p:blipFill>
        <p:spPr>
          <a:xfrm>
            <a:off x="8674031" y="4709071"/>
            <a:ext cx="1146660" cy="1051471"/>
          </a:xfrm>
          <a:prstGeom prst="rect">
            <a:avLst/>
          </a:prstGeom>
          <a:noFill/>
          <a:ln>
            <a:noFill/>
          </a:ln>
        </p:spPr>
      </p:pic>
      <p:sp>
        <p:nvSpPr>
          <p:cNvPr id="353" name="Google Shape;353;p26"/>
          <p:cNvSpPr/>
          <p:nvPr/>
        </p:nvSpPr>
        <p:spPr>
          <a:xfrm>
            <a:off x="6870055" y="5833765"/>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1000"/>
              <a:buFont typeface="Arial"/>
              <a:buNone/>
            </a:pPr>
            <a:r>
              <a:rPr b="0" i="0" lang="en-US" sz="1000">
                <a:solidFill>
                  <a:srgbClr val="62606A"/>
                </a:solidFill>
                <a:latin typeface="Arial"/>
                <a:ea typeface="Arial"/>
                <a:cs typeface="Arial"/>
                <a:sym typeface="Arial"/>
              </a:rPr>
              <a:t>Mouritsen et al. (2005), Fig. 2. Dorsal brain preparation and location of Cluster N.</a:t>
            </a:r>
            <a:endParaRPr sz="1800">
              <a:solidFill>
                <a:schemeClr val="dk1"/>
              </a:solidFill>
              <a:latin typeface="Calibri"/>
              <a:ea typeface="Calibri"/>
              <a:cs typeface="Calibri"/>
              <a:sym typeface="Calibri"/>
            </a:endParaRPr>
          </a:p>
        </p:txBody>
      </p:sp>
      <p:sp>
        <p:nvSpPr>
          <p:cNvPr id="354" name="Google Shape;354;p26"/>
          <p:cNvSpPr/>
          <p:nvPr/>
        </p:nvSpPr>
        <p:spPr>
          <a:xfrm>
            <a:off x="566886" y="6382494"/>
            <a:ext cx="11058079" cy="9079"/>
          </a:xfrm>
          <a:prstGeom prst="rect">
            <a:avLst/>
          </a:prstGeom>
          <a:solidFill>
            <a:srgbClr val="DAD1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5" name="Google Shape;355;p26"/>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Mouritsen et al. (2005)</a:t>
            </a:r>
            <a:endParaRPr sz="1800">
              <a:solidFill>
                <a:schemeClr val="dk1"/>
              </a:solidFill>
              <a:latin typeface="Calibri"/>
              <a:ea typeface="Calibri"/>
              <a:cs typeface="Calibri"/>
              <a:sym typeface="Calibri"/>
            </a:endParaRPr>
          </a:p>
        </p:txBody>
      </p:sp>
      <p:sp>
        <p:nvSpPr>
          <p:cNvPr id="356" name="Google Shape;356;p26"/>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26</a:t>
            </a:r>
            <a:endParaRPr sz="1800">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60" name="Shape 360"/>
        <p:cNvGrpSpPr/>
        <p:nvPr/>
      </p:nvGrpSpPr>
      <p:grpSpPr>
        <a:xfrm>
          <a:off x="0" y="0"/>
          <a:ext cx="0" cy="0"/>
          <a:chOff x="0" y="0"/>
          <a:chExt cx="0" cy="0"/>
        </a:xfrm>
      </p:grpSpPr>
      <p:sp>
        <p:nvSpPr>
          <p:cNvPr id="361" name="Google Shape;361;p27"/>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8A3B32"/>
              </a:buClr>
              <a:buSzPts val="3000"/>
              <a:buFont typeface="Arial"/>
              <a:buNone/>
            </a:pPr>
            <a:r>
              <a:rPr b="1" i="0" lang="en-US" sz="3000">
                <a:solidFill>
                  <a:srgbClr val="8A3B32"/>
                </a:solidFill>
                <a:latin typeface="Arial"/>
                <a:ea typeface="Arial"/>
                <a:cs typeface="Arial"/>
                <a:sym typeface="Arial"/>
              </a:rPr>
              <a:t>Cluster N lesions abolish magnetic compass orientation</a:t>
            </a:r>
            <a:endParaRPr sz="1800">
              <a:solidFill>
                <a:schemeClr val="dk1"/>
              </a:solidFill>
              <a:latin typeface="Calibri"/>
              <a:ea typeface="Calibri"/>
              <a:cs typeface="Calibri"/>
              <a:sym typeface="Calibri"/>
            </a:endParaRPr>
          </a:p>
        </p:txBody>
      </p:sp>
      <p:sp>
        <p:nvSpPr>
          <p:cNvPr id="362" name="Google Shape;362;p27"/>
          <p:cNvSpPr/>
          <p:nvPr/>
        </p:nvSpPr>
        <p:spPr>
          <a:xfrm>
            <a:off x="566886" y="1234380"/>
            <a:ext cx="5956250"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6252A"/>
              </a:buClr>
              <a:buSzPts val="1600"/>
              <a:buFont typeface="Arial"/>
              <a:buNone/>
            </a:pPr>
            <a:r>
              <a:rPr b="0" i="0" lang="en-US" sz="1600">
                <a:solidFill>
                  <a:srgbClr val="26252A"/>
                </a:solidFill>
                <a:latin typeface="Arial"/>
                <a:ea typeface="Arial"/>
                <a:cs typeface="Arial"/>
                <a:sym typeface="Arial"/>
              </a:rPr>
              <a:t>Zapka and colleagues tested European robin orientation before and after bilateral chemical lesions of Cluster N. </a:t>
            </a:r>
            <a:r>
              <a:rPr b="1" i="0" lang="en-US" sz="1600">
                <a:solidFill>
                  <a:srgbClr val="8A3B32"/>
                </a:solidFill>
                <a:latin typeface="Arial"/>
                <a:ea typeface="Arial"/>
                <a:cs typeface="Arial"/>
                <a:sym typeface="Arial"/>
              </a:rPr>
              <a:t>Ibotenic acid</a:t>
            </a:r>
            <a:r>
              <a:rPr b="0" i="0" lang="en-US" sz="1600">
                <a:solidFill>
                  <a:srgbClr val="26252A"/>
                </a:solidFill>
                <a:latin typeface="Arial"/>
                <a:ea typeface="Arial"/>
                <a:cs typeface="Arial"/>
                <a:sym typeface="Arial"/>
              </a:rPr>
              <a:t>, the lesion agent, was injected locally; sham-operated birds underwent the corresponding procedure without the active injection. Subsequent tests followed at least 1 week of recovery.</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6252A"/>
              </a:buClr>
              <a:buSzPts val="1600"/>
              <a:buFont typeface="Arial"/>
              <a:buNone/>
            </a:pPr>
            <a:r>
              <a:rPr b="0" i="0" lang="en-US" sz="1600">
                <a:solidFill>
                  <a:srgbClr val="26252A"/>
                </a:solidFill>
                <a:latin typeface="Arial"/>
                <a:ea typeface="Arial"/>
                <a:cs typeface="Arial"/>
                <a:sym typeface="Arial"/>
              </a:rPr>
              <a:t>Tests compared the natural magnetic field, a field with magnetic north rotated 120° anticlockwise, and an inverted vertical component. Sham-lesioned birds changed direction appropriately with the field manipulations. Cluster-N-lesioned birds failed to express coherent magnetic compass orientation across those conditions.</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6252A"/>
              </a:buClr>
              <a:buSzPts val="1600"/>
              <a:buFont typeface="Arial"/>
              <a:buNone/>
            </a:pPr>
            <a:r>
              <a:rPr b="0" i="0" lang="en-US" sz="1600">
                <a:solidFill>
                  <a:srgbClr val="26252A"/>
                </a:solidFill>
                <a:latin typeface="Arial"/>
                <a:ea typeface="Arial"/>
                <a:cs typeface="Arial"/>
                <a:sym typeface="Arial"/>
              </a:rPr>
              <a:t>The intervention establishes that the damaged region is necessary for normal magnetic compass performance in this preparation. Sham-operated birds changed direction with each field manipulation, so the loss of orientation in lesioned birds is attributable to damage to Cluster N and not to the surgery.</a:t>
            </a:r>
            <a:endParaRPr sz="1800">
              <a:solidFill>
                <a:schemeClr val="dk1"/>
              </a:solidFill>
              <a:latin typeface="Calibri"/>
              <a:ea typeface="Calibri"/>
              <a:cs typeface="Calibri"/>
              <a:sym typeface="Calibri"/>
            </a:endParaRPr>
          </a:p>
        </p:txBody>
      </p:sp>
      <p:pic>
        <p:nvPicPr>
          <p:cNvPr id="365" name="Google Shape;365;p27"/>
          <p:cNvPicPr preferRelativeResize="0"/>
          <p:nvPr/>
        </p:nvPicPr>
        <p:blipFill rotWithShape="1">
          <a:blip r:embed="rId3">
            <a:alphaModFix/>
          </a:blip>
          <a:srcRect b="0" l="0" r="0" t="0"/>
          <a:stretch/>
        </p:blipFill>
        <p:spPr>
          <a:xfrm>
            <a:off x="6870162" y="1280071"/>
            <a:ext cx="4754696" cy="1916757"/>
          </a:xfrm>
          <a:prstGeom prst="rect">
            <a:avLst/>
          </a:prstGeom>
          <a:noFill/>
          <a:ln>
            <a:noFill/>
          </a:ln>
        </p:spPr>
      </p:pic>
      <p:sp>
        <p:nvSpPr>
          <p:cNvPr id="366" name="Google Shape;366;p27"/>
          <p:cNvSpPr/>
          <p:nvPr/>
        </p:nvSpPr>
        <p:spPr>
          <a:xfrm>
            <a:off x="6870055" y="3288357"/>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1000"/>
              <a:buFont typeface="Arial"/>
              <a:buNone/>
            </a:pPr>
            <a:r>
              <a:rPr b="0" i="0" lang="en-US" sz="1000">
                <a:solidFill>
                  <a:srgbClr val="62606A"/>
                </a:solidFill>
                <a:latin typeface="Arial"/>
                <a:ea typeface="Arial"/>
                <a:cs typeface="Arial"/>
                <a:sym typeface="Arial"/>
              </a:rPr>
              <a:t>Zapka et al. (2009), Fig. 2(a–h). Cluster N lesions abolish magnetic compass orientation.</a:t>
            </a:r>
            <a:endParaRPr sz="1800">
              <a:solidFill>
                <a:schemeClr val="dk1"/>
              </a:solidFill>
              <a:latin typeface="Calibri"/>
              <a:ea typeface="Calibri"/>
              <a:cs typeface="Calibri"/>
              <a:sym typeface="Calibri"/>
            </a:endParaRPr>
          </a:p>
        </p:txBody>
      </p:sp>
      <p:pic>
        <p:nvPicPr>
          <p:cNvPr id="367" name="Google Shape;367;p27"/>
          <p:cNvPicPr preferRelativeResize="0"/>
          <p:nvPr/>
        </p:nvPicPr>
        <p:blipFill rotWithShape="1">
          <a:blip r:embed="rId4">
            <a:alphaModFix/>
          </a:blip>
          <a:srcRect b="0" l="0" r="0" t="0"/>
          <a:stretch/>
        </p:blipFill>
        <p:spPr>
          <a:xfrm>
            <a:off x="8674031" y="4709071"/>
            <a:ext cx="1146660" cy="1051471"/>
          </a:xfrm>
          <a:prstGeom prst="rect">
            <a:avLst/>
          </a:prstGeom>
          <a:noFill/>
          <a:ln>
            <a:noFill/>
          </a:ln>
        </p:spPr>
      </p:pic>
      <p:sp>
        <p:nvSpPr>
          <p:cNvPr id="368" name="Google Shape;368;p27"/>
          <p:cNvSpPr/>
          <p:nvPr/>
        </p:nvSpPr>
        <p:spPr>
          <a:xfrm>
            <a:off x="6870055" y="5833765"/>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1000"/>
              <a:buFont typeface="Arial"/>
              <a:buNone/>
            </a:pPr>
            <a:r>
              <a:rPr b="0" i="0" lang="en-US" sz="1000">
                <a:solidFill>
                  <a:srgbClr val="62606A"/>
                </a:solidFill>
                <a:latin typeface="Arial"/>
                <a:ea typeface="Arial"/>
                <a:cs typeface="Arial"/>
                <a:sym typeface="Arial"/>
              </a:rPr>
              <a:t>Mouritsen et al. (2005), Fig. 2. Dorsal brain preparation and location of Cluster N.</a:t>
            </a:r>
            <a:endParaRPr sz="1800">
              <a:solidFill>
                <a:schemeClr val="dk1"/>
              </a:solidFill>
              <a:latin typeface="Calibri"/>
              <a:ea typeface="Calibri"/>
              <a:cs typeface="Calibri"/>
              <a:sym typeface="Calibri"/>
            </a:endParaRPr>
          </a:p>
        </p:txBody>
      </p:sp>
      <p:sp>
        <p:nvSpPr>
          <p:cNvPr id="369" name="Google Shape;369;p27"/>
          <p:cNvSpPr/>
          <p:nvPr/>
        </p:nvSpPr>
        <p:spPr>
          <a:xfrm>
            <a:off x="566886" y="6382494"/>
            <a:ext cx="11058079" cy="9079"/>
          </a:xfrm>
          <a:prstGeom prst="rect">
            <a:avLst/>
          </a:prstGeom>
          <a:solidFill>
            <a:srgbClr val="DAD1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0" name="Google Shape;370;p27"/>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Zapka et al. (2009); Mouritsen et al. (2005)</a:t>
            </a:r>
            <a:endParaRPr sz="1800">
              <a:solidFill>
                <a:schemeClr val="dk1"/>
              </a:solidFill>
              <a:latin typeface="Calibri"/>
              <a:ea typeface="Calibri"/>
              <a:cs typeface="Calibri"/>
              <a:sym typeface="Calibri"/>
            </a:endParaRPr>
          </a:p>
        </p:txBody>
      </p:sp>
      <p:sp>
        <p:nvSpPr>
          <p:cNvPr id="371" name="Google Shape;371;p27"/>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27</a:t>
            </a:r>
            <a:endParaRPr sz="1800">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75" name="Shape 375"/>
        <p:cNvGrpSpPr/>
        <p:nvPr/>
      </p:nvGrpSpPr>
      <p:grpSpPr>
        <a:xfrm>
          <a:off x="0" y="0"/>
          <a:ext cx="0" cy="0"/>
          <a:chOff x="0" y="0"/>
          <a:chExt cx="0" cy="0"/>
        </a:xfrm>
      </p:grpSpPr>
      <p:sp>
        <p:nvSpPr>
          <p:cNvPr id="376" name="Google Shape;376;p28"/>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8A3B32"/>
              </a:buClr>
              <a:buSzPts val="3000"/>
              <a:buFont typeface="Arial"/>
              <a:buNone/>
            </a:pPr>
            <a:r>
              <a:rPr b="1" i="0" lang="en-US" sz="3000">
                <a:solidFill>
                  <a:srgbClr val="8A3B32"/>
                </a:solidFill>
                <a:latin typeface="Arial"/>
                <a:ea typeface="Arial"/>
                <a:cs typeface="Arial"/>
                <a:sym typeface="Arial"/>
              </a:rPr>
              <a:t>Celestial orientation survives the visual-region lesion</a:t>
            </a:r>
            <a:endParaRPr sz="1800">
              <a:solidFill>
                <a:schemeClr val="dk1"/>
              </a:solidFill>
              <a:latin typeface="Calibri"/>
              <a:ea typeface="Calibri"/>
              <a:cs typeface="Calibri"/>
              <a:sym typeface="Calibri"/>
            </a:endParaRPr>
          </a:p>
        </p:txBody>
      </p:sp>
      <p:sp>
        <p:nvSpPr>
          <p:cNvPr id="377" name="Google Shape;377;p28"/>
          <p:cNvSpPr/>
          <p:nvPr/>
        </p:nvSpPr>
        <p:spPr>
          <a:xfrm>
            <a:off x="566886" y="1234380"/>
            <a:ext cx="5956250"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6252A"/>
              </a:buClr>
              <a:buSzPts val="1500"/>
              <a:buFont typeface="Arial"/>
              <a:buNone/>
            </a:pPr>
            <a:r>
              <a:rPr b="0" i="0" lang="en-US" sz="1500">
                <a:solidFill>
                  <a:srgbClr val="26252A"/>
                </a:solidFill>
                <a:latin typeface="Arial"/>
                <a:ea typeface="Arial"/>
                <a:cs typeface="Arial"/>
                <a:sym typeface="Arial"/>
              </a:rPr>
              <a:t>Cluster-N-lesioned birds retained orientation under a stationary planetarium sky simulating local stars. Lesioned and sham-operated birds also oriented during natural sunset. These tests assessed whether the intervention had caused a general inability to move directionally or use visual orientation information.</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6252A"/>
              </a:buClr>
              <a:buSzPts val="1500"/>
              <a:buFont typeface="Arial"/>
              <a:buNone/>
            </a:pPr>
            <a:r>
              <a:rPr b="0" i="0" lang="en-US" sz="1500">
                <a:solidFill>
                  <a:srgbClr val="26252A"/>
                </a:solidFill>
                <a:latin typeface="Arial"/>
                <a:ea typeface="Arial"/>
                <a:cs typeface="Arial"/>
                <a:sym typeface="Arial"/>
              </a:rPr>
              <a:t>The preserved celestial responses contrast with loss of magnetic compass orientation. The sunset response included a tendency toward the setting sun, so the authors considered the interaction between migratory direction and phototaxis. The star test supplied an additional orientation condition under controlled celestial information.</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6252A"/>
              </a:buClr>
              <a:buSzPts val="1500"/>
              <a:buFont typeface="Arial"/>
              <a:buNone/>
            </a:pPr>
            <a:r>
              <a:rPr b="0" i="0" lang="en-US" sz="1500">
                <a:solidFill>
                  <a:srgbClr val="26252A"/>
                </a:solidFill>
                <a:latin typeface="Arial"/>
                <a:ea typeface="Arial"/>
                <a:cs typeface="Arial"/>
                <a:sym typeface="Arial"/>
              </a:rPr>
              <a:t>The controls support a relatively selective magnetic-compass deficit rather than complete blindness or loss of all orientation behavior. Birds with Cluster N lesions oriented with stars and at sunset, so the deficit is specific to the magnetic compass among the tested orientation behaviors.</a:t>
            </a:r>
            <a:endParaRPr sz="1800">
              <a:solidFill>
                <a:schemeClr val="dk1"/>
              </a:solidFill>
              <a:latin typeface="Calibri"/>
              <a:ea typeface="Calibri"/>
              <a:cs typeface="Calibri"/>
              <a:sym typeface="Calibri"/>
            </a:endParaRPr>
          </a:p>
        </p:txBody>
      </p:sp>
      <p:pic>
        <p:nvPicPr>
          <p:cNvPr id="380" name="Google Shape;380;p28"/>
          <p:cNvPicPr preferRelativeResize="0"/>
          <p:nvPr/>
        </p:nvPicPr>
        <p:blipFill rotWithShape="1">
          <a:blip r:embed="rId3">
            <a:alphaModFix/>
          </a:blip>
          <a:srcRect b="0" l="0" r="0" t="0"/>
          <a:stretch/>
        </p:blipFill>
        <p:spPr>
          <a:xfrm>
            <a:off x="6870159" y="1280071"/>
            <a:ext cx="4754702" cy="1136898"/>
          </a:xfrm>
          <a:prstGeom prst="rect">
            <a:avLst/>
          </a:prstGeom>
          <a:noFill/>
          <a:ln>
            <a:noFill/>
          </a:ln>
        </p:spPr>
      </p:pic>
      <p:sp>
        <p:nvSpPr>
          <p:cNvPr id="381" name="Google Shape;381;p28"/>
          <p:cNvSpPr/>
          <p:nvPr/>
        </p:nvSpPr>
        <p:spPr>
          <a:xfrm>
            <a:off x="6870055" y="2508498"/>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1000"/>
              <a:buFont typeface="Arial"/>
              <a:buNone/>
            </a:pPr>
            <a:r>
              <a:rPr b="0" i="0" lang="en-US" sz="1000">
                <a:solidFill>
                  <a:srgbClr val="62606A"/>
                </a:solidFill>
                <a:latin typeface="Arial"/>
                <a:ea typeface="Arial"/>
                <a:cs typeface="Arial"/>
                <a:sym typeface="Arial"/>
              </a:rPr>
              <a:t>Zapka et al. (2009), Fig. 3(a–c). Lesioned birds retain star and sun compass orientation.</a:t>
            </a:r>
            <a:endParaRPr sz="1800">
              <a:solidFill>
                <a:schemeClr val="dk1"/>
              </a:solidFill>
              <a:latin typeface="Calibri"/>
              <a:ea typeface="Calibri"/>
              <a:cs typeface="Calibri"/>
              <a:sym typeface="Calibri"/>
            </a:endParaRPr>
          </a:p>
        </p:txBody>
      </p:sp>
      <p:pic>
        <p:nvPicPr>
          <p:cNvPr id="382" name="Google Shape;382;p28"/>
          <p:cNvPicPr preferRelativeResize="0"/>
          <p:nvPr/>
        </p:nvPicPr>
        <p:blipFill rotWithShape="1">
          <a:blip r:embed="rId4">
            <a:alphaModFix/>
          </a:blip>
          <a:srcRect b="0" l="0" r="0" t="0"/>
          <a:stretch/>
        </p:blipFill>
        <p:spPr>
          <a:xfrm>
            <a:off x="8674031" y="4709071"/>
            <a:ext cx="1146660" cy="1051471"/>
          </a:xfrm>
          <a:prstGeom prst="rect">
            <a:avLst/>
          </a:prstGeom>
          <a:noFill/>
          <a:ln>
            <a:noFill/>
          </a:ln>
        </p:spPr>
      </p:pic>
      <p:sp>
        <p:nvSpPr>
          <p:cNvPr id="383" name="Google Shape;383;p28"/>
          <p:cNvSpPr/>
          <p:nvPr/>
        </p:nvSpPr>
        <p:spPr>
          <a:xfrm>
            <a:off x="6870055" y="5833765"/>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1000"/>
              <a:buFont typeface="Arial"/>
              <a:buNone/>
            </a:pPr>
            <a:r>
              <a:rPr b="0" i="0" lang="en-US" sz="1000">
                <a:solidFill>
                  <a:srgbClr val="62606A"/>
                </a:solidFill>
                <a:latin typeface="Arial"/>
                <a:ea typeface="Arial"/>
                <a:cs typeface="Arial"/>
                <a:sym typeface="Arial"/>
              </a:rPr>
              <a:t>Mouritsen et al. (2005), Fig. 2. Dorsal brain preparation and location of Cluster N.</a:t>
            </a:r>
            <a:endParaRPr sz="1800">
              <a:solidFill>
                <a:schemeClr val="dk1"/>
              </a:solidFill>
              <a:latin typeface="Calibri"/>
              <a:ea typeface="Calibri"/>
              <a:cs typeface="Calibri"/>
              <a:sym typeface="Calibri"/>
            </a:endParaRPr>
          </a:p>
        </p:txBody>
      </p:sp>
      <p:sp>
        <p:nvSpPr>
          <p:cNvPr id="384" name="Google Shape;384;p28"/>
          <p:cNvSpPr/>
          <p:nvPr/>
        </p:nvSpPr>
        <p:spPr>
          <a:xfrm>
            <a:off x="566886" y="6382494"/>
            <a:ext cx="11058079" cy="9079"/>
          </a:xfrm>
          <a:prstGeom prst="rect">
            <a:avLst/>
          </a:prstGeom>
          <a:solidFill>
            <a:srgbClr val="DAD1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5" name="Google Shape;385;p28"/>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Zapka et al. (2009); Mouritsen et al. (2005)</a:t>
            </a:r>
            <a:endParaRPr sz="1800">
              <a:solidFill>
                <a:schemeClr val="dk1"/>
              </a:solidFill>
              <a:latin typeface="Calibri"/>
              <a:ea typeface="Calibri"/>
              <a:cs typeface="Calibri"/>
              <a:sym typeface="Calibri"/>
            </a:endParaRPr>
          </a:p>
        </p:txBody>
      </p:sp>
      <p:sp>
        <p:nvSpPr>
          <p:cNvPr id="386" name="Google Shape;386;p28"/>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28</a:t>
            </a:r>
            <a:endParaRPr sz="1800">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90" name="Shape 390"/>
        <p:cNvGrpSpPr/>
        <p:nvPr/>
      </p:nvGrpSpPr>
      <p:grpSpPr>
        <a:xfrm>
          <a:off x="0" y="0"/>
          <a:ext cx="0" cy="0"/>
          <a:chOff x="0" y="0"/>
          <a:chExt cx="0" cy="0"/>
        </a:xfrm>
      </p:grpSpPr>
      <p:sp>
        <p:nvSpPr>
          <p:cNvPr id="391" name="Google Shape;391;p29"/>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8A3B32"/>
              </a:buClr>
              <a:buSzPts val="3000"/>
              <a:buFont typeface="Arial"/>
              <a:buNone/>
            </a:pPr>
            <a:r>
              <a:rPr b="1" i="0" lang="en-US" sz="3000">
                <a:solidFill>
                  <a:srgbClr val="8A3B32"/>
                </a:solidFill>
                <a:latin typeface="Arial"/>
                <a:ea typeface="Arial"/>
                <a:cs typeface="Arial"/>
                <a:sym typeface="Arial"/>
              </a:rPr>
              <a:t>Trigeminal sections spare the robin magnetic compass</a:t>
            </a:r>
            <a:endParaRPr sz="1800">
              <a:solidFill>
                <a:schemeClr val="dk1"/>
              </a:solidFill>
              <a:latin typeface="Calibri"/>
              <a:ea typeface="Calibri"/>
              <a:cs typeface="Calibri"/>
              <a:sym typeface="Calibri"/>
            </a:endParaRPr>
          </a:p>
        </p:txBody>
      </p:sp>
      <p:sp>
        <p:nvSpPr>
          <p:cNvPr id="392" name="Google Shape;392;p29"/>
          <p:cNvSpPr/>
          <p:nvPr/>
        </p:nvSpPr>
        <p:spPr>
          <a:xfrm>
            <a:off x="566886" y="1234380"/>
            <a:ext cx="5956250"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6252A"/>
              </a:buClr>
              <a:buSzPts val="1600"/>
              <a:buFont typeface="Arial"/>
              <a:buNone/>
            </a:pPr>
            <a:r>
              <a:rPr b="0" i="0" lang="en-US" sz="1600">
                <a:solidFill>
                  <a:srgbClr val="26252A"/>
                </a:solidFill>
                <a:latin typeface="Arial"/>
                <a:ea typeface="Arial"/>
                <a:cs typeface="Arial"/>
                <a:sym typeface="Arial"/>
              </a:rPr>
              <a:t>The </a:t>
            </a:r>
            <a:r>
              <a:rPr b="1" i="0" lang="en-US" sz="1600">
                <a:solidFill>
                  <a:srgbClr val="8A3B32"/>
                </a:solidFill>
                <a:latin typeface="Arial"/>
                <a:ea typeface="Arial"/>
                <a:cs typeface="Arial"/>
                <a:sym typeface="Arial"/>
              </a:rPr>
              <a:t>ophthalmic branch of the trigeminal nerve</a:t>
            </a:r>
            <a:r>
              <a:rPr b="0" i="0" lang="en-US" sz="1600">
                <a:solidFill>
                  <a:srgbClr val="26252A"/>
                </a:solidFill>
                <a:latin typeface="Arial"/>
                <a:ea typeface="Arial"/>
                <a:cs typeface="Arial"/>
                <a:sym typeface="Arial"/>
              </a:rPr>
              <a:t>, designated V1, carries sensory information from structures around the upper beak and head. Zapka and colleagues cut this branch bilaterally or performed sham surgery to test its necessity for the European robin’s magnetic compass.</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6252A"/>
              </a:buClr>
              <a:buSzPts val="1600"/>
              <a:buFont typeface="Arial"/>
              <a:buNone/>
            </a:pPr>
            <a:r>
              <a:rPr b="0" i="0" lang="en-US" sz="1600">
                <a:solidFill>
                  <a:srgbClr val="26252A"/>
                </a:solidFill>
                <a:latin typeface="Arial"/>
                <a:ea typeface="Arial"/>
                <a:cs typeface="Arial"/>
                <a:sym typeface="Arial"/>
              </a:rPr>
              <a:t>Sham-operated birds preferred approximately 10° in the natural field and 245° after magnetic north was rotated. V1-sectioned birds preferred approximately 354° and 264°, respectively. Both groups therefore changed their headings with the experimentally rotated field despite the loss of this trigeminal input in one group.</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6252A"/>
              </a:buClr>
              <a:buSzPts val="1600"/>
              <a:buFont typeface="Arial"/>
              <a:buNone/>
            </a:pPr>
            <a:r>
              <a:rPr b="0" i="0" lang="en-US" sz="1600">
                <a:solidFill>
                  <a:srgbClr val="26252A"/>
                </a:solidFill>
                <a:latin typeface="Arial"/>
                <a:ea typeface="Arial"/>
                <a:cs typeface="Arial"/>
                <a:sym typeface="Arial"/>
              </a:rPr>
              <a:t>The result means V1 is not necessary for the compass task under these conditions. Compass direction and location-related map information are different functions, and this experiment tested the compass and not a displacement correction.</a:t>
            </a:r>
            <a:endParaRPr sz="1800">
              <a:solidFill>
                <a:schemeClr val="dk1"/>
              </a:solidFill>
              <a:latin typeface="Calibri"/>
              <a:ea typeface="Calibri"/>
              <a:cs typeface="Calibri"/>
              <a:sym typeface="Calibri"/>
            </a:endParaRPr>
          </a:p>
        </p:txBody>
      </p:sp>
      <p:pic>
        <p:nvPicPr>
          <p:cNvPr id="395" name="Google Shape;395;p29"/>
          <p:cNvPicPr preferRelativeResize="0"/>
          <p:nvPr/>
        </p:nvPicPr>
        <p:blipFill rotWithShape="1">
          <a:blip r:embed="rId3">
            <a:alphaModFix/>
          </a:blip>
          <a:srcRect b="0" l="0" r="0" t="0"/>
          <a:stretch/>
        </p:blipFill>
        <p:spPr>
          <a:xfrm>
            <a:off x="6870132" y="1280071"/>
            <a:ext cx="4754757" cy="2116634"/>
          </a:xfrm>
          <a:prstGeom prst="rect">
            <a:avLst/>
          </a:prstGeom>
          <a:noFill/>
          <a:ln>
            <a:noFill/>
          </a:ln>
        </p:spPr>
      </p:pic>
      <p:sp>
        <p:nvSpPr>
          <p:cNvPr id="396" name="Google Shape;396;p29"/>
          <p:cNvSpPr/>
          <p:nvPr/>
        </p:nvSpPr>
        <p:spPr>
          <a:xfrm>
            <a:off x="6870055" y="3488234"/>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1000"/>
              <a:buFont typeface="Arial"/>
              <a:buNone/>
            </a:pPr>
            <a:r>
              <a:rPr b="0" i="0" lang="en-US" sz="1000">
                <a:solidFill>
                  <a:srgbClr val="62606A"/>
                </a:solidFill>
                <a:latin typeface="Arial"/>
                <a:ea typeface="Arial"/>
                <a:cs typeface="Arial"/>
                <a:sym typeface="Arial"/>
              </a:rPr>
              <a:t>Zapka et al. (2009), Fig. 1(a–f). Ophthalmic trigeminal sections spare the robin magnetic compass.</a:t>
            </a:r>
            <a:endParaRPr sz="1800">
              <a:solidFill>
                <a:schemeClr val="dk1"/>
              </a:solidFill>
              <a:latin typeface="Calibri"/>
              <a:ea typeface="Calibri"/>
              <a:cs typeface="Calibri"/>
              <a:sym typeface="Calibri"/>
            </a:endParaRPr>
          </a:p>
        </p:txBody>
      </p:sp>
      <p:sp>
        <p:nvSpPr>
          <p:cNvPr id="397" name="Google Shape;397;p29"/>
          <p:cNvSpPr/>
          <p:nvPr/>
        </p:nvSpPr>
        <p:spPr>
          <a:xfrm>
            <a:off x="566886" y="6382494"/>
            <a:ext cx="11058079" cy="9079"/>
          </a:xfrm>
          <a:prstGeom prst="rect">
            <a:avLst/>
          </a:prstGeom>
          <a:solidFill>
            <a:srgbClr val="DAD1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8" name="Google Shape;398;p29"/>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Zapka et al. (2009)</a:t>
            </a:r>
            <a:endParaRPr sz="1800">
              <a:solidFill>
                <a:schemeClr val="dk1"/>
              </a:solidFill>
              <a:latin typeface="Calibri"/>
              <a:ea typeface="Calibri"/>
              <a:cs typeface="Calibri"/>
              <a:sym typeface="Calibri"/>
            </a:endParaRPr>
          </a:p>
        </p:txBody>
      </p:sp>
      <p:sp>
        <p:nvSpPr>
          <p:cNvPr id="399" name="Google Shape;399;p29"/>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29</a:t>
            </a:r>
            <a:endParaRPr sz="1800">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03" name="Shape 403"/>
        <p:cNvGrpSpPr/>
        <p:nvPr/>
      </p:nvGrpSpPr>
      <p:grpSpPr>
        <a:xfrm>
          <a:off x="0" y="0"/>
          <a:ext cx="0" cy="0"/>
          <a:chOff x="0" y="0"/>
          <a:chExt cx="0" cy="0"/>
        </a:xfrm>
      </p:grpSpPr>
      <p:sp>
        <p:nvSpPr>
          <p:cNvPr id="404" name="Google Shape;404;p30"/>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8A3B32"/>
              </a:buClr>
              <a:buSzPts val="3000"/>
              <a:buFont typeface="Arial"/>
              <a:buNone/>
            </a:pPr>
            <a:r>
              <a:rPr b="1" i="0" lang="en-US" sz="3000">
                <a:solidFill>
                  <a:srgbClr val="8A3B32"/>
                </a:solidFill>
                <a:latin typeface="Arial"/>
                <a:ea typeface="Arial"/>
                <a:cs typeface="Arial"/>
                <a:sym typeface="Arial"/>
              </a:rPr>
              <a:t>Virtual displacement tests the bird magnetic map</a:t>
            </a:r>
            <a:endParaRPr sz="1800">
              <a:solidFill>
                <a:schemeClr val="dk1"/>
              </a:solidFill>
              <a:latin typeface="Calibri"/>
              <a:ea typeface="Calibri"/>
              <a:cs typeface="Calibri"/>
              <a:sym typeface="Calibri"/>
            </a:endParaRPr>
          </a:p>
        </p:txBody>
      </p:sp>
      <p:sp>
        <p:nvSpPr>
          <p:cNvPr id="405" name="Google Shape;405;p30"/>
          <p:cNvSpPr/>
          <p:nvPr/>
        </p:nvSpPr>
        <p:spPr>
          <a:xfrm>
            <a:off x="566886" y="1234380"/>
            <a:ext cx="5956250"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6252A"/>
              </a:buClr>
              <a:buSzPts val="1500"/>
              <a:buFont typeface="Arial"/>
              <a:buNone/>
            </a:pPr>
            <a:r>
              <a:rPr b="0" i="0" lang="en-US" sz="1500">
                <a:solidFill>
                  <a:srgbClr val="26252A"/>
                </a:solidFill>
                <a:latin typeface="Arial"/>
                <a:ea typeface="Arial"/>
                <a:cs typeface="Arial"/>
                <a:sym typeface="Arial"/>
              </a:rPr>
              <a:t>Pakhomov and colleagues tested Eurasian reed warblers, </a:t>
            </a:r>
            <a:r>
              <a:rPr b="0" i="1" lang="en-US" sz="1500">
                <a:solidFill>
                  <a:srgbClr val="26252A"/>
                </a:solidFill>
                <a:latin typeface="Arial"/>
                <a:ea typeface="Arial"/>
                <a:cs typeface="Arial"/>
                <a:sym typeface="Arial"/>
              </a:rPr>
              <a:t>Acrocephalus scirpaceus</a:t>
            </a:r>
            <a:r>
              <a:rPr b="0" i="0" lang="en-US" sz="1500">
                <a:solidFill>
                  <a:srgbClr val="26252A"/>
                </a:solidFill>
                <a:latin typeface="Arial"/>
                <a:ea typeface="Arial"/>
                <a:cs typeface="Arial"/>
                <a:sym typeface="Arial"/>
              </a:rPr>
              <a:t>, in spring migration. </a:t>
            </a:r>
            <a:r>
              <a:rPr b="1" i="0" lang="en-US" sz="1500">
                <a:solidFill>
                  <a:srgbClr val="8A3B32"/>
                </a:solidFill>
                <a:latin typeface="Arial"/>
                <a:ea typeface="Arial"/>
                <a:cs typeface="Arial"/>
                <a:sym typeface="Arial"/>
              </a:rPr>
              <a:t>Virtual magnetic displacement</a:t>
            </a:r>
            <a:r>
              <a:rPr b="0" i="0" lang="en-US" sz="1500">
                <a:solidFill>
                  <a:srgbClr val="26252A"/>
                </a:solidFill>
                <a:latin typeface="Arial"/>
                <a:ea typeface="Arial"/>
                <a:cs typeface="Arial"/>
                <a:sym typeface="Arial"/>
              </a:rPr>
              <a:t> changes local magnetic parameters to those of another place while leaving the animal physically at its capture site. Celestial, olfactory and landmark information therefore remains associated with the original location.</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6252A"/>
              </a:buClr>
              <a:buSzPts val="1500"/>
              <a:buFont typeface="Arial"/>
              <a:buNone/>
            </a:pPr>
            <a:r>
              <a:rPr b="0" i="0" lang="en-US" sz="1500">
                <a:solidFill>
                  <a:srgbClr val="26252A"/>
                </a:solidFill>
                <a:latin typeface="Arial"/>
                <a:ea typeface="Arial"/>
                <a:cs typeface="Arial"/>
                <a:sym typeface="Arial"/>
              </a:rPr>
              <a:t>The capture-site field had intensity 50,118 nT and inclination 70.1°. The replicated field from Zvenigorod, approximately 1,000 km east, had intensity 52,175 nT and inclination 71.2°. Declination also changed from +5.5° to +10.1°; </a:t>
            </a:r>
            <a:r>
              <a:rPr b="1" i="0" lang="en-US" sz="1500">
                <a:solidFill>
                  <a:srgbClr val="8A3B32"/>
                </a:solidFill>
                <a:latin typeface="Arial"/>
                <a:ea typeface="Arial"/>
                <a:cs typeface="Arial"/>
                <a:sym typeface="Arial"/>
              </a:rPr>
              <a:t>declination</a:t>
            </a:r>
            <a:r>
              <a:rPr b="0" i="0" lang="en-US" sz="1500">
                <a:solidFill>
                  <a:srgbClr val="26252A"/>
                </a:solidFill>
                <a:latin typeface="Arial"/>
                <a:ea typeface="Arial"/>
                <a:cs typeface="Arial"/>
                <a:sym typeface="Arial"/>
              </a:rPr>
              <a:t> is the angular difference between geographical and magnetic north.</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6252A"/>
              </a:buClr>
              <a:buSzPts val="1500"/>
              <a:buFont typeface="Arial"/>
              <a:buNone/>
            </a:pPr>
            <a:r>
              <a:rPr b="0" i="0" lang="en-US" sz="1500">
                <a:solidFill>
                  <a:srgbClr val="26252A"/>
                </a:solidFill>
                <a:latin typeface="Arial"/>
                <a:ea typeface="Arial"/>
                <a:cs typeface="Arial"/>
                <a:sym typeface="Arial"/>
              </a:rPr>
              <a:t>Intact sensory pathways permit a response to this conflicting magnetic location cue. A heading change after virtual displacement can test map-based compensation more specifically than a simple compass rotation. The birds stay at the capture site, so a heading change reflects the magnetic information alone while celestial, olfactory and landmark cues keep their original values.</a:t>
            </a:r>
            <a:endParaRPr sz="1800">
              <a:solidFill>
                <a:schemeClr val="dk1"/>
              </a:solidFill>
              <a:latin typeface="Calibri"/>
              <a:ea typeface="Calibri"/>
              <a:cs typeface="Calibri"/>
              <a:sym typeface="Calibri"/>
            </a:endParaRPr>
          </a:p>
        </p:txBody>
      </p:sp>
      <p:pic>
        <p:nvPicPr>
          <p:cNvPr id="408" name="Google Shape;408;p30"/>
          <p:cNvPicPr preferRelativeResize="0"/>
          <p:nvPr/>
        </p:nvPicPr>
        <p:blipFill rotWithShape="1">
          <a:blip r:embed="rId3">
            <a:alphaModFix/>
          </a:blip>
          <a:srcRect b="0" l="0" r="0" t="0"/>
          <a:stretch/>
        </p:blipFill>
        <p:spPr>
          <a:xfrm>
            <a:off x="6870223" y="1280071"/>
            <a:ext cx="4754574" cy="2518470"/>
          </a:xfrm>
          <a:prstGeom prst="rect">
            <a:avLst/>
          </a:prstGeom>
          <a:noFill/>
          <a:ln>
            <a:noFill/>
          </a:ln>
        </p:spPr>
      </p:pic>
      <p:sp>
        <p:nvSpPr>
          <p:cNvPr id="409" name="Google Shape;409;p30"/>
          <p:cNvSpPr/>
          <p:nvPr/>
        </p:nvSpPr>
        <p:spPr>
          <a:xfrm>
            <a:off x="6870055" y="3890070"/>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1000"/>
              <a:buFont typeface="Arial"/>
              <a:buNone/>
            </a:pPr>
            <a:r>
              <a:rPr b="0" i="0" lang="en-US" sz="1000">
                <a:solidFill>
                  <a:srgbClr val="62606A"/>
                </a:solidFill>
                <a:latin typeface="Arial"/>
                <a:ea typeface="Arial"/>
                <a:cs typeface="Arial"/>
                <a:sym typeface="Arial"/>
              </a:rPr>
              <a:t>Pakhomov et al. (2018), Fig. 1(A–D). A virtual displacement tests magnetic map compensation.</a:t>
            </a:r>
            <a:endParaRPr sz="1800">
              <a:solidFill>
                <a:schemeClr val="dk1"/>
              </a:solidFill>
              <a:latin typeface="Calibri"/>
              <a:ea typeface="Calibri"/>
              <a:cs typeface="Calibri"/>
              <a:sym typeface="Calibri"/>
            </a:endParaRPr>
          </a:p>
        </p:txBody>
      </p:sp>
      <p:pic>
        <p:nvPicPr>
          <p:cNvPr id="410" name="Google Shape;410;p30"/>
          <p:cNvPicPr preferRelativeResize="0"/>
          <p:nvPr/>
        </p:nvPicPr>
        <p:blipFill rotWithShape="1">
          <a:blip r:embed="rId4">
            <a:alphaModFix/>
          </a:blip>
          <a:srcRect b="0" l="0" r="0" t="0"/>
          <a:stretch/>
        </p:blipFill>
        <p:spPr>
          <a:xfrm>
            <a:off x="8066436" y="4709071"/>
            <a:ext cx="2361999" cy="1051471"/>
          </a:xfrm>
          <a:prstGeom prst="rect">
            <a:avLst/>
          </a:prstGeom>
          <a:noFill/>
          <a:ln>
            <a:noFill/>
          </a:ln>
        </p:spPr>
      </p:pic>
      <p:sp>
        <p:nvSpPr>
          <p:cNvPr id="411" name="Google Shape;411;p30"/>
          <p:cNvSpPr/>
          <p:nvPr/>
        </p:nvSpPr>
        <p:spPr>
          <a:xfrm>
            <a:off x="6870055" y="5833765"/>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1000"/>
              <a:buFont typeface="Arial"/>
              <a:buNone/>
            </a:pPr>
            <a:r>
              <a:rPr b="0" i="0" lang="en-US" sz="1000">
                <a:solidFill>
                  <a:srgbClr val="62606A"/>
                </a:solidFill>
                <a:latin typeface="Arial"/>
                <a:ea typeface="Arial"/>
                <a:cs typeface="Arial"/>
                <a:sym typeface="Arial"/>
              </a:rPr>
              <a:t>Zapka et al. (2009), Fig. 1(a–f). Published V1 section diagram and robin compass controls.</a:t>
            </a:r>
            <a:endParaRPr sz="1800">
              <a:solidFill>
                <a:schemeClr val="dk1"/>
              </a:solidFill>
              <a:latin typeface="Calibri"/>
              <a:ea typeface="Calibri"/>
              <a:cs typeface="Calibri"/>
              <a:sym typeface="Calibri"/>
            </a:endParaRPr>
          </a:p>
        </p:txBody>
      </p:sp>
      <p:sp>
        <p:nvSpPr>
          <p:cNvPr id="412" name="Google Shape;412;p30"/>
          <p:cNvSpPr/>
          <p:nvPr/>
        </p:nvSpPr>
        <p:spPr>
          <a:xfrm>
            <a:off x="566886" y="6382494"/>
            <a:ext cx="11058079" cy="9079"/>
          </a:xfrm>
          <a:prstGeom prst="rect">
            <a:avLst/>
          </a:prstGeom>
          <a:solidFill>
            <a:srgbClr val="DAD1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3" name="Google Shape;413;p30"/>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Pakhomov et al. (2018); Zapka et al. (2009)</a:t>
            </a:r>
            <a:endParaRPr sz="1800">
              <a:solidFill>
                <a:schemeClr val="dk1"/>
              </a:solidFill>
              <a:latin typeface="Calibri"/>
              <a:ea typeface="Calibri"/>
              <a:cs typeface="Calibri"/>
              <a:sym typeface="Calibri"/>
            </a:endParaRPr>
          </a:p>
        </p:txBody>
      </p:sp>
      <p:sp>
        <p:nvSpPr>
          <p:cNvPr id="414" name="Google Shape;414;p30"/>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30</a:t>
            </a:r>
            <a:endParaRPr sz="1800">
              <a:solidFill>
                <a:schemeClr val="dk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18" name="Shape 418"/>
        <p:cNvGrpSpPr/>
        <p:nvPr/>
      </p:nvGrpSpPr>
      <p:grpSpPr>
        <a:xfrm>
          <a:off x="0" y="0"/>
          <a:ext cx="0" cy="0"/>
          <a:chOff x="0" y="0"/>
          <a:chExt cx="0" cy="0"/>
        </a:xfrm>
      </p:grpSpPr>
      <p:sp>
        <p:nvSpPr>
          <p:cNvPr id="419" name="Google Shape;419;p31"/>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8A3B32"/>
              </a:buClr>
              <a:buSzPts val="3000"/>
              <a:buFont typeface="Arial"/>
              <a:buNone/>
            </a:pPr>
            <a:r>
              <a:rPr b="1" i="0" lang="en-US" sz="3000">
                <a:solidFill>
                  <a:srgbClr val="8A3B32"/>
                </a:solidFill>
                <a:latin typeface="Arial"/>
                <a:ea typeface="Arial"/>
                <a:cs typeface="Arial"/>
                <a:sym typeface="Arial"/>
              </a:rPr>
              <a:t>Trigeminal input is necessary for map compensation</a:t>
            </a:r>
            <a:endParaRPr sz="1800">
              <a:solidFill>
                <a:schemeClr val="dk1"/>
              </a:solidFill>
              <a:latin typeface="Calibri"/>
              <a:ea typeface="Calibri"/>
              <a:cs typeface="Calibri"/>
              <a:sym typeface="Calibri"/>
            </a:endParaRPr>
          </a:p>
        </p:txBody>
      </p:sp>
      <p:sp>
        <p:nvSpPr>
          <p:cNvPr id="420" name="Google Shape;420;p31"/>
          <p:cNvSpPr/>
          <p:nvPr/>
        </p:nvSpPr>
        <p:spPr>
          <a:xfrm>
            <a:off x="566886" y="1234380"/>
            <a:ext cx="5956250"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6252A"/>
              </a:buClr>
              <a:buSzPts val="1600"/>
              <a:buFont typeface="Arial"/>
              <a:buNone/>
            </a:pPr>
            <a:r>
              <a:rPr b="0" i="0" lang="en-US" sz="1600">
                <a:solidFill>
                  <a:srgbClr val="26252A"/>
                </a:solidFill>
                <a:latin typeface="Arial"/>
                <a:ea typeface="Arial"/>
                <a:cs typeface="Arial"/>
                <a:sym typeface="Arial"/>
              </a:rPr>
              <a:t>After bilateral V1 section or sham surgery, reed warblers were exposed to the virtual displacement field. Sham-operated birds changed from a northeasterly capture-site course to approximately 323°, northwest, consistent with compensating for an eastward displacement relative to their breeding destinations.</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6252A"/>
              </a:buClr>
              <a:buSzPts val="1600"/>
              <a:buFont typeface="Arial"/>
              <a:buNone/>
            </a:pPr>
            <a:r>
              <a:rPr b="0" i="0" lang="en-US" sz="1600">
                <a:solidFill>
                  <a:srgbClr val="26252A"/>
                </a:solidFill>
                <a:latin typeface="Arial"/>
                <a:ea typeface="Arial"/>
                <a:cs typeface="Arial"/>
                <a:sym typeface="Arial"/>
              </a:rPr>
              <a:t>V1-sectioned birds instead maintained a course near 34°, northeast, similar to their original direction. They remained directionally active but did not make the compensatory change. Preserved oriented behavior makes a complete failure of movement or all compass function an inadequate explanation of the result.</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6252A"/>
              </a:buClr>
              <a:buSzPts val="1600"/>
              <a:buFont typeface="Arial"/>
              <a:buNone/>
            </a:pPr>
            <a:r>
              <a:rPr b="0" i="0" lang="en-US" sz="1600">
                <a:solidFill>
                  <a:srgbClr val="26252A"/>
                </a:solidFill>
                <a:latin typeface="Arial"/>
                <a:ea typeface="Arial"/>
                <a:cs typeface="Arial"/>
                <a:sym typeface="Arial"/>
              </a:rPr>
              <a:t>The experiment establishes a requirement for trigeminal input in this magnetic map task. The complementary results come from reed warblers for the map and from robins for the compass.</a:t>
            </a:r>
            <a:endParaRPr sz="1800">
              <a:solidFill>
                <a:schemeClr val="dk1"/>
              </a:solidFill>
              <a:latin typeface="Calibri"/>
              <a:ea typeface="Calibri"/>
              <a:cs typeface="Calibri"/>
              <a:sym typeface="Calibri"/>
            </a:endParaRPr>
          </a:p>
        </p:txBody>
      </p:sp>
      <p:pic>
        <p:nvPicPr>
          <p:cNvPr id="423" name="Google Shape;423;p31"/>
          <p:cNvPicPr preferRelativeResize="0"/>
          <p:nvPr/>
        </p:nvPicPr>
        <p:blipFill rotWithShape="1">
          <a:blip r:embed="rId3">
            <a:alphaModFix/>
          </a:blip>
          <a:srcRect b="0" l="0" r="0" t="0"/>
          <a:stretch/>
        </p:blipFill>
        <p:spPr>
          <a:xfrm>
            <a:off x="6870223" y="1280071"/>
            <a:ext cx="4754574" cy="2518470"/>
          </a:xfrm>
          <a:prstGeom prst="rect">
            <a:avLst/>
          </a:prstGeom>
          <a:noFill/>
          <a:ln>
            <a:noFill/>
          </a:ln>
        </p:spPr>
      </p:pic>
      <p:sp>
        <p:nvSpPr>
          <p:cNvPr id="424" name="Google Shape;424;p31"/>
          <p:cNvSpPr/>
          <p:nvPr/>
        </p:nvSpPr>
        <p:spPr>
          <a:xfrm>
            <a:off x="6870055" y="3890070"/>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1000"/>
              <a:buFont typeface="Arial"/>
              <a:buNone/>
            </a:pPr>
            <a:r>
              <a:rPr b="0" i="0" lang="en-US" sz="1000">
                <a:solidFill>
                  <a:srgbClr val="62606A"/>
                </a:solidFill>
                <a:latin typeface="Arial"/>
                <a:ea typeface="Arial"/>
                <a:cs typeface="Arial"/>
                <a:sym typeface="Arial"/>
              </a:rPr>
              <a:t>Pakhomov et al. (2018), Fig. 1(A–D). Trigeminal sections prevent the compensatory heading change.</a:t>
            </a:r>
            <a:endParaRPr sz="1800">
              <a:solidFill>
                <a:schemeClr val="dk1"/>
              </a:solidFill>
              <a:latin typeface="Calibri"/>
              <a:ea typeface="Calibri"/>
              <a:cs typeface="Calibri"/>
              <a:sym typeface="Calibri"/>
            </a:endParaRPr>
          </a:p>
        </p:txBody>
      </p:sp>
      <p:pic>
        <p:nvPicPr>
          <p:cNvPr id="425" name="Google Shape;425;p31"/>
          <p:cNvPicPr preferRelativeResize="0"/>
          <p:nvPr/>
        </p:nvPicPr>
        <p:blipFill rotWithShape="1">
          <a:blip r:embed="rId4">
            <a:alphaModFix/>
          </a:blip>
          <a:srcRect b="0" l="0" r="0" t="0"/>
          <a:stretch/>
        </p:blipFill>
        <p:spPr>
          <a:xfrm>
            <a:off x="8066436" y="4709071"/>
            <a:ext cx="2361999" cy="1051471"/>
          </a:xfrm>
          <a:prstGeom prst="rect">
            <a:avLst/>
          </a:prstGeom>
          <a:noFill/>
          <a:ln>
            <a:noFill/>
          </a:ln>
        </p:spPr>
      </p:pic>
      <p:sp>
        <p:nvSpPr>
          <p:cNvPr id="426" name="Google Shape;426;p31"/>
          <p:cNvSpPr/>
          <p:nvPr/>
        </p:nvSpPr>
        <p:spPr>
          <a:xfrm>
            <a:off x="6870055" y="5833765"/>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1000"/>
              <a:buFont typeface="Arial"/>
              <a:buNone/>
            </a:pPr>
            <a:r>
              <a:rPr b="0" i="0" lang="en-US" sz="1000">
                <a:solidFill>
                  <a:srgbClr val="62606A"/>
                </a:solidFill>
                <a:latin typeface="Arial"/>
                <a:ea typeface="Arial"/>
                <a:cs typeface="Arial"/>
                <a:sym typeface="Arial"/>
              </a:rPr>
              <a:t>Zapka et al. (2009), Fig. 1(a–f). Published V1 section diagram and robin compass controls.</a:t>
            </a:r>
            <a:endParaRPr sz="1800">
              <a:solidFill>
                <a:schemeClr val="dk1"/>
              </a:solidFill>
              <a:latin typeface="Calibri"/>
              <a:ea typeface="Calibri"/>
              <a:cs typeface="Calibri"/>
              <a:sym typeface="Calibri"/>
            </a:endParaRPr>
          </a:p>
        </p:txBody>
      </p:sp>
      <p:sp>
        <p:nvSpPr>
          <p:cNvPr id="427" name="Google Shape;427;p31"/>
          <p:cNvSpPr/>
          <p:nvPr/>
        </p:nvSpPr>
        <p:spPr>
          <a:xfrm>
            <a:off x="566886" y="6382494"/>
            <a:ext cx="11058079" cy="9079"/>
          </a:xfrm>
          <a:prstGeom prst="rect">
            <a:avLst/>
          </a:prstGeom>
          <a:solidFill>
            <a:srgbClr val="DAD1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8" name="Google Shape;428;p31"/>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Pakhomov et al. (2018); Zapka et al. (2009)</a:t>
            </a:r>
            <a:endParaRPr sz="1800">
              <a:solidFill>
                <a:schemeClr val="dk1"/>
              </a:solidFill>
              <a:latin typeface="Calibri"/>
              <a:ea typeface="Calibri"/>
              <a:cs typeface="Calibri"/>
              <a:sym typeface="Calibri"/>
            </a:endParaRPr>
          </a:p>
        </p:txBody>
      </p:sp>
      <p:sp>
        <p:nvSpPr>
          <p:cNvPr id="429" name="Google Shape;429;p31"/>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31</a:t>
            </a:r>
            <a:endParaRPr sz="1800">
              <a:solidFill>
                <a:schemeClr val="dk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33" name="Shape 433"/>
        <p:cNvGrpSpPr/>
        <p:nvPr/>
      </p:nvGrpSpPr>
      <p:grpSpPr>
        <a:xfrm>
          <a:off x="0" y="0"/>
          <a:ext cx="0" cy="0"/>
          <a:chOff x="0" y="0"/>
          <a:chExt cx="0" cy="0"/>
        </a:xfrm>
      </p:grpSpPr>
      <p:sp>
        <p:nvSpPr>
          <p:cNvPr id="434" name="Google Shape;434;p32"/>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8A3B32"/>
              </a:buClr>
              <a:buSzPts val="3000"/>
              <a:buFont typeface="Arial"/>
              <a:buNone/>
            </a:pPr>
            <a:r>
              <a:rPr b="1" i="0" lang="en-US" sz="3000">
                <a:solidFill>
                  <a:srgbClr val="8A3B32"/>
                </a:solidFill>
                <a:latin typeface="Arial"/>
                <a:ea typeface="Arial"/>
                <a:cs typeface="Arial"/>
                <a:sym typeface="Arial"/>
              </a:rPr>
              <a:t>Electromagnetic shielding restores robin orientation</a:t>
            </a:r>
            <a:endParaRPr sz="1800">
              <a:solidFill>
                <a:schemeClr val="dk1"/>
              </a:solidFill>
              <a:latin typeface="Calibri"/>
              <a:ea typeface="Calibri"/>
              <a:cs typeface="Calibri"/>
              <a:sym typeface="Calibri"/>
            </a:endParaRPr>
          </a:p>
        </p:txBody>
      </p:sp>
      <p:sp>
        <p:nvSpPr>
          <p:cNvPr id="435" name="Google Shape;435;p32"/>
          <p:cNvSpPr/>
          <p:nvPr/>
        </p:nvSpPr>
        <p:spPr>
          <a:xfrm>
            <a:off x="566886" y="1234380"/>
            <a:ext cx="5956250"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6252A"/>
              </a:buClr>
              <a:buSzPts val="1600"/>
              <a:buFont typeface="Arial"/>
              <a:buNone/>
            </a:pPr>
            <a:r>
              <a:rPr b="0" i="0" lang="en-US" sz="1600">
                <a:solidFill>
                  <a:srgbClr val="26252A"/>
                </a:solidFill>
                <a:latin typeface="Arial"/>
                <a:ea typeface="Arial"/>
                <a:cs typeface="Arial"/>
                <a:sym typeface="Arial"/>
              </a:rPr>
              <a:t>Engels and colleagues found that European robins in wooden huts on an urban campus failed to express their expected migratory direction. They added electrically connected, grounded aluminum screening to reduce ambient electromagnetic noise while leaving the static Earth field available.</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6252A"/>
              </a:buClr>
              <a:buSzPts val="1600"/>
              <a:buFont typeface="Arial"/>
              <a:buNone/>
            </a:pPr>
            <a:r>
              <a:rPr b="0" i="0" lang="en-US" sz="1600">
                <a:solidFill>
                  <a:srgbClr val="26252A"/>
                </a:solidFill>
                <a:latin typeface="Arial"/>
                <a:ea typeface="Arial"/>
                <a:cs typeface="Arial"/>
                <a:sym typeface="Arial"/>
              </a:rPr>
              <a:t>The screening attenuated noise from about 50 kHz to at least 20 MHz by roughly two orders of magnitude. Birds then recovered seasonal magnetic orientation. Reported ambient noise had peak magnetic intensities of approximately 0.1–50 nT at individual frequencies, much smaller than the local static field of about 49,000 nT.</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6252A"/>
              </a:buClr>
              <a:buSzPts val="1600"/>
              <a:buFont typeface="Arial"/>
              <a:buNone/>
            </a:pPr>
            <a:r>
              <a:rPr b="0" i="0" lang="en-US" sz="1600">
                <a:solidFill>
                  <a:srgbClr val="26252A"/>
                </a:solidFill>
                <a:latin typeface="Arial"/>
                <a:ea typeface="Arial"/>
                <a:cs typeface="Arial"/>
                <a:sym typeface="Arial"/>
              </a:rPr>
              <a:t>The intervention linked orientation performance to the electromagnetic environment. Screening alone changes more than one potential environmental variable, so the authors followed it with grounding and deliberate-noise controls. Grounding the screens and adding deliberate noise then test whether electromagnetic noise is the variable responsible.</a:t>
            </a:r>
            <a:endParaRPr sz="1800">
              <a:solidFill>
                <a:schemeClr val="dk1"/>
              </a:solidFill>
              <a:latin typeface="Calibri"/>
              <a:ea typeface="Calibri"/>
              <a:cs typeface="Calibri"/>
              <a:sym typeface="Calibri"/>
            </a:endParaRPr>
          </a:p>
        </p:txBody>
      </p:sp>
      <p:pic>
        <p:nvPicPr>
          <p:cNvPr id="438" name="Google Shape;438;p32"/>
          <p:cNvPicPr preferRelativeResize="0"/>
          <p:nvPr/>
        </p:nvPicPr>
        <p:blipFill rotWithShape="1">
          <a:blip r:embed="rId3">
            <a:alphaModFix/>
          </a:blip>
          <a:srcRect b="0" l="0" r="0" t="0"/>
          <a:stretch/>
        </p:blipFill>
        <p:spPr>
          <a:xfrm>
            <a:off x="6914638" y="1280071"/>
            <a:ext cx="4665446" cy="4297561"/>
          </a:xfrm>
          <a:prstGeom prst="rect">
            <a:avLst/>
          </a:prstGeom>
          <a:noFill/>
          <a:ln>
            <a:noFill/>
          </a:ln>
        </p:spPr>
      </p:pic>
      <p:sp>
        <p:nvSpPr>
          <p:cNvPr id="439" name="Google Shape;439;p32"/>
          <p:cNvSpPr/>
          <p:nvPr/>
        </p:nvSpPr>
        <p:spPr>
          <a:xfrm>
            <a:off x="6870055" y="5669161"/>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1000"/>
              <a:buFont typeface="Arial"/>
              <a:buNone/>
            </a:pPr>
            <a:r>
              <a:rPr b="0" i="0" lang="en-US" sz="1000">
                <a:solidFill>
                  <a:srgbClr val="62606A"/>
                </a:solidFill>
                <a:latin typeface="Arial"/>
                <a:ea typeface="Arial"/>
                <a:cs typeface="Arial"/>
                <a:sym typeface="Arial"/>
              </a:rPr>
              <a:t>Engels et al. (2014), Fig. 1(a–d). Shielding restores robin orientation and reduces electromagnetic noise.</a:t>
            </a:r>
            <a:endParaRPr sz="1800">
              <a:solidFill>
                <a:schemeClr val="dk1"/>
              </a:solidFill>
              <a:latin typeface="Calibri"/>
              <a:ea typeface="Calibri"/>
              <a:cs typeface="Calibri"/>
              <a:sym typeface="Calibri"/>
            </a:endParaRPr>
          </a:p>
        </p:txBody>
      </p:sp>
      <p:sp>
        <p:nvSpPr>
          <p:cNvPr id="440" name="Google Shape;440;p32"/>
          <p:cNvSpPr/>
          <p:nvPr/>
        </p:nvSpPr>
        <p:spPr>
          <a:xfrm>
            <a:off x="566886" y="6382494"/>
            <a:ext cx="11058079" cy="9079"/>
          </a:xfrm>
          <a:prstGeom prst="rect">
            <a:avLst/>
          </a:prstGeom>
          <a:solidFill>
            <a:srgbClr val="DAD1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1" name="Google Shape;441;p32"/>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Engels et al. (2014)</a:t>
            </a:r>
            <a:endParaRPr sz="1800">
              <a:solidFill>
                <a:schemeClr val="dk1"/>
              </a:solidFill>
              <a:latin typeface="Calibri"/>
              <a:ea typeface="Calibri"/>
              <a:cs typeface="Calibri"/>
              <a:sym typeface="Calibri"/>
            </a:endParaRPr>
          </a:p>
        </p:txBody>
      </p:sp>
      <p:sp>
        <p:nvSpPr>
          <p:cNvPr id="442" name="Google Shape;442;p32"/>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32</a:t>
            </a:r>
            <a:endParaRPr sz="1800">
              <a:solidFill>
                <a:schemeClr val="dk1"/>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46" name="Shape 446"/>
        <p:cNvGrpSpPr/>
        <p:nvPr/>
      </p:nvGrpSpPr>
      <p:grpSpPr>
        <a:xfrm>
          <a:off x="0" y="0"/>
          <a:ext cx="0" cy="0"/>
          <a:chOff x="0" y="0"/>
          <a:chExt cx="0" cy="0"/>
        </a:xfrm>
      </p:grpSpPr>
      <p:sp>
        <p:nvSpPr>
          <p:cNvPr id="447" name="Google Shape;447;p33"/>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8A3B32"/>
              </a:buClr>
              <a:buSzPts val="3000"/>
              <a:buFont typeface="Arial"/>
              <a:buNone/>
            </a:pPr>
            <a:r>
              <a:rPr b="1" i="0" lang="en-US" sz="3000">
                <a:solidFill>
                  <a:srgbClr val="8A3B32"/>
                </a:solidFill>
                <a:latin typeface="Arial"/>
                <a:ea typeface="Arial"/>
                <a:cs typeface="Arial"/>
                <a:sym typeface="Arial"/>
              </a:rPr>
              <a:t>Grounding reversibly changes the shielding effect</a:t>
            </a:r>
            <a:endParaRPr sz="1800">
              <a:solidFill>
                <a:schemeClr val="dk1"/>
              </a:solidFill>
              <a:latin typeface="Calibri"/>
              <a:ea typeface="Calibri"/>
              <a:cs typeface="Calibri"/>
              <a:sym typeface="Calibri"/>
            </a:endParaRPr>
          </a:p>
        </p:txBody>
      </p:sp>
      <p:sp>
        <p:nvSpPr>
          <p:cNvPr id="448" name="Google Shape;448;p33"/>
          <p:cNvSpPr/>
          <p:nvPr/>
        </p:nvSpPr>
        <p:spPr>
          <a:xfrm>
            <a:off x="566886" y="1234380"/>
            <a:ext cx="5956250"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6252A"/>
              </a:buClr>
              <a:buSzPts val="1600"/>
              <a:buFont typeface="Arial"/>
              <a:buNone/>
            </a:pPr>
            <a:r>
              <a:rPr b="0" i="0" lang="en-US" sz="1600">
                <a:solidFill>
                  <a:srgbClr val="26252A"/>
                </a:solidFill>
                <a:latin typeface="Arial"/>
                <a:ea typeface="Arial"/>
                <a:cs typeface="Arial"/>
                <a:sym typeface="Arial"/>
              </a:rPr>
              <a:t>The aluminum screens lost much of their protective effect when disconnected from electrical ground. Engels and colleagues alternated tests of the same birds between grounded and ungrounded screened huts, while the experimenters evaluating orientation were unaware which hut carried which electrical condition.</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6252A"/>
              </a:buClr>
              <a:buSzPts val="1600"/>
              <a:buFont typeface="Arial"/>
              <a:buNone/>
            </a:pPr>
            <a:r>
              <a:rPr b="0" i="0" lang="en-US" sz="1600">
                <a:solidFill>
                  <a:srgbClr val="26252A"/>
                </a:solidFill>
                <a:latin typeface="Arial"/>
                <a:ea typeface="Arial"/>
                <a:cs typeface="Arial"/>
                <a:sym typeface="Arial"/>
              </a:rPr>
              <a:t>Birds oriented toward their spring migratory direction in grounded huts but lacked a consistent direction in ungrounded huts. The accompanying field measurements documented the difference in electromagnetic noise rather than treating the presence of metal screening alone as a sufficient control.</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6252A"/>
              </a:buClr>
              <a:buSzPts val="1600"/>
              <a:buFont typeface="Arial"/>
              <a:buNone/>
            </a:pPr>
            <a:r>
              <a:rPr b="0" i="0" lang="en-US" sz="1600">
                <a:solidFill>
                  <a:srgbClr val="26252A"/>
                </a:solidFill>
                <a:latin typeface="Arial"/>
                <a:ea typeface="Arial"/>
                <a:cs typeface="Arial"/>
                <a:sym typeface="Arial"/>
              </a:rPr>
              <a:t>The reversible manipulation strengthens the causal association between the screened electromagnetic environment and compass performance. Field measurements documented the difference in electromagnetic noise between grounded and ungrounded huts, which links the change in orientation to the electromagnetic environment.</a:t>
            </a:r>
            <a:endParaRPr sz="1800">
              <a:solidFill>
                <a:schemeClr val="dk1"/>
              </a:solidFill>
              <a:latin typeface="Calibri"/>
              <a:ea typeface="Calibri"/>
              <a:cs typeface="Calibri"/>
              <a:sym typeface="Calibri"/>
            </a:endParaRPr>
          </a:p>
        </p:txBody>
      </p:sp>
      <p:pic>
        <p:nvPicPr>
          <p:cNvPr id="451" name="Google Shape;451;p33"/>
          <p:cNvPicPr preferRelativeResize="0"/>
          <p:nvPr/>
        </p:nvPicPr>
        <p:blipFill rotWithShape="1">
          <a:blip r:embed="rId3">
            <a:alphaModFix/>
          </a:blip>
          <a:srcRect b="0" l="0" r="0" t="0"/>
          <a:stretch/>
        </p:blipFill>
        <p:spPr>
          <a:xfrm>
            <a:off x="6914638" y="1280071"/>
            <a:ext cx="4665446" cy="4297561"/>
          </a:xfrm>
          <a:prstGeom prst="rect">
            <a:avLst/>
          </a:prstGeom>
          <a:noFill/>
          <a:ln>
            <a:noFill/>
          </a:ln>
        </p:spPr>
      </p:pic>
      <p:sp>
        <p:nvSpPr>
          <p:cNvPr id="452" name="Google Shape;452;p33"/>
          <p:cNvSpPr/>
          <p:nvPr/>
        </p:nvSpPr>
        <p:spPr>
          <a:xfrm>
            <a:off x="6870055" y="5669161"/>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1000"/>
              <a:buFont typeface="Arial"/>
              <a:buNone/>
            </a:pPr>
            <a:r>
              <a:rPr b="0" i="0" lang="en-US" sz="1000">
                <a:solidFill>
                  <a:srgbClr val="62606A"/>
                </a:solidFill>
                <a:latin typeface="Arial"/>
                <a:ea typeface="Arial"/>
                <a:cs typeface="Arial"/>
                <a:sym typeface="Arial"/>
              </a:rPr>
              <a:t>Engels et al. (2014), Fig. 2(a–f). Grounding controls the effect of shielding on orientation.</a:t>
            </a:r>
            <a:endParaRPr sz="1800">
              <a:solidFill>
                <a:schemeClr val="dk1"/>
              </a:solidFill>
              <a:latin typeface="Calibri"/>
              <a:ea typeface="Calibri"/>
              <a:cs typeface="Calibri"/>
              <a:sym typeface="Calibri"/>
            </a:endParaRPr>
          </a:p>
        </p:txBody>
      </p:sp>
      <p:sp>
        <p:nvSpPr>
          <p:cNvPr id="453" name="Google Shape;453;p33"/>
          <p:cNvSpPr/>
          <p:nvPr/>
        </p:nvSpPr>
        <p:spPr>
          <a:xfrm>
            <a:off x="566886" y="6382494"/>
            <a:ext cx="11058079" cy="9079"/>
          </a:xfrm>
          <a:prstGeom prst="rect">
            <a:avLst/>
          </a:prstGeom>
          <a:solidFill>
            <a:srgbClr val="DAD1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4" name="Google Shape;454;p33"/>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Engels et al. (2014)</a:t>
            </a:r>
            <a:endParaRPr sz="1800">
              <a:solidFill>
                <a:schemeClr val="dk1"/>
              </a:solidFill>
              <a:latin typeface="Calibri"/>
              <a:ea typeface="Calibri"/>
              <a:cs typeface="Calibri"/>
              <a:sym typeface="Calibri"/>
            </a:endParaRPr>
          </a:p>
        </p:txBody>
      </p:sp>
      <p:sp>
        <p:nvSpPr>
          <p:cNvPr id="455" name="Google Shape;455;p33"/>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33</a:t>
            </a:r>
            <a:endParaRPr sz="1800">
              <a:solidFill>
                <a:schemeClr val="dk1"/>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59" name="Shape 459"/>
        <p:cNvGrpSpPr/>
        <p:nvPr/>
      </p:nvGrpSpPr>
      <p:grpSpPr>
        <a:xfrm>
          <a:off x="0" y="0"/>
          <a:ext cx="0" cy="0"/>
          <a:chOff x="0" y="0"/>
          <a:chExt cx="0" cy="0"/>
        </a:xfrm>
      </p:grpSpPr>
      <p:sp>
        <p:nvSpPr>
          <p:cNvPr id="460" name="Google Shape;460;p34"/>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8A3B32"/>
              </a:buClr>
              <a:buSzPts val="3000"/>
              <a:buFont typeface="Arial"/>
              <a:buNone/>
            </a:pPr>
            <a:r>
              <a:rPr b="1" i="0" lang="en-US" sz="3000">
                <a:solidFill>
                  <a:srgbClr val="8A3B32"/>
                </a:solidFill>
                <a:latin typeface="Arial"/>
                <a:ea typeface="Arial"/>
                <a:cs typeface="Arial"/>
                <a:sym typeface="Arial"/>
              </a:rPr>
              <a:t>Reintroduced noise disrupts the recovered compass</a:t>
            </a:r>
            <a:endParaRPr sz="1800">
              <a:solidFill>
                <a:schemeClr val="dk1"/>
              </a:solidFill>
              <a:latin typeface="Calibri"/>
              <a:ea typeface="Calibri"/>
              <a:cs typeface="Calibri"/>
              <a:sym typeface="Calibri"/>
            </a:endParaRPr>
          </a:p>
        </p:txBody>
      </p:sp>
      <p:sp>
        <p:nvSpPr>
          <p:cNvPr id="461" name="Google Shape;461;p34"/>
          <p:cNvSpPr/>
          <p:nvPr/>
        </p:nvSpPr>
        <p:spPr>
          <a:xfrm>
            <a:off x="566886" y="1234380"/>
            <a:ext cx="5956250"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6252A"/>
              </a:buClr>
              <a:buSzPts val="1500"/>
              <a:buFont typeface="Arial"/>
              <a:buNone/>
            </a:pPr>
            <a:r>
              <a:rPr b="0" i="0" lang="en-US" sz="1500">
                <a:solidFill>
                  <a:srgbClr val="26252A"/>
                </a:solidFill>
                <a:latin typeface="Arial"/>
                <a:ea typeface="Arial"/>
                <a:cs typeface="Arial"/>
                <a:sym typeface="Arial"/>
              </a:rPr>
              <a:t>Inside grounded screened huts, investigators deliberately introduced broadband electromagnetic noise from approximately 2 kHz to 9 MHz. Robins again became disoriented. The treatment therefore recreated the behavioral deficit in a preparation that otherwise supported normal magnetic orientation.</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6252A"/>
              </a:buClr>
              <a:buSzPts val="1500"/>
              <a:buFont typeface="Arial"/>
              <a:buNone/>
            </a:pPr>
            <a:r>
              <a:rPr b="0" i="0" lang="en-US" sz="1500">
                <a:solidFill>
                  <a:srgbClr val="26252A"/>
                </a:solidFill>
                <a:latin typeface="Arial"/>
                <a:ea typeface="Arial"/>
                <a:cs typeface="Arial"/>
                <a:sym typeface="Arial"/>
              </a:rPr>
              <a:t>With the same electronics present but generator output reduced to its minimum, birds recovered their seasonal direction and responded to a 120° anticlockwise rotation of the static field. Separate bands near 20–450 kHz and 600 kHz–3 MHz also interfered with orientation in further tests.</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6252A"/>
              </a:buClr>
              <a:buSzPts val="1500"/>
              <a:buFont typeface="Arial"/>
              <a:buNone/>
            </a:pPr>
            <a:r>
              <a:rPr b="0" i="0" lang="en-US" sz="1500">
                <a:solidFill>
                  <a:srgbClr val="26252A"/>
                </a:solidFill>
                <a:latin typeface="Arial"/>
                <a:ea typeface="Arial"/>
                <a:cs typeface="Arial"/>
                <a:sym typeface="Arial"/>
              </a:rPr>
              <a:t>The controls make the mere presence of a generator an inadequate explanation. The effects support an electromagnetic sensitivity relevant to compass processing, and independent molecular and anatomical tests evaluate the candidate radical-pair mechanism.</a:t>
            </a:r>
            <a:endParaRPr sz="1800">
              <a:solidFill>
                <a:schemeClr val="dk1"/>
              </a:solidFill>
              <a:latin typeface="Calibri"/>
              <a:ea typeface="Calibri"/>
              <a:cs typeface="Calibri"/>
              <a:sym typeface="Calibri"/>
            </a:endParaRPr>
          </a:p>
        </p:txBody>
      </p:sp>
      <p:pic>
        <p:nvPicPr>
          <p:cNvPr id="464" name="Google Shape;464;p34"/>
          <p:cNvPicPr preferRelativeResize="0"/>
          <p:nvPr/>
        </p:nvPicPr>
        <p:blipFill rotWithShape="1">
          <a:blip r:embed="rId3">
            <a:alphaModFix/>
          </a:blip>
          <a:srcRect b="0" l="0" r="0" t="0"/>
          <a:stretch/>
        </p:blipFill>
        <p:spPr>
          <a:xfrm>
            <a:off x="6896490" y="1280071"/>
            <a:ext cx="4701890" cy="4297561"/>
          </a:xfrm>
          <a:prstGeom prst="rect">
            <a:avLst/>
          </a:prstGeom>
          <a:noFill/>
          <a:ln>
            <a:noFill/>
          </a:ln>
        </p:spPr>
      </p:pic>
      <p:sp>
        <p:nvSpPr>
          <p:cNvPr id="465" name="Google Shape;465;p34"/>
          <p:cNvSpPr/>
          <p:nvPr/>
        </p:nvSpPr>
        <p:spPr>
          <a:xfrm>
            <a:off x="6870055" y="5669161"/>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1000"/>
              <a:buFont typeface="Arial"/>
              <a:buNone/>
            </a:pPr>
            <a:r>
              <a:rPr b="0" i="0" lang="en-US" sz="1000">
                <a:solidFill>
                  <a:srgbClr val="62606A"/>
                </a:solidFill>
                <a:latin typeface="Arial"/>
                <a:ea typeface="Arial"/>
                <a:cs typeface="Arial"/>
                <a:sym typeface="Arial"/>
              </a:rPr>
              <a:t>Engels et al. (2014), Fig. 3(a–e). Reintroduced broadband noise disrupts magnetic orientation.</a:t>
            </a:r>
            <a:endParaRPr sz="1800">
              <a:solidFill>
                <a:schemeClr val="dk1"/>
              </a:solidFill>
              <a:latin typeface="Calibri"/>
              <a:ea typeface="Calibri"/>
              <a:cs typeface="Calibri"/>
              <a:sym typeface="Calibri"/>
            </a:endParaRPr>
          </a:p>
        </p:txBody>
      </p:sp>
      <p:sp>
        <p:nvSpPr>
          <p:cNvPr id="466" name="Google Shape;466;p34"/>
          <p:cNvSpPr/>
          <p:nvPr/>
        </p:nvSpPr>
        <p:spPr>
          <a:xfrm>
            <a:off x="566886" y="6382494"/>
            <a:ext cx="11058079" cy="9079"/>
          </a:xfrm>
          <a:prstGeom prst="rect">
            <a:avLst/>
          </a:prstGeom>
          <a:solidFill>
            <a:srgbClr val="DAD1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7" name="Google Shape;467;p34"/>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Engels et al. (2014)</a:t>
            </a:r>
            <a:endParaRPr sz="1800">
              <a:solidFill>
                <a:schemeClr val="dk1"/>
              </a:solidFill>
              <a:latin typeface="Calibri"/>
              <a:ea typeface="Calibri"/>
              <a:cs typeface="Calibri"/>
              <a:sym typeface="Calibri"/>
            </a:endParaRPr>
          </a:p>
        </p:txBody>
      </p:sp>
      <p:sp>
        <p:nvSpPr>
          <p:cNvPr id="468" name="Google Shape;468;p34"/>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34</a:t>
            </a:r>
            <a:endParaRPr sz="1800">
              <a:solidFill>
                <a:schemeClr val="dk1"/>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72" name="Shape 472"/>
        <p:cNvGrpSpPr/>
        <p:nvPr/>
      </p:nvGrpSpPr>
      <p:grpSpPr>
        <a:xfrm>
          <a:off x="0" y="0"/>
          <a:ext cx="0" cy="0"/>
          <a:chOff x="0" y="0"/>
          <a:chExt cx="0" cy="0"/>
        </a:xfrm>
      </p:grpSpPr>
      <p:sp>
        <p:nvSpPr>
          <p:cNvPr id="473" name="Google Shape;473;p35"/>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8A3B32"/>
              </a:buClr>
              <a:buSzPts val="3000"/>
              <a:buFont typeface="Arial"/>
              <a:buNone/>
            </a:pPr>
            <a:r>
              <a:rPr b="1" i="0" lang="en-US" sz="3000">
                <a:solidFill>
                  <a:srgbClr val="8A3B32"/>
                </a:solidFill>
                <a:latin typeface="Arial"/>
                <a:ea typeface="Arial"/>
                <a:cs typeface="Arial"/>
                <a:sym typeface="Arial"/>
              </a:rPr>
              <a:t>Retinal Cry4 expression varies with migratory season</a:t>
            </a:r>
            <a:endParaRPr sz="1800">
              <a:solidFill>
                <a:schemeClr val="dk1"/>
              </a:solidFill>
              <a:latin typeface="Calibri"/>
              <a:ea typeface="Calibri"/>
              <a:cs typeface="Calibri"/>
              <a:sym typeface="Calibri"/>
            </a:endParaRPr>
          </a:p>
        </p:txBody>
      </p:sp>
      <p:sp>
        <p:nvSpPr>
          <p:cNvPr id="474" name="Google Shape;474;p35"/>
          <p:cNvSpPr/>
          <p:nvPr/>
        </p:nvSpPr>
        <p:spPr>
          <a:xfrm>
            <a:off x="566886" y="1234380"/>
            <a:ext cx="5956250"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8A3B32"/>
              </a:buClr>
              <a:buSzPts val="1500"/>
              <a:buFont typeface="Arial"/>
              <a:buNone/>
            </a:pPr>
            <a:r>
              <a:rPr b="1" i="0" lang="en-US" sz="1500">
                <a:solidFill>
                  <a:srgbClr val="8A3B32"/>
                </a:solidFill>
                <a:latin typeface="Arial"/>
                <a:ea typeface="Arial"/>
                <a:cs typeface="Arial"/>
                <a:sym typeface="Arial"/>
              </a:rPr>
              <a:t>Cryptochromes</a:t>
            </a:r>
            <a:r>
              <a:rPr b="0" i="0" lang="en-US" sz="1500">
                <a:solidFill>
                  <a:srgbClr val="26252A"/>
                </a:solidFill>
                <a:latin typeface="Arial"/>
                <a:ea typeface="Arial"/>
                <a:cs typeface="Arial"/>
                <a:sym typeface="Arial"/>
              </a:rPr>
              <a:t> are flavoproteins, proteins containing a flavin cofactor, related to photolyases, proteins involved in light-dependent DNA repair. Günther and colleagues compared retinal cryptochrome messenger RNA, the transcript used to produce protein, across migratory and non-migratory seasons in European robins and domestic chickens.</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6252A"/>
              </a:buClr>
              <a:buSzPts val="1500"/>
              <a:buFont typeface="Arial"/>
              <a:buNone/>
            </a:pPr>
            <a:r>
              <a:rPr b="0" i="0" lang="en-US" sz="1500">
                <a:solidFill>
                  <a:srgbClr val="26252A"/>
                </a:solidFill>
                <a:latin typeface="Arial"/>
                <a:ea typeface="Arial"/>
                <a:cs typeface="Arial"/>
                <a:sym typeface="Arial"/>
              </a:rPr>
              <a:t>Cry4 transcript abundance increased during spring and autumn migratory seasons in robins, whereas the same migratory-season increase was not observed in chickens. The study also measured 24-h expression profiles: Cry1 and Cry2 varied more strongly over the day than Cry4, which exhibited relatively weak circadian variation.</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6252A"/>
              </a:buClr>
              <a:buSzPts val="1500"/>
              <a:buFont typeface="Arial"/>
              <a:buNone/>
            </a:pPr>
            <a:r>
              <a:rPr b="0" i="0" lang="en-US" sz="1500">
                <a:solidFill>
                  <a:srgbClr val="26252A"/>
                </a:solidFill>
                <a:latin typeface="Arial"/>
                <a:ea typeface="Arial"/>
                <a:cs typeface="Arial"/>
                <a:sym typeface="Arial"/>
              </a:rPr>
              <a:t>The expression pattern makes Cry4 a candidate relevant to nocturnal navigation rather than solely a strongly rhythmic clock transcript. Seasonal expression of Cry4 correlates with the migratory period, which makes it a candidate for a role in nocturnal navigation.</a:t>
            </a:r>
            <a:endParaRPr sz="1800">
              <a:solidFill>
                <a:schemeClr val="dk1"/>
              </a:solidFill>
              <a:latin typeface="Calibri"/>
              <a:ea typeface="Calibri"/>
              <a:cs typeface="Calibri"/>
              <a:sym typeface="Calibri"/>
            </a:endParaRPr>
          </a:p>
        </p:txBody>
      </p:sp>
      <p:pic>
        <p:nvPicPr>
          <p:cNvPr id="477" name="Google Shape;477;p35"/>
          <p:cNvPicPr preferRelativeResize="0"/>
          <p:nvPr/>
        </p:nvPicPr>
        <p:blipFill rotWithShape="1">
          <a:blip r:embed="rId3">
            <a:alphaModFix/>
          </a:blip>
          <a:srcRect b="0" l="0" r="0" t="0"/>
          <a:stretch/>
        </p:blipFill>
        <p:spPr>
          <a:xfrm>
            <a:off x="6870162" y="1280071"/>
            <a:ext cx="4754696" cy="1903214"/>
          </a:xfrm>
          <a:prstGeom prst="rect">
            <a:avLst/>
          </a:prstGeom>
          <a:noFill/>
          <a:ln>
            <a:noFill/>
          </a:ln>
        </p:spPr>
      </p:pic>
      <p:sp>
        <p:nvSpPr>
          <p:cNvPr id="478" name="Google Shape;478;p35"/>
          <p:cNvSpPr/>
          <p:nvPr/>
        </p:nvSpPr>
        <p:spPr>
          <a:xfrm>
            <a:off x="6870055" y="3274814"/>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1000"/>
              <a:buFont typeface="Arial"/>
              <a:buNone/>
            </a:pPr>
            <a:r>
              <a:rPr b="0" i="0" lang="en-US" sz="1000">
                <a:solidFill>
                  <a:srgbClr val="62606A"/>
                </a:solidFill>
                <a:latin typeface="Arial"/>
                <a:ea typeface="Arial"/>
                <a:cs typeface="Arial"/>
                <a:sym typeface="Arial"/>
              </a:rPr>
              <a:t>Günther et al. (2018), Fig. 2. Cry4 expression differs between migratory and non-migratory seasons.</a:t>
            </a:r>
            <a:endParaRPr sz="1800">
              <a:solidFill>
                <a:schemeClr val="dk1"/>
              </a:solidFill>
              <a:latin typeface="Calibri"/>
              <a:ea typeface="Calibri"/>
              <a:cs typeface="Calibri"/>
              <a:sym typeface="Calibri"/>
            </a:endParaRPr>
          </a:p>
        </p:txBody>
      </p:sp>
      <p:pic>
        <p:nvPicPr>
          <p:cNvPr id="479" name="Google Shape;479;p35"/>
          <p:cNvPicPr preferRelativeResize="0"/>
          <p:nvPr/>
        </p:nvPicPr>
        <p:blipFill rotWithShape="1">
          <a:blip r:embed="rId4">
            <a:alphaModFix/>
          </a:blip>
          <a:srcRect b="0" l="0" r="0" t="0"/>
          <a:stretch/>
        </p:blipFill>
        <p:spPr>
          <a:xfrm>
            <a:off x="8852008" y="4206180"/>
            <a:ext cx="790855" cy="1554361"/>
          </a:xfrm>
          <a:prstGeom prst="rect">
            <a:avLst/>
          </a:prstGeom>
          <a:noFill/>
          <a:ln>
            <a:noFill/>
          </a:ln>
        </p:spPr>
      </p:pic>
      <p:sp>
        <p:nvSpPr>
          <p:cNvPr id="480" name="Google Shape;480;p35"/>
          <p:cNvSpPr/>
          <p:nvPr/>
        </p:nvSpPr>
        <p:spPr>
          <a:xfrm>
            <a:off x="6870055" y="5833765"/>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1000"/>
              <a:buFont typeface="Arial"/>
              <a:buNone/>
            </a:pPr>
            <a:r>
              <a:rPr b="0" i="0" lang="en-US" sz="1000">
                <a:solidFill>
                  <a:srgbClr val="62606A"/>
                </a:solidFill>
                <a:latin typeface="Arial"/>
                <a:ea typeface="Arial"/>
                <a:cs typeface="Arial"/>
                <a:sym typeface="Arial"/>
              </a:rPr>
              <a:t>Günther et al. (2018), Fig. 4(F–G). Magnified outer segments compare Cry4 with ultraviolet opsin staining.</a:t>
            </a:r>
            <a:endParaRPr sz="1800">
              <a:solidFill>
                <a:schemeClr val="dk1"/>
              </a:solidFill>
              <a:latin typeface="Calibri"/>
              <a:ea typeface="Calibri"/>
              <a:cs typeface="Calibri"/>
              <a:sym typeface="Calibri"/>
            </a:endParaRPr>
          </a:p>
        </p:txBody>
      </p:sp>
      <p:sp>
        <p:nvSpPr>
          <p:cNvPr id="481" name="Google Shape;481;p35"/>
          <p:cNvSpPr/>
          <p:nvPr/>
        </p:nvSpPr>
        <p:spPr>
          <a:xfrm>
            <a:off x="566886" y="6382494"/>
            <a:ext cx="11058079" cy="9079"/>
          </a:xfrm>
          <a:prstGeom prst="rect">
            <a:avLst/>
          </a:prstGeom>
          <a:solidFill>
            <a:srgbClr val="DAD1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2" name="Google Shape;482;p35"/>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Günther et al. (2018)</a:t>
            </a:r>
            <a:endParaRPr sz="1800">
              <a:solidFill>
                <a:schemeClr val="dk1"/>
              </a:solidFill>
              <a:latin typeface="Calibri"/>
              <a:ea typeface="Calibri"/>
              <a:cs typeface="Calibri"/>
              <a:sym typeface="Calibri"/>
            </a:endParaRPr>
          </a:p>
        </p:txBody>
      </p:sp>
      <p:sp>
        <p:nvSpPr>
          <p:cNvPr id="483" name="Google Shape;483;p35"/>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35</a:t>
            </a:r>
            <a:endParaRPr sz="1800">
              <a:solidFill>
                <a:schemeClr val="dk1"/>
              </a:solidFill>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87" name="Shape 487"/>
        <p:cNvGrpSpPr/>
        <p:nvPr/>
      </p:nvGrpSpPr>
      <p:grpSpPr>
        <a:xfrm>
          <a:off x="0" y="0"/>
          <a:ext cx="0" cy="0"/>
          <a:chOff x="0" y="0"/>
          <a:chExt cx="0" cy="0"/>
        </a:xfrm>
      </p:grpSpPr>
      <p:sp>
        <p:nvSpPr>
          <p:cNvPr id="488" name="Google Shape;488;p36"/>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8A3B32"/>
              </a:buClr>
              <a:buSzPts val="3000"/>
              <a:buFont typeface="Arial"/>
              <a:buNone/>
            </a:pPr>
            <a:r>
              <a:rPr b="1" i="0" lang="en-US" sz="3000">
                <a:solidFill>
                  <a:srgbClr val="8A3B32"/>
                </a:solidFill>
                <a:latin typeface="Arial"/>
                <a:ea typeface="Arial"/>
                <a:cs typeface="Arial"/>
                <a:sym typeface="Arial"/>
              </a:rPr>
              <a:t>Cry4 staining localizes to photoreceptor outer segments</a:t>
            </a:r>
            <a:endParaRPr sz="1800">
              <a:solidFill>
                <a:schemeClr val="dk1"/>
              </a:solidFill>
              <a:latin typeface="Calibri"/>
              <a:ea typeface="Calibri"/>
              <a:cs typeface="Calibri"/>
              <a:sym typeface="Calibri"/>
            </a:endParaRPr>
          </a:p>
        </p:txBody>
      </p:sp>
      <p:sp>
        <p:nvSpPr>
          <p:cNvPr id="489" name="Google Shape;489;p36"/>
          <p:cNvSpPr/>
          <p:nvPr/>
        </p:nvSpPr>
        <p:spPr>
          <a:xfrm>
            <a:off x="566886" y="1234380"/>
            <a:ext cx="5956250"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6252A"/>
              </a:buClr>
              <a:buSzPts val="1600"/>
              <a:buFont typeface="Arial"/>
              <a:buNone/>
            </a:pPr>
            <a:r>
              <a:rPr b="0" i="0" lang="en-US" sz="1600">
                <a:solidFill>
                  <a:srgbClr val="26252A"/>
                </a:solidFill>
                <a:latin typeface="Arial"/>
                <a:ea typeface="Arial"/>
                <a:cs typeface="Arial"/>
                <a:sym typeface="Arial"/>
              </a:rPr>
              <a:t>The </a:t>
            </a:r>
            <a:r>
              <a:rPr b="1" i="0" lang="en-US" sz="1600">
                <a:solidFill>
                  <a:srgbClr val="8A3B32"/>
                </a:solidFill>
                <a:latin typeface="Arial"/>
                <a:ea typeface="Arial"/>
                <a:cs typeface="Arial"/>
                <a:sym typeface="Arial"/>
              </a:rPr>
              <a:t>retina</a:t>
            </a:r>
            <a:r>
              <a:rPr b="0" i="0" lang="en-US" sz="1600">
                <a:solidFill>
                  <a:srgbClr val="26252A"/>
                </a:solidFill>
                <a:latin typeface="Arial"/>
                <a:ea typeface="Arial"/>
                <a:cs typeface="Arial"/>
                <a:sym typeface="Arial"/>
              </a:rPr>
              <a:t> contains light-sensitive photoreceptors, including cones and rods. A photoreceptor’s </a:t>
            </a:r>
            <a:r>
              <a:rPr b="1" i="0" lang="en-US" sz="1600">
                <a:solidFill>
                  <a:srgbClr val="8A3B32"/>
                </a:solidFill>
                <a:latin typeface="Arial"/>
                <a:ea typeface="Arial"/>
                <a:cs typeface="Arial"/>
                <a:sym typeface="Arial"/>
              </a:rPr>
              <a:t>outer segment</a:t>
            </a:r>
            <a:r>
              <a:rPr b="0" i="0" lang="en-US" sz="1600">
                <a:solidFill>
                  <a:srgbClr val="26252A"/>
                </a:solidFill>
                <a:latin typeface="Arial"/>
                <a:ea typeface="Arial"/>
                <a:cs typeface="Arial"/>
                <a:sym typeface="Arial"/>
              </a:rPr>
              <a:t> is the specialized compartment containing light-sensitive membrane structures. Günther and colleagues used immunohistochemistry, antibody-based protein localization, to examine where Cry4 occurs in robin retinal tissue.</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6252A"/>
              </a:buClr>
              <a:buSzPts val="1600"/>
              <a:buFont typeface="Arial"/>
              <a:buNone/>
            </a:pPr>
            <a:r>
              <a:rPr b="0" i="0" lang="en-US" sz="1600">
                <a:solidFill>
                  <a:srgbClr val="26252A"/>
                </a:solidFill>
                <a:latin typeface="Arial"/>
                <a:ea typeface="Arial"/>
                <a:cs typeface="Arial"/>
                <a:sym typeface="Arial"/>
              </a:rPr>
              <a:t>Cry4 immunoreactivity was concentrated in photoreceptor outer segments and appeared across peripheral and central retinal regions. The authors compared the staining pattern in robins and chickens and used both monoclonal and polyclonal reagents rather than relying on one antibody preparation.</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6252A"/>
              </a:buClr>
              <a:buSzPts val="1600"/>
              <a:buFont typeface="Arial"/>
              <a:buNone/>
            </a:pPr>
            <a:r>
              <a:rPr b="0" i="0" lang="en-US" sz="1600">
                <a:solidFill>
                  <a:srgbClr val="26252A"/>
                </a:solidFill>
                <a:latin typeface="Arial"/>
                <a:ea typeface="Arial"/>
                <a:cs typeface="Arial"/>
                <a:sym typeface="Arial"/>
              </a:rPr>
              <a:t>Localization places the candidate protein in photoreceptor outer segments, a tissue compatible with a visually mediated magnetic process. The staining pattern was examined in robins and chickens with both monoclonal and polyclonal reagents.</a:t>
            </a:r>
            <a:endParaRPr sz="1800">
              <a:solidFill>
                <a:schemeClr val="dk1"/>
              </a:solidFill>
              <a:latin typeface="Calibri"/>
              <a:ea typeface="Calibri"/>
              <a:cs typeface="Calibri"/>
              <a:sym typeface="Calibri"/>
            </a:endParaRPr>
          </a:p>
        </p:txBody>
      </p:sp>
      <p:pic>
        <p:nvPicPr>
          <p:cNvPr id="492" name="Google Shape;492;p36"/>
          <p:cNvPicPr preferRelativeResize="0"/>
          <p:nvPr/>
        </p:nvPicPr>
        <p:blipFill rotWithShape="1">
          <a:blip r:embed="rId3">
            <a:alphaModFix/>
          </a:blip>
          <a:srcRect b="0" l="0" r="0" t="0"/>
          <a:stretch/>
        </p:blipFill>
        <p:spPr>
          <a:xfrm>
            <a:off x="6870130" y="1280071"/>
            <a:ext cx="4754760" cy="2357884"/>
          </a:xfrm>
          <a:prstGeom prst="rect">
            <a:avLst/>
          </a:prstGeom>
          <a:noFill/>
          <a:ln>
            <a:noFill/>
          </a:ln>
        </p:spPr>
      </p:pic>
      <p:sp>
        <p:nvSpPr>
          <p:cNvPr id="493" name="Google Shape;493;p36"/>
          <p:cNvSpPr/>
          <p:nvPr/>
        </p:nvSpPr>
        <p:spPr>
          <a:xfrm>
            <a:off x="6870055" y="3729484"/>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1000"/>
              <a:buFont typeface="Arial"/>
              <a:buNone/>
            </a:pPr>
            <a:r>
              <a:rPr b="0" i="0" lang="en-US" sz="1000">
                <a:solidFill>
                  <a:srgbClr val="62606A"/>
                </a:solidFill>
                <a:latin typeface="Arial"/>
                <a:ea typeface="Arial"/>
                <a:cs typeface="Arial"/>
                <a:sym typeface="Arial"/>
              </a:rPr>
              <a:t>Günther et al. (2018), Fig. 3(A–D). Cry4 staining is concentrated in photoreceptor outer segments.</a:t>
            </a:r>
            <a:endParaRPr sz="1800">
              <a:solidFill>
                <a:schemeClr val="dk1"/>
              </a:solidFill>
              <a:latin typeface="Calibri"/>
              <a:ea typeface="Calibri"/>
              <a:cs typeface="Calibri"/>
              <a:sym typeface="Calibri"/>
            </a:endParaRPr>
          </a:p>
        </p:txBody>
      </p:sp>
      <p:pic>
        <p:nvPicPr>
          <p:cNvPr id="494" name="Google Shape;494;p36"/>
          <p:cNvPicPr preferRelativeResize="0"/>
          <p:nvPr/>
        </p:nvPicPr>
        <p:blipFill rotWithShape="1">
          <a:blip r:embed="rId4">
            <a:alphaModFix/>
          </a:blip>
          <a:srcRect b="0" l="0" r="0" t="0"/>
          <a:stretch/>
        </p:blipFill>
        <p:spPr>
          <a:xfrm>
            <a:off x="8852008" y="4206180"/>
            <a:ext cx="790855" cy="1554361"/>
          </a:xfrm>
          <a:prstGeom prst="rect">
            <a:avLst/>
          </a:prstGeom>
          <a:noFill/>
          <a:ln>
            <a:noFill/>
          </a:ln>
        </p:spPr>
      </p:pic>
      <p:sp>
        <p:nvSpPr>
          <p:cNvPr id="495" name="Google Shape;495;p36"/>
          <p:cNvSpPr/>
          <p:nvPr/>
        </p:nvSpPr>
        <p:spPr>
          <a:xfrm>
            <a:off x="6870055" y="5833765"/>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1000"/>
              <a:buFont typeface="Arial"/>
              <a:buNone/>
            </a:pPr>
            <a:r>
              <a:rPr b="0" i="0" lang="en-US" sz="1000">
                <a:solidFill>
                  <a:srgbClr val="62606A"/>
                </a:solidFill>
                <a:latin typeface="Arial"/>
                <a:ea typeface="Arial"/>
                <a:cs typeface="Arial"/>
                <a:sym typeface="Arial"/>
              </a:rPr>
              <a:t>Günther et al. (2018), Fig. 4(F–G). Magnified outer segments compare Cry4 with ultraviolet opsin staining.</a:t>
            </a:r>
            <a:endParaRPr sz="1800">
              <a:solidFill>
                <a:schemeClr val="dk1"/>
              </a:solidFill>
              <a:latin typeface="Calibri"/>
              <a:ea typeface="Calibri"/>
              <a:cs typeface="Calibri"/>
              <a:sym typeface="Calibri"/>
            </a:endParaRPr>
          </a:p>
        </p:txBody>
      </p:sp>
      <p:sp>
        <p:nvSpPr>
          <p:cNvPr id="496" name="Google Shape;496;p36"/>
          <p:cNvSpPr/>
          <p:nvPr/>
        </p:nvSpPr>
        <p:spPr>
          <a:xfrm>
            <a:off x="566886" y="6382494"/>
            <a:ext cx="11058079" cy="9079"/>
          </a:xfrm>
          <a:prstGeom prst="rect">
            <a:avLst/>
          </a:prstGeom>
          <a:solidFill>
            <a:srgbClr val="DAD1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7" name="Google Shape;497;p36"/>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Günther et al. (2018)</a:t>
            </a:r>
            <a:endParaRPr sz="1800">
              <a:solidFill>
                <a:schemeClr val="dk1"/>
              </a:solidFill>
              <a:latin typeface="Calibri"/>
              <a:ea typeface="Calibri"/>
              <a:cs typeface="Calibri"/>
              <a:sym typeface="Calibri"/>
            </a:endParaRPr>
          </a:p>
        </p:txBody>
      </p:sp>
      <p:sp>
        <p:nvSpPr>
          <p:cNvPr id="498" name="Google Shape;498;p36"/>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36</a:t>
            </a:r>
            <a:endParaRPr sz="1800">
              <a:solidFill>
                <a:schemeClr val="dk1"/>
              </a:solidFill>
              <a:latin typeface="Calibri"/>
              <a:ea typeface="Calibri"/>
              <a:cs typeface="Calibri"/>
              <a:sym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02" name="Shape 502"/>
        <p:cNvGrpSpPr/>
        <p:nvPr/>
      </p:nvGrpSpPr>
      <p:grpSpPr>
        <a:xfrm>
          <a:off x="0" y="0"/>
          <a:ext cx="0" cy="0"/>
          <a:chOff x="0" y="0"/>
          <a:chExt cx="0" cy="0"/>
        </a:xfrm>
      </p:grpSpPr>
      <p:sp>
        <p:nvSpPr>
          <p:cNvPr id="503" name="Google Shape;503;p37"/>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8A3B32"/>
              </a:buClr>
              <a:buSzPts val="3000"/>
              <a:buFont typeface="Arial"/>
              <a:buNone/>
            </a:pPr>
            <a:r>
              <a:rPr b="1" i="0" lang="en-US" sz="3000">
                <a:solidFill>
                  <a:srgbClr val="8A3B32"/>
                </a:solidFill>
                <a:latin typeface="Arial"/>
                <a:ea typeface="Arial"/>
                <a:cs typeface="Arial"/>
                <a:sym typeface="Arial"/>
              </a:rPr>
              <a:t>Double staining identifies Cry4-positive cone classes</a:t>
            </a:r>
            <a:endParaRPr sz="1800">
              <a:solidFill>
                <a:schemeClr val="dk1"/>
              </a:solidFill>
              <a:latin typeface="Calibri"/>
              <a:ea typeface="Calibri"/>
              <a:cs typeface="Calibri"/>
              <a:sym typeface="Calibri"/>
            </a:endParaRPr>
          </a:p>
        </p:txBody>
      </p:sp>
      <p:sp>
        <p:nvSpPr>
          <p:cNvPr id="504" name="Google Shape;504;p37"/>
          <p:cNvSpPr/>
          <p:nvPr/>
        </p:nvSpPr>
        <p:spPr>
          <a:xfrm>
            <a:off x="566886" y="1234380"/>
            <a:ext cx="5956250"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8A3B32"/>
              </a:buClr>
              <a:buSzPts val="1500"/>
              <a:buFont typeface="Arial"/>
              <a:buNone/>
            </a:pPr>
            <a:r>
              <a:rPr b="1" i="0" lang="en-US" sz="1500">
                <a:solidFill>
                  <a:srgbClr val="8A3B32"/>
                </a:solidFill>
                <a:latin typeface="Arial"/>
                <a:ea typeface="Arial"/>
                <a:cs typeface="Arial"/>
                <a:sym typeface="Arial"/>
              </a:rPr>
              <a:t>Opsins</a:t>
            </a:r>
            <a:r>
              <a:rPr b="0" i="0" lang="en-US" sz="1500">
                <a:solidFill>
                  <a:srgbClr val="26252A"/>
                </a:solidFill>
                <a:latin typeface="Arial"/>
                <a:ea typeface="Arial"/>
                <a:cs typeface="Arial"/>
                <a:sym typeface="Arial"/>
              </a:rPr>
              <a:t> are light-sensitive receptor proteins that help distinguish photoreceptor classes. The study combined Cry4 staining with antibodies to iodopsin, ultraviolet opsin, blue opsin and rhodopsin. </a:t>
            </a:r>
            <a:r>
              <a:rPr b="1" i="0" lang="en-US" sz="1500">
                <a:solidFill>
                  <a:srgbClr val="8A3B32"/>
                </a:solidFill>
                <a:latin typeface="Arial"/>
                <a:ea typeface="Arial"/>
                <a:cs typeface="Arial"/>
                <a:sym typeface="Arial"/>
              </a:rPr>
              <a:t>Double staining</a:t>
            </a:r>
            <a:r>
              <a:rPr b="0" i="0" lang="en-US" sz="1500">
                <a:solidFill>
                  <a:srgbClr val="26252A"/>
                </a:solidFill>
                <a:latin typeface="Arial"/>
                <a:ea typeface="Arial"/>
                <a:cs typeface="Arial"/>
                <a:sym typeface="Arial"/>
              </a:rPr>
              <a:t> tests whether two molecular labels occupy the same cellular compartment rather than merely nearby tissue.</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6252A"/>
              </a:buClr>
              <a:buSzPts val="1500"/>
              <a:buFont typeface="Arial"/>
              <a:buNone/>
            </a:pPr>
            <a:r>
              <a:rPr b="0" i="0" lang="en-US" sz="1500">
                <a:solidFill>
                  <a:srgbClr val="26252A"/>
                </a:solidFill>
                <a:latin typeface="Arial"/>
                <a:ea typeface="Arial"/>
                <a:cs typeface="Arial"/>
                <a:sym typeface="Arial"/>
              </a:rPr>
              <a:t>Cry4 signal overlapped iodopsin-positive outer segments, associated with long-wavelength single cones and double cones. It did not overlap the outer segments labeled by ultraviolet opsin, blue opsin or rhodopsin. Additional calbindin staining identified inner segments of double cones and supported the assignment of Cry4 to these cone classes.</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6252A"/>
              </a:buClr>
              <a:buSzPts val="1500"/>
              <a:buFont typeface="Arial"/>
              <a:buNone/>
            </a:pPr>
            <a:r>
              <a:rPr b="0" i="0" lang="en-US" sz="1500">
                <a:solidFill>
                  <a:srgbClr val="26252A"/>
                </a:solidFill>
                <a:latin typeface="Arial"/>
                <a:ea typeface="Arial"/>
                <a:cs typeface="Arial"/>
                <a:sym typeface="Arial"/>
              </a:rPr>
              <a:t>Cry4 overlapped iodopsin-positive outer segments, which narrows the candidate cellular location to long-wavelength single cones and double cones. Ordinary photoreceptor identity and a hypothesized magnetic role are separate properties that experiments on function address.</a:t>
            </a:r>
            <a:endParaRPr sz="1800">
              <a:solidFill>
                <a:schemeClr val="dk1"/>
              </a:solidFill>
              <a:latin typeface="Calibri"/>
              <a:ea typeface="Calibri"/>
              <a:cs typeface="Calibri"/>
              <a:sym typeface="Calibri"/>
            </a:endParaRPr>
          </a:p>
        </p:txBody>
      </p:sp>
      <p:pic>
        <p:nvPicPr>
          <p:cNvPr id="507" name="Google Shape;507;p37"/>
          <p:cNvPicPr preferRelativeResize="0"/>
          <p:nvPr/>
        </p:nvPicPr>
        <p:blipFill rotWithShape="1">
          <a:blip r:embed="rId3">
            <a:alphaModFix/>
          </a:blip>
          <a:srcRect b="0" l="0" r="0" t="0"/>
          <a:stretch/>
        </p:blipFill>
        <p:spPr>
          <a:xfrm>
            <a:off x="6870087" y="1280071"/>
            <a:ext cx="4754846" cy="3104257"/>
          </a:xfrm>
          <a:prstGeom prst="rect">
            <a:avLst/>
          </a:prstGeom>
          <a:noFill/>
          <a:ln>
            <a:noFill/>
          </a:ln>
        </p:spPr>
      </p:pic>
      <p:sp>
        <p:nvSpPr>
          <p:cNvPr id="508" name="Google Shape;508;p37"/>
          <p:cNvSpPr/>
          <p:nvPr/>
        </p:nvSpPr>
        <p:spPr>
          <a:xfrm>
            <a:off x="6870055" y="4475857"/>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1000"/>
              <a:buFont typeface="Arial"/>
              <a:buNone/>
            </a:pPr>
            <a:r>
              <a:rPr b="0" i="0" lang="en-US" sz="1000">
                <a:solidFill>
                  <a:srgbClr val="62606A"/>
                </a:solidFill>
                <a:latin typeface="Arial"/>
                <a:ea typeface="Arial"/>
                <a:cs typeface="Arial"/>
                <a:sym typeface="Arial"/>
              </a:rPr>
              <a:t>Günther et al. (2018), Fig. 4(A–O). Double staining identifies the Cry4-positive cone classes.</a:t>
            </a:r>
            <a:endParaRPr sz="1800">
              <a:solidFill>
                <a:schemeClr val="dk1"/>
              </a:solidFill>
              <a:latin typeface="Calibri"/>
              <a:ea typeface="Calibri"/>
              <a:cs typeface="Calibri"/>
              <a:sym typeface="Calibri"/>
            </a:endParaRPr>
          </a:p>
        </p:txBody>
      </p:sp>
      <p:sp>
        <p:nvSpPr>
          <p:cNvPr id="509" name="Google Shape;509;p37"/>
          <p:cNvSpPr/>
          <p:nvPr/>
        </p:nvSpPr>
        <p:spPr>
          <a:xfrm>
            <a:off x="566886" y="6382494"/>
            <a:ext cx="11058079" cy="9079"/>
          </a:xfrm>
          <a:prstGeom prst="rect">
            <a:avLst/>
          </a:prstGeom>
          <a:solidFill>
            <a:srgbClr val="DAD1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0" name="Google Shape;510;p37"/>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Günther et al. (2018)</a:t>
            </a:r>
            <a:endParaRPr sz="1800">
              <a:solidFill>
                <a:schemeClr val="dk1"/>
              </a:solidFill>
              <a:latin typeface="Calibri"/>
              <a:ea typeface="Calibri"/>
              <a:cs typeface="Calibri"/>
              <a:sym typeface="Calibri"/>
            </a:endParaRPr>
          </a:p>
        </p:txBody>
      </p:sp>
      <p:sp>
        <p:nvSpPr>
          <p:cNvPr id="511" name="Google Shape;511;p37"/>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37</a:t>
            </a:r>
            <a:endParaRPr sz="1800">
              <a:solidFill>
                <a:schemeClr val="dk1"/>
              </a:solidFill>
              <a:latin typeface="Calibri"/>
              <a:ea typeface="Calibri"/>
              <a:cs typeface="Calibri"/>
              <a:sym typeface="Calibri"/>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15" name="Shape 515"/>
        <p:cNvGrpSpPr/>
        <p:nvPr/>
      </p:nvGrpSpPr>
      <p:grpSpPr>
        <a:xfrm>
          <a:off x="0" y="0"/>
          <a:ext cx="0" cy="0"/>
          <a:chOff x="0" y="0"/>
          <a:chExt cx="0" cy="0"/>
        </a:xfrm>
      </p:grpSpPr>
      <p:sp>
        <p:nvSpPr>
          <p:cNvPr id="516" name="Google Shape;516;p38"/>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8A3B32"/>
              </a:buClr>
              <a:buSzPts val="3000"/>
              <a:buFont typeface="Arial"/>
              <a:buNone/>
            </a:pPr>
            <a:r>
              <a:rPr b="1" i="0" lang="en-US" sz="3000">
                <a:solidFill>
                  <a:srgbClr val="8A3B32"/>
                </a:solidFill>
                <a:latin typeface="Arial"/>
                <a:ea typeface="Arial"/>
                <a:cs typeface="Arial"/>
                <a:sym typeface="Arial"/>
              </a:rPr>
              <a:t>Antibody controls constrain the localization claim</a:t>
            </a:r>
            <a:endParaRPr sz="1800">
              <a:solidFill>
                <a:schemeClr val="dk1"/>
              </a:solidFill>
              <a:latin typeface="Calibri"/>
              <a:ea typeface="Calibri"/>
              <a:cs typeface="Calibri"/>
              <a:sym typeface="Calibri"/>
            </a:endParaRPr>
          </a:p>
        </p:txBody>
      </p:sp>
      <p:sp>
        <p:nvSpPr>
          <p:cNvPr id="517" name="Google Shape;517;p38"/>
          <p:cNvSpPr/>
          <p:nvPr/>
        </p:nvSpPr>
        <p:spPr>
          <a:xfrm>
            <a:off x="566886" y="1234380"/>
            <a:ext cx="5956250"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6252A"/>
              </a:buClr>
              <a:buSzPts val="1500"/>
              <a:buFont typeface="Arial"/>
              <a:buNone/>
            </a:pPr>
            <a:r>
              <a:rPr b="0" i="0" lang="en-US" sz="1500">
                <a:solidFill>
                  <a:srgbClr val="26252A"/>
                </a:solidFill>
                <a:latin typeface="Arial"/>
                <a:ea typeface="Arial"/>
                <a:cs typeface="Arial"/>
                <a:sym typeface="Arial"/>
              </a:rPr>
              <a:t>Günther and colleagues tested antibody specificity by replacing the primary antibody with pre-immune serum, absorbing it with its antigenic peptide, and expressing different cryptochromes in cultured cells. These controls address background staining and cross-reaction with related proteins rather than treating any fluorescent signal as Cry4.</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6252A"/>
              </a:buClr>
              <a:buSzPts val="1500"/>
              <a:buFont typeface="Arial"/>
              <a:buNone/>
            </a:pPr>
            <a:r>
              <a:rPr b="0" i="0" lang="en-US" sz="1500">
                <a:solidFill>
                  <a:srgbClr val="26252A"/>
                </a:solidFill>
                <a:latin typeface="Arial"/>
                <a:ea typeface="Arial"/>
                <a:cs typeface="Arial"/>
                <a:sym typeface="Arial"/>
              </a:rPr>
              <a:t>Western blots detected an approximately 61-kDa retinal protein and an approximately 89-kDa Cry4–GFP fusion protein in the expression preparation. GFP is green fluorescent protein used as a molecular tag. Cry4 antibody did not produce the corresponding signal in control cells expressing other tested cryptochromes or GFP alone.</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6252A"/>
              </a:buClr>
              <a:buSzPts val="1500"/>
              <a:buFont typeface="Arial"/>
              <a:buNone/>
            </a:pPr>
            <a:r>
              <a:rPr b="0" i="0" lang="en-US" sz="1500">
                <a:solidFill>
                  <a:srgbClr val="26252A"/>
                </a:solidFill>
                <a:latin typeface="Arial"/>
                <a:ea typeface="Arial"/>
                <a:cs typeface="Arial"/>
                <a:sym typeface="Arial"/>
              </a:rPr>
              <a:t>The controls support identification of the stained protein and strengthen the anatomical result. Reliable molecular localization is a prerequisite for a receptor hypothesis, and the antibody controls make the staining specific for Cry4.</a:t>
            </a:r>
            <a:endParaRPr sz="1800">
              <a:solidFill>
                <a:schemeClr val="dk1"/>
              </a:solidFill>
              <a:latin typeface="Calibri"/>
              <a:ea typeface="Calibri"/>
              <a:cs typeface="Calibri"/>
              <a:sym typeface="Calibri"/>
            </a:endParaRPr>
          </a:p>
        </p:txBody>
      </p:sp>
      <p:pic>
        <p:nvPicPr>
          <p:cNvPr id="520" name="Google Shape;520;p38"/>
          <p:cNvPicPr preferRelativeResize="0"/>
          <p:nvPr/>
        </p:nvPicPr>
        <p:blipFill rotWithShape="1">
          <a:blip r:embed="rId3">
            <a:alphaModFix/>
          </a:blip>
          <a:srcRect b="0" l="0" r="0" t="0"/>
          <a:stretch/>
        </p:blipFill>
        <p:spPr>
          <a:xfrm>
            <a:off x="7319727" y="1280071"/>
            <a:ext cx="3855417" cy="4297561"/>
          </a:xfrm>
          <a:prstGeom prst="rect">
            <a:avLst/>
          </a:prstGeom>
          <a:noFill/>
          <a:ln>
            <a:noFill/>
          </a:ln>
        </p:spPr>
      </p:pic>
      <p:sp>
        <p:nvSpPr>
          <p:cNvPr id="521" name="Google Shape;521;p38"/>
          <p:cNvSpPr/>
          <p:nvPr/>
        </p:nvSpPr>
        <p:spPr>
          <a:xfrm>
            <a:off x="6870055" y="5669161"/>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1000"/>
              <a:buFont typeface="Arial"/>
              <a:buNone/>
            </a:pPr>
            <a:r>
              <a:rPr b="0" i="0" lang="en-US" sz="1000">
                <a:solidFill>
                  <a:srgbClr val="62606A"/>
                </a:solidFill>
                <a:latin typeface="Arial"/>
                <a:ea typeface="Arial"/>
                <a:cs typeface="Arial"/>
                <a:sym typeface="Arial"/>
              </a:rPr>
              <a:t>Günther et al. (2018), Fig. 6(A–N). Antibody controls test Cry4 localization and specificity.</a:t>
            </a:r>
            <a:endParaRPr sz="1800">
              <a:solidFill>
                <a:schemeClr val="dk1"/>
              </a:solidFill>
              <a:latin typeface="Calibri"/>
              <a:ea typeface="Calibri"/>
              <a:cs typeface="Calibri"/>
              <a:sym typeface="Calibri"/>
            </a:endParaRPr>
          </a:p>
        </p:txBody>
      </p:sp>
      <p:sp>
        <p:nvSpPr>
          <p:cNvPr id="522" name="Google Shape;522;p38"/>
          <p:cNvSpPr/>
          <p:nvPr/>
        </p:nvSpPr>
        <p:spPr>
          <a:xfrm>
            <a:off x="566886" y="6382494"/>
            <a:ext cx="11058079" cy="9079"/>
          </a:xfrm>
          <a:prstGeom prst="rect">
            <a:avLst/>
          </a:prstGeom>
          <a:solidFill>
            <a:srgbClr val="DAD1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23" name="Google Shape;523;p38"/>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Günther et al. (2018)</a:t>
            </a:r>
            <a:endParaRPr sz="1800">
              <a:solidFill>
                <a:schemeClr val="dk1"/>
              </a:solidFill>
              <a:latin typeface="Calibri"/>
              <a:ea typeface="Calibri"/>
              <a:cs typeface="Calibri"/>
              <a:sym typeface="Calibri"/>
            </a:endParaRPr>
          </a:p>
        </p:txBody>
      </p:sp>
      <p:sp>
        <p:nvSpPr>
          <p:cNvPr id="524" name="Google Shape;524;p38"/>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38</a:t>
            </a:r>
            <a:endParaRPr sz="1800">
              <a:solidFill>
                <a:schemeClr val="dk1"/>
              </a:solidFill>
              <a:latin typeface="Calibri"/>
              <a:ea typeface="Calibri"/>
              <a:cs typeface="Calibri"/>
              <a:sym typeface="Calibri"/>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28" name="Shape 528"/>
        <p:cNvGrpSpPr/>
        <p:nvPr/>
      </p:nvGrpSpPr>
      <p:grpSpPr>
        <a:xfrm>
          <a:off x="0" y="0"/>
          <a:ext cx="0" cy="0"/>
          <a:chOff x="0" y="0"/>
          <a:chExt cx="0" cy="0"/>
        </a:xfrm>
      </p:grpSpPr>
      <p:sp>
        <p:nvSpPr>
          <p:cNvPr id="529" name="Google Shape;529;p39"/>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8A3B32"/>
              </a:buClr>
              <a:buSzPts val="3000"/>
              <a:buFont typeface="Arial"/>
              <a:buNone/>
            </a:pPr>
            <a:r>
              <a:rPr b="1" i="0" lang="en-US" sz="3000">
                <a:solidFill>
                  <a:srgbClr val="8A3B32"/>
                </a:solidFill>
                <a:latin typeface="Arial"/>
                <a:ea typeface="Arial"/>
                <a:cs typeface="Arial"/>
                <a:sym typeface="Arial"/>
              </a:rPr>
              <a:t>Purified Cry4 binds the FAD cofactor</a:t>
            </a:r>
            <a:endParaRPr sz="1800">
              <a:solidFill>
                <a:schemeClr val="dk1"/>
              </a:solidFill>
              <a:latin typeface="Calibri"/>
              <a:ea typeface="Calibri"/>
              <a:cs typeface="Calibri"/>
              <a:sym typeface="Calibri"/>
            </a:endParaRPr>
          </a:p>
        </p:txBody>
      </p:sp>
      <p:sp>
        <p:nvSpPr>
          <p:cNvPr id="530" name="Google Shape;530;p39"/>
          <p:cNvSpPr/>
          <p:nvPr/>
        </p:nvSpPr>
        <p:spPr>
          <a:xfrm>
            <a:off x="566886" y="1234380"/>
            <a:ext cx="5956250"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6252A"/>
              </a:buClr>
              <a:buSzPts val="1500"/>
              <a:buFont typeface="Arial"/>
              <a:buNone/>
            </a:pPr>
            <a:r>
              <a:rPr b="0" i="0" lang="en-US" sz="1500">
                <a:solidFill>
                  <a:srgbClr val="26252A"/>
                </a:solidFill>
                <a:latin typeface="Arial"/>
                <a:ea typeface="Arial"/>
                <a:cs typeface="Arial"/>
                <a:sym typeface="Arial"/>
              </a:rPr>
              <a:t>Xu and colleagues expressed and purified European robin Cry4 to test its photochemistry directly. </a:t>
            </a:r>
            <a:r>
              <a:rPr b="1" i="0" lang="en-US" sz="1500">
                <a:solidFill>
                  <a:srgbClr val="8A3B32"/>
                </a:solidFill>
                <a:latin typeface="Arial"/>
                <a:ea typeface="Arial"/>
                <a:cs typeface="Arial"/>
                <a:sym typeface="Arial"/>
              </a:rPr>
              <a:t>Flavin adenine dinucleotide</a:t>
            </a:r>
            <a:r>
              <a:rPr b="0" i="0" lang="en-US" sz="1500">
                <a:solidFill>
                  <a:srgbClr val="26252A"/>
                </a:solidFill>
                <a:latin typeface="Arial"/>
                <a:ea typeface="Arial"/>
                <a:cs typeface="Arial"/>
                <a:sym typeface="Arial"/>
              </a:rPr>
              <a:t>, or </a:t>
            </a:r>
            <a:r>
              <a:rPr b="1" i="0" lang="en-US" sz="1500">
                <a:solidFill>
                  <a:srgbClr val="8A3B32"/>
                </a:solidFill>
                <a:latin typeface="Arial"/>
                <a:ea typeface="Arial"/>
                <a:cs typeface="Arial"/>
                <a:sym typeface="Arial"/>
              </a:rPr>
              <a:t>FAD</a:t>
            </a:r>
            <a:r>
              <a:rPr b="0" i="0" lang="en-US" sz="1500">
                <a:solidFill>
                  <a:srgbClr val="26252A"/>
                </a:solidFill>
                <a:latin typeface="Arial"/>
                <a:ea typeface="Arial"/>
                <a:cs typeface="Arial"/>
                <a:sym typeface="Arial"/>
              </a:rPr>
              <a:t>, is the bound light-absorbing cofactor that can participate in electron transfer. A </a:t>
            </a:r>
            <a:r>
              <a:rPr b="1" i="0" lang="en-US" sz="1500">
                <a:solidFill>
                  <a:srgbClr val="8A3B32"/>
                </a:solidFill>
                <a:latin typeface="Arial"/>
                <a:ea typeface="Arial"/>
                <a:cs typeface="Arial"/>
                <a:sym typeface="Arial"/>
              </a:rPr>
              <a:t>cofactor</a:t>
            </a:r>
            <a:r>
              <a:rPr b="0" i="0" lang="en-US" sz="1500">
                <a:solidFill>
                  <a:srgbClr val="26252A"/>
                </a:solidFill>
                <a:latin typeface="Arial"/>
                <a:ea typeface="Arial"/>
                <a:cs typeface="Arial"/>
                <a:sym typeface="Arial"/>
              </a:rPr>
              <a:t> is a nonprotein component needed for a protein’s chemical function.</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6252A"/>
              </a:buClr>
              <a:buSzPts val="1500"/>
              <a:buFont typeface="Arial"/>
              <a:buNone/>
            </a:pPr>
            <a:r>
              <a:rPr b="0" i="0" lang="en-US" sz="1500">
                <a:solidFill>
                  <a:srgbClr val="26252A"/>
                </a:solidFill>
                <a:latin typeface="Arial"/>
                <a:ea typeface="Arial"/>
                <a:cs typeface="Arial"/>
                <a:sym typeface="Arial"/>
              </a:rPr>
              <a:t>Optical spectroscopy and native mass spectrometry indicated that more than 97% of the purified wild-type Cry4 population carried FAD. The supplementary spectrum separated major FAD-bound protein peaks from minor peaks assigned to protein lacking the cofactor. This preparation supplied a controlled molecular system independent of an intact animal.</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6252A"/>
              </a:buClr>
              <a:buSzPts val="1500"/>
              <a:buFont typeface="Arial"/>
              <a:buNone/>
            </a:pPr>
            <a:r>
              <a:rPr b="0" i="0" lang="en-US" sz="1500">
                <a:solidFill>
                  <a:srgbClr val="26252A"/>
                </a:solidFill>
                <a:latin typeface="Arial"/>
                <a:ea typeface="Arial"/>
                <a:cs typeface="Arial"/>
                <a:sym typeface="Arial"/>
              </a:rPr>
              <a:t>FAD binding establishes that the purified candidate possesses the component required for the studied radical-pair chemistry. The published structural model places FAD near a chain of tryptophan residues. Cry4 therefore has the cofactor and the electron-transfer chain on which the radical-pair mechanism depends.</a:t>
            </a:r>
            <a:endParaRPr sz="1800">
              <a:solidFill>
                <a:schemeClr val="dk1"/>
              </a:solidFill>
              <a:latin typeface="Calibri"/>
              <a:ea typeface="Calibri"/>
              <a:cs typeface="Calibri"/>
              <a:sym typeface="Calibri"/>
            </a:endParaRPr>
          </a:p>
        </p:txBody>
      </p:sp>
      <p:pic>
        <p:nvPicPr>
          <p:cNvPr id="533" name="Google Shape;533;p39"/>
          <p:cNvPicPr preferRelativeResize="0"/>
          <p:nvPr/>
        </p:nvPicPr>
        <p:blipFill rotWithShape="1">
          <a:blip r:embed="rId3">
            <a:alphaModFix/>
          </a:blip>
          <a:srcRect b="0" l="0" r="0" t="0"/>
          <a:stretch/>
        </p:blipFill>
        <p:spPr>
          <a:xfrm>
            <a:off x="7179549" y="1280071"/>
            <a:ext cx="4135773" cy="2880271"/>
          </a:xfrm>
          <a:prstGeom prst="rect">
            <a:avLst/>
          </a:prstGeom>
          <a:noFill/>
          <a:ln>
            <a:noFill/>
          </a:ln>
        </p:spPr>
      </p:pic>
      <p:sp>
        <p:nvSpPr>
          <p:cNvPr id="534" name="Google Shape;534;p39"/>
          <p:cNvSpPr/>
          <p:nvPr/>
        </p:nvSpPr>
        <p:spPr>
          <a:xfrm>
            <a:off x="6870055" y="4251871"/>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1000"/>
              <a:buFont typeface="Arial"/>
              <a:buNone/>
            </a:pPr>
            <a:r>
              <a:rPr b="0" i="0" lang="en-US" sz="1000">
                <a:solidFill>
                  <a:srgbClr val="62606A"/>
                </a:solidFill>
                <a:latin typeface="Arial"/>
                <a:ea typeface="Arial"/>
                <a:cs typeface="Arial"/>
                <a:sym typeface="Arial"/>
              </a:rPr>
              <a:t>Xu et al. (2021), Supplementary Fig. S13. Mass spectra identify FAD-bound cryptochrome 4.</a:t>
            </a:r>
            <a:endParaRPr sz="1800">
              <a:solidFill>
                <a:schemeClr val="dk1"/>
              </a:solidFill>
              <a:latin typeface="Calibri"/>
              <a:ea typeface="Calibri"/>
              <a:cs typeface="Calibri"/>
              <a:sym typeface="Calibri"/>
            </a:endParaRPr>
          </a:p>
        </p:txBody>
      </p:sp>
      <p:pic>
        <p:nvPicPr>
          <p:cNvPr id="535" name="Google Shape;535;p39"/>
          <p:cNvPicPr preferRelativeResize="0"/>
          <p:nvPr/>
        </p:nvPicPr>
        <p:blipFill rotWithShape="1">
          <a:blip r:embed="rId4">
            <a:alphaModFix/>
          </a:blip>
          <a:srcRect b="0" l="0" r="0" t="0"/>
          <a:stretch/>
        </p:blipFill>
        <p:spPr>
          <a:xfrm>
            <a:off x="8617940" y="4709071"/>
            <a:ext cx="1259139" cy="1051471"/>
          </a:xfrm>
          <a:prstGeom prst="rect">
            <a:avLst/>
          </a:prstGeom>
          <a:noFill/>
          <a:ln>
            <a:noFill/>
          </a:ln>
        </p:spPr>
      </p:pic>
      <p:sp>
        <p:nvSpPr>
          <p:cNvPr id="536" name="Google Shape;536;p39"/>
          <p:cNvSpPr/>
          <p:nvPr/>
        </p:nvSpPr>
        <p:spPr>
          <a:xfrm>
            <a:off x="6870055" y="5833765"/>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1000"/>
              <a:buFont typeface="Arial"/>
              <a:buNone/>
            </a:pPr>
            <a:r>
              <a:rPr b="0" i="0" lang="en-US" sz="1000">
                <a:solidFill>
                  <a:srgbClr val="62606A"/>
                </a:solidFill>
                <a:latin typeface="Arial"/>
                <a:ea typeface="Arial"/>
                <a:cs typeface="Arial"/>
                <a:sym typeface="Arial"/>
              </a:rPr>
              <a:t>Günther et al. (2018), Fig. 7(A–F). Published Cry4 structural model and FAD-binding region.</a:t>
            </a:r>
            <a:endParaRPr sz="1800">
              <a:solidFill>
                <a:schemeClr val="dk1"/>
              </a:solidFill>
              <a:latin typeface="Calibri"/>
              <a:ea typeface="Calibri"/>
              <a:cs typeface="Calibri"/>
              <a:sym typeface="Calibri"/>
            </a:endParaRPr>
          </a:p>
        </p:txBody>
      </p:sp>
      <p:sp>
        <p:nvSpPr>
          <p:cNvPr id="537" name="Google Shape;537;p39"/>
          <p:cNvSpPr/>
          <p:nvPr/>
        </p:nvSpPr>
        <p:spPr>
          <a:xfrm>
            <a:off x="566886" y="6382494"/>
            <a:ext cx="11058079" cy="9079"/>
          </a:xfrm>
          <a:prstGeom prst="rect">
            <a:avLst/>
          </a:prstGeom>
          <a:solidFill>
            <a:srgbClr val="DAD1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8" name="Google Shape;538;p39"/>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Xu et al. (2021); Günther et al. (2018)</a:t>
            </a:r>
            <a:endParaRPr sz="1800">
              <a:solidFill>
                <a:schemeClr val="dk1"/>
              </a:solidFill>
              <a:latin typeface="Calibri"/>
              <a:ea typeface="Calibri"/>
              <a:cs typeface="Calibri"/>
              <a:sym typeface="Calibri"/>
            </a:endParaRPr>
          </a:p>
        </p:txBody>
      </p:sp>
      <p:sp>
        <p:nvSpPr>
          <p:cNvPr id="539" name="Google Shape;539;p39"/>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39</a:t>
            </a:r>
            <a:endParaRPr sz="1800">
              <a:solidFill>
                <a:schemeClr val="dk1"/>
              </a:solidFill>
              <a:latin typeface="Calibri"/>
              <a:ea typeface="Calibri"/>
              <a:cs typeface="Calibri"/>
              <a:sym typeface="Calibri"/>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43" name="Shape 543"/>
        <p:cNvGrpSpPr/>
        <p:nvPr/>
      </p:nvGrpSpPr>
      <p:grpSpPr>
        <a:xfrm>
          <a:off x="0" y="0"/>
          <a:ext cx="0" cy="0"/>
          <a:chOff x="0" y="0"/>
          <a:chExt cx="0" cy="0"/>
        </a:xfrm>
      </p:grpSpPr>
      <p:sp>
        <p:nvSpPr>
          <p:cNvPr id="544" name="Google Shape;544;p40"/>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8A3B32"/>
              </a:buClr>
              <a:buSzPts val="3000"/>
              <a:buFont typeface="Arial"/>
              <a:buNone/>
            </a:pPr>
            <a:r>
              <a:rPr b="1" i="0" lang="en-US" sz="3000">
                <a:solidFill>
                  <a:srgbClr val="8A3B32"/>
                </a:solidFill>
                <a:latin typeface="Arial"/>
                <a:ea typeface="Arial"/>
                <a:cs typeface="Arial"/>
                <a:sym typeface="Arial"/>
              </a:rPr>
              <a:t>Tryptophan mutations change radical-pair lifetimes</a:t>
            </a:r>
            <a:endParaRPr sz="1800">
              <a:solidFill>
                <a:schemeClr val="dk1"/>
              </a:solidFill>
              <a:latin typeface="Calibri"/>
              <a:ea typeface="Calibri"/>
              <a:cs typeface="Calibri"/>
              <a:sym typeface="Calibri"/>
            </a:endParaRPr>
          </a:p>
        </p:txBody>
      </p:sp>
      <p:sp>
        <p:nvSpPr>
          <p:cNvPr id="545" name="Google Shape;545;p40"/>
          <p:cNvSpPr/>
          <p:nvPr/>
        </p:nvSpPr>
        <p:spPr>
          <a:xfrm>
            <a:off x="566886" y="1234380"/>
            <a:ext cx="5956250"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6252A"/>
              </a:buClr>
              <a:buSzPts val="1500"/>
              <a:buFont typeface="Arial"/>
              <a:buNone/>
            </a:pPr>
            <a:r>
              <a:rPr b="0" i="0" lang="en-US" sz="1500">
                <a:solidFill>
                  <a:srgbClr val="26252A"/>
                </a:solidFill>
                <a:latin typeface="Arial"/>
                <a:ea typeface="Arial"/>
                <a:cs typeface="Arial"/>
                <a:sym typeface="Arial"/>
              </a:rPr>
              <a:t>A </a:t>
            </a:r>
            <a:r>
              <a:rPr b="1" i="0" lang="en-US" sz="1500">
                <a:solidFill>
                  <a:srgbClr val="8A3B32"/>
                </a:solidFill>
                <a:latin typeface="Arial"/>
                <a:ea typeface="Arial"/>
                <a:cs typeface="Arial"/>
                <a:sym typeface="Arial"/>
              </a:rPr>
              <a:t>radical</a:t>
            </a:r>
            <a:r>
              <a:rPr b="0" i="0" lang="en-US" sz="1500">
                <a:solidFill>
                  <a:srgbClr val="26252A"/>
                </a:solidFill>
                <a:latin typeface="Arial"/>
                <a:ea typeface="Arial"/>
                <a:cs typeface="Arial"/>
                <a:sym typeface="Arial"/>
              </a:rPr>
              <a:t> is a molecular species with an unpaired electron; a </a:t>
            </a:r>
            <a:r>
              <a:rPr b="1" i="0" lang="en-US" sz="1500">
                <a:solidFill>
                  <a:srgbClr val="8A3B32"/>
                </a:solidFill>
                <a:latin typeface="Arial"/>
                <a:ea typeface="Arial"/>
                <a:cs typeface="Arial"/>
                <a:sym typeface="Arial"/>
              </a:rPr>
              <a:t>radical pair</a:t>
            </a:r>
            <a:r>
              <a:rPr b="0" i="0" lang="en-US" sz="1500">
                <a:solidFill>
                  <a:srgbClr val="26252A"/>
                </a:solidFill>
                <a:latin typeface="Arial"/>
                <a:ea typeface="Arial"/>
                <a:cs typeface="Arial"/>
                <a:sym typeface="Arial"/>
              </a:rPr>
              <a:t> contains two radicals generated through a linked reaction. In Cry4, light-excited FAD can receive an electron through a chain of tryptophan residues, producing radicals whose subsequent reactions depend on their electronic states.</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6252A"/>
              </a:buClr>
              <a:buSzPts val="1500"/>
              <a:buFont typeface="Arial"/>
              <a:buNone/>
            </a:pPr>
            <a:r>
              <a:rPr b="0" i="0" lang="en-US" sz="1500">
                <a:solidFill>
                  <a:srgbClr val="26252A"/>
                </a:solidFill>
                <a:latin typeface="Arial"/>
                <a:ea typeface="Arial"/>
                <a:cs typeface="Arial"/>
                <a:sym typeface="Arial"/>
              </a:rPr>
              <a:t>Xu and colleagues replaced individual tryptophans with redox-inactive phenylalanine. </a:t>
            </a:r>
            <a:r>
              <a:rPr b="1" i="0" lang="en-US" sz="1500">
                <a:solidFill>
                  <a:srgbClr val="8A3B32"/>
                </a:solidFill>
                <a:latin typeface="Arial"/>
                <a:ea typeface="Arial"/>
                <a:cs typeface="Arial"/>
                <a:sym typeface="Arial"/>
              </a:rPr>
              <a:t>Redox</a:t>
            </a:r>
            <a:r>
              <a:rPr b="0" i="0" lang="en-US" sz="1500">
                <a:solidFill>
                  <a:srgbClr val="26252A"/>
                </a:solidFill>
                <a:latin typeface="Arial"/>
                <a:ea typeface="Arial"/>
                <a:cs typeface="Arial"/>
                <a:sym typeface="Arial"/>
              </a:rPr>
              <a:t> refers to electron-transfer chemistry. After 450-nm excitation, transient absorption measurements tracked changes over time. In the supplementary measurements, interrupted early transfer pathways produced radical-loss time constants of 180 ps and 900 ps.</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6252A"/>
              </a:buClr>
              <a:buSzPts val="1500"/>
              <a:buFont typeface="Arial"/>
              <a:buNone/>
            </a:pPr>
            <a:r>
              <a:rPr b="0" i="0" lang="en-US" sz="1500">
                <a:solidFill>
                  <a:srgbClr val="26252A"/>
                </a:solidFill>
                <a:latin typeface="Arial"/>
                <a:ea typeface="Arial"/>
                <a:cs typeface="Arial"/>
                <a:sym typeface="Arial"/>
              </a:rPr>
              <a:t>Longer transfer pathways supported radicals persisting beyond the earliest nanosecond responses. The nearest-tryptophan mutation prevented the normal radical production observed in the wild-type preparation. Particular tryptophan residues therefore determine how quickly radicals form and how long they persist.</a:t>
            </a:r>
            <a:endParaRPr sz="1800">
              <a:solidFill>
                <a:schemeClr val="dk1"/>
              </a:solidFill>
              <a:latin typeface="Calibri"/>
              <a:ea typeface="Calibri"/>
              <a:cs typeface="Calibri"/>
              <a:sym typeface="Calibri"/>
            </a:endParaRPr>
          </a:p>
        </p:txBody>
      </p:sp>
      <p:pic>
        <p:nvPicPr>
          <p:cNvPr id="548" name="Google Shape;548;p40"/>
          <p:cNvPicPr preferRelativeResize="0"/>
          <p:nvPr/>
        </p:nvPicPr>
        <p:blipFill rotWithShape="1">
          <a:blip r:embed="rId3">
            <a:alphaModFix/>
          </a:blip>
          <a:srcRect b="0" l="0" r="0" t="0"/>
          <a:stretch/>
        </p:blipFill>
        <p:spPr>
          <a:xfrm>
            <a:off x="7496981" y="1280071"/>
            <a:ext cx="3500760" cy="2880271"/>
          </a:xfrm>
          <a:prstGeom prst="rect">
            <a:avLst/>
          </a:prstGeom>
          <a:noFill/>
          <a:ln>
            <a:noFill/>
          </a:ln>
        </p:spPr>
      </p:pic>
      <p:sp>
        <p:nvSpPr>
          <p:cNvPr id="549" name="Google Shape;549;p40"/>
          <p:cNvSpPr/>
          <p:nvPr/>
        </p:nvSpPr>
        <p:spPr>
          <a:xfrm>
            <a:off x="6870055" y="4251871"/>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1000"/>
              <a:buFont typeface="Arial"/>
              <a:buNone/>
            </a:pPr>
            <a:r>
              <a:rPr b="0" i="0" lang="en-US" sz="1000">
                <a:solidFill>
                  <a:srgbClr val="62606A"/>
                </a:solidFill>
                <a:latin typeface="Arial"/>
                <a:ea typeface="Arial"/>
                <a:cs typeface="Arial"/>
                <a:sym typeface="Arial"/>
              </a:rPr>
              <a:t>Xu et al. (2021), Supplementary Fig. S2(a–d). Tryptophan mutations change radical kinetics and spectra.</a:t>
            </a:r>
            <a:endParaRPr sz="1800">
              <a:solidFill>
                <a:schemeClr val="dk1"/>
              </a:solidFill>
              <a:latin typeface="Calibri"/>
              <a:ea typeface="Calibri"/>
              <a:cs typeface="Calibri"/>
              <a:sym typeface="Calibri"/>
            </a:endParaRPr>
          </a:p>
        </p:txBody>
      </p:sp>
      <p:pic>
        <p:nvPicPr>
          <p:cNvPr id="550" name="Google Shape;550;p40"/>
          <p:cNvPicPr preferRelativeResize="0"/>
          <p:nvPr/>
        </p:nvPicPr>
        <p:blipFill rotWithShape="1">
          <a:blip r:embed="rId4">
            <a:alphaModFix/>
          </a:blip>
          <a:srcRect b="0" l="0" r="0" t="0"/>
          <a:stretch/>
        </p:blipFill>
        <p:spPr>
          <a:xfrm>
            <a:off x="8617940" y="4709071"/>
            <a:ext cx="1259139" cy="1051471"/>
          </a:xfrm>
          <a:prstGeom prst="rect">
            <a:avLst/>
          </a:prstGeom>
          <a:noFill/>
          <a:ln>
            <a:noFill/>
          </a:ln>
        </p:spPr>
      </p:pic>
      <p:sp>
        <p:nvSpPr>
          <p:cNvPr id="551" name="Google Shape;551;p40"/>
          <p:cNvSpPr/>
          <p:nvPr/>
        </p:nvSpPr>
        <p:spPr>
          <a:xfrm>
            <a:off x="6870055" y="5833765"/>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1000"/>
              <a:buFont typeface="Arial"/>
              <a:buNone/>
            </a:pPr>
            <a:r>
              <a:rPr b="0" i="0" lang="en-US" sz="1000">
                <a:solidFill>
                  <a:srgbClr val="62606A"/>
                </a:solidFill>
                <a:latin typeface="Arial"/>
                <a:ea typeface="Arial"/>
                <a:cs typeface="Arial"/>
                <a:sym typeface="Arial"/>
              </a:rPr>
              <a:t>Günther et al. (2018), Fig. 7(A–F). Published Cry4 structural model and FAD-binding region.</a:t>
            </a:r>
            <a:endParaRPr sz="1800">
              <a:solidFill>
                <a:schemeClr val="dk1"/>
              </a:solidFill>
              <a:latin typeface="Calibri"/>
              <a:ea typeface="Calibri"/>
              <a:cs typeface="Calibri"/>
              <a:sym typeface="Calibri"/>
            </a:endParaRPr>
          </a:p>
        </p:txBody>
      </p:sp>
      <p:sp>
        <p:nvSpPr>
          <p:cNvPr id="552" name="Google Shape;552;p40"/>
          <p:cNvSpPr/>
          <p:nvPr/>
        </p:nvSpPr>
        <p:spPr>
          <a:xfrm>
            <a:off x="566886" y="6382494"/>
            <a:ext cx="11058079" cy="9079"/>
          </a:xfrm>
          <a:prstGeom prst="rect">
            <a:avLst/>
          </a:prstGeom>
          <a:solidFill>
            <a:srgbClr val="DAD1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3" name="Google Shape;553;p40"/>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Xu et al. (2021); Günther et al. (2018)</a:t>
            </a:r>
            <a:endParaRPr sz="1800">
              <a:solidFill>
                <a:schemeClr val="dk1"/>
              </a:solidFill>
              <a:latin typeface="Calibri"/>
              <a:ea typeface="Calibri"/>
              <a:cs typeface="Calibri"/>
              <a:sym typeface="Calibri"/>
            </a:endParaRPr>
          </a:p>
        </p:txBody>
      </p:sp>
      <p:sp>
        <p:nvSpPr>
          <p:cNvPr id="554" name="Google Shape;554;p40"/>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40</a:t>
            </a:r>
            <a:endParaRPr sz="1800">
              <a:solidFill>
                <a:schemeClr val="dk1"/>
              </a:solidFill>
              <a:latin typeface="Calibri"/>
              <a:ea typeface="Calibri"/>
              <a:cs typeface="Calibri"/>
              <a:sym typeface="Calibri"/>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58" name="Shape 558"/>
        <p:cNvGrpSpPr/>
        <p:nvPr/>
      </p:nvGrpSpPr>
      <p:grpSpPr>
        <a:xfrm>
          <a:off x="0" y="0"/>
          <a:ext cx="0" cy="0"/>
          <a:chOff x="0" y="0"/>
          <a:chExt cx="0" cy="0"/>
        </a:xfrm>
      </p:grpSpPr>
      <p:sp>
        <p:nvSpPr>
          <p:cNvPr id="559" name="Google Shape;559;p41"/>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8A3B32"/>
              </a:buClr>
              <a:buSzPts val="3000"/>
              <a:buFont typeface="Arial"/>
              <a:buNone/>
            </a:pPr>
            <a:r>
              <a:rPr b="1" i="0" lang="en-US" sz="3000">
                <a:solidFill>
                  <a:srgbClr val="8A3B32"/>
                </a:solidFill>
                <a:latin typeface="Arial"/>
                <a:ea typeface="Arial"/>
                <a:cs typeface="Arial"/>
                <a:sym typeface="Arial"/>
              </a:rPr>
              <a:t>Cry4 radical chemistry responds to magnetic fields</a:t>
            </a:r>
            <a:endParaRPr sz="1800">
              <a:solidFill>
                <a:schemeClr val="dk1"/>
              </a:solidFill>
              <a:latin typeface="Calibri"/>
              <a:ea typeface="Calibri"/>
              <a:cs typeface="Calibri"/>
              <a:sym typeface="Calibri"/>
            </a:endParaRPr>
          </a:p>
        </p:txBody>
      </p:sp>
      <p:sp>
        <p:nvSpPr>
          <p:cNvPr id="560" name="Google Shape;560;p41"/>
          <p:cNvSpPr/>
          <p:nvPr/>
        </p:nvSpPr>
        <p:spPr>
          <a:xfrm>
            <a:off x="566886" y="1234380"/>
            <a:ext cx="5956250"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8A3B32"/>
              </a:buClr>
              <a:buSzPts val="1500"/>
              <a:buFont typeface="Arial"/>
              <a:buNone/>
            </a:pPr>
            <a:r>
              <a:rPr b="1" i="0" lang="en-US" sz="1500">
                <a:solidFill>
                  <a:srgbClr val="8A3B32"/>
                </a:solidFill>
                <a:latin typeface="Arial"/>
                <a:ea typeface="Arial"/>
                <a:cs typeface="Arial"/>
                <a:sym typeface="Arial"/>
              </a:rPr>
              <a:t>Electron spin</a:t>
            </a:r>
            <a:r>
              <a:rPr b="0" i="0" lang="en-US" sz="1500">
                <a:solidFill>
                  <a:srgbClr val="26252A"/>
                </a:solidFill>
                <a:latin typeface="Arial"/>
                <a:ea typeface="Arial"/>
                <a:cs typeface="Arial"/>
                <a:sym typeface="Arial"/>
              </a:rPr>
              <a:t> is a quantum property of an electron, not literal mechanical spinning. Spin-correlated radical pairs can occupy singlet and triplet states with different reaction possibilities. A magnetic field can alter transitions between these states and thereby influence the yield of chemical products.</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6252A"/>
              </a:buClr>
              <a:buSzPts val="1500"/>
              <a:buFont typeface="Arial"/>
              <a:buNone/>
            </a:pPr>
            <a:r>
              <a:rPr b="0" i="0" lang="en-US" sz="1500">
                <a:solidFill>
                  <a:srgbClr val="26252A"/>
                </a:solidFill>
                <a:latin typeface="Arial"/>
                <a:ea typeface="Arial"/>
                <a:cs typeface="Arial"/>
                <a:sym typeface="Arial"/>
              </a:rPr>
              <a:t>Xu and colleagues measured field-dependent radical absorption in purified Cry4 after 450-nm excitation. The supplementary comparison covered fields up to 30 mT and tested wild-type protein against a tryptophan mutant. The mutant and wild type exhibited different magnetic field effects, connecting molecular structure to measured photochemical sensitivity.</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6252A"/>
              </a:buClr>
              <a:buSzPts val="1500"/>
              <a:buFont typeface="Arial"/>
              <a:buNone/>
            </a:pPr>
            <a:r>
              <a:rPr b="0" i="0" lang="en-US" sz="1500">
                <a:solidFill>
                  <a:srgbClr val="26252A"/>
                </a:solidFill>
                <a:latin typeface="Arial"/>
                <a:ea typeface="Arial"/>
                <a:cs typeface="Arial"/>
                <a:sym typeface="Arial"/>
              </a:rPr>
              <a:t>The measurements establish magnetic sensitivity of the radical chemistry in vitro. Wild-type protein and the tryptophan mutant showed different magnetic field effects, which connects molecular structure to photochemical sensitivity under controlled temperature and chemical conditions.</a:t>
            </a:r>
            <a:endParaRPr sz="1800">
              <a:solidFill>
                <a:schemeClr val="dk1"/>
              </a:solidFill>
              <a:latin typeface="Calibri"/>
              <a:ea typeface="Calibri"/>
              <a:cs typeface="Calibri"/>
              <a:sym typeface="Calibri"/>
            </a:endParaRPr>
          </a:p>
        </p:txBody>
      </p:sp>
      <p:pic>
        <p:nvPicPr>
          <p:cNvPr id="563" name="Google Shape;563;p41"/>
          <p:cNvPicPr preferRelativeResize="0"/>
          <p:nvPr/>
        </p:nvPicPr>
        <p:blipFill rotWithShape="1">
          <a:blip r:embed="rId3">
            <a:alphaModFix/>
          </a:blip>
          <a:srcRect b="0" l="0" r="0" t="0"/>
          <a:stretch/>
        </p:blipFill>
        <p:spPr>
          <a:xfrm>
            <a:off x="6870225" y="1280071"/>
            <a:ext cx="4754571" cy="1886396"/>
          </a:xfrm>
          <a:prstGeom prst="rect">
            <a:avLst/>
          </a:prstGeom>
          <a:noFill/>
          <a:ln>
            <a:noFill/>
          </a:ln>
        </p:spPr>
      </p:pic>
      <p:sp>
        <p:nvSpPr>
          <p:cNvPr id="564" name="Google Shape;564;p41"/>
          <p:cNvSpPr/>
          <p:nvPr/>
        </p:nvSpPr>
        <p:spPr>
          <a:xfrm>
            <a:off x="6870055" y="3257996"/>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1000"/>
              <a:buFont typeface="Arial"/>
              <a:buNone/>
            </a:pPr>
            <a:r>
              <a:rPr b="0" i="0" lang="en-US" sz="1000">
                <a:solidFill>
                  <a:srgbClr val="62606A"/>
                </a:solidFill>
                <a:latin typeface="Arial"/>
                <a:ea typeface="Arial"/>
                <a:cs typeface="Arial"/>
                <a:sym typeface="Arial"/>
              </a:rPr>
              <a:t>Xu et al. (2021), Supplementary Fig. S3(a–b). Wild-type and mutant Cry4 have different magnetic field effects.</a:t>
            </a:r>
            <a:endParaRPr sz="1800">
              <a:solidFill>
                <a:schemeClr val="dk1"/>
              </a:solidFill>
              <a:latin typeface="Calibri"/>
              <a:ea typeface="Calibri"/>
              <a:cs typeface="Calibri"/>
              <a:sym typeface="Calibri"/>
            </a:endParaRPr>
          </a:p>
        </p:txBody>
      </p:sp>
      <p:pic>
        <p:nvPicPr>
          <p:cNvPr id="565" name="Google Shape;565;p41"/>
          <p:cNvPicPr preferRelativeResize="0"/>
          <p:nvPr/>
        </p:nvPicPr>
        <p:blipFill rotWithShape="1">
          <a:blip r:embed="rId4">
            <a:alphaModFix/>
          </a:blip>
          <a:srcRect b="0" l="0" r="0" t="0"/>
          <a:stretch/>
        </p:blipFill>
        <p:spPr>
          <a:xfrm>
            <a:off x="8617940" y="4709071"/>
            <a:ext cx="1259139" cy="1051471"/>
          </a:xfrm>
          <a:prstGeom prst="rect">
            <a:avLst/>
          </a:prstGeom>
          <a:noFill/>
          <a:ln>
            <a:noFill/>
          </a:ln>
        </p:spPr>
      </p:pic>
      <p:sp>
        <p:nvSpPr>
          <p:cNvPr id="566" name="Google Shape;566;p41"/>
          <p:cNvSpPr/>
          <p:nvPr/>
        </p:nvSpPr>
        <p:spPr>
          <a:xfrm>
            <a:off x="6870055" y="5833765"/>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1000"/>
              <a:buFont typeface="Arial"/>
              <a:buNone/>
            </a:pPr>
            <a:r>
              <a:rPr b="0" i="0" lang="en-US" sz="1000">
                <a:solidFill>
                  <a:srgbClr val="62606A"/>
                </a:solidFill>
                <a:latin typeface="Arial"/>
                <a:ea typeface="Arial"/>
                <a:cs typeface="Arial"/>
                <a:sym typeface="Arial"/>
              </a:rPr>
              <a:t>Günther et al. (2018), Fig. 7(A–F). Published Cry4 structural model and FAD-binding region.</a:t>
            </a:r>
            <a:endParaRPr sz="1800">
              <a:solidFill>
                <a:schemeClr val="dk1"/>
              </a:solidFill>
              <a:latin typeface="Calibri"/>
              <a:ea typeface="Calibri"/>
              <a:cs typeface="Calibri"/>
              <a:sym typeface="Calibri"/>
            </a:endParaRPr>
          </a:p>
        </p:txBody>
      </p:sp>
      <p:sp>
        <p:nvSpPr>
          <p:cNvPr id="567" name="Google Shape;567;p41"/>
          <p:cNvSpPr/>
          <p:nvPr/>
        </p:nvSpPr>
        <p:spPr>
          <a:xfrm>
            <a:off x="566886" y="6382494"/>
            <a:ext cx="11058079" cy="9079"/>
          </a:xfrm>
          <a:prstGeom prst="rect">
            <a:avLst/>
          </a:prstGeom>
          <a:solidFill>
            <a:srgbClr val="DAD1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8" name="Google Shape;568;p41"/>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Xu et al. (2021); Günther et al. (2018)</a:t>
            </a:r>
            <a:endParaRPr sz="1800">
              <a:solidFill>
                <a:schemeClr val="dk1"/>
              </a:solidFill>
              <a:latin typeface="Calibri"/>
              <a:ea typeface="Calibri"/>
              <a:cs typeface="Calibri"/>
              <a:sym typeface="Calibri"/>
            </a:endParaRPr>
          </a:p>
        </p:txBody>
      </p:sp>
      <p:sp>
        <p:nvSpPr>
          <p:cNvPr id="569" name="Google Shape;569;p41"/>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41</a:t>
            </a:r>
            <a:endParaRPr sz="1800">
              <a:solidFill>
                <a:schemeClr val="dk1"/>
              </a:solidFill>
              <a:latin typeface="Calibri"/>
              <a:ea typeface="Calibri"/>
              <a:cs typeface="Calibri"/>
              <a:sym typeface="Calibri"/>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73" name="Shape 573"/>
        <p:cNvGrpSpPr/>
        <p:nvPr/>
      </p:nvGrpSpPr>
      <p:grpSpPr>
        <a:xfrm>
          <a:off x="0" y="0"/>
          <a:ext cx="0" cy="0"/>
          <a:chOff x="0" y="0"/>
          <a:chExt cx="0" cy="0"/>
        </a:xfrm>
      </p:grpSpPr>
      <p:sp>
        <p:nvSpPr>
          <p:cNvPr id="574" name="Google Shape;574;p42"/>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8A3B32"/>
              </a:buClr>
              <a:buSzPts val="3000"/>
              <a:buFont typeface="Arial"/>
              <a:buNone/>
            </a:pPr>
            <a:r>
              <a:rPr b="1" i="0" lang="en-US" sz="3000">
                <a:solidFill>
                  <a:srgbClr val="8A3B32"/>
                </a:solidFill>
                <a:latin typeface="Arial"/>
                <a:ea typeface="Arial"/>
                <a:cs typeface="Arial"/>
                <a:sym typeface="Arial"/>
              </a:rPr>
              <a:t>Photoreduced Cry4 can return toward its resting state</a:t>
            </a:r>
            <a:endParaRPr sz="1800">
              <a:solidFill>
                <a:schemeClr val="dk1"/>
              </a:solidFill>
              <a:latin typeface="Calibri"/>
              <a:ea typeface="Calibri"/>
              <a:cs typeface="Calibri"/>
              <a:sym typeface="Calibri"/>
            </a:endParaRPr>
          </a:p>
        </p:txBody>
      </p:sp>
      <p:sp>
        <p:nvSpPr>
          <p:cNvPr id="575" name="Google Shape;575;p42"/>
          <p:cNvSpPr/>
          <p:nvPr/>
        </p:nvSpPr>
        <p:spPr>
          <a:xfrm>
            <a:off x="566886" y="1234380"/>
            <a:ext cx="5956250"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8A3B32"/>
              </a:buClr>
              <a:buSzPts val="1600"/>
              <a:buFont typeface="Arial"/>
              <a:buNone/>
            </a:pPr>
            <a:r>
              <a:rPr b="1" i="0" lang="en-US" sz="1600">
                <a:solidFill>
                  <a:srgbClr val="8A3B32"/>
                </a:solidFill>
                <a:latin typeface="Arial"/>
                <a:ea typeface="Arial"/>
                <a:cs typeface="Arial"/>
                <a:sym typeface="Arial"/>
              </a:rPr>
              <a:t>Photoreduction</a:t>
            </a:r>
            <a:r>
              <a:rPr b="0" i="0" lang="en-US" sz="1600">
                <a:solidFill>
                  <a:srgbClr val="26252A"/>
                </a:solidFill>
                <a:latin typeface="Arial"/>
                <a:ea typeface="Arial"/>
                <a:cs typeface="Arial"/>
                <a:sym typeface="Arial"/>
              </a:rPr>
              <a:t> is light-driven electron gain. After illumination changes FAD’s oxidation state, a reusable sensory protein must return toward an appropriate starting state. Xu and colleagues measured optical spectra as photoreduced Cry4 reoxidized in contact with air without added redox reagents.</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6252A"/>
              </a:buClr>
              <a:buSzPts val="1600"/>
              <a:buFont typeface="Arial"/>
              <a:buNone/>
            </a:pPr>
            <a:r>
              <a:rPr b="0" i="0" lang="en-US" sz="1600">
                <a:solidFill>
                  <a:srgbClr val="26252A"/>
                </a:solidFill>
                <a:latin typeface="Arial"/>
                <a:ea typeface="Arial"/>
                <a:cs typeface="Arial"/>
                <a:sym typeface="Arial"/>
              </a:rPr>
              <a:t>The supplementary experiment used 2 min of 450-nm illumination followed by spectra recorded at 2-min intervals. The main analysis reported recycling times of approximately 13 min from the neutral radical state toward oxidized FAD and approximately 1 min from the fully reduced state toward the neutral radical.</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6252A"/>
              </a:buClr>
              <a:buSzPts val="1600"/>
              <a:buFont typeface="Arial"/>
              <a:buNone/>
            </a:pPr>
            <a:r>
              <a:rPr b="0" i="0" lang="en-US" sz="1600">
                <a:solidFill>
                  <a:srgbClr val="26252A"/>
                </a:solidFill>
                <a:latin typeface="Arial"/>
                <a:ea typeface="Arial"/>
                <a:cs typeface="Arial"/>
                <a:sym typeface="Arial"/>
              </a:rPr>
              <a:t>These measurements establish a route for chemical resetting under the tested conditions. Recycling of the protein toward its starting state supports its plausibility as a reusable sensor, with times of about 13 minutes and about 1 minute for the two steps.</a:t>
            </a:r>
            <a:endParaRPr sz="1800">
              <a:solidFill>
                <a:schemeClr val="dk1"/>
              </a:solidFill>
              <a:latin typeface="Calibri"/>
              <a:ea typeface="Calibri"/>
              <a:cs typeface="Calibri"/>
              <a:sym typeface="Calibri"/>
            </a:endParaRPr>
          </a:p>
        </p:txBody>
      </p:sp>
      <p:pic>
        <p:nvPicPr>
          <p:cNvPr id="578" name="Google Shape;578;p42"/>
          <p:cNvPicPr preferRelativeResize="0"/>
          <p:nvPr/>
        </p:nvPicPr>
        <p:blipFill rotWithShape="1">
          <a:blip r:embed="rId3">
            <a:alphaModFix/>
          </a:blip>
          <a:srcRect b="0" l="0" r="0" t="0"/>
          <a:stretch/>
        </p:blipFill>
        <p:spPr>
          <a:xfrm>
            <a:off x="8173109" y="1280071"/>
            <a:ext cx="2148802" cy="2880271"/>
          </a:xfrm>
          <a:prstGeom prst="rect">
            <a:avLst/>
          </a:prstGeom>
          <a:noFill/>
          <a:ln>
            <a:noFill/>
          </a:ln>
        </p:spPr>
      </p:pic>
      <p:sp>
        <p:nvSpPr>
          <p:cNvPr id="579" name="Google Shape;579;p42"/>
          <p:cNvSpPr/>
          <p:nvPr/>
        </p:nvSpPr>
        <p:spPr>
          <a:xfrm>
            <a:off x="6870055" y="4251871"/>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1000"/>
              <a:buFont typeface="Arial"/>
              <a:buNone/>
            </a:pPr>
            <a:r>
              <a:rPr b="0" i="0" lang="en-US" sz="1000">
                <a:solidFill>
                  <a:srgbClr val="62606A"/>
                </a:solidFill>
                <a:latin typeface="Arial"/>
                <a:ea typeface="Arial"/>
                <a:cs typeface="Arial"/>
                <a:sym typeface="Arial"/>
              </a:rPr>
              <a:t>Xu et al. (2021), Supplementary Fig. S15(a–b). Photoreduced Cry4 returns toward the oxidized state.</a:t>
            </a:r>
            <a:endParaRPr sz="1800">
              <a:solidFill>
                <a:schemeClr val="dk1"/>
              </a:solidFill>
              <a:latin typeface="Calibri"/>
              <a:ea typeface="Calibri"/>
              <a:cs typeface="Calibri"/>
              <a:sym typeface="Calibri"/>
            </a:endParaRPr>
          </a:p>
        </p:txBody>
      </p:sp>
      <p:pic>
        <p:nvPicPr>
          <p:cNvPr id="580" name="Google Shape;580;p42"/>
          <p:cNvPicPr preferRelativeResize="0"/>
          <p:nvPr/>
        </p:nvPicPr>
        <p:blipFill rotWithShape="1">
          <a:blip r:embed="rId4">
            <a:alphaModFix/>
          </a:blip>
          <a:srcRect b="0" l="0" r="0" t="0"/>
          <a:stretch/>
        </p:blipFill>
        <p:spPr>
          <a:xfrm>
            <a:off x="8617940" y="4709071"/>
            <a:ext cx="1259139" cy="1051471"/>
          </a:xfrm>
          <a:prstGeom prst="rect">
            <a:avLst/>
          </a:prstGeom>
          <a:noFill/>
          <a:ln>
            <a:noFill/>
          </a:ln>
        </p:spPr>
      </p:pic>
      <p:sp>
        <p:nvSpPr>
          <p:cNvPr id="581" name="Google Shape;581;p42"/>
          <p:cNvSpPr/>
          <p:nvPr/>
        </p:nvSpPr>
        <p:spPr>
          <a:xfrm>
            <a:off x="6870055" y="5833765"/>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1000"/>
              <a:buFont typeface="Arial"/>
              <a:buNone/>
            </a:pPr>
            <a:r>
              <a:rPr b="0" i="0" lang="en-US" sz="1000">
                <a:solidFill>
                  <a:srgbClr val="62606A"/>
                </a:solidFill>
                <a:latin typeface="Arial"/>
                <a:ea typeface="Arial"/>
                <a:cs typeface="Arial"/>
                <a:sym typeface="Arial"/>
              </a:rPr>
              <a:t>Günther et al. (2018), Fig. 7(A–F). Published Cry4 structural model and FAD-binding region.</a:t>
            </a:r>
            <a:endParaRPr sz="1800">
              <a:solidFill>
                <a:schemeClr val="dk1"/>
              </a:solidFill>
              <a:latin typeface="Calibri"/>
              <a:ea typeface="Calibri"/>
              <a:cs typeface="Calibri"/>
              <a:sym typeface="Calibri"/>
            </a:endParaRPr>
          </a:p>
        </p:txBody>
      </p:sp>
      <p:sp>
        <p:nvSpPr>
          <p:cNvPr id="582" name="Google Shape;582;p42"/>
          <p:cNvSpPr/>
          <p:nvPr/>
        </p:nvSpPr>
        <p:spPr>
          <a:xfrm>
            <a:off x="566886" y="6382494"/>
            <a:ext cx="11058079" cy="9079"/>
          </a:xfrm>
          <a:prstGeom prst="rect">
            <a:avLst/>
          </a:prstGeom>
          <a:solidFill>
            <a:srgbClr val="DAD1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3" name="Google Shape;583;p42"/>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Xu et al. (2021); Günther et al. (2018)</a:t>
            </a:r>
            <a:endParaRPr sz="1800">
              <a:solidFill>
                <a:schemeClr val="dk1"/>
              </a:solidFill>
              <a:latin typeface="Calibri"/>
              <a:ea typeface="Calibri"/>
              <a:cs typeface="Calibri"/>
              <a:sym typeface="Calibri"/>
            </a:endParaRPr>
          </a:p>
        </p:txBody>
      </p:sp>
      <p:sp>
        <p:nvSpPr>
          <p:cNvPr id="584" name="Google Shape;584;p42"/>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42</a:t>
            </a:r>
            <a:endParaRPr sz="1800">
              <a:solidFill>
                <a:schemeClr val="dk1"/>
              </a:solidFill>
              <a:latin typeface="Calibri"/>
              <a:ea typeface="Calibri"/>
              <a:cs typeface="Calibri"/>
              <a:sym typeface="Calibri"/>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88" name="Shape 588"/>
        <p:cNvGrpSpPr/>
        <p:nvPr/>
      </p:nvGrpSpPr>
      <p:grpSpPr>
        <a:xfrm>
          <a:off x="0" y="0"/>
          <a:ext cx="0" cy="0"/>
          <a:chOff x="0" y="0"/>
          <a:chExt cx="0" cy="0"/>
        </a:xfrm>
      </p:grpSpPr>
      <p:sp>
        <p:nvSpPr>
          <p:cNvPr id="589" name="Google Shape;589;p43"/>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8A3B32"/>
              </a:buClr>
              <a:buSzPts val="3000"/>
              <a:buFont typeface="Arial"/>
              <a:buNone/>
            </a:pPr>
            <a:r>
              <a:rPr b="1" i="0" lang="en-US" sz="3000">
                <a:solidFill>
                  <a:srgbClr val="8A3B32"/>
                </a:solidFill>
                <a:latin typeface="Arial"/>
                <a:ea typeface="Arial"/>
                <a:cs typeface="Arial"/>
                <a:sym typeface="Arial"/>
              </a:rPr>
              <a:t>Iron staining does not identify a magnetic neuron</a:t>
            </a:r>
            <a:endParaRPr sz="1800">
              <a:solidFill>
                <a:schemeClr val="dk1"/>
              </a:solidFill>
              <a:latin typeface="Calibri"/>
              <a:ea typeface="Calibri"/>
              <a:cs typeface="Calibri"/>
              <a:sym typeface="Calibri"/>
            </a:endParaRPr>
          </a:p>
        </p:txBody>
      </p:sp>
      <p:sp>
        <p:nvSpPr>
          <p:cNvPr id="590" name="Google Shape;590;p43"/>
          <p:cNvSpPr/>
          <p:nvPr/>
        </p:nvSpPr>
        <p:spPr>
          <a:xfrm>
            <a:off x="566886" y="1234380"/>
            <a:ext cx="5956250"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6252A"/>
              </a:buClr>
              <a:buSzPts val="1600"/>
              <a:buFont typeface="Arial"/>
              <a:buNone/>
            </a:pPr>
            <a:r>
              <a:rPr b="0" i="0" lang="en-US" sz="1600">
                <a:solidFill>
                  <a:srgbClr val="26252A"/>
                </a:solidFill>
                <a:latin typeface="Arial"/>
                <a:ea typeface="Arial"/>
                <a:cs typeface="Arial"/>
                <a:sym typeface="Arial"/>
              </a:rPr>
              <a:t>A proposed alternative receptor uses </a:t>
            </a:r>
            <a:r>
              <a:rPr b="1" i="0" lang="en-US" sz="1600">
                <a:solidFill>
                  <a:srgbClr val="8A3B32"/>
                </a:solidFill>
                <a:latin typeface="Arial"/>
                <a:ea typeface="Arial"/>
                <a:cs typeface="Arial"/>
                <a:sym typeface="Arial"/>
              </a:rPr>
              <a:t>magnetite</a:t>
            </a:r>
            <a:r>
              <a:rPr b="0" i="0" lang="en-US" sz="1600">
                <a:solidFill>
                  <a:srgbClr val="26252A"/>
                </a:solidFill>
                <a:latin typeface="Arial"/>
                <a:ea typeface="Arial"/>
                <a:cs typeface="Arial"/>
                <a:sym typeface="Arial"/>
              </a:rPr>
              <a:t>, an iron oxide whose particles can interact with magnetic fields. Treiber and colleagues reexamined iron-rich cells in pigeon upper beaks that had been proposed as magnetosensitive neurons. </a:t>
            </a:r>
            <a:r>
              <a:rPr b="1" i="0" lang="en-US" sz="1600">
                <a:solidFill>
                  <a:srgbClr val="8A3B32"/>
                </a:solidFill>
                <a:latin typeface="Arial"/>
                <a:ea typeface="Arial"/>
                <a:cs typeface="Arial"/>
                <a:sym typeface="Arial"/>
              </a:rPr>
              <a:t>Prussian blue</a:t>
            </a:r>
            <a:r>
              <a:rPr b="0" i="0" lang="en-US" sz="1600">
                <a:solidFill>
                  <a:srgbClr val="26252A"/>
                </a:solidFill>
                <a:latin typeface="Arial"/>
                <a:ea typeface="Arial"/>
                <a:cs typeface="Arial"/>
                <a:sym typeface="Arial"/>
              </a:rPr>
              <a:t> staining detects a form of iron accumulation but does not establish neuronal identity.</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6252A"/>
              </a:buClr>
              <a:buSzPts val="1600"/>
              <a:buFont typeface="Arial"/>
              <a:buNone/>
            </a:pPr>
            <a:r>
              <a:rPr b="0" i="0" lang="en-US" sz="1600">
                <a:solidFill>
                  <a:srgbClr val="26252A"/>
                </a:solidFill>
                <a:latin typeface="Arial"/>
                <a:ea typeface="Arial"/>
                <a:cs typeface="Arial"/>
                <a:sym typeface="Arial"/>
              </a:rPr>
              <a:t>Iron-positive cells occurred in subepidermal tissue, respiratory epithelium and feather follicles. Their positions and abundance varied strongly across birds rather than forming the claimed stereotyped bilateral sensory arrangement. At least 97% of the stained cells in the examined compartments contained visible nuclei.</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6252A"/>
              </a:buClr>
              <a:buSzPts val="1600"/>
              <a:buFont typeface="Arial"/>
              <a:buNone/>
            </a:pPr>
            <a:r>
              <a:rPr b="0" i="0" lang="en-US" sz="1600">
                <a:solidFill>
                  <a:srgbClr val="26252A"/>
                </a:solidFill>
                <a:latin typeface="Arial"/>
                <a:ea typeface="Arial"/>
                <a:cs typeface="Arial"/>
                <a:sym typeface="Arial"/>
              </a:rPr>
              <a:t>The anatomy challenged identification of this particular iron-rich population as an organized receptor system. A material sensitive to magnetism must be linked to an identified sensory cell and pathway before it can be considered a receptor, and the iron-positive cells varied strongly across birds.</a:t>
            </a:r>
            <a:endParaRPr sz="1800">
              <a:solidFill>
                <a:schemeClr val="dk1"/>
              </a:solidFill>
              <a:latin typeface="Calibri"/>
              <a:ea typeface="Calibri"/>
              <a:cs typeface="Calibri"/>
              <a:sym typeface="Calibri"/>
            </a:endParaRPr>
          </a:p>
        </p:txBody>
      </p:sp>
      <p:pic>
        <p:nvPicPr>
          <p:cNvPr id="593" name="Google Shape;593;p43"/>
          <p:cNvPicPr preferRelativeResize="0"/>
          <p:nvPr/>
        </p:nvPicPr>
        <p:blipFill rotWithShape="1">
          <a:blip r:embed="rId3">
            <a:alphaModFix/>
          </a:blip>
          <a:srcRect b="0" l="0" r="0" t="0"/>
          <a:stretch/>
        </p:blipFill>
        <p:spPr>
          <a:xfrm>
            <a:off x="7336097" y="1280071"/>
            <a:ext cx="3822528" cy="4297561"/>
          </a:xfrm>
          <a:prstGeom prst="rect">
            <a:avLst/>
          </a:prstGeom>
          <a:noFill/>
          <a:ln>
            <a:noFill/>
          </a:ln>
        </p:spPr>
      </p:pic>
      <p:sp>
        <p:nvSpPr>
          <p:cNvPr id="594" name="Google Shape;594;p43"/>
          <p:cNvSpPr/>
          <p:nvPr/>
        </p:nvSpPr>
        <p:spPr>
          <a:xfrm>
            <a:off x="6870055" y="5669161"/>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1000"/>
              <a:buFont typeface="Arial"/>
              <a:buNone/>
            </a:pPr>
            <a:r>
              <a:rPr b="0" i="0" lang="en-US" sz="1000">
                <a:solidFill>
                  <a:srgbClr val="62606A"/>
                </a:solidFill>
                <a:latin typeface="Arial"/>
                <a:ea typeface="Arial"/>
                <a:cs typeface="Arial"/>
                <a:sym typeface="Arial"/>
              </a:rPr>
              <a:t>Treiber et al. (2012), Fig. 1(a–k). Iron-positive cells occur in several upper-beak compartments.</a:t>
            </a:r>
            <a:endParaRPr sz="1800">
              <a:solidFill>
                <a:schemeClr val="dk1"/>
              </a:solidFill>
              <a:latin typeface="Calibri"/>
              <a:ea typeface="Calibri"/>
              <a:cs typeface="Calibri"/>
              <a:sym typeface="Calibri"/>
            </a:endParaRPr>
          </a:p>
        </p:txBody>
      </p:sp>
      <p:sp>
        <p:nvSpPr>
          <p:cNvPr id="595" name="Google Shape;595;p43"/>
          <p:cNvSpPr/>
          <p:nvPr/>
        </p:nvSpPr>
        <p:spPr>
          <a:xfrm>
            <a:off x="566886" y="6382494"/>
            <a:ext cx="11058079" cy="9079"/>
          </a:xfrm>
          <a:prstGeom prst="rect">
            <a:avLst/>
          </a:prstGeom>
          <a:solidFill>
            <a:srgbClr val="DAD1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6" name="Google Shape;596;p43"/>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Treiber et al. (2012)</a:t>
            </a:r>
            <a:endParaRPr sz="1800">
              <a:solidFill>
                <a:schemeClr val="dk1"/>
              </a:solidFill>
              <a:latin typeface="Calibri"/>
              <a:ea typeface="Calibri"/>
              <a:cs typeface="Calibri"/>
              <a:sym typeface="Calibri"/>
            </a:endParaRPr>
          </a:p>
        </p:txBody>
      </p:sp>
      <p:sp>
        <p:nvSpPr>
          <p:cNvPr id="597" name="Google Shape;597;p43"/>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43</a:t>
            </a:r>
            <a:endParaRPr sz="1800">
              <a:solidFill>
                <a:schemeClr val="dk1"/>
              </a:solidFill>
              <a:latin typeface="Calibri"/>
              <a:ea typeface="Calibri"/>
              <a:cs typeface="Calibri"/>
              <a:sym typeface="Calibri"/>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01" name="Shape 601"/>
        <p:cNvGrpSpPr/>
        <p:nvPr/>
      </p:nvGrpSpPr>
      <p:grpSpPr>
        <a:xfrm>
          <a:off x="0" y="0"/>
          <a:ext cx="0" cy="0"/>
          <a:chOff x="0" y="0"/>
          <a:chExt cx="0" cy="0"/>
        </a:xfrm>
      </p:grpSpPr>
      <p:sp>
        <p:nvSpPr>
          <p:cNvPr id="602" name="Google Shape;602;p44"/>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8A3B32"/>
              </a:buClr>
              <a:buSzPts val="3000"/>
              <a:buFont typeface="Arial"/>
              <a:buNone/>
            </a:pPr>
            <a:r>
              <a:rPr b="1" i="0" lang="en-US" sz="3000">
                <a:solidFill>
                  <a:srgbClr val="8A3B32"/>
                </a:solidFill>
                <a:latin typeface="Arial"/>
                <a:ea typeface="Arial"/>
                <a:cs typeface="Arial"/>
                <a:sym typeface="Arial"/>
              </a:rPr>
              <a:t>Iron-rich upper-beak cells are macrophages</a:t>
            </a:r>
            <a:endParaRPr sz="1800">
              <a:solidFill>
                <a:schemeClr val="dk1"/>
              </a:solidFill>
              <a:latin typeface="Calibri"/>
              <a:ea typeface="Calibri"/>
              <a:cs typeface="Calibri"/>
              <a:sym typeface="Calibri"/>
            </a:endParaRPr>
          </a:p>
        </p:txBody>
      </p:sp>
      <p:sp>
        <p:nvSpPr>
          <p:cNvPr id="603" name="Google Shape;603;p44"/>
          <p:cNvSpPr/>
          <p:nvPr/>
        </p:nvSpPr>
        <p:spPr>
          <a:xfrm>
            <a:off x="566886" y="1234380"/>
            <a:ext cx="5956250"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8A3B32"/>
              </a:buClr>
              <a:buSzPts val="1500"/>
              <a:buFont typeface="Arial"/>
              <a:buNone/>
            </a:pPr>
            <a:r>
              <a:rPr b="1" i="0" lang="en-US" sz="1500">
                <a:solidFill>
                  <a:srgbClr val="8A3B32"/>
                </a:solidFill>
                <a:latin typeface="Arial"/>
                <a:ea typeface="Arial"/>
                <a:cs typeface="Arial"/>
                <a:sym typeface="Arial"/>
              </a:rPr>
              <a:t>Macrophages</a:t>
            </a:r>
            <a:r>
              <a:rPr b="0" i="0" lang="en-US" sz="1500">
                <a:solidFill>
                  <a:srgbClr val="26252A"/>
                </a:solidFill>
                <a:latin typeface="Arial"/>
                <a:ea typeface="Arial"/>
                <a:cs typeface="Arial"/>
                <a:sym typeface="Arial"/>
              </a:rPr>
              <a:t> are immune cells that can accumulate and process material within tissues. Treiber and colleagues combined iron staining with neuronal markers, immune-marker staining and electron microscopy. This approach tested cell identity rather than assuming that an iron deposit near a sensory nerve is part of a magnetoreceptor.</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6252A"/>
              </a:buClr>
              <a:buSzPts val="1500"/>
              <a:buFont typeface="Arial"/>
              <a:buNone/>
            </a:pPr>
            <a:r>
              <a:rPr b="0" i="0" lang="en-US" sz="1500">
                <a:solidFill>
                  <a:srgbClr val="26252A"/>
                </a:solidFill>
                <a:latin typeface="Arial"/>
                <a:ea typeface="Arial"/>
                <a:cs typeface="Arial"/>
                <a:sym typeface="Arial"/>
              </a:rPr>
              <a:t>The iron-positive populations rarely overlapped the tested neuronal markers and overlapped MHC class II, an antigen-presentation marker. Electron microscopy revealed ferritin-like granules about 6–9 nm across and iron-containing structures including siderosomes approximately 300 nm in size.</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6252A"/>
              </a:buClr>
              <a:buSzPts val="1500"/>
              <a:buFont typeface="Arial"/>
              <a:buNone/>
            </a:pPr>
            <a:r>
              <a:rPr b="0" i="0" lang="en-US" sz="1500">
                <a:solidFill>
                  <a:srgbClr val="26252A"/>
                </a:solidFill>
                <a:latin typeface="Arial"/>
                <a:ea typeface="Arial"/>
                <a:cs typeface="Arial"/>
                <a:sym typeface="Arial"/>
              </a:rPr>
              <a:t>These results support macrophage identity for the examined cells. The iron-rich clusters examined in the upper beak are therefore immune cells and not magnetosensitive neurons, and the peripheral source of trigeminal magnetic information is a separate question.</a:t>
            </a:r>
            <a:endParaRPr sz="1800">
              <a:solidFill>
                <a:schemeClr val="dk1"/>
              </a:solidFill>
              <a:latin typeface="Calibri"/>
              <a:ea typeface="Calibri"/>
              <a:cs typeface="Calibri"/>
              <a:sym typeface="Calibri"/>
            </a:endParaRPr>
          </a:p>
        </p:txBody>
      </p:sp>
      <p:pic>
        <p:nvPicPr>
          <p:cNvPr id="606" name="Google Shape;606;p44"/>
          <p:cNvPicPr preferRelativeResize="0"/>
          <p:nvPr/>
        </p:nvPicPr>
        <p:blipFill rotWithShape="1">
          <a:blip r:embed="rId3">
            <a:alphaModFix/>
          </a:blip>
          <a:srcRect b="0" l="0" r="0" t="0"/>
          <a:stretch/>
        </p:blipFill>
        <p:spPr>
          <a:xfrm>
            <a:off x="6870212" y="1280071"/>
            <a:ext cx="4754596" cy="1420713"/>
          </a:xfrm>
          <a:prstGeom prst="rect">
            <a:avLst/>
          </a:prstGeom>
          <a:noFill/>
          <a:ln>
            <a:noFill/>
          </a:ln>
        </p:spPr>
      </p:pic>
      <p:sp>
        <p:nvSpPr>
          <p:cNvPr id="607" name="Google Shape;607;p44"/>
          <p:cNvSpPr/>
          <p:nvPr/>
        </p:nvSpPr>
        <p:spPr>
          <a:xfrm>
            <a:off x="6870055" y="2792313"/>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1000"/>
              <a:buFont typeface="Arial"/>
              <a:buNone/>
            </a:pPr>
            <a:r>
              <a:rPr b="0" i="0" lang="en-US" sz="1000">
                <a:solidFill>
                  <a:srgbClr val="62606A"/>
                </a:solidFill>
                <a:latin typeface="Arial"/>
                <a:ea typeface="Arial"/>
                <a:cs typeface="Arial"/>
                <a:sym typeface="Arial"/>
              </a:rPr>
              <a:t>Treiber et al. (2012), Fig. 4(a–c). Immune-marker staining identifies iron-rich cells as macrophages.</a:t>
            </a:r>
            <a:endParaRPr sz="1800">
              <a:solidFill>
                <a:schemeClr val="dk1"/>
              </a:solidFill>
              <a:latin typeface="Calibri"/>
              <a:ea typeface="Calibri"/>
              <a:cs typeface="Calibri"/>
              <a:sym typeface="Calibri"/>
            </a:endParaRPr>
          </a:p>
        </p:txBody>
      </p:sp>
      <p:pic>
        <p:nvPicPr>
          <p:cNvPr id="608" name="Google Shape;608;p44"/>
          <p:cNvPicPr preferRelativeResize="0"/>
          <p:nvPr/>
        </p:nvPicPr>
        <p:blipFill rotWithShape="1">
          <a:blip r:embed="rId4">
            <a:alphaModFix/>
          </a:blip>
          <a:srcRect b="0" l="0" r="0" t="0"/>
          <a:stretch/>
        </p:blipFill>
        <p:spPr>
          <a:xfrm>
            <a:off x="8775353" y="4709074"/>
            <a:ext cx="944314" cy="1051465"/>
          </a:xfrm>
          <a:prstGeom prst="rect">
            <a:avLst/>
          </a:prstGeom>
          <a:noFill/>
          <a:ln>
            <a:noFill/>
          </a:ln>
        </p:spPr>
      </p:pic>
      <p:sp>
        <p:nvSpPr>
          <p:cNvPr id="609" name="Google Shape;609;p44"/>
          <p:cNvSpPr/>
          <p:nvPr/>
        </p:nvSpPr>
        <p:spPr>
          <a:xfrm>
            <a:off x="6870055" y="5833765"/>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1000"/>
              <a:buFont typeface="Arial"/>
              <a:buNone/>
            </a:pPr>
            <a:r>
              <a:rPr b="0" i="0" lang="en-US" sz="1000">
                <a:solidFill>
                  <a:srgbClr val="62606A"/>
                </a:solidFill>
                <a:latin typeface="Arial"/>
                <a:ea typeface="Arial"/>
                <a:cs typeface="Arial"/>
                <a:sym typeface="Arial"/>
              </a:rPr>
              <a:t>Treiber et al. (2012), Fig. 3(a–f). Electron microscopy of iron-storing granules and siderosomes.</a:t>
            </a:r>
            <a:endParaRPr sz="1800">
              <a:solidFill>
                <a:schemeClr val="dk1"/>
              </a:solidFill>
              <a:latin typeface="Calibri"/>
              <a:ea typeface="Calibri"/>
              <a:cs typeface="Calibri"/>
              <a:sym typeface="Calibri"/>
            </a:endParaRPr>
          </a:p>
        </p:txBody>
      </p:sp>
      <p:sp>
        <p:nvSpPr>
          <p:cNvPr id="610" name="Google Shape;610;p44"/>
          <p:cNvSpPr/>
          <p:nvPr/>
        </p:nvSpPr>
        <p:spPr>
          <a:xfrm>
            <a:off x="566886" y="6382494"/>
            <a:ext cx="11058079" cy="9079"/>
          </a:xfrm>
          <a:prstGeom prst="rect">
            <a:avLst/>
          </a:prstGeom>
          <a:solidFill>
            <a:srgbClr val="DAD1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11" name="Google Shape;611;p44"/>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Treiber et al. (2012)</a:t>
            </a:r>
            <a:endParaRPr sz="1800">
              <a:solidFill>
                <a:schemeClr val="dk1"/>
              </a:solidFill>
              <a:latin typeface="Calibri"/>
              <a:ea typeface="Calibri"/>
              <a:cs typeface="Calibri"/>
              <a:sym typeface="Calibri"/>
            </a:endParaRPr>
          </a:p>
        </p:txBody>
      </p:sp>
      <p:sp>
        <p:nvSpPr>
          <p:cNvPr id="612" name="Google Shape;612;p44"/>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44</a:t>
            </a:r>
            <a:endParaRPr sz="1800">
              <a:solidFill>
                <a:schemeClr val="dk1"/>
              </a:solidFill>
              <a:latin typeface="Calibri"/>
              <a:ea typeface="Calibri"/>
              <a:cs typeface="Calibri"/>
              <a:sym typeface="Calibri"/>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16" name="Shape 616"/>
        <p:cNvGrpSpPr/>
        <p:nvPr/>
      </p:nvGrpSpPr>
      <p:grpSpPr>
        <a:xfrm>
          <a:off x="0" y="0"/>
          <a:ext cx="0" cy="0"/>
          <a:chOff x="0" y="0"/>
          <a:chExt cx="0" cy="0"/>
        </a:xfrm>
      </p:grpSpPr>
      <p:sp>
        <p:nvSpPr>
          <p:cNvPr id="617" name="Google Shape;617;p45"/>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8A3B32"/>
              </a:buClr>
              <a:buSzPts val="3000"/>
              <a:buFont typeface="Arial"/>
              <a:buNone/>
            </a:pPr>
            <a:r>
              <a:rPr b="1" i="0" lang="en-US" sz="3000">
                <a:solidFill>
                  <a:srgbClr val="8A3B32"/>
                </a:solidFill>
                <a:latin typeface="Arial"/>
                <a:ea typeface="Arial"/>
                <a:cs typeface="Arial"/>
                <a:sym typeface="Arial"/>
              </a:rPr>
              <a:t>Map and compass evidence supports distinct mechanisms</a:t>
            </a:r>
            <a:endParaRPr sz="1800">
              <a:solidFill>
                <a:schemeClr val="dk1"/>
              </a:solidFill>
              <a:latin typeface="Calibri"/>
              <a:ea typeface="Calibri"/>
              <a:cs typeface="Calibri"/>
              <a:sym typeface="Calibri"/>
            </a:endParaRPr>
          </a:p>
        </p:txBody>
      </p:sp>
      <p:sp>
        <p:nvSpPr>
          <p:cNvPr id="618" name="Google Shape;618;p45"/>
          <p:cNvSpPr/>
          <p:nvPr/>
        </p:nvSpPr>
        <p:spPr>
          <a:xfrm>
            <a:off x="566886" y="1234380"/>
            <a:ext cx="5956250"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6252A"/>
              </a:buClr>
              <a:buSzPts val="1500"/>
              <a:buFont typeface="Arial"/>
              <a:buNone/>
            </a:pPr>
            <a:r>
              <a:rPr b="0" i="0" lang="en-US" sz="1500">
                <a:solidFill>
                  <a:srgbClr val="26252A"/>
                </a:solidFill>
                <a:latin typeface="Arial"/>
                <a:ea typeface="Arial"/>
                <a:cs typeface="Arial"/>
                <a:sym typeface="Arial"/>
              </a:rPr>
              <a:t>The turtle studies distinguish regional-field recognition from the direction selected after recognition. A learned food-anticipatory assay tests magnetic signatures without requiring a compass heading, whereas hatchling swimming assays can require both positional cues and directional information to produce an appropriate course.</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6252A"/>
              </a:buClr>
              <a:buSzPts val="1500"/>
              <a:buFont typeface="Arial"/>
              <a:buNone/>
            </a:pPr>
            <a:r>
              <a:rPr b="0" i="0" lang="en-US" sz="1500">
                <a:solidFill>
                  <a:srgbClr val="26252A"/>
                </a:solidFill>
                <a:latin typeface="Arial"/>
                <a:ea typeface="Arial"/>
                <a:cs typeface="Arial"/>
                <a:sym typeface="Arial"/>
              </a:rPr>
              <a:t>Radiofrequency exposure spared learned turtle map discrimination but disrupted the compass-dependent orientation task. A strong magnetic pulse reduced learned map responses. In birds, Cluster N lesions disrupted compass behavior, whereas trigeminal sections impaired map compensation in reed warblers while sparing the tested robin compass.</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6252A"/>
              </a:buClr>
              <a:buSzPts val="1500"/>
              <a:buFont typeface="Arial"/>
              <a:buNone/>
            </a:pPr>
            <a:r>
              <a:rPr b="0" i="0" lang="en-US" sz="1500">
                <a:solidFill>
                  <a:srgbClr val="26252A"/>
                </a:solidFill>
                <a:latin typeface="Arial"/>
                <a:ea typeface="Arial"/>
                <a:cs typeface="Arial"/>
                <a:sym typeface="Arial"/>
              </a:rPr>
              <a:t>The converging evidence supports separable functions and candidate transduction processes, with important differences between species and preparations. Cry4 localization and purified photochemistry support a radical-pair hypothesis; particle-based maps remain plausible but lack an identified receptor pathway. The receptor-to-behavior circuits, including the transmitters and ion channels, connect these candidate mechanisms to behavior.</a:t>
            </a:r>
            <a:endParaRPr sz="1800">
              <a:solidFill>
                <a:schemeClr val="dk1"/>
              </a:solidFill>
              <a:latin typeface="Calibri"/>
              <a:ea typeface="Calibri"/>
              <a:cs typeface="Calibri"/>
              <a:sym typeface="Calibri"/>
            </a:endParaRPr>
          </a:p>
        </p:txBody>
      </p:sp>
      <p:pic>
        <p:nvPicPr>
          <p:cNvPr id="621" name="Google Shape;621;p45"/>
          <p:cNvPicPr preferRelativeResize="0"/>
          <p:nvPr/>
        </p:nvPicPr>
        <p:blipFill rotWithShape="1">
          <a:blip r:embed="rId3">
            <a:alphaModFix/>
          </a:blip>
          <a:srcRect b="0" l="0" r="0" t="0"/>
          <a:stretch/>
        </p:blipFill>
        <p:spPr>
          <a:xfrm>
            <a:off x="7975763" y="1280071"/>
            <a:ext cx="2543493" cy="2880271"/>
          </a:xfrm>
          <a:prstGeom prst="rect">
            <a:avLst/>
          </a:prstGeom>
          <a:noFill/>
          <a:ln>
            <a:noFill/>
          </a:ln>
        </p:spPr>
      </p:pic>
      <p:sp>
        <p:nvSpPr>
          <p:cNvPr id="622" name="Google Shape;622;p45"/>
          <p:cNvSpPr/>
          <p:nvPr/>
        </p:nvSpPr>
        <p:spPr>
          <a:xfrm>
            <a:off x="6870055" y="4251871"/>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1000"/>
              <a:buFont typeface="Arial"/>
              <a:buNone/>
            </a:pPr>
            <a:r>
              <a:rPr b="0" i="0" lang="en-US" sz="1000">
                <a:solidFill>
                  <a:srgbClr val="62606A"/>
                </a:solidFill>
                <a:latin typeface="Arial"/>
                <a:ea typeface="Arial"/>
                <a:cs typeface="Arial"/>
                <a:sym typeface="Arial"/>
              </a:rPr>
              <a:t>Goforth et al. (2025), Fig. 5(a–b). Map discrimination and compass-dependent orientation dissociate.</a:t>
            </a:r>
            <a:endParaRPr sz="1800">
              <a:solidFill>
                <a:schemeClr val="dk1"/>
              </a:solidFill>
              <a:latin typeface="Calibri"/>
              <a:ea typeface="Calibri"/>
              <a:cs typeface="Calibri"/>
              <a:sym typeface="Calibri"/>
            </a:endParaRPr>
          </a:p>
        </p:txBody>
      </p:sp>
      <p:pic>
        <p:nvPicPr>
          <p:cNvPr id="623" name="Google Shape;623;p45"/>
          <p:cNvPicPr preferRelativeResize="0"/>
          <p:nvPr/>
        </p:nvPicPr>
        <p:blipFill rotWithShape="1">
          <a:blip r:embed="rId4">
            <a:alphaModFix/>
          </a:blip>
          <a:srcRect b="0" l="0" r="0" t="0"/>
          <a:stretch/>
        </p:blipFill>
        <p:spPr>
          <a:xfrm>
            <a:off x="8617940" y="4709071"/>
            <a:ext cx="1259139" cy="1051471"/>
          </a:xfrm>
          <a:prstGeom prst="rect">
            <a:avLst/>
          </a:prstGeom>
          <a:noFill/>
          <a:ln>
            <a:noFill/>
          </a:ln>
        </p:spPr>
      </p:pic>
      <p:sp>
        <p:nvSpPr>
          <p:cNvPr id="624" name="Google Shape;624;p45"/>
          <p:cNvSpPr/>
          <p:nvPr/>
        </p:nvSpPr>
        <p:spPr>
          <a:xfrm>
            <a:off x="6870055" y="5833765"/>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1000"/>
              <a:buFont typeface="Arial"/>
              <a:buNone/>
            </a:pPr>
            <a:r>
              <a:rPr b="0" i="0" lang="en-US" sz="1000">
                <a:solidFill>
                  <a:srgbClr val="62606A"/>
                </a:solidFill>
                <a:latin typeface="Arial"/>
                <a:ea typeface="Arial"/>
                <a:cs typeface="Arial"/>
                <a:sym typeface="Arial"/>
              </a:rPr>
              <a:t>Günther et al. (2018), Fig. 7(A–F). Published Cry4 structural model and FAD-binding region.</a:t>
            </a:r>
            <a:endParaRPr sz="1800">
              <a:solidFill>
                <a:schemeClr val="dk1"/>
              </a:solidFill>
              <a:latin typeface="Calibri"/>
              <a:ea typeface="Calibri"/>
              <a:cs typeface="Calibri"/>
              <a:sym typeface="Calibri"/>
            </a:endParaRPr>
          </a:p>
        </p:txBody>
      </p:sp>
      <p:sp>
        <p:nvSpPr>
          <p:cNvPr id="625" name="Google Shape;625;p45"/>
          <p:cNvSpPr/>
          <p:nvPr/>
        </p:nvSpPr>
        <p:spPr>
          <a:xfrm>
            <a:off x="566886" y="6382494"/>
            <a:ext cx="11058079" cy="9079"/>
          </a:xfrm>
          <a:prstGeom prst="rect">
            <a:avLst/>
          </a:prstGeom>
          <a:solidFill>
            <a:srgbClr val="DAD1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26" name="Google Shape;626;p45"/>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Goforth et al. (2025); Mackiewicz et al. (2025); Zapka et al. (2009); Pakhomov et al. (2018); Günther et al. (2018); Xu et al. (2021)</a:t>
            </a:r>
            <a:endParaRPr sz="1800">
              <a:solidFill>
                <a:schemeClr val="dk1"/>
              </a:solidFill>
              <a:latin typeface="Calibri"/>
              <a:ea typeface="Calibri"/>
              <a:cs typeface="Calibri"/>
              <a:sym typeface="Calibri"/>
            </a:endParaRPr>
          </a:p>
        </p:txBody>
      </p:sp>
      <p:sp>
        <p:nvSpPr>
          <p:cNvPr id="627" name="Google Shape;627;p45"/>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45</a:t>
            </a:r>
            <a:endParaRPr sz="1800">
              <a:solidFill>
                <a:schemeClr val="dk1"/>
              </a:solidFill>
              <a:latin typeface="Calibri"/>
              <a:ea typeface="Calibri"/>
              <a:cs typeface="Calibri"/>
              <a:sym typeface="Calibri"/>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31" name="Shape 631"/>
        <p:cNvGrpSpPr/>
        <p:nvPr/>
      </p:nvGrpSpPr>
      <p:grpSpPr>
        <a:xfrm>
          <a:off x="0" y="0"/>
          <a:ext cx="0" cy="0"/>
          <a:chOff x="0" y="0"/>
          <a:chExt cx="0" cy="0"/>
        </a:xfrm>
      </p:grpSpPr>
      <p:sp>
        <p:nvSpPr>
          <p:cNvPr id="632" name="Google Shape;632;p46"/>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8A3B32"/>
              </a:buClr>
              <a:buSzPts val="3000"/>
              <a:buFont typeface="Arial"/>
              <a:buNone/>
            </a:pPr>
            <a:r>
              <a:rPr b="1" i="0" lang="en-US" sz="3000">
                <a:solidFill>
                  <a:srgbClr val="8A3B32"/>
                </a:solidFill>
                <a:latin typeface="Arial"/>
                <a:ea typeface="Arial"/>
                <a:cs typeface="Arial"/>
                <a:sym typeface="Arial"/>
              </a:rPr>
              <a:t>Key takeaways</a:t>
            </a:r>
            <a:endParaRPr sz="1800">
              <a:solidFill>
                <a:schemeClr val="dk1"/>
              </a:solidFill>
              <a:latin typeface="Calibri"/>
              <a:ea typeface="Calibri"/>
              <a:cs typeface="Calibri"/>
              <a:sym typeface="Calibri"/>
            </a:endParaRPr>
          </a:p>
        </p:txBody>
      </p:sp>
      <p:sp>
        <p:nvSpPr>
          <p:cNvPr id="633" name="Google Shape;633;p46"/>
          <p:cNvSpPr/>
          <p:nvPr/>
        </p:nvSpPr>
        <p:spPr>
          <a:xfrm>
            <a:off x="566886" y="1234380"/>
            <a:ext cx="5391894" cy="1478161"/>
          </a:xfrm>
          <a:prstGeom prst="rect">
            <a:avLst/>
          </a:prstGeom>
          <a:solidFill>
            <a:srgbClr val="F6F2F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4" name="Google Shape;634;p46"/>
          <p:cNvSpPr/>
          <p:nvPr/>
        </p:nvSpPr>
        <p:spPr>
          <a:xfrm>
            <a:off x="749796" y="1371600"/>
            <a:ext cx="5045125" cy="658118"/>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8A3B32"/>
              </a:buClr>
              <a:buSzPts val="1600"/>
              <a:buFont typeface="Arial"/>
              <a:buNone/>
            </a:pPr>
            <a:r>
              <a:rPr b="1" i="0" lang="en-US" sz="1600">
                <a:solidFill>
                  <a:srgbClr val="8A3B32"/>
                </a:solidFill>
                <a:latin typeface="Arial"/>
                <a:ea typeface="Arial"/>
                <a:cs typeface="Arial"/>
                <a:sym typeface="Arial"/>
              </a:rPr>
              <a:t>Compass and map differ</a:t>
            </a:r>
            <a:r>
              <a:rPr b="0" i="0" lang="en-US" sz="1600">
                <a:solidFill>
                  <a:srgbClr val="26252A"/>
                </a:solidFill>
                <a:latin typeface="Arial"/>
                <a:ea typeface="Arial"/>
                <a:cs typeface="Arial"/>
                <a:sym typeface="Arial"/>
              </a:rPr>
              <a:t> A compass supplies direction; a magnetic map uses location-related field information. An orientation assay can require both.</a:t>
            </a:r>
            <a:endParaRPr sz="1800">
              <a:solidFill>
                <a:schemeClr val="dk1"/>
              </a:solidFill>
              <a:latin typeface="Calibri"/>
              <a:ea typeface="Calibri"/>
              <a:cs typeface="Calibri"/>
              <a:sym typeface="Calibri"/>
            </a:endParaRPr>
          </a:p>
        </p:txBody>
      </p:sp>
      <p:sp>
        <p:nvSpPr>
          <p:cNvPr id="635" name="Google Shape;635;p46"/>
          <p:cNvSpPr/>
          <p:nvPr/>
        </p:nvSpPr>
        <p:spPr>
          <a:xfrm>
            <a:off x="6233071" y="1234380"/>
            <a:ext cx="5391894" cy="1478161"/>
          </a:xfrm>
          <a:prstGeom prst="rect">
            <a:avLst/>
          </a:prstGeom>
          <a:solidFill>
            <a:srgbClr val="F6F2F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6" name="Google Shape;636;p46"/>
          <p:cNvSpPr/>
          <p:nvPr/>
        </p:nvSpPr>
        <p:spPr>
          <a:xfrm>
            <a:off x="6415980" y="1371600"/>
            <a:ext cx="5045125" cy="82272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8A3B32"/>
              </a:buClr>
              <a:buSzPts val="1500"/>
              <a:buFont typeface="Arial"/>
              <a:buNone/>
            </a:pPr>
            <a:r>
              <a:rPr b="1" i="0" lang="en-US" sz="1500">
                <a:solidFill>
                  <a:srgbClr val="8A3B32"/>
                </a:solidFill>
                <a:latin typeface="Arial"/>
                <a:ea typeface="Arial"/>
                <a:cs typeface="Arial"/>
                <a:sym typeface="Arial"/>
              </a:rPr>
              <a:t>Turtles discriminate field geometry</a:t>
            </a:r>
            <a:r>
              <a:rPr b="0" i="0" lang="en-US" sz="1500">
                <a:solidFill>
                  <a:srgbClr val="26252A"/>
                </a:solidFill>
                <a:latin typeface="Arial"/>
                <a:ea typeface="Arial"/>
                <a:cs typeface="Arial"/>
                <a:sym typeface="Arial"/>
              </a:rPr>
              <a:t> Controlled inclination and regional-field changes evoke different swimming headings, including appropriate responses in ocean-inexperienced hatchlings.</a:t>
            </a:r>
            <a:endParaRPr sz="1800">
              <a:solidFill>
                <a:schemeClr val="dk1"/>
              </a:solidFill>
              <a:latin typeface="Calibri"/>
              <a:ea typeface="Calibri"/>
              <a:cs typeface="Calibri"/>
              <a:sym typeface="Calibri"/>
            </a:endParaRPr>
          </a:p>
        </p:txBody>
      </p:sp>
      <p:sp>
        <p:nvSpPr>
          <p:cNvPr id="637" name="Google Shape;637;p46"/>
          <p:cNvSpPr/>
          <p:nvPr/>
        </p:nvSpPr>
        <p:spPr>
          <a:xfrm>
            <a:off x="566886" y="2986980"/>
            <a:ext cx="5391894" cy="1478161"/>
          </a:xfrm>
          <a:prstGeom prst="rect">
            <a:avLst/>
          </a:prstGeom>
          <a:solidFill>
            <a:srgbClr val="F6F2F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8" name="Google Shape;638;p46"/>
          <p:cNvSpPr/>
          <p:nvPr/>
        </p:nvSpPr>
        <p:spPr>
          <a:xfrm>
            <a:off x="749796" y="3124200"/>
            <a:ext cx="5045125" cy="87749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8A3B32"/>
              </a:buClr>
              <a:buSzPts val="1600"/>
              <a:buFont typeface="Arial"/>
              <a:buNone/>
            </a:pPr>
            <a:r>
              <a:rPr b="1" i="0" lang="en-US" sz="1600">
                <a:solidFill>
                  <a:srgbClr val="8A3B32"/>
                </a:solidFill>
                <a:latin typeface="Arial"/>
                <a:ea typeface="Arial"/>
                <a:cs typeface="Arial"/>
                <a:sym typeface="Arial"/>
              </a:rPr>
              <a:t>Magnetic signatures can be learned</a:t>
            </a:r>
            <a:r>
              <a:rPr b="0" i="0" lang="en-US" sz="1600">
                <a:solidFill>
                  <a:srgbClr val="26252A"/>
                </a:solidFill>
                <a:latin typeface="Arial"/>
                <a:ea typeface="Arial"/>
                <a:cs typeface="Arial"/>
                <a:sym typeface="Arial"/>
              </a:rPr>
              <a:t> Juvenile loggerheads learn compound inclination–intensity cues and retain rewarded-field discrimination for at least four months.</a:t>
            </a:r>
            <a:endParaRPr sz="1800">
              <a:solidFill>
                <a:schemeClr val="dk1"/>
              </a:solidFill>
              <a:latin typeface="Calibri"/>
              <a:ea typeface="Calibri"/>
              <a:cs typeface="Calibri"/>
              <a:sym typeface="Calibri"/>
            </a:endParaRPr>
          </a:p>
        </p:txBody>
      </p:sp>
      <p:sp>
        <p:nvSpPr>
          <p:cNvPr id="639" name="Google Shape;639;p46"/>
          <p:cNvSpPr/>
          <p:nvPr/>
        </p:nvSpPr>
        <p:spPr>
          <a:xfrm>
            <a:off x="6233071" y="2986980"/>
            <a:ext cx="5391894" cy="1478161"/>
          </a:xfrm>
          <a:prstGeom prst="rect">
            <a:avLst/>
          </a:prstGeom>
          <a:solidFill>
            <a:srgbClr val="F6F2F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0" name="Google Shape;640;p46"/>
          <p:cNvSpPr/>
          <p:nvPr/>
        </p:nvSpPr>
        <p:spPr>
          <a:xfrm>
            <a:off x="6415980" y="3124200"/>
            <a:ext cx="5045125" cy="87749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8A3B32"/>
              </a:buClr>
              <a:buSzPts val="1600"/>
              <a:buFont typeface="Arial"/>
              <a:buNone/>
            </a:pPr>
            <a:r>
              <a:rPr b="1" i="0" lang="en-US" sz="1600">
                <a:solidFill>
                  <a:srgbClr val="8A3B32"/>
                </a:solidFill>
                <a:latin typeface="Arial"/>
                <a:ea typeface="Arial"/>
                <a:cs typeface="Arial"/>
                <a:sym typeface="Arial"/>
              </a:rPr>
              <a:t>Bird pathways serve different tasks</a:t>
            </a:r>
            <a:r>
              <a:rPr b="0" i="0" lang="en-US" sz="1600">
                <a:solidFill>
                  <a:srgbClr val="26252A"/>
                </a:solidFill>
                <a:latin typeface="Arial"/>
                <a:ea typeface="Arial"/>
                <a:cs typeface="Arial"/>
                <a:sym typeface="Arial"/>
              </a:rPr>
              <a:t> Cluster N is necessary for the tested robin magnetic compass; V1 input is necessary for magnetic map compensation in reed warblers.</a:t>
            </a:r>
            <a:endParaRPr sz="1800">
              <a:solidFill>
                <a:schemeClr val="dk1"/>
              </a:solidFill>
              <a:latin typeface="Calibri"/>
              <a:ea typeface="Calibri"/>
              <a:cs typeface="Calibri"/>
              <a:sym typeface="Calibri"/>
            </a:endParaRPr>
          </a:p>
        </p:txBody>
      </p:sp>
      <p:sp>
        <p:nvSpPr>
          <p:cNvPr id="641" name="Google Shape;641;p46"/>
          <p:cNvSpPr/>
          <p:nvPr/>
        </p:nvSpPr>
        <p:spPr>
          <a:xfrm>
            <a:off x="566886" y="4739580"/>
            <a:ext cx="5391894" cy="1478161"/>
          </a:xfrm>
          <a:prstGeom prst="rect">
            <a:avLst/>
          </a:prstGeom>
          <a:solidFill>
            <a:srgbClr val="F6F2F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2" name="Google Shape;642;p46"/>
          <p:cNvSpPr/>
          <p:nvPr/>
        </p:nvSpPr>
        <p:spPr>
          <a:xfrm>
            <a:off x="749796" y="4876800"/>
            <a:ext cx="5045125" cy="82272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8A3B32"/>
              </a:buClr>
              <a:buSzPts val="1500"/>
              <a:buFont typeface="Arial"/>
              <a:buNone/>
            </a:pPr>
            <a:r>
              <a:rPr b="1" i="0" lang="en-US" sz="1500">
                <a:solidFill>
                  <a:srgbClr val="8A3B32"/>
                </a:solidFill>
                <a:latin typeface="Arial"/>
                <a:ea typeface="Arial"/>
                <a:cs typeface="Arial"/>
                <a:sym typeface="Arial"/>
              </a:rPr>
              <a:t>Cry4 is a supported candidate</a:t>
            </a:r>
            <a:r>
              <a:rPr b="0" i="0" lang="en-US" sz="1500">
                <a:solidFill>
                  <a:srgbClr val="26252A"/>
                </a:solidFill>
                <a:latin typeface="Arial"/>
                <a:ea typeface="Arial"/>
                <a:cs typeface="Arial"/>
                <a:sym typeface="Arial"/>
              </a:rPr>
              <a:t> Retinal localization, antibody controls and magnetic-sensitive purified photochemistry support a radical-pair hypothesis without proving its complete neural mechanism.</a:t>
            </a:r>
            <a:endParaRPr sz="1800">
              <a:solidFill>
                <a:schemeClr val="dk1"/>
              </a:solidFill>
              <a:latin typeface="Calibri"/>
              <a:ea typeface="Calibri"/>
              <a:cs typeface="Calibri"/>
              <a:sym typeface="Calibri"/>
            </a:endParaRPr>
          </a:p>
        </p:txBody>
      </p:sp>
      <p:sp>
        <p:nvSpPr>
          <p:cNvPr id="643" name="Google Shape;643;p46"/>
          <p:cNvSpPr/>
          <p:nvPr/>
        </p:nvSpPr>
        <p:spPr>
          <a:xfrm>
            <a:off x="6233071" y="4739580"/>
            <a:ext cx="5391894" cy="1478161"/>
          </a:xfrm>
          <a:prstGeom prst="rect">
            <a:avLst/>
          </a:prstGeom>
          <a:solidFill>
            <a:srgbClr val="F6F2F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4" name="Google Shape;644;p46"/>
          <p:cNvSpPr/>
          <p:nvPr/>
        </p:nvSpPr>
        <p:spPr>
          <a:xfrm>
            <a:off x="6415980" y="4876800"/>
            <a:ext cx="5045125" cy="82272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8A3B32"/>
              </a:buClr>
              <a:buSzPts val="1500"/>
              <a:buFont typeface="Arial"/>
              <a:buNone/>
            </a:pPr>
            <a:r>
              <a:rPr b="1" i="0" lang="en-US" sz="1500">
                <a:solidFill>
                  <a:srgbClr val="8A3B32"/>
                </a:solidFill>
                <a:latin typeface="Arial"/>
                <a:ea typeface="Arial"/>
                <a:cs typeface="Arial"/>
                <a:sym typeface="Arial"/>
              </a:rPr>
              <a:t>Receptor identity remains unresolved</a:t>
            </a:r>
            <a:r>
              <a:rPr b="0" i="0" lang="en-US" sz="1500">
                <a:solidFill>
                  <a:srgbClr val="26252A"/>
                </a:solidFill>
                <a:latin typeface="Arial"/>
                <a:ea typeface="Arial"/>
                <a:cs typeface="Arial"/>
                <a:sym typeface="Arial"/>
              </a:rPr>
              <a:t> Pulse effects support candidate particle-based maps, but iron-positive beak cells can be macrophages; a magnetic material alone is not an identified sensory receptor.</a:t>
            </a:r>
            <a:endParaRPr sz="1800">
              <a:solidFill>
                <a:schemeClr val="dk1"/>
              </a:solidFill>
              <a:latin typeface="Calibri"/>
              <a:ea typeface="Calibri"/>
              <a:cs typeface="Calibri"/>
              <a:sym typeface="Calibri"/>
            </a:endParaRPr>
          </a:p>
        </p:txBody>
      </p:sp>
      <p:sp>
        <p:nvSpPr>
          <p:cNvPr id="645" name="Google Shape;645;p46"/>
          <p:cNvSpPr/>
          <p:nvPr/>
        </p:nvSpPr>
        <p:spPr>
          <a:xfrm>
            <a:off x="566886" y="6382494"/>
            <a:ext cx="11058079" cy="9079"/>
          </a:xfrm>
          <a:prstGeom prst="rect">
            <a:avLst/>
          </a:prstGeom>
          <a:solidFill>
            <a:srgbClr val="DAD1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6" name="Google Shape;646;p46"/>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Lohmann et al. (2001); Goforth et al. (2025); Zapka et al. (2009); Pakhomov et al. (2018); Günther et al. (2018); Xu et al. (2021); Treiber et al. (2012)</a:t>
            </a:r>
            <a:endParaRPr sz="1800">
              <a:solidFill>
                <a:schemeClr val="dk1"/>
              </a:solidFill>
              <a:latin typeface="Calibri"/>
              <a:ea typeface="Calibri"/>
              <a:cs typeface="Calibri"/>
              <a:sym typeface="Calibri"/>
            </a:endParaRPr>
          </a:p>
        </p:txBody>
      </p:sp>
      <p:sp>
        <p:nvSpPr>
          <p:cNvPr id="647" name="Google Shape;647;p46"/>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46</a:t>
            </a:r>
            <a:endParaRPr sz="1800">
              <a:solidFill>
                <a:schemeClr val="dk1"/>
              </a:solidFill>
              <a:latin typeface="Calibri"/>
              <a:ea typeface="Calibri"/>
              <a:cs typeface="Calibri"/>
              <a:sym typeface="Calibri"/>
            </a:endParaRP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589" name="Google Shape;589;p43"/>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8A3B32"/>
              </a:buClr>
              <a:buSzPts val="3000"/>
              <a:buFont typeface="Arial"/>
              <a:buNone/>
            </a:pPr>
            <a:r>
              <a:rPr b="1" i="0" lang="en-US" sz="3000">
                <a:solidFill>
                  <a:srgbClr val="8A3B32"/>
                </a:solidFill>
                <a:latin typeface="Arial"/>
                <a:ea typeface="Arial"/>
                <a:cs typeface="Arial"/>
                <a:sym typeface="Arial"/>
              </a:rPr>
              <a:t>Prussian blue stains iron and not cell identity</a:t>
            </a:r>
            <a:endParaRPr sz="1800">
              <a:solidFill>
                <a:schemeClr val="dk1"/>
              </a:solidFill>
              <a:latin typeface="Calibri"/>
              <a:ea typeface="Calibri"/>
              <a:cs typeface="Calibri"/>
              <a:sym typeface="Calibri"/>
            </a:endParaRPr>
          </a:p>
        </p:txBody>
      </p:sp>
      <p:sp>
        <p:nvSpPr>
          <p:cNvPr id="590" name="Google Shape;590;p43"/>
          <p:cNvSpPr/>
          <p:nvPr/>
        </p:nvSpPr>
        <p:spPr>
          <a:xfrm>
            <a:off x="566886" y="1234380"/>
            <a:ext cx="5956250"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6252A"/>
              </a:buClr>
              <a:buSzPts val="1600"/>
              <a:buFont typeface="Arial"/>
              <a:buNone/>
            </a:pPr>
            <a:r>
              <a:rPr b="1" i="0" lang="en-US" sz="1600">
                <a:solidFill>
                  <a:srgbClr val="8A3B32"/>
                </a:solidFill>
                <a:latin typeface="Arial"/>
                <a:ea typeface="Arial"/>
                <a:cs typeface="Arial"/>
                <a:sym typeface="Arial"/>
              </a:rPr>
              <a:t>Prussian blue</a:t>
            </a:r>
            <a:r>
              <a:rPr b="0" i="0" lang="en-US" sz="1600">
                <a:solidFill>
                  <a:srgbClr val="26252A"/>
                </a:solidFill>
                <a:latin typeface="Arial"/>
                <a:ea typeface="Arial"/>
                <a:cs typeface="Arial"/>
                <a:sym typeface="Arial"/>
              </a:rPr>
              <a:t> stains a form of iron accumulation in tissue. A stained cell contains iron, but the stain does not show what kind of cell it is, so cell identity has to be established with other markers. The stain is a first step, and other markers are needed to decide what the stained cell is.</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6252A"/>
              </a:buClr>
              <a:buSzPts val="1600"/>
              <a:buFont typeface="Arial"/>
              <a:buNone/>
            </a:pPr>
            <a:r>
              <a:rPr b="0" i="0" lang="en-US" sz="1600">
                <a:solidFill>
                  <a:srgbClr val="26252A"/>
                </a:solidFill>
                <a:latin typeface="Arial"/>
                <a:ea typeface="Arial"/>
                <a:cs typeface="Arial"/>
                <a:sym typeface="Arial"/>
              </a:rPr>
              <a:t>Treiber and colleagues reexamined iron-rich cells in pigeon upper beaks that had been proposed as magnetosensitive neurons. The iron-positive cells occurred in subepidermal tissue, respiratory epithelium and feather follicles.</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6252A"/>
              </a:buClr>
              <a:buSzPts val="1600"/>
              <a:buFont typeface="Arial"/>
              <a:buNone/>
            </a:pPr>
            <a:r>
              <a:rPr b="0" i="0" lang="en-US" sz="1600">
                <a:solidFill>
                  <a:srgbClr val="26252A"/>
                </a:solidFill>
                <a:latin typeface="Arial"/>
                <a:ea typeface="Arial"/>
                <a:cs typeface="Arial"/>
                <a:sym typeface="Arial"/>
              </a:rPr>
              <a:t>Their positions and abundance varied strongly across birds, and at least 97% of the stained cells in the examined compartments had visible nuclei. The cells did not form the stereotyped bilateral arrangement that a sensory organ would show. The distribution of iron-positive cells was therefore inconsistent with a sensory organ.</a:t>
            </a:r>
            <a:endParaRPr sz="1800">
              <a:solidFill>
                <a:schemeClr val="dk1"/>
              </a:solidFill>
              <a:latin typeface="Calibri"/>
              <a:ea typeface="Calibri"/>
              <a:cs typeface="Calibri"/>
              <a:sym typeface="Calibri"/>
            </a:endParaRPr>
          </a:p>
        </p:txBody>
      </p:sp>
      <p:pic>
        <p:nvPicPr>
          <p:cNvPr id="593" name="Google Shape;593;p43"/>
          <p:cNvPicPr preferRelativeResize="0"/>
          <p:nvPr/>
        </p:nvPicPr>
        <p:blipFill rotWithShape="1">
          <a:blip r:embed="rId2">
            <a:alphaModFix/>
          </a:blip>
          <a:srcRect b="0" l="0" r="0" t="0"/>
          <a:stretch/>
        </p:blipFill>
        <p:spPr>
          <a:xfrm>
            <a:off x="7336097" y="1280071"/>
            <a:ext cx="3822528" cy="4297561"/>
          </a:xfrm>
          <a:prstGeom prst="rect">
            <a:avLst/>
          </a:prstGeom>
          <a:noFill/>
          <a:ln>
            <a:noFill/>
          </a:ln>
        </p:spPr>
      </p:pic>
      <p:sp>
        <p:nvSpPr>
          <p:cNvPr id="594" name="Google Shape;594;p43"/>
          <p:cNvSpPr/>
          <p:nvPr/>
        </p:nvSpPr>
        <p:spPr>
          <a:xfrm>
            <a:off x="6870055" y="5669161"/>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1000"/>
              <a:buFont typeface="Arial"/>
              <a:buNone/>
            </a:pPr>
            <a:r>
              <a:rPr b="0" i="0" lang="en-US" sz="1000">
                <a:solidFill>
                  <a:srgbClr val="62606A"/>
                </a:solidFill>
                <a:latin typeface="Arial"/>
                <a:ea typeface="Arial"/>
                <a:cs typeface="Arial"/>
                <a:sym typeface="Arial"/>
              </a:rPr>
              <a:t>Treiber et al. (2012), Fig. 1(a–k). Iron-positive cells occur in several upper-beak compartments.</a:t>
            </a:r>
            <a:endParaRPr sz="1800">
              <a:solidFill>
                <a:schemeClr val="dk1"/>
              </a:solidFill>
              <a:latin typeface="Calibri"/>
              <a:ea typeface="Calibri"/>
              <a:cs typeface="Calibri"/>
              <a:sym typeface="Calibri"/>
            </a:endParaRPr>
          </a:p>
        </p:txBody>
      </p:sp>
      <p:sp>
        <p:nvSpPr>
          <p:cNvPr id="595" name="Google Shape;595;p43"/>
          <p:cNvSpPr/>
          <p:nvPr/>
        </p:nvSpPr>
        <p:spPr>
          <a:xfrm>
            <a:off x="566886" y="6382494"/>
            <a:ext cx="11058079" cy="9079"/>
          </a:xfrm>
          <a:prstGeom prst="rect">
            <a:avLst/>
          </a:prstGeom>
          <a:solidFill>
            <a:srgbClr val="DAD1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6" name="Google Shape;596;p43"/>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Treiber et al. (2012)</a:t>
            </a:r>
            <a:endParaRPr sz="1800">
              <a:solidFill>
                <a:schemeClr val="dk1"/>
              </a:solidFill>
              <a:latin typeface="Calibri"/>
              <a:ea typeface="Calibri"/>
              <a:cs typeface="Calibri"/>
              <a:sym typeface="Calibri"/>
            </a:endParaRPr>
          </a:p>
        </p:txBody>
      </p:sp>
      <p:sp>
        <p:nvSpPr>
          <p:cNvPr id="597" name="Google Shape;597;p43"/>
          <p:cNvSpPr/>
          <p:nvPr/>
        </p:nvSpPr>
        <p:spPr>
          <a:xfrm>
            <a:off x="11105348" y="6455569"/>
            <a:ext cx="538667"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43a</a:t>
            </a:r>
            <a:endParaRPr sz="1800">
              <a:solidFill>
                <a:schemeClr val="dk1"/>
              </a:solidFill>
              <a:latin typeface="Calibri"/>
              <a:ea typeface="Calibri"/>
              <a:cs typeface="Calibri"/>
              <a:sym typeface="Calibri"/>
            </a:endParaRP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544" name="Google Shape;544;p40"/>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8A3B32"/>
              </a:buClr>
              <a:buSzPts val="3000"/>
              <a:buFont typeface="Arial"/>
              <a:buNone/>
            </a:pPr>
            <a:r>
              <a:rPr b="1" i="0" lang="en-US" sz="3000">
                <a:solidFill>
                  <a:srgbClr val="8A3B32"/>
                </a:solidFill>
                <a:latin typeface="Arial"/>
                <a:ea typeface="Arial"/>
                <a:cs typeface="Arial"/>
                <a:sym typeface="Arial"/>
              </a:rPr>
              <a:t>A radical pair contains two unpaired electrons</a:t>
            </a:r>
            <a:endParaRPr sz="1800">
              <a:solidFill>
                <a:schemeClr val="dk1"/>
              </a:solidFill>
              <a:latin typeface="Calibri"/>
              <a:ea typeface="Calibri"/>
              <a:cs typeface="Calibri"/>
              <a:sym typeface="Calibri"/>
            </a:endParaRPr>
          </a:p>
        </p:txBody>
      </p:sp>
      <p:sp>
        <p:nvSpPr>
          <p:cNvPr id="545" name="Google Shape;545;p40"/>
          <p:cNvSpPr/>
          <p:nvPr/>
        </p:nvSpPr>
        <p:spPr>
          <a:xfrm>
            <a:off x="566886" y="1234380"/>
            <a:ext cx="5956250"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6252A"/>
              </a:buClr>
              <a:buSzPts val="1500"/>
              <a:buFont typeface="Arial"/>
              <a:buNone/>
            </a:pPr>
            <a:r>
              <a:rPr b="0" i="0" lang="en-US" sz="1500">
                <a:solidFill>
                  <a:srgbClr val="26252A"/>
                </a:solidFill>
                <a:latin typeface="Arial"/>
                <a:ea typeface="Arial"/>
                <a:cs typeface="Arial"/>
                <a:sym typeface="Arial"/>
              </a:rPr>
              <a:t>A radical is a molecule with an unpaired electron, and a </a:t>
            </a:r>
            <a:r>
              <a:rPr b="1" i="0" lang="en-US" sz="1500">
                <a:solidFill>
                  <a:srgbClr val="8A3B32"/>
                </a:solidFill>
                <a:latin typeface="Arial"/>
                <a:ea typeface="Arial"/>
                <a:cs typeface="Arial"/>
                <a:sym typeface="Arial"/>
              </a:rPr>
              <a:t>radical pair</a:t>
            </a:r>
            <a:r>
              <a:rPr b="0" i="0" lang="en-US" sz="1500">
                <a:solidFill>
                  <a:srgbClr val="26252A"/>
                </a:solidFill>
                <a:latin typeface="Arial"/>
                <a:ea typeface="Arial"/>
                <a:cs typeface="Arial"/>
                <a:sym typeface="Arial"/>
              </a:rPr>
              <a:t> is two such molecules produced together by a reaction. The spins of the two electrons can be correlated in a singlet or a triplet state. The photochemistry was studied in purified protein, outside the animal.</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6252A"/>
              </a:buClr>
              <a:buSzPts val="1500"/>
              <a:buFont typeface="Arial"/>
              <a:buNone/>
            </a:pPr>
            <a:r>
              <a:rPr b="0" i="0" lang="en-US" sz="1500">
                <a:solidFill>
                  <a:srgbClr val="26252A"/>
                </a:solidFill>
                <a:latin typeface="Arial"/>
                <a:ea typeface="Arial"/>
                <a:cs typeface="Arial"/>
                <a:sym typeface="Arial"/>
              </a:rPr>
              <a:t>In Cry4, light-excited FAD receives an electron through a chain of tryptophan residues, which produces a radical pair. Xu and colleagues replaced individual tryptophans with redox-inactive phenylalanine and followed changes in absorption after 450-nm excitation.</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6252A"/>
              </a:buClr>
              <a:buSzPts val="1500"/>
              <a:buFont typeface="Arial"/>
              <a:buNone/>
            </a:pPr>
            <a:r>
              <a:rPr b="0" i="0" lang="en-US" sz="1500">
                <a:solidFill>
                  <a:srgbClr val="26252A"/>
                </a:solidFill>
                <a:latin typeface="Arial"/>
                <a:ea typeface="Arial"/>
                <a:cs typeface="Arial"/>
                <a:sym typeface="Arial"/>
              </a:rPr>
              <a:t>Interrupted early transfer pathways produced radical-loss time constants of 180 ps and 900 ps, and longer pathways supported radicals that persisted longer. The residues in the chain therefore set the lifetime of the radical pair. Mutating a single residue can change the rate of electron transfer.</a:t>
            </a:r>
            <a:endParaRPr sz="1800">
              <a:solidFill>
                <a:schemeClr val="dk1"/>
              </a:solidFill>
              <a:latin typeface="Calibri"/>
              <a:ea typeface="Calibri"/>
              <a:cs typeface="Calibri"/>
              <a:sym typeface="Calibri"/>
            </a:endParaRPr>
          </a:p>
        </p:txBody>
      </p:sp>
      <p:pic>
        <p:nvPicPr>
          <p:cNvPr id="548" name="Google Shape;548;p40"/>
          <p:cNvPicPr preferRelativeResize="0"/>
          <p:nvPr/>
        </p:nvPicPr>
        <p:blipFill rotWithShape="1">
          <a:blip r:embed="rId2">
            <a:alphaModFix/>
          </a:blip>
          <a:srcRect b="0" l="0" r="0" t="0"/>
          <a:stretch/>
        </p:blipFill>
        <p:spPr>
          <a:xfrm>
            <a:off x="7496981" y="1280071"/>
            <a:ext cx="3500760" cy="2880271"/>
          </a:xfrm>
          <a:prstGeom prst="rect">
            <a:avLst/>
          </a:prstGeom>
          <a:noFill/>
          <a:ln>
            <a:noFill/>
          </a:ln>
        </p:spPr>
      </p:pic>
      <p:sp>
        <p:nvSpPr>
          <p:cNvPr id="549" name="Google Shape;549;p40"/>
          <p:cNvSpPr/>
          <p:nvPr/>
        </p:nvSpPr>
        <p:spPr>
          <a:xfrm>
            <a:off x="6870055" y="4251871"/>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1000"/>
              <a:buFont typeface="Arial"/>
              <a:buNone/>
            </a:pPr>
            <a:r>
              <a:rPr b="0" i="0" lang="en-US" sz="1000">
                <a:solidFill>
                  <a:srgbClr val="62606A"/>
                </a:solidFill>
                <a:latin typeface="Arial"/>
                <a:ea typeface="Arial"/>
                <a:cs typeface="Arial"/>
                <a:sym typeface="Arial"/>
              </a:rPr>
              <a:t>Xu et al. (2021), Supplementary Fig. S2(a–d). Tryptophan mutations change radical kinetics and spectra.</a:t>
            </a:r>
            <a:endParaRPr sz="1800">
              <a:solidFill>
                <a:schemeClr val="dk1"/>
              </a:solidFill>
              <a:latin typeface="Calibri"/>
              <a:ea typeface="Calibri"/>
              <a:cs typeface="Calibri"/>
              <a:sym typeface="Calibri"/>
            </a:endParaRPr>
          </a:p>
        </p:txBody>
      </p:sp>
      <p:pic>
        <p:nvPicPr>
          <p:cNvPr id="550" name="Google Shape;550;p40"/>
          <p:cNvPicPr preferRelativeResize="0"/>
          <p:nvPr/>
        </p:nvPicPr>
        <p:blipFill rotWithShape="1">
          <a:blip r:embed="rId3">
            <a:alphaModFix/>
          </a:blip>
          <a:srcRect b="0" l="0" r="0" t="0"/>
          <a:stretch/>
        </p:blipFill>
        <p:spPr>
          <a:xfrm>
            <a:off x="8617940" y="4709071"/>
            <a:ext cx="1259139" cy="1051471"/>
          </a:xfrm>
          <a:prstGeom prst="rect">
            <a:avLst/>
          </a:prstGeom>
          <a:noFill/>
          <a:ln>
            <a:noFill/>
          </a:ln>
        </p:spPr>
      </p:pic>
      <p:sp>
        <p:nvSpPr>
          <p:cNvPr id="551" name="Google Shape;551;p40"/>
          <p:cNvSpPr/>
          <p:nvPr/>
        </p:nvSpPr>
        <p:spPr>
          <a:xfrm>
            <a:off x="6870055" y="5833765"/>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1000"/>
              <a:buFont typeface="Arial"/>
              <a:buNone/>
            </a:pPr>
            <a:r>
              <a:rPr b="0" i="0" lang="en-US" sz="1000">
                <a:solidFill>
                  <a:srgbClr val="62606A"/>
                </a:solidFill>
                <a:latin typeface="Arial"/>
                <a:ea typeface="Arial"/>
                <a:cs typeface="Arial"/>
                <a:sym typeface="Arial"/>
              </a:rPr>
              <a:t>Günther et al. (2018), Fig. 7(A–F). Published Cry4 structural model and FAD-binding region.</a:t>
            </a:r>
            <a:endParaRPr sz="1800">
              <a:solidFill>
                <a:schemeClr val="dk1"/>
              </a:solidFill>
              <a:latin typeface="Calibri"/>
              <a:ea typeface="Calibri"/>
              <a:cs typeface="Calibri"/>
              <a:sym typeface="Calibri"/>
            </a:endParaRPr>
          </a:p>
        </p:txBody>
      </p:sp>
      <p:sp>
        <p:nvSpPr>
          <p:cNvPr id="552" name="Google Shape;552;p40"/>
          <p:cNvSpPr/>
          <p:nvPr/>
        </p:nvSpPr>
        <p:spPr>
          <a:xfrm>
            <a:off x="566886" y="6382494"/>
            <a:ext cx="11058079" cy="9079"/>
          </a:xfrm>
          <a:prstGeom prst="rect">
            <a:avLst/>
          </a:prstGeom>
          <a:solidFill>
            <a:srgbClr val="DAD1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3" name="Google Shape;553;p40"/>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Xu et al. (2021)</a:t>
            </a:r>
            <a:endParaRPr sz="1800">
              <a:solidFill>
                <a:schemeClr val="dk1"/>
              </a:solidFill>
              <a:latin typeface="Calibri"/>
              <a:ea typeface="Calibri"/>
              <a:cs typeface="Calibri"/>
              <a:sym typeface="Calibri"/>
            </a:endParaRPr>
          </a:p>
        </p:txBody>
      </p:sp>
      <p:sp>
        <p:nvSpPr>
          <p:cNvPr id="554" name="Google Shape;554;p40"/>
          <p:cNvSpPr/>
          <p:nvPr/>
        </p:nvSpPr>
        <p:spPr>
          <a:xfrm>
            <a:off x="11105348" y="6455569"/>
            <a:ext cx="538667"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40a</a:t>
            </a:r>
            <a:endParaRPr sz="1800">
              <a:solidFill>
                <a:schemeClr val="dk1"/>
              </a:solidFill>
              <a:latin typeface="Calibri"/>
              <a:ea typeface="Calibri"/>
              <a:cs typeface="Calibri"/>
              <a:sym typeface="Calibri"/>
            </a:endParaRP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488" name="Google Shape;488;p36"/>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8A3B32"/>
              </a:buClr>
              <a:buSzPts val="3000"/>
              <a:buFont typeface="Arial"/>
              <a:buNone/>
            </a:pPr>
            <a:r>
              <a:rPr b="1" i="0" lang="en-US" sz="3000">
                <a:solidFill>
                  <a:srgbClr val="8A3B32"/>
                </a:solidFill>
                <a:latin typeface="Arial"/>
                <a:ea typeface="Arial"/>
                <a:cs typeface="Arial"/>
                <a:sym typeface="Arial"/>
              </a:rPr>
              <a:t>Immunohistochemistry localizes a protein in tissue</a:t>
            </a:r>
            <a:endParaRPr sz="1800">
              <a:solidFill>
                <a:schemeClr val="dk1"/>
              </a:solidFill>
              <a:latin typeface="Calibri"/>
              <a:ea typeface="Calibri"/>
              <a:cs typeface="Calibri"/>
              <a:sym typeface="Calibri"/>
            </a:endParaRPr>
          </a:p>
        </p:txBody>
      </p:sp>
      <p:sp>
        <p:nvSpPr>
          <p:cNvPr id="489" name="Google Shape;489;p36"/>
          <p:cNvSpPr/>
          <p:nvPr/>
        </p:nvSpPr>
        <p:spPr>
          <a:xfrm>
            <a:off x="566886" y="1234380"/>
            <a:ext cx="5956250"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6252A"/>
              </a:buClr>
              <a:buSzPts val="1600"/>
              <a:buFont typeface="Arial"/>
              <a:buNone/>
            </a:pPr>
            <a:r>
              <a:rPr b="1" i="0" lang="en-US" sz="1600">
                <a:solidFill>
                  <a:srgbClr val="8A3B32"/>
                </a:solidFill>
                <a:latin typeface="Arial"/>
                <a:ea typeface="Arial"/>
                <a:cs typeface="Arial"/>
                <a:sym typeface="Arial"/>
              </a:rPr>
              <a:t>Immunohistochemistry</a:t>
            </a:r>
            <a:r>
              <a:rPr b="0" i="0" lang="en-US" sz="1600">
                <a:solidFill>
                  <a:srgbClr val="26252A"/>
                </a:solidFill>
                <a:latin typeface="Arial"/>
                <a:ea typeface="Arial"/>
                <a:cs typeface="Arial"/>
                <a:sym typeface="Arial"/>
              </a:rPr>
              <a:t> uses antibodies to label a protein in tissue sections. A fluorescent signal marks where the antibody found its target, so the method reveals which cells and compartments contain the protein. The antibodies bind to the protein only where it occurs in the tissue.</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6252A"/>
              </a:buClr>
              <a:buSzPts val="1600"/>
              <a:buFont typeface="Arial"/>
              <a:buNone/>
            </a:pPr>
            <a:r>
              <a:rPr b="0" i="0" lang="en-US" sz="1600">
                <a:solidFill>
                  <a:srgbClr val="26252A"/>
                </a:solidFill>
                <a:latin typeface="Arial"/>
                <a:ea typeface="Arial"/>
                <a:cs typeface="Arial"/>
                <a:sym typeface="Arial"/>
              </a:rPr>
              <a:t>Günther and colleagues applied antibodies against Cry4 to robin retina. Cry4 immunoreactivity was concentrated in photoreceptor outer segments and appeared across peripheral and central regions, and the pattern was compared in robins and chickens with monoclonal and polyclonal reagents.</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6252A"/>
              </a:buClr>
              <a:buSzPts val="1600"/>
              <a:buFont typeface="Arial"/>
              <a:buNone/>
            </a:pPr>
            <a:r>
              <a:rPr b="0" i="0" lang="en-US" sz="1600">
                <a:solidFill>
                  <a:srgbClr val="26252A"/>
                </a:solidFill>
                <a:latin typeface="Arial"/>
                <a:ea typeface="Arial"/>
                <a:cs typeface="Arial"/>
                <a:sym typeface="Arial"/>
              </a:rPr>
              <a:t>An outer segment is the compartment of a photoreceptor that contains the light-sensitive membrane. A candidate magnetic protein located there lies in a position compatible with a process that depends on light. The localization is consistent with a role in a light-dependent process in the retina.</a:t>
            </a:r>
            <a:endParaRPr sz="1800">
              <a:solidFill>
                <a:schemeClr val="dk1"/>
              </a:solidFill>
              <a:latin typeface="Calibri"/>
              <a:ea typeface="Calibri"/>
              <a:cs typeface="Calibri"/>
              <a:sym typeface="Calibri"/>
            </a:endParaRPr>
          </a:p>
        </p:txBody>
      </p:sp>
      <p:pic>
        <p:nvPicPr>
          <p:cNvPr id="492" name="Google Shape;492;p36"/>
          <p:cNvPicPr preferRelativeResize="0"/>
          <p:nvPr/>
        </p:nvPicPr>
        <p:blipFill rotWithShape="1">
          <a:blip r:embed="rId2">
            <a:alphaModFix/>
          </a:blip>
          <a:srcRect b="0" l="0" r="0" t="0"/>
          <a:stretch/>
        </p:blipFill>
        <p:spPr>
          <a:xfrm>
            <a:off x="6870130" y="1280071"/>
            <a:ext cx="4754760" cy="2357884"/>
          </a:xfrm>
          <a:prstGeom prst="rect">
            <a:avLst/>
          </a:prstGeom>
          <a:noFill/>
          <a:ln>
            <a:noFill/>
          </a:ln>
        </p:spPr>
      </p:pic>
      <p:sp>
        <p:nvSpPr>
          <p:cNvPr id="493" name="Google Shape;493;p36"/>
          <p:cNvSpPr/>
          <p:nvPr/>
        </p:nvSpPr>
        <p:spPr>
          <a:xfrm>
            <a:off x="6870055" y="3729484"/>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1000"/>
              <a:buFont typeface="Arial"/>
              <a:buNone/>
            </a:pPr>
            <a:r>
              <a:rPr b="0" i="0" lang="en-US" sz="1000">
                <a:solidFill>
                  <a:srgbClr val="62606A"/>
                </a:solidFill>
                <a:latin typeface="Arial"/>
                <a:ea typeface="Arial"/>
                <a:cs typeface="Arial"/>
                <a:sym typeface="Arial"/>
              </a:rPr>
              <a:t>Günther et al. (2018), Fig. 3(A–D). Cry4 staining is concentrated in photoreceptor outer segments.</a:t>
            </a:r>
            <a:endParaRPr sz="1800">
              <a:solidFill>
                <a:schemeClr val="dk1"/>
              </a:solidFill>
              <a:latin typeface="Calibri"/>
              <a:ea typeface="Calibri"/>
              <a:cs typeface="Calibri"/>
              <a:sym typeface="Calibri"/>
            </a:endParaRPr>
          </a:p>
        </p:txBody>
      </p:sp>
      <p:pic>
        <p:nvPicPr>
          <p:cNvPr id="494" name="Google Shape;494;p36"/>
          <p:cNvPicPr preferRelativeResize="0"/>
          <p:nvPr/>
        </p:nvPicPr>
        <p:blipFill rotWithShape="1">
          <a:blip r:embed="rId3">
            <a:alphaModFix/>
          </a:blip>
          <a:srcRect b="0" l="0" r="0" t="0"/>
          <a:stretch/>
        </p:blipFill>
        <p:spPr>
          <a:xfrm>
            <a:off x="8852008" y="4206180"/>
            <a:ext cx="790855" cy="1554361"/>
          </a:xfrm>
          <a:prstGeom prst="rect">
            <a:avLst/>
          </a:prstGeom>
          <a:noFill/>
          <a:ln>
            <a:noFill/>
          </a:ln>
        </p:spPr>
      </p:pic>
      <p:sp>
        <p:nvSpPr>
          <p:cNvPr id="495" name="Google Shape;495;p36"/>
          <p:cNvSpPr/>
          <p:nvPr/>
        </p:nvSpPr>
        <p:spPr>
          <a:xfrm>
            <a:off x="6870055" y="5833765"/>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1000"/>
              <a:buFont typeface="Arial"/>
              <a:buNone/>
            </a:pPr>
            <a:r>
              <a:rPr b="0" i="0" lang="en-US" sz="1000">
                <a:solidFill>
                  <a:srgbClr val="62606A"/>
                </a:solidFill>
                <a:latin typeface="Arial"/>
                <a:ea typeface="Arial"/>
                <a:cs typeface="Arial"/>
                <a:sym typeface="Arial"/>
              </a:rPr>
              <a:t>Günther et al. (2018), Fig. 4(F–G). Magnified outer segments compare Cry4 with ultraviolet opsin staining.</a:t>
            </a:r>
            <a:endParaRPr sz="1800">
              <a:solidFill>
                <a:schemeClr val="dk1"/>
              </a:solidFill>
              <a:latin typeface="Calibri"/>
              <a:ea typeface="Calibri"/>
              <a:cs typeface="Calibri"/>
              <a:sym typeface="Calibri"/>
            </a:endParaRPr>
          </a:p>
        </p:txBody>
      </p:sp>
      <p:sp>
        <p:nvSpPr>
          <p:cNvPr id="496" name="Google Shape;496;p36"/>
          <p:cNvSpPr/>
          <p:nvPr/>
        </p:nvSpPr>
        <p:spPr>
          <a:xfrm>
            <a:off x="566886" y="6382494"/>
            <a:ext cx="11058079" cy="9079"/>
          </a:xfrm>
          <a:prstGeom prst="rect">
            <a:avLst/>
          </a:prstGeom>
          <a:solidFill>
            <a:srgbClr val="DAD1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7" name="Google Shape;497;p36"/>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Günther et al. (2018)</a:t>
            </a:r>
            <a:endParaRPr sz="1800">
              <a:solidFill>
                <a:schemeClr val="dk1"/>
              </a:solidFill>
              <a:latin typeface="Calibri"/>
              <a:ea typeface="Calibri"/>
              <a:cs typeface="Calibri"/>
              <a:sym typeface="Calibri"/>
            </a:endParaRPr>
          </a:p>
        </p:txBody>
      </p:sp>
      <p:sp>
        <p:nvSpPr>
          <p:cNvPr id="498" name="Google Shape;498;p36"/>
          <p:cNvSpPr/>
          <p:nvPr/>
        </p:nvSpPr>
        <p:spPr>
          <a:xfrm>
            <a:off x="11105348" y="6455569"/>
            <a:ext cx="538667"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36a</a:t>
            </a:r>
            <a:endParaRPr sz="1800">
              <a:solidFill>
                <a:schemeClr val="dk1"/>
              </a:solidFill>
              <a:latin typeface="Calibri"/>
              <a:ea typeface="Calibri"/>
              <a:cs typeface="Calibri"/>
              <a:sym typeface="Calibri"/>
            </a:endParaRP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404" name="Google Shape;404;p30"/>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8A3B32"/>
              </a:buClr>
              <a:buSzPts val="3000"/>
              <a:buFont typeface="Arial"/>
              <a:buNone/>
            </a:pPr>
            <a:r>
              <a:rPr b="1" i="0" lang="en-US" sz="3000">
                <a:solidFill>
                  <a:srgbClr val="8A3B32"/>
                </a:solidFill>
                <a:latin typeface="Arial"/>
                <a:ea typeface="Arial"/>
                <a:cs typeface="Arial"/>
                <a:sym typeface="Arial"/>
              </a:rPr>
              <a:t>Virtual displacement changes the field but not the place</a:t>
            </a:r>
            <a:endParaRPr sz="1800">
              <a:solidFill>
                <a:schemeClr val="dk1"/>
              </a:solidFill>
              <a:latin typeface="Calibri"/>
              <a:ea typeface="Calibri"/>
              <a:cs typeface="Calibri"/>
              <a:sym typeface="Calibri"/>
            </a:endParaRPr>
          </a:p>
        </p:txBody>
      </p:sp>
      <p:sp>
        <p:nvSpPr>
          <p:cNvPr id="405" name="Google Shape;405;p30"/>
          <p:cNvSpPr/>
          <p:nvPr/>
        </p:nvSpPr>
        <p:spPr>
          <a:xfrm>
            <a:off x="566886" y="1234380"/>
            <a:ext cx="5956250"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6252A"/>
              </a:buClr>
              <a:buSzPts val="1500"/>
              <a:buFont typeface="Arial"/>
              <a:buNone/>
            </a:pPr>
            <a:r>
              <a:rPr b="1" i="0" lang="en-US" sz="1500">
                <a:solidFill>
                  <a:srgbClr val="8A3B32"/>
                </a:solidFill>
                <a:latin typeface="Arial"/>
                <a:ea typeface="Arial"/>
                <a:cs typeface="Arial"/>
                <a:sym typeface="Arial"/>
              </a:rPr>
              <a:t>Virtual magnetic displacement</a:t>
            </a:r>
            <a:r>
              <a:rPr b="0" i="0" lang="en-US" sz="1500">
                <a:solidFill>
                  <a:srgbClr val="26252A"/>
                </a:solidFill>
                <a:latin typeface="Arial"/>
                <a:ea typeface="Arial"/>
                <a:cs typeface="Arial"/>
                <a:sym typeface="Arial"/>
              </a:rPr>
              <a:t> sets the local magnetic parameters to those of another place while the animal stays at its capture site. Celestial, olfactory and landmark information continue to indicate the original location. The method therefore changes only the magnetic information while the animal remains in the same place.</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6252A"/>
              </a:buClr>
              <a:buSzPts val="1500"/>
              <a:buFont typeface="Arial"/>
              <a:buNone/>
            </a:pPr>
            <a:r>
              <a:rPr b="0" i="0" lang="en-US" sz="1500">
                <a:solidFill>
                  <a:srgbClr val="26252A"/>
                </a:solidFill>
                <a:latin typeface="Arial"/>
                <a:ea typeface="Arial"/>
                <a:cs typeface="Arial"/>
                <a:sym typeface="Arial"/>
              </a:rPr>
              <a:t>Pakhomov and colleagues tested Eurasian reed warblers in spring migration. The capture-site field had an intensity of 50,118 nT and inclination of 70.1°, and the replicated field from Zvenigorod, about 1,000 km east, had 52,175 nT and 71.2°.</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6252A"/>
              </a:buClr>
              <a:buSzPts val="1500"/>
              <a:buFont typeface="Arial"/>
              <a:buNone/>
            </a:pPr>
            <a:r>
              <a:rPr b="0" i="0" lang="en-US" sz="1500">
                <a:solidFill>
                  <a:srgbClr val="26252A"/>
                </a:solidFill>
                <a:latin typeface="Arial"/>
                <a:ea typeface="Arial"/>
                <a:cs typeface="Arial"/>
                <a:sym typeface="Arial"/>
              </a:rPr>
              <a:t>Declination, the angle between geographical and magnetic north, also changed from +5.5° to +10.1°. A bird that compensates for the apparent eastward displacement changes its heading, which tests a map and not only a compass.</a:t>
            </a:r>
            <a:endParaRPr sz="1800">
              <a:solidFill>
                <a:schemeClr val="dk1"/>
              </a:solidFill>
              <a:latin typeface="Calibri"/>
              <a:ea typeface="Calibri"/>
              <a:cs typeface="Calibri"/>
              <a:sym typeface="Calibri"/>
            </a:endParaRPr>
          </a:p>
        </p:txBody>
      </p:sp>
      <p:pic>
        <p:nvPicPr>
          <p:cNvPr id="408" name="Google Shape;408;p30"/>
          <p:cNvPicPr preferRelativeResize="0"/>
          <p:nvPr/>
        </p:nvPicPr>
        <p:blipFill rotWithShape="1">
          <a:blip r:embed="rId2">
            <a:alphaModFix/>
          </a:blip>
          <a:srcRect b="0" l="0" r="0" t="0"/>
          <a:stretch/>
        </p:blipFill>
        <p:spPr>
          <a:xfrm>
            <a:off x="6870223" y="1280071"/>
            <a:ext cx="4754574" cy="2518470"/>
          </a:xfrm>
          <a:prstGeom prst="rect">
            <a:avLst/>
          </a:prstGeom>
          <a:noFill/>
          <a:ln>
            <a:noFill/>
          </a:ln>
        </p:spPr>
      </p:pic>
      <p:sp>
        <p:nvSpPr>
          <p:cNvPr id="409" name="Google Shape;409;p30"/>
          <p:cNvSpPr/>
          <p:nvPr/>
        </p:nvSpPr>
        <p:spPr>
          <a:xfrm>
            <a:off x="6870055" y="3890070"/>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1000"/>
              <a:buFont typeface="Arial"/>
              <a:buNone/>
            </a:pPr>
            <a:r>
              <a:rPr b="0" i="0" lang="en-US" sz="1000">
                <a:solidFill>
                  <a:srgbClr val="62606A"/>
                </a:solidFill>
                <a:latin typeface="Arial"/>
                <a:ea typeface="Arial"/>
                <a:cs typeface="Arial"/>
                <a:sym typeface="Arial"/>
              </a:rPr>
              <a:t>Pakhomov et al. (2018), Fig. 1(A–D). A virtual displacement tests magnetic map compensation.</a:t>
            </a:r>
            <a:endParaRPr sz="1800">
              <a:solidFill>
                <a:schemeClr val="dk1"/>
              </a:solidFill>
              <a:latin typeface="Calibri"/>
              <a:ea typeface="Calibri"/>
              <a:cs typeface="Calibri"/>
              <a:sym typeface="Calibri"/>
            </a:endParaRPr>
          </a:p>
        </p:txBody>
      </p:sp>
      <p:pic>
        <p:nvPicPr>
          <p:cNvPr id="410" name="Google Shape;410;p30"/>
          <p:cNvPicPr preferRelativeResize="0"/>
          <p:nvPr/>
        </p:nvPicPr>
        <p:blipFill rotWithShape="1">
          <a:blip r:embed="rId3">
            <a:alphaModFix/>
          </a:blip>
          <a:srcRect b="0" l="0" r="0" t="0"/>
          <a:stretch/>
        </p:blipFill>
        <p:spPr>
          <a:xfrm>
            <a:off x="8066436" y="4709071"/>
            <a:ext cx="2361999" cy="1051471"/>
          </a:xfrm>
          <a:prstGeom prst="rect">
            <a:avLst/>
          </a:prstGeom>
          <a:noFill/>
          <a:ln>
            <a:noFill/>
          </a:ln>
        </p:spPr>
      </p:pic>
      <p:sp>
        <p:nvSpPr>
          <p:cNvPr id="411" name="Google Shape;411;p30"/>
          <p:cNvSpPr/>
          <p:nvPr/>
        </p:nvSpPr>
        <p:spPr>
          <a:xfrm>
            <a:off x="6870055" y="5833765"/>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1000"/>
              <a:buFont typeface="Arial"/>
              <a:buNone/>
            </a:pPr>
            <a:r>
              <a:rPr b="0" i="0" lang="en-US" sz="1000">
                <a:solidFill>
                  <a:srgbClr val="62606A"/>
                </a:solidFill>
                <a:latin typeface="Arial"/>
                <a:ea typeface="Arial"/>
                <a:cs typeface="Arial"/>
                <a:sym typeface="Arial"/>
              </a:rPr>
              <a:t>Zapka et al. (2009), Fig. 1(a–f). Published V1 section diagram and robin compass controls.</a:t>
            </a:r>
            <a:endParaRPr sz="1800">
              <a:solidFill>
                <a:schemeClr val="dk1"/>
              </a:solidFill>
              <a:latin typeface="Calibri"/>
              <a:ea typeface="Calibri"/>
              <a:cs typeface="Calibri"/>
              <a:sym typeface="Calibri"/>
            </a:endParaRPr>
          </a:p>
        </p:txBody>
      </p:sp>
      <p:sp>
        <p:nvSpPr>
          <p:cNvPr id="412" name="Google Shape;412;p30"/>
          <p:cNvSpPr/>
          <p:nvPr/>
        </p:nvSpPr>
        <p:spPr>
          <a:xfrm>
            <a:off x="566886" y="6382494"/>
            <a:ext cx="11058079" cy="9079"/>
          </a:xfrm>
          <a:prstGeom prst="rect">
            <a:avLst/>
          </a:prstGeom>
          <a:solidFill>
            <a:srgbClr val="DAD1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3" name="Google Shape;413;p30"/>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Pakhomov et al. (2018)</a:t>
            </a:r>
            <a:endParaRPr sz="1800">
              <a:solidFill>
                <a:schemeClr val="dk1"/>
              </a:solidFill>
              <a:latin typeface="Calibri"/>
              <a:ea typeface="Calibri"/>
              <a:cs typeface="Calibri"/>
              <a:sym typeface="Calibri"/>
            </a:endParaRPr>
          </a:p>
        </p:txBody>
      </p:sp>
      <p:sp>
        <p:nvSpPr>
          <p:cNvPr id="414" name="Google Shape;414;p30"/>
          <p:cNvSpPr/>
          <p:nvPr/>
        </p:nvSpPr>
        <p:spPr>
          <a:xfrm>
            <a:off x="11105348" y="6455569"/>
            <a:ext cx="538667"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30a</a:t>
            </a:r>
            <a:endParaRPr sz="1800">
              <a:solidFill>
                <a:schemeClr val="dk1"/>
              </a:solidFill>
              <a:latin typeface="Calibri"/>
              <a:ea typeface="Calibri"/>
              <a:cs typeface="Calibri"/>
              <a:sym typeface="Calibri"/>
            </a:endParaRP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361" name="Google Shape;361;p27"/>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8A3B32"/>
              </a:buClr>
              <a:buSzPts val="3000"/>
              <a:buFont typeface="Arial"/>
              <a:buNone/>
            </a:pPr>
            <a:r>
              <a:rPr b="1" i="0" lang="en-US" sz="3000">
                <a:solidFill>
                  <a:srgbClr val="8A3B32"/>
                </a:solidFill>
                <a:latin typeface="Arial"/>
                <a:ea typeface="Arial"/>
                <a:cs typeface="Arial"/>
                <a:sym typeface="Arial"/>
              </a:rPr>
              <a:t>A lesion tests whether a region is necessary</a:t>
            </a:r>
            <a:endParaRPr sz="1800">
              <a:solidFill>
                <a:schemeClr val="dk1"/>
              </a:solidFill>
              <a:latin typeface="Calibri"/>
              <a:ea typeface="Calibri"/>
              <a:cs typeface="Calibri"/>
              <a:sym typeface="Calibri"/>
            </a:endParaRPr>
          </a:p>
        </p:txBody>
      </p:sp>
      <p:sp>
        <p:nvSpPr>
          <p:cNvPr id="362" name="Google Shape;362;p27"/>
          <p:cNvSpPr/>
          <p:nvPr/>
        </p:nvSpPr>
        <p:spPr>
          <a:xfrm>
            <a:off x="566886" y="1234380"/>
            <a:ext cx="5956250"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6252A"/>
              </a:buClr>
              <a:buSzPts val="1600"/>
              <a:buFont typeface="Arial"/>
              <a:buNone/>
            </a:pPr>
            <a:r>
              <a:rPr b="0" i="0" lang="en-US" sz="1600">
                <a:solidFill>
                  <a:srgbClr val="26252A"/>
                </a:solidFill>
                <a:latin typeface="Arial"/>
                <a:ea typeface="Arial"/>
                <a:cs typeface="Arial"/>
                <a:sym typeface="Arial"/>
              </a:rPr>
              <a:t>A </a:t>
            </a:r>
            <a:r>
              <a:rPr b="1" i="0" lang="en-US" sz="1600">
                <a:solidFill>
                  <a:srgbClr val="8A3B32"/>
                </a:solidFill>
                <a:latin typeface="Arial"/>
                <a:ea typeface="Arial"/>
                <a:cs typeface="Arial"/>
                <a:sym typeface="Arial"/>
              </a:rPr>
              <a:t>lesion</a:t>
            </a:r>
            <a:r>
              <a:rPr b="0" i="0" lang="en-US" sz="1600">
                <a:solidFill>
                  <a:srgbClr val="26252A"/>
                </a:solidFill>
                <a:latin typeface="Arial"/>
                <a:ea typeface="Arial"/>
                <a:cs typeface="Arial"/>
                <a:sym typeface="Arial"/>
              </a:rPr>
              <a:t> is damage to a region of tissue made to test whether the region is needed for a behavior. A sham operation repeats the surgery without the damaging step, so differences between lesioned and sham animals can be attributed to the damage.</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6252A"/>
              </a:buClr>
              <a:buSzPts val="1600"/>
              <a:buFont typeface="Arial"/>
              <a:buNone/>
            </a:pPr>
            <a:r>
              <a:rPr b="0" i="0" lang="en-US" sz="1600">
                <a:solidFill>
                  <a:srgbClr val="26252A"/>
                </a:solidFill>
                <a:latin typeface="Arial"/>
                <a:ea typeface="Arial"/>
                <a:cs typeface="Arial"/>
                <a:sym typeface="Arial"/>
              </a:rPr>
              <a:t>Zapka and colleagues injected ibotenic acid into Cluster N of European robins and tested orientation after at least 1 week of recovery. Sham birds changed direction with the rotated and inverted magnetic fields, whereas lesioned birds failed to orient coherently.</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6252A"/>
              </a:buClr>
              <a:buSzPts val="1600"/>
              <a:buFont typeface="Arial"/>
              <a:buNone/>
            </a:pPr>
            <a:r>
              <a:rPr b="0" i="0" lang="en-US" sz="1600">
                <a:solidFill>
                  <a:srgbClr val="26252A"/>
                </a:solidFill>
                <a:latin typeface="Arial"/>
                <a:ea typeface="Arial"/>
                <a:cs typeface="Arial"/>
                <a:sym typeface="Arial"/>
              </a:rPr>
              <a:t>The region is therefore necessary for normal magnetic compass performance in this preparation. A necessity result identifies a stage in the pathway and does not by itself show that every neuron in the region responds to magnetic fields.</a:t>
            </a:r>
            <a:endParaRPr sz="1800">
              <a:solidFill>
                <a:schemeClr val="dk1"/>
              </a:solidFill>
              <a:latin typeface="Calibri"/>
              <a:ea typeface="Calibri"/>
              <a:cs typeface="Calibri"/>
              <a:sym typeface="Calibri"/>
            </a:endParaRPr>
          </a:p>
        </p:txBody>
      </p:sp>
      <p:pic>
        <p:nvPicPr>
          <p:cNvPr id="365" name="Google Shape;365;p27"/>
          <p:cNvPicPr preferRelativeResize="0"/>
          <p:nvPr/>
        </p:nvPicPr>
        <p:blipFill rotWithShape="1">
          <a:blip r:embed="rId2">
            <a:alphaModFix/>
          </a:blip>
          <a:srcRect b="0" l="0" r="0" t="0"/>
          <a:stretch/>
        </p:blipFill>
        <p:spPr>
          <a:xfrm>
            <a:off x="6870162" y="1280071"/>
            <a:ext cx="4754696" cy="1916757"/>
          </a:xfrm>
          <a:prstGeom prst="rect">
            <a:avLst/>
          </a:prstGeom>
          <a:noFill/>
          <a:ln>
            <a:noFill/>
          </a:ln>
        </p:spPr>
      </p:pic>
      <p:sp>
        <p:nvSpPr>
          <p:cNvPr id="366" name="Google Shape;366;p27"/>
          <p:cNvSpPr/>
          <p:nvPr/>
        </p:nvSpPr>
        <p:spPr>
          <a:xfrm>
            <a:off x="6870055" y="3288357"/>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1000"/>
              <a:buFont typeface="Arial"/>
              <a:buNone/>
            </a:pPr>
            <a:r>
              <a:rPr b="0" i="0" lang="en-US" sz="1000">
                <a:solidFill>
                  <a:srgbClr val="62606A"/>
                </a:solidFill>
                <a:latin typeface="Arial"/>
                <a:ea typeface="Arial"/>
                <a:cs typeface="Arial"/>
                <a:sym typeface="Arial"/>
              </a:rPr>
              <a:t>Zapka et al. (2009), Fig. 2(a–h). Cluster N lesions abolish magnetic compass orientation.</a:t>
            </a:r>
            <a:endParaRPr sz="1800">
              <a:solidFill>
                <a:schemeClr val="dk1"/>
              </a:solidFill>
              <a:latin typeface="Calibri"/>
              <a:ea typeface="Calibri"/>
              <a:cs typeface="Calibri"/>
              <a:sym typeface="Calibri"/>
            </a:endParaRPr>
          </a:p>
        </p:txBody>
      </p:sp>
      <p:pic>
        <p:nvPicPr>
          <p:cNvPr id="367" name="Google Shape;367;p27"/>
          <p:cNvPicPr preferRelativeResize="0"/>
          <p:nvPr/>
        </p:nvPicPr>
        <p:blipFill rotWithShape="1">
          <a:blip r:embed="rId3">
            <a:alphaModFix/>
          </a:blip>
          <a:srcRect b="0" l="0" r="0" t="0"/>
          <a:stretch/>
        </p:blipFill>
        <p:spPr>
          <a:xfrm>
            <a:off x="8674031" y="4709071"/>
            <a:ext cx="1146660" cy="1051471"/>
          </a:xfrm>
          <a:prstGeom prst="rect">
            <a:avLst/>
          </a:prstGeom>
          <a:noFill/>
          <a:ln>
            <a:noFill/>
          </a:ln>
        </p:spPr>
      </p:pic>
      <p:sp>
        <p:nvSpPr>
          <p:cNvPr id="368" name="Google Shape;368;p27"/>
          <p:cNvSpPr/>
          <p:nvPr/>
        </p:nvSpPr>
        <p:spPr>
          <a:xfrm>
            <a:off x="6870055" y="5833765"/>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1000"/>
              <a:buFont typeface="Arial"/>
              <a:buNone/>
            </a:pPr>
            <a:r>
              <a:rPr b="0" i="0" lang="en-US" sz="1000">
                <a:solidFill>
                  <a:srgbClr val="62606A"/>
                </a:solidFill>
                <a:latin typeface="Arial"/>
                <a:ea typeface="Arial"/>
                <a:cs typeface="Arial"/>
                <a:sym typeface="Arial"/>
              </a:rPr>
              <a:t>Mouritsen et al. (2005), Fig. 2. Dorsal brain preparation and location of Cluster N.</a:t>
            </a:r>
            <a:endParaRPr sz="1800">
              <a:solidFill>
                <a:schemeClr val="dk1"/>
              </a:solidFill>
              <a:latin typeface="Calibri"/>
              <a:ea typeface="Calibri"/>
              <a:cs typeface="Calibri"/>
              <a:sym typeface="Calibri"/>
            </a:endParaRPr>
          </a:p>
        </p:txBody>
      </p:sp>
      <p:sp>
        <p:nvSpPr>
          <p:cNvPr id="369" name="Google Shape;369;p27"/>
          <p:cNvSpPr/>
          <p:nvPr/>
        </p:nvSpPr>
        <p:spPr>
          <a:xfrm>
            <a:off x="566886" y="6382494"/>
            <a:ext cx="11058079" cy="9079"/>
          </a:xfrm>
          <a:prstGeom prst="rect">
            <a:avLst/>
          </a:prstGeom>
          <a:solidFill>
            <a:srgbClr val="DAD1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0" name="Google Shape;370;p27"/>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Zapka et al. (2009)</a:t>
            </a:r>
            <a:endParaRPr sz="1800">
              <a:solidFill>
                <a:schemeClr val="dk1"/>
              </a:solidFill>
              <a:latin typeface="Calibri"/>
              <a:ea typeface="Calibri"/>
              <a:cs typeface="Calibri"/>
              <a:sym typeface="Calibri"/>
            </a:endParaRPr>
          </a:p>
        </p:txBody>
      </p:sp>
      <p:sp>
        <p:nvSpPr>
          <p:cNvPr id="371" name="Google Shape;371;p27"/>
          <p:cNvSpPr/>
          <p:nvPr/>
        </p:nvSpPr>
        <p:spPr>
          <a:xfrm>
            <a:off x="11105348" y="6455569"/>
            <a:ext cx="538667"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27a</a:t>
            </a:r>
            <a:endParaRPr sz="1800">
              <a:solidFill>
                <a:schemeClr val="dk1"/>
              </a:solidFill>
              <a:latin typeface="Calibri"/>
              <a:ea typeface="Calibri"/>
              <a:cs typeface="Calibri"/>
              <a:sym typeface="Calibri"/>
            </a:endParaRP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318" name="Google Shape;318;p24"/>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8A3B32"/>
              </a:buClr>
              <a:buSzPts val="3000"/>
              <a:buFont typeface="Arial"/>
              <a:buNone/>
            </a:pPr>
            <a:r>
              <a:rPr b="1" i="0" lang="en-US" sz="3000">
                <a:solidFill>
                  <a:srgbClr val="8A3B32"/>
                </a:solidFill>
                <a:latin typeface="Arial"/>
                <a:ea typeface="Arial"/>
                <a:cs typeface="Arial"/>
                <a:sym typeface="Arial"/>
              </a:rPr>
              <a:t>Immediate-early genes mark recently active neurons</a:t>
            </a:r>
            <a:endParaRPr sz="1800">
              <a:solidFill>
                <a:schemeClr val="dk1"/>
              </a:solidFill>
              <a:latin typeface="Calibri"/>
              <a:ea typeface="Calibri"/>
              <a:cs typeface="Calibri"/>
              <a:sym typeface="Calibri"/>
            </a:endParaRPr>
          </a:p>
        </p:txBody>
      </p:sp>
      <p:sp>
        <p:nvSpPr>
          <p:cNvPr id="319" name="Google Shape;319;p24"/>
          <p:cNvSpPr/>
          <p:nvPr/>
        </p:nvSpPr>
        <p:spPr>
          <a:xfrm>
            <a:off x="566886" y="1234380"/>
            <a:ext cx="5956250"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6252A"/>
              </a:buClr>
              <a:buSzPts val="1500"/>
              <a:buFont typeface="Arial"/>
              <a:buNone/>
            </a:pPr>
            <a:r>
              <a:rPr b="1" i="0" lang="en-US" sz="1500">
                <a:solidFill>
                  <a:srgbClr val="8A3B32"/>
                </a:solidFill>
                <a:latin typeface="Arial"/>
                <a:ea typeface="Arial"/>
                <a:cs typeface="Arial"/>
                <a:sym typeface="Arial"/>
              </a:rPr>
              <a:t>ZENK</a:t>
            </a:r>
            <a:r>
              <a:rPr b="0" i="0" lang="en-US" sz="1500">
                <a:solidFill>
                  <a:srgbClr val="26252A"/>
                </a:solidFill>
                <a:latin typeface="Arial"/>
                <a:ea typeface="Arial"/>
                <a:cs typeface="Arial"/>
                <a:sym typeface="Arial"/>
              </a:rPr>
              <a:t> is an immediate-early gene whose expression rises in neurons shortly after they are activated. Measuring its product in tissue sections reveals which regions were recruited during a behavior. The measure is applied to brain sections after the birds have been exposed to the condition.</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6252A"/>
              </a:buClr>
              <a:buSzPts val="1500"/>
              <a:buFont typeface="Arial"/>
              <a:buNone/>
            </a:pPr>
            <a:r>
              <a:rPr b="0" i="0" lang="en-US" sz="1500">
                <a:solidFill>
                  <a:srgbClr val="26252A"/>
                </a:solidFill>
                <a:latin typeface="Arial"/>
                <a:ea typeface="Arial"/>
                <a:cs typeface="Arial"/>
                <a:sym typeface="Arial"/>
              </a:rPr>
              <a:t>Mouritsen and colleagues exposed migratory garden warblers and European robins and non-migratory zebra finches and canaries to dim light of 0.04 lux or to ordinary daytime light. A dorsal forebrain region called Cluster N showed strong night-time expression in migrants. The dim light approximated moonlight.</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6252A"/>
              </a:buClr>
              <a:buSzPts val="1500"/>
              <a:buFont typeface="Arial"/>
              <a:buNone/>
            </a:pPr>
            <a:r>
              <a:rPr b="0" i="0" lang="en-US" sz="1500">
                <a:solidFill>
                  <a:srgbClr val="26252A"/>
                </a:solidFill>
                <a:latin typeface="Arial"/>
                <a:ea typeface="Arial"/>
                <a:cs typeface="Arial"/>
                <a:sym typeface="Arial"/>
              </a:rPr>
              <a:t>The measure integrates activity over time and is not an instantaneous spike record. It therefore identifies a candidate region that is recruited during night vision in migratory birds.</a:t>
            </a:r>
            <a:endParaRPr sz="1800">
              <a:solidFill>
                <a:schemeClr val="dk1"/>
              </a:solidFill>
              <a:latin typeface="Calibri"/>
              <a:ea typeface="Calibri"/>
              <a:cs typeface="Calibri"/>
              <a:sym typeface="Calibri"/>
            </a:endParaRPr>
          </a:p>
        </p:txBody>
      </p:sp>
      <p:pic>
        <p:nvPicPr>
          <p:cNvPr id="322" name="Google Shape;322;p24"/>
          <p:cNvPicPr preferRelativeResize="0"/>
          <p:nvPr/>
        </p:nvPicPr>
        <p:blipFill rotWithShape="1">
          <a:blip r:embed="rId2">
            <a:alphaModFix/>
          </a:blip>
          <a:srcRect b="0" l="0" r="0" t="0"/>
          <a:stretch/>
        </p:blipFill>
        <p:spPr>
          <a:xfrm>
            <a:off x="6870103" y="1280071"/>
            <a:ext cx="4754813" cy="3933527"/>
          </a:xfrm>
          <a:prstGeom prst="rect">
            <a:avLst/>
          </a:prstGeom>
          <a:noFill/>
          <a:ln>
            <a:noFill/>
          </a:ln>
        </p:spPr>
      </p:pic>
      <p:sp>
        <p:nvSpPr>
          <p:cNvPr id="323" name="Google Shape;323;p24"/>
          <p:cNvSpPr/>
          <p:nvPr/>
        </p:nvSpPr>
        <p:spPr>
          <a:xfrm>
            <a:off x="6870055" y="5305127"/>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1000"/>
              <a:buFont typeface="Arial"/>
              <a:buNone/>
            </a:pPr>
            <a:r>
              <a:rPr b="0" i="0" lang="en-US" sz="1000">
                <a:solidFill>
                  <a:srgbClr val="62606A"/>
                </a:solidFill>
                <a:latin typeface="Arial"/>
                <a:ea typeface="Arial"/>
                <a:cs typeface="Arial"/>
                <a:sym typeface="Arial"/>
              </a:rPr>
              <a:t>Mouritsen et al. (2005), Fig. 1(A–B). Activity-associated gene expression marks Cluster N anatomy.</a:t>
            </a:r>
            <a:endParaRPr sz="1800">
              <a:solidFill>
                <a:schemeClr val="dk1"/>
              </a:solidFill>
              <a:latin typeface="Calibri"/>
              <a:ea typeface="Calibri"/>
              <a:cs typeface="Calibri"/>
              <a:sym typeface="Calibri"/>
            </a:endParaRPr>
          </a:p>
        </p:txBody>
      </p:sp>
      <p:sp>
        <p:nvSpPr>
          <p:cNvPr id="324" name="Google Shape;324;p24"/>
          <p:cNvSpPr/>
          <p:nvPr/>
        </p:nvSpPr>
        <p:spPr>
          <a:xfrm>
            <a:off x="566886" y="6382494"/>
            <a:ext cx="11058079" cy="9079"/>
          </a:xfrm>
          <a:prstGeom prst="rect">
            <a:avLst/>
          </a:prstGeom>
          <a:solidFill>
            <a:srgbClr val="DAD1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5" name="Google Shape;325;p24"/>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Mouritsen et al. (2005)</a:t>
            </a:r>
            <a:endParaRPr sz="1800">
              <a:solidFill>
                <a:schemeClr val="dk1"/>
              </a:solidFill>
              <a:latin typeface="Calibri"/>
              <a:ea typeface="Calibri"/>
              <a:cs typeface="Calibri"/>
              <a:sym typeface="Calibri"/>
            </a:endParaRPr>
          </a:p>
        </p:txBody>
      </p:sp>
      <p:sp>
        <p:nvSpPr>
          <p:cNvPr id="326" name="Google Shape;326;p24"/>
          <p:cNvSpPr/>
          <p:nvPr/>
        </p:nvSpPr>
        <p:spPr>
          <a:xfrm>
            <a:off x="11105348" y="6455569"/>
            <a:ext cx="538667"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24a</a:t>
            </a:r>
            <a:endParaRPr sz="1800">
              <a:solidFill>
                <a:schemeClr val="dk1"/>
              </a:solidFill>
              <a:latin typeface="Calibri"/>
              <a:ea typeface="Calibri"/>
              <a:cs typeface="Calibri"/>
              <a:sym typeface="Calibri"/>
            </a:endParaRP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53" name="Google Shape;253;p19"/>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8A3B32"/>
              </a:buClr>
              <a:buSzPts val="3000"/>
              <a:buFont typeface="Arial"/>
              <a:buNone/>
            </a:pPr>
            <a:r>
              <a:rPr b="1" i="0" lang="en-US" sz="3000">
                <a:solidFill>
                  <a:srgbClr val="8A3B32"/>
                </a:solidFill>
                <a:latin typeface="Arial"/>
                <a:ea typeface="Arial"/>
                <a:cs typeface="Arial"/>
                <a:sym typeface="Arial"/>
              </a:rPr>
              <a:t>Magnetite and radical pairs make different predictions</a:t>
            </a:r>
            <a:endParaRPr sz="1800">
              <a:solidFill>
                <a:schemeClr val="dk1"/>
              </a:solidFill>
              <a:latin typeface="Calibri"/>
              <a:ea typeface="Calibri"/>
              <a:cs typeface="Calibri"/>
              <a:sym typeface="Calibri"/>
            </a:endParaRPr>
          </a:p>
        </p:txBody>
      </p:sp>
      <p:sp>
        <p:nvSpPr>
          <p:cNvPr id="254" name="Google Shape;254;p19"/>
          <p:cNvSpPr/>
          <p:nvPr/>
        </p:nvSpPr>
        <p:spPr>
          <a:xfrm>
            <a:off x="566886" y="1234380"/>
            <a:ext cx="5956250"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6252A"/>
              </a:buClr>
              <a:buSzPts val="1600"/>
              <a:buFont typeface="Arial"/>
              <a:buNone/>
            </a:pPr>
            <a:r>
              <a:rPr b="1" i="0" lang="en-US" sz="1600">
                <a:solidFill>
                  <a:srgbClr val="8A3B32"/>
                </a:solidFill>
                <a:latin typeface="Arial"/>
                <a:ea typeface="Arial"/>
                <a:cs typeface="Arial"/>
                <a:sym typeface="Arial"/>
              </a:rPr>
              <a:t>Magnetite</a:t>
            </a:r>
            <a:r>
              <a:rPr b="0" i="0" lang="en-US" sz="1600">
                <a:solidFill>
                  <a:srgbClr val="26252A"/>
                </a:solidFill>
                <a:latin typeface="Arial"/>
                <a:ea typeface="Arial"/>
                <a:cs typeface="Arial"/>
                <a:sym typeface="Arial"/>
              </a:rPr>
              <a:t> is an iron oxide whose particles have a magnetic moment, so a strong pulse can change their arrangement or magnetization. A radical-pair reaction is a chemical process that is influenced by a field only while it is present.</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6252A"/>
              </a:buClr>
              <a:buSzPts val="1600"/>
              <a:buFont typeface="Arial"/>
              <a:buNone/>
            </a:pPr>
            <a:r>
              <a:rPr b="0" i="0" lang="en-US" sz="1600">
                <a:solidFill>
                  <a:srgbClr val="26252A"/>
                </a:solidFill>
                <a:latin typeface="Arial"/>
                <a:ea typeface="Arial"/>
                <a:cs typeface="Arial"/>
                <a:sym typeface="Arial"/>
              </a:rPr>
              <a:t>Mackiewicz and colleagues gave turtles a magnetic pulse lasting 5 ms with a maximum of 85 mT. Turtles danced less in their rewarded field after the pulse than after no pulse, and sham handling did not produce the reduction.</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6252A"/>
              </a:buClr>
              <a:buSzPts val="1600"/>
              <a:buFont typeface="Arial"/>
              <a:buNone/>
            </a:pPr>
            <a:r>
              <a:rPr b="0" i="0" lang="en-US" sz="1600">
                <a:solidFill>
                  <a:srgbClr val="26252A"/>
                </a:solidFill>
                <a:latin typeface="Arial"/>
                <a:ea typeface="Arial"/>
                <a:cs typeface="Arial"/>
                <a:sym typeface="Arial"/>
              </a:rPr>
              <a:t>A persistent effect of a brief pulse fits a particle-based mechanism better than a radical-pair mechanism. The result therefore supports magnetite-containing structures as a candidate for the map while the receptor itself has not been located.</a:t>
            </a:r>
            <a:endParaRPr sz="1800">
              <a:solidFill>
                <a:schemeClr val="dk1"/>
              </a:solidFill>
              <a:latin typeface="Calibri"/>
              <a:ea typeface="Calibri"/>
              <a:cs typeface="Calibri"/>
              <a:sym typeface="Calibri"/>
            </a:endParaRPr>
          </a:p>
        </p:txBody>
      </p:sp>
      <p:pic>
        <p:nvPicPr>
          <p:cNvPr id="257" name="Google Shape;257;p19"/>
          <p:cNvPicPr preferRelativeResize="0"/>
          <p:nvPr/>
        </p:nvPicPr>
        <p:blipFill rotWithShape="1">
          <a:blip r:embed="rId2">
            <a:alphaModFix/>
          </a:blip>
          <a:srcRect b="0" l="0" r="0" t="0"/>
          <a:stretch/>
        </p:blipFill>
        <p:spPr>
          <a:xfrm>
            <a:off x="7790298" y="1280071"/>
            <a:ext cx="2914126" cy="4297561"/>
          </a:xfrm>
          <a:prstGeom prst="rect">
            <a:avLst/>
          </a:prstGeom>
          <a:noFill/>
          <a:ln>
            <a:noFill/>
          </a:ln>
        </p:spPr>
      </p:pic>
      <p:sp>
        <p:nvSpPr>
          <p:cNvPr id="258" name="Google Shape;258;p19"/>
          <p:cNvSpPr/>
          <p:nvPr/>
        </p:nvSpPr>
        <p:spPr>
          <a:xfrm>
            <a:off x="6870055" y="5669161"/>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1000"/>
              <a:buFont typeface="Arial"/>
              <a:buNone/>
            </a:pPr>
            <a:r>
              <a:rPr b="0" i="0" lang="en-US" sz="1000">
                <a:solidFill>
                  <a:srgbClr val="62606A"/>
                </a:solidFill>
                <a:latin typeface="Arial"/>
                <a:ea typeface="Arial"/>
                <a:cs typeface="Arial"/>
                <a:sym typeface="Arial"/>
              </a:rPr>
              <a:t>Mackiewicz et al. (2025), Fig. 2. A magnetic pulse reduces the response to the rewarded field.</a:t>
            </a:r>
            <a:endParaRPr sz="1800">
              <a:solidFill>
                <a:schemeClr val="dk1"/>
              </a:solidFill>
              <a:latin typeface="Calibri"/>
              <a:ea typeface="Calibri"/>
              <a:cs typeface="Calibri"/>
              <a:sym typeface="Calibri"/>
            </a:endParaRPr>
          </a:p>
        </p:txBody>
      </p:sp>
      <p:sp>
        <p:nvSpPr>
          <p:cNvPr id="259" name="Google Shape;259;p19"/>
          <p:cNvSpPr/>
          <p:nvPr/>
        </p:nvSpPr>
        <p:spPr>
          <a:xfrm>
            <a:off x="566886" y="6382494"/>
            <a:ext cx="11058079" cy="9079"/>
          </a:xfrm>
          <a:prstGeom prst="rect">
            <a:avLst/>
          </a:prstGeom>
          <a:solidFill>
            <a:srgbClr val="DAD1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0" name="Google Shape;260;p19"/>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Mackiewicz et al. (2025)</a:t>
            </a:r>
            <a:endParaRPr sz="1800">
              <a:solidFill>
                <a:schemeClr val="dk1"/>
              </a:solidFill>
              <a:latin typeface="Calibri"/>
              <a:ea typeface="Calibri"/>
              <a:cs typeface="Calibri"/>
              <a:sym typeface="Calibri"/>
            </a:endParaRPr>
          </a:p>
        </p:txBody>
      </p:sp>
      <p:sp>
        <p:nvSpPr>
          <p:cNvPr id="261" name="Google Shape;261;p19"/>
          <p:cNvSpPr/>
          <p:nvPr/>
        </p:nvSpPr>
        <p:spPr>
          <a:xfrm>
            <a:off x="11105348" y="6455569"/>
            <a:ext cx="538667"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19a</a:t>
            </a:r>
            <a:endParaRPr sz="1800">
              <a:solidFill>
                <a:schemeClr val="dk1"/>
              </a:solidFill>
              <a:latin typeface="Calibri"/>
              <a:ea typeface="Calibri"/>
              <a:cs typeface="Calibri"/>
              <a:sym typeface="Calibri"/>
            </a:endParaRP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14" name="Google Shape;214;p16"/>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8A3B32"/>
              </a:buClr>
              <a:buSzPts val="3000"/>
              <a:buFont typeface="Arial"/>
              <a:buNone/>
            </a:pPr>
            <a:r>
              <a:rPr b="1" i="0" lang="en-US" sz="3000">
                <a:solidFill>
                  <a:srgbClr val="8A3B32"/>
                </a:solidFill>
                <a:latin typeface="Arial"/>
                <a:ea typeface="Arial"/>
                <a:cs typeface="Arial"/>
                <a:sym typeface="Arial"/>
              </a:rPr>
              <a:t>A dissociation shows that two tasks use different mechanisms</a:t>
            </a:r>
            <a:endParaRPr sz="1800">
              <a:solidFill>
                <a:schemeClr val="dk1"/>
              </a:solidFill>
              <a:latin typeface="Calibri"/>
              <a:ea typeface="Calibri"/>
              <a:cs typeface="Calibri"/>
              <a:sym typeface="Calibri"/>
            </a:endParaRPr>
          </a:p>
        </p:txBody>
      </p:sp>
      <p:sp>
        <p:nvSpPr>
          <p:cNvPr id="215" name="Google Shape;215;p16"/>
          <p:cNvSpPr/>
          <p:nvPr/>
        </p:nvSpPr>
        <p:spPr>
          <a:xfrm>
            <a:off x="566886" y="1234380"/>
            <a:ext cx="5956250"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8A3B32"/>
              </a:buClr>
              <a:buSzPts val="1500"/>
              <a:buFont typeface="Arial"/>
              <a:buNone/>
            </a:pPr>
            <a:r>
              <a:rPr b="0" i="0" lang="en-US" sz="1500">
                <a:solidFill>
                  <a:srgbClr val="26252A"/>
                </a:solidFill>
                <a:latin typeface="Arial"/>
                <a:ea typeface="Arial"/>
                <a:cs typeface="Arial"/>
                <a:sym typeface="Arial"/>
              </a:rPr>
              <a:t>A </a:t>
            </a:r>
            <a:r>
              <a:rPr b="1" i="0" lang="en-US" sz="1500">
                <a:solidFill>
                  <a:srgbClr val="8A3B32"/>
                </a:solidFill>
                <a:latin typeface="Arial"/>
                <a:ea typeface="Arial"/>
                <a:cs typeface="Arial"/>
                <a:sym typeface="Arial"/>
              </a:rPr>
              <a:t>dissociation</a:t>
            </a:r>
            <a:r>
              <a:rPr b="0" i="0" lang="en-US" sz="1500">
                <a:solidFill>
                  <a:srgbClr val="26252A"/>
                </a:solidFill>
                <a:latin typeface="Arial"/>
                <a:ea typeface="Arial"/>
                <a:cs typeface="Arial"/>
                <a:sym typeface="Arial"/>
              </a:rPr>
              <a:t> occurs when a manipulation changes one behavior and leaves another unchanged. It suggests that the two behaviors rely on different mechanisms. The same class of perturbation was tested against two different behavioral outputs.</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6252A"/>
              </a:buClr>
              <a:buSzPts val="1500"/>
              <a:buFont typeface="Arial"/>
              <a:buNone/>
            </a:pPr>
            <a:r>
              <a:rPr b="0" i="0" lang="en-US" sz="1500">
                <a:solidFill>
                  <a:srgbClr val="26252A"/>
                </a:solidFill>
                <a:latin typeface="Arial"/>
                <a:ea typeface="Arial"/>
                <a:cs typeface="Arial"/>
                <a:sym typeface="Arial"/>
              </a:rPr>
              <a:t>Goforth and colleagues exposed turtles to broadband radiofrequency noise from 0.1 to 10 MHz. The learned rewarded-field response persisted, whereas hatchlings exposed to the Cape Verde signature lost their group heading. Hatchlings were oriented in a harness and their heading was recorded.</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6252A"/>
              </a:buClr>
              <a:buSzPts val="1500"/>
              <a:buFont typeface="Arial"/>
              <a:buNone/>
            </a:pPr>
            <a:r>
              <a:rPr b="0" i="0" lang="en-US" sz="1500">
                <a:solidFill>
                  <a:srgbClr val="26252A"/>
                </a:solidFill>
                <a:latin typeface="Arial"/>
                <a:ea typeface="Arial"/>
                <a:cs typeface="Arial"/>
                <a:sym typeface="Arial"/>
              </a:rPr>
              <a:t>Without noise, the hatchlings preferred 293.1°, approximately westward, and with noise the group no longer shared a direction. The map-only assay and the orientation task requiring map and compass information therefore respond differently to the same perturbation. Selective loss of one behavior shows that it depends on a process that the noise disrupts.</a:t>
            </a:r>
            <a:endParaRPr sz="1800">
              <a:solidFill>
                <a:schemeClr val="dk1"/>
              </a:solidFill>
              <a:latin typeface="Calibri"/>
              <a:ea typeface="Calibri"/>
              <a:cs typeface="Calibri"/>
              <a:sym typeface="Calibri"/>
            </a:endParaRPr>
          </a:p>
        </p:txBody>
      </p:sp>
      <p:pic>
        <p:nvPicPr>
          <p:cNvPr id="218" name="Google Shape;218;p16"/>
          <p:cNvPicPr preferRelativeResize="0"/>
          <p:nvPr/>
        </p:nvPicPr>
        <p:blipFill rotWithShape="1">
          <a:blip r:embed="rId2">
            <a:alphaModFix/>
          </a:blip>
          <a:srcRect b="0" l="0" r="0" t="0"/>
          <a:stretch/>
        </p:blipFill>
        <p:spPr>
          <a:xfrm>
            <a:off x="7349903" y="1280071"/>
            <a:ext cx="3795066" cy="4297561"/>
          </a:xfrm>
          <a:prstGeom prst="rect">
            <a:avLst/>
          </a:prstGeom>
          <a:noFill/>
          <a:ln>
            <a:noFill/>
          </a:ln>
        </p:spPr>
      </p:pic>
      <p:sp>
        <p:nvSpPr>
          <p:cNvPr id="219" name="Google Shape;219;p16"/>
          <p:cNvSpPr/>
          <p:nvPr/>
        </p:nvSpPr>
        <p:spPr>
          <a:xfrm>
            <a:off x="6870055" y="5669161"/>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1000"/>
              <a:buFont typeface="Arial"/>
              <a:buNone/>
            </a:pPr>
            <a:r>
              <a:rPr b="0" i="0" lang="en-US" sz="1000">
                <a:solidFill>
                  <a:srgbClr val="62606A"/>
                </a:solidFill>
                <a:latin typeface="Arial"/>
                <a:ea typeface="Arial"/>
                <a:cs typeface="Arial"/>
                <a:sym typeface="Arial"/>
              </a:rPr>
              <a:t>Goforth et al. (2025), Fig. 5(a–b). Radiofrequency fields spare learned maps but disrupt orientation.</a:t>
            </a:r>
            <a:endParaRPr sz="1800">
              <a:solidFill>
                <a:schemeClr val="dk1"/>
              </a:solidFill>
              <a:latin typeface="Calibri"/>
              <a:ea typeface="Calibri"/>
              <a:cs typeface="Calibri"/>
              <a:sym typeface="Calibri"/>
            </a:endParaRPr>
          </a:p>
        </p:txBody>
      </p:sp>
      <p:sp>
        <p:nvSpPr>
          <p:cNvPr id="220" name="Google Shape;220;p16"/>
          <p:cNvSpPr/>
          <p:nvPr/>
        </p:nvSpPr>
        <p:spPr>
          <a:xfrm>
            <a:off x="566886" y="6382494"/>
            <a:ext cx="11058079" cy="9079"/>
          </a:xfrm>
          <a:prstGeom prst="rect">
            <a:avLst/>
          </a:prstGeom>
          <a:solidFill>
            <a:srgbClr val="DAD1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1" name="Google Shape;221;p16"/>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Goforth et al. (2025)</a:t>
            </a:r>
            <a:endParaRPr sz="1800">
              <a:solidFill>
                <a:schemeClr val="dk1"/>
              </a:solidFill>
              <a:latin typeface="Calibri"/>
              <a:ea typeface="Calibri"/>
              <a:cs typeface="Calibri"/>
              <a:sym typeface="Calibri"/>
            </a:endParaRPr>
          </a:p>
        </p:txBody>
      </p:sp>
      <p:sp>
        <p:nvSpPr>
          <p:cNvPr id="222" name="Google Shape;222;p16"/>
          <p:cNvSpPr/>
          <p:nvPr/>
        </p:nvSpPr>
        <p:spPr>
          <a:xfrm>
            <a:off x="11105348" y="6455569"/>
            <a:ext cx="538667"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16a</a:t>
            </a:r>
            <a:endParaRPr sz="1800">
              <a:solidFill>
                <a:schemeClr val="dk1"/>
              </a:solidFill>
              <a:latin typeface="Calibri"/>
              <a:ea typeface="Calibri"/>
              <a:cs typeface="Calibri"/>
              <a:sym typeface="Calibri"/>
            </a:endParaRP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188" name="Google Shape;188;p14"/>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8A3B32"/>
              </a:buClr>
              <a:buSzPts val="3000"/>
              <a:buFont typeface="Arial"/>
              <a:buNone/>
            </a:pPr>
            <a:r>
              <a:rPr b="1" i="0" lang="en-US" sz="3000">
                <a:solidFill>
                  <a:srgbClr val="8A3B32"/>
                </a:solidFill>
                <a:latin typeface="Arial"/>
                <a:ea typeface="Arial"/>
                <a:cs typeface="Arial"/>
                <a:sym typeface="Arial"/>
              </a:rPr>
              <a:t>Mismatched fields test which components matter</a:t>
            </a:r>
            <a:endParaRPr sz="1800">
              <a:solidFill>
                <a:schemeClr val="dk1"/>
              </a:solidFill>
              <a:latin typeface="Calibri"/>
              <a:ea typeface="Calibri"/>
              <a:cs typeface="Calibri"/>
              <a:sym typeface="Calibri"/>
            </a:endParaRPr>
          </a:p>
        </p:txBody>
      </p:sp>
      <p:sp>
        <p:nvSpPr>
          <p:cNvPr id="189" name="Google Shape;189;p14"/>
          <p:cNvSpPr/>
          <p:nvPr/>
        </p:nvSpPr>
        <p:spPr>
          <a:xfrm>
            <a:off x="566886" y="1234380"/>
            <a:ext cx="5956250"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6252A"/>
              </a:buClr>
              <a:buSzPts val="1500"/>
              <a:buFont typeface="Arial"/>
              <a:buNone/>
            </a:pPr>
            <a:r>
              <a:rPr b="1" i="0" lang="en-US" sz="1500">
                <a:solidFill>
                  <a:srgbClr val="8A3B32"/>
                </a:solidFill>
                <a:latin typeface="Arial"/>
                <a:ea typeface="Arial"/>
                <a:cs typeface="Arial"/>
                <a:sym typeface="Arial"/>
              </a:rPr>
              <a:t>Mismatched fields</a:t>
            </a:r>
            <a:r>
              <a:rPr b="0" i="0" lang="en-US" sz="1500">
                <a:solidFill>
                  <a:srgbClr val="26252A"/>
                </a:solidFill>
                <a:latin typeface="Arial"/>
                <a:ea typeface="Arial"/>
                <a:cs typeface="Arial"/>
                <a:sym typeface="Arial"/>
              </a:rPr>
              <a:t> combine the inclination of one learned field with the intensity of the other. Because inclination and intensity normally occur as a pair, the mismatched combinations separate features that were always presented together during training. Mismatched fields were new to the turtles and were not paired with food during training.</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6252A"/>
              </a:buClr>
              <a:buSzPts val="1500"/>
              <a:buFont typeface="Arial"/>
              <a:buNone/>
            </a:pPr>
            <a:r>
              <a:rPr b="0" i="0" lang="en-US" sz="1500">
                <a:solidFill>
                  <a:srgbClr val="26252A"/>
                </a:solidFill>
                <a:latin typeface="Arial"/>
                <a:ea typeface="Arial"/>
                <a:cs typeface="Arial"/>
                <a:sym typeface="Arial"/>
              </a:rPr>
              <a:t>Goforth and colleagues tested turtles in the rewarded field, the unrewarded field and the two mismatched combinations. Each mismatched field kept one rewarded component and changed the other. Responses in each condition were scored from the same behavioral measure.</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6252A"/>
              </a:buClr>
              <a:buSzPts val="1500"/>
              <a:buFont typeface="Arial"/>
              <a:buNone/>
            </a:pPr>
            <a:r>
              <a:rPr b="0" i="0" lang="en-US" sz="1500">
                <a:solidFill>
                  <a:srgbClr val="26252A"/>
                </a:solidFill>
                <a:latin typeface="Arial"/>
                <a:ea typeface="Arial"/>
                <a:cs typeface="Arial"/>
                <a:sym typeface="Arial"/>
              </a:rPr>
              <a:t>The test asks whether a familiar inclination or a familiar intensity is enough to evoke the learned response. If neither is enough, the learned signature is a compound cue that depends on the combination.</a:t>
            </a:r>
            <a:endParaRPr sz="1800">
              <a:solidFill>
                <a:schemeClr val="dk1"/>
              </a:solidFill>
              <a:latin typeface="Calibri"/>
              <a:ea typeface="Calibri"/>
              <a:cs typeface="Calibri"/>
              <a:sym typeface="Calibri"/>
            </a:endParaRPr>
          </a:p>
        </p:txBody>
      </p:sp>
      <p:pic>
        <p:nvPicPr>
          <p:cNvPr id="192" name="Google Shape;192;p14"/>
          <p:cNvPicPr preferRelativeResize="0"/>
          <p:nvPr/>
        </p:nvPicPr>
        <p:blipFill rotWithShape="1">
          <a:blip r:embed="rId2">
            <a:alphaModFix/>
          </a:blip>
          <a:srcRect b="0" l="0" r="0" t="0"/>
          <a:stretch/>
        </p:blipFill>
        <p:spPr>
          <a:xfrm>
            <a:off x="6870109" y="1280071"/>
            <a:ext cx="4754801" cy="2808536"/>
          </a:xfrm>
          <a:prstGeom prst="rect">
            <a:avLst/>
          </a:prstGeom>
          <a:noFill/>
          <a:ln>
            <a:noFill/>
          </a:ln>
        </p:spPr>
      </p:pic>
      <p:sp>
        <p:nvSpPr>
          <p:cNvPr id="193" name="Google Shape;193;p14"/>
          <p:cNvSpPr/>
          <p:nvPr/>
        </p:nvSpPr>
        <p:spPr>
          <a:xfrm>
            <a:off x="6870055" y="4180136"/>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1000"/>
              <a:buFont typeface="Arial"/>
              <a:buNone/>
            </a:pPr>
            <a:r>
              <a:rPr b="0" i="0" lang="en-US" sz="1000">
                <a:solidFill>
                  <a:srgbClr val="62606A"/>
                </a:solidFill>
                <a:latin typeface="Arial"/>
                <a:ea typeface="Arial"/>
                <a:cs typeface="Arial"/>
                <a:sym typeface="Arial"/>
              </a:rPr>
              <a:t>Goforth et al. (2025), Fig. 4(a). Published inclination–intensity combinations used in cue mixing.</a:t>
            </a:r>
            <a:endParaRPr sz="1800">
              <a:solidFill>
                <a:schemeClr val="dk1"/>
              </a:solidFill>
              <a:latin typeface="Calibri"/>
              <a:ea typeface="Calibri"/>
              <a:cs typeface="Calibri"/>
              <a:sym typeface="Calibri"/>
            </a:endParaRPr>
          </a:p>
        </p:txBody>
      </p:sp>
      <p:sp>
        <p:nvSpPr>
          <p:cNvPr id="194" name="Google Shape;194;p14"/>
          <p:cNvSpPr/>
          <p:nvPr/>
        </p:nvSpPr>
        <p:spPr>
          <a:xfrm>
            <a:off x="566886" y="6382494"/>
            <a:ext cx="11058079" cy="9079"/>
          </a:xfrm>
          <a:prstGeom prst="rect">
            <a:avLst/>
          </a:prstGeom>
          <a:solidFill>
            <a:srgbClr val="DAD1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5" name="Google Shape;195;p14"/>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Goforth et al. (2025)</a:t>
            </a:r>
            <a:endParaRPr sz="1800">
              <a:solidFill>
                <a:schemeClr val="dk1"/>
              </a:solidFill>
              <a:latin typeface="Calibri"/>
              <a:ea typeface="Calibri"/>
              <a:cs typeface="Calibri"/>
              <a:sym typeface="Calibri"/>
            </a:endParaRPr>
          </a:p>
        </p:txBody>
      </p:sp>
      <p:sp>
        <p:nvSpPr>
          <p:cNvPr id="196" name="Google Shape;196;p14"/>
          <p:cNvSpPr/>
          <p:nvPr/>
        </p:nvSpPr>
        <p:spPr>
          <a:xfrm>
            <a:off x="11105348" y="6455569"/>
            <a:ext cx="538667"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14a</a:t>
            </a:r>
            <a:endParaRPr sz="1800">
              <a:solidFill>
                <a:schemeClr val="dk1"/>
              </a:solidFill>
              <a:latin typeface="Calibri"/>
              <a:ea typeface="Calibri"/>
              <a:cs typeface="Calibri"/>
              <a:sym typeface="Calibri"/>
            </a:endParaRP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149" name="Google Shape;149;p11"/>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8A3B32"/>
              </a:buClr>
              <a:buSzPts val="3000"/>
              <a:buFont typeface="Arial"/>
              <a:buNone/>
            </a:pPr>
            <a:r>
              <a:rPr b="1" i="0" lang="en-US" sz="3000">
                <a:solidFill>
                  <a:srgbClr val="8A3B32"/>
                </a:solidFill>
                <a:latin typeface="Arial"/>
                <a:ea typeface="Arial"/>
                <a:cs typeface="Arial"/>
                <a:sym typeface="Arial"/>
              </a:rPr>
              <a:t>Associative learning links a cue to an outcome</a:t>
            </a:r>
            <a:endParaRPr sz="1800">
              <a:solidFill>
                <a:schemeClr val="dk1"/>
              </a:solidFill>
              <a:latin typeface="Calibri"/>
              <a:ea typeface="Calibri"/>
              <a:cs typeface="Calibri"/>
              <a:sym typeface="Calibri"/>
            </a:endParaRPr>
          </a:p>
        </p:txBody>
      </p:sp>
      <p:sp>
        <p:nvSpPr>
          <p:cNvPr id="150" name="Google Shape;150;p11"/>
          <p:cNvSpPr/>
          <p:nvPr/>
        </p:nvSpPr>
        <p:spPr>
          <a:xfrm>
            <a:off x="566886" y="1234380"/>
            <a:ext cx="5956250"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6252A"/>
              </a:buClr>
              <a:buSzPts val="1500"/>
              <a:buFont typeface="Arial"/>
              <a:buNone/>
            </a:pPr>
            <a:r>
              <a:rPr b="1" i="0" lang="en-US" sz="1500">
                <a:solidFill>
                  <a:srgbClr val="8A3B32"/>
                </a:solidFill>
                <a:latin typeface="Arial"/>
                <a:ea typeface="Arial"/>
                <a:cs typeface="Arial"/>
                <a:sym typeface="Arial"/>
              </a:rPr>
              <a:t>Associative learning</a:t>
            </a:r>
            <a:r>
              <a:rPr b="0" i="0" lang="en-US" sz="1500">
                <a:solidFill>
                  <a:srgbClr val="26252A"/>
                </a:solidFill>
                <a:latin typeface="Arial"/>
                <a:ea typeface="Arial"/>
                <a:cs typeface="Arial"/>
                <a:sym typeface="Arial"/>
              </a:rPr>
              <a:t> is the formation of a link between a sensory cue and an outcome. After a cue has reliably predicted food, the animal shows anticipatory behavior when the cue appears. The behavior is measured in the absence of food, so it reflects memory of the association.</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6252A"/>
              </a:buClr>
              <a:buSzPts val="1500"/>
              <a:buFont typeface="Arial"/>
              <a:buNone/>
            </a:pPr>
            <a:r>
              <a:rPr b="0" i="0" lang="en-US" sz="1500">
                <a:solidFill>
                  <a:srgbClr val="26252A"/>
                </a:solidFill>
                <a:latin typeface="Arial"/>
                <a:ea typeface="Arial"/>
                <a:cs typeface="Arial"/>
                <a:sym typeface="Arial"/>
              </a:rPr>
              <a:t>Goforth and colleagues conditioned juvenile loggerheads for 2 months with two replicated geographical fields. Animals spent equal time in the fields, and food was delivered only in one assigned signature, with the rewarded field counterbalanced across animals.</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6252A"/>
              </a:buClr>
              <a:buSzPts val="1500"/>
              <a:buFont typeface="Arial"/>
              <a:buNone/>
            </a:pPr>
            <a:r>
              <a:rPr b="0" i="0" lang="en-US" sz="1500">
                <a:solidFill>
                  <a:srgbClr val="26252A"/>
                </a:solidFill>
                <a:latin typeface="Arial"/>
                <a:ea typeface="Arial"/>
                <a:cs typeface="Arial"/>
                <a:sym typeface="Arial"/>
              </a:rPr>
              <a:t>After conditioning, turtles were tested without food and danced more in the rewarded field. Counterbalancing shows that the response follows the association and not a preference for a northern field, a southern field or part of the apparatus. Dancing therefore reports recognition of a magnetic signature.</a:t>
            </a:r>
            <a:endParaRPr sz="1800">
              <a:solidFill>
                <a:schemeClr val="dk1"/>
              </a:solidFill>
              <a:latin typeface="Calibri"/>
              <a:ea typeface="Calibri"/>
              <a:cs typeface="Calibri"/>
              <a:sym typeface="Calibri"/>
            </a:endParaRPr>
          </a:p>
        </p:txBody>
      </p:sp>
      <p:pic>
        <p:nvPicPr>
          <p:cNvPr id="153" name="Google Shape;153;p11"/>
          <p:cNvPicPr preferRelativeResize="0"/>
          <p:nvPr/>
        </p:nvPicPr>
        <p:blipFill rotWithShape="1">
          <a:blip r:embed="rId2">
            <a:alphaModFix/>
          </a:blip>
          <a:srcRect b="0" l="0" r="0" t="0"/>
          <a:stretch/>
        </p:blipFill>
        <p:spPr>
          <a:xfrm>
            <a:off x="7414210" y="1280071"/>
            <a:ext cx="3666451" cy="4297561"/>
          </a:xfrm>
          <a:prstGeom prst="rect">
            <a:avLst/>
          </a:prstGeom>
          <a:noFill/>
          <a:ln>
            <a:noFill/>
          </a:ln>
        </p:spPr>
      </p:pic>
      <p:sp>
        <p:nvSpPr>
          <p:cNvPr id="154" name="Google Shape;154;p11"/>
          <p:cNvSpPr/>
          <p:nvPr/>
        </p:nvSpPr>
        <p:spPr>
          <a:xfrm>
            <a:off x="6870055" y="5669161"/>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1000"/>
              <a:buFont typeface="Arial"/>
              <a:buNone/>
            </a:pPr>
            <a:r>
              <a:rPr b="0" i="0" lang="en-US" sz="1000">
                <a:solidFill>
                  <a:srgbClr val="62606A"/>
                </a:solidFill>
                <a:latin typeface="Arial"/>
                <a:ea typeface="Arial"/>
                <a:cs typeface="Arial"/>
                <a:sym typeface="Arial"/>
              </a:rPr>
              <a:t>Goforth et al. (2025), Fig. 1(b). Rewarded fields elicit stronger food-anticipatory behavior.</a:t>
            </a:r>
            <a:endParaRPr sz="1800">
              <a:solidFill>
                <a:schemeClr val="dk1"/>
              </a:solidFill>
              <a:latin typeface="Calibri"/>
              <a:ea typeface="Calibri"/>
              <a:cs typeface="Calibri"/>
              <a:sym typeface="Calibri"/>
            </a:endParaRPr>
          </a:p>
        </p:txBody>
      </p:sp>
      <p:sp>
        <p:nvSpPr>
          <p:cNvPr id="155" name="Google Shape;155;p11"/>
          <p:cNvSpPr/>
          <p:nvPr/>
        </p:nvSpPr>
        <p:spPr>
          <a:xfrm>
            <a:off x="566886" y="6382494"/>
            <a:ext cx="11058079" cy="9079"/>
          </a:xfrm>
          <a:prstGeom prst="rect">
            <a:avLst/>
          </a:prstGeom>
          <a:solidFill>
            <a:srgbClr val="DAD1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6" name="Google Shape;156;p11"/>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Goforth et al. (2025)</a:t>
            </a:r>
            <a:endParaRPr sz="1800">
              <a:solidFill>
                <a:schemeClr val="dk1"/>
              </a:solidFill>
              <a:latin typeface="Calibri"/>
              <a:ea typeface="Calibri"/>
              <a:cs typeface="Calibri"/>
              <a:sym typeface="Calibri"/>
            </a:endParaRPr>
          </a:p>
        </p:txBody>
      </p:sp>
      <p:sp>
        <p:nvSpPr>
          <p:cNvPr id="157" name="Google Shape;157;p11"/>
          <p:cNvSpPr/>
          <p:nvPr/>
        </p:nvSpPr>
        <p:spPr>
          <a:xfrm>
            <a:off x="11105348" y="6455569"/>
            <a:ext cx="538667"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11a</a:t>
            </a:r>
            <a:endParaRPr sz="1800">
              <a:solidFill>
                <a:schemeClr val="dk1"/>
              </a:solidFill>
              <a:latin typeface="Calibri"/>
              <a:ea typeface="Calibri"/>
              <a:cs typeface="Calibri"/>
              <a:sym typeface="Calibri"/>
            </a:endParaRP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110" name="Google Shape;110;p8"/>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8A3B32"/>
              </a:buClr>
              <a:buSzPts val="3000"/>
              <a:buFont typeface="Arial"/>
              <a:buNone/>
            </a:pPr>
            <a:r>
              <a:rPr b="1" i="0" lang="en-US" sz="3000">
                <a:solidFill>
                  <a:srgbClr val="8A3B32"/>
                </a:solidFill>
                <a:latin typeface="Arial"/>
                <a:ea typeface="Arial"/>
                <a:cs typeface="Arial"/>
                <a:sym typeface="Arial"/>
              </a:rPr>
              <a:t>A magnetic signature combines inclination and intensity</a:t>
            </a:r>
            <a:endParaRPr sz="1800">
              <a:solidFill>
                <a:schemeClr val="dk1"/>
              </a:solidFill>
              <a:latin typeface="Calibri"/>
              <a:ea typeface="Calibri"/>
              <a:cs typeface="Calibri"/>
              <a:sym typeface="Calibri"/>
            </a:endParaRPr>
          </a:p>
        </p:txBody>
      </p:sp>
      <p:sp>
        <p:nvSpPr>
          <p:cNvPr id="111" name="Google Shape;111;p8"/>
          <p:cNvSpPr/>
          <p:nvPr/>
        </p:nvSpPr>
        <p:spPr>
          <a:xfrm>
            <a:off x="566886" y="1234380"/>
            <a:ext cx="5956250"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6252A"/>
              </a:buClr>
              <a:buSzPts val="1500"/>
              <a:buFont typeface="Arial"/>
              <a:buNone/>
            </a:pPr>
            <a:r>
              <a:rPr b="0" i="0" lang="en-US" sz="1500">
                <a:solidFill>
                  <a:srgbClr val="26252A"/>
                </a:solidFill>
                <a:latin typeface="Arial"/>
                <a:ea typeface="Arial"/>
                <a:cs typeface="Arial"/>
                <a:sym typeface="Arial"/>
              </a:rPr>
              <a:t>A </a:t>
            </a:r>
            <a:r>
              <a:rPr b="1" i="0" lang="en-US" sz="1500">
                <a:solidFill>
                  <a:srgbClr val="8A3B32"/>
                </a:solidFill>
                <a:latin typeface="Arial"/>
                <a:ea typeface="Arial"/>
                <a:cs typeface="Arial"/>
                <a:sym typeface="Arial"/>
              </a:rPr>
              <a:t>magnetic signature</a:t>
            </a:r>
            <a:r>
              <a:rPr b="0" i="0" lang="en-US" sz="1500">
                <a:solidFill>
                  <a:srgbClr val="26252A"/>
                </a:solidFill>
                <a:latin typeface="Arial"/>
                <a:ea typeface="Arial"/>
                <a:cs typeface="Arial"/>
                <a:sym typeface="Arial"/>
              </a:rPr>
              <a:t> is the combination of magnetic parameters that characterizes a location. Inclination and intensity vary together across the ocean, so a particular pair of values marks a particular region. The signature of a region is therefore a property of the field at that place.</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6252A"/>
              </a:buClr>
              <a:buSzPts val="1500"/>
              <a:buFont typeface="Arial"/>
              <a:buNone/>
            </a:pPr>
            <a:r>
              <a:rPr b="0" i="0" lang="en-US" sz="1500">
                <a:solidFill>
                  <a:srgbClr val="26252A"/>
                </a:solidFill>
                <a:latin typeface="Arial"/>
                <a:ea typeface="Arial"/>
                <a:cs typeface="Arial"/>
                <a:sym typeface="Arial"/>
              </a:rPr>
              <a:t>Lohmann and colleagues replicated three fields from the North Atlantic route of loggerheads and tethered hatchlings in a coil system. Hatchlings oriented east-southeast in the northern Florida field, south in the northeastern gyre field and west-northwest in the southern gyre field.</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6252A"/>
              </a:buClr>
              <a:buSzPts val="1500"/>
              <a:buFont typeface="Arial"/>
              <a:buNone/>
            </a:pPr>
            <a:r>
              <a:rPr b="0" i="0" lang="en-US" sz="1500">
                <a:solidFill>
                  <a:srgbClr val="26252A"/>
                </a:solidFill>
                <a:latin typeface="Arial"/>
                <a:ea typeface="Arial"/>
                <a:cs typeface="Arial"/>
                <a:sym typeface="Arial"/>
              </a:rPr>
              <a:t>The animals stayed in the same laboratory arena while the field changed. Each regional signature therefore triggered a different heading, which is consistent with moving toward favorable currents and away from the edges of the gyre.</a:t>
            </a:r>
            <a:endParaRPr sz="1800">
              <a:solidFill>
                <a:schemeClr val="dk1"/>
              </a:solidFill>
              <a:latin typeface="Calibri"/>
              <a:ea typeface="Calibri"/>
              <a:cs typeface="Calibri"/>
              <a:sym typeface="Calibri"/>
            </a:endParaRPr>
          </a:p>
        </p:txBody>
      </p:sp>
      <p:pic>
        <p:nvPicPr>
          <p:cNvPr id="114" name="Google Shape;114;p8"/>
          <p:cNvPicPr preferRelativeResize="0"/>
          <p:nvPr/>
        </p:nvPicPr>
        <p:blipFill rotWithShape="1">
          <a:blip r:embed="rId2">
            <a:alphaModFix/>
          </a:blip>
          <a:srcRect b="0" l="0" r="0" t="0"/>
          <a:stretch/>
        </p:blipFill>
        <p:spPr>
          <a:xfrm>
            <a:off x="6870145" y="1280071"/>
            <a:ext cx="4754730" cy="3861792"/>
          </a:xfrm>
          <a:prstGeom prst="rect">
            <a:avLst/>
          </a:prstGeom>
          <a:noFill/>
          <a:ln>
            <a:noFill/>
          </a:ln>
        </p:spPr>
      </p:pic>
      <p:sp>
        <p:nvSpPr>
          <p:cNvPr id="115" name="Google Shape;115;p8"/>
          <p:cNvSpPr/>
          <p:nvPr/>
        </p:nvSpPr>
        <p:spPr>
          <a:xfrm>
            <a:off x="6870055" y="5233392"/>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1000"/>
              <a:buFont typeface="Arial"/>
              <a:buNone/>
            </a:pPr>
            <a:r>
              <a:rPr b="0" i="0" lang="en-US" sz="1000">
                <a:solidFill>
                  <a:srgbClr val="62606A"/>
                </a:solidFill>
                <a:latin typeface="Arial"/>
                <a:ea typeface="Arial"/>
                <a:cs typeface="Arial"/>
                <a:sym typeface="Arial"/>
              </a:rPr>
              <a:t>Lohmann et al. (2001), Fig. 1. Three regional fields evoke different hatchling headings.</a:t>
            </a:r>
            <a:endParaRPr sz="1800">
              <a:solidFill>
                <a:schemeClr val="dk1"/>
              </a:solidFill>
              <a:latin typeface="Calibri"/>
              <a:ea typeface="Calibri"/>
              <a:cs typeface="Calibri"/>
              <a:sym typeface="Calibri"/>
            </a:endParaRPr>
          </a:p>
        </p:txBody>
      </p:sp>
      <p:sp>
        <p:nvSpPr>
          <p:cNvPr id="116" name="Google Shape;116;p8"/>
          <p:cNvSpPr/>
          <p:nvPr/>
        </p:nvSpPr>
        <p:spPr>
          <a:xfrm>
            <a:off x="566886" y="6382494"/>
            <a:ext cx="11058079" cy="9079"/>
          </a:xfrm>
          <a:prstGeom prst="rect">
            <a:avLst/>
          </a:prstGeom>
          <a:solidFill>
            <a:srgbClr val="DAD1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7" name="Google Shape;117;p8"/>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Lohmann et al. (2001)</a:t>
            </a:r>
            <a:endParaRPr sz="1800">
              <a:solidFill>
                <a:schemeClr val="dk1"/>
              </a:solidFill>
              <a:latin typeface="Calibri"/>
              <a:ea typeface="Calibri"/>
              <a:cs typeface="Calibri"/>
              <a:sym typeface="Calibri"/>
            </a:endParaRPr>
          </a:p>
        </p:txBody>
      </p:sp>
      <p:sp>
        <p:nvSpPr>
          <p:cNvPr id="118" name="Google Shape;118;p8"/>
          <p:cNvSpPr/>
          <p:nvPr/>
        </p:nvSpPr>
        <p:spPr>
          <a:xfrm>
            <a:off x="11105348" y="6455569"/>
            <a:ext cx="538667"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08a</a:t>
            </a:r>
            <a:endParaRPr sz="1800">
              <a:solidFill>
                <a:schemeClr val="dk1"/>
              </a:solidFill>
              <a:latin typeface="Calibri"/>
              <a:ea typeface="Calibri"/>
              <a:cs typeface="Calibri"/>
              <a:sym typeface="Calibri"/>
            </a:endParaRP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71" name="Google Shape;71;p5"/>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8A3B32"/>
              </a:buClr>
              <a:buSzPts val="3000"/>
              <a:buFont typeface="Arial"/>
              <a:buNone/>
            </a:pPr>
            <a:r>
              <a:rPr b="1" i="0" lang="en-US" sz="3000">
                <a:solidFill>
                  <a:srgbClr val="8A3B32"/>
                </a:solidFill>
                <a:latin typeface="Arial"/>
                <a:ea typeface="Arial"/>
                <a:cs typeface="Arial"/>
                <a:sym typeface="Arial"/>
              </a:rPr>
              <a:t>Inclination and intensity are separate field properties</a:t>
            </a:r>
            <a:endParaRPr sz="1800">
              <a:solidFill>
                <a:schemeClr val="dk1"/>
              </a:solidFill>
              <a:latin typeface="Calibri"/>
              <a:ea typeface="Calibri"/>
              <a:cs typeface="Calibri"/>
              <a:sym typeface="Calibri"/>
            </a:endParaRPr>
          </a:p>
        </p:txBody>
      </p:sp>
      <p:sp>
        <p:nvSpPr>
          <p:cNvPr id="72" name="Google Shape;72;p5"/>
          <p:cNvSpPr/>
          <p:nvPr/>
        </p:nvSpPr>
        <p:spPr>
          <a:xfrm>
            <a:off x="566886" y="1234380"/>
            <a:ext cx="5956250"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8A3B32"/>
              </a:buClr>
              <a:buSzPts val="1600"/>
              <a:buFont typeface="Arial"/>
              <a:buNone/>
            </a:pPr>
            <a:r>
              <a:rPr b="1" i="0" lang="en-US" sz="1600">
                <a:solidFill>
                  <a:srgbClr val="8A3B32"/>
                </a:solidFill>
                <a:latin typeface="Arial"/>
                <a:ea typeface="Arial"/>
                <a:cs typeface="Arial"/>
                <a:sym typeface="Arial"/>
              </a:rPr>
              <a:t>Intensity</a:t>
            </a:r>
            <a:r>
              <a:rPr b="0" i="0" lang="en-US" sz="1600">
                <a:solidFill>
                  <a:srgbClr val="26252A"/>
                </a:solidFill>
                <a:latin typeface="Arial"/>
                <a:ea typeface="Arial"/>
                <a:cs typeface="Arial"/>
                <a:sym typeface="Arial"/>
              </a:rPr>
              <a:t> is the magnitude of the magnetic field, and inclination is the angle of the field lines relative to the horizontal. Earth's field varies in both properties with location, but the two can be changed independently in the laboratory. Holding intensity constant isolates the effect of the slope of the field.</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6252A"/>
              </a:buClr>
              <a:buSzPts val="1600"/>
              <a:buFont typeface="Arial"/>
              <a:buNone/>
            </a:pPr>
            <a:r>
              <a:rPr b="0" i="0" lang="en-US" sz="1600">
                <a:solidFill>
                  <a:srgbClr val="26252A"/>
                </a:solidFill>
                <a:latin typeface="Arial"/>
                <a:ea typeface="Arial"/>
                <a:cs typeface="Arial"/>
                <a:sym typeface="Arial"/>
              </a:rPr>
              <a:t>Lohmann and Lohmann used two orthogonal coil systems to control the horizontal and vertical components. Total field strength stayed at 0.044 to 0.045 mT across conditions while inclination changed.</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6252A"/>
              </a:buClr>
              <a:buSzPts val="1600"/>
              <a:buFont typeface="Arial"/>
              <a:buNone/>
            </a:pPr>
            <a:r>
              <a:rPr b="0" i="0" lang="en-US" sz="1600">
                <a:solidFill>
                  <a:srgbClr val="26252A"/>
                </a:solidFill>
                <a:latin typeface="Arial"/>
                <a:ea typeface="Arial"/>
                <a:cs typeface="Arial"/>
                <a:sym typeface="Arial"/>
              </a:rPr>
              <a:t>Computers and power supplies remained active in every treatment and were located in an adjacent room. Any change in behavior can therefore be attributed to the geometry of the field and not to equipment noise or a change in strength.</a:t>
            </a:r>
            <a:endParaRPr sz="1800">
              <a:solidFill>
                <a:schemeClr val="dk1"/>
              </a:solidFill>
              <a:latin typeface="Calibri"/>
              <a:ea typeface="Calibri"/>
              <a:cs typeface="Calibri"/>
              <a:sym typeface="Calibri"/>
            </a:endParaRPr>
          </a:p>
        </p:txBody>
      </p:sp>
      <p:pic>
        <p:nvPicPr>
          <p:cNvPr id="75" name="Google Shape;75;p5"/>
          <p:cNvPicPr preferRelativeResize="0"/>
          <p:nvPr/>
        </p:nvPicPr>
        <p:blipFill rotWithShape="1">
          <a:blip r:embed="rId2">
            <a:alphaModFix/>
          </a:blip>
          <a:srcRect b="0" l="0" r="0" t="0"/>
          <a:stretch/>
        </p:blipFill>
        <p:spPr>
          <a:xfrm>
            <a:off x="6870158" y="1280071"/>
            <a:ext cx="4754703" cy="2473226"/>
          </a:xfrm>
          <a:prstGeom prst="rect">
            <a:avLst/>
          </a:prstGeom>
          <a:noFill/>
          <a:ln>
            <a:noFill/>
          </a:ln>
        </p:spPr>
      </p:pic>
      <p:sp>
        <p:nvSpPr>
          <p:cNvPr id="76" name="Google Shape;76;p5"/>
          <p:cNvSpPr/>
          <p:nvPr/>
        </p:nvSpPr>
        <p:spPr>
          <a:xfrm>
            <a:off x="6870055" y="3844826"/>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1000"/>
              <a:buFont typeface="Arial"/>
              <a:buNone/>
            </a:pPr>
            <a:r>
              <a:rPr b="0" i="0" lang="en-US" sz="1000">
                <a:solidFill>
                  <a:srgbClr val="62606A"/>
                </a:solidFill>
                <a:latin typeface="Arial"/>
                <a:ea typeface="Arial"/>
                <a:cs typeface="Arial"/>
                <a:sym typeface="Arial"/>
              </a:rPr>
              <a:t>Lohmann &amp; Lohmann (1994), Fig. 1. Independent horizontal and vertical coils control inclination.</a:t>
            </a:r>
            <a:endParaRPr sz="1800">
              <a:solidFill>
                <a:schemeClr val="dk1"/>
              </a:solidFill>
              <a:latin typeface="Calibri"/>
              <a:ea typeface="Calibri"/>
              <a:cs typeface="Calibri"/>
              <a:sym typeface="Calibri"/>
            </a:endParaRPr>
          </a:p>
        </p:txBody>
      </p:sp>
      <p:sp>
        <p:nvSpPr>
          <p:cNvPr id="77" name="Google Shape;77;p5"/>
          <p:cNvSpPr/>
          <p:nvPr/>
        </p:nvSpPr>
        <p:spPr>
          <a:xfrm>
            <a:off x="566886" y="6382494"/>
            <a:ext cx="11058079" cy="9079"/>
          </a:xfrm>
          <a:prstGeom prst="rect">
            <a:avLst/>
          </a:prstGeom>
          <a:solidFill>
            <a:srgbClr val="DAD1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8" name="Google Shape;78;p5"/>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Lohmann &amp; Lohmann (1994)</a:t>
            </a:r>
            <a:endParaRPr sz="1800">
              <a:solidFill>
                <a:schemeClr val="dk1"/>
              </a:solidFill>
              <a:latin typeface="Calibri"/>
              <a:ea typeface="Calibri"/>
              <a:cs typeface="Calibri"/>
              <a:sym typeface="Calibri"/>
            </a:endParaRPr>
          </a:p>
        </p:txBody>
      </p:sp>
      <p:sp>
        <p:nvSpPr>
          <p:cNvPr id="79" name="Google Shape;79;p5"/>
          <p:cNvSpPr/>
          <p:nvPr/>
        </p:nvSpPr>
        <p:spPr>
          <a:xfrm>
            <a:off x="11105348" y="6455569"/>
            <a:ext cx="538667"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05a</a:t>
            </a:r>
            <a:endParaRPr sz="1800">
              <a:solidFill>
                <a:schemeClr val="dk1"/>
              </a:solidFill>
              <a:latin typeface="Calibri"/>
              <a:ea typeface="Calibri"/>
              <a:cs typeface="Calibri"/>
              <a:sym typeface="Calibri"/>
            </a:endParaRP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58" name="Google Shape;58;p4"/>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8A3B32"/>
              </a:buClr>
              <a:buSzPts val="3000"/>
              <a:buFont typeface="Arial"/>
              <a:buNone/>
            </a:pPr>
            <a:r>
              <a:rPr b="1" i="0" lang="en-US" sz="3000">
                <a:solidFill>
                  <a:srgbClr val="8A3B32"/>
                </a:solidFill>
                <a:latin typeface="Arial"/>
                <a:ea typeface="Arial"/>
                <a:cs typeface="Arial"/>
                <a:sym typeface="Arial"/>
              </a:rPr>
              <a:t>Polarity and inclination compasses use different information</a:t>
            </a:r>
            <a:endParaRPr sz="1800">
              <a:solidFill>
                <a:schemeClr val="dk1"/>
              </a:solidFill>
              <a:latin typeface="Calibri"/>
              <a:ea typeface="Calibri"/>
              <a:cs typeface="Calibri"/>
              <a:sym typeface="Calibri"/>
            </a:endParaRPr>
          </a:p>
        </p:txBody>
      </p:sp>
      <p:sp>
        <p:nvSpPr>
          <p:cNvPr id="59" name="Google Shape;59;p4"/>
          <p:cNvSpPr/>
          <p:nvPr/>
        </p:nvSpPr>
        <p:spPr>
          <a:xfrm>
            <a:off x="566886" y="1234380"/>
            <a:ext cx="5956250"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26252A"/>
              </a:buClr>
              <a:buSzPts val="1600"/>
              <a:buFont typeface="Arial"/>
              <a:buNone/>
            </a:pPr>
            <a:r>
              <a:rPr b="0" i="0" lang="en-US" sz="1600">
                <a:solidFill>
                  <a:srgbClr val="26252A"/>
                </a:solidFill>
                <a:latin typeface="Arial"/>
                <a:ea typeface="Arial"/>
                <a:cs typeface="Arial"/>
                <a:sym typeface="Arial"/>
              </a:rPr>
              <a:t>A </a:t>
            </a:r>
            <a:r>
              <a:rPr b="1" i="0" lang="en-US" sz="1600">
                <a:solidFill>
                  <a:srgbClr val="8A3B32"/>
                </a:solidFill>
                <a:latin typeface="Arial"/>
                <a:ea typeface="Arial"/>
                <a:cs typeface="Arial"/>
                <a:sym typeface="Arial"/>
              </a:rPr>
              <a:t>polarity compass</a:t>
            </a:r>
            <a:r>
              <a:rPr b="0" i="0" lang="en-US" sz="1600">
                <a:solidFill>
                  <a:srgbClr val="26252A"/>
                </a:solidFill>
                <a:latin typeface="Arial"/>
                <a:ea typeface="Arial"/>
                <a:cs typeface="Arial"/>
                <a:sym typeface="Arial"/>
              </a:rPr>
              <a:t> distinguishes the two ends of a magnetic field line, so it knows which end points toward the magnetic pole. An inclination compass uses the angle at which field lines meet the horizontal and distinguishes poleward from equatorward by the slope of the line.</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6252A"/>
              </a:buClr>
              <a:buSzPts val="1600"/>
              <a:buFont typeface="Arial"/>
              <a:buNone/>
            </a:pPr>
            <a:r>
              <a:rPr b="0" i="0" lang="en-US" sz="1600">
                <a:solidFill>
                  <a:srgbClr val="26252A"/>
                </a:solidFill>
                <a:latin typeface="Arial"/>
                <a:ea typeface="Arial"/>
                <a:cs typeface="Arial"/>
                <a:sym typeface="Arial"/>
              </a:rPr>
              <a:t>Reversing the horizontal component of the field changed the preferred swimming course of hatchlings from 42° to 196°. The coil shifted magnetic north by 180° while the vertical component stayed unchanged.</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6252A"/>
              </a:buClr>
              <a:buSzPts val="1600"/>
              <a:buFont typeface="Arial"/>
              <a:buNone/>
            </a:pPr>
            <a:r>
              <a:rPr b="0" i="0" lang="en-US" sz="1600">
                <a:solidFill>
                  <a:srgbClr val="26252A"/>
                </a:solidFill>
                <a:latin typeface="Arial"/>
                <a:ea typeface="Arial"/>
                <a:cs typeface="Arial"/>
                <a:sym typeface="Arial"/>
              </a:rPr>
              <a:t>A reversal of the horizontal component alone does not separate the two kinds of compass. Experiments that change inclination while holding field strength constant test which property of the field the turtle uses.</a:t>
            </a:r>
            <a:endParaRPr sz="1800">
              <a:solidFill>
                <a:schemeClr val="dk1"/>
              </a:solidFill>
              <a:latin typeface="Calibri"/>
              <a:ea typeface="Calibri"/>
              <a:cs typeface="Calibri"/>
              <a:sym typeface="Calibri"/>
            </a:endParaRPr>
          </a:p>
        </p:txBody>
      </p:sp>
      <p:pic>
        <p:nvPicPr>
          <p:cNvPr id="62" name="Google Shape;62;p4"/>
          <p:cNvPicPr preferRelativeResize="0"/>
          <p:nvPr/>
        </p:nvPicPr>
        <p:blipFill rotWithShape="1">
          <a:blip r:embed="rId2">
            <a:alphaModFix/>
          </a:blip>
          <a:srcRect b="0" l="0" r="0" t="0"/>
          <a:stretch/>
        </p:blipFill>
        <p:spPr>
          <a:xfrm>
            <a:off x="6999175" y="1280071"/>
            <a:ext cx="4496522" cy="4297561"/>
          </a:xfrm>
          <a:prstGeom prst="rect">
            <a:avLst/>
          </a:prstGeom>
          <a:noFill/>
          <a:ln>
            <a:noFill/>
          </a:ln>
        </p:spPr>
      </p:pic>
      <p:sp>
        <p:nvSpPr>
          <p:cNvPr id="63" name="Google Shape;63;p4"/>
          <p:cNvSpPr/>
          <p:nvPr/>
        </p:nvSpPr>
        <p:spPr>
          <a:xfrm>
            <a:off x="6870055" y="5669161"/>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1000"/>
              <a:buFont typeface="Arial"/>
              <a:buNone/>
            </a:pPr>
            <a:r>
              <a:rPr b="0" i="0" lang="en-US" sz="1000">
                <a:solidFill>
                  <a:srgbClr val="62606A"/>
                </a:solidFill>
                <a:latin typeface="Arial"/>
                <a:ea typeface="Arial"/>
                <a:cs typeface="Arial"/>
                <a:sym typeface="Arial"/>
              </a:rPr>
              <a:t>Lohmann (1991), Fig. 2(B). Orientation under reversal of the horizontal field component.</a:t>
            </a:r>
            <a:endParaRPr sz="1800">
              <a:solidFill>
                <a:schemeClr val="dk1"/>
              </a:solidFill>
              <a:latin typeface="Calibri"/>
              <a:ea typeface="Calibri"/>
              <a:cs typeface="Calibri"/>
              <a:sym typeface="Calibri"/>
            </a:endParaRPr>
          </a:p>
        </p:txBody>
      </p:sp>
      <p:sp>
        <p:nvSpPr>
          <p:cNvPr id="64" name="Google Shape;64;p4"/>
          <p:cNvSpPr/>
          <p:nvPr/>
        </p:nvSpPr>
        <p:spPr>
          <a:xfrm>
            <a:off x="566886" y="6382494"/>
            <a:ext cx="11058079" cy="9079"/>
          </a:xfrm>
          <a:prstGeom prst="rect">
            <a:avLst/>
          </a:prstGeom>
          <a:solidFill>
            <a:srgbClr val="DAD1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5" name="Google Shape;65;p4"/>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Lohmann (1991)</a:t>
            </a:r>
            <a:endParaRPr sz="1800">
              <a:solidFill>
                <a:schemeClr val="dk1"/>
              </a:solidFill>
              <a:latin typeface="Calibri"/>
              <a:ea typeface="Calibri"/>
              <a:cs typeface="Calibri"/>
              <a:sym typeface="Calibri"/>
            </a:endParaRPr>
          </a:p>
        </p:txBody>
      </p:sp>
      <p:sp>
        <p:nvSpPr>
          <p:cNvPr id="66" name="Google Shape;66;p4"/>
          <p:cNvSpPr/>
          <p:nvPr/>
        </p:nvSpPr>
        <p:spPr>
          <a:xfrm>
            <a:off x="11105348" y="6455569"/>
            <a:ext cx="538667"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04a</a:t>
            </a:r>
            <a:endParaRPr sz="1800">
              <a:solidFill>
                <a:schemeClr val="dk1"/>
              </a:solidFill>
              <a:latin typeface="Calibri"/>
              <a:ea typeface="Calibri"/>
              <a:cs typeface="Calibri"/>
              <a:sym typeface="Calibri"/>
            </a:endParaRP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32" name="Google Shape;32;p2"/>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8A3B32"/>
              </a:buClr>
              <a:buSzPts val="3000"/>
              <a:buFont typeface="Arial"/>
              <a:buNone/>
            </a:pPr>
            <a:r>
              <a:rPr b="1" i="0" lang="en-US" sz="3000">
                <a:solidFill>
                  <a:srgbClr val="8A3B32"/>
                </a:solidFill>
                <a:latin typeface="Arial"/>
                <a:ea typeface="Arial"/>
                <a:cs typeface="Arial"/>
                <a:sym typeface="Arial"/>
              </a:rPr>
              <a:t>A compass gives direction and a map gives position</a:t>
            </a:r>
            <a:endParaRPr sz="1800">
              <a:solidFill>
                <a:schemeClr val="dk1"/>
              </a:solidFill>
              <a:latin typeface="Calibri"/>
              <a:ea typeface="Calibri"/>
              <a:cs typeface="Calibri"/>
              <a:sym typeface="Calibri"/>
            </a:endParaRPr>
          </a:p>
        </p:txBody>
      </p:sp>
      <p:sp>
        <p:nvSpPr>
          <p:cNvPr id="33" name="Google Shape;33;p2"/>
          <p:cNvSpPr/>
          <p:nvPr/>
        </p:nvSpPr>
        <p:spPr>
          <a:xfrm>
            <a:off x="566886" y="1234380"/>
            <a:ext cx="5956250" cy="5095620"/>
          </a:xfrm>
          <a:prstGeom prst="rect">
            <a:avLst/>
          </a:prstGeom>
          <a:noFill/>
          <a:ln>
            <a:noFill/>
          </a:ln>
        </p:spPr>
        <p:txBody>
          <a:bodyPr anchorCtr="0" anchor="t" bIns="0" lIns="0" spcFirstLastPara="1" rIns="0" wrap="square" tIns="0">
            <a:normAutofit/>
          </a:bodyPr>
          <a:lstStyle/>
          <a:p>
            <a:pPr indent="0" lvl="0" marL="0" marR="0" rtl="0" algn="l">
              <a:lnSpc>
                <a:spcPct val="108000"/>
              </a:lnSpc>
              <a:spcAft>
                <a:spcPts val="1200"/>
              </a:spcAft>
              <a:buClr>
                <a:srgbClr val="8A3B32"/>
              </a:buClr>
              <a:buSzPts val="1600"/>
              <a:buFont typeface="Arial"/>
              <a:buNone/>
            </a:pPr>
            <a:r>
              <a:rPr b="0" i="0" lang="en-US" sz="1600">
                <a:solidFill>
                  <a:srgbClr val="26252A"/>
                </a:solidFill>
                <a:latin typeface="Arial"/>
                <a:ea typeface="Arial"/>
                <a:cs typeface="Arial"/>
                <a:sym typeface="Arial"/>
              </a:rPr>
              <a:t>A </a:t>
            </a:r>
            <a:r>
              <a:rPr b="1" i="0" lang="en-US" sz="1600">
                <a:solidFill>
                  <a:srgbClr val="8A3B32"/>
                </a:solidFill>
                <a:latin typeface="Arial"/>
                <a:ea typeface="Arial"/>
                <a:cs typeface="Arial"/>
                <a:sym typeface="Arial"/>
              </a:rPr>
              <a:t>compass</a:t>
            </a:r>
            <a:r>
              <a:rPr b="0" i="0" lang="en-US" sz="1600">
                <a:solidFill>
                  <a:srgbClr val="26252A"/>
                </a:solidFill>
                <a:latin typeface="Arial"/>
                <a:ea typeface="Arial"/>
                <a:cs typeface="Arial"/>
                <a:sym typeface="Arial"/>
              </a:rPr>
              <a:t> supplies a direction, such as north or the heading to follow. A map supplies information about location, which allows an animal to determine where it is relative to a goal and which way it must go.</a:t>
            </a:r>
            <a:endParaRPr sz="1800">
              <a:solidFill>
                <a:schemeClr val="dk1"/>
              </a:solidFill>
              <a:latin typeface="Calibri"/>
              <a:ea typeface="Calibri"/>
              <a:cs typeface="Calibri"/>
              <a:sym typeface="Calibri"/>
            </a:endParaRPr>
          </a:p>
          <a:p>
            <a:pPr indent="0" lvl="0" marL="0" marR="0" rtl="0" algn="l">
              <a:lnSpc>
                <a:spcPct val="108000"/>
              </a:lnSpc>
              <a:spcAft>
                <a:spcPts val="1200"/>
              </a:spcAft>
              <a:buClr>
                <a:srgbClr val="26252A"/>
              </a:buClr>
              <a:buSzPts val="1600"/>
              <a:buFont typeface="Arial"/>
              <a:buNone/>
            </a:pPr>
            <a:r>
              <a:rPr b="0" i="0" lang="en-US" sz="1600">
                <a:solidFill>
                  <a:srgbClr val="26252A"/>
                </a:solidFill>
                <a:latin typeface="Arial"/>
                <a:ea typeface="Arial"/>
                <a:cs typeface="Arial"/>
                <a:sym typeface="Arial"/>
              </a:rPr>
              <a:t>Lohmann tested hatchling loggerheads in a harness connected to a freely rotating lever. A rheostat converted the position of the lever into an electrical record of heading, and turtles swam for 90 to 180 min in darkness under the natural field or a reversed horizontal field.</a:t>
            </a:r>
            <a:endParaRPr sz="1800">
              <a:solidFill>
                <a:schemeClr val="dk1"/>
              </a:solidFill>
              <a:latin typeface="Calibri"/>
              <a:ea typeface="Calibri"/>
              <a:cs typeface="Calibri"/>
              <a:sym typeface="Calibri"/>
            </a:endParaRPr>
          </a:p>
          <a:p>
            <a:pPr indent="0" lvl="0" marL="0" marR="0" rtl="0" algn="l">
              <a:lnSpc>
                <a:spcPct val="108000"/>
              </a:lnSpc>
              <a:spcAft>
                <a:spcPts val="0"/>
              </a:spcAft>
              <a:buClr>
                <a:srgbClr val="26252A"/>
              </a:buClr>
              <a:buSzPts val="1600"/>
              <a:buFont typeface="Arial"/>
              <a:buNone/>
            </a:pPr>
            <a:r>
              <a:rPr b="0" i="0" lang="en-US" sz="1600">
                <a:solidFill>
                  <a:srgbClr val="26252A"/>
                </a:solidFill>
                <a:latin typeface="Arial"/>
                <a:ea typeface="Arial"/>
                <a:cs typeface="Arial"/>
                <a:sym typeface="Arial"/>
              </a:rPr>
              <a:t>The natural-field group preferred 42° and the reversed-field group preferred 196°. A change in heading with the field shows that hatchlings read direction from the field, which is the function of a compass.</a:t>
            </a:r>
            <a:endParaRPr sz="1800">
              <a:solidFill>
                <a:schemeClr val="dk1"/>
              </a:solidFill>
              <a:latin typeface="Calibri"/>
              <a:ea typeface="Calibri"/>
              <a:cs typeface="Calibri"/>
              <a:sym typeface="Calibri"/>
            </a:endParaRPr>
          </a:p>
        </p:txBody>
      </p:sp>
      <p:pic>
        <p:nvPicPr>
          <p:cNvPr id="36" name="Google Shape;36;p2"/>
          <p:cNvPicPr preferRelativeResize="0"/>
          <p:nvPr/>
        </p:nvPicPr>
        <p:blipFill rotWithShape="1">
          <a:blip r:embed="rId2">
            <a:alphaModFix/>
          </a:blip>
          <a:srcRect b="0" l="0" r="0" t="0"/>
          <a:stretch/>
        </p:blipFill>
        <p:spPr>
          <a:xfrm>
            <a:off x="6870128" y="1280071"/>
            <a:ext cx="4754763" cy="2234059"/>
          </a:xfrm>
          <a:prstGeom prst="rect">
            <a:avLst/>
          </a:prstGeom>
          <a:noFill/>
          <a:ln>
            <a:noFill/>
          </a:ln>
        </p:spPr>
      </p:pic>
      <p:sp>
        <p:nvSpPr>
          <p:cNvPr id="37" name="Google Shape;37;p2"/>
          <p:cNvSpPr/>
          <p:nvPr/>
        </p:nvSpPr>
        <p:spPr>
          <a:xfrm>
            <a:off x="6870055" y="3605659"/>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1000"/>
              <a:buFont typeface="Arial"/>
              <a:buNone/>
            </a:pPr>
            <a:r>
              <a:rPr b="0" i="0" lang="en-US" sz="1000">
                <a:solidFill>
                  <a:srgbClr val="62606A"/>
                </a:solidFill>
                <a:latin typeface="Arial"/>
                <a:ea typeface="Arial"/>
                <a:cs typeface="Arial"/>
                <a:sym typeface="Arial"/>
              </a:rPr>
              <a:t>Lohmann (1991), Fig. 2(A–B). Magnetic reversal shifts the preferred swimming direction.</a:t>
            </a:r>
            <a:endParaRPr sz="1800">
              <a:solidFill>
                <a:schemeClr val="dk1"/>
              </a:solidFill>
              <a:latin typeface="Calibri"/>
              <a:ea typeface="Calibri"/>
              <a:cs typeface="Calibri"/>
              <a:sym typeface="Calibri"/>
            </a:endParaRPr>
          </a:p>
        </p:txBody>
      </p:sp>
      <p:sp>
        <p:nvSpPr>
          <p:cNvPr id="38" name="Google Shape;38;p2"/>
          <p:cNvSpPr/>
          <p:nvPr/>
        </p:nvSpPr>
        <p:spPr>
          <a:xfrm>
            <a:off x="566886" y="6382494"/>
            <a:ext cx="11058079" cy="9079"/>
          </a:xfrm>
          <a:prstGeom prst="rect">
            <a:avLst/>
          </a:prstGeom>
          <a:solidFill>
            <a:srgbClr val="DAD1C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 name="Google Shape;39;p2"/>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Lohmann (1991)</a:t>
            </a:r>
            <a:endParaRPr sz="1800">
              <a:solidFill>
                <a:schemeClr val="dk1"/>
              </a:solidFill>
              <a:latin typeface="Calibri"/>
              <a:ea typeface="Calibri"/>
              <a:cs typeface="Calibri"/>
              <a:sym typeface="Calibri"/>
            </a:endParaRPr>
          </a:p>
        </p:txBody>
      </p:sp>
      <p:sp>
        <p:nvSpPr>
          <p:cNvPr id="40" name="Google Shape;40;p2"/>
          <p:cNvSpPr/>
          <p:nvPr/>
        </p:nvSpPr>
        <p:spPr>
          <a:xfrm>
            <a:off x="11105348" y="6455569"/>
            <a:ext cx="538667"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62606A"/>
              </a:buClr>
              <a:buSzPts val="900"/>
              <a:buFont typeface="Arial"/>
              <a:buNone/>
            </a:pPr>
            <a:r>
              <a:rPr b="0" i="0" lang="en-US" sz="900">
                <a:solidFill>
                  <a:srgbClr val="62606A"/>
                </a:solidFill>
                <a:latin typeface="Arial"/>
                <a:ea typeface="Arial"/>
                <a:cs typeface="Arial"/>
                <a:sym typeface="Arial"/>
              </a:rPr>
              <a:t>02a</a:t>
            </a:r>
            <a:endParaRPr sz="18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2026-10-08T09:02:09.101Z</dcterms:created>
  <dc:creator>Presenton</dc:creator>
</cp:coreProperties>
</file>