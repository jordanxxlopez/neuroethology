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261" r:id="rId10"/>
    <p:sldId id="314" r:id="rId64"/>
    <p:sldId id="262" r:id="rId11"/>
    <p:sldId id="263" r:id="rId12"/>
    <p:sldId id="264" r:id="rId13"/>
    <p:sldId id="313" r:id="rId63"/>
    <p:sldId id="265" r:id="rId14"/>
    <p:sldId id="266" r:id="rId15"/>
    <p:sldId id="267" r:id="rId16"/>
    <p:sldId id="312" r:id="rId62"/>
    <p:sldId id="268" r:id="rId17"/>
    <p:sldId id="269" r:id="rId18"/>
    <p:sldId id="270" r:id="rId19"/>
    <p:sldId id="311" r:id="rId61"/>
    <p:sldId id="271" r:id="rId20"/>
    <p:sldId id="272" r:id="rId21"/>
    <p:sldId id="273" r:id="rId22"/>
    <p:sldId id="310" r:id="rId60"/>
    <p:sldId id="274" r:id="rId23"/>
    <p:sldId id="275" r:id="rId24"/>
    <p:sldId id="276" r:id="rId25"/>
    <p:sldId id="309" r:id="rId59"/>
    <p:sldId id="277" r:id="rId26"/>
    <p:sldId id="278" r:id="rId27"/>
    <p:sldId id="279" r:id="rId28"/>
    <p:sldId id="308" r:id="rId58"/>
    <p:sldId id="280" r:id="rId29"/>
    <p:sldId id="281" r:id="rId30"/>
    <p:sldId id="282" r:id="rId31"/>
    <p:sldId id="307" r:id="rId57"/>
    <p:sldId id="283" r:id="rId32"/>
    <p:sldId id="284" r:id="rId33"/>
    <p:sldId id="285" r:id="rId34"/>
    <p:sldId id="306" r:id="rId56"/>
    <p:sldId id="286" r:id="rId35"/>
    <p:sldId id="287" r:id="rId36"/>
    <p:sldId id="288" r:id="rId37"/>
    <p:sldId id="305" r:id="rId55"/>
    <p:sldId id="289" r:id="rId38"/>
    <p:sldId id="290" r:id="rId39"/>
    <p:sldId id="291" r:id="rId40"/>
    <p:sldId id="304" r:id="rId54"/>
    <p:sldId id="292" r:id="rId41"/>
    <p:sldId id="293" r:id="rId42"/>
    <p:sldId id="294" r:id="rId43"/>
    <p:sldId id="303" r:id="rId53"/>
    <p:sldId id="295" r:id="rId44"/>
    <p:sldId id="296" r:id="rId45"/>
    <p:sldId id="297" r:id="rId46"/>
    <p:sldId id="302" r:id="rId52"/>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hb12cxDPWGcjKrqk0SUJTxLQCS5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Magnetoreception: sea turtle and migratory bird magnetic compasses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23. NEUR 411 · NEUROETHOLOGY · FALL 2026. Monday, October 19,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Lohmann (1991), Fig. 1. Published drawing of the loggerhead hatchling and swimming preparation.</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https://doi.org/10.1242/jeb.155.1.37</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Loggerhead hatchlings can orient in Earth-strength magnetic fields before ocean experience. The title figure shows the original turtle orientation preparation from Lohmann (1991).</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Lohmann KJ (1991). Magnetic Orientation By Hatchling Loggerhead Sea Turtles (Caretta Caretta). Journal of Experimental Biology 155(1):37-49. https://doi.org/10.1242/jeb.155.1.37</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Magnetoreception is the detection of magnetic fields. Loggerhead sea turtles, Caretta caretta, leave their nesting beach before navigating offshore. Lohmann tested whether newly emerged hatchlings could derive a swimming direction from Earth-strength magnetic fields when visible landmarks were unavailable.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compass provides direction rather than location. The light exposure preceding the dark test is part of the preparation, so the result cannot be interpreted as magnetic orientation without any previous visual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Hatchlings swam in a harness connected to a freely rotating lever. A rheostat converted lever position into an electrical record of heading. After exposure to a dim eastern light, turtles swam for 90–180 min in complete darkness under either the natural field or an experimentally reversed horizontal component.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natural-field group preferred 42°, whereas the reversed-field group preferred 196°. The field manipulation therefore changed the directional response. This establishes magnetic influence on orientation in this preparation; it does not identify a receptor, prove an innate eastward preference, or reproduce an entire ocean crossing.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(1991). Magnetic Orientation By Hatchling Loggerhead Sea Turtles (Caretta Caretta). Journal of Experimental Biology 155(1):37-49. https://doi.org/10.1242/jeb.155.1.37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(1991), Fig. 2(A–B). Magnetic reversal shifts the preferred swimming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https://doi.org/10.1242/jeb.155.1.37</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Lohmann’s orientation arena was a 1.02-m-diameter inverted satellite dish surrounded by a 130-cm magnetic coil. A harness encircled the carapace without preventing swimming. The turtle could pull the lever through a full circle while remaining inside a controlled water-filled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harness and tracking system are a behavioral readout. They do not record magnetic receptor activity, and they do not reveal whether the turtle obtains magnetic information from its eyes, head or another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recording system was calibrated against known directions and resolved heading within 15°. Investigators distinguished circling from oriented swimming, defined as remaining within a 90° sector for at least 3 min. This definition selected periods in which the animal maintained a course rather than repeatedly traversing every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measured attempted swimming direction, not geographical displacement or migratory speed. Waves, ocean currents and distant landmarks were absent. Its strength is control over a single sensory variable; its limitation is that successful direction selection in an arena does not establish how multiple cues guide free-ranging turtles.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(1991). Magnetic Orientation By Hatchling Loggerhead Sea Turtles (Caretta Caretta). Journal of Experimental Biology 155(1):37-49. https://doi.org/10.1242/jeb.155.1.37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(1991), Fig. 1. Original turtle harness, orientation arena and magnetic coil.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https://doi.org/10.1242/jeb.155.1.37</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coil reversed the horizontal magnetic component while leaving the vertical component unchanged. The imposed field opposed the natural horizontal field, so magnetic north shifted by 180°. The reversed horizontal field ranged from 0.23 to 0.26 Oe within the swimming zone; the natural horizontal field was 0.26 Oe.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Oersted is the magnetic field unit retained in this historical paper. Keep the reported units attached to their original measurements; the experiment compared controlled field configurations rather than testing responses to a modern everyday magnetic compass.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groups received the same initial eastern light and were subsequently tested in darkness. Preferred headings changed from 42° in the natural field to 196° after reversal, a reported shift of 154°. Orientation under reversal was more dispersed, so the behavioral response was not a perfectly rigid copy of the imposed rotation.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controls weaken an explanation based solely on a fixed room direction. The experiment demonstrates sensitivity to the manipulated field geometry. Because only the horizontal component was reversed, it cannot by itself distinguish a polarity compass from a compass that depends on the inclination of the field axis.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(1991). Magnetic Orientation By Hatchling Loggerhead Sea Turtles (Caretta Caretta). Journal of Experimental Biology 155(1):37-49. https://doi.org/10.1242/jeb.155.1.37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(1991), Fig. 2(B). Orientation under reversal of the horizontal field component.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https://doi.org/10.1242/jeb.155.1.37</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Magnetic inclination is the angle at which field lines intersect the horizontal surface. Lohmann and Lohmann varied inclination while keeping total field strength approximately constant. Their preparation therefore separated the directional slope of the field from intensity, the magnitude of the magnetic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total field is composed of horizontal and vertical components. Changing their relative contribution changes inclination, whereas the controlled overall magnitude prevents intensity from supplying the explanation for the treatment difference.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Two orthogonal coil systems controlled the horizontal and vertical components independently. Hatchlings swam in a 1.22-m arena, and a digital encoder recorded heading to the nearest 1.4° every 10 s. The measured total field strength was 0.044–0.045 mT across the experimental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Computers and power supplies remained active in every treatment and were located in an adjacent room. Similar sounds and vibrations were therefore present regardless of inclination. A change in behavior under these conditions can be attributed more specifically to field geometry than to equipment switching or a correlated change in field magnitude.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Lohmann CMF (1994). Detection of Magnetic Inclination Angle by Sea Turtles: A Possible Mechanism for Determining Latitude. Journal of Experimental Biology 194(1):23-32. https://doi.org/10.1242/jeb.194.1.23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&amp; Lohmann (1994), Fig. 1. Independent horizontal and vertical coils control inclination.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https://doi.org/10.1242/jeb.194.1.23</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Hatchlings first swam toward an eastern light for 10 min. After the light was extinguished, investigators changed inclination, allowed 3 min for adjustment, and recorded swimming for 5 min in darkness. Each animal experienced only one inclination treatment, avoiding repeated exposure to an unfamiliar sequence of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experiment distinguishes sensory detection from the expression of an oriented motor response. A detectable field can fail to trigger a shared heading, especially when it lacks the ecological meaning of a field encountered near a route boundary.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the local inclination of 57°, turtles preferred 90°, approximately east. At 60°, they preferred 200°, south-southwest. At 30°, their preferred heading was 57°, northeast. Fields inclined at 75°, 45° or 15° did not produce a consistent group direction under the same test procedure.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contrast between 57° and 60° establishes discrimination between nearby inclination conditions while field strength remains constant. Different headings need not mean that every angle is assigned a geographical coordinate. The absence of a preferred group direction in some treatments does not establish an inability to detect those fields.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Lohmann CMF (1994). Detection of Magnetic Inclination Angle by Sea Turtles: A Possible Mechanism for Determining Latitude. Journal of Experimental Biology 194(1):23-32. https://doi.org/10.1242/jeb.194.1.23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&amp; Lohmann (1994), Fig. 2. Swimming responses to six field inclination angles.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https://doi.org/10.1242/jeb.194.1.23</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isoclinic is a line connecting locations with the same magnetic inclination. The published North Atlantic map places inclination values alongside currents followed by young loggerheads. The northern gyre boundary approaches the region where the Gulf Stream divides and colder water lies farther north.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latitude-related signal is not automatically a unique address. The same inclination can occur at multiple locations, so positional use requires an appropriate geographical range, additional magnetic parameters or information from other sensory systems.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Turtles exposed to 60° inclination swam south-southwest, whereas those exposed to 30° swam northeast. These directions are consistent with movements away from the northern and southern extremes of the gyre. The controlled experiment established inclination-dependent behavior; the geographical interpretation connects that behavior to plausible survival consequences.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proposed that inclination could contribute to approximate latitude detection and recognition of nesting regions. Those are hypotheses extending beyond the tethered hatchling experiment. The study did not track adult homing, isolate a magnetic memory of a natal beach, or establish a complete two-dimensional navigational map.</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Lohmann CMF (1994). Detection of Magnetic Inclination Angle by Sea Turtles: A Possible Mechanism for Determining Latitude. Journal of Experimental Biology 194(1):23-32. https://doi.org/10.1242/jeb.194.1.23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&amp; Lohmann (1994), Fig. 3. Published gyre currents and magnetic inclination isolines.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https://doi.org/10.1242/jeb.194.1.23</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magnetic signature is the combination of magnetic parameters characteristic of a location. Lohmann and colleagues replicated three fields from the North Atlantic migratory route. Unlike experiments that changed inclination alone, these treatments used combinations of inclination and intensity that naturally occur in widely separated oceanic regions.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experimental variable was the regional magnetic field rather than physical travel. The hatchlings did not encounter different water masses, coastlines or currents during testing, so those cues cannot account for the between-treatment headings.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Hatchlings tethered inside a computerized coil system oriented east-southeast in the northern Florida field, approximately south in the northeastern gyre field, and west-northwest in the southern gyre field. The tracking apparatus recorded heading while the animals remained physically in the same laboratory arena.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field-dependent changes are consistent with entering favorable currents and avoiding displacement beyond the gyre. They establish recognition of regional magnetic conditions with different motor responses. They do not establish a continuous representation of every position in the Atlantic or prove that each turtle knows its location relative to a destination.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Cain SD, Dodge SA, Lohmann CMF (2001). Regional Magnetic Fields as Navigational Markers for Sea Turtles. Science 294(5541):364-366. https://doi.org/10.1126/science.1064557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et al. (2001), Fig. 1. Three regional fields evoke different hatchling headings.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https://doi.org/10.1126/science.1064557</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 name="Google Shape;121;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hatchlings in the regional-field experiment had never entered the ocean. Their different headings therefore did not require previous experience of the tested oceanic regions. A directional response could be expressed upon first exposure to a magnetic signature encountered naturally near a critical route boundary.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map sense determines something about position, whereas a compass sets a heading. The regional-field assay requires a location-dependent change in compass direction, but it does not reveal how the brain represents the field or chooses the resulting action.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inherited large-scale map is one possible interpretation. A simpler alternative is a set of field-triggered instructions: swim south under one signature and west-northwest under another. Both accounts predict appropriate local heading changes, but only the first requires a more general representation of geographical position.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laboratory responses distinguish regional fields without resolving these alternatives. The authors also emphasized that more sophisticated navigation could develop as turtles mature. Experience-dependent magnetic learning and early boundary responses can coexist; a response in an inexperienced hatchling does not establish that every later navigational decision is genetically specified.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Cain SD, Dodge SA, Lohmann CMF (2001). Regional Magnetic Fields as Navigational Markers for Sea Turtles. Science 294(5541):364-366. https://doi.org/10.1126/science.1064557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et al. (2001), Fig. 1. Regional orientation responses along the North Atlantic gyre.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https://doi.org/10.1126/science.1064557</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Associative learning links a sensory cue with an outcome. Goforth and colleagues conditioned captive juvenile loggerheads for 2 months using two replicated geographical fields. Animals spent equal amounts of time in the fields, but food was delivered only in one assigned magnetic signature.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Counterbalancing means that the relationship between a field and its reward differs between animals. A field that predicts food for one turtle predicts no food for another, allowing the learned association to be separated from an intrinsic response to that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first pairing represented the Gulf of Mexico and New Hampshire. Reward assignments were counterbalanced: either field could predict food. This control separates recognition of a particular magnetic signature from a universal preference for a northern field, southern field or fixed condition of the coil apparatus.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conditioning, turtles were tested without food. Their responses were stronger in the field previously paired with feeding. Magnetic information therefore acquired learned behavioral significance. The experiment supports learning of a magnetic signature; it does not show that a turtle navigated back to the corresponding real-world location.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1(a). Locations of the two conditioned magnetic signatures.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 name="Google Shape;147;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conditioned response was turtle dancing, a food-anticipatory pattern involving vertical body tilt, the head near or above water, mouth opening and alternating front-flipper movement. Investigators scored the duration of this behavior from video recordings while turtles experienced a magnetic field without receiving food.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Blind scoring reduces the chance that knowledge of the field influences behavioral classification. Testing without food also prevents the animal from using food odor or the immediate presence of a feeding reward to distinguish the two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Observers were blind to magnetic treatment. Turtles danced more in the rewarded signature than in the unrewarded signature after equivalent exposure to both during training. The measured output was time spent in a defined behavioral state rather than the direction of swimming toward a remembered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assay tests discrimination of location-related magnetic cues without requiring a magnetic compass heading. That separation permits selective tests of a map mechanism. A food-anticipatory response nevertheless remains an indirect behavioral measure: it does not identify a receptor cell or record a magnetic signal in a particular brain pathway.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1(b). Rewarded fields elicit stronger food-anticipatory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0" name="Google Shape;160;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Additional cohorts learned pairs representing Cuba and Delaware, Florida and Maine, and locations elsewhere in the western Atlantic. These pairings differed in geographical and magnetic separation. Recognition therefore was not restricted to the first Gulf of Mexico–New Hampshire contrast used to establish the assay.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evidence concerns acquisition under controlled reinforcement. A laboratory capacity to learn multiple signatures is compatible with natural return to different feeding areas, but the behavioral experiment does not directly document such a journey.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Turtles first conditioned with the Florida–Maine pair were subsequently conditioned with a second pair representing a second set of magnetic signatures. They also discriminated the rewarded and unrewarded signatures in that second pairing. The same animals could acquire an additional association after the first training period.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flexibility in magnetic learning rather than a single fixed regional response. It does not establish how many signatures can be stored simultaneously, whether the first association survives every later training episode, or whether a learned field alone specifies the direction and distance to a natural feeding site.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2(c). A second pair of fields can acquire a learned association.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3" name="Google Shape;173;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Gulf of Mexico–New Hampshire cohort was tested again 4 months after initial conditioning. No conditioning to those two fields occurred during the intervening period. The follow-up therefore assessed persistence of the association rather than immediate responses after another reinforced training session.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learned response can persist without immediate reinforcement, but its expression still depends on the animal’s motivational and behavioral state. The experiment measures an available association through food anticipation, not an isolated physical trace of memory in neural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Turtles continued to express more food-anticipatory behavior in their originally rewarded field. Magnetic signature information can remain behaviorally available for several months. Retention was assessed through the same compass-free discrimination task used after the initial 2-month conditioning period.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establishes a duration of memory under the tested captive conditions. It does not identify the neural storage site, measure the maximum lifetime of the association, or demonstrate retention across the many years separating a hatchling’s departure from an adult turtle’s return to a nesting region.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1(c). Field discrimination persists four months after conditioning.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6" name="Google Shape;186;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Inclination and intensity varied together during conditioning. To determine whether either parameter alone could explain recognition, Goforth and colleagues constructed mismatched fields that combined the inclination of one learned field with the intensity of the other. These combinations separated features that normally occurred as a pair.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mismatched combinations were designed from the trained fields rather than from an animal’s physical displacement. Their purpose was to isolate the contribution of each magnetic parameter to recognition of the rewarded condition.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Turtles were tested in the rewarded field, the unrewarded field and the two mismatched combinations. The manipulation retained one rewarded component while changing the other. It therefore tested whether a familiar inclination or a familiar intensity was sufficient to evoke the learned food-anticipatory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signature can function as a compound cue rather than a single coordinate. This experimental design addresses the information used for discrimination, without requiring assumptions about a complete geographical map. It does not specify whether inclination and intensity are detected by one receptor population or are combined later in the nervous system.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4(a). Published inclination–intensity combinations used in cue mixing.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Turtles responded more strongly to the rewarded signature than to either mismatched combination. Neither the rewarded inclination paired with the wrong intensity nor the rewarded intensity paired with the wrong inclination produced the response expected from the complete trained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response criterion is learned recognition. The field measurements define the physical stimuli, while behavioral duration reports whether a stimulus has acquired reward-related meaning; neither measurement records the intermediate neural computation.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mismatch responses resembled those to the unrewarded field. The result supports joint use of inclination and intensity in this task. It does not mean that animals cannot detect either parameter individually; it means that one familiar component was insufficient to identify the rewarded compound under the tested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distinction separates sensory discrimination from learned decision rules. An animal may detect several field properties but respond only when their combination matches a stored association. The experiment leaves unresolved whether that comparison occurs within peripheral transduction, sensory pathways, memory circuits or the selection of a food-anticipatory action.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4(b–c). Mismatched field components do not evoke the rewarded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2" name="Google Shape;212;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Radiofrequency fields are rapidly oscillating electromagnetic fields. Goforth and colleagues used broadband magnetic noise spanning 0.1–10 MHz to compare a learned map-only assay with a hatchling orientation task requiring map and compass information. The same class of perturbation was tested against different behavioral outputs.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negative disruption result must be limited to the applied exposure. Persistence of map discrimination under 0.1–10 MHz noise does not prove that every possible oscillating field is ineffective, and compass disruption alone does not identify cryptochrome in turtles.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learned rewarded-field response persisted with radiofrequency exposure. In contrast, hatchlings exposed to the Cape Verde signature lost their consistent group heading under the noise treatment. Without noise, their reported preferred direction was 293.1°, approximately westward; with noise, the group no longer maintained a shared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dissociation is consistent with different mechanisms contributing to map and compass behavior. It does not establish the molecular identity of either mechanism. The tasks also used different developmental stages and preparations, so the behavioral comparison cannot be treated as a direct recording of two receptors in the same animal.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5(a–b). Radiofrequency fields spare learned maps but disrupt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Mackiewicz and colleagues conditioned young loggerheads with signatures representing Turks and Caicos and Haiti. Animals learned which field predicted food, with the rewarded location counterbalanced. Testing again quantified turtle dancing rather than a compass heading, preserving the separation between positional cue recognition and directed swimming.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Magnetite is an iron oxide that can carry a magnetic moment. A particle-based transduction hypothesis predicts that remagnetization can disturb a sensory signal, but a behavioral pulse effect is not itself a microscopic identification of such a particle.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Conditioning alternated rewarded and unrewarded sessions over 2 months. Turtles received food 5–15 min after the field changed during rewarded sessions. Initial tests without food confirmed greater responding in the rewarded field before the magnetic-pulse treatments were introduced.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magnetic pulse is a strong, brief field intended to alter magnetization in iron-based candidate receptors. The task provides an opportunity to perturb a learned map response without requiring compass use. The experiment tests a mechanistic prediction; it does not begin with an anatomically identified turtle magnetoreceptor.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Mackiewicz AG, Glazener AM, Goforth KM, Lim DS, Lohmann CMF, Lohmann KJ (2025). Disruption of the sea turtle magnetic map sense by a magnetic pulse. Journal of Experimental Biology 228(22):jeb251243. https://doi.org/10.1242/jeb.251243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Mackiewicz et al. (2025), Fig. 1(A). Locations of learned magnetic signatures in the pulse experiment.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https://doi.org/10.1242/jeb.251243</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8" name="Google Shape;238;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Turtles were assessed after no-pulse, sham-pulse and actual-pulse treatments. Sham animals were handled in the magnetizer without receiving a pulse. The actual treatment lasted 5 ms and reached a maximum intensity of 85 mT, far stronger than the Earth-strength fields used for ordinary magnetic discrimination.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sham control reproduces the nonmagnetic components of an intervention. It cannot remove every conceivable effect of the actual pulse, but it tests whether placement in the apparatus and handling alone account for the change in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Sham and actual treatments were followed by at least 12 h of overnight recovery before testing. Controls were completed before the pulse treatment to prevent a previous pulse from contaminating control behavior. The order of the two control conditions was randomized, and observers scoring video were blind to treatment.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precautions separate pulse exposure from much of the handling disturbance. The fixed placement of the pulse treatment after the controls remains a design limitation because treatment and sequence are not fully independent. The initial conditioning result establishes a measurable learned response against which the subsequent perturbation can be assessed.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Mackiewicz AG, Glazener AM, Goforth KM, Lim DS, Lohmann CMF, Lohmann KJ (2025). Disruption of the sea turtle magnetic map sense by a magnetic pulse. Journal of Experimental Biology 228(22):jeb251243. https://doi.org/10.1242/jeb.251243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Mackiewicz et al. (2025), Fig. 1(B). Conditioning establishes magnetic field discrimination.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https://doi.org/10.1242/jeb.251243</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 name="Google Shape;251;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After a magnetic pulse, turtles spent less time dancing in their rewarded field relative to the no-pulse condition. Sham handling did not cause the same reduction. Pulse directions parallel and antiparallel to the horizontal Earth field did not produce distinguishable responses in this preparation and were considered together.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map-only task is important because reduced directional swimming could reflect either compass impairment or failed location recognition. Here the measured change concerns a learned magnetic discrimination response rather than the ability to maintain a bearing.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is consistent with disturbance of a particle-based map mechanism. A brief pulse could alter the arrangement or magnetic moments of magnetite-containing structures, whereas it is not expected to leave the same persistent change in a radical-pair reaction. These are mechanistic predictions used to interpret the behavioral effect.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study did not locate magnetite-bearing receptor cells or establish their connection to a turtle sensory nerve. It also did not identify the ion channel through which a particle might affect membrane voltage. Pulse sensitivity therefore supports a candidate class of mechanism while leaving the actual transduction pathway unresolved.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Mackiewicz AG, Glazener AM, Goforth KM, Lim DS, Lohmann CMF, Lohmann KJ (2025). Disruption of the sea turtle magnetic map sense by a magnetic pulse. Journal of Experimental Biology 228(22):jeb251243. https://doi.org/10.1242/jeb.251243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Mackiewicz et al. (2025), Fig. 2. A magnetic pulse reduces the response to the rewarded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https://doi.org/10.1242/jeb.251243</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4" name="Google Shape;264;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McNally and colleagues examined loggerhead nesting records from Pinellas County, Florida. Their study mapped nesting beaches alongside developed shorelines and classified hatchling disorientation events. This field context concerns the initial movement from nest to sea rather than the controlled offshore magnetic-compass preparations.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Disorientation refers to hatchlings failing to proceed appropriately toward the ocean. The field records describe an ecological outcome influenced by multiple cues; their observational associations cannot establish a specific neural or magnetic causal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Across the recorded nests, disorientation occurred in 35.18%, and roughly 30.48% of hatchlings from affected nests were classified as disoriented. The authors evaluated shoreline context, nest characteristics and spatial patterns. These observational measures document a substantial problem at the transition between terrestrial emergence and marine migration.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study did not manipulate magnetic fields or measure a magnetoreceptor. Artificial light can compete with orientation cues, but disorientation on a developed beach is not evidence that magnetic sensing has failed. Laboratory demonstrations of a magnetic compass must therefore remain distinct from explanations of every natural orientation error.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McNally KL, Oakley C, Davila M, Farinelli S (2026). Disorientation patterns of loggerhead sea turtle (Caretta caretta) hatchlings in Pinellas County, Florida, USA. PLOS One 21(4):e0347104. https://doi.org/10.1371/journal.pone.0347104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McNally et al. (2026), Fig. 1. Published map of nesting beaches and developed shorelines.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https://doi.org/10.1371/journal.pone.0347104</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7" name="Google Shape;277;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European robins, Erithacus rubecula, display migratory restlessness, directional activity expressed during the season when they would normally migrate. Wiltschko and Wiltschko used the frequency of perch activation in circular cages to measure preferred direction without requiring birds to undertake a free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Migratory state supplies the behavioral context. A sensory compass can guide different seasonal directions, so a spring northerly preference is an interaction between magnetic direction information and the animal’s current migratory program.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spring, robins tested in the local field preferred 29°, north-northeast. The historical study reported a field strength of 0.46 gauss and an inclination of +66°. The behavioral readout therefore related a seasonal directional tendency to a controlled geomagnetic configuration.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concerns a compass because it measures direction rather than a location-dependent correction toward a distant target. Perch activation provides an orientation measure, not a record of retinal activity. The result does not establish that the same field response controls every part of navigation during natural migration.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Wiltschko W, Wiltschko R (1972). Magnetic Compass of European Robins. Science 176(4030):62-64. https://doi.org/10.1126/science.176.4030.62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Wiltschko &amp; Wiltschko (1972), Fig. 1(a). European robin orientation in the local magnetic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https://doi.org/10.1126/science.176.4030.62</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0" name="Google Shape;290;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polarity compass distinguishes the two directed ends of a magnetic vector. An inclination compass uses the axial slope of field lines relative to the horizontal or gravity. Wiltschko and Wiltschko reversed individual field components and then reversed both to distinguish these alternatives.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Field axis and field polarity are different properties. Reversing both components changes the direction of the vector while retaining the same undirected line in space, which is why the two compass hypotheses predict different behavioral outcomes.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Reversing the horizontal component changed the preferred course from 29° to 240°. Reversing both horizontal and vertical components preserved the field axis despite reversing vector polarity. Robins then retained a northerly preference, which is incompatible with treating magnetic polarity alone as the directional cue.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behavioral pattern supports an inclination-based compass. It does not reveal the receptor’s material composition or prove that a particular retinal molecule supplies the signal. The distinction is about the information encoded by the compass, whereas receptor identity requires additional anatomical, physiological or molecular evidence.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Wiltschko W, Wiltschko R (1972). Magnetic Compass of European Robins. Science 176(4030):62-64. https://doi.org/10.1126/science.176.4030.62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Wiltschko &amp; Wiltschko (1972), Fig. 1(b,d). Horizontal reversal and full polarity reversal have different effects.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https://doi.org/10.1126/science.176.4030.62</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3" name="Google Shape;303;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historical experiments also used a field of 0.46 gauss with zero inclination. Its horizontal direction and total strength were maintained, but the field no longer had a downward or upward slope. This manipulation tested whether horizontal magnetic polarity was enough to guide a shared migratory preference.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conclusion depends on the pattern across several field configurations. A single disorientation treatment can have many explanations, whereas component reversal and preserved behavior after full polarity reversal constrain the information available to the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Robins did not express a consistent direction under that horizontal condition. Together with the component-reversal experiments, this result supports use of inclination relative to the animal’s up–down reference. In the northern hemisphere, an inclined axis permits a distinction between poleward and equatorward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Loss of directional preference does not establish loss of every magnetic sensation. Birds could detect the field but lack the information needed to resolve the relevant heading. The experiment therefore limits the directional code of the compass without locating a gravity comparator, magnetic receptor or specific brain circuit.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Wiltschko W, Wiltschko R (1972). Magnetic Compass of European Robins. Science 176(4030):62-64. https://doi.org/10.1126/science.176.4030.62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Wiltschko &amp; Wiltschko (1972), Fig. 1(e). Robins lose directional preference in a horizontal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https://doi.org/10.1126/science.176.4030.62</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6" name="Google Shape;316;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Mouritsen and colleagues used activity-associated gene expression to identify brain regions recruited during night vision. They measured ZENK, an immediate-early transcriptional marker whose expression changes with neuronal activation. Migratory garden warblers and European robins were compared with non-migratory zebra finches and canaries.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authors collected brains after birds had been relatively still and awake, limiting movement-related expression. That control strengthens the association with the sensory condition without turning a gene-expression marker into proof of a magnetic 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Birds were exposed to dim illumination approximating moonlight, 0.04 lux, or ordinary daytime room light. Brain sections revealed a dorsal forebrain region designated Cluster N with strong night-time expression in migrants. The anatomical preparation linked a defined group of forebrain regions to a controlled visual condition.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ZENK expression is an indirect activity measure integrated over time rather than an instantaneous spike recording. The experiment identifies a candidate processing region but does not establish magnetic selectivity. Night-time activity could reflect visual sensitivity, magnetic information, other orientation cues or several functions occurring together.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Mouritsen H, Feenders G, Liedvogel M, Wada K, Jarvis ED (2005). Night-vision brain area in migratory songbirds. Proceedings of the National Academy of Sciences 102(23):8339-8344.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1(A–B). Activity-associated gene expression marks Cluster N anatomy.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9" name="Google Shape;329;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Cluster N expression was stronger during night vision in the migratory species than during daytime testing. Non-migratory zebra finches and canaries did not exhibit the same nocturnal increase. The comparison therefore connected the response to both illumination conditions and the tested species’ ecological specialization.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regional gene-expression difference provides an anatomical hypothesis that requires functional tests. A necessary pathway is established more directly when manipulating the region selectively changes the target behavior while suitable control behaviors remain available.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dim-light condition was 0.04 lux, whereas daytime room illumination exceeded 275 lux. Investigators also minimized recent movement before collecting brain tissue. The published expression measurements compare sensory states while reducing the possibility that flight or gross locomotor activity alone produced the regional difference.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Species comparisons cannot establish that migration itself causes the expression pattern because species differ in many traits. The finding supports specialization for nocturnal sensory processing. It does not establish a universal absence of magnetic sensing in non-migratory birds or prove that Cluster N is dedicated exclusively to a magnetic compass.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Mouritsen H, Feenders G, Liedvogel M, Wada K, Jarvis ED (2005). Night-vision brain area in migratory songbirds. Proceedings of the National Academy of Sciences 102(23):8339-8344.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1(C). Cluster N activity differs between day, night and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2. Dorsal brain preparation and location of Cluster 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4" name="Google Shape;344;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To test dependence on visual input, Mouritsen and colleagues covered both eyes of European robins with light-tight caps during nocturnal testing. This manipulation prevented light from reaching the retina while retaining the general night-time context of the experiment. Control birds experienced the same dim-light period with uncovered eyes.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retina is the light-sensitive tissue lining the eye. Removing retinal illumination changes many signals simultaneously, which is why eye occlusion is a pathway-dependence test rather than a molecularly selective magnetoreception experiment.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Cluster N activation fell markedly when both eyes were covered. The response therefore depends on input associated with vision rather than merely the time of night or an internal migratory state. The published histology pairs the anatomical signal with measurements of expression and observed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Eye covering blocks ordinary vision as well as any light-dependent magnetic process. It cannot by itself identify cryptochrome, prove magnetic coding or separate magnetic information from other dim-light visual signals. Its contribution is to place Cluster N within a visually dependent processing pathway that can be tested more selectively.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Mouritsen H, Feenders G, Liedvogel M, Wada K, Jarvis ED (2005). Night-vision brain area in migratory songbirds. Proceedings of the National Academy of Sciences 102(23):8339-8344.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3(A–E). Eye covering suppresses night-time Cluster N activation.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2. Dorsal brain preparation and location of Cluster 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Zapka and colleagues tested European robin orientation before and after bilateral chemical lesions of Cluster N. Ibotenic acid, the lesion agent, was injected locally; sham-operated birds underwent the corresponding procedure without the active injection. Subsequent tests followed at least 1 week of recovery.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regional lesion interrupts multiple cells and their local interactions. The behavioral loss localizes a necessary processing stage more strongly than gene expression alone, but it cannot assign magnetic computation to one identified cell type or synapse.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Tests compared the natural magnetic field, a field with magnetic north rotated 120° anticlockwise, and an inverted vertical component. Sham-lesioned birds changed direction appropriately with the field manipulations. Cluster-N-lesioned birds failed to express coherent magnetic compass orientation across those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 establishes that the damaged region is necessary for normal magnetic compass performance in this preparation. It does not establish that every neuron in Cluster N is magnetic, that the region is the peripheral receptor, or that the lesion identifies the molecular transduction mechanism generating its sensory input.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Mouritsen H, Feenders G, Liedvogel M, Wada K, Jarvis ED (2005). Night-vision brain area in migratory songbirds. Proceedings of the National Academy of Sciences 102(23):8339-8344.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Zapka et al. (2009), Fig. 2(a–h). Cluster N lesions abolish magnetic compass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https://doi.org/10.1038/nature08528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2. Dorsal brain preparation and location of Cluster 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4" name="Google Shape;374;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Cluster-N-lesioned birds retained orientation under a stationary planetarium sky simulating local stars. Lesioned and sham-operated birds also oriented during natural sunset. These tests assessed whether the intervention had caused a general inability to move directionally or use visual orientation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Phototaxis is directed movement toward or away from light. A sunset response can contain both light attraction and compass information, so a preserved directional response is useful as a control without requiring that every component be magnetically mediated.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preserved celestial responses contrast with loss of magnetic compass orientation. The sunset response included a tendency toward the setting sun, so the authors considered the interaction between migratory direction and phototaxis. The star test supplied an additional orientation condition under controlled celestial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controls support a relatively selective magnetic-compass deficit rather than complete blindness or loss of all orientation behavior. They do not prove that all aspects of night vision are intact. The lesion result must be interpreted within the tested behaviors rather than as proof that Cluster N serves only one sensory function.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Mouritsen H, Feenders G, Liedvogel M, Wada K, Jarvis ED (2005). Night-vision brain area in migratory songbirds. Proceedings of the National Academy of Sciences 102(23):8339-8344.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Zapka et al. (2009), Fig. 3(a–c). Lesioned birds retain star and sun compass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https://doi.org/10.1038/nature08528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2. Dorsal brain preparation and location of Cluster 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9" name="Google Shape;389;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ophthalmic branch of the trigeminal nerve, designated V1, carries sensory information from structures around the upper beak and head. Zapka and colleagues cut this branch bilaterally or performed sham surgery to test its necessity for the European robin’s magnetic compass.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nerve-section experiment establishes necessity for the behavior actually tested. Preserved compass performance after V1 section cannot be generalized to every navigational problem, especially a task that requires the bird to recognize geographical displacement.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Sham-operated birds preferred approximately 10° in the natural field and 245° after magnetic north was rotated. V1-sectioned birds preferred approximately 354° and 264°, respectively. Both groups therefore changed their headings with the experimentally rotated field despite the loss of this trigeminal input in one group.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means V1 is not necessary for the compass task under these conditions. It does not mean the nerve carries no magnetic information or has no role in navigation. Compass direction and location-related map information are different functions, and the experiment tested the former rather than a displacement correction.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Zapka et al. (2009), Fig. 1(a–f). Ophthalmic trigeminal sections spare the robin magnetic compass.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https://doi.org/10.1038/nature08528</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2" name="Google Shape;402;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Pakhomov and colleagues tested Eurasian reed warblers, Acrocephalus scirpaceus, in spring migration. Virtual magnetic displacement changes local magnetic parameters to those of another place while leaving the animal physically at its capture site. Celestial, olfactory and landmark information therefore remains associated with the original location.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coil changed several geographical field properties together. The experiment tests the combined magnetic signature, so it cannot assign the compensatory response solely to inclination, intensity or declination.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capture-site field had intensity 50,118 nT and inclination 70.1°. The replicated field from Zvenigorod, approximately 1,000 km east, had intensity 52,175 nT and inclination 71.2°. Declination also changed from +5.5° to +10.1°; declination is the angular difference between geographical and magnetic north.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Intact sensory pathways permit a response to this conflicting magnetic location cue. A heading change after virtual displacement can test map-based compensation more specifically than a simple compass rotation. The manipulation does not physically expose birds to a different habitat or demonstrate how a single magnetic parameter is decoded in isolation.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Pakhomov A, Anashina A, Heyers D, Kobylkov D, Mouritsen H, Chernetsov N (2018). Magnetic map navigation in a migratory songbird requires trigeminal input. Scientific Reports 8(1):11975. https://doi.org/10.1038/s41598-018-30477-8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Pakhomov et al. (2018), Fig. 1(A–D). A virtual displacement tests magnetic map compensation.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https://doi.org/10.1038/s41598-018-30477-8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Zapka et al. (2009), Fig. 1(a–f). Published V1 section diagram and robin compass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https://doi.org/10.1038/nature08528</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7" name="Google Shape;417;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After bilateral V1 section or sham surgery, reed warblers were exposed to the virtual displacement field. Sham-operated birds changed from a northeasterly capture-site course to approximately 323°, northwest, consistent with compensating for an eastward displacement relative to their breeding destinations.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Map and compass functions can depend on different inputs. The loss of a location-dependent correction while a consistent heading remains available is a stronger distinction than disorientation alone, but it still does not reveal the nerve’s exact magnetic coding scheme.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V1-sectioned birds instead maintained a course near 34°, northeast, similar to their original direction. They remained directionally active but did not make the compensatory change. Preserved oriented behavior makes a complete failure of movement or all compass function an inadequate explanation of the result.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establishes a requirement for trigeminal input in this magnetic map task. It leaves the peripheral receptor unidentified. It also concerns reed warblers, whereas the preserved compass after V1 section was demonstrated in European robins; the complementary evidence should not be described as a single experiment on one species.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Pakhomov A, Anashina A, Heyers D, Kobylkov D, Mouritsen H, Chernetsov N (2018). Magnetic map navigation in a migratory songbird requires trigeminal input. Scientific Reports 8(1):11975. https://doi.org/10.1038/s41598-018-30477-8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Pakhomov et al. (2018), Fig. 1(A–D). Trigeminal sections prevent the compensatory heading change.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https://doi.org/10.1038/s41598-018-30477-8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Zapka et al. (2009), Fig. 1(a–f). Published V1 section diagram and robin compass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https://doi.org/10.1038/nature08528</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2" name="Google Shape;432;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Engels and colleagues found that European robins in wooden huts on an urban campus failed to express their expected migratory direction. They added electrically connected, grounded aluminum screening to reduce ambient electromagnetic noise while leaving the static Earth field available.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static field remains approximately constant in time, whereas radiofrequency noise oscillates rapidly. The weak oscillating exposure can interfere with a sensory process even though its amplitude is far smaller than the static field that normally supplies compass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screening attenuated noise from about 50 kHz to at least 20 MHz by roughly two orders of magnitude. Birds then recovered seasonal magnetic orientation. Reported ambient noise had peak magnetic intensities of approximately 0.1–50 nT at individual frequencies, much smaller than the local static field of about 49,000 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 linked orientation performance to the electromagnetic environment. Screening alone changes more than one potential environmental variable, so the authors followed it with grounding and deliberate-noise controls. The result does not show that every urban orientation error is magnetic or establish a particular molecular receptor.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Engels S, Schneider NL, Lefeldt N, Hein CM, Zapka M, Michalik A, Elbers D, Kittel A, Hore PJ, Mouritsen H (2014). Anthropogenic electromagnetic noise disrupts magnetic compass orientation in a migratory bird. Nature 509(7500):353-356. https://doi.org/10.1038/nature13290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Engels et al. (2014), Fig. 1(a–d). Shielding restores robin orientation and reduces electromagnetic noise.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https://doi.org/10.1038/nature13290</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5" name="Google Shape;445;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aluminum screens lost much of their protective effect when disconnected from electrical ground. Engels and colleagues alternated tests of the same birds between grounded and ungrounded screened huts, while the experimenters evaluating orientation were unaware which hut carried which electrical condition.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Grounding connects conductive screening to an electrical reference so that its effect on noise differs from an isolated metal enclosure. The behavioral comparison is tied to measured exposure conditions, not merely to the nominal construction of the huts.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Birds oriented toward their spring migratory direction in grounded huts but lacked a consistent direction in ungrounded huts. The accompanying field measurements documented the difference in electromagnetic noise rather than treating the presence of metal screening alone as a sufficient control.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reversible manipulation strengthens the causal association between the screened electromagnetic environment and compass performance. It does not isolate one frequency or prove that magnetic rather than electric components of all exposures act through one identified molecule. Near-field electromagnetic measurements require attention to both components.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Engels S, Schneider NL, Lefeldt N, Hein CM, Zapka M, Michalik A, Elbers D, Kittel A, Hore PJ, Mouritsen H (2014). Anthropogenic electromagnetic noise disrupts magnetic compass orientation in a migratory bird. Nature 509(7500):353-356. https://doi.org/10.1038/nature13290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Engels et al. (2014), Fig. 2(a–f). Grounding controls the effect of shielding on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https://doi.org/10.1038/nature13290</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8" name="Google Shape;458;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Inside grounded screened huts, investigators deliberately introduced broadband electromagnetic noise from approximately 2 kHz to 9 MHz. Robins again became disoriented. The treatment therefore recreated the behavioral deficit in a preparation that otherwise supported normal magnetic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study measured behavioral direction and exposure spectra. It did not record a retinal ion channel or magnetic-sensitive neuron, so radiofrequency susceptibility constrains possible mechanisms without completing the transduction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With the same electronics present but generator output reduced to its minimum, birds recovered their seasonal direction and responded to a 120° anticlockwise rotation of the static field. Separate bands near 20–450 kHz and 600 kHz–3 MHz also interfered with orientation in further tests.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controls make the mere presence of a generator an inadequate explanation. The effects support an electromagnetic sensitivity relevant to compass processing, but broad disruption does not uniquely identify cryptochrome or specify how chemistry influences neuronal firing. Evidence for a candidate radical-pair mechanism requires independent molecular and anatomical tests.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Engels S, Schneider NL, Lefeldt N, Hein CM, Zapka M, Michalik A, Elbers D, Kittel A, Hore PJ, Mouritsen H (2014). Anthropogenic electromagnetic noise disrupts magnetic compass orientation in a migratory bird. Nature 509(7500):353-356. https://doi.org/10.1038/nature13290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Engels et al. (2014), Fig. 3(a–e). Reintroduced broadband noise disrupts magnetic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https://doi.org/10.1038/nature13290</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1" name="Google Shape;471;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Cryptochromes are flavoproteins, proteins containing a flavin cofactor, related to photolyases, proteins involved in light-dependent DNA repair. Günther and colleagues compared retinal cryptochrome messenger RNA, the transcript used to produce protein, across migratory and non-migratory seasons in European robins and domestic chickens.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circadian pattern is a roughly daily rhythm. A protein available across the night is compatible with a sensory role, but the expression experiment alone cannot separate that role from other physiological functions associated with the migratory season.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Cry4 transcript abundance increased during spring and autumn migratory seasons in robins, whereas the same migratory-season increase was not observed in chickens. The study also measured 24-h expression profiles: Cry1 and Cry2 varied more strongly over the day than Cry4, which exhibited relatively weak circadian variation.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expression pattern makes Cry4 a candidate relevant to nocturnal navigation rather than solely a strongly rhythmic clock transcript. Transcript abundance is not a direct measure of magnetic sensitivity, protein orientation or neural signaling. Seasonal expression can correlate with migratory physiology without establishing that Cry4 is necessary for a magnetic compass.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2. Cry4 expression differs between migratory and non-migratory seasons.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4(F–G). Magnified outer segments compare Cry4 with ultraviolet opsin staining.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6" name="Google Shape;486;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retina contains light-sensitive photoreceptors, including cones and rods. A photoreceptor’s outer segment is the specialized compartment containing light-sensitive membrane structures. Günther and colleagues used immunohistochemistry, antibody-based protein localization, to examine where Cry4 occurs in robin retinal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Monoclonal antibodies recognize a selected antigenic target, whereas polyclonal preparations include several antibody populations. Agreement between independent reagents helps constrain a localization claim, provided that their specificity is tested rather than assumed.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Cry4 immunoreactivity was concentrated in photoreceptor outer segments and appeared across peripheral and central retinal regions. The authors compared the staining pattern in robins and chickens and used both monoclonal and polyclonal reagents rather than relying on one antibody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Localization places the candidate protein in a tissue compatible with a visually mediated magnetic process. It does not establish magnetic responses in those cells or prove that all detected Cry4 is correctly oriented for directional sensing. Fluorescence identifies the antibody’s target distribution, not the chemical reaction or electrical output of a magnetoreceptor.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3(A–D). Cry4 staining is concentrated in photoreceptor outer segments.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4(F–G). Magnified outer segments compare Cry4 with ultraviolet opsin staining.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1" name="Google Shape;501;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Opsins are light-sensitive receptor proteins that help distinguish photoreceptor classes. The study combined Cry4 staining with antibodies to iodopsin, ultraviolet opsin, blue opsin and rhodopsin. Double staining tests whether two molecular labels occupy the same cellular compartment rather than merely nearby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Rhodopsin identifies rod photoreceptors in these comparisons. The absence of overlapping Cry4 signal in rod outer segments is a localization result, not proof that rods or other retinal cells are irrelevant to every stage of magnetic compass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Cry4 signal overlapped iodopsin-positive outer segments, associated with long-wavelength single cones and double cones. It did not overlap the outer segments labeled by ultraviolet opsin, blue opsin or rhodopsin. Additional calbindin staining identified inner segments of double cones and supported the assignment of Cry4 to these cone classes.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anatomical evidence narrows the candidate cellular location. It does not establish that these cones generate a magnetic signal, identify its downstream transmitter pathway or demonstrate a compass defect after selectively removing Cry4. Ordinary photoreceptor identity and a hypothesized magnetic role must remain experimentally separate.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4(A–O). Double staining identifies the Cry4-positive cone classes.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4" name="Google Shape;51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Günther and colleagues tested antibody specificity by replacing the primary antibody with pre-immune serum, absorbing it with its antigenic peptide, and expressing different cryptochromes in cultured cells. These controls address background staining and cross-reaction with related proteins rather than treating any fluorescent signal as Cry4.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Antigenic-peptide absorption tests whether the staining depends on recognition of the antibody’s intended target sequence. A loss of signal after that control is useful evidence of specificity, while independent cell-expression controls address recognition of related proteins.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Western blots detected an approximately 61-kDa retinal protein and an approximately 89-kDa Cry4–GFP fusion protein in the expression preparation. GFP is green fluorescent protein used as a molecular tag. Cry4 antibody did not produce the corresponding signal in control cells expressing other tested cryptochromes or GFP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controls support identification of the stained protein and strengthen the anatomical result. They still do not test magnetic behavior after selective Cry4 loss. Reliable molecular localization is a prerequisite for a receptor hypothesis, but it is not equivalent to proving that the localized protein transduces the Earth field into a neural signal.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6(A–N). Antibody controls test Cry4 localization and specificity.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7" name="Google Shape;527;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Xu and colleagues expressed and purified European robin Cry4 to test its photochemistry directly. Flavin adenine dinucleotide, or FAD, is the bound light-absorbing cofactor that can participate in electron transfer. A cofactor is a nonprotein component needed for a protein’s chemical function.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structural image is the authors’ published model, not an experimentally solved robin Cry4 structure. Its role is to represent a proposed molecular arrangement; spectroscopy and mass measurements provide the experimental evidence for the purified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Optical spectroscopy and native mass spectrometry indicated that more than 97% of the purified wild-type Cry4 population carried FAD. The supplementary spectrum separated major FAD-bound protein peaks from minor peaks assigned to protein lacking the cofactor. This preparation supplied a controlled molecular system independent of an intact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FAD binding establishes that the purified candidate possesses the component required for the studied radical-pair chemistry. The published structural model places FAD near a chain of tryptophan residues. Binding alone does not establish Earth-field sensitivity, directional coding in a retina or transmission to a brain pathway.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Xu et al. (2021), Supplementary Fig. S13. Mass spectra identify FAD-bound cryptochrome 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https://doi.org/10.1038/s41586-021-03618-9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7(A–F). Published Cry4 structural model and FAD-binding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2" name="Google Shape;542;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radical is a molecular species with an unpaired electron; a radical pair contains two radicals generated through a linked reaction. In Cry4, light-excited FAD can receive an electron through a chain of tryptophan residues, producing radicals whose subsequent reactions depend on their electronic states.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electron-transfer chain is a molecular pathway rather than a neural circuit. Changing radical lifetime alters the time available for magnetic interactions, but the experiment does not identify a neuronal membrane channel controlled by that chemistry.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Xu and colleagues replaced individual tryptophans with redox-inactive phenylalanine. Redox refers to electron-transfer chemistry. After 450-nm excitation, transient absorption measurements tracked changes over time. In the supplementary measurements, interrupted early transfer pathways produced radical-loss time constants of 180 ps and 900 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Longer transfer pathways supported radicals persisting beyond the earliest nanosecond responses. The nearest-tryptophan mutation prevented the normal radical production observed in the wild-type preparation. These interventions establish contributions of particular residues to photochemistry; they do not demonstrate that the same mutations impair a living bird’s compass.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Xu et al. (2021), Supplementary Fig. S2(a–d). Tryptophan mutations change radical kinetics and spectra.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https://doi.org/10.1038/s41586-021-03618-9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7(A–F). Published Cry4 structural model and FAD-binding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7" name="Google Shape;557;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Electron spin is a quantum property of an electron, not literal mechanical spinning. Spin-correlated radical pairs can occupy singlet and triplet states with different reaction possibilities. A magnetic field can alter transitions between these states and thereby influence the yield of chemical products.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Singlet and triplet describe different combined spin states of the two electrons. The proposed compass mechanism requires field direction to influence a biologically useful chemical signal; this experiment measures chemical sensitivity rather than a completed retinal-to-brain encoding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Xu and colleagues measured field-dependent radical absorption in purified Cry4 after 450-nm excitation. The supplementary comparison covered fields up to 30 mT and tested wild-type protein against a tryptophan mutant. The mutant and wild type exhibited different magnetic field effects, connecting molecular structure to measured photochemical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measurements establish magnetic sensitivity in vitro, meaning outside the living animal. Millitesla fields exceed the geomagnetic field, and the preparation includes controlled temperature and chemical conditions. These results support a candidate reaction mechanism but do not by themselves establish Earth-strength directional sensing or prove that Cry4 causes magnetic orientation in birds.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Xu et al. (2021), Supplementary Fig. S3(a–b). Wild-type and mutant Cry4 have different magnetic field effects.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https://doi.org/10.1038/s41586-021-03618-9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7(A–F). Published Cry4 structural model and FAD-binding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2" name="Google Shape;572;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Photoreduction is light-driven electron gain. After illumination changes FAD’s oxidation state, a reusable sensory protein must return toward an appropriate starting state. Xu and colleagues measured optical spectra as photoreduced Cry4 reoxidized in contact with air without added redox reagents.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receptor cycle includes both activation and recovery. Demonstrating that the candidate can reset is different from demonstrating that its changing state is read by a neuron; the downstream signaling partner and membrane mechanism remain unresolved in these studies.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supplementary experiment used 2 min of 450-nm illumination followed by spectra recorded at 2-min intervals. The main analysis reported recycling times of approximately 13 min from the neutral radical state toward oxidized FAD and approximately 1 min from the fully reduced state toward the neutral radical.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measurements establish a route for chemical resetting under the tested conditions. Rates can differ in living cells because oxygen availability, reducing agents and protein interactions differ from a cuvette. Molecular recycling therefore supports plausibility as a reusable sensor without establishing the speed or coding of a bird’s behavioral compass.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Xu et al. (2021), Supplementary Fig. S15(a–b). Photoreduced Cry4 returns toward the oxidized state.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https://doi.org/10.1038/s41586-021-03618-9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7(A–F). Published Cry4 structural model and FAD-binding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7" name="Google Shape;587;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proposed alternative receptor uses magnetite, an iron oxide whose particles can interact with magnetic fields. Treiber and colleagues reexamined iron-rich cells in pigeon upper beaks that had been proposed as magnetosensitive neurons. Prussian blue staining detects a form of iron accumulation but does not establish neuronal identity.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pigeon is a different species from the robin and reed warbler. The negative anatomical finding constrains a specific upper-beak receptor claim, rather than directly locating the receptor responsible for every trigeminally mediated map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Iron-positive cells occurred in subepidermal tissue, respiratory epithelium and feather follicles. Their positions and abundance varied strongly across birds rather than forming the claimed stereotyped bilateral sensory arrangement. At least 97% of the stained cells in the examined compartments contained visible nuclei.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anatomy challenged identification of this particular iron-rich population as an organized receptor system. It did not establish that all particle-based magnetoreception is impossible or that turtle magnetic-pulse effects lack a biological basis. A material sensitive to magnetism must still be linked to an identified sensory cell and pathway.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Treiber CD, Salzer MC, Riegler J, Edelman N, Sugar C, Breuss M, Pichler P, Cadiou H, Saunders M, Lythgoe M, Shaw J, Keays DA (2012). Clusters of iron-rich cells in the upper beak of pigeons are macrophages not magnetosensitive neurons. Nature 484(7394):367-370. https://doi.org/10.1038/nature11046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Treiber et al. (2012), Fig. 1(a–k). Iron-positive cells occur in several upper-beak compartments.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https://doi.org/10.1038/nature11046</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0" name="Google Shape;600;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Macrophages are immune cells that can accumulate and process material within tissues. Treiber and colleagues combined iron staining with neuronal markers, immune-marker staining and electron microscopy. This approach tested cell identity rather than assuming that an iron deposit near a sensory nerve is part of a magnetoreceptor.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Ferritin stores iron, and siderosomes are iron-rich intracellular structures. Their presence can reflect immune-cell iron handling rather than a sensory transducer; chemical composition must be interpreted together with cellular identity and physiological function.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iron-positive populations rarely overlapped the tested neuronal markers and overlapped MHC class II, an antigen-presentation marker. Electron microscopy revealed ferritin-like granules about 6–9 nm across and iron-containing structures including siderosomes approximately 300 nm in size.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results support macrophage identity for the examined cells. They refute the claim that those particular iron-rich clusters are magnetosensitive neurons, while leaving the true peripheral source of trigeminal magnetic information unidentified. Neither iron staining nor a nearby nerve establishes a mechanosensitive ion channel or a functional magnetic synapse.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Treiber CD, Salzer MC, Riegler J, Edelman N, Sugar C, Breuss M, Pichler P, Cadiou H, Saunders M, Lythgoe M, Shaw J, Keays DA (2012). Clusters of iron-rich cells in the upper beak of pigeons are macrophages not magnetosensitive neurons. Nature 484(7394):367-370. https://doi.org/10.1038/nature11046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Treiber et al. (2012), Fig. 4(a–c). Immune-marker staining identifies iron-rich cells as macrophages.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https://doi.org/10.1038/nature11046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Treiber et al. (2012), Fig. 3(a–f). Electron microscopy of iron-storing granules and siderosomes.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https://doi.org/10.1038/nature11046</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5" name="Google Shape;61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turtle studies distinguish regional-field recognition from the direction selected after recognition. A learned food-anticipatory assay tests magnetic signatures without requiring a compass heading, whereas hatchling swimming assays can require both positional cues and directional information to produce an appropriate course.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Functional separation does not require that a navigation system use each sense independently during natural travel. A map can select the appropriate course and a compass can maintain it, while other sensory information influences both decisions.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Radiofrequency exposure spared learned turtle map discrimination but disrupted the compass-dependent orientation task. A strong magnetic pulse reduced learned map responses. In birds, Cluster N lesions disrupted compass behavior, whereas trigeminal sections impaired map compensation in reed warblers while sparing the tested robin compass.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converging evidence supports separable functions and candidate transduction processes, with important differences between species and preparations. Cry4 localization and purified photochemistry support a radical-pair hypothesis; particle-based maps remain plausible but lack an identified receptor pathway. The transmitters, ion channels and full receptor-to-behavior circuits remain incompletely established.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Mackiewicz AG, Glazener AM, Goforth KM, Lim DS, Lohmann CMF, Lohmann KJ (2025). Disruption of the sea turtle magnetic map sense by a magnetic pulse. Journal of Experimental Biology 228(22):jeb251243. https://doi.org/10.1242/jeb.251243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Pakhomov A, Anashina A, Heyers D, Kobylkov D, Mouritsen H, Chernetsov N (2018). Magnetic map navigation in a migratory songbird requires trigeminal input. Scientific Reports 8(1):11975. https://doi.org/10.1038/s41598-018-30477-8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5(a–b). Map discrimination and compass-dependent orientation dissociate.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7(A–F). Published Cry4 structural model and FAD-binding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8" name="Shape 628"/>
        <p:cNvGrpSpPr/>
        <p:nvPr/>
      </p:nvGrpSpPr>
      <p:grpSpPr>
        <a:xfrm>
          <a:off x="0" y="0"/>
          <a:ext cx="0" cy="0"/>
          <a:chOff x="0" y="0"/>
          <a:chExt cx="0" cy="0"/>
        </a:xfrm>
      </p:grpSpPr>
      <p:sp>
        <p:nvSpPr>
          <p:cNvPr id="629" name="Google Shape;62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0" name="Google Shape;63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Compass and map differ. A compass supplies direction; a magnetic map uses location-related field information. An orientation assay can require both.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Turtles discriminate field geometry. Controlled inclination and regional-field changes evoke different swimming headings, including appropriate responses in ocean-inexperienced hatchlings.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Magnetic signatures can be learned. Juvenile loggerheads learn compound inclination–intensity cues and retain rewarded-field discrimination for at least four months.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Bird pathways serve different tasks. Cluster N is necessary for the tested robin magnetic compass; V1 input is necessary for magnetic map compensation in reed warblers.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Cry4 is a supported candidate. Retinal localization, antibody controls and magnetic-sensitive purified photochemistry support a radical-pair hypothesis without proving its complete neural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Receptor identity remains unresolved. Pulse effects support candidate particle-based maps, but iron-positive beak cells can be macrophages; a magnetic material alone is not an identified sensory receptor.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Cain SD, Dodge SA, Lohmann CMF (2001). Regional Magnetic Fields as Navigational Markers for Sea Turtles. Science 294(5541):364-366. https://doi.org/10.1126/science.1064557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Mackiewicz AG, Glazener AM, Goforth KM, Lim DS, Lohmann CMF, Lohmann KJ (2025). Disruption of the sea turtle magnetic map sense by a magnetic pulse. Journal of Experimental Biology 228(22):jeb251243. https://doi.org/10.1242/jeb.251243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Pakhomov A, Anashina A, Heyers D, Kobylkov D, Mouritsen H, Chernetsov N (2018). Magnetic map navigation in a migratory songbird requires trigeminal input. Scientific Reports 8(1):11975. https://doi.org/10.1038/s41598-018-30477-8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Cry4 recycling depends on oxygen and reagents.</a:t>
            </a:r>
          </a:p>
          <a:p>
            <a:r>
              <a:rPr lang="en-US" sz="1200"/>
              <a:t>• Explanation 1.</a:t>
            </a:r>
          </a:p>
          <a:p>
            <a:r>
              <a:rPr lang="en-US" sz="1200"/>
              <a:t>– The optical spectra were recorded as photoreduced Cry4 reoxidized in contact with air</a:t>
            </a:r>
          </a:p>
          <a:p>
            <a:r>
              <a:rPr lang="en-US" sz="1200"/>
              <a:t>– No added redox reagents were present, so the reoxidation reflects the protein's own chemistry with ambient oxygen. The starting oxidation state set the reference for the recovery spectra.</a:t>
            </a:r>
          </a:p>
          <a:p>
            <a:r>
              <a:rPr lang="en-US" sz="1200"/>
              <a:t>• Explanation 2.</a:t>
            </a:r>
          </a:p>
          <a:p>
            <a:r>
              <a:rPr lang="en-US" sz="1200"/>
              <a:t>– A receptor cycle includes activation and recovery</a:t>
            </a:r>
          </a:p>
          <a:p>
            <a:r>
              <a:rPr lang="en-US" sz="1200"/>
              <a:t>– Resetting differs from showing that a neuron reads the changing state, and the downstream signaling partner and membrane mechanism are still being established. Each spectrum captured a different point in the oxidation sequence.</a:t>
            </a:r>
          </a:p>
          <a:p>
            <a:r>
              <a:rPr lang="en-US" sz="1200"/>
              <a:t>• Explanation 3.</a:t>
            </a:r>
          </a:p>
          <a:p>
            <a:r>
              <a:rPr lang="en-US" sz="1200"/>
              <a:t>– Living cells contain oxygen, reducing agents and protein partners that a cuvette lacks</a:t>
            </a:r>
          </a:p>
          <a:p>
            <a:r>
              <a:rPr lang="en-US" sz="1200"/>
              <a:t>– The rates measured in vitro set a reference for the cell, and they may differ in a living retina. Measured recovery times apply to the tested cuvette conditions.</a:t>
            </a:r>
          </a:p>
          <a:p>
            <a:r>
              <a:rPr lang="en-US" sz="1200"/>
              <a:t>• Source.</a:t>
            </a:r>
          </a:p>
          <a:p>
            <a:r>
              <a:rPr lang="en-US" sz="1200"/>
              <a:t>– The figure and the measurements come from Xu et al. (2021).</a:t>
            </a:r>
          </a:p>
          <a:p>
            <a:r>
              <a:rPr lang="en-US" sz="1200"/>
              <a:t>– Its recordings and observations support each statement above.</a:t>
            </a:r>
          </a:p>
          <a:p>
            <a:r>
              <a:rPr lang="en-US" sz="1200"/>
              <a:t/>
            </a:r>
          </a:p>
          <a:p>
            <a:r>
              <a:rPr lang="en-US" sz="1200"/>
              <a:t>References:</a:t>
            </a:r>
          </a:p>
          <a:p>
            <a:r>
              <a:rPr lang="en-US" sz="1200"/>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FAD is bound to the purified Cry4 protein.</a:t>
            </a:r>
          </a:p>
          <a:p>
            <a:r>
              <a:rPr lang="en-US" sz="1200"/>
              <a:t>• Explanation 1.</a:t>
            </a:r>
          </a:p>
          <a:p>
            <a:r>
              <a:rPr lang="en-US" sz="1200"/>
              <a:t>– Spectroscopy and mass spectrometry measured the purified protein without cellular material</a:t>
            </a:r>
          </a:p>
          <a:p>
            <a:r>
              <a:rPr lang="en-US" sz="1200"/>
              <a:t>– More than 97% of the wild-type protein carried FAD, which is the cofactor needed for the radical-pair reaction. Those measurements characterize the purified protein as a standalone molecule.</a:t>
            </a:r>
          </a:p>
          <a:p>
            <a:r>
              <a:rPr lang="en-US" sz="1200"/>
              <a:t>• Explanation 2.</a:t>
            </a:r>
          </a:p>
          <a:p>
            <a:r>
              <a:rPr lang="en-US" sz="1200"/>
              <a:t>– The supplementary spectrum resolved FAD-bound peaks from weaker peaks attributed to protein without the cofactor</a:t>
            </a:r>
          </a:p>
          <a:p>
            <a:r>
              <a:rPr lang="en-US" sz="1200"/>
              <a:t>– Those assignments distinguish the bound protein from a cofactor-free fraction in the same preparation. The spectrum is evidence about the bound state, not about neural activity.</a:t>
            </a:r>
          </a:p>
          <a:p>
            <a:r>
              <a:rPr lang="en-US" sz="1200"/>
              <a:t>• Explanation 3.</a:t>
            </a:r>
          </a:p>
          <a:p>
            <a:r>
              <a:rPr lang="en-US" sz="1200"/>
              <a:t>– Mass spectra identify the FAD-bound form of cryptochrome 4 in the supplementary figure</a:t>
            </a:r>
          </a:p>
          <a:p>
            <a:r>
              <a:rPr lang="en-US" sz="1200"/>
              <a:t>– The same purified preparation supplies the molecular system used for the photochemistry measurements. Spectroscopy and mass measurements supply the experimental evidence, whereas the structural image is a proposed arrangement.</a:t>
            </a:r>
          </a:p>
          <a:p>
            <a:r>
              <a:rPr lang="en-US" sz="1200"/>
              <a:t>• Source.</a:t>
            </a:r>
          </a:p>
          <a:p>
            <a:r>
              <a:rPr lang="en-US" sz="1200"/>
              <a:t>– The figure and the measurements come from Xu et al. (2021).</a:t>
            </a:r>
          </a:p>
          <a:p>
            <a:r>
              <a:rPr lang="en-US" sz="1200"/>
              <a:t>– Its recordings and observations support each statement above.</a:t>
            </a:r>
          </a:p>
          <a:p>
            <a:r>
              <a:rPr lang="en-US" sz="1200"/>
              <a:t/>
            </a:r>
          </a:p>
          <a:p>
            <a:r>
              <a:rPr lang="en-US" sz="1200"/>
              <a:t>References:</a:t>
            </a:r>
          </a:p>
          <a:p>
            <a:r>
              <a:rPr lang="en-US" sz="1200"/>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Staining locates Cry4 in photoreceptor outer segments.</a:t>
            </a:r>
          </a:p>
          <a:p>
            <a:r>
              <a:rPr lang="en-US" sz="1200"/>
              <a:t>• Explanation 1.</a:t>
            </a:r>
          </a:p>
          <a:p>
            <a:r>
              <a:rPr lang="en-US" sz="1200"/>
              <a:t>– Cry4 was concentrated in the outer segments of photoreceptors, the light-sensitive compartments of the retina</a:t>
            </a:r>
          </a:p>
          <a:p>
            <a:r>
              <a:rPr lang="en-US" sz="1200"/>
              <a:t>– The distribution spanned both peripheral and central retina, and the staining was seen in robins, the migratory species. A localization result identifies where a protein is, not what it does.</a:t>
            </a:r>
          </a:p>
          <a:p>
            <a:r>
              <a:rPr lang="en-US" sz="1200"/>
              <a:t>• Explanation 2.</a:t>
            </a:r>
          </a:p>
          <a:p>
            <a:r>
              <a:rPr lang="en-US" sz="1200"/>
              <a:t>– Monoclonal antibodies recognize a selected antigenic target, whereas polyclonal preparations include several antibody populations</a:t>
            </a:r>
          </a:p>
          <a:p>
            <a:r>
              <a:rPr lang="en-US" sz="1200"/>
              <a:t>– Immunohistochemistry was applied to robin and chicken retina with both classes of antibody. Each reagent class carries its own specificity, so agreement between them is informative.</a:t>
            </a:r>
          </a:p>
          <a:p>
            <a:r>
              <a:rPr lang="en-US" sz="1200"/>
              <a:t>• Explanation 3.</a:t>
            </a:r>
          </a:p>
          <a:p>
            <a:r>
              <a:rPr lang="en-US" sz="1200"/>
              <a:t>– Agreement between independent reagents helps constrain a localization claim, provided that their specificity is tested rather than assumed</a:t>
            </a:r>
          </a:p>
          <a:p>
            <a:r>
              <a:rPr lang="en-US" sz="1200"/>
              <a:t>– Fluorescence reports the location of the antibody's target, while a magnetoreceptor's signal output is a separate target for tests.</a:t>
            </a:r>
          </a:p>
          <a:p>
            <a:r>
              <a:rPr lang="en-US" sz="1200"/>
              <a:t>• Source.</a:t>
            </a:r>
          </a:p>
          <a:p>
            <a:r>
              <a:rPr lang="en-US" sz="1200"/>
              <a:t>– The figure and the measurements come from Günther et al. (2018).</a:t>
            </a:r>
          </a:p>
          <a:p>
            <a:r>
              <a:rPr lang="en-US" sz="1200"/>
              <a:t>– Its recordings and observations support each statement above.</a:t>
            </a:r>
          </a:p>
          <a:p>
            <a:r>
              <a:rPr lang="en-US" sz="1200"/>
              <a:t/>
            </a:r>
          </a:p>
          <a:p>
            <a:r>
              <a:rPr lang="en-US" sz="1200"/>
              <a:t>References:</a:t>
            </a:r>
          </a:p>
          <a:p>
            <a:r>
              <a:rPr lang="en-US" sz="1200"/>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Grounding decides the shielding effect.</a:t>
            </a:r>
          </a:p>
          <a:p>
            <a:r>
              <a:rPr lang="en-US" sz="1200"/>
              <a:t>• Explanation 1.</a:t>
            </a:r>
          </a:p>
          <a:p>
            <a:r>
              <a:rPr lang="en-US" sz="1200"/>
              <a:t>– Grounding connects the conductive screening to an electrical reference, so its effect on noise differs from an isolated metal enclosure</a:t>
            </a:r>
          </a:p>
          <a:p>
            <a:r>
              <a:rPr lang="en-US" sz="1200"/>
              <a:t>– The screens reduced electromagnetic noise only when they were electrically grounded, and the same screens produced different outcomes in the two electrical conditions.</a:t>
            </a:r>
          </a:p>
          <a:p>
            <a:r>
              <a:rPr lang="en-US" sz="1200"/>
              <a:t>• Explanation 2.</a:t>
            </a:r>
          </a:p>
          <a:p>
            <a:r>
              <a:rPr lang="en-US" sz="1200"/>
              <a:t>– The behavioral comparison is tied to measured exposure conditions, not to the nominal construction of the huts</a:t>
            </a:r>
          </a:p>
          <a:p>
            <a:r>
              <a:rPr lang="en-US" sz="1200"/>
              <a:t>– Observers scoring orientation did not know which hut was grounded, and the electromagnetic noise was measured in each hut.</a:t>
            </a:r>
          </a:p>
          <a:p>
            <a:r>
              <a:rPr lang="en-US" sz="1200"/>
              <a:t>• Explanation 3.</a:t>
            </a:r>
          </a:p>
          <a:p>
            <a:r>
              <a:rPr lang="en-US" sz="1200"/>
              <a:t>– The grounded screens recovered the seasonal direction in the same birds, which is the pattern expected for a causal electromagnetic effect</a:t>
            </a:r>
          </a:p>
          <a:p>
            <a:r>
              <a:rPr lang="en-US" sz="1200"/>
              <a:t>– A metal-screened hut without grounding fails to reproduce the effect. Electromagnetic noise, rather than metal alone, accounts for the two outcomes.</a:t>
            </a:r>
          </a:p>
          <a:p>
            <a:r>
              <a:rPr lang="en-US" sz="1200"/>
              <a:t>• Source.</a:t>
            </a:r>
          </a:p>
          <a:p>
            <a:r>
              <a:rPr lang="en-US" sz="1200"/>
              <a:t>– The figure and the measurements come from Engels et al. (2014).</a:t>
            </a:r>
          </a:p>
          <a:p>
            <a:r>
              <a:rPr lang="en-US" sz="1200"/>
              <a:t>– Its recordings and observations support each statement above.</a:t>
            </a:r>
          </a:p>
          <a:p>
            <a:r>
              <a:rPr lang="en-US" sz="1200"/>
              <a:t/>
            </a:r>
          </a:p>
          <a:p>
            <a:r>
              <a:rPr lang="en-US" sz="1200"/>
              <a:t>References:</a:t>
            </a:r>
          </a:p>
          <a:p>
            <a:r>
              <a:rPr lang="en-US" sz="1200"/>
              <a:t>Engels S, Schneider NL, Lefeldt N, Hein CM, Zapka M, Michalik A, Elbers D, Kittel A, Hore PJ, Mouritsen H (2014). Anthropogenic electromagnetic noise disrupts magnetic compass orientation in a migratory bird. Nature 509(7500):353-356. https://doi.org/10.1038/nature13290</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Virtual displacement changes the magnetic cues.</a:t>
            </a:r>
          </a:p>
          <a:p>
            <a:r>
              <a:rPr lang="en-US" sz="1200"/>
              <a:t>• Explanation 1.</a:t>
            </a:r>
          </a:p>
          <a:p>
            <a:r>
              <a:rPr lang="en-US" sz="1200"/>
              <a:t>– Virtual displacement changes the local magnetic parameters without moving the bird from its capture site</a:t>
            </a:r>
          </a:p>
          <a:p>
            <a:r>
              <a:rPr lang="en-US" sz="1200"/>
              <a:t>– The non-magnetic cues stay at the original site, so the magnetic signal alone conflicts with the displaced position. The conflict is set entirely by the magnetic parameters that were changed.</a:t>
            </a:r>
          </a:p>
          <a:p>
            <a:r>
              <a:rPr lang="en-US" sz="1200"/>
              <a:t>• Explanation 2.</a:t>
            </a:r>
          </a:p>
          <a:p>
            <a:r>
              <a:rPr lang="en-US" sz="1200"/>
              <a:t>– The displacement changed intensity, inclination and declination together</a:t>
            </a:r>
          </a:p>
          <a:p>
            <a:r>
              <a:rPr lang="en-US" sz="1200"/>
              <a:t>– The replicated field set the target location for the test, and the response was measured against the capture-site course. Those values define the places being simulated, not the bird's location.</a:t>
            </a:r>
          </a:p>
          <a:p>
            <a:r>
              <a:rPr lang="en-US" sz="1200"/>
              <a:t>• Explanation 3.</a:t>
            </a:r>
          </a:p>
          <a:p>
            <a:r>
              <a:rPr lang="en-US" sz="1200"/>
              <a:t>– The coil changed several geographical field properties together, so the response reflects the combined magnetic signature</a:t>
            </a:r>
          </a:p>
          <a:p>
            <a:r>
              <a:rPr lang="en-US" sz="1200"/>
              <a:t>– A simple compass rotation would change only direction, while the displacement changes the location-related signal. A heading response shows what the bird's map contributes.</a:t>
            </a:r>
          </a:p>
          <a:p>
            <a:r>
              <a:rPr lang="en-US" sz="1200"/>
              <a:t>• Source.</a:t>
            </a:r>
          </a:p>
          <a:p>
            <a:r>
              <a:rPr lang="en-US" sz="1200"/>
              <a:t>– The figure and the measurements come from Pakhomov et al. (2018).</a:t>
            </a:r>
          </a:p>
          <a:p>
            <a:r>
              <a:rPr lang="en-US" sz="1200"/>
              <a:t>– Its recordings and observations support each statement above.</a:t>
            </a:r>
          </a:p>
          <a:p>
            <a:r>
              <a:rPr lang="en-US" sz="1200"/>
              <a:t/>
            </a:r>
          </a:p>
          <a:p>
            <a:r>
              <a:rPr lang="en-US" sz="1200"/>
              <a:t>References:</a:t>
            </a:r>
          </a:p>
          <a:p>
            <a:r>
              <a:rPr lang="en-US" sz="1200"/>
              <a:t>Pakhomov A, Anashina A, Heyers D, Kobylkov D, Mouritsen H, Chernetsov N (2018). Magnetic map navigation in a migratory songbird requires trigeminal input. Scientific Reports 8(1):11975. https://doi.org/10.1038/s41598-018-30477-8</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Lesions test whether a region is needed.</a:t>
            </a:r>
          </a:p>
          <a:p>
            <a:r>
              <a:rPr lang="en-US" sz="1200"/>
              <a:t>• Explanation 1.</a:t>
            </a:r>
          </a:p>
          <a:p>
            <a:r>
              <a:rPr lang="en-US" sz="1200"/>
              <a:t>– Expression data had shown an association between Cluster N and night vision, while a lesion can test whether the region is needed</a:t>
            </a:r>
          </a:p>
          <a:p>
            <a:r>
              <a:rPr lang="en-US" sz="1200"/>
              <a:t>– Showing necessity requires a manipulation rather than an observed correlation. The behavioral loss localizes a necessary processing stage more strongly than gene expression alone.</a:t>
            </a:r>
          </a:p>
          <a:p>
            <a:r>
              <a:rPr lang="en-US" sz="1200"/>
              <a:t>• Explanation 2.</a:t>
            </a:r>
          </a:p>
          <a:p>
            <a:r>
              <a:rPr lang="en-US" sz="1200"/>
              <a:t>– The lesion agent was injected locally, so the damage was confined to the region around the injection site</a:t>
            </a:r>
          </a:p>
          <a:p>
            <a:r>
              <a:rPr lang="en-US" sz="1200"/>
              <a:t>– The result leaves the magnetic computation within the region unassigned to any single cell type or synapse. The injection site lies within the dorsal region identified by the earlier expression study.</a:t>
            </a:r>
          </a:p>
          <a:p>
            <a:r>
              <a:rPr lang="en-US" sz="1200"/>
              <a:t>• Explanation 3.</a:t>
            </a:r>
          </a:p>
          <a:p>
            <a:r>
              <a:rPr lang="en-US" sz="1200"/>
              <a:t>– Sham-operated birds received the surgical steps but no active injection</a:t>
            </a:r>
          </a:p>
          <a:p>
            <a:r>
              <a:rPr lang="en-US" sz="1200"/>
              <a:t>– The lesion removed coherent compass orientation while the other orientation responses stayed available, which points to a specific deficit. The sham result is the reference group for the lesion effect.</a:t>
            </a:r>
          </a:p>
          <a:p>
            <a:r>
              <a:rPr lang="en-US" sz="1200"/>
              <a:t>• Source.</a:t>
            </a:r>
          </a:p>
          <a:p>
            <a:r>
              <a:rPr lang="en-US" sz="1200"/>
              <a:t>– The figure and the measurements come from Zapka et al. (2009).</a:t>
            </a:r>
          </a:p>
          <a:p>
            <a:r>
              <a:rPr lang="en-US" sz="1200"/>
              <a:t>– Its recordings and observations support each statement above.</a:t>
            </a:r>
          </a:p>
          <a:p>
            <a:r>
              <a:rPr lang="en-US" sz="1200"/>
              <a:t/>
            </a:r>
          </a:p>
          <a:p>
            <a:r>
              <a:rPr lang="en-US" sz="1200"/>
              <a:t>References:</a:t>
            </a:r>
          </a:p>
          <a:p>
            <a:r>
              <a:rPr lang="en-US" sz="1200"/>
              <a:t>Zapka M, Heyers D, Hein CM, Engels S, Schneider NL, Hans J, Weiler S, Dreyer D, Kishkinev D, Wild JM, Mouritsen H (2009). Visual but not trigeminal mediation of magnetic compass information in a migratory bird. Nature 461(7268):1274-1277. https://doi.org/10.1038/nature08528</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Cluster N is a dorsal forebrain region.</a:t>
            </a:r>
          </a:p>
          <a:p>
            <a:r>
              <a:rPr lang="en-US" sz="1200"/>
              <a:t>• Explanation 1.</a:t>
            </a:r>
          </a:p>
          <a:p>
            <a:r>
              <a:rPr lang="en-US" sz="1200"/>
              <a:t>– The authors collected brains after birds had been relatively still and awake</a:t>
            </a:r>
          </a:p>
          <a:p>
            <a:r>
              <a:rPr lang="en-US" sz="1200"/>
              <a:t>– That condition limited movement-related expression, so the marker reflects the sensory condition rather than locomotion. The result is an activity pattern in tissue, not a recording from the living bird.</a:t>
            </a:r>
          </a:p>
          <a:p>
            <a:r>
              <a:rPr lang="en-US" sz="1200"/>
              <a:t>• Explanation 2.</a:t>
            </a:r>
          </a:p>
          <a:p>
            <a:r>
              <a:rPr lang="en-US" sz="1200"/>
              <a:t>– The anatomical preparation linked a defined group of forebrain regions to a controlled visual condition</a:t>
            </a:r>
          </a:p>
          <a:p>
            <a:r>
              <a:rPr lang="en-US" sz="1200"/>
              <a:t>– Dim light was chosen to approximate moonlight, and daytime room light was the control condition in the same species. The analysis used the same brain region in every bird.</a:t>
            </a:r>
          </a:p>
          <a:p>
            <a:r>
              <a:rPr lang="en-US" sz="1200"/>
              <a:t>• Explanation 3.</a:t>
            </a:r>
          </a:p>
          <a:p>
            <a:r>
              <a:rPr lang="en-US" sz="1200"/>
              <a:t>– The marker identifies a region that responds to dim light in migrants</a:t>
            </a:r>
          </a:p>
          <a:p>
            <a:r>
              <a:rPr lang="en-US" sz="1200"/>
              <a:t>– A candidate region is a starting point for functional tests, and expression alone leaves the magnetic role of that region open. Its magnetic role needs a separate test that manipulates the region.</a:t>
            </a:r>
          </a:p>
          <a:p>
            <a:r>
              <a:rPr lang="en-US" sz="1200"/>
              <a:t>• Source.</a:t>
            </a:r>
          </a:p>
          <a:p>
            <a:r>
              <a:rPr lang="en-US" sz="1200"/>
              <a:t>– The figure and the measurements come from Mouritsen et al. (2005).</a:t>
            </a:r>
          </a:p>
          <a:p>
            <a:r>
              <a:rPr lang="en-US" sz="1200"/>
              <a:t>– Its recordings and observations support each statement above.</a:t>
            </a:r>
          </a:p>
          <a:p>
            <a:r>
              <a:rPr lang="en-US" sz="1200"/>
              <a:t/>
            </a:r>
          </a:p>
          <a:p>
            <a:r>
              <a:rPr lang="en-US" sz="1200"/>
              <a:t>References:</a:t>
            </a:r>
          </a:p>
          <a:p>
            <a:r>
              <a:rPr lang="en-US" sz="1200"/>
              <a:t>Mouritsen H, Feenders G, Liedvogel M, Wada K, Jarvis ED (2005). Night-vision brain area in migratory songbirds. Proceedings of the National Academy of Sciences 102(23):8339-8344. https://doi.org/10.1073/pnas.0409575102</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Perch activation measures a directional tendency.</a:t>
            </a:r>
          </a:p>
          <a:p>
            <a:r>
              <a:rPr lang="en-US" sz="1200"/>
              <a:t>• Explanation 1.</a:t>
            </a:r>
          </a:p>
          <a:p>
            <a:r>
              <a:rPr lang="en-US" sz="1200"/>
              <a:t>– Perch activation provides an orientation measure, not a record of retinal activity</a:t>
            </a:r>
          </a:p>
          <a:p>
            <a:r>
              <a:rPr lang="en-US" sz="1200"/>
              <a:t>– The cage counts describe the bird's directional tendency, while the sensory tissue that produced it stays unobserved. Migratory restlessness is the directional behavior that appears when migration is due.</a:t>
            </a:r>
          </a:p>
          <a:p>
            <a:r>
              <a:rPr lang="en-US" sz="1200"/>
              <a:t>• Explanation 2.</a:t>
            </a:r>
          </a:p>
          <a:p>
            <a:r>
              <a:rPr lang="en-US" sz="1200"/>
              <a:t>– The seasonal preference was measured in a controlled field configuration rather than across the whole natural migration</a:t>
            </a:r>
          </a:p>
          <a:p>
            <a:r>
              <a:rPr lang="en-US" sz="1200"/>
              <a:t>– A response in this setup shows what the bird does under those conditions, which is a narrower claim than migration as a whole.</a:t>
            </a:r>
          </a:p>
          <a:p>
            <a:r>
              <a:rPr lang="en-US" sz="1200"/>
              <a:t>• Explanation 3.</a:t>
            </a:r>
          </a:p>
          <a:p>
            <a:r>
              <a:rPr lang="en-US" sz="1200"/>
              <a:t>– The migratory program supplies context for the heading, and a single sensory system can serve several seasonal headings</a:t>
            </a:r>
          </a:p>
          <a:p>
            <a:r>
              <a:rPr lang="en-US" sz="1200"/>
              <a:t>– The historical report gives the field conditions for the record, and one configuration defines the outcome of that test.</a:t>
            </a:r>
          </a:p>
          <a:p>
            <a:r>
              <a:rPr lang="en-US" sz="1200"/>
              <a:t>• Source.</a:t>
            </a:r>
          </a:p>
          <a:p>
            <a:r>
              <a:rPr lang="en-US" sz="1200"/>
              <a:t>– The figure and the measurements come from Wiltschko &amp; Wiltschko (1972).</a:t>
            </a:r>
          </a:p>
          <a:p>
            <a:r>
              <a:rPr lang="en-US" sz="1200"/>
              <a:t>– Its recordings and observations support each statement above.</a:t>
            </a:r>
          </a:p>
          <a:p>
            <a:r>
              <a:rPr lang="en-US" sz="1200"/>
              <a:t/>
            </a:r>
          </a:p>
          <a:p>
            <a:r>
              <a:rPr lang="en-US" sz="1200"/>
              <a:t>References:</a:t>
            </a:r>
          </a:p>
          <a:p>
            <a:r>
              <a:rPr lang="en-US" sz="1200"/>
              <a:t>Wiltschko W, Wiltschko R (1972). Magnetic Compass of European Robins. Science 176(4030):62-64. https://doi.org/10.1126/science.176.4030.62</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Pulse order was fixed after the controls.</a:t>
            </a:r>
          </a:p>
          <a:p>
            <a:r>
              <a:rPr lang="en-US" sz="1200"/>
              <a:t>• Explanation 1.</a:t>
            </a:r>
          </a:p>
          <a:p>
            <a:r>
              <a:rPr lang="en-US" sz="1200"/>
              <a:t>– The pulse condition followed the controls in a fixed position, so treatment and sequence were not fully independent</a:t>
            </a:r>
          </a:p>
          <a:p>
            <a:r>
              <a:rPr lang="en-US" sz="1200"/>
              <a:t>– Sequence effects remain entangled with the pulse itself. The baseline was measured before any pulse, which set the reference for every later test.</a:t>
            </a:r>
          </a:p>
          <a:p>
            <a:r>
              <a:rPr lang="en-US" sz="1200"/>
              <a:t>• Explanation 2.</a:t>
            </a:r>
          </a:p>
          <a:p>
            <a:r>
              <a:rPr lang="en-US" sz="1200"/>
              <a:t>– A sham control reproduces the nonmagnetic components of an intervention</a:t>
            </a:r>
          </a:p>
          <a:p>
            <a:r>
              <a:rPr lang="en-US" sz="1200"/>
              <a:t>– It leaves open every other conceivable effect of the pulse, but it tests whether placement and handling alone account for the change. The initial conditioning result provides the learned response against which the perturbation is judged.</a:t>
            </a:r>
          </a:p>
          <a:p>
            <a:r>
              <a:rPr lang="en-US" sz="1200"/>
              <a:t>• Explanation 3.</a:t>
            </a:r>
          </a:p>
          <a:p>
            <a:r>
              <a:rPr lang="en-US" sz="1200"/>
              <a:t>– Magnetic pulses act on the receptor candidate itself, not on the sensory nerve</a:t>
            </a:r>
          </a:p>
          <a:p>
            <a:r>
              <a:rPr lang="en-US" sz="1200"/>
              <a:t>– The pulse was designed to alter magnetization in iron-based candidate receptors, which makes the perturbation a test of a specific class of mechanism.</a:t>
            </a:r>
          </a:p>
          <a:p>
            <a:r>
              <a:rPr lang="en-US" sz="1200"/>
              <a:t>• Source.</a:t>
            </a:r>
          </a:p>
          <a:p>
            <a:r>
              <a:rPr lang="en-US" sz="1200"/>
              <a:t>– The figure and the measurements come from Mackiewicz et al. (2025).</a:t>
            </a:r>
          </a:p>
          <a:p>
            <a:r>
              <a:rPr lang="en-US" sz="1200"/>
              <a:t>– Its recordings and observations support each statement above.</a:t>
            </a:r>
          </a:p>
          <a:p>
            <a:r>
              <a:rPr lang="en-US" sz="1200"/>
              <a:t/>
            </a:r>
          </a:p>
          <a:p>
            <a:r>
              <a:rPr lang="en-US" sz="1200"/>
              <a:t>References:</a:t>
            </a:r>
          </a:p>
          <a:p>
            <a:r>
              <a:rPr lang="en-US" sz="1200"/>
              <a:t>Mackiewicz AG, Glazener AM, Goforth KM, Lim DS, Lohmann CMF, Lohmann KJ (2025). Disruption of the sea turtle magnetic map sense by a magnetic pulse. Journal of Experimental Biology 228(22):jeb251243. https://doi.org/10.1242/jeb.251243</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Mismatch responses resemble unrewarded fields.</a:t>
            </a:r>
          </a:p>
          <a:p>
            <a:r>
              <a:rPr lang="en-US" sz="1200"/>
              <a:t>• Explanation 1.</a:t>
            </a:r>
          </a:p>
          <a:p>
            <a:r>
              <a:rPr lang="en-US" sz="1200"/>
              <a:t>– The response criterion in this experiment is learned recognition</a:t>
            </a:r>
          </a:p>
          <a:p>
            <a:r>
              <a:rPr lang="en-US" sz="1200"/>
              <a:t>– Field measurements define the physical stimuli, while the duration of dancing reports whether a stimulus has acquired reward-related meaning. Neither measure records the neural computation that connects them. Both measures are needed to describe the result.</a:t>
            </a:r>
          </a:p>
          <a:p>
            <a:r>
              <a:rPr lang="en-US" sz="1200"/>
              <a:t>• Explanation 2.</a:t>
            </a:r>
          </a:p>
          <a:p>
            <a:r>
              <a:rPr lang="en-US" sz="1200"/>
              <a:t>– Animals can still detect either parameter individually</a:t>
            </a:r>
          </a:p>
          <a:p>
            <a:r>
              <a:rPr lang="en-US" sz="1200"/>
              <a:t>– One familiar component was insufficient to identify the rewarded compound under these conditions. The mismatch test isolates which combination the animal learned, and each mismatch keeps one learned value while replacing the other.</a:t>
            </a:r>
          </a:p>
          <a:p>
            <a:r>
              <a:rPr lang="en-US" sz="1200"/>
              <a:t>• Explanation 3.</a:t>
            </a:r>
          </a:p>
          <a:p>
            <a:r>
              <a:rPr lang="en-US" sz="1200"/>
              <a:t>– Mismatch conditions reveal which parameter pairs an animal has learned to recognize</a:t>
            </a:r>
          </a:p>
          <a:p>
            <a:r>
              <a:rPr lang="en-US" sz="1200"/>
              <a:t>– The stimuli were defined from the trained fields, so the test uses real field values. Behavior in each of the four test fields was scored as food-anticipatory dancing.</a:t>
            </a:r>
          </a:p>
          <a:p>
            <a:r>
              <a:rPr lang="en-US" sz="1200"/>
              <a:t>• Source.</a:t>
            </a:r>
          </a:p>
          <a:p>
            <a:r>
              <a:rPr lang="en-US" sz="1200"/>
              <a:t>– The figure and the measurements come from Goforth et al. (2025).</a:t>
            </a:r>
          </a:p>
          <a:p>
            <a:r>
              <a:rPr lang="en-US" sz="1200"/>
              <a:t>– Its recordings and observations support each statement above.</a:t>
            </a:r>
          </a:p>
          <a:p>
            <a:r>
              <a:rPr lang="en-US" sz="1200"/>
              <a:t/>
            </a:r>
          </a:p>
          <a:p>
            <a:r>
              <a:rPr lang="en-US" sz="1200"/>
              <a:t>References:</a:t>
            </a:r>
          </a:p>
          <a:p>
            <a:r>
              <a:rPr lang="en-US" sz="1200"/>
              <a:t>Goforth KM, Lohmann CMF, Gavin A, Henning R, Harvey A, Hinton TL, Lim DS, Lohmann KJ (2025). Learned magnetic map cues and two mechanisms of magnetoreception in turtles. Nature 638(8052):1015-1022. https://doi.org/10.1038/s41586-024-08554-y</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Acquisition followed controlled reinforcement.</a:t>
            </a:r>
          </a:p>
          <a:p>
            <a:r>
              <a:rPr lang="en-US" sz="1200"/>
              <a:t>• Explanation 1.</a:t>
            </a:r>
          </a:p>
          <a:p>
            <a:r>
              <a:rPr lang="en-US" sz="1200"/>
              <a:t>– Acquisition of these pairs took place under controlled reinforcement, so the learned responses reflect training rather than chance exposure</a:t>
            </a:r>
          </a:p>
          <a:p>
            <a:r>
              <a:rPr lang="en-US" sz="1200"/>
              <a:t>– The evidence concerns learning under those conditions, not behavior during natural travel. A laboratory capacity to learn several signatures is compatible with natural return to different feeding areas.</a:t>
            </a:r>
          </a:p>
          <a:p>
            <a:r>
              <a:rPr lang="en-US" sz="1200"/>
              <a:t>• Explanation 2.</a:t>
            </a:r>
          </a:p>
          <a:p>
            <a:r>
              <a:rPr lang="en-US" sz="1200"/>
              <a:t>– The behavioral experiment records learning rather than a documented journey to a feeding area</a:t>
            </a:r>
          </a:p>
          <a:p>
            <a:r>
              <a:rPr lang="en-US" sz="1200"/>
              <a:t>– The natural return itself was never observed in these tests. Several learned fields could coexist within one animal's behavioral repertoire, and each new pairing followed the earlier training period.</a:t>
            </a:r>
          </a:p>
          <a:p>
            <a:r>
              <a:rPr lang="en-US" sz="1200"/>
              <a:t>• Explanation 3.</a:t>
            </a:r>
          </a:p>
          <a:p>
            <a:r>
              <a:rPr lang="en-US" sz="1200"/>
              <a:t>– Those cues are candidates that the experiment supports for natural travel</a:t>
            </a:r>
          </a:p>
          <a:p>
            <a:r>
              <a:rPr lang="en-US" sz="1200"/>
              <a:t>– Acquisition and natural return are separate questions in this assay. The learned association was measured, while natural travel was outside the test. The stored signatures are tied to the trained fields.</a:t>
            </a:r>
          </a:p>
          <a:p>
            <a:r>
              <a:rPr lang="en-US" sz="1200"/>
              <a:t>• Source.</a:t>
            </a:r>
          </a:p>
          <a:p>
            <a:r>
              <a:rPr lang="en-US" sz="1200"/>
              <a:t>– The figure and the measurements come from Goforth et al. (2025).</a:t>
            </a:r>
          </a:p>
          <a:p>
            <a:r>
              <a:rPr lang="en-US" sz="1200"/>
              <a:t>– Its recordings and observations support each statement above.</a:t>
            </a:r>
          </a:p>
          <a:p>
            <a:r>
              <a:rPr lang="en-US" sz="1200"/>
              <a:t/>
            </a:r>
          </a:p>
          <a:p>
            <a:r>
              <a:rPr lang="en-US" sz="1200"/>
              <a:t>References:</a:t>
            </a:r>
          </a:p>
          <a:p>
            <a:r>
              <a:rPr lang="en-US" sz="1200"/>
              <a:t>Goforth KM, Lohmann CMF, Gavin A, Henning R, Harvey A, Hinton TL, Lim DS, Lohmann KJ (2025). Learned magnetic map cues and two mechanisms of magnetoreception in turtles. Nature 638(8052):1015-1022. https://doi.org/10.1038/s41586-024-08554-y</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map gives position, a compass gives heading.</a:t>
            </a:r>
          </a:p>
          <a:p>
            <a:r>
              <a:rPr lang="en-US" sz="1200"/>
              <a:t>• Explanation 1.</a:t>
            </a:r>
          </a:p>
          <a:p>
            <a:r>
              <a:rPr lang="en-US" sz="1200"/>
              <a:t>– A map sense determines information about position, whereas a compass sets a heading</a:t>
            </a:r>
          </a:p>
          <a:p>
            <a:r>
              <a:rPr lang="en-US" sz="1200"/>
              <a:t>– The regional-field assay requires a location-dependent change in compass direction, a demand that differs from holding one bearing. A compass measures direction, while a map supplies the location-based correction.</a:t>
            </a:r>
          </a:p>
          <a:p>
            <a:r>
              <a:rPr lang="en-US" sz="1200"/>
              <a:t>• Explanation 2.</a:t>
            </a:r>
          </a:p>
          <a:p>
            <a:r>
              <a:rPr lang="en-US" sz="1200"/>
              <a:t>– The assay leaves open how the brain represents the field and how it chooses the resulting action</a:t>
            </a:r>
          </a:p>
          <a:p>
            <a:r>
              <a:rPr lang="en-US" sz="1200"/>
              <a:t>– The heading record links a field to a direction without describing the circuit between them. Neural recordings from that circuit would be needed to resolve the representation.</a:t>
            </a:r>
          </a:p>
          <a:p>
            <a:r>
              <a:rPr lang="en-US" sz="1200"/>
              <a:t>• Explanation 3.</a:t>
            </a:r>
          </a:p>
          <a:p>
            <a:r>
              <a:rPr lang="en-US" sz="1200"/>
              <a:t>– A map can select the appropriate course while a compass maintains it</a:t>
            </a:r>
          </a:p>
          <a:p>
            <a:r>
              <a:rPr lang="en-US" sz="1200"/>
              <a:t>– Other senses can influence both decisions, so the two functions can be separate without each sense operating alone. Sensory input from other systems can enter either decision.</a:t>
            </a:r>
          </a:p>
          <a:p>
            <a:r>
              <a:rPr lang="en-US" sz="1200"/>
              <a:t>• Source.</a:t>
            </a:r>
          </a:p>
          <a:p>
            <a:r>
              <a:rPr lang="en-US" sz="1200"/>
              <a:t>– The figure and the measurements come from Lohmann et al. (2001).</a:t>
            </a:r>
          </a:p>
          <a:p>
            <a:r>
              <a:rPr lang="en-US" sz="1200"/>
              <a:t>– Its recordings and observations support each statement above.</a:t>
            </a:r>
          </a:p>
          <a:p>
            <a:r>
              <a:rPr lang="en-US" sz="1200"/>
              <a:t/>
            </a:r>
          </a:p>
          <a:p>
            <a:r>
              <a:rPr lang="en-US" sz="1200"/>
              <a:t>References:</a:t>
            </a:r>
          </a:p>
          <a:p>
            <a:r>
              <a:rPr lang="en-US" sz="1200"/>
              <a:t>Lohmann KJ, Cain SD, Dodge SA, Lohmann CMF (2001). Regional Magnetic Fields as Navigational Markers for Sea Turtles. Science 294(5541):364-366. https://doi.org/10.1126/science.1064557</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Dark recording follows a short adjustment.</a:t>
            </a:r>
          </a:p>
          <a:p>
            <a:r>
              <a:rPr lang="en-US" sz="1200"/>
              <a:t>• Explanation 1.</a:t>
            </a:r>
          </a:p>
          <a:p>
            <a:r>
              <a:rPr lang="en-US" sz="1200"/>
              <a:t>– After the eastern light was extinguished, investigators changed the inclination and allowed 3 min for adjustment</a:t>
            </a:r>
          </a:p>
          <a:p>
            <a:r>
              <a:rPr lang="en-US" sz="1200"/>
              <a:t>– Swimming was then recorded for 5 min in darkness, so each heading reflects the field rather than visible cues. The same sequence was used for every inclination tested.</a:t>
            </a:r>
          </a:p>
          <a:p>
            <a:r>
              <a:rPr lang="en-US" sz="1200"/>
              <a:t>• Explanation 2.</a:t>
            </a:r>
          </a:p>
          <a:p>
            <a:r>
              <a:rPr lang="en-US" sz="1200"/>
              <a:t>– A detectable field can fail to trigger a shared heading, especially when it lacks the ecological meaning of a field encountered near a route boundary</a:t>
            </a:r>
          </a:p>
          <a:p>
            <a:r>
              <a:rPr lang="en-US" sz="1200"/>
              <a:t>– The absence of a shared heading at 75°, 45° and 15° leaves open whether those fields are detected.</a:t>
            </a:r>
          </a:p>
          <a:p>
            <a:r>
              <a:rPr lang="en-US" sz="1200"/>
              <a:t>• Explanation 3.</a:t>
            </a:r>
          </a:p>
          <a:p>
            <a:r>
              <a:rPr lang="en-US" sz="1200"/>
              <a:t>– Headings can differ across angles without each angle being tied to a geographical coordinate</a:t>
            </a:r>
          </a:p>
          <a:p>
            <a:r>
              <a:rPr lang="en-US" sz="1200"/>
              <a:t>– Discrimination between nearby inclinations is the measured result, while a geographical reading is an interpretation added afterward. That interpretation needs a separate test of position.</a:t>
            </a:r>
          </a:p>
          <a:p>
            <a:r>
              <a:rPr lang="en-US" sz="1200"/>
              <a:t>• Source.</a:t>
            </a:r>
          </a:p>
          <a:p>
            <a:r>
              <a:rPr lang="en-US" sz="1200"/>
              <a:t>– The figure and the measurements come from Lohmann &amp; Lohmann (1994).</a:t>
            </a:r>
          </a:p>
          <a:p>
            <a:r>
              <a:rPr lang="en-US" sz="1200"/>
              <a:t>– Its recordings and observations support each statement above.</a:t>
            </a:r>
          </a:p>
          <a:p>
            <a:r>
              <a:rPr lang="en-US" sz="1200"/>
              <a:t/>
            </a:r>
          </a:p>
          <a:p>
            <a:r>
              <a:rPr lang="en-US" sz="1200"/>
              <a:t>References:</a:t>
            </a:r>
          </a:p>
          <a:p>
            <a:r>
              <a:rPr lang="en-US" sz="1200"/>
              <a:t>Lohmann KJ, Lohmann CMF (1994). Detection of Magnetic Inclination Angle by Sea Turtles: A Possible Mechanism for Determining Latitude. Journal of Experimental Biology 194(1):23-32. https://doi.org/10.1242/jeb.194.1.23</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Arena dimensions fix the magnetic setting.</a:t>
            </a:r>
          </a:p>
          <a:p>
            <a:r>
              <a:rPr lang="en-US" sz="1200"/>
              <a:t>• Explanation 1.</a:t>
            </a:r>
          </a:p>
          <a:p>
            <a:r>
              <a:rPr lang="en-US" sz="1200"/>
              <a:t>– Lohmann's orientation arena was a 1.02-m-diameter inverted satellite dish, surrounded by a 130-cm magnetic coil</a:t>
            </a:r>
          </a:p>
          <a:p>
            <a:r>
              <a:rPr lang="en-US" sz="1200"/>
              <a:t>– The coil set the field around the turtle throughout each trial, while the animal stayed inside the water-filled preparation. Changing the coil output changed the field without moving the animal from the arena.</a:t>
            </a:r>
          </a:p>
          <a:p>
            <a:r>
              <a:rPr lang="en-US" sz="1200"/>
              <a:t>• Explanation 2.</a:t>
            </a:r>
          </a:p>
          <a:p>
            <a:r>
              <a:rPr lang="en-US" sz="1200"/>
              <a:t>– The harness and tracking system give a behavioral readout</a:t>
            </a:r>
          </a:p>
          <a:p>
            <a:r>
              <a:rPr lang="en-US" sz="1200"/>
              <a:t>– That record shows which direction the turtle chose, but it reveals neither receptor activity nor the tissue that supplies the magnetic information. The eyes, the head or another tissue could each supply that information, and the record leaves those sources undetermined.</a:t>
            </a:r>
          </a:p>
          <a:p>
            <a:r>
              <a:rPr lang="en-US" sz="1200"/>
              <a:t>• Explanation 3.</a:t>
            </a:r>
          </a:p>
          <a:p>
            <a:r>
              <a:rPr lang="en-US" sz="1200"/>
              <a:t>– Direction selection in this arena supports magnetic influence within the arena</a:t>
            </a:r>
          </a:p>
          <a:p>
            <a:r>
              <a:rPr lang="en-US" sz="1200"/>
              <a:t>– Free-ranging turtles combine several cues that the arena removes. Direction selection in an arena leaves open how multiple cues guide free-ranging turtles at sea.</a:t>
            </a:r>
          </a:p>
          <a:p>
            <a:r>
              <a:rPr lang="en-US" sz="1200"/>
              <a:t>• Source.</a:t>
            </a:r>
          </a:p>
          <a:p>
            <a:r>
              <a:rPr lang="en-US" sz="1200"/>
              <a:t>– The figure and the measurements come from Lohmann (1991).</a:t>
            </a:r>
          </a:p>
          <a:p>
            <a:r>
              <a:rPr lang="en-US" sz="1200"/>
              <a:t>– Its recordings and observations support each statement above.</a:t>
            </a:r>
          </a:p>
          <a:p>
            <a:r>
              <a:rPr lang="en-US" sz="1200"/>
              <a:t/>
            </a:r>
          </a:p>
          <a:p>
            <a:r>
              <a:rPr lang="en-US" sz="1200"/>
              <a:t>References:</a:t>
            </a:r>
          </a:p>
          <a:p>
            <a:r>
              <a:rPr lang="en-US" sz="1200"/>
              <a:t>Lohmann KJ (1991). Magnetic Orientation By Hatchling Loggerhead Sea Turtles (Caretta Caretta). Journal of Experimental Biology 155(1):37-49. https://doi.org/10.1242/jeb.155.1.37</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7.png"/><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3.pn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9.png"/><Relationship Id="rId4"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1.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1.png"/><Relationship Id="rId4" Type="http://schemas.openxmlformats.org/officeDocument/2006/relationships/image" Target="../media/image2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4.png"/><Relationship Id="rId4" Type="http://schemas.openxmlformats.org/officeDocument/2006/relationships/image" Target="../media/image3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9.png"/><Relationship Id="rId4" Type="http://schemas.openxmlformats.org/officeDocument/2006/relationships/image" Target="../media/image3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5.png"/><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0.png"/><Relationship Id="rId4"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7.png"/><Relationship Id="rId4" Type="http://schemas.openxmlformats.org/officeDocument/2006/relationships/image" Target="../media/image4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2.pn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5.png"/><Relationship Id="rId4" Type="http://schemas.openxmlformats.org/officeDocument/2006/relationships/image" Target="../media/image4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8.png"/><Relationship Id="rId4" Type="http://schemas.openxmlformats.org/officeDocument/2006/relationships/image" Target="../media/image4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40.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40.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38.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6.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2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F1ECE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200"/>
              <a:buFont typeface="Arial"/>
              <a:buNone/>
            </a:pPr>
            <a:r>
              <a:rPr b="0" i="0" lang="en-US" sz="1200">
                <a:solidFill>
                  <a:srgbClr val="8A3B32"/>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436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800"/>
              <a:buFont typeface="Arial"/>
              <a:buNone/>
            </a:pPr>
            <a:r>
              <a:rPr b="0" i="0" lang="en-US" sz="1500">
                <a:solidFill>
                  <a:srgbClr val="8A3B32"/>
                </a:solidFill>
                <a:latin typeface="Arial"/>
                <a:ea typeface="Arial"/>
                <a:cs typeface="Arial"/>
                <a:sym typeface="Arial"/>
              </a:rPr>
              <a:t>Lecture 23</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B2B2E"/>
              </a:buClr>
              <a:buSzPts val="2400"/>
              <a:buFont typeface="Arial"/>
              <a:buNone/>
            </a:pPr>
            <a:r>
              <a:rPr b="1" i="0" lang="en-US" sz="1500">
                <a:solidFill>
                  <a:schemeClr val="dk1"/>
                </a:solidFill>
                <a:latin typeface="Arial"/>
                <a:ea typeface="Arial"/>
                <a:cs typeface="Arial"/>
                <a:sym typeface="Arial"/>
              </a:rPr>
              <a:t>Magnetoreception: sea turtle and migratory bird magnetic compasses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8A3B32"/>
              </a:buClr>
              <a:buSzPts val="1600"/>
              <a:buFont typeface="Arial"/>
              <a:buNone/>
            </a:pPr>
            <a:r>
              <a:rPr b="0" i="0" lang="en-US" sz="1500">
                <a:solidFill>
                  <a:srgbClr val="8A3B32"/>
                </a:solidFill>
                <a:latin typeface="Arial"/>
                <a:ea typeface="Arial"/>
                <a:cs typeface="Arial"/>
                <a:sym typeface="Arial"/>
              </a:rPr>
              <a:t>Monday, October 19, 2026</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8A3B32"/>
              </a:buClr>
              <a:buSzPts val="1200"/>
              <a:buFont typeface="Arial"/>
              <a:buNone/>
            </a:pPr>
            <a:r>
              <a:rPr b="0" i="0" lang="en-US" sz="1500">
                <a:solidFill>
                  <a:srgbClr val="8A3B32"/>
                </a:solidFill>
                <a:latin typeface="Arial"/>
                <a:ea typeface="Arial"/>
                <a:cs typeface="Arial"/>
                <a:sym typeface="Arial"/>
              </a:rPr>
              <a:t>Jordan Lopez, Ph.D.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8A3B32"/>
              </a:buClr>
              <a:buSzPts val="1200"/>
              <a:buFont typeface="Arial"/>
              <a:buNone/>
            </a:pPr>
            <a:r>
              <a:rPr b="0" i="0" lang="en-US" sz="1500">
                <a:solidFill>
                  <a:srgbClr val="8A3B32"/>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723530" y="822871"/>
            <a:ext cx="4840642" cy="4937671"/>
          </a:xfrm>
          <a:prstGeom prst="rect">
            <a:avLst/>
          </a:prstGeom>
          <a:noFill/>
          <a:ln>
            <a:noFill/>
          </a:ln>
        </p:spPr>
      </p:pic>
      <p:sp>
        <p:nvSpPr>
          <p:cNvPr id="27" name="Google Shape;27;p1"/>
          <p:cNvSpPr/>
          <p:nvPr/>
        </p:nvSpPr>
        <p:spPr>
          <a:xfrm>
            <a:off x="6553200" y="5943600"/>
            <a:ext cx="52006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(1991), Fig. 1. Published drawing of the loggerhead hatchling and swimming preparation.</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Hatchling turtles orient to the magnetic field</a:t>
            </a:r>
            <a:endParaRPr sz="1800">
              <a:solidFill>
                <a:schemeClr val="dk1"/>
              </a:solidFill>
              <a:latin typeface="Calibri"/>
              <a:ea typeface="Calibri"/>
              <a:cs typeface="Calibri"/>
              <a:sym typeface="Calibri"/>
            </a:endParaRPr>
          </a:p>
        </p:txBody>
      </p:sp>
      <p:sp>
        <p:nvSpPr>
          <p:cNvPr id="33" name="Google Shape;33;p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8A3B32"/>
              </a:buClr>
              <a:buSzPts val="1600"/>
              <a:buFont typeface="Arial"/>
              <a:buNone/>
            </a:pPr>
            <a:r>
              <a:rPr b="1" i="0" lang="en-US" sz="1400">
                <a:solidFill>
                  <a:srgbClr val="8A3B32"/>
                </a:solidFill>
                <a:latin typeface="Arial"/>
                <a:ea typeface="Arial"/>
                <a:cs typeface="Arial"/>
                <a:sym typeface="Arial"/>
              </a:rPr>
              <a:t>Magnetoreception</a:t>
            </a:r>
            <a:r>
              <a:rPr b="0" i="0" lang="en-US" sz="1400">
                <a:solidFill>
                  <a:srgbClr val="26252A"/>
                </a:solidFill>
                <a:latin typeface="Arial"/>
                <a:ea typeface="Arial"/>
                <a:cs typeface="Arial"/>
                <a:sym typeface="Arial"/>
              </a:rPr>
              <a:t> is the detection of magnetic fields. Loggerhead sea turtles leave their nesting beach and then swim offshore, so newly emerged hatchlings must find a direction without visible landmarks. Lohmann tested whether Earth-strength magnetic fields alone could give hatchlings a swimming direction. A compass supplies direction without supplying location, which is the information a hatchling needs at sea.</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600"/>
              <a:buFont typeface="Arial"/>
              <a:buNone/>
            </a:pPr>
            <a:r>
              <a:rPr b="0" i="0" lang="en-US" sz="1400">
                <a:solidFill>
                  <a:srgbClr val="26252A"/>
                </a:solidFill>
                <a:latin typeface="Arial"/>
                <a:ea typeface="Arial"/>
                <a:cs typeface="Arial"/>
                <a:sym typeface="Arial"/>
              </a:rPr>
              <a:t>Hatchlings swam in a harness attached to a freely rotating lever, and a rheostat converted lever position into an electrical record of heading. After exposure to a dim eastern light, turtles swam for 90 to 180 min in complete darkness. The test compared two groups, one tested under the natural field and one under a horizontally reversed field.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600"/>
              <a:buFont typeface="Arial"/>
              <a:buNone/>
            </a:pPr>
            <a:r>
              <a:rPr b="0" i="0" lang="en-US" sz="1400">
                <a:solidFill>
                  <a:srgbClr val="26252A"/>
                </a:solidFill>
                <a:latin typeface="Arial"/>
                <a:ea typeface="Arial"/>
                <a:cs typeface="Arial"/>
                <a:sym typeface="Arial"/>
              </a:rPr>
              <a:t>The natural field produced a preferred heading of 42°, whereas the reversed field moved it to 196°. Changing one magnetic component changed the direction the animals chose, which establishes magnetic influence on orientation in this preparation. Both groups had received the same initial light exposure, so the field is the variable that differed.</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870128" y="1280071"/>
            <a:ext cx="4754763" cy="2234059"/>
          </a:xfrm>
          <a:prstGeom prst="rect">
            <a:avLst/>
          </a:prstGeom>
          <a:noFill/>
          <a:ln>
            <a:noFill/>
          </a:ln>
        </p:spPr>
      </p:pic>
      <p:sp>
        <p:nvSpPr>
          <p:cNvPr id="37" name="Google Shape;37;p2"/>
          <p:cNvSpPr/>
          <p:nvPr/>
        </p:nvSpPr>
        <p:spPr>
          <a:xfrm>
            <a:off x="6870055" y="3605659"/>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(1991), Fig. 2(A–B). Magnetic reversal shifts the preferred swimming direction.</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(1991)</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tether separates heading from ocean transport</a:t>
            </a:r>
            <a:endParaRPr sz="1800">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A harness encircled the </a:t>
            </a:r>
            <a:r>
              <a:rPr b="1" i="0" lang="en-US" sz="1400">
                <a:solidFill>
                  <a:srgbClr val="8A3B32"/>
                </a:solidFill>
                <a:latin typeface="Arial"/>
                <a:ea typeface="Arial"/>
                <a:cs typeface="Arial"/>
                <a:sym typeface="Arial"/>
              </a:rPr>
              <a:t>carapace</a:t>
            </a:r>
            <a:r>
              <a:rPr b="0" i="0" lang="en-US" sz="1400">
                <a:solidFill>
                  <a:srgbClr val="26252A"/>
                </a:solidFill>
                <a:latin typeface="Arial"/>
                <a:ea typeface="Arial"/>
                <a:cs typeface="Arial"/>
                <a:sym typeface="Arial"/>
              </a:rPr>
              <a:t> without preventing swimming, so the turtle could pull the lever through a full circle. The recording system was calibrated against known directions and resolved heading within 15°. The turtle could choose any heading inside the controlled preparation, and each change in direction appeared clearly in the record.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Investigators distinguished circling from oriented swimming. Oriented swimming meant remaining within a 90° sector for at least 3 min, which selected periods in which the animal held a course. Brief fluctuations in heading were therefore kept out of the classification. Repeated passes through every direction were scored separately. Each scored course was therefore sustained.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The measurement captures attempted swimming direction, not displacement or migratory speed. Waves, currents and distant landmarks were absent, so each heading reflects the controlled magnetic setting. Its strength is control over one sensory variable, so changes in heading can be attributed to the magnetic field. The arena held the turtle in one place throughout.</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7140806" y="1280071"/>
            <a:ext cx="4213111" cy="4297561"/>
          </a:xfrm>
          <a:prstGeom prst="rect">
            <a:avLst/>
          </a:prstGeom>
          <a:noFill/>
          <a:ln>
            <a:noFill/>
          </a:ln>
        </p:spPr>
      </p:pic>
      <p:sp>
        <p:nvSpPr>
          <p:cNvPr id="50" name="Google Shape;50;p3"/>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(1991), Fig. 1. Original turtle harness, orientation arena and magnetic coil.</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(1991)</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Field reversal changes the preferred swimming course</a:t>
            </a:r>
            <a:endParaRPr sz="1800">
              <a:solidFill>
                <a:schemeClr val="dk1"/>
              </a:solidFill>
              <a:latin typeface="Calibri"/>
              <a:ea typeface="Calibri"/>
              <a:cs typeface="Calibri"/>
              <a:sym typeface="Calibri"/>
            </a:endParaRPr>
          </a:p>
        </p:txBody>
      </p:sp>
      <p:sp>
        <p:nvSpPr>
          <p:cNvPr id="59" name="Google Shape;59;p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The coil reversed the horizontal magnetic component while leaving the vertical component unchanged. Because the imposed field opposed the natural horizontal field, magnetic north shifted by 180°. Within the swimming zone, the reversed horizontal field measured 0.23 to 0.26 Oe, close to the natural value of 0.26 Oe. The reversal changed only that component.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Preferred headings moved from 42° in the natural field to 196° after reversal, a shift of 154°. Orientation under reversal was more dispersed, so the response matched the imposed rotation loosely rather than as a rigid copy. That 154° difference is the measured effect of reversal on the group's course, not a fixed room direction.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Changing the horizontal component alone leaves open whether the compass reads </a:t>
            </a:r>
            <a:r>
              <a:rPr b="1" i="0" lang="en-US" sz="1400">
                <a:solidFill>
                  <a:srgbClr val="8A3B32"/>
                </a:solidFill>
                <a:latin typeface="Arial"/>
                <a:ea typeface="Arial"/>
                <a:cs typeface="Arial"/>
                <a:sym typeface="Arial"/>
              </a:rPr>
              <a:t>field polarity</a:t>
            </a:r>
            <a:r>
              <a:rPr b="0" i="0" lang="en-US" sz="1400">
                <a:solidFill>
                  <a:srgbClr val="26252A"/>
                </a:solidFill>
                <a:latin typeface="Arial"/>
                <a:ea typeface="Arial"/>
                <a:cs typeface="Arial"/>
                <a:sym typeface="Arial"/>
              </a:rPr>
              <a:t> or the </a:t>
            </a:r>
            <a:r>
              <a:rPr b="1" i="0" lang="en-US" sz="1400">
                <a:solidFill>
                  <a:srgbClr val="8A3B32"/>
                </a:solidFill>
                <a:latin typeface="Arial"/>
                <a:ea typeface="Arial"/>
                <a:cs typeface="Arial"/>
                <a:sym typeface="Arial"/>
              </a:rPr>
              <a:t>slope of the field lines</a:t>
            </a:r>
            <a:r>
              <a:rPr b="0" i="0" lang="en-US" sz="1400">
                <a:solidFill>
                  <a:srgbClr val="26252A"/>
                </a:solidFill>
                <a:latin typeface="Arial"/>
                <a:ea typeface="Arial"/>
                <a:cs typeface="Arial"/>
                <a:sym typeface="Arial"/>
              </a:rPr>
              <a:t>. Sensitivity to the manipulated geometry argues against a fixed direction in the room as the cue. Keeping the vertical component fixed isolates one geometric change at a time in this swimming preparation.</a:t>
            </a:r>
            <a:endParaRPr sz="18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6999175" y="1280071"/>
            <a:ext cx="4496522" cy="4297561"/>
          </a:xfrm>
          <a:prstGeom prst="rect">
            <a:avLst/>
          </a:prstGeom>
          <a:noFill/>
          <a:ln>
            <a:noFill/>
          </a:ln>
        </p:spPr>
      </p:pic>
      <p:sp>
        <p:nvSpPr>
          <p:cNvPr id="63" name="Google Shape;63;p4"/>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(1991), Fig. 2(B). Orientation under reversal of the horizontal field component.</a:t>
            </a:r>
            <a:endParaRPr sz="1800">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(1991)</a:t>
            </a:r>
            <a:endParaRPr sz="1800">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Independent field components isolate inclination</a:t>
            </a:r>
            <a:endParaRPr sz="1800">
              <a:solidFill>
                <a:schemeClr val="dk1"/>
              </a:solidFill>
              <a:latin typeface="Calibri"/>
              <a:ea typeface="Calibri"/>
              <a:cs typeface="Calibri"/>
              <a:sym typeface="Calibri"/>
            </a:endParaRPr>
          </a:p>
        </p:txBody>
      </p:sp>
      <p:sp>
        <p:nvSpPr>
          <p:cNvPr id="72" name="Google Shape;72;p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8A3B32"/>
              </a:buClr>
              <a:buSzPts val="1600"/>
              <a:buFont typeface="Arial"/>
              <a:buNone/>
            </a:pPr>
            <a:r>
              <a:rPr b="1" i="0" lang="en-US" sz="1400">
                <a:solidFill>
                  <a:srgbClr val="8A3B32"/>
                </a:solidFill>
                <a:latin typeface="Arial"/>
                <a:ea typeface="Arial"/>
                <a:cs typeface="Arial"/>
                <a:sym typeface="Arial"/>
              </a:rPr>
              <a:t>Magnetic inclination</a:t>
            </a:r>
            <a:r>
              <a:rPr b="0" i="0" lang="en-US" sz="1400">
                <a:solidFill>
                  <a:srgbClr val="26252A"/>
                </a:solidFill>
                <a:latin typeface="Arial"/>
                <a:ea typeface="Arial"/>
                <a:cs typeface="Arial"/>
                <a:sym typeface="Arial"/>
              </a:rPr>
              <a:t> is the angle at which field lines intersect the horizontal surface. Lohmann and Lohmann varied inclination while keeping total field strength nearly constant. The directional slope of the field was therefore separated from its intensity, the magnitude of the magnetic field. Each inclination in the test is a distinct geometry of the same total field.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600"/>
              <a:buFont typeface="Arial"/>
              <a:buNone/>
            </a:pPr>
            <a:r>
              <a:rPr b="0" i="0" lang="en-US" sz="1400">
                <a:solidFill>
                  <a:srgbClr val="26252A"/>
                </a:solidFill>
                <a:latin typeface="Arial"/>
                <a:ea typeface="Arial"/>
                <a:cs typeface="Arial"/>
                <a:sym typeface="Arial"/>
              </a:rPr>
              <a:t>Two orthogonal coil systems controlled the horizontal and vertical components independently. Hatchlings swam in a 1.22-m arena, and a digital encoder recorded heading to the nearest 1.4° every 10 s. Total field strength stayed between 0.044 and 0.045 mT across conditions, so small changes in swimming direction were captured. The encoder thus logged small angular changes.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600"/>
              <a:buFont typeface="Arial"/>
              <a:buNone/>
            </a:pPr>
            <a:r>
              <a:rPr b="0" i="0" lang="en-US" sz="1400">
                <a:solidFill>
                  <a:srgbClr val="26252A"/>
                </a:solidFill>
                <a:latin typeface="Arial"/>
                <a:ea typeface="Arial"/>
                <a:cs typeface="Arial"/>
                <a:sym typeface="Arial"/>
              </a:rPr>
              <a:t>Computers and power supplies ran during every treatment from an adjacent room, so sounds and vibrations stayed the same across treatments. Changes in swimming can be traced to field geometry rather than to equipment switching or a shift in magnitude. The arena itself was the same across treatments, so the field configuration was the varying factor.</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6870158" y="1280071"/>
            <a:ext cx="4754703" cy="2473226"/>
          </a:xfrm>
          <a:prstGeom prst="rect">
            <a:avLst/>
          </a:prstGeom>
          <a:noFill/>
          <a:ln>
            <a:noFill/>
          </a:ln>
        </p:spPr>
      </p:pic>
      <p:sp>
        <p:nvSpPr>
          <p:cNvPr id="76" name="Google Shape;76;p5"/>
          <p:cNvSpPr/>
          <p:nvPr/>
        </p:nvSpPr>
        <p:spPr>
          <a:xfrm>
            <a:off x="6870055" y="3844826"/>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&amp; Lohmann (1994), Fig. 1. Independent horizontal and vertical coils control inclination.</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&amp; Lohmann (1994)</a:t>
            </a:r>
            <a:endParaRPr sz="1800">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Inclination changes evoke different turtle headings</a:t>
            </a:r>
            <a:endParaRPr sz="1800">
              <a:solidFill>
                <a:schemeClr val="dk1"/>
              </a:solidFill>
              <a:latin typeface="Calibri"/>
              <a:ea typeface="Calibri"/>
              <a:cs typeface="Calibri"/>
              <a:sym typeface="Calibri"/>
            </a:endParaRPr>
          </a:p>
        </p:txBody>
      </p:sp>
      <p:sp>
        <p:nvSpPr>
          <p:cNvPr id="85" name="Google Shape;85;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Hatchlings first swam for 10 min toward an eastern light, which gave every animal the same starting cue. Each animal then received a single inclination treatment, so no turtle met a sequence of unfamiliar fields before its test. The light was switched off before the field changed. The field inclination was then set for the test.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At the local inclination of 57°, turtles preferred about 90°, roughly east. At 60°, they preferred 200°, south-southwest, and at 30° the preferred heading was 57°, northeast. Fields at 75°, 45° and 15° produced no consistent group direction, and each heading was recorded in darkness. Each treatment group contained a separate set of animals.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A 3° change in inclination moved the preferred heading from about 90° to about 200° while field strength stayed constant. Angle alone was enough to change the group heading, which shows discrimination between nearby inclination conditions. Field magnitude was matched in both treatments, so intensity was identical in the two groups. Each inclination produced its own group heading.</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7106430" y="1280071"/>
            <a:ext cx="4281862" cy="4297561"/>
          </a:xfrm>
          <a:prstGeom prst="rect">
            <a:avLst/>
          </a:prstGeom>
          <a:noFill/>
          <a:ln>
            <a:noFill/>
          </a:ln>
        </p:spPr>
      </p:pic>
      <p:sp>
        <p:nvSpPr>
          <p:cNvPr id="89" name="Google Shape;89;p6"/>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&amp; Lohmann (1994), Fig. 2. Swimming responses to six field inclination angles.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&amp; Lohmann (1994)</a:t>
            </a:r>
            <a:endParaRPr sz="1800">
              <a:solidFill>
                <a:schemeClr val="dk1"/>
              </a:solidFill>
              <a:latin typeface="Calibri"/>
              <a:ea typeface="Calibri"/>
              <a:cs typeface="Calibri"/>
              <a:sym typeface="Calibri"/>
            </a:endParaRPr>
          </a:p>
        </p:txBody>
      </p:sp>
      <p:sp>
        <p:nvSpPr>
          <p:cNvPr id="92" name="Google Shape;92;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Magnetic slope can mark dangerous gyre boundaries</a:t>
            </a:r>
            <a:endParaRPr sz="1800">
              <a:solidFill>
                <a:schemeClr val="dk1"/>
              </a:solidFill>
              <a:latin typeface="Calibri"/>
              <a:ea typeface="Calibri"/>
              <a:cs typeface="Calibri"/>
              <a:sym typeface="Calibri"/>
            </a:endParaRPr>
          </a:p>
        </p:txBody>
      </p:sp>
      <p:sp>
        <p:nvSpPr>
          <p:cNvPr id="98" name="Google Shape;98;p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An </a:t>
            </a:r>
            <a:r>
              <a:rPr b="1" i="0" lang="en-US" sz="1400">
                <a:solidFill>
                  <a:srgbClr val="8A3B32"/>
                </a:solidFill>
                <a:latin typeface="Arial"/>
                <a:ea typeface="Arial"/>
                <a:cs typeface="Arial"/>
                <a:sym typeface="Arial"/>
              </a:rPr>
              <a:t>isoclinic</a:t>
            </a:r>
            <a:r>
              <a:rPr b="0" i="0" lang="en-US" sz="1400">
                <a:solidFill>
                  <a:srgbClr val="26252A"/>
                </a:solidFill>
                <a:latin typeface="Arial"/>
                <a:ea typeface="Arial"/>
                <a:cs typeface="Arial"/>
                <a:sym typeface="Arial"/>
              </a:rPr>
              <a:t> is a line joining locations that share the same magnetic inclination. The published North Atlantic map placed inclination values beside the currents followed by young loggerheads. The northern gyre boundary lies near the region where the Gulf Stream divides, and colder water lies farther north. Young loggerheads follow these currents during their early oceanic life.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Turtles exposed to 60° inclination swam south-southwest, whereas turtles exposed to 30° swam northeast. These headings move hatchlings away from both the northern and southern extremes of the gyre, a plausible survival benefit. The choices match the boundaries that the currents create at each edge. The headings were recorded in the same tethered setup.</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The authors proposed that inclination could support approximate latitude detection and recognition of nesting regions. Those ideas extend beyond the tethered hatchling test, which followed no adult homing and built no two-dimensional map. A latitude signal would still need additional magnetic parameters or other senses to identify a position unambiguously. Those extensions need separate evidence.</a:t>
            </a:r>
            <a:endParaRPr sz="1800">
              <a:solidFill>
                <a:schemeClr val="dk1"/>
              </a:solidFill>
              <a:latin typeface="Calibri"/>
              <a:ea typeface="Calibri"/>
              <a:cs typeface="Calibri"/>
              <a:sym typeface="Calibri"/>
            </a:endParaRPr>
          </a:p>
        </p:txBody>
      </p:sp>
      <p:pic>
        <p:nvPicPr>
          <p:cNvPr id="101" name="Google Shape;101;p7"/>
          <p:cNvPicPr preferRelativeResize="0"/>
          <p:nvPr/>
        </p:nvPicPr>
        <p:blipFill rotWithShape="1">
          <a:blip r:embed="rId3">
            <a:alphaModFix/>
          </a:blip>
          <a:srcRect b="0" l="0" r="0" t="0"/>
          <a:stretch/>
        </p:blipFill>
        <p:spPr>
          <a:xfrm>
            <a:off x="6870102" y="1280071"/>
            <a:ext cx="4754815" cy="3930104"/>
          </a:xfrm>
          <a:prstGeom prst="rect">
            <a:avLst/>
          </a:prstGeom>
          <a:noFill/>
          <a:ln>
            <a:noFill/>
          </a:ln>
        </p:spPr>
      </p:pic>
      <p:sp>
        <p:nvSpPr>
          <p:cNvPr id="102" name="Google Shape;102;p7"/>
          <p:cNvSpPr/>
          <p:nvPr/>
        </p:nvSpPr>
        <p:spPr>
          <a:xfrm>
            <a:off x="6870055" y="530170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&amp; Lohmann (1994), Fig. 3. Published gyre currents and magnetic inclination isolines.</a:t>
            </a:r>
            <a:endParaRPr sz="1800">
              <a:solidFill>
                <a:schemeClr val="dk1"/>
              </a:solidFill>
              <a:latin typeface="Calibri"/>
              <a:ea typeface="Calibri"/>
              <a:cs typeface="Calibri"/>
              <a:sym typeface="Calibri"/>
            </a:endParaRPr>
          </a:p>
        </p:txBody>
      </p:sp>
      <p:sp>
        <p:nvSpPr>
          <p:cNvPr id="103" name="Google Shape;103;p7"/>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Google Shape;104;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&amp; Lohmann (1994)</a:t>
            </a:r>
            <a:endParaRPr sz="1800">
              <a:solidFill>
                <a:schemeClr val="dk1"/>
              </a:solidFill>
              <a:latin typeface="Calibri"/>
              <a:ea typeface="Calibri"/>
              <a:cs typeface="Calibri"/>
              <a:sym typeface="Calibri"/>
            </a:endParaRPr>
          </a:p>
        </p:txBody>
      </p:sp>
      <p:sp>
        <p:nvSpPr>
          <p:cNvPr id="105" name="Google Shape;105;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Regional magnetic signatures trigger route changes</a:t>
            </a:r>
            <a:endParaRPr sz="1800">
              <a:solidFill>
                <a:schemeClr val="dk1"/>
              </a:solidFill>
              <a:latin typeface="Calibri"/>
              <a:ea typeface="Calibri"/>
              <a:cs typeface="Calibri"/>
              <a:sym typeface="Calibri"/>
            </a:endParaRPr>
          </a:p>
        </p:txBody>
      </p:sp>
      <p:sp>
        <p:nvSpPr>
          <p:cNvPr id="111" name="Google Shape;111;p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A </a:t>
            </a:r>
            <a:r>
              <a:rPr b="1" i="0" lang="en-US" sz="1400">
                <a:solidFill>
                  <a:srgbClr val="8A3B32"/>
                </a:solidFill>
                <a:latin typeface="Arial"/>
                <a:ea typeface="Arial"/>
                <a:cs typeface="Arial"/>
                <a:sym typeface="Arial"/>
              </a:rPr>
              <a:t>magnetic signature</a:t>
            </a:r>
            <a:r>
              <a:rPr b="0" i="0" lang="en-US" sz="1400">
                <a:solidFill>
                  <a:srgbClr val="26252A"/>
                </a:solidFill>
                <a:latin typeface="Arial"/>
                <a:ea typeface="Arial"/>
                <a:cs typeface="Arial"/>
                <a:sym typeface="Arial"/>
              </a:rPr>
              <a:t> is the combination of magnetic parameters characteristic of a location. Lohmann and colleagues reproduced three fields from the North Atlantic route, each built from inclination and intensity values that occur together in widely separated oceanic regions. The three fields differed in how inclination and intensity combined. Each signature is a regional magnetic fingerprint of one place.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In the northern Florida field, tethered hatchlings oriented east-southeast. In the northeastern gyre field they swam roughly south, and in the southern gyre field they swam west-northwest. The apparatus recorded heading while the animals stayed in one laboratory arena, so each heading was measured in the same setting. Heading was recorded continuously in each field.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The headings changed with the regional field alone, since the hatchlings never moved and met no different water masses, coastlines or currents. The response is driven by the magnetic signature itself, not by physical travel. Recognition here concerns regional conditions rather than destinations. Heading responses follow the field itself rather than travel experience.</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6870145" y="1280071"/>
            <a:ext cx="4754730" cy="3861792"/>
          </a:xfrm>
          <a:prstGeom prst="rect">
            <a:avLst/>
          </a:prstGeom>
          <a:noFill/>
          <a:ln>
            <a:noFill/>
          </a:ln>
        </p:spPr>
      </p:pic>
      <p:sp>
        <p:nvSpPr>
          <p:cNvPr id="115" name="Google Shape;115;p8"/>
          <p:cNvSpPr/>
          <p:nvPr/>
        </p:nvSpPr>
        <p:spPr>
          <a:xfrm>
            <a:off x="6870055" y="523339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et al. (2001), Fig. 1. Three regional fields evoke different hatchling headings.</a:t>
            </a:r>
            <a:endParaRPr sz="1800">
              <a:solidFill>
                <a:schemeClr val="dk1"/>
              </a:solidFill>
              <a:latin typeface="Calibri"/>
              <a:ea typeface="Calibri"/>
              <a:cs typeface="Calibri"/>
              <a:sym typeface="Calibri"/>
            </a:endParaRPr>
          </a:p>
        </p:txBody>
      </p:sp>
      <p:sp>
        <p:nvSpPr>
          <p:cNvPr id="116" name="Google Shape;116;p8"/>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et al. (2001)</a:t>
            </a:r>
            <a:endParaRPr sz="1800">
              <a:solidFill>
                <a:schemeClr val="dk1"/>
              </a:solidFill>
              <a:latin typeface="Calibri"/>
              <a:ea typeface="Calibri"/>
              <a:cs typeface="Calibri"/>
              <a:sym typeface="Calibri"/>
            </a:endParaRPr>
          </a:p>
        </p:txBody>
      </p:sp>
      <p:sp>
        <p:nvSpPr>
          <p:cNvPr id="118" name="Google Shape;118;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Early route responses need not require prior travel</a:t>
            </a:r>
            <a:endParaRPr sz="1800">
              <a:solidFill>
                <a:schemeClr val="dk1"/>
              </a:solidFill>
              <a:latin typeface="Calibri"/>
              <a:ea typeface="Calibri"/>
              <a:cs typeface="Calibri"/>
              <a:sym typeface="Calibri"/>
            </a:endParaRPr>
          </a:p>
        </p:txBody>
      </p:sp>
      <p:sp>
        <p:nvSpPr>
          <p:cNvPr id="124" name="Google Shape;124;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The hatchlings in the regional-field experiment had never entered the ocean. Even so, they expressed a directional response on first exposure to a signature encountered near a critical route boundary. The fields alone, with no travel or landmarks, produced those headings. Their responses required no prior experience of the tested oceanic regions.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One interpretation is an inherited large-scale map. A simpler alternative is a set of field-triggered instructions, such as swim south under one signature and west-northwest under another. Both accounts predict the local heading changes, but the map account is the one that requires a general representation of geographical position. The distinction matters for how navigation is organized.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The authors also emphasized that navigation could become more sophisticated as turtles mature. Experience-dependent magnetic learning and early boundary responses can coexist, so later decisions may be shaped by learning as well as by early responses. The laboratory responses distinguish regional fields without deciding between these alternatives. Such growth would build on the early responses rather than replace them.</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3">
            <a:alphaModFix/>
          </a:blip>
          <a:srcRect b="0" l="0" r="0" t="0"/>
          <a:stretch/>
        </p:blipFill>
        <p:spPr>
          <a:xfrm>
            <a:off x="6870145" y="1280071"/>
            <a:ext cx="4754730" cy="3861792"/>
          </a:xfrm>
          <a:prstGeom prst="rect">
            <a:avLst/>
          </a:prstGeom>
          <a:noFill/>
          <a:ln>
            <a:noFill/>
          </a:ln>
        </p:spPr>
      </p:pic>
      <p:sp>
        <p:nvSpPr>
          <p:cNvPr id="128" name="Google Shape;128;p9"/>
          <p:cNvSpPr/>
          <p:nvPr/>
        </p:nvSpPr>
        <p:spPr>
          <a:xfrm>
            <a:off x="6870055" y="523339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et al. (2001), Fig. 1. Regional orientation responses along the North Atlantic gyre.</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et al. (2001)</a:t>
            </a:r>
            <a:endParaRPr sz="1800">
              <a:solidFill>
                <a:schemeClr val="dk1"/>
              </a:solidFill>
              <a:latin typeface="Calibri"/>
              <a:ea typeface="Calibri"/>
              <a:cs typeface="Calibri"/>
              <a:sym typeface="Calibri"/>
            </a:endParaRPr>
          </a:p>
        </p:txBody>
      </p:sp>
      <p:sp>
        <p:nvSpPr>
          <p:cNvPr id="131" name="Google Shape;131;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sp>
        <p:nvSpPr>
          <p:cNvPr id="136" name="Google Shape;136;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Juvenile turtles learn rewarded magnetic signatures</a:t>
            </a:r>
            <a:endParaRPr sz="1800">
              <a:solidFill>
                <a:schemeClr val="dk1"/>
              </a:solidFill>
              <a:latin typeface="Calibri"/>
              <a:ea typeface="Calibri"/>
              <a:cs typeface="Calibri"/>
              <a:sym typeface="Calibri"/>
            </a:endParaRPr>
          </a:p>
        </p:txBody>
      </p:sp>
      <p:sp>
        <p:nvSpPr>
          <p:cNvPr id="137" name="Google Shape;137;p1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8A3B32"/>
              </a:buClr>
              <a:buSzPts val="1600"/>
              <a:buFont typeface="Arial"/>
              <a:buNone/>
            </a:pPr>
            <a:r>
              <a:rPr b="1" i="0" lang="en-US" sz="1400">
                <a:solidFill>
                  <a:srgbClr val="8A3B32"/>
                </a:solidFill>
                <a:latin typeface="Arial"/>
                <a:ea typeface="Arial"/>
                <a:cs typeface="Arial"/>
                <a:sym typeface="Arial"/>
              </a:rPr>
              <a:t>Associative learning</a:t>
            </a:r>
            <a:r>
              <a:rPr b="0" i="0" lang="en-US" sz="1400">
                <a:solidFill>
                  <a:srgbClr val="26252A"/>
                </a:solidFill>
                <a:latin typeface="Arial"/>
                <a:ea typeface="Arial"/>
                <a:cs typeface="Arial"/>
                <a:sym typeface="Arial"/>
              </a:rPr>
              <a:t> links a sensory cue with an outcome. Goforth and colleagues conditioned captive juvenile loggerheads for 2 months using two replicated geographical fields. Both fields received equal time, but food was delivered in one assigned magnetic signature. Training kept the same pairing for the full 2-month period. Each animal received food in one field only.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600"/>
              <a:buFont typeface="Arial"/>
              <a:buNone/>
            </a:pPr>
            <a:r>
              <a:rPr b="0" i="0" lang="en-US" sz="1400">
                <a:solidFill>
                  <a:srgbClr val="26252A"/>
                </a:solidFill>
                <a:latin typeface="Arial"/>
                <a:ea typeface="Arial"/>
                <a:cs typeface="Arial"/>
                <a:sym typeface="Arial"/>
              </a:rPr>
              <a:t>Reward assignments were counterbalanced, so either field could predict food for different animals. This arrangement allows recognition of a specific signature to be distinguished from a general preference for a northern field, a southern field or a fixed coil setting. Counterbalancing kept the assignment from favoring any location in either direction. Each pairing therefore tested recognition rather than preference.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600"/>
              <a:buFont typeface="Arial"/>
              <a:buNone/>
            </a:pPr>
            <a:r>
              <a:rPr b="0" i="0" lang="en-US" sz="1400">
                <a:solidFill>
                  <a:srgbClr val="26252A"/>
                </a:solidFill>
                <a:latin typeface="Arial"/>
                <a:ea typeface="Arial"/>
                <a:cs typeface="Arial"/>
                <a:sym typeface="Arial"/>
              </a:rPr>
              <a:t>After conditioning, turtles were tested without food and danced more in the field previously paired with feeding. Magnetic information acquired learned behavioral significance, so a field could come to predict a reward. The learned preference showed up in the test without food, which reflects learned meaning rather than a feeding reward. The reward was the only difference between fields.</a:t>
            </a:r>
            <a:endParaRPr sz="1800">
              <a:solidFill>
                <a:schemeClr val="dk1"/>
              </a:solidFill>
              <a:latin typeface="Calibri"/>
              <a:ea typeface="Calibri"/>
              <a:cs typeface="Calibri"/>
              <a:sym typeface="Calibri"/>
            </a:endParaRPr>
          </a:p>
        </p:txBody>
      </p:sp>
      <p:pic>
        <p:nvPicPr>
          <p:cNvPr id="140" name="Google Shape;140;p10"/>
          <p:cNvPicPr preferRelativeResize="0"/>
          <p:nvPr/>
        </p:nvPicPr>
        <p:blipFill rotWithShape="1">
          <a:blip r:embed="rId3">
            <a:alphaModFix/>
          </a:blip>
          <a:srcRect b="0" l="0" r="0" t="0"/>
          <a:stretch/>
        </p:blipFill>
        <p:spPr>
          <a:xfrm>
            <a:off x="7147427" y="1280071"/>
            <a:ext cx="4200166" cy="4297561"/>
          </a:xfrm>
          <a:prstGeom prst="rect">
            <a:avLst/>
          </a:prstGeom>
          <a:noFill/>
          <a:ln>
            <a:noFill/>
          </a:ln>
        </p:spPr>
      </p:pic>
      <p:sp>
        <p:nvSpPr>
          <p:cNvPr id="141" name="Google Shape;141;p10"/>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1(a). Locations of the two conditioned magnetic signatures.</a:t>
            </a:r>
            <a:endParaRPr sz="1800">
              <a:solidFill>
                <a:schemeClr val="dk1"/>
              </a:solidFill>
              <a:latin typeface="Calibri"/>
              <a:ea typeface="Calibri"/>
              <a:cs typeface="Calibri"/>
              <a:sym typeface="Calibri"/>
            </a:endParaRPr>
          </a:p>
        </p:txBody>
      </p:sp>
      <p:sp>
        <p:nvSpPr>
          <p:cNvPr id="142" name="Google Shape;142;p10"/>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44" name="Google Shape;144;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Food anticipation provides a compass-free map assay</a:t>
            </a:r>
            <a:endParaRPr sz="1800">
              <a:solidFill>
                <a:schemeClr val="dk1"/>
              </a:solidFill>
              <a:latin typeface="Calibri"/>
              <a:ea typeface="Calibri"/>
              <a:cs typeface="Calibri"/>
              <a:sym typeface="Calibri"/>
            </a:endParaRPr>
          </a:p>
        </p:txBody>
      </p:sp>
      <p:sp>
        <p:nvSpPr>
          <p:cNvPr id="150" name="Google Shape;150;p1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The conditioned response was </a:t>
            </a:r>
            <a:r>
              <a:rPr b="1" i="0" lang="en-US" sz="1400">
                <a:solidFill>
                  <a:srgbClr val="8A3B32"/>
                </a:solidFill>
                <a:latin typeface="Arial"/>
                <a:ea typeface="Arial"/>
                <a:cs typeface="Arial"/>
                <a:sym typeface="Arial"/>
              </a:rPr>
              <a:t>turtle dancing</a:t>
            </a:r>
            <a:r>
              <a:rPr b="0" i="0" lang="en-US" sz="1400">
                <a:solidFill>
                  <a:srgbClr val="26252A"/>
                </a:solidFill>
                <a:latin typeface="Arial"/>
                <a:ea typeface="Arial"/>
                <a:cs typeface="Arial"/>
                <a:sym typeface="Arial"/>
              </a:rPr>
              <a:t>, a food-anticipatory pattern with vertical body tilt, the head near or above the water, mouth opening and alternating front-flipper movement. Observers scored its duration from video while turtles experienced a field without receiving food. The behavior is expressed while no food is present. The duration of dancing was the quantity compared between fields.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Observers were blind to the magnetic treatment. Turtles danced longer in the rewarded signature than in the unrewarded one, after equal exposure to both during training. The measured output was time in a defined behavioral state, not a swim toward a remembered destination. Scoring was done from recordings made during the test sessions.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Because the response requires no compass heading, it tests discrimination of location-related magnetic cues on its own. Food-anticipatory dancing is an indirect behavioral readout, so it identifies neither a receptor cell nor a magnetic signal in a particular pathway. Testing without food removes the feeding reward from the cue, so the behavior reflects the field itself.</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3">
            <a:alphaModFix/>
          </a:blip>
          <a:srcRect b="0" l="0" r="0" t="0"/>
          <a:stretch/>
        </p:blipFill>
        <p:spPr>
          <a:xfrm>
            <a:off x="7414210" y="1280071"/>
            <a:ext cx="3666451" cy="4297561"/>
          </a:xfrm>
          <a:prstGeom prst="rect">
            <a:avLst/>
          </a:prstGeom>
          <a:noFill/>
          <a:ln>
            <a:noFill/>
          </a:ln>
        </p:spPr>
      </p:pic>
      <p:sp>
        <p:nvSpPr>
          <p:cNvPr id="154" name="Google Shape;154;p11"/>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1(b). Rewarded fields elicit stronger food-anticipatory behavior.</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57" name="Google Shape;157;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 name="Shape 161"/>
        <p:cNvGrpSpPr/>
        <p:nvPr/>
      </p:nvGrpSpPr>
      <p:grpSpPr>
        <a:xfrm>
          <a:off x="0" y="0"/>
          <a:ext cx="0" cy="0"/>
          <a:chOff x="0" y="0"/>
          <a:chExt cx="0" cy="0"/>
        </a:xfrm>
      </p:grpSpPr>
      <p:sp>
        <p:nvSpPr>
          <p:cNvPr id="162" name="Google Shape;16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Magnetic learning extends beyond one pair of fields</a:t>
            </a:r>
            <a:endParaRPr sz="1800">
              <a:solidFill>
                <a:schemeClr val="dk1"/>
              </a:solidFill>
              <a:latin typeface="Calibri"/>
              <a:ea typeface="Calibri"/>
              <a:cs typeface="Calibri"/>
              <a:sym typeface="Calibri"/>
            </a:endParaRPr>
          </a:p>
        </p:txBody>
      </p:sp>
      <p:sp>
        <p:nvSpPr>
          <p:cNvPr id="163" name="Google Shape;163;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Additional cohorts learned pairs representing Cuba and Delaware, Florida and Maine, and other western Atlantic locations. These pairs varied in geographical and magnetic separation, so recognition extended beyond the first Gulf of Mexico and New Hampshire contrast. Each cohort was conditioned with a rewarded field and an unrewarded field under the same protocol.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Turtles first conditioned with the Florida and Maine pair were then trained with a second pair of signatures. They discriminated the rewarded and unrewarded fields in that second pairing as well. The second pairing used a distinct set of magnetic signatures, so the two associations concerned different fields. Each pairing gave the rewarded field a predictive role for food.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The same animals acquired an additional association after their first training period. Stored cues expanded with later training, so the learned responses are not confined to one fixed regional pair. This result supports flexibility in magnetic learning rather than a single fixed regional response. Acquisition of the second association followed the first training period.</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3">
            <a:alphaModFix/>
          </a:blip>
          <a:srcRect b="0" l="0" r="0" t="0"/>
          <a:stretch/>
        </p:blipFill>
        <p:spPr>
          <a:xfrm>
            <a:off x="6870154" y="1280071"/>
            <a:ext cx="4754711" cy="2226618"/>
          </a:xfrm>
          <a:prstGeom prst="rect">
            <a:avLst/>
          </a:prstGeom>
          <a:noFill/>
          <a:ln>
            <a:noFill/>
          </a:ln>
        </p:spPr>
      </p:pic>
      <p:sp>
        <p:nvSpPr>
          <p:cNvPr id="167" name="Google Shape;167;p12"/>
          <p:cNvSpPr/>
          <p:nvPr/>
        </p:nvSpPr>
        <p:spPr>
          <a:xfrm>
            <a:off x="6870055" y="3598218"/>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2(c). A second pair of fields can acquire a learned association.</a:t>
            </a:r>
            <a:endParaRPr sz="1800">
              <a:solidFill>
                <a:schemeClr val="dk1"/>
              </a:solidFill>
              <a:latin typeface="Calibri"/>
              <a:ea typeface="Calibri"/>
              <a:cs typeface="Calibri"/>
              <a:sym typeface="Calibri"/>
            </a:endParaRPr>
          </a:p>
        </p:txBody>
      </p:sp>
      <p:sp>
        <p:nvSpPr>
          <p:cNvPr id="168" name="Google Shape;168;p12"/>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9" name="Google Shape;169;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70" name="Google Shape;170;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learned magnetic association persists for months</a:t>
            </a:r>
            <a:endParaRPr sz="1800">
              <a:solidFill>
                <a:schemeClr val="dk1"/>
              </a:solidFill>
              <a:latin typeface="Calibri"/>
              <a:ea typeface="Calibri"/>
              <a:cs typeface="Calibri"/>
              <a:sym typeface="Calibri"/>
            </a:endParaRPr>
          </a:p>
        </p:txBody>
      </p:sp>
      <p:sp>
        <p:nvSpPr>
          <p:cNvPr id="176" name="Google Shape;176;p1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The Gulf of Mexico and New Hampshire cohort was tested again 4 months after initial conditioning. No further conditioning to those two fields occurred during the intervening period, so the test measured retention rather than a fresh response to reinforcement. That pair had been rewarded during the original 2-month conditioning. The test used the same discrimination procedure.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Turtles continued to show more food-anticipatory dancing in the field that had been rewarded. The same compass-free discrimination task used after the first 2-month period revealed the association. Magnetic information can remain behaviorally available for months. The 4-month interval passed without any reinforcement, and dancing was scored without food in both fields.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The tested interval covers months in captivity, far shorter than the years between a hatchling's departure and an adult turtle's return to a nesting region. The retention result sets a measured duration of memory under captive conditions. It reflects a memory that stayed available for months without any reinforcement in between. Captivity was the only setting tested.</a:t>
            </a:r>
            <a:endParaRPr sz="1800">
              <a:solidFill>
                <a:schemeClr val="dk1"/>
              </a:solidFill>
              <a:latin typeface="Calibri"/>
              <a:ea typeface="Calibri"/>
              <a:cs typeface="Calibri"/>
              <a:sym typeface="Calibri"/>
            </a:endParaRPr>
          </a:p>
        </p:txBody>
      </p:sp>
      <p:pic>
        <p:nvPicPr>
          <p:cNvPr id="179" name="Google Shape;179;p13"/>
          <p:cNvPicPr preferRelativeResize="0"/>
          <p:nvPr/>
        </p:nvPicPr>
        <p:blipFill rotWithShape="1">
          <a:blip r:embed="rId3">
            <a:alphaModFix/>
          </a:blip>
          <a:srcRect b="0" l="0" r="0" t="0"/>
          <a:stretch/>
        </p:blipFill>
        <p:spPr>
          <a:xfrm>
            <a:off x="6870075" y="1280071"/>
            <a:ext cx="4754871" cy="3925788"/>
          </a:xfrm>
          <a:prstGeom prst="rect">
            <a:avLst/>
          </a:prstGeom>
          <a:noFill/>
          <a:ln>
            <a:noFill/>
          </a:ln>
        </p:spPr>
      </p:pic>
      <p:sp>
        <p:nvSpPr>
          <p:cNvPr id="180" name="Google Shape;180;p13"/>
          <p:cNvSpPr/>
          <p:nvPr/>
        </p:nvSpPr>
        <p:spPr>
          <a:xfrm>
            <a:off x="6870055" y="5297388"/>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1(c). Field discrimination persists four months after conditioning.</a:t>
            </a:r>
            <a:endParaRPr sz="1800">
              <a:solidFill>
                <a:schemeClr val="dk1"/>
              </a:solidFill>
              <a:latin typeface="Calibri"/>
              <a:ea typeface="Calibri"/>
              <a:cs typeface="Calibri"/>
              <a:sym typeface="Calibri"/>
            </a:endParaRPr>
          </a:p>
        </p:txBody>
      </p:sp>
      <p:sp>
        <p:nvSpPr>
          <p:cNvPr id="181" name="Google Shape;181;p13"/>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2" name="Google Shape;182;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83" name="Google Shape;183;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sp>
        <p:nvSpPr>
          <p:cNvPr id="188" name="Google Shape;188;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Cue mixing tests what defines a learned signature</a:t>
            </a:r>
            <a:endParaRPr sz="1800">
              <a:solidFill>
                <a:schemeClr val="dk1"/>
              </a:solidFill>
              <a:latin typeface="Calibri"/>
              <a:ea typeface="Calibri"/>
              <a:cs typeface="Calibri"/>
              <a:sym typeface="Calibri"/>
            </a:endParaRPr>
          </a:p>
        </p:txBody>
      </p:sp>
      <p:sp>
        <p:nvSpPr>
          <p:cNvPr id="189" name="Google Shape;189;p1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Inclination and intensity varied together during conditioning. To find out whether either parameter alone could explain recognition, Goforth and colleagues built mismatched fields. Mismatched fields combined the inclination of one learned field with the intensity of the other. Inclination and intensity together defined the signature that turtles had learned. Both parameters co-varied during training.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Turtles were tested in the rewarded field, the unrewarded field and the two mismatched combinations. Keeping one rewarded component while changing the other showed whether a familiar inclination or a familiar intensity was enough to evoke the learned food-anticipatory response. The rewarded field and the unrewarded field served as the two reference conditions.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A learned signature can work as a compound cue rather than a single coordinate. This approach identifies which magnetic parameters drive discrimination without assuming a complete geographical map. Each mismatched field changes one component while keeping the other fixed, which tests each component separately. Mismatch tests therefore keep one learned value present at a time.</a:t>
            </a:r>
            <a:endParaRPr sz="1800">
              <a:solidFill>
                <a:schemeClr val="dk1"/>
              </a:solidFill>
              <a:latin typeface="Calibri"/>
              <a:ea typeface="Calibri"/>
              <a:cs typeface="Calibri"/>
              <a:sym typeface="Calibri"/>
            </a:endParaRPr>
          </a:p>
        </p:txBody>
      </p:sp>
      <p:pic>
        <p:nvPicPr>
          <p:cNvPr id="192" name="Google Shape;192;p14"/>
          <p:cNvPicPr preferRelativeResize="0"/>
          <p:nvPr/>
        </p:nvPicPr>
        <p:blipFill rotWithShape="1">
          <a:blip r:embed="rId3">
            <a:alphaModFix/>
          </a:blip>
          <a:srcRect b="0" l="0" r="0" t="0"/>
          <a:stretch/>
        </p:blipFill>
        <p:spPr>
          <a:xfrm>
            <a:off x="6870109" y="1280071"/>
            <a:ext cx="4754801" cy="2808536"/>
          </a:xfrm>
          <a:prstGeom prst="rect">
            <a:avLst/>
          </a:prstGeom>
          <a:noFill/>
          <a:ln>
            <a:noFill/>
          </a:ln>
        </p:spPr>
      </p:pic>
      <p:sp>
        <p:nvSpPr>
          <p:cNvPr id="193" name="Google Shape;193;p14"/>
          <p:cNvSpPr/>
          <p:nvPr/>
        </p:nvSpPr>
        <p:spPr>
          <a:xfrm>
            <a:off x="6870055" y="4180136"/>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4(a). Published inclination–intensity combinations used in cue mixing.</a:t>
            </a:r>
            <a:endParaRPr sz="1800">
              <a:solidFill>
                <a:schemeClr val="dk1"/>
              </a:solidFill>
              <a:latin typeface="Calibri"/>
              <a:ea typeface="Calibri"/>
              <a:cs typeface="Calibri"/>
              <a:sym typeface="Calibri"/>
            </a:endParaRPr>
          </a:p>
        </p:txBody>
      </p:sp>
      <p:sp>
        <p:nvSpPr>
          <p:cNvPr id="194" name="Google Shape;194;p1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5" name="Google Shape;195;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96" name="Google Shape;196;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 name="Shape 200"/>
        <p:cNvGrpSpPr/>
        <p:nvPr/>
      </p:nvGrpSpPr>
      <p:grpSpPr>
        <a:xfrm>
          <a:off x="0" y="0"/>
          <a:ext cx="0" cy="0"/>
          <a:chOff x="0" y="0"/>
          <a:chExt cx="0" cy="0"/>
        </a:xfrm>
      </p:grpSpPr>
      <p:sp>
        <p:nvSpPr>
          <p:cNvPr id="201" name="Google Shape;201;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Recognition requires the trained cue combination</a:t>
            </a:r>
            <a:endParaRPr sz="1800">
              <a:solidFill>
                <a:schemeClr val="dk1"/>
              </a:solidFill>
              <a:latin typeface="Calibri"/>
              <a:ea typeface="Calibri"/>
              <a:cs typeface="Calibri"/>
              <a:sym typeface="Calibri"/>
            </a:endParaRPr>
          </a:p>
        </p:txBody>
      </p:sp>
      <p:sp>
        <p:nvSpPr>
          <p:cNvPr id="202" name="Google Shape;202;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Turtles responded more strongly to the </a:t>
            </a:r>
            <a:r>
              <a:rPr b="1" i="0" lang="en-US" sz="1400">
                <a:solidFill>
                  <a:srgbClr val="8A3B32"/>
                </a:solidFill>
                <a:latin typeface="Arial"/>
                <a:ea typeface="Arial"/>
                <a:cs typeface="Arial"/>
                <a:sym typeface="Arial"/>
              </a:rPr>
              <a:t>rewarded signature</a:t>
            </a:r>
            <a:r>
              <a:rPr b="0" i="0" lang="en-US" sz="1400">
                <a:solidFill>
                  <a:srgbClr val="26252A"/>
                </a:solidFill>
                <a:latin typeface="Arial"/>
                <a:ea typeface="Arial"/>
                <a:cs typeface="Arial"/>
                <a:sym typeface="Arial"/>
              </a:rPr>
              <a:t> than to either </a:t>
            </a:r>
            <a:r>
              <a:rPr b="1" i="0" lang="en-US" sz="1400">
                <a:solidFill>
                  <a:srgbClr val="8A3B32"/>
                </a:solidFill>
                <a:latin typeface="Arial"/>
                <a:ea typeface="Arial"/>
                <a:cs typeface="Arial"/>
                <a:sym typeface="Arial"/>
              </a:rPr>
              <a:t>mismatched combination</a:t>
            </a:r>
            <a:r>
              <a:rPr b="0" i="0" lang="en-US" sz="1400">
                <a:solidFill>
                  <a:srgbClr val="26252A"/>
                </a:solidFill>
                <a:latin typeface="Arial"/>
                <a:ea typeface="Arial"/>
                <a:cs typeface="Arial"/>
                <a:sym typeface="Arial"/>
              </a:rPr>
              <a:t>. A rewarded inclination paired with the wrong intensity, or a rewarded intensity paired with the wrong inclination, failed to evoke the response that the full trained field produced. The rewarded signature is the field that predicted food during conditioning.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Responses to both mismatched combinations resembled responses to the unrewarded field. The mismatch results show that inclination and intensity are used jointly to recognize the rewarded signature in this task, since one familiar component gave little more signal than an untrained field. The unrewarded field produced a weaker response than the rewarded 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Sensory discrimination is distinct from learned decision rules. An animal may detect several field properties yet respond when their combination matches a stored association, and the matching could occur in transduction, sensory pathways, memory circuits or the choice of a food-anticipatory action. A stored association is what the turtle compares its current field against.</a:t>
            </a:r>
            <a:endParaRPr sz="1800">
              <a:solidFill>
                <a:schemeClr val="dk1"/>
              </a:solidFill>
              <a:latin typeface="Calibri"/>
              <a:ea typeface="Calibri"/>
              <a:cs typeface="Calibri"/>
              <a:sym typeface="Calibri"/>
            </a:endParaRPr>
          </a:p>
        </p:txBody>
      </p:sp>
      <p:pic>
        <p:nvPicPr>
          <p:cNvPr id="205" name="Google Shape;205;p15"/>
          <p:cNvPicPr preferRelativeResize="0"/>
          <p:nvPr/>
        </p:nvPicPr>
        <p:blipFill rotWithShape="1">
          <a:blip r:embed="rId3">
            <a:alphaModFix/>
          </a:blip>
          <a:srcRect b="0" l="0" r="0" t="0"/>
          <a:stretch/>
        </p:blipFill>
        <p:spPr>
          <a:xfrm>
            <a:off x="6870168" y="1280071"/>
            <a:ext cx="4754683" cy="2356098"/>
          </a:xfrm>
          <a:prstGeom prst="rect">
            <a:avLst/>
          </a:prstGeom>
          <a:noFill/>
          <a:ln>
            <a:noFill/>
          </a:ln>
        </p:spPr>
      </p:pic>
      <p:sp>
        <p:nvSpPr>
          <p:cNvPr id="206" name="Google Shape;206;p15"/>
          <p:cNvSpPr/>
          <p:nvPr/>
        </p:nvSpPr>
        <p:spPr>
          <a:xfrm>
            <a:off x="6870055" y="3727698"/>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4(b–c). Mismatched field components do not evoke the rewarded response.</a:t>
            </a:r>
            <a:endParaRPr sz="1800">
              <a:solidFill>
                <a:schemeClr val="dk1"/>
              </a:solidFill>
              <a:latin typeface="Calibri"/>
              <a:ea typeface="Calibri"/>
              <a:cs typeface="Calibri"/>
              <a:sym typeface="Calibri"/>
            </a:endParaRPr>
          </a:p>
        </p:txBody>
      </p:sp>
      <p:sp>
        <p:nvSpPr>
          <p:cNvPr id="207" name="Google Shape;207;p15"/>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8" name="Google Shape;208;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209" name="Google Shape;209;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 name="Shape 213"/>
        <p:cNvGrpSpPr/>
        <p:nvPr/>
      </p:nvGrpSpPr>
      <p:grpSpPr>
        <a:xfrm>
          <a:off x="0" y="0"/>
          <a:ext cx="0" cy="0"/>
          <a:chOff x="0" y="0"/>
          <a:chExt cx="0" cy="0"/>
        </a:xfrm>
      </p:grpSpPr>
      <p:sp>
        <p:nvSpPr>
          <p:cNvPr id="214" name="Google Shape;214;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Radiofrequency disruption separates two turtle tasks</a:t>
            </a:r>
            <a:endParaRPr sz="1800">
              <a:solidFill>
                <a:schemeClr val="dk1"/>
              </a:solidFill>
              <a:latin typeface="Calibri"/>
              <a:ea typeface="Calibri"/>
              <a:cs typeface="Calibri"/>
              <a:sym typeface="Calibri"/>
            </a:endParaRPr>
          </a:p>
        </p:txBody>
      </p:sp>
      <p:sp>
        <p:nvSpPr>
          <p:cNvPr id="215" name="Google Shape;215;p1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8A3B32"/>
              </a:buClr>
              <a:buSzPts val="1500"/>
              <a:buFont typeface="Arial"/>
              <a:buNone/>
            </a:pPr>
            <a:r>
              <a:rPr b="0" i="0" lang="en-US" sz="1400">
                <a:solidFill>
                  <a:srgbClr val="26252A"/>
                </a:solidFill>
                <a:latin typeface="Arial"/>
                <a:ea typeface="Arial"/>
                <a:cs typeface="Arial"/>
                <a:sym typeface="Arial"/>
              </a:rPr>
              <a:t>Radiofrequency fields are rapidly oscillating electromagnetic fields. Goforth and colleagues applied broadband magnetic noise from 0.1 to 10 MHz, testing a learned map-only assay alongside a hatchling orientation task that requires both map and compass information. The noise covered a broad frequency range, so many frequencies were tested together. Such exposures are rapidly oscillating rather than static.</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500"/>
              <a:buFont typeface="Arial"/>
              <a:buNone/>
            </a:pPr>
            <a:r>
              <a:rPr b="0" i="0" lang="en-US" sz="1400">
                <a:solidFill>
                  <a:srgbClr val="26252A"/>
                </a:solidFill>
                <a:latin typeface="Arial"/>
                <a:ea typeface="Arial"/>
                <a:cs typeface="Arial"/>
                <a:sym typeface="Arial"/>
              </a:rPr>
              <a:t>The learned rewarded-field response persisted under this exposure. Hatchlings exposed to the Cape Verde signature, however, lost a consistent group heading in noise, moving from a preferred direction of 293.1°, approximately westward, to no shared direction. The map task thus kept the learned association intact under the same exposure, which is the core contrast.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500"/>
              <a:buFont typeface="Arial"/>
              <a:buNone/>
            </a:pPr>
            <a:r>
              <a:rPr b="0" i="0" lang="en-US" sz="1400">
                <a:solidFill>
                  <a:srgbClr val="26252A"/>
                </a:solidFill>
                <a:latin typeface="Arial"/>
                <a:ea typeface="Arial"/>
                <a:cs typeface="Arial"/>
                <a:sym typeface="Arial"/>
              </a:rPr>
              <a:t>The dissociation fits different mechanisms contributing to map and compass behavior. The tasks used different developmental stages and preparations, so the contrast reflects behavior rather than direct recordings from two receptors in one animal. Each task measured a different behavioral output, so the perturbation was read through two separate readouts. The map and compass tasks are therefore not interchangeable.</a:t>
            </a:r>
            <a:endParaRPr sz="1800">
              <a:solidFill>
                <a:schemeClr val="dk1"/>
              </a:solidFill>
              <a:latin typeface="Calibri"/>
              <a:ea typeface="Calibri"/>
              <a:cs typeface="Calibri"/>
              <a:sym typeface="Calibri"/>
            </a:endParaRPr>
          </a:p>
        </p:txBody>
      </p:sp>
      <p:pic>
        <p:nvPicPr>
          <p:cNvPr id="218" name="Google Shape;218;p16"/>
          <p:cNvPicPr preferRelativeResize="0"/>
          <p:nvPr/>
        </p:nvPicPr>
        <p:blipFill rotWithShape="1">
          <a:blip r:embed="rId3">
            <a:alphaModFix/>
          </a:blip>
          <a:srcRect b="0" l="0" r="0" t="0"/>
          <a:stretch/>
        </p:blipFill>
        <p:spPr>
          <a:xfrm>
            <a:off x="7349903" y="1280071"/>
            <a:ext cx="3795066" cy="4297561"/>
          </a:xfrm>
          <a:prstGeom prst="rect">
            <a:avLst/>
          </a:prstGeom>
          <a:noFill/>
          <a:ln>
            <a:noFill/>
          </a:ln>
        </p:spPr>
      </p:pic>
      <p:sp>
        <p:nvSpPr>
          <p:cNvPr id="219" name="Google Shape;219;p16"/>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5(a–b). Radiofrequency fields spare learned maps but disrupt orientation.</a:t>
            </a:r>
            <a:endParaRPr sz="1800">
              <a:solidFill>
                <a:schemeClr val="dk1"/>
              </a:solidFill>
              <a:latin typeface="Calibri"/>
              <a:ea typeface="Calibri"/>
              <a:cs typeface="Calibri"/>
              <a:sym typeface="Calibri"/>
            </a:endParaRPr>
          </a:p>
        </p:txBody>
      </p:sp>
      <p:sp>
        <p:nvSpPr>
          <p:cNvPr id="220" name="Google Shape;220;p1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222" name="Google Shape;222;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 name="Shape 226"/>
        <p:cNvGrpSpPr/>
        <p:nvPr/>
      </p:nvGrpSpPr>
      <p:grpSpPr>
        <a:xfrm>
          <a:off x="0" y="0"/>
          <a:ext cx="0" cy="0"/>
          <a:chOff x="0" y="0"/>
          <a:chExt cx="0" cy="0"/>
        </a:xfrm>
      </p:grpSpPr>
      <p:sp>
        <p:nvSpPr>
          <p:cNvPr id="227" name="Google Shape;227;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learned map response enables a magnetic-pulse test</a:t>
            </a:r>
            <a:endParaRPr sz="1800">
              <a:solidFill>
                <a:schemeClr val="dk1"/>
              </a:solidFill>
              <a:latin typeface="Calibri"/>
              <a:ea typeface="Calibri"/>
              <a:cs typeface="Calibri"/>
              <a:sym typeface="Calibri"/>
            </a:endParaRPr>
          </a:p>
        </p:txBody>
      </p:sp>
      <p:sp>
        <p:nvSpPr>
          <p:cNvPr id="228" name="Google Shape;228;p1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Mackiewicz and colleagues conditioned young loggerheads with signatures representing Turks and Caicos and Haiti. Animals learned which field predicted food, and the rewarded location was counterbalanced across animals. The pairing was set before any pulse treatment. The task supplies a learned map response without requiring compass use, which the pulse experiment then perturbs.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Conditioning alternated rewarded and unrewarded sessions over 2 months. Turtles received food 5 to 15 min after the field changed during rewarded sessions. Before the pulse treatments, tests without food confirmed greater responding in the rewarded field. Dancing in these tests was the measured response, not swimming direction, so no compass heading entered the result.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A </a:t>
            </a:r>
            <a:r>
              <a:rPr b="1" i="0" lang="en-US" sz="1400">
                <a:solidFill>
                  <a:srgbClr val="8A3B32"/>
                </a:solidFill>
                <a:latin typeface="Arial"/>
                <a:ea typeface="Arial"/>
                <a:cs typeface="Arial"/>
                <a:sym typeface="Arial"/>
              </a:rPr>
              <a:t>magnetic pulse</a:t>
            </a:r>
            <a:r>
              <a:rPr b="0" i="0" lang="en-US" sz="1400">
                <a:solidFill>
                  <a:srgbClr val="26252A"/>
                </a:solidFill>
                <a:latin typeface="Arial"/>
                <a:ea typeface="Arial"/>
                <a:cs typeface="Arial"/>
                <a:sym typeface="Arial"/>
              </a:rPr>
              <a:t> is a strong, brief field intended to change the magnetization of iron-based candidate receptors. The learned map response needs no compass, so a pulse can perturb map recognition on its own. Testing the pulse on a map task keeps any perturbation of map recognition separate from compass use. The magnetizer also held the sham animals.</a:t>
            </a:r>
            <a:endParaRPr sz="1800">
              <a:solidFill>
                <a:schemeClr val="dk1"/>
              </a:solidFill>
              <a:latin typeface="Calibri"/>
              <a:ea typeface="Calibri"/>
              <a:cs typeface="Calibri"/>
              <a:sym typeface="Calibri"/>
            </a:endParaRPr>
          </a:p>
        </p:txBody>
      </p:sp>
      <p:pic>
        <p:nvPicPr>
          <p:cNvPr id="231" name="Google Shape;231;p17"/>
          <p:cNvPicPr preferRelativeResize="0"/>
          <p:nvPr/>
        </p:nvPicPr>
        <p:blipFill rotWithShape="1">
          <a:blip r:embed="rId3">
            <a:alphaModFix/>
          </a:blip>
          <a:srcRect b="0" l="0" r="0" t="0"/>
          <a:stretch/>
        </p:blipFill>
        <p:spPr>
          <a:xfrm>
            <a:off x="7351136" y="1280071"/>
            <a:ext cx="3792747" cy="4297561"/>
          </a:xfrm>
          <a:prstGeom prst="rect">
            <a:avLst/>
          </a:prstGeom>
          <a:noFill/>
          <a:ln>
            <a:noFill/>
          </a:ln>
        </p:spPr>
      </p:pic>
      <p:sp>
        <p:nvSpPr>
          <p:cNvPr id="232" name="Google Shape;232;p17"/>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Mackiewicz et al. (2025), Fig. 1(A). Locations of learned magnetic signatures in the pulse experiment.</a:t>
            </a:r>
            <a:endParaRPr sz="1800">
              <a:solidFill>
                <a:schemeClr val="dk1"/>
              </a:solidFill>
              <a:latin typeface="Calibri"/>
              <a:ea typeface="Calibri"/>
              <a:cs typeface="Calibri"/>
              <a:sym typeface="Calibri"/>
            </a:endParaRPr>
          </a:p>
        </p:txBody>
      </p:sp>
      <p:sp>
        <p:nvSpPr>
          <p:cNvPr id="233" name="Google Shape;233;p17"/>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4" name="Google Shape;23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Mackiewicz et al. (2025); Goforth et al. (2025)</a:t>
            </a:r>
            <a:endParaRPr sz="1800">
              <a:solidFill>
                <a:schemeClr val="dk1"/>
              </a:solidFill>
              <a:latin typeface="Calibri"/>
              <a:ea typeface="Calibri"/>
              <a:cs typeface="Calibri"/>
              <a:sym typeface="Calibri"/>
            </a:endParaRPr>
          </a:p>
        </p:txBody>
      </p:sp>
      <p:sp>
        <p:nvSpPr>
          <p:cNvPr id="235" name="Google Shape;235;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 name="Shape 239"/>
        <p:cNvGrpSpPr/>
        <p:nvPr/>
      </p:nvGrpSpPr>
      <p:grpSpPr>
        <a:xfrm>
          <a:off x="0" y="0"/>
          <a:ext cx="0" cy="0"/>
          <a:chOff x="0" y="0"/>
          <a:chExt cx="0" cy="0"/>
        </a:xfrm>
      </p:grpSpPr>
      <p:sp>
        <p:nvSpPr>
          <p:cNvPr id="240" name="Google Shape;24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Sham handling controls the pulse experiment</a:t>
            </a:r>
            <a:endParaRPr sz="1800">
              <a:solidFill>
                <a:schemeClr val="dk1"/>
              </a:solidFill>
              <a:latin typeface="Calibri"/>
              <a:ea typeface="Calibri"/>
              <a:cs typeface="Calibri"/>
              <a:sym typeface="Calibri"/>
            </a:endParaRPr>
          </a:p>
        </p:txBody>
      </p:sp>
      <p:sp>
        <p:nvSpPr>
          <p:cNvPr id="241" name="Google Shape;241;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Turtles were assessed after no-pulse, sham-pulse and actual-pulse treatments. Sham animals were handled in the magnetizer without receiving a pulse. The actual pulse lasted 5 ms and reached a maximum intensity of 85 mT, far stronger than the Earth-strength fields used for ordinary discrimination. The no-pulse group provided the baseline for each comparison.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Sham and actual treatments were followed by at least 12 h of overnight recovery before testing. Both control conditions were completed before the pulse treatment, which prevented an earlier pulse from contaminating control behavior. The order of the two control conditions was randomized. Overnight recovery was the same for sham and actual animals.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The sham condition tests whether placement in the apparatus and handling alone can account for a behavioral change. A reduction in dancing after the actual pulse is set against the handling control rather than assumed to be magnetic. Observers scoring the video were blind to treatment, and both control types were scored the same way.</a:t>
            </a:r>
            <a:endParaRPr sz="1800">
              <a:solidFill>
                <a:schemeClr val="dk1"/>
              </a:solidFill>
              <a:latin typeface="Calibri"/>
              <a:ea typeface="Calibri"/>
              <a:cs typeface="Calibri"/>
              <a:sym typeface="Calibri"/>
            </a:endParaRPr>
          </a:p>
        </p:txBody>
      </p:sp>
      <p:pic>
        <p:nvPicPr>
          <p:cNvPr id="244" name="Google Shape;244;p18"/>
          <p:cNvPicPr preferRelativeResize="0"/>
          <p:nvPr/>
        </p:nvPicPr>
        <p:blipFill rotWithShape="1">
          <a:blip r:embed="rId3">
            <a:alphaModFix/>
          </a:blip>
          <a:srcRect b="0" l="0" r="0" t="0"/>
          <a:stretch/>
        </p:blipFill>
        <p:spPr>
          <a:xfrm>
            <a:off x="7673139" y="1280071"/>
            <a:ext cx="3148445" cy="4297561"/>
          </a:xfrm>
          <a:prstGeom prst="rect">
            <a:avLst/>
          </a:prstGeom>
          <a:noFill/>
          <a:ln>
            <a:noFill/>
          </a:ln>
        </p:spPr>
      </p:pic>
      <p:sp>
        <p:nvSpPr>
          <p:cNvPr id="245" name="Google Shape;245;p18"/>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Mackiewicz et al. (2025), Fig. 1(B). Conditioning establishes magnetic field discrimination.</a:t>
            </a:r>
            <a:endParaRPr sz="1800">
              <a:solidFill>
                <a:schemeClr val="dk1"/>
              </a:solidFill>
              <a:latin typeface="Calibri"/>
              <a:ea typeface="Calibri"/>
              <a:cs typeface="Calibri"/>
              <a:sym typeface="Calibri"/>
            </a:endParaRPr>
          </a:p>
        </p:txBody>
      </p:sp>
      <p:sp>
        <p:nvSpPr>
          <p:cNvPr id="246" name="Google Shape;246;p18"/>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Mackiewicz et al. (2025)</a:t>
            </a:r>
            <a:endParaRPr sz="1800">
              <a:solidFill>
                <a:schemeClr val="dk1"/>
              </a:solidFill>
              <a:latin typeface="Calibri"/>
              <a:ea typeface="Calibri"/>
              <a:cs typeface="Calibri"/>
              <a:sym typeface="Calibri"/>
            </a:endParaRPr>
          </a:p>
        </p:txBody>
      </p:sp>
      <p:sp>
        <p:nvSpPr>
          <p:cNvPr id="248" name="Google Shape;248;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 name="Shape 252"/>
        <p:cNvGrpSpPr/>
        <p:nvPr/>
      </p:nvGrpSpPr>
      <p:grpSpPr>
        <a:xfrm>
          <a:off x="0" y="0"/>
          <a:ext cx="0" cy="0"/>
          <a:chOff x="0" y="0"/>
          <a:chExt cx="0" cy="0"/>
        </a:xfrm>
      </p:grpSpPr>
      <p:sp>
        <p:nvSpPr>
          <p:cNvPr id="253" name="Google Shape;253;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strong pulse weakens learned field recognition</a:t>
            </a:r>
            <a:endParaRPr sz="1800">
              <a:solidFill>
                <a:schemeClr val="dk1"/>
              </a:solidFill>
              <a:latin typeface="Calibri"/>
              <a:ea typeface="Calibri"/>
              <a:cs typeface="Calibri"/>
              <a:sym typeface="Calibri"/>
            </a:endParaRPr>
          </a:p>
        </p:txBody>
      </p:sp>
      <p:sp>
        <p:nvSpPr>
          <p:cNvPr id="254" name="Google Shape;254;p1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After a magnetic pulse, turtles spent less time dancing in the rewarded field than in the no-pulse condition. Sham handling produced no comparable reduction. Pulses parallel and antiparallel to the horizontal Earth field produced indistinguishable responses in this preparation, so they were pooled. The no-pulse condition served as the reference for the reduction.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A brief pulse could alter the arrangement or magnetic moments of magnetite-containing structures. A radical-pair reaction would not be expected to leave the same persistent change, so the pattern favors a particle-based map mechanism. These are predictions used to interpret the behavioral effect. These are predictions used to interpret the behavioral effect, not direct measurements of the particle.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Pulse sensitivity supports a candidate class of mechanism built on magnetite. Magnetite-bearing receptor cells, their connection to a sensory nerve and the ion channel that would convert a particle's state into membrane voltage remain to be identified. Magnetite is an iron oxide that can carry a magnetic moment, which makes it a candidate for such a mechanism.</a:t>
            </a:r>
            <a:endParaRPr sz="1800">
              <a:solidFill>
                <a:schemeClr val="dk1"/>
              </a:solidFill>
              <a:latin typeface="Calibri"/>
              <a:ea typeface="Calibri"/>
              <a:cs typeface="Calibri"/>
              <a:sym typeface="Calibri"/>
            </a:endParaRPr>
          </a:p>
        </p:txBody>
      </p:sp>
      <p:pic>
        <p:nvPicPr>
          <p:cNvPr id="257" name="Google Shape;257;p19"/>
          <p:cNvPicPr preferRelativeResize="0"/>
          <p:nvPr/>
        </p:nvPicPr>
        <p:blipFill rotWithShape="1">
          <a:blip r:embed="rId3">
            <a:alphaModFix/>
          </a:blip>
          <a:srcRect b="0" l="0" r="0" t="0"/>
          <a:stretch/>
        </p:blipFill>
        <p:spPr>
          <a:xfrm>
            <a:off x="7790298" y="1280071"/>
            <a:ext cx="2914126" cy="4297561"/>
          </a:xfrm>
          <a:prstGeom prst="rect">
            <a:avLst/>
          </a:prstGeom>
          <a:noFill/>
          <a:ln>
            <a:noFill/>
          </a:ln>
        </p:spPr>
      </p:pic>
      <p:sp>
        <p:nvSpPr>
          <p:cNvPr id="258" name="Google Shape;258;p19"/>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Mackiewicz et al. (2025), Fig. 2. A magnetic pulse reduces the response to the rewarded field.</a:t>
            </a:r>
            <a:endParaRPr sz="1800">
              <a:solidFill>
                <a:schemeClr val="dk1"/>
              </a:solidFill>
              <a:latin typeface="Calibri"/>
              <a:ea typeface="Calibri"/>
              <a:cs typeface="Calibri"/>
              <a:sym typeface="Calibri"/>
            </a:endParaRPr>
          </a:p>
        </p:txBody>
      </p:sp>
      <p:sp>
        <p:nvSpPr>
          <p:cNvPr id="259" name="Google Shape;259;p19"/>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0" name="Google Shape;260;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Mackiewicz et al. (2025); Goforth et al. (2025)</a:t>
            </a:r>
            <a:endParaRPr sz="1800">
              <a:solidFill>
                <a:schemeClr val="dk1"/>
              </a:solidFill>
              <a:latin typeface="Calibri"/>
              <a:ea typeface="Calibri"/>
              <a:cs typeface="Calibri"/>
              <a:sym typeface="Calibri"/>
            </a:endParaRPr>
          </a:p>
        </p:txBody>
      </p:sp>
      <p:sp>
        <p:nvSpPr>
          <p:cNvPr id="261" name="Google Shape;261;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 name="Shape 265"/>
        <p:cNvGrpSpPr/>
        <p:nvPr/>
      </p:nvGrpSpPr>
      <p:grpSpPr>
        <a:xfrm>
          <a:off x="0" y="0"/>
          <a:ext cx="0" cy="0"/>
          <a:chOff x="0" y="0"/>
          <a:chExt cx="0" cy="0"/>
        </a:xfrm>
      </p:grpSpPr>
      <p:sp>
        <p:nvSpPr>
          <p:cNvPr id="266" name="Google Shape;266;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Coastal disorientation can involve competing light cues</a:t>
            </a:r>
            <a:endParaRPr sz="1800">
              <a:solidFill>
                <a:schemeClr val="dk1"/>
              </a:solidFill>
              <a:latin typeface="Calibri"/>
              <a:ea typeface="Calibri"/>
              <a:cs typeface="Calibri"/>
              <a:sym typeface="Calibri"/>
            </a:endParaRPr>
          </a:p>
        </p:txBody>
      </p:sp>
      <p:sp>
        <p:nvSpPr>
          <p:cNvPr id="267" name="Google Shape;267;p2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McNally and colleagues examined loggerhead nesting records from Pinellas County, Florida. The study mapped nesting beaches alongside developed shorelines and classified hatchling disorientation events. The records describe the initial movement from nest to sea rather than controlled magnetic experiments. Each record links a nest to the outcomes of its hatchlings. The authors evaluated spatial patterns across the sites.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Disorientation occurred in 35.18% of the recorded nests, and roughly 30.48% of hatchlings from affected nests were classified as disoriented. Shoreline context, nest characteristics and spatial patterns were all evaluated. These measures document how often the transition from land to ocean goes wrong. Those percentages come from the same set of recorded nests.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Artificial light can compete with the orientation cues hatchlings use. Field disorientation at the transition from land to ocean involves a different set of cues from the controlled offshore preparations. The shoreline development around the nests is the setting in which these events occurred. Disorientation is therefore a field problem rather than a laboratory result.</a:t>
            </a:r>
            <a:endParaRPr sz="1800">
              <a:solidFill>
                <a:schemeClr val="dk1"/>
              </a:solidFill>
              <a:latin typeface="Calibri"/>
              <a:ea typeface="Calibri"/>
              <a:cs typeface="Calibri"/>
              <a:sym typeface="Calibri"/>
            </a:endParaRPr>
          </a:p>
        </p:txBody>
      </p:sp>
      <p:pic>
        <p:nvPicPr>
          <p:cNvPr id="270" name="Google Shape;270;p20"/>
          <p:cNvPicPr preferRelativeResize="0"/>
          <p:nvPr/>
        </p:nvPicPr>
        <p:blipFill rotWithShape="1">
          <a:blip r:embed="rId3">
            <a:alphaModFix/>
          </a:blip>
          <a:srcRect b="0" l="0" r="0" t="0"/>
          <a:stretch/>
        </p:blipFill>
        <p:spPr>
          <a:xfrm>
            <a:off x="7605472" y="1280071"/>
            <a:ext cx="3283926" cy="4297561"/>
          </a:xfrm>
          <a:prstGeom prst="rect">
            <a:avLst/>
          </a:prstGeom>
          <a:noFill/>
          <a:ln>
            <a:noFill/>
          </a:ln>
        </p:spPr>
      </p:pic>
      <p:sp>
        <p:nvSpPr>
          <p:cNvPr id="271" name="Google Shape;271;p20"/>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McNally et al. (2026), Fig. 1. Published map of nesting beaches and developed shorelines.</a:t>
            </a:r>
            <a:endParaRPr sz="1800">
              <a:solidFill>
                <a:schemeClr val="dk1"/>
              </a:solidFill>
              <a:latin typeface="Calibri"/>
              <a:ea typeface="Calibri"/>
              <a:cs typeface="Calibri"/>
              <a:sym typeface="Calibri"/>
            </a:endParaRPr>
          </a:p>
        </p:txBody>
      </p:sp>
      <p:sp>
        <p:nvSpPr>
          <p:cNvPr id="272" name="Google Shape;272;p20"/>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3" name="Google Shape;273;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McNally et al. (2026)</a:t>
            </a:r>
            <a:endParaRPr sz="1800">
              <a:solidFill>
                <a:schemeClr val="dk1"/>
              </a:solidFill>
              <a:latin typeface="Calibri"/>
              <a:ea typeface="Calibri"/>
              <a:cs typeface="Calibri"/>
              <a:sym typeface="Calibri"/>
            </a:endParaRPr>
          </a:p>
        </p:txBody>
      </p:sp>
      <p:sp>
        <p:nvSpPr>
          <p:cNvPr id="274" name="Google Shape;274;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 name="Shape 278"/>
        <p:cNvGrpSpPr/>
        <p:nvPr/>
      </p:nvGrpSpPr>
      <p:grpSpPr>
        <a:xfrm>
          <a:off x="0" y="0"/>
          <a:ext cx="0" cy="0"/>
          <a:chOff x="0" y="0"/>
          <a:chExt cx="0" cy="0"/>
        </a:xfrm>
      </p:grpSpPr>
      <p:sp>
        <p:nvSpPr>
          <p:cNvPr id="279" name="Google Shape;279;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European robins express a magnetic migratory heading</a:t>
            </a:r>
            <a:endParaRPr sz="1800">
              <a:solidFill>
                <a:schemeClr val="dk1"/>
              </a:solidFill>
              <a:latin typeface="Calibri"/>
              <a:ea typeface="Calibri"/>
              <a:cs typeface="Calibri"/>
              <a:sym typeface="Calibri"/>
            </a:endParaRPr>
          </a:p>
        </p:txBody>
      </p:sp>
      <p:sp>
        <p:nvSpPr>
          <p:cNvPr id="280" name="Google Shape;280;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European robins display </a:t>
            </a:r>
            <a:r>
              <a:rPr b="1" i="0" lang="en-US" sz="1400">
                <a:solidFill>
                  <a:srgbClr val="8A3B32"/>
                </a:solidFill>
                <a:latin typeface="Arial"/>
                <a:ea typeface="Arial"/>
                <a:cs typeface="Arial"/>
                <a:sym typeface="Arial"/>
              </a:rPr>
              <a:t>migratory restlessness</a:t>
            </a:r>
            <a:r>
              <a:rPr b="0" i="0" lang="en-US" sz="1400">
                <a:solidFill>
                  <a:srgbClr val="26252A"/>
                </a:solidFill>
                <a:latin typeface="Arial"/>
                <a:ea typeface="Arial"/>
                <a:cs typeface="Arial"/>
                <a:sym typeface="Arial"/>
              </a:rPr>
              <a:t>, directional activity expressed in the season when they would normally migrate. Wiltschko and Wiltschko counted perch activation in circular cages, which measured preferred direction without requiring a free flight. Perch activation was recorded as the measure of orientation. Those cages make a free flight unnecessary for the measurement.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In spring, robins tested in the local field preferred 29°, north-northeast. The historical study reported a field strength of 0.46 gauss and an inclination of +66°, so the seasonal tendency was related to a controlled geomagnetic configuration. Robins in that spring test kept a north-northeast course, the seasonal direction they would normally take.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Migratory state supplies the context for this response, so a sensory compass can guide different seasonal directions. A compass measures direction rather than a correction toward a distant target. The response therefore reflects a direction code rather than a location-based map. The response shows a sensory compass that works within a migratory program.</a:t>
            </a:r>
            <a:endParaRPr sz="1800">
              <a:solidFill>
                <a:schemeClr val="dk1"/>
              </a:solidFill>
              <a:latin typeface="Calibri"/>
              <a:ea typeface="Calibri"/>
              <a:cs typeface="Calibri"/>
              <a:sym typeface="Calibri"/>
            </a:endParaRPr>
          </a:p>
        </p:txBody>
      </p:sp>
      <p:pic>
        <p:nvPicPr>
          <p:cNvPr id="283" name="Google Shape;283;p21"/>
          <p:cNvPicPr preferRelativeResize="0"/>
          <p:nvPr/>
        </p:nvPicPr>
        <p:blipFill rotWithShape="1">
          <a:blip r:embed="rId3">
            <a:alphaModFix/>
          </a:blip>
          <a:srcRect b="0" l="0" r="0" t="0"/>
          <a:stretch/>
        </p:blipFill>
        <p:spPr>
          <a:xfrm>
            <a:off x="7276432" y="1280071"/>
            <a:ext cx="3942007" cy="4297561"/>
          </a:xfrm>
          <a:prstGeom prst="rect">
            <a:avLst/>
          </a:prstGeom>
          <a:noFill/>
          <a:ln>
            <a:noFill/>
          </a:ln>
        </p:spPr>
      </p:pic>
      <p:sp>
        <p:nvSpPr>
          <p:cNvPr id="284" name="Google Shape;284;p21"/>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Wiltschko &amp; Wiltschko (1972), Fig. 1(a). European robin orientation in the local magnetic field.</a:t>
            </a:r>
            <a:endParaRPr sz="1800">
              <a:solidFill>
                <a:schemeClr val="dk1"/>
              </a:solidFill>
              <a:latin typeface="Calibri"/>
              <a:ea typeface="Calibri"/>
              <a:cs typeface="Calibri"/>
              <a:sym typeface="Calibri"/>
            </a:endParaRPr>
          </a:p>
        </p:txBody>
      </p:sp>
      <p:sp>
        <p:nvSpPr>
          <p:cNvPr id="285" name="Google Shape;285;p21"/>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Wiltschko &amp; Wiltschko (1972)</a:t>
            </a:r>
            <a:endParaRPr sz="1800">
              <a:solidFill>
                <a:schemeClr val="dk1"/>
              </a:solidFill>
              <a:latin typeface="Calibri"/>
              <a:ea typeface="Calibri"/>
              <a:cs typeface="Calibri"/>
              <a:sym typeface="Calibri"/>
            </a:endParaRPr>
          </a:p>
        </p:txBody>
      </p:sp>
      <p:sp>
        <p:nvSpPr>
          <p:cNvPr id="287" name="Google Shape;287;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1" name="Shape 291"/>
        <p:cNvGrpSpPr/>
        <p:nvPr/>
      </p:nvGrpSpPr>
      <p:grpSpPr>
        <a:xfrm>
          <a:off x="0" y="0"/>
          <a:ext cx="0" cy="0"/>
          <a:chOff x="0" y="0"/>
          <a:chExt cx="0" cy="0"/>
        </a:xfrm>
      </p:grpSpPr>
      <p:sp>
        <p:nvSpPr>
          <p:cNvPr id="292" name="Google Shape;29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The robin compass follows inclination rather than polarity</a:t>
            </a:r>
            <a:endParaRPr sz="1800">
              <a:solidFill>
                <a:schemeClr val="dk1"/>
              </a:solidFill>
              <a:latin typeface="Calibri"/>
              <a:ea typeface="Calibri"/>
              <a:cs typeface="Calibri"/>
              <a:sym typeface="Calibri"/>
            </a:endParaRPr>
          </a:p>
        </p:txBody>
      </p:sp>
      <p:sp>
        <p:nvSpPr>
          <p:cNvPr id="293" name="Google Shape;293;p2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A </a:t>
            </a:r>
            <a:r>
              <a:rPr b="1" i="0" lang="en-US" sz="1400">
                <a:solidFill>
                  <a:srgbClr val="8A3B32"/>
                </a:solidFill>
                <a:latin typeface="Arial"/>
                <a:ea typeface="Arial"/>
                <a:cs typeface="Arial"/>
                <a:sym typeface="Arial"/>
              </a:rPr>
              <a:t>polarity compass</a:t>
            </a:r>
            <a:r>
              <a:rPr b="0" i="0" lang="en-US" sz="1400">
                <a:solidFill>
                  <a:srgbClr val="26252A"/>
                </a:solidFill>
                <a:latin typeface="Arial"/>
                <a:ea typeface="Arial"/>
                <a:cs typeface="Arial"/>
                <a:sym typeface="Arial"/>
              </a:rPr>
              <a:t> distinguishes the two directed ends of a magnetic vector. An </a:t>
            </a:r>
            <a:r>
              <a:rPr b="1" i="0" lang="en-US" sz="1400">
                <a:solidFill>
                  <a:srgbClr val="8A3B32"/>
                </a:solidFill>
                <a:latin typeface="Arial"/>
                <a:ea typeface="Arial"/>
                <a:cs typeface="Arial"/>
                <a:sym typeface="Arial"/>
              </a:rPr>
              <a:t>inclination compass</a:t>
            </a:r>
            <a:r>
              <a:rPr b="0" i="0" lang="en-US" sz="1400">
                <a:solidFill>
                  <a:srgbClr val="26252A"/>
                </a:solidFill>
                <a:latin typeface="Arial"/>
                <a:ea typeface="Arial"/>
                <a:cs typeface="Arial"/>
                <a:sym typeface="Arial"/>
              </a:rPr>
              <a:t> uses the axial slope of field lines relative to horizontal or gravity. Wiltschko and Wiltschko reversed field components individually and then together to tell these alternatives apart. A reversal experiment can separate the two models, because each predicts a different response to reversal.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Reversing the horizontal component changed the preferred course from 29° to 240°. Reversing both horizontal and vertical components preserved the field axis while flipping polarity, and robins kept a northerly preference, which rules out polarity alone as the cue. The 29° preferred course was the reference for each reversal. The reversal result is the key evidence in this study.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The pattern concerns the information the compass encodes rather than the receptor's material. Identifying a receptor requires anatomical, physiological or molecular evidence beyond the behavior itself. Field axis and polarity are different properties, so the two models predict different outcomes. Those features were tested by changing single components, not by changing the receptor.</a:t>
            </a:r>
            <a:endParaRPr sz="1800">
              <a:solidFill>
                <a:schemeClr val="dk1"/>
              </a:solidFill>
              <a:latin typeface="Calibri"/>
              <a:ea typeface="Calibri"/>
              <a:cs typeface="Calibri"/>
              <a:sym typeface="Calibri"/>
            </a:endParaRPr>
          </a:p>
        </p:txBody>
      </p:sp>
      <p:pic>
        <p:nvPicPr>
          <p:cNvPr id="296" name="Google Shape;296;p22"/>
          <p:cNvPicPr preferRelativeResize="0"/>
          <p:nvPr/>
        </p:nvPicPr>
        <p:blipFill rotWithShape="1">
          <a:blip r:embed="rId3">
            <a:alphaModFix/>
          </a:blip>
          <a:srcRect b="0" l="0" r="0" t="0"/>
          <a:stretch/>
        </p:blipFill>
        <p:spPr>
          <a:xfrm>
            <a:off x="8311009" y="1280137"/>
            <a:ext cx="1872853" cy="4297429"/>
          </a:xfrm>
          <a:prstGeom prst="rect">
            <a:avLst/>
          </a:prstGeom>
          <a:noFill/>
          <a:ln>
            <a:noFill/>
          </a:ln>
        </p:spPr>
      </p:pic>
      <p:sp>
        <p:nvSpPr>
          <p:cNvPr id="297" name="Google Shape;297;p22"/>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Wiltschko &amp; Wiltschko (1972), Fig. 1(b,d). Horizontal reversal and full polarity reversal have different effects.</a:t>
            </a:r>
            <a:endParaRPr sz="1800">
              <a:solidFill>
                <a:schemeClr val="dk1"/>
              </a:solidFill>
              <a:latin typeface="Calibri"/>
              <a:ea typeface="Calibri"/>
              <a:cs typeface="Calibri"/>
              <a:sym typeface="Calibri"/>
            </a:endParaRPr>
          </a:p>
        </p:txBody>
      </p:sp>
      <p:sp>
        <p:nvSpPr>
          <p:cNvPr id="298" name="Google Shape;298;p22"/>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9" name="Google Shape;299;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Wiltschko &amp; Wiltschko (1972)</a:t>
            </a:r>
            <a:endParaRPr sz="1800">
              <a:solidFill>
                <a:schemeClr val="dk1"/>
              </a:solidFill>
              <a:latin typeface="Calibri"/>
              <a:ea typeface="Calibri"/>
              <a:cs typeface="Calibri"/>
              <a:sym typeface="Calibri"/>
            </a:endParaRPr>
          </a:p>
        </p:txBody>
      </p:sp>
      <p:sp>
        <p:nvSpPr>
          <p:cNvPr id="300" name="Google Shape;300;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4" name="Shape 304"/>
        <p:cNvGrpSpPr/>
        <p:nvPr/>
      </p:nvGrpSpPr>
      <p:grpSpPr>
        <a:xfrm>
          <a:off x="0" y="0"/>
          <a:ext cx="0" cy="0"/>
          <a:chOff x="0" y="0"/>
          <a:chExt cx="0" cy="0"/>
        </a:xfrm>
      </p:grpSpPr>
      <p:sp>
        <p:nvSpPr>
          <p:cNvPr id="305" name="Google Shape;305;p2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horizontal field removes the robin directional preference</a:t>
            </a:r>
            <a:endParaRPr sz="1800">
              <a:solidFill>
                <a:schemeClr val="dk1"/>
              </a:solidFill>
              <a:latin typeface="Calibri"/>
              <a:ea typeface="Calibri"/>
              <a:cs typeface="Calibri"/>
              <a:sym typeface="Calibri"/>
            </a:endParaRPr>
          </a:p>
        </p:txBody>
      </p:sp>
      <p:sp>
        <p:nvSpPr>
          <p:cNvPr id="306" name="Google Shape;306;p2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The historical experiments also used a field of 0.46 gauss with zero inclination. Its horizontal direction and total strength were kept, while the field lost its downward or upward slope. The manipulation asked whether horizontal polarity alone could guide a shared migratory preference. Robins faced this horizontal field, so the horizontal direction was the only available cue.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Robins showed no consistent direction in that horizontal condition. Together with the component-reversal results, this supports inclination relative to the animal's up-down reference. In the northern hemisphere, an inclined axis distinguishes poleward from equatorward directions. The loss of shared direction appeared only in the horizontal condition. Birds in the inclined field kept their direction.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Losing a directional preference is compatible with birds still detecting the field, because the heading information is what is missing. The response points to the directional code of the compass rather than to a total loss of magnetic sensation. The horizontal test kept magnetic polarity present but removed inclination, which was the missing cue.</a:t>
            </a:r>
            <a:endParaRPr sz="1800">
              <a:solidFill>
                <a:schemeClr val="dk1"/>
              </a:solidFill>
              <a:latin typeface="Calibri"/>
              <a:ea typeface="Calibri"/>
              <a:cs typeface="Calibri"/>
              <a:sym typeface="Calibri"/>
            </a:endParaRPr>
          </a:p>
        </p:txBody>
      </p:sp>
      <p:pic>
        <p:nvPicPr>
          <p:cNvPr id="309" name="Google Shape;309;p23"/>
          <p:cNvPicPr preferRelativeResize="0"/>
          <p:nvPr/>
        </p:nvPicPr>
        <p:blipFill rotWithShape="1">
          <a:blip r:embed="rId3">
            <a:alphaModFix/>
          </a:blip>
          <a:srcRect b="0" l="0" r="0" t="0"/>
          <a:stretch/>
        </p:blipFill>
        <p:spPr>
          <a:xfrm>
            <a:off x="7160049" y="1280071"/>
            <a:ext cx="4174773" cy="4297561"/>
          </a:xfrm>
          <a:prstGeom prst="rect">
            <a:avLst/>
          </a:prstGeom>
          <a:noFill/>
          <a:ln>
            <a:noFill/>
          </a:ln>
        </p:spPr>
      </p:pic>
      <p:sp>
        <p:nvSpPr>
          <p:cNvPr id="310" name="Google Shape;310;p23"/>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Wiltschko &amp; Wiltschko (1972), Fig. 1(e). Robins lose directional preference in a horizontal field.</a:t>
            </a:r>
            <a:endParaRPr sz="1800">
              <a:solidFill>
                <a:schemeClr val="dk1"/>
              </a:solidFill>
              <a:latin typeface="Calibri"/>
              <a:ea typeface="Calibri"/>
              <a:cs typeface="Calibri"/>
              <a:sym typeface="Calibri"/>
            </a:endParaRPr>
          </a:p>
        </p:txBody>
      </p:sp>
      <p:sp>
        <p:nvSpPr>
          <p:cNvPr id="311" name="Google Shape;311;p23"/>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2" name="Google Shape;312;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Wiltschko &amp; Wiltschko (1972)</a:t>
            </a:r>
            <a:endParaRPr sz="1800">
              <a:solidFill>
                <a:schemeClr val="dk1"/>
              </a:solidFill>
              <a:latin typeface="Calibri"/>
              <a:ea typeface="Calibri"/>
              <a:cs typeface="Calibri"/>
              <a:sym typeface="Calibri"/>
            </a:endParaRPr>
          </a:p>
        </p:txBody>
      </p:sp>
      <p:sp>
        <p:nvSpPr>
          <p:cNvPr id="313" name="Google Shape;313;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7" name="Shape 317"/>
        <p:cNvGrpSpPr/>
        <p:nvPr/>
      </p:nvGrpSpPr>
      <p:grpSpPr>
        <a:xfrm>
          <a:off x="0" y="0"/>
          <a:ext cx="0" cy="0"/>
          <a:chOff x="0" y="0"/>
          <a:chExt cx="0" cy="0"/>
        </a:xfrm>
      </p:grpSpPr>
      <p:sp>
        <p:nvSpPr>
          <p:cNvPr id="318" name="Google Shape;318;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Cluster N is active during nocturnal vision</a:t>
            </a:r>
            <a:endParaRPr sz="1800">
              <a:solidFill>
                <a:schemeClr val="dk1"/>
              </a:solidFill>
              <a:latin typeface="Calibri"/>
              <a:ea typeface="Calibri"/>
              <a:cs typeface="Calibri"/>
              <a:sym typeface="Calibri"/>
            </a:endParaRPr>
          </a:p>
        </p:txBody>
      </p:sp>
      <p:sp>
        <p:nvSpPr>
          <p:cNvPr id="319" name="Google Shape;319;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Mouritsen and colleagues used activity-associated gene expression to find brain regions recruited during night vision. They measured </a:t>
            </a:r>
            <a:r>
              <a:rPr b="1" i="0" lang="en-US" sz="1400">
                <a:solidFill>
                  <a:srgbClr val="8A3B32"/>
                </a:solidFill>
                <a:latin typeface="Arial"/>
                <a:ea typeface="Arial"/>
                <a:cs typeface="Arial"/>
                <a:sym typeface="Arial"/>
              </a:rPr>
              <a:t>ZENK</a:t>
            </a:r>
            <a:r>
              <a:rPr b="0" i="0" lang="en-US" sz="1400">
                <a:solidFill>
                  <a:srgbClr val="26252A"/>
                </a:solidFill>
                <a:latin typeface="Arial"/>
                <a:ea typeface="Arial"/>
                <a:cs typeface="Arial"/>
                <a:sym typeface="Arial"/>
              </a:rPr>
              <a:t>, an immediate-early marker whose expression rises with neuronal activation. Migratory garden warblers and European robins were studied alongside zebra finches and canaries. This marker shows which regions were active during the test period in each bird.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Birds were exposed to dim light of 0.04 lux, approximating moonlight, or to ordinary daytime room light. Brain sections revealed a dorsal forebrain region designated Cluster N, which showed strong night-time expression in the migrants. Brain tissue was collected after the exposure, so expression reflects the test period. Dim light and daylight were both tested.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ZENK is an indirect activity measure integrated over time rather than an instantaneous spike recording. The night-time expression identifies a candidate processing region, which could reflect visual, magnetic or other orientation information. Its role in magnetic sensing is a separate question. A region can be tested more directly by lesion or manipulation.</a:t>
            </a:r>
            <a:endParaRPr sz="1800">
              <a:solidFill>
                <a:schemeClr val="dk1"/>
              </a:solidFill>
              <a:latin typeface="Calibri"/>
              <a:ea typeface="Calibri"/>
              <a:cs typeface="Calibri"/>
              <a:sym typeface="Calibri"/>
            </a:endParaRPr>
          </a:p>
        </p:txBody>
      </p:sp>
      <p:pic>
        <p:nvPicPr>
          <p:cNvPr id="322" name="Google Shape;322;p24"/>
          <p:cNvPicPr preferRelativeResize="0"/>
          <p:nvPr/>
        </p:nvPicPr>
        <p:blipFill rotWithShape="1">
          <a:blip r:embed="rId3">
            <a:alphaModFix/>
          </a:blip>
          <a:srcRect b="0" l="0" r="0" t="0"/>
          <a:stretch/>
        </p:blipFill>
        <p:spPr>
          <a:xfrm>
            <a:off x="6870103" y="1280071"/>
            <a:ext cx="4754813" cy="3933527"/>
          </a:xfrm>
          <a:prstGeom prst="rect">
            <a:avLst/>
          </a:prstGeom>
          <a:noFill/>
          <a:ln>
            <a:noFill/>
          </a:ln>
        </p:spPr>
      </p:pic>
      <p:sp>
        <p:nvSpPr>
          <p:cNvPr id="323" name="Google Shape;323;p24"/>
          <p:cNvSpPr/>
          <p:nvPr/>
        </p:nvSpPr>
        <p:spPr>
          <a:xfrm>
            <a:off x="6870055" y="5305127"/>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1(A–B). Activity-associated gene expression marks Cluster N anatomy.</a:t>
            </a:r>
            <a:endParaRPr sz="1800">
              <a:solidFill>
                <a:schemeClr val="dk1"/>
              </a:solidFill>
              <a:latin typeface="Calibri"/>
              <a:ea typeface="Calibri"/>
              <a:cs typeface="Calibri"/>
              <a:sym typeface="Calibri"/>
            </a:endParaRPr>
          </a:p>
        </p:txBody>
      </p:sp>
      <p:sp>
        <p:nvSpPr>
          <p:cNvPr id="324" name="Google Shape;324;p2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Mouritsen et al. (2005)</a:t>
            </a:r>
            <a:endParaRPr sz="1800">
              <a:solidFill>
                <a:schemeClr val="dk1"/>
              </a:solidFill>
              <a:latin typeface="Calibri"/>
              <a:ea typeface="Calibri"/>
              <a:cs typeface="Calibri"/>
              <a:sym typeface="Calibri"/>
            </a:endParaRPr>
          </a:p>
        </p:txBody>
      </p:sp>
      <p:sp>
        <p:nvSpPr>
          <p:cNvPr id="326" name="Google Shape;326;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sp>
        <p:nvSpPr>
          <p:cNvPr id="331" name="Google Shape;331;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Nocturnal activation differs across species and conditions</a:t>
            </a:r>
            <a:endParaRPr sz="1800">
              <a:solidFill>
                <a:schemeClr val="dk1"/>
              </a:solidFill>
              <a:latin typeface="Calibri"/>
              <a:ea typeface="Calibri"/>
              <a:cs typeface="Calibri"/>
              <a:sym typeface="Calibri"/>
            </a:endParaRPr>
          </a:p>
        </p:txBody>
      </p:sp>
      <p:sp>
        <p:nvSpPr>
          <p:cNvPr id="332" name="Google Shape;332;p2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Cluster N expression was stronger during night vision in the migratory species than during daytime testing. Non-migratory zebra finches and canaries showed no comparable nocturnal increase. Both illumination conditions were tested in each species. Migratory garden warblers and European robins showed the nocturnal increase. The increase was specific to the migratory species.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Dim-light testing used 0.04 lux, while daytime room illumination exceeded 275 lux. Investigators also minimized recent movement before collecting brain tissue, so flight or gross locomotion is less likely to explain the regional difference. The movement control reduces an alternative explanation for the expression difference. Flight would otherwise be a confounding activity.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Because the species differ in many traits, the pattern supports specialization for nocturnal sensory processing rather than a migratory cause alone. The migratory birds showed the strongest nocturnal Cluster N expression among the species compared. Migratory and non-migratory birds were compared in both light conditions. Dim-light expression was the feature that distinguished migrants.</a:t>
            </a:r>
            <a:endParaRPr sz="1800">
              <a:solidFill>
                <a:schemeClr val="dk1"/>
              </a:solidFill>
              <a:latin typeface="Calibri"/>
              <a:ea typeface="Calibri"/>
              <a:cs typeface="Calibri"/>
              <a:sym typeface="Calibri"/>
            </a:endParaRPr>
          </a:p>
        </p:txBody>
      </p:sp>
      <p:pic>
        <p:nvPicPr>
          <p:cNvPr id="335" name="Google Shape;335;p25"/>
          <p:cNvPicPr preferRelativeResize="0"/>
          <p:nvPr/>
        </p:nvPicPr>
        <p:blipFill rotWithShape="1">
          <a:blip r:embed="rId3">
            <a:alphaModFix/>
          </a:blip>
          <a:srcRect b="0" l="0" r="0" t="0"/>
          <a:stretch/>
        </p:blipFill>
        <p:spPr>
          <a:xfrm>
            <a:off x="7480184" y="1280071"/>
            <a:ext cx="3534652" cy="2880271"/>
          </a:xfrm>
          <a:prstGeom prst="rect">
            <a:avLst/>
          </a:prstGeom>
          <a:noFill/>
          <a:ln>
            <a:noFill/>
          </a:ln>
        </p:spPr>
      </p:pic>
      <p:sp>
        <p:nvSpPr>
          <p:cNvPr id="336" name="Google Shape;336;p25"/>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1(C). Cluster N activity differs between day, night and species.</a:t>
            </a:r>
            <a:endParaRPr sz="1800">
              <a:solidFill>
                <a:schemeClr val="dk1"/>
              </a:solidFill>
              <a:latin typeface="Calibri"/>
              <a:ea typeface="Calibri"/>
              <a:cs typeface="Calibri"/>
              <a:sym typeface="Calibri"/>
            </a:endParaRPr>
          </a:p>
        </p:txBody>
      </p:sp>
      <p:pic>
        <p:nvPicPr>
          <p:cNvPr id="337" name="Google Shape;337;p25"/>
          <p:cNvPicPr preferRelativeResize="0"/>
          <p:nvPr/>
        </p:nvPicPr>
        <p:blipFill rotWithShape="1">
          <a:blip r:embed="rId4">
            <a:alphaModFix/>
          </a:blip>
          <a:srcRect b="0" l="0" r="0" t="0"/>
          <a:stretch/>
        </p:blipFill>
        <p:spPr>
          <a:xfrm>
            <a:off x="8674031" y="4709071"/>
            <a:ext cx="1146660" cy="1051471"/>
          </a:xfrm>
          <a:prstGeom prst="rect">
            <a:avLst/>
          </a:prstGeom>
          <a:noFill/>
          <a:ln>
            <a:noFill/>
          </a:ln>
        </p:spPr>
      </p:pic>
      <p:sp>
        <p:nvSpPr>
          <p:cNvPr id="338" name="Google Shape;338;p25"/>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2. Dorsal brain preparation and location of Cluster N.</a:t>
            </a:r>
            <a:endParaRPr sz="1800">
              <a:solidFill>
                <a:schemeClr val="dk1"/>
              </a:solidFill>
              <a:latin typeface="Calibri"/>
              <a:ea typeface="Calibri"/>
              <a:cs typeface="Calibri"/>
              <a:sym typeface="Calibri"/>
            </a:endParaRPr>
          </a:p>
        </p:txBody>
      </p:sp>
      <p:sp>
        <p:nvSpPr>
          <p:cNvPr id="339" name="Google Shape;339;p25"/>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0" name="Google Shape;340;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Mouritsen et al. (2005)</a:t>
            </a:r>
            <a:endParaRPr sz="1800">
              <a:solidFill>
                <a:schemeClr val="dk1"/>
              </a:solidFill>
              <a:latin typeface="Calibri"/>
              <a:ea typeface="Calibri"/>
              <a:cs typeface="Calibri"/>
              <a:sym typeface="Calibri"/>
            </a:endParaRPr>
          </a:p>
        </p:txBody>
      </p:sp>
      <p:sp>
        <p:nvSpPr>
          <p:cNvPr id="341" name="Google Shape;341;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5" name="Shape 345"/>
        <p:cNvGrpSpPr/>
        <p:nvPr/>
      </p:nvGrpSpPr>
      <p:grpSpPr>
        <a:xfrm>
          <a:off x="0" y="0"/>
          <a:ext cx="0" cy="0"/>
          <a:chOff x="0" y="0"/>
          <a:chExt cx="0" cy="0"/>
        </a:xfrm>
      </p:grpSpPr>
      <p:sp>
        <p:nvSpPr>
          <p:cNvPr id="346" name="Google Shape;346;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Covering the eyes suppresses Cluster N activation</a:t>
            </a:r>
            <a:endParaRPr sz="1800">
              <a:solidFill>
                <a:schemeClr val="dk1"/>
              </a:solidFill>
              <a:latin typeface="Calibri"/>
              <a:ea typeface="Calibri"/>
              <a:cs typeface="Calibri"/>
              <a:sym typeface="Calibri"/>
            </a:endParaRPr>
          </a:p>
        </p:txBody>
      </p:sp>
      <p:sp>
        <p:nvSpPr>
          <p:cNvPr id="347" name="Google Shape;347;p2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To test dependence on visual input, Mouritsen and colleagues covered both eyes of European robins with light-tight caps during nocturnal testing. The caps blocked light from the retina while the night-time setting stayed the same. Control birds had the same dim-light period with uncovered eyes. Their dim-light context stayed intact throughout the test.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Cluster N activation fell markedly when both eyes were covered. The response depends on input associated with vision, not only on the time of night or on an internal migratory state. This fall in Cluster N activity matched the loss of retinal light input. The histology paired this anatomical signal with expression measurements and behavior.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Blocking the eyes also removes ordinary vision, along with any light-dependent magnetic process. Its main contribution is to place Cluster N in a visually dependent pathway that can be tested more selectively. Because the manipulation removes many visual signals at once, the result locates a pathway rather than a specific magnetic input.</a:t>
            </a:r>
            <a:endParaRPr sz="1800">
              <a:solidFill>
                <a:schemeClr val="dk1"/>
              </a:solidFill>
              <a:latin typeface="Calibri"/>
              <a:ea typeface="Calibri"/>
              <a:cs typeface="Calibri"/>
              <a:sym typeface="Calibri"/>
            </a:endParaRPr>
          </a:p>
        </p:txBody>
      </p:sp>
      <p:pic>
        <p:nvPicPr>
          <p:cNvPr id="350" name="Google Shape;350;p26"/>
          <p:cNvPicPr preferRelativeResize="0"/>
          <p:nvPr/>
        </p:nvPicPr>
        <p:blipFill rotWithShape="1">
          <a:blip r:embed="rId3">
            <a:alphaModFix/>
          </a:blip>
          <a:srcRect b="0" l="0" r="0" t="0"/>
          <a:stretch/>
        </p:blipFill>
        <p:spPr>
          <a:xfrm>
            <a:off x="7645914" y="1280071"/>
            <a:ext cx="3202895" cy="2880271"/>
          </a:xfrm>
          <a:prstGeom prst="rect">
            <a:avLst/>
          </a:prstGeom>
          <a:noFill/>
          <a:ln>
            <a:noFill/>
          </a:ln>
        </p:spPr>
      </p:pic>
      <p:sp>
        <p:nvSpPr>
          <p:cNvPr id="351" name="Google Shape;351;p26"/>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3(A–E). Eye covering suppresses night-time Cluster N activation.</a:t>
            </a:r>
            <a:endParaRPr sz="1800">
              <a:solidFill>
                <a:schemeClr val="dk1"/>
              </a:solidFill>
              <a:latin typeface="Calibri"/>
              <a:ea typeface="Calibri"/>
              <a:cs typeface="Calibri"/>
              <a:sym typeface="Calibri"/>
            </a:endParaRPr>
          </a:p>
        </p:txBody>
      </p:sp>
      <p:pic>
        <p:nvPicPr>
          <p:cNvPr id="352" name="Google Shape;352;p26"/>
          <p:cNvPicPr preferRelativeResize="0"/>
          <p:nvPr/>
        </p:nvPicPr>
        <p:blipFill rotWithShape="1">
          <a:blip r:embed="rId4">
            <a:alphaModFix/>
          </a:blip>
          <a:srcRect b="0" l="0" r="0" t="0"/>
          <a:stretch/>
        </p:blipFill>
        <p:spPr>
          <a:xfrm>
            <a:off x="8674031" y="4709071"/>
            <a:ext cx="1146660" cy="1051471"/>
          </a:xfrm>
          <a:prstGeom prst="rect">
            <a:avLst/>
          </a:prstGeom>
          <a:noFill/>
          <a:ln>
            <a:noFill/>
          </a:ln>
        </p:spPr>
      </p:pic>
      <p:sp>
        <p:nvSpPr>
          <p:cNvPr id="353" name="Google Shape;353;p26"/>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2. Dorsal brain preparation and location of Cluster N.</a:t>
            </a:r>
            <a:endParaRPr sz="1800">
              <a:solidFill>
                <a:schemeClr val="dk1"/>
              </a:solidFill>
              <a:latin typeface="Calibri"/>
              <a:ea typeface="Calibri"/>
              <a:cs typeface="Calibri"/>
              <a:sym typeface="Calibri"/>
            </a:endParaRPr>
          </a:p>
        </p:txBody>
      </p:sp>
      <p:sp>
        <p:nvSpPr>
          <p:cNvPr id="354" name="Google Shape;354;p2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5" name="Google Shape;355;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Mouritsen et al. (2005)</a:t>
            </a:r>
            <a:endParaRPr sz="1800">
              <a:solidFill>
                <a:schemeClr val="dk1"/>
              </a:solidFill>
              <a:latin typeface="Calibri"/>
              <a:ea typeface="Calibri"/>
              <a:cs typeface="Calibri"/>
              <a:sym typeface="Calibri"/>
            </a:endParaRPr>
          </a:p>
        </p:txBody>
      </p:sp>
      <p:sp>
        <p:nvSpPr>
          <p:cNvPr id="356" name="Google Shape;356;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0" name="Shape 360"/>
        <p:cNvGrpSpPr/>
        <p:nvPr/>
      </p:nvGrpSpPr>
      <p:grpSpPr>
        <a:xfrm>
          <a:off x="0" y="0"/>
          <a:ext cx="0" cy="0"/>
          <a:chOff x="0" y="0"/>
          <a:chExt cx="0" cy="0"/>
        </a:xfrm>
      </p:grpSpPr>
      <p:sp>
        <p:nvSpPr>
          <p:cNvPr id="361" name="Google Shape;361;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Cluster N lesions abolish magnetic compass orientation</a:t>
            </a:r>
            <a:endParaRPr sz="1800">
              <a:solidFill>
                <a:schemeClr val="dk1"/>
              </a:solidFill>
              <a:latin typeface="Calibri"/>
              <a:ea typeface="Calibri"/>
              <a:cs typeface="Calibri"/>
              <a:sym typeface="Calibri"/>
            </a:endParaRPr>
          </a:p>
        </p:txBody>
      </p:sp>
      <p:sp>
        <p:nvSpPr>
          <p:cNvPr id="362" name="Google Shape;362;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Zapka and colleagues tested European robin orientation before and after bilateral chemical lesions of Cluster N. The lesion agent, ibotenic acid, was injected locally, while sham-operated birds received the same procedure without the active injection. Tests followed at least 1 week of recovery. The lesions were bilateral, so both sides of Cluster N were affected.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Three conditions were tested: the natural magnetic field, a field with magnetic north rotated 120° anticlockwise, and an inverted vertical component. Sham-lesioned birds changed direction appropriately with each manipulation, while Cluster-N-lesioned birds failed to show coherent magnetic compass orientation. The rotated field tested whether the birds followed the new magnetic north in each condition.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The lesion shows that this region is necessary for normal compass performance. A lesion interrupts many cells at once, so the loss localizes a processing stage rather than one identified neuron. Sham controls kept the surgery itself from explaining the loss, so the lost orientation reflects the lesion. Sham-lesioned birds served as the control group for this result.</a:t>
            </a:r>
            <a:endParaRPr sz="1800">
              <a:solidFill>
                <a:schemeClr val="dk1"/>
              </a:solidFill>
              <a:latin typeface="Calibri"/>
              <a:ea typeface="Calibri"/>
              <a:cs typeface="Calibri"/>
              <a:sym typeface="Calibri"/>
            </a:endParaRPr>
          </a:p>
        </p:txBody>
      </p:sp>
      <p:pic>
        <p:nvPicPr>
          <p:cNvPr id="365" name="Google Shape;365;p27"/>
          <p:cNvPicPr preferRelativeResize="0"/>
          <p:nvPr/>
        </p:nvPicPr>
        <p:blipFill rotWithShape="1">
          <a:blip r:embed="rId3">
            <a:alphaModFix/>
          </a:blip>
          <a:srcRect b="0" l="0" r="0" t="0"/>
          <a:stretch/>
        </p:blipFill>
        <p:spPr>
          <a:xfrm>
            <a:off x="6870162" y="1280071"/>
            <a:ext cx="4754696" cy="1916757"/>
          </a:xfrm>
          <a:prstGeom prst="rect">
            <a:avLst/>
          </a:prstGeom>
          <a:noFill/>
          <a:ln>
            <a:noFill/>
          </a:ln>
        </p:spPr>
      </p:pic>
      <p:sp>
        <p:nvSpPr>
          <p:cNvPr id="366" name="Google Shape;366;p27"/>
          <p:cNvSpPr/>
          <p:nvPr/>
        </p:nvSpPr>
        <p:spPr>
          <a:xfrm>
            <a:off x="6870055" y="3288357"/>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2(a–h). Cluster N lesions abolish magnetic compass orientation.</a:t>
            </a:r>
            <a:endParaRPr sz="1800">
              <a:solidFill>
                <a:schemeClr val="dk1"/>
              </a:solidFill>
              <a:latin typeface="Calibri"/>
              <a:ea typeface="Calibri"/>
              <a:cs typeface="Calibri"/>
              <a:sym typeface="Calibri"/>
            </a:endParaRPr>
          </a:p>
        </p:txBody>
      </p:sp>
      <p:pic>
        <p:nvPicPr>
          <p:cNvPr id="367" name="Google Shape;367;p27"/>
          <p:cNvPicPr preferRelativeResize="0"/>
          <p:nvPr/>
        </p:nvPicPr>
        <p:blipFill rotWithShape="1">
          <a:blip r:embed="rId4">
            <a:alphaModFix/>
          </a:blip>
          <a:srcRect b="0" l="0" r="0" t="0"/>
          <a:stretch/>
        </p:blipFill>
        <p:spPr>
          <a:xfrm>
            <a:off x="8674031" y="4709071"/>
            <a:ext cx="1146660" cy="1051471"/>
          </a:xfrm>
          <a:prstGeom prst="rect">
            <a:avLst/>
          </a:prstGeom>
          <a:noFill/>
          <a:ln>
            <a:noFill/>
          </a:ln>
        </p:spPr>
      </p:pic>
      <p:sp>
        <p:nvSpPr>
          <p:cNvPr id="368" name="Google Shape;368;p27"/>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2. Dorsal brain preparation and location of Cluster N.</a:t>
            </a:r>
            <a:endParaRPr sz="1800">
              <a:solidFill>
                <a:schemeClr val="dk1"/>
              </a:solidFill>
              <a:latin typeface="Calibri"/>
              <a:ea typeface="Calibri"/>
              <a:cs typeface="Calibri"/>
              <a:sym typeface="Calibri"/>
            </a:endParaRPr>
          </a:p>
        </p:txBody>
      </p:sp>
      <p:sp>
        <p:nvSpPr>
          <p:cNvPr id="369" name="Google Shape;369;p27"/>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0" name="Google Shape;370;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Zapka et al. (2009); Mouritsen et al. (2005)</a:t>
            </a:r>
            <a:endParaRPr sz="1800">
              <a:solidFill>
                <a:schemeClr val="dk1"/>
              </a:solidFill>
              <a:latin typeface="Calibri"/>
              <a:ea typeface="Calibri"/>
              <a:cs typeface="Calibri"/>
              <a:sym typeface="Calibri"/>
            </a:endParaRPr>
          </a:p>
        </p:txBody>
      </p:sp>
      <p:sp>
        <p:nvSpPr>
          <p:cNvPr id="371" name="Google Shape;371;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5" name="Shape 375"/>
        <p:cNvGrpSpPr/>
        <p:nvPr/>
      </p:nvGrpSpPr>
      <p:grpSpPr>
        <a:xfrm>
          <a:off x="0" y="0"/>
          <a:ext cx="0" cy="0"/>
          <a:chOff x="0" y="0"/>
          <a:chExt cx="0" cy="0"/>
        </a:xfrm>
      </p:grpSpPr>
      <p:sp>
        <p:nvSpPr>
          <p:cNvPr id="376" name="Google Shape;376;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Celestial orientation survives the visual-region lesion</a:t>
            </a:r>
            <a:endParaRPr sz="1800">
              <a:solidFill>
                <a:schemeClr val="dk1"/>
              </a:solidFill>
              <a:latin typeface="Calibri"/>
              <a:ea typeface="Calibri"/>
              <a:cs typeface="Calibri"/>
              <a:sym typeface="Calibri"/>
            </a:endParaRPr>
          </a:p>
        </p:txBody>
      </p:sp>
      <p:sp>
        <p:nvSpPr>
          <p:cNvPr id="377" name="Google Shape;377;p2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Cluster-N-lesioned birds kept their orientation under a stationary planetarium sky that simulated local stars. Lesioned and sham-operated birds also oriented during natural sunset. These tests asked whether the lesion caused a general loss of directional movement or of visual orientation. The planetarium presented stars in a fixed, stationary display. The lesioned birds' responses to these cues were measured directly.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The preserved celestial responses contrast with the loss of magnetic compass orientation. The sunset response included a tendency toward the setting sun, so the authors considered how migratory direction interacts with phototaxis, movement toward or away from light. A sunset response can contain both light attraction and compass information. The star test added a further orientation condition.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The controls point to a fairly selective deficit in the magnetic compass, with other orientation behavior still intact in the tested tasks. Star-based and sunset-based orientation both remained available to the lesioned birds, which keeps the deficit specific to the compass. Lesioned birds kept responding to the sky, which shows that visual orientation remained available.</a:t>
            </a:r>
            <a:endParaRPr sz="1800">
              <a:solidFill>
                <a:schemeClr val="dk1"/>
              </a:solidFill>
              <a:latin typeface="Calibri"/>
              <a:ea typeface="Calibri"/>
              <a:cs typeface="Calibri"/>
              <a:sym typeface="Calibri"/>
            </a:endParaRPr>
          </a:p>
        </p:txBody>
      </p:sp>
      <p:pic>
        <p:nvPicPr>
          <p:cNvPr id="380" name="Google Shape;380;p28"/>
          <p:cNvPicPr preferRelativeResize="0"/>
          <p:nvPr/>
        </p:nvPicPr>
        <p:blipFill rotWithShape="1">
          <a:blip r:embed="rId3">
            <a:alphaModFix/>
          </a:blip>
          <a:srcRect b="0" l="0" r="0" t="0"/>
          <a:stretch/>
        </p:blipFill>
        <p:spPr>
          <a:xfrm>
            <a:off x="6870159" y="1280071"/>
            <a:ext cx="4754702" cy="1136898"/>
          </a:xfrm>
          <a:prstGeom prst="rect">
            <a:avLst/>
          </a:prstGeom>
          <a:noFill/>
          <a:ln>
            <a:noFill/>
          </a:ln>
        </p:spPr>
      </p:pic>
      <p:sp>
        <p:nvSpPr>
          <p:cNvPr id="381" name="Google Shape;381;p28"/>
          <p:cNvSpPr/>
          <p:nvPr/>
        </p:nvSpPr>
        <p:spPr>
          <a:xfrm>
            <a:off x="6870055" y="2508498"/>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3(a–c). Lesioned birds retain star and sun compass orientation.</a:t>
            </a:r>
            <a:endParaRPr sz="1800">
              <a:solidFill>
                <a:schemeClr val="dk1"/>
              </a:solidFill>
              <a:latin typeface="Calibri"/>
              <a:ea typeface="Calibri"/>
              <a:cs typeface="Calibri"/>
              <a:sym typeface="Calibri"/>
            </a:endParaRPr>
          </a:p>
        </p:txBody>
      </p:sp>
      <p:pic>
        <p:nvPicPr>
          <p:cNvPr id="382" name="Google Shape;382;p28"/>
          <p:cNvPicPr preferRelativeResize="0"/>
          <p:nvPr/>
        </p:nvPicPr>
        <p:blipFill rotWithShape="1">
          <a:blip r:embed="rId4">
            <a:alphaModFix/>
          </a:blip>
          <a:srcRect b="0" l="0" r="0" t="0"/>
          <a:stretch/>
        </p:blipFill>
        <p:spPr>
          <a:xfrm>
            <a:off x="8674031" y="4709071"/>
            <a:ext cx="1146660" cy="1051471"/>
          </a:xfrm>
          <a:prstGeom prst="rect">
            <a:avLst/>
          </a:prstGeom>
          <a:noFill/>
          <a:ln>
            <a:noFill/>
          </a:ln>
        </p:spPr>
      </p:pic>
      <p:sp>
        <p:nvSpPr>
          <p:cNvPr id="383" name="Google Shape;383;p28"/>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2. Dorsal brain preparation and location of Cluster N.</a:t>
            </a:r>
            <a:endParaRPr sz="1800">
              <a:solidFill>
                <a:schemeClr val="dk1"/>
              </a:solidFill>
              <a:latin typeface="Calibri"/>
              <a:ea typeface="Calibri"/>
              <a:cs typeface="Calibri"/>
              <a:sym typeface="Calibri"/>
            </a:endParaRPr>
          </a:p>
        </p:txBody>
      </p:sp>
      <p:sp>
        <p:nvSpPr>
          <p:cNvPr id="384" name="Google Shape;384;p28"/>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5" name="Google Shape;385;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Zapka et al. (2009); Mouritsen et al. (2005)</a:t>
            </a:r>
            <a:endParaRPr sz="1800">
              <a:solidFill>
                <a:schemeClr val="dk1"/>
              </a:solidFill>
              <a:latin typeface="Calibri"/>
              <a:ea typeface="Calibri"/>
              <a:cs typeface="Calibri"/>
              <a:sym typeface="Calibri"/>
            </a:endParaRPr>
          </a:p>
        </p:txBody>
      </p:sp>
      <p:sp>
        <p:nvSpPr>
          <p:cNvPr id="386" name="Google Shape;386;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0" name="Shape 390"/>
        <p:cNvGrpSpPr/>
        <p:nvPr/>
      </p:nvGrpSpPr>
      <p:grpSpPr>
        <a:xfrm>
          <a:off x="0" y="0"/>
          <a:ext cx="0" cy="0"/>
          <a:chOff x="0" y="0"/>
          <a:chExt cx="0" cy="0"/>
        </a:xfrm>
      </p:grpSpPr>
      <p:sp>
        <p:nvSpPr>
          <p:cNvPr id="391" name="Google Shape;391;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Trigeminal sections spare the robin magnetic compass</a:t>
            </a:r>
            <a:endParaRPr sz="1800">
              <a:solidFill>
                <a:schemeClr val="dk1"/>
              </a:solidFill>
              <a:latin typeface="Calibri"/>
              <a:ea typeface="Calibri"/>
              <a:cs typeface="Calibri"/>
              <a:sym typeface="Calibri"/>
            </a:endParaRPr>
          </a:p>
        </p:txBody>
      </p:sp>
      <p:sp>
        <p:nvSpPr>
          <p:cNvPr id="392" name="Google Shape;392;p2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The ophthalmic branch of the trigeminal nerve, called V1, carries sensory information from structures around the upper beak and head. Zapka and colleagues cut this branch bilaterally in one group and performed sham surgery in another, testing whether V1 is needed for the European robin's compass. Sectioning was performed on both sides of the head.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Sham-operated birds preferred about 10° in the natural field and 245° after magnetic north was rotated. V1-sectioned birds preferred about 354° and 264° under the same two fields. Both groups changed their headings with the rotated field despite the loss of trigeminal input. Sham and V1-sectioned birds were run in identical field settings.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V1 is dispensable for the compass task under these conditions. Compass direction and location-related map information are different functions, and this test addressed the first. The nerve may still carry magnetic information or serve other navigational roles, so the result stays specific to the task tested. The trigeminal input was removed in the V1-sectioned group only.</a:t>
            </a:r>
            <a:endParaRPr sz="1800">
              <a:solidFill>
                <a:schemeClr val="dk1"/>
              </a:solidFill>
              <a:latin typeface="Calibri"/>
              <a:ea typeface="Calibri"/>
              <a:cs typeface="Calibri"/>
              <a:sym typeface="Calibri"/>
            </a:endParaRPr>
          </a:p>
        </p:txBody>
      </p:sp>
      <p:pic>
        <p:nvPicPr>
          <p:cNvPr id="395" name="Google Shape;395;p29"/>
          <p:cNvPicPr preferRelativeResize="0"/>
          <p:nvPr/>
        </p:nvPicPr>
        <p:blipFill rotWithShape="1">
          <a:blip r:embed="rId3">
            <a:alphaModFix/>
          </a:blip>
          <a:srcRect b="0" l="0" r="0" t="0"/>
          <a:stretch/>
        </p:blipFill>
        <p:spPr>
          <a:xfrm>
            <a:off x="6870132" y="1280071"/>
            <a:ext cx="4754757" cy="2116634"/>
          </a:xfrm>
          <a:prstGeom prst="rect">
            <a:avLst/>
          </a:prstGeom>
          <a:noFill/>
          <a:ln>
            <a:noFill/>
          </a:ln>
        </p:spPr>
      </p:pic>
      <p:sp>
        <p:nvSpPr>
          <p:cNvPr id="396" name="Google Shape;396;p29"/>
          <p:cNvSpPr/>
          <p:nvPr/>
        </p:nvSpPr>
        <p:spPr>
          <a:xfrm>
            <a:off x="6870055" y="348823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1(a–f). Ophthalmic trigeminal sections spare the robin magnetic compass.</a:t>
            </a:r>
            <a:endParaRPr sz="1800">
              <a:solidFill>
                <a:schemeClr val="dk1"/>
              </a:solidFill>
              <a:latin typeface="Calibri"/>
              <a:ea typeface="Calibri"/>
              <a:cs typeface="Calibri"/>
              <a:sym typeface="Calibri"/>
            </a:endParaRPr>
          </a:p>
        </p:txBody>
      </p:sp>
      <p:sp>
        <p:nvSpPr>
          <p:cNvPr id="397" name="Google Shape;397;p29"/>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8" name="Google Shape;398;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Zapka et al. (2009)</a:t>
            </a:r>
            <a:endParaRPr sz="1800">
              <a:solidFill>
                <a:schemeClr val="dk1"/>
              </a:solidFill>
              <a:latin typeface="Calibri"/>
              <a:ea typeface="Calibri"/>
              <a:cs typeface="Calibri"/>
              <a:sym typeface="Calibri"/>
            </a:endParaRPr>
          </a:p>
        </p:txBody>
      </p:sp>
      <p:sp>
        <p:nvSpPr>
          <p:cNvPr id="399" name="Google Shape;399;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3" name="Shape 403"/>
        <p:cNvGrpSpPr/>
        <p:nvPr/>
      </p:nvGrpSpPr>
      <p:grpSpPr>
        <a:xfrm>
          <a:off x="0" y="0"/>
          <a:ext cx="0" cy="0"/>
          <a:chOff x="0" y="0"/>
          <a:chExt cx="0" cy="0"/>
        </a:xfrm>
      </p:grpSpPr>
      <p:sp>
        <p:nvSpPr>
          <p:cNvPr id="404" name="Google Shape;404;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Virtual displacement tests the bird magnetic map</a:t>
            </a:r>
            <a:endParaRPr sz="1800">
              <a:solidFill>
                <a:schemeClr val="dk1"/>
              </a:solidFill>
              <a:latin typeface="Calibri"/>
              <a:ea typeface="Calibri"/>
              <a:cs typeface="Calibri"/>
              <a:sym typeface="Calibri"/>
            </a:endParaRPr>
          </a:p>
        </p:txBody>
      </p:sp>
      <p:sp>
        <p:nvSpPr>
          <p:cNvPr id="405" name="Google Shape;405;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Pakhomov and colleagues tested Eurasian reed warblers, Acrocephalus scirpaceus, during spring migration. Virtual magnetic displacement changed local magnetic parameters to those of another place while the bird stayed at its capture site. Celestial, olfactory and landmark cues stayed associated with the original location. Each virtual displacement is simulated by the coil, not by physical movement.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The capture-site field had an intensity of 50,118 nT and an inclination of 70.1°. The replicated field from Zvenigorod, about 1,000 km east, had 52,175 nT and 71.2°. Declination also changed from +5.5° to +10.1°, the angular difference between geographical and magnetic north. Those values define the change that the birds experienced virtually.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Intact sensory pathways allow birds to respond to this conflicting magnetic location cue. A heading change after virtual displacement tests map-based compensation more specifically than a simple compass rotation. Virtual displacement keeps celestial and olfactory cues at the capture site, while a compass rotation changes only direction. Compensation is thus a map-level response, not a rotation response.</a:t>
            </a:r>
            <a:endParaRPr sz="1800">
              <a:solidFill>
                <a:schemeClr val="dk1"/>
              </a:solidFill>
              <a:latin typeface="Calibri"/>
              <a:ea typeface="Calibri"/>
              <a:cs typeface="Calibri"/>
              <a:sym typeface="Calibri"/>
            </a:endParaRPr>
          </a:p>
        </p:txBody>
      </p:sp>
      <p:pic>
        <p:nvPicPr>
          <p:cNvPr id="408" name="Google Shape;408;p30"/>
          <p:cNvPicPr preferRelativeResize="0"/>
          <p:nvPr/>
        </p:nvPicPr>
        <p:blipFill rotWithShape="1">
          <a:blip r:embed="rId3">
            <a:alphaModFix/>
          </a:blip>
          <a:srcRect b="0" l="0" r="0" t="0"/>
          <a:stretch/>
        </p:blipFill>
        <p:spPr>
          <a:xfrm>
            <a:off x="6870223" y="1280071"/>
            <a:ext cx="4754574" cy="2518470"/>
          </a:xfrm>
          <a:prstGeom prst="rect">
            <a:avLst/>
          </a:prstGeom>
          <a:noFill/>
          <a:ln>
            <a:noFill/>
          </a:ln>
        </p:spPr>
      </p:pic>
      <p:sp>
        <p:nvSpPr>
          <p:cNvPr id="409" name="Google Shape;409;p30"/>
          <p:cNvSpPr/>
          <p:nvPr/>
        </p:nvSpPr>
        <p:spPr>
          <a:xfrm>
            <a:off x="6870055" y="389007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Pakhomov et al. (2018), Fig. 1(A–D). A virtual displacement tests magnetic map compensation.</a:t>
            </a:r>
            <a:endParaRPr sz="1800">
              <a:solidFill>
                <a:schemeClr val="dk1"/>
              </a:solidFill>
              <a:latin typeface="Calibri"/>
              <a:ea typeface="Calibri"/>
              <a:cs typeface="Calibri"/>
              <a:sym typeface="Calibri"/>
            </a:endParaRPr>
          </a:p>
        </p:txBody>
      </p:sp>
      <p:pic>
        <p:nvPicPr>
          <p:cNvPr id="410" name="Google Shape;410;p30"/>
          <p:cNvPicPr preferRelativeResize="0"/>
          <p:nvPr/>
        </p:nvPicPr>
        <p:blipFill rotWithShape="1">
          <a:blip r:embed="rId4">
            <a:alphaModFix/>
          </a:blip>
          <a:srcRect b="0" l="0" r="0" t="0"/>
          <a:stretch/>
        </p:blipFill>
        <p:spPr>
          <a:xfrm>
            <a:off x="8066436" y="4709071"/>
            <a:ext cx="2361999" cy="1051471"/>
          </a:xfrm>
          <a:prstGeom prst="rect">
            <a:avLst/>
          </a:prstGeom>
          <a:noFill/>
          <a:ln>
            <a:noFill/>
          </a:ln>
        </p:spPr>
      </p:pic>
      <p:sp>
        <p:nvSpPr>
          <p:cNvPr id="411" name="Google Shape;411;p30"/>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1(a–f). Published V1 section diagram and robin compass controls.</a:t>
            </a:r>
            <a:endParaRPr sz="1800">
              <a:solidFill>
                <a:schemeClr val="dk1"/>
              </a:solidFill>
              <a:latin typeface="Calibri"/>
              <a:ea typeface="Calibri"/>
              <a:cs typeface="Calibri"/>
              <a:sym typeface="Calibri"/>
            </a:endParaRPr>
          </a:p>
        </p:txBody>
      </p:sp>
      <p:sp>
        <p:nvSpPr>
          <p:cNvPr id="412" name="Google Shape;412;p30"/>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3" name="Google Shape;41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Pakhomov et al. (2018); Zapka et al. (2009)</a:t>
            </a:r>
            <a:endParaRPr sz="1800">
              <a:solidFill>
                <a:schemeClr val="dk1"/>
              </a:solidFill>
              <a:latin typeface="Calibri"/>
              <a:ea typeface="Calibri"/>
              <a:cs typeface="Calibri"/>
              <a:sym typeface="Calibri"/>
            </a:endParaRPr>
          </a:p>
        </p:txBody>
      </p:sp>
      <p:sp>
        <p:nvSpPr>
          <p:cNvPr id="414" name="Google Shape;414;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8" name="Shape 418"/>
        <p:cNvGrpSpPr/>
        <p:nvPr/>
      </p:nvGrpSpPr>
      <p:grpSpPr>
        <a:xfrm>
          <a:off x="0" y="0"/>
          <a:ext cx="0" cy="0"/>
          <a:chOff x="0" y="0"/>
          <a:chExt cx="0" cy="0"/>
        </a:xfrm>
      </p:grpSpPr>
      <p:sp>
        <p:nvSpPr>
          <p:cNvPr id="419" name="Google Shape;419;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Trigeminal input is necessary for map compensation</a:t>
            </a:r>
            <a:endParaRPr sz="1800">
              <a:solidFill>
                <a:schemeClr val="dk1"/>
              </a:solidFill>
              <a:latin typeface="Calibri"/>
              <a:ea typeface="Calibri"/>
              <a:cs typeface="Calibri"/>
              <a:sym typeface="Calibri"/>
            </a:endParaRPr>
          </a:p>
        </p:txBody>
      </p:sp>
      <p:sp>
        <p:nvSpPr>
          <p:cNvPr id="420" name="Google Shape;420;p3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After bilateral V1 section or sham surgery, reed warblers were exposed to the virtual displacement field. Sham-operated birds turned from a northeasterly capture-site course to about 323°, northwest, consistent with compensation for an eastward displacement relative to their breeding destinations. The sham group served as the reference for the compensatory response. Their response shows the displacement was recognized.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V1-sectioned birds instead kept a course near 34°, northeast, close to their original direction. They stayed directionally active, which rules out a general loss of movement as the explanation for the result. Preserved oriented behavior therefore shows that the deficit is specific to map compensation. The sham birds, by contrast, turned toward about 323°.</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The experiment establishes a requirement for trigeminal input in this magnetic map task, while leaving the peripheral receptor unidentified. It concerns reed warblers, whereas the preserved robin compass after V1 section came from European robins. The displacement cue alone changed between the two test conditions. Sham surgery left the compensatory turn intact.</a:t>
            </a:r>
            <a:endParaRPr sz="1800">
              <a:solidFill>
                <a:schemeClr val="dk1"/>
              </a:solidFill>
              <a:latin typeface="Calibri"/>
              <a:ea typeface="Calibri"/>
              <a:cs typeface="Calibri"/>
              <a:sym typeface="Calibri"/>
            </a:endParaRPr>
          </a:p>
        </p:txBody>
      </p:sp>
      <p:pic>
        <p:nvPicPr>
          <p:cNvPr id="423" name="Google Shape;423;p31"/>
          <p:cNvPicPr preferRelativeResize="0"/>
          <p:nvPr/>
        </p:nvPicPr>
        <p:blipFill rotWithShape="1">
          <a:blip r:embed="rId3">
            <a:alphaModFix/>
          </a:blip>
          <a:srcRect b="0" l="0" r="0" t="0"/>
          <a:stretch/>
        </p:blipFill>
        <p:spPr>
          <a:xfrm>
            <a:off x="6870223" y="1280071"/>
            <a:ext cx="4754574" cy="2518470"/>
          </a:xfrm>
          <a:prstGeom prst="rect">
            <a:avLst/>
          </a:prstGeom>
          <a:noFill/>
          <a:ln>
            <a:noFill/>
          </a:ln>
        </p:spPr>
      </p:pic>
      <p:sp>
        <p:nvSpPr>
          <p:cNvPr id="424" name="Google Shape;424;p31"/>
          <p:cNvSpPr/>
          <p:nvPr/>
        </p:nvSpPr>
        <p:spPr>
          <a:xfrm>
            <a:off x="6870055" y="389007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Pakhomov et al. (2018), Fig. 1(A–D). Trigeminal sections prevent the compensatory heading change.</a:t>
            </a:r>
            <a:endParaRPr sz="1800">
              <a:solidFill>
                <a:schemeClr val="dk1"/>
              </a:solidFill>
              <a:latin typeface="Calibri"/>
              <a:ea typeface="Calibri"/>
              <a:cs typeface="Calibri"/>
              <a:sym typeface="Calibri"/>
            </a:endParaRPr>
          </a:p>
        </p:txBody>
      </p:sp>
      <p:pic>
        <p:nvPicPr>
          <p:cNvPr id="425" name="Google Shape;425;p31"/>
          <p:cNvPicPr preferRelativeResize="0"/>
          <p:nvPr/>
        </p:nvPicPr>
        <p:blipFill rotWithShape="1">
          <a:blip r:embed="rId4">
            <a:alphaModFix/>
          </a:blip>
          <a:srcRect b="0" l="0" r="0" t="0"/>
          <a:stretch/>
        </p:blipFill>
        <p:spPr>
          <a:xfrm>
            <a:off x="8066436" y="4709071"/>
            <a:ext cx="2361999" cy="1051471"/>
          </a:xfrm>
          <a:prstGeom prst="rect">
            <a:avLst/>
          </a:prstGeom>
          <a:noFill/>
          <a:ln>
            <a:noFill/>
          </a:ln>
        </p:spPr>
      </p:pic>
      <p:sp>
        <p:nvSpPr>
          <p:cNvPr id="426" name="Google Shape;426;p31"/>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1(a–f). Published V1 section diagram and robin compass controls.</a:t>
            </a:r>
            <a:endParaRPr sz="1800">
              <a:solidFill>
                <a:schemeClr val="dk1"/>
              </a:solidFill>
              <a:latin typeface="Calibri"/>
              <a:ea typeface="Calibri"/>
              <a:cs typeface="Calibri"/>
              <a:sym typeface="Calibri"/>
            </a:endParaRPr>
          </a:p>
        </p:txBody>
      </p:sp>
      <p:sp>
        <p:nvSpPr>
          <p:cNvPr id="427" name="Google Shape;427;p31"/>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8" name="Google Shape;428;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Pakhomov et al. (2018); Zapka et al. (2009)</a:t>
            </a:r>
            <a:endParaRPr sz="1800">
              <a:solidFill>
                <a:schemeClr val="dk1"/>
              </a:solidFill>
              <a:latin typeface="Calibri"/>
              <a:ea typeface="Calibri"/>
              <a:cs typeface="Calibri"/>
              <a:sym typeface="Calibri"/>
            </a:endParaRPr>
          </a:p>
        </p:txBody>
      </p:sp>
      <p:sp>
        <p:nvSpPr>
          <p:cNvPr id="429" name="Google Shape;429;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3" name="Shape 433"/>
        <p:cNvGrpSpPr/>
        <p:nvPr/>
      </p:nvGrpSpPr>
      <p:grpSpPr>
        <a:xfrm>
          <a:off x="0" y="0"/>
          <a:ext cx="0" cy="0"/>
          <a:chOff x="0" y="0"/>
          <a:chExt cx="0" cy="0"/>
        </a:xfrm>
      </p:grpSpPr>
      <p:sp>
        <p:nvSpPr>
          <p:cNvPr id="434" name="Google Shape;434;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Electromagnetic shielding restores robin orientation</a:t>
            </a:r>
            <a:endParaRPr sz="1800">
              <a:solidFill>
                <a:schemeClr val="dk1"/>
              </a:solidFill>
              <a:latin typeface="Calibri"/>
              <a:ea typeface="Calibri"/>
              <a:cs typeface="Calibri"/>
              <a:sym typeface="Calibri"/>
            </a:endParaRPr>
          </a:p>
        </p:txBody>
      </p:sp>
      <p:sp>
        <p:nvSpPr>
          <p:cNvPr id="435" name="Google Shape;435;p3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Engels and colleagues found that European robins housed in wooden huts on an urban campus failed to express their expected migratory direction. They added grounded aluminum screening to reduce ambient electromagnetic noise while keeping the static Earth field available. Screening left the static field in place. Urban surroundings produced the electromagnetic noise that the study measured.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The screening attenuated noise from about 50 kHz to at least 20 MHz by roughly two orders of magnitude, and the birds recovered seasonal magnetic orientation. Ambient noise peaked at approximately 0.1 to 50 nT in individual frequency bands, far below the static field of about 49,000 nT. The recovery was measured after screening was installed.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A weak oscillating signal can interfere with orientation even though its amplitude is far smaller than the static field that supplies the compass. The oscillating exposure is small but can disturb the process that reads that field. Noise and static field differ in time pattern, since noise oscillates rapidly. Rapid oscillation can interfere with a sensory process.</a:t>
            </a:r>
            <a:endParaRPr sz="1800">
              <a:solidFill>
                <a:schemeClr val="dk1"/>
              </a:solidFill>
              <a:latin typeface="Calibri"/>
              <a:ea typeface="Calibri"/>
              <a:cs typeface="Calibri"/>
              <a:sym typeface="Calibri"/>
            </a:endParaRPr>
          </a:p>
        </p:txBody>
      </p:sp>
      <p:pic>
        <p:nvPicPr>
          <p:cNvPr id="438" name="Google Shape;438;p32"/>
          <p:cNvPicPr preferRelativeResize="0"/>
          <p:nvPr/>
        </p:nvPicPr>
        <p:blipFill rotWithShape="1">
          <a:blip r:embed="rId3">
            <a:alphaModFix/>
          </a:blip>
          <a:srcRect b="0" l="0" r="0" t="0"/>
          <a:stretch/>
        </p:blipFill>
        <p:spPr>
          <a:xfrm>
            <a:off x="6914638" y="1280071"/>
            <a:ext cx="4665446" cy="4297561"/>
          </a:xfrm>
          <a:prstGeom prst="rect">
            <a:avLst/>
          </a:prstGeom>
          <a:noFill/>
          <a:ln>
            <a:noFill/>
          </a:ln>
        </p:spPr>
      </p:pic>
      <p:sp>
        <p:nvSpPr>
          <p:cNvPr id="439" name="Google Shape;439;p32"/>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Engels et al. (2014), Fig. 1(a–d). Shielding restores robin orientation and reduces electromagnetic noise.</a:t>
            </a:r>
            <a:endParaRPr sz="1800">
              <a:solidFill>
                <a:schemeClr val="dk1"/>
              </a:solidFill>
              <a:latin typeface="Calibri"/>
              <a:ea typeface="Calibri"/>
              <a:cs typeface="Calibri"/>
              <a:sym typeface="Calibri"/>
            </a:endParaRPr>
          </a:p>
        </p:txBody>
      </p:sp>
      <p:sp>
        <p:nvSpPr>
          <p:cNvPr id="440" name="Google Shape;440;p32"/>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1" name="Google Shape;441;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Engels et al. (2014)</a:t>
            </a:r>
            <a:endParaRPr sz="1800">
              <a:solidFill>
                <a:schemeClr val="dk1"/>
              </a:solidFill>
              <a:latin typeface="Calibri"/>
              <a:ea typeface="Calibri"/>
              <a:cs typeface="Calibri"/>
              <a:sym typeface="Calibri"/>
            </a:endParaRPr>
          </a:p>
        </p:txBody>
      </p:sp>
      <p:sp>
        <p:nvSpPr>
          <p:cNvPr id="442" name="Google Shape;442;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6" name="Shape 446"/>
        <p:cNvGrpSpPr/>
        <p:nvPr/>
      </p:nvGrpSpPr>
      <p:grpSpPr>
        <a:xfrm>
          <a:off x="0" y="0"/>
          <a:ext cx="0" cy="0"/>
          <a:chOff x="0" y="0"/>
          <a:chExt cx="0" cy="0"/>
        </a:xfrm>
      </p:grpSpPr>
      <p:sp>
        <p:nvSpPr>
          <p:cNvPr id="447" name="Google Shape;447;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Grounding reversibly changes the shielding effect</a:t>
            </a:r>
            <a:endParaRPr sz="1800">
              <a:solidFill>
                <a:schemeClr val="dk1"/>
              </a:solidFill>
              <a:latin typeface="Calibri"/>
              <a:ea typeface="Calibri"/>
              <a:cs typeface="Calibri"/>
              <a:sym typeface="Calibri"/>
            </a:endParaRPr>
          </a:p>
        </p:txBody>
      </p:sp>
      <p:sp>
        <p:nvSpPr>
          <p:cNvPr id="448" name="Google Shape;448;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The aluminum screens lost much of their protective effect when disconnected from electrical ground. Engels and colleagues alternated tests of the same birds between grounded and ungrounded screened huts, while observers scoring orientation were unaware of each hut's electrical condition. The observers were blind, so scoring did not depend on the hut's condition.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Birds oriented toward their spring migratory direction in grounded huts but lacked a consistent direction in ungrounded huts. Field measurements recorded the change in electromagnetic noise, which confirmed the difference between the two huts. The contrast between huts is the basis for the causal claim. Each hut had one electrical condition at a time.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Reversing the grounding strengthens the causal link between the screened electromagnetic environment and compass performance. Near-field measurements have to account for both electric and magnetic components of an exposure. Metal screens alone are not a sufficient control for this effect. Grounding is the variable that changed the outcome, not the presence of metal.</a:t>
            </a:r>
            <a:endParaRPr sz="1800">
              <a:solidFill>
                <a:schemeClr val="dk1"/>
              </a:solidFill>
              <a:latin typeface="Calibri"/>
              <a:ea typeface="Calibri"/>
              <a:cs typeface="Calibri"/>
              <a:sym typeface="Calibri"/>
            </a:endParaRPr>
          </a:p>
        </p:txBody>
      </p:sp>
      <p:pic>
        <p:nvPicPr>
          <p:cNvPr id="451" name="Google Shape;451;p33"/>
          <p:cNvPicPr preferRelativeResize="0"/>
          <p:nvPr/>
        </p:nvPicPr>
        <p:blipFill rotWithShape="1">
          <a:blip r:embed="rId3">
            <a:alphaModFix/>
          </a:blip>
          <a:srcRect b="0" l="0" r="0" t="0"/>
          <a:stretch/>
        </p:blipFill>
        <p:spPr>
          <a:xfrm>
            <a:off x="6914638" y="1280071"/>
            <a:ext cx="4665446" cy="4297561"/>
          </a:xfrm>
          <a:prstGeom prst="rect">
            <a:avLst/>
          </a:prstGeom>
          <a:noFill/>
          <a:ln>
            <a:noFill/>
          </a:ln>
        </p:spPr>
      </p:pic>
      <p:sp>
        <p:nvSpPr>
          <p:cNvPr id="452" name="Google Shape;452;p33"/>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Engels et al. (2014), Fig. 2(a–f). Grounding controls the effect of shielding on orientation.</a:t>
            </a:r>
            <a:endParaRPr sz="1800">
              <a:solidFill>
                <a:schemeClr val="dk1"/>
              </a:solidFill>
              <a:latin typeface="Calibri"/>
              <a:ea typeface="Calibri"/>
              <a:cs typeface="Calibri"/>
              <a:sym typeface="Calibri"/>
            </a:endParaRPr>
          </a:p>
        </p:txBody>
      </p:sp>
      <p:sp>
        <p:nvSpPr>
          <p:cNvPr id="453" name="Google Shape;453;p33"/>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Engels et al. (2014)</a:t>
            </a:r>
            <a:endParaRPr sz="1800">
              <a:solidFill>
                <a:schemeClr val="dk1"/>
              </a:solidFill>
              <a:latin typeface="Calibri"/>
              <a:ea typeface="Calibri"/>
              <a:cs typeface="Calibri"/>
              <a:sym typeface="Calibri"/>
            </a:endParaRPr>
          </a:p>
        </p:txBody>
      </p:sp>
      <p:sp>
        <p:nvSpPr>
          <p:cNvPr id="455" name="Google Shape;455;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9" name="Shape 459"/>
        <p:cNvGrpSpPr/>
        <p:nvPr/>
      </p:nvGrpSpPr>
      <p:grpSpPr>
        <a:xfrm>
          <a:off x="0" y="0"/>
          <a:ext cx="0" cy="0"/>
          <a:chOff x="0" y="0"/>
          <a:chExt cx="0" cy="0"/>
        </a:xfrm>
      </p:grpSpPr>
      <p:sp>
        <p:nvSpPr>
          <p:cNvPr id="460" name="Google Shape;460;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Reintroduced noise disrupts the recovered compass</a:t>
            </a:r>
            <a:endParaRPr sz="1800">
              <a:solidFill>
                <a:schemeClr val="dk1"/>
              </a:solidFill>
              <a:latin typeface="Calibri"/>
              <a:ea typeface="Calibri"/>
              <a:cs typeface="Calibri"/>
              <a:sym typeface="Calibri"/>
            </a:endParaRPr>
          </a:p>
        </p:txBody>
      </p:sp>
      <p:sp>
        <p:nvSpPr>
          <p:cNvPr id="461" name="Google Shape;461;p3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Inside grounded screened huts, investigators introduced broadband electromagnetic noise from about 2 kHz to 9 MHz. Robins became disoriented again, which recreated the behavioral deficit in a setting that otherwise supported normal orientation. The treatment used the same grounded screened huts as the recovery test. Only generator output differed between the two noise conditions.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With the same electronics present but generator output at its minimum, birds recovered their seasonal direction and responded to a 120° anticlockwise rotation of the static field. Separate bands near 20 to 450 kHz and 600 kHz to 3 MHz also interfered with orientation. Birds recovered in the rotated test, showing the compass responded to the rotation.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Broad disruption indicates electromagnetic sensitivity relevant to compass processing, yet it leaves unspecified the chemistry that links that sensitivity to neuronal firing. Radiofrequency susceptibility narrows the candidate mechanisms without completing the pathway. Testing a candidate radical-pair mechanism requires molecular and anatomical experiments of its own. Chemistry linking the field to firing is still to be specified.</a:t>
            </a:r>
            <a:endParaRPr sz="1800">
              <a:solidFill>
                <a:schemeClr val="dk1"/>
              </a:solidFill>
              <a:latin typeface="Calibri"/>
              <a:ea typeface="Calibri"/>
              <a:cs typeface="Calibri"/>
              <a:sym typeface="Calibri"/>
            </a:endParaRPr>
          </a:p>
        </p:txBody>
      </p:sp>
      <p:pic>
        <p:nvPicPr>
          <p:cNvPr id="464" name="Google Shape;464;p34"/>
          <p:cNvPicPr preferRelativeResize="0"/>
          <p:nvPr/>
        </p:nvPicPr>
        <p:blipFill rotWithShape="1">
          <a:blip r:embed="rId3">
            <a:alphaModFix/>
          </a:blip>
          <a:srcRect b="0" l="0" r="0" t="0"/>
          <a:stretch/>
        </p:blipFill>
        <p:spPr>
          <a:xfrm>
            <a:off x="6896490" y="1280071"/>
            <a:ext cx="4701890" cy="4297561"/>
          </a:xfrm>
          <a:prstGeom prst="rect">
            <a:avLst/>
          </a:prstGeom>
          <a:noFill/>
          <a:ln>
            <a:noFill/>
          </a:ln>
        </p:spPr>
      </p:pic>
      <p:sp>
        <p:nvSpPr>
          <p:cNvPr id="465" name="Google Shape;465;p34"/>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Engels et al. (2014), Fig. 3(a–e). Reintroduced broadband noise disrupts magnetic orientation.</a:t>
            </a:r>
            <a:endParaRPr sz="1800">
              <a:solidFill>
                <a:schemeClr val="dk1"/>
              </a:solidFill>
              <a:latin typeface="Calibri"/>
              <a:ea typeface="Calibri"/>
              <a:cs typeface="Calibri"/>
              <a:sym typeface="Calibri"/>
            </a:endParaRPr>
          </a:p>
        </p:txBody>
      </p:sp>
      <p:sp>
        <p:nvSpPr>
          <p:cNvPr id="466" name="Google Shape;466;p3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7" name="Google Shape;467;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Engels et al. (2014)</a:t>
            </a:r>
            <a:endParaRPr sz="1800">
              <a:solidFill>
                <a:schemeClr val="dk1"/>
              </a:solidFill>
              <a:latin typeface="Calibri"/>
              <a:ea typeface="Calibri"/>
              <a:cs typeface="Calibri"/>
              <a:sym typeface="Calibri"/>
            </a:endParaRPr>
          </a:p>
        </p:txBody>
      </p:sp>
      <p:sp>
        <p:nvSpPr>
          <p:cNvPr id="468" name="Google Shape;468;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2" name="Shape 472"/>
        <p:cNvGrpSpPr/>
        <p:nvPr/>
      </p:nvGrpSpPr>
      <p:grpSpPr>
        <a:xfrm>
          <a:off x="0" y="0"/>
          <a:ext cx="0" cy="0"/>
          <a:chOff x="0" y="0"/>
          <a:chExt cx="0" cy="0"/>
        </a:xfrm>
      </p:grpSpPr>
      <p:sp>
        <p:nvSpPr>
          <p:cNvPr id="473" name="Google Shape;473;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Retinal Cry4 expression varies with migratory season</a:t>
            </a:r>
            <a:endParaRPr sz="1800">
              <a:solidFill>
                <a:schemeClr val="dk1"/>
              </a:solidFill>
              <a:latin typeface="Calibri"/>
              <a:ea typeface="Calibri"/>
              <a:cs typeface="Calibri"/>
              <a:sym typeface="Calibri"/>
            </a:endParaRPr>
          </a:p>
        </p:txBody>
      </p:sp>
      <p:sp>
        <p:nvSpPr>
          <p:cNvPr id="474" name="Google Shape;474;p3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8A3B32"/>
              </a:buClr>
              <a:buSzPts val="1500"/>
              <a:buFont typeface="Arial"/>
              <a:buNone/>
            </a:pPr>
            <a:r>
              <a:rPr b="1" i="0" lang="en-US" sz="1400">
                <a:solidFill>
                  <a:srgbClr val="8A3B32"/>
                </a:solidFill>
                <a:latin typeface="Arial"/>
                <a:ea typeface="Arial"/>
                <a:cs typeface="Arial"/>
                <a:sym typeface="Arial"/>
              </a:rPr>
              <a:t>Cryptochromes</a:t>
            </a:r>
            <a:r>
              <a:rPr b="0" i="0" lang="en-US" sz="1400">
                <a:solidFill>
                  <a:srgbClr val="26252A"/>
                </a:solidFill>
                <a:latin typeface="Arial"/>
                <a:ea typeface="Arial"/>
                <a:cs typeface="Arial"/>
                <a:sym typeface="Arial"/>
              </a:rPr>
              <a:t> are flavoproteins with a flavin cofactor, related to photolyases, enzymes that repair DNA with light. Günther and colleagues measured retinal cryptochrome messenger RNA across migratory and non-migratory seasons in European robins and domestic chickens. Cry4 is one of several cryptochrome genes in the retina. Their light sensitivity makes them candidates for a light-based sensor.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500"/>
              <a:buFont typeface="Arial"/>
              <a:buNone/>
            </a:pPr>
            <a:r>
              <a:rPr b="0" i="0" lang="en-US" sz="1400">
                <a:solidFill>
                  <a:srgbClr val="26252A"/>
                </a:solidFill>
                <a:latin typeface="Arial"/>
                <a:ea typeface="Arial"/>
                <a:cs typeface="Arial"/>
                <a:sym typeface="Arial"/>
              </a:rPr>
              <a:t>Cry4 transcript abundance rose during spring and autumn migratory seasons in robins, but the same increase was absent in chickens. Over 24 hours, Cry1 and Cry2 varied more strongly than Cry4, which showed relatively weak circadian variation. The seasonal rise appeared only in the migratory robins, so it is tied to the migratory season rather than the calendar alone.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500"/>
              <a:buFont typeface="Arial"/>
              <a:buNone/>
            </a:pPr>
            <a:r>
              <a:rPr b="0" i="0" lang="en-US" sz="1400">
                <a:solidFill>
                  <a:srgbClr val="26252A"/>
                </a:solidFill>
                <a:latin typeface="Arial"/>
                <a:ea typeface="Arial"/>
                <a:cs typeface="Arial"/>
                <a:sym typeface="Arial"/>
              </a:rPr>
              <a:t>The seasonal pattern makes Cry4 a candidate for nocturnal navigation rather than a strongly rhythmic clock transcript. Transcript level reports how much Cry4 is made, which is a different property from how sensitive the protein is to a magnetic field. Seasonal expression correlates with migratory physiology, without proof that Cry4 is needed for a magnetic compass.</a:t>
            </a:r>
            <a:endParaRPr sz="1800">
              <a:solidFill>
                <a:schemeClr val="dk1"/>
              </a:solidFill>
              <a:latin typeface="Calibri"/>
              <a:ea typeface="Calibri"/>
              <a:cs typeface="Calibri"/>
              <a:sym typeface="Calibri"/>
            </a:endParaRPr>
          </a:p>
        </p:txBody>
      </p:sp>
      <p:pic>
        <p:nvPicPr>
          <p:cNvPr id="477" name="Google Shape;477;p35"/>
          <p:cNvPicPr preferRelativeResize="0"/>
          <p:nvPr/>
        </p:nvPicPr>
        <p:blipFill rotWithShape="1">
          <a:blip r:embed="rId3">
            <a:alphaModFix/>
          </a:blip>
          <a:srcRect b="0" l="0" r="0" t="0"/>
          <a:stretch/>
        </p:blipFill>
        <p:spPr>
          <a:xfrm>
            <a:off x="6870162" y="1280071"/>
            <a:ext cx="4754696" cy="1903214"/>
          </a:xfrm>
          <a:prstGeom prst="rect">
            <a:avLst/>
          </a:prstGeom>
          <a:noFill/>
          <a:ln>
            <a:noFill/>
          </a:ln>
        </p:spPr>
      </p:pic>
      <p:sp>
        <p:nvSpPr>
          <p:cNvPr id="478" name="Google Shape;478;p35"/>
          <p:cNvSpPr/>
          <p:nvPr/>
        </p:nvSpPr>
        <p:spPr>
          <a:xfrm>
            <a:off x="6870055" y="327481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2. Cry4 expression differs between migratory and non-migratory seasons.</a:t>
            </a:r>
            <a:endParaRPr sz="1800">
              <a:solidFill>
                <a:schemeClr val="dk1"/>
              </a:solidFill>
              <a:latin typeface="Calibri"/>
              <a:ea typeface="Calibri"/>
              <a:cs typeface="Calibri"/>
              <a:sym typeface="Calibri"/>
            </a:endParaRPr>
          </a:p>
        </p:txBody>
      </p:sp>
      <p:pic>
        <p:nvPicPr>
          <p:cNvPr id="479" name="Google Shape;479;p35"/>
          <p:cNvPicPr preferRelativeResize="0"/>
          <p:nvPr/>
        </p:nvPicPr>
        <p:blipFill rotWithShape="1">
          <a:blip r:embed="rId4">
            <a:alphaModFix/>
          </a:blip>
          <a:srcRect b="0" l="0" r="0" t="0"/>
          <a:stretch/>
        </p:blipFill>
        <p:spPr>
          <a:xfrm>
            <a:off x="8852008" y="4206180"/>
            <a:ext cx="790855" cy="1554361"/>
          </a:xfrm>
          <a:prstGeom prst="rect">
            <a:avLst/>
          </a:prstGeom>
          <a:noFill/>
          <a:ln>
            <a:noFill/>
          </a:ln>
        </p:spPr>
      </p:pic>
      <p:sp>
        <p:nvSpPr>
          <p:cNvPr id="480" name="Google Shape;480;p35"/>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4(F–G). Magnified outer segments compare Cry4 with ultraviolet opsin staining.</a:t>
            </a:r>
            <a:endParaRPr sz="1800">
              <a:solidFill>
                <a:schemeClr val="dk1"/>
              </a:solidFill>
              <a:latin typeface="Calibri"/>
              <a:ea typeface="Calibri"/>
              <a:cs typeface="Calibri"/>
              <a:sym typeface="Calibri"/>
            </a:endParaRPr>
          </a:p>
        </p:txBody>
      </p:sp>
      <p:sp>
        <p:nvSpPr>
          <p:cNvPr id="481" name="Google Shape;481;p35"/>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2" name="Google Shape;482;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Günther et al. (2018)</a:t>
            </a:r>
            <a:endParaRPr sz="1800">
              <a:solidFill>
                <a:schemeClr val="dk1"/>
              </a:solidFill>
              <a:latin typeface="Calibri"/>
              <a:ea typeface="Calibri"/>
              <a:cs typeface="Calibri"/>
              <a:sym typeface="Calibri"/>
            </a:endParaRPr>
          </a:p>
        </p:txBody>
      </p:sp>
      <p:sp>
        <p:nvSpPr>
          <p:cNvPr id="483" name="Google Shape;483;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7" name="Shape 487"/>
        <p:cNvGrpSpPr/>
        <p:nvPr/>
      </p:nvGrpSpPr>
      <p:grpSpPr>
        <a:xfrm>
          <a:off x="0" y="0"/>
          <a:ext cx="0" cy="0"/>
          <a:chOff x="0" y="0"/>
          <a:chExt cx="0" cy="0"/>
        </a:xfrm>
      </p:grpSpPr>
      <p:sp>
        <p:nvSpPr>
          <p:cNvPr id="488" name="Google Shape;48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Cry4 staining localizes to photoreceptor outer segments</a:t>
            </a:r>
            <a:endParaRPr sz="1800">
              <a:solidFill>
                <a:schemeClr val="dk1"/>
              </a:solidFill>
              <a:latin typeface="Calibri"/>
              <a:ea typeface="Calibri"/>
              <a:cs typeface="Calibri"/>
              <a:sym typeface="Calibri"/>
            </a:endParaRPr>
          </a:p>
        </p:txBody>
      </p:sp>
      <p:sp>
        <p:nvSpPr>
          <p:cNvPr id="489" name="Google Shape;489;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The retina contains light-sensitive photoreceptors, including cones and rods. A photoreceptor's </a:t>
            </a:r>
            <a:r>
              <a:rPr b="1" i="0" lang="en-US" sz="1400">
                <a:solidFill>
                  <a:srgbClr val="8A3B32"/>
                </a:solidFill>
                <a:latin typeface="Arial"/>
                <a:ea typeface="Arial"/>
                <a:cs typeface="Arial"/>
                <a:sym typeface="Arial"/>
              </a:rPr>
              <a:t>outer segment</a:t>
            </a:r>
            <a:r>
              <a:rPr b="0" i="0" lang="en-US" sz="1400">
                <a:solidFill>
                  <a:srgbClr val="26252A"/>
                </a:solidFill>
                <a:latin typeface="Arial"/>
                <a:ea typeface="Arial"/>
                <a:cs typeface="Arial"/>
                <a:sym typeface="Arial"/>
              </a:rPr>
              <a:t> is the specialized compartment containing light-sensitive membrane structures. Günther and colleagues used immunohistochemistry, an antibody-based method, to find where Cry4 occurs in robin retina. Photoreceptor outer segments are where the candidate protein appears. This compartment is the focus of the staining.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Cry4 immunoreactivity concentrated in photoreceptor outer segments across peripheral and central retinal regions. The team stained robin and chicken retinas with monoclonal and polyclonal antibodies rather than a single reagent. Staining was judged in both species, so both retinas were evaluated directly. Robin retina is the tissue of interest, and chicken retina is the reference.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Localization places Cry4 in a tissue compatible with a visually mediated magnetic process. Fluorescence reports the distribution of the antibody's target, which is distinct from the chemistry or electrical output of a magnetoreceptor. Each fluorescent signal marks where the antibody binds in the tissue. This result is anatomical, not functional. It places the protein in the right tissue.</a:t>
            </a:r>
            <a:endParaRPr sz="1800">
              <a:solidFill>
                <a:schemeClr val="dk1"/>
              </a:solidFill>
              <a:latin typeface="Calibri"/>
              <a:ea typeface="Calibri"/>
              <a:cs typeface="Calibri"/>
              <a:sym typeface="Calibri"/>
            </a:endParaRPr>
          </a:p>
        </p:txBody>
      </p:sp>
      <p:pic>
        <p:nvPicPr>
          <p:cNvPr id="492" name="Google Shape;492;p36"/>
          <p:cNvPicPr preferRelativeResize="0"/>
          <p:nvPr/>
        </p:nvPicPr>
        <p:blipFill rotWithShape="1">
          <a:blip r:embed="rId3">
            <a:alphaModFix/>
          </a:blip>
          <a:srcRect b="0" l="0" r="0" t="0"/>
          <a:stretch/>
        </p:blipFill>
        <p:spPr>
          <a:xfrm>
            <a:off x="6870130" y="1280071"/>
            <a:ext cx="4754760" cy="2357884"/>
          </a:xfrm>
          <a:prstGeom prst="rect">
            <a:avLst/>
          </a:prstGeom>
          <a:noFill/>
          <a:ln>
            <a:noFill/>
          </a:ln>
        </p:spPr>
      </p:pic>
      <p:sp>
        <p:nvSpPr>
          <p:cNvPr id="493" name="Google Shape;493;p36"/>
          <p:cNvSpPr/>
          <p:nvPr/>
        </p:nvSpPr>
        <p:spPr>
          <a:xfrm>
            <a:off x="6870055" y="372948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3(A–D). Cry4 staining is concentrated in photoreceptor outer segments.</a:t>
            </a:r>
            <a:endParaRPr sz="1800">
              <a:solidFill>
                <a:schemeClr val="dk1"/>
              </a:solidFill>
              <a:latin typeface="Calibri"/>
              <a:ea typeface="Calibri"/>
              <a:cs typeface="Calibri"/>
              <a:sym typeface="Calibri"/>
            </a:endParaRPr>
          </a:p>
        </p:txBody>
      </p:sp>
      <p:pic>
        <p:nvPicPr>
          <p:cNvPr id="494" name="Google Shape;494;p36"/>
          <p:cNvPicPr preferRelativeResize="0"/>
          <p:nvPr/>
        </p:nvPicPr>
        <p:blipFill rotWithShape="1">
          <a:blip r:embed="rId4">
            <a:alphaModFix/>
          </a:blip>
          <a:srcRect b="0" l="0" r="0" t="0"/>
          <a:stretch/>
        </p:blipFill>
        <p:spPr>
          <a:xfrm>
            <a:off x="8852008" y="4206180"/>
            <a:ext cx="790855" cy="1554361"/>
          </a:xfrm>
          <a:prstGeom prst="rect">
            <a:avLst/>
          </a:prstGeom>
          <a:noFill/>
          <a:ln>
            <a:noFill/>
          </a:ln>
        </p:spPr>
      </p:pic>
      <p:sp>
        <p:nvSpPr>
          <p:cNvPr id="495" name="Google Shape;495;p36"/>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4(F–G). Magnified outer segments compare Cry4 with ultraviolet opsin staining.</a:t>
            </a:r>
            <a:endParaRPr sz="1800">
              <a:solidFill>
                <a:schemeClr val="dk1"/>
              </a:solidFill>
              <a:latin typeface="Calibri"/>
              <a:ea typeface="Calibri"/>
              <a:cs typeface="Calibri"/>
              <a:sym typeface="Calibri"/>
            </a:endParaRPr>
          </a:p>
        </p:txBody>
      </p:sp>
      <p:sp>
        <p:nvSpPr>
          <p:cNvPr id="496" name="Google Shape;496;p3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7" name="Google Shape;497;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Günther et al. (2018)</a:t>
            </a:r>
            <a:endParaRPr sz="1800">
              <a:solidFill>
                <a:schemeClr val="dk1"/>
              </a:solidFill>
              <a:latin typeface="Calibri"/>
              <a:ea typeface="Calibri"/>
              <a:cs typeface="Calibri"/>
              <a:sym typeface="Calibri"/>
            </a:endParaRPr>
          </a:p>
        </p:txBody>
      </p:sp>
      <p:sp>
        <p:nvSpPr>
          <p:cNvPr id="498" name="Google Shape;498;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2" name="Shape 502"/>
        <p:cNvGrpSpPr/>
        <p:nvPr/>
      </p:nvGrpSpPr>
      <p:grpSpPr>
        <a:xfrm>
          <a:off x="0" y="0"/>
          <a:ext cx="0" cy="0"/>
          <a:chOff x="0" y="0"/>
          <a:chExt cx="0" cy="0"/>
        </a:xfrm>
      </p:grpSpPr>
      <p:sp>
        <p:nvSpPr>
          <p:cNvPr id="503" name="Google Shape;503;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Double staining identifies Cry4-positive cone classes</a:t>
            </a:r>
            <a:endParaRPr sz="1800">
              <a:solidFill>
                <a:schemeClr val="dk1"/>
              </a:solidFill>
              <a:latin typeface="Calibri"/>
              <a:ea typeface="Calibri"/>
              <a:cs typeface="Calibri"/>
              <a:sym typeface="Calibri"/>
            </a:endParaRPr>
          </a:p>
        </p:txBody>
      </p:sp>
      <p:sp>
        <p:nvSpPr>
          <p:cNvPr id="504" name="Google Shape;504;p3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8A3B32"/>
              </a:buClr>
              <a:buSzPts val="1500"/>
              <a:buFont typeface="Arial"/>
              <a:buNone/>
            </a:pPr>
            <a:r>
              <a:rPr b="0" i="0" lang="en-US" sz="1400">
                <a:solidFill>
                  <a:srgbClr val="26252A"/>
                </a:solidFill>
                <a:latin typeface="Arial"/>
                <a:ea typeface="Arial"/>
                <a:cs typeface="Arial"/>
                <a:sym typeface="Arial"/>
              </a:rPr>
              <a:t>Opsins are light-sensitive receptor proteins that help distinguish photoreceptor classes. The study combined Cry4 staining with antibodies to iodopsin, ultraviolet opsin, blue opsin and rhodopsin. Rhodopsin marks rod photoreceptors, so rods serve as a reference class. Double staining tests whether two labels occupy the same cellular compartment. Each label is set against the others.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500"/>
              <a:buFont typeface="Arial"/>
              <a:buNone/>
            </a:pPr>
            <a:r>
              <a:rPr b="0" i="0" lang="en-US" sz="1400">
                <a:solidFill>
                  <a:srgbClr val="26252A"/>
                </a:solidFill>
                <a:latin typeface="Arial"/>
                <a:ea typeface="Arial"/>
                <a:cs typeface="Arial"/>
                <a:sym typeface="Arial"/>
              </a:rPr>
              <a:t>Cry4 signal overlapped iodopsin-positive outer segments, which belong to long-wavelength single cones and double cones. Cry4 signal was absent from the ultraviolet opsin, blue opsin and rhodopsin outer segments. Overlap with iodopsin supports a long-wavelength cone assignment. Calbindin marked inner segments of double cones. The labels revealed which cones carry the protein.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500"/>
              <a:buFont typeface="Arial"/>
              <a:buNone/>
            </a:pPr>
            <a:r>
              <a:rPr b="0" i="0" lang="en-US" sz="1400">
                <a:solidFill>
                  <a:srgbClr val="26252A"/>
                </a:solidFill>
                <a:latin typeface="Arial"/>
                <a:ea typeface="Arial"/>
                <a:cs typeface="Arial"/>
                <a:sym typeface="Arial"/>
              </a:rPr>
              <a:t>The anatomy narrows the candidate cellular location to specific cones. Showing that these cones generate a magnetic signal needs separate experiments. Ordinary photoreceptor identity and a hypothesized magnetic role must be tested separately. Tracing the transmitter pathway would need further support. The candidate is a set of cones, not a single cell.</a:t>
            </a:r>
            <a:endParaRPr sz="1800">
              <a:solidFill>
                <a:schemeClr val="dk1"/>
              </a:solidFill>
              <a:latin typeface="Calibri"/>
              <a:ea typeface="Calibri"/>
              <a:cs typeface="Calibri"/>
              <a:sym typeface="Calibri"/>
            </a:endParaRPr>
          </a:p>
        </p:txBody>
      </p:sp>
      <p:pic>
        <p:nvPicPr>
          <p:cNvPr id="507" name="Google Shape;507;p37"/>
          <p:cNvPicPr preferRelativeResize="0"/>
          <p:nvPr/>
        </p:nvPicPr>
        <p:blipFill rotWithShape="1">
          <a:blip r:embed="rId3">
            <a:alphaModFix/>
          </a:blip>
          <a:srcRect b="0" l="0" r="0" t="0"/>
          <a:stretch/>
        </p:blipFill>
        <p:spPr>
          <a:xfrm>
            <a:off x="6870087" y="1280071"/>
            <a:ext cx="4754846" cy="3104257"/>
          </a:xfrm>
          <a:prstGeom prst="rect">
            <a:avLst/>
          </a:prstGeom>
          <a:noFill/>
          <a:ln>
            <a:noFill/>
          </a:ln>
        </p:spPr>
      </p:pic>
      <p:sp>
        <p:nvSpPr>
          <p:cNvPr id="508" name="Google Shape;508;p37"/>
          <p:cNvSpPr/>
          <p:nvPr/>
        </p:nvSpPr>
        <p:spPr>
          <a:xfrm>
            <a:off x="6870055" y="4475857"/>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4(A–O). Double staining identifies the Cry4-positive cone classes.</a:t>
            </a:r>
            <a:endParaRPr sz="1800">
              <a:solidFill>
                <a:schemeClr val="dk1"/>
              </a:solidFill>
              <a:latin typeface="Calibri"/>
              <a:ea typeface="Calibri"/>
              <a:cs typeface="Calibri"/>
              <a:sym typeface="Calibri"/>
            </a:endParaRPr>
          </a:p>
        </p:txBody>
      </p:sp>
      <p:sp>
        <p:nvSpPr>
          <p:cNvPr id="509" name="Google Shape;509;p37"/>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Günther et al. (2018)</a:t>
            </a:r>
            <a:endParaRPr sz="1800">
              <a:solidFill>
                <a:schemeClr val="dk1"/>
              </a:solidFill>
              <a:latin typeface="Calibri"/>
              <a:ea typeface="Calibri"/>
              <a:cs typeface="Calibri"/>
              <a:sym typeface="Calibri"/>
            </a:endParaRPr>
          </a:p>
        </p:txBody>
      </p:sp>
      <p:sp>
        <p:nvSpPr>
          <p:cNvPr id="511" name="Google Shape;511;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Antibody controls constrain the localization claim</a:t>
            </a:r>
            <a:endParaRPr sz="1800">
              <a:solidFill>
                <a:schemeClr val="dk1"/>
              </a:solidFill>
              <a:latin typeface="Calibri"/>
              <a:ea typeface="Calibri"/>
              <a:cs typeface="Calibri"/>
              <a:sym typeface="Calibri"/>
            </a:endParaRPr>
          </a:p>
        </p:txBody>
      </p:sp>
      <p:sp>
        <p:nvSpPr>
          <p:cNvPr id="517" name="Google Shape;517;p3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Günther and colleagues tested antibody specificity by replacing the primary antibody with pre-immune serum, absorbing it with its antigenic peptide, and expressing cryptochromes in cultured cells. These controls address background staining. Absorption with the peptide tests whether staining depends on the intended target sequence. Cross-reaction with related proteins is also tested in these cells.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Western blots detected an approximately 61-kDa retinal protein and an approximately 89-kDa Cry4-GFP fusion protein. GFP, green fluorescent protein, serves as a molecular tag. The antibody gave no signal in control cells. Those two bands confirm the identity of the proteins tested in the expression preparation. The bands differ in size, as expected for the two proteins.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The controls support identification of the stained protein and strengthen the anatomical result. Reliable localization is a prerequisite for a receptor hypothesis, while showing that the protein converts the Earth field into a neural signal needs separate tests. Staining alone identifies a candidate, not a working receptor. Such a candidate needs functional support.</a:t>
            </a:r>
            <a:endParaRPr sz="1800">
              <a:solidFill>
                <a:schemeClr val="dk1"/>
              </a:solidFill>
              <a:latin typeface="Calibri"/>
              <a:ea typeface="Calibri"/>
              <a:cs typeface="Calibri"/>
              <a:sym typeface="Calibri"/>
            </a:endParaRPr>
          </a:p>
        </p:txBody>
      </p:sp>
      <p:pic>
        <p:nvPicPr>
          <p:cNvPr id="520" name="Google Shape;520;p38"/>
          <p:cNvPicPr preferRelativeResize="0"/>
          <p:nvPr/>
        </p:nvPicPr>
        <p:blipFill rotWithShape="1">
          <a:blip r:embed="rId3">
            <a:alphaModFix/>
          </a:blip>
          <a:srcRect b="0" l="0" r="0" t="0"/>
          <a:stretch/>
        </p:blipFill>
        <p:spPr>
          <a:xfrm>
            <a:off x="7319727" y="1280071"/>
            <a:ext cx="3855417" cy="4297561"/>
          </a:xfrm>
          <a:prstGeom prst="rect">
            <a:avLst/>
          </a:prstGeom>
          <a:noFill/>
          <a:ln>
            <a:noFill/>
          </a:ln>
        </p:spPr>
      </p:pic>
      <p:sp>
        <p:nvSpPr>
          <p:cNvPr id="521" name="Google Shape;521;p38"/>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6(A–N). Antibody controls test Cry4 localization and specificity.</a:t>
            </a:r>
            <a:endParaRPr sz="1800">
              <a:solidFill>
                <a:schemeClr val="dk1"/>
              </a:solidFill>
              <a:latin typeface="Calibri"/>
              <a:ea typeface="Calibri"/>
              <a:cs typeface="Calibri"/>
              <a:sym typeface="Calibri"/>
            </a:endParaRPr>
          </a:p>
        </p:txBody>
      </p:sp>
      <p:sp>
        <p:nvSpPr>
          <p:cNvPr id="522" name="Google Shape;522;p38"/>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3" name="Google Shape;523;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Günther et al. (2018)</a:t>
            </a:r>
            <a:endParaRPr sz="1800">
              <a:solidFill>
                <a:schemeClr val="dk1"/>
              </a:solidFill>
              <a:latin typeface="Calibri"/>
              <a:ea typeface="Calibri"/>
              <a:cs typeface="Calibri"/>
              <a:sym typeface="Calibri"/>
            </a:endParaRPr>
          </a:p>
        </p:txBody>
      </p:sp>
      <p:sp>
        <p:nvSpPr>
          <p:cNvPr id="524" name="Google Shape;524;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8" name="Shape 528"/>
        <p:cNvGrpSpPr/>
        <p:nvPr/>
      </p:nvGrpSpPr>
      <p:grpSpPr>
        <a:xfrm>
          <a:off x="0" y="0"/>
          <a:ext cx="0" cy="0"/>
          <a:chOff x="0" y="0"/>
          <a:chExt cx="0" cy="0"/>
        </a:xfrm>
      </p:grpSpPr>
      <p:sp>
        <p:nvSpPr>
          <p:cNvPr id="529" name="Google Shape;529;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Purified Cry4 binds the FAD cofactor</a:t>
            </a:r>
            <a:endParaRPr sz="1800">
              <a:solidFill>
                <a:schemeClr val="dk1"/>
              </a:solidFill>
              <a:latin typeface="Calibri"/>
              <a:ea typeface="Calibri"/>
              <a:cs typeface="Calibri"/>
              <a:sym typeface="Calibri"/>
            </a:endParaRPr>
          </a:p>
        </p:txBody>
      </p:sp>
      <p:sp>
        <p:nvSpPr>
          <p:cNvPr id="530" name="Google Shape;530;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Xu and colleagues expressed and purified European robin Cry4 to test its photochemistry directly. </a:t>
            </a:r>
            <a:r>
              <a:rPr b="1" i="0" lang="en-US" sz="1400">
                <a:solidFill>
                  <a:srgbClr val="8A3B32"/>
                </a:solidFill>
                <a:latin typeface="Arial"/>
                <a:ea typeface="Arial"/>
                <a:cs typeface="Arial"/>
                <a:sym typeface="Arial"/>
              </a:rPr>
              <a:t>FAD</a:t>
            </a:r>
            <a:r>
              <a:rPr b="0" i="0" lang="en-US" sz="1400">
                <a:solidFill>
                  <a:srgbClr val="26252A"/>
                </a:solidFill>
                <a:latin typeface="Arial"/>
                <a:ea typeface="Arial"/>
                <a:cs typeface="Arial"/>
                <a:sym typeface="Arial"/>
              </a:rPr>
              <a:t>, flavin adenine dinucleotide, is the bound light-absorbing cofactor that can take part in electron transfer. A cofactor is a nonprotein component required for a protein's chemical function. The spectra were taken from the purified protein alone. This isolates the protein from cellular influences.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Optical spectroscopy and native mass spectrometry showed that more than 97% of the purified wild-type Cry4 carried FAD. The supplementary spectrum separated major FAD-bound protein peaks from minor peaks assigned to protein lacking the cofactor. This controlled molecular preparation works independently of an intact animal. Native mass spectrometry measures the protein's intact mass.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FAD binding shows that the candidate has the component needed for the radical-pair chemistry under study. The published structural model places FAD near a chain of tryptophan residues, and that model is the authors' proposal rather than a solved structure. Binding evidence speaks to the cofactor, not to a neural signal. The chemistry is studied in vitro.</a:t>
            </a:r>
            <a:endParaRPr sz="1800">
              <a:solidFill>
                <a:schemeClr val="dk1"/>
              </a:solidFill>
              <a:latin typeface="Calibri"/>
              <a:ea typeface="Calibri"/>
              <a:cs typeface="Calibri"/>
              <a:sym typeface="Calibri"/>
            </a:endParaRPr>
          </a:p>
        </p:txBody>
      </p:sp>
      <p:pic>
        <p:nvPicPr>
          <p:cNvPr id="533" name="Google Shape;533;p39"/>
          <p:cNvPicPr preferRelativeResize="0"/>
          <p:nvPr/>
        </p:nvPicPr>
        <p:blipFill rotWithShape="1">
          <a:blip r:embed="rId3">
            <a:alphaModFix/>
          </a:blip>
          <a:srcRect b="0" l="0" r="0" t="0"/>
          <a:stretch/>
        </p:blipFill>
        <p:spPr>
          <a:xfrm>
            <a:off x="7179549" y="1280071"/>
            <a:ext cx="4135773" cy="2880271"/>
          </a:xfrm>
          <a:prstGeom prst="rect">
            <a:avLst/>
          </a:prstGeom>
          <a:noFill/>
          <a:ln>
            <a:noFill/>
          </a:ln>
        </p:spPr>
      </p:pic>
      <p:sp>
        <p:nvSpPr>
          <p:cNvPr id="534" name="Google Shape;534;p39"/>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Xu et al. (2021), Supplementary Fig. S13. Mass spectra identify FAD-bound cryptochrome 4.</a:t>
            </a:r>
            <a:endParaRPr sz="1800">
              <a:solidFill>
                <a:schemeClr val="dk1"/>
              </a:solidFill>
              <a:latin typeface="Calibri"/>
              <a:ea typeface="Calibri"/>
              <a:cs typeface="Calibri"/>
              <a:sym typeface="Calibri"/>
            </a:endParaRPr>
          </a:p>
        </p:txBody>
      </p:sp>
      <p:pic>
        <p:nvPicPr>
          <p:cNvPr id="535" name="Google Shape;535;p39"/>
          <p:cNvPicPr preferRelativeResize="0"/>
          <p:nvPr/>
        </p:nvPicPr>
        <p:blipFill rotWithShape="1">
          <a:blip r:embed="rId4">
            <a:alphaModFix/>
          </a:blip>
          <a:srcRect b="0" l="0" r="0" t="0"/>
          <a:stretch/>
        </p:blipFill>
        <p:spPr>
          <a:xfrm>
            <a:off x="8617940" y="4709071"/>
            <a:ext cx="1259139" cy="1051471"/>
          </a:xfrm>
          <a:prstGeom prst="rect">
            <a:avLst/>
          </a:prstGeom>
          <a:noFill/>
          <a:ln>
            <a:noFill/>
          </a:ln>
        </p:spPr>
      </p:pic>
      <p:sp>
        <p:nvSpPr>
          <p:cNvPr id="536" name="Google Shape;536;p39"/>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7(A–F). Published Cry4 structural model and FAD-binding region.</a:t>
            </a:r>
            <a:endParaRPr sz="1800">
              <a:solidFill>
                <a:schemeClr val="dk1"/>
              </a:solidFill>
              <a:latin typeface="Calibri"/>
              <a:ea typeface="Calibri"/>
              <a:cs typeface="Calibri"/>
              <a:sym typeface="Calibri"/>
            </a:endParaRPr>
          </a:p>
        </p:txBody>
      </p:sp>
      <p:sp>
        <p:nvSpPr>
          <p:cNvPr id="537" name="Google Shape;537;p39"/>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8" name="Google Shape;538;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Xu et al. (2021); Günther et al. (2018)</a:t>
            </a:r>
            <a:endParaRPr sz="1800">
              <a:solidFill>
                <a:schemeClr val="dk1"/>
              </a:solidFill>
              <a:latin typeface="Calibri"/>
              <a:ea typeface="Calibri"/>
              <a:cs typeface="Calibri"/>
              <a:sym typeface="Calibri"/>
            </a:endParaRPr>
          </a:p>
        </p:txBody>
      </p:sp>
      <p:sp>
        <p:nvSpPr>
          <p:cNvPr id="539" name="Google Shape;539;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3" name="Shape 543"/>
        <p:cNvGrpSpPr/>
        <p:nvPr/>
      </p:nvGrpSpPr>
      <p:grpSpPr>
        <a:xfrm>
          <a:off x="0" y="0"/>
          <a:ext cx="0" cy="0"/>
          <a:chOff x="0" y="0"/>
          <a:chExt cx="0" cy="0"/>
        </a:xfrm>
      </p:grpSpPr>
      <p:sp>
        <p:nvSpPr>
          <p:cNvPr id="544" name="Google Shape;544;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Tryptophan mutations change radical-pair lifetimes</a:t>
            </a:r>
            <a:endParaRPr sz="1800">
              <a:solidFill>
                <a:schemeClr val="dk1"/>
              </a:solidFill>
              <a:latin typeface="Calibri"/>
              <a:ea typeface="Calibri"/>
              <a:cs typeface="Calibri"/>
              <a:sym typeface="Calibri"/>
            </a:endParaRPr>
          </a:p>
        </p:txBody>
      </p:sp>
      <p:sp>
        <p:nvSpPr>
          <p:cNvPr id="545" name="Google Shape;545;p4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A </a:t>
            </a:r>
            <a:r>
              <a:rPr b="1" i="0" lang="en-US" sz="1400">
                <a:solidFill>
                  <a:srgbClr val="8A3B32"/>
                </a:solidFill>
                <a:latin typeface="Arial"/>
                <a:ea typeface="Arial"/>
                <a:cs typeface="Arial"/>
                <a:sym typeface="Arial"/>
              </a:rPr>
              <a:t>radical</a:t>
            </a:r>
            <a:r>
              <a:rPr b="0" i="0" lang="en-US" sz="1400">
                <a:solidFill>
                  <a:srgbClr val="26252A"/>
                </a:solidFill>
                <a:latin typeface="Arial"/>
                <a:ea typeface="Arial"/>
                <a:cs typeface="Arial"/>
                <a:sym typeface="Arial"/>
              </a:rPr>
              <a:t> is a molecular species with an unpaired electron, and a </a:t>
            </a:r>
            <a:r>
              <a:rPr b="1" i="0" lang="en-US" sz="1400">
                <a:solidFill>
                  <a:srgbClr val="8A3B32"/>
                </a:solidFill>
                <a:latin typeface="Arial"/>
                <a:ea typeface="Arial"/>
                <a:cs typeface="Arial"/>
                <a:sym typeface="Arial"/>
              </a:rPr>
              <a:t>radical pair</a:t>
            </a:r>
            <a:r>
              <a:rPr b="0" i="0" lang="en-US" sz="1400">
                <a:solidFill>
                  <a:srgbClr val="26252A"/>
                </a:solidFill>
                <a:latin typeface="Arial"/>
                <a:ea typeface="Arial"/>
                <a:cs typeface="Arial"/>
                <a:sym typeface="Arial"/>
              </a:rPr>
              <a:t> contains two radicals generated through a linked reaction. In Cry4, light-excited FAD can receive an electron through a chain of tryptophan residues, which produces radicals whose later reactions depend on their electronic states. Electron transfer here is a chemical process, not a neural 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Xu and colleagues replaced individual tryptophans with redox-inactive phenylalanine, a residue with no electron-transfer activity. After 450-nm excitation, transient absorption tracked the changes over time, and interrupted early transfer pathways gave radical-loss time constants of 180 ps and 900 ps. Transient absorption measured radical kinetics over nanoseconds. Those time constants characterize radical loss in the mutants.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Longer transfer pathways kept radicals alive beyond the earliest nanosecond responses. The nearest-tryptophan mutation prevented the radical production seen in wild-type protein, which shows how particular residues shape photochemistry. Changing radical lifetime alters the window available for magnetic effects. Those lifetimes are measured in nanoseconds, which is the timescale of the radical pair.</a:t>
            </a:r>
            <a:endParaRPr sz="1800">
              <a:solidFill>
                <a:schemeClr val="dk1"/>
              </a:solidFill>
              <a:latin typeface="Calibri"/>
              <a:ea typeface="Calibri"/>
              <a:cs typeface="Calibri"/>
              <a:sym typeface="Calibri"/>
            </a:endParaRPr>
          </a:p>
        </p:txBody>
      </p:sp>
      <p:pic>
        <p:nvPicPr>
          <p:cNvPr id="548" name="Google Shape;548;p40"/>
          <p:cNvPicPr preferRelativeResize="0"/>
          <p:nvPr/>
        </p:nvPicPr>
        <p:blipFill rotWithShape="1">
          <a:blip r:embed="rId3">
            <a:alphaModFix/>
          </a:blip>
          <a:srcRect b="0" l="0" r="0" t="0"/>
          <a:stretch/>
        </p:blipFill>
        <p:spPr>
          <a:xfrm>
            <a:off x="7496981" y="1280071"/>
            <a:ext cx="3500760" cy="2880271"/>
          </a:xfrm>
          <a:prstGeom prst="rect">
            <a:avLst/>
          </a:prstGeom>
          <a:noFill/>
          <a:ln>
            <a:noFill/>
          </a:ln>
        </p:spPr>
      </p:pic>
      <p:sp>
        <p:nvSpPr>
          <p:cNvPr id="549" name="Google Shape;549;p40"/>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Xu et al. (2021), Supplementary Fig. S2(a–d). Tryptophan mutations change radical kinetics and spectra.</a:t>
            </a:r>
            <a:endParaRPr sz="1800">
              <a:solidFill>
                <a:schemeClr val="dk1"/>
              </a:solidFill>
              <a:latin typeface="Calibri"/>
              <a:ea typeface="Calibri"/>
              <a:cs typeface="Calibri"/>
              <a:sym typeface="Calibri"/>
            </a:endParaRPr>
          </a:p>
        </p:txBody>
      </p:sp>
      <p:pic>
        <p:nvPicPr>
          <p:cNvPr id="550" name="Google Shape;550;p40"/>
          <p:cNvPicPr preferRelativeResize="0"/>
          <p:nvPr/>
        </p:nvPicPr>
        <p:blipFill rotWithShape="1">
          <a:blip r:embed="rId4">
            <a:alphaModFix/>
          </a:blip>
          <a:srcRect b="0" l="0" r="0" t="0"/>
          <a:stretch/>
        </p:blipFill>
        <p:spPr>
          <a:xfrm>
            <a:off x="8617940" y="4709071"/>
            <a:ext cx="1259139" cy="1051471"/>
          </a:xfrm>
          <a:prstGeom prst="rect">
            <a:avLst/>
          </a:prstGeom>
          <a:noFill/>
          <a:ln>
            <a:noFill/>
          </a:ln>
        </p:spPr>
      </p:pic>
      <p:sp>
        <p:nvSpPr>
          <p:cNvPr id="551" name="Google Shape;551;p40"/>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7(A–F). Published Cry4 structural model and FAD-binding region.</a:t>
            </a:r>
            <a:endParaRPr sz="1800">
              <a:solidFill>
                <a:schemeClr val="dk1"/>
              </a:solidFill>
              <a:latin typeface="Calibri"/>
              <a:ea typeface="Calibri"/>
              <a:cs typeface="Calibri"/>
              <a:sym typeface="Calibri"/>
            </a:endParaRPr>
          </a:p>
        </p:txBody>
      </p:sp>
      <p:sp>
        <p:nvSpPr>
          <p:cNvPr id="552" name="Google Shape;552;p40"/>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3" name="Google Shape;553;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Xu et al. (2021); Günther et al. (2018)</a:t>
            </a:r>
            <a:endParaRPr sz="1800">
              <a:solidFill>
                <a:schemeClr val="dk1"/>
              </a:solidFill>
              <a:latin typeface="Calibri"/>
              <a:ea typeface="Calibri"/>
              <a:cs typeface="Calibri"/>
              <a:sym typeface="Calibri"/>
            </a:endParaRPr>
          </a:p>
        </p:txBody>
      </p:sp>
      <p:sp>
        <p:nvSpPr>
          <p:cNvPr id="554" name="Google Shape;554;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8" name="Shape 558"/>
        <p:cNvGrpSpPr/>
        <p:nvPr/>
      </p:nvGrpSpPr>
      <p:grpSpPr>
        <a:xfrm>
          <a:off x="0" y="0"/>
          <a:ext cx="0" cy="0"/>
          <a:chOff x="0" y="0"/>
          <a:chExt cx="0" cy="0"/>
        </a:xfrm>
      </p:grpSpPr>
      <p:sp>
        <p:nvSpPr>
          <p:cNvPr id="559" name="Google Shape;559;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Cry4 radical chemistry responds to magnetic fields</a:t>
            </a:r>
            <a:endParaRPr sz="1800">
              <a:solidFill>
                <a:schemeClr val="dk1"/>
              </a:solidFill>
              <a:latin typeface="Calibri"/>
              <a:ea typeface="Calibri"/>
              <a:cs typeface="Calibri"/>
              <a:sym typeface="Calibri"/>
            </a:endParaRPr>
          </a:p>
        </p:txBody>
      </p:sp>
      <p:sp>
        <p:nvSpPr>
          <p:cNvPr id="560" name="Google Shape;560;p4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8A3B32"/>
              </a:buClr>
              <a:buSzPts val="1500"/>
              <a:buFont typeface="Arial"/>
              <a:buNone/>
            </a:pPr>
            <a:r>
              <a:rPr b="0" i="0" lang="en-US" sz="1400">
                <a:solidFill>
                  <a:srgbClr val="26252A"/>
                </a:solidFill>
                <a:latin typeface="Arial"/>
                <a:ea typeface="Arial"/>
                <a:cs typeface="Arial"/>
                <a:sym typeface="Arial"/>
              </a:rPr>
              <a:t>Electron spin is a quantum property of an electron, not mechanical spinning. Spin-correlated radical pairs occupy singlet and triplet states with different reaction options. A magnetic field alters transitions between these states and can change the yield of chemical products. That yield change is the effect a compass mechanism would rely 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500"/>
              <a:buFont typeface="Arial"/>
              <a:buNone/>
            </a:pPr>
            <a:r>
              <a:rPr b="0" i="0" lang="en-US" sz="1400">
                <a:solidFill>
                  <a:srgbClr val="26252A"/>
                </a:solidFill>
                <a:latin typeface="Arial"/>
                <a:ea typeface="Arial"/>
                <a:cs typeface="Arial"/>
                <a:sym typeface="Arial"/>
              </a:rPr>
              <a:t>Xu and colleagues measured field-dependent radical absorption in purified Cry4 after 450-nm excitation, using fields up to 30 mT. The wild type and a tryptophan mutant showed different magnetic field effects, linking molecular structure to photochemical sensitivity. The mutant's response differed from the wild type under the same conditions. This result ties structure to sensitivity.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500"/>
              <a:buFont typeface="Arial"/>
              <a:buNone/>
            </a:pPr>
            <a:r>
              <a:rPr b="0" i="0" lang="en-US" sz="1400">
                <a:solidFill>
                  <a:srgbClr val="26252A"/>
                </a:solidFill>
                <a:latin typeface="Arial"/>
                <a:ea typeface="Arial"/>
                <a:cs typeface="Arial"/>
                <a:sym typeface="Arial"/>
              </a:rPr>
              <a:t>The measurements show magnetic sensitivity in vitro, outside the living animal. Millitesla fields exceed the geomagnetic field, and the preparation was held at controlled temperature and chemical conditions, which supports a candidate reaction mechanism. The chemistry responds in a controlled setting, not in a living bird. The optical measurement was tied to the same protein preparation.</a:t>
            </a:r>
            <a:endParaRPr sz="1800">
              <a:solidFill>
                <a:schemeClr val="dk1"/>
              </a:solidFill>
              <a:latin typeface="Calibri"/>
              <a:ea typeface="Calibri"/>
              <a:cs typeface="Calibri"/>
              <a:sym typeface="Calibri"/>
            </a:endParaRPr>
          </a:p>
        </p:txBody>
      </p:sp>
      <p:pic>
        <p:nvPicPr>
          <p:cNvPr id="563" name="Google Shape;563;p41"/>
          <p:cNvPicPr preferRelativeResize="0"/>
          <p:nvPr/>
        </p:nvPicPr>
        <p:blipFill rotWithShape="1">
          <a:blip r:embed="rId3">
            <a:alphaModFix/>
          </a:blip>
          <a:srcRect b="0" l="0" r="0" t="0"/>
          <a:stretch/>
        </p:blipFill>
        <p:spPr>
          <a:xfrm>
            <a:off x="6870225" y="1280071"/>
            <a:ext cx="4754571" cy="1886396"/>
          </a:xfrm>
          <a:prstGeom prst="rect">
            <a:avLst/>
          </a:prstGeom>
          <a:noFill/>
          <a:ln>
            <a:noFill/>
          </a:ln>
        </p:spPr>
      </p:pic>
      <p:sp>
        <p:nvSpPr>
          <p:cNvPr id="564" name="Google Shape;564;p41"/>
          <p:cNvSpPr/>
          <p:nvPr/>
        </p:nvSpPr>
        <p:spPr>
          <a:xfrm>
            <a:off x="6870055" y="3257996"/>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Xu et al. (2021), Supplementary Fig. S3(a–b). Wild-type and mutant Cry4 have different magnetic field effects.</a:t>
            </a:r>
            <a:endParaRPr sz="1800">
              <a:solidFill>
                <a:schemeClr val="dk1"/>
              </a:solidFill>
              <a:latin typeface="Calibri"/>
              <a:ea typeface="Calibri"/>
              <a:cs typeface="Calibri"/>
              <a:sym typeface="Calibri"/>
            </a:endParaRPr>
          </a:p>
        </p:txBody>
      </p:sp>
      <p:pic>
        <p:nvPicPr>
          <p:cNvPr id="565" name="Google Shape;565;p41"/>
          <p:cNvPicPr preferRelativeResize="0"/>
          <p:nvPr/>
        </p:nvPicPr>
        <p:blipFill rotWithShape="1">
          <a:blip r:embed="rId4">
            <a:alphaModFix/>
          </a:blip>
          <a:srcRect b="0" l="0" r="0" t="0"/>
          <a:stretch/>
        </p:blipFill>
        <p:spPr>
          <a:xfrm>
            <a:off x="8617940" y="4709071"/>
            <a:ext cx="1259139" cy="1051471"/>
          </a:xfrm>
          <a:prstGeom prst="rect">
            <a:avLst/>
          </a:prstGeom>
          <a:noFill/>
          <a:ln>
            <a:noFill/>
          </a:ln>
        </p:spPr>
      </p:pic>
      <p:sp>
        <p:nvSpPr>
          <p:cNvPr id="566" name="Google Shape;566;p41"/>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7(A–F). Published Cry4 structural model and FAD-binding region.</a:t>
            </a:r>
            <a:endParaRPr sz="1800">
              <a:solidFill>
                <a:schemeClr val="dk1"/>
              </a:solidFill>
              <a:latin typeface="Calibri"/>
              <a:ea typeface="Calibri"/>
              <a:cs typeface="Calibri"/>
              <a:sym typeface="Calibri"/>
            </a:endParaRPr>
          </a:p>
        </p:txBody>
      </p:sp>
      <p:sp>
        <p:nvSpPr>
          <p:cNvPr id="567" name="Google Shape;567;p41"/>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8" name="Google Shape;568;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Xu et al. (2021); Günther et al. (2018)</a:t>
            </a:r>
            <a:endParaRPr sz="1800">
              <a:solidFill>
                <a:schemeClr val="dk1"/>
              </a:solidFill>
              <a:latin typeface="Calibri"/>
              <a:ea typeface="Calibri"/>
              <a:cs typeface="Calibri"/>
              <a:sym typeface="Calibri"/>
            </a:endParaRPr>
          </a:p>
        </p:txBody>
      </p:sp>
      <p:sp>
        <p:nvSpPr>
          <p:cNvPr id="569" name="Google Shape;569;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3" name="Shape 573"/>
        <p:cNvGrpSpPr/>
        <p:nvPr/>
      </p:nvGrpSpPr>
      <p:grpSpPr>
        <a:xfrm>
          <a:off x="0" y="0"/>
          <a:ext cx="0" cy="0"/>
          <a:chOff x="0" y="0"/>
          <a:chExt cx="0" cy="0"/>
        </a:xfrm>
      </p:grpSpPr>
      <p:sp>
        <p:nvSpPr>
          <p:cNvPr id="574" name="Google Shape;574;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Photoreduced Cry4 can return toward its resting state</a:t>
            </a:r>
            <a:endParaRPr sz="1800">
              <a:solidFill>
                <a:schemeClr val="dk1"/>
              </a:solidFill>
              <a:latin typeface="Calibri"/>
              <a:ea typeface="Calibri"/>
              <a:cs typeface="Calibri"/>
              <a:sym typeface="Calibri"/>
            </a:endParaRPr>
          </a:p>
        </p:txBody>
      </p:sp>
      <p:sp>
        <p:nvSpPr>
          <p:cNvPr id="575" name="Google Shape;575;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8A3B32"/>
              </a:buClr>
              <a:buSzPts val="1600"/>
              <a:buFont typeface="Arial"/>
              <a:buNone/>
            </a:pPr>
            <a:r>
              <a:rPr b="1" i="0" lang="en-US" sz="1400">
                <a:solidFill>
                  <a:srgbClr val="8A3B32"/>
                </a:solidFill>
                <a:latin typeface="Arial"/>
                <a:ea typeface="Arial"/>
                <a:cs typeface="Arial"/>
                <a:sym typeface="Arial"/>
              </a:rPr>
              <a:t>Photoreduction</a:t>
            </a:r>
            <a:r>
              <a:rPr b="0" i="0" lang="en-US" sz="1400">
                <a:solidFill>
                  <a:srgbClr val="26252A"/>
                </a:solidFill>
                <a:latin typeface="Arial"/>
                <a:ea typeface="Arial"/>
                <a:cs typeface="Arial"/>
                <a:sym typeface="Arial"/>
              </a:rPr>
              <a:t> is light-driven electron gain. After illumination changes the oxidation state of FAD, a reusable sensory protein has to return toward its starting state. Xu and colleagues measured optical spectra as photoreduced Cry4 reoxidized in air without added redox reagents. The reoxidation tracked the spectral changes over time. Reoxidation is the return step in the cycle.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600"/>
              <a:buFont typeface="Arial"/>
              <a:buNone/>
            </a:pPr>
            <a:r>
              <a:rPr b="0" i="0" lang="en-US" sz="1400">
                <a:solidFill>
                  <a:srgbClr val="26252A"/>
                </a:solidFill>
                <a:latin typeface="Arial"/>
                <a:ea typeface="Arial"/>
                <a:cs typeface="Arial"/>
                <a:sym typeface="Arial"/>
              </a:rPr>
              <a:t>The supplementary experiment used 2 min of 450-nm light, followed by spectra at 2-min intervals. The main analysis reported recycling times of about 13 min from the neutral radical toward oxidized FAD, and about 1 min from the fully reduced state toward the neutral radical. Recycling times were reported for two distinct states.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600"/>
              <a:buFont typeface="Arial"/>
              <a:buNone/>
            </a:pPr>
            <a:r>
              <a:rPr b="0" i="0" lang="en-US" sz="1400">
                <a:solidFill>
                  <a:srgbClr val="26252A"/>
                </a:solidFill>
                <a:latin typeface="Arial"/>
                <a:ea typeface="Arial"/>
                <a:cs typeface="Arial"/>
                <a:sym typeface="Arial"/>
              </a:rPr>
              <a:t>The measurements show a route for chemical resetting under the tested conditions. Oxygen levels, reducing agents and protein interactions differ in living cells from a cuvette, so the rates may change in a bird's retina. This route supports plausibility for the sensor role, with the rate set by conditions in the cell.</a:t>
            </a:r>
            <a:endParaRPr sz="1800">
              <a:solidFill>
                <a:schemeClr val="dk1"/>
              </a:solidFill>
              <a:latin typeface="Calibri"/>
              <a:ea typeface="Calibri"/>
              <a:cs typeface="Calibri"/>
              <a:sym typeface="Calibri"/>
            </a:endParaRPr>
          </a:p>
        </p:txBody>
      </p:sp>
      <p:pic>
        <p:nvPicPr>
          <p:cNvPr id="578" name="Google Shape;578;p42"/>
          <p:cNvPicPr preferRelativeResize="0"/>
          <p:nvPr/>
        </p:nvPicPr>
        <p:blipFill rotWithShape="1">
          <a:blip r:embed="rId3">
            <a:alphaModFix/>
          </a:blip>
          <a:srcRect b="0" l="0" r="0" t="0"/>
          <a:stretch/>
        </p:blipFill>
        <p:spPr>
          <a:xfrm>
            <a:off x="8173109" y="1280071"/>
            <a:ext cx="2148802" cy="2880271"/>
          </a:xfrm>
          <a:prstGeom prst="rect">
            <a:avLst/>
          </a:prstGeom>
          <a:noFill/>
          <a:ln>
            <a:noFill/>
          </a:ln>
        </p:spPr>
      </p:pic>
      <p:sp>
        <p:nvSpPr>
          <p:cNvPr id="579" name="Google Shape;579;p42"/>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Xu et al. (2021), Supplementary Fig. S15(a–b). Photoreduced Cry4 returns toward the oxidized state.</a:t>
            </a:r>
            <a:endParaRPr sz="1800">
              <a:solidFill>
                <a:schemeClr val="dk1"/>
              </a:solidFill>
              <a:latin typeface="Calibri"/>
              <a:ea typeface="Calibri"/>
              <a:cs typeface="Calibri"/>
              <a:sym typeface="Calibri"/>
            </a:endParaRPr>
          </a:p>
        </p:txBody>
      </p:sp>
      <p:pic>
        <p:nvPicPr>
          <p:cNvPr id="580" name="Google Shape;580;p42"/>
          <p:cNvPicPr preferRelativeResize="0"/>
          <p:nvPr/>
        </p:nvPicPr>
        <p:blipFill rotWithShape="1">
          <a:blip r:embed="rId4">
            <a:alphaModFix/>
          </a:blip>
          <a:srcRect b="0" l="0" r="0" t="0"/>
          <a:stretch/>
        </p:blipFill>
        <p:spPr>
          <a:xfrm>
            <a:off x="8617940" y="4709071"/>
            <a:ext cx="1259139" cy="1051471"/>
          </a:xfrm>
          <a:prstGeom prst="rect">
            <a:avLst/>
          </a:prstGeom>
          <a:noFill/>
          <a:ln>
            <a:noFill/>
          </a:ln>
        </p:spPr>
      </p:pic>
      <p:sp>
        <p:nvSpPr>
          <p:cNvPr id="581" name="Google Shape;581;p42"/>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7(A–F). Published Cry4 structural model and FAD-binding region.</a:t>
            </a:r>
            <a:endParaRPr sz="1800">
              <a:solidFill>
                <a:schemeClr val="dk1"/>
              </a:solidFill>
              <a:latin typeface="Calibri"/>
              <a:ea typeface="Calibri"/>
              <a:cs typeface="Calibri"/>
              <a:sym typeface="Calibri"/>
            </a:endParaRPr>
          </a:p>
        </p:txBody>
      </p:sp>
      <p:sp>
        <p:nvSpPr>
          <p:cNvPr id="582" name="Google Shape;582;p42"/>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3" name="Google Shape;583;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Xu et al. (2021); Günther et al. (2018)</a:t>
            </a:r>
            <a:endParaRPr sz="1800">
              <a:solidFill>
                <a:schemeClr val="dk1"/>
              </a:solidFill>
              <a:latin typeface="Calibri"/>
              <a:ea typeface="Calibri"/>
              <a:cs typeface="Calibri"/>
              <a:sym typeface="Calibri"/>
            </a:endParaRPr>
          </a:p>
        </p:txBody>
      </p:sp>
      <p:sp>
        <p:nvSpPr>
          <p:cNvPr id="584" name="Google Shape;584;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8" name="Shape 588"/>
        <p:cNvGrpSpPr/>
        <p:nvPr/>
      </p:nvGrpSpPr>
      <p:grpSpPr>
        <a:xfrm>
          <a:off x="0" y="0"/>
          <a:ext cx="0" cy="0"/>
          <a:chOff x="0" y="0"/>
          <a:chExt cx="0" cy="0"/>
        </a:xfrm>
      </p:grpSpPr>
      <p:sp>
        <p:nvSpPr>
          <p:cNvPr id="589" name="Google Shape;589;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Iron staining does not identify a magnetic neuron</a:t>
            </a:r>
            <a:endParaRPr sz="1800">
              <a:solidFill>
                <a:schemeClr val="dk1"/>
              </a:solidFill>
              <a:latin typeface="Calibri"/>
              <a:ea typeface="Calibri"/>
              <a:cs typeface="Calibri"/>
              <a:sym typeface="Calibri"/>
            </a:endParaRPr>
          </a:p>
        </p:txBody>
      </p:sp>
      <p:sp>
        <p:nvSpPr>
          <p:cNvPr id="590" name="Google Shape;590;p4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A proposed alternative receptor relies on </a:t>
            </a:r>
            <a:r>
              <a:rPr b="1" i="0" lang="en-US" sz="1400">
                <a:solidFill>
                  <a:srgbClr val="8A3B32"/>
                </a:solidFill>
                <a:latin typeface="Arial"/>
                <a:ea typeface="Arial"/>
                <a:cs typeface="Arial"/>
                <a:sym typeface="Arial"/>
              </a:rPr>
              <a:t>magnetite</a:t>
            </a:r>
            <a:r>
              <a:rPr b="0" i="0" lang="en-US" sz="1400">
                <a:solidFill>
                  <a:srgbClr val="26252A"/>
                </a:solidFill>
                <a:latin typeface="Arial"/>
                <a:ea typeface="Arial"/>
                <a:cs typeface="Arial"/>
                <a:sym typeface="Arial"/>
              </a:rPr>
              <a:t>, an iron oxide whose particles interact with magnetic fields. Treiber and colleagues reexamined iron-rich cells in pigeon upper beaks that had been proposed as magnetosensitive neurons. </a:t>
            </a:r>
            <a:r>
              <a:rPr b="1" i="0" lang="en-US" sz="1400">
                <a:solidFill>
                  <a:srgbClr val="8A3B32"/>
                </a:solidFill>
                <a:latin typeface="Arial"/>
                <a:ea typeface="Arial"/>
                <a:cs typeface="Arial"/>
                <a:sym typeface="Arial"/>
              </a:rPr>
              <a:t>Prussian blue</a:t>
            </a:r>
            <a:r>
              <a:rPr b="0" i="0" lang="en-US" sz="1400">
                <a:solidFill>
                  <a:srgbClr val="26252A"/>
                </a:solidFill>
                <a:latin typeface="Arial"/>
                <a:ea typeface="Arial"/>
                <a:cs typeface="Arial"/>
                <a:sym typeface="Arial"/>
              </a:rPr>
              <a:t> staining reveals iron accumulation in tissue before any question of cell identity arises, which is the first step of the analysis.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Iron-positive cells appeared in subepidermal tissue, respiratory epithelium and feather follicles. Their positions and abundance varied strongly from bird to bird, so they lacked the stereotyped bilateral arrangement expected of a sensory organ. At least 97% of stained cells in the examined compartments had visible nuclei, which identifies them as intact cells.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400">
                <a:solidFill>
                  <a:srgbClr val="26252A"/>
                </a:solidFill>
                <a:latin typeface="Arial"/>
                <a:ea typeface="Arial"/>
                <a:cs typeface="Arial"/>
                <a:sym typeface="Arial"/>
              </a:rPr>
              <a:t>The anatomy challenges identification of this iron-rich population as an organized receptor system. A candidate receptor needs a link to an identified sensory cell and to a pathway that carries its signal to the brain. Particle-based magnetoreception remains a possibility beyond these cells. The stained cells were examined in several upper-beak compartments.</a:t>
            </a:r>
            <a:endParaRPr sz="1800">
              <a:solidFill>
                <a:schemeClr val="dk1"/>
              </a:solidFill>
              <a:latin typeface="Calibri"/>
              <a:ea typeface="Calibri"/>
              <a:cs typeface="Calibri"/>
              <a:sym typeface="Calibri"/>
            </a:endParaRPr>
          </a:p>
        </p:txBody>
      </p:sp>
      <p:pic>
        <p:nvPicPr>
          <p:cNvPr id="593" name="Google Shape;593;p43"/>
          <p:cNvPicPr preferRelativeResize="0"/>
          <p:nvPr/>
        </p:nvPicPr>
        <p:blipFill rotWithShape="1">
          <a:blip r:embed="rId3">
            <a:alphaModFix/>
          </a:blip>
          <a:srcRect b="0" l="0" r="0" t="0"/>
          <a:stretch/>
        </p:blipFill>
        <p:spPr>
          <a:xfrm>
            <a:off x="7336097" y="1280071"/>
            <a:ext cx="3822528" cy="4297561"/>
          </a:xfrm>
          <a:prstGeom prst="rect">
            <a:avLst/>
          </a:prstGeom>
          <a:noFill/>
          <a:ln>
            <a:noFill/>
          </a:ln>
        </p:spPr>
      </p:pic>
      <p:sp>
        <p:nvSpPr>
          <p:cNvPr id="594" name="Google Shape;594;p43"/>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Treiber et al. (2012), Fig. 1(a–k). Iron-positive cells occur in several upper-beak compartments.</a:t>
            </a:r>
            <a:endParaRPr sz="1800">
              <a:solidFill>
                <a:schemeClr val="dk1"/>
              </a:solidFill>
              <a:latin typeface="Calibri"/>
              <a:ea typeface="Calibri"/>
              <a:cs typeface="Calibri"/>
              <a:sym typeface="Calibri"/>
            </a:endParaRPr>
          </a:p>
        </p:txBody>
      </p:sp>
      <p:sp>
        <p:nvSpPr>
          <p:cNvPr id="595" name="Google Shape;595;p43"/>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6" name="Google Shape;596;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Treiber et al. (2012)</a:t>
            </a:r>
            <a:endParaRPr sz="1800">
              <a:solidFill>
                <a:schemeClr val="dk1"/>
              </a:solidFill>
              <a:latin typeface="Calibri"/>
              <a:ea typeface="Calibri"/>
              <a:cs typeface="Calibri"/>
              <a:sym typeface="Calibri"/>
            </a:endParaRPr>
          </a:p>
        </p:txBody>
      </p:sp>
      <p:sp>
        <p:nvSpPr>
          <p:cNvPr id="597" name="Google Shape;597;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1" name="Shape 601"/>
        <p:cNvGrpSpPr/>
        <p:nvPr/>
      </p:nvGrpSpPr>
      <p:grpSpPr>
        <a:xfrm>
          <a:off x="0" y="0"/>
          <a:ext cx="0" cy="0"/>
          <a:chOff x="0" y="0"/>
          <a:chExt cx="0" cy="0"/>
        </a:xfrm>
      </p:grpSpPr>
      <p:sp>
        <p:nvSpPr>
          <p:cNvPr id="602" name="Google Shape;602;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Iron-rich upper-beak cells are macrophages</a:t>
            </a:r>
            <a:endParaRPr sz="1800">
              <a:solidFill>
                <a:schemeClr val="dk1"/>
              </a:solidFill>
              <a:latin typeface="Calibri"/>
              <a:ea typeface="Calibri"/>
              <a:cs typeface="Calibri"/>
              <a:sym typeface="Calibri"/>
            </a:endParaRPr>
          </a:p>
        </p:txBody>
      </p:sp>
      <p:sp>
        <p:nvSpPr>
          <p:cNvPr id="603" name="Google Shape;603;p4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8A3B32"/>
              </a:buClr>
              <a:buSzPts val="1500"/>
              <a:buFont typeface="Arial"/>
              <a:buNone/>
            </a:pPr>
            <a:r>
              <a:rPr b="1" i="0" lang="en-US" sz="1400">
                <a:solidFill>
                  <a:srgbClr val="8A3B32"/>
                </a:solidFill>
                <a:latin typeface="Arial"/>
                <a:ea typeface="Arial"/>
                <a:cs typeface="Arial"/>
                <a:sym typeface="Arial"/>
              </a:rPr>
              <a:t>Macrophages</a:t>
            </a:r>
            <a:r>
              <a:rPr b="0" i="0" lang="en-US" sz="1400">
                <a:solidFill>
                  <a:srgbClr val="26252A"/>
                </a:solidFill>
                <a:latin typeface="Arial"/>
                <a:ea typeface="Arial"/>
                <a:cs typeface="Arial"/>
                <a:sym typeface="Arial"/>
              </a:rPr>
              <a:t> are immune cells that accumulate and process material within tissues. Treiber and colleagues combined iron staining with neuronal markers, immune-marker staining and electron microscopy. The strategy tested cell identity instead of assuming that an iron deposit near a sensory nerve belongs to a magnetoreceptor. The three methods together tested identity from several angles.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500"/>
              <a:buFont typeface="Arial"/>
              <a:buNone/>
            </a:pPr>
            <a:r>
              <a:rPr b="0" i="0" lang="en-US" sz="1400">
                <a:solidFill>
                  <a:srgbClr val="26252A"/>
                </a:solidFill>
                <a:latin typeface="Arial"/>
                <a:ea typeface="Arial"/>
                <a:cs typeface="Arial"/>
                <a:sym typeface="Arial"/>
              </a:rPr>
              <a:t>The iron-positive populations rarely overlapped the neuronal markers and overlapped MHC class II, an antigen-presentation marker. Electron microscopy revealed ferritin-like granules about 6 to 9 nm across and siderosomes near 300 nm in size. The clusters rarely overlapped neuronal markers, which is central to the identity test. Granules and siderosomes are features used to identify iron storage.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500"/>
              <a:buFont typeface="Arial"/>
              <a:buNone/>
            </a:pPr>
            <a:r>
              <a:rPr b="0" i="0" lang="en-US" sz="1400">
                <a:solidFill>
                  <a:srgbClr val="26252A"/>
                </a:solidFill>
                <a:latin typeface="Arial"/>
                <a:ea typeface="Arial"/>
                <a:cs typeface="Arial"/>
                <a:sym typeface="Arial"/>
              </a:rPr>
              <a:t>These results support macrophage identity for the examined cells and challenge the claim that these clusters are magnetosensitive neurons. The peripheral source of trigeminal magnetic information stays unidentified, and iron staining near a nerve establishes neither an ion channel nor a magnetic synapse. The result contradicts a neuronal interpretation of these clusters.</a:t>
            </a:r>
            <a:endParaRPr sz="1800">
              <a:solidFill>
                <a:schemeClr val="dk1"/>
              </a:solidFill>
              <a:latin typeface="Calibri"/>
              <a:ea typeface="Calibri"/>
              <a:cs typeface="Calibri"/>
              <a:sym typeface="Calibri"/>
            </a:endParaRPr>
          </a:p>
        </p:txBody>
      </p:sp>
      <p:pic>
        <p:nvPicPr>
          <p:cNvPr id="606" name="Google Shape;606;p44"/>
          <p:cNvPicPr preferRelativeResize="0"/>
          <p:nvPr/>
        </p:nvPicPr>
        <p:blipFill rotWithShape="1">
          <a:blip r:embed="rId3">
            <a:alphaModFix/>
          </a:blip>
          <a:srcRect b="0" l="0" r="0" t="0"/>
          <a:stretch/>
        </p:blipFill>
        <p:spPr>
          <a:xfrm>
            <a:off x="6870212" y="1280071"/>
            <a:ext cx="4754596" cy="1420713"/>
          </a:xfrm>
          <a:prstGeom prst="rect">
            <a:avLst/>
          </a:prstGeom>
          <a:noFill/>
          <a:ln>
            <a:noFill/>
          </a:ln>
        </p:spPr>
      </p:pic>
      <p:sp>
        <p:nvSpPr>
          <p:cNvPr id="607" name="Google Shape;607;p44"/>
          <p:cNvSpPr/>
          <p:nvPr/>
        </p:nvSpPr>
        <p:spPr>
          <a:xfrm>
            <a:off x="6870055" y="2792313"/>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Treiber et al. (2012), Fig. 4(a–c). Immune-marker staining identifies iron-rich cells as macrophages.</a:t>
            </a:r>
            <a:endParaRPr sz="1800">
              <a:solidFill>
                <a:schemeClr val="dk1"/>
              </a:solidFill>
              <a:latin typeface="Calibri"/>
              <a:ea typeface="Calibri"/>
              <a:cs typeface="Calibri"/>
              <a:sym typeface="Calibri"/>
            </a:endParaRPr>
          </a:p>
        </p:txBody>
      </p:sp>
      <p:pic>
        <p:nvPicPr>
          <p:cNvPr id="608" name="Google Shape;608;p44"/>
          <p:cNvPicPr preferRelativeResize="0"/>
          <p:nvPr/>
        </p:nvPicPr>
        <p:blipFill rotWithShape="1">
          <a:blip r:embed="rId4">
            <a:alphaModFix/>
          </a:blip>
          <a:srcRect b="0" l="0" r="0" t="0"/>
          <a:stretch/>
        </p:blipFill>
        <p:spPr>
          <a:xfrm>
            <a:off x="8775353" y="4709074"/>
            <a:ext cx="944314" cy="1051465"/>
          </a:xfrm>
          <a:prstGeom prst="rect">
            <a:avLst/>
          </a:prstGeom>
          <a:noFill/>
          <a:ln>
            <a:noFill/>
          </a:ln>
        </p:spPr>
      </p:pic>
      <p:sp>
        <p:nvSpPr>
          <p:cNvPr id="609" name="Google Shape;609;p44"/>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Treiber et al. (2012), Fig. 3(a–f). Electron microscopy of iron-storing granules and siderosomes.</a:t>
            </a:r>
            <a:endParaRPr sz="1800">
              <a:solidFill>
                <a:schemeClr val="dk1"/>
              </a:solidFill>
              <a:latin typeface="Calibri"/>
              <a:ea typeface="Calibri"/>
              <a:cs typeface="Calibri"/>
              <a:sym typeface="Calibri"/>
            </a:endParaRPr>
          </a:p>
        </p:txBody>
      </p:sp>
      <p:sp>
        <p:nvSpPr>
          <p:cNvPr id="610" name="Google Shape;610;p4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1" name="Google Shape;61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Treiber et al. (2012)</a:t>
            </a:r>
            <a:endParaRPr sz="1800">
              <a:solidFill>
                <a:schemeClr val="dk1"/>
              </a:solidFill>
              <a:latin typeface="Calibri"/>
              <a:ea typeface="Calibri"/>
              <a:cs typeface="Calibri"/>
              <a:sym typeface="Calibri"/>
            </a:endParaRPr>
          </a:p>
        </p:txBody>
      </p:sp>
      <p:sp>
        <p:nvSpPr>
          <p:cNvPr id="612" name="Google Shape;61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Map and compass evidence supports distinct mechanisms</a:t>
            </a:r>
            <a:endParaRPr sz="1800">
              <a:solidFill>
                <a:schemeClr val="dk1"/>
              </a:solidFill>
              <a:latin typeface="Calibri"/>
              <a:ea typeface="Calibri"/>
              <a:cs typeface="Calibri"/>
              <a:sym typeface="Calibri"/>
            </a:endParaRPr>
          </a:p>
        </p:txBody>
      </p:sp>
      <p:sp>
        <p:nvSpPr>
          <p:cNvPr id="618" name="Google Shape;618;p4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The turtle studies distinguish regional-field recognition from the direction selected after recognition. A learned food-anticipatory assay tests magnetic signatures without a compass heading, whereas hatchling swimming assays may need both positional cues and directional information. Positional cues are needed for the map, and directional information for the swim. Each assay isolates one of these outcomes.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Radiofrequency exposure spared learned turtle map discrimination yet disrupted the compass-dependent orientation task. A strong magnetic pulse reduced learned map responses. In birds, Cluster N lesions disrupted compass behavior, while V1 sectioning impaired map compensation in reed warblers. The results come from different species and preparations, which limits direct comparison. The mechanisms differ across these studies.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400">
                <a:solidFill>
                  <a:srgbClr val="26252A"/>
                </a:solidFill>
                <a:latin typeface="Arial"/>
                <a:ea typeface="Arial"/>
                <a:cs typeface="Arial"/>
                <a:sym typeface="Arial"/>
              </a:rPr>
              <a:t>Cry4 localization and purified photochemistry support a radical-pair hypothesis. Particle-based maps remain plausible, but no receptor cell has been identified for them. Transmitters, ion channels and full receptor-to-behavior circuits are still being established. The pathway from photochemistry to behavior is still incomplete, and each piece is a candidate step in that chain.</a:t>
            </a:r>
            <a:endParaRPr sz="1800">
              <a:solidFill>
                <a:schemeClr val="dk1"/>
              </a:solidFill>
              <a:latin typeface="Calibri"/>
              <a:ea typeface="Calibri"/>
              <a:cs typeface="Calibri"/>
              <a:sym typeface="Calibri"/>
            </a:endParaRPr>
          </a:p>
        </p:txBody>
      </p:sp>
      <p:pic>
        <p:nvPicPr>
          <p:cNvPr id="621" name="Google Shape;621;p45"/>
          <p:cNvPicPr preferRelativeResize="0"/>
          <p:nvPr/>
        </p:nvPicPr>
        <p:blipFill rotWithShape="1">
          <a:blip r:embed="rId3">
            <a:alphaModFix/>
          </a:blip>
          <a:srcRect b="0" l="0" r="0" t="0"/>
          <a:stretch/>
        </p:blipFill>
        <p:spPr>
          <a:xfrm>
            <a:off x="7975763" y="1280071"/>
            <a:ext cx="2543493" cy="2880271"/>
          </a:xfrm>
          <a:prstGeom prst="rect">
            <a:avLst/>
          </a:prstGeom>
          <a:noFill/>
          <a:ln>
            <a:noFill/>
          </a:ln>
        </p:spPr>
      </p:pic>
      <p:sp>
        <p:nvSpPr>
          <p:cNvPr id="622" name="Google Shape;622;p45"/>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5(a–b). Map discrimination and compass-dependent orientation dissociate.</a:t>
            </a:r>
            <a:endParaRPr sz="1800">
              <a:solidFill>
                <a:schemeClr val="dk1"/>
              </a:solidFill>
              <a:latin typeface="Calibri"/>
              <a:ea typeface="Calibri"/>
              <a:cs typeface="Calibri"/>
              <a:sym typeface="Calibri"/>
            </a:endParaRPr>
          </a:p>
        </p:txBody>
      </p:sp>
      <p:pic>
        <p:nvPicPr>
          <p:cNvPr id="623" name="Google Shape;623;p45"/>
          <p:cNvPicPr preferRelativeResize="0"/>
          <p:nvPr/>
        </p:nvPicPr>
        <p:blipFill rotWithShape="1">
          <a:blip r:embed="rId4">
            <a:alphaModFix/>
          </a:blip>
          <a:srcRect b="0" l="0" r="0" t="0"/>
          <a:stretch/>
        </p:blipFill>
        <p:spPr>
          <a:xfrm>
            <a:off x="8617940" y="4709071"/>
            <a:ext cx="1259139" cy="1051471"/>
          </a:xfrm>
          <a:prstGeom prst="rect">
            <a:avLst/>
          </a:prstGeom>
          <a:noFill/>
          <a:ln>
            <a:noFill/>
          </a:ln>
        </p:spPr>
      </p:pic>
      <p:sp>
        <p:nvSpPr>
          <p:cNvPr id="624" name="Google Shape;624;p45"/>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7(A–F). Published Cry4 structural model and FAD-binding region.</a:t>
            </a:r>
            <a:endParaRPr sz="1800">
              <a:solidFill>
                <a:schemeClr val="dk1"/>
              </a:solidFill>
              <a:latin typeface="Calibri"/>
              <a:ea typeface="Calibri"/>
              <a:cs typeface="Calibri"/>
              <a:sym typeface="Calibri"/>
            </a:endParaRPr>
          </a:p>
        </p:txBody>
      </p:sp>
      <p:sp>
        <p:nvSpPr>
          <p:cNvPr id="625" name="Google Shape;625;p45"/>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6" name="Google Shape;62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 Mackiewicz et al. (2025); Zapka et al. (2009); Pakhomov et al. (2018); Günther et al. (2018); Xu et al. (2021)</a:t>
            </a:r>
            <a:endParaRPr sz="1800">
              <a:solidFill>
                <a:schemeClr val="dk1"/>
              </a:solidFill>
              <a:latin typeface="Calibri"/>
              <a:ea typeface="Calibri"/>
              <a:cs typeface="Calibri"/>
              <a:sym typeface="Calibri"/>
            </a:endParaRPr>
          </a:p>
        </p:txBody>
      </p:sp>
      <p:sp>
        <p:nvSpPr>
          <p:cNvPr id="627" name="Google Shape;62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33" name="Google Shape;633;p46"/>
          <p:cNvSpPr/>
          <p:nvPr/>
        </p:nvSpPr>
        <p:spPr>
          <a:xfrm>
            <a:off x="566886" y="1234380"/>
            <a:ext cx="5391894" cy="1478161"/>
          </a:xfrm>
          <a:prstGeom prst="rect">
            <a:avLst/>
          </a:prstGeom>
          <a:solidFill>
            <a:srgbClr val="F6F2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4" name="Google Shape;634;p46"/>
          <p:cNvSpPr/>
          <p:nvPr/>
        </p:nvSpPr>
        <p:spPr>
          <a:xfrm>
            <a:off x="749796" y="1371600"/>
            <a:ext cx="5045125" cy="65811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600"/>
              <a:buFont typeface="Arial"/>
              <a:buNone/>
            </a:pPr>
            <a:r>
              <a:rPr b="1" i="0" lang="en-US" sz="1600">
                <a:solidFill>
                  <a:srgbClr val="8A3B32"/>
                </a:solidFill>
                <a:latin typeface="Arial"/>
                <a:ea typeface="Arial"/>
                <a:cs typeface="Arial"/>
                <a:sym typeface="Arial"/>
              </a:rPr>
              <a:t>Compass and map differ</a:t>
            </a:r>
            <a:r>
              <a:rPr b="0" i="0" lang="en-US" sz="1600">
                <a:solidFill>
                  <a:srgbClr val="26252A"/>
                </a:solidFill>
                <a:latin typeface="Arial"/>
                <a:ea typeface="Arial"/>
                <a:cs typeface="Arial"/>
                <a:sym typeface="Arial"/>
              </a:rPr>
              <a:t> A compass supplies direction; a magnetic map uses location-related field information. An orientation assay can require both.</a:t>
            </a:r>
            <a:endParaRPr sz="1800">
              <a:solidFill>
                <a:schemeClr val="dk1"/>
              </a:solidFill>
              <a:latin typeface="Calibri"/>
              <a:ea typeface="Calibri"/>
              <a:cs typeface="Calibri"/>
              <a:sym typeface="Calibri"/>
            </a:endParaRPr>
          </a:p>
        </p:txBody>
      </p:sp>
      <p:sp>
        <p:nvSpPr>
          <p:cNvPr id="635" name="Google Shape;635;p46"/>
          <p:cNvSpPr/>
          <p:nvPr/>
        </p:nvSpPr>
        <p:spPr>
          <a:xfrm>
            <a:off x="6233071" y="1234380"/>
            <a:ext cx="5391894" cy="1478161"/>
          </a:xfrm>
          <a:prstGeom prst="rect">
            <a:avLst/>
          </a:prstGeom>
          <a:solidFill>
            <a:srgbClr val="F6F2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46"/>
          <p:cNvSpPr/>
          <p:nvPr/>
        </p:nvSpPr>
        <p:spPr>
          <a:xfrm>
            <a:off x="6415980" y="13716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500"/>
              <a:buFont typeface="Arial"/>
              <a:buNone/>
            </a:pPr>
            <a:r>
              <a:rPr b="1" i="0" lang="en-US" sz="1500">
                <a:solidFill>
                  <a:srgbClr val="8A3B32"/>
                </a:solidFill>
                <a:latin typeface="Arial"/>
                <a:ea typeface="Arial"/>
                <a:cs typeface="Arial"/>
                <a:sym typeface="Arial"/>
              </a:rPr>
              <a:t>Turtles discriminate field geometry</a:t>
            </a:r>
            <a:r>
              <a:rPr b="0" i="0" lang="en-US" sz="1500">
                <a:solidFill>
                  <a:srgbClr val="26252A"/>
                </a:solidFill>
                <a:latin typeface="Arial"/>
                <a:ea typeface="Arial"/>
                <a:cs typeface="Arial"/>
                <a:sym typeface="Arial"/>
              </a:rPr>
              <a:t> Controlled inclination and regional-field changes evoke different swimming headings, including appropriate responses in ocean-inexperienced hatchlings.</a:t>
            </a:r>
            <a:endParaRPr sz="1800">
              <a:solidFill>
                <a:schemeClr val="dk1"/>
              </a:solidFill>
              <a:latin typeface="Calibri"/>
              <a:ea typeface="Calibri"/>
              <a:cs typeface="Calibri"/>
              <a:sym typeface="Calibri"/>
            </a:endParaRPr>
          </a:p>
        </p:txBody>
      </p:sp>
      <p:sp>
        <p:nvSpPr>
          <p:cNvPr id="637" name="Google Shape;637;p46"/>
          <p:cNvSpPr/>
          <p:nvPr/>
        </p:nvSpPr>
        <p:spPr>
          <a:xfrm>
            <a:off x="566886" y="2986980"/>
            <a:ext cx="5391894" cy="1478161"/>
          </a:xfrm>
          <a:prstGeom prst="rect">
            <a:avLst/>
          </a:prstGeom>
          <a:solidFill>
            <a:srgbClr val="F6F2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8" name="Google Shape;638;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600"/>
              <a:buFont typeface="Arial"/>
              <a:buNone/>
            </a:pPr>
            <a:r>
              <a:rPr b="1" i="0" lang="en-US" sz="1600">
                <a:solidFill>
                  <a:srgbClr val="8A3B32"/>
                </a:solidFill>
                <a:latin typeface="Arial"/>
                <a:ea typeface="Arial"/>
                <a:cs typeface="Arial"/>
                <a:sym typeface="Arial"/>
              </a:rPr>
              <a:t>Magnetic signatures can be learned</a:t>
            </a:r>
            <a:r>
              <a:rPr b="0" i="0" lang="en-US" sz="1600">
                <a:solidFill>
                  <a:srgbClr val="26252A"/>
                </a:solidFill>
                <a:latin typeface="Arial"/>
                <a:ea typeface="Arial"/>
                <a:cs typeface="Arial"/>
                <a:sym typeface="Arial"/>
              </a:rPr>
              <a:t> Juvenile loggerheads learn compound inclination–intensity cues and retain rewarded-field discrimination for at least four months.</a:t>
            </a:r>
            <a:endParaRPr sz="1800">
              <a:solidFill>
                <a:schemeClr val="dk1"/>
              </a:solidFill>
              <a:latin typeface="Calibri"/>
              <a:ea typeface="Calibri"/>
              <a:cs typeface="Calibri"/>
              <a:sym typeface="Calibri"/>
            </a:endParaRPr>
          </a:p>
        </p:txBody>
      </p:sp>
      <p:sp>
        <p:nvSpPr>
          <p:cNvPr id="639" name="Google Shape;639;p46"/>
          <p:cNvSpPr/>
          <p:nvPr/>
        </p:nvSpPr>
        <p:spPr>
          <a:xfrm>
            <a:off x="6233071" y="2986980"/>
            <a:ext cx="5391894" cy="1478161"/>
          </a:xfrm>
          <a:prstGeom prst="rect">
            <a:avLst/>
          </a:prstGeom>
          <a:solidFill>
            <a:srgbClr val="F6F2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46"/>
          <p:cNvSpPr/>
          <p:nvPr/>
        </p:nvSpPr>
        <p:spPr>
          <a:xfrm>
            <a:off x="6415980"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600"/>
              <a:buFont typeface="Arial"/>
              <a:buNone/>
            </a:pPr>
            <a:r>
              <a:rPr b="1" i="0" lang="en-US" sz="1600">
                <a:solidFill>
                  <a:srgbClr val="8A3B32"/>
                </a:solidFill>
                <a:latin typeface="Arial"/>
                <a:ea typeface="Arial"/>
                <a:cs typeface="Arial"/>
                <a:sym typeface="Arial"/>
              </a:rPr>
              <a:t>Bird pathways serve different tasks</a:t>
            </a:r>
            <a:r>
              <a:rPr b="0" i="0" lang="en-US" sz="1600">
                <a:solidFill>
                  <a:srgbClr val="26252A"/>
                </a:solidFill>
                <a:latin typeface="Arial"/>
                <a:ea typeface="Arial"/>
                <a:cs typeface="Arial"/>
                <a:sym typeface="Arial"/>
              </a:rPr>
              <a:t> Cluster N is necessary for the tested robin magnetic compass; V1 input is necessary for magnetic map compensation in reed warblers.</a:t>
            </a:r>
            <a:endParaRPr sz="1800">
              <a:solidFill>
                <a:schemeClr val="dk1"/>
              </a:solidFill>
              <a:latin typeface="Calibri"/>
              <a:ea typeface="Calibri"/>
              <a:cs typeface="Calibri"/>
              <a:sym typeface="Calibri"/>
            </a:endParaRPr>
          </a:p>
        </p:txBody>
      </p:sp>
      <p:sp>
        <p:nvSpPr>
          <p:cNvPr id="641" name="Google Shape;641;p46"/>
          <p:cNvSpPr/>
          <p:nvPr/>
        </p:nvSpPr>
        <p:spPr>
          <a:xfrm>
            <a:off x="566886" y="4739580"/>
            <a:ext cx="5391894" cy="1478161"/>
          </a:xfrm>
          <a:prstGeom prst="rect">
            <a:avLst/>
          </a:prstGeom>
          <a:solidFill>
            <a:srgbClr val="F6F2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46"/>
          <p:cNvSpPr/>
          <p:nvPr/>
        </p:nvSpPr>
        <p:spPr>
          <a:xfrm>
            <a:off x="749796"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500"/>
              <a:buFont typeface="Arial"/>
              <a:buNone/>
            </a:pPr>
            <a:r>
              <a:rPr b="1" i="0" lang="en-US" sz="1500">
                <a:solidFill>
                  <a:srgbClr val="8A3B32"/>
                </a:solidFill>
                <a:latin typeface="Arial"/>
                <a:ea typeface="Arial"/>
                <a:cs typeface="Arial"/>
                <a:sym typeface="Arial"/>
              </a:rPr>
              <a:t>Cry4 is a supported candidate</a:t>
            </a:r>
            <a:r>
              <a:rPr b="0" i="0" lang="en-US" sz="1500">
                <a:solidFill>
                  <a:srgbClr val="26252A"/>
                </a:solidFill>
                <a:latin typeface="Arial"/>
                <a:ea typeface="Arial"/>
                <a:cs typeface="Arial"/>
                <a:sym typeface="Arial"/>
              </a:rPr>
              <a:t> Retinal localization, antibody controls and magnetic-sensitive purified photochemistry support a radical-pair hypothesis without proving its complete neural mechanism.</a:t>
            </a:r>
            <a:endParaRPr sz="1800">
              <a:solidFill>
                <a:schemeClr val="dk1"/>
              </a:solidFill>
              <a:latin typeface="Calibri"/>
              <a:ea typeface="Calibri"/>
              <a:cs typeface="Calibri"/>
              <a:sym typeface="Calibri"/>
            </a:endParaRPr>
          </a:p>
        </p:txBody>
      </p:sp>
      <p:sp>
        <p:nvSpPr>
          <p:cNvPr id="643" name="Google Shape;643;p46"/>
          <p:cNvSpPr/>
          <p:nvPr/>
        </p:nvSpPr>
        <p:spPr>
          <a:xfrm>
            <a:off x="6233071" y="4739580"/>
            <a:ext cx="5391894" cy="1478161"/>
          </a:xfrm>
          <a:prstGeom prst="rect">
            <a:avLst/>
          </a:prstGeom>
          <a:solidFill>
            <a:srgbClr val="F6F2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4" name="Google Shape;644;p46"/>
          <p:cNvSpPr/>
          <p:nvPr/>
        </p:nvSpPr>
        <p:spPr>
          <a:xfrm>
            <a:off x="6415980"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500"/>
              <a:buFont typeface="Arial"/>
              <a:buNone/>
            </a:pPr>
            <a:r>
              <a:rPr b="1" i="0" lang="en-US" sz="1500">
                <a:solidFill>
                  <a:srgbClr val="8A3B32"/>
                </a:solidFill>
                <a:latin typeface="Arial"/>
                <a:ea typeface="Arial"/>
                <a:cs typeface="Arial"/>
                <a:sym typeface="Arial"/>
              </a:rPr>
              <a:t>Receptor identity remains unresolved</a:t>
            </a:r>
            <a:r>
              <a:rPr b="0" i="0" lang="en-US" sz="1500">
                <a:solidFill>
                  <a:srgbClr val="26252A"/>
                </a:solidFill>
                <a:latin typeface="Arial"/>
                <a:ea typeface="Arial"/>
                <a:cs typeface="Arial"/>
                <a:sym typeface="Arial"/>
              </a:rPr>
              <a:t> Pulse effects support candidate particle-based maps, but iron-positive beak cells can be macrophages; a magnetic material alone is not an identified sensory receptor.</a:t>
            </a:r>
            <a:endParaRPr sz="1800">
              <a:solidFill>
                <a:schemeClr val="dk1"/>
              </a:solidFill>
              <a:latin typeface="Calibri"/>
              <a:ea typeface="Calibri"/>
              <a:cs typeface="Calibri"/>
              <a:sym typeface="Calibri"/>
            </a:endParaRPr>
          </a:p>
        </p:txBody>
      </p:sp>
      <p:sp>
        <p:nvSpPr>
          <p:cNvPr id="645" name="Google Shape;645;p4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et al. (2001); Goforth et al. (2025); Zapka et al. (2009); Pakhomov et al. (2018); Günther et al. (2018); Xu et al. (2021); Treiber et al. (2012)</a:t>
            </a:r>
            <a:endParaRPr sz="1800">
              <a:solidFill>
                <a:schemeClr val="dk1"/>
              </a:solidFill>
              <a:latin typeface="Calibri"/>
              <a:ea typeface="Calibri"/>
              <a:cs typeface="Calibri"/>
              <a:sym typeface="Calibri"/>
            </a:endParaRPr>
          </a:p>
        </p:txBody>
      </p:sp>
      <p:sp>
        <p:nvSpPr>
          <p:cNvPr id="647" name="Google Shape;64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74" name="Google Shape;574;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Cry4 recycling depends on oxygen and reagents</a:t>
            </a:r>
            <a:endParaRPr sz="1800">
              <a:solidFill>
                <a:schemeClr val="dk1"/>
              </a:solidFill>
              <a:latin typeface="Calibri"/>
              <a:ea typeface="Calibri"/>
              <a:cs typeface="Calibri"/>
              <a:sym typeface="Calibri"/>
            </a:endParaRPr>
          </a:p>
        </p:txBody>
      </p:sp>
      <p:sp>
        <p:nvSpPr>
          <p:cNvPr id="575" name="Google Shape;575;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8A3B32"/>
              </a:buClr>
              <a:buSzPts val="1600"/>
              <a:buFont typeface="Arial"/>
              <a:buNone/>
            </a:pPr>
            <a:r>
              <a:rPr b="0" i="0" lang="en-US" sz="1500">
                <a:solidFill>
                  <a:srgbClr val="26252A"/>
                </a:solidFill>
                <a:latin typeface="Arial"/>
                <a:ea typeface="Arial"/>
                <a:cs typeface="Arial"/>
                <a:sym typeface="Arial"/>
              </a:rPr>
              <a:t>The optical spectra were recorded as photoreduced Cry4 reoxidized in contact with air. No added redox reagents were present, so the reoxidation reflects the protein's own chemistry with ambient oxygen. The starting oxidation state set the reference for the recovery spectra.</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600"/>
              <a:buFont typeface="Arial"/>
              <a:buNone/>
            </a:pPr>
            <a:r>
              <a:rPr b="0" i="0" lang="en-US" sz="1500">
                <a:solidFill>
                  <a:srgbClr val="26252A"/>
                </a:solidFill>
                <a:latin typeface="Arial"/>
                <a:ea typeface="Arial"/>
                <a:cs typeface="Arial"/>
                <a:sym typeface="Arial"/>
              </a:rPr>
              <a:t>A receptor cycle includes activation and recovery. Resetting differs from showing that a neuron reads the changing state, and the downstream signaling partner and membrane mechanism are still being established. Each spectrum captured a different point in the oxidation sequence.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8A3B32"/>
              </a:buClr>
              <a:buSzPts val="1600"/>
              <a:buFont typeface="Arial"/>
              <a:buNone/>
            </a:pPr>
            <a:r>
              <a:rPr b="0" i="0" lang="en-US" sz="1500">
                <a:solidFill>
                  <a:srgbClr val="26252A"/>
                </a:solidFill>
                <a:latin typeface="Arial"/>
                <a:ea typeface="Arial"/>
                <a:cs typeface="Arial"/>
                <a:sym typeface="Arial"/>
              </a:rPr>
              <a:t>Living cells contain oxygen, reducing agents and protein partners that a cuvette lacks. The rates measured in vitro set a reference for the cell, and they may differ in a living retina. Measured recovery times apply to the tested cuvette conditions.</a:t>
            </a:r>
            <a:endParaRPr sz="1800">
              <a:solidFill>
                <a:schemeClr val="dk1"/>
              </a:solidFill>
              <a:latin typeface="Calibri"/>
              <a:ea typeface="Calibri"/>
              <a:cs typeface="Calibri"/>
              <a:sym typeface="Calibri"/>
            </a:endParaRPr>
          </a:p>
        </p:txBody>
      </p:sp>
      <p:pic>
        <p:nvPicPr>
          <p:cNvPr id="578" name="Google Shape;578;p42"/>
          <p:cNvPicPr preferRelativeResize="0"/>
          <p:nvPr/>
        </p:nvPicPr>
        <p:blipFill rotWithShape="1">
          <a:blip r:embed="rId2">
            <a:alphaModFix/>
          </a:blip>
          <a:srcRect b="0" l="0" r="0" t="0"/>
          <a:stretch/>
        </p:blipFill>
        <p:spPr>
          <a:xfrm>
            <a:off x="8173109" y="1280071"/>
            <a:ext cx="2148802" cy="2880271"/>
          </a:xfrm>
          <a:prstGeom prst="rect">
            <a:avLst/>
          </a:prstGeom>
          <a:noFill/>
          <a:ln>
            <a:noFill/>
          </a:ln>
        </p:spPr>
      </p:pic>
      <p:sp>
        <p:nvSpPr>
          <p:cNvPr id="579" name="Google Shape;579;p42"/>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Xu et al. (2021), Supplementary Fig. S15(a–b). Photoreduced Cry4 returns toward the oxidized state.</a:t>
            </a:r>
            <a:endParaRPr sz="1800">
              <a:solidFill>
                <a:schemeClr val="dk1"/>
              </a:solidFill>
              <a:latin typeface="Calibri"/>
              <a:ea typeface="Calibri"/>
              <a:cs typeface="Calibri"/>
              <a:sym typeface="Calibri"/>
            </a:endParaRPr>
          </a:p>
        </p:txBody>
      </p:sp>
      <p:pic>
        <p:nvPicPr>
          <p:cNvPr id="580" name="Google Shape;580;p42"/>
          <p:cNvPicPr preferRelativeResize="0"/>
          <p:nvPr/>
        </p:nvPicPr>
        <p:blipFill rotWithShape="1">
          <a:blip r:embed="rId3">
            <a:alphaModFix/>
          </a:blip>
          <a:srcRect b="0" l="0" r="0" t="0"/>
          <a:stretch/>
        </p:blipFill>
        <p:spPr>
          <a:xfrm>
            <a:off x="8617940" y="4709071"/>
            <a:ext cx="1259139" cy="1051471"/>
          </a:xfrm>
          <a:prstGeom prst="rect">
            <a:avLst/>
          </a:prstGeom>
          <a:noFill/>
          <a:ln>
            <a:noFill/>
          </a:ln>
        </p:spPr>
      </p:pic>
      <p:sp>
        <p:nvSpPr>
          <p:cNvPr id="581" name="Google Shape;581;p42"/>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7(A–F). Published Cry4 structural model and FAD-binding region.</a:t>
            </a:r>
            <a:endParaRPr sz="1800">
              <a:solidFill>
                <a:schemeClr val="dk1"/>
              </a:solidFill>
              <a:latin typeface="Calibri"/>
              <a:ea typeface="Calibri"/>
              <a:cs typeface="Calibri"/>
              <a:sym typeface="Calibri"/>
            </a:endParaRPr>
          </a:p>
        </p:txBody>
      </p:sp>
      <p:sp>
        <p:nvSpPr>
          <p:cNvPr id="582" name="Google Shape;582;p42"/>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3" name="Google Shape;583;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Xu et al. (2021)</a:t>
            </a:r>
            <a:endParaRPr sz="1800">
              <a:solidFill>
                <a:schemeClr val="dk1"/>
              </a:solidFill>
              <a:latin typeface="Calibri"/>
              <a:ea typeface="Calibri"/>
              <a:cs typeface="Calibri"/>
              <a:sym typeface="Calibri"/>
            </a:endParaRPr>
          </a:p>
        </p:txBody>
      </p:sp>
      <p:sp>
        <p:nvSpPr>
          <p:cNvPr id="584" name="Google Shape;584;p4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42a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29" name="Google Shape;529;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FAD is bound to the purified Cry4 protein</a:t>
            </a:r>
            <a:endParaRPr sz="1800">
              <a:solidFill>
                <a:schemeClr val="dk1"/>
              </a:solidFill>
              <a:latin typeface="Calibri"/>
              <a:ea typeface="Calibri"/>
              <a:cs typeface="Calibri"/>
              <a:sym typeface="Calibri"/>
            </a:endParaRPr>
          </a:p>
        </p:txBody>
      </p:sp>
      <p:sp>
        <p:nvSpPr>
          <p:cNvPr id="530" name="Google Shape;530;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500">
                <a:solidFill>
                  <a:srgbClr val="26252A"/>
                </a:solidFill>
                <a:latin typeface="Arial"/>
                <a:ea typeface="Arial"/>
                <a:cs typeface="Arial"/>
                <a:sym typeface="Arial"/>
              </a:rPr>
              <a:t>Spectroscopy and mass spectrometry measured the purified protein without cellular material. More than 97% of the wild-type protein carried FAD, which is the cofactor needed for the radical-pair reaction. Those measurements characterize the purified protein as a standalone molecule.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500">
                <a:solidFill>
                  <a:srgbClr val="26252A"/>
                </a:solidFill>
                <a:latin typeface="Arial"/>
                <a:ea typeface="Arial"/>
                <a:cs typeface="Arial"/>
                <a:sym typeface="Arial"/>
              </a:rPr>
              <a:t>The supplementary spectrum resolved FAD-bound peaks from weaker peaks attributed to protein without the cofactor. Those assignments distinguish the bound protein from a cofactor-free fraction in the same preparation. The spectrum is evidence about the bound state, not about neural activity.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500">
                <a:solidFill>
                  <a:srgbClr val="26252A"/>
                </a:solidFill>
                <a:latin typeface="Arial"/>
                <a:ea typeface="Arial"/>
                <a:cs typeface="Arial"/>
                <a:sym typeface="Arial"/>
              </a:rPr>
              <a:t>Mass spectra identify the FAD-bound form of cryptochrome 4 in the supplementary figure. The same purified preparation supplies the molecular system used for the photochemistry measurements. Spectroscopy and mass measurements supply the experimental evidence, whereas the structural image is a proposed arrangement.</a:t>
            </a:r>
            <a:endParaRPr sz="1800">
              <a:solidFill>
                <a:schemeClr val="dk1"/>
              </a:solidFill>
              <a:latin typeface="Calibri"/>
              <a:ea typeface="Calibri"/>
              <a:cs typeface="Calibri"/>
              <a:sym typeface="Calibri"/>
            </a:endParaRPr>
          </a:p>
        </p:txBody>
      </p:sp>
      <p:pic>
        <p:nvPicPr>
          <p:cNvPr id="533" name="Google Shape;533;p39"/>
          <p:cNvPicPr preferRelativeResize="0"/>
          <p:nvPr/>
        </p:nvPicPr>
        <p:blipFill rotWithShape="1">
          <a:blip r:embed="rId2">
            <a:alphaModFix/>
          </a:blip>
          <a:srcRect b="0" l="0" r="0" t="0"/>
          <a:stretch/>
        </p:blipFill>
        <p:spPr>
          <a:xfrm>
            <a:off x="7179549" y="1280071"/>
            <a:ext cx="4135773" cy="2880271"/>
          </a:xfrm>
          <a:prstGeom prst="rect">
            <a:avLst/>
          </a:prstGeom>
          <a:noFill/>
          <a:ln>
            <a:noFill/>
          </a:ln>
        </p:spPr>
      </p:pic>
      <p:sp>
        <p:nvSpPr>
          <p:cNvPr id="534" name="Google Shape;534;p39"/>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Xu et al. (2021), Supplementary Fig. S13. Mass spectra identify FAD-bound cryptochrome 4.</a:t>
            </a:r>
            <a:endParaRPr sz="1800">
              <a:solidFill>
                <a:schemeClr val="dk1"/>
              </a:solidFill>
              <a:latin typeface="Calibri"/>
              <a:ea typeface="Calibri"/>
              <a:cs typeface="Calibri"/>
              <a:sym typeface="Calibri"/>
            </a:endParaRPr>
          </a:p>
        </p:txBody>
      </p:sp>
      <p:pic>
        <p:nvPicPr>
          <p:cNvPr id="535" name="Google Shape;535;p39"/>
          <p:cNvPicPr preferRelativeResize="0"/>
          <p:nvPr/>
        </p:nvPicPr>
        <p:blipFill rotWithShape="1">
          <a:blip r:embed="rId3">
            <a:alphaModFix/>
          </a:blip>
          <a:srcRect b="0" l="0" r="0" t="0"/>
          <a:stretch/>
        </p:blipFill>
        <p:spPr>
          <a:xfrm>
            <a:off x="8617940" y="4709071"/>
            <a:ext cx="1259139" cy="1051471"/>
          </a:xfrm>
          <a:prstGeom prst="rect">
            <a:avLst/>
          </a:prstGeom>
          <a:noFill/>
          <a:ln>
            <a:noFill/>
          </a:ln>
        </p:spPr>
      </p:pic>
      <p:sp>
        <p:nvSpPr>
          <p:cNvPr id="536" name="Google Shape;536;p39"/>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7(A–F). Published Cry4 structural model and FAD-binding region.</a:t>
            </a:r>
            <a:endParaRPr sz="1800">
              <a:solidFill>
                <a:schemeClr val="dk1"/>
              </a:solidFill>
              <a:latin typeface="Calibri"/>
              <a:ea typeface="Calibri"/>
              <a:cs typeface="Calibri"/>
              <a:sym typeface="Calibri"/>
            </a:endParaRPr>
          </a:p>
        </p:txBody>
      </p:sp>
      <p:sp>
        <p:nvSpPr>
          <p:cNvPr id="537" name="Google Shape;537;p39"/>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8" name="Google Shape;538;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Xu et al. (2021)</a:t>
            </a:r>
            <a:endParaRPr sz="1800">
              <a:solidFill>
                <a:schemeClr val="dk1"/>
              </a:solidFill>
              <a:latin typeface="Calibri"/>
              <a:ea typeface="Calibri"/>
              <a:cs typeface="Calibri"/>
              <a:sym typeface="Calibri"/>
            </a:endParaRPr>
          </a:p>
        </p:txBody>
      </p:sp>
      <p:sp>
        <p:nvSpPr>
          <p:cNvPr id="539" name="Google Shape;539;p3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8" name="Google Shape;48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Staining locates Cry4 in photoreceptor outer segments</a:t>
            </a:r>
            <a:endParaRPr sz="1800">
              <a:solidFill>
                <a:schemeClr val="dk1"/>
              </a:solidFill>
              <a:latin typeface="Calibri"/>
              <a:ea typeface="Calibri"/>
              <a:cs typeface="Calibri"/>
              <a:sym typeface="Calibri"/>
            </a:endParaRPr>
          </a:p>
        </p:txBody>
      </p:sp>
      <p:sp>
        <p:nvSpPr>
          <p:cNvPr id="489" name="Google Shape;489;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Cry4 was concentrated in the outer segments of photoreceptors, the light-sensitive compartments of the retina. The distribution spanned both peripheral and central retina, and the staining was seen in robins, the migratory species. A localization result identifies where a protein is, not what it does.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Monoclonal antibodies recognize a selected antigenic target, whereas polyclonal preparations include several antibody populations. Immunohistochemistry was applied to robin and chicken retina with both classes of antibody. Each reagent class carries its own specificity, so agreement between them is informative.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Agreement between independent reagents helps constrain a localization claim, provided that their specificity is tested rather than assumed. Fluorescence reports the location of the antibody's target, while a magnetoreceptor's signal output is a separate target for tests.</a:t>
            </a:r>
            <a:endParaRPr sz="1800">
              <a:solidFill>
                <a:schemeClr val="dk1"/>
              </a:solidFill>
              <a:latin typeface="Calibri"/>
              <a:ea typeface="Calibri"/>
              <a:cs typeface="Calibri"/>
              <a:sym typeface="Calibri"/>
            </a:endParaRPr>
          </a:p>
        </p:txBody>
      </p:sp>
      <p:pic>
        <p:nvPicPr>
          <p:cNvPr id="492" name="Google Shape;492;p36"/>
          <p:cNvPicPr preferRelativeResize="0"/>
          <p:nvPr/>
        </p:nvPicPr>
        <p:blipFill rotWithShape="1">
          <a:blip r:embed="rId2">
            <a:alphaModFix/>
          </a:blip>
          <a:srcRect b="0" l="0" r="0" t="0"/>
          <a:stretch/>
        </p:blipFill>
        <p:spPr>
          <a:xfrm>
            <a:off x="6870130" y="1280071"/>
            <a:ext cx="4754760" cy="2357884"/>
          </a:xfrm>
          <a:prstGeom prst="rect">
            <a:avLst/>
          </a:prstGeom>
          <a:noFill/>
          <a:ln>
            <a:noFill/>
          </a:ln>
        </p:spPr>
      </p:pic>
      <p:sp>
        <p:nvSpPr>
          <p:cNvPr id="493" name="Google Shape;493;p36"/>
          <p:cNvSpPr/>
          <p:nvPr/>
        </p:nvSpPr>
        <p:spPr>
          <a:xfrm>
            <a:off x="6870055" y="372948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3(A–D). Cry4 staining is concentrated in photoreceptor outer segments.</a:t>
            </a:r>
            <a:endParaRPr sz="1800">
              <a:solidFill>
                <a:schemeClr val="dk1"/>
              </a:solidFill>
              <a:latin typeface="Calibri"/>
              <a:ea typeface="Calibri"/>
              <a:cs typeface="Calibri"/>
              <a:sym typeface="Calibri"/>
            </a:endParaRPr>
          </a:p>
        </p:txBody>
      </p:sp>
      <p:pic>
        <p:nvPicPr>
          <p:cNvPr id="494" name="Google Shape;494;p36"/>
          <p:cNvPicPr preferRelativeResize="0"/>
          <p:nvPr/>
        </p:nvPicPr>
        <p:blipFill rotWithShape="1">
          <a:blip r:embed="rId3">
            <a:alphaModFix/>
          </a:blip>
          <a:srcRect b="0" l="0" r="0" t="0"/>
          <a:stretch/>
        </p:blipFill>
        <p:spPr>
          <a:xfrm>
            <a:off x="8852008" y="4206180"/>
            <a:ext cx="790855" cy="1554361"/>
          </a:xfrm>
          <a:prstGeom prst="rect">
            <a:avLst/>
          </a:prstGeom>
          <a:noFill/>
          <a:ln>
            <a:noFill/>
          </a:ln>
        </p:spPr>
      </p:pic>
      <p:sp>
        <p:nvSpPr>
          <p:cNvPr id="495" name="Google Shape;495;p36"/>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4(F–G). Magnified outer segments compare Cry4 with ultraviolet opsin staining.</a:t>
            </a:r>
            <a:endParaRPr sz="1800">
              <a:solidFill>
                <a:schemeClr val="dk1"/>
              </a:solidFill>
              <a:latin typeface="Calibri"/>
              <a:ea typeface="Calibri"/>
              <a:cs typeface="Calibri"/>
              <a:sym typeface="Calibri"/>
            </a:endParaRPr>
          </a:p>
        </p:txBody>
      </p:sp>
      <p:sp>
        <p:nvSpPr>
          <p:cNvPr id="496" name="Google Shape;496;p3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7" name="Google Shape;497;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Günther et al. (2018)</a:t>
            </a:r>
            <a:endParaRPr sz="1800">
              <a:solidFill>
                <a:schemeClr val="dk1"/>
              </a:solidFill>
              <a:latin typeface="Calibri"/>
              <a:ea typeface="Calibri"/>
              <a:cs typeface="Calibri"/>
              <a:sym typeface="Calibri"/>
            </a:endParaRPr>
          </a:p>
        </p:txBody>
      </p:sp>
      <p:sp>
        <p:nvSpPr>
          <p:cNvPr id="498" name="Google Shape;498;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47" name="Google Shape;447;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Grounding decides the shielding effect</a:t>
            </a:r>
            <a:endParaRPr sz="1800">
              <a:solidFill>
                <a:schemeClr val="dk1"/>
              </a:solidFill>
              <a:latin typeface="Calibri"/>
              <a:ea typeface="Calibri"/>
              <a:cs typeface="Calibri"/>
              <a:sym typeface="Calibri"/>
            </a:endParaRPr>
          </a:p>
        </p:txBody>
      </p:sp>
      <p:sp>
        <p:nvSpPr>
          <p:cNvPr id="448" name="Google Shape;448;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Grounding connects the conductive screening to an electrical reference, so its effect on noise differs from an isolated metal enclosure. The screens reduced electromagnetic noise only when they were electrically grounded, and the same screens produced different outcomes in the two electrical conditions.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The behavioral comparison is tied to measured exposure conditions, not to the nominal construction of the huts. Observers scoring orientation did not know which hut was grounded, and the electromagnetic noise was measured in each hut.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The grounded screens recovered the seasonal direction in the same birds, which is the pattern expected for a causal electromagnetic effect. A metal-screened hut without grounding fails to reproduce the effect. Electromagnetic noise, rather than metal alone, accounts for the two outcomes.</a:t>
            </a:r>
            <a:endParaRPr sz="1800">
              <a:solidFill>
                <a:schemeClr val="dk1"/>
              </a:solidFill>
              <a:latin typeface="Calibri"/>
              <a:ea typeface="Calibri"/>
              <a:cs typeface="Calibri"/>
              <a:sym typeface="Calibri"/>
            </a:endParaRPr>
          </a:p>
        </p:txBody>
      </p:sp>
      <p:pic>
        <p:nvPicPr>
          <p:cNvPr id="451" name="Google Shape;451;p33"/>
          <p:cNvPicPr preferRelativeResize="0"/>
          <p:nvPr/>
        </p:nvPicPr>
        <p:blipFill rotWithShape="1">
          <a:blip r:embed="rId2">
            <a:alphaModFix/>
          </a:blip>
          <a:srcRect b="0" l="0" r="0" t="0"/>
          <a:stretch/>
        </p:blipFill>
        <p:spPr>
          <a:xfrm>
            <a:off x="6914638" y="1280071"/>
            <a:ext cx="4665446" cy="4297561"/>
          </a:xfrm>
          <a:prstGeom prst="rect">
            <a:avLst/>
          </a:prstGeom>
          <a:noFill/>
          <a:ln>
            <a:noFill/>
          </a:ln>
        </p:spPr>
      </p:pic>
      <p:sp>
        <p:nvSpPr>
          <p:cNvPr id="452" name="Google Shape;452;p33"/>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Engels et al. (2014), Fig. 2(a–f). Grounding controls the effect of shielding on orientation.</a:t>
            </a:r>
            <a:endParaRPr sz="1800">
              <a:solidFill>
                <a:schemeClr val="dk1"/>
              </a:solidFill>
              <a:latin typeface="Calibri"/>
              <a:ea typeface="Calibri"/>
              <a:cs typeface="Calibri"/>
              <a:sym typeface="Calibri"/>
            </a:endParaRPr>
          </a:p>
        </p:txBody>
      </p:sp>
      <p:sp>
        <p:nvSpPr>
          <p:cNvPr id="453" name="Google Shape;453;p33"/>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Engels et al. (2014)</a:t>
            </a:r>
            <a:endParaRPr sz="1800">
              <a:solidFill>
                <a:schemeClr val="dk1"/>
              </a:solidFill>
              <a:latin typeface="Calibri"/>
              <a:ea typeface="Calibri"/>
              <a:cs typeface="Calibri"/>
              <a:sym typeface="Calibri"/>
            </a:endParaRPr>
          </a:p>
        </p:txBody>
      </p:sp>
      <p:sp>
        <p:nvSpPr>
          <p:cNvPr id="455" name="Google Shape;455;p3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04" name="Google Shape;404;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Virtual displacement changes the magnetic cues</a:t>
            </a:r>
            <a:endParaRPr sz="1800">
              <a:solidFill>
                <a:schemeClr val="dk1"/>
              </a:solidFill>
              <a:latin typeface="Calibri"/>
              <a:ea typeface="Calibri"/>
              <a:cs typeface="Calibri"/>
              <a:sym typeface="Calibri"/>
            </a:endParaRPr>
          </a:p>
        </p:txBody>
      </p:sp>
      <p:sp>
        <p:nvSpPr>
          <p:cNvPr id="405" name="Google Shape;405;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500">
                <a:solidFill>
                  <a:srgbClr val="26252A"/>
                </a:solidFill>
                <a:latin typeface="Arial"/>
                <a:ea typeface="Arial"/>
                <a:cs typeface="Arial"/>
                <a:sym typeface="Arial"/>
              </a:rPr>
              <a:t>Virtual displacement changes the local magnetic parameters without moving the bird from its capture site. The non-magnetic cues stay at the original site, so the magnetic signal alone conflicts with the displaced position. The conflict is set entirely by the magnetic parameters that were changed.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500">
                <a:solidFill>
                  <a:srgbClr val="26252A"/>
                </a:solidFill>
                <a:latin typeface="Arial"/>
                <a:ea typeface="Arial"/>
                <a:cs typeface="Arial"/>
                <a:sym typeface="Arial"/>
              </a:rPr>
              <a:t>The displacement changed intensity, inclination and declination together. The replicated field set the target location for the test, and the response was measured against the capture-site course. Those values define the places being simulated, not the bird's location.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500">
                <a:solidFill>
                  <a:srgbClr val="26252A"/>
                </a:solidFill>
                <a:latin typeface="Arial"/>
                <a:ea typeface="Arial"/>
                <a:cs typeface="Arial"/>
                <a:sym typeface="Arial"/>
              </a:rPr>
              <a:t>The coil changed several geographical field properties together, so the response reflects the combined magnetic signature. A simple compass rotation would change only direction, while the displacement changes the location-related signal. A heading response shows what the bird's map contributes.</a:t>
            </a:r>
            <a:endParaRPr sz="1800">
              <a:solidFill>
                <a:schemeClr val="dk1"/>
              </a:solidFill>
              <a:latin typeface="Calibri"/>
              <a:ea typeface="Calibri"/>
              <a:cs typeface="Calibri"/>
              <a:sym typeface="Calibri"/>
            </a:endParaRPr>
          </a:p>
        </p:txBody>
      </p:sp>
      <p:pic>
        <p:nvPicPr>
          <p:cNvPr id="408" name="Google Shape;408;p30"/>
          <p:cNvPicPr preferRelativeResize="0"/>
          <p:nvPr/>
        </p:nvPicPr>
        <p:blipFill rotWithShape="1">
          <a:blip r:embed="rId2">
            <a:alphaModFix/>
          </a:blip>
          <a:srcRect b="0" l="0" r="0" t="0"/>
          <a:stretch/>
        </p:blipFill>
        <p:spPr>
          <a:xfrm>
            <a:off x="6870223" y="1280071"/>
            <a:ext cx="4754574" cy="2518470"/>
          </a:xfrm>
          <a:prstGeom prst="rect">
            <a:avLst/>
          </a:prstGeom>
          <a:noFill/>
          <a:ln>
            <a:noFill/>
          </a:ln>
        </p:spPr>
      </p:pic>
      <p:sp>
        <p:nvSpPr>
          <p:cNvPr id="409" name="Google Shape;409;p30"/>
          <p:cNvSpPr/>
          <p:nvPr/>
        </p:nvSpPr>
        <p:spPr>
          <a:xfrm>
            <a:off x="6870055" y="389007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Pakhomov et al. (2018), Fig. 1(A–D). A virtual displacement tests magnetic map compensation.</a:t>
            </a:r>
            <a:endParaRPr sz="1800">
              <a:solidFill>
                <a:schemeClr val="dk1"/>
              </a:solidFill>
              <a:latin typeface="Calibri"/>
              <a:ea typeface="Calibri"/>
              <a:cs typeface="Calibri"/>
              <a:sym typeface="Calibri"/>
            </a:endParaRPr>
          </a:p>
        </p:txBody>
      </p:sp>
      <p:pic>
        <p:nvPicPr>
          <p:cNvPr id="410" name="Google Shape;410;p30"/>
          <p:cNvPicPr preferRelativeResize="0"/>
          <p:nvPr/>
        </p:nvPicPr>
        <p:blipFill rotWithShape="1">
          <a:blip r:embed="rId3">
            <a:alphaModFix/>
          </a:blip>
          <a:srcRect b="0" l="0" r="0" t="0"/>
          <a:stretch/>
        </p:blipFill>
        <p:spPr>
          <a:xfrm>
            <a:off x="8066436" y="4709071"/>
            <a:ext cx="2361999" cy="1051471"/>
          </a:xfrm>
          <a:prstGeom prst="rect">
            <a:avLst/>
          </a:prstGeom>
          <a:noFill/>
          <a:ln>
            <a:noFill/>
          </a:ln>
        </p:spPr>
      </p:pic>
      <p:sp>
        <p:nvSpPr>
          <p:cNvPr id="411" name="Google Shape;411;p30"/>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1(a–f). Published V1 section diagram and robin compass controls.</a:t>
            </a:r>
            <a:endParaRPr sz="1800">
              <a:solidFill>
                <a:schemeClr val="dk1"/>
              </a:solidFill>
              <a:latin typeface="Calibri"/>
              <a:ea typeface="Calibri"/>
              <a:cs typeface="Calibri"/>
              <a:sym typeface="Calibri"/>
            </a:endParaRPr>
          </a:p>
        </p:txBody>
      </p:sp>
      <p:sp>
        <p:nvSpPr>
          <p:cNvPr id="412" name="Google Shape;412;p30"/>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3" name="Google Shape;41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Pakhomov et al. (2018)</a:t>
            </a:r>
            <a:endParaRPr sz="1800">
              <a:solidFill>
                <a:schemeClr val="dk1"/>
              </a:solidFill>
              <a:latin typeface="Calibri"/>
              <a:ea typeface="Calibri"/>
              <a:cs typeface="Calibri"/>
              <a:sym typeface="Calibri"/>
            </a:endParaRPr>
          </a:p>
        </p:txBody>
      </p:sp>
      <p:sp>
        <p:nvSpPr>
          <p:cNvPr id="414" name="Google Shape;414;p3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1" name="Google Shape;361;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Lesions test whether a region is needed</a:t>
            </a:r>
            <a:endParaRPr sz="1800">
              <a:solidFill>
                <a:schemeClr val="dk1"/>
              </a:solidFill>
              <a:latin typeface="Calibri"/>
              <a:ea typeface="Calibri"/>
              <a:cs typeface="Calibri"/>
              <a:sym typeface="Calibri"/>
            </a:endParaRPr>
          </a:p>
        </p:txBody>
      </p:sp>
      <p:sp>
        <p:nvSpPr>
          <p:cNvPr id="362" name="Google Shape;362;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Expression data had shown an association between Cluster N and night vision, while a lesion can test whether the region is needed. Showing necessity requires a manipulation rather than an observed correlation. The behavioral loss localizes a necessary processing stage more strongly than gene expression alone.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The lesion agent was injected locally, so the damage was confined to the region around the injection site. The result leaves the magnetic computation within the region unassigned to any single cell type or synapse. The injection site lies within the dorsal region identified by the earlier expression study.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Sham-operated birds received the surgical steps but no active injection. The lesion removed coherent compass orientation while the other orientation responses stayed available, which points to a specific deficit. The sham result is the reference group for the lesion effect.</a:t>
            </a:r>
            <a:endParaRPr sz="1800">
              <a:solidFill>
                <a:schemeClr val="dk1"/>
              </a:solidFill>
              <a:latin typeface="Calibri"/>
              <a:ea typeface="Calibri"/>
              <a:cs typeface="Calibri"/>
              <a:sym typeface="Calibri"/>
            </a:endParaRPr>
          </a:p>
        </p:txBody>
      </p:sp>
      <p:pic>
        <p:nvPicPr>
          <p:cNvPr id="365" name="Google Shape;365;p27"/>
          <p:cNvPicPr preferRelativeResize="0"/>
          <p:nvPr/>
        </p:nvPicPr>
        <p:blipFill rotWithShape="1">
          <a:blip r:embed="rId2">
            <a:alphaModFix/>
          </a:blip>
          <a:srcRect b="0" l="0" r="0" t="0"/>
          <a:stretch/>
        </p:blipFill>
        <p:spPr>
          <a:xfrm>
            <a:off x="6870162" y="1280071"/>
            <a:ext cx="4754696" cy="1916757"/>
          </a:xfrm>
          <a:prstGeom prst="rect">
            <a:avLst/>
          </a:prstGeom>
          <a:noFill/>
          <a:ln>
            <a:noFill/>
          </a:ln>
        </p:spPr>
      </p:pic>
      <p:sp>
        <p:nvSpPr>
          <p:cNvPr id="366" name="Google Shape;366;p27"/>
          <p:cNvSpPr/>
          <p:nvPr/>
        </p:nvSpPr>
        <p:spPr>
          <a:xfrm>
            <a:off x="6870055" y="3288357"/>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2(a–h). Cluster N lesions abolish magnetic compass orientation.</a:t>
            </a:r>
            <a:endParaRPr sz="1800">
              <a:solidFill>
                <a:schemeClr val="dk1"/>
              </a:solidFill>
              <a:latin typeface="Calibri"/>
              <a:ea typeface="Calibri"/>
              <a:cs typeface="Calibri"/>
              <a:sym typeface="Calibri"/>
            </a:endParaRPr>
          </a:p>
        </p:txBody>
      </p:sp>
      <p:pic>
        <p:nvPicPr>
          <p:cNvPr id="367" name="Google Shape;367;p27"/>
          <p:cNvPicPr preferRelativeResize="0"/>
          <p:nvPr/>
        </p:nvPicPr>
        <p:blipFill rotWithShape="1">
          <a:blip r:embed="rId3">
            <a:alphaModFix/>
          </a:blip>
          <a:srcRect b="0" l="0" r="0" t="0"/>
          <a:stretch/>
        </p:blipFill>
        <p:spPr>
          <a:xfrm>
            <a:off x="8674031" y="4709071"/>
            <a:ext cx="1146660" cy="1051471"/>
          </a:xfrm>
          <a:prstGeom prst="rect">
            <a:avLst/>
          </a:prstGeom>
          <a:noFill/>
          <a:ln>
            <a:noFill/>
          </a:ln>
        </p:spPr>
      </p:pic>
      <p:sp>
        <p:nvSpPr>
          <p:cNvPr id="368" name="Google Shape;368;p27"/>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2. Dorsal brain preparation and location of Cluster N.</a:t>
            </a:r>
            <a:endParaRPr sz="1800">
              <a:solidFill>
                <a:schemeClr val="dk1"/>
              </a:solidFill>
              <a:latin typeface="Calibri"/>
              <a:ea typeface="Calibri"/>
              <a:cs typeface="Calibri"/>
              <a:sym typeface="Calibri"/>
            </a:endParaRPr>
          </a:p>
        </p:txBody>
      </p:sp>
      <p:sp>
        <p:nvSpPr>
          <p:cNvPr id="369" name="Google Shape;369;p27"/>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0" name="Google Shape;370;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Zapka et al. (2009)</a:t>
            </a:r>
            <a:endParaRPr sz="1800">
              <a:solidFill>
                <a:schemeClr val="dk1"/>
              </a:solidFill>
              <a:latin typeface="Calibri"/>
              <a:ea typeface="Calibri"/>
              <a:cs typeface="Calibri"/>
              <a:sym typeface="Calibri"/>
            </a:endParaRPr>
          </a:p>
        </p:txBody>
      </p:sp>
      <p:sp>
        <p:nvSpPr>
          <p:cNvPr id="371" name="Google Shape;371;p2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18" name="Google Shape;318;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Cluster N is a dorsal forebrain region</a:t>
            </a:r>
            <a:endParaRPr sz="1800">
              <a:solidFill>
                <a:schemeClr val="dk1"/>
              </a:solidFill>
              <a:latin typeface="Calibri"/>
              <a:ea typeface="Calibri"/>
              <a:cs typeface="Calibri"/>
              <a:sym typeface="Calibri"/>
            </a:endParaRPr>
          </a:p>
        </p:txBody>
      </p:sp>
      <p:sp>
        <p:nvSpPr>
          <p:cNvPr id="319" name="Google Shape;319;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500">
                <a:solidFill>
                  <a:srgbClr val="26252A"/>
                </a:solidFill>
                <a:latin typeface="Arial"/>
                <a:ea typeface="Arial"/>
                <a:cs typeface="Arial"/>
                <a:sym typeface="Arial"/>
              </a:rPr>
              <a:t>The authors collected brains after birds had been relatively still and awake. That condition limited movement-related expression, so the marker reflects the sensory condition rather than locomotion. The result is an activity pattern in tissue, not a recording from the living bird.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500">
                <a:solidFill>
                  <a:srgbClr val="26252A"/>
                </a:solidFill>
                <a:latin typeface="Arial"/>
                <a:ea typeface="Arial"/>
                <a:cs typeface="Arial"/>
                <a:sym typeface="Arial"/>
              </a:rPr>
              <a:t>The anatomical preparation linked a defined group of forebrain regions to a controlled visual condition. Dim light was chosen to approximate moonlight, and daytime room light was the control condition in the same species. The analysis used the same brain region in every bird.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500">
                <a:solidFill>
                  <a:srgbClr val="26252A"/>
                </a:solidFill>
                <a:latin typeface="Arial"/>
                <a:ea typeface="Arial"/>
                <a:cs typeface="Arial"/>
                <a:sym typeface="Arial"/>
              </a:rPr>
              <a:t>The marker identifies a region that responds to dim light in migrants. A candidate region is a starting point for functional tests, and expression alone leaves the magnetic role of that region open. Its magnetic role needs a separate test that manipulates the region.</a:t>
            </a:r>
            <a:endParaRPr sz="1800">
              <a:solidFill>
                <a:schemeClr val="dk1"/>
              </a:solidFill>
              <a:latin typeface="Calibri"/>
              <a:ea typeface="Calibri"/>
              <a:cs typeface="Calibri"/>
              <a:sym typeface="Calibri"/>
            </a:endParaRPr>
          </a:p>
        </p:txBody>
      </p:sp>
      <p:pic>
        <p:nvPicPr>
          <p:cNvPr id="322" name="Google Shape;322;p24"/>
          <p:cNvPicPr preferRelativeResize="0"/>
          <p:nvPr/>
        </p:nvPicPr>
        <p:blipFill rotWithShape="1">
          <a:blip r:embed="rId2">
            <a:alphaModFix/>
          </a:blip>
          <a:srcRect b="0" l="0" r="0" t="0"/>
          <a:stretch/>
        </p:blipFill>
        <p:spPr>
          <a:xfrm>
            <a:off x="6870103" y="1280071"/>
            <a:ext cx="4754813" cy="3933527"/>
          </a:xfrm>
          <a:prstGeom prst="rect">
            <a:avLst/>
          </a:prstGeom>
          <a:noFill/>
          <a:ln>
            <a:noFill/>
          </a:ln>
        </p:spPr>
      </p:pic>
      <p:sp>
        <p:nvSpPr>
          <p:cNvPr id="323" name="Google Shape;323;p24"/>
          <p:cNvSpPr/>
          <p:nvPr/>
        </p:nvSpPr>
        <p:spPr>
          <a:xfrm>
            <a:off x="6870055" y="5305127"/>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1(A–B). Activity-associated gene expression marks Cluster N anatomy.</a:t>
            </a:r>
            <a:endParaRPr sz="1800">
              <a:solidFill>
                <a:schemeClr val="dk1"/>
              </a:solidFill>
              <a:latin typeface="Calibri"/>
              <a:ea typeface="Calibri"/>
              <a:cs typeface="Calibri"/>
              <a:sym typeface="Calibri"/>
            </a:endParaRPr>
          </a:p>
        </p:txBody>
      </p:sp>
      <p:sp>
        <p:nvSpPr>
          <p:cNvPr id="324" name="Google Shape;324;p2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Mouritsen et al. (2005)</a:t>
            </a:r>
            <a:endParaRPr sz="1800">
              <a:solidFill>
                <a:schemeClr val="dk1"/>
              </a:solidFill>
              <a:latin typeface="Calibri"/>
              <a:ea typeface="Calibri"/>
              <a:cs typeface="Calibri"/>
              <a:sym typeface="Calibri"/>
            </a:endParaRPr>
          </a:p>
        </p:txBody>
      </p:sp>
      <p:sp>
        <p:nvSpPr>
          <p:cNvPr id="326" name="Google Shape;326;p2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79" name="Google Shape;279;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Perch activation measures a directional tendency</a:t>
            </a:r>
            <a:endParaRPr sz="1800">
              <a:solidFill>
                <a:schemeClr val="dk1"/>
              </a:solidFill>
              <a:latin typeface="Calibri"/>
              <a:ea typeface="Calibri"/>
              <a:cs typeface="Calibri"/>
              <a:sym typeface="Calibri"/>
            </a:endParaRPr>
          </a:p>
        </p:txBody>
      </p:sp>
      <p:sp>
        <p:nvSpPr>
          <p:cNvPr id="280" name="Google Shape;280;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Perch activation provides an orientation measure, not a record of retinal activity. The cage counts describe the bird's directional tendency, while the sensory tissue that produced it stays unobserved. Migratory restlessness is the directional behavior that appears when migration is due.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The seasonal preference was measured in a controlled field configuration rather than across the whole natural migration. A response in this setup shows what the bird does under those conditions, which is a narrower claim than migration as a whole.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The migratory program supplies context for the heading, and a single sensory system can serve several seasonal headings. The historical report gives the field conditions for the record, and one configuration defines the outcome of that test.</a:t>
            </a:r>
            <a:endParaRPr sz="1800">
              <a:solidFill>
                <a:schemeClr val="dk1"/>
              </a:solidFill>
              <a:latin typeface="Calibri"/>
              <a:ea typeface="Calibri"/>
              <a:cs typeface="Calibri"/>
              <a:sym typeface="Calibri"/>
            </a:endParaRPr>
          </a:p>
        </p:txBody>
      </p:sp>
      <p:pic>
        <p:nvPicPr>
          <p:cNvPr id="283" name="Google Shape;283;p21"/>
          <p:cNvPicPr preferRelativeResize="0"/>
          <p:nvPr/>
        </p:nvPicPr>
        <p:blipFill rotWithShape="1">
          <a:blip r:embed="rId2">
            <a:alphaModFix/>
          </a:blip>
          <a:srcRect b="0" l="0" r="0" t="0"/>
          <a:stretch/>
        </p:blipFill>
        <p:spPr>
          <a:xfrm>
            <a:off x="7276432" y="1280071"/>
            <a:ext cx="3942007" cy="4297561"/>
          </a:xfrm>
          <a:prstGeom prst="rect">
            <a:avLst/>
          </a:prstGeom>
          <a:noFill/>
          <a:ln>
            <a:noFill/>
          </a:ln>
        </p:spPr>
      </p:pic>
      <p:sp>
        <p:nvSpPr>
          <p:cNvPr id="284" name="Google Shape;284;p21"/>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Wiltschko &amp; Wiltschko (1972), Fig. 1(a). European robin orientation in the local magnetic field.</a:t>
            </a:r>
            <a:endParaRPr sz="1800">
              <a:solidFill>
                <a:schemeClr val="dk1"/>
              </a:solidFill>
              <a:latin typeface="Calibri"/>
              <a:ea typeface="Calibri"/>
              <a:cs typeface="Calibri"/>
              <a:sym typeface="Calibri"/>
            </a:endParaRPr>
          </a:p>
        </p:txBody>
      </p:sp>
      <p:sp>
        <p:nvSpPr>
          <p:cNvPr id="285" name="Google Shape;285;p21"/>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Wiltschko &amp; Wiltschko (1972)</a:t>
            </a:r>
            <a:endParaRPr sz="1800">
              <a:solidFill>
                <a:schemeClr val="dk1"/>
              </a:solidFill>
              <a:latin typeface="Calibri"/>
              <a:ea typeface="Calibri"/>
              <a:cs typeface="Calibri"/>
              <a:sym typeface="Calibri"/>
            </a:endParaRPr>
          </a:p>
        </p:txBody>
      </p:sp>
      <p:sp>
        <p:nvSpPr>
          <p:cNvPr id="287" name="Google Shape;287;p2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40" name="Google Shape;24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Pulse order was fixed after the controls</a:t>
            </a:r>
            <a:endParaRPr sz="1800">
              <a:solidFill>
                <a:schemeClr val="dk1"/>
              </a:solidFill>
              <a:latin typeface="Calibri"/>
              <a:ea typeface="Calibri"/>
              <a:cs typeface="Calibri"/>
              <a:sym typeface="Calibri"/>
            </a:endParaRPr>
          </a:p>
        </p:txBody>
      </p:sp>
      <p:sp>
        <p:nvSpPr>
          <p:cNvPr id="241" name="Google Shape;241;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The pulse condition followed the controls in a fixed position, so treatment and sequence were not fully independent. Sequence effects remain entangled with the pulse itself. The baseline was measured before any pulse, which set the reference for every later test.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A sham control reproduces the nonmagnetic components of an intervention. It leaves open every other conceivable effect of the pulse, but it tests whether placement and handling alone account for the change. The initial conditioning result provides the learned response against which the perturbation is judged.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Magnetic pulses act on the receptor candidate itself, not on the sensory nerve. The pulse was designed to alter magnetization in iron-based candidate receptors, which makes the perturbation a test of a specific class of mechanism.</a:t>
            </a:r>
            <a:endParaRPr sz="1800">
              <a:solidFill>
                <a:schemeClr val="dk1"/>
              </a:solidFill>
              <a:latin typeface="Calibri"/>
              <a:ea typeface="Calibri"/>
              <a:cs typeface="Calibri"/>
              <a:sym typeface="Calibri"/>
            </a:endParaRPr>
          </a:p>
        </p:txBody>
      </p:sp>
      <p:pic>
        <p:nvPicPr>
          <p:cNvPr id="244" name="Google Shape;244;p18"/>
          <p:cNvPicPr preferRelativeResize="0"/>
          <p:nvPr/>
        </p:nvPicPr>
        <p:blipFill rotWithShape="1">
          <a:blip r:embed="rId2">
            <a:alphaModFix/>
          </a:blip>
          <a:srcRect b="0" l="0" r="0" t="0"/>
          <a:stretch/>
        </p:blipFill>
        <p:spPr>
          <a:xfrm>
            <a:off x="7673139" y="1280071"/>
            <a:ext cx="3148445" cy="4297561"/>
          </a:xfrm>
          <a:prstGeom prst="rect">
            <a:avLst/>
          </a:prstGeom>
          <a:noFill/>
          <a:ln>
            <a:noFill/>
          </a:ln>
        </p:spPr>
      </p:pic>
      <p:sp>
        <p:nvSpPr>
          <p:cNvPr id="245" name="Google Shape;245;p18"/>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Mackiewicz et al. (2025), Fig. 1(B). Conditioning establishes magnetic field discrimination.</a:t>
            </a:r>
            <a:endParaRPr sz="1800">
              <a:solidFill>
                <a:schemeClr val="dk1"/>
              </a:solidFill>
              <a:latin typeface="Calibri"/>
              <a:ea typeface="Calibri"/>
              <a:cs typeface="Calibri"/>
              <a:sym typeface="Calibri"/>
            </a:endParaRPr>
          </a:p>
        </p:txBody>
      </p:sp>
      <p:sp>
        <p:nvSpPr>
          <p:cNvPr id="246" name="Google Shape;246;p18"/>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Mackiewicz et al. (2025)</a:t>
            </a:r>
            <a:endParaRPr sz="1800">
              <a:solidFill>
                <a:schemeClr val="dk1"/>
              </a:solidFill>
              <a:latin typeface="Calibri"/>
              <a:ea typeface="Calibri"/>
              <a:cs typeface="Calibri"/>
              <a:sym typeface="Calibri"/>
            </a:endParaRPr>
          </a:p>
        </p:txBody>
      </p:sp>
      <p:sp>
        <p:nvSpPr>
          <p:cNvPr id="248" name="Google Shape;248;p1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1" name="Google Shape;201;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Mismatch responses resemble unrewarded fields</a:t>
            </a:r>
            <a:endParaRPr sz="1800">
              <a:solidFill>
                <a:schemeClr val="dk1"/>
              </a:solidFill>
              <a:latin typeface="Calibri"/>
              <a:ea typeface="Calibri"/>
              <a:cs typeface="Calibri"/>
              <a:sym typeface="Calibri"/>
            </a:endParaRPr>
          </a:p>
        </p:txBody>
      </p:sp>
      <p:sp>
        <p:nvSpPr>
          <p:cNvPr id="202" name="Google Shape;202;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The response criterion in this experiment is learned recognition. Field measurements define the physical stimuli, while the duration of dancing reports whether a stimulus has acquired reward-related meaning. Neither measure records the neural computation that connects them. Both measures are needed to describe the result.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Animals can still detect either parameter individually. One familiar component was insufficient to identify the rewarded compound under these conditions. The mismatch test isolates which combination the animal learned, and each mismatch keeps one learned value while replacing the other.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Mismatch conditions reveal which parameter pairs an animal has learned to recognize. The stimuli were defined from the trained fields, so the test uses real field values. Behavior in each of the four test fields was scored as food-anticipatory dancing.</a:t>
            </a:r>
            <a:endParaRPr sz="1800">
              <a:solidFill>
                <a:schemeClr val="dk1"/>
              </a:solidFill>
              <a:latin typeface="Calibri"/>
              <a:ea typeface="Calibri"/>
              <a:cs typeface="Calibri"/>
              <a:sym typeface="Calibri"/>
            </a:endParaRPr>
          </a:p>
        </p:txBody>
      </p:sp>
      <p:pic>
        <p:nvPicPr>
          <p:cNvPr id="205" name="Google Shape;205;p15"/>
          <p:cNvPicPr preferRelativeResize="0"/>
          <p:nvPr/>
        </p:nvPicPr>
        <p:blipFill rotWithShape="1">
          <a:blip r:embed="rId2">
            <a:alphaModFix/>
          </a:blip>
          <a:srcRect b="0" l="0" r="0" t="0"/>
          <a:stretch/>
        </p:blipFill>
        <p:spPr>
          <a:xfrm>
            <a:off x="6870168" y="1280071"/>
            <a:ext cx="4754683" cy="2356098"/>
          </a:xfrm>
          <a:prstGeom prst="rect">
            <a:avLst/>
          </a:prstGeom>
          <a:noFill/>
          <a:ln>
            <a:noFill/>
          </a:ln>
        </p:spPr>
      </p:pic>
      <p:sp>
        <p:nvSpPr>
          <p:cNvPr id="206" name="Google Shape;206;p15"/>
          <p:cNvSpPr/>
          <p:nvPr/>
        </p:nvSpPr>
        <p:spPr>
          <a:xfrm>
            <a:off x="6870055" y="3727698"/>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4(b–c). Mismatched field components do not evoke the rewarded response.</a:t>
            </a:r>
            <a:endParaRPr sz="1800">
              <a:solidFill>
                <a:schemeClr val="dk1"/>
              </a:solidFill>
              <a:latin typeface="Calibri"/>
              <a:ea typeface="Calibri"/>
              <a:cs typeface="Calibri"/>
              <a:sym typeface="Calibri"/>
            </a:endParaRPr>
          </a:p>
        </p:txBody>
      </p:sp>
      <p:sp>
        <p:nvSpPr>
          <p:cNvPr id="207" name="Google Shape;207;p15"/>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8" name="Google Shape;208;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209" name="Google Shape;209;p1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15a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62" name="Google Shape;16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Acquisition followed controlled reinforcement</a:t>
            </a:r>
            <a:endParaRPr sz="1800">
              <a:solidFill>
                <a:schemeClr val="dk1"/>
              </a:solidFill>
              <a:latin typeface="Calibri"/>
              <a:ea typeface="Calibri"/>
              <a:cs typeface="Calibri"/>
              <a:sym typeface="Calibri"/>
            </a:endParaRPr>
          </a:p>
        </p:txBody>
      </p:sp>
      <p:sp>
        <p:nvSpPr>
          <p:cNvPr id="163" name="Google Shape;163;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Acquisition of these pairs took place under controlled reinforcement, so the learned responses reflect training rather than chance exposure. The evidence concerns learning under those conditions, not behavior during natural travel. A laboratory capacity to learn several signatures is compatible with natural return to different feeding areas.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The behavioral experiment records learning rather than a documented journey to a feeding area. The natural return itself was never observed in these tests. Several learned fields could coexist within one animal's behavioral repertoire, and each new pairing followed the earlier training period.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Those cues are candidates that the experiment supports for natural travel. Acquisition and natural return are separate questions in this assay. The learned association was measured, while natural travel was outside the test. The stored signatures are tied to the trained fields.</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2">
            <a:alphaModFix/>
          </a:blip>
          <a:srcRect b="0" l="0" r="0" t="0"/>
          <a:stretch/>
        </p:blipFill>
        <p:spPr>
          <a:xfrm>
            <a:off x="6870154" y="1280071"/>
            <a:ext cx="4754711" cy="2226618"/>
          </a:xfrm>
          <a:prstGeom prst="rect">
            <a:avLst/>
          </a:prstGeom>
          <a:noFill/>
          <a:ln>
            <a:noFill/>
          </a:ln>
        </p:spPr>
      </p:pic>
      <p:sp>
        <p:nvSpPr>
          <p:cNvPr id="167" name="Google Shape;167;p12"/>
          <p:cNvSpPr/>
          <p:nvPr/>
        </p:nvSpPr>
        <p:spPr>
          <a:xfrm>
            <a:off x="6870055" y="3598218"/>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2(c). A second pair of fields can acquire a learned association.</a:t>
            </a:r>
            <a:endParaRPr sz="1800">
              <a:solidFill>
                <a:schemeClr val="dk1"/>
              </a:solidFill>
              <a:latin typeface="Calibri"/>
              <a:ea typeface="Calibri"/>
              <a:cs typeface="Calibri"/>
              <a:sym typeface="Calibri"/>
            </a:endParaRPr>
          </a:p>
        </p:txBody>
      </p:sp>
      <p:sp>
        <p:nvSpPr>
          <p:cNvPr id="168" name="Google Shape;168;p12"/>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9" name="Google Shape;169;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70" name="Google Shape;170;p1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12a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map gives position, a compass gives heading</a:t>
            </a:r>
            <a:endParaRPr sz="1800">
              <a:solidFill>
                <a:schemeClr val="dk1"/>
              </a:solidFill>
              <a:latin typeface="Calibri"/>
              <a:ea typeface="Calibri"/>
              <a:cs typeface="Calibri"/>
              <a:sym typeface="Calibri"/>
            </a:endParaRPr>
          </a:p>
        </p:txBody>
      </p:sp>
      <p:sp>
        <p:nvSpPr>
          <p:cNvPr id="124" name="Google Shape;124;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500">
                <a:solidFill>
                  <a:srgbClr val="26252A"/>
                </a:solidFill>
                <a:latin typeface="Arial"/>
                <a:ea typeface="Arial"/>
                <a:cs typeface="Arial"/>
                <a:sym typeface="Arial"/>
              </a:rPr>
              <a:t>A map sense determines information about position, whereas a compass sets a heading. The regional-field assay requires a location-dependent change in compass direction, a demand that differs from holding one bearing. A compass measures direction, while a map supplies the location-based correction.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500">
                <a:solidFill>
                  <a:srgbClr val="26252A"/>
                </a:solidFill>
                <a:latin typeface="Arial"/>
                <a:ea typeface="Arial"/>
                <a:cs typeface="Arial"/>
                <a:sym typeface="Arial"/>
              </a:rPr>
              <a:t>The assay leaves open how the brain represents the field and how it chooses the resulting action. The heading record links a field to a direction without describing the circuit between them. Neural recordings from that circuit would be needed to resolve the representation.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500">
                <a:solidFill>
                  <a:srgbClr val="26252A"/>
                </a:solidFill>
                <a:latin typeface="Arial"/>
                <a:ea typeface="Arial"/>
                <a:cs typeface="Arial"/>
                <a:sym typeface="Arial"/>
              </a:rPr>
              <a:t>A map can select the appropriate course while a compass maintains it. Other senses can influence both decisions, so the two functions can be separate without each sense operating alone. Sensory input from other systems can enter either decision.</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2">
            <a:alphaModFix/>
          </a:blip>
          <a:srcRect b="0" l="0" r="0" t="0"/>
          <a:stretch/>
        </p:blipFill>
        <p:spPr>
          <a:xfrm>
            <a:off x="6870145" y="1280071"/>
            <a:ext cx="4754730" cy="3861792"/>
          </a:xfrm>
          <a:prstGeom prst="rect">
            <a:avLst/>
          </a:prstGeom>
          <a:noFill/>
          <a:ln>
            <a:noFill/>
          </a:ln>
        </p:spPr>
      </p:pic>
      <p:sp>
        <p:nvSpPr>
          <p:cNvPr id="128" name="Google Shape;128;p9"/>
          <p:cNvSpPr/>
          <p:nvPr/>
        </p:nvSpPr>
        <p:spPr>
          <a:xfrm>
            <a:off x="6870055" y="523339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et al. (2001), Fig. 1. Regional orientation responses along the North Atlantic gyre.</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et al. (2001)</a:t>
            </a:r>
            <a:endParaRPr sz="1800">
              <a:solidFill>
                <a:schemeClr val="dk1"/>
              </a:solidFill>
              <a:latin typeface="Calibri"/>
              <a:ea typeface="Calibri"/>
              <a:cs typeface="Calibri"/>
              <a:sym typeface="Calibri"/>
            </a:endParaRPr>
          </a:p>
        </p:txBody>
      </p:sp>
      <p:sp>
        <p:nvSpPr>
          <p:cNvPr id="131" name="Google Shape;131;p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09a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Dark recording follows a short adjustment</a:t>
            </a:r>
            <a:endParaRPr sz="1800">
              <a:solidFill>
                <a:schemeClr val="dk1"/>
              </a:solidFill>
              <a:latin typeface="Calibri"/>
              <a:ea typeface="Calibri"/>
              <a:cs typeface="Calibri"/>
              <a:sym typeface="Calibri"/>
            </a:endParaRPr>
          </a:p>
        </p:txBody>
      </p:sp>
      <p:sp>
        <p:nvSpPr>
          <p:cNvPr id="85" name="Google Shape;85;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After the eastern light was extinguished, investigators changed the inclination and allowed 3 min for adjustment. Swimming was then recorded for 5 min in darkness, so each heading reflects the field rather than visible cues. The same sequence was used for every inclination tested.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A detectable field can fail to trigger a shared heading, especially when it lacks the ecological meaning of a field encountered near a route boundary. The absence of a shared heading at 75°, 45° and 15° leaves open whether those fields are detected.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600"/>
              <a:buFont typeface="Arial"/>
              <a:buNone/>
            </a:pPr>
            <a:r>
              <a:rPr b="0" i="0" lang="en-US" sz="1500">
                <a:solidFill>
                  <a:srgbClr val="26252A"/>
                </a:solidFill>
                <a:latin typeface="Arial"/>
                <a:ea typeface="Arial"/>
                <a:cs typeface="Arial"/>
                <a:sym typeface="Arial"/>
              </a:rPr>
              <a:t>Headings can differ across angles without each angle being tied to a geographical coordinate. Discrimination between nearby inclinations is the measured result, while a geographical reading is an interpretation added afterward. That interpretation needs a separate test of position.</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2">
            <a:alphaModFix/>
          </a:blip>
          <a:srcRect b="0" l="0" r="0" t="0"/>
          <a:stretch/>
        </p:blipFill>
        <p:spPr>
          <a:xfrm>
            <a:off x="7106430" y="1280071"/>
            <a:ext cx="4281862" cy="4297561"/>
          </a:xfrm>
          <a:prstGeom prst="rect">
            <a:avLst/>
          </a:prstGeom>
          <a:noFill/>
          <a:ln>
            <a:noFill/>
          </a:ln>
        </p:spPr>
      </p:pic>
      <p:sp>
        <p:nvSpPr>
          <p:cNvPr id="89" name="Google Shape;89;p6"/>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&amp; Lohmann (1994), Fig. 2. Swimming responses to six field inclination angles.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&amp; Lohmann (1994)</a:t>
            </a:r>
            <a:endParaRPr sz="1800">
              <a:solidFill>
                <a:schemeClr val="dk1"/>
              </a:solidFill>
              <a:latin typeface="Calibri"/>
              <a:ea typeface="Calibri"/>
              <a:cs typeface="Calibri"/>
              <a:sym typeface="Calibri"/>
            </a:endParaRPr>
          </a:p>
        </p:txBody>
      </p:sp>
      <p:sp>
        <p:nvSpPr>
          <p:cNvPr id="92" name="Google Shape;92;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Arena dimensions fix the magnetic setting</a:t>
            </a:r>
            <a:endParaRPr sz="1800">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6252A"/>
              </a:buClr>
              <a:buSzPts val="1500"/>
              <a:buFont typeface="Arial"/>
              <a:buNone/>
            </a:pPr>
            <a:r>
              <a:rPr b="0" i="0" lang="en-US" sz="1500">
                <a:solidFill>
                  <a:srgbClr val="26252A"/>
                </a:solidFill>
                <a:latin typeface="Arial"/>
                <a:ea typeface="Arial"/>
                <a:cs typeface="Arial"/>
                <a:sym typeface="Arial"/>
              </a:rPr>
              <a:t>Lohmann's orientation arena was a 1.02-m-diameter inverted satellite dish, surrounded by a 130-cm magnetic coil. The coil set the field around the turtle throughout each trial, while the animal stayed inside the water-filled preparation. Changing the coil output changed the field without moving the animal from the arena.</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500">
                <a:solidFill>
                  <a:srgbClr val="26252A"/>
                </a:solidFill>
                <a:latin typeface="Arial"/>
                <a:ea typeface="Arial"/>
                <a:cs typeface="Arial"/>
                <a:sym typeface="Arial"/>
              </a:rPr>
              <a:t>The harness and tracking system give a behavioral readout. That record shows which direction the turtle chose, but it reveals neither receptor activity nor the tissue that supplies the magnetic information. The eyes, the head or another tissue could each supply that information, and the record leaves those sources undetermined.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6252A"/>
              </a:buClr>
              <a:buSzPts val="1500"/>
              <a:buFont typeface="Arial"/>
              <a:buNone/>
            </a:pPr>
            <a:r>
              <a:rPr b="0" i="0" lang="en-US" sz="1500">
                <a:solidFill>
                  <a:srgbClr val="26252A"/>
                </a:solidFill>
                <a:latin typeface="Arial"/>
                <a:ea typeface="Arial"/>
                <a:cs typeface="Arial"/>
                <a:sym typeface="Arial"/>
              </a:rPr>
              <a:t>Direction selection in this arena supports magnetic influence within the arena. Free-ranging turtles combine several cues that the arena removes. Direction selection in an arena leaves open how multiple cues guide free-ranging turtles at sea.</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2">
            <a:alphaModFix/>
          </a:blip>
          <a:srcRect b="0" l="0" r="0" t="0"/>
          <a:stretch/>
        </p:blipFill>
        <p:spPr>
          <a:xfrm>
            <a:off x="7140806" y="1280071"/>
            <a:ext cx="4213111" cy="4297561"/>
          </a:xfrm>
          <a:prstGeom prst="rect">
            <a:avLst/>
          </a:prstGeom>
          <a:noFill/>
          <a:ln>
            <a:noFill/>
          </a:ln>
        </p:spPr>
      </p:pic>
      <p:sp>
        <p:nvSpPr>
          <p:cNvPr id="50" name="Google Shape;50;p3"/>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(1991), Fig. 1. Original turtle harness, orientation arena and magnetic coil.</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(1991)</a:t>
            </a:r>
            <a:endParaRPr sz="1800">
              <a:solidFill>
                <a:schemeClr val="dk1"/>
              </a:solidFill>
              <a:latin typeface="Calibri"/>
              <a:ea typeface="Calibri"/>
              <a:cs typeface="Calibri"/>
              <a:sym typeface="Calibri"/>
            </a:endParaRPr>
          </a:p>
        </p:txBody>
      </p:sp>
      <p:sp>
        <p:nvSpPr>
          <p:cNvPr id="53" name="Google Shape;53;p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2026-10-08T09:02:09.101Z</dcterms:created>
  <dc:creator>Presenton</dc:creator>
</cp:coreProperties>
</file>