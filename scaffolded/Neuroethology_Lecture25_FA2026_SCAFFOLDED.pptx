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315" r:id="rId65"/>
    <p:sldId id="259" r:id="rId8"/>
    <p:sldId id="260" r:id="rId9"/>
    <p:sldId id="314" r:id="rId64"/>
    <p:sldId id="261" r:id="rId10"/>
    <p:sldId id="262" r:id="rId11"/>
    <p:sldId id="263" r:id="rId12"/>
    <p:sldId id="313" r:id="rId63"/>
    <p:sldId id="264" r:id="rId13"/>
    <p:sldId id="265" r:id="rId14"/>
    <p:sldId id="266" r:id="rId15"/>
    <p:sldId id="312" r:id="rId62"/>
    <p:sldId id="267" r:id="rId16"/>
    <p:sldId id="268" r:id="rId17"/>
    <p:sldId id="311" r:id="rId61"/>
    <p:sldId id="269" r:id="rId18"/>
    <p:sldId id="270" r:id="rId19"/>
    <p:sldId id="271" r:id="rId20"/>
    <p:sldId id="272" r:id="rId21"/>
    <p:sldId id="310" r:id="rId60"/>
    <p:sldId id="273" r:id="rId22"/>
    <p:sldId id="309" r:id="rId59"/>
    <p:sldId id="274" r:id="rId23"/>
    <p:sldId id="275" r:id="rId24"/>
    <p:sldId id="276" r:id="rId25"/>
    <p:sldId id="277" r:id="rId26"/>
    <p:sldId id="308" r:id="rId58"/>
    <p:sldId id="278" r:id="rId27"/>
    <p:sldId id="279" r:id="rId28"/>
    <p:sldId id="307" r:id="rId57"/>
    <p:sldId id="280" r:id="rId29"/>
    <p:sldId id="281" r:id="rId30"/>
    <p:sldId id="282" r:id="rId31"/>
    <p:sldId id="283" r:id="rId32"/>
    <p:sldId id="306" r:id="rId56"/>
    <p:sldId id="284" r:id="rId33"/>
    <p:sldId id="285" r:id="rId34"/>
    <p:sldId id="286" r:id="rId35"/>
    <p:sldId id="287" r:id="rId36"/>
    <p:sldId id="288" r:id="rId37"/>
    <p:sldId id="289" r:id="rId38"/>
    <p:sldId id="305" r:id="rId55"/>
    <p:sldId id="290" r:id="rId39"/>
    <p:sldId id="291" r:id="rId40"/>
    <p:sldId id="292" r:id="rId41"/>
    <p:sldId id="304" r:id="rId54"/>
    <p:sldId id="293" r:id="rId42"/>
    <p:sldId id="294" r:id="rId43"/>
    <p:sldId id="295" r:id="rId44"/>
    <p:sldId id="296" r:id="rId45"/>
    <p:sldId id="303" r:id="rId53"/>
    <p:sldId id="297" r:id="rId46"/>
    <p:sldId id="298" r:id="rId47"/>
    <p:sldId id="302" r:id="rId52"/>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hmQnKct2N8VbS47ZeLepVK+DOc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customschemas.google.com/relationships/presentationmetadata" Target="metadata"/><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Chemoreception II: lobster olfactory search behavior</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Lecture 25. NEUR 411 · NEUROETHOLOGY · FALL 2026. Friday, October 23, 2026.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Pravin &amp; Reidenbach (2013), Fig. 1C. Caribbean spiny lobster with its lateral antennule labeled.</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https://doi.org/10.3390/s131216591</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Lobsters sample transported food odors with antennules and other sensory surfaces. The original title photograph shows Panulirus argus, with its lateral antennule labeled; photograph J. A. Goldman, reproduced in Pravin and Reidenbach Figure 1C.</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Pravin S, Reidenbach MA (2013). Simultaneous Sampling of Flow and Odorants by Crustaceans can Aid Searches within a Turbulent Plume. Sensors 13(12):16591-16610. https://doi.org/10.3390/s131216591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Chemoreception is the detection of chemicals by sensory cells. Clawed lobsters, Homarus americanus, use dissolved food odors while walking across the seabed. Moore, Scholz and Atema compared paths toward mussel extract with paths recorded during otherwise equivalent raw-seawater delivery.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source-search path is the sequence of positions occupied by the animal. Its length, direction and speed are distinct variables; a slower path can be more useful if it remains associated with the odor plume.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Odor-search paths contained pauses, sideways movement and backward steps while still progressing toward the source. Mean walking speed was 5.94 cm/s during odor trials, compared with 10.81 cm/s in controls. Faster movement therefore did not necessarily indicate better source-directed searching.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trajectories demonstrate that chemical stimulation reorganizes locomotion under flowing-water conditions. Chemical stimulation reorganizes walking into stop-and-go progress, in which a slower mean speed accompanies directed movement toward the source.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Moore et al. (1991), Fig. 5A–C. Repeated recorded source-search paths of individual lobsters.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https://doi.org/10.1007/bf00983763</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flume is a channel that supplies controlled flowing water. Moore and colleagues tested lobsters in a 250 × 90 × 20 cm arena with a current of 1.0 cm/s. A reference grid and overhead video allowed position and heading to be measured.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rostrum is the anterior projection used as a positional landmark. Turbulent dilution and the animal’s movement mean the chemical concentration at a receptor cannot be inferred directly from the source solution.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Mussel extract at 0.5 g/L was delivered at 50 mL/min from a source 9 cm above the bottom. Control trials substituted raw seawater while retaining delivery conditions. Rostrum positions were digitized once per second, providing a common spatial and temporal reference for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controls attribute behavioral differences to the presence of the food extract rather than the existence of current or a delivery tube alone. Mussel extract is a mixture of food chemicals, and the odor reaching the animal downstream fluctuates in concentration as it travels from the source.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Moore et al. (1991), Fig. 1A–B. Flume, odor delivery and reference grid.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https://doi.org/10.1007/bf00983763</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Heading angle describes the direction of the lobster’s body relative to upstream. Moore and colleagues grouped recorded behavior by distance from the source. This analysis asks whether the approach is uniform or changes as chemical and mechanical conditions change.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heading near zero is upstream; a larger angle can accompany lateral sampling. The last approach need not be the fastest because close-range localization can involve slowing and repositioning.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From 240 to 110 cm away, mean speed increased from 2.3 to 7.8 cm/s while heading decreased from 98.8° to about 20°. Between 110 and 40 cm, speed remained near 7 cm/s. Within the final 40 cm, speed fell toward 4.7 cm/s and heading increased toward 37°.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transitions establish distinct movement regimes during successful searching. Successful searching passes through an acceleration phase, a fast and nearly straight middle phase, and a slower final phase with larger heading changes near the source.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Moore et al. (1991), Fig. 6. Walking speed and heading versus distance from the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https://doi.org/10.1007/bf00983763</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Turning angle is the change in movement direction between successive path segments. Moore and colleagues compared heading and turn distributions in odor-search trials. A stereotyped alternating search program would predict consistently organized counterturns rather than the observed broad variation among paths.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absence of one stereotyped trajectory is different from an absence of neural organization. Feedback control can produce variable trajectories even when the same circuit is used on every trial.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Experimental headings were centered around 0–10°, and turns around 10–20°. Individual animals followed variable paths across repeated trials. Odor stimulation supported an upstream bias without producing a single characteristic path that every lobster repeated at fixed intervals.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weaken a simple invariant counterturn account for this preparation. Odor biases heading upstream while each animal's path stays variable, which fits corrections adjusted as the animal meets odor and flow.</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Moore et al. (1991), Fig. 4A–B. Heading and turning-angle distributions.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https://doi.org/10.1007/bf00983763</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Moore and colleagues measured leg raking, repeated movements that bring walking-leg sensory surfaces into contact with the local environment. They compared raking rates at several distances from the odor source, testing whether close-range searching involves more than antennular sampling.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same recorded paths provide spatial context for the independent raking measurements. The figure does not plot raking frequency, and its trajectories should not be mistaken for a direct readout of leg-receptor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Raking averaged 3.4 events per 5 s within 7 cm of the source, 2.6 at 7–15 cm, and 1.15 at 15–22 cm. Beyond 22 cm it averaged only 0.1 per 5 s. Most recorded raking therefore occurred near the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change supports recruitment of near-substrate sampling during final localization. Walking-leg contacts add sampling of the local environment to antennular sampling in the last centimeters before the source.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Moore et al. (1991), Fig. 5A–C. Repeated recorded source-search paths of individual lobsters.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https://doi.org/10.1007/bf00983763</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Caribbean spiny lobster, Panulirus argus, differs from the clawed lobster used in the earlier flume study. Its antennules carry aesthetascs, specialized olfactory hairs, together with non-aesthetasc sensilla containing other chemical and mechanical sensory neurons. These populations offer potentially overlapping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sensillum is a cuticular sensory structure. Aesthetasc and non-aesthetasc pathways are anatomical categories, not merely strong and weak versions of one measured receptor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Horner, Weissburg and Derby tested 48–74 mm carapace-length animals in a 5,000-L flume with flow near 5 cm/s. Shrimp extract at 3 or 0.3 g/L supplied high- and low-odor treatments; seawater supplied a chemical control. Selective manipulations targeted different sensory populations on both antennules.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asks whether one pathway is indispensable for food-source localization under realistic flow. A preserved response after removing one population can show that the remaining pathway is sufficient in this assay. Aesthetascs and non-aesthetasc sensilla therefore define two candidate pathways whose contributions can be tested by removing each population on both antennules.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1A–F. Body and antennular sensory structures.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Horner and colleagues used several interventions because sensory hairs can contain different neuron types. Shaving removed about 99.8% of aesthetascs. Removing and sealing non-aesthetasc sensilla targeted another pathway, while a 15-min distilled-water treatment temporarily impaired antennular chemosensitivity.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behavioral lesion experiment requires both confirmation of sensory removal and a control for non-sensory impairment. Feeding after the trial helps assess motivation but does not prove that every aspect of locomotor function was unchanged.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source was positioned 2 m upstream of release. High and low shrimp concentrations were compared with seawater, and animals were offered shrimp afterward to check feeding motivation. Some manipulations also affected mechanoreceptors, an important qualification when interpreting a failure to orient.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combination separates chemical guidance from complete loss of appetite more effectively than a lesion alone. Distilled-water treatment is reversible over approximately 24 h, but is not a molecularly selective receptor knockout. Orientation failure after a treatment then reflects loss of the sensory population that treatment affected.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2. Shrimp-odor source, flow chamber and lobster release position.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1B. Scanning electron micrograph of aesthetasc and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Horner and colleagues measured the proportion of lobsters reaching the odor source after selective bilateral sensory manipulation. Intact animals found the high-odor source in 68% of trials and the low-odor source in 45%; no intact animal located a seawater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Necessity and sufficiency are different claims. Preserved behavior after one pathway is removed argues against its unique necessity here; it does not remove the possibility that it normally contributes useful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aesthetasc removal, success remained 77% for high odor and 69% for low odor. Removing non-aesthetasc chemo-mechanosensory sensilla also preserved source finding, at 64% and 45%. In contrast, eliminating antennular chemoreceptor input broadly produced very poor localization.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Either retained antennular chemical pathway can therefore support this food-search task. Input from the aesthetascs or from the non-aesthetasc sensilla is enough to localize the source, whereas broad loss of antennular chemoreceptor input leaves localization very poor.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3. Source-finding success after selective antennular lesions.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1B. Scanning electron micrograph of aesthetasc and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Net-to-gross displacement ratio, or NGDR, is straight-line displacement divided by total path length. A value closer to one indicates a straighter route. Horner and colleagues measured this variable separately from eventual source-finding success, together with arrival time, speed and heading.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Arrival and path straightness measure different properties. A lobster that eventually succeeds can still expend more walking distance, encounter more interruptions or require more opportunities to correct its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high odor concentration, mean NGDR was 0.82 in controls, compared with 0.63 after aesthetasc removal and 0.62 after non-aesthetasc chemo-mechanosensory removal. Mean arrival times across treatment groups were at most 96 s for high odor and 176 s for low odor.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Remaining sensory pathways can preserve arrival while losing efficient progress. An NGDR falling from 0.82 to about 0.62 means that treated animals walked longer, more winding paths to cover the same straight-line distance, so each pathway contributes to route efficiency as well as to arrival.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4A–D. Arrival time, path straightness, walking speed and heading.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1B. Scanning electron micrograph of aesthetasc and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odor plume is the distribution of odor-bearing water transported downstream from a source. Reidenbach and Koehl visualized plumes using planar laser-induced fluorescence, or PLIF: a thin laser sheet excites dissolved dye, and calibrated camera intensity estimates local concentration.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PLIF provides chemical-transport information in a plane. It does not measure every location in a three-dimensional plume at once, and the concentration represented by color is calibrated dye concentration.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Their 25-m flume produced fine odor filaments separated by cleaner water. Images were recorded at 60 frames/s, yielding 16.7-ms temporal resolution. Measurements at different lateral positions showed a denser central plume and sparser encounters toward its edge.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images record the physical odor input available to a sensory appendage. A smooth time-averaged concentration field conceals the intermittent encounters and gaps that a moving animal actually samples.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Koehl MAR (2011). The spatial and temporal patterns of odors sampled by lobsters and crabs in a turbulent plume. Journal of Experimental Biology 214(18):3138–3153. https://doi.org/10.1242/jeb.057547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&amp; Koehl (2011), Fig. 3A–C. Measured dye plumes under three flow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https://doi.org/10.1242/jeb.057547</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Reidenbach and Koehl placed virtual sampling lines within measured PLIF images to represent the aesthetasc-bearing portion of an antennule. Lobster and blue-crab geometries were compared at the same 8-cm height. This approach separates appendage geometry from differences in chemical receptor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virtual sampler is an analysis of physical measurements, not a recording of a receptor neuron. Its value is to isolate which aspects of the input depend on appendage size and motion.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lobster sampler flicked at 2 Hz and moved at 6 cm/s during the downstroke. The crab sampler was only 2 mm long and flicked at 3 Hz. Lobster geometry intercepted odor during more flicks and sampled higher peak concentrations than crab geometry.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Longer sampling structures can encounter more filaments, while faster sampling can partly compensate for shorter length. Sampling geometry and flick rate determine how much of the filament structure of the plume reaches the receptors, independent of receptor sensitivity.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Koehl MAR (2011). The spatial and temporal patterns of odors sampled by lobsters and crabs in a turbulent plume. Journal of Experimental Biology 214(18):3138–3153. https://doi.org/10.1242/jeb.057547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&amp; Koehl (2011), Fig. 5A–B. Colored plume filaments and concentration along a sampling transect.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https://doi.org/10.1242/jeb.057547</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odor-free gap is an interval without an encounter above the chosen detection threshold. Reidenbach and Koehl compared continuous concentration measurements with concentrations encountered by virtual flicking antennules. The comparison tests whether intermittent movement changes the timing of available chemical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sensor can miss a passing filament between samples. Therefore, an odor-free interval in the sampled record need not mean there was no odor-bearing water anywhere near the animal.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Almost all gaps in continuously measured concentration were shorter than 500 ms throughout the sampled plume. Flicking antennules instead experienced longer gaps, and their gaps increased as downstream distance to the source decreased. Sampling schedule altered the input statistics before neural processing occurred.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counterintuitive distance relationship shows why encounter frequency cannot be treated as a universal distance ruler. The result depends on plume transport, threshold and flicking geometry. Gap timing is a temporal cue produced jointly by the plume and the sampling schedule.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Koehl MAR (2011). The spatial and temporal patterns of odors sampled by lobsters and crabs in a turbulent plume. Journal of Experimental Biology 214(18):3138–3153. https://doi.org/10.1242/jeb.057547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&amp; Koehl (2011), Fig. 7A–F. Odor-free gap categories for flicking and continuous sampling.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https://doi.org/10.1242/jeb.057547</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Near the seabed, transport and mixing differ from conditions several centimeters above it. Reidenbach and Koehl compared chemical samples at antennular height with samples near walking-leg height. The same source can therefore generate different concentration patterns for different sensory surfaces.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boundary layer is the region near a surface where flow is influenced by that surface. Sensory location within it changes chemical exposure even when the animal’s distance to the food source is unchanged.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Mean sampled concentrations near the bed increased toward the source, whereas mean concentrations sampled higher by flicking antennules decreased toward it in this preparation. Variance was also lower near the bed. Measurements covered downstream positions from approximately 1 to 2.5 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Close-range leg sampling and distant antennular sampling need not provide interchangeable information. Higher mean concentration near the bed close to the source fits the rise in leg raking during Homarus approaches, because walking legs sample where bed concentration is increasing.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Koehl MAR (2011). The spatial and temporal patterns of odors sampled by lobsters and crabs in a turbulent plume. Journal of Experimental Biology 214(18):3138–3153. https://doi.org/10.1242/jeb.057547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&amp; Koehl (2011), Fig. 8A–D. Encountered concentrations versus source distance.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https://doi.org/10.1242/jeb.057547</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Aesthetascs are thin-walled sensory hairs bearing the outer dendrites of olfactory receptor neurons. On a Panulirus lateral antennular flagellum, they occur in repeated rows bordered by larger guard hairs. The scanning electron micrographs reveal a structured array rather than a uniformly exposed sensory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outer dendrite is the distal sensory portion of a neuron extending into the hair. The hair’s cuticle and fluid environment are part of the path between transported chemicals and neuronal membrane receptors.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Reidenbach, George and Koehl measured biological geometry before constructing physical models. Representative aesthetasc diameter was 22 µm, length about 720 µm, and spacing about 60 µm. The hairs are arranged at an offset angle, allowing appendage orientation to influence the water entering their gaps.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Chemical detection requires molecules to reach this sensory interface before membrane receptors can respond. Guard hairs and row spacing set the gaps through which water and odor molecules enter, so the hydrodynamics of the array can be measured directly.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George NT, Koehl MAR (2008). Antennule morphology and flicking kinematics facilitate odor sampling by the spiny lobster, Panulirus argus. Journal of Experimental Biology 211(17):2849-2858. https://doi.org/10.1242/jeb.016394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et al. (2008), Fig. 1A–C. Spiny lobster photograph and antennular scanning electron micrographs.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https://doi.org/10.1242/jeb.016394</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dynamically scaled model reproduces the important balance of fluid forces despite using enlarged structures and a different fluid. Reidenbach and colleagues built glass-rod hair arrays in mineral oil and matched the Reynolds number, the ratio of inertial to viscous effects relevant to flow.</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Matching Reynolds number preserves the relative influence of inertia and viscosity. It does not automatically reproduce every chemical property, molecular diffusion rate or feature of a living appendage.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Biological dimensions and flicking motions constrained the model geometry. Particle-image velocimetry, or PIV, tracked suspended particles between images to measure fluid velocity around and between hairs. The investigators varied orientation, speed and guard-hair presence while retaining the remaining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controlled changes identify mechanical causes of water exchange that are difficult to measure inside a living hair array. Varying orientation, speed and guard-hair presence reveals how array geometry sets the delivery of fresh water to the aesthetasc surfaces.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George NT, Koehl MAR (2008). Antennule morphology and flicking kinematics facilitate odor sampling by the spiny lobster, Panulirus argus. Journal of Experimental Biology 211(17):2849-2858. https://doi.org/10.1242/jeb.016394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et al. (2008), Fig. 3A–B. Ventral and side photographs of the dynamically scaled physical hair-array model.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https://doi.org/10.1242/jeb.016394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1B. Scanning electron micrograph of aesthetasc and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antennular flick consists of a fast downward movement followed by a slower return. In the scaled-model study, PIV measured water velocity inside the hair array during the downstroke. The published color map reports velocity rather than chemical concentration or sensory-neuron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reference frame matters: water flowing relative to a moving hair is the delivery variable. An ambient current and the appendage’s own movement can both contribute to that relative motion.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During the fast movement, water penetrated the aesthetasc gaps and replaced the previously retained sample. Measured profiles were comparatively uniform across the array. Separate high-speed recordings placed downstroke motion near an aesthetasc Reynolds number of 2, compared with about 0.5 during return.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sensory organ therefore controls exposure mechanically before a receptor opens. Fresh water entering the gaps delivers new odor molecules to the aesthetasc surfaces with each downstroke.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George NT, Koehl MAR (2008). Antennule morphology and flicking kinematics facilitate odor sampling by the spiny lobster, Panulirus argus. Journal of Experimental Biology 211(17):2849-2858. https://doi.org/10.1242/jeb.016394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Goldman JA, Koehl MAR (2001). Fluid Dynamic Design of Lobster Olfactory Organs: High Speed Kinematic Analysis of Antennule Flicking by Panulirus argus. Chemical Senses 26(4):385-398. https://doi.org/10.1093/chemse/26.4.385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et al. (2008), Fig. 5A–B. Measured particle-image-velocimetry flow during the downstroke.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https://doi.org/10.1242/jeb.016394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1B. Scanning electron micrograph of aesthetasc and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Leakiness describes the extent to which water passes through a hair array rather than around it. Reidenbach and colleagues compared measured downstroke and return-stroke flow. The slower return reduced penetration, allowing the captured water to remain near the aesthetasc surfaces.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Diffusion is random molecular motion that redistributes solute down local concentration differences. Retaining water near a hair increases available contact time, but does not guarantee that all retained molecules reach the membrane.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Return motion was approximately one-quarter of downstroke speed, yet water between hairs moved about 25 times more slowly. The nonlinear change shows that reducing appendage speed can alter array permeability much more than it alters the movement of the appendage itself.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Retention creates time for molecular diffusion toward the sensory surface. The authors estimated that diffusion over 0.5 s could span about 32 µm, which gives molecules in the retained water time to reach the aesthetasc surfaces during a slow return.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George NT, Koehl MAR (2008). Antennule morphology and flicking kinematics facilitate odor sampling by the spiny lobster, Panulirus argus. Journal of Experimental Biology 211(17):2849-2858. https://doi.org/10.1242/jeb.016394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et al. (2008), Fig. 9A–B. Measured slow-return flow field and velocity profile.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https://doi.org/10.1242/jeb.016394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Horner et al. (2004), Fig. 1B. Scanning electron micrograph of aesthetasc and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https://doi.org/10.1242/jeb.01200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shape and orientation of an aesthetasc array determine how incident water moves through it. Reidenbach and colleagues compared the observed zigzag orientation, offset by about 32°, with a zero-degree arrangement. They also measured arrays with and without surrounding guard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source’s colored velocity map is a measurement from the original physical model. Its bright regions show faster relative flow, not stronger neural activity or more receptor expression.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observed orientation produced relatively uniform water penetration during the flick. Guard-hair removal changed the spatial velocity profile, revealing a hydrodynamic contribution beyond a possible protective role. The controlled physical model isolated these geometry effects without altering neuronal excitability.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link anatomical arrangement to the distribution of a fresh sensory sample. Zigzag orientation and guard hairs shape the spatial velocity profile of water in the array, which sets how evenly each hair receives fresh sample.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George NT, Koehl MAR (2008). Antennule morphology and flicking kinematics facilitate odor sampling by the spiny lobster, Panulirus argus. Journal of Experimental Biology 211(17):2849-2858. https://doi.org/10.1242/jeb.016394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et al. (2008), Fig. 6. Measured flow through a zigzag array in its observed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https://doi.org/10.1242/jeb.016394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Reidenbach et al. (2008), Fig. 7A–C. Hair-array photographs and measured velocity with guard hairs present or removed.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https://doi.org/10.1242/jeb.016394</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Koehl and colleagues programmed a mechanical lobster to flick real Panulirus antennules in a fluorescent dye plume. This preparation retained the biological hair array while controlling movement. Dye released from a benthic source 1 m upstream represented chemicals carried from a food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image sequence contains successive frames, not a diagram created for this lecture. Tracking the same dye feature distinguishes exchange with the surrounding plume from simple movement of the appendage.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original high-speed frames show approximately 1-mm-thick dye parcels entering the array during the rapid downstroke. During the slower return, dye remained trapped between hairs while the surrounding plume continued moving. A later downstroke shed that sample and captured another.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observation directly supports discrete water sampling rather than uninterrupted exposure to ambient concentration. Each downstroke captures a new parcel of plume water and each slow return holds it, so the antennule samples in discrete steps matched to its flick cycle.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Koehl MAR, Koseff JR, Crimaldi JP, McCay MG, Cooper T, Wiley MB, Moore PA (2001). Lobster Sniffing: Antennule Design and Hydrodynamic Filtering of Information in an Odor Plume. Science 294(5548):1948-1951. https://doi.org/10.1126/science.1063724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Koehl et al. (2001), Fig. 1A–D. Original video frames of dye capture and retention during flicking.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https://doi.org/10.1126/science.1063724</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Koehl and colleagues measured concentration along the aesthetasc-bearing section of the antennule through successive video frames. Their published spatiotemporal map places position on one axis and time on the other, with color representing measured dye concentration at each position.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horizontal streak in the published map means concentration at one position remained similar over time. It should not be interpreted as a sustained spike train or a labeled sensory axon.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pattern changed during rapid downstrokes but remained comparatively stable during slower return and stationary intervals. Dye could spread along the antennule during acquisition, so the captured pattern was not an exact unchanged slice of the original plume. Sampling both retains and filters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physical filtering precedes neuronal transduction. A spatially nonuniform retained sample can stimulate different sensory endings differently, so mechanical retention shapes the pattern of input along the antennule before any neuron responds.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Koehl MAR, Koseff JR, Crimaldi JP, McCay MG, Cooper T, Wiley MB, Moore PA (2001). Lobster Sniffing: Antennule Design and Hydrodynamic Filtering of Information in an Odor Plume. Science 294(5548):1948-1951. https://doi.org/10.1126/science.1063724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Koehl et al. (2001), Fig. 2. Measured spatial dye pattern retained between successive flicks.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https://doi.org/10.1126/science.1063724</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Ionotropic receptors, or IRs, are chemosensory proteins related to ionotropic glutamate receptors, a family of ligand-gated membrane channels. Corey and colleagues identified candidate IR sequences in Panulirus olfactory tissue and used in situ hybridization to locate their RNA within sensory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ionotropic glutamate receptor detects glutamate in its established synaptic role. A related chemosensory IR need not recognize glutamate merely because it shares part of that receptor’s sequence and predicted structure.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IR25a and IR93a signals occurred broadly in olfactory receptor neurons. Antisense probes detect complementary target RNA; sense probes supplied negative controls for nonspecific staining. IR8a and another candidate showed more restricted expression, suggesting common components alongside more variable receptor populations.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support an IR-based molecular architecture in lobster olfaction. Staining of the neurons themselves places candidate receptor RNA in the cells that detect odor.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2. Receptor RNA localization with antisense and sense-probe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RNA expression alone does not show where the resulting protein acts. Corey and colleagues used an antibody against IR25a to test its localization. Cross-sections through distal aesthetasc hairs supplied anatomical access to the outer dendrites, where transported odorants first approach olfactory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kilodalton is a unit of molecular mass. Western-band size supports protein identity, while the section image addresses its anatomical location; neither alone measures an ion channel opening.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IR25a immunofluorescence occurred within the dendritic profiles. Sections stained without the primary antibody supplied a background control, and an antibody recognizing an Ih-channel protein provided a separate neuronal comparison. Western blots also detected a band near the predicted IR25a molecular mass of approximately 100 kDa.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convergence of biochemical detection and dendritic staining places a candidate receptor component at a plausible transduction site. Dendritic staining places IR25a in the compartment that first meets odorants carried into the hair, and the band near the predicted mass matches the expected protein.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4B, fluorescent row and original labels. IR25a immunofluorescence in aesthetasc dendrites with control labels intact.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Corey and colleagues loaded sensory-cell clusters with a calcium-sensitive dye and applied different chemical stimuli. Calcium imaging reports changes in intracellular calcium through changing fluorescence. It can reveal many cells simultaneously, complementing measurements made from one neuron at a time.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Deorphanization means identifying the activating ligand of a receptor whose ligand was unknown. Responding to arginine in an intact cell does not prove that any particular expressed receptor is the arginine-binding protein.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stimulus set included food extract, arginine and glutamate at 1 mM for the amino-acid tests. Neighboring cells showed different response profiles across the panel. A published heat map summarizes this heterogeneity rather than assigning one shared response to the whole cluster.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responses establish chemical selectivity at the cellular level despite broad expression of common IR components. Cells that share common IR components therefore differ in which stimuli they detect, which matches the variable candidates expressed alongside them.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6A–D. Calcium imaging reveals heterogeneous odor-response profiles.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Whole-organ sequencing combines RNA from sensory neurons, support cells and other tissue. Kozma and colleagues instead collected individual fluorescently identified olfactory sensory neurons for single-cell transcriptomics, sequencing the expressed RNA of each cell. This separates within-cell coexpression from differences between cell populations.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transcriptome is the set of RNA molecules detected in a sample. Sequencing depth and amplification affect which low-abundance transcripts are recovered, especially when the starting material is one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All seven analyzed single-cell transcriptomes contained IR25a and IR93a. They also contained variable tuning-IR transcripts, while IR8a and IR76b were not detected in those cells. The photographed collection pipette documents the cellular preparation used for sampling.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shared receptor components with cell-specific combinations of additional candidates. Sequencing each neuron separately places IR25a and IR93a together within single cells, while tuning-IR transcripts differ from cell to cell.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Kozma MT, Ngo-Vu H, Rump MT, Bobkov YV, Ache BW, Derby CD (2020). Single cell transcriptomes reveal expression patterns of chemoreceptor genes in olfactory sensory neurons of the Caribbean spiny lobster, Panulirus argus. BMC Genomics 21(1):649. https://doi.org/10.1186/s12864-020-07034-7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Kozma et al. (2020), Fig. 2d. Sensory-cell cluster and collection pipette.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https://doi.org/10.1186/s12864-020-07034-7</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Tuning IRs are variable receptor candidates proposed to contribute ligand selectivity alongside more widely expressed components. Kozma and colleagues compared their abundance across single olfactory sensory neurons. The original heat map displays receptor identity by row and cellular sample by column.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heat-map color is a transformed expression measurement from the original paper. A stronger color does not establish a proportionally larger odor-evoked current because translation and channel regulation intervene.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Each analyzed neuron contained 9–53 tuning-IR transcripts, often with only one or a few expressed at high abundance. This arrangement differs from a simple rule in which every sensory neuron expresses exactly one ligand-selective receptor. Shared coreceptors do not eliminate molecular diversity between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Each neuron carries its own combination of tuning-IR transcripts, so receptor diversity arises from which candidates a cell expresses at high abundance on top of shared coreceptors.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Kozma MT, Ngo-Vu H, Rump MT, Bobkov YV, Ache BW, Derby CD (2020). Single cell transcriptomes reveal expression patterns of chemoreceptor genes in olfactory sensory neurons of the Caribbean spiny lobster, Panulirus argus. BMC Genomics 21(1):649. https://doi.org/10.1186/s12864-020-07034-7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Kozma et al. (2020), Fig. 3. Single-cell expression of common and variable ionotropic receptors.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https://doi.org/10.1186/s12864-020-07034-7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Kozma et al. (2020), Fig. 2d. Sensory-cell cluster and collection pipette.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https://doi.org/10.1186/s12864-020-07034-7</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Kozma and colleagues also examined G-protein-coupled receptors, or GPCRs, and transient receptor potential channels, or TRP channels, in sensory neurons. GPCRs can regulate intracellular signaling, whereas TRP proteins form ion channels with diverse sensory and cellular functions.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G protein links some activated receptors to intracellular enzymes or channels. Molecular presence indicates that a pathway could exist, but causal function must be tested rather than assigned from a protein-family name.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Individual cells expressed 12–17 GPCR candidates and overlapping sets of TRP-channel genes. The published summary includes common proteins and additional variable candidates. These transcript inventories reveal potential molecular machinery alongside the IR family rather than one fully resolved odor-transduction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GPCR in an olfactory neuron may bind an odor or receive modulatory input, and a TRP channel may shape the response without carrying the primary receptor current. Transcript inventories nominate candidate signaling components that ligand responses and perturbations in identified cells can test.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Kozma MT, Ngo-Vu H, Rump MT, Bobkov YV, Ache BW, Derby CD (2020). Single cell transcriptomes reveal expression patterns of chemoreceptor genes in olfactory sensory neurons of the Caribbean spiny lobster, Panulirus argus. BMC Genomics 21(1):649. https://doi.org/10.1186/s12864-020-07034-7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Kozma et al. (2020), Fig. 4. Authors’ summary of genes expressed in olfactory sensory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https://doi.org/10.1186/s12864-020-07034-7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Kozma et al. (2020), Fig. 2d. Sensory-cell cluster and collection pipette.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https://doi.org/10.1186/s12864-020-07034-7</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Bobkov and colleagues recorded Panulirus sensory neurons in a semi-intact antennular preparation. Odor reached the outer dendrites while the cell bodies remained accessible to electrodes and imaging. Separate fluid compartments limited direct stimulation of somata and allowed repeated inputs to the sensory surface.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loose-patch electrode detects spikes without tightly controlling membrane voltage. It records output timing, while stimulus calibration independently measures the physical input that produces that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fluorescent tracer characterized stimulus timing, while calcium imaging and loose-patch recordings measured responses. Food extract was tested at concentrations up to 0.5 mg/mL. Increasing pulse duration increased the effective delivered stimulus, but did not create a perfectly independent change in concentration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calibrations establish when chemical input arrived relative to cellular activity. Pulse duration, onset kinetics and effective dose can covary, so responses are interpreted against the measured delivery waveform and not only the source solution.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Bobkov Y, Park I, Ukhanov K, Principe J, Ache B (2012). Cellular Basis for Response Diversity in the Olfactory Periphery. PLoS ONE 7(4):e34843. https://doi.org/10.1371/journal.pone.0034843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Bobkov et al. (2012), Fig. 1A–C. Simultaneous dye calibration, calcium responses and firing-rate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https://doi.org/10.1371/journal.pone.0034843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Bobkov and colleagues found tonic excitation, phasic–tonic excitation and inhibition among olfactory receptor neurons exposed to food extract. Tonic responses persist during stimulation; phasic responses emphasize its beginning. Inhibitory responses reduce activity relative to the cell’s unstimulated state.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Voltage clamp holds membrane voltage near a chosen level and measures compensating current. A current trace therefore reveals membrane conductance changes more directly than a spike train, but requires ionic tests to identify the ions involved.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Whole-cell voltage-clamp recordings near −70 to −60 mV measured inward or outward odor-evoked currents alongside firing patterns. Excitatory current could persist or adapt rapidly, while some cells showed inhibitory currents. Thus, diversity was already present in the receptor input, before central synaptic processing.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observations reject an account in which all peripheral cells transmit the same excitation and the brain creates every inhibitory response. Excitatory and inhibitory currents both arise in receptor neurons, and the direction of a current depends on the holding voltage and the ionic driving force.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Bobkov Y, Park I, Ukhanov K, Principe J, Ache B (2012). Cellular Basis for Response Diversity in the Olfactory Periphery. PLoS ONE 7(4):e34843. https://doi.org/10.1371/journal.pone.0034843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Bobkov et al. (2012), Fig. 2A–D. Excitatory, inhibitory and intrinsic sensory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https://doi.org/10.1371/journal.pone.0034843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Calcium-sensitive fluorescence is often used as a proxy for neuronal activity, but it is not an action potential. Bobkov and colleagues recorded spikes and calcium simultaneously in identified lobster sensory neurons. The comparison tested how reliably a slower optical signal represents rapid electrical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Calcium can enter through voltage-dependent channels and can also be released from intracellular stores. This simultaneous-recording experiment relates fluorescence to activity without proving the contribution of each calcium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Tonic, phasic–tonic and inhibitory neurons showed corresponding but differently filtered fluorescence changes. Calcium generally changed more slowly than the spike pattern. An inhibitory optical response could accompany reduced firing, while excitation increased firing and then accumulated a calcium signal.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Calcium imaging identifies tonic, phasic–tonic and inhibitory response classes. The fluorescence is slower than the spikes because dye kinetics, intracellular buffering and calcium removal intervene between them.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Bobkov Y, Park I, Ukhanov K, Principe J, Ache B (2012). Cellular Basis for Response Diversity in the Olfactory Periphery. PLoS ONE 7(4):e34843. https://doi.org/10.1371/journal.pone.0034843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Bobkov et al. (2012), Fig. 3A–C. Simultaneous spikes and calcium responses across neuronal response classes.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https://doi.org/10.1371/journal.pone.0034843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burst is a cluster of spikes separated from another cluster by a quieter interval. Bobkov and colleagues observed intrinsically bursting olfactory receptor neurons in the absence of presented odor. Their spontaneous output therefore contains temporal structure before environmental stimulation is added.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Intrinsic means generated by the neuron’s own dynamics under the recording conditions. It does not mean the neuron is unaffected by chemical stimulation, modulators or the ionic composition of the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Simultaneous recordings showed repeated electrical bursts followed by slower calcium oscillations. Across cells, optical oscillation frequencies ranged from approximately 0.015 to 0.9 Hz, with an average near 0.16 Hz. Different cells consequently supplied different intrinsic temporal reference scales.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Spontaneous bursting gives each cell its own temporal structure, so an odor-evoked burst must be distinguished from a spontaneous burst when a cell signals a new encounter.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Bobkov Y, Park I, Ukhanov K, Principe J, Ache B (2012). Cellular Basis for Response Diversity in the Olfactory Periphery. PLoS ONE 7(4):e34843. https://doi.org/10.1371/journal.pone.0034843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Bobkov et al. (2012), Fig. 4A–B. Simultaneous bursting and slower calcium oscillations.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https://doi.org/10.1371/journal.pone.0034843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Bobkov and colleagues imaged many sensory somata within the same antennular cluster and compared their calcium time series. Correlation measures the degree to which two signals vary together. Pairwise comparisons tested whether nearby bursting cells behaved as one tightly synchronized peripheral network.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Independent oscillators can provide diverse temporal sensitivities. A population may become more informative by combining their outputs centrally even when neighboring peripheral cells do not synchronize with one another.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Most recorded pairs were weakly correlated and exhibited different oscillatory timing. A small number of highly similar records could arise from overlapping optical sampling, which required caution before attributing them to cellular coupling. The colored micrograph identifies the individual regions used for analysis.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Weak correlation among most pairs indicates that nearby sensory cells oscillate largely independently, so each cell contributes its own timing to the peripheral population.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Bobkov Y, Park I, Ukhanov K, Principe J, Ache B (2012). Cellular Basis for Response Diversity in the Olfactory Periphery. PLoS ONE 7(4):e34843. https://doi.org/10.1371/journal.pone.0034843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Bobkov et al. (2012), Fig. 5A–C. Colored sensory-cell images, calcium records and pairwise correlations.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https://doi.org/10.1371/journal.pone.0034843</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second messenger is an intracellular molecule whose concentration changes after signaling begins. Michel and Ache tested cyclic nucleotides in lobster sensory neurons that were excited by food extract but inhibited by proline. Whole-cell recordings were made at a holding voltage of −60 mV.</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phosphodiesterase normally breaks down cyclic nucleotides. Blocking it can raise intracellular signaling levels, but its inhibitor is a pathway probe rather than an odor-specific receptor ligand.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Proline produced a small outward current in this cell class. The phosphodiesterase inhibitor IBMX at 1 mM and membrane-permeant cyclic-nucleotide analogs could mimic an outward response. These manipulations link intracellular cyclic-nucleotide accumulation to a conductance associated with peripheral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interpretation builds on an odor-evoked potassium conductance characterized in this receptor-cell system. Raising cyclic-nucleotide levels with IBMX or analogs reproduces the outward current, which places cyclic nucleotides in the inhibitory transduction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Michel WC, Ache BW (1992). Cyclic nucleotides mediate an odor-evoked potassium conductance in lobster olfactory receptor cells. The Journal of Neuroscience 12(10):3979-3984. https://doi.org/10.1523/jneurosci.12-10-03979.1992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Michel &amp; Ache (1992), Fig. 4. Proline, phosphodiesterase inhibition and cyclic-GMP analog evoke outward currents.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https://doi.org/10.1523/jneurosci.12-10-03979.1992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Adenylyl cyclase synthesizes cyclic AMP, or cAMP. Michel and Ache applied forskolin, an activator of this enzyme, to test whether increasing its activity could reproduce proline-associated inhibition. Saline application provided a comparison for the mechanical delivery of solution.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Opening a potassium conductance can stabilize or shift voltage toward the potassium equilibrium potential. The behavioral meaning depends on which sensory neuron is inhibited, not on potassium flow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Forskolin at 50 µM evoked an outward current in proline-inhibited neurons, and IBMX enhanced related responses by reducing nucleotide breakdown. Cells excited by food extract but not inhibited by proline supplied a contrasting response class, helping separate a general toxic effect from pathway-dependent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results support cyclic-nucleotide participation in inhibitory transduction. Forskolin raises cAMP by activating adenylyl cyclase, and the outward current it evokes in proline-inhibited cells fits cAMP acting as a second messenger in the inhibitory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Michel WC, Ache BW (1992). Cyclic nucleotides mediate an odor-evoked potassium conductance in lobster olfactory receptor cells. The Journal of Neuroscience 12(10):3979-3984. https://doi.org/10.1523/jneurosci.12-10-03979.1992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Michel &amp; Ache (1992), Fig. 2. Forskolin and IBMX evoke an outward current in a proline-inhibited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https://doi.org/10.1523/jneurosci.12-10-03979.1992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Boekhoff and colleagues isolated membranes enriched from the outer dendrites of Panulirus olfactory hairs. A quench-flow assay mixes membrane material with stimulus and rapidly stops the reaction, allowing biochemical changes over milliseconds to be measured independently of spike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rapid biochemical response can be compatible with a causal transduction role without proving it. Necessity would require selectively disrupting that response while preserving other cellular functions and measuring sensory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Food extract produced transient increases in cAMP and inositol 1,4,5-trisphosphate, or IP3, peaking within approximately 50 ms. IP3 is a signaling molecule produced from membrane phosphoinositides. The timing is fast enough to participate in early sensory transduction rather than only a delayed behavioral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assay establishes rapid odor-associated biochemical signaling in pooled dendritic material. Messenger levels that rise within about 50 ms place cAMP and IP3 early in the transduction sequence.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Boekhoff I, Michel WC, Breer H, Ache BW (1994). Single odors differentially stimulate dual second messenger pathways in lobster olfactory receptor cells. The Journal of Neuroscience 14(5):3304-3309. https://doi.org/10.1523/jneurosci.14-05-03304.1994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Boekhoff et al. (1994), Fig. 1. Odor evokes rapid cAMP and IP3 accumulation in dendritic membranes.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https://doi.org/10.1523/jneurosci.14-05-03304.1994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4B, fluorescent row and original labels. IR25a immunofluorescence in aesthetasc dendrites with control labels intact.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6" name="Google Shape;506;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Boekhoff and colleagues compared taurine and proline because individual ligands can excite one lobster sensory neuron yet inhibit another. At 1 µM, taurine preferentially elevated IP3 and proline preferentially elevated cAMP in isolated dendritic membranes. The published plots show these distinct low-dose time courses.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illustrated low-dose figure and the stated higher-dose values answer complementary questions. The higher-dose measurements come from Figure 4 of the same paper, rather than a numerical extrapolation from the displayed traces.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100 µM, both ligands elevated both signals while retaining different preferences. Taurine produced peak IP3 near 630 pmol/mg and cAMP near 280 pmol/mg; proline produced cAMP near 720 pmol/mg and IP3 near 220 pmol/mg.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concentration dependence argues against assigning each ligand an exclusively fixed messenger pathway. Ligand identity biases which messenger rises most, and ligand concentration determines whether one or both messengers are recruited.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Boekhoff I, Michel WC, Breer H, Ache BW (1994). Single odors differentially stimulate dual second messenger pathways in lobster olfactory receptor cells. The Journal of Neuroscience 14(5):3304-3309. https://doi.org/10.1523/jneurosci.14-05-03304.1994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Boekhoff et al. (1994), Fig. 3A–B. Taurine and proline differ in second-messenger recruitment.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https://doi.org/10.1523/jneurosci.14-05-03304.1994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4B, fluorescent row and original labels. IR25a immunofluorescence in aesthetasc dendrites with control labels intact.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1" name="Google Shape;521;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Park and colleagues recorded bursting olfactory receptor neurons and quantified the intervals between spontaneous bursts. A quasiperiodic oscillator repeats approximately, with variability rather than a perfectly fixed period. Such intrinsic activity offers a possible reference against which incoming odor encounters can be registered.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quasiperiodic cell is not a stopwatch with a perfectly reproducible tick. Trial-to-trial variability must be incorporated when evaluating how much information its response carries.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recorded cells displayed different mean burst intervals and within-cell variation. Some repeated over a few seconds, whereas others had substantially longer intervals. The original figure compares electrical records and interval distributions, establishing diversity in measured cellular timing before a population decoder is proposed.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Each bursting neuron carries its own mean interval and variability, so a population of such cells offers many temporal references against which odor encounters can be registered.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Park IM, Bobkov YV, Ache BW, Príncipe JC (2014). Intermittency Coding in the Primary Olfactory System: A Neural Substrate for Olfactory Scene Analysis. The Journal of Neuroscience 34(3):941-952. https://doi.org/10.1523/jneurosci.2204-13.2014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Park et al. (2014), Fig. 1a–d. Recorded spontaneous bursts and distribution of intrinsic periods.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https://doi.org/10.1523/jneurosci.2204-13.2014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Phase describes where a neuron lies within its recurring burst cycle. Park and colleagues delivered comparable odor pulses at different times after the previous spontaneous burst. This manipulation tests whether the same chemical input has different effects depending on the cell’s current state.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refractory or low-responsiveness phase can conceal an encounter in one cell. Other cells at different phases could respond, making population activity more informative than a single-neuron yes-or-no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an example cell, burst probability was about 50% when odor arrived 3 s after the preceding burst and approached 100% at 6 s. The same intensity therefore did not guarantee the same output. Recordings also showed odor-related changes in electrical activity and burst timing.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establishes history-dependent sensory responsiveness. A population with different periods could jointly report encounter timing, because each cell responds according to where it lies in its own cycle.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Park IM, Bobkov YV, Ache BW, Príncipe JC (2014). Intermittency Coding in the Primary Olfactory System: A Neural Substrate for Olfactory Scene Analysis. The Journal of Neuroscience 34(3):941-952. https://doi.org/10.1523/jneurosci.2204-13.2014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Park et al. (2014), Fig. 2a–d. Stimulus timing changes burst probability and sensory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https://doi.org/10.1523/jneurosci.2204-13.2014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Park and colleagues fitted oscillator-response models using experimentally measured properties of bursting neurons, then combined 2,000 synthetic neurons into a population. A decoder is an analysis rule that estimates an input from output activity. It tests whether measured response rules could carry temporal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computationally available signal is not automatically read out by the animal. The model motivates a behavioral prediction, while its parameters and idealized decoder define the limits of that prediction.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model estimated intervals among presented events, including inputs at 10, 12, 35, 40 and 43 s. Combining cells with different intrinsic periods improved access to the time since a previous encounter. The displayed curves are the authors’ published synthetic-population results.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decoder shows that combining cells with different intrinsic periods can carry information about the time since a previous encounter. Each synthetic neuron applies response rules measured in real bursting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Park IM, Bobkov YV, Ache BW, Príncipe JC (2014). Intermittency Coding in the Primary Olfactory System: A Neural Substrate for Olfactory Scene Analysis. The Journal of Neuroscience 34(3):941-952. https://doi.org/10.1523/jneurosci.2204-13.2014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Park et al. (2014), Fig. 6a–c. Authors’ synthetic-population decoder estimates stimulus intervals.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https://doi.org/10.1523/jneurosci.2204-13.2014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Corey et al. (2013), Fig. 4C, fluorescent row. IR25a in somata and inner dendrites; control shown.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https://doi.org/10.1371/journal.pone.0060551</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6" name="Google Shape;566;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afferent neuron carries sensory input toward the brain. Wachowiak and Cohen electrically stimulated the lobster antennular nerve and recorded voltage-sensitive dye signals in the nerve and olfactory lobe. The published anatomy identifies the central region receiving these sensory axons.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olfactory lobe is a primary central processing region, not the sensory hair itself. Paired-pulse suppression compares the second response with the first while controlling the delivered electrical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Two 2-ms shocks separated by approximately 300–400 ms produced a smaller second response in the olfactory lobe, while the nerve response was less affected. Calcium-free, high-magnesium saline reduced synaptic transmission, helping separate incoming axonal signals from activity generated by the local network.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comparison locates suppression beyond peripheral conduction in the tested preparation. A smaller second olfactory-lobe response alongside a preserved nerve response places the suppression at central synaptic transmission, where incoming information is modulated.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Wachowiak M, Cohen LB (1999). Presynaptic Inhibition of Primary Olfactory Afferents Mediated by Different Mechanisms in Lobster and Turtle. The Journal of Neuroscience 19(20):8808-8817. https://doi.org/10.1523/jneurosci.19-20-08808.1999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Wachowiak &amp; Cohen (1999), Fig. 1A–C. Paired-shock responses in the olfactory lobe and antennular nerve.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https://doi.org/10.1523/jneurosci.19-20-08808.1999</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GABA, gamma-aminobutyric acid, and histamine can act as neurotransmitters. Wachowiak and Cohen applied them while measuring lobster afferent voltage signals. Calcium-free conditions reduced network transmission, allowing drug effects on incoming sensory processes to be distinguished from ordinary downstream synaptic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Presynaptic means acting on the input side of a synapse. Opening a shunting conductance allows current to leak across the membrane, reducing local voltage changes. A weaker spike can then reduce transmitter release; the channel’s exact molecular composition and natural behavioral recruitment were not measured here.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100 µM, histamine reduced the measured response by about 82% and GABA by about 45%. At 30 µM, histamine still reduced it by about 61%, whereas GABA had little effect. Responses recovered during washout, arguing against irreversible damage as the main explanation.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dose-dependent effects support distinct inhibitory sensitivities of lobster afferent transmission. Shunting inhibition, proposed by the authors, is a ligand-gated conductance that lowers membrane resistance and reduces terminal spike amplitude or propagation.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Wachowiak M, Cohen LB (1999). Presynaptic Inhibition of Primary Olfactory Afferents Mediated by Different Mechanisms in Lobster and Turtle. The Journal of Neuroscience 19(20):8808-8817. https://doi.org/10.1523/jneurosci.19-20-08808.1999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Wachowiak &amp; Cohen (1999), Fig. 2A–B. Histamine and GABA suppress lobster afferent voltage signals.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https://doi.org/10.1523/jneurosci.19-20-08808.1999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Wachowiak &amp; Cohen (1999), Fig. 1A–C. Olfactory-lobe anatomy and original recording locations.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https://doi.org/10.1523/jneurosci.19-20-08808.1999</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4" name="Google Shape;594;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receptor antagonist reduces activation of a receptor by its ligand. Wachowiak and Cohen used picrotoxin to test GABA-sensitive inhibition and cimetidine to test histamine-sensitive inhibition in lobster olfactory afferents. The pharmacological comparisons followed control recordings from the same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Histamine used as a central transmitter must be distinguished from histamine delivered as an odorant to sensory dendrites in other experiments. Site of application and the recorded response determine which role is being tested.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Picrotoxin at 100 µM blocked the GABA effect, whereas histamine inhibition persisted. Cimetidine at 5 mM reduced the histamine effect without producing the same blockade of GABA. The separation argues that the transmitters do not act through one indistinguishable receptor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Picrotoxin blocks the GABA effect and cimetidine reduces the histamine effect, which separates two inhibitory receptor actions. An isolated nerve segment was comparatively unaffected, supporting a central-terminal locus.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Wachowiak M, Cohen LB (1999). Presynaptic Inhibition of Primary Olfactory Afferents Mediated by Different Mechanisms in Lobster and Turtle. The Journal of Neuroscience 19(20):8808-8817. https://doi.org/10.1523/jneurosci.19-20-08808.1999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Wachowiak &amp; Cohen (1999), Fig. 3. Histamine inhibition persists after GABA-receptor blockade.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https://doi.org/10.1523/jneurosci.19-20-08808.1999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Wachowiak &amp; Cohen (1999), Fig. 1A–C. Olfactory-lobe anatomy and original recording locations.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https://doi.org/10.1523/jneurosci.19-20-08808.1999</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9" name="Google Shape;609;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Odor flux combines chemical concentration with the motion carrying that chemical. Pravin and Reidenbach measured flow and fluorescent concentration in a flume, then developed a three-dimensional fluid model constrained by those measurements. This addresses direction information unavailable from concentration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Transverse means across the main flow direction. A concentration reading can signal presence, while correlated fluctuations in flow can additionally indicate where odor-bearing water is being transported.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published model showed transverse chemical transport toward the plume center on opposite sides of the plume. Useful differences emerged over averaging intervals of approximately 0.5 s. The displayed colored traces are their modeled transverse flux, not trajectories or neural recordings from lobsters.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Joint chemical and mechanical sensing can provide a directional cue, because transverse flux points toward the plume center from opposite sides of the plume. Averaging over about 0.5 s is enough for the difference to emerge.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Pravin S, Reidenbach MA (2013). Simultaneous Sampling of Flow and Odorants by Crustaceans can Aid Searches within a Turbulent Plume. Sensors 13(12):16591-16610. https://doi.org/10.3390/s131216591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Pravin &amp; Reidenbach (2013), Fig. 11C. Authors’ modeled transverse odor flux on opposite sides of a plume.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https://doi.org/10.3390/s131216591</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 name="Google Shape;622;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Intermittency describes the temporal discontinuity of odor. Michaelis and colleagues quantified it as the count of concentration spikes crossing a threshold within a time window. Michaelis and colleagues used a turbulent-plume model validated against laboratory fluorescence and velocity measurements. They compared intermittency with concentration as potential information for aquatic odor-source tracking.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threshold defines an encounter when concentration crosses from below to above it. Its choice can change encounter counts, so an intermittency code requires a biologically plausible detector as well as a physically realistic plume.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model covered a 5 × 0.5 × 0.15 m domain with mean flow near 0.02 m/s. Intermittency profiles depended on cross-stream position and the observation window. At plume edges, bilateral differences in encounter frequency could remain informative when instantaneous concentration was unreliable.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Intermittency complements a mean concentration reading by adding a count of threshold crossings, and bilateral differences in that count can mark a position within the plume.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Michaelis BT, Leathers KW, Bobkov YV, Ache BW, Principe JC, Baharloo R, Park IM, Reidenbach MA (2020). Odor tracking in aquatic organisms: the importance of temporal and spatial intermittency of the turbulent plume. Scientific Reports 10(1):7961. https://doi.org/10.1038/s41598-020-64766-y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Michaelis et al. (2020), Fig. 6. Authors’ modeled concentration-spike counts across the plume at different sampling frequencies.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https://doi.org/10.1038/s41598-020-64766-y</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 name="Google Shape;635;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Michaelis and colleagues compared modeled intermittency estimates at different sampling frequencies and tested simulated search rules. The original figure shows how a finite observation window and sample schedule affect the estimated chemical statistic. This makes sampling strategy part of the navigation hypothesis rather than a passive detail.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strongest next test would manipulate a specific timing mechanism while preserving chemical detection, then measure path efficiency under controlled plume statistics. That experiment would link a proposed neural code to its behavioral consequence.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Their results support temporal encounter information alongside concentration under specified plume conditions. Earlier measurements show why those conditions matter: flicking changes encounter gaps, bursting neurons respond according to recent history, and removing one antennular pathway can preserve arrival while reducing path straightness.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Together, the studies link physical acquisition, peripheral coding and source-directed behavior into one chain from plume to path. Measured fluid patterns, recorded neuronal responses and animal trajectories each supply one link in that chain.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Michaelis BT, Leathers KW, Bobkov YV, Ache BW, Principe JC, Baharloo R, Park IM, Reidenbach MA (2020). Odor tracking in aquatic organisms: the importance of temporal and spatial intermittency of the turbulent plume. Scientific Reports 10(1):7961. https://doi.org/10.1038/s41598-020-64766-y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Koehl MAR (2011). The spatial and temporal patterns of odors sampled by lobsters and crabs in a turbulent plume. Journal of Experimental Biology 214(18):3138–3153. https://doi.org/10.1242/jeb.057547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Park IM, Bobkov YV, Ache BW, Príncipe JC (2014). Intermittency Coding in the Primary Olfactory System: A Neural Substrate for Olfactory Scene Analysis. The Journal of Neuroscience 34(3):941-952. https://doi.org/10.1523/jneurosci.2204-13.2014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Michaelis et al. (2020), Fig. 7. Authors’ model compares detected concentration-spike counts at different sampling frequencies.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https://doi.org/10.1038/s41598-020-64766-y</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8" name="Google Shape;648;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Behavior changes during approach. Food odor changes walking speed, heading and close-range raking; successful paths do not follow one invariant turning program.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Sensory pathways overlap conditionally. Either antennular chemical pathway can preserve source finding in Panulirus, while selective loss can reduce path efficiency.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Sniffing filters input mechanically. Fast flicks replace water between aesthetascs; slow returns retain it, changing the timing and spatial pattern reaching receptors.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Expression does not establish receptor function. IR localization and single-cell coexpression identify candidate machinery, but ligand specificity, channel composition and causal function require further tests.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Timing begins in the periphery. Excitation, inhibition and intrinsic bursting occur in sensory neurons; phase-dependent responses can carry encounter-history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Navigation requires linked evidence. Central inhibition changes transmission, while plume and decoding models propose usable cues; their behavioral necessity remains to be demonstrated.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Moore PA, Scholz N, Atema J (1991). Chemical orientation of lobsters, homarus americanus, in turbulent odor plumes. Journal of Chemical Ecology 17(7):1293-1307. https://doi.org/10.1007/bf00983763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Horner AJ, Weissburg MJ, Derby CD (2004). Dual antennular chemosensory pathways can mediate orientation by Caribbean spiny lobsters in naturalistic flow conditions. Journal of Experimental Biology 207(21):3785-3796. https://doi.org/10.1242/jeb.01200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Koehl MAR, Koseff JR, Crimaldi JP, McCay MG, Cooper T, Wiley MB, Moore PA (2001). Lobster Sniffing: Antennule Design and Hydrodynamic Filtering of Information in an Odor Plume. Science 294(5548):1948-1951. https://doi.org/10.1126/science.1063724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Reidenbach MA, George NT, Koehl MAR (2008). Antennule morphology and flicking kinematics facilitate odor sampling by the spiny lobster, Panulirus argus. Journal of Experimental Biology 211(17):2849-2858. https://doi.org/10.1242/jeb.016394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Corey EA, Bobkov Y, Ukhanov K, Ache BW (2013). Ionotropic Crustacean Olfactory Receptors. PLoS ONE 8(4):e60551. https://doi.org/10.1371/journal.pone.0060551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Kozma MT, Ngo-Vu H, Rump MT, Bobkov YV, Ache BW, Derby CD (2020). Single cell transcriptomes reveal expression patterns of chemoreceptor genes in olfactory sensory neurons of the Caribbean spiny lobster, Panulirus argus. BMC Genomics 21(1):649. https://doi.org/10.1186/s12864-020-07034-7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Bobkov Y, Park I, Ukhanov K, Principe J, Ache B (2012). Cellular Basis for Response Diversity in the Olfactory Periphery. PLoS ONE 7(4):e34843. https://doi.org/10.1371/journal.pone.0034843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Michel WC, Ache BW (1992). Cyclic nucleotides mediate an odor-evoked potassium conductance in lobster olfactory receptor cells. The Journal of Neuroscience 12(10):3979-3984. https://doi.org/10.1523/jneurosci.12-10-03979.1992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Boekhoff I, Michel WC, Breer H, Ache BW (1994). Single odors differentially stimulate dual second messenger pathways in lobster olfactory receptor cells. The Journal of Neuroscience 14(5):3304-3309. https://doi.org/10.1523/jneurosci.14-05-03304.1994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Park IM, Bobkov YV, Ache BW, Príncipe JC (2014). Intermittency Coding in the Primary Olfactory System: A Neural Substrate for Olfactory Scene Analysis. The Journal of Neuroscience 34(3):941-952. https://doi.org/10.1523/jneurosci.2204-13.2014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Wachowiak M, Cohen LB (1999). Presynaptic Inhibition of Primary Olfactory Afferents Mediated by Different Mechanisms in Lobster and Turtle. The Journal of Neuroscience 19(20):8808-8817. https://doi.org/10.1523/jneurosci.19-20-08808.1999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Pravin S, Reidenbach MA (2013). Simultaneous Sampling of Flow and Odorants by Crustaceans can Aid Searches within a Turbulent Plume. Sensors 13(12):16591-16610. https://doi.org/10.3390/s131216591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Michaelis BT, Leathers KW, Bobkov YV, Ache BW, Principe JC, Baharloo R, Park IM, Reidenbach MA (2020). Odor tracking in aquatic organisms: the importance of temporal and spatial intermittency of the turbulent plume. Scientific Reports 10(1):7961. https://doi.org/10.1038/s41598-020-64766-y</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Odor flux combines two measurements into a directional quantity.</a:t>
            </a:r>
          </a:p>
          <a:p>
            <a:r>
              <a:rPr lang="en-US" sz="1200"/>
              <a:t>• Definition.</a:t>
            </a:r>
          </a:p>
          <a:p>
            <a:r>
              <a:rPr lang="en-US" sz="1200"/>
              <a:t>– Odor flux combines chemical concentration with the motion of the water carrying it.</a:t>
            </a:r>
          </a:p>
          <a:p>
            <a:r>
              <a:rPr lang="en-US" sz="1200"/>
              <a:t>• Direction.</a:t>
            </a:r>
          </a:p>
          <a:p>
            <a:r>
              <a:rPr lang="en-US" sz="1200"/>
              <a:t>– Concentration alone has no direction.</a:t>
            </a:r>
          </a:p>
          <a:p>
            <a:r>
              <a:rPr lang="en-US" sz="1200"/>
              <a:t>– Flux has a direction set by the flow.</a:t>
            </a:r>
          </a:p>
          <a:p>
            <a:r>
              <a:rPr lang="en-US" sz="1200"/>
              <a:t>• Measurements.</a:t>
            </a:r>
          </a:p>
          <a:p>
            <a:r>
              <a:rPr lang="en-US" sz="1200"/>
              <a:t>– Flow and fluorescent concentration were measured in a flume.</a:t>
            </a:r>
          </a:p>
          <a:p>
            <a:r>
              <a:rPr lang="en-US" sz="1200"/>
              <a:t>– A three-dimensional fluid model was constrained by them.</a:t>
            </a:r>
          </a:p>
          <a:p>
            <a:r>
              <a:rPr lang="en-US" sz="1200"/>
              <a:t>• Model result.</a:t>
            </a:r>
          </a:p>
          <a:p>
            <a:r>
              <a:rPr lang="en-US" sz="1200"/>
              <a:t>– Transverse transport pointed toward the plume center on opposite sides of the plume.</a:t>
            </a:r>
          </a:p>
          <a:p>
            <a:r>
              <a:rPr lang="en-US" sz="1200"/>
              <a:t>• Time window.</a:t>
            </a:r>
          </a:p>
          <a:p>
            <a:r>
              <a:rPr lang="en-US" sz="1200"/>
              <a:t>– Useful differences emerged over averaging intervals of approximately 0.5 seconds.</a:t>
            </a:r>
          </a:p>
          <a:p>
            <a:r>
              <a:rPr lang="en-US" sz="1200"/>
              <a:t>• Meaning.</a:t>
            </a:r>
          </a:p>
          <a:p>
            <a:r>
              <a:rPr lang="en-US" sz="1200"/>
              <a:t>– Joint sensing offers a cue about which side of the plume an animal occupies.</a:t>
            </a:r>
          </a:p>
          <a:p>
            <a:r>
              <a:rPr lang="en-US" sz="1200"/>
              <a:t>• Modeled traces.</a:t>
            </a:r>
          </a:p>
          <a:p>
            <a:r>
              <a:rPr lang="en-US" sz="1200"/>
              <a:t>– The displayed colored traces are modeled transverse flux.</a:t>
            </a:r>
          </a:p>
          <a:p>
            <a:r>
              <a:rPr lang="en-US" sz="1200"/>
              <a:t>– They are not trajectories or neural recordings from lobsters.</a:t>
            </a:r>
          </a:p>
          <a:p>
            <a:r>
              <a:rPr lang="en-US" sz="1200"/>
              <a:t>• Why flow matters.</a:t>
            </a:r>
          </a:p>
          <a:p>
            <a:r>
              <a:rPr lang="en-US" sz="1200"/>
              <a:t>– A concentration reading says how much odor is present.</a:t>
            </a:r>
          </a:p>
          <a:p>
            <a:r>
              <a:rPr lang="en-US" sz="1200"/>
              <a:t>– A flux reading also says which way the odor is moving.</a:t>
            </a:r>
          </a:p>
          <a:p>
            <a:r>
              <a:rPr lang="en-US" sz="1200"/>
              <a:t>• Averaging window.</a:t>
            </a:r>
          </a:p>
          <a:p>
            <a:r>
              <a:rPr lang="en-US" sz="1200"/>
              <a:t>– Differences in transverse flux emerged when measurements were averaged over about half a second.</a:t>
            </a:r>
          </a:p>
          <a:p>
            <a:r>
              <a:rPr lang="en-US" sz="1200"/>
              <a:t>– A shorter window would contain more fluctuation.</a:t>
            </a:r>
          </a:p>
          <a:p>
            <a:r>
              <a:rPr lang="en-US" sz="1200"/>
              <a:t>– A window of this length is brief enough for an animal sampling continuously.</a:t>
            </a:r>
          </a:p>
          <a:p>
            <a:r>
              <a:rPr lang="en-US" sz="1200"/>
              <a:t/>
            </a:r>
          </a:p>
          <a:p>
            <a:r>
              <a:rPr lang="en-US" sz="1200"/>
              <a:t>References:</a:t>
            </a:r>
          </a:p>
          <a:p>
            <a:r>
              <a:rPr lang="en-US" sz="1200"/>
              <a:t>Pravin S, Reidenbach MA (2013). Simultaneous Sampling of Flow and Odorants by Crustaceans can Aid Searches within a Turbulent Plume. Sensors 13(12):16591-16610. https://doi.org/10.3390/s131216591</a:t>
            </a:r>
          </a:p>
          <a:p>
            <a:r>
              <a:rPr lang="en-US" sz="1200"/>
              <a:t>Horner AJ, Weissburg MJ, Derby CD (2004). Dual antennular chemosensory pathways can mediate orientation by Caribbean spiny lobsters in naturalistic flow conditions. Journal of Experimental Biology 207(21):3785-3796. https://doi.org/10.1242/jeb.01200</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Presynaptic inhibition regulates sensory input before it is passed on.</a:t>
            </a:r>
          </a:p>
          <a:p>
            <a:r>
              <a:rPr lang="en-US" sz="1200"/>
              <a:t>• Definition.</a:t>
            </a:r>
          </a:p>
          <a:p>
            <a:r>
              <a:rPr lang="en-US" sz="1200"/>
              <a:t>– Presynaptic inhibition reduces transmitter release from an axon terminal.</a:t>
            </a:r>
          </a:p>
          <a:p>
            <a:r>
              <a:rPr lang="en-US" sz="1200"/>
              <a:t>– The target neuron receives less input.</a:t>
            </a:r>
          </a:p>
          <a:p>
            <a:r>
              <a:rPr lang="en-US" sz="1200"/>
              <a:t>• Transmitters.</a:t>
            </a:r>
          </a:p>
          <a:p>
            <a:r>
              <a:rPr lang="en-US" sz="1200"/>
              <a:t>– GABA and histamine can act as neurotransmitters.</a:t>
            </a:r>
          </a:p>
          <a:p>
            <a:r>
              <a:rPr lang="en-US" sz="1200"/>
              <a:t>• Solution.</a:t>
            </a:r>
          </a:p>
          <a:p>
            <a:r>
              <a:rPr lang="en-US" sz="1200"/>
              <a:t>– Calcium-free, high-magnesium saline reduced network transmission.</a:t>
            </a:r>
          </a:p>
          <a:p>
            <a:r>
              <a:rPr lang="en-US" sz="1200"/>
              <a:t>– Drug effects on afferents could be isolated.</a:t>
            </a:r>
          </a:p>
          <a:p>
            <a:r>
              <a:rPr lang="en-US" sz="1200"/>
              <a:t>• Dose effects.</a:t>
            </a:r>
          </a:p>
          <a:p>
            <a:r>
              <a:rPr lang="en-US" sz="1200"/>
              <a:t>– At 100 micromolar, histamine reduced the response by about 82 percent and GABA by about 45 percent.</a:t>
            </a:r>
          </a:p>
          <a:p>
            <a:r>
              <a:rPr lang="en-US" sz="1200"/>
              <a:t>• Recovery.</a:t>
            </a:r>
          </a:p>
          <a:p>
            <a:r>
              <a:rPr lang="en-US" sz="1200"/>
              <a:t>– Responses recovered during washout.</a:t>
            </a:r>
          </a:p>
          <a:p>
            <a:r>
              <a:rPr lang="en-US" sz="1200"/>
              <a:t>• Antagonists.</a:t>
            </a:r>
          </a:p>
          <a:p>
            <a:r>
              <a:rPr lang="en-US" sz="1200"/>
              <a:t>– Picrotoxin blocked the GABA effect.</a:t>
            </a:r>
          </a:p>
          <a:p>
            <a:r>
              <a:rPr lang="en-US" sz="1200"/>
              <a:t>– Cimetidine reduced the histamine effect.</a:t>
            </a:r>
          </a:p>
          <a:p>
            <a:r>
              <a:rPr lang="en-US" sz="1200"/>
              <a:t>• Calcium-free saline.</a:t>
            </a:r>
          </a:p>
          <a:p>
            <a:r>
              <a:rPr lang="en-US" sz="1200"/>
              <a:t>– Removing calcium reduces transmission at the synapses of the network.</a:t>
            </a:r>
          </a:p>
          <a:p>
            <a:r>
              <a:rPr lang="en-US" sz="1200"/>
              <a:t>– Responses from incoming axons can then be measured on their own.</a:t>
            </a:r>
          </a:p>
          <a:p>
            <a:r>
              <a:rPr lang="en-US" sz="1200"/>
              <a:t>• Reversibility.</a:t>
            </a:r>
          </a:p>
          <a:p>
            <a:r>
              <a:rPr lang="en-US" sz="1200"/>
              <a:t>– Washout restored the responses.</a:t>
            </a:r>
          </a:p>
          <a:p>
            <a:r>
              <a:rPr lang="en-US" sz="1200"/>
              <a:t>– The drugs therefore did not damage the preparation permanently.</a:t>
            </a:r>
          </a:p>
          <a:p>
            <a:r>
              <a:rPr lang="en-US" sz="1200"/>
              <a:t>• Dose dependence.</a:t>
            </a:r>
          </a:p>
          <a:p>
            <a:r>
              <a:rPr lang="en-US" sz="1200"/>
              <a:t>– At 30 micromolar, histamine still reduced the response by about 61 percent.</a:t>
            </a:r>
          </a:p>
          <a:p>
            <a:r>
              <a:rPr lang="en-US" sz="1200"/>
              <a:t>– GABA had little effect at that dose.</a:t>
            </a:r>
          </a:p>
          <a:p>
            <a:r>
              <a:rPr lang="en-US" sz="1200"/>
              <a:t>– The two transmitters therefore differ in potency.</a:t>
            </a:r>
          </a:p>
          <a:p>
            <a:r>
              <a:rPr lang="en-US" sz="1200"/>
              <a:t>– Potency was compared at each dose.</a:t>
            </a:r>
          </a:p>
          <a:p>
            <a:r>
              <a:rPr lang="en-US" sz="1200"/>
              <a:t/>
            </a:r>
          </a:p>
          <a:p>
            <a:r>
              <a:rPr lang="en-US" sz="1200"/>
              <a:t>References:</a:t>
            </a:r>
          </a:p>
          <a:p>
            <a:r>
              <a:rPr lang="en-US" sz="1200"/>
              <a:t>Wachowiak M, Cohen LB (1999). Presynaptic Inhibition of Primary Olfactory Afferents Mediated by Different Mechanisms in Lobster and Turtle. The Journal of Neuroscience 19(20):8808-8817. https://doi.org/10.1523/jneurosci.19-20-08808.1999</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Spontaneous bursting gives a neuron an internal clock.</a:t>
            </a:r>
          </a:p>
          <a:p>
            <a:r>
              <a:rPr lang="en-US" sz="1200"/>
              <a:t>• Definition.</a:t>
            </a:r>
          </a:p>
          <a:p>
            <a:r>
              <a:rPr lang="en-US" sz="1200"/>
              <a:t>– An oscillator repeats its activity cycle.</a:t>
            </a:r>
          </a:p>
          <a:p>
            <a:r>
              <a:rPr lang="en-US" sz="1200"/>
              <a:t>– A quasiperiodic oscillator repeats approximately, with variability.</a:t>
            </a:r>
          </a:p>
          <a:p>
            <a:r>
              <a:rPr lang="en-US" sz="1200"/>
              <a:t>• Bursts.</a:t>
            </a:r>
          </a:p>
          <a:p>
            <a:r>
              <a:rPr lang="en-US" sz="1200"/>
              <a:t>– A burst is a cluster of spikes separated from another cluster by a quieter interval.</a:t>
            </a:r>
          </a:p>
          <a:p>
            <a:r>
              <a:rPr lang="en-US" sz="1200"/>
              <a:t>• Recordings.</a:t>
            </a:r>
          </a:p>
          <a:p>
            <a:r>
              <a:rPr lang="en-US" sz="1200"/>
              <a:t>– Park and colleagues quantified intervals between spontaneous bursts.</a:t>
            </a:r>
          </a:p>
          <a:p>
            <a:r>
              <a:rPr lang="en-US" sz="1200"/>
              <a:t>• Diversity.</a:t>
            </a:r>
          </a:p>
          <a:p>
            <a:r>
              <a:rPr lang="en-US" sz="1200"/>
              <a:t>– Cells differed in mean interval and within-cell variation.</a:t>
            </a:r>
          </a:p>
          <a:p>
            <a:r>
              <a:rPr lang="en-US" sz="1200"/>
              <a:t>– Some repeated over a few seconds and others had longer intervals.</a:t>
            </a:r>
          </a:p>
          <a:p>
            <a:r>
              <a:rPr lang="en-US" sz="1200"/>
              <a:t>• Reference scales.</a:t>
            </a:r>
          </a:p>
          <a:p>
            <a:r>
              <a:rPr lang="en-US" sz="1200"/>
              <a:t>– A population supplies many temporal references.</a:t>
            </a:r>
          </a:p>
          <a:p>
            <a:r>
              <a:rPr lang="en-US" sz="1200"/>
              <a:t>• Meaning.</a:t>
            </a:r>
          </a:p>
          <a:p>
            <a:r>
              <a:rPr lang="en-US" sz="1200"/>
              <a:t>– Odor encounters can be registered against these internal cycles.</a:t>
            </a:r>
          </a:p>
          <a:p>
            <a:r>
              <a:rPr lang="en-US" sz="1200"/>
              <a:t>• Period.</a:t>
            </a:r>
          </a:p>
          <a:p>
            <a:r>
              <a:rPr lang="en-US" sz="1200"/>
              <a:t>– The period is the time between successive bursts.</a:t>
            </a:r>
          </a:p>
          <a:p>
            <a:r>
              <a:rPr lang="en-US" sz="1200"/>
              <a:t>– In a quasiperiodic oscillator the period varies from cycle to cycle.</a:t>
            </a:r>
          </a:p>
          <a:p>
            <a:r>
              <a:rPr lang="en-US" sz="1200"/>
              <a:t>• Population.</a:t>
            </a:r>
          </a:p>
          <a:p>
            <a:r>
              <a:rPr lang="en-US" sz="1200"/>
              <a:t>– Cells with different periods act together as a set of references.</a:t>
            </a:r>
          </a:p>
          <a:p>
            <a:r>
              <a:rPr lang="en-US" sz="1200"/>
              <a:t>– A single cell would register encounters against only one cycle.</a:t>
            </a:r>
          </a:p>
          <a:p>
            <a:r>
              <a:rPr lang="en-US" sz="1200"/>
              <a:t>• Why variability matters.</a:t>
            </a:r>
          </a:p>
          <a:p>
            <a:r>
              <a:rPr lang="en-US" sz="1200"/>
              <a:t>– A perfectly fixed period would give every encounter the same relationship to the cycle.</a:t>
            </a:r>
          </a:p>
          <a:p>
            <a:r>
              <a:rPr lang="en-US" sz="1200"/>
              <a:t>– Variability means that the relationship changes from cycle to cycle.</a:t>
            </a:r>
          </a:p>
          <a:p>
            <a:r>
              <a:rPr lang="en-US" sz="1200"/>
              <a:t>– Cells with different periods give a population different reference points.</a:t>
            </a:r>
          </a:p>
          <a:p>
            <a:r>
              <a:rPr lang="en-US" sz="1200"/>
              <a:t/>
            </a:r>
          </a:p>
          <a:p>
            <a:r>
              <a:rPr lang="en-US" sz="1200"/>
              <a:t>References:</a:t>
            </a:r>
          </a:p>
          <a:p>
            <a:r>
              <a:rPr lang="en-US" sz="1200"/>
              <a:t>Park IM, Bobkov YV, Ache BW, Príncipe JC (2014). Intermittency Coding in the Primary Olfactory System: A Neural Substrate for Olfactory Scene Analysis. The Journal of Neuroscience 34(3):941-952. https://doi.org/10.1523/jneurosci.2204-13.2014</a:t>
            </a:r>
          </a:p>
          <a:p>
            <a:r>
              <a:rPr lang="en-US" sz="1200"/>
              <a:t>Corey EA, Bobkov Y, Ukhanov K, Ache BW (2013). Ionotropic Crustacean Olfactory Receptors. PLoS ONE 8(4):e60551. https://doi.org/10.1371/journal.pone.0060551</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Second messengers connect a receptor to the cell's response.</a:t>
            </a:r>
          </a:p>
          <a:p>
            <a:r>
              <a:rPr lang="en-US" sz="1200"/>
              <a:t>• Definition.</a:t>
            </a:r>
          </a:p>
          <a:p>
            <a:r>
              <a:rPr lang="en-US" sz="1200"/>
              <a:t>– A second messenger is an intracellular molecule whose concentration changes after signaling begins.</a:t>
            </a:r>
          </a:p>
          <a:p>
            <a:r>
              <a:rPr lang="en-US" sz="1200"/>
              <a:t>• Two messengers.</a:t>
            </a:r>
          </a:p>
          <a:p>
            <a:r>
              <a:rPr lang="en-US" sz="1200"/>
              <a:t>– Cyclic AMP is made by adenylyl cyclase.</a:t>
            </a:r>
          </a:p>
          <a:p>
            <a:r>
              <a:rPr lang="en-US" sz="1200"/>
              <a:t>– IP3 is produced from membrane phosphoinositides.</a:t>
            </a:r>
          </a:p>
          <a:p>
            <a:r>
              <a:rPr lang="en-US" sz="1200"/>
              <a:t>• Drugs.</a:t>
            </a:r>
          </a:p>
          <a:p>
            <a:r>
              <a:rPr lang="en-US" sz="1200"/>
              <a:t>– IBMX at 1 millimolar blocks nucleotide breakdown.</a:t>
            </a:r>
          </a:p>
          <a:p>
            <a:r>
              <a:rPr lang="en-US" sz="1200"/>
              <a:t>– Forskolin at 50 micromolar activates adenylyl cyclase.</a:t>
            </a:r>
          </a:p>
          <a:p>
            <a:r>
              <a:rPr lang="en-US" sz="1200"/>
              <a:t>• Current.</a:t>
            </a:r>
          </a:p>
          <a:p>
            <a:r>
              <a:rPr lang="en-US" sz="1200"/>
              <a:t>– Both drugs evoked outward currents in proline-inhibited neurons.</a:t>
            </a:r>
          </a:p>
          <a:p>
            <a:r>
              <a:rPr lang="en-US" sz="1200"/>
              <a:t>• Timing.</a:t>
            </a:r>
          </a:p>
          <a:p>
            <a:r>
              <a:rPr lang="en-US" sz="1200"/>
              <a:t>– Food extract raised cAMP and IP3 within approximately 50 milliseconds.</a:t>
            </a:r>
          </a:p>
          <a:p>
            <a:r>
              <a:rPr lang="en-US" sz="1200"/>
              <a:t>• Ligand preference.</a:t>
            </a:r>
          </a:p>
          <a:p>
            <a:r>
              <a:rPr lang="en-US" sz="1200"/>
              <a:t>– At 1 micromolar, taurine preferentially raised IP3.</a:t>
            </a:r>
          </a:p>
          <a:p>
            <a:r>
              <a:rPr lang="en-US" sz="1200"/>
              <a:t>– Proline preferentially raised cAMP.</a:t>
            </a:r>
          </a:p>
          <a:p>
            <a:r>
              <a:rPr lang="en-US" sz="1200"/>
              <a:t>• Saline comparison.</a:t>
            </a:r>
          </a:p>
          <a:p>
            <a:r>
              <a:rPr lang="en-US" sz="1200"/>
              <a:t>– Saline application provided a comparison for the mechanical delivery of solution.</a:t>
            </a:r>
          </a:p>
          <a:p>
            <a:r>
              <a:rPr lang="en-US" sz="1200"/>
              <a:t>• Contrasting cells.</a:t>
            </a:r>
          </a:p>
          <a:p>
            <a:r>
              <a:rPr lang="en-US" sz="1200"/>
              <a:t>– Cells excited by food extract but not inhibited by proline provided a contrasting class.</a:t>
            </a:r>
          </a:p>
          <a:p>
            <a:r>
              <a:rPr lang="en-US" sz="1200"/>
              <a:t>– The comparison helps separate a general effect from a pathway-dependent one.</a:t>
            </a:r>
          </a:p>
          <a:p>
            <a:r>
              <a:rPr lang="en-US" sz="1200"/>
              <a:t>• Link to receptor findings.</a:t>
            </a:r>
          </a:p>
          <a:p>
            <a:r>
              <a:rPr lang="en-US" sz="1200"/>
              <a:t>– Earlier biochemical findings on cyclic nucleotides and recent findings on IR expression address different levels.</a:t>
            </a:r>
          </a:p>
          <a:p>
            <a:r>
              <a:rPr lang="en-US" sz="1200"/>
              <a:t>– Both are evaluated together.</a:t>
            </a:r>
          </a:p>
          <a:p>
            <a:r>
              <a:rPr lang="en-US" sz="1200"/>
              <a:t>– No single experiment covers the whole pathway from receptor to current.</a:t>
            </a:r>
          </a:p>
          <a:p>
            <a:r>
              <a:rPr lang="en-US" sz="1200"/>
              <a:t/>
            </a:r>
          </a:p>
          <a:p>
            <a:r>
              <a:rPr lang="en-US" sz="1200"/>
              <a:t>References:</a:t>
            </a:r>
          </a:p>
          <a:p>
            <a:r>
              <a:rPr lang="en-US" sz="1200"/>
              <a:t>Michel WC, Ache BW (1992). Cyclic nucleotides mediate an odor-evoked potassium conductance in lobster olfactory receptor cells. The Journal of Neuroscience 12(10):3979-3984. https://doi.org/10.1523/jneurosci.12-10-03979.1992</a:t>
            </a:r>
          </a:p>
          <a:p>
            <a:r>
              <a:rPr lang="en-US" sz="1200"/>
              <a:t>Boekhoff I, Michel WC, Breer H, Ache BW (1994). Single odors differentially stimulate dual second messenger pathways in lobster olfactory receptor cells. The Journal of Neuroscience 14(5):3304-3309. https://doi.org/10.1523/jneurosci.14-05-03304.1994</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Patch recording gives direct access to the electrical response of a receptor neuron.</a:t>
            </a:r>
          </a:p>
          <a:p>
            <a:r>
              <a:rPr lang="en-US" sz="1200"/>
              <a:t>• Whole-cell recording.</a:t>
            </a:r>
          </a:p>
          <a:p>
            <a:r>
              <a:rPr lang="en-US" sz="1200"/>
              <a:t>– A glass pipette gains electrical access to the neuron.</a:t>
            </a:r>
          </a:p>
          <a:p>
            <a:r>
              <a:rPr lang="en-US" sz="1200"/>
              <a:t>– Membrane voltage or current is measured directly.</a:t>
            </a:r>
          </a:p>
          <a:p>
            <a:r>
              <a:rPr lang="en-US" sz="1200"/>
              <a:t>• Voltage clamp.</a:t>
            </a:r>
          </a:p>
          <a:p>
            <a:r>
              <a:rPr lang="en-US" sz="1200"/>
              <a:t>– The membrane is held at a fixed voltage.</a:t>
            </a:r>
          </a:p>
          <a:p>
            <a:r>
              <a:rPr lang="en-US" sz="1200"/>
              <a:t>– The current that flows is the measured quantity.</a:t>
            </a:r>
          </a:p>
          <a:p>
            <a:r>
              <a:rPr lang="en-US" sz="1200"/>
              <a:t>• Loose patch.</a:t>
            </a:r>
          </a:p>
          <a:p>
            <a:r>
              <a:rPr lang="en-US" sz="1200"/>
              <a:t>– Loose-patch recordings monitored spikes.</a:t>
            </a:r>
          </a:p>
          <a:p>
            <a:r>
              <a:rPr lang="en-US" sz="1200"/>
              <a:t>• Preparation.</a:t>
            </a:r>
          </a:p>
          <a:p>
            <a:r>
              <a:rPr lang="en-US" sz="1200"/>
              <a:t>– A semi-intact antennular preparation exposed the outer dendrites to odor.</a:t>
            </a:r>
          </a:p>
          <a:p>
            <a:r>
              <a:rPr lang="en-US" sz="1200"/>
              <a:t>– The cell bodies stayed accessible to electrodes.</a:t>
            </a:r>
          </a:p>
          <a:p>
            <a:r>
              <a:rPr lang="en-US" sz="1200"/>
              <a:t>• Holding voltage.</a:t>
            </a:r>
          </a:p>
          <a:p>
            <a:r>
              <a:rPr lang="en-US" sz="1200"/>
              <a:t>– Recordings were made near minus 70 to minus 60 millivolts.</a:t>
            </a:r>
          </a:p>
          <a:p>
            <a:r>
              <a:rPr lang="en-US" sz="1200"/>
              <a:t>• Meaning.</a:t>
            </a:r>
          </a:p>
          <a:p>
            <a:r>
              <a:rPr lang="en-US" sz="1200"/>
              <a:t>– Current direction separates excitation from inhibition, and a tracer shows when the odor arrived.</a:t>
            </a:r>
          </a:p>
          <a:p>
            <a:r>
              <a:rPr lang="en-US" sz="1200"/>
              <a:t>• Separate compartments.</a:t>
            </a:r>
          </a:p>
          <a:p>
            <a:r>
              <a:rPr lang="en-US" sz="1200"/>
              <a:t>– Separate fluid compartments limited direct stimulation of the somata.</a:t>
            </a:r>
          </a:p>
          <a:p>
            <a:r>
              <a:rPr lang="en-US" sz="1200"/>
              <a:t>– Odor reached the sensory surface and electrodes reached the cell bodies.</a:t>
            </a:r>
          </a:p>
          <a:p>
            <a:r>
              <a:rPr lang="en-US" sz="1200"/>
              <a:t>• Stimulus.</a:t>
            </a:r>
          </a:p>
          <a:p>
            <a:r>
              <a:rPr lang="en-US" sz="1200"/>
              <a:t>– Food extract was tested at concentrations up to 0.5 milligrams per milliliter.</a:t>
            </a:r>
          </a:p>
          <a:p>
            <a:r>
              <a:rPr lang="en-US" sz="1200"/>
              <a:t>– A fluorescent tracer characterized the timing of delivery.</a:t>
            </a:r>
          </a:p>
          <a:p>
            <a:r>
              <a:rPr lang="en-US" sz="1200"/>
              <a:t>• Why delivery matters.</a:t>
            </a:r>
          </a:p>
          <a:p>
            <a:r>
              <a:rPr lang="en-US" sz="1200"/>
              <a:t>– Increasing pulse duration increased the effective delivered stimulus.</a:t>
            </a:r>
          </a:p>
          <a:p>
            <a:r>
              <a:rPr lang="en-US" sz="1200"/>
              <a:t>– Concentration and duration therefore affect the response together.</a:t>
            </a:r>
          </a:p>
          <a:p>
            <a:r>
              <a:rPr lang="en-US" sz="1200"/>
              <a:t>– The measured delivery waveform is the correct description of the stimulus.</a:t>
            </a:r>
          </a:p>
          <a:p>
            <a:r>
              <a:rPr lang="en-US" sz="1200"/>
              <a:t/>
            </a:r>
          </a:p>
          <a:p>
            <a:r>
              <a:rPr lang="en-US" sz="1200"/>
              <a:t>References:</a:t>
            </a:r>
          </a:p>
          <a:p>
            <a:r>
              <a:rPr lang="en-US" sz="1200"/>
              <a:t>Bobkov Y, Park I, Ukhanov K, Principe J, Ache B (2012). Cellular Basis for Response Diversity in the Olfactory Periphery. PLoS ONE 7(4):e34843. https://doi.org/10.1371/journal.pone.0034843</a:t>
            </a:r>
          </a:p>
          <a:p>
            <a:r>
              <a:rPr lang="en-US" sz="1200"/>
              <a:t>Corey EA, Bobkov Y, Ukhanov K, Ache BW (2013). Ionotropic Crustacean Olfactory Receptors. PLoS ONE 8(4):e60551. https://doi.org/10.1371/journal.pone.0060551</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Calcium imaging reads out many cells in parallel.</a:t>
            </a:r>
          </a:p>
          <a:p>
            <a:r>
              <a:rPr lang="en-US" sz="1200"/>
              <a:t>• Method.</a:t>
            </a:r>
          </a:p>
          <a:p>
            <a:r>
              <a:rPr lang="en-US" sz="1200"/>
              <a:t>– Cells are loaded with a calcium-sensitive dye.</a:t>
            </a:r>
          </a:p>
          <a:p>
            <a:r>
              <a:rPr lang="en-US" sz="1200"/>
              <a:t>– Fluorescence changes as intracellular calcium changes.</a:t>
            </a:r>
          </a:p>
          <a:p>
            <a:r>
              <a:rPr lang="en-US" sz="1200"/>
              <a:t>• Advantage.</a:t>
            </a:r>
          </a:p>
          <a:p>
            <a:r>
              <a:rPr lang="en-US" sz="1200"/>
              <a:t>– Many cells can be monitored at once.</a:t>
            </a:r>
          </a:p>
          <a:p>
            <a:r>
              <a:rPr lang="en-US" sz="1200"/>
              <a:t>– It complements recordings from one neuron at a time.</a:t>
            </a:r>
          </a:p>
          <a:p>
            <a:r>
              <a:rPr lang="en-US" sz="1200"/>
              <a:t>• Stimuli.</a:t>
            </a:r>
          </a:p>
          <a:p>
            <a:r>
              <a:rPr lang="en-US" sz="1200"/>
              <a:t>– The panel included food extract.</a:t>
            </a:r>
          </a:p>
          <a:p>
            <a:r>
              <a:rPr lang="en-US" sz="1200"/>
              <a:t>– Arginine and glutamate were tested at 1 millimolar.</a:t>
            </a:r>
          </a:p>
          <a:p>
            <a:r>
              <a:rPr lang="en-US" sz="1200"/>
              <a:t>• Heterogeneity.</a:t>
            </a:r>
          </a:p>
          <a:p>
            <a:r>
              <a:rPr lang="en-US" sz="1200"/>
              <a:t>– Neighboring cells showed different response profiles.</a:t>
            </a:r>
          </a:p>
          <a:p>
            <a:r>
              <a:rPr lang="en-US" sz="1200"/>
              <a:t>• Heat map.</a:t>
            </a:r>
          </a:p>
          <a:p>
            <a:r>
              <a:rPr lang="en-US" sz="1200"/>
              <a:t>– The published heat map gives each cell its own profile across the panel.</a:t>
            </a:r>
          </a:p>
          <a:p>
            <a:r>
              <a:rPr lang="en-US" sz="1200"/>
              <a:t>• Meaning.</a:t>
            </a:r>
          </a:p>
          <a:p>
            <a:r>
              <a:rPr lang="en-US" sz="1200"/>
              <a:t>– Cells with common IR components still differ in what they detect.</a:t>
            </a:r>
          </a:p>
          <a:p>
            <a:r>
              <a:rPr lang="en-US" sz="1200"/>
              <a:t>• Dye loading.</a:t>
            </a:r>
          </a:p>
          <a:p>
            <a:r>
              <a:rPr lang="en-US" sz="1200"/>
              <a:t>– Clusters of sensory cells were loaded with the dye before stimulation.</a:t>
            </a:r>
          </a:p>
          <a:p>
            <a:r>
              <a:rPr lang="en-US" sz="1200"/>
              <a:t>• Panel design.</a:t>
            </a:r>
          </a:p>
          <a:p>
            <a:r>
              <a:rPr lang="en-US" sz="1200"/>
              <a:t>– A panel of different stimuli allows each cell to be given a response profile.</a:t>
            </a:r>
          </a:p>
          <a:p>
            <a:r>
              <a:rPr lang="en-US" sz="1200"/>
              <a:t>– Cells that respond to the same stimuli have similar profiles.</a:t>
            </a:r>
          </a:p>
          <a:p>
            <a:r>
              <a:rPr lang="en-US" sz="1200"/>
              <a:t>• Reading fluorescence.</a:t>
            </a:r>
          </a:p>
          <a:p>
            <a:r>
              <a:rPr lang="en-US" sz="1200"/>
              <a:t>– Brighter fluorescence indicates higher intracellular calcium.</a:t>
            </a:r>
          </a:p>
          <a:p>
            <a:r>
              <a:rPr lang="en-US" sz="1200"/>
              <a:t>– The change over time after a stimulus defines a response.</a:t>
            </a:r>
          </a:p>
          <a:p>
            <a:r>
              <a:rPr lang="en-US" sz="1200"/>
              <a:t>– Cells that change for one stimulus and not another are selective.</a:t>
            </a:r>
          </a:p>
          <a:p>
            <a:r>
              <a:rPr lang="en-US" sz="1200"/>
              <a:t/>
            </a:r>
          </a:p>
          <a:p>
            <a:r>
              <a:rPr lang="en-US" sz="1200"/>
              <a:t>References:</a:t>
            </a:r>
          </a:p>
          <a:p>
            <a:r>
              <a:rPr lang="en-US" sz="1200"/>
              <a:t>Corey EA, Bobkov Y, Ukhanov K, Ache BW (2013). Ionotropic Crustacean Olfactory Receptors. PLoS ONE 8(4):e60551. https://doi.org/10.1371/journal.pone.0060551</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In situ hybridization shows which cells carry a given RNA.</a:t>
            </a:r>
          </a:p>
          <a:p>
            <a:r>
              <a:rPr lang="en-US" sz="1200"/>
              <a:t>• Method.</a:t>
            </a:r>
          </a:p>
          <a:p>
            <a:r>
              <a:rPr lang="en-US" sz="1200"/>
              <a:t>– A labeled probe base-pairs with a complementary RNA sequence.</a:t>
            </a:r>
          </a:p>
          <a:p>
            <a:r>
              <a:rPr lang="en-US" sz="1200"/>
              <a:t>– The label marks the cells that contain the RNA.</a:t>
            </a:r>
          </a:p>
          <a:p>
            <a:r>
              <a:rPr lang="en-US" sz="1200"/>
              <a:t>• Controls.</a:t>
            </a:r>
          </a:p>
          <a:p>
            <a:r>
              <a:rPr lang="en-US" sz="1200"/>
              <a:t>– Antisense probes detect the target RNA.</a:t>
            </a:r>
          </a:p>
          <a:p>
            <a:r>
              <a:rPr lang="en-US" sz="1200"/>
              <a:t>– Sense probes supply a negative control for nonspecific staining.</a:t>
            </a:r>
          </a:p>
          <a:p>
            <a:r>
              <a:rPr lang="en-US" sz="1200"/>
              <a:t>• Candidates.</a:t>
            </a:r>
          </a:p>
          <a:p>
            <a:r>
              <a:rPr lang="en-US" sz="1200"/>
              <a:t>– Ionotropic receptors are related to ionotropic glutamate receptors.</a:t>
            </a:r>
          </a:p>
          <a:p>
            <a:r>
              <a:rPr lang="en-US" sz="1200"/>
              <a:t>– Candidate sequences were identified in Panulirus olfactory tissue.</a:t>
            </a:r>
          </a:p>
          <a:p>
            <a:r>
              <a:rPr lang="en-US" sz="1200"/>
              <a:t>• Broad signals.</a:t>
            </a:r>
          </a:p>
          <a:p>
            <a:r>
              <a:rPr lang="en-US" sz="1200"/>
              <a:t>– IR25a and IR93a occurred broadly in olfactory receptor neurons.</a:t>
            </a:r>
          </a:p>
          <a:p>
            <a:r>
              <a:rPr lang="en-US" sz="1200"/>
              <a:t>• Restricted signals.</a:t>
            </a:r>
          </a:p>
          <a:p>
            <a:r>
              <a:rPr lang="en-US" sz="1200"/>
              <a:t>– IR8a and another candidate showed more restricted expression.</a:t>
            </a:r>
          </a:p>
          <a:p>
            <a:r>
              <a:rPr lang="en-US" sz="1200"/>
              <a:t>• Meaning.</a:t>
            </a:r>
          </a:p>
          <a:p>
            <a:r>
              <a:rPr lang="en-US" sz="1200"/>
              <a:t>– Common components appear alongside more variable receptor populations.</a:t>
            </a:r>
          </a:p>
          <a:p>
            <a:r>
              <a:rPr lang="en-US" sz="1200"/>
              <a:t>• Candidates.</a:t>
            </a:r>
          </a:p>
          <a:p>
            <a:r>
              <a:rPr lang="en-US" sz="1200"/>
              <a:t>– Candidate sequences were identified before the probes were made.</a:t>
            </a:r>
          </a:p>
          <a:p>
            <a:r>
              <a:rPr lang="en-US" sz="1200"/>
              <a:t>– The probes were designed to match these sequences.</a:t>
            </a:r>
          </a:p>
          <a:p>
            <a:r>
              <a:rPr lang="en-US" sz="1200"/>
              <a:t>• Cell location.</a:t>
            </a:r>
          </a:p>
          <a:p>
            <a:r>
              <a:rPr lang="en-US" sz="1200"/>
              <a:t>– Staining occurred within sensory cells and not in surrounding tissue.</a:t>
            </a:r>
          </a:p>
          <a:p>
            <a:r>
              <a:rPr lang="en-US" sz="1200"/>
              <a:t>• Why probes need controls.</a:t>
            </a:r>
          </a:p>
          <a:p>
            <a:r>
              <a:rPr lang="en-US" sz="1200"/>
              <a:t>– Probes can stick to tissue without matching a target.</a:t>
            </a:r>
          </a:p>
          <a:p>
            <a:r>
              <a:rPr lang="en-US" sz="1200"/>
              <a:t>– The sense probe has the same sequence as the RNA and cannot pair with it.</a:t>
            </a:r>
          </a:p>
          <a:p>
            <a:r>
              <a:rPr lang="en-US" sz="1200"/>
              <a:t>– Staining with the sense probe would reveal nonspecific labeling.</a:t>
            </a:r>
          </a:p>
          <a:p>
            <a:r>
              <a:rPr lang="en-US" sz="1200"/>
              <a:t/>
            </a:r>
          </a:p>
          <a:p>
            <a:r>
              <a:rPr lang="en-US" sz="1200"/>
              <a:t>References:</a:t>
            </a:r>
          </a:p>
          <a:p>
            <a:r>
              <a:rPr lang="en-US" sz="1200"/>
              <a:t>Corey EA, Bobkov Y, Ukhanov K, Ache BW (2013). Ionotropic Crustacean Olfactory Receptors. PLoS ONE 8(4):e60551. https://doi.org/10.1371/journal.pone.0060551</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Diffusion is the last step of odor delivery to a hair.</a:t>
            </a:r>
          </a:p>
          <a:p>
            <a:r>
              <a:rPr lang="en-US" sz="1200"/>
              <a:t>• Definition.</a:t>
            </a:r>
          </a:p>
          <a:p>
            <a:r>
              <a:rPr lang="en-US" sz="1200"/>
              <a:t>– Diffusion is the spread of molecules through random motion.</a:t>
            </a:r>
          </a:p>
          <a:p>
            <a:r>
              <a:rPr lang="en-US" sz="1200"/>
              <a:t>– It occurs without bulk flow of the water.</a:t>
            </a:r>
          </a:p>
          <a:p>
            <a:r>
              <a:rPr lang="en-US" sz="1200"/>
              <a:t>• Retained water.</a:t>
            </a:r>
          </a:p>
          <a:p>
            <a:r>
              <a:rPr lang="en-US" sz="1200"/>
              <a:t>– The slow return keeps a sample near the aesthetasc surfaces.</a:t>
            </a:r>
          </a:p>
          <a:p>
            <a:r>
              <a:rPr lang="en-US" sz="1200"/>
              <a:t>• Speeds.</a:t>
            </a:r>
          </a:p>
          <a:p>
            <a:r>
              <a:rPr lang="en-US" sz="1200"/>
              <a:t>– Return motion was approximately one-quarter of downstroke speed.</a:t>
            </a:r>
          </a:p>
          <a:p>
            <a:r>
              <a:rPr lang="en-US" sz="1200"/>
              <a:t>– Water between hairs moved about 25 times more slowly.</a:t>
            </a:r>
          </a:p>
          <a:p>
            <a:r>
              <a:rPr lang="en-US" sz="1200"/>
              <a:t>• Diffusion distance.</a:t>
            </a:r>
          </a:p>
          <a:p>
            <a:r>
              <a:rPr lang="en-US" sz="1200"/>
              <a:t>– The authors estimated that diffusion over 0.5 seconds could span about 32 micrometers.</a:t>
            </a:r>
          </a:p>
          <a:p>
            <a:r>
              <a:rPr lang="en-US" sz="1200"/>
              <a:t>– Aesthetasc spacing was about 60 micrometers.</a:t>
            </a:r>
          </a:p>
          <a:p>
            <a:r>
              <a:rPr lang="en-US" sz="1200"/>
              <a:t>• Calculation.</a:t>
            </a:r>
          </a:p>
          <a:p>
            <a:r>
              <a:rPr lang="en-US" sz="1200"/>
              <a:t>– The estimate is a physical calculation and not a measured uptake by neurons.</a:t>
            </a:r>
          </a:p>
          <a:p>
            <a:r>
              <a:rPr lang="en-US" sz="1200"/>
              <a:t>• Meaning.</a:t>
            </a:r>
          </a:p>
          <a:p>
            <a:r>
              <a:rPr lang="en-US" sz="1200"/>
              <a:t>– Slow water gives molecules time to arrive at the sensory dendrites.</a:t>
            </a:r>
          </a:p>
          <a:p>
            <a:r>
              <a:rPr lang="en-US" sz="1200"/>
              <a:t>• Leakiness.</a:t>
            </a:r>
          </a:p>
          <a:p>
            <a:r>
              <a:rPr lang="en-US" sz="1200"/>
              <a:t>– Leakiness describes how much water passes through the array and not around it.</a:t>
            </a:r>
          </a:p>
          <a:p>
            <a:r>
              <a:rPr lang="en-US" sz="1200"/>
              <a:t>– The slow return reduced penetration.</a:t>
            </a:r>
          </a:p>
          <a:p>
            <a:r>
              <a:rPr lang="en-US" sz="1200"/>
              <a:t>• Nonlinear change.</a:t>
            </a:r>
          </a:p>
          <a:p>
            <a:r>
              <a:rPr lang="en-US" sz="1200"/>
              <a:t>– A fourfold change in appendage speed produced a 25-fold change in speed between hairs.</a:t>
            </a:r>
          </a:p>
          <a:p>
            <a:r>
              <a:rPr lang="en-US" sz="1200"/>
              <a:t>– Array permeability therefore depends strongly on speed.</a:t>
            </a:r>
          </a:p>
          <a:p>
            <a:r>
              <a:rPr lang="en-US" sz="1200"/>
              <a:t>• Retention.</a:t>
            </a:r>
          </a:p>
          <a:p>
            <a:r>
              <a:rPr lang="en-US" sz="1200"/>
              <a:t>– Water captured during the downstroke stays between hairs while the surrounding plume continues to move.</a:t>
            </a:r>
          </a:p>
          <a:p>
            <a:r>
              <a:rPr lang="en-US" sz="1200"/>
              <a:t>– The antennule therefore holds a sample of plume water during the slow return.</a:t>
            </a:r>
          </a:p>
          <a:p>
            <a:r>
              <a:rPr lang="en-US" sz="1200"/>
              <a:t>– A later downstroke replaces that sample with new water.</a:t>
            </a:r>
          </a:p>
          <a:p>
            <a:r>
              <a:rPr lang="en-US" sz="1200"/>
              <a:t/>
            </a:r>
          </a:p>
          <a:p>
            <a:r>
              <a:rPr lang="en-US" sz="1200"/>
              <a:t>References:</a:t>
            </a:r>
          </a:p>
          <a:p>
            <a:r>
              <a:rPr lang="en-US" sz="1200"/>
              <a:t>Reidenbach MA, George NT, Koehl MAR (2008). Antennule morphology and flicking kinematics facilitate odor sampling by the spiny lobster, Panulirus argus. Journal of Experimental Biology 211(17):2849-2858. https://doi.org/10.1242/jeb.016394</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Reynolds number explains why a hair array can sniff.</a:t>
            </a:r>
          </a:p>
          <a:p>
            <a:r>
              <a:rPr lang="en-US" sz="1200"/>
              <a:t>• Definition.</a:t>
            </a:r>
          </a:p>
          <a:p>
            <a:r>
              <a:rPr lang="en-US" sz="1200"/>
              <a:t>– The Reynolds number is the ratio of inertial to viscous forces.</a:t>
            </a:r>
          </a:p>
          <a:p>
            <a:r>
              <a:rPr lang="en-US" sz="1200"/>
              <a:t>– Viscosity dominates at low values.</a:t>
            </a:r>
          </a:p>
          <a:p>
            <a:r>
              <a:rPr lang="en-US" sz="1200"/>
              <a:t>• Scaled model.</a:t>
            </a:r>
          </a:p>
          <a:p>
            <a:r>
              <a:rPr lang="en-US" sz="1200"/>
              <a:t>– Glass-rod hair arrays in mineral oil were enlarged.</a:t>
            </a:r>
          </a:p>
          <a:p>
            <a:r>
              <a:rPr lang="en-US" sz="1200"/>
              <a:t>– The Reynolds number was matched to the real organ.</a:t>
            </a:r>
          </a:p>
          <a:p>
            <a:r>
              <a:rPr lang="en-US" sz="1200"/>
              <a:t>• Downstroke.</a:t>
            </a:r>
          </a:p>
          <a:p>
            <a:r>
              <a:rPr lang="en-US" sz="1200"/>
              <a:t>– The aesthetasc Reynolds number was near 2 during the fast downstroke.</a:t>
            </a:r>
          </a:p>
          <a:p>
            <a:r>
              <a:rPr lang="en-US" sz="1200"/>
              <a:t>– Water penetrated the gaps and replaced the retained sample.</a:t>
            </a:r>
          </a:p>
          <a:p>
            <a:r>
              <a:rPr lang="en-US" sz="1200"/>
              <a:t>• Return.</a:t>
            </a:r>
          </a:p>
          <a:p>
            <a:r>
              <a:rPr lang="en-US" sz="1200"/>
              <a:t>– The value was about 0.5 during the slower return.</a:t>
            </a:r>
          </a:p>
          <a:p>
            <a:r>
              <a:rPr lang="en-US" sz="1200"/>
              <a:t>– Leakiness decreased and the sample was held.</a:t>
            </a:r>
          </a:p>
          <a:p>
            <a:r>
              <a:rPr lang="en-US" sz="1200"/>
              <a:t>• Measurement.</a:t>
            </a:r>
          </a:p>
          <a:p>
            <a:r>
              <a:rPr lang="en-US" sz="1200"/>
              <a:t>– Separate high-speed recordings estimated the movement of the animal.</a:t>
            </a:r>
          </a:p>
          <a:p>
            <a:r>
              <a:rPr lang="en-US" sz="1200"/>
              <a:t>• Meaning.</a:t>
            </a:r>
          </a:p>
          <a:p>
            <a:r>
              <a:rPr lang="en-US" sz="1200"/>
              <a:t>– Matching the Reynolds number allows an enlarged model to reproduce the balance of fluid forces in the real hairs.</a:t>
            </a:r>
          </a:p>
          <a:p>
            <a:r>
              <a:rPr lang="en-US" sz="1200"/>
              <a:t>• Where the number comes from.</a:t>
            </a:r>
          </a:p>
          <a:p>
            <a:r>
              <a:rPr lang="en-US" sz="1200"/>
              <a:t>– It depends on the size of the hairs, their speed and the viscosity of the fluid.</a:t>
            </a:r>
          </a:p>
          <a:p>
            <a:r>
              <a:rPr lang="en-US" sz="1200"/>
              <a:t>• Why a model works.</a:t>
            </a:r>
          </a:p>
          <a:p>
            <a:r>
              <a:rPr lang="en-US" sz="1200"/>
              <a:t>– A larger structure moving in a thicker fluid can have the same Reynolds number as a small structure in water.</a:t>
            </a:r>
          </a:p>
          <a:p>
            <a:r>
              <a:rPr lang="en-US" sz="1200"/>
              <a:t>– The balance of forces is then the same.</a:t>
            </a:r>
          </a:p>
          <a:p>
            <a:r>
              <a:rPr lang="en-US" sz="1200"/>
              <a:t/>
            </a:r>
          </a:p>
          <a:p>
            <a:r>
              <a:rPr lang="en-US" sz="1200"/>
              <a:t>References:</a:t>
            </a:r>
          </a:p>
          <a:p>
            <a:r>
              <a:rPr lang="en-US" sz="1200"/>
              <a:t>Reidenbach MA, George NT, Koehl MAR (2008). Antennule morphology and flicking kinematics facilitate odor sampling by the spiny lobster, Panulirus argus. Journal of Experimental Biology 211(17):2849-2858. https://doi.org/10.1242/jeb.016394</a:t>
            </a:r>
          </a:p>
          <a:p>
            <a:r>
              <a:rPr lang="en-US" sz="1200"/>
              <a:t>Goldman JA, Koehl MAR (2001). Fluid Dynamic Design of Lobster Olfactory Organs: High Speed Kinematic Analysis of Antennule Flicking by Panulirus argus. Chemical Senses 26(4):385-398. https://doi.org/10.1093/chemse/26.4.385</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Intermittency describes odor as a sequence of encounters and gaps.</a:t>
            </a:r>
          </a:p>
          <a:p>
            <a:r>
              <a:rPr lang="en-US" sz="1200"/>
              <a:t>• Definition.</a:t>
            </a:r>
          </a:p>
          <a:p>
            <a:r>
              <a:rPr lang="en-US" sz="1200"/>
              <a:t>– Intermittency is the temporal discontinuity of odor.</a:t>
            </a:r>
          </a:p>
          <a:p>
            <a:r>
              <a:rPr lang="en-US" sz="1200"/>
              <a:t>– Concentration crosses a detection threshold in brief filaments.</a:t>
            </a:r>
          </a:p>
          <a:p>
            <a:r>
              <a:rPr lang="en-US" sz="1200"/>
              <a:t>• Odor-free gap.</a:t>
            </a:r>
          </a:p>
          <a:p>
            <a:r>
              <a:rPr lang="en-US" sz="1200"/>
              <a:t>– A gap is an interval without an encounter above the threshold.</a:t>
            </a:r>
          </a:p>
          <a:p>
            <a:r>
              <a:rPr lang="en-US" sz="1200"/>
              <a:t>• Continuous measurement.</a:t>
            </a:r>
          </a:p>
          <a:p>
            <a:r>
              <a:rPr lang="en-US" sz="1200"/>
              <a:t>– Almost all gaps in the continuous record were shorter than 500 milliseconds.</a:t>
            </a:r>
          </a:p>
          <a:p>
            <a:r>
              <a:rPr lang="en-US" sz="1200"/>
              <a:t>• Flicking antennules.</a:t>
            </a:r>
          </a:p>
          <a:p>
            <a:r>
              <a:rPr lang="en-US" sz="1200"/>
              <a:t>– Virtual flicking antennules experienced longer gaps.</a:t>
            </a:r>
          </a:p>
          <a:p>
            <a:r>
              <a:rPr lang="en-US" sz="1200"/>
              <a:t>– Gaps increased as distance to the source decreased.</a:t>
            </a:r>
          </a:p>
          <a:p>
            <a:r>
              <a:rPr lang="en-US" sz="1200"/>
              <a:t>• Dependence.</a:t>
            </a:r>
          </a:p>
          <a:p>
            <a:r>
              <a:rPr lang="en-US" sz="1200"/>
              <a:t>– The result depends on plume transport, threshold and flicking geometry.</a:t>
            </a:r>
          </a:p>
          <a:p>
            <a:r>
              <a:rPr lang="en-US" sz="1200"/>
              <a:t>• Meaning.</a:t>
            </a:r>
          </a:p>
          <a:p>
            <a:r>
              <a:rPr lang="en-US" sz="1200"/>
              <a:t>– Sampling schedule alters the input statistics before neural processing.</a:t>
            </a:r>
          </a:p>
          <a:p>
            <a:r>
              <a:rPr lang="en-US" sz="1200"/>
              <a:t>– Encounter frequency is not a universal distance ruler.</a:t>
            </a:r>
          </a:p>
          <a:p>
            <a:r>
              <a:rPr lang="en-US" sz="1200"/>
              <a:t>• Threshold.</a:t>
            </a:r>
          </a:p>
          <a:p>
            <a:r>
              <a:rPr lang="en-US" sz="1200"/>
              <a:t>– An encounter is counted when concentration exceeds the chosen threshold.</a:t>
            </a:r>
          </a:p>
          <a:p>
            <a:r>
              <a:rPr lang="en-US" sz="1200"/>
              <a:t>– A different threshold changes which gaps are counted.</a:t>
            </a:r>
          </a:p>
          <a:p>
            <a:r>
              <a:rPr lang="en-US" sz="1200"/>
              <a:t>• Virtual sampling.</a:t>
            </a:r>
          </a:p>
          <a:p>
            <a:r>
              <a:rPr lang="en-US" sz="1200"/>
              <a:t>– The flicking antennules were virtual sampling lines placed in measured images.</a:t>
            </a:r>
          </a:p>
          <a:p>
            <a:r>
              <a:rPr lang="en-US" sz="1200"/>
              <a:t>– They were compared with continuous measurements at the same positions.</a:t>
            </a:r>
          </a:p>
          <a:p>
            <a:r>
              <a:rPr lang="en-US" sz="1200"/>
              <a:t>• Timing cue.</a:t>
            </a:r>
          </a:p>
          <a:p>
            <a:r>
              <a:rPr lang="en-US" sz="1200"/>
              <a:t>– Gap length depends on where the animal samples, on its sampling schedule and on the plume.</a:t>
            </a:r>
          </a:p>
          <a:p>
            <a:r>
              <a:rPr lang="en-US" sz="1200"/>
              <a:t>– It is a cue that arises from physical transport and sampling together.</a:t>
            </a:r>
          </a:p>
          <a:p>
            <a:r>
              <a:rPr lang="en-US" sz="1200"/>
              <a:t>– Sampling schedule altered the input before any neuron responded.</a:t>
            </a:r>
          </a:p>
          <a:p>
            <a:r>
              <a:rPr lang="en-US" sz="1200"/>
              <a:t/>
            </a:r>
          </a:p>
          <a:p>
            <a:r>
              <a:rPr lang="en-US" sz="1200"/>
              <a:t>References:</a:t>
            </a:r>
          </a:p>
          <a:p>
            <a:r>
              <a:rPr lang="en-US" sz="1200"/>
              <a:t>Reidenbach MA, Koehl MAR (2011). The spatial and temporal patterns of odors sampled by lobsters and crabs in a turbulent plume. Journal of Experimental Biology 214(18):3138–3153. https://doi.org/10.1242/jeb.057547</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PLIF makes the structure of a plume visible.</a:t>
            </a:r>
          </a:p>
          <a:p>
            <a:r>
              <a:rPr lang="en-US" sz="1200"/>
              <a:t>• Method.</a:t>
            </a:r>
          </a:p>
          <a:p>
            <a:r>
              <a:rPr lang="en-US" sz="1200"/>
              <a:t>– A thin laser sheet excites fluorescent dye dissolved in the water.</a:t>
            </a:r>
          </a:p>
          <a:p>
            <a:r>
              <a:rPr lang="en-US" sz="1200"/>
              <a:t>– The dye glows only in the illuminated plane.</a:t>
            </a:r>
          </a:p>
          <a:p>
            <a:r>
              <a:rPr lang="en-US" sz="1200"/>
              <a:t>• Calibration.</a:t>
            </a:r>
          </a:p>
          <a:p>
            <a:r>
              <a:rPr lang="en-US" sz="1200"/>
              <a:t>– A calibrated camera converts brightness into an estimate of local concentration.</a:t>
            </a:r>
          </a:p>
          <a:p>
            <a:r>
              <a:rPr lang="en-US" sz="1200"/>
              <a:t>• Flume.</a:t>
            </a:r>
          </a:p>
          <a:p>
            <a:r>
              <a:rPr lang="en-US" sz="1200"/>
              <a:t>– The flume was 25 meters long.</a:t>
            </a:r>
          </a:p>
          <a:p>
            <a:r>
              <a:rPr lang="en-US" sz="1200"/>
              <a:t>– Turbulence produced fine odor filaments separated by cleaner water.</a:t>
            </a:r>
          </a:p>
          <a:p>
            <a:r>
              <a:rPr lang="en-US" sz="1200"/>
              <a:t>• Time resolution.</a:t>
            </a:r>
          </a:p>
          <a:p>
            <a:r>
              <a:rPr lang="en-US" sz="1200"/>
              <a:t>– Images were recorded at 60 frames per second.</a:t>
            </a:r>
          </a:p>
          <a:p>
            <a:r>
              <a:rPr lang="en-US" sz="1200"/>
              <a:t>– Each frame is separated by 16.7 milliseconds.</a:t>
            </a:r>
          </a:p>
          <a:p>
            <a:r>
              <a:rPr lang="en-US" sz="1200"/>
              <a:t>• Spatial pattern.</a:t>
            </a:r>
          </a:p>
          <a:p>
            <a:r>
              <a:rPr lang="en-US" sz="1200"/>
              <a:t>– Measurements at different lateral positions showed a denser central plume.</a:t>
            </a:r>
          </a:p>
          <a:p>
            <a:r>
              <a:rPr lang="en-US" sz="1200"/>
              <a:t>– Encounters were sparser toward the edge.</a:t>
            </a:r>
          </a:p>
          <a:p>
            <a:r>
              <a:rPr lang="en-US" sz="1200"/>
              <a:t>• Meaning.</a:t>
            </a:r>
          </a:p>
          <a:p>
            <a:r>
              <a:rPr lang="en-US" sz="1200"/>
              <a:t>– A series of frames reproduces the encounters and gaps that a sensory surface would meet.</a:t>
            </a:r>
          </a:p>
          <a:p>
            <a:r>
              <a:rPr lang="en-US" sz="1200"/>
              <a:t>• Why dye.</a:t>
            </a:r>
          </a:p>
          <a:p>
            <a:r>
              <a:rPr lang="en-US" sz="1200"/>
              <a:t>– Dye follows the water, so its brightness maps where odor-bearing water travels.</a:t>
            </a:r>
          </a:p>
          <a:p>
            <a:r>
              <a:rPr lang="en-US" sz="1200"/>
              <a:t>– Dissolved dye acts as a transport tracer.</a:t>
            </a:r>
          </a:p>
          <a:p>
            <a:r>
              <a:rPr lang="en-US" sz="1200"/>
              <a:t>• Lateral positions.</a:t>
            </a:r>
          </a:p>
          <a:p>
            <a:r>
              <a:rPr lang="en-US" sz="1200"/>
              <a:t>– Measurements were made at several lateral positions across the plume.</a:t>
            </a:r>
          </a:p>
          <a:p>
            <a:r>
              <a:rPr lang="en-US" sz="1200"/>
              <a:t>– The center was denser than the edge.</a:t>
            </a:r>
          </a:p>
          <a:p>
            <a:r>
              <a:rPr lang="en-US" sz="1200"/>
              <a:t>• Resolution.</a:t>
            </a:r>
          </a:p>
          <a:p>
            <a:r>
              <a:rPr lang="en-US" sz="1200"/>
              <a:t>– Sixty frames per second resolves filaments that pass in tens of milliseconds.</a:t>
            </a:r>
          </a:p>
          <a:p>
            <a:r>
              <a:rPr lang="en-US" sz="1200"/>
              <a:t>– A slower camera would blur separate filaments into one smooth patch.</a:t>
            </a:r>
          </a:p>
          <a:p>
            <a:r>
              <a:rPr lang="en-US" sz="1200"/>
              <a:t>– Fine temporal detail is needed to describe what a flicking antennule meets.</a:t>
            </a:r>
          </a:p>
          <a:p>
            <a:r>
              <a:rPr lang="en-US" sz="1200"/>
              <a:t/>
            </a:r>
          </a:p>
          <a:p>
            <a:r>
              <a:rPr lang="en-US" sz="1200"/>
              <a:t>References:</a:t>
            </a:r>
          </a:p>
          <a:p>
            <a:r>
              <a:rPr lang="en-US" sz="1200"/>
              <a:t>Reidenbach MA, Koehl MAR (2011). The spatial and temporal patterns of odors sampled by lobsters and crabs in a turbulent plume. Journal of Experimental Biology 214(18):3138–3153. https://doi.org/10.1242/jeb.057547</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Selective ablation tests the contribution of one pathway.</a:t>
            </a:r>
          </a:p>
          <a:p>
            <a:r>
              <a:rPr lang="en-US" sz="1200"/>
              <a:t>• Definition.</a:t>
            </a:r>
          </a:p>
          <a:p>
            <a:r>
              <a:rPr lang="en-US" sz="1200"/>
              <a:t>– Sensory ablation removes or inactivates a defined sensory structure.</a:t>
            </a:r>
          </a:p>
          <a:p>
            <a:r>
              <a:rPr lang="en-US" sz="1200"/>
              <a:t>– The behavior is then compared with intact animals.</a:t>
            </a:r>
          </a:p>
          <a:p>
            <a:r>
              <a:rPr lang="en-US" sz="1200"/>
              <a:t>• Two pathways.</a:t>
            </a:r>
          </a:p>
          <a:p>
            <a:r>
              <a:rPr lang="en-US" sz="1200"/>
              <a:t>– Aesthetascs are specialized olfactory hairs.</a:t>
            </a:r>
          </a:p>
          <a:p>
            <a:r>
              <a:rPr lang="en-US" sz="1200"/>
              <a:t>– Non-aesthetasc sensilla carry chemical and mechanical sensory neurons.</a:t>
            </a:r>
          </a:p>
          <a:p>
            <a:r>
              <a:rPr lang="en-US" sz="1200"/>
              <a:t>• Shaving.</a:t>
            </a:r>
          </a:p>
          <a:p>
            <a:r>
              <a:rPr lang="en-US" sz="1200"/>
              <a:t>– Shaving removed about 99.8 percent of aesthetascs.</a:t>
            </a:r>
          </a:p>
          <a:p>
            <a:r>
              <a:rPr lang="en-US" sz="1200"/>
              <a:t>• Sealing.</a:t>
            </a:r>
          </a:p>
          <a:p>
            <a:r>
              <a:rPr lang="en-US" sz="1200"/>
              <a:t>– Removing and sealing the non-aesthetasc sensilla targeted the other pathway.</a:t>
            </a:r>
          </a:p>
          <a:p>
            <a:r>
              <a:rPr lang="en-US" sz="1200"/>
              <a:t>• Distilled water.</a:t>
            </a:r>
          </a:p>
          <a:p>
            <a:r>
              <a:rPr lang="en-US" sz="1200"/>
              <a:t>– A 15-minute treatment temporarily impaired antennular chemosensitivity.</a:t>
            </a:r>
          </a:p>
          <a:p>
            <a:r>
              <a:rPr lang="en-US" sz="1200"/>
              <a:t>– The effect reversed over approximately 24 hours.</a:t>
            </a:r>
          </a:p>
          <a:p>
            <a:r>
              <a:rPr lang="en-US" sz="1200"/>
              <a:t>• Motivation check.</a:t>
            </a:r>
          </a:p>
          <a:p>
            <a:r>
              <a:rPr lang="en-US" sz="1200"/>
              <a:t>– Animals were offered shrimp afterward.</a:t>
            </a:r>
          </a:p>
          <a:p>
            <a:r>
              <a:rPr lang="en-US" sz="1200"/>
              <a:t>– This separates lost sensing from lost appetite.</a:t>
            </a:r>
          </a:p>
          <a:p>
            <a:r>
              <a:rPr lang="en-US" sz="1200"/>
              <a:t>• Source position.</a:t>
            </a:r>
          </a:p>
          <a:p>
            <a:r>
              <a:rPr lang="en-US" sz="1200"/>
              <a:t>– The source was positioned 2 meters upstream of release.</a:t>
            </a:r>
          </a:p>
          <a:p>
            <a:r>
              <a:rPr lang="en-US" sz="1200"/>
              <a:t>• Why several treatments.</a:t>
            </a:r>
          </a:p>
          <a:p>
            <a:r>
              <a:rPr lang="en-US" sz="1200"/>
              <a:t>– Sensory hairs can contain different neuron types.</a:t>
            </a:r>
          </a:p>
          <a:p>
            <a:r>
              <a:rPr lang="en-US" sz="1200"/>
              <a:t>– Each treatment targets a different population or function.</a:t>
            </a:r>
          </a:p>
          <a:p>
            <a:r>
              <a:rPr lang="en-US" sz="1200"/>
              <a:t>• Mechanoreceptors.</a:t>
            </a:r>
          </a:p>
          <a:p>
            <a:r>
              <a:rPr lang="en-US" sz="1200"/>
              <a:t>– Some manipulations also affected mechanoreceptors.</a:t>
            </a:r>
          </a:p>
          <a:p>
            <a:r>
              <a:rPr lang="en-US" sz="1200"/>
              <a:t>– A failure to orient is interpreted with that overlap in mind.</a:t>
            </a:r>
          </a:p>
          <a:p>
            <a:r>
              <a:rPr lang="en-US" sz="1200"/>
              <a:t>• Comparison groups.</a:t>
            </a:r>
          </a:p>
          <a:p>
            <a:r>
              <a:rPr lang="en-US" sz="1200"/>
              <a:t>– Intact animals provide the baseline for source finding.</a:t>
            </a:r>
          </a:p>
          <a:p>
            <a:r>
              <a:rPr lang="en-US" sz="1200"/>
              <a:t>– Each ablated group is compared with that baseline in the same flume under the same flow.</a:t>
            </a:r>
          </a:p>
          <a:p>
            <a:r>
              <a:rPr lang="en-US" sz="1200"/>
              <a:t>– High and low shrimp concentrations were compared with seawater.</a:t>
            </a:r>
          </a:p>
          <a:p>
            <a:r>
              <a:rPr lang="en-US" sz="1200"/>
              <a:t/>
            </a:r>
          </a:p>
          <a:p>
            <a:r>
              <a:rPr lang="en-US" sz="1200"/>
              <a:t>References:</a:t>
            </a:r>
          </a:p>
          <a:p>
            <a:r>
              <a:rPr lang="en-US" sz="1200"/>
              <a:t>Horner AJ, Weissburg MJ, Derby CD (2004). Dual antennular chemosensory pathways can mediate orientation by Caribbean spiny lobsters in naturalistic flow conditions. Journal of Experimental Biology 207(21):3785-3796. https://doi.org/10.1242/jeb.01200</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motor program is one way to organize a search path.</a:t>
            </a:r>
          </a:p>
          <a:p>
            <a:r>
              <a:rPr lang="en-US" sz="1200"/>
              <a:t>• Definition.</a:t>
            </a:r>
          </a:p>
          <a:p>
            <a:r>
              <a:rPr lang="en-US" sz="1200"/>
              <a:t>– A motor program is a stored pattern of motor commands.</a:t>
            </a:r>
          </a:p>
          <a:p>
            <a:r>
              <a:rPr lang="en-US" sz="1200"/>
              <a:t>– Sensory feedback can modify its timing or direction.</a:t>
            </a:r>
          </a:p>
          <a:p>
            <a:r>
              <a:rPr lang="en-US" sz="1200"/>
              <a:t>• The hypothesis.</a:t>
            </a:r>
          </a:p>
          <a:p>
            <a:r>
              <a:rPr lang="en-US" sz="1200"/>
              <a:t>– A stereotyped alternating search would repeat counterturns at regular intervals.</a:t>
            </a:r>
          </a:p>
          <a:p>
            <a:r>
              <a:rPr lang="en-US" sz="1200"/>
              <a:t>– Every lobster would produce a similar path.</a:t>
            </a:r>
          </a:p>
          <a:p>
            <a:r>
              <a:rPr lang="en-US" sz="1200"/>
              <a:t>• Measured headings.</a:t>
            </a:r>
          </a:p>
          <a:p>
            <a:r>
              <a:rPr lang="en-US" sz="1200"/>
              <a:t>– Experimental headings centered around 0 to 10 degrees.</a:t>
            </a:r>
          </a:p>
          <a:p>
            <a:r>
              <a:rPr lang="en-US" sz="1200"/>
              <a:t>– Turns centered around 10 to 20 degrees.</a:t>
            </a:r>
          </a:p>
          <a:p>
            <a:r>
              <a:rPr lang="en-US" sz="1200"/>
              <a:t>• Variability.</a:t>
            </a:r>
          </a:p>
          <a:p>
            <a:r>
              <a:rPr lang="en-US" sz="1200"/>
              <a:t>– Individual animals followed variable paths across repeated trials.</a:t>
            </a:r>
          </a:p>
          <a:p>
            <a:r>
              <a:rPr lang="en-US" sz="1200"/>
              <a:t>– No single characteristic path appeared at fixed intervals.</a:t>
            </a:r>
          </a:p>
          <a:p>
            <a:r>
              <a:rPr lang="en-US" sz="1200"/>
              <a:t>• Upstream bias.</a:t>
            </a:r>
          </a:p>
          <a:p>
            <a:r>
              <a:rPr lang="en-US" sz="1200"/>
              <a:t>– Odor stimulation supported a bias toward upstream movement.</a:t>
            </a:r>
          </a:p>
          <a:p>
            <a:r>
              <a:rPr lang="en-US" sz="1200"/>
              <a:t>• Meaning.</a:t>
            </a:r>
          </a:p>
          <a:p>
            <a:r>
              <a:rPr lang="en-US" sz="1200"/>
              <a:t>– Broad variation among paths weakens a simple invariant counterturn account.</a:t>
            </a:r>
          </a:p>
          <a:p>
            <a:r>
              <a:rPr lang="en-US" sz="1200"/>
              <a:t>– Variable turns fit corrections adjusted by sensory input.</a:t>
            </a:r>
          </a:p>
          <a:p>
            <a:r>
              <a:rPr lang="en-US" sz="1200"/>
              <a:t>• Sensory feedback.</a:t>
            </a:r>
          </a:p>
          <a:p>
            <a:r>
              <a:rPr lang="en-US" sz="1200"/>
              <a:t>– Even a stored program can be adjusted by what the animal senses.</a:t>
            </a:r>
          </a:p>
          <a:p>
            <a:r>
              <a:rPr lang="en-US" sz="1200"/>
              <a:t>– Corrections made after each encounter would produce variable turns.</a:t>
            </a:r>
          </a:p>
          <a:p>
            <a:r>
              <a:rPr lang="en-US" sz="1200"/>
              <a:t>• Repeated trials.</a:t>
            </a:r>
          </a:p>
          <a:p>
            <a:r>
              <a:rPr lang="en-US" sz="1200"/>
              <a:t>– Each animal was tested more than once.</a:t>
            </a:r>
          </a:p>
          <a:p>
            <a:r>
              <a:rPr lang="en-US" sz="1200"/>
              <a:t>– Paths from the same animal still varied.</a:t>
            </a:r>
          </a:p>
          <a:p>
            <a:r>
              <a:rPr lang="en-US" sz="1200"/>
              <a:t/>
            </a:r>
          </a:p>
          <a:p>
            <a:r>
              <a:rPr lang="en-US" sz="1200"/>
              <a:t>References:</a:t>
            </a:r>
          </a:p>
          <a:p>
            <a:r>
              <a:rPr lang="en-US" sz="1200"/>
              <a:t>Moore PA, Scholz N, Atema J (1991). Chemical orientation of lobsters, homarus americanus, in turbulent odor plumes. Journal of Chemical Ecology 17(7):1293-1307. https://doi.org/10.1007/bf00983763</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Control trials make a behavioral difference interpretable.</a:t>
            </a:r>
          </a:p>
          <a:p>
            <a:r>
              <a:rPr lang="en-US" sz="1200"/>
              <a:t>• Definition.</a:t>
            </a:r>
          </a:p>
          <a:p>
            <a:r>
              <a:rPr lang="en-US" sz="1200"/>
              <a:t>– A control trial keeps every condition identical except the variable under study.</a:t>
            </a:r>
          </a:p>
          <a:p>
            <a:r>
              <a:rPr lang="en-US" sz="1200"/>
              <a:t>– Only the variable of interest changes between trial types.</a:t>
            </a:r>
          </a:p>
          <a:p>
            <a:r>
              <a:rPr lang="en-US" sz="1200"/>
              <a:t>• The control here.</a:t>
            </a:r>
          </a:p>
          <a:p>
            <a:r>
              <a:rPr lang="en-US" sz="1200"/>
              <a:t>– Raw seawater replaced mussel extract.</a:t>
            </a:r>
          </a:p>
          <a:p>
            <a:r>
              <a:rPr lang="en-US" sz="1200"/>
              <a:t>– The delivery tube, pump and current stayed in place.</a:t>
            </a:r>
          </a:p>
          <a:p>
            <a:r>
              <a:rPr lang="en-US" sz="1200"/>
              <a:t>• The flume.</a:t>
            </a:r>
          </a:p>
          <a:p>
            <a:r>
              <a:rPr lang="en-US" sz="1200"/>
              <a:t>– The arena measured 250 by 90 by 20 centimeters.</a:t>
            </a:r>
          </a:p>
          <a:p>
            <a:r>
              <a:rPr lang="en-US" sz="1200"/>
              <a:t>– The current was 1.0 centimeter per second.</a:t>
            </a:r>
          </a:p>
          <a:p>
            <a:r>
              <a:rPr lang="en-US" sz="1200"/>
              <a:t>• Delivery.</a:t>
            </a:r>
          </a:p>
          <a:p>
            <a:r>
              <a:rPr lang="en-US" sz="1200"/>
              <a:t>– Mussel extract at 0.5 grams per liter was delivered at 50 milliliters per minute.</a:t>
            </a:r>
          </a:p>
          <a:p>
            <a:r>
              <a:rPr lang="en-US" sz="1200"/>
              <a:t>– The source sat 9 centimeters above the bottom.</a:t>
            </a:r>
          </a:p>
          <a:p>
            <a:r>
              <a:rPr lang="en-US" sz="1200"/>
              <a:t>• Measurement.</a:t>
            </a:r>
          </a:p>
          <a:p>
            <a:r>
              <a:rPr lang="en-US" sz="1200"/>
              <a:t>– Rostrum positions were digitized once per second.</a:t>
            </a:r>
          </a:p>
          <a:p>
            <a:r>
              <a:rPr lang="en-US" sz="1200"/>
              <a:t>– A reference grid and overhead video gave position and heading.</a:t>
            </a:r>
          </a:p>
          <a:p>
            <a:r>
              <a:rPr lang="en-US" sz="1200"/>
              <a:t>• Result.</a:t>
            </a:r>
          </a:p>
          <a:p>
            <a:r>
              <a:rPr lang="en-US" sz="1200"/>
              <a:t>– Mean walking speed was 5.94 centimeters per second in odor trials.</a:t>
            </a:r>
          </a:p>
          <a:p>
            <a:r>
              <a:rPr lang="en-US" sz="1200"/>
              <a:t>– Controls averaged 10.81 centimeters per second.</a:t>
            </a:r>
          </a:p>
          <a:p>
            <a:r>
              <a:rPr lang="en-US" sz="1200"/>
              <a:t>• Meaning.</a:t>
            </a:r>
          </a:p>
          <a:p>
            <a:r>
              <a:rPr lang="en-US" sz="1200"/>
              <a:t>– The difference is attributed to the chemical stimulus because flow and delivery were matched.</a:t>
            </a:r>
          </a:p>
          <a:p>
            <a:r>
              <a:rPr lang="en-US" sz="1200"/>
              <a:t>• Why seawater.</a:t>
            </a:r>
          </a:p>
          <a:p>
            <a:r>
              <a:rPr lang="en-US" sz="1200"/>
              <a:t>– Seawater has no food chemicals but moves through the same tube at the same rate.</a:t>
            </a:r>
          </a:p>
          <a:p>
            <a:r>
              <a:rPr lang="en-US" sz="1200"/>
              <a:t>– Any difference in walking therefore comes from the extract.</a:t>
            </a:r>
          </a:p>
          <a:p>
            <a:r>
              <a:rPr lang="en-US" sz="1200"/>
              <a:t>• Interpretation.</a:t>
            </a:r>
          </a:p>
          <a:p>
            <a:r>
              <a:rPr lang="en-US" sz="1200"/>
              <a:t>– Speed was lower in odor trials because paths contained pauses, sideways steps and backward steps.</a:t>
            </a:r>
          </a:p>
          <a:p>
            <a:r>
              <a:rPr lang="en-US" sz="1200"/>
              <a:t>– Slower walking did not mean poorer progress toward the source.</a:t>
            </a:r>
          </a:p>
          <a:p>
            <a:r>
              <a:rPr lang="en-US" sz="1200"/>
              <a:t/>
            </a:r>
          </a:p>
          <a:p>
            <a:r>
              <a:rPr lang="en-US" sz="1200"/>
              <a:t>References:</a:t>
            </a:r>
          </a:p>
          <a:p>
            <a:r>
              <a:rPr lang="en-US" sz="1200"/>
              <a:t>Moore PA, Scholz N, Atema J (1991). Chemical orientation of lobsters, homarus americanus, in turbulent odor plumes. Journal of Chemical Ecology 17(7):1293-1307. https://doi.org/10.1007/bf00983763</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7.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5.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2.png"/><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6.pn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6.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7.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9.png"/><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2.png"/><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8.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5.png"/><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1.png"/><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png"/><Relationship Id="rId3" Type="http://schemas.openxmlformats.org/officeDocument/2006/relationships/image" Target="../media/image34.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png"/><Relationship Id="rId3" Type="http://schemas.openxmlformats.org/officeDocument/2006/relationships/image" Target="../media/image24.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 Id="rId3" Type="http://schemas.openxmlformats.org/officeDocument/2006/relationships/image" Target="../media/image24.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image" Target="../media/image24.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png"/><Relationship Id="rId3" Type="http://schemas.openxmlformats.org/officeDocument/2006/relationships/image" Target="../media/image24.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image" Target="../media/image5.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5.pn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F4CCC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200"/>
              <a:buFont typeface="Arial"/>
              <a:buNone/>
            </a:pPr>
            <a:r>
              <a:rPr b="0" i="0" lang="en-US" sz="1200">
                <a:solidFill>
                  <a:srgbClr val="743B4A"/>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685800" y="1782961"/>
            <a:ext cx="4743450" cy="4547039"/>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800"/>
              <a:buFont typeface="Arial"/>
              <a:buNone/>
            </a:pPr>
            <a:r>
              <a:rPr b="0" i="0" lang="en-US" sz="1800">
                <a:solidFill>
                  <a:srgbClr val="743B4A"/>
                </a:solidFill>
                <a:latin typeface="Arial"/>
                <a:ea typeface="Arial"/>
                <a:cs typeface="Arial"/>
                <a:sym typeface="Arial"/>
              </a:rPr>
              <a:t>Lecture 25</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402A32"/>
              </a:buClr>
              <a:buSzPts val="2500"/>
              <a:buFont typeface="Arial"/>
              <a:buNone/>
            </a:pPr>
            <a:r>
              <a:rPr b="1" i="0" lang="en-US" sz="2500">
                <a:solidFill>
                  <a:schemeClr val="dk1"/>
                </a:solidFill>
                <a:latin typeface="Arial"/>
                <a:ea typeface="Arial"/>
                <a:cs typeface="Arial"/>
                <a:sym typeface="Arial"/>
              </a:rPr>
              <a:t>Chemoreception II: lobster olfactory search behavior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743B4A"/>
              </a:buClr>
              <a:buSzPts val="1600"/>
              <a:buFont typeface="Arial"/>
              <a:buNone/>
            </a:pPr>
            <a:r>
              <a:rPr b="0" i="0" lang="en-US" sz="1600">
                <a:solidFill>
                  <a:srgbClr val="743B4A"/>
                </a:solidFill>
                <a:latin typeface="Arial"/>
                <a:ea typeface="Arial"/>
                <a:cs typeface="Arial"/>
                <a:sym typeface="Arial"/>
              </a:rPr>
              <a:t>Friday, October 23, 2026</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743B4A"/>
              </a:buClr>
              <a:buSzPts val="1200"/>
              <a:buFont typeface="Arial"/>
              <a:buNone/>
            </a:pPr>
            <a:r>
              <a:rPr b="0" i="0" lang="en-US" sz="1200">
                <a:solidFill>
                  <a:srgbClr val="743B4A"/>
                </a:solidFill>
                <a:latin typeface="Arial"/>
                <a:ea typeface="Arial"/>
                <a:cs typeface="Arial"/>
                <a:sym typeface="Arial"/>
              </a:rPr>
              <a:t>Jordan Lopez, Ph.D.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743B4A"/>
              </a:buClr>
              <a:buSzPts val="1200"/>
              <a:buFont typeface="Arial"/>
              <a:buNone/>
            </a:pPr>
            <a:r>
              <a:rPr b="0" i="0" lang="en-US" sz="1200">
                <a:solidFill>
                  <a:srgbClr val="743B4A"/>
                </a:solidFill>
                <a:latin typeface="Arial"/>
                <a:ea typeface="Arial"/>
                <a:cs typeface="Arial"/>
                <a:sym typeface="Arial"/>
              </a:rPr>
              <a:t>Professor of Neurobiology &amp; Biomedical Engineering</a:t>
            </a:r>
            <a:endParaRPr sz="1800">
              <a:solidFill>
                <a:schemeClr val="dk1"/>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6553354" y="822871"/>
            <a:ext cx="5181292" cy="4056906"/>
          </a:xfrm>
          <a:prstGeom prst="rect">
            <a:avLst/>
          </a:prstGeom>
          <a:noFill/>
          <a:ln>
            <a:noFill/>
          </a:ln>
        </p:spPr>
      </p:pic>
      <p:sp>
        <p:nvSpPr>
          <p:cNvPr id="27" name="Google Shape;27;p1"/>
          <p:cNvSpPr/>
          <p:nvPr/>
        </p:nvSpPr>
        <p:spPr>
          <a:xfrm>
            <a:off x="6553200" y="5943600"/>
            <a:ext cx="52006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Pravin &amp; Reidenbach (2013), Fig. 1C. Caribbean spiny lobster with its lateral antennule labeled.</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Food odor organizes source-directed walking</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600"/>
              <a:buFont typeface="Arial"/>
              <a:buNone/>
            </a:pPr>
            <a:r>
              <a:rPr b="1" i="0" lang="en-US" sz="1450">
                <a:solidFill>
                  <a:srgbClr val="743B4A"/>
                </a:solidFill>
                <a:latin typeface="Arial"/>
                <a:ea typeface="Arial"/>
                <a:cs typeface="Arial"/>
                <a:sym typeface="Arial"/>
              </a:rPr>
              <a:t>Chemoreception</a:t>
            </a:r>
            <a:r>
              <a:rPr b="0" i="0" lang="en-US" sz="1450">
                <a:solidFill>
                  <a:srgbClr val="252D35"/>
                </a:solidFill>
                <a:latin typeface="Arial"/>
                <a:ea typeface="Arial"/>
                <a:cs typeface="Arial"/>
                <a:sym typeface="Arial"/>
              </a:rPr>
              <a:t> is the detection of chemicals by sensory cells. Clawed lobsters, Homarus americanus, use dissolved food odors to find sources while walking across the seabed. Moore, Scholz and Atema compared paths toward mussel extract with paths recorded during an equivalent delivery of raw seawater, so the chemical signal is the only difference between the two conditions.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743B4A"/>
              </a:buClr>
              <a:buSzPts val="1600"/>
              <a:buFont typeface="Arial"/>
              <a:buNone/>
            </a:pPr>
            <a:r>
              <a:rPr b="0" i="0" lang="en-US" sz="1450">
                <a:solidFill>
                  <a:srgbClr val="252D35"/>
                </a:solidFill>
                <a:latin typeface="Arial"/>
                <a:ea typeface="Arial"/>
                <a:cs typeface="Arial"/>
                <a:sym typeface="Arial"/>
              </a:rPr>
              <a:t>The odor-search paths contained pauses, sideways movement and backward steps, yet they still progressed toward the source. Mean walking speed was 5.94 cm/s during odor trials, compared with 10.81 cm/s in controls. Slower movement therefore accompanies a more directed search, and speed alone tells little about how well an animal finds the source.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743B4A"/>
              </a:buClr>
              <a:buSzPts val="1600"/>
              <a:buFont typeface="Arial"/>
              <a:buNone/>
            </a:pPr>
            <a:r>
              <a:rPr b="0" i="0" lang="en-US" sz="1450">
                <a:solidFill>
                  <a:srgbClr val="252D35"/>
                </a:solidFill>
                <a:latin typeface="Arial"/>
                <a:ea typeface="Arial"/>
                <a:cs typeface="Arial"/>
                <a:sym typeface="Arial"/>
              </a:rPr>
              <a:t>The trajectories show that chemical stimulation reorganizes locomotion under flowing-water conditions. </a:t>
            </a:r>
            <a:r>
              <a:rPr b="1" i="0" lang="en-US" sz="1450">
                <a:solidFill>
                  <a:srgbClr val="743B4A"/>
                </a:solidFill>
                <a:latin typeface="Arial"/>
                <a:ea typeface="Arial"/>
                <a:cs typeface="Arial"/>
                <a:sym typeface="Arial"/>
              </a:rPr>
              <a:t>Stop-and-go progress</a:t>
            </a:r>
            <a:r>
              <a:rPr b="0" i="0" lang="en-US" sz="1450">
                <a:solidFill>
                  <a:srgbClr val="252D35"/>
                </a:solidFill>
                <a:latin typeface="Arial"/>
                <a:ea typeface="Arial"/>
                <a:cs typeface="Arial"/>
                <a:sym typeface="Arial"/>
              </a:rPr>
              <a:t> replaces steady walking, and the animal advances toward the odor source in bursts of movement interspersed with pauses. This pattern is the </a:t>
            </a:r>
            <a:r>
              <a:rPr b="1" i="0" lang="en-US" sz="1450">
                <a:solidFill>
                  <a:srgbClr val="743B4A"/>
                </a:solidFill>
                <a:latin typeface="Arial"/>
                <a:ea typeface="Arial"/>
                <a:cs typeface="Arial"/>
                <a:sym typeface="Arial"/>
              </a:rPr>
              <a:t>motor signature</a:t>
            </a:r>
            <a:r>
              <a:rPr b="0" i="0" lang="en-US" sz="1450">
                <a:solidFill>
                  <a:srgbClr val="252D35"/>
                </a:solidFill>
                <a:latin typeface="Arial"/>
                <a:ea typeface="Arial"/>
                <a:cs typeface="Arial"/>
                <a:sym typeface="Arial"/>
              </a:rPr>
              <a:t> of an odor-guided search in a current, and the same stop-and-go structure appears in every odor trial that reaches the source.</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6612064" y="1280071"/>
            <a:ext cx="4859233" cy="4297561"/>
          </a:xfrm>
          <a:prstGeom prst="rect">
            <a:avLst/>
          </a:prstGeom>
          <a:noFill/>
          <a:ln>
            <a:noFill/>
          </a:ln>
        </p:spPr>
      </p:pic>
      <p:sp>
        <p:nvSpPr>
          <p:cNvPr id="37" name="Google Shape;37;p2"/>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Moore et al. (1991), Fig. 5A–C. Repeated recorded source-search paths of individual lobsters.</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 flume separates chemical input from water flow</a:t>
            </a:r>
            <a:endParaRPr sz="1800">
              <a:solidFill>
                <a:schemeClr val="dk1"/>
              </a:solidFill>
              <a:latin typeface="Calibri"/>
              <a:ea typeface="Calibri"/>
              <a:cs typeface="Calibri"/>
              <a:sym typeface="Calibri"/>
            </a:endParaRPr>
          </a:p>
        </p:txBody>
      </p:sp>
      <p:sp>
        <p:nvSpPr>
          <p:cNvPr id="46" name="Google Shape;46;p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A </a:t>
            </a:r>
            <a:r>
              <a:rPr b="1" i="0" lang="en-US" sz="1600">
                <a:solidFill>
                  <a:srgbClr val="743B4A"/>
                </a:solidFill>
                <a:latin typeface="Arial"/>
                <a:ea typeface="Arial"/>
                <a:cs typeface="Arial"/>
                <a:sym typeface="Arial"/>
              </a:rPr>
              <a:t>flume</a:t>
            </a:r>
            <a:r>
              <a:rPr b="0" i="0" lang="en-US" sz="1600">
                <a:solidFill>
                  <a:srgbClr val="252D35"/>
                </a:solidFill>
                <a:latin typeface="Arial"/>
                <a:ea typeface="Arial"/>
                <a:cs typeface="Arial"/>
                <a:sym typeface="Arial"/>
              </a:rPr>
              <a:t> is a channel that supplies controlled flowing water. Moore and colleagues tested lobsters in a 250 × 90 × 20 cm arena with a current of 1.0 cm/s. A reference grid and overhead video allowed position and heading to be measured.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Mussel extract at 0.5 g/L was delivered at 50 mL/min from a source 9 cm above the bottom. Control trials substituted raw seawater while retaining delivery conditions. Rostrum positions were digitized once per second, providing a common spatial and temporal reference for comparisons.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These controls attribute behavioral differences to the presence of the food extract rather than the existence of current or a delivery tube alone. Mussel extract is a mixture of food chemicals, and the odor reaching the animal downstream fluctuates in concentration as it travels from the source.</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6458469" y="1280071"/>
            <a:ext cx="5166274" cy="4092625"/>
          </a:xfrm>
          <a:prstGeom prst="rect">
            <a:avLst/>
          </a:prstGeom>
          <a:noFill/>
          <a:ln>
            <a:noFill/>
          </a:ln>
        </p:spPr>
      </p:pic>
      <p:sp>
        <p:nvSpPr>
          <p:cNvPr id="50" name="Google Shape;50;p3"/>
          <p:cNvSpPr/>
          <p:nvPr/>
        </p:nvSpPr>
        <p:spPr>
          <a:xfrm>
            <a:off x="6458396" y="546422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Moore et al. (1991), Fig. 1A–B. Flume, odor delivery and reference grid.</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a:t>
            </a:r>
            <a:endParaRPr sz="1800">
              <a:solidFill>
                <a:schemeClr val="dk1"/>
              </a:solidFill>
              <a:latin typeface="Calibri"/>
              <a:ea typeface="Calibri"/>
              <a:cs typeface="Calibri"/>
              <a:sym typeface="Calibri"/>
            </a:endParaRPr>
          </a:p>
        </p:txBody>
      </p:sp>
      <p:sp>
        <p:nvSpPr>
          <p:cNvPr id="53" name="Google Shape;53;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Speed and heading change during the approach</a:t>
            </a:r>
            <a:endParaRPr sz="1800">
              <a:solidFill>
                <a:schemeClr val="dk1"/>
              </a:solidFill>
              <a:latin typeface="Calibri"/>
              <a:ea typeface="Calibri"/>
              <a:cs typeface="Calibri"/>
              <a:sym typeface="Calibri"/>
            </a:endParaRPr>
          </a:p>
        </p:txBody>
      </p:sp>
      <p:sp>
        <p:nvSpPr>
          <p:cNvPr id="59" name="Google Shape;59;p4"/>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600"/>
              <a:buFont typeface="Arial"/>
              <a:buNone/>
            </a:pPr>
            <a:r>
              <a:rPr b="1" i="0" lang="en-US" sz="1600">
                <a:solidFill>
                  <a:srgbClr val="743B4A"/>
                </a:solidFill>
                <a:latin typeface="Arial"/>
                <a:ea typeface="Arial"/>
                <a:cs typeface="Arial"/>
                <a:sym typeface="Arial"/>
              </a:rPr>
              <a:t>Heading angle</a:t>
            </a:r>
            <a:r>
              <a:rPr b="0" i="0" lang="en-US" sz="1600">
                <a:solidFill>
                  <a:srgbClr val="252D35"/>
                </a:solidFill>
                <a:latin typeface="Arial"/>
                <a:ea typeface="Arial"/>
                <a:cs typeface="Arial"/>
                <a:sym typeface="Arial"/>
              </a:rPr>
              <a:t> describes the direction of the lobster’s body relative to upstream. Moore and colleagues grouped recorded behavior by distance from the source. This analysis asks whether the approach is uniform or changes as chemical and mechanical conditions change.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From 240 to 110 cm away, mean speed increased from 2.3 to 7.8 cm/s while heading decreased from 98.8° to about 20°. Between 110 and 40 cm, speed remained near 7 cm/s. Within the final 40 cm, speed fell toward 4.7 cm/s and heading increased toward 37°.</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These transitions establish distinct movement regimes during successful searching. Successful searching passes through an acceleration phase, a fast and nearly straight middle phase, and a slower final phase with larger heading changes near the source.</a:t>
            </a:r>
            <a:endParaRPr sz="1800">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6458503" y="1280071"/>
            <a:ext cx="5166207" cy="2978051"/>
          </a:xfrm>
          <a:prstGeom prst="rect">
            <a:avLst/>
          </a:prstGeom>
          <a:noFill/>
          <a:ln>
            <a:noFill/>
          </a:ln>
        </p:spPr>
      </p:pic>
      <p:sp>
        <p:nvSpPr>
          <p:cNvPr id="63" name="Google Shape;63;p4"/>
          <p:cNvSpPr/>
          <p:nvPr/>
        </p:nvSpPr>
        <p:spPr>
          <a:xfrm>
            <a:off x="6458396" y="434965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Moore et al. (1991), Fig. 6. Walking speed and heading versus distance from the source.</a:t>
            </a:r>
            <a:endParaRPr sz="1800">
              <a:solidFill>
                <a:schemeClr val="dk1"/>
              </a:solidFill>
              <a:latin typeface="Calibri"/>
              <a:ea typeface="Calibri"/>
              <a:cs typeface="Calibri"/>
              <a:sym typeface="Calibri"/>
            </a:endParaRPr>
          </a:p>
        </p:txBody>
      </p:sp>
      <p:sp>
        <p:nvSpPr>
          <p:cNvPr id="64" name="Google Shape;64;p4"/>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a:t>
            </a:r>
            <a:endParaRPr sz="1800">
              <a:solidFill>
                <a:schemeClr val="dk1"/>
              </a:solidFill>
              <a:latin typeface="Calibri"/>
              <a:ea typeface="Calibri"/>
              <a:cs typeface="Calibri"/>
              <a:sym typeface="Calibri"/>
            </a:endParaRPr>
          </a:p>
        </p:txBody>
      </p:sp>
      <p:sp>
        <p:nvSpPr>
          <p:cNvPr id="66" name="Google Shape;66;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Recorded turns do not reveal a fixed casting program</a:t>
            </a:r>
            <a:endParaRPr sz="1800">
              <a:solidFill>
                <a:schemeClr val="dk1"/>
              </a:solidFill>
              <a:latin typeface="Calibri"/>
              <a:ea typeface="Calibri"/>
              <a:cs typeface="Calibri"/>
              <a:sym typeface="Calibri"/>
            </a:endParaRPr>
          </a:p>
        </p:txBody>
      </p:sp>
      <p:sp>
        <p:nvSpPr>
          <p:cNvPr id="72" name="Google Shape;72;p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600"/>
              <a:buFont typeface="Arial"/>
              <a:buNone/>
            </a:pPr>
            <a:r>
              <a:rPr b="1" i="0" lang="en-US" sz="1600">
                <a:solidFill>
                  <a:srgbClr val="743B4A"/>
                </a:solidFill>
                <a:latin typeface="Arial"/>
                <a:ea typeface="Arial"/>
                <a:cs typeface="Arial"/>
                <a:sym typeface="Arial"/>
              </a:rPr>
              <a:t>Turning angle</a:t>
            </a:r>
            <a:r>
              <a:rPr b="0" i="0" lang="en-US" sz="1600">
                <a:solidFill>
                  <a:srgbClr val="252D35"/>
                </a:solidFill>
                <a:latin typeface="Arial"/>
                <a:ea typeface="Arial"/>
                <a:cs typeface="Arial"/>
                <a:sym typeface="Arial"/>
              </a:rPr>
              <a:t> is the change in movement direction between successive path segments. Moore and colleagues compared heading and turn distributions in odor-search trials. A stereotyped alternating search program would predict consistently organized counterturns rather than the observed broad variation among paths.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Experimental headings were centered around 0–10°, and turns around 10–20°. Individual animals followed variable paths across repeated trials. Odor stimulation supported an upstream bias without producing a single characteristic path that every lobster repeated at fixed intervals.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The findings weaken a simple invariant counterturn account for this preparation. Odor biases heading upstream while each animal's path stays variable, which fits corrections adjusted as the animal meets odor and flow.</a:t>
            </a:r>
            <a:endParaRPr sz="1800">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3">
            <a:alphaModFix/>
          </a:blip>
          <a:srcRect b="0" l="0" r="0" t="0"/>
          <a:stretch/>
        </p:blipFill>
        <p:spPr>
          <a:xfrm>
            <a:off x="7333984" y="1280071"/>
            <a:ext cx="3415244" cy="4297561"/>
          </a:xfrm>
          <a:prstGeom prst="rect">
            <a:avLst/>
          </a:prstGeom>
          <a:noFill/>
          <a:ln>
            <a:noFill/>
          </a:ln>
        </p:spPr>
      </p:pic>
      <p:sp>
        <p:nvSpPr>
          <p:cNvPr id="76" name="Google Shape;76;p5"/>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Moore et al. (1991), Fig. 4A–B. Heading and turning-angle distributions.</a:t>
            </a:r>
            <a:endParaRPr sz="1800">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a:t>
            </a:r>
            <a:endParaRPr sz="1800">
              <a:solidFill>
                <a:schemeClr val="dk1"/>
              </a:solidFill>
              <a:latin typeface="Calibri"/>
              <a:ea typeface="Calibri"/>
              <a:cs typeface="Calibri"/>
              <a:sym typeface="Calibri"/>
            </a:endParaRPr>
          </a:p>
        </p:txBody>
      </p:sp>
      <p:sp>
        <p:nvSpPr>
          <p:cNvPr id="79" name="Google Shape;79;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Close-range searching recruits walking-leg raking</a:t>
            </a:r>
            <a:endParaRPr sz="1800">
              <a:solidFill>
                <a:schemeClr val="dk1"/>
              </a:solidFill>
              <a:latin typeface="Calibri"/>
              <a:ea typeface="Calibri"/>
              <a:cs typeface="Calibri"/>
              <a:sym typeface="Calibri"/>
            </a:endParaRPr>
          </a:p>
        </p:txBody>
      </p:sp>
      <p:sp>
        <p:nvSpPr>
          <p:cNvPr id="85" name="Google Shape;85;p6"/>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Moore and colleagues measured </a:t>
            </a:r>
            <a:r>
              <a:rPr b="1" i="0" lang="en-US" sz="1600">
                <a:solidFill>
                  <a:srgbClr val="743B4A"/>
                </a:solidFill>
                <a:latin typeface="Arial"/>
                <a:ea typeface="Arial"/>
                <a:cs typeface="Arial"/>
                <a:sym typeface="Arial"/>
              </a:rPr>
              <a:t>leg raking</a:t>
            </a:r>
            <a:r>
              <a:rPr b="0" i="0" lang="en-US" sz="1600">
                <a:solidFill>
                  <a:srgbClr val="252D35"/>
                </a:solidFill>
                <a:latin typeface="Arial"/>
                <a:ea typeface="Arial"/>
                <a:cs typeface="Arial"/>
                <a:sym typeface="Arial"/>
              </a:rPr>
              <a:t>, repeated movements that bring walking-leg sensory surfaces into contact with the local environment. They compared raking rates at several distances from the odor source, testing whether close-range searching involves more than antennular sampling.</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Raking averaged 3.4 events per 5 s within 7 cm of the source, 2.6 at 7–15 cm, and 1.15 at 15–22 cm. Beyond 22 cm it averaged only 0.1 per 5 s. Most recorded raking therefore occurred near the source.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The change supports recruitment of near-substrate sampling during final localization. Walking-leg contacts add sampling of the local environment to antennular sampling in the last centimeters before the source.</a:t>
            </a:r>
            <a:endParaRPr sz="1800">
              <a:solidFill>
                <a:schemeClr val="dk1"/>
              </a:solidFill>
              <a:latin typeface="Calibri"/>
              <a:ea typeface="Calibri"/>
              <a:cs typeface="Calibri"/>
              <a:sym typeface="Calibri"/>
            </a:endParaRPr>
          </a:p>
        </p:txBody>
      </p:sp>
      <p:pic>
        <p:nvPicPr>
          <p:cNvPr id="88" name="Google Shape;88;p6"/>
          <p:cNvPicPr preferRelativeResize="0"/>
          <p:nvPr/>
        </p:nvPicPr>
        <p:blipFill rotWithShape="1">
          <a:blip r:embed="rId3">
            <a:alphaModFix/>
          </a:blip>
          <a:srcRect b="0" l="0" r="0" t="0"/>
          <a:stretch/>
        </p:blipFill>
        <p:spPr>
          <a:xfrm>
            <a:off x="6612064" y="1280071"/>
            <a:ext cx="4859233" cy="4297561"/>
          </a:xfrm>
          <a:prstGeom prst="rect">
            <a:avLst/>
          </a:prstGeom>
          <a:noFill/>
          <a:ln>
            <a:noFill/>
          </a:ln>
        </p:spPr>
      </p:pic>
      <p:sp>
        <p:nvSpPr>
          <p:cNvPr id="89" name="Google Shape;89;p6"/>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Moore et al. (1991), Fig. 5A–C. Repeated recorded source-search paths of individual lobsters.</a:t>
            </a:r>
            <a:endParaRPr sz="1800">
              <a:solidFill>
                <a:schemeClr val="dk1"/>
              </a:solidFill>
              <a:latin typeface="Calibri"/>
              <a:ea typeface="Calibri"/>
              <a:cs typeface="Calibri"/>
              <a:sym typeface="Calibri"/>
            </a:endParaRPr>
          </a:p>
        </p:txBody>
      </p:sp>
      <p:sp>
        <p:nvSpPr>
          <p:cNvPr id="90" name="Google Shape;90;p6"/>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a:t>
            </a:r>
            <a:endParaRPr sz="1800">
              <a:solidFill>
                <a:schemeClr val="dk1"/>
              </a:solidFill>
              <a:latin typeface="Calibri"/>
              <a:ea typeface="Calibri"/>
              <a:cs typeface="Calibri"/>
              <a:sym typeface="Calibri"/>
            </a:endParaRPr>
          </a:p>
        </p:txBody>
      </p:sp>
      <p:sp>
        <p:nvSpPr>
          <p:cNvPr id="92" name="Google Shape;92;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Two antennular pathways can guide spiny lobsters</a:t>
            </a:r>
            <a:endParaRPr sz="1800">
              <a:solidFill>
                <a:schemeClr val="dk1"/>
              </a:solidFill>
              <a:latin typeface="Calibri"/>
              <a:ea typeface="Calibri"/>
              <a:cs typeface="Calibri"/>
              <a:sym typeface="Calibri"/>
            </a:endParaRPr>
          </a:p>
        </p:txBody>
      </p:sp>
      <p:sp>
        <p:nvSpPr>
          <p:cNvPr id="98" name="Google Shape;98;p7"/>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The Caribbean spiny lobster, </a:t>
            </a:r>
            <a:r>
              <a:rPr b="0" i="1" lang="en-US" sz="1500">
                <a:solidFill>
                  <a:srgbClr val="252D35"/>
                </a:solidFill>
                <a:latin typeface="Arial"/>
                <a:ea typeface="Arial"/>
                <a:cs typeface="Arial"/>
                <a:sym typeface="Arial"/>
              </a:rPr>
              <a:t>Panulirus argus</a:t>
            </a:r>
            <a:r>
              <a:rPr b="0" i="0" lang="en-US" sz="1500">
                <a:solidFill>
                  <a:srgbClr val="252D35"/>
                </a:solidFill>
                <a:latin typeface="Arial"/>
                <a:ea typeface="Arial"/>
                <a:cs typeface="Arial"/>
                <a:sym typeface="Arial"/>
              </a:rPr>
              <a:t>, differs from the clawed lobster used in the earlier flume study. Its antennules carry </a:t>
            </a:r>
            <a:r>
              <a:rPr b="1" i="0" lang="en-US" sz="1500">
                <a:solidFill>
                  <a:srgbClr val="743B4A"/>
                </a:solidFill>
                <a:latin typeface="Arial"/>
                <a:ea typeface="Arial"/>
                <a:cs typeface="Arial"/>
                <a:sym typeface="Arial"/>
              </a:rPr>
              <a:t>aesthetascs</a:t>
            </a:r>
            <a:r>
              <a:rPr b="0" i="0" lang="en-US" sz="1500">
                <a:solidFill>
                  <a:srgbClr val="252D35"/>
                </a:solidFill>
                <a:latin typeface="Arial"/>
                <a:ea typeface="Arial"/>
                <a:cs typeface="Arial"/>
                <a:sym typeface="Arial"/>
              </a:rPr>
              <a:t>, specialized olfactory hairs, together with non-aesthetasc sensilla containing other chemical and mechanical sensory neurons. These populations offer potentially overlapping information.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Horner, Weissburg and Derby tested 48–74 mm carapace-length animals in a 5,000-L flume with flow near 5 cm/s. Shrimp extract at 3 or 0.3 g/L supplied high- and low-odor treatments; seawater supplied a chemical control. Selective manipulations targeted different sensory populations on both antennules.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experiment asks whether one pathway is indispensable for food-source localization under realistic flow. A preserved response after removing one population can show that the remaining pathway is sufficient in this assay. Aesthetascs and non-aesthetasc sensilla therefore define two candidate pathways whose contributions can be tested by removing each population on both antennules.</a:t>
            </a:r>
            <a:endParaRPr sz="1800">
              <a:solidFill>
                <a:schemeClr val="dk1"/>
              </a:solidFill>
              <a:latin typeface="Calibri"/>
              <a:ea typeface="Calibri"/>
              <a:cs typeface="Calibri"/>
              <a:sym typeface="Calibri"/>
            </a:endParaRPr>
          </a:p>
        </p:txBody>
      </p:sp>
      <p:pic>
        <p:nvPicPr>
          <p:cNvPr id="101" name="Google Shape;101;p7"/>
          <p:cNvPicPr preferRelativeResize="0"/>
          <p:nvPr/>
        </p:nvPicPr>
        <p:blipFill rotWithShape="1">
          <a:blip r:embed="rId3">
            <a:alphaModFix/>
          </a:blip>
          <a:srcRect b="0" l="0" r="0" t="0"/>
          <a:stretch/>
        </p:blipFill>
        <p:spPr>
          <a:xfrm>
            <a:off x="6973446" y="1280071"/>
            <a:ext cx="4136768" cy="4297561"/>
          </a:xfrm>
          <a:prstGeom prst="rect">
            <a:avLst/>
          </a:prstGeom>
          <a:noFill/>
          <a:ln>
            <a:noFill/>
          </a:ln>
        </p:spPr>
      </p:pic>
      <p:sp>
        <p:nvSpPr>
          <p:cNvPr id="102" name="Google Shape;102;p7"/>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1A–F. Body and antennular sensory structures.</a:t>
            </a:r>
            <a:endParaRPr sz="1800">
              <a:solidFill>
                <a:schemeClr val="dk1"/>
              </a:solidFill>
              <a:latin typeface="Calibri"/>
              <a:ea typeface="Calibri"/>
              <a:cs typeface="Calibri"/>
              <a:sym typeface="Calibri"/>
            </a:endParaRPr>
          </a:p>
        </p:txBody>
      </p:sp>
      <p:sp>
        <p:nvSpPr>
          <p:cNvPr id="103" name="Google Shape;103;p7"/>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Horner et al. (2004)</a:t>
            </a:r>
            <a:endParaRPr sz="1800">
              <a:solidFill>
                <a:schemeClr val="dk1"/>
              </a:solidFill>
              <a:latin typeface="Calibri"/>
              <a:ea typeface="Calibri"/>
              <a:cs typeface="Calibri"/>
              <a:sym typeface="Calibri"/>
            </a:endParaRPr>
          </a:p>
        </p:txBody>
      </p:sp>
      <p:sp>
        <p:nvSpPr>
          <p:cNvPr id="105" name="Google Shape;105;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Selective lesions require distinct procedural controls</a:t>
            </a:r>
            <a:endParaRPr sz="1800">
              <a:solidFill>
                <a:schemeClr val="dk1"/>
              </a:solidFill>
              <a:latin typeface="Calibri"/>
              <a:ea typeface="Calibri"/>
              <a:cs typeface="Calibri"/>
              <a:sym typeface="Calibri"/>
            </a:endParaRPr>
          </a:p>
        </p:txBody>
      </p:sp>
      <p:sp>
        <p:nvSpPr>
          <p:cNvPr id="111" name="Google Shape;111;p8"/>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Horner and colleagues used several interventions because sensory hairs can contain different neuron types. Shaving removed about 99.8% of aesthetascs. Removing and sealing non-aesthetasc sensilla targeted another pathway, while a 15-min distilled-water treatment temporarily impaired antennular chemosensitivity.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The source was positioned 2 m upstream of release. High and low shrimp concentrations were compared with seawater, and animals were offered shrimp afterward to check feeding motivation. Some manipulations also affected mechanoreceptors, an important qualification when interpreting a failure to orient.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combination separates chemical guidance from complete loss of appetite more effectively than a lesion alone. Distilled-water treatment is reversible over approximately 24 h, but is not a molecularly selective receptor knockout. Orientation failure after a treatment then reflects loss of the sensory population that treatment affected.</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3">
            <a:alphaModFix/>
          </a:blip>
          <a:srcRect b="0" l="0" r="0" t="0"/>
          <a:stretch/>
        </p:blipFill>
        <p:spPr>
          <a:xfrm>
            <a:off x="6325162" y="1280071"/>
            <a:ext cx="5204585" cy="2925961"/>
          </a:xfrm>
          <a:prstGeom prst="rect">
            <a:avLst/>
          </a:prstGeom>
          <a:noFill/>
          <a:ln>
            <a:noFill/>
          </a:ln>
        </p:spPr>
      </p:pic>
      <p:sp>
        <p:nvSpPr>
          <p:cNvPr id="115" name="Google Shape;115;p8"/>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2. Shrimp-odor source, flow chamber and lobster release position.</a:t>
            </a:r>
            <a:endParaRPr sz="1800">
              <a:solidFill>
                <a:schemeClr val="dk1"/>
              </a:solidFill>
              <a:latin typeface="Calibri"/>
              <a:ea typeface="Calibri"/>
              <a:cs typeface="Calibri"/>
              <a:sym typeface="Calibri"/>
            </a:endParaRPr>
          </a:p>
        </p:txBody>
      </p:sp>
      <p:pic>
        <p:nvPicPr>
          <p:cNvPr id="116" name="Google Shape;116;p8"/>
          <p:cNvPicPr preferRelativeResize="0"/>
          <p:nvPr/>
        </p:nvPicPr>
        <p:blipFill rotWithShape="1">
          <a:blip r:embed="rId4">
            <a:alphaModFix/>
          </a:blip>
          <a:srcRect b="0" l="0" r="0" t="0"/>
          <a:stretch/>
        </p:blipFill>
        <p:spPr>
          <a:xfrm>
            <a:off x="8198346" y="4754774"/>
            <a:ext cx="1458069" cy="1005755"/>
          </a:xfrm>
          <a:prstGeom prst="rect">
            <a:avLst/>
          </a:prstGeom>
          <a:noFill/>
          <a:ln>
            <a:noFill/>
          </a:ln>
        </p:spPr>
      </p:pic>
      <p:sp>
        <p:nvSpPr>
          <p:cNvPr id="117" name="Google Shape;117;p8"/>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118" name="Google Shape;118;p8"/>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Horner et al. (2004)</a:t>
            </a:r>
            <a:endParaRPr sz="1800">
              <a:solidFill>
                <a:schemeClr val="dk1"/>
              </a:solidFill>
              <a:latin typeface="Calibri"/>
              <a:ea typeface="Calibri"/>
              <a:cs typeface="Calibri"/>
              <a:sym typeface="Calibri"/>
            </a:endParaRPr>
          </a:p>
        </p:txBody>
      </p:sp>
      <p:sp>
        <p:nvSpPr>
          <p:cNvPr id="120" name="Google Shape;120;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Either pathway can preserve food-source finding</a:t>
            </a:r>
            <a:endParaRPr sz="1800">
              <a:solidFill>
                <a:schemeClr val="dk1"/>
              </a:solidFill>
              <a:latin typeface="Calibri"/>
              <a:ea typeface="Calibri"/>
              <a:cs typeface="Calibri"/>
              <a:sym typeface="Calibri"/>
            </a:endParaRPr>
          </a:p>
        </p:txBody>
      </p:sp>
      <p:sp>
        <p:nvSpPr>
          <p:cNvPr id="126" name="Google Shape;126;p9"/>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Horner and colleagues measured the proportion of lobsters reaching the odor source after selective bilateral sensory manipulation. Intact animals found the high-odor source in 68% of trials and the low-odor source in 45%; no intact animal located a seawater source.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After aesthetasc removal, success remained 77% for high odor and 69% for low odor. Removing non-aesthetasc chemo-mechanosensory sensilla also preserved source finding, at 64% and 45%. In contrast, eliminating antennular chemoreceptor input broadly produced very poor localization.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Either retained antennular chemical pathway can therefore support this food-search task. Input from the aesthetascs or from the non-aesthetasc sensilla is enough to localize the source, whereas broad loss of antennular chemoreceptor input leaves localization very poor.</a:t>
            </a:r>
            <a:endParaRPr sz="1800">
              <a:solidFill>
                <a:schemeClr val="dk1"/>
              </a:solidFill>
              <a:latin typeface="Calibri"/>
              <a:ea typeface="Calibri"/>
              <a:cs typeface="Calibri"/>
              <a:sym typeface="Calibri"/>
            </a:endParaRPr>
          </a:p>
        </p:txBody>
      </p:sp>
      <p:pic>
        <p:nvPicPr>
          <p:cNvPr id="129" name="Google Shape;129;p9"/>
          <p:cNvPicPr preferRelativeResize="0"/>
          <p:nvPr/>
        </p:nvPicPr>
        <p:blipFill rotWithShape="1">
          <a:blip r:embed="rId3">
            <a:alphaModFix/>
          </a:blip>
          <a:srcRect b="0" l="0" r="0" t="0"/>
          <a:stretch/>
        </p:blipFill>
        <p:spPr>
          <a:xfrm>
            <a:off x="6662887" y="1280071"/>
            <a:ext cx="4529285" cy="2925961"/>
          </a:xfrm>
          <a:prstGeom prst="rect">
            <a:avLst/>
          </a:prstGeom>
          <a:noFill/>
          <a:ln>
            <a:noFill/>
          </a:ln>
        </p:spPr>
      </p:pic>
      <p:sp>
        <p:nvSpPr>
          <p:cNvPr id="130" name="Google Shape;130;p9"/>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3. Source-finding success after selective antennular lesions.</a:t>
            </a:r>
            <a:endParaRPr sz="1800">
              <a:solidFill>
                <a:schemeClr val="dk1"/>
              </a:solidFill>
              <a:latin typeface="Calibri"/>
              <a:ea typeface="Calibri"/>
              <a:cs typeface="Calibri"/>
              <a:sym typeface="Calibri"/>
            </a:endParaRPr>
          </a:p>
        </p:txBody>
      </p:sp>
      <p:pic>
        <p:nvPicPr>
          <p:cNvPr id="131" name="Google Shape;131;p9"/>
          <p:cNvPicPr preferRelativeResize="0"/>
          <p:nvPr/>
        </p:nvPicPr>
        <p:blipFill rotWithShape="1">
          <a:blip r:embed="rId4">
            <a:alphaModFix/>
          </a:blip>
          <a:srcRect b="0" l="0" r="0" t="0"/>
          <a:stretch/>
        </p:blipFill>
        <p:spPr>
          <a:xfrm>
            <a:off x="8198346" y="4754774"/>
            <a:ext cx="1458069" cy="1005755"/>
          </a:xfrm>
          <a:prstGeom prst="rect">
            <a:avLst/>
          </a:prstGeom>
          <a:noFill/>
          <a:ln>
            <a:noFill/>
          </a:ln>
        </p:spPr>
      </p:pic>
      <p:sp>
        <p:nvSpPr>
          <p:cNvPr id="132" name="Google Shape;132;p9"/>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133" name="Google Shape;133;p9"/>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Horner et al. (2004)</a:t>
            </a:r>
            <a:endParaRPr sz="1800">
              <a:solidFill>
                <a:schemeClr val="dk1"/>
              </a:solidFill>
              <a:latin typeface="Calibri"/>
              <a:ea typeface="Calibri"/>
              <a:cs typeface="Calibri"/>
              <a:sym typeface="Calibri"/>
            </a:endParaRPr>
          </a:p>
        </p:txBody>
      </p:sp>
      <p:sp>
        <p:nvSpPr>
          <p:cNvPr id="135" name="Google Shape;135;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Successful searching can still become less efficient</a:t>
            </a:r>
            <a:endParaRPr sz="1800">
              <a:solidFill>
                <a:schemeClr val="dk1"/>
              </a:solidFill>
              <a:latin typeface="Calibri"/>
              <a:ea typeface="Calibri"/>
              <a:cs typeface="Calibri"/>
              <a:sym typeface="Calibri"/>
            </a:endParaRPr>
          </a:p>
        </p:txBody>
      </p:sp>
      <p:sp>
        <p:nvSpPr>
          <p:cNvPr id="141" name="Google Shape;141;p10"/>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500"/>
              <a:buFont typeface="Arial"/>
              <a:buNone/>
            </a:pPr>
            <a:r>
              <a:rPr b="1" i="0" lang="en-US" sz="1500">
                <a:solidFill>
                  <a:srgbClr val="743B4A"/>
                </a:solidFill>
                <a:latin typeface="Arial"/>
                <a:ea typeface="Arial"/>
                <a:cs typeface="Arial"/>
                <a:sym typeface="Arial"/>
              </a:rPr>
              <a:t>Net-to-gross displacement ratio</a:t>
            </a:r>
            <a:r>
              <a:rPr b="0" i="0" lang="en-US" sz="1500">
                <a:solidFill>
                  <a:srgbClr val="252D35"/>
                </a:solidFill>
                <a:latin typeface="Arial"/>
                <a:ea typeface="Arial"/>
                <a:cs typeface="Arial"/>
                <a:sym typeface="Arial"/>
              </a:rPr>
              <a:t>, or NGDR, is straight-line displacement divided by total path length. A value closer to one indicates a straighter route. Horner and colleagues measured this variable separately from eventual source-finding success, together with arrival time, speed and heading.</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At high odor concentration, mean NGDR was 0.82 in controls, compared with 0.63 after aesthetasc removal and 0.62 after non-aesthetasc chemo-mechanosensory removal. Mean arrival times across treatment groups were at most 96 s for high odor and 176 s for low odor.</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Remaining sensory pathways can preserve arrival while losing efficient progress. An NGDR falling from 0.82 to about 0.62 means that treated animals walked longer, more winding paths to cover the same straight-line distance, so each pathway contributes to route efficiency as well as to arrival.</a:t>
            </a:r>
            <a:endParaRPr sz="1800">
              <a:solidFill>
                <a:schemeClr val="dk1"/>
              </a:solidFill>
              <a:latin typeface="Calibri"/>
              <a:ea typeface="Calibri"/>
              <a:cs typeface="Calibri"/>
              <a:sym typeface="Calibri"/>
            </a:endParaRPr>
          </a:p>
        </p:txBody>
      </p:sp>
      <p:pic>
        <p:nvPicPr>
          <p:cNvPr id="144" name="Google Shape;144;p10"/>
          <p:cNvPicPr preferRelativeResize="0"/>
          <p:nvPr/>
        </p:nvPicPr>
        <p:blipFill rotWithShape="1">
          <a:blip r:embed="rId3">
            <a:alphaModFix/>
          </a:blip>
          <a:srcRect b="0" l="0" r="0" t="0"/>
          <a:stretch/>
        </p:blipFill>
        <p:spPr>
          <a:xfrm>
            <a:off x="6229955" y="1280071"/>
            <a:ext cx="5394703" cy="2849463"/>
          </a:xfrm>
          <a:prstGeom prst="rect">
            <a:avLst/>
          </a:prstGeom>
          <a:noFill/>
          <a:ln>
            <a:noFill/>
          </a:ln>
        </p:spPr>
      </p:pic>
      <p:sp>
        <p:nvSpPr>
          <p:cNvPr id="145" name="Google Shape;145;p10"/>
          <p:cNvSpPr/>
          <p:nvPr/>
        </p:nvSpPr>
        <p:spPr>
          <a:xfrm>
            <a:off x="6229796" y="4221063"/>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4A–D. Arrival time, path straightness, walking speed and heading.</a:t>
            </a:r>
            <a:endParaRPr sz="1800">
              <a:solidFill>
                <a:schemeClr val="dk1"/>
              </a:solidFill>
              <a:latin typeface="Calibri"/>
              <a:ea typeface="Calibri"/>
              <a:cs typeface="Calibri"/>
              <a:sym typeface="Calibri"/>
            </a:endParaRPr>
          </a:p>
        </p:txBody>
      </p:sp>
      <p:pic>
        <p:nvPicPr>
          <p:cNvPr id="146" name="Google Shape;146;p10"/>
          <p:cNvPicPr preferRelativeResize="0"/>
          <p:nvPr/>
        </p:nvPicPr>
        <p:blipFill rotWithShape="1">
          <a:blip r:embed="rId4">
            <a:alphaModFix/>
          </a:blip>
          <a:srcRect b="0" l="0" r="0" t="0"/>
          <a:stretch/>
        </p:blipFill>
        <p:spPr>
          <a:xfrm>
            <a:off x="8198346" y="4754774"/>
            <a:ext cx="1458069" cy="1005755"/>
          </a:xfrm>
          <a:prstGeom prst="rect">
            <a:avLst/>
          </a:prstGeom>
          <a:noFill/>
          <a:ln>
            <a:noFill/>
          </a:ln>
        </p:spPr>
      </p:pic>
      <p:sp>
        <p:nvSpPr>
          <p:cNvPr id="147" name="Google Shape;147;p10"/>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148" name="Google Shape;148;p10"/>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Horner et al. (2004)</a:t>
            </a:r>
            <a:endParaRPr sz="1800">
              <a:solidFill>
                <a:schemeClr val="dk1"/>
              </a:solidFill>
              <a:latin typeface="Calibri"/>
              <a:ea typeface="Calibri"/>
              <a:cs typeface="Calibri"/>
              <a:sym typeface="Calibri"/>
            </a:endParaRPr>
          </a:p>
        </p:txBody>
      </p:sp>
      <p:sp>
        <p:nvSpPr>
          <p:cNvPr id="150" name="Google Shape;150;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Turbulence produces patchy dissolved odor input</a:t>
            </a:r>
            <a:endParaRPr sz="1800">
              <a:solidFill>
                <a:schemeClr val="dk1"/>
              </a:solidFill>
              <a:latin typeface="Calibri"/>
              <a:ea typeface="Calibri"/>
              <a:cs typeface="Calibri"/>
              <a:sym typeface="Calibri"/>
            </a:endParaRPr>
          </a:p>
        </p:txBody>
      </p:sp>
      <p:sp>
        <p:nvSpPr>
          <p:cNvPr id="156" name="Google Shape;156;p11"/>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An </a:t>
            </a:r>
            <a:r>
              <a:rPr b="1" i="0" lang="en-US" sz="1600">
                <a:solidFill>
                  <a:srgbClr val="743B4A"/>
                </a:solidFill>
                <a:latin typeface="Arial"/>
                <a:ea typeface="Arial"/>
                <a:cs typeface="Arial"/>
                <a:sym typeface="Arial"/>
              </a:rPr>
              <a:t>odor plume</a:t>
            </a:r>
            <a:r>
              <a:rPr b="0" i="0" lang="en-US" sz="1600">
                <a:solidFill>
                  <a:srgbClr val="252D35"/>
                </a:solidFill>
                <a:latin typeface="Arial"/>
                <a:ea typeface="Arial"/>
                <a:cs typeface="Arial"/>
                <a:sym typeface="Arial"/>
              </a:rPr>
              <a:t> is the distribution of odor-bearing water transported downstream from a source. Reidenbach and Koehl visualized plumes using </a:t>
            </a:r>
            <a:r>
              <a:rPr b="1" i="0" lang="en-US" sz="1600">
                <a:solidFill>
                  <a:srgbClr val="743B4A"/>
                </a:solidFill>
                <a:latin typeface="Arial"/>
                <a:ea typeface="Arial"/>
                <a:cs typeface="Arial"/>
                <a:sym typeface="Arial"/>
              </a:rPr>
              <a:t>planar laser-induced fluorescence</a:t>
            </a:r>
            <a:r>
              <a:rPr b="0" i="0" lang="en-US" sz="1600">
                <a:solidFill>
                  <a:srgbClr val="252D35"/>
                </a:solidFill>
                <a:latin typeface="Arial"/>
                <a:ea typeface="Arial"/>
                <a:cs typeface="Arial"/>
                <a:sym typeface="Arial"/>
              </a:rPr>
              <a:t>, or PLIF: a thin laser sheet excites dissolved dye, and calibrated camera intensity estimates local concentration.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Their 25-m flume produced fine odor filaments separated by cleaner water. Images were recorded at 60 frames/s, yielding 16.7-ms temporal resolution. Measurements at different lateral positions showed a denser central plume and sparser encounters toward its edge.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The images record the physical odor input available to a sensory appendage. A smooth time-averaged concentration field conceals the intermittent encounters and gaps that a moving animal actually samples.</a:t>
            </a:r>
            <a:endParaRPr sz="1800">
              <a:solidFill>
                <a:schemeClr val="dk1"/>
              </a:solidFill>
              <a:latin typeface="Calibri"/>
              <a:ea typeface="Calibri"/>
              <a:cs typeface="Calibri"/>
              <a:sym typeface="Calibri"/>
            </a:endParaRPr>
          </a:p>
        </p:txBody>
      </p:sp>
      <p:pic>
        <p:nvPicPr>
          <p:cNvPr id="159" name="Google Shape;159;p11"/>
          <p:cNvPicPr preferRelativeResize="0"/>
          <p:nvPr/>
        </p:nvPicPr>
        <p:blipFill rotWithShape="1">
          <a:blip r:embed="rId3">
            <a:alphaModFix/>
          </a:blip>
          <a:srcRect b="0" l="0" r="0" t="0"/>
          <a:stretch/>
        </p:blipFill>
        <p:spPr>
          <a:xfrm>
            <a:off x="6458577" y="1280071"/>
            <a:ext cx="5166058" cy="1621482"/>
          </a:xfrm>
          <a:prstGeom prst="rect">
            <a:avLst/>
          </a:prstGeom>
          <a:noFill/>
          <a:ln>
            <a:noFill/>
          </a:ln>
        </p:spPr>
      </p:pic>
      <p:sp>
        <p:nvSpPr>
          <p:cNvPr id="160" name="Google Shape;160;p11"/>
          <p:cNvSpPr/>
          <p:nvPr/>
        </p:nvSpPr>
        <p:spPr>
          <a:xfrm>
            <a:off x="6458396" y="2993082"/>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&amp; Koehl (2011), Fig. 3A–C. Measured dye plumes under three flow conditions.</a:t>
            </a:r>
            <a:endParaRPr sz="1800">
              <a:solidFill>
                <a:schemeClr val="dk1"/>
              </a:solidFill>
              <a:latin typeface="Calibri"/>
              <a:ea typeface="Calibri"/>
              <a:cs typeface="Calibri"/>
              <a:sym typeface="Calibri"/>
            </a:endParaRPr>
          </a:p>
        </p:txBody>
      </p:sp>
      <p:sp>
        <p:nvSpPr>
          <p:cNvPr id="161" name="Google Shape;161;p11"/>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&amp; Koehl (2011)</a:t>
            </a:r>
            <a:endParaRPr sz="1800">
              <a:solidFill>
                <a:schemeClr val="dk1"/>
              </a:solidFill>
              <a:latin typeface="Calibri"/>
              <a:ea typeface="Calibri"/>
              <a:cs typeface="Calibri"/>
              <a:sym typeface="Calibri"/>
            </a:endParaRPr>
          </a:p>
        </p:txBody>
      </p:sp>
      <p:sp>
        <p:nvSpPr>
          <p:cNvPr id="163" name="Google Shape;163;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 name="Shape 167"/>
        <p:cNvGrpSpPr/>
        <p:nvPr/>
      </p:nvGrpSpPr>
      <p:grpSpPr>
        <a:xfrm>
          <a:off x="0" y="0"/>
          <a:ext cx="0" cy="0"/>
          <a:chOff x="0" y="0"/>
          <a:chExt cx="0" cy="0"/>
        </a:xfrm>
      </p:grpSpPr>
      <p:sp>
        <p:nvSpPr>
          <p:cNvPr id="168" name="Google Shape;168;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Antennular length changes the sampled chemical pattern</a:t>
            </a:r>
            <a:endParaRPr sz="1800">
              <a:solidFill>
                <a:schemeClr val="dk1"/>
              </a:solidFill>
              <a:latin typeface="Calibri"/>
              <a:ea typeface="Calibri"/>
              <a:cs typeface="Calibri"/>
              <a:sym typeface="Calibri"/>
            </a:endParaRPr>
          </a:p>
        </p:txBody>
      </p:sp>
      <p:sp>
        <p:nvSpPr>
          <p:cNvPr id="169" name="Google Shape;169;p1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Reidenbach and Koehl placed virtual sampling lines within measured PLIF images to represent the aesthetasc-bearing portion of an antennule. Lobster and blue-crab geometries were compared at the same 8-cm height. This approach separates appendage geometry from differences in chemical receptor sensitivity.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The lobster sampler flicked at 2 Hz and moved at 6 cm/s during the downstroke. The crab sampler was only 2 mm long and flicked at 3 Hz. Lobster geometry intercepted odor during more flicks and sampled higher peak concentrations than crab geometry.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Longer sampling structures can encounter more filaments, while faster sampling can partly compensate for shorter length. Sampling geometry and flick rate determine how much of the filament structure of the plume reaches the receptors, independent of receptor sensitivity.</a:t>
            </a:r>
            <a:endParaRPr sz="1800">
              <a:solidFill>
                <a:schemeClr val="dk1"/>
              </a:solidFill>
              <a:latin typeface="Calibri"/>
              <a:ea typeface="Calibri"/>
              <a:cs typeface="Calibri"/>
              <a:sym typeface="Calibri"/>
            </a:endParaRPr>
          </a:p>
        </p:txBody>
      </p:sp>
      <p:pic>
        <p:nvPicPr>
          <p:cNvPr id="172" name="Google Shape;172;p12"/>
          <p:cNvPicPr preferRelativeResize="0"/>
          <p:nvPr/>
        </p:nvPicPr>
        <p:blipFill rotWithShape="1">
          <a:blip r:embed="rId3">
            <a:alphaModFix/>
          </a:blip>
          <a:srcRect b="0" l="0" r="0" t="0"/>
          <a:stretch/>
        </p:blipFill>
        <p:spPr>
          <a:xfrm>
            <a:off x="6458497" y="1280071"/>
            <a:ext cx="5166219" cy="4067770"/>
          </a:xfrm>
          <a:prstGeom prst="rect">
            <a:avLst/>
          </a:prstGeom>
          <a:noFill/>
          <a:ln>
            <a:noFill/>
          </a:ln>
        </p:spPr>
      </p:pic>
      <p:sp>
        <p:nvSpPr>
          <p:cNvPr id="173" name="Google Shape;173;p12"/>
          <p:cNvSpPr/>
          <p:nvPr/>
        </p:nvSpPr>
        <p:spPr>
          <a:xfrm>
            <a:off x="6458396" y="5439370"/>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&amp; Koehl (2011), Fig. 5A–B. Colored plume filaments and concentration along a sampling transect.</a:t>
            </a:r>
            <a:endParaRPr sz="1800">
              <a:solidFill>
                <a:schemeClr val="dk1"/>
              </a:solidFill>
              <a:latin typeface="Calibri"/>
              <a:ea typeface="Calibri"/>
              <a:cs typeface="Calibri"/>
              <a:sym typeface="Calibri"/>
            </a:endParaRPr>
          </a:p>
        </p:txBody>
      </p:sp>
      <p:sp>
        <p:nvSpPr>
          <p:cNvPr id="174" name="Google Shape;174;p12"/>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&amp; Koehl (2011)</a:t>
            </a:r>
            <a:endParaRPr sz="1800">
              <a:solidFill>
                <a:schemeClr val="dk1"/>
              </a:solidFill>
              <a:latin typeface="Calibri"/>
              <a:ea typeface="Calibri"/>
              <a:cs typeface="Calibri"/>
              <a:sym typeface="Calibri"/>
            </a:endParaRPr>
          </a:p>
        </p:txBody>
      </p:sp>
      <p:sp>
        <p:nvSpPr>
          <p:cNvPr id="176" name="Google Shape;176;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id="181" name="Google Shape;181;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Discrete sniffing changes the gaps between encounters</a:t>
            </a:r>
            <a:endParaRPr sz="1800">
              <a:solidFill>
                <a:schemeClr val="dk1"/>
              </a:solidFill>
              <a:latin typeface="Calibri"/>
              <a:ea typeface="Calibri"/>
              <a:cs typeface="Calibri"/>
              <a:sym typeface="Calibri"/>
            </a:endParaRPr>
          </a:p>
        </p:txBody>
      </p:sp>
      <p:sp>
        <p:nvSpPr>
          <p:cNvPr id="182" name="Google Shape;182;p1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An </a:t>
            </a:r>
            <a:r>
              <a:rPr b="1" i="0" lang="en-US" sz="1400">
                <a:solidFill>
                  <a:srgbClr val="743B4A"/>
                </a:solidFill>
                <a:latin typeface="Arial"/>
                <a:ea typeface="Arial"/>
                <a:cs typeface="Arial"/>
                <a:sym typeface="Arial"/>
              </a:rPr>
              <a:t>odor-free gap</a:t>
            </a:r>
            <a:r>
              <a:rPr b="0" i="0" lang="en-US" sz="1400">
                <a:solidFill>
                  <a:srgbClr val="252D35"/>
                </a:solidFill>
                <a:latin typeface="Arial"/>
                <a:ea typeface="Arial"/>
                <a:cs typeface="Arial"/>
                <a:sym typeface="Arial"/>
              </a:rPr>
              <a:t> is an interval without an encounter above the chosen detection threshold. Reidenbach and Koehl compared continuous concentration measurements with the concentrations encountered by virtual flicking antennules. The comparison shows how intermittent sampling changes the timing of the chemical information available to the animal, because a sampler that moves in discrete steps meets a different sequence of concentrations than a continuous sensor does.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Almost all gaps in the continuously measured concentration were shorter than 500 ms throughout the sampled plume. Flicking antennules instead experienced longer gaps, and these gaps grew as the distance to the source decreased. The sampling schedule therefore altered the statistics of the input before any neural processing occurred, so the same plume delivered a different temporal pattern to the animal.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The distance relationship is counterintuitive, because encounter frequency changes with plume transport, threshold and flicking geometry rather than with distance alone. Gap timing is a </a:t>
            </a:r>
            <a:r>
              <a:rPr b="1" i="0" lang="en-US" sz="1400">
                <a:solidFill>
                  <a:srgbClr val="743B4A"/>
                </a:solidFill>
                <a:latin typeface="Arial"/>
                <a:ea typeface="Arial"/>
                <a:cs typeface="Arial"/>
                <a:sym typeface="Arial"/>
              </a:rPr>
              <a:t>temporal cue</a:t>
            </a:r>
            <a:r>
              <a:rPr b="0" i="0" lang="en-US" sz="1400">
                <a:solidFill>
                  <a:srgbClr val="252D35"/>
                </a:solidFill>
                <a:latin typeface="Arial"/>
                <a:ea typeface="Arial"/>
                <a:cs typeface="Arial"/>
                <a:sym typeface="Arial"/>
              </a:rPr>
              <a:t> produced jointly by the plume and the sampling schedule, and an animal that samples intermittently can read that cue to judge its position within the plume.</a:t>
            </a:r>
            <a:endParaRPr sz="1800">
              <a:solidFill>
                <a:schemeClr val="dk1"/>
              </a:solidFill>
              <a:latin typeface="Calibri"/>
              <a:ea typeface="Calibri"/>
              <a:cs typeface="Calibri"/>
              <a:sym typeface="Calibri"/>
            </a:endParaRPr>
          </a:p>
        </p:txBody>
      </p:sp>
      <p:pic>
        <p:nvPicPr>
          <p:cNvPr id="185" name="Google Shape;185;p13"/>
          <p:cNvPicPr preferRelativeResize="0"/>
          <p:nvPr/>
        </p:nvPicPr>
        <p:blipFill rotWithShape="1">
          <a:blip r:embed="rId3">
            <a:alphaModFix/>
          </a:blip>
          <a:srcRect b="0" l="0" r="0" t="0"/>
          <a:stretch/>
        </p:blipFill>
        <p:spPr>
          <a:xfrm>
            <a:off x="7175938" y="1280071"/>
            <a:ext cx="3731337" cy="4297561"/>
          </a:xfrm>
          <a:prstGeom prst="rect">
            <a:avLst/>
          </a:prstGeom>
          <a:noFill/>
          <a:ln>
            <a:noFill/>
          </a:ln>
        </p:spPr>
      </p:pic>
      <p:sp>
        <p:nvSpPr>
          <p:cNvPr id="186" name="Google Shape;186;p13"/>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&amp; Koehl (2011), Fig. 7A–F. Odor-free gap categories for flicking and continuous sampling.</a:t>
            </a:r>
            <a:endParaRPr sz="1800">
              <a:solidFill>
                <a:schemeClr val="dk1"/>
              </a:solidFill>
              <a:latin typeface="Calibri"/>
              <a:ea typeface="Calibri"/>
              <a:cs typeface="Calibri"/>
              <a:sym typeface="Calibri"/>
            </a:endParaRPr>
          </a:p>
        </p:txBody>
      </p:sp>
      <p:sp>
        <p:nvSpPr>
          <p:cNvPr id="187" name="Google Shape;187;p1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&amp; Koehl (2011)</a:t>
            </a:r>
            <a:endParaRPr sz="1800">
              <a:solidFill>
                <a:schemeClr val="dk1"/>
              </a:solidFill>
              <a:latin typeface="Calibri"/>
              <a:ea typeface="Calibri"/>
              <a:cs typeface="Calibri"/>
              <a:sym typeface="Calibri"/>
            </a:endParaRPr>
          </a:p>
        </p:txBody>
      </p:sp>
      <p:sp>
        <p:nvSpPr>
          <p:cNvPr id="189" name="Google Shape;189;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Antennules and legs encounter different gradients</a:t>
            </a:r>
            <a:endParaRPr sz="1800">
              <a:solidFill>
                <a:schemeClr val="dk1"/>
              </a:solidFill>
              <a:latin typeface="Calibri"/>
              <a:ea typeface="Calibri"/>
              <a:cs typeface="Calibri"/>
              <a:sym typeface="Calibri"/>
            </a:endParaRPr>
          </a:p>
        </p:txBody>
      </p:sp>
      <p:sp>
        <p:nvSpPr>
          <p:cNvPr id="195" name="Google Shape;195;p14"/>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600"/>
              <a:buFont typeface="Arial"/>
              <a:buNone/>
            </a:pPr>
            <a:r>
              <a:rPr b="0" i="0" lang="en-US" sz="1450">
                <a:solidFill>
                  <a:srgbClr val="252D35"/>
                </a:solidFill>
                <a:latin typeface="Arial"/>
                <a:ea typeface="Arial"/>
                <a:cs typeface="Arial"/>
                <a:sym typeface="Arial"/>
              </a:rPr>
              <a:t>Near the seabed, transport and mixing differ from conditions several centimeters above it. Reidenbach and Koehl compared chemical samples at antennular height with samples taken near walking-leg height. The same source therefore generates different concentration patterns for different sensory surfaces, so the position of a sensor determines which chemical gradient it reads.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450">
                <a:solidFill>
                  <a:srgbClr val="252D35"/>
                </a:solidFill>
                <a:latin typeface="Arial"/>
                <a:ea typeface="Arial"/>
                <a:cs typeface="Arial"/>
                <a:sym typeface="Arial"/>
              </a:rPr>
              <a:t>Mean sampled concentrations near the bed increased toward the source, whereas the mean concentrations sampled higher by flicking antennules decreased toward it in this preparation. Variance was also lower near the bed. The measurements covered downstream positions from about 1 to 2.5 m, which places the contrast within the range where walking animals search.</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450">
                <a:solidFill>
                  <a:srgbClr val="252D35"/>
                </a:solidFill>
                <a:latin typeface="Arial"/>
                <a:ea typeface="Arial"/>
                <a:cs typeface="Arial"/>
                <a:sym typeface="Arial"/>
              </a:rPr>
              <a:t>Close-range leg sampling and distant antennular sampling provide different information. The rise in mean concentration near the bed close to the source matches the increase in leg raking during Homarus approaches, because the walking legs sample where bed concentration is rising. Each sensory surface therefore contributes its own gradient to a single search.</a:t>
            </a:r>
            <a:endParaRPr sz="1800">
              <a:solidFill>
                <a:schemeClr val="dk1"/>
              </a:solidFill>
              <a:latin typeface="Calibri"/>
              <a:ea typeface="Calibri"/>
              <a:cs typeface="Calibri"/>
              <a:sym typeface="Calibri"/>
            </a:endParaRPr>
          </a:p>
        </p:txBody>
      </p:sp>
      <p:pic>
        <p:nvPicPr>
          <p:cNvPr id="198" name="Google Shape;198;p14"/>
          <p:cNvPicPr preferRelativeResize="0"/>
          <p:nvPr/>
        </p:nvPicPr>
        <p:blipFill rotWithShape="1">
          <a:blip r:embed="rId3">
            <a:alphaModFix/>
          </a:blip>
          <a:srcRect b="0" l="0" r="0" t="0"/>
          <a:stretch/>
        </p:blipFill>
        <p:spPr>
          <a:xfrm>
            <a:off x="6458564" y="1280071"/>
            <a:ext cx="5166085" cy="2195513"/>
          </a:xfrm>
          <a:prstGeom prst="rect">
            <a:avLst/>
          </a:prstGeom>
          <a:noFill/>
          <a:ln>
            <a:noFill/>
          </a:ln>
        </p:spPr>
      </p:pic>
      <p:sp>
        <p:nvSpPr>
          <p:cNvPr id="199" name="Google Shape;199;p14"/>
          <p:cNvSpPr/>
          <p:nvPr/>
        </p:nvSpPr>
        <p:spPr>
          <a:xfrm>
            <a:off x="6458396" y="3567113"/>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&amp; Koehl (2011), Fig. 8A–D. Encountered concentrations versus source distance.</a:t>
            </a:r>
            <a:endParaRPr sz="1800">
              <a:solidFill>
                <a:schemeClr val="dk1"/>
              </a:solidFill>
              <a:latin typeface="Calibri"/>
              <a:ea typeface="Calibri"/>
              <a:cs typeface="Calibri"/>
              <a:sym typeface="Calibri"/>
            </a:endParaRPr>
          </a:p>
        </p:txBody>
      </p:sp>
      <p:sp>
        <p:nvSpPr>
          <p:cNvPr id="200" name="Google Shape;200;p14"/>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&amp; Koehl (2011); Moore et al. (1991)</a:t>
            </a:r>
            <a:endParaRPr sz="1800">
              <a:solidFill>
                <a:schemeClr val="dk1"/>
              </a:solidFill>
              <a:latin typeface="Calibri"/>
              <a:ea typeface="Calibri"/>
              <a:cs typeface="Calibri"/>
              <a:sym typeface="Calibri"/>
            </a:endParaRPr>
          </a:p>
        </p:txBody>
      </p:sp>
      <p:sp>
        <p:nvSpPr>
          <p:cNvPr id="202" name="Google Shape;202;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Aesthetasc arrays organize the olfactory interface</a:t>
            </a:r>
            <a:endParaRPr sz="1800">
              <a:solidFill>
                <a:schemeClr val="dk1"/>
              </a:solidFill>
              <a:latin typeface="Calibri"/>
              <a:ea typeface="Calibri"/>
              <a:cs typeface="Calibri"/>
              <a:sym typeface="Calibri"/>
            </a:endParaRPr>
          </a:p>
        </p:txBody>
      </p:sp>
      <p:sp>
        <p:nvSpPr>
          <p:cNvPr id="208" name="Google Shape;208;p1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500"/>
              <a:buFont typeface="Arial"/>
              <a:buNone/>
            </a:pPr>
            <a:r>
              <a:rPr b="1" i="0" lang="en-US" sz="1500">
                <a:solidFill>
                  <a:srgbClr val="743B4A"/>
                </a:solidFill>
                <a:latin typeface="Arial"/>
                <a:ea typeface="Arial"/>
                <a:cs typeface="Arial"/>
                <a:sym typeface="Arial"/>
              </a:rPr>
              <a:t>Aesthetascs</a:t>
            </a:r>
            <a:r>
              <a:rPr b="0" i="0" lang="en-US" sz="1500">
                <a:solidFill>
                  <a:srgbClr val="252D35"/>
                </a:solidFill>
                <a:latin typeface="Arial"/>
                <a:ea typeface="Arial"/>
                <a:cs typeface="Arial"/>
                <a:sym typeface="Arial"/>
              </a:rPr>
              <a:t> are thin-walled sensory hairs bearing the outer dendrites of olfactory receptor neurons. On a Panulirus lateral antennular flagellum, they occur in repeated rows bordered by larger guard hairs. The scanning electron micrographs reveal a structured array rather than a uniformly exposed sensory surface.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Reidenbach, George and Koehl measured biological geometry before constructing physical models. Representative aesthetasc diameter was 22 µm, length about 720 µm, and spacing about 60 µm. The hairs are arranged at an offset angle, allowing appendage orientation to influence the water entering their gaps.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Chemical detection requires molecules to reach this sensory interface before membrane receptors can respond. Guard hairs and row spacing set the gaps through which water and odor molecules enter, so the hydrodynamics of the array can be measured directly.</a:t>
            </a:r>
            <a:endParaRPr sz="1800">
              <a:solidFill>
                <a:schemeClr val="dk1"/>
              </a:solidFill>
              <a:latin typeface="Calibri"/>
              <a:ea typeface="Calibri"/>
              <a:cs typeface="Calibri"/>
              <a:sym typeface="Calibri"/>
            </a:endParaRPr>
          </a:p>
        </p:txBody>
      </p:sp>
      <p:pic>
        <p:nvPicPr>
          <p:cNvPr id="211" name="Google Shape;211;p15"/>
          <p:cNvPicPr preferRelativeResize="0"/>
          <p:nvPr/>
        </p:nvPicPr>
        <p:blipFill rotWithShape="1">
          <a:blip r:embed="rId3">
            <a:alphaModFix/>
          </a:blip>
          <a:srcRect b="0" l="0" r="0" t="0"/>
          <a:stretch/>
        </p:blipFill>
        <p:spPr>
          <a:xfrm>
            <a:off x="7996463" y="1280071"/>
            <a:ext cx="2090584" cy="4297561"/>
          </a:xfrm>
          <a:prstGeom prst="rect">
            <a:avLst/>
          </a:prstGeom>
          <a:noFill/>
          <a:ln>
            <a:noFill/>
          </a:ln>
        </p:spPr>
      </p:pic>
      <p:sp>
        <p:nvSpPr>
          <p:cNvPr id="212" name="Google Shape;212;p15"/>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1A–C. Spiny lobster photograph and antennular scanning electron micrographs.</a:t>
            </a:r>
            <a:endParaRPr sz="1800">
              <a:solidFill>
                <a:schemeClr val="dk1"/>
              </a:solidFill>
              <a:latin typeface="Calibri"/>
              <a:ea typeface="Calibri"/>
              <a:cs typeface="Calibri"/>
              <a:sym typeface="Calibri"/>
            </a:endParaRPr>
          </a:p>
        </p:txBody>
      </p:sp>
      <p:sp>
        <p:nvSpPr>
          <p:cNvPr id="213" name="Google Shape;213;p15"/>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et al. (2008)</a:t>
            </a:r>
            <a:endParaRPr sz="1800">
              <a:solidFill>
                <a:schemeClr val="dk1"/>
              </a:solidFill>
              <a:latin typeface="Calibri"/>
              <a:ea typeface="Calibri"/>
              <a:cs typeface="Calibri"/>
              <a:sym typeface="Calibri"/>
            </a:endParaRPr>
          </a:p>
        </p:txBody>
      </p:sp>
      <p:sp>
        <p:nvSpPr>
          <p:cNvPr id="215" name="Google Shape;215;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Scaled physical models isolate hair-array hydrodynamics</a:t>
            </a:r>
            <a:endParaRPr sz="1800">
              <a:solidFill>
                <a:schemeClr val="dk1"/>
              </a:solidFill>
              <a:latin typeface="Calibri"/>
              <a:ea typeface="Calibri"/>
              <a:cs typeface="Calibri"/>
              <a:sym typeface="Calibri"/>
            </a:endParaRPr>
          </a:p>
        </p:txBody>
      </p:sp>
      <p:sp>
        <p:nvSpPr>
          <p:cNvPr id="221" name="Google Shape;221;p16"/>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A </a:t>
            </a:r>
            <a:r>
              <a:rPr b="1" i="0" lang="en-US" sz="1500">
                <a:solidFill>
                  <a:srgbClr val="743B4A"/>
                </a:solidFill>
                <a:latin typeface="Arial"/>
                <a:ea typeface="Arial"/>
                <a:cs typeface="Arial"/>
                <a:sym typeface="Arial"/>
              </a:rPr>
              <a:t>dynamically scaled model</a:t>
            </a:r>
            <a:r>
              <a:rPr b="0" i="0" lang="en-US" sz="1500">
                <a:solidFill>
                  <a:srgbClr val="252D35"/>
                </a:solidFill>
                <a:latin typeface="Arial"/>
                <a:ea typeface="Arial"/>
                <a:cs typeface="Arial"/>
                <a:sym typeface="Arial"/>
              </a:rPr>
              <a:t> reproduces the important balance of fluid forces despite using enlarged structures and a different fluid. Reidenbach and colleagues built glass-rod hair arrays in mineral oil and matched the </a:t>
            </a:r>
            <a:r>
              <a:rPr b="1" i="0" lang="en-US" sz="1500">
                <a:solidFill>
                  <a:srgbClr val="743B4A"/>
                </a:solidFill>
                <a:latin typeface="Arial"/>
                <a:ea typeface="Arial"/>
                <a:cs typeface="Arial"/>
                <a:sym typeface="Arial"/>
              </a:rPr>
              <a:t>Reynolds number</a:t>
            </a:r>
            <a:r>
              <a:rPr b="0" i="0" lang="en-US" sz="1500">
                <a:solidFill>
                  <a:srgbClr val="252D35"/>
                </a:solidFill>
                <a:latin typeface="Arial"/>
                <a:ea typeface="Arial"/>
                <a:cs typeface="Arial"/>
                <a:sym typeface="Arial"/>
              </a:rPr>
              <a:t>, the ratio of inertial to viscous effects relevant to flow.</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Biological dimensions and flicking motions constrained the model geometry. </a:t>
            </a:r>
            <a:r>
              <a:rPr b="1" i="0" lang="en-US" sz="1500">
                <a:solidFill>
                  <a:srgbClr val="743B4A"/>
                </a:solidFill>
                <a:latin typeface="Arial"/>
                <a:ea typeface="Arial"/>
                <a:cs typeface="Arial"/>
                <a:sym typeface="Arial"/>
              </a:rPr>
              <a:t>Particle-image velocimetry</a:t>
            </a:r>
            <a:r>
              <a:rPr b="0" i="0" lang="en-US" sz="1500">
                <a:solidFill>
                  <a:srgbClr val="252D35"/>
                </a:solidFill>
                <a:latin typeface="Arial"/>
                <a:ea typeface="Arial"/>
                <a:cs typeface="Arial"/>
                <a:sym typeface="Arial"/>
              </a:rPr>
              <a:t>, or PIV, tracked suspended particles between images to measure fluid velocity around and between hairs. The investigators varied orientation, speed and guard-hair presence while retaining the remaining preparation.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These controlled changes identify mechanical causes of water exchange that are difficult to measure inside a living hair array. Varying orientation, speed and guard-hair presence reveals how array geometry sets the delivery of fresh water to the aesthetasc surfaces.</a:t>
            </a:r>
            <a:endParaRPr sz="1800">
              <a:solidFill>
                <a:schemeClr val="dk1"/>
              </a:solidFill>
              <a:latin typeface="Calibri"/>
              <a:ea typeface="Calibri"/>
              <a:cs typeface="Calibri"/>
              <a:sym typeface="Calibri"/>
            </a:endParaRPr>
          </a:p>
        </p:txBody>
      </p:sp>
      <p:pic>
        <p:nvPicPr>
          <p:cNvPr id="224" name="Google Shape;224;p16"/>
          <p:cNvPicPr preferRelativeResize="0"/>
          <p:nvPr/>
        </p:nvPicPr>
        <p:blipFill rotWithShape="1">
          <a:blip r:embed="rId3">
            <a:alphaModFix/>
          </a:blip>
          <a:srcRect b="0" l="0" r="0" t="0"/>
          <a:stretch/>
        </p:blipFill>
        <p:spPr>
          <a:xfrm>
            <a:off x="7959642" y="1280071"/>
            <a:ext cx="1935477" cy="2925961"/>
          </a:xfrm>
          <a:prstGeom prst="rect">
            <a:avLst/>
          </a:prstGeom>
          <a:noFill/>
          <a:ln>
            <a:noFill/>
          </a:ln>
        </p:spPr>
      </p:pic>
      <p:sp>
        <p:nvSpPr>
          <p:cNvPr id="225" name="Google Shape;225;p16"/>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3A–B. Ventral and side photographs of the dynamically scaled physical hair-array model.</a:t>
            </a:r>
            <a:endParaRPr sz="1800">
              <a:solidFill>
                <a:schemeClr val="dk1"/>
              </a:solidFill>
              <a:latin typeface="Calibri"/>
              <a:ea typeface="Calibri"/>
              <a:cs typeface="Calibri"/>
              <a:sym typeface="Calibri"/>
            </a:endParaRPr>
          </a:p>
        </p:txBody>
      </p:sp>
      <p:pic>
        <p:nvPicPr>
          <p:cNvPr id="226" name="Google Shape;226;p16"/>
          <p:cNvPicPr preferRelativeResize="0"/>
          <p:nvPr/>
        </p:nvPicPr>
        <p:blipFill rotWithShape="1">
          <a:blip r:embed="rId4">
            <a:alphaModFix/>
          </a:blip>
          <a:srcRect b="0" l="0" r="0" t="0"/>
          <a:stretch/>
        </p:blipFill>
        <p:spPr>
          <a:xfrm>
            <a:off x="8198346" y="4754774"/>
            <a:ext cx="1458069" cy="1005755"/>
          </a:xfrm>
          <a:prstGeom prst="rect">
            <a:avLst/>
          </a:prstGeom>
          <a:noFill/>
          <a:ln>
            <a:noFill/>
          </a:ln>
        </p:spPr>
      </p:pic>
      <p:sp>
        <p:nvSpPr>
          <p:cNvPr id="227" name="Google Shape;227;p16"/>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228" name="Google Shape;228;p16"/>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et al. (2008); Horner et al. (2004)</a:t>
            </a:r>
            <a:endParaRPr sz="1800">
              <a:solidFill>
                <a:schemeClr val="dk1"/>
              </a:solidFill>
              <a:latin typeface="Calibri"/>
              <a:ea typeface="Calibri"/>
              <a:cs typeface="Calibri"/>
              <a:sym typeface="Calibri"/>
            </a:endParaRPr>
          </a:p>
        </p:txBody>
      </p:sp>
      <p:sp>
        <p:nvSpPr>
          <p:cNvPr id="230" name="Google Shape;230;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 name="Shape 234"/>
        <p:cNvGrpSpPr/>
        <p:nvPr/>
      </p:nvGrpSpPr>
      <p:grpSpPr>
        <a:xfrm>
          <a:off x="0" y="0"/>
          <a:ext cx="0" cy="0"/>
          <a:chOff x="0" y="0"/>
          <a:chExt cx="0" cy="0"/>
        </a:xfrm>
      </p:grpSpPr>
      <p:sp>
        <p:nvSpPr>
          <p:cNvPr id="235" name="Google Shape;235;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The fast downstroke replaces water between hairs</a:t>
            </a:r>
            <a:endParaRPr sz="1800">
              <a:solidFill>
                <a:schemeClr val="dk1"/>
              </a:solidFill>
              <a:latin typeface="Calibri"/>
              <a:ea typeface="Calibri"/>
              <a:cs typeface="Calibri"/>
              <a:sym typeface="Calibri"/>
            </a:endParaRPr>
          </a:p>
        </p:txBody>
      </p:sp>
      <p:sp>
        <p:nvSpPr>
          <p:cNvPr id="236" name="Google Shape;236;p17"/>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An antennular flick consists of a fast downward movement followed by a slower return. In the scaled-model study, PIV measured water velocity inside the hair array during the downstroke. The published color map reports velocity rather than chemical concentration or sensory-neuron activity.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During the fast movement, water penetrated the aesthetasc gaps and replaced the previously retained sample. Measured profiles were comparatively uniform across the array. Separate high-speed recordings placed downstroke motion near an aesthetasc Reynolds number of 2, compared with about 0.5 during return.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sensory organ therefore controls exposure mechanically before a receptor opens. Fresh water entering the gaps delivers new odor molecules to the aesthetasc surfaces with each downstroke.</a:t>
            </a:r>
            <a:endParaRPr sz="1800">
              <a:solidFill>
                <a:schemeClr val="dk1"/>
              </a:solidFill>
              <a:latin typeface="Calibri"/>
              <a:ea typeface="Calibri"/>
              <a:cs typeface="Calibri"/>
              <a:sym typeface="Calibri"/>
            </a:endParaRPr>
          </a:p>
        </p:txBody>
      </p:sp>
      <p:pic>
        <p:nvPicPr>
          <p:cNvPr id="239" name="Google Shape;239;p17"/>
          <p:cNvPicPr preferRelativeResize="0"/>
          <p:nvPr/>
        </p:nvPicPr>
        <p:blipFill rotWithShape="1">
          <a:blip r:embed="rId3">
            <a:alphaModFix/>
          </a:blip>
          <a:srcRect b="0" l="0" r="0" t="0"/>
          <a:stretch/>
        </p:blipFill>
        <p:spPr>
          <a:xfrm>
            <a:off x="7886744" y="1280071"/>
            <a:ext cx="2081572" cy="2925961"/>
          </a:xfrm>
          <a:prstGeom prst="rect">
            <a:avLst/>
          </a:prstGeom>
          <a:noFill/>
          <a:ln>
            <a:noFill/>
          </a:ln>
        </p:spPr>
      </p:pic>
      <p:sp>
        <p:nvSpPr>
          <p:cNvPr id="240" name="Google Shape;240;p17"/>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5A–B. Measured particle-image-velocimetry flow during the downstroke.</a:t>
            </a:r>
            <a:endParaRPr sz="1800">
              <a:solidFill>
                <a:schemeClr val="dk1"/>
              </a:solidFill>
              <a:latin typeface="Calibri"/>
              <a:ea typeface="Calibri"/>
              <a:cs typeface="Calibri"/>
              <a:sym typeface="Calibri"/>
            </a:endParaRPr>
          </a:p>
        </p:txBody>
      </p:sp>
      <p:pic>
        <p:nvPicPr>
          <p:cNvPr id="241" name="Google Shape;241;p17"/>
          <p:cNvPicPr preferRelativeResize="0"/>
          <p:nvPr/>
        </p:nvPicPr>
        <p:blipFill rotWithShape="1">
          <a:blip r:embed="rId4">
            <a:alphaModFix/>
          </a:blip>
          <a:srcRect b="0" l="0" r="0" t="0"/>
          <a:stretch/>
        </p:blipFill>
        <p:spPr>
          <a:xfrm>
            <a:off x="8198346" y="4754774"/>
            <a:ext cx="1458069" cy="1005755"/>
          </a:xfrm>
          <a:prstGeom prst="rect">
            <a:avLst/>
          </a:prstGeom>
          <a:noFill/>
          <a:ln>
            <a:noFill/>
          </a:ln>
        </p:spPr>
      </p:pic>
      <p:sp>
        <p:nvSpPr>
          <p:cNvPr id="242" name="Google Shape;242;p17"/>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243" name="Google Shape;243;p17"/>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et al. (2008); Horner et al. (2004); Goldman &amp; Koehl (2001)</a:t>
            </a:r>
            <a:endParaRPr sz="1800">
              <a:solidFill>
                <a:schemeClr val="dk1"/>
              </a:solidFill>
              <a:latin typeface="Calibri"/>
              <a:ea typeface="Calibri"/>
              <a:cs typeface="Calibri"/>
              <a:sym typeface="Calibri"/>
            </a:endParaRPr>
          </a:p>
        </p:txBody>
      </p:sp>
      <p:sp>
        <p:nvSpPr>
          <p:cNvPr id="245" name="Google Shape;245;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The slow return retains a chemical sample</a:t>
            </a:r>
            <a:endParaRPr sz="1800">
              <a:solidFill>
                <a:schemeClr val="dk1"/>
              </a:solidFill>
              <a:latin typeface="Calibri"/>
              <a:ea typeface="Calibri"/>
              <a:cs typeface="Calibri"/>
              <a:sym typeface="Calibri"/>
            </a:endParaRPr>
          </a:p>
        </p:txBody>
      </p:sp>
      <p:sp>
        <p:nvSpPr>
          <p:cNvPr id="251" name="Google Shape;251;p18"/>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500"/>
              <a:buFont typeface="Arial"/>
              <a:buNone/>
            </a:pPr>
            <a:r>
              <a:rPr b="1" i="0" lang="en-US" sz="1500">
                <a:solidFill>
                  <a:srgbClr val="743B4A"/>
                </a:solidFill>
                <a:latin typeface="Arial"/>
                <a:ea typeface="Arial"/>
                <a:cs typeface="Arial"/>
                <a:sym typeface="Arial"/>
              </a:rPr>
              <a:t>Leakiness</a:t>
            </a:r>
            <a:r>
              <a:rPr b="0" i="0" lang="en-US" sz="1500">
                <a:solidFill>
                  <a:srgbClr val="252D35"/>
                </a:solidFill>
                <a:latin typeface="Arial"/>
                <a:ea typeface="Arial"/>
                <a:cs typeface="Arial"/>
                <a:sym typeface="Arial"/>
              </a:rPr>
              <a:t> describes the extent to which water passes through a hair array rather than around it. Reidenbach and colleagues compared measured downstroke and return-stroke flow. The slower return reduced penetration, allowing the captured water to remain near the aesthetasc surfaces.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Return motion was approximately one-quarter of downstroke speed, yet water between hairs moved about 25 times more slowly. The nonlinear change shows that reducing appendage speed can alter array permeability much more than it alters the movement of the appendage itself.</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Retention creates time for molecular diffusion toward the sensory surface. The authors estimated that diffusion over 0.5 s could span about 32 µm, which gives molecules in the retained water time to reach the aesthetasc surfaces during a slow return.</a:t>
            </a:r>
            <a:endParaRPr sz="1800">
              <a:solidFill>
                <a:schemeClr val="dk1"/>
              </a:solidFill>
              <a:latin typeface="Calibri"/>
              <a:ea typeface="Calibri"/>
              <a:cs typeface="Calibri"/>
              <a:sym typeface="Calibri"/>
            </a:endParaRPr>
          </a:p>
        </p:txBody>
      </p:sp>
      <p:pic>
        <p:nvPicPr>
          <p:cNvPr id="254" name="Google Shape;254;p18"/>
          <p:cNvPicPr preferRelativeResize="0"/>
          <p:nvPr/>
        </p:nvPicPr>
        <p:blipFill rotWithShape="1">
          <a:blip r:embed="rId3">
            <a:alphaModFix/>
          </a:blip>
          <a:srcRect b="0" l="0" r="0" t="0"/>
          <a:stretch/>
        </p:blipFill>
        <p:spPr>
          <a:xfrm>
            <a:off x="7963535" y="1280071"/>
            <a:ext cx="1927692" cy="2925961"/>
          </a:xfrm>
          <a:prstGeom prst="rect">
            <a:avLst/>
          </a:prstGeom>
          <a:noFill/>
          <a:ln>
            <a:noFill/>
          </a:ln>
        </p:spPr>
      </p:pic>
      <p:sp>
        <p:nvSpPr>
          <p:cNvPr id="255" name="Google Shape;255;p18"/>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9A–B. Measured slow-return flow field and velocity profile.</a:t>
            </a:r>
            <a:endParaRPr sz="1800">
              <a:solidFill>
                <a:schemeClr val="dk1"/>
              </a:solidFill>
              <a:latin typeface="Calibri"/>
              <a:ea typeface="Calibri"/>
              <a:cs typeface="Calibri"/>
              <a:sym typeface="Calibri"/>
            </a:endParaRPr>
          </a:p>
        </p:txBody>
      </p:sp>
      <p:pic>
        <p:nvPicPr>
          <p:cNvPr id="256" name="Google Shape;256;p18"/>
          <p:cNvPicPr preferRelativeResize="0"/>
          <p:nvPr/>
        </p:nvPicPr>
        <p:blipFill rotWithShape="1">
          <a:blip r:embed="rId4">
            <a:alphaModFix/>
          </a:blip>
          <a:srcRect b="0" l="0" r="0" t="0"/>
          <a:stretch/>
        </p:blipFill>
        <p:spPr>
          <a:xfrm>
            <a:off x="8198346" y="4754774"/>
            <a:ext cx="1458069" cy="1005755"/>
          </a:xfrm>
          <a:prstGeom prst="rect">
            <a:avLst/>
          </a:prstGeom>
          <a:noFill/>
          <a:ln>
            <a:noFill/>
          </a:ln>
        </p:spPr>
      </p:pic>
      <p:sp>
        <p:nvSpPr>
          <p:cNvPr id="257" name="Google Shape;257;p18"/>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258" name="Google Shape;258;p18"/>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et al. (2008); Horner et al. (2004)</a:t>
            </a:r>
            <a:endParaRPr sz="1800">
              <a:solidFill>
                <a:schemeClr val="dk1"/>
              </a:solidFill>
              <a:latin typeface="Calibri"/>
              <a:ea typeface="Calibri"/>
              <a:cs typeface="Calibri"/>
              <a:sym typeface="Calibri"/>
            </a:endParaRPr>
          </a:p>
        </p:txBody>
      </p:sp>
      <p:sp>
        <p:nvSpPr>
          <p:cNvPr id="260" name="Google Shape;260;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Hair orientation and guard hairs alter delivery</a:t>
            </a:r>
            <a:endParaRPr sz="1800">
              <a:solidFill>
                <a:schemeClr val="dk1"/>
              </a:solidFill>
              <a:latin typeface="Calibri"/>
              <a:ea typeface="Calibri"/>
              <a:cs typeface="Calibri"/>
              <a:sym typeface="Calibri"/>
            </a:endParaRPr>
          </a:p>
        </p:txBody>
      </p:sp>
      <p:sp>
        <p:nvSpPr>
          <p:cNvPr id="266" name="Google Shape;266;p19"/>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The shape and orientation of an aesthetasc array determine how incident water moves through it. Reidenbach and colleagues compared the observed zigzag orientation, offset by about 32°, with a zero-degree arrangement. They also measured arrays with and without surrounding guard hairs.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The observed orientation produced relatively uniform water penetration during the flick. Guard-hair removal changed the spatial velocity profile, revealing a hydrodynamic contribution beyond a possible protective role. The controlled physical model isolated these geometry effects without altering neuronal excitability.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findings link anatomical arrangement to the distribution of a fresh sensory sample. Zigzag orientation and guard hairs shape the spatial velocity profile of water in the array, which sets how evenly each hair receives fresh sample.</a:t>
            </a:r>
            <a:endParaRPr sz="1800">
              <a:solidFill>
                <a:schemeClr val="dk1"/>
              </a:solidFill>
              <a:latin typeface="Calibri"/>
              <a:ea typeface="Calibri"/>
              <a:cs typeface="Calibri"/>
              <a:sym typeface="Calibri"/>
            </a:endParaRPr>
          </a:p>
        </p:txBody>
      </p:sp>
      <p:pic>
        <p:nvPicPr>
          <p:cNvPr id="269" name="Google Shape;269;p19"/>
          <p:cNvPicPr preferRelativeResize="0"/>
          <p:nvPr/>
        </p:nvPicPr>
        <p:blipFill rotWithShape="1">
          <a:blip r:embed="rId3">
            <a:alphaModFix/>
          </a:blip>
          <a:srcRect b="0" l="0" r="0" t="0"/>
          <a:stretch/>
        </p:blipFill>
        <p:spPr>
          <a:xfrm>
            <a:off x="7086500" y="1280071"/>
            <a:ext cx="3681761" cy="2925961"/>
          </a:xfrm>
          <a:prstGeom prst="rect">
            <a:avLst/>
          </a:prstGeom>
          <a:noFill/>
          <a:ln>
            <a:noFill/>
          </a:ln>
        </p:spPr>
      </p:pic>
      <p:sp>
        <p:nvSpPr>
          <p:cNvPr id="270" name="Google Shape;270;p19"/>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6. Measured flow through a zigzag array in its observed orientation.</a:t>
            </a:r>
            <a:endParaRPr sz="1800">
              <a:solidFill>
                <a:schemeClr val="dk1"/>
              </a:solidFill>
              <a:latin typeface="Calibri"/>
              <a:ea typeface="Calibri"/>
              <a:cs typeface="Calibri"/>
              <a:sym typeface="Calibri"/>
            </a:endParaRPr>
          </a:p>
        </p:txBody>
      </p:sp>
      <p:pic>
        <p:nvPicPr>
          <p:cNvPr id="271" name="Google Shape;271;p19"/>
          <p:cNvPicPr preferRelativeResize="0"/>
          <p:nvPr/>
        </p:nvPicPr>
        <p:blipFill rotWithShape="1">
          <a:blip r:embed="rId4">
            <a:alphaModFix/>
          </a:blip>
          <a:srcRect b="0" l="0" r="0" t="0"/>
          <a:stretch/>
        </p:blipFill>
        <p:spPr>
          <a:xfrm>
            <a:off x="8526959" y="4754776"/>
            <a:ext cx="800993" cy="1005751"/>
          </a:xfrm>
          <a:prstGeom prst="rect">
            <a:avLst/>
          </a:prstGeom>
          <a:noFill/>
          <a:ln>
            <a:noFill/>
          </a:ln>
        </p:spPr>
      </p:pic>
      <p:sp>
        <p:nvSpPr>
          <p:cNvPr id="272" name="Google Shape;272;p19"/>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7A–C. Hair-array photographs and measured velocity with guard hairs present or removed.</a:t>
            </a:r>
            <a:endParaRPr sz="1800">
              <a:solidFill>
                <a:schemeClr val="dk1"/>
              </a:solidFill>
              <a:latin typeface="Calibri"/>
              <a:ea typeface="Calibri"/>
              <a:cs typeface="Calibri"/>
              <a:sym typeface="Calibri"/>
            </a:endParaRPr>
          </a:p>
        </p:txBody>
      </p:sp>
      <p:sp>
        <p:nvSpPr>
          <p:cNvPr id="273" name="Google Shape;273;p19"/>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et al. (2008)</a:t>
            </a:r>
            <a:endParaRPr sz="1800">
              <a:solidFill>
                <a:schemeClr val="dk1"/>
              </a:solidFill>
              <a:latin typeface="Calibri"/>
              <a:ea typeface="Calibri"/>
              <a:cs typeface="Calibri"/>
              <a:sym typeface="Calibri"/>
            </a:endParaRPr>
          </a:p>
        </p:txBody>
      </p:sp>
      <p:sp>
        <p:nvSpPr>
          <p:cNvPr id="275" name="Google Shape;275;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 name="Shape 279"/>
        <p:cNvGrpSpPr/>
        <p:nvPr/>
      </p:nvGrpSpPr>
      <p:grpSpPr>
        <a:xfrm>
          <a:off x="0" y="0"/>
          <a:ext cx="0" cy="0"/>
          <a:chOff x="0" y="0"/>
          <a:chExt cx="0" cy="0"/>
        </a:xfrm>
      </p:grpSpPr>
      <p:sp>
        <p:nvSpPr>
          <p:cNvPr id="280" name="Google Shape;280;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Published video directly reveals lobster sniffing</a:t>
            </a:r>
            <a:endParaRPr sz="1800">
              <a:solidFill>
                <a:schemeClr val="dk1"/>
              </a:solidFill>
              <a:latin typeface="Calibri"/>
              <a:ea typeface="Calibri"/>
              <a:cs typeface="Calibri"/>
              <a:sym typeface="Calibri"/>
            </a:endParaRPr>
          </a:p>
        </p:txBody>
      </p:sp>
      <p:sp>
        <p:nvSpPr>
          <p:cNvPr id="281" name="Google Shape;281;p20"/>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Koehl and colleagues programmed a mechanical lobster to flick real Panulirus antennules in a fluorescent dye plume. This preparation retained the biological hair array while controlling movement. Dye released from a benthic source 1 m upstream represented chemicals carried from a food source.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The original high-speed frames show approximately 1-mm-thick dye parcels entering the array during the rapid downstroke. During the slower return, dye remained trapped between hairs while the surrounding plume continued moving. A later downstroke shed that sample and captured another.</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The observation directly supports discrete water sampling rather than uninterrupted exposure to ambient concentration. Each downstroke captures a new parcel of plume water and each slow return holds it, so the antennule samples in discrete steps matched to its flick cycle.</a:t>
            </a:r>
            <a:endParaRPr sz="1800">
              <a:solidFill>
                <a:schemeClr val="dk1"/>
              </a:solidFill>
              <a:latin typeface="Calibri"/>
              <a:ea typeface="Calibri"/>
              <a:cs typeface="Calibri"/>
              <a:sym typeface="Calibri"/>
            </a:endParaRPr>
          </a:p>
        </p:txBody>
      </p:sp>
      <p:pic>
        <p:nvPicPr>
          <p:cNvPr id="284" name="Google Shape;284;p20"/>
          <p:cNvPicPr preferRelativeResize="0"/>
          <p:nvPr/>
        </p:nvPicPr>
        <p:blipFill rotWithShape="1">
          <a:blip r:embed="rId3">
            <a:alphaModFix/>
          </a:blip>
          <a:srcRect b="0" l="0" r="0" t="0"/>
          <a:stretch/>
        </p:blipFill>
        <p:spPr>
          <a:xfrm>
            <a:off x="6458755" y="1280071"/>
            <a:ext cx="5165703" cy="1070967"/>
          </a:xfrm>
          <a:prstGeom prst="rect">
            <a:avLst/>
          </a:prstGeom>
          <a:noFill/>
          <a:ln>
            <a:noFill/>
          </a:ln>
        </p:spPr>
      </p:pic>
      <p:sp>
        <p:nvSpPr>
          <p:cNvPr id="285" name="Google Shape;285;p20"/>
          <p:cNvSpPr/>
          <p:nvPr/>
        </p:nvSpPr>
        <p:spPr>
          <a:xfrm>
            <a:off x="6458396" y="2442567"/>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Koehl et al. (2001), Fig. 1A–D. Original video frames of dye capture and retention during flicking.</a:t>
            </a:r>
            <a:endParaRPr sz="1800">
              <a:solidFill>
                <a:schemeClr val="dk1"/>
              </a:solidFill>
              <a:latin typeface="Calibri"/>
              <a:ea typeface="Calibri"/>
              <a:cs typeface="Calibri"/>
              <a:sym typeface="Calibri"/>
            </a:endParaRPr>
          </a:p>
        </p:txBody>
      </p:sp>
      <p:sp>
        <p:nvSpPr>
          <p:cNvPr id="286" name="Google Shape;286;p20"/>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Koehl et al. (2001)</a:t>
            </a:r>
            <a:endParaRPr sz="1800">
              <a:solidFill>
                <a:schemeClr val="dk1"/>
              </a:solidFill>
              <a:latin typeface="Calibri"/>
              <a:ea typeface="Calibri"/>
              <a:cs typeface="Calibri"/>
              <a:sym typeface="Calibri"/>
            </a:endParaRPr>
          </a:p>
        </p:txBody>
      </p:sp>
      <p:sp>
        <p:nvSpPr>
          <p:cNvPr id="288" name="Google Shape;288;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 captured sample preserves spatial information briefly</a:t>
            </a:r>
            <a:endParaRPr sz="1800">
              <a:solidFill>
                <a:schemeClr val="dk1"/>
              </a:solidFill>
              <a:latin typeface="Calibri"/>
              <a:ea typeface="Calibri"/>
              <a:cs typeface="Calibri"/>
              <a:sym typeface="Calibri"/>
            </a:endParaRPr>
          </a:p>
        </p:txBody>
      </p:sp>
      <p:sp>
        <p:nvSpPr>
          <p:cNvPr id="294" name="Google Shape;294;p21"/>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Koehl and colleagues measured concentration along the aesthetasc-bearing section of the antennule through successive video frames. Their published </a:t>
            </a:r>
            <a:r>
              <a:rPr b="1" i="0" lang="en-US" sz="1600">
                <a:solidFill>
                  <a:srgbClr val="743B4A"/>
                </a:solidFill>
                <a:latin typeface="Arial"/>
                <a:ea typeface="Arial"/>
                <a:cs typeface="Arial"/>
                <a:sym typeface="Arial"/>
              </a:rPr>
              <a:t>spatiotemporal map</a:t>
            </a:r>
            <a:r>
              <a:rPr b="0" i="0" lang="en-US" sz="1600">
                <a:solidFill>
                  <a:srgbClr val="252D35"/>
                </a:solidFill>
                <a:latin typeface="Arial"/>
                <a:ea typeface="Arial"/>
                <a:cs typeface="Arial"/>
                <a:sym typeface="Arial"/>
              </a:rPr>
              <a:t> places position on one axis and time on the other, with color representing measured dye concentration at each position.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The pattern changed during rapid downstrokes but remained comparatively stable during slower return and stationary intervals. Dye could spread along the antennule during acquisition, so the captured pattern was not an exact unchanged slice of the original plume. Sampling both retains and filters information.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This physical filtering precedes neuronal transduction. A spatially nonuniform retained sample can stimulate different sensory endings differently, so mechanical retention shapes the pattern of input along the antennule before any neuron responds.</a:t>
            </a:r>
            <a:endParaRPr sz="1800">
              <a:solidFill>
                <a:schemeClr val="dk1"/>
              </a:solidFill>
              <a:latin typeface="Calibri"/>
              <a:ea typeface="Calibri"/>
              <a:cs typeface="Calibri"/>
              <a:sym typeface="Calibri"/>
            </a:endParaRPr>
          </a:p>
        </p:txBody>
      </p:sp>
      <p:pic>
        <p:nvPicPr>
          <p:cNvPr id="297" name="Google Shape;297;p21"/>
          <p:cNvPicPr preferRelativeResize="0"/>
          <p:nvPr/>
        </p:nvPicPr>
        <p:blipFill rotWithShape="1">
          <a:blip r:embed="rId3">
            <a:alphaModFix/>
          </a:blip>
          <a:srcRect b="0" l="0" r="0" t="0"/>
          <a:stretch/>
        </p:blipFill>
        <p:spPr>
          <a:xfrm>
            <a:off x="6458495" y="1280071"/>
            <a:ext cx="5166223" cy="1914079"/>
          </a:xfrm>
          <a:prstGeom prst="rect">
            <a:avLst/>
          </a:prstGeom>
          <a:noFill/>
          <a:ln>
            <a:noFill/>
          </a:ln>
        </p:spPr>
      </p:pic>
      <p:sp>
        <p:nvSpPr>
          <p:cNvPr id="298" name="Google Shape;298;p21"/>
          <p:cNvSpPr/>
          <p:nvPr/>
        </p:nvSpPr>
        <p:spPr>
          <a:xfrm>
            <a:off x="6458396" y="3285679"/>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Koehl et al. (2001), Fig. 2. Measured spatial dye pattern retained between successive flicks.</a:t>
            </a:r>
            <a:endParaRPr sz="1800">
              <a:solidFill>
                <a:schemeClr val="dk1"/>
              </a:solidFill>
              <a:latin typeface="Calibri"/>
              <a:ea typeface="Calibri"/>
              <a:cs typeface="Calibri"/>
              <a:sym typeface="Calibri"/>
            </a:endParaRPr>
          </a:p>
        </p:txBody>
      </p:sp>
      <p:sp>
        <p:nvSpPr>
          <p:cNvPr id="299" name="Google Shape;299;p21"/>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Koehl et al. (2001)</a:t>
            </a:r>
            <a:endParaRPr sz="1800">
              <a:solidFill>
                <a:schemeClr val="dk1"/>
              </a:solidFill>
              <a:latin typeface="Calibri"/>
              <a:ea typeface="Calibri"/>
              <a:cs typeface="Calibri"/>
              <a:sym typeface="Calibri"/>
            </a:endParaRPr>
          </a:p>
        </p:txBody>
      </p:sp>
      <p:sp>
        <p:nvSpPr>
          <p:cNvPr id="301" name="Google Shape;301;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Ionotropic-receptor genes occur in olfactory neurons</a:t>
            </a:r>
            <a:endParaRPr sz="1800">
              <a:solidFill>
                <a:schemeClr val="dk1"/>
              </a:solidFill>
              <a:latin typeface="Calibri"/>
              <a:ea typeface="Calibri"/>
              <a:cs typeface="Calibri"/>
              <a:sym typeface="Calibri"/>
            </a:endParaRPr>
          </a:p>
        </p:txBody>
      </p:sp>
      <p:sp>
        <p:nvSpPr>
          <p:cNvPr id="307" name="Google Shape;307;p2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500"/>
              <a:buFont typeface="Arial"/>
              <a:buNone/>
            </a:pPr>
            <a:r>
              <a:rPr b="1" i="0" lang="en-US" sz="1500">
                <a:solidFill>
                  <a:srgbClr val="743B4A"/>
                </a:solidFill>
                <a:latin typeface="Arial"/>
                <a:ea typeface="Arial"/>
                <a:cs typeface="Arial"/>
                <a:sym typeface="Arial"/>
              </a:rPr>
              <a:t>Ionotropic receptors</a:t>
            </a:r>
            <a:r>
              <a:rPr b="0" i="0" lang="en-US" sz="1500">
                <a:solidFill>
                  <a:srgbClr val="252D35"/>
                </a:solidFill>
                <a:latin typeface="Arial"/>
                <a:ea typeface="Arial"/>
                <a:cs typeface="Arial"/>
                <a:sym typeface="Arial"/>
              </a:rPr>
              <a:t>, or IRs, are chemosensory proteins related to ionotropic glutamate receptors, a family of ligand-gated membrane channels. Corey and colleagues identified candidate IR sequences in Panulirus olfactory tissue and used in situ hybridization to locate their RNA within sensory cells.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IR25a and IR93a signals occurred broadly in olfactory receptor neurons. Antisense probes detect complementary target RNA; sense probes supplied negative controls for nonspecific staining. IR8a and another candidate showed more restricted expression, suggesting common components alongside more variable receptor populations.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findings support an IR-based molecular architecture in lobster olfaction. Staining of the neurons themselves places candidate receptor RNA in the cells that detect odor.</a:t>
            </a:r>
            <a:endParaRPr sz="1800">
              <a:solidFill>
                <a:schemeClr val="dk1"/>
              </a:solidFill>
              <a:latin typeface="Calibri"/>
              <a:ea typeface="Calibri"/>
              <a:cs typeface="Calibri"/>
              <a:sym typeface="Calibri"/>
            </a:endParaRPr>
          </a:p>
        </p:txBody>
      </p:sp>
      <p:pic>
        <p:nvPicPr>
          <p:cNvPr id="310" name="Google Shape;310;p22"/>
          <p:cNvPicPr preferRelativeResize="0"/>
          <p:nvPr/>
        </p:nvPicPr>
        <p:blipFill rotWithShape="1">
          <a:blip r:embed="rId3">
            <a:alphaModFix/>
          </a:blip>
          <a:srcRect b="0" l="0" r="0" t="0"/>
          <a:stretch/>
        </p:blipFill>
        <p:spPr>
          <a:xfrm>
            <a:off x="7297684" y="1280071"/>
            <a:ext cx="3487845" cy="4297561"/>
          </a:xfrm>
          <a:prstGeom prst="rect">
            <a:avLst/>
          </a:prstGeom>
          <a:noFill/>
          <a:ln>
            <a:noFill/>
          </a:ln>
        </p:spPr>
      </p:pic>
      <p:sp>
        <p:nvSpPr>
          <p:cNvPr id="311" name="Google Shape;311;p22"/>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2. Receptor RNA localization with antisense and sense-probe controls.</a:t>
            </a:r>
            <a:endParaRPr sz="1800">
              <a:solidFill>
                <a:schemeClr val="dk1"/>
              </a:solidFill>
              <a:latin typeface="Calibri"/>
              <a:ea typeface="Calibri"/>
              <a:cs typeface="Calibri"/>
              <a:sym typeface="Calibri"/>
            </a:endParaRPr>
          </a:p>
        </p:txBody>
      </p:sp>
      <p:sp>
        <p:nvSpPr>
          <p:cNvPr id="312" name="Google Shape;312;p22"/>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Corey et al. (2013)</a:t>
            </a:r>
            <a:endParaRPr sz="1800">
              <a:solidFill>
                <a:schemeClr val="dk1"/>
              </a:solidFill>
              <a:latin typeface="Calibri"/>
              <a:ea typeface="Calibri"/>
              <a:cs typeface="Calibri"/>
              <a:sym typeface="Calibri"/>
            </a:endParaRPr>
          </a:p>
        </p:txBody>
      </p:sp>
      <p:sp>
        <p:nvSpPr>
          <p:cNvPr id="314" name="Google Shape;314;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Receptor protein reaches the sensory dendrites</a:t>
            </a:r>
            <a:endParaRPr sz="1800">
              <a:solidFill>
                <a:schemeClr val="dk1"/>
              </a:solidFill>
              <a:latin typeface="Calibri"/>
              <a:ea typeface="Calibri"/>
              <a:cs typeface="Calibri"/>
              <a:sym typeface="Calibri"/>
            </a:endParaRPr>
          </a:p>
        </p:txBody>
      </p:sp>
      <p:sp>
        <p:nvSpPr>
          <p:cNvPr id="320" name="Google Shape;320;p2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1" i="0" lang="en-US" sz="1400">
                <a:solidFill>
                  <a:srgbClr val="743B4A"/>
                </a:solidFill>
                <a:latin typeface="Arial"/>
                <a:ea typeface="Arial"/>
                <a:cs typeface="Arial"/>
                <a:sym typeface="Arial"/>
              </a:rPr>
              <a:t>RNA expression</a:t>
            </a:r>
            <a:r>
              <a:rPr b="0" i="0" lang="en-US" sz="1400">
                <a:solidFill>
                  <a:srgbClr val="252D35"/>
                </a:solidFill>
                <a:latin typeface="Arial"/>
                <a:ea typeface="Arial"/>
                <a:cs typeface="Arial"/>
                <a:sym typeface="Arial"/>
              </a:rPr>
              <a:t> shows which cells make a transcript, but the location of the protein must be measured directly. Corey and colleagues used an antibody against IR25a to determine where the protein sits. Cross-sections through distal aesthetasc hairs gave anatomical access to the outer dendrites, where transported odorants first approach olfactory neurons, so the antibody could be tested at the site of first contact with odor.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IR25a immunofluorescence appeared within the dendritic profiles. Sections stained without the primary antibody provided a background control, and an antibody against an Ih-channel protein served as a separate neuronal comparison. Western blots also detected a band near the predicted IR25a molecular mass of about 100 kDa, linking the staining to a protein of the expected size.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Biochemical detection and dendritic staining converge on one site, which places a candidate </a:t>
            </a:r>
            <a:r>
              <a:rPr b="1" i="0" lang="en-US" sz="1400">
                <a:solidFill>
                  <a:srgbClr val="743B4A"/>
                </a:solidFill>
                <a:latin typeface="Arial"/>
                <a:ea typeface="Arial"/>
                <a:cs typeface="Arial"/>
                <a:sym typeface="Arial"/>
              </a:rPr>
              <a:t>receptor component</a:t>
            </a:r>
            <a:r>
              <a:rPr b="0" i="0" lang="en-US" sz="1400">
                <a:solidFill>
                  <a:srgbClr val="252D35"/>
                </a:solidFill>
                <a:latin typeface="Arial"/>
                <a:ea typeface="Arial"/>
                <a:cs typeface="Arial"/>
                <a:sym typeface="Arial"/>
              </a:rPr>
              <a:t> where odorants first meet olfactory neurons. The band near the predicted mass matches the expected size of the protein, so the two lines of evidence support the same molecule in the same compartment, and the signal for the receptor is placed at the point of first contact.</a:t>
            </a:r>
            <a:endParaRPr sz="1800">
              <a:solidFill>
                <a:schemeClr val="dk1"/>
              </a:solidFill>
              <a:latin typeface="Calibri"/>
              <a:ea typeface="Calibri"/>
              <a:cs typeface="Calibri"/>
              <a:sym typeface="Calibri"/>
            </a:endParaRPr>
          </a:p>
        </p:txBody>
      </p:sp>
      <p:pic>
        <p:nvPicPr>
          <p:cNvPr id="323" name="Google Shape;323;p23"/>
          <p:cNvPicPr preferRelativeResize="0"/>
          <p:nvPr/>
        </p:nvPicPr>
        <p:blipFill rotWithShape="1">
          <a:blip r:embed="rId3">
            <a:alphaModFix/>
          </a:blip>
          <a:srcRect b="0" l="0" r="0" t="0"/>
          <a:stretch/>
        </p:blipFill>
        <p:spPr>
          <a:xfrm>
            <a:off x="6458702" y="1280071"/>
            <a:ext cx="5165808" cy="1681311"/>
          </a:xfrm>
          <a:prstGeom prst="rect">
            <a:avLst/>
          </a:prstGeom>
          <a:noFill/>
          <a:ln>
            <a:noFill/>
          </a:ln>
        </p:spPr>
      </p:pic>
      <p:sp>
        <p:nvSpPr>
          <p:cNvPr id="324" name="Google Shape;324;p23"/>
          <p:cNvSpPr/>
          <p:nvPr/>
        </p:nvSpPr>
        <p:spPr>
          <a:xfrm>
            <a:off x="6458396" y="305291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4B, fluorescent row and original labels. IR25a immunofluorescence in aesthetasc dendrites with control labels intact.</a:t>
            </a:r>
            <a:endParaRPr sz="1800">
              <a:solidFill>
                <a:schemeClr val="dk1"/>
              </a:solidFill>
              <a:latin typeface="Calibri"/>
              <a:ea typeface="Calibri"/>
              <a:cs typeface="Calibri"/>
              <a:sym typeface="Calibri"/>
            </a:endParaRPr>
          </a:p>
        </p:txBody>
      </p:sp>
      <p:sp>
        <p:nvSpPr>
          <p:cNvPr id="325" name="Google Shape;325;p2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Corey et al. (2013)</a:t>
            </a:r>
            <a:endParaRPr sz="1800">
              <a:solidFill>
                <a:schemeClr val="dk1"/>
              </a:solidFill>
              <a:latin typeface="Calibri"/>
              <a:ea typeface="Calibri"/>
              <a:cs typeface="Calibri"/>
              <a:sym typeface="Calibri"/>
            </a:endParaRPr>
          </a:p>
        </p:txBody>
      </p:sp>
      <p:sp>
        <p:nvSpPr>
          <p:cNvPr id="327" name="Google Shape;327;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Neighboring sensory cells differ in chemical selectivity</a:t>
            </a:r>
            <a:endParaRPr sz="1800">
              <a:solidFill>
                <a:schemeClr val="dk1"/>
              </a:solidFill>
              <a:latin typeface="Calibri"/>
              <a:ea typeface="Calibri"/>
              <a:cs typeface="Calibri"/>
              <a:sym typeface="Calibri"/>
            </a:endParaRPr>
          </a:p>
        </p:txBody>
      </p:sp>
      <p:sp>
        <p:nvSpPr>
          <p:cNvPr id="333" name="Google Shape;333;p24"/>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Corey and colleagues loaded clusters of sensory cells with a </a:t>
            </a:r>
            <a:r>
              <a:rPr b="1" i="0" lang="en-US" sz="1400">
                <a:solidFill>
                  <a:srgbClr val="743B4A"/>
                </a:solidFill>
                <a:latin typeface="Arial"/>
                <a:ea typeface="Arial"/>
                <a:cs typeface="Arial"/>
                <a:sym typeface="Arial"/>
              </a:rPr>
              <a:t>calcium-sensitive dye</a:t>
            </a:r>
            <a:r>
              <a:rPr b="0" i="0" lang="en-US" sz="1400">
                <a:solidFill>
                  <a:srgbClr val="252D35"/>
                </a:solidFill>
                <a:latin typeface="Arial"/>
                <a:ea typeface="Arial"/>
                <a:cs typeface="Arial"/>
                <a:sym typeface="Arial"/>
              </a:rPr>
              <a:t> and applied different chemical stimuli. Calcium imaging reports changes in intracellular calcium through changing fluorescence, and it can reveal many cells at once, which complements measurements from one neuron at a time. The method therefore shows how a whole cluster responds to a single chemical.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The stimulus set included food extract and, for the amino-acid tests, arginine and glutamate at 1 mM. Neighboring cells showed different response profiles across the stimulus set, so one cell responded to a stimulus that a neighbor ignored. A published heat map summarizes this heterogeneity cell by cell, and it shows that the variation among neighbors is systematic rather than random.</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The responses establish </a:t>
            </a:r>
            <a:r>
              <a:rPr b="1" i="0" lang="en-US" sz="1400">
                <a:solidFill>
                  <a:srgbClr val="743B4A"/>
                </a:solidFill>
                <a:latin typeface="Arial"/>
                <a:ea typeface="Arial"/>
                <a:cs typeface="Arial"/>
                <a:sym typeface="Arial"/>
              </a:rPr>
              <a:t>chemical selectivity at the cellular level</a:t>
            </a:r>
            <a:r>
              <a:rPr b="0" i="0" lang="en-US" sz="1400">
                <a:solidFill>
                  <a:srgbClr val="252D35"/>
                </a:solidFill>
                <a:latin typeface="Arial"/>
                <a:ea typeface="Arial"/>
                <a:cs typeface="Arial"/>
                <a:sym typeface="Arial"/>
              </a:rPr>
              <a:t> even though the cells share common IR components. Cells that express common IR components therefore differ in which stimuli they detect, and this variation matches the different candidate receptors each cell expresses alongside them. Each cell's stimulus preference is set by its own combination of receptor components.</a:t>
            </a:r>
            <a:endParaRPr sz="1800">
              <a:solidFill>
                <a:schemeClr val="dk1"/>
              </a:solidFill>
              <a:latin typeface="Calibri"/>
              <a:ea typeface="Calibri"/>
              <a:cs typeface="Calibri"/>
              <a:sym typeface="Calibri"/>
            </a:endParaRPr>
          </a:p>
        </p:txBody>
      </p:sp>
      <p:pic>
        <p:nvPicPr>
          <p:cNvPr id="336" name="Google Shape;336;p24"/>
          <p:cNvPicPr preferRelativeResize="0"/>
          <p:nvPr/>
        </p:nvPicPr>
        <p:blipFill rotWithShape="1">
          <a:blip r:embed="rId3">
            <a:alphaModFix/>
          </a:blip>
          <a:srcRect b="0" l="0" r="0" t="0"/>
          <a:stretch/>
        </p:blipFill>
        <p:spPr>
          <a:xfrm>
            <a:off x="6229941" y="1280071"/>
            <a:ext cx="5394730" cy="2731443"/>
          </a:xfrm>
          <a:prstGeom prst="rect">
            <a:avLst/>
          </a:prstGeom>
          <a:noFill/>
          <a:ln>
            <a:noFill/>
          </a:ln>
        </p:spPr>
      </p:pic>
      <p:sp>
        <p:nvSpPr>
          <p:cNvPr id="337" name="Google Shape;337;p24"/>
          <p:cNvSpPr/>
          <p:nvPr/>
        </p:nvSpPr>
        <p:spPr>
          <a:xfrm>
            <a:off x="6229796" y="4103043"/>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6A–D. Calcium imaging reveals heterogeneous odor-response profiles.</a:t>
            </a:r>
            <a:endParaRPr sz="1800">
              <a:solidFill>
                <a:schemeClr val="dk1"/>
              </a:solidFill>
              <a:latin typeface="Calibri"/>
              <a:ea typeface="Calibri"/>
              <a:cs typeface="Calibri"/>
              <a:sym typeface="Calibri"/>
            </a:endParaRPr>
          </a:p>
        </p:txBody>
      </p:sp>
      <p:pic>
        <p:nvPicPr>
          <p:cNvPr id="338" name="Google Shape;338;p24"/>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339" name="Google Shape;339;p24"/>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340" name="Google Shape;340;p24"/>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Corey et al. (2013)</a:t>
            </a:r>
            <a:endParaRPr sz="1800">
              <a:solidFill>
                <a:schemeClr val="dk1"/>
              </a:solidFill>
              <a:latin typeface="Calibri"/>
              <a:ea typeface="Calibri"/>
              <a:cs typeface="Calibri"/>
              <a:sym typeface="Calibri"/>
            </a:endParaRPr>
          </a:p>
        </p:txBody>
      </p:sp>
      <p:sp>
        <p:nvSpPr>
          <p:cNvPr id="342" name="Google Shape;342;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Single-cell sequencing resolves receptor coexpression</a:t>
            </a:r>
            <a:endParaRPr sz="1800">
              <a:solidFill>
                <a:schemeClr val="dk1"/>
              </a:solidFill>
              <a:latin typeface="Calibri"/>
              <a:ea typeface="Calibri"/>
              <a:cs typeface="Calibri"/>
              <a:sym typeface="Calibri"/>
            </a:endParaRPr>
          </a:p>
        </p:txBody>
      </p:sp>
      <p:sp>
        <p:nvSpPr>
          <p:cNvPr id="348" name="Google Shape;348;p2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Whole-organ sequencing combines RNA from sensory neurons, support cells and other tissue. Kozma and colleagues instead collected individual fluorescently identified olfactory sensory neurons for </a:t>
            </a:r>
            <a:r>
              <a:rPr b="1" i="0" lang="en-US" sz="1500">
                <a:solidFill>
                  <a:srgbClr val="743B4A"/>
                </a:solidFill>
                <a:latin typeface="Arial"/>
                <a:ea typeface="Arial"/>
                <a:cs typeface="Arial"/>
                <a:sym typeface="Arial"/>
              </a:rPr>
              <a:t>single-cell transcriptomics</a:t>
            </a:r>
            <a:r>
              <a:rPr b="0" i="0" lang="en-US" sz="1500">
                <a:solidFill>
                  <a:srgbClr val="252D35"/>
                </a:solidFill>
                <a:latin typeface="Arial"/>
                <a:ea typeface="Arial"/>
                <a:cs typeface="Arial"/>
                <a:sym typeface="Arial"/>
              </a:rPr>
              <a:t>, sequencing the expressed RNA of each cell. This separates within-cell coexpression from differences between cell populations.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All seven analyzed single-cell transcriptomes contained IR25a and IR93a. They also contained variable tuning-IR transcripts, while IR8a and IR76b were not detected in those cells. The photographed collection pipette documents the cellular preparation used for sampling.</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result supports shared receptor components with cell-specific combinations of additional candidates. Sequencing each neuron separately places IR25a and IR93a together within single cells, while tuning-IR transcripts differ from cell to cell.</a:t>
            </a:r>
            <a:endParaRPr sz="1800">
              <a:solidFill>
                <a:schemeClr val="dk1"/>
              </a:solidFill>
              <a:latin typeface="Calibri"/>
              <a:ea typeface="Calibri"/>
              <a:cs typeface="Calibri"/>
              <a:sym typeface="Calibri"/>
            </a:endParaRPr>
          </a:p>
        </p:txBody>
      </p:sp>
      <p:pic>
        <p:nvPicPr>
          <p:cNvPr id="351" name="Google Shape;351;p25"/>
          <p:cNvPicPr preferRelativeResize="0"/>
          <p:nvPr/>
        </p:nvPicPr>
        <p:blipFill rotWithShape="1">
          <a:blip r:embed="rId3">
            <a:alphaModFix/>
          </a:blip>
          <a:srcRect b="0" l="0" r="0" t="0"/>
          <a:stretch/>
        </p:blipFill>
        <p:spPr>
          <a:xfrm>
            <a:off x="6516236" y="1280071"/>
            <a:ext cx="5050890" cy="4297561"/>
          </a:xfrm>
          <a:prstGeom prst="rect">
            <a:avLst/>
          </a:prstGeom>
          <a:noFill/>
          <a:ln>
            <a:noFill/>
          </a:ln>
        </p:spPr>
      </p:pic>
      <p:sp>
        <p:nvSpPr>
          <p:cNvPr id="352" name="Google Shape;352;p25"/>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Kozma et al. (2020), Fig. 2d. Sensory-cell cluster and collection pipette.</a:t>
            </a:r>
            <a:endParaRPr sz="1800">
              <a:solidFill>
                <a:schemeClr val="dk1"/>
              </a:solidFill>
              <a:latin typeface="Calibri"/>
              <a:ea typeface="Calibri"/>
              <a:cs typeface="Calibri"/>
              <a:sym typeface="Calibri"/>
            </a:endParaRPr>
          </a:p>
        </p:txBody>
      </p:sp>
      <p:sp>
        <p:nvSpPr>
          <p:cNvPr id="353" name="Google Shape;353;p25"/>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Kozma et al. (2020)</a:t>
            </a:r>
            <a:endParaRPr sz="1800">
              <a:solidFill>
                <a:schemeClr val="dk1"/>
              </a:solidFill>
              <a:latin typeface="Calibri"/>
              <a:ea typeface="Calibri"/>
              <a:cs typeface="Calibri"/>
              <a:sym typeface="Calibri"/>
            </a:endParaRPr>
          </a:p>
        </p:txBody>
      </p:sp>
      <p:sp>
        <p:nvSpPr>
          <p:cNvPr id="355" name="Google Shape;355;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 neuron can express many candidate tuning receptors</a:t>
            </a:r>
            <a:endParaRPr sz="1800">
              <a:solidFill>
                <a:schemeClr val="dk1"/>
              </a:solidFill>
              <a:latin typeface="Calibri"/>
              <a:ea typeface="Calibri"/>
              <a:cs typeface="Calibri"/>
              <a:sym typeface="Calibri"/>
            </a:endParaRPr>
          </a:p>
        </p:txBody>
      </p:sp>
      <p:sp>
        <p:nvSpPr>
          <p:cNvPr id="361" name="Google Shape;361;p26"/>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500"/>
              <a:buFont typeface="Arial"/>
              <a:buNone/>
            </a:pPr>
            <a:r>
              <a:rPr b="1" i="0" lang="en-US" sz="1500">
                <a:solidFill>
                  <a:srgbClr val="743B4A"/>
                </a:solidFill>
                <a:latin typeface="Arial"/>
                <a:ea typeface="Arial"/>
                <a:cs typeface="Arial"/>
                <a:sym typeface="Arial"/>
              </a:rPr>
              <a:t>Tuning IRs</a:t>
            </a:r>
            <a:r>
              <a:rPr b="0" i="0" lang="en-US" sz="1500">
                <a:solidFill>
                  <a:srgbClr val="252D35"/>
                </a:solidFill>
                <a:latin typeface="Arial"/>
                <a:ea typeface="Arial"/>
                <a:cs typeface="Arial"/>
                <a:sym typeface="Arial"/>
              </a:rPr>
              <a:t> are variable receptor candidates proposed to contribute ligand selectivity alongside more widely expressed components. Kozma and colleagues compared their abundance across single olfactory sensory neurons. The original heat map displays receptor identity by row and cellular sample by column.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Each analyzed neuron contained 9–53 tuning-IR transcripts, often with only one or a few expressed at high abundance. This arrangement differs from a simple rule in which every sensory neuron expresses exactly one ligand-selective receptor. Shared coreceptors do not eliminate molecular diversity between cells.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Each neuron carries its own combination of tuning-IR transcripts, so receptor diversity arises from which candidates a cell expresses at high abundance on top of shared coreceptors.</a:t>
            </a:r>
            <a:endParaRPr sz="1800">
              <a:solidFill>
                <a:schemeClr val="dk1"/>
              </a:solidFill>
              <a:latin typeface="Calibri"/>
              <a:ea typeface="Calibri"/>
              <a:cs typeface="Calibri"/>
              <a:sym typeface="Calibri"/>
            </a:endParaRPr>
          </a:p>
        </p:txBody>
      </p:sp>
      <p:pic>
        <p:nvPicPr>
          <p:cNvPr id="364" name="Google Shape;364;p26"/>
          <p:cNvPicPr preferRelativeResize="0"/>
          <p:nvPr/>
        </p:nvPicPr>
        <p:blipFill rotWithShape="1">
          <a:blip r:embed="rId3">
            <a:alphaModFix/>
          </a:blip>
          <a:srcRect b="0" l="0" r="0" t="0"/>
          <a:stretch/>
        </p:blipFill>
        <p:spPr>
          <a:xfrm>
            <a:off x="6553220" y="1280071"/>
            <a:ext cx="2919671" cy="4297561"/>
          </a:xfrm>
          <a:prstGeom prst="rect">
            <a:avLst/>
          </a:prstGeom>
          <a:noFill/>
          <a:ln>
            <a:noFill/>
          </a:ln>
        </p:spPr>
      </p:pic>
      <p:sp>
        <p:nvSpPr>
          <p:cNvPr id="365" name="Google Shape;365;p26"/>
          <p:cNvSpPr/>
          <p:nvPr/>
        </p:nvSpPr>
        <p:spPr>
          <a:xfrm>
            <a:off x="6229796" y="5669161"/>
            <a:ext cx="35852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Kozma et al. (2020), Fig. 3. Single-cell expression of common and variable ionotropic receptors.</a:t>
            </a:r>
            <a:endParaRPr sz="1800">
              <a:solidFill>
                <a:schemeClr val="dk1"/>
              </a:solidFill>
              <a:latin typeface="Calibri"/>
              <a:ea typeface="Calibri"/>
              <a:cs typeface="Calibri"/>
              <a:sym typeface="Calibri"/>
            </a:endParaRPr>
          </a:p>
        </p:txBody>
      </p:sp>
      <p:pic>
        <p:nvPicPr>
          <p:cNvPr id="366" name="Google Shape;366;p26"/>
          <p:cNvPicPr preferRelativeResize="0"/>
          <p:nvPr/>
        </p:nvPicPr>
        <p:blipFill rotWithShape="1">
          <a:blip r:embed="rId4">
            <a:alphaModFix/>
          </a:blip>
          <a:srcRect b="0" l="0" r="0" t="0"/>
          <a:stretch/>
        </p:blipFill>
        <p:spPr>
          <a:xfrm>
            <a:off x="9978976" y="2148780"/>
            <a:ext cx="1645790" cy="1400324"/>
          </a:xfrm>
          <a:prstGeom prst="rect">
            <a:avLst/>
          </a:prstGeom>
          <a:noFill/>
          <a:ln>
            <a:noFill/>
          </a:ln>
        </p:spPr>
      </p:pic>
      <p:sp>
        <p:nvSpPr>
          <p:cNvPr id="367" name="Google Shape;367;p26"/>
          <p:cNvSpPr/>
          <p:nvPr/>
        </p:nvSpPr>
        <p:spPr>
          <a:xfrm>
            <a:off x="9978926" y="3622328"/>
            <a:ext cx="1664940" cy="41121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Kozma et al. (2020), Fig. 2d. Sensory-cell cluster and collection pipette.</a:t>
            </a:r>
            <a:endParaRPr sz="1800">
              <a:solidFill>
                <a:schemeClr val="dk1"/>
              </a:solidFill>
              <a:latin typeface="Calibri"/>
              <a:ea typeface="Calibri"/>
              <a:cs typeface="Calibri"/>
              <a:sym typeface="Calibri"/>
            </a:endParaRPr>
          </a:p>
        </p:txBody>
      </p:sp>
      <p:sp>
        <p:nvSpPr>
          <p:cNvPr id="368" name="Google Shape;368;p26"/>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Kozma et al. (2020)</a:t>
            </a:r>
            <a:endParaRPr sz="1800">
              <a:solidFill>
                <a:schemeClr val="dk1"/>
              </a:solidFill>
              <a:latin typeface="Calibri"/>
              <a:ea typeface="Calibri"/>
              <a:cs typeface="Calibri"/>
              <a:sym typeface="Calibri"/>
            </a:endParaRPr>
          </a:p>
        </p:txBody>
      </p:sp>
      <p:sp>
        <p:nvSpPr>
          <p:cNvPr id="370" name="Google Shape;370;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Gene expression does not establish odor recognition</a:t>
            </a:r>
            <a:endParaRPr sz="1800">
              <a:solidFill>
                <a:schemeClr val="dk1"/>
              </a:solidFill>
              <a:latin typeface="Calibri"/>
              <a:ea typeface="Calibri"/>
              <a:cs typeface="Calibri"/>
              <a:sym typeface="Calibri"/>
            </a:endParaRPr>
          </a:p>
        </p:txBody>
      </p:sp>
      <p:sp>
        <p:nvSpPr>
          <p:cNvPr id="376" name="Google Shape;376;p27"/>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Kozma and colleagues also examined </a:t>
            </a:r>
            <a:r>
              <a:rPr b="1" i="0" lang="en-US" sz="1500">
                <a:solidFill>
                  <a:srgbClr val="743B4A"/>
                </a:solidFill>
                <a:latin typeface="Arial"/>
                <a:ea typeface="Arial"/>
                <a:cs typeface="Arial"/>
                <a:sym typeface="Arial"/>
              </a:rPr>
              <a:t>G-protein-coupled receptors</a:t>
            </a:r>
            <a:r>
              <a:rPr b="0" i="0" lang="en-US" sz="1500">
                <a:solidFill>
                  <a:srgbClr val="252D35"/>
                </a:solidFill>
                <a:latin typeface="Arial"/>
                <a:ea typeface="Arial"/>
                <a:cs typeface="Arial"/>
                <a:sym typeface="Arial"/>
              </a:rPr>
              <a:t>, or GPCRs, and </a:t>
            </a:r>
            <a:r>
              <a:rPr b="1" i="0" lang="en-US" sz="1500">
                <a:solidFill>
                  <a:srgbClr val="743B4A"/>
                </a:solidFill>
                <a:latin typeface="Arial"/>
                <a:ea typeface="Arial"/>
                <a:cs typeface="Arial"/>
                <a:sym typeface="Arial"/>
              </a:rPr>
              <a:t>transient receptor potential</a:t>
            </a:r>
            <a:r>
              <a:rPr b="0" i="0" lang="en-US" sz="1500">
                <a:solidFill>
                  <a:srgbClr val="252D35"/>
                </a:solidFill>
                <a:latin typeface="Arial"/>
                <a:ea typeface="Arial"/>
                <a:cs typeface="Arial"/>
                <a:sym typeface="Arial"/>
              </a:rPr>
              <a:t> channels, or TRP channels, in sensory neurons. GPCRs can regulate intracellular signaling, whereas TRP proteins form ion channels with diverse sensory and cellular functions.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Individual cells expressed 12–17 GPCR candidates and overlapping sets of TRP-channel genes. The published summary includes common proteins and additional variable candidates. These transcript inventories reveal potential molecular machinery alongside the IR family rather than one fully resolved odor-transduction pathway.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A GPCR in an olfactory neuron may bind an odor or receive modulatory input, and a TRP channel may shape the response without carrying the primary receptor current. Transcript inventories nominate candidate signaling components that ligand responses and perturbations in identified cells can test.</a:t>
            </a:r>
            <a:endParaRPr sz="1800">
              <a:solidFill>
                <a:schemeClr val="dk1"/>
              </a:solidFill>
              <a:latin typeface="Calibri"/>
              <a:ea typeface="Calibri"/>
              <a:cs typeface="Calibri"/>
              <a:sym typeface="Calibri"/>
            </a:endParaRPr>
          </a:p>
        </p:txBody>
      </p:sp>
      <p:pic>
        <p:nvPicPr>
          <p:cNvPr id="379" name="Google Shape;379;p27"/>
          <p:cNvPicPr preferRelativeResize="0"/>
          <p:nvPr/>
        </p:nvPicPr>
        <p:blipFill rotWithShape="1">
          <a:blip r:embed="rId3">
            <a:alphaModFix/>
          </a:blip>
          <a:srcRect b="0" l="0" r="0" t="0"/>
          <a:stretch/>
        </p:blipFill>
        <p:spPr>
          <a:xfrm>
            <a:off x="6229989" y="1280071"/>
            <a:ext cx="5394635" cy="2505224"/>
          </a:xfrm>
          <a:prstGeom prst="rect">
            <a:avLst/>
          </a:prstGeom>
          <a:noFill/>
          <a:ln>
            <a:noFill/>
          </a:ln>
        </p:spPr>
      </p:pic>
      <p:sp>
        <p:nvSpPr>
          <p:cNvPr id="380" name="Google Shape;380;p27"/>
          <p:cNvSpPr/>
          <p:nvPr/>
        </p:nvSpPr>
        <p:spPr>
          <a:xfrm>
            <a:off x="6229796" y="3876824"/>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Kozma et al. (2020), Fig. 4. Authors’ summary of genes expressed in olfactory sensory neurons.</a:t>
            </a:r>
            <a:endParaRPr sz="1800">
              <a:solidFill>
                <a:schemeClr val="dk1"/>
              </a:solidFill>
              <a:latin typeface="Calibri"/>
              <a:ea typeface="Calibri"/>
              <a:cs typeface="Calibri"/>
              <a:sym typeface="Calibri"/>
            </a:endParaRPr>
          </a:p>
        </p:txBody>
      </p:sp>
      <p:pic>
        <p:nvPicPr>
          <p:cNvPr id="381" name="Google Shape;381;p27"/>
          <p:cNvPicPr preferRelativeResize="0"/>
          <p:nvPr/>
        </p:nvPicPr>
        <p:blipFill rotWithShape="1">
          <a:blip r:embed="rId4">
            <a:alphaModFix/>
          </a:blip>
          <a:srcRect b="0" l="0" r="0" t="0"/>
          <a:stretch/>
        </p:blipFill>
        <p:spPr>
          <a:xfrm>
            <a:off x="8336338" y="4754761"/>
            <a:ext cx="1182086" cy="1005780"/>
          </a:xfrm>
          <a:prstGeom prst="rect">
            <a:avLst/>
          </a:prstGeom>
          <a:noFill/>
          <a:ln>
            <a:noFill/>
          </a:ln>
        </p:spPr>
      </p:pic>
      <p:sp>
        <p:nvSpPr>
          <p:cNvPr id="382" name="Google Shape;382;p27"/>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Kozma et al. (2020), Fig. 2d. Sensory-cell cluster and collection pipette.</a:t>
            </a:r>
            <a:endParaRPr sz="1800">
              <a:solidFill>
                <a:schemeClr val="dk1"/>
              </a:solidFill>
              <a:latin typeface="Calibri"/>
              <a:ea typeface="Calibri"/>
              <a:cs typeface="Calibri"/>
              <a:sym typeface="Calibri"/>
            </a:endParaRPr>
          </a:p>
        </p:txBody>
      </p:sp>
      <p:sp>
        <p:nvSpPr>
          <p:cNvPr id="383" name="Google Shape;383;p27"/>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Kozma et al. (2020)</a:t>
            </a:r>
            <a:endParaRPr sz="1800">
              <a:solidFill>
                <a:schemeClr val="dk1"/>
              </a:solidFill>
              <a:latin typeface="Calibri"/>
              <a:ea typeface="Calibri"/>
              <a:cs typeface="Calibri"/>
              <a:sym typeface="Calibri"/>
            </a:endParaRPr>
          </a:p>
        </p:txBody>
      </p:sp>
      <p:sp>
        <p:nvSpPr>
          <p:cNvPr id="385" name="Google Shape;385;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Controlled odor delivery separates input from response</a:t>
            </a:r>
            <a:endParaRPr sz="1800">
              <a:solidFill>
                <a:schemeClr val="dk1"/>
              </a:solidFill>
              <a:latin typeface="Calibri"/>
              <a:ea typeface="Calibri"/>
              <a:cs typeface="Calibri"/>
              <a:sym typeface="Calibri"/>
            </a:endParaRPr>
          </a:p>
        </p:txBody>
      </p:sp>
      <p:sp>
        <p:nvSpPr>
          <p:cNvPr id="391" name="Google Shape;391;p28"/>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Bobkov and colleagues recorded Panulirus sensory neurons in a semi-intact antennular preparation. Odor reached the outer dendrites while the cell bodies remained accessible to electrodes and imaging. Separate fluid compartments limited direct stimulation of somata and allowed repeated inputs to the sensory surface.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A fluorescent tracer characterized stimulus timing, while calcium imaging and loose-patch recordings measured responses. Food extract was tested at concentrations up to 0.5 mg/mL. Increasing pulse duration increased the effective delivered stimulus, but did not create a perfectly independent change in concentration alone.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These calibrations establish when chemical input arrived relative to cellular activity. Pulse duration, onset kinetics and effective dose can covary, so responses are interpreted against the measured delivery waveform and not only the source solution.</a:t>
            </a:r>
            <a:endParaRPr sz="1800">
              <a:solidFill>
                <a:schemeClr val="dk1"/>
              </a:solidFill>
              <a:latin typeface="Calibri"/>
              <a:ea typeface="Calibri"/>
              <a:cs typeface="Calibri"/>
              <a:sym typeface="Calibri"/>
            </a:endParaRPr>
          </a:p>
        </p:txBody>
      </p:sp>
      <p:pic>
        <p:nvPicPr>
          <p:cNvPr id="394" name="Google Shape;394;p28"/>
          <p:cNvPicPr preferRelativeResize="0"/>
          <p:nvPr/>
        </p:nvPicPr>
        <p:blipFill rotWithShape="1">
          <a:blip r:embed="rId3">
            <a:alphaModFix/>
          </a:blip>
          <a:srcRect b="0" l="0" r="0" t="0"/>
          <a:stretch/>
        </p:blipFill>
        <p:spPr>
          <a:xfrm>
            <a:off x="6561861" y="1280071"/>
            <a:ext cx="4731187" cy="2925961"/>
          </a:xfrm>
          <a:prstGeom prst="rect">
            <a:avLst/>
          </a:prstGeom>
          <a:noFill/>
          <a:ln>
            <a:noFill/>
          </a:ln>
        </p:spPr>
      </p:pic>
      <p:sp>
        <p:nvSpPr>
          <p:cNvPr id="395" name="Google Shape;395;p28"/>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Bobkov et al. (2012), Fig. 1A–C. Simultaneous dye calibration, calcium responses and firing-rate controls.</a:t>
            </a:r>
            <a:endParaRPr sz="1800">
              <a:solidFill>
                <a:schemeClr val="dk1"/>
              </a:solidFill>
              <a:latin typeface="Calibri"/>
              <a:ea typeface="Calibri"/>
              <a:cs typeface="Calibri"/>
              <a:sym typeface="Calibri"/>
            </a:endParaRPr>
          </a:p>
        </p:txBody>
      </p:sp>
      <p:pic>
        <p:nvPicPr>
          <p:cNvPr id="396" name="Google Shape;396;p28"/>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397" name="Google Shape;397;p28"/>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398" name="Google Shape;398;p28"/>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Bobkov et al. (2012); Corey et al. (2013)</a:t>
            </a:r>
            <a:endParaRPr sz="1800">
              <a:solidFill>
                <a:schemeClr val="dk1"/>
              </a:solidFill>
              <a:latin typeface="Calibri"/>
              <a:ea typeface="Calibri"/>
              <a:cs typeface="Calibri"/>
              <a:sym typeface="Calibri"/>
            </a:endParaRPr>
          </a:p>
        </p:txBody>
      </p:sp>
      <p:sp>
        <p:nvSpPr>
          <p:cNvPr id="400" name="Google Shape;400;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 name="Shape 404"/>
        <p:cNvGrpSpPr/>
        <p:nvPr/>
      </p:nvGrpSpPr>
      <p:grpSpPr>
        <a:xfrm>
          <a:off x="0" y="0"/>
          <a:ext cx="0" cy="0"/>
          <a:chOff x="0" y="0"/>
          <a:chExt cx="0" cy="0"/>
        </a:xfrm>
      </p:grpSpPr>
      <p:sp>
        <p:nvSpPr>
          <p:cNvPr id="405" name="Google Shape;405;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Peripheral neurons can be excited or inhibited by odor</a:t>
            </a:r>
            <a:endParaRPr sz="1800">
              <a:solidFill>
                <a:schemeClr val="dk1"/>
              </a:solidFill>
              <a:latin typeface="Calibri"/>
              <a:ea typeface="Calibri"/>
              <a:cs typeface="Calibri"/>
              <a:sym typeface="Calibri"/>
            </a:endParaRPr>
          </a:p>
        </p:txBody>
      </p:sp>
      <p:sp>
        <p:nvSpPr>
          <p:cNvPr id="406" name="Google Shape;406;p29"/>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Bobkov and colleagues found tonic excitation, phasic–tonic excitation and inhibition among olfactory receptor neurons exposed to food extract. </a:t>
            </a:r>
            <a:r>
              <a:rPr b="1" i="0" lang="en-US" sz="1500">
                <a:solidFill>
                  <a:srgbClr val="743B4A"/>
                </a:solidFill>
                <a:latin typeface="Arial"/>
                <a:ea typeface="Arial"/>
                <a:cs typeface="Arial"/>
                <a:sym typeface="Arial"/>
              </a:rPr>
              <a:t>Tonic</a:t>
            </a:r>
            <a:r>
              <a:rPr b="0" i="0" lang="en-US" sz="1500">
                <a:solidFill>
                  <a:srgbClr val="252D35"/>
                </a:solidFill>
                <a:latin typeface="Arial"/>
                <a:ea typeface="Arial"/>
                <a:cs typeface="Arial"/>
                <a:sym typeface="Arial"/>
              </a:rPr>
              <a:t> responses persist during stimulation; </a:t>
            </a:r>
            <a:r>
              <a:rPr b="1" i="0" lang="en-US" sz="1500">
                <a:solidFill>
                  <a:srgbClr val="743B4A"/>
                </a:solidFill>
                <a:latin typeface="Arial"/>
                <a:ea typeface="Arial"/>
                <a:cs typeface="Arial"/>
                <a:sym typeface="Arial"/>
              </a:rPr>
              <a:t>phasic</a:t>
            </a:r>
            <a:r>
              <a:rPr b="0" i="0" lang="en-US" sz="1500">
                <a:solidFill>
                  <a:srgbClr val="252D35"/>
                </a:solidFill>
                <a:latin typeface="Arial"/>
                <a:ea typeface="Arial"/>
                <a:cs typeface="Arial"/>
                <a:sym typeface="Arial"/>
              </a:rPr>
              <a:t> responses emphasize its beginning. Inhibitory responses reduce activity relative to the cell’s unstimulated state.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Whole-cell voltage-clamp recordings near −70 to −60 mV measured inward or outward odor-evoked currents alongside firing patterns. Excitatory current could persist or adapt rapidly, while some cells showed inhibitory currents. Thus, diversity was already present in the receptor input, before central synaptic processing.</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observations reject an account in which all peripheral cells transmit the same excitation and the brain creates every inhibitory response. Excitatory and inhibitory currents both arise in receptor neurons, and the direction of a current depends on the holding voltage and the ionic driving force.</a:t>
            </a:r>
            <a:endParaRPr sz="1800">
              <a:solidFill>
                <a:schemeClr val="dk1"/>
              </a:solidFill>
              <a:latin typeface="Calibri"/>
              <a:ea typeface="Calibri"/>
              <a:cs typeface="Calibri"/>
              <a:sym typeface="Calibri"/>
            </a:endParaRPr>
          </a:p>
        </p:txBody>
      </p:sp>
      <p:pic>
        <p:nvPicPr>
          <p:cNvPr id="409" name="Google Shape;409;p29"/>
          <p:cNvPicPr preferRelativeResize="0"/>
          <p:nvPr/>
        </p:nvPicPr>
        <p:blipFill rotWithShape="1">
          <a:blip r:embed="rId3">
            <a:alphaModFix/>
          </a:blip>
          <a:srcRect b="0" l="0" r="0" t="0"/>
          <a:stretch/>
        </p:blipFill>
        <p:spPr>
          <a:xfrm>
            <a:off x="6559821" y="1280071"/>
            <a:ext cx="2906468" cy="4297561"/>
          </a:xfrm>
          <a:prstGeom prst="rect">
            <a:avLst/>
          </a:prstGeom>
          <a:noFill/>
          <a:ln>
            <a:noFill/>
          </a:ln>
        </p:spPr>
      </p:pic>
      <p:sp>
        <p:nvSpPr>
          <p:cNvPr id="410" name="Google Shape;410;p29"/>
          <p:cNvSpPr/>
          <p:nvPr/>
        </p:nvSpPr>
        <p:spPr>
          <a:xfrm>
            <a:off x="6229796" y="5669161"/>
            <a:ext cx="35852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Bobkov et al. (2012), Fig. 2A–D. Excitatory, inhibitory and intrinsic sensory activity.</a:t>
            </a:r>
            <a:endParaRPr sz="1800">
              <a:solidFill>
                <a:schemeClr val="dk1"/>
              </a:solidFill>
              <a:latin typeface="Calibri"/>
              <a:ea typeface="Calibri"/>
              <a:cs typeface="Calibri"/>
              <a:sym typeface="Calibri"/>
            </a:endParaRPr>
          </a:p>
        </p:txBody>
      </p:sp>
      <p:pic>
        <p:nvPicPr>
          <p:cNvPr id="411" name="Google Shape;411;p29"/>
          <p:cNvPicPr preferRelativeResize="0"/>
          <p:nvPr/>
        </p:nvPicPr>
        <p:blipFill rotWithShape="1">
          <a:blip r:embed="rId4">
            <a:alphaModFix/>
          </a:blip>
          <a:srcRect b="0" l="0" r="0" t="0"/>
          <a:stretch/>
        </p:blipFill>
        <p:spPr>
          <a:xfrm>
            <a:off x="9978963" y="2148780"/>
            <a:ext cx="1645816" cy="820341"/>
          </a:xfrm>
          <a:prstGeom prst="rect">
            <a:avLst/>
          </a:prstGeom>
          <a:noFill/>
          <a:ln>
            <a:noFill/>
          </a:ln>
        </p:spPr>
      </p:pic>
      <p:sp>
        <p:nvSpPr>
          <p:cNvPr id="412" name="Google Shape;412;p29"/>
          <p:cNvSpPr/>
          <p:nvPr/>
        </p:nvSpPr>
        <p:spPr>
          <a:xfrm>
            <a:off x="9978926" y="3042345"/>
            <a:ext cx="166494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413" name="Google Shape;413;p29"/>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Bobkov et al. (2012); Corey et al. (2013)</a:t>
            </a:r>
            <a:endParaRPr sz="1800">
              <a:solidFill>
                <a:schemeClr val="dk1"/>
              </a:solidFill>
              <a:latin typeface="Calibri"/>
              <a:ea typeface="Calibri"/>
              <a:cs typeface="Calibri"/>
              <a:sym typeface="Calibri"/>
            </a:endParaRPr>
          </a:p>
        </p:txBody>
      </p:sp>
      <p:sp>
        <p:nvSpPr>
          <p:cNvPr id="415" name="Google Shape;415;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Calcium signals and spikes have different time courses</a:t>
            </a:r>
            <a:endParaRPr sz="1800">
              <a:solidFill>
                <a:schemeClr val="dk1"/>
              </a:solidFill>
              <a:latin typeface="Calibri"/>
              <a:ea typeface="Calibri"/>
              <a:cs typeface="Calibri"/>
              <a:sym typeface="Calibri"/>
            </a:endParaRPr>
          </a:p>
        </p:txBody>
      </p:sp>
      <p:sp>
        <p:nvSpPr>
          <p:cNvPr id="421" name="Google Shape;421;p30"/>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Calcium-sensitive fluorescence is often used as a proxy for neuronal activity, but it is not an action potential. Bobkov and colleagues recorded spikes and calcium simultaneously in identified lobster sensory neurons. The comparison tested how reliably a slower optical signal represents rapid electrical output.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Tonic, phasic–tonic and inhibitory neurons showed corresponding but differently filtered fluorescence changes. Calcium generally changed more slowly than the spike pattern. An inhibitory optical response could accompany reduced firing, while excitation increased firing and then accumulated a calcium signal.</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Calcium imaging identifies tonic, phasic–tonic and inhibitory response classes. The fluorescence is slower than the spikes because dye kinetics, intracellular buffering and calcium removal intervene between them.</a:t>
            </a:r>
            <a:endParaRPr sz="1800">
              <a:solidFill>
                <a:schemeClr val="dk1"/>
              </a:solidFill>
              <a:latin typeface="Calibri"/>
              <a:ea typeface="Calibri"/>
              <a:cs typeface="Calibri"/>
              <a:sym typeface="Calibri"/>
            </a:endParaRPr>
          </a:p>
        </p:txBody>
      </p:sp>
      <p:pic>
        <p:nvPicPr>
          <p:cNvPr id="424" name="Google Shape;424;p30"/>
          <p:cNvPicPr preferRelativeResize="0"/>
          <p:nvPr/>
        </p:nvPicPr>
        <p:blipFill rotWithShape="1">
          <a:blip r:embed="rId3">
            <a:alphaModFix/>
          </a:blip>
          <a:srcRect b="0" l="0" r="0" t="0"/>
          <a:stretch/>
        </p:blipFill>
        <p:spPr>
          <a:xfrm>
            <a:off x="7385981" y="1280071"/>
            <a:ext cx="3082947" cy="2925961"/>
          </a:xfrm>
          <a:prstGeom prst="rect">
            <a:avLst/>
          </a:prstGeom>
          <a:noFill/>
          <a:ln>
            <a:noFill/>
          </a:ln>
        </p:spPr>
      </p:pic>
      <p:sp>
        <p:nvSpPr>
          <p:cNvPr id="425" name="Google Shape;425;p30"/>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Bobkov et al. (2012), Fig. 3A–C. Simultaneous spikes and calcium responses across neuronal response classes.</a:t>
            </a:r>
            <a:endParaRPr sz="1800">
              <a:solidFill>
                <a:schemeClr val="dk1"/>
              </a:solidFill>
              <a:latin typeface="Calibri"/>
              <a:ea typeface="Calibri"/>
              <a:cs typeface="Calibri"/>
              <a:sym typeface="Calibri"/>
            </a:endParaRPr>
          </a:p>
        </p:txBody>
      </p:sp>
      <p:pic>
        <p:nvPicPr>
          <p:cNvPr id="426" name="Google Shape;426;p30"/>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427" name="Google Shape;427;p30"/>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428" name="Google Shape;428;p30"/>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Bobkov et al. (2012); Corey et al. (2013)</a:t>
            </a:r>
            <a:endParaRPr sz="1800">
              <a:solidFill>
                <a:schemeClr val="dk1"/>
              </a:solidFill>
              <a:latin typeface="Calibri"/>
              <a:ea typeface="Calibri"/>
              <a:cs typeface="Calibri"/>
              <a:sym typeface="Calibri"/>
            </a:endParaRPr>
          </a:p>
        </p:txBody>
      </p:sp>
      <p:sp>
        <p:nvSpPr>
          <p:cNvPr id="430" name="Google Shape;430;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Some olfactory neurons burst without odor stimulation</a:t>
            </a:r>
            <a:endParaRPr sz="1800">
              <a:solidFill>
                <a:schemeClr val="dk1"/>
              </a:solidFill>
              <a:latin typeface="Calibri"/>
              <a:ea typeface="Calibri"/>
              <a:cs typeface="Calibri"/>
              <a:sym typeface="Calibri"/>
            </a:endParaRPr>
          </a:p>
        </p:txBody>
      </p:sp>
      <p:sp>
        <p:nvSpPr>
          <p:cNvPr id="436" name="Google Shape;436;p31"/>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A </a:t>
            </a:r>
            <a:r>
              <a:rPr b="1" i="0" lang="en-US" sz="1600">
                <a:solidFill>
                  <a:srgbClr val="743B4A"/>
                </a:solidFill>
                <a:latin typeface="Arial"/>
                <a:ea typeface="Arial"/>
                <a:cs typeface="Arial"/>
                <a:sym typeface="Arial"/>
              </a:rPr>
              <a:t>burst</a:t>
            </a:r>
            <a:r>
              <a:rPr b="0" i="0" lang="en-US" sz="1600">
                <a:solidFill>
                  <a:srgbClr val="252D35"/>
                </a:solidFill>
                <a:latin typeface="Arial"/>
                <a:ea typeface="Arial"/>
                <a:cs typeface="Arial"/>
                <a:sym typeface="Arial"/>
              </a:rPr>
              <a:t> is a cluster of spikes separated from another cluster by a quieter interval. Bobkov and colleagues observed intrinsically bursting olfactory receptor neurons in the absence of presented odor. Their spontaneous output therefore contains temporal structure before environmental stimulation is added.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Simultaneous recordings showed repeated electrical bursts followed by slower calcium oscillations. Across cells, optical oscillation frequencies ranged from approximately 0.015 to 0.9 Hz, with an average near 0.16 Hz. Different cells consequently supplied different intrinsic temporal reference scales.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Spontaneous bursting gives each cell its own temporal structure, so an odor-evoked burst must be distinguished from a spontaneous burst when a cell signals a new encounter.</a:t>
            </a:r>
            <a:endParaRPr sz="1800">
              <a:solidFill>
                <a:schemeClr val="dk1"/>
              </a:solidFill>
              <a:latin typeface="Calibri"/>
              <a:ea typeface="Calibri"/>
              <a:cs typeface="Calibri"/>
              <a:sym typeface="Calibri"/>
            </a:endParaRPr>
          </a:p>
        </p:txBody>
      </p:sp>
      <p:pic>
        <p:nvPicPr>
          <p:cNvPr id="439" name="Google Shape;439;p31"/>
          <p:cNvPicPr preferRelativeResize="0"/>
          <p:nvPr/>
        </p:nvPicPr>
        <p:blipFill rotWithShape="1">
          <a:blip r:embed="rId3">
            <a:alphaModFix/>
          </a:blip>
          <a:srcRect b="0" l="0" r="0" t="0"/>
          <a:stretch/>
        </p:blipFill>
        <p:spPr>
          <a:xfrm>
            <a:off x="6862489" y="1280071"/>
            <a:ext cx="2300982" cy="4297561"/>
          </a:xfrm>
          <a:prstGeom prst="rect">
            <a:avLst/>
          </a:prstGeom>
          <a:noFill/>
          <a:ln>
            <a:noFill/>
          </a:ln>
        </p:spPr>
      </p:pic>
      <p:sp>
        <p:nvSpPr>
          <p:cNvPr id="440" name="Google Shape;440;p31"/>
          <p:cNvSpPr/>
          <p:nvPr/>
        </p:nvSpPr>
        <p:spPr>
          <a:xfrm>
            <a:off x="6229796" y="5669161"/>
            <a:ext cx="35852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Bobkov et al. (2012), Fig. 4A–B. Simultaneous bursting and slower calcium oscillations.</a:t>
            </a:r>
            <a:endParaRPr sz="1800">
              <a:solidFill>
                <a:schemeClr val="dk1"/>
              </a:solidFill>
              <a:latin typeface="Calibri"/>
              <a:ea typeface="Calibri"/>
              <a:cs typeface="Calibri"/>
              <a:sym typeface="Calibri"/>
            </a:endParaRPr>
          </a:p>
        </p:txBody>
      </p:sp>
      <p:pic>
        <p:nvPicPr>
          <p:cNvPr id="441" name="Google Shape;441;p31"/>
          <p:cNvPicPr preferRelativeResize="0"/>
          <p:nvPr/>
        </p:nvPicPr>
        <p:blipFill rotWithShape="1">
          <a:blip r:embed="rId4">
            <a:alphaModFix/>
          </a:blip>
          <a:srcRect b="0" l="0" r="0" t="0"/>
          <a:stretch/>
        </p:blipFill>
        <p:spPr>
          <a:xfrm>
            <a:off x="9978963" y="2148780"/>
            <a:ext cx="1645816" cy="820341"/>
          </a:xfrm>
          <a:prstGeom prst="rect">
            <a:avLst/>
          </a:prstGeom>
          <a:noFill/>
          <a:ln>
            <a:noFill/>
          </a:ln>
        </p:spPr>
      </p:pic>
      <p:sp>
        <p:nvSpPr>
          <p:cNvPr id="442" name="Google Shape;442;p31"/>
          <p:cNvSpPr/>
          <p:nvPr/>
        </p:nvSpPr>
        <p:spPr>
          <a:xfrm>
            <a:off x="9978926" y="3042345"/>
            <a:ext cx="166494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443" name="Google Shape;443;p31"/>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Bobkov et al. (2012); Corey et al. (2013)</a:t>
            </a:r>
            <a:endParaRPr sz="1800">
              <a:solidFill>
                <a:schemeClr val="dk1"/>
              </a:solidFill>
              <a:latin typeface="Calibri"/>
              <a:ea typeface="Calibri"/>
              <a:cs typeface="Calibri"/>
              <a:sym typeface="Calibri"/>
            </a:endParaRPr>
          </a:p>
        </p:txBody>
      </p:sp>
      <p:sp>
        <p:nvSpPr>
          <p:cNvPr id="445" name="Google Shape;445;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Adjacent receptor neurons need not share an oscillator</a:t>
            </a:r>
            <a:endParaRPr sz="1800">
              <a:solidFill>
                <a:schemeClr val="dk1"/>
              </a:solidFill>
              <a:latin typeface="Calibri"/>
              <a:ea typeface="Calibri"/>
              <a:cs typeface="Calibri"/>
              <a:sym typeface="Calibri"/>
            </a:endParaRPr>
          </a:p>
        </p:txBody>
      </p:sp>
      <p:sp>
        <p:nvSpPr>
          <p:cNvPr id="451" name="Google Shape;451;p3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Bobkov and colleagues imaged many sensory somata within the same antennular cluster and compared their calcium time series. </a:t>
            </a:r>
            <a:r>
              <a:rPr b="1" i="0" lang="en-US" sz="1400">
                <a:solidFill>
                  <a:srgbClr val="743B4A"/>
                </a:solidFill>
                <a:latin typeface="Arial"/>
                <a:ea typeface="Arial"/>
                <a:cs typeface="Arial"/>
                <a:sym typeface="Arial"/>
              </a:rPr>
              <a:t>Correlation</a:t>
            </a:r>
            <a:r>
              <a:rPr b="0" i="0" lang="en-US" sz="1400">
                <a:solidFill>
                  <a:srgbClr val="252D35"/>
                </a:solidFill>
                <a:latin typeface="Arial"/>
                <a:ea typeface="Arial"/>
                <a:cs typeface="Arial"/>
                <a:sym typeface="Arial"/>
              </a:rPr>
              <a:t> measures the degree to which two signals vary together. Pairwise comparisons tested whether nearby bursting cells behaved as one tightly synchronized peripheral network, which would produce a shared rhythm across the cluster.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Most recorded pairs were weakly correlated and showed different oscillatory timing, so neighboring cells generally followed separate rhythms. A small number of highly similar records were checked for overlapping optical sampling before cellular coupling was inferred, so the synchronized pairs were assessed for their origin, and only the pairs that survived that check were treated as coupled.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Weak correlation among most pairs indicates that nearby sensory cells oscillate largely independently, so each cell contributes its own timing to the peripheral population. The population signal is therefore the sum of many separate rhythms, and the independence of those rhythms keeps the cluster's output rich in timing information. Separate oscillators therefore add variety to the peripheral signal rather than repeating a single rhythm.</a:t>
            </a:r>
            <a:endParaRPr sz="1800">
              <a:solidFill>
                <a:schemeClr val="dk1"/>
              </a:solidFill>
              <a:latin typeface="Calibri"/>
              <a:ea typeface="Calibri"/>
              <a:cs typeface="Calibri"/>
              <a:sym typeface="Calibri"/>
            </a:endParaRPr>
          </a:p>
        </p:txBody>
      </p:sp>
      <p:pic>
        <p:nvPicPr>
          <p:cNvPr id="454" name="Google Shape;454;p32"/>
          <p:cNvPicPr preferRelativeResize="0"/>
          <p:nvPr/>
        </p:nvPicPr>
        <p:blipFill rotWithShape="1">
          <a:blip r:embed="rId3">
            <a:alphaModFix/>
          </a:blip>
          <a:srcRect b="0" l="0" r="0" t="0"/>
          <a:stretch/>
        </p:blipFill>
        <p:spPr>
          <a:xfrm>
            <a:off x="7551688" y="1280075"/>
            <a:ext cx="2980134" cy="4297552"/>
          </a:xfrm>
          <a:prstGeom prst="rect">
            <a:avLst/>
          </a:prstGeom>
          <a:noFill/>
          <a:ln>
            <a:noFill/>
          </a:ln>
        </p:spPr>
      </p:pic>
      <p:sp>
        <p:nvSpPr>
          <p:cNvPr id="455" name="Google Shape;455;p32"/>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Bobkov et al. (2012), Fig. 5A–C. Colored sensory-cell images, calcium records and pairwise correlations.</a:t>
            </a:r>
            <a:endParaRPr sz="1800">
              <a:solidFill>
                <a:schemeClr val="dk1"/>
              </a:solidFill>
              <a:latin typeface="Calibri"/>
              <a:ea typeface="Calibri"/>
              <a:cs typeface="Calibri"/>
              <a:sym typeface="Calibri"/>
            </a:endParaRPr>
          </a:p>
        </p:txBody>
      </p:sp>
      <p:sp>
        <p:nvSpPr>
          <p:cNvPr id="456" name="Google Shape;456;p32"/>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Bobkov et al. (2012)</a:t>
            </a:r>
            <a:endParaRPr sz="1800">
              <a:solidFill>
                <a:schemeClr val="dk1"/>
              </a:solidFill>
              <a:latin typeface="Calibri"/>
              <a:ea typeface="Calibri"/>
              <a:cs typeface="Calibri"/>
              <a:sym typeface="Calibri"/>
            </a:endParaRPr>
          </a:p>
        </p:txBody>
      </p:sp>
      <p:sp>
        <p:nvSpPr>
          <p:cNvPr id="458" name="Google Shape;458;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Cyclic nucleotides can support peripheral inhibition</a:t>
            </a:r>
            <a:endParaRPr sz="1800">
              <a:solidFill>
                <a:schemeClr val="dk1"/>
              </a:solidFill>
              <a:latin typeface="Calibri"/>
              <a:ea typeface="Calibri"/>
              <a:cs typeface="Calibri"/>
              <a:sym typeface="Calibri"/>
            </a:endParaRPr>
          </a:p>
        </p:txBody>
      </p:sp>
      <p:sp>
        <p:nvSpPr>
          <p:cNvPr id="464" name="Google Shape;464;p33"/>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A </a:t>
            </a:r>
            <a:r>
              <a:rPr b="1" i="0" lang="en-US" sz="1500">
                <a:solidFill>
                  <a:srgbClr val="743B4A"/>
                </a:solidFill>
                <a:latin typeface="Arial"/>
                <a:ea typeface="Arial"/>
                <a:cs typeface="Arial"/>
                <a:sym typeface="Arial"/>
              </a:rPr>
              <a:t>second messenger</a:t>
            </a:r>
            <a:r>
              <a:rPr b="0" i="0" lang="en-US" sz="1500">
                <a:solidFill>
                  <a:srgbClr val="252D35"/>
                </a:solidFill>
                <a:latin typeface="Arial"/>
                <a:ea typeface="Arial"/>
                <a:cs typeface="Arial"/>
                <a:sym typeface="Arial"/>
              </a:rPr>
              <a:t> is an intracellular molecule whose concentration changes after signaling begins. Michel and Ache tested cyclic nucleotides in lobster sensory neurons that were excited by food extract but inhibited by proline. Whole-cell recordings were made at a holding voltage of −60 mV.</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Proline produced a small outward current in this cell class. The phosphodiesterase inhibitor IBMX at 1 mM and membrane-permeant cyclic-nucleotide analogs could mimic an outward response. These manipulations link intracellular cyclic-nucleotide accumulation to a conductance associated with peripheral inhibition.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interpretation builds on an odor-evoked potassium conductance characterized in this receptor-cell system. Raising cyclic-nucleotide levels with IBMX or analogs reproduces the outward current, which places cyclic nucleotides in the inhibitory transduction pathway.</a:t>
            </a:r>
            <a:endParaRPr sz="1800">
              <a:solidFill>
                <a:schemeClr val="dk1"/>
              </a:solidFill>
              <a:latin typeface="Calibri"/>
              <a:ea typeface="Calibri"/>
              <a:cs typeface="Calibri"/>
              <a:sym typeface="Calibri"/>
            </a:endParaRPr>
          </a:p>
        </p:txBody>
      </p:sp>
      <p:pic>
        <p:nvPicPr>
          <p:cNvPr id="467" name="Google Shape;467;p33"/>
          <p:cNvPicPr preferRelativeResize="0"/>
          <p:nvPr/>
        </p:nvPicPr>
        <p:blipFill rotWithShape="1">
          <a:blip r:embed="rId3">
            <a:alphaModFix/>
          </a:blip>
          <a:srcRect b="0" l="0" r="0" t="0"/>
          <a:stretch/>
        </p:blipFill>
        <p:spPr>
          <a:xfrm>
            <a:off x="6229924" y="1280071"/>
            <a:ext cx="5394765" cy="2859435"/>
          </a:xfrm>
          <a:prstGeom prst="rect">
            <a:avLst/>
          </a:prstGeom>
          <a:noFill/>
          <a:ln>
            <a:noFill/>
          </a:ln>
        </p:spPr>
      </p:pic>
      <p:sp>
        <p:nvSpPr>
          <p:cNvPr id="468" name="Google Shape;468;p33"/>
          <p:cNvSpPr/>
          <p:nvPr/>
        </p:nvSpPr>
        <p:spPr>
          <a:xfrm>
            <a:off x="6229796" y="423103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Michel &amp; Ache (1992), Fig. 4. Proline, phosphodiesterase inhibition and cyclic-GMP analog evoke outward currents.</a:t>
            </a:r>
            <a:endParaRPr sz="1800">
              <a:solidFill>
                <a:schemeClr val="dk1"/>
              </a:solidFill>
              <a:latin typeface="Calibri"/>
              <a:ea typeface="Calibri"/>
              <a:cs typeface="Calibri"/>
              <a:sym typeface="Calibri"/>
            </a:endParaRPr>
          </a:p>
        </p:txBody>
      </p:sp>
      <p:pic>
        <p:nvPicPr>
          <p:cNvPr id="469" name="Google Shape;469;p33"/>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470" name="Google Shape;470;p33"/>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471" name="Google Shape;471;p3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Michel &amp; Ache (1992); Corey et al. (2013)</a:t>
            </a:r>
            <a:endParaRPr sz="1800">
              <a:solidFill>
                <a:schemeClr val="dk1"/>
              </a:solidFill>
              <a:latin typeface="Calibri"/>
              <a:ea typeface="Calibri"/>
              <a:cs typeface="Calibri"/>
              <a:sym typeface="Calibri"/>
            </a:endParaRPr>
          </a:p>
        </p:txBody>
      </p:sp>
      <p:sp>
        <p:nvSpPr>
          <p:cNvPr id="473" name="Google Shape;473;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7" name="Shape 477"/>
        <p:cNvGrpSpPr/>
        <p:nvPr/>
      </p:nvGrpSpPr>
      <p:grpSpPr>
        <a:xfrm>
          <a:off x="0" y="0"/>
          <a:ext cx="0" cy="0"/>
          <a:chOff x="0" y="0"/>
          <a:chExt cx="0" cy="0"/>
        </a:xfrm>
      </p:grpSpPr>
      <p:sp>
        <p:nvSpPr>
          <p:cNvPr id="478" name="Google Shape;478;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Enzyme activation probes a candidate inhibitory pathway</a:t>
            </a:r>
            <a:endParaRPr sz="1800">
              <a:solidFill>
                <a:schemeClr val="dk1"/>
              </a:solidFill>
              <a:latin typeface="Calibri"/>
              <a:ea typeface="Calibri"/>
              <a:cs typeface="Calibri"/>
              <a:sym typeface="Calibri"/>
            </a:endParaRPr>
          </a:p>
        </p:txBody>
      </p:sp>
      <p:sp>
        <p:nvSpPr>
          <p:cNvPr id="479" name="Google Shape;479;p34"/>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500"/>
              <a:buFont typeface="Arial"/>
              <a:buNone/>
            </a:pPr>
            <a:r>
              <a:rPr b="1" i="0" lang="en-US" sz="1500">
                <a:solidFill>
                  <a:srgbClr val="743B4A"/>
                </a:solidFill>
                <a:latin typeface="Arial"/>
                <a:ea typeface="Arial"/>
                <a:cs typeface="Arial"/>
                <a:sym typeface="Arial"/>
              </a:rPr>
              <a:t>Adenylyl cyclase</a:t>
            </a:r>
            <a:r>
              <a:rPr b="0" i="0" lang="en-US" sz="1500">
                <a:solidFill>
                  <a:srgbClr val="252D35"/>
                </a:solidFill>
                <a:latin typeface="Arial"/>
                <a:ea typeface="Arial"/>
                <a:cs typeface="Arial"/>
                <a:sym typeface="Arial"/>
              </a:rPr>
              <a:t> synthesizes cyclic AMP, or cAMP. Michel and Ache applied forskolin, an activator of this enzyme, to test whether increasing its activity could reproduce proline-associated inhibition. Saline application provided a comparison for the mechanical delivery of solution.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Forskolin at 50 µM evoked an outward current in proline-inhibited neurons, and IBMX enhanced related responses by reducing nucleotide breakdown. Cells excited by food extract but not inhibited by proline supplied a contrasting response class, helping separate a general toxic effect from pathway-dependent sensitivity.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results support cyclic-nucleotide participation in inhibitory transduction. Forskolin raises cAMP by activating adenylyl cyclase, and the outward current it evokes in proline-inhibited cells fits cAMP acting as a second messenger in the inhibitory pathway.</a:t>
            </a:r>
            <a:endParaRPr sz="1800">
              <a:solidFill>
                <a:schemeClr val="dk1"/>
              </a:solidFill>
              <a:latin typeface="Calibri"/>
              <a:ea typeface="Calibri"/>
              <a:cs typeface="Calibri"/>
              <a:sym typeface="Calibri"/>
            </a:endParaRPr>
          </a:p>
        </p:txBody>
      </p:sp>
      <p:pic>
        <p:nvPicPr>
          <p:cNvPr id="482" name="Google Shape;482;p34"/>
          <p:cNvPicPr preferRelativeResize="0"/>
          <p:nvPr/>
        </p:nvPicPr>
        <p:blipFill rotWithShape="1">
          <a:blip r:embed="rId3">
            <a:alphaModFix/>
          </a:blip>
          <a:srcRect b="0" l="0" r="0" t="0"/>
          <a:stretch/>
        </p:blipFill>
        <p:spPr>
          <a:xfrm>
            <a:off x="6686012" y="1280071"/>
            <a:ext cx="4482589" cy="2925961"/>
          </a:xfrm>
          <a:prstGeom prst="rect">
            <a:avLst/>
          </a:prstGeom>
          <a:noFill/>
          <a:ln>
            <a:noFill/>
          </a:ln>
        </p:spPr>
      </p:pic>
      <p:sp>
        <p:nvSpPr>
          <p:cNvPr id="483" name="Google Shape;483;p34"/>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Michel &amp; Ache (1992), Fig. 2. Forskolin and IBMX evoke an outward current in a proline-inhibited neuron.</a:t>
            </a:r>
            <a:endParaRPr sz="1800">
              <a:solidFill>
                <a:schemeClr val="dk1"/>
              </a:solidFill>
              <a:latin typeface="Calibri"/>
              <a:ea typeface="Calibri"/>
              <a:cs typeface="Calibri"/>
              <a:sym typeface="Calibri"/>
            </a:endParaRPr>
          </a:p>
        </p:txBody>
      </p:sp>
      <p:pic>
        <p:nvPicPr>
          <p:cNvPr id="484" name="Google Shape;484;p34"/>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485" name="Google Shape;485;p34"/>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486" name="Google Shape;486;p34"/>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Michel &amp; Ache (1992); Corey et al. (2013)</a:t>
            </a:r>
            <a:endParaRPr sz="1800">
              <a:solidFill>
                <a:schemeClr val="dk1"/>
              </a:solidFill>
              <a:latin typeface="Calibri"/>
              <a:ea typeface="Calibri"/>
              <a:cs typeface="Calibri"/>
              <a:sym typeface="Calibri"/>
            </a:endParaRPr>
          </a:p>
        </p:txBody>
      </p:sp>
      <p:sp>
        <p:nvSpPr>
          <p:cNvPr id="488" name="Google Shape;488;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sp>
        <p:nvSpPr>
          <p:cNvPr id="493" name="Google Shape;493;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Odor rapidly changes dendritic second messengers</a:t>
            </a:r>
            <a:endParaRPr sz="1800">
              <a:solidFill>
                <a:schemeClr val="dk1"/>
              </a:solidFill>
              <a:latin typeface="Calibri"/>
              <a:ea typeface="Calibri"/>
              <a:cs typeface="Calibri"/>
              <a:sym typeface="Calibri"/>
            </a:endParaRPr>
          </a:p>
        </p:txBody>
      </p:sp>
      <p:sp>
        <p:nvSpPr>
          <p:cNvPr id="494" name="Google Shape;494;p35"/>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Boekhoff and colleagues isolated membranes enriched from the outer dendrites of Panulirus olfactory hairs. A </a:t>
            </a:r>
            <a:r>
              <a:rPr b="1" i="0" lang="en-US" sz="1500">
                <a:solidFill>
                  <a:srgbClr val="743B4A"/>
                </a:solidFill>
                <a:latin typeface="Arial"/>
                <a:ea typeface="Arial"/>
                <a:cs typeface="Arial"/>
                <a:sym typeface="Arial"/>
              </a:rPr>
              <a:t>quench-flow assay</a:t>
            </a:r>
            <a:r>
              <a:rPr b="0" i="0" lang="en-US" sz="1500">
                <a:solidFill>
                  <a:srgbClr val="252D35"/>
                </a:solidFill>
                <a:latin typeface="Arial"/>
                <a:ea typeface="Arial"/>
                <a:cs typeface="Arial"/>
                <a:sym typeface="Arial"/>
              </a:rPr>
              <a:t> mixes membrane material with stimulus and rapidly stops the reaction, allowing biochemical changes over milliseconds to be measured independently of spike output.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Food extract produced transient increases in cAMP and </a:t>
            </a:r>
            <a:r>
              <a:rPr b="1" i="0" lang="en-US" sz="1500">
                <a:solidFill>
                  <a:srgbClr val="743B4A"/>
                </a:solidFill>
                <a:latin typeface="Arial"/>
                <a:ea typeface="Arial"/>
                <a:cs typeface="Arial"/>
                <a:sym typeface="Arial"/>
              </a:rPr>
              <a:t>inositol 1,4,5-trisphosphate</a:t>
            </a:r>
            <a:r>
              <a:rPr b="0" i="0" lang="en-US" sz="1500">
                <a:solidFill>
                  <a:srgbClr val="252D35"/>
                </a:solidFill>
                <a:latin typeface="Arial"/>
                <a:ea typeface="Arial"/>
                <a:cs typeface="Arial"/>
                <a:sym typeface="Arial"/>
              </a:rPr>
              <a:t>, or IP3, peaking within approximately 50 ms. IP3 is a signaling molecule produced from membrane phosphoinositides. The timing is fast enough to participate in early sensory transduction rather than only a delayed behavioral response.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assay establishes rapid odor-associated biochemical signaling in pooled dendritic material. Messenger levels that rise within about 50 ms place cAMP and IP3 early in the transduction sequence.</a:t>
            </a:r>
            <a:endParaRPr sz="1800">
              <a:solidFill>
                <a:schemeClr val="dk1"/>
              </a:solidFill>
              <a:latin typeface="Calibri"/>
              <a:ea typeface="Calibri"/>
              <a:cs typeface="Calibri"/>
              <a:sym typeface="Calibri"/>
            </a:endParaRPr>
          </a:p>
        </p:txBody>
      </p:sp>
      <p:pic>
        <p:nvPicPr>
          <p:cNvPr id="497" name="Google Shape;497;p35"/>
          <p:cNvPicPr preferRelativeResize="0"/>
          <p:nvPr/>
        </p:nvPicPr>
        <p:blipFill rotWithShape="1">
          <a:blip r:embed="rId3">
            <a:alphaModFix/>
          </a:blip>
          <a:srcRect b="0" l="0" r="0" t="0"/>
          <a:stretch/>
        </p:blipFill>
        <p:spPr>
          <a:xfrm>
            <a:off x="7732093" y="1280071"/>
            <a:ext cx="2390724" cy="2925961"/>
          </a:xfrm>
          <a:prstGeom prst="rect">
            <a:avLst/>
          </a:prstGeom>
          <a:noFill/>
          <a:ln>
            <a:noFill/>
          </a:ln>
        </p:spPr>
      </p:pic>
      <p:sp>
        <p:nvSpPr>
          <p:cNvPr id="498" name="Google Shape;498;p35"/>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Boekhoff et al. (1994), Fig. 1. Odor evokes rapid cAMP and IP3 accumulation in dendritic membranes.</a:t>
            </a:r>
            <a:endParaRPr sz="1800">
              <a:solidFill>
                <a:schemeClr val="dk1"/>
              </a:solidFill>
              <a:latin typeface="Calibri"/>
              <a:ea typeface="Calibri"/>
              <a:cs typeface="Calibri"/>
              <a:sym typeface="Calibri"/>
            </a:endParaRPr>
          </a:p>
        </p:txBody>
      </p:sp>
      <p:pic>
        <p:nvPicPr>
          <p:cNvPr id="499" name="Google Shape;499;p35"/>
          <p:cNvPicPr preferRelativeResize="0"/>
          <p:nvPr/>
        </p:nvPicPr>
        <p:blipFill rotWithShape="1">
          <a:blip r:embed="rId4">
            <a:alphaModFix/>
          </a:blip>
          <a:srcRect b="0" l="0" r="0" t="0"/>
          <a:stretch/>
        </p:blipFill>
        <p:spPr>
          <a:xfrm>
            <a:off x="7382257" y="4754761"/>
            <a:ext cx="3090248" cy="1005780"/>
          </a:xfrm>
          <a:prstGeom prst="rect">
            <a:avLst/>
          </a:prstGeom>
          <a:noFill/>
          <a:ln>
            <a:noFill/>
          </a:ln>
        </p:spPr>
      </p:pic>
      <p:sp>
        <p:nvSpPr>
          <p:cNvPr id="500" name="Google Shape;500;p35"/>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4B, fluorescent row and original labels. IR25a immunofluorescence in aesthetasc dendrites with control labels intact.</a:t>
            </a:r>
            <a:endParaRPr sz="1800">
              <a:solidFill>
                <a:schemeClr val="dk1"/>
              </a:solidFill>
              <a:latin typeface="Calibri"/>
              <a:ea typeface="Calibri"/>
              <a:cs typeface="Calibri"/>
              <a:sym typeface="Calibri"/>
            </a:endParaRPr>
          </a:p>
        </p:txBody>
      </p:sp>
      <p:sp>
        <p:nvSpPr>
          <p:cNvPr id="501" name="Google Shape;501;p35"/>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Boekhoff et al. (1994); Corey et al. (2013)</a:t>
            </a:r>
            <a:endParaRPr sz="1800">
              <a:solidFill>
                <a:schemeClr val="dk1"/>
              </a:solidFill>
              <a:latin typeface="Calibri"/>
              <a:ea typeface="Calibri"/>
              <a:cs typeface="Calibri"/>
              <a:sym typeface="Calibri"/>
            </a:endParaRPr>
          </a:p>
        </p:txBody>
      </p:sp>
      <p:sp>
        <p:nvSpPr>
          <p:cNvPr id="503" name="Google Shape;503;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7" name="Shape 507"/>
        <p:cNvGrpSpPr/>
        <p:nvPr/>
      </p:nvGrpSpPr>
      <p:grpSpPr>
        <a:xfrm>
          <a:off x="0" y="0"/>
          <a:ext cx="0" cy="0"/>
          <a:chOff x="0" y="0"/>
          <a:chExt cx="0" cy="0"/>
        </a:xfrm>
      </p:grpSpPr>
      <p:sp>
        <p:nvSpPr>
          <p:cNvPr id="508" name="Google Shape;508;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Ligand concentration changes messenger recruitment</a:t>
            </a:r>
            <a:endParaRPr sz="1800">
              <a:solidFill>
                <a:schemeClr val="dk1"/>
              </a:solidFill>
              <a:latin typeface="Calibri"/>
              <a:ea typeface="Calibri"/>
              <a:cs typeface="Calibri"/>
              <a:sym typeface="Calibri"/>
            </a:endParaRPr>
          </a:p>
        </p:txBody>
      </p:sp>
      <p:sp>
        <p:nvSpPr>
          <p:cNvPr id="509" name="Google Shape;509;p36"/>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Boekhoff and colleagues compared taurine and proline because individual ligands can excite one lobster sensory neuron yet inhibit another. At 1 µM, taurine preferentially elevated IP3 and proline preferentially elevated cAMP in isolated dendritic membranes. The published plots show these distinct low-dose time courses.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At 100 µM, both ligands elevated both signals while retaining different preferences. Taurine produced peak IP3 near 630 pmol/mg and cAMP near 280 pmol/mg; proline produced cAMP near 720 pmol/mg and IP3 near 220 pmol/mg.</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concentration dependence argues against assigning each ligand an exclusively fixed messenger pathway. Ligand identity biases which messenger rises most, and ligand concentration determines whether one or both messengers are recruited.</a:t>
            </a:r>
            <a:endParaRPr sz="1800">
              <a:solidFill>
                <a:schemeClr val="dk1"/>
              </a:solidFill>
              <a:latin typeface="Calibri"/>
              <a:ea typeface="Calibri"/>
              <a:cs typeface="Calibri"/>
              <a:sym typeface="Calibri"/>
            </a:endParaRPr>
          </a:p>
        </p:txBody>
      </p:sp>
      <p:pic>
        <p:nvPicPr>
          <p:cNvPr id="512" name="Google Shape;512;p36"/>
          <p:cNvPicPr preferRelativeResize="0"/>
          <p:nvPr/>
        </p:nvPicPr>
        <p:blipFill rotWithShape="1">
          <a:blip r:embed="rId3">
            <a:alphaModFix/>
          </a:blip>
          <a:srcRect b="0" l="0" r="0" t="0"/>
          <a:stretch/>
        </p:blipFill>
        <p:spPr>
          <a:xfrm>
            <a:off x="6631316" y="1280071"/>
            <a:ext cx="4592278" cy="2925961"/>
          </a:xfrm>
          <a:prstGeom prst="rect">
            <a:avLst/>
          </a:prstGeom>
          <a:noFill/>
          <a:ln>
            <a:noFill/>
          </a:ln>
        </p:spPr>
      </p:pic>
      <p:sp>
        <p:nvSpPr>
          <p:cNvPr id="513" name="Google Shape;513;p36"/>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Boekhoff et al. (1994), Fig. 3A–B. Taurine and proline differ in second-messenger recruitment.</a:t>
            </a:r>
            <a:endParaRPr sz="1800">
              <a:solidFill>
                <a:schemeClr val="dk1"/>
              </a:solidFill>
              <a:latin typeface="Calibri"/>
              <a:ea typeface="Calibri"/>
              <a:cs typeface="Calibri"/>
              <a:sym typeface="Calibri"/>
            </a:endParaRPr>
          </a:p>
        </p:txBody>
      </p:sp>
      <p:pic>
        <p:nvPicPr>
          <p:cNvPr id="514" name="Google Shape;514;p36"/>
          <p:cNvPicPr preferRelativeResize="0"/>
          <p:nvPr/>
        </p:nvPicPr>
        <p:blipFill rotWithShape="1">
          <a:blip r:embed="rId4">
            <a:alphaModFix/>
          </a:blip>
          <a:srcRect b="0" l="0" r="0" t="0"/>
          <a:stretch/>
        </p:blipFill>
        <p:spPr>
          <a:xfrm>
            <a:off x="7382257" y="4754761"/>
            <a:ext cx="3090248" cy="1005780"/>
          </a:xfrm>
          <a:prstGeom prst="rect">
            <a:avLst/>
          </a:prstGeom>
          <a:noFill/>
          <a:ln>
            <a:noFill/>
          </a:ln>
        </p:spPr>
      </p:pic>
      <p:sp>
        <p:nvSpPr>
          <p:cNvPr id="515" name="Google Shape;515;p36"/>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4B, fluorescent row and original labels. IR25a immunofluorescence in aesthetasc dendrites with control labels intact.</a:t>
            </a:r>
            <a:endParaRPr sz="1800">
              <a:solidFill>
                <a:schemeClr val="dk1"/>
              </a:solidFill>
              <a:latin typeface="Calibri"/>
              <a:ea typeface="Calibri"/>
              <a:cs typeface="Calibri"/>
              <a:sym typeface="Calibri"/>
            </a:endParaRPr>
          </a:p>
        </p:txBody>
      </p:sp>
      <p:sp>
        <p:nvSpPr>
          <p:cNvPr id="516" name="Google Shape;516;p36"/>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Boekhoff et al. (1994); Corey et al. (2013)</a:t>
            </a:r>
            <a:endParaRPr sz="1800">
              <a:solidFill>
                <a:schemeClr val="dk1"/>
              </a:solidFill>
              <a:latin typeface="Calibri"/>
              <a:ea typeface="Calibri"/>
              <a:cs typeface="Calibri"/>
              <a:sym typeface="Calibri"/>
            </a:endParaRPr>
          </a:p>
        </p:txBody>
      </p:sp>
      <p:sp>
        <p:nvSpPr>
          <p:cNvPr id="518" name="Google Shape;518;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2" name="Shape 522"/>
        <p:cNvGrpSpPr/>
        <p:nvPr/>
      </p:nvGrpSpPr>
      <p:grpSpPr>
        <a:xfrm>
          <a:off x="0" y="0"/>
          <a:ext cx="0" cy="0"/>
          <a:chOff x="0" y="0"/>
          <a:chExt cx="0" cy="0"/>
        </a:xfrm>
      </p:grpSpPr>
      <p:sp>
        <p:nvSpPr>
          <p:cNvPr id="523" name="Google Shape;523;p37"/>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Bursting neurons supply diverse temporal reference scales</a:t>
            </a:r>
            <a:endParaRPr sz="1800">
              <a:solidFill>
                <a:schemeClr val="dk1"/>
              </a:solidFill>
              <a:latin typeface="Calibri"/>
              <a:ea typeface="Calibri"/>
              <a:cs typeface="Calibri"/>
              <a:sym typeface="Calibri"/>
            </a:endParaRPr>
          </a:p>
        </p:txBody>
      </p:sp>
      <p:sp>
        <p:nvSpPr>
          <p:cNvPr id="524" name="Google Shape;524;p37"/>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400"/>
              <a:buFont typeface="Arial"/>
              <a:buNone/>
            </a:pPr>
            <a:r>
              <a:rPr b="0" i="0" lang="en-US" sz="1400">
                <a:solidFill>
                  <a:srgbClr val="252D35"/>
                </a:solidFill>
                <a:latin typeface="Arial"/>
                <a:ea typeface="Arial"/>
                <a:cs typeface="Arial"/>
                <a:sym typeface="Arial"/>
              </a:rPr>
              <a:t>Park and colleagues recorded bursting olfactory receptor neurons and quantified the intervals between spontaneous bursts. A </a:t>
            </a:r>
            <a:r>
              <a:rPr b="1" i="0" lang="en-US" sz="1400">
                <a:solidFill>
                  <a:srgbClr val="743B4A"/>
                </a:solidFill>
                <a:latin typeface="Arial"/>
                <a:ea typeface="Arial"/>
                <a:cs typeface="Arial"/>
                <a:sym typeface="Arial"/>
              </a:rPr>
              <a:t>quasiperiodic oscillator</a:t>
            </a:r>
            <a:r>
              <a:rPr b="0" i="0" lang="en-US" sz="1400">
                <a:solidFill>
                  <a:srgbClr val="252D35"/>
                </a:solidFill>
                <a:latin typeface="Arial"/>
                <a:ea typeface="Arial"/>
                <a:cs typeface="Arial"/>
                <a:sym typeface="Arial"/>
              </a:rPr>
              <a:t> repeats approximately, with variability rather than a perfectly fixed period. Such intrinsic activity offers a possible reference against which incoming odor encounters can be registered.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400"/>
              <a:buFont typeface="Arial"/>
              <a:buNone/>
            </a:pPr>
            <a:r>
              <a:rPr b="0" i="0" lang="en-US" sz="1400">
                <a:solidFill>
                  <a:srgbClr val="252D35"/>
                </a:solidFill>
                <a:latin typeface="Arial"/>
                <a:ea typeface="Arial"/>
                <a:cs typeface="Arial"/>
                <a:sym typeface="Arial"/>
              </a:rPr>
              <a:t>The recorded cells displayed different mean burst intervals and within-cell variation. Some repeated over a few seconds, whereas others had substantially longer intervals. The original figure compares electrical records and interval distributions, establishing diversity in measured cellular timing before a population decoder is proposed.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400"/>
              <a:buFont typeface="Arial"/>
              <a:buNone/>
            </a:pPr>
            <a:r>
              <a:rPr b="0" i="0" lang="en-US" sz="1400">
                <a:solidFill>
                  <a:srgbClr val="252D35"/>
                </a:solidFill>
                <a:latin typeface="Arial"/>
                <a:ea typeface="Arial"/>
                <a:cs typeface="Arial"/>
                <a:sym typeface="Arial"/>
              </a:rPr>
              <a:t>Each bursting neuron carries its own mean interval and variability, so a population of such cells offers many temporal references against which odor encounters can be registered.</a:t>
            </a:r>
            <a:endParaRPr sz="1800">
              <a:solidFill>
                <a:schemeClr val="dk1"/>
              </a:solidFill>
              <a:latin typeface="Calibri"/>
              <a:ea typeface="Calibri"/>
              <a:cs typeface="Calibri"/>
              <a:sym typeface="Calibri"/>
            </a:endParaRPr>
          </a:p>
        </p:txBody>
      </p:sp>
      <p:pic>
        <p:nvPicPr>
          <p:cNvPr id="527" name="Google Shape;527;p37"/>
          <p:cNvPicPr preferRelativeResize="0"/>
          <p:nvPr/>
        </p:nvPicPr>
        <p:blipFill rotWithShape="1">
          <a:blip r:embed="rId3">
            <a:alphaModFix/>
          </a:blip>
          <a:srcRect b="0" l="0" r="0" t="0"/>
          <a:stretch/>
        </p:blipFill>
        <p:spPr>
          <a:xfrm>
            <a:off x="6913986" y="1280071"/>
            <a:ext cx="2198137" cy="4297561"/>
          </a:xfrm>
          <a:prstGeom prst="rect">
            <a:avLst/>
          </a:prstGeom>
          <a:noFill/>
          <a:ln>
            <a:noFill/>
          </a:ln>
        </p:spPr>
      </p:pic>
      <p:sp>
        <p:nvSpPr>
          <p:cNvPr id="528" name="Google Shape;528;p37"/>
          <p:cNvSpPr/>
          <p:nvPr/>
        </p:nvSpPr>
        <p:spPr>
          <a:xfrm>
            <a:off x="6229796" y="5669161"/>
            <a:ext cx="35852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Park et al. (2014), Fig. 1a–d. Recorded spontaneous bursts and distribution of intrinsic periods.</a:t>
            </a:r>
            <a:endParaRPr sz="1800">
              <a:solidFill>
                <a:schemeClr val="dk1"/>
              </a:solidFill>
              <a:latin typeface="Calibri"/>
              <a:ea typeface="Calibri"/>
              <a:cs typeface="Calibri"/>
              <a:sym typeface="Calibri"/>
            </a:endParaRPr>
          </a:p>
        </p:txBody>
      </p:sp>
      <p:pic>
        <p:nvPicPr>
          <p:cNvPr id="529" name="Google Shape;529;p37"/>
          <p:cNvPicPr preferRelativeResize="0"/>
          <p:nvPr/>
        </p:nvPicPr>
        <p:blipFill rotWithShape="1">
          <a:blip r:embed="rId4">
            <a:alphaModFix/>
          </a:blip>
          <a:srcRect b="0" l="0" r="0" t="0"/>
          <a:stretch/>
        </p:blipFill>
        <p:spPr>
          <a:xfrm>
            <a:off x="9978963" y="2148780"/>
            <a:ext cx="1645816" cy="820341"/>
          </a:xfrm>
          <a:prstGeom prst="rect">
            <a:avLst/>
          </a:prstGeom>
          <a:noFill/>
          <a:ln>
            <a:noFill/>
          </a:ln>
        </p:spPr>
      </p:pic>
      <p:sp>
        <p:nvSpPr>
          <p:cNvPr id="530" name="Google Shape;530;p37"/>
          <p:cNvSpPr/>
          <p:nvPr/>
        </p:nvSpPr>
        <p:spPr>
          <a:xfrm>
            <a:off x="9978926" y="3042345"/>
            <a:ext cx="166494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531" name="Google Shape;531;p37"/>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Park et al. (2014); Corey et al. (2013)</a:t>
            </a:r>
            <a:endParaRPr sz="1800">
              <a:solidFill>
                <a:schemeClr val="dk1"/>
              </a:solidFill>
              <a:latin typeface="Calibri"/>
              <a:ea typeface="Calibri"/>
              <a:cs typeface="Calibri"/>
              <a:sym typeface="Calibri"/>
            </a:endParaRPr>
          </a:p>
        </p:txBody>
      </p:sp>
      <p:sp>
        <p:nvSpPr>
          <p:cNvPr id="533" name="Google Shape;533;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sp>
        <p:nvSpPr>
          <p:cNvPr id="538" name="Google Shape;538;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Odor-response probability depends on bursting phase</a:t>
            </a:r>
            <a:endParaRPr sz="1800">
              <a:solidFill>
                <a:schemeClr val="dk1"/>
              </a:solidFill>
              <a:latin typeface="Calibri"/>
              <a:ea typeface="Calibri"/>
              <a:cs typeface="Calibri"/>
              <a:sym typeface="Calibri"/>
            </a:endParaRPr>
          </a:p>
        </p:txBody>
      </p:sp>
      <p:sp>
        <p:nvSpPr>
          <p:cNvPr id="539" name="Google Shape;539;p38"/>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600"/>
              <a:buFont typeface="Arial"/>
              <a:buNone/>
            </a:pPr>
            <a:r>
              <a:rPr b="1" i="0" lang="en-US" sz="1600">
                <a:solidFill>
                  <a:srgbClr val="743B4A"/>
                </a:solidFill>
                <a:latin typeface="Arial"/>
                <a:ea typeface="Arial"/>
                <a:cs typeface="Arial"/>
                <a:sym typeface="Arial"/>
              </a:rPr>
              <a:t>Phase</a:t>
            </a:r>
            <a:r>
              <a:rPr b="0" i="0" lang="en-US" sz="1600">
                <a:solidFill>
                  <a:srgbClr val="252D35"/>
                </a:solidFill>
                <a:latin typeface="Arial"/>
                <a:ea typeface="Arial"/>
                <a:cs typeface="Arial"/>
                <a:sym typeface="Arial"/>
              </a:rPr>
              <a:t> describes where a neuron lies within its recurring burst cycle. Park and colleagues delivered comparable odor pulses at different times after the previous spontaneous burst. This manipulation tests whether the same chemical input has different effects depending on the cell’s current state.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In an example cell, burst probability was about 50% when odor arrived 3 s after the preceding burst and approached 100% at 6 s. The same intensity therefore did not guarantee the same output. Recordings also showed odor-related changes in electrical activity and burst timing.</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The result establishes history-dependent sensory responsiveness. A population with different periods could jointly report encounter timing, because each cell responds according to where it lies in its own cycle.</a:t>
            </a:r>
            <a:endParaRPr sz="1800">
              <a:solidFill>
                <a:schemeClr val="dk1"/>
              </a:solidFill>
              <a:latin typeface="Calibri"/>
              <a:ea typeface="Calibri"/>
              <a:cs typeface="Calibri"/>
              <a:sym typeface="Calibri"/>
            </a:endParaRPr>
          </a:p>
        </p:txBody>
      </p:sp>
      <p:pic>
        <p:nvPicPr>
          <p:cNvPr id="542" name="Google Shape;542;p38"/>
          <p:cNvPicPr preferRelativeResize="0"/>
          <p:nvPr/>
        </p:nvPicPr>
        <p:blipFill rotWithShape="1">
          <a:blip r:embed="rId3">
            <a:alphaModFix/>
          </a:blip>
          <a:srcRect b="0" l="0" r="0" t="0"/>
          <a:stretch/>
        </p:blipFill>
        <p:spPr>
          <a:xfrm>
            <a:off x="7388639" y="1280071"/>
            <a:ext cx="3077484" cy="2925961"/>
          </a:xfrm>
          <a:prstGeom prst="rect">
            <a:avLst/>
          </a:prstGeom>
          <a:noFill/>
          <a:ln>
            <a:noFill/>
          </a:ln>
        </p:spPr>
      </p:pic>
      <p:sp>
        <p:nvSpPr>
          <p:cNvPr id="543" name="Google Shape;543;p38"/>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Park et al. (2014), Fig. 2a–d. Stimulus timing changes burst probability and sensory responses.</a:t>
            </a:r>
            <a:endParaRPr sz="1800">
              <a:solidFill>
                <a:schemeClr val="dk1"/>
              </a:solidFill>
              <a:latin typeface="Calibri"/>
              <a:ea typeface="Calibri"/>
              <a:cs typeface="Calibri"/>
              <a:sym typeface="Calibri"/>
            </a:endParaRPr>
          </a:p>
        </p:txBody>
      </p:sp>
      <p:pic>
        <p:nvPicPr>
          <p:cNvPr id="544" name="Google Shape;544;p38"/>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545" name="Google Shape;545;p38"/>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546" name="Google Shape;546;p38"/>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Park et al. (2014); Corey et al. (2013)</a:t>
            </a:r>
            <a:endParaRPr sz="1800">
              <a:solidFill>
                <a:schemeClr val="dk1"/>
              </a:solidFill>
              <a:latin typeface="Calibri"/>
              <a:ea typeface="Calibri"/>
              <a:cs typeface="Calibri"/>
              <a:sym typeface="Calibri"/>
            </a:endParaRPr>
          </a:p>
        </p:txBody>
      </p:sp>
      <p:sp>
        <p:nvSpPr>
          <p:cNvPr id="548" name="Google Shape;548;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2" name="Shape 552"/>
        <p:cNvGrpSpPr/>
        <p:nvPr/>
      </p:nvGrpSpPr>
      <p:grpSpPr>
        <a:xfrm>
          <a:off x="0" y="0"/>
          <a:ext cx="0" cy="0"/>
          <a:chOff x="0" y="0"/>
          <a:chExt cx="0" cy="0"/>
        </a:xfrm>
      </p:grpSpPr>
      <p:sp>
        <p:nvSpPr>
          <p:cNvPr id="553" name="Google Shape;553;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 published decoder tests the timing-code hypothesis</a:t>
            </a:r>
            <a:endParaRPr sz="1800">
              <a:solidFill>
                <a:schemeClr val="dk1"/>
              </a:solidFill>
              <a:latin typeface="Calibri"/>
              <a:ea typeface="Calibri"/>
              <a:cs typeface="Calibri"/>
              <a:sym typeface="Calibri"/>
            </a:endParaRPr>
          </a:p>
        </p:txBody>
      </p:sp>
      <p:sp>
        <p:nvSpPr>
          <p:cNvPr id="554" name="Google Shape;554;p39"/>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Park and colleagues fitted oscillator-response models using experimentally measured properties of bursting neurons, then combined 2,000 synthetic neurons into a population. A </a:t>
            </a:r>
            <a:r>
              <a:rPr b="1" i="0" lang="en-US" sz="1500">
                <a:solidFill>
                  <a:srgbClr val="743B4A"/>
                </a:solidFill>
                <a:latin typeface="Arial"/>
                <a:ea typeface="Arial"/>
                <a:cs typeface="Arial"/>
                <a:sym typeface="Arial"/>
              </a:rPr>
              <a:t>decoder</a:t>
            </a:r>
            <a:r>
              <a:rPr b="0" i="0" lang="en-US" sz="1500">
                <a:solidFill>
                  <a:srgbClr val="252D35"/>
                </a:solidFill>
                <a:latin typeface="Arial"/>
                <a:ea typeface="Arial"/>
                <a:cs typeface="Arial"/>
                <a:sym typeface="Arial"/>
              </a:rPr>
              <a:t> is an analysis rule that estimates an input from output activity. It tests whether measured response rules could carry temporal information.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The model estimated intervals among presented events, including inputs at 10, 12, 35, 40 and 43 s. Combining cells with different intrinsic periods improved access to the time since a previous encounter. The displayed curves are the authors’ published synthetic-population results.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decoder shows that combining cells with different intrinsic periods can carry information about the time since a previous encounter. Each synthetic neuron applies response rules measured in real bursting cells.</a:t>
            </a:r>
            <a:endParaRPr sz="1800">
              <a:solidFill>
                <a:schemeClr val="dk1"/>
              </a:solidFill>
              <a:latin typeface="Calibri"/>
              <a:ea typeface="Calibri"/>
              <a:cs typeface="Calibri"/>
              <a:sym typeface="Calibri"/>
            </a:endParaRPr>
          </a:p>
        </p:txBody>
      </p:sp>
      <p:pic>
        <p:nvPicPr>
          <p:cNvPr id="557" name="Google Shape;557;p39"/>
          <p:cNvPicPr preferRelativeResize="0"/>
          <p:nvPr/>
        </p:nvPicPr>
        <p:blipFill rotWithShape="1">
          <a:blip r:embed="rId3">
            <a:alphaModFix/>
          </a:blip>
          <a:srcRect b="0" l="0" r="0" t="0"/>
          <a:stretch/>
        </p:blipFill>
        <p:spPr>
          <a:xfrm>
            <a:off x="6958552" y="1280071"/>
            <a:ext cx="3937657" cy="2925961"/>
          </a:xfrm>
          <a:prstGeom prst="rect">
            <a:avLst/>
          </a:prstGeom>
          <a:noFill/>
          <a:ln>
            <a:noFill/>
          </a:ln>
        </p:spPr>
      </p:pic>
      <p:sp>
        <p:nvSpPr>
          <p:cNvPr id="558" name="Google Shape;558;p39"/>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Park et al. (2014), Fig. 6a–c. Authors’ synthetic-population decoder estimates stimulus intervals.</a:t>
            </a:r>
            <a:endParaRPr sz="1800">
              <a:solidFill>
                <a:schemeClr val="dk1"/>
              </a:solidFill>
              <a:latin typeface="Calibri"/>
              <a:ea typeface="Calibri"/>
              <a:cs typeface="Calibri"/>
              <a:sym typeface="Calibri"/>
            </a:endParaRPr>
          </a:p>
        </p:txBody>
      </p:sp>
      <p:pic>
        <p:nvPicPr>
          <p:cNvPr id="559" name="Google Shape;559;p39"/>
          <p:cNvPicPr preferRelativeResize="0"/>
          <p:nvPr/>
        </p:nvPicPr>
        <p:blipFill rotWithShape="1">
          <a:blip r:embed="rId4">
            <a:alphaModFix/>
          </a:blip>
          <a:srcRect b="0" l="0" r="0" t="0"/>
          <a:stretch/>
        </p:blipFill>
        <p:spPr>
          <a:xfrm>
            <a:off x="7918452" y="4754761"/>
            <a:ext cx="2017857" cy="1005780"/>
          </a:xfrm>
          <a:prstGeom prst="rect">
            <a:avLst/>
          </a:prstGeom>
          <a:noFill/>
          <a:ln>
            <a:noFill/>
          </a:ln>
        </p:spPr>
      </p:pic>
      <p:sp>
        <p:nvSpPr>
          <p:cNvPr id="560" name="Google Shape;560;p39"/>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561" name="Google Shape;561;p39"/>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Park et al. (2014); Corey et al. (2013)</a:t>
            </a:r>
            <a:endParaRPr sz="1800">
              <a:solidFill>
                <a:schemeClr val="dk1"/>
              </a:solidFill>
              <a:latin typeface="Calibri"/>
              <a:ea typeface="Calibri"/>
              <a:cs typeface="Calibri"/>
              <a:sym typeface="Calibri"/>
            </a:endParaRPr>
          </a:p>
        </p:txBody>
      </p:sp>
      <p:sp>
        <p:nvSpPr>
          <p:cNvPr id="563" name="Google Shape;563;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7" name="Shape 567"/>
        <p:cNvGrpSpPr/>
        <p:nvPr/>
      </p:nvGrpSpPr>
      <p:grpSpPr>
        <a:xfrm>
          <a:off x="0" y="0"/>
          <a:ext cx="0" cy="0"/>
          <a:chOff x="0" y="0"/>
          <a:chExt cx="0" cy="0"/>
        </a:xfrm>
      </p:grpSpPr>
      <p:sp>
        <p:nvSpPr>
          <p:cNvPr id="568" name="Google Shape;568;p40"/>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Central transmission can suppress repeated afferent input</a:t>
            </a:r>
            <a:endParaRPr sz="1800">
              <a:solidFill>
                <a:schemeClr val="dk1"/>
              </a:solidFill>
              <a:latin typeface="Calibri"/>
              <a:ea typeface="Calibri"/>
              <a:cs typeface="Calibri"/>
              <a:sym typeface="Calibri"/>
            </a:endParaRPr>
          </a:p>
        </p:txBody>
      </p:sp>
      <p:sp>
        <p:nvSpPr>
          <p:cNvPr id="569" name="Google Shape;569;p40"/>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An </a:t>
            </a:r>
            <a:r>
              <a:rPr b="1" i="0" lang="en-US" sz="1500">
                <a:solidFill>
                  <a:srgbClr val="743B4A"/>
                </a:solidFill>
                <a:latin typeface="Arial"/>
                <a:ea typeface="Arial"/>
                <a:cs typeface="Arial"/>
                <a:sym typeface="Arial"/>
              </a:rPr>
              <a:t>afferent</a:t>
            </a:r>
            <a:r>
              <a:rPr b="0" i="0" lang="en-US" sz="1500">
                <a:solidFill>
                  <a:srgbClr val="252D35"/>
                </a:solidFill>
                <a:latin typeface="Arial"/>
                <a:ea typeface="Arial"/>
                <a:cs typeface="Arial"/>
                <a:sym typeface="Arial"/>
              </a:rPr>
              <a:t> neuron carries sensory input toward the brain. Wachowiak and Cohen electrically stimulated the lobster antennular nerve and recorded voltage-sensitive dye signals in the nerve and olfactory lobe. The published anatomy identifies the central region receiving these sensory axons.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Two 2-ms shocks separated by approximately 300–400 ms produced a smaller second response in the olfactory lobe, while the nerve response was less affected. Calcium-free, high-magnesium saline reduced synaptic transmission, helping separate incoming axonal signals from activity generated by the local network.</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comparison locates suppression beyond peripheral conduction in the tested preparation. A smaller second olfactory-lobe response alongside a preserved nerve response places the suppression at central synaptic transmission, where incoming information is modulated.</a:t>
            </a:r>
            <a:endParaRPr sz="1800">
              <a:solidFill>
                <a:schemeClr val="dk1"/>
              </a:solidFill>
              <a:latin typeface="Calibri"/>
              <a:ea typeface="Calibri"/>
              <a:cs typeface="Calibri"/>
              <a:sym typeface="Calibri"/>
            </a:endParaRPr>
          </a:p>
        </p:txBody>
      </p:sp>
      <p:pic>
        <p:nvPicPr>
          <p:cNvPr id="572" name="Google Shape;572;p40"/>
          <p:cNvPicPr preferRelativeResize="0"/>
          <p:nvPr/>
        </p:nvPicPr>
        <p:blipFill rotWithShape="1">
          <a:blip r:embed="rId3">
            <a:alphaModFix/>
          </a:blip>
          <a:srcRect b="0" l="0" r="0" t="0"/>
          <a:stretch/>
        </p:blipFill>
        <p:spPr>
          <a:xfrm>
            <a:off x="6762871" y="1280071"/>
            <a:ext cx="4557618" cy="4297561"/>
          </a:xfrm>
          <a:prstGeom prst="rect">
            <a:avLst/>
          </a:prstGeom>
          <a:noFill/>
          <a:ln>
            <a:noFill/>
          </a:ln>
        </p:spPr>
      </p:pic>
      <p:sp>
        <p:nvSpPr>
          <p:cNvPr id="573" name="Google Shape;573;p40"/>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Wachowiak &amp; Cohen (1999), Fig. 1A–C. Paired-shock responses in the olfactory lobe and antennular nerve.</a:t>
            </a:r>
            <a:endParaRPr sz="1800">
              <a:solidFill>
                <a:schemeClr val="dk1"/>
              </a:solidFill>
              <a:latin typeface="Calibri"/>
              <a:ea typeface="Calibri"/>
              <a:cs typeface="Calibri"/>
              <a:sym typeface="Calibri"/>
            </a:endParaRPr>
          </a:p>
        </p:txBody>
      </p:sp>
      <p:sp>
        <p:nvSpPr>
          <p:cNvPr id="574" name="Google Shape;574;p40"/>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Wachowiak &amp; Cohen (1999)</a:t>
            </a:r>
            <a:endParaRPr sz="1800">
              <a:solidFill>
                <a:schemeClr val="dk1"/>
              </a:solidFill>
              <a:latin typeface="Calibri"/>
              <a:ea typeface="Calibri"/>
              <a:cs typeface="Calibri"/>
              <a:sym typeface="Calibri"/>
            </a:endParaRPr>
          </a:p>
        </p:txBody>
      </p:sp>
      <p:sp>
        <p:nvSpPr>
          <p:cNvPr id="576" name="Google Shape;576;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0" name="Shape 580"/>
        <p:cNvGrpSpPr/>
        <p:nvPr/>
      </p:nvGrpSpPr>
      <p:grpSpPr>
        <a:xfrm>
          <a:off x="0" y="0"/>
          <a:ext cx="0" cy="0"/>
          <a:chOff x="0" y="0"/>
          <a:chExt cx="0" cy="0"/>
        </a:xfrm>
      </p:grpSpPr>
      <p:sp>
        <p:nvSpPr>
          <p:cNvPr id="581" name="Google Shape;581;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GABA and histamine inhibit lobster afferent transmission</a:t>
            </a:r>
            <a:endParaRPr sz="1800">
              <a:solidFill>
                <a:schemeClr val="dk1"/>
              </a:solidFill>
              <a:latin typeface="Calibri"/>
              <a:ea typeface="Calibri"/>
              <a:cs typeface="Calibri"/>
              <a:sym typeface="Calibri"/>
            </a:endParaRPr>
          </a:p>
        </p:txBody>
      </p:sp>
      <p:sp>
        <p:nvSpPr>
          <p:cNvPr id="582" name="Google Shape;582;p41"/>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400"/>
              <a:buFont typeface="Arial"/>
              <a:buNone/>
            </a:pPr>
            <a:r>
              <a:rPr b="1" i="0" lang="en-US" sz="1400">
                <a:solidFill>
                  <a:srgbClr val="743B4A"/>
                </a:solidFill>
                <a:latin typeface="Arial"/>
                <a:ea typeface="Arial"/>
                <a:cs typeface="Arial"/>
                <a:sym typeface="Arial"/>
              </a:rPr>
              <a:t>GABA</a:t>
            </a:r>
            <a:r>
              <a:rPr b="0" i="0" lang="en-US" sz="1400">
                <a:solidFill>
                  <a:srgbClr val="252D35"/>
                </a:solidFill>
                <a:latin typeface="Arial"/>
                <a:ea typeface="Arial"/>
                <a:cs typeface="Arial"/>
                <a:sym typeface="Arial"/>
              </a:rPr>
              <a:t>, gamma-aminobutyric acid, and </a:t>
            </a:r>
            <a:r>
              <a:rPr b="1" i="0" lang="en-US" sz="1400">
                <a:solidFill>
                  <a:srgbClr val="743B4A"/>
                </a:solidFill>
                <a:latin typeface="Arial"/>
                <a:ea typeface="Arial"/>
                <a:cs typeface="Arial"/>
                <a:sym typeface="Arial"/>
              </a:rPr>
              <a:t>histamine</a:t>
            </a:r>
            <a:r>
              <a:rPr b="0" i="0" lang="en-US" sz="1400">
                <a:solidFill>
                  <a:srgbClr val="252D35"/>
                </a:solidFill>
                <a:latin typeface="Arial"/>
                <a:ea typeface="Arial"/>
                <a:cs typeface="Arial"/>
                <a:sym typeface="Arial"/>
              </a:rPr>
              <a:t> can act as neurotransmitters. Wachowiak and Cohen applied them while measuring lobster afferent voltage signals. Calcium-free conditions reduced network transmission, allowing drug effects on incoming sensory processes to be distinguished from ordinary downstream synaptic activity.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400"/>
              <a:buFont typeface="Arial"/>
              <a:buNone/>
            </a:pPr>
            <a:r>
              <a:rPr b="0" i="0" lang="en-US" sz="1400">
                <a:solidFill>
                  <a:srgbClr val="252D35"/>
                </a:solidFill>
                <a:latin typeface="Arial"/>
                <a:ea typeface="Arial"/>
                <a:cs typeface="Arial"/>
                <a:sym typeface="Arial"/>
              </a:rPr>
              <a:t>At 100 µM, histamine reduced the measured response by about 82% and GABA by about 45%. At 30 µM, histamine still reduced it by about 61%, whereas GABA had little effect. Responses recovered during washout, arguing against irreversible damage as the main explanation.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400"/>
              <a:buFont typeface="Arial"/>
              <a:buNone/>
            </a:pPr>
            <a:r>
              <a:rPr b="0" i="0" lang="en-US" sz="1400">
                <a:solidFill>
                  <a:srgbClr val="252D35"/>
                </a:solidFill>
                <a:latin typeface="Arial"/>
                <a:ea typeface="Arial"/>
                <a:cs typeface="Arial"/>
                <a:sym typeface="Arial"/>
              </a:rPr>
              <a:t>These dose-dependent effects support distinct inhibitory sensitivities of lobster afferent transmission. Shunting inhibition, proposed by the authors, is a ligand-gated conductance that lowers membrane resistance and reduces terminal spike amplitude or propagation.</a:t>
            </a:r>
            <a:endParaRPr sz="1800">
              <a:solidFill>
                <a:schemeClr val="dk1"/>
              </a:solidFill>
              <a:latin typeface="Calibri"/>
              <a:ea typeface="Calibri"/>
              <a:cs typeface="Calibri"/>
              <a:sym typeface="Calibri"/>
            </a:endParaRPr>
          </a:p>
        </p:txBody>
      </p:sp>
      <p:pic>
        <p:nvPicPr>
          <p:cNvPr id="585" name="Google Shape;585;p41"/>
          <p:cNvPicPr preferRelativeResize="0"/>
          <p:nvPr/>
        </p:nvPicPr>
        <p:blipFill rotWithShape="1">
          <a:blip r:embed="rId3">
            <a:alphaModFix/>
          </a:blip>
          <a:srcRect b="0" l="0" r="0" t="0"/>
          <a:stretch/>
        </p:blipFill>
        <p:spPr>
          <a:xfrm>
            <a:off x="7521106" y="1280071"/>
            <a:ext cx="2812698" cy="2925961"/>
          </a:xfrm>
          <a:prstGeom prst="rect">
            <a:avLst/>
          </a:prstGeom>
          <a:noFill/>
          <a:ln>
            <a:noFill/>
          </a:ln>
        </p:spPr>
      </p:pic>
      <p:sp>
        <p:nvSpPr>
          <p:cNvPr id="586" name="Google Shape;586;p41"/>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Wachowiak &amp; Cohen (1999), Fig. 2A–B. Histamine and GABA suppress lobster afferent voltage signals.</a:t>
            </a:r>
            <a:endParaRPr sz="1800">
              <a:solidFill>
                <a:schemeClr val="dk1"/>
              </a:solidFill>
              <a:latin typeface="Calibri"/>
              <a:ea typeface="Calibri"/>
              <a:cs typeface="Calibri"/>
              <a:sym typeface="Calibri"/>
            </a:endParaRPr>
          </a:p>
        </p:txBody>
      </p:sp>
      <p:pic>
        <p:nvPicPr>
          <p:cNvPr id="587" name="Google Shape;587;p41"/>
          <p:cNvPicPr preferRelativeResize="0"/>
          <p:nvPr/>
        </p:nvPicPr>
        <p:blipFill rotWithShape="1">
          <a:blip r:embed="rId4">
            <a:alphaModFix/>
          </a:blip>
          <a:srcRect b="0" l="0" r="0" t="0"/>
          <a:stretch/>
        </p:blipFill>
        <p:spPr>
          <a:xfrm>
            <a:off x="8394059" y="4754761"/>
            <a:ext cx="1066643" cy="1005780"/>
          </a:xfrm>
          <a:prstGeom prst="rect">
            <a:avLst/>
          </a:prstGeom>
          <a:noFill/>
          <a:ln>
            <a:noFill/>
          </a:ln>
        </p:spPr>
      </p:pic>
      <p:sp>
        <p:nvSpPr>
          <p:cNvPr id="588" name="Google Shape;588;p41"/>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Wachowiak &amp; Cohen (1999), Fig. 1A–C. Olfactory-lobe anatomy and original recording locations.</a:t>
            </a:r>
            <a:endParaRPr sz="1800">
              <a:solidFill>
                <a:schemeClr val="dk1"/>
              </a:solidFill>
              <a:latin typeface="Calibri"/>
              <a:ea typeface="Calibri"/>
              <a:cs typeface="Calibri"/>
              <a:sym typeface="Calibri"/>
            </a:endParaRPr>
          </a:p>
        </p:txBody>
      </p:sp>
      <p:sp>
        <p:nvSpPr>
          <p:cNvPr id="589" name="Google Shape;589;p41"/>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Wachowiak &amp; Cohen (1999)</a:t>
            </a:r>
            <a:endParaRPr sz="1800">
              <a:solidFill>
                <a:schemeClr val="dk1"/>
              </a:solidFill>
              <a:latin typeface="Calibri"/>
              <a:ea typeface="Calibri"/>
              <a:cs typeface="Calibri"/>
              <a:sym typeface="Calibri"/>
            </a:endParaRPr>
          </a:p>
        </p:txBody>
      </p:sp>
      <p:sp>
        <p:nvSpPr>
          <p:cNvPr id="591" name="Google Shape;591;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Antagonists distinguish two inhibitory receptor actions</a:t>
            </a:r>
            <a:endParaRPr sz="1800">
              <a:solidFill>
                <a:schemeClr val="dk1"/>
              </a:solidFill>
              <a:latin typeface="Calibri"/>
              <a:ea typeface="Calibri"/>
              <a:cs typeface="Calibri"/>
              <a:sym typeface="Calibri"/>
            </a:endParaRPr>
          </a:p>
        </p:txBody>
      </p:sp>
      <p:sp>
        <p:nvSpPr>
          <p:cNvPr id="597" name="Google Shape;597;p42"/>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A </a:t>
            </a:r>
            <a:r>
              <a:rPr b="1" i="0" lang="en-US" sz="1500">
                <a:solidFill>
                  <a:srgbClr val="743B4A"/>
                </a:solidFill>
                <a:latin typeface="Arial"/>
                <a:ea typeface="Arial"/>
                <a:cs typeface="Arial"/>
                <a:sym typeface="Arial"/>
              </a:rPr>
              <a:t>receptor antagonist</a:t>
            </a:r>
            <a:r>
              <a:rPr b="0" i="0" lang="en-US" sz="1500">
                <a:solidFill>
                  <a:srgbClr val="252D35"/>
                </a:solidFill>
                <a:latin typeface="Arial"/>
                <a:ea typeface="Arial"/>
                <a:cs typeface="Arial"/>
                <a:sym typeface="Arial"/>
              </a:rPr>
              <a:t> reduces activation of a receptor by its ligand. Wachowiak and Cohen used picrotoxin to test GABA-sensitive inhibition and cimetidine to test histamine-sensitive inhibition in lobster olfactory afferents. The pharmacological comparisons followed control recordings from the same preparation.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Picrotoxin at 100 µM blocked the GABA effect, whereas histamine inhibition persisted. Cimetidine at 5 mM reduced the histamine effect without producing the same blockade of GABA. The separation argues that the transmitters do not act through one indistinguishable receptor mechanism.</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Picrotoxin blocks the GABA effect and cimetidine reduces the histamine effect, which separates two inhibitory receptor actions. An isolated nerve segment was comparatively unaffected, supporting a central-terminal locus.</a:t>
            </a:r>
            <a:endParaRPr sz="1800">
              <a:solidFill>
                <a:schemeClr val="dk1"/>
              </a:solidFill>
              <a:latin typeface="Calibri"/>
              <a:ea typeface="Calibri"/>
              <a:cs typeface="Calibri"/>
              <a:sym typeface="Calibri"/>
            </a:endParaRPr>
          </a:p>
        </p:txBody>
      </p:sp>
      <p:pic>
        <p:nvPicPr>
          <p:cNvPr id="600" name="Google Shape;600;p42"/>
          <p:cNvPicPr preferRelativeResize="0"/>
          <p:nvPr/>
        </p:nvPicPr>
        <p:blipFill rotWithShape="1">
          <a:blip r:embed="rId3">
            <a:alphaModFix/>
          </a:blip>
          <a:srcRect b="0" l="0" r="0" t="0"/>
          <a:stretch/>
        </p:blipFill>
        <p:spPr>
          <a:xfrm>
            <a:off x="8052093" y="1280071"/>
            <a:ext cx="1750575" cy="2925961"/>
          </a:xfrm>
          <a:prstGeom prst="rect">
            <a:avLst/>
          </a:prstGeom>
          <a:noFill/>
          <a:ln>
            <a:noFill/>
          </a:ln>
        </p:spPr>
      </p:pic>
      <p:sp>
        <p:nvSpPr>
          <p:cNvPr id="601" name="Google Shape;601;p42"/>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Wachowiak &amp; Cohen (1999), Fig. 3. Histamine inhibition persists after GABA-receptor blockade.</a:t>
            </a:r>
            <a:endParaRPr sz="1800">
              <a:solidFill>
                <a:schemeClr val="dk1"/>
              </a:solidFill>
              <a:latin typeface="Calibri"/>
              <a:ea typeface="Calibri"/>
              <a:cs typeface="Calibri"/>
              <a:sym typeface="Calibri"/>
            </a:endParaRPr>
          </a:p>
        </p:txBody>
      </p:sp>
      <p:pic>
        <p:nvPicPr>
          <p:cNvPr id="602" name="Google Shape;602;p42"/>
          <p:cNvPicPr preferRelativeResize="0"/>
          <p:nvPr/>
        </p:nvPicPr>
        <p:blipFill rotWithShape="1">
          <a:blip r:embed="rId4">
            <a:alphaModFix/>
          </a:blip>
          <a:srcRect b="0" l="0" r="0" t="0"/>
          <a:stretch/>
        </p:blipFill>
        <p:spPr>
          <a:xfrm>
            <a:off x="8394059" y="4754761"/>
            <a:ext cx="1066643" cy="1005780"/>
          </a:xfrm>
          <a:prstGeom prst="rect">
            <a:avLst/>
          </a:prstGeom>
          <a:noFill/>
          <a:ln>
            <a:noFill/>
          </a:ln>
        </p:spPr>
      </p:pic>
      <p:sp>
        <p:nvSpPr>
          <p:cNvPr id="603" name="Google Shape;603;p42"/>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Wachowiak &amp; Cohen (1999), Fig. 1A–C. Olfactory-lobe anatomy and original recording locations.</a:t>
            </a:r>
            <a:endParaRPr sz="1800">
              <a:solidFill>
                <a:schemeClr val="dk1"/>
              </a:solidFill>
              <a:latin typeface="Calibri"/>
              <a:ea typeface="Calibri"/>
              <a:cs typeface="Calibri"/>
              <a:sym typeface="Calibri"/>
            </a:endParaRPr>
          </a:p>
        </p:txBody>
      </p:sp>
      <p:sp>
        <p:nvSpPr>
          <p:cNvPr id="604" name="Google Shape;604;p42"/>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Wachowiak &amp; Cohen (1999)</a:t>
            </a:r>
            <a:endParaRPr sz="1800">
              <a:solidFill>
                <a:schemeClr val="dk1"/>
              </a:solidFill>
              <a:latin typeface="Calibri"/>
              <a:ea typeface="Calibri"/>
              <a:cs typeface="Calibri"/>
              <a:sym typeface="Calibri"/>
            </a:endParaRPr>
          </a:p>
        </p:txBody>
      </p:sp>
      <p:sp>
        <p:nvSpPr>
          <p:cNvPr id="606" name="Google Shape;606;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sp>
        <p:nvSpPr>
          <p:cNvPr id="611" name="Google Shape;611;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Joint odor and flow sampling offers direction cues</a:t>
            </a:r>
            <a:endParaRPr sz="1800">
              <a:solidFill>
                <a:schemeClr val="dk1"/>
              </a:solidFill>
              <a:latin typeface="Calibri"/>
              <a:ea typeface="Calibri"/>
              <a:cs typeface="Calibri"/>
              <a:sym typeface="Calibri"/>
            </a:endParaRPr>
          </a:p>
        </p:txBody>
      </p:sp>
      <p:sp>
        <p:nvSpPr>
          <p:cNvPr id="612" name="Google Shape;612;p4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500"/>
              <a:buFont typeface="Arial"/>
              <a:buNone/>
            </a:pPr>
            <a:r>
              <a:rPr b="1" i="0" lang="en-US" sz="1500">
                <a:solidFill>
                  <a:srgbClr val="743B4A"/>
                </a:solidFill>
                <a:latin typeface="Arial"/>
                <a:ea typeface="Arial"/>
                <a:cs typeface="Arial"/>
                <a:sym typeface="Arial"/>
              </a:rPr>
              <a:t>Odor flux</a:t>
            </a:r>
            <a:r>
              <a:rPr b="0" i="0" lang="en-US" sz="1500">
                <a:solidFill>
                  <a:srgbClr val="252D35"/>
                </a:solidFill>
                <a:latin typeface="Arial"/>
                <a:ea typeface="Arial"/>
                <a:cs typeface="Arial"/>
                <a:sym typeface="Arial"/>
              </a:rPr>
              <a:t> combines chemical concentration with the motion carrying that chemical. Pravin and Reidenbach measured flow and fluorescent concentration in a flume, then developed a three-dimensional fluid model constrained by those measurements. This addresses direction information unavailable from concentration alone.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The authors’ published model showed transverse chemical transport toward the plume center on opposite sides of the plume. Useful differences emerged over averaging intervals of approximately 0.5 s. The displayed colored traces are their modeled transverse flux, not trajectories or neural recordings from lobsters.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Joint chemical and mechanical sensing can provide a directional cue, because transverse flux points toward the plume center from opposite sides of the plume. Averaging over about 0.5 s is enough for the difference to emerge.</a:t>
            </a:r>
            <a:endParaRPr sz="1800">
              <a:solidFill>
                <a:schemeClr val="dk1"/>
              </a:solidFill>
              <a:latin typeface="Calibri"/>
              <a:ea typeface="Calibri"/>
              <a:cs typeface="Calibri"/>
              <a:sym typeface="Calibri"/>
            </a:endParaRPr>
          </a:p>
        </p:txBody>
      </p:sp>
      <p:pic>
        <p:nvPicPr>
          <p:cNvPr id="615" name="Google Shape;615;p43"/>
          <p:cNvPicPr preferRelativeResize="0"/>
          <p:nvPr/>
        </p:nvPicPr>
        <p:blipFill rotWithShape="1">
          <a:blip r:embed="rId3">
            <a:alphaModFix/>
          </a:blip>
          <a:srcRect b="0" l="0" r="0" t="0"/>
          <a:stretch/>
        </p:blipFill>
        <p:spPr>
          <a:xfrm>
            <a:off x="6458625" y="1280071"/>
            <a:ext cx="5165963" cy="1403747"/>
          </a:xfrm>
          <a:prstGeom prst="rect">
            <a:avLst/>
          </a:prstGeom>
          <a:noFill/>
          <a:ln>
            <a:noFill/>
          </a:ln>
        </p:spPr>
      </p:pic>
      <p:sp>
        <p:nvSpPr>
          <p:cNvPr id="616" name="Google Shape;616;p43"/>
          <p:cNvSpPr/>
          <p:nvPr/>
        </p:nvSpPr>
        <p:spPr>
          <a:xfrm>
            <a:off x="6458396" y="2775347"/>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Pravin &amp; Reidenbach (2013), Fig. 11C. Authors’ modeled transverse odor flux on opposite sides of a plume.</a:t>
            </a:r>
            <a:endParaRPr sz="1800">
              <a:solidFill>
                <a:schemeClr val="dk1"/>
              </a:solidFill>
              <a:latin typeface="Calibri"/>
              <a:ea typeface="Calibri"/>
              <a:cs typeface="Calibri"/>
              <a:sym typeface="Calibri"/>
            </a:endParaRPr>
          </a:p>
        </p:txBody>
      </p:sp>
      <p:sp>
        <p:nvSpPr>
          <p:cNvPr id="617" name="Google Shape;617;p4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Pravin &amp; Reidenbach (2013); Horner et al. (2004)</a:t>
            </a:r>
            <a:endParaRPr sz="1800">
              <a:solidFill>
                <a:schemeClr val="dk1"/>
              </a:solidFill>
              <a:latin typeface="Calibri"/>
              <a:ea typeface="Calibri"/>
              <a:cs typeface="Calibri"/>
              <a:sym typeface="Calibri"/>
            </a:endParaRPr>
          </a:p>
        </p:txBody>
      </p:sp>
      <p:sp>
        <p:nvSpPr>
          <p:cNvPr id="619" name="Google Shape;619;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3" name="Shape 623"/>
        <p:cNvGrpSpPr/>
        <p:nvPr/>
      </p:nvGrpSpPr>
      <p:grpSpPr>
        <a:xfrm>
          <a:off x="0" y="0"/>
          <a:ext cx="0" cy="0"/>
          <a:chOff x="0" y="0"/>
          <a:chExt cx="0" cy="0"/>
        </a:xfrm>
      </p:grpSpPr>
      <p:sp>
        <p:nvSpPr>
          <p:cNvPr id="624" name="Google Shape;624;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Plume intermittency supplies a different spatial statistic</a:t>
            </a:r>
            <a:endParaRPr sz="1800">
              <a:solidFill>
                <a:schemeClr val="dk1"/>
              </a:solidFill>
              <a:latin typeface="Calibri"/>
              <a:ea typeface="Calibri"/>
              <a:cs typeface="Calibri"/>
              <a:sym typeface="Calibri"/>
            </a:endParaRPr>
          </a:p>
        </p:txBody>
      </p:sp>
      <p:sp>
        <p:nvSpPr>
          <p:cNvPr id="625" name="Google Shape;625;p44"/>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400"/>
              <a:buFont typeface="Arial"/>
              <a:buNone/>
            </a:pPr>
            <a:r>
              <a:rPr b="1" i="0" lang="en-US" sz="1400">
                <a:solidFill>
                  <a:srgbClr val="743B4A"/>
                </a:solidFill>
                <a:latin typeface="Arial"/>
                <a:ea typeface="Arial"/>
                <a:cs typeface="Arial"/>
                <a:sym typeface="Arial"/>
              </a:rPr>
              <a:t>Intermittency</a:t>
            </a:r>
            <a:r>
              <a:rPr b="0" i="0" lang="en-US" sz="1400">
                <a:solidFill>
                  <a:srgbClr val="252D35"/>
                </a:solidFill>
                <a:latin typeface="Arial"/>
                <a:ea typeface="Arial"/>
                <a:cs typeface="Arial"/>
                <a:sym typeface="Arial"/>
              </a:rPr>
              <a:t> describes the temporal discontinuity of odor. Michaelis and colleagues quantified it as the count of concentration spikes crossing a threshold within a time window. Michaelis and colleagues used a turbulent-plume model validated against laboratory fluorescence and velocity measurements. They compared intermittency with concentration as potential information for aquatic odor-source tracking.</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400"/>
              <a:buFont typeface="Arial"/>
              <a:buNone/>
            </a:pPr>
            <a:r>
              <a:rPr b="0" i="0" lang="en-US" sz="1400">
                <a:solidFill>
                  <a:srgbClr val="252D35"/>
                </a:solidFill>
                <a:latin typeface="Arial"/>
                <a:ea typeface="Arial"/>
                <a:cs typeface="Arial"/>
                <a:sym typeface="Arial"/>
              </a:rPr>
              <a:t>The model covered a 5 × 0.5 × 0.15 m domain with mean flow near 0.02 m/s. Intermittency profiles depended on cross-stream position and the observation window. At plume edges, bilateral differences in encounter frequency could remain informative when instantaneous concentration was unreliable.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400"/>
              <a:buFont typeface="Arial"/>
              <a:buNone/>
            </a:pPr>
            <a:r>
              <a:rPr b="0" i="0" lang="en-US" sz="1400">
                <a:solidFill>
                  <a:srgbClr val="252D35"/>
                </a:solidFill>
                <a:latin typeface="Arial"/>
                <a:ea typeface="Arial"/>
                <a:cs typeface="Arial"/>
                <a:sym typeface="Arial"/>
              </a:rPr>
              <a:t>Intermittency complements a mean concentration reading by adding a count of threshold crossings, and bilateral differences in that count can mark a position within the plume.</a:t>
            </a:r>
            <a:endParaRPr sz="1800">
              <a:solidFill>
                <a:schemeClr val="dk1"/>
              </a:solidFill>
              <a:latin typeface="Calibri"/>
              <a:ea typeface="Calibri"/>
              <a:cs typeface="Calibri"/>
              <a:sym typeface="Calibri"/>
            </a:endParaRPr>
          </a:p>
        </p:txBody>
      </p:sp>
      <p:pic>
        <p:nvPicPr>
          <p:cNvPr id="628" name="Google Shape;628;p44"/>
          <p:cNvPicPr preferRelativeResize="0"/>
          <p:nvPr/>
        </p:nvPicPr>
        <p:blipFill rotWithShape="1">
          <a:blip r:embed="rId3">
            <a:alphaModFix/>
          </a:blip>
          <a:srcRect b="0" l="0" r="0" t="0"/>
          <a:stretch/>
        </p:blipFill>
        <p:spPr>
          <a:xfrm>
            <a:off x="6458483" y="1280071"/>
            <a:ext cx="5166247" cy="1862882"/>
          </a:xfrm>
          <a:prstGeom prst="rect">
            <a:avLst/>
          </a:prstGeom>
          <a:noFill/>
          <a:ln>
            <a:noFill/>
          </a:ln>
        </p:spPr>
      </p:pic>
      <p:sp>
        <p:nvSpPr>
          <p:cNvPr id="629" name="Google Shape;629;p44"/>
          <p:cNvSpPr/>
          <p:nvPr/>
        </p:nvSpPr>
        <p:spPr>
          <a:xfrm>
            <a:off x="6458396" y="3234482"/>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Michaelis et al. (2020), Fig. 6. Authors’ modeled concentration-spike counts across the plume at different sampling frequencies.</a:t>
            </a:r>
            <a:endParaRPr sz="1800">
              <a:solidFill>
                <a:schemeClr val="dk1"/>
              </a:solidFill>
              <a:latin typeface="Calibri"/>
              <a:ea typeface="Calibri"/>
              <a:cs typeface="Calibri"/>
              <a:sym typeface="Calibri"/>
            </a:endParaRPr>
          </a:p>
        </p:txBody>
      </p:sp>
      <p:sp>
        <p:nvSpPr>
          <p:cNvPr id="630" name="Google Shape;630;p44"/>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Michaelis et al. (2020)</a:t>
            </a:r>
            <a:endParaRPr sz="1800">
              <a:solidFill>
                <a:schemeClr val="dk1"/>
              </a:solidFill>
              <a:latin typeface="Calibri"/>
              <a:ea typeface="Calibri"/>
              <a:cs typeface="Calibri"/>
              <a:sym typeface="Calibri"/>
            </a:endParaRPr>
          </a:p>
        </p:txBody>
      </p:sp>
      <p:sp>
        <p:nvSpPr>
          <p:cNvPr id="632" name="Google Shape;632;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6" name="Shape 636"/>
        <p:cNvGrpSpPr/>
        <p:nvPr/>
      </p:nvGrpSpPr>
      <p:grpSpPr>
        <a:xfrm>
          <a:off x="0" y="0"/>
          <a:ext cx="0" cy="0"/>
          <a:chOff x="0" y="0"/>
          <a:chExt cx="0" cy="0"/>
        </a:xfrm>
      </p:grpSpPr>
      <p:sp>
        <p:nvSpPr>
          <p:cNvPr id="637" name="Google Shape;637;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Search combines sampling, neural timing and context</a:t>
            </a:r>
            <a:endParaRPr sz="1800">
              <a:solidFill>
                <a:schemeClr val="dk1"/>
              </a:solidFill>
              <a:latin typeface="Calibri"/>
              <a:ea typeface="Calibri"/>
              <a:cs typeface="Calibri"/>
              <a:sym typeface="Calibri"/>
            </a:endParaRPr>
          </a:p>
        </p:txBody>
      </p:sp>
      <p:sp>
        <p:nvSpPr>
          <p:cNvPr id="638" name="Google Shape;638;p4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400"/>
              <a:buFont typeface="Arial"/>
              <a:buNone/>
            </a:pPr>
            <a:r>
              <a:rPr b="0" i="0" lang="en-US" sz="1400">
                <a:solidFill>
                  <a:srgbClr val="252D35"/>
                </a:solidFill>
                <a:latin typeface="Arial"/>
                <a:ea typeface="Arial"/>
                <a:cs typeface="Arial"/>
                <a:sym typeface="Arial"/>
              </a:rPr>
              <a:t>Michaelis and colleagues compared modeled intermittency estimates at different sampling frequencies and tested simulated search rules. The original figure shows how a finite observation window and sample schedule affect the estimated chemical statistic. This makes sampling strategy part of the navigation hypothesis rather than a passive detail.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400"/>
              <a:buFont typeface="Arial"/>
              <a:buNone/>
            </a:pPr>
            <a:r>
              <a:rPr b="0" i="0" lang="en-US" sz="1400">
                <a:solidFill>
                  <a:srgbClr val="252D35"/>
                </a:solidFill>
                <a:latin typeface="Arial"/>
                <a:ea typeface="Arial"/>
                <a:cs typeface="Arial"/>
                <a:sym typeface="Arial"/>
              </a:rPr>
              <a:t>Their results support temporal encounter information alongside concentration under specified plume conditions. Earlier measurements show why those conditions matter: flicking changes encounter gaps, bursting neurons respond according to recent history, and removing one antennular pathway can preserve arrival while reducing path straightness.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400"/>
              <a:buFont typeface="Arial"/>
              <a:buNone/>
            </a:pPr>
            <a:r>
              <a:rPr b="0" i="0" lang="en-US" sz="1400">
                <a:solidFill>
                  <a:srgbClr val="252D35"/>
                </a:solidFill>
                <a:latin typeface="Arial"/>
                <a:ea typeface="Arial"/>
                <a:cs typeface="Arial"/>
                <a:sym typeface="Arial"/>
              </a:rPr>
              <a:t>Together, the studies link physical acquisition, peripheral coding and source-directed behavior into one chain from plume to path. Measured fluid patterns, recorded neuronal responses and animal trajectories each supply one link in that chain.</a:t>
            </a:r>
            <a:endParaRPr sz="1800">
              <a:solidFill>
                <a:schemeClr val="dk1"/>
              </a:solidFill>
              <a:latin typeface="Calibri"/>
              <a:ea typeface="Calibri"/>
              <a:cs typeface="Calibri"/>
              <a:sym typeface="Calibri"/>
            </a:endParaRPr>
          </a:p>
        </p:txBody>
      </p:sp>
      <p:pic>
        <p:nvPicPr>
          <p:cNvPr id="641" name="Google Shape;641;p45"/>
          <p:cNvPicPr preferRelativeResize="0"/>
          <p:nvPr/>
        </p:nvPicPr>
        <p:blipFill rotWithShape="1">
          <a:blip r:embed="rId3">
            <a:alphaModFix/>
          </a:blip>
          <a:srcRect b="0" l="0" r="0" t="0"/>
          <a:stretch/>
        </p:blipFill>
        <p:spPr>
          <a:xfrm>
            <a:off x="6458567" y="1280071"/>
            <a:ext cx="5166078" cy="1784300"/>
          </a:xfrm>
          <a:prstGeom prst="rect">
            <a:avLst/>
          </a:prstGeom>
          <a:noFill/>
          <a:ln>
            <a:noFill/>
          </a:ln>
        </p:spPr>
      </p:pic>
      <p:sp>
        <p:nvSpPr>
          <p:cNvPr id="642" name="Google Shape;642;p45"/>
          <p:cNvSpPr/>
          <p:nvPr/>
        </p:nvSpPr>
        <p:spPr>
          <a:xfrm>
            <a:off x="6458396" y="3155900"/>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Michaelis et al. (2020), Fig. 7. Authors’ model compares detected concentration-spike counts at different sampling frequencies.</a:t>
            </a:r>
            <a:endParaRPr sz="1800">
              <a:solidFill>
                <a:schemeClr val="dk1"/>
              </a:solidFill>
              <a:latin typeface="Calibri"/>
              <a:ea typeface="Calibri"/>
              <a:cs typeface="Calibri"/>
              <a:sym typeface="Calibri"/>
            </a:endParaRPr>
          </a:p>
        </p:txBody>
      </p:sp>
      <p:sp>
        <p:nvSpPr>
          <p:cNvPr id="643" name="Google Shape;643;p45"/>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Michaelis et al. (2020); Reidenbach &amp; Koehl (2011); Park et al. (2014); Horner et al. (2004)</a:t>
            </a:r>
            <a:endParaRPr sz="1800">
              <a:solidFill>
                <a:schemeClr val="dk1"/>
              </a:solidFill>
              <a:latin typeface="Calibri"/>
              <a:ea typeface="Calibri"/>
              <a:cs typeface="Calibri"/>
              <a:sym typeface="Calibri"/>
            </a:endParaRPr>
          </a:p>
        </p:txBody>
      </p:sp>
      <p:sp>
        <p:nvSpPr>
          <p:cNvPr id="645" name="Google Shape;645;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9" name="Shape 649"/>
        <p:cNvGrpSpPr/>
        <p:nvPr/>
      </p:nvGrpSpPr>
      <p:grpSpPr>
        <a:xfrm>
          <a:off x="0" y="0"/>
          <a:ext cx="0" cy="0"/>
          <a:chOff x="0" y="0"/>
          <a:chExt cx="0" cy="0"/>
        </a:xfrm>
      </p:grpSpPr>
      <p:sp>
        <p:nvSpPr>
          <p:cNvPr id="650" name="Google Shape;650;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51" name="Google Shape;651;p46"/>
          <p:cNvSpPr/>
          <p:nvPr/>
        </p:nvSpPr>
        <p:spPr>
          <a:xfrm>
            <a:off x="566886" y="1234380"/>
            <a:ext cx="5391894" cy="1478161"/>
          </a:xfrm>
          <a:prstGeom prst="rect">
            <a:avLst/>
          </a:prstGeom>
          <a:solidFill>
            <a:srgbClr val="F0F4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46"/>
          <p:cNvSpPr/>
          <p:nvPr/>
        </p:nvSpPr>
        <p:spPr>
          <a:xfrm>
            <a:off x="749796"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Behavior changes during approach</a:t>
            </a:r>
            <a:r>
              <a:rPr b="0" i="0" lang="en-US" sz="1600">
                <a:solidFill>
                  <a:srgbClr val="252D35"/>
                </a:solidFill>
                <a:latin typeface="Arial"/>
                <a:ea typeface="Arial"/>
                <a:cs typeface="Arial"/>
                <a:sym typeface="Arial"/>
              </a:rPr>
              <a:t> Food odor changes walking speed, heading and close-range raking; successful paths do not follow one invariant turning program.</a:t>
            </a:r>
            <a:endParaRPr sz="1800">
              <a:solidFill>
                <a:schemeClr val="dk1"/>
              </a:solidFill>
              <a:latin typeface="Calibri"/>
              <a:ea typeface="Calibri"/>
              <a:cs typeface="Calibri"/>
              <a:sym typeface="Calibri"/>
            </a:endParaRPr>
          </a:p>
        </p:txBody>
      </p:sp>
      <p:sp>
        <p:nvSpPr>
          <p:cNvPr id="653" name="Google Shape;653;p46"/>
          <p:cNvSpPr/>
          <p:nvPr/>
        </p:nvSpPr>
        <p:spPr>
          <a:xfrm>
            <a:off x="6233071" y="1234380"/>
            <a:ext cx="5391894" cy="1478161"/>
          </a:xfrm>
          <a:prstGeom prst="rect">
            <a:avLst/>
          </a:prstGeom>
          <a:solidFill>
            <a:srgbClr val="F0F4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46"/>
          <p:cNvSpPr/>
          <p:nvPr/>
        </p:nvSpPr>
        <p:spPr>
          <a:xfrm>
            <a:off x="6415980"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Sensory pathways overlap conditionally</a:t>
            </a:r>
            <a:r>
              <a:rPr b="0" i="0" lang="en-US" sz="1600">
                <a:solidFill>
                  <a:srgbClr val="252D35"/>
                </a:solidFill>
                <a:latin typeface="Arial"/>
                <a:ea typeface="Arial"/>
                <a:cs typeface="Arial"/>
                <a:sym typeface="Arial"/>
              </a:rPr>
              <a:t> Either antennular chemical pathway can preserve source finding in Panulirus, while selective loss can reduce path efficiency.</a:t>
            </a:r>
            <a:endParaRPr sz="1800">
              <a:solidFill>
                <a:schemeClr val="dk1"/>
              </a:solidFill>
              <a:latin typeface="Calibri"/>
              <a:ea typeface="Calibri"/>
              <a:cs typeface="Calibri"/>
              <a:sym typeface="Calibri"/>
            </a:endParaRPr>
          </a:p>
        </p:txBody>
      </p:sp>
      <p:sp>
        <p:nvSpPr>
          <p:cNvPr id="655" name="Google Shape;655;p46"/>
          <p:cNvSpPr/>
          <p:nvPr/>
        </p:nvSpPr>
        <p:spPr>
          <a:xfrm>
            <a:off x="566886" y="2986980"/>
            <a:ext cx="5391894" cy="1478161"/>
          </a:xfrm>
          <a:prstGeom prst="rect">
            <a:avLst/>
          </a:prstGeom>
          <a:solidFill>
            <a:srgbClr val="F0F4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46"/>
          <p:cNvSpPr/>
          <p:nvPr/>
        </p:nvSpPr>
        <p:spPr>
          <a:xfrm>
            <a:off x="749796"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Sniffing filters input mechanically</a:t>
            </a:r>
            <a:r>
              <a:rPr b="0" i="0" lang="en-US" sz="1600">
                <a:solidFill>
                  <a:srgbClr val="252D35"/>
                </a:solidFill>
                <a:latin typeface="Arial"/>
                <a:ea typeface="Arial"/>
                <a:cs typeface="Arial"/>
                <a:sym typeface="Arial"/>
              </a:rPr>
              <a:t> Fast flicks replace water between aesthetascs; slow returns retain it, changing the timing and spatial pattern reaching receptors.</a:t>
            </a:r>
            <a:endParaRPr sz="1800">
              <a:solidFill>
                <a:schemeClr val="dk1"/>
              </a:solidFill>
              <a:latin typeface="Calibri"/>
              <a:ea typeface="Calibri"/>
              <a:cs typeface="Calibri"/>
              <a:sym typeface="Calibri"/>
            </a:endParaRPr>
          </a:p>
        </p:txBody>
      </p:sp>
      <p:sp>
        <p:nvSpPr>
          <p:cNvPr id="657" name="Google Shape;657;p46"/>
          <p:cNvSpPr/>
          <p:nvPr/>
        </p:nvSpPr>
        <p:spPr>
          <a:xfrm>
            <a:off x="6233071" y="2986980"/>
            <a:ext cx="5391894" cy="1478161"/>
          </a:xfrm>
          <a:prstGeom prst="rect">
            <a:avLst/>
          </a:prstGeom>
          <a:solidFill>
            <a:srgbClr val="F0F4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46"/>
          <p:cNvSpPr/>
          <p:nvPr/>
        </p:nvSpPr>
        <p:spPr>
          <a:xfrm>
            <a:off x="6415980" y="31242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500"/>
              <a:buFont typeface="Arial"/>
              <a:buNone/>
            </a:pPr>
            <a:r>
              <a:rPr b="1" i="0" lang="en-US" sz="1500">
                <a:solidFill>
                  <a:srgbClr val="743B4A"/>
                </a:solidFill>
                <a:latin typeface="Arial"/>
                <a:ea typeface="Arial"/>
                <a:cs typeface="Arial"/>
                <a:sym typeface="Arial"/>
              </a:rPr>
              <a:t>Expression does not establish receptor function</a:t>
            </a:r>
            <a:r>
              <a:rPr b="0" i="0" lang="en-US" sz="1500">
                <a:solidFill>
                  <a:srgbClr val="252D35"/>
                </a:solidFill>
                <a:latin typeface="Arial"/>
                <a:ea typeface="Arial"/>
                <a:cs typeface="Arial"/>
                <a:sym typeface="Arial"/>
              </a:rPr>
              <a:t> IR localization and single-cell coexpression identify candidate machinery, but ligand specificity, channel composition and causal function require further tests.</a:t>
            </a:r>
            <a:endParaRPr sz="1800">
              <a:solidFill>
                <a:schemeClr val="dk1"/>
              </a:solidFill>
              <a:latin typeface="Calibri"/>
              <a:ea typeface="Calibri"/>
              <a:cs typeface="Calibri"/>
              <a:sym typeface="Calibri"/>
            </a:endParaRPr>
          </a:p>
        </p:txBody>
      </p:sp>
      <p:sp>
        <p:nvSpPr>
          <p:cNvPr id="659" name="Google Shape;659;p46"/>
          <p:cNvSpPr/>
          <p:nvPr/>
        </p:nvSpPr>
        <p:spPr>
          <a:xfrm>
            <a:off x="566886" y="4739580"/>
            <a:ext cx="5391894" cy="1478161"/>
          </a:xfrm>
          <a:prstGeom prst="rect">
            <a:avLst/>
          </a:prstGeom>
          <a:solidFill>
            <a:srgbClr val="F0F4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46"/>
          <p:cNvSpPr/>
          <p:nvPr/>
        </p:nvSpPr>
        <p:spPr>
          <a:xfrm>
            <a:off x="749796" y="48768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Timing begins in the periphery</a:t>
            </a:r>
            <a:r>
              <a:rPr b="0" i="0" lang="en-US" sz="1600">
                <a:solidFill>
                  <a:srgbClr val="252D35"/>
                </a:solidFill>
                <a:latin typeface="Arial"/>
                <a:ea typeface="Arial"/>
                <a:cs typeface="Arial"/>
                <a:sym typeface="Arial"/>
              </a:rPr>
              <a:t> Excitation, inhibition and intrinsic bursting occur in sensory neurons; phase-dependent responses can carry encounter-history information.</a:t>
            </a:r>
            <a:endParaRPr sz="1800">
              <a:solidFill>
                <a:schemeClr val="dk1"/>
              </a:solidFill>
              <a:latin typeface="Calibri"/>
              <a:ea typeface="Calibri"/>
              <a:cs typeface="Calibri"/>
              <a:sym typeface="Calibri"/>
            </a:endParaRPr>
          </a:p>
        </p:txBody>
      </p:sp>
      <p:sp>
        <p:nvSpPr>
          <p:cNvPr id="661" name="Google Shape;661;p46"/>
          <p:cNvSpPr/>
          <p:nvPr/>
        </p:nvSpPr>
        <p:spPr>
          <a:xfrm>
            <a:off x="6233071" y="4739580"/>
            <a:ext cx="5391894" cy="1478161"/>
          </a:xfrm>
          <a:prstGeom prst="rect">
            <a:avLst/>
          </a:prstGeom>
          <a:solidFill>
            <a:srgbClr val="F0F4F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46"/>
          <p:cNvSpPr/>
          <p:nvPr/>
        </p:nvSpPr>
        <p:spPr>
          <a:xfrm>
            <a:off x="6415980" y="48768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1600"/>
              <a:buFont typeface="Arial"/>
              <a:buNone/>
            </a:pPr>
            <a:r>
              <a:rPr b="1" i="0" lang="en-US" sz="1600">
                <a:solidFill>
                  <a:srgbClr val="743B4A"/>
                </a:solidFill>
                <a:latin typeface="Arial"/>
                <a:ea typeface="Arial"/>
                <a:cs typeface="Arial"/>
                <a:sym typeface="Arial"/>
              </a:rPr>
              <a:t>Navigation requires linked evidence</a:t>
            </a:r>
            <a:r>
              <a:rPr b="0" i="0" lang="en-US" sz="1600">
                <a:solidFill>
                  <a:srgbClr val="252D35"/>
                </a:solidFill>
                <a:latin typeface="Arial"/>
                <a:ea typeface="Arial"/>
                <a:cs typeface="Arial"/>
                <a:sym typeface="Arial"/>
              </a:rPr>
              <a:t> Central inhibition changes transmission, while plume and decoding models propose usable cues; their behavioral necessity remains to be demonstrated.</a:t>
            </a:r>
            <a:endParaRPr sz="1800">
              <a:solidFill>
                <a:schemeClr val="dk1"/>
              </a:solidFill>
              <a:latin typeface="Calibri"/>
              <a:ea typeface="Calibri"/>
              <a:cs typeface="Calibri"/>
              <a:sym typeface="Calibri"/>
            </a:endParaRPr>
          </a:p>
        </p:txBody>
      </p:sp>
      <p:sp>
        <p:nvSpPr>
          <p:cNvPr id="663" name="Google Shape;663;p46"/>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 Horner et al. (2004); Koehl et al. (2001); Corey et al. (2013); Kozma et al. (2020); Park et al. (2014)</a:t>
            </a:r>
            <a:endParaRPr sz="1800">
              <a:solidFill>
                <a:schemeClr val="dk1"/>
              </a:solidFill>
              <a:latin typeface="Calibri"/>
              <a:ea typeface="Calibri"/>
              <a:cs typeface="Calibri"/>
              <a:sym typeface="Calibri"/>
            </a:endParaRPr>
          </a:p>
        </p:txBody>
      </p:sp>
      <p:sp>
        <p:nvSpPr>
          <p:cNvPr id="665" name="Google Shape;665;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611" name="Google Shape;611;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Odor flux adds flow direction to concentration</a:t>
            </a:r>
            <a:endParaRPr sz="1800">
              <a:solidFill>
                <a:schemeClr val="dk1"/>
              </a:solidFill>
              <a:latin typeface="Calibri"/>
              <a:ea typeface="Calibri"/>
              <a:cs typeface="Calibri"/>
              <a:sym typeface="Calibri"/>
            </a:endParaRPr>
          </a:p>
        </p:txBody>
      </p:sp>
      <p:sp>
        <p:nvSpPr>
          <p:cNvPr id="612" name="Google Shape;612;p4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500"/>
              <a:buFont typeface="Arial"/>
              <a:buNone/>
            </a:pPr>
            <a:r>
              <a:rPr b="1" i="0" lang="en-US" sz="1500">
                <a:solidFill>
                  <a:srgbClr val="743B4A"/>
                </a:solidFill>
                <a:latin typeface="Arial"/>
                <a:ea typeface="Arial"/>
                <a:cs typeface="Arial"/>
                <a:sym typeface="Arial"/>
              </a:rPr>
              <a:t>Odor flux</a:t>
            </a:r>
            <a:r>
              <a:rPr b="0" i="0" lang="en-US" sz="1500">
                <a:solidFill>
                  <a:srgbClr val="252D35"/>
                </a:solidFill>
                <a:latin typeface="Arial"/>
                <a:ea typeface="Arial"/>
                <a:cs typeface="Arial"/>
                <a:sym typeface="Arial"/>
              </a:rPr>
              <a:t> is the transport of odor past a point, calculated by combining concentration with the velocity of the water that carries it. Concentration alone has no direction, whereas flux has a direction set by the flow, so the same concentration can represent very different transport depending on the current.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Pravin and Reidenbach measured flow and fluorescent concentration in a flume and built a three-dimensional fluid model constrained by those measurements. The model showed transverse chemical transport toward the plume center on opposite sides of the plume, with useful differences over averaging intervals of about 0.5 s, so the averaging window shapes the directional information.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Sampling flow and odor together therefore gives a </a:t>
            </a:r>
            <a:r>
              <a:rPr b="1" i="0" lang="en-US" sz="1500">
                <a:solidFill>
                  <a:srgbClr val="743B4A"/>
                </a:solidFill>
                <a:latin typeface="Arial"/>
                <a:ea typeface="Arial"/>
                <a:cs typeface="Arial"/>
                <a:sym typeface="Arial"/>
              </a:rPr>
              <a:t>directional cue</a:t>
            </a:r>
            <a:r>
              <a:rPr b="0" i="0" lang="en-US" sz="1500">
                <a:solidFill>
                  <a:srgbClr val="252D35"/>
                </a:solidFill>
                <a:latin typeface="Arial"/>
                <a:ea typeface="Arial"/>
                <a:cs typeface="Arial"/>
                <a:sym typeface="Arial"/>
              </a:rPr>
              <a:t> about where the plume center lies. Joint chemical and mechanical sensing extracts the side of the plume on which an animal sits, information that concentration measured alone does not supply, and this side-specific information guides the animal toward the center.</a:t>
            </a:r>
            <a:endParaRPr sz="1800">
              <a:solidFill>
                <a:schemeClr val="dk1"/>
              </a:solidFill>
              <a:latin typeface="Calibri"/>
              <a:ea typeface="Calibri"/>
              <a:cs typeface="Calibri"/>
              <a:sym typeface="Calibri"/>
            </a:endParaRPr>
          </a:p>
        </p:txBody>
      </p:sp>
      <p:pic>
        <p:nvPicPr>
          <p:cNvPr id="615" name="Google Shape;615;p43"/>
          <p:cNvPicPr preferRelativeResize="0"/>
          <p:nvPr/>
        </p:nvPicPr>
        <p:blipFill rotWithShape="1">
          <a:blip r:embed="rId2">
            <a:alphaModFix/>
          </a:blip>
          <a:srcRect b="0" l="0" r="0" t="0"/>
          <a:stretch/>
        </p:blipFill>
        <p:spPr>
          <a:xfrm>
            <a:off x="6458625" y="1280071"/>
            <a:ext cx="5165963" cy="1403747"/>
          </a:xfrm>
          <a:prstGeom prst="rect">
            <a:avLst/>
          </a:prstGeom>
          <a:noFill/>
          <a:ln>
            <a:noFill/>
          </a:ln>
        </p:spPr>
      </p:pic>
      <p:sp>
        <p:nvSpPr>
          <p:cNvPr id="616" name="Google Shape;616;p43"/>
          <p:cNvSpPr/>
          <p:nvPr/>
        </p:nvSpPr>
        <p:spPr>
          <a:xfrm>
            <a:off x="6458396" y="2775347"/>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Pravin &amp; Reidenbach (2013), Fig. 11C. Authors’ modeled transverse odor flux on opposite sides of a plume.</a:t>
            </a:r>
            <a:endParaRPr sz="1800">
              <a:solidFill>
                <a:schemeClr val="dk1"/>
              </a:solidFill>
              <a:latin typeface="Calibri"/>
              <a:ea typeface="Calibri"/>
              <a:cs typeface="Calibri"/>
              <a:sym typeface="Calibri"/>
            </a:endParaRPr>
          </a:p>
        </p:txBody>
      </p:sp>
      <p:sp>
        <p:nvSpPr>
          <p:cNvPr id="617" name="Google Shape;617;p4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Pravin &amp; Reidenbach (2013); Horner et al. (2004)</a:t>
            </a:r>
            <a:endParaRPr sz="1800">
              <a:solidFill>
                <a:schemeClr val="dk1"/>
              </a:solidFill>
              <a:latin typeface="Calibri"/>
              <a:ea typeface="Calibri"/>
              <a:cs typeface="Calibri"/>
              <a:sym typeface="Calibri"/>
            </a:endParaRPr>
          </a:p>
        </p:txBody>
      </p:sp>
      <p:sp>
        <p:nvSpPr>
          <p:cNvPr id="619" name="Google Shape;619;p4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43a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81" name="Google Shape;581;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Presynaptic inhibition reduces transmitter release</a:t>
            </a:r>
            <a:endParaRPr sz="1800">
              <a:solidFill>
                <a:schemeClr val="dk1"/>
              </a:solidFill>
              <a:latin typeface="Calibri"/>
              <a:ea typeface="Calibri"/>
              <a:cs typeface="Calibri"/>
              <a:sym typeface="Calibri"/>
            </a:endParaRPr>
          </a:p>
        </p:txBody>
      </p:sp>
      <p:sp>
        <p:nvSpPr>
          <p:cNvPr id="582" name="Google Shape;582;p41"/>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400"/>
              <a:buFont typeface="Arial"/>
              <a:buNone/>
            </a:pPr>
            <a:r>
              <a:rPr b="1" i="0" lang="en-US" sz="1400">
                <a:solidFill>
                  <a:srgbClr val="743B4A"/>
                </a:solidFill>
                <a:latin typeface="Arial"/>
                <a:ea typeface="Arial"/>
                <a:cs typeface="Arial"/>
                <a:sym typeface="Arial"/>
              </a:rPr>
              <a:t>Presynaptic inhibition</a:t>
            </a:r>
            <a:r>
              <a:rPr b="0" i="0" lang="en-US" sz="1400">
                <a:solidFill>
                  <a:srgbClr val="252D35"/>
                </a:solidFill>
                <a:latin typeface="Arial"/>
                <a:ea typeface="Arial"/>
                <a:cs typeface="Arial"/>
                <a:sym typeface="Arial"/>
              </a:rPr>
              <a:t> reduces transmitter release from an axon terminal by acting on the terminal itself, so the target neuron receives less input without being inhibited directly. In the olfactory lobe it acts on the incoming afferent axons. Both GABA and histamine therefore act on afferent transmission.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400"/>
              <a:buFont typeface="Arial"/>
              <a:buNone/>
            </a:pPr>
            <a:r>
              <a:rPr b="0" i="0" lang="en-US" sz="1400">
                <a:solidFill>
                  <a:srgbClr val="252D35"/>
                </a:solidFill>
                <a:latin typeface="Arial"/>
                <a:ea typeface="Arial"/>
                <a:cs typeface="Arial"/>
                <a:sym typeface="Arial"/>
              </a:rPr>
              <a:t>Wachowiak and Cohen applied GABA and histamine while recording afferent voltage signals in calcium-free, high-magnesium saline. At 100 µM, histamine reduced the response by about 82% and GABA by about 45%, and responses recovered during washout.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400"/>
              <a:buFont typeface="Arial"/>
              <a:buNone/>
            </a:pPr>
            <a:r>
              <a:rPr b="0" i="0" lang="en-US" sz="1400">
                <a:solidFill>
                  <a:srgbClr val="252D35"/>
                </a:solidFill>
                <a:latin typeface="Arial"/>
                <a:ea typeface="Arial"/>
                <a:cs typeface="Arial"/>
                <a:sym typeface="Arial"/>
              </a:rPr>
              <a:t>Picrotoxin blocked the GABA effect and cimetidine reduced the histamine effect, which separates two inhibitory receptor actions. An isolated nerve segment was comparatively unaffected, supporting a locus at the central terminals of the afferents.</a:t>
            </a:r>
            <a:endParaRPr sz="1800">
              <a:solidFill>
                <a:schemeClr val="dk1"/>
              </a:solidFill>
              <a:latin typeface="Calibri"/>
              <a:ea typeface="Calibri"/>
              <a:cs typeface="Calibri"/>
              <a:sym typeface="Calibri"/>
            </a:endParaRPr>
          </a:p>
        </p:txBody>
      </p:sp>
      <p:pic>
        <p:nvPicPr>
          <p:cNvPr id="585" name="Google Shape;585;p41"/>
          <p:cNvPicPr preferRelativeResize="0"/>
          <p:nvPr/>
        </p:nvPicPr>
        <p:blipFill rotWithShape="1">
          <a:blip r:embed="rId2">
            <a:alphaModFix/>
          </a:blip>
          <a:srcRect b="0" l="0" r="0" t="0"/>
          <a:stretch/>
        </p:blipFill>
        <p:spPr>
          <a:xfrm>
            <a:off x="7521106" y="1280071"/>
            <a:ext cx="2812698" cy="2925961"/>
          </a:xfrm>
          <a:prstGeom prst="rect">
            <a:avLst/>
          </a:prstGeom>
          <a:noFill/>
          <a:ln>
            <a:noFill/>
          </a:ln>
        </p:spPr>
      </p:pic>
      <p:sp>
        <p:nvSpPr>
          <p:cNvPr id="586" name="Google Shape;586;p41"/>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Wachowiak &amp; Cohen (1999), Fig. 2A–B. Histamine and GABA suppress lobster afferent voltage signals.</a:t>
            </a:r>
            <a:endParaRPr sz="1800">
              <a:solidFill>
                <a:schemeClr val="dk1"/>
              </a:solidFill>
              <a:latin typeface="Calibri"/>
              <a:ea typeface="Calibri"/>
              <a:cs typeface="Calibri"/>
              <a:sym typeface="Calibri"/>
            </a:endParaRPr>
          </a:p>
        </p:txBody>
      </p:sp>
      <p:pic>
        <p:nvPicPr>
          <p:cNvPr id="587" name="Google Shape;587;p41"/>
          <p:cNvPicPr preferRelativeResize="0"/>
          <p:nvPr/>
        </p:nvPicPr>
        <p:blipFill rotWithShape="1">
          <a:blip r:embed="rId3">
            <a:alphaModFix/>
          </a:blip>
          <a:srcRect b="0" l="0" r="0" t="0"/>
          <a:stretch/>
        </p:blipFill>
        <p:spPr>
          <a:xfrm>
            <a:off x="8394059" y="4754761"/>
            <a:ext cx="1066643" cy="1005780"/>
          </a:xfrm>
          <a:prstGeom prst="rect">
            <a:avLst/>
          </a:prstGeom>
          <a:noFill/>
          <a:ln>
            <a:noFill/>
          </a:ln>
        </p:spPr>
      </p:pic>
      <p:sp>
        <p:nvSpPr>
          <p:cNvPr id="588" name="Google Shape;588;p41"/>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Wachowiak &amp; Cohen (1999), Fig. 1A–C. Olfactory-lobe anatomy and original recording locations.</a:t>
            </a:r>
            <a:endParaRPr sz="1800">
              <a:solidFill>
                <a:schemeClr val="dk1"/>
              </a:solidFill>
              <a:latin typeface="Calibri"/>
              <a:ea typeface="Calibri"/>
              <a:cs typeface="Calibri"/>
              <a:sym typeface="Calibri"/>
            </a:endParaRPr>
          </a:p>
        </p:txBody>
      </p:sp>
      <p:sp>
        <p:nvSpPr>
          <p:cNvPr id="589" name="Google Shape;589;p41"/>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Wachowiak &amp; Cohen (1999)</a:t>
            </a:r>
            <a:endParaRPr sz="1800">
              <a:solidFill>
                <a:schemeClr val="dk1"/>
              </a:solidFill>
              <a:latin typeface="Calibri"/>
              <a:ea typeface="Calibri"/>
              <a:cs typeface="Calibri"/>
              <a:sym typeface="Calibri"/>
            </a:endParaRPr>
          </a:p>
        </p:txBody>
      </p:sp>
      <p:sp>
        <p:nvSpPr>
          <p:cNvPr id="591" name="Google Shape;591;p41"/>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41a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23" name="Google Shape;523;p37"/>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 bursting neuron works as a quasiperiodic oscillator</a:t>
            </a:r>
            <a:endParaRPr sz="1800">
              <a:solidFill>
                <a:schemeClr val="dk1"/>
              </a:solidFill>
              <a:latin typeface="Calibri"/>
              <a:ea typeface="Calibri"/>
              <a:cs typeface="Calibri"/>
              <a:sym typeface="Calibri"/>
            </a:endParaRPr>
          </a:p>
        </p:txBody>
      </p:sp>
      <p:sp>
        <p:nvSpPr>
          <p:cNvPr id="524" name="Google Shape;524;p37"/>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400"/>
              <a:buFont typeface="Arial"/>
              <a:buNone/>
            </a:pPr>
            <a:r>
              <a:rPr b="0" i="0" lang="en-US" sz="1400">
                <a:solidFill>
                  <a:srgbClr val="252D35"/>
                </a:solidFill>
                <a:latin typeface="Arial"/>
                <a:ea typeface="Arial"/>
                <a:cs typeface="Arial"/>
                <a:sym typeface="Arial"/>
              </a:rPr>
              <a:t>An </a:t>
            </a:r>
            <a:r>
              <a:rPr b="1" i="0" lang="en-US" sz="1400">
                <a:solidFill>
                  <a:srgbClr val="743B4A"/>
                </a:solidFill>
                <a:latin typeface="Arial"/>
                <a:ea typeface="Arial"/>
                <a:cs typeface="Arial"/>
                <a:sym typeface="Arial"/>
              </a:rPr>
              <a:t>oscillator</a:t>
            </a:r>
            <a:r>
              <a:rPr b="0" i="0" lang="en-US" sz="1400">
                <a:solidFill>
                  <a:srgbClr val="252D35"/>
                </a:solidFill>
                <a:latin typeface="Arial"/>
                <a:ea typeface="Arial"/>
                <a:cs typeface="Arial"/>
                <a:sym typeface="Arial"/>
              </a:rPr>
              <a:t> is a system that repeats its activity cycle, and a quasiperiodic oscillator repeats approximately, with variability rather than a perfectly fixed period. A bursting neuron fires a cluster of spikes in each cycle and then falls quiet before the next cluster.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400"/>
              <a:buFont typeface="Arial"/>
              <a:buNone/>
            </a:pPr>
            <a:r>
              <a:rPr b="0" i="0" lang="en-US" sz="1400">
                <a:solidFill>
                  <a:srgbClr val="252D35"/>
                </a:solidFill>
                <a:latin typeface="Arial"/>
                <a:ea typeface="Arial"/>
                <a:cs typeface="Arial"/>
                <a:sym typeface="Arial"/>
              </a:rPr>
              <a:t>Park and colleagues recorded bursting olfactory receptor neurons and quantified the intervals between spontaneous bursts. The cells displayed different mean intervals and within-cell variation. Some repeated over a few seconds, whereas others had substantially longer intervals.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400"/>
              <a:buFont typeface="Arial"/>
              <a:buNone/>
            </a:pPr>
            <a:r>
              <a:rPr b="0" i="0" lang="en-US" sz="1400">
                <a:solidFill>
                  <a:srgbClr val="252D35"/>
                </a:solidFill>
                <a:latin typeface="Arial"/>
                <a:ea typeface="Arial"/>
                <a:cs typeface="Arial"/>
                <a:sym typeface="Arial"/>
              </a:rPr>
              <a:t>Each neuron carries its own internal cycle, so a population supplies many different temporal reference scales. Incoming odor encounters can be registered against these cycles, which is the basis of the population decoder analysis.</a:t>
            </a:r>
            <a:endParaRPr sz="1800">
              <a:solidFill>
                <a:schemeClr val="dk1"/>
              </a:solidFill>
              <a:latin typeface="Calibri"/>
              <a:ea typeface="Calibri"/>
              <a:cs typeface="Calibri"/>
              <a:sym typeface="Calibri"/>
            </a:endParaRPr>
          </a:p>
        </p:txBody>
      </p:sp>
      <p:pic>
        <p:nvPicPr>
          <p:cNvPr id="527" name="Google Shape;527;p37"/>
          <p:cNvPicPr preferRelativeResize="0"/>
          <p:nvPr/>
        </p:nvPicPr>
        <p:blipFill rotWithShape="1">
          <a:blip r:embed="rId2">
            <a:alphaModFix/>
          </a:blip>
          <a:srcRect b="0" l="0" r="0" t="0"/>
          <a:stretch/>
        </p:blipFill>
        <p:spPr>
          <a:xfrm>
            <a:off x="6913986" y="1280071"/>
            <a:ext cx="2198137" cy="4297561"/>
          </a:xfrm>
          <a:prstGeom prst="rect">
            <a:avLst/>
          </a:prstGeom>
          <a:noFill/>
          <a:ln>
            <a:noFill/>
          </a:ln>
        </p:spPr>
      </p:pic>
      <p:sp>
        <p:nvSpPr>
          <p:cNvPr id="528" name="Google Shape;528;p37"/>
          <p:cNvSpPr/>
          <p:nvPr/>
        </p:nvSpPr>
        <p:spPr>
          <a:xfrm>
            <a:off x="6229796" y="5669161"/>
            <a:ext cx="35852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Park et al. (2014), Fig. 1a–d. Recorded spontaneous bursts and distribution of intrinsic periods.</a:t>
            </a:r>
            <a:endParaRPr sz="1800">
              <a:solidFill>
                <a:schemeClr val="dk1"/>
              </a:solidFill>
              <a:latin typeface="Calibri"/>
              <a:ea typeface="Calibri"/>
              <a:cs typeface="Calibri"/>
              <a:sym typeface="Calibri"/>
            </a:endParaRPr>
          </a:p>
        </p:txBody>
      </p:sp>
      <p:pic>
        <p:nvPicPr>
          <p:cNvPr id="529" name="Google Shape;529;p37"/>
          <p:cNvPicPr preferRelativeResize="0"/>
          <p:nvPr/>
        </p:nvPicPr>
        <p:blipFill rotWithShape="1">
          <a:blip r:embed="rId3">
            <a:alphaModFix/>
          </a:blip>
          <a:srcRect b="0" l="0" r="0" t="0"/>
          <a:stretch/>
        </p:blipFill>
        <p:spPr>
          <a:xfrm>
            <a:off x="9978963" y="2148780"/>
            <a:ext cx="1645816" cy="820341"/>
          </a:xfrm>
          <a:prstGeom prst="rect">
            <a:avLst/>
          </a:prstGeom>
          <a:noFill/>
          <a:ln>
            <a:noFill/>
          </a:ln>
        </p:spPr>
      </p:pic>
      <p:sp>
        <p:nvSpPr>
          <p:cNvPr id="530" name="Google Shape;530;p37"/>
          <p:cNvSpPr/>
          <p:nvPr/>
        </p:nvSpPr>
        <p:spPr>
          <a:xfrm>
            <a:off x="9978926" y="3042345"/>
            <a:ext cx="1664940" cy="5482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531" name="Google Shape;531;p37"/>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Park et al. (2014); Corey et al. (2013)</a:t>
            </a:r>
            <a:endParaRPr sz="1800">
              <a:solidFill>
                <a:schemeClr val="dk1"/>
              </a:solidFill>
              <a:latin typeface="Calibri"/>
              <a:ea typeface="Calibri"/>
              <a:cs typeface="Calibri"/>
              <a:sym typeface="Calibri"/>
            </a:endParaRPr>
          </a:p>
        </p:txBody>
      </p:sp>
      <p:sp>
        <p:nvSpPr>
          <p:cNvPr id="533" name="Google Shape;533;p37"/>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37a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78" name="Google Shape;478;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Second messengers relay the odor signal inside the cell</a:t>
            </a:r>
            <a:endParaRPr sz="1800">
              <a:solidFill>
                <a:schemeClr val="dk1"/>
              </a:solidFill>
              <a:latin typeface="Calibri"/>
              <a:ea typeface="Calibri"/>
              <a:cs typeface="Calibri"/>
              <a:sym typeface="Calibri"/>
            </a:endParaRPr>
          </a:p>
        </p:txBody>
      </p:sp>
      <p:sp>
        <p:nvSpPr>
          <p:cNvPr id="479" name="Google Shape;479;p34"/>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500"/>
              <a:buFont typeface="Arial"/>
              <a:buNone/>
            </a:pPr>
            <a:r>
              <a:rPr b="1" i="0" lang="en-US" sz="1500">
                <a:solidFill>
                  <a:srgbClr val="743B4A"/>
                </a:solidFill>
                <a:latin typeface="Arial"/>
                <a:ea typeface="Arial"/>
                <a:cs typeface="Arial"/>
                <a:sym typeface="Arial"/>
              </a:rPr>
              <a:t>Second messengers</a:t>
            </a:r>
            <a:r>
              <a:rPr b="0" i="0" lang="en-US" sz="1500">
                <a:solidFill>
                  <a:srgbClr val="252D35"/>
                </a:solidFill>
                <a:latin typeface="Arial"/>
                <a:ea typeface="Arial"/>
                <a:cs typeface="Arial"/>
                <a:sym typeface="Arial"/>
              </a:rPr>
              <a:t> are intracellular molecules whose concentrations change after a receptor is activated, relaying the signal inside the cell. Cyclic AMP, or cAMP, is made by adenylyl cyclase, IP3 is produced from membrane phosphoinositides, and phosphodiesterase enzymes break down cyclic nucleotides.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Michel and Ache used IBMX at 1 mM to block nucleotide breakdown and forskolin at 50 µM to activate adenylyl cyclase, and both evoked outward currents in proline-inhibited neurons. Boekhoff and colleagues measured cAMP and IP3 in dendritic membranes, with peaks within approximately 50 ms of food extract.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Rapid, ligand-dependent changes in cAMP and IP3 and an outward current that cAMP-raising drugs reproduce point to second messengers in odor transduction. Taurine preferentially raised IP3 and proline preferentially raised cAMP at 1 µM.</a:t>
            </a:r>
            <a:endParaRPr sz="1800">
              <a:solidFill>
                <a:schemeClr val="dk1"/>
              </a:solidFill>
              <a:latin typeface="Calibri"/>
              <a:ea typeface="Calibri"/>
              <a:cs typeface="Calibri"/>
              <a:sym typeface="Calibri"/>
            </a:endParaRPr>
          </a:p>
        </p:txBody>
      </p:sp>
      <p:pic>
        <p:nvPicPr>
          <p:cNvPr id="482" name="Google Shape;482;p34"/>
          <p:cNvPicPr preferRelativeResize="0"/>
          <p:nvPr/>
        </p:nvPicPr>
        <p:blipFill rotWithShape="1">
          <a:blip r:embed="rId2">
            <a:alphaModFix/>
          </a:blip>
          <a:srcRect b="0" l="0" r="0" t="0"/>
          <a:stretch/>
        </p:blipFill>
        <p:spPr>
          <a:xfrm>
            <a:off x="6686012" y="1280071"/>
            <a:ext cx="4482589" cy="2925961"/>
          </a:xfrm>
          <a:prstGeom prst="rect">
            <a:avLst/>
          </a:prstGeom>
          <a:noFill/>
          <a:ln>
            <a:noFill/>
          </a:ln>
        </p:spPr>
      </p:pic>
      <p:sp>
        <p:nvSpPr>
          <p:cNvPr id="483" name="Google Shape;483;p34"/>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Michel &amp; Ache (1992), Fig. 2. Forskolin and IBMX evoke an outward current in a proline-inhibited neuron.</a:t>
            </a:r>
            <a:endParaRPr sz="1800">
              <a:solidFill>
                <a:schemeClr val="dk1"/>
              </a:solidFill>
              <a:latin typeface="Calibri"/>
              <a:ea typeface="Calibri"/>
              <a:cs typeface="Calibri"/>
              <a:sym typeface="Calibri"/>
            </a:endParaRPr>
          </a:p>
        </p:txBody>
      </p:sp>
      <p:pic>
        <p:nvPicPr>
          <p:cNvPr id="484" name="Google Shape;484;p34"/>
          <p:cNvPicPr preferRelativeResize="0"/>
          <p:nvPr/>
        </p:nvPicPr>
        <p:blipFill rotWithShape="1">
          <a:blip r:embed="rId3">
            <a:alphaModFix/>
          </a:blip>
          <a:srcRect b="0" l="0" r="0" t="0"/>
          <a:stretch/>
        </p:blipFill>
        <p:spPr>
          <a:xfrm>
            <a:off x="7918452" y="4754761"/>
            <a:ext cx="2017857" cy="1005780"/>
          </a:xfrm>
          <a:prstGeom prst="rect">
            <a:avLst/>
          </a:prstGeom>
          <a:noFill/>
          <a:ln>
            <a:noFill/>
          </a:ln>
        </p:spPr>
      </p:pic>
      <p:sp>
        <p:nvSpPr>
          <p:cNvPr id="485" name="Google Shape;485;p34"/>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486" name="Google Shape;486;p34"/>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Michel &amp; Ache (1992); Corey et al. (2013)</a:t>
            </a:r>
            <a:endParaRPr sz="1800">
              <a:solidFill>
                <a:schemeClr val="dk1"/>
              </a:solidFill>
              <a:latin typeface="Calibri"/>
              <a:ea typeface="Calibri"/>
              <a:cs typeface="Calibri"/>
              <a:sym typeface="Calibri"/>
            </a:endParaRPr>
          </a:p>
        </p:txBody>
      </p:sp>
      <p:sp>
        <p:nvSpPr>
          <p:cNvPr id="488" name="Google Shape;488;p3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34a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90" name="Google Shape;39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Whole-cell recording measures currents in one neuron</a:t>
            </a:r>
            <a:endParaRPr sz="1800">
              <a:solidFill>
                <a:schemeClr val="dk1"/>
              </a:solidFill>
              <a:latin typeface="Calibri"/>
              <a:ea typeface="Calibri"/>
              <a:cs typeface="Calibri"/>
              <a:sym typeface="Calibri"/>
            </a:endParaRPr>
          </a:p>
        </p:txBody>
      </p:sp>
      <p:sp>
        <p:nvSpPr>
          <p:cNvPr id="391" name="Google Shape;391;p28"/>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1" i="0" lang="en-US" sz="1500">
                <a:solidFill>
                  <a:srgbClr val="743B4A"/>
                </a:solidFill>
                <a:latin typeface="Arial"/>
                <a:ea typeface="Arial"/>
                <a:cs typeface="Arial"/>
                <a:sym typeface="Arial"/>
              </a:rPr>
              <a:t>Whole-cell recording</a:t>
            </a:r>
            <a:r>
              <a:rPr b="0" i="0" lang="en-US" sz="1500">
                <a:solidFill>
                  <a:srgbClr val="252D35"/>
                </a:solidFill>
                <a:latin typeface="Arial"/>
                <a:ea typeface="Arial"/>
                <a:cs typeface="Arial"/>
                <a:sym typeface="Arial"/>
              </a:rPr>
              <a:t> gains electrical access to a neuron through a glass pipette, so membrane voltage or current can be measured directly. In voltage clamp the experimenter holds the membrane at a fixed voltage and measures the current that flows.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Bobkov and colleagues recorded Panulirus sensory neurons in a semi-intact antennular preparation in which odor reached the outer dendrites and the somata stayed accessible. Loose-patch recordings monitored spikes, and voltage-clamp recordings near −70 to −60 mV measured inward or outward odor-evoked currents.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Combined with a fluorescent tracer that characterized stimulus timing, the recordings relate cellular responses to the moment that odor arrived. Currents show the direction of the response in each cell, which separates excitation from inhibition at the periphery.</a:t>
            </a:r>
            <a:endParaRPr sz="1800">
              <a:solidFill>
                <a:schemeClr val="dk1"/>
              </a:solidFill>
              <a:latin typeface="Calibri"/>
              <a:ea typeface="Calibri"/>
              <a:cs typeface="Calibri"/>
              <a:sym typeface="Calibri"/>
            </a:endParaRPr>
          </a:p>
        </p:txBody>
      </p:sp>
      <p:pic>
        <p:nvPicPr>
          <p:cNvPr id="394" name="Google Shape;394;p28"/>
          <p:cNvPicPr preferRelativeResize="0"/>
          <p:nvPr/>
        </p:nvPicPr>
        <p:blipFill rotWithShape="1">
          <a:blip r:embed="rId2">
            <a:alphaModFix/>
          </a:blip>
          <a:srcRect b="0" l="0" r="0" t="0"/>
          <a:stretch/>
        </p:blipFill>
        <p:spPr>
          <a:xfrm>
            <a:off x="6561861" y="1280071"/>
            <a:ext cx="4731187" cy="2925961"/>
          </a:xfrm>
          <a:prstGeom prst="rect">
            <a:avLst/>
          </a:prstGeom>
          <a:noFill/>
          <a:ln>
            <a:noFill/>
          </a:ln>
        </p:spPr>
      </p:pic>
      <p:sp>
        <p:nvSpPr>
          <p:cNvPr id="395" name="Google Shape;395;p28"/>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Bobkov et al. (2012), Fig. 1A–C. Simultaneous dye calibration, calcium responses and firing-rate controls.</a:t>
            </a:r>
            <a:endParaRPr sz="1800">
              <a:solidFill>
                <a:schemeClr val="dk1"/>
              </a:solidFill>
              <a:latin typeface="Calibri"/>
              <a:ea typeface="Calibri"/>
              <a:cs typeface="Calibri"/>
              <a:sym typeface="Calibri"/>
            </a:endParaRPr>
          </a:p>
        </p:txBody>
      </p:sp>
      <p:pic>
        <p:nvPicPr>
          <p:cNvPr id="396" name="Google Shape;396;p28"/>
          <p:cNvPicPr preferRelativeResize="0"/>
          <p:nvPr/>
        </p:nvPicPr>
        <p:blipFill rotWithShape="1">
          <a:blip r:embed="rId3">
            <a:alphaModFix/>
          </a:blip>
          <a:srcRect b="0" l="0" r="0" t="0"/>
          <a:stretch/>
        </p:blipFill>
        <p:spPr>
          <a:xfrm>
            <a:off x="7918452" y="4754761"/>
            <a:ext cx="2017857" cy="1005780"/>
          </a:xfrm>
          <a:prstGeom prst="rect">
            <a:avLst/>
          </a:prstGeom>
          <a:noFill/>
          <a:ln>
            <a:noFill/>
          </a:ln>
        </p:spPr>
      </p:pic>
      <p:sp>
        <p:nvSpPr>
          <p:cNvPr id="397" name="Google Shape;397;p28"/>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398" name="Google Shape;398;p28"/>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Bobkov et al. (2012); Corey et al. (2013)</a:t>
            </a:r>
            <a:endParaRPr sz="1800">
              <a:solidFill>
                <a:schemeClr val="dk1"/>
              </a:solidFill>
              <a:latin typeface="Calibri"/>
              <a:ea typeface="Calibri"/>
              <a:cs typeface="Calibri"/>
              <a:sym typeface="Calibri"/>
            </a:endParaRPr>
          </a:p>
        </p:txBody>
      </p:sp>
      <p:sp>
        <p:nvSpPr>
          <p:cNvPr id="400" name="Google Shape;400;p28"/>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28a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32" name="Google Shape;332;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Calcium imaging reports activity in many cells at once</a:t>
            </a:r>
            <a:endParaRPr sz="1800">
              <a:solidFill>
                <a:schemeClr val="dk1"/>
              </a:solidFill>
              <a:latin typeface="Calibri"/>
              <a:ea typeface="Calibri"/>
              <a:cs typeface="Calibri"/>
              <a:sym typeface="Calibri"/>
            </a:endParaRPr>
          </a:p>
        </p:txBody>
      </p:sp>
      <p:sp>
        <p:nvSpPr>
          <p:cNvPr id="333" name="Google Shape;333;p24"/>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1" i="0" lang="en-US" sz="1400">
                <a:solidFill>
                  <a:srgbClr val="743B4A"/>
                </a:solidFill>
                <a:latin typeface="Arial"/>
                <a:ea typeface="Arial"/>
                <a:cs typeface="Arial"/>
                <a:sym typeface="Arial"/>
              </a:rPr>
              <a:t>Calcium imaging</a:t>
            </a:r>
            <a:r>
              <a:rPr b="0" i="0" lang="en-US" sz="1400">
                <a:solidFill>
                  <a:srgbClr val="252D35"/>
                </a:solidFill>
                <a:latin typeface="Arial"/>
                <a:ea typeface="Arial"/>
                <a:cs typeface="Arial"/>
                <a:sym typeface="Arial"/>
              </a:rPr>
              <a:t> reports changes in intracellular calcium through changing fluorescence of a calcium-sensitive dye. Calcium rises in a neuron when it is excited, so the fluorescence signal tracks activity. Because many cells can be imaged at the same time, the method complements measurements made from one neuron at a time and shows how a population responds to the same stimulus.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Corey and colleagues loaded sensory-cell clusters with the dye and applied food extract and amino acids, with arginine and glutamate tested at 1 mM. Neighboring cells gave different response profiles across that set of stimuli. A published heat map summarizes the heterogeneity cell by cell, so each cell's selectivity is visible on its own row.</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Cells that lie side by side and share common IR components can therefore respond to different chemicals. The heat map gives each cell its own response profile, so the cluster is described by many individual profiles rather than by one shared response, and the profiles differ in ways that reflect each cell's receptor complement.</a:t>
            </a:r>
            <a:endParaRPr sz="1800">
              <a:solidFill>
                <a:schemeClr val="dk1"/>
              </a:solidFill>
              <a:latin typeface="Calibri"/>
              <a:ea typeface="Calibri"/>
              <a:cs typeface="Calibri"/>
              <a:sym typeface="Calibri"/>
            </a:endParaRPr>
          </a:p>
        </p:txBody>
      </p:sp>
      <p:pic>
        <p:nvPicPr>
          <p:cNvPr id="336" name="Google Shape;336;p24"/>
          <p:cNvPicPr preferRelativeResize="0"/>
          <p:nvPr/>
        </p:nvPicPr>
        <p:blipFill rotWithShape="1">
          <a:blip r:embed="rId2">
            <a:alphaModFix/>
          </a:blip>
          <a:srcRect b="0" l="0" r="0" t="0"/>
          <a:stretch/>
        </p:blipFill>
        <p:spPr>
          <a:xfrm>
            <a:off x="6229941" y="1280071"/>
            <a:ext cx="5394730" cy="2731443"/>
          </a:xfrm>
          <a:prstGeom prst="rect">
            <a:avLst/>
          </a:prstGeom>
          <a:noFill/>
          <a:ln>
            <a:noFill/>
          </a:ln>
        </p:spPr>
      </p:pic>
      <p:sp>
        <p:nvSpPr>
          <p:cNvPr id="337" name="Google Shape;337;p24"/>
          <p:cNvSpPr/>
          <p:nvPr/>
        </p:nvSpPr>
        <p:spPr>
          <a:xfrm>
            <a:off x="6229796" y="4103043"/>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6A–D. Calcium imaging reveals heterogeneous odor-response profiles.</a:t>
            </a:r>
            <a:endParaRPr sz="1800">
              <a:solidFill>
                <a:schemeClr val="dk1"/>
              </a:solidFill>
              <a:latin typeface="Calibri"/>
              <a:ea typeface="Calibri"/>
              <a:cs typeface="Calibri"/>
              <a:sym typeface="Calibri"/>
            </a:endParaRPr>
          </a:p>
        </p:txBody>
      </p:sp>
      <p:pic>
        <p:nvPicPr>
          <p:cNvPr id="338" name="Google Shape;338;p24"/>
          <p:cNvPicPr preferRelativeResize="0"/>
          <p:nvPr/>
        </p:nvPicPr>
        <p:blipFill rotWithShape="1">
          <a:blip r:embed="rId3">
            <a:alphaModFix/>
          </a:blip>
          <a:srcRect b="0" l="0" r="0" t="0"/>
          <a:stretch/>
        </p:blipFill>
        <p:spPr>
          <a:xfrm>
            <a:off x="7918452" y="4754761"/>
            <a:ext cx="2017857" cy="1005780"/>
          </a:xfrm>
          <a:prstGeom prst="rect">
            <a:avLst/>
          </a:prstGeom>
          <a:noFill/>
          <a:ln>
            <a:noFill/>
          </a:ln>
        </p:spPr>
      </p:pic>
      <p:sp>
        <p:nvSpPr>
          <p:cNvPr id="339" name="Google Shape;339;p24"/>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4C, fluorescent row. IR25a in somata and inner dendrites; control shown.</a:t>
            </a:r>
            <a:endParaRPr sz="1800">
              <a:solidFill>
                <a:schemeClr val="dk1"/>
              </a:solidFill>
              <a:latin typeface="Calibri"/>
              <a:ea typeface="Calibri"/>
              <a:cs typeface="Calibri"/>
              <a:sym typeface="Calibri"/>
            </a:endParaRPr>
          </a:p>
        </p:txBody>
      </p:sp>
      <p:sp>
        <p:nvSpPr>
          <p:cNvPr id="340" name="Google Shape;340;p24"/>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Corey et al. (2013)</a:t>
            </a:r>
            <a:endParaRPr sz="1800">
              <a:solidFill>
                <a:schemeClr val="dk1"/>
              </a:solidFill>
              <a:latin typeface="Calibri"/>
              <a:ea typeface="Calibri"/>
              <a:cs typeface="Calibri"/>
              <a:sym typeface="Calibri"/>
            </a:endParaRPr>
          </a:p>
        </p:txBody>
      </p:sp>
      <p:sp>
        <p:nvSpPr>
          <p:cNvPr id="342" name="Google Shape;342;p2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24a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06" name="Google Shape;306;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In situ hybridization maps RNA in tissue</a:t>
            </a:r>
            <a:endParaRPr sz="1800">
              <a:solidFill>
                <a:schemeClr val="dk1"/>
              </a:solidFill>
              <a:latin typeface="Calibri"/>
              <a:ea typeface="Calibri"/>
              <a:cs typeface="Calibri"/>
              <a:sym typeface="Calibri"/>
            </a:endParaRPr>
          </a:p>
        </p:txBody>
      </p:sp>
      <p:sp>
        <p:nvSpPr>
          <p:cNvPr id="307" name="Google Shape;307;p22"/>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500"/>
              <a:buFont typeface="Arial"/>
              <a:buNone/>
            </a:pPr>
            <a:r>
              <a:rPr b="1" i="0" lang="en-US" sz="1500">
                <a:solidFill>
                  <a:srgbClr val="743B4A"/>
                </a:solidFill>
                <a:latin typeface="Arial"/>
                <a:ea typeface="Arial"/>
                <a:cs typeface="Arial"/>
                <a:sym typeface="Arial"/>
              </a:rPr>
              <a:t>In situ hybridization</a:t>
            </a:r>
            <a:r>
              <a:rPr b="0" i="0" lang="en-US" sz="1500">
                <a:solidFill>
                  <a:srgbClr val="252D35"/>
                </a:solidFill>
                <a:latin typeface="Arial"/>
                <a:ea typeface="Arial"/>
                <a:cs typeface="Arial"/>
                <a:sym typeface="Arial"/>
              </a:rPr>
              <a:t> uses a labeled probe that base-pairs with a complementary RNA sequence to reveal which cells in a tissue section express a gene. An antisense probe detects the target RNA, whereas a sense probe supplies a negative control for nonspecific staining.</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Corey and colleagues identified candidate ionotropic-receptor sequences in Panulirus olfactory tissue and applied probes to sections. IR25a and IR93a signals occurred broadly in olfactory receptor neurons, whereas IR8a and another candidate showed more restricted expression.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Signal in the sensory neurons places candidate receptor RNA in the cells that detect odor. Broad labeling of IR25a and IR93a marks components common to many neurons, and restricted labeling marks candidates that vary between receptor populations.</a:t>
            </a:r>
            <a:endParaRPr sz="1800">
              <a:solidFill>
                <a:schemeClr val="dk1"/>
              </a:solidFill>
              <a:latin typeface="Calibri"/>
              <a:ea typeface="Calibri"/>
              <a:cs typeface="Calibri"/>
              <a:sym typeface="Calibri"/>
            </a:endParaRPr>
          </a:p>
        </p:txBody>
      </p:sp>
      <p:pic>
        <p:nvPicPr>
          <p:cNvPr id="310" name="Google Shape;310;p22"/>
          <p:cNvPicPr preferRelativeResize="0"/>
          <p:nvPr/>
        </p:nvPicPr>
        <p:blipFill rotWithShape="1">
          <a:blip r:embed="rId2">
            <a:alphaModFix/>
          </a:blip>
          <a:srcRect b="0" l="0" r="0" t="0"/>
          <a:stretch/>
        </p:blipFill>
        <p:spPr>
          <a:xfrm>
            <a:off x="7297684" y="1280071"/>
            <a:ext cx="3487845" cy="4297561"/>
          </a:xfrm>
          <a:prstGeom prst="rect">
            <a:avLst/>
          </a:prstGeom>
          <a:noFill/>
          <a:ln>
            <a:noFill/>
          </a:ln>
        </p:spPr>
      </p:pic>
      <p:sp>
        <p:nvSpPr>
          <p:cNvPr id="311" name="Google Shape;311;p22"/>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Corey et al. (2013), Fig. 2. Receptor RNA localization with antisense and sense-probe controls.</a:t>
            </a:r>
            <a:endParaRPr sz="1800">
              <a:solidFill>
                <a:schemeClr val="dk1"/>
              </a:solidFill>
              <a:latin typeface="Calibri"/>
              <a:ea typeface="Calibri"/>
              <a:cs typeface="Calibri"/>
              <a:sym typeface="Calibri"/>
            </a:endParaRPr>
          </a:p>
        </p:txBody>
      </p:sp>
      <p:sp>
        <p:nvSpPr>
          <p:cNvPr id="312" name="Google Shape;312;p22"/>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Corey et al. (2013)</a:t>
            </a:r>
            <a:endParaRPr sz="1800">
              <a:solidFill>
                <a:schemeClr val="dk1"/>
              </a:solidFill>
              <a:latin typeface="Calibri"/>
              <a:ea typeface="Calibri"/>
              <a:cs typeface="Calibri"/>
              <a:sym typeface="Calibri"/>
            </a:endParaRPr>
          </a:p>
        </p:txBody>
      </p:sp>
      <p:sp>
        <p:nvSpPr>
          <p:cNvPr id="314" name="Google Shape;314;p22"/>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22a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50" name="Google Shape;250;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Diffusion carries molecules to the sensory surface</a:t>
            </a:r>
            <a:endParaRPr sz="1800">
              <a:solidFill>
                <a:schemeClr val="dk1"/>
              </a:solidFill>
              <a:latin typeface="Calibri"/>
              <a:ea typeface="Calibri"/>
              <a:cs typeface="Calibri"/>
              <a:sym typeface="Calibri"/>
            </a:endParaRPr>
          </a:p>
        </p:txBody>
      </p:sp>
      <p:sp>
        <p:nvSpPr>
          <p:cNvPr id="251" name="Google Shape;251;p18"/>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500"/>
              <a:buFont typeface="Arial"/>
              <a:buNone/>
            </a:pPr>
            <a:r>
              <a:rPr b="1" i="0" lang="en-US" sz="1500">
                <a:solidFill>
                  <a:srgbClr val="743B4A"/>
                </a:solidFill>
                <a:latin typeface="Arial"/>
                <a:ea typeface="Arial"/>
                <a:cs typeface="Arial"/>
                <a:sym typeface="Arial"/>
              </a:rPr>
              <a:t>Diffusion</a:t>
            </a:r>
            <a:r>
              <a:rPr b="0" i="0" lang="en-US" sz="1500">
                <a:solidFill>
                  <a:srgbClr val="252D35"/>
                </a:solidFill>
                <a:latin typeface="Arial"/>
                <a:ea typeface="Arial"/>
                <a:cs typeface="Arial"/>
                <a:sym typeface="Arial"/>
              </a:rPr>
              <a:t> is the spread of molecules from regions of high concentration to regions of low concentration through random motion, without bulk flow of the water. Over short distances it moves odor molecules toward a surface effectively.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Reidenbach and colleagues measured the slow return at about one-quarter of downstroke speed, yet water between hairs moved about 25 times more slowly. The authors estimated that diffusion over 0.5 s could span about 32 µm. Aesthetasc spacing was about 60 µm.</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Retained water that moves slowly gives molecules time to reach the aesthetasc surface by diffusion. The slow return therefore turns a captured sample into an exposure that lasts long enough for molecules to arrive at the sensory dendrites.</a:t>
            </a:r>
            <a:endParaRPr sz="1800">
              <a:solidFill>
                <a:schemeClr val="dk1"/>
              </a:solidFill>
              <a:latin typeface="Calibri"/>
              <a:ea typeface="Calibri"/>
              <a:cs typeface="Calibri"/>
              <a:sym typeface="Calibri"/>
            </a:endParaRPr>
          </a:p>
        </p:txBody>
      </p:sp>
      <p:pic>
        <p:nvPicPr>
          <p:cNvPr id="254" name="Google Shape;254;p18"/>
          <p:cNvPicPr preferRelativeResize="0"/>
          <p:nvPr/>
        </p:nvPicPr>
        <p:blipFill rotWithShape="1">
          <a:blip r:embed="rId2">
            <a:alphaModFix/>
          </a:blip>
          <a:srcRect b="0" l="0" r="0" t="0"/>
          <a:stretch/>
        </p:blipFill>
        <p:spPr>
          <a:xfrm>
            <a:off x="7963535" y="1280071"/>
            <a:ext cx="1927692" cy="2925961"/>
          </a:xfrm>
          <a:prstGeom prst="rect">
            <a:avLst/>
          </a:prstGeom>
          <a:noFill/>
          <a:ln>
            <a:noFill/>
          </a:ln>
        </p:spPr>
      </p:pic>
      <p:sp>
        <p:nvSpPr>
          <p:cNvPr id="255" name="Google Shape;255;p18"/>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9A–B. Measured slow-return flow field and velocity profile.</a:t>
            </a:r>
            <a:endParaRPr sz="1800">
              <a:solidFill>
                <a:schemeClr val="dk1"/>
              </a:solidFill>
              <a:latin typeface="Calibri"/>
              <a:ea typeface="Calibri"/>
              <a:cs typeface="Calibri"/>
              <a:sym typeface="Calibri"/>
            </a:endParaRPr>
          </a:p>
        </p:txBody>
      </p:sp>
      <p:pic>
        <p:nvPicPr>
          <p:cNvPr id="256" name="Google Shape;256;p18"/>
          <p:cNvPicPr preferRelativeResize="0"/>
          <p:nvPr/>
        </p:nvPicPr>
        <p:blipFill rotWithShape="1">
          <a:blip r:embed="rId3">
            <a:alphaModFix/>
          </a:blip>
          <a:srcRect b="0" l="0" r="0" t="0"/>
          <a:stretch/>
        </p:blipFill>
        <p:spPr>
          <a:xfrm>
            <a:off x="8198346" y="4754774"/>
            <a:ext cx="1458069" cy="1005755"/>
          </a:xfrm>
          <a:prstGeom prst="rect">
            <a:avLst/>
          </a:prstGeom>
          <a:noFill/>
          <a:ln>
            <a:noFill/>
          </a:ln>
        </p:spPr>
      </p:pic>
      <p:sp>
        <p:nvSpPr>
          <p:cNvPr id="257" name="Google Shape;257;p18"/>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258" name="Google Shape;258;p18"/>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et al. (2008); Horner et al. (2004)</a:t>
            </a:r>
            <a:endParaRPr sz="1800">
              <a:solidFill>
                <a:schemeClr val="dk1"/>
              </a:solidFill>
              <a:latin typeface="Calibri"/>
              <a:ea typeface="Calibri"/>
              <a:cs typeface="Calibri"/>
              <a:sym typeface="Calibri"/>
            </a:endParaRPr>
          </a:p>
        </p:txBody>
      </p:sp>
      <p:sp>
        <p:nvSpPr>
          <p:cNvPr id="260" name="Google Shape;260;p18"/>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18a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35" name="Google Shape;235;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The Reynolds number sets how water moves through hairs</a:t>
            </a:r>
            <a:endParaRPr sz="1800">
              <a:solidFill>
                <a:schemeClr val="dk1"/>
              </a:solidFill>
              <a:latin typeface="Calibri"/>
              <a:ea typeface="Calibri"/>
              <a:cs typeface="Calibri"/>
              <a:sym typeface="Calibri"/>
            </a:endParaRPr>
          </a:p>
        </p:txBody>
      </p:sp>
      <p:sp>
        <p:nvSpPr>
          <p:cNvPr id="236" name="Google Shape;236;p17"/>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The </a:t>
            </a:r>
            <a:r>
              <a:rPr b="1" i="0" lang="en-US" sz="1500">
                <a:solidFill>
                  <a:srgbClr val="743B4A"/>
                </a:solidFill>
                <a:latin typeface="Arial"/>
                <a:ea typeface="Arial"/>
                <a:cs typeface="Arial"/>
                <a:sym typeface="Arial"/>
              </a:rPr>
              <a:t>Reynolds number</a:t>
            </a:r>
            <a:r>
              <a:rPr b="0" i="0" lang="en-US" sz="1500">
                <a:solidFill>
                  <a:srgbClr val="252D35"/>
                </a:solidFill>
                <a:latin typeface="Arial"/>
                <a:ea typeface="Arial"/>
                <a:cs typeface="Arial"/>
                <a:sym typeface="Arial"/>
              </a:rPr>
              <a:t> is the ratio of inertial to viscous forces in a flow. Low values mean that viscosity dominates and water resists moving through narrow gaps, whereas higher values mean that water moves through more freely.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Reidenbach and colleagues built enlarged glass-rod hair arrays in mineral oil and matched the Reynolds number of the real organ. High-speed recordings placed the aesthetasc Reynolds number near 2 during the downstroke, compared with about 0.5 during the slower return.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The higher value during the downstroke corresponds to water penetrating the gaps and replacing the retained sample. The lower value during return corresponds to reduced leakiness, so the array holds its captured water. Matching the Reynolds number makes the enlarged model a valid stand-in for the animal.</a:t>
            </a:r>
            <a:endParaRPr sz="1800">
              <a:solidFill>
                <a:schemeClr val="dk1"/>
              </a:solidFill>
              <a:latin typeface="Calibri"/>
              <a:ea typeface="Calibri"/>
              <a:cs typeface="Calibri"/>
              <a:sym typeface="Calibri"/>
            </a:endParaRPr>
          </a:p>
        </p:txBody>
      </p:sp>
      <p:pic>
        <p:nvPicPr>
          <p:cNvPr id="239" name="Google Shape;239;p17"/>
          <p:cNvPicPr preferRelativeResize="0"/>
          <p:nvPr/>
        </p:nvPicPr>
        <p:blipFill rotWithShape="1">
          <a:blip r:embed="rId2">
            <a:alphaModFix/>
          </a:blip>
          <a:srcRect b="0" l="0" r="0" t="0"/>
          <a:stretch/>
        </p:blipFill>
        <p:spPr>
          <a:xfrm>
            <a:off x="7886744" y="1280071"/>
            <a:ext cx="2081572" cy="2925961"/>
          </a:xfrm>
          <a:prstGeom prst="rect">
            <a:avLst/>
          </a:prstGeom>
          <a:noFill/>
          <a:ln>
            <a:noFill/>
          </a:ln>
        </p:spPr>
      </p:pic>
      <p:sp>
        <p:nvSpPr>
          <p:cNvPr id="240" name="Google Shape;240;p17"/>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et al. (2008), Fig. 5A–B. Measured particle-image-velocimetry flow during the downstroke.</a:t>
            </a:r>
            <a:endParaRPr sz="1800">
              <a:solidFill>
                <a:schemeClr val="dk1"/>
              </a:solidFill>
              <a:latin typeface="Calibri"/>
              <a:ea typeface="Calibri"/>
              <a:cs typeface="Calibri"/>
              <a:sym typeface="Calibri"/>
            </a:endParaRPr>
          </a:p>
        </p:txBody>
      </p:sp>
      <p:pic>
        <p:nvPicPr>
          <p:cNvPr id="241" name="Google Shape;241;p17"/>
          <p:cNvPicPr preferRelativeResize="0"/>
          <p:nvPr/>
        </p:nvPicPr>
        <p:blipFill rotWithShape="1">
          <a:blip r:embed="rId3">
            <a:alphaModFix/>
          </a:blip>
          <a:srcRect b="0" l="0" r="0" t="0"/>
          <a:stretch/>
        </p:blipFill>
        <p:spPr>
          <a:xfrm>
            <a:off x="8198346" y="4754774"/>
            <a:ext cx="1458069" cy="1005755"/>
          </a:xfrm>
          <a:prstGeom prst="rect">
            <a:avLst/>
          </a:prstGeom>
          <a:noFill/>
          <a:ln>
            <a:noFill/>
          </a:ln>
        </p:spPr>
      </p:pic>
      <p:sp>
        <p:nvSpPr>
          <p:cNvPr id="242" name="Google Shape;242;p17"/>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243" name="Google Shape;243;p17"/>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et al. (2008); Horner et al. (2004); Goldman &amp; Koehl (2001)</a:t>
            </a:r>
            <a:endParaRPr sz="1800">
              <a:solidFill>
                <a:schemeClr val="dk1"/>
              </a:solidFill>
              <a:latin typeface="Calibri"/>
              <a:ea typeface="Calibri"/>
              <a:cs typeface="Calibri"/>
              <a:sym typeface="Calibri"/>
            </a:endParaRPr>
          </a:p>
        </p:txBody>
      </p:sp>
      <p:sp>
        <p:nvSpPr>
          <p:cNvPr id="245" name="Google Shape;245;p17"/>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17a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81" name="Google Shape;181;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Intermittency is the on-off structure of odor</a:t>
            </a:r>
            <a:endParaRPr sz="1800">
              <a:solidFill>
                <a:schemeClr val="dk1"/>
              </a:solidFill>
              <a:latin typeface="Calibri"/>
              <a:ea typeface="Calibri"/>
              <a:cs typeface="Calibri"/>
              <a:sym typeface="Calibri"/>
            </a:endParaRPr>
          </a:p>
        </p:txBody>
      </p:sp>
      <p:sp>
        <p:nvSpPr>
          <p:cNvPr id="182" name="Google Shape;182;p1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1" i="0" lang="en-US" sz="1400">
                <a:solidFill>
                  <a:srgbClr val="743B4A"/>
                </a:solidFill>
                <a:latin typeface="Arial"/>
                <a:ea typeface="Arial"/>
                <a:cs typeface="Arial"/>
                <a:sym typeface="Arial"/>
              </a:rPr>
              <a:t>Intermittency</a:t>
            </a:r>
            <a:r>
              <a:rPr b="0" i="0" lang="en-US" sz="1400">
                <a:solidFill>
                  <a:srgbClr val="252D35"/>
                </a:solidFill>
                <a:latin typeface="Arial"/>
                <a:ea typeface="Arial"/>
                <a:cs typeface="Arial"/>
                <a:sym typeface="Arial"/>
              </a:rPr>
              <a:t> is the on-off structure of odor in a turbulent plume: concentration rises above a detection threshold in brief filaments and falls to near zero in the gaps between them. A sensor therefore meets bursts of odor separated by odor-free intervals.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Reidenbach and Koehl compared continuous concentration measurements with samples taken by virtual flicking antennules. Almost all gaps in the continuous record were shorter than 500 ms. Flicking antennules experienced longer gaps, and those gaps increased as the distance to the source decreased.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400">
                <a:solidFill>
                  <a:srgbClr val="252D35"/>
                </a:solidFill>
                <a:latin typeface="Arial"/>
                <a:ea typeface="Arial"/>
                <a:cs typeface="Arial"/>
                <a:sym typeface="Arial"/>
              </a:rPr>
              <a:t>The sampling schedule therefore changes the statistics of the input before neural processing occurs. Gap length depends on plume transport, the chosen threshold and flicking geometry, so encounter frequency does not serve as a universal distance ruler.</a:t>
            </a:r>
            <a:endParaRPr sz="1800">
              <a:solidFill>
                <a:schemeClr val="dk1"/>
              </a:solidFill>
              <a:latin typeface="Calibri"/>
              <a:ea typeface="Calibri"/>
              <a:cs typeface="Calibri"/>
              <a:sym typeface="Calibri"/>
            </a:endParaRPr>
          </a:p>
        </p:txBody>
      </p:sp>
      <p:pic>
        <p:nvPicPr>
          <p:cNvPr id="185" name="Google Shape;185;p13"/>
          <p:cNvPicPr preferRelativeResize="0"/>
          <p:nvPr/>
        </p:nvPicPr>
        <p:blipFill rotWithShape="1">
          <a:blip r:embed="rId2">
            <a:alphaModFix/>
          </a:blip>
          <a:srcRect b="0" l="0" r="0" t="0"/>
          <a:stretch/>
        </p:blipFill>
        <p:spPr>
          <a:xfrm>
            <a:off x="7175938" y="1280071"/>
            <a:ext cx="3731337" cy="4297561"/>
          </a:xfrm>
          <a:prstGeom prst="rect">
            <a:avLst/>
          </a:prstGeom>
          <a:noFill/>
          <a:ln>
            <a:noFill/>
          </a:ln>
        </p:spPr>
      </p:pic>
      <p:sp>
        <p:nvSpPr>
          <p:cNvPr id="186" name="Google Shape;186;p13"/>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&amp; Koehl (2011), Fig. 7A–F. Odor-free gap categories for flicking and continuous sampling.</a:t>
            </a:r>
            <a:endParaRPr sz="1800">
              <a:solidFill>
                <a:schemeClr val="dk1"/>
              </a:solidFill>
              <a:latin typeface="Calibri"/>
              <a:ea typeface="Calibri"/>
              <a:cs typeface="Calibri"/>
              <a:sym typeface="Calibri"/>
            </a:endParaRPr>
          </a:p>
        </p:txBody>
      </p:sp>
      <p:sp>
        <p:nvSpPr>
          <p:cNvPr id="187" name="Google Shape;187;p1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&amp; Koehl (2011)</a:t>
            </a:r>
            <a:endParaRPr sz="1800">
              <a:solidFill>
                <a:schemeClr val="dk1"/>
              </a:solidFill>
              <a:latin typeface="Calibri"/>
              <a:ea typeface="Calibri"/>
              <a:cs typeface="Calibri"/>
              <a:sym typeface="Calibri"/>
            </a:endParaRPr>
          </a:p>
        </p:txBody>
      </p:sp>
      <p:sp>
        <p:nvSpPr>
          <p:cNvPr id="189" name="Google Shape;189;p1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13a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55" name="Google Shape;155;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PLIF turns dissolved dye into a concentration map</a:t>
            </a:r>
            <a:endParaRPr sz="1800">
              <a:solidFill>
                <a:schemeClr val="dk1"/>
              </a:solidFill>
              <a:latin typeface="Calibri"/>
              <a:ea typeface="Calibri"/>
              <a:cs typeface="Calibri"/>
              <a:sym typeface="Calibri"/>
            </a:endParaRPr>
          </a:p>
        </p:txBody>
      </p:sp>
      <p:sp>
        <p:nvSpPr>
          <p:cNvPr id="156" name="Google Shape;156;p11"/>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600"/>
              <a:buFont typeface="Arial"/>
              <a:buNone/>
            </a:pPr>
            <a:r>
              <a:rPr b="1" i="0" lang="en-US" sz="1600">
                <a:solidFill>
                  <a:srgbClr val="743B4A"/>
                </a:solidFill>
                <a:latin typeface="Arial"/>
                <a:ea typeface="Arial"/>
                <a:cs typeface="Arial"/>
                <a:sym typeface="Arial"/>
              </a:rPr>
              <a:t>Planar laser-induced fluorescence</a:t>
            </a:r>
            <a:r>
              <a:rPr b="0" i="0" lang="en-US" sz="1600">
                <a:solidFill>
                  <a:srgbClr val="252D35"/>
                </a:solidFill>
                <a:latin typeface="Arial"/>
                <a:ea typeface="Arial"/>
                <a:cs typeface="Arial"/>
                <a:sym typeface="Arial"/>
              </a:rPr>
              <a:t>, or PLIF, measures dissolved odor in flowing water. A thin laser sheet excites fluorescent dye in the plume, and the brightness recorded by a calibrated camera estimates the local concentration at each point in the imaged plane.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Reidenbach and Koehl imaged plumes in a 25-m flume at 60 frames/s, which gives a temporal resolution of 16.7 ms. The images resolved fine odor filaments separated by cleaner water, with a denser central plume and sparser encounters toward its edge.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Each pixel in an image is a concentration measurement, so a series of frames reproduces the sequence of encounters and gaps that a sensory surface would meet. The method records the physical odor input available to an animal, before any receptor responds.</a:t>
            </a:r>
            <a:endParaRPr sz="1800">
              <a:solidFill>
                <a:schemeClr val="dk1"/>
              </a:solidFill>
              <a:latin typeface="Calibri"/>
              <a:ea typeface="Calibri"/>
              <a:cs typeface="Calibri"/>
              <a:sym typeface="Calibri"/>
            </a:endParaRPr>
          </a:p>
        </p:txBody>
      </p:sp>
      <p:pic>
        <p:nvPicPr>
          <p:cNvPr id="159" name="Google Shape;159;p11"/>
          <p:cNvPicPr preferRelativeResize="0"/>
          <p:nvPr/>
        </p:nvPicPr>
        <p:blipFill rotWithShape="1">
          <a:blip r:embed="rId2">
            <a:alphaModFix/>
          </a:blip>
          <a:srcRect b="0" l="0" r="0" t="0"/>
          <a:stretch/>
        </p:blipFill>
        <p:spPr>
          <a:xfrm>
            <a:off x="6458577" y="1280071"/>
            <a:ext cx="5166058" cy="1621482"/>
          </a:xfrm>
          <a:prstGeom prst="rect">
            <a:avLst/>
          </a:prstGeom>
          <a:noFill/>
          <a:ln>
            <a:noFill/>
          </a:ln>
        </p:spPr>
      </p:pic>
      <p:sp>
        <p:nvSpPr>
          <p:cNvPr id="160" name="Google Shape;160;p11"/>
          <p:cNvSpPr/>
          <p:nvPr/>
        </p:nvSpPr>
        <p:spPr>
          <a:xfrm>
            <a:off x="6458396" y="2993082"/>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Reidenbach &amp; Koehl (2011), Fig. 3A–C. Measured dye plumes under three flow conditions.</a:t>
            </a:r>
            <a:endParaRPr sz="1800">
              <a:solidFill>
                <a:schemeClr val="dk1"/>
              </a:solidFill>
              <a:latin typeface="Calibri"/>
              <a:ea typeface="Calibri"/>
              <a:cs typeface="Calibri"/>
              <a:sym typeface="Calibri"/>
            </a:endParaRPr>
          </a:p>
        </p:txBody>
      </p:sp>
      <p:sp>
        <p:nvSpPr>
          <p:cNvPr id="161" name="Google Shape;161;p11"/>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Reidenbach &amp; Koehl (2011)</a:t>
            </a:r>
            <a:endParaRPr sz="1800">
              <a:solidFill>
                <a:schemeClr val="dk1"/>
              </a:solidFill>
              <a:latin typeface="Calibri"/>
              <a:ea typeface="Calibri"/>
              <a:cs typeface="Calibri"/>
              <a:sym typeface="Calibri"/>
            </a:endParaRPr>
          </a:p>
        </p:txBody>
      </p:sp>
      <p:sp>
        <p:nvSpPr>
          <p:cNvPr id="163" name="Google Shape;163;p11"/>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11a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10" name="Google Shape;11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Sensory ablation removes one input at a time</a:t>
            </a:r>
            <a:endParaRPr sz="1800">
              <a:solidFill>
                <a:schemeClr val="dk1"/>
              </a:solidFill>
              <a:latin typeface="Calibri"/>
              <a:ea typeface="Calibri"/>
              <a:cs typeface="Calibri"/>
              <a:sym typeface="Calibri"/>
            </a:endParaRPr>
          </a:p>
        </p:txBody>
      </p:sp>
      <p:sp>
        <p:nvSpPr>
          <p:cNvPr id="111" name="Google Shape;111;p8"/>
          <p:cNvSpPr/>
          <p:nvPr/>
        </p:nvSpPr>
        <p:spPr>
          <a:xfrm>
            <a:off x="566886" y="1234380"/>
            <a:ext cx="53161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500"/>
              <a:buFont typeface="Arial"/>
              <a:buNone/>
            </a:pPr>
            <a:r>
              <a:rPr b="1" i="0" lang="en-US" sz="1500">
                <a:solidFill>
                  <a:srgbClr val="743B4A"/>
                </a:solidFill>
                <a:latin typeface="Arial"/>
                <a:ea typeface="Arial"/>
                <a:cs typeface="Arial"/>
                <a:sym typeface="Arial"/>
              </a:rPr>
              <a:t>Sensory ablation</a:t>
            </a:r>
            <a:r>
              <a:rPr b="0" i="0" lang="en-US" sz="1500">
                <a:solidFill>
                  <a:srgbClr val="252D35"/>
                </a:solidFill>
                <a:latin typeface="Arial"/>
                <a:ea typeface="Arial"/>
                <a:cs typeface="Arial"/>
                <a:sym typeface="Arial"/>
              </a:rPr>
              <a:t> is the removal or inactivation of a defined sensory structure to test what that structure contributes to a behavior. Horner and colleagues applied it to two populations of sensilla on both antennules of the spiny lobster, the aesthetascs and the non-aesthetasc chemo-mechanosensory hairs.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500"/>
              <a:buFont typeface="Arial"/>
              <a:buNone/>
            </a:pPr>
            <a:r>
              <a:rPr b="0" i="0" lang="en-US" sz="1500">
                <a:solidFill>
                  <a:srgbClr val="252D35"/>
                </a:solidFill>
                <a:latin typeface="Arial"/>
                <a:ea typeface="Arial"/>
                <a:cs typeface="Arial"/>
                <a:sym typeface="Arial"/>
              </a:rPr>
              <a:t>Shaving removed about 99.8% of aesthetascs. Removing and sealing the non-aesthetasc sensilla targeted the second pathway, and a 15-min distilled-water treatment temporarily impaired antennular chemosensitivity for approximately 24 h. Animals were offered shrimp afterward to check feeding motivation.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500"/>
              <a:buFont typeface="Arial"/>
              <a:buNone/>
            </a:pPr>
            <a:r>
              <a:rPr b="0" i="0" lang="en-US" sz="1500">
                <a:solidFill>
                  <a:srgbClr val="252D35"/>
                </a:solidFill>
                <a:latin typeface="Arial"/>
                <a:ea typeface="Arial"/>
                <a:cs typeface="Arial"/>
                <a:sym typeface="Arial"/>
              </a:rPr>
              <a:t>Comparing intact animals with each ablated group asks which population is needed for finding a source upstream. The feeding test separates a loss of sensory information from a loss of appetite, so a failure to orient can be assigned to the sensory population that was removed.</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2">
            <a:alphaModFix/>
          </a:blip>
          <a:srcRect b="0" l="0" r="0" t="0"/>
          <a:stretch/>
        </p:blipFill>
        <p:spPr>
          <a:xfrm>
            <a:off x="6325162" y="1280071"/>
            <a:ext cx="5204585" cy="2925961"/>
          </a:xfrm>
          <a:prstGeom prst="rect">
            <a:avLst/>
          </a:prstGeom>
          <a:noFill/>
          <a:ln>
            <a:noFill/>
          </a:ln>
        </p:spPr>
      </p:pic>
      <p:sp>
        <p:nvSpPr>
          <p:cNvPr id="115" name="Google Shape;115;p8"/>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2. Shrimp-odor source, flow chamber and lobster release position.</a:t>
            </a:r>
            <a:endParaRPr sz="1800">
              <a:solidFill>
                <a:schemeClr val="dk1"/>
              </a:solidFill>
              <a:latin typeface="Calibri"/>
              <a:ea typeface="Calibri"/>
              <a:cs typeface="Calibri"/>
              <a:sym typeface="Calibri"/>
            </a:endParaRPr>
          </a:p>
        </p:txBody>
      </p:sp>
      <p:pic>
        <p:nvPicPr>
          <p:cNvPr id="116" name="Google Shape;116;p8"/>
          <p:cNvPicPr preferRelativeResize="0"/>
          <p:nvPr/>
        </p:nvPicPr>
        <p:blipFill rotWithShape="1">
          <a:blip r:embed="rId3">
            <a:alphaModFix/>
          </a:blip>
          <a:srcRect b="0" l="0" r="0" t="0"/>
          <a:stretch/>
        </p:blipFill>
        <p:spPr>
          <a:xfrm>
            <a:off x="8198346" y="4754774"/>
            <a:ext cx="1458069" cy="1005755"/>
          </a:xfrm>
          <a:prstGeom prst="rect">
            <a:avLst/>
          </a:prstGeom>
          <a:noFill/>
          <a:ln>
            <a:noFill/>
          </a:ln>
        </p:spPr>
      </p:pic>
      <p:sp>
        <p:nvSpPr>
          <p:cNvPr id="117" name="Google Shape;117;p8"/>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Horner et al. (2004), Fig. 1B. Scanning electron micrograph of aesthetasc and guard hairs.</a:t>
            </a:r>
            <a:endParaRPr sz="1800">
              <a:solidFill>
                <a:schemeClr val="dk1"/>
              </a:solidFill>
              <a:latin typeface="Calibri"/>
              <a:ea typeface="Calibri"/>
              <a:cs typeface="Calibri"/>
              <a:sym typeface="Calibri"/>
            </a:endParaRPr>
          </a:p>
        </p:txBody>
      </p:sp>
      <p:sp>
        <p:nvSpPr>
          <p:cNvPr id="118" name="Google Shape;118;p8"/>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9" name="Google Shape;119;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Horner et al. (2004)</a:t>
            </a:r>
            <a:endParaRPr sz="1800">
              <a:solidFill>
                <a:schemeClr val="dk1"/>
              </a:solidFill>
              <a:latin typeface="Calibri"/>
              <a:ea typeface="Calibri"/>
              <a:cs typeface="Calibri"/>
              <a:sym typeface="Calibri"/>
            </a:endParaRPr>
          </a:p>
        </p:txBody>
      </p:sp>
      <p:sp>
        <p:nvSpPr>
          <p:cNvPr id="120" name="Google Shape;120;p8"/>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08a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1" name="Google Shape;71;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 motor program is a stored movement sequence</a:t>
            </a:r>
            <a:endParaRPr sz="1800">
              <a:solidFill>
                <a:schemeClr val="dk1"/>
              </a:solidFill>
              <a:latin typeface="Calibri"/>
              <a:ea typeface="Calibri"/>
              <a:cs typeface="Calibri"/>
              <a:sym typeface="Calibri"/>
            </a:endParaRPr>
          </a:p>
        </p:txBody>
      </p:sp>
      <p:sp>
        <p:nvSpPr>
          <p:cNvPr id="72" name="Google Shape;72;p5"/>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743B4A"/>
              </a:buClr>
              <a:buSzPts val="1600"/>
              <a:buFont typeface="Arial"/>
              <a:buNone/>
            </a:pPr>
            <a:r>
              <a:rPr b="0" i="0" lang="en-US" sz="1600">
                <a:solidFill>
                  <a:srgbClr val="252D35"/>
                </a:solidFill>
                <a:latin typeface="Arial"/>
                <a:ea typeface="Arial"/>
                <a:cs typeface="Arial"/>
                <a:sym typeface="Arial"/>
              </a:rPr>
              <a:t>A </a:t>
            </a:r>
            <a:r>
              <a:rPr b="1" i="0" lang="en-US" sz="1600">
                <a:solidFill>
                  <a:srgbClr val="743B4A"/>
                </a:solidFill>
                <a:latin typeface="Arial"/>
                <a:ea typeface="Arial"/>
                <a:cs typeface="Arial"/>
                <a:sym typeface="Arial"/>
              </a:rPr>
              <a:t>motor program</a:t>
            </a:r>
            <a:r>
              <a:rPr b="0" i="0" lang="en-US" sz="1600">
                <a:solidFill>
                  <a:srgbClr val="252D35"/>
                </a:solidFill>
                <a:latin typeface="Arial"/>
                <a:ea typeface="Arial"/>
                <a:cs typeface="Arial"/>
                <a:sym typeface="Arial"/>
              </a:rPr>
              <a:t> is a stored pattern of motor commands that generates a movement sequence, and sensory feedback can modify its timing or direction. A fixed alternating counterturn search would be one such program, with turns repeating at regular intervals.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Moore and colleagues recorded headings centered around 0–10° and turns around 10–20° in odor trials. Individual animals followed variable paths across repeated trials. Odor produced an upstream bias, and no single characteristic path was repeated by every lobster at fixed intervals.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A rigid program predicts consistently organized counterturns, and the broad variation among paths weakens that account for this preparation. Variable turns with an upstream bias fit corrections that are adjusted as the animal meets odor and flow along its route.</a:t>
            </a:r>
            <a:endParaRPr sz="1800">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2">
            <a:alphaModFix/>
          </a:blip>
          <a:srcRect b="0" l="0" r="0" t="0"/>
          <a:stretch/>
        </p:blipFill>
        <p:spPr>
          <a:xfrm>
            <a:off x="7333984" y="1280071"/>
            <a:ext cx="3415244" cy="4297561"/>
          </a:xfrm>
          <a:prstGeom prst="rect">
            <a:avLst/>
          </a:prstGeom>
          <a:noFill/>
          <a:ln>
            <a:noFill/>
          </a:ln>
        </p:spPr>
      </p:pic>
      <p:sp>
        <p:nvSpPr>
          <p:cNvPr id="76" name="Google Shape;76;p5"/>
          <p:cNvSpPr/>
          <p:nvPr/>
        </p:nvSpPr>
        <p:spPr>
          <a:xfrm>
            <a:off x="6458396" y="5669161"/>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Moore et al. (1991), Fig. 4A–B. Heading and turning-angle distributions.</a:t>
            </a:r>
            <a:endParaRPr sz="1800">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a:t>
            </a:r>
            <a:endParaRPr sz="1800">
              <a:solidFill>
                <a:schemeClr val="dk1"/>
              </a:solidFill>
              <a:latin typeface="Calibri"/>
              <a:ea typeface="Calibri"/>
              <a:cs typeface="Calibri"/>
              <a:sym typeface="Calibri"/>
            </a:endParaRPr>
          </a:p>
        </p:txBody>
      </p:sp>
      <p:sp>
        <p:nvSpPr>
          <p:cNvPr id="79" name="Google Shape;79;p5"/>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05a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743B4A"/>
              </a:buClr>
              <a:buSzPts val="3000"/>
              <a:buFont typeface="Arial"/>
              <a:buNone/>
            </a:pPr>
            <a:r>
              <a:rPr b="1" i="0" lang="en-US" sz="3000">
                <a:solidFill>
                  <a:srgbClr val="743B4A"/>
                </a:solidFill>
                <a:latin typeface="Arial"/>
                <a:ea typeface="Arial"/>
                <a:cs typeface="Arial"/>
                <a:sym typeface="Arial"/>
              </a:rPr>
              <a:t>A control trial holds everything but odor constant</a:t>
            </a:r>
            <a:endParaRPr sz="1800">
              <a:solidFill>
                <a:schemeClr val="dk1"/>
              </a:solidFill>
              <a:latin typeface="Calibri"/>
              <a:ea typeface="Calibri"/>
              <a:cs typeface="Calibri"/>
              <a:sym typeface="Calibri"/>
            </a:endParaRPr>
          </a:p>
        </p:txBody>
      </p:sp>
      <p:sp>
        <p:nvSpPr>
          <p:cNvPr id="46" name="Google Shape;46;p3"/>
          <p:cNvSpPr/>
          <p:nvPr/>
        </p:nvSpPr>
        <p:spPr>
          <a:xfrm>
            <a:off x="566886" y="1234380"/>
            <a:ext cx="5544741"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A </a:t>
            </a:r>
            <a:r>
              <a:rPr b="1" i="0" lang="en-US" sz="1600">
                <a:solidFill>
                  <a:srgbClr val="743B4A"/>
                </a:solidFill>
                <a:latin typeface="Arial"/>
                <a:ea typeface="Arial"/>
                <a:cs typeface="Arial"/>
                <a:sym typeface="Arial"/>
              </a:rPr>
              <a:t>control trial</a:t>
            </a:r>
            <a:r>
              <a:rPr b="0" i="0" lang="en-US" sz="1600">
                <a:solidFill>
                  <a:srgbClr val="252D35"/>
                </a:solidFill>
                <a:latin typeface="Arial"/>
                <a:ea typeface="Arial"/>
                <a:cs typeface="Arial"/>
                <a:sym typeface="Arial"/>
              </a:rPr>
              <a:t> is a run that keeps every condition of the test identical except the variable under study. Moore and colleagues used raw seawater in place of mussel extract, so the delivery tube, the pump and the water current were present in both kinds of trial.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52D35"/>
              </a:buClr>
              <a:buSzPts val="1600"/>
              <a:buFont typeface="Arial"/>
              <a:buNone/>
            </a:pPr>
            <a:r>
              <a:rPr b="0" i="0" lang="en-US" sz="1600">
                <a:solidFill>
                  <a:srgbClr val="252D35"/>
                </a:solidFill>
                <a:latin typeface="Arial"/>
                <a:ea typeface="Arial"/>
                <a:cs typeface="Arial"/>
                <a:sym typeface="Arial"/>
              </a:rPr>
              <a:t>The flume measured 250 × 90 × 20 cm with a current of 1.0 cm/s. Mussel extract at 0.5 g/L was delivered at 50 mL/min from a source 9 cm above the bottom, and seawater was delivered under the same conditions. Rostrum positions were digitized once per second.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52D35"/>
              </a:buClr>
              <a:buSzPts val="1600"/>
              <a:buFont typeface="Arial"/>
              <a:buNone/>
            </a:pPr>
            <a:r>
              <a:rPr b="0" i="0" lang="en-US" sz="1600">
                <a:solidFill>
                  <a:srgbClr val="252D35"/>
                </a:solidFill>
                <a:latin typeface="Arial"/>
                <a:ea typeface="Arial"/>
                <a:cs typeface="Arial"/>
                <a:sym typeface="Arial"/>
              </a:rPr>
              <a:t>Behavior that differs between extract and seawater trials can therefore be attributed to the chemical stimulus. Walking speed of 5.94 cm/s in odor trials against 10.81 cm/s in controls is a difference caused by the extract and not by flow or by the delivery apparatus.</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2">
            <a:alphaModFix/>
          </a:blip>
          <a:srcRect b="0" l="0" r="0" t="0"/>
          <a:stretch/>
        </p:blipFill>
        <p:spPr>
          <a:xfrm>
            <a:off x="6458469" y="1280071"/>
            <a:ext cx="5166274" cy="4092625"/>
          </a:xfrm>
          <a:prstGeom prst="rect">
            <a:avLst/>
          </a:prstGeom>
          <a:noFill/>
          <a:ln>
            <a:noFill/>
          </a:ln>
        </p:spPr>
      </p:pic>
      <p:sp>
        <p:nvSpPr>
          <p:cNvPr id="50" name="Google Shape;50;p3"/>
          <p:cNvSpPr/>
          <p:nvPr/>
        </p:nvSpPr>
        <p:spPr>
          <a:xfrm>
            <a:off x="6458396" y="5464225"/>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1000"/>
              <a:buFont typeface="Arial"/>
              <a:buNone/>
            </a:pPr>
            <a:r>
              <a:rPr b="0" i="0" lang="en-US" sz="1000">
                <a:solidFill>
                  <a:srgbClr val="626D78"/>
                </a:solidFill>
                <a:latin typeface="Arial"/>
                <a:ea typeface="Arial"/>
                <a:cs typeface="Arial"/>
                <a:sym typeface="Arial"/>
              </a:rPr>
              <a:t>Moore et al. (1991), Fig. 1A–B. Flume, odor delivery and reference grid.</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CEDB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Moore et al. (1991)</a:t>
            </a:r>
            <a:endParaRPr sz="1800">
              <a:solidFill>
                <a:schemeClr val="dk1"/>
              </a:solidFill>
              <a:latin typeface="Calibri"/>
              <a:ea typeface="Calibri"/>
              <a:cs typeface="Calibri"/>
              <a:sym typeface="Calibri"/>
            </a:endParaRPr>
          </a:p>
        </p:txBody>
      </p:sp>
      <p:sp>
        <p:nvSpPr>
          <p:cNvPr id="53" name="Google Shape;53;p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D78"/>
              </a:buClr>
              <a:buSzPts val="900"/>
              <a:buFont typeface="Arial"/>
              <a:buNone/>
            </a:pPr>
            <a:r>
              <a:rPr b="0" i="0" lang="en-US" sz="900">
                <a:solidFill>
                  <a:srgbClr val="626D78"/>
                </a:solidFill>
                <a:latin typeface="Arial"/>
                <a:ea typeface="Arial"/>
                <a:cs typeface="Arial"/>
                <a:sym typeface="Arial"/>
              </a:rPr>
              <a:t>03a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2026-10-08T17:32:48.925Z</dcterms:created>
  <dc:creator>Presenton</dc:creator>
</cp:coreProperties>
</file>