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mQnKct2N8VbS47ZeLepVK+DOcj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II: lobster olfactory search behavior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25. NEUR 411 · NEUROETHOLOGY · FALL 2026. Friday, October 23,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Pravin &amp; Reidenbach (2013), Fig. 1C. Caribbean spiny lobster with its lateral antennule labeled.</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https://doi.org/10.3390/s131216591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Lobsters sample transported food odors with antennules and other sensory surfaces. The original title photograph shows Panulirus argus, with its lateral antennule labeled; photograph J. A. Goldman, reproduced in Pravin and Reidenbach Figure 1C.</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Chemoreception is the detection of chemicals by sensory cells. Clawed lobsters, Homarus americanus, use dissolved food odors while walking across the seabed. Moore, Scholz and Atema compared paths toward mussel extract with paths recorded during otherwise equivalent raw-seawater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source-search path is the sequence of positions occupied by the animal. Its length, direction and speed are distinct variables; a slower path can be more useful if it remains associated with the odor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trajectories demonstrate that chemical stimulation reorganizes locomotion under flowing-water conditions. Only motivated, successful approaches were included in the detailed analysis, so these measurements do not estimate the success probability of all lobsters. They also do not identify the neurons that select each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flume is a channel that supplies controlled flowing water. Moore and colleagues tested lobsters in a 250 × 90 × 20 cm arena with a current of 1.0 cm/s. A reference grid and overhead video allowed position and heading to be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rostrum is the anterior projection used as a positional landmark. Turbulent dilution and the animal’s movement mean the chemical concentration at a receptor cannot be inferred directly from the source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attribute behavioral differences to the presence of the food extract rather than the existence of current or a delivery tube alone. The extract is a mixture, not an identified receptor ligand. Its source concentration also differs from the fluctuating concentration reaching the animal downstream.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1A–B. Flume, odor delivery and reference grid.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Heading angle describes the direction of the lobster’s body relative to upstream. Moore and colleagues grouped recorded behavior by distance from the source. This analysis asks whether the approach is uniform or changes as chemical and mechanical conditions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heading near zero is upstream; a larger angle can accompany lateral sampling. The last approach need not be the fastest because close-range localization can involve slowing and repositioning.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From 240 to 110 cm away, mean speed increased from 2.3 to 7.8 cm/s while heading decreased from 98.8° to about 20°. Between 110 and 40 cm, speed remained near 7 cm/s. Within the final 40 cm, speed fell toward 4.7 cm/s and heading increased toward 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transitions establish distinct movement regimes during successful searching. They are consistent with changing sensory guidance near the source, but distance covaries with plume structure and concentration. The experiment therefore does not establish a dedicated neuronal distance code or prove that one chemical gradient causes every transition.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6. Walking speed and heading versus distance from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Turning angle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absence of one stereotyped trajectory is different from an absence of neural organization. Feedback control can produce variable trajectories even when the same circuit is used on every trial.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Experimental headings were centered around 0–10°, and turns around 10–20°. Individual animals followed variable paths across repeated trials. Odor stimulation supported an upstream bias without producing a single characteristic path that every lobster repeated at fixed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weaken a simple invariant counterturn account for this preparation. They do not exclude central motor programs altogether: sensory feedback could modify an internally generated movement sequence. The data also leave open how bilateral antennular input and water-flow information contribute to the observed directional corrections.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4A–B. Heading and turning-angle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Moore and colleagues measured leg raking, repeated movements that bring walking-leg sensory surfaces into contact with the local environment. They compared raking rates at several distances from the odor source, testing whether close-range searching involves more than antennular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recorded paths provide spatial context for the independent raking measurements. The figure does not plot raking frequency, and its trajectories should not be mistaken for a direct readout of leg-receptor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Raking averaged 3.4 events per 5 s within 7 cm of the source, 2.6 at 7–15 cm, and 1.15 at 15–22 cm. Beyond 22 cm it averaged only 0.1 per 5 s. Most recorded raking therefore occurred near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change supports recruitment of near-substrate sampling during final localization. A switch from antennular guidance to leg-based guidance was the authors’ interpretation, rather than a selective-lesion result in this study. Increased raking could also accompany contact exploration or feeding preparation, so its sensory cause requires separate tests.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Caribbean spiny lobster, Panulirus argus, differs from the clawed lobster used in the earlier flume study. Its antennules carry aesthetascs, specialized olfactory hairs, together with non-aesthetasc sensilla containing other chemical and mechanical sensory neurons. These populations offer potentially overlapping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sensillum is a cuticular sensory structure. Aesthetasc and non-aesthetasc pathways are anatomical categories, not merely strong and weak versions of one measured receptor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asks whether one pathway is indispensable for food-source localization under realistic flow. A preserved response after removing one population can show that the remaining pathway is sufficient in this assay. It cannot establish that the populations are identical or redundant in every natural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1A–F. Body and antennular sensory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lesion experiment requires both confirmation of sensory removal and a control for non-sensory impairment. Feeding after the trial helps assess motivation but does not prove that every aspect of locomotor function was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combination separates chemical guidance from complete loss of appetite more effectively than a lesion alone. Distilled-water treatment is reversible over approximately 24 h, but is not a molecularly selective receptor knockout. The conclusions concern the sensory populations affected by each treatment and the particular flow assay.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2. Shrimp-odor source, flow chamber and lobster release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measured the proportion of lobsters reaching the odor source after selective bilateral sensory manipulation. Intact animals found the high-odor source in 68% of trials and the low-odor source in 45%; no intact animal located a seawater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Necessity and sufficiency are different claims. Preserved behavior after one pathway is removed argues against its unique necessity here; it does not remove the possibility that it normally contributes useful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aesthetasc removal, success remained 77% for high odor and 69% for low odor. Removing non-aesthetasc chemo-mechanosensory sensilla also preserved source finding, at 64% and 45%. In contrast, eliminating antennular chemoreceptor input broadly produced very poor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Either retained antennular chemical pathway can therefore support this food-search task. The results do not show that aesthetascs are unnecessary for all olfactory functions or that increased percentages demonstrate an improvement caused by removal. Variable success and the different effects of each manipulation must be interpreted within the tested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3. Source-finding success after selective antennular lesions.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Net-to-gross displacement ratio, or NGDR, is straight-line displacement divided by total path length. A value closer to one indicates a straighter route. Horner and colleagues measured this variable separately from eventual source-finding success, together with arrival time,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and path straightness measure different properties. A lobster that eventually succeeds can still expend more walking distance, encounter more interruptions or require more opportunities to correct its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high odor concentration, mean NGDR was 0.82 in controls, compared with 0.63 after aesthetasc removal and 0.62 after non-aesthetasc chemo-mechanosensory removal. Mean arrival times across treatment groups were at most 96 s for high odor and 176 s for low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Remaining sensory pathways can preserve arrival while losing efficient progress. Those times are group means, not upper limits for every animal. The altered routes show a contribution to search performance but do not identify whether the missing information concerned concentration, timing, flow direction or the reliability of bilateral comparisons.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4A–D. Arrival time, path straightness, walking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water transported downstream from a source. Reidenbach and Koehl visualized plumes using planar laser-induced fluorescence, or PLIF: a thin laser sheet excites dissolved dye, and calibrated camera intensity estimates local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PLIF provides chemical-transport information in a plane. It does not measure every location in a three-dimensional plume at once, and the concentration represented by color is calibrated dye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25-m flume produced fine odor filaments separated by cleaner water. Images were recorded at 60 frames/s, yielding 16.7-ms temporal resolution. Measurements at different lateral positions showed a denser central plume and sparser encounters toward its edge.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images establish the physical input available to a sensory appendage, rather than recording receptor activation. Fluorescent dye is a transport tracer and need not bind lobster odor receptors. A smooth time-averaged concentration field therefore conceals the intermittent encounters and gaps that a moving animal actually samples.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3A–C. Measured dye plumes under three flow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virtual sampler is an analysis of physical measurements, not a recording of a receptor neuron. Its value is to isolate which aspects of the input depend on appendage size and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lobster sampler flicked at 2 Hz and moved at 6 cm/s during the downstroke. The crab sampler was only 2 mm long and flicked at 3 Hz. Lobster geometry intercepted odor during more flicks and sampled higher peak concentrations than crab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sampling structures can encounter more filaments, while faster sampling can partly compensate for shorter length. These are measurements extracted from real plume images using specified sampling assumptions. They do not show that an intact lobster consciously compares every point along its antennule or implements the authors’ analysis algorithm.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5A–B. Colored plume filaments and concentration along a sampling transect.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odor-free gap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 can miss a passing filament between samples. Therefore, an odor-free interval in the sampled record need not mean there was no odor-bearing water anywhere near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counterintuitive distance relationship shows why encounter frequency cannot be treated as a universal distance ruler. The result depends on plume transport, threshold and flicking geometry. It identifies available temporal cues but does not establish that a lobster uses this particular gap statistic to choose a 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7A–F. Odor-free gap categories for flicking and continuous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boundary layer is the region near a surface where flow is influenced by that surface. Sensory location within it changes chemical exposure even when the animal’s distance to the food source is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Close-range leg sampling and distant antennular sampling need not provide interchangeable information. These physical results make the increase in leg raking during Homarus approaches plausible, but they do not causally explain those earlier animals’ movements. The behavioral and transport measurements involve different species and experimental arrangements.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8A–D. Encountered concentrations versus source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Aesthetascs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outer dendrite is the distal sensory portion of a neuron extending into the hair. The hair’s cuticle and fluid environment are part of the path between transported chemicals and neuronal membrane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detection requires molecules to reach this sensory interface before membrane receptors can respond. Microscopy establishes dimensions and arrangement, not channel opening or neural firing. Guard-hair function must therefore be tested through flow measurements rather than inferred solely from the presence of a protective-looking structure.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1A–C. Spiny lobster photograph and antennular scanning electron micrographs.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dynamically scaled model reproduces the important balance of fluid forces despite using enlarged structures and a different fluid. Reidenbach and colleagues built glass-rod hair arrays in mineral oil and matched the Reynolds number, the ratio of inertial to viscous effects relevant to flow.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Matching Reynolds number preserves the relative influence of inertia and viscosity. It does not automatically reproduce every chemical property, molecular diffusion rate or feature of a living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Biological dimensions and flicking motions constrained the model geometry. Particle-image velocimetry, or PIV, tracked suspended particles between images to measure fluid velocity around and between hairs. The investigators varied orientation, speed and guard-hair presence while retaining the remaining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controlled changes identify mechanical causes of water exchange that are difficult to measure inside a living hair array. The model contains no sensory neurons and measures no ligand binding. Its results establish physical delivery conditions that can influence olfaction, rather than a complete explanation of receptor transduction or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3A–B. Ventral and side photographs of the dynamically scaled physical hair-array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reference frame matters: water flowing relative to a moving hair is the delivery variable. An ambient current and the appendage’s own movement can both contribute to that relative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sensory organ therefore controls exposure mechanically before a receptor opens. Fresh water entering the gaps can deliver new odor molecules, but a flow map alone cannot establish which molecules bind or how many spikes are emitted. Reynolds-number estimates describe the biological movement studied, not a universal threshold for all crustacean hairs.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Goldman JA, Koehl MAR (2001). Fluid Dynamic Design of Lobster Olfactory Organs: High Speed Kinematic Analysis of Antennule Flicking by Panulirus argus. Chemical Senses 26(4):385-398. https://doi.org/10.1093/chemse/26.4.385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5A–B. Measured particle-image-velocimetry flow during the downstroke.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Leakiness describes the extent to which water passes through a hair array rather than around it. Reidenbach and colleagues compared measured downstroke and return-stroke flow. The slower return reduced penetration, allowing the captured water to remain near the aesthetasc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Diffusion is random molecular motion that redistributes solute down local concentration differences. Retaining water near a hair increases available contact time, but does not guarantee that all retained molecules reach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 motion was approximately one-quarter of downstroke speed, yet water between hairs moved about 25 times more slowly. The nonlinear change shows that reducing appendage speed can alter array permeability much more than it alters the movement of the appendage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Retention creates time for molecular diffusion toward the sensory surface. The authors estimated that diffusion over 0.5 s could span about 32 µm; this is a physical calculation, not measured ligand uptake by neurons. The experiment establishes a sampling mechanism without proving which concentration history an individual receptor experiences.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9A–B. Measured slow-return flow field and velocity profile.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source’s colored velocity map is a measurement from the original physical model. Its bright regions show faster relative flow, not stronger neural activity or more receptor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link anatomical arrangement to the distribution of a fresh sensory sample. They do not show that guard hairs detect food or that a particular flow profile automatically improves behavioral success. Sensory performance depends on subsequent diffusion, receptor activation and central interpretation, none of which was measured in the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6. Measured flow through a zigzag array in its observed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7A–C. Hair-array photographs and measured velocity with guard hairs present or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image sequence contains successive frames, not a diagram created for this lecture. Tracking the same dye feature distinguishes exchange with the surrounding plume from simple movement of the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 directly supports discrete water sampling rather than uninterrupted exposure to ambient concentration. Fluorescent dye visualizes transported water and solute; it does not record food-odor receptor binding. The mechanically moved preparation also omits feedback by which an intact animal adjusts where and when to flick.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1A–D. Original video frames of dye capture and retention during flicking.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measured concentration along the aesthetasc-bearing section of the antennule through successive video frames. Their published spatiotemporal map places position on one axis and time on the other, with color representing measured dye concentration at each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horizontal streak in the published map means concentration at one position remained similar over time. It should not be interpreted as a sustained spike train or a labeled sensory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physical filtering precedes neuronal transduction. A spatially nonuniform retained sample could stimulate different sensory endings differently, but the paper did not record those cells or prove that the brain reconstructs the original spatial pattern. Mechanical retention therefore constrains the input without establishing a particular downstream code.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2. Measured spatial dye pattern retained between successive flicks.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4" name="Google Shape;30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Ionotropic receptors,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ionotropic glutamate receptor detects glutamate in its established synaptic role. A related chemosensory IR need not recognize glutamate merely because it shares part of that receptor’s sequence and predicted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an IR-based molecular architecture in lobster olfaction. Sequence similarity and cellular expression do not establish the ligand of a candidate receptor, its ion selectivity or the exact subunit composition of a native channel. Those properties require functional tests beyond staining for receptor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2. Receptor RNA localization with antisense and sense-probe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kilodalton is a unit of molecular mass. Western-band size supports protein identity, while the section image addresses its anatomical location; neither alone measures an ion channel opening.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convergence of biochemical detection and dendritic staining places a candidate receptor component at a plausible transduction site. It does not demonstrate that every stained molecule forms an active surface channel. Antibody specificity, membrane localization and direct odor-evoked current are distinct evidentiary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Corey and colleagues loaded sensory-cell clusters with a calcium-sensitive dye and applied different chemical stimuli. Calcium imaging reports changes in intracellular calcium through changing fluorescence. It can reveal many cells simultaneously, complementing measurements made from one neuron at a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Deorphanization means identifying the activating ligand of a receptor whose ligand was unknown. Responding to arginine in an intact cell does not prove that any particular expressed receptor is the arginine-binding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responses establish chemical selectivity at the cellular level despite broad expression of common IR components. They do not identify which variable IR recognizes each ligand or prove that fluorescence amplitude equals membrane current. The association between expression and physiology motivates receptor tests but is not itself receptor deorphanization.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6A–D. Calcium imaging reveals heterogeneous odor-response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Whole-organ sequencing combines RNA from sensory neurons, support cells and other tissue. Kozma and colleagues instead collected individual fluorescently identified olfactory sensory neurons for single-cell transcriptomics, sequencing the expressed RNA of each cell. This separates within-cell coexpression from differences between cell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transcriptome is the set of RNA molecules detected in a sample. Sequencing depth and amplification affect which low-abundance transcripts are recovered, especially when the starting material is one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All seven analyzed single-cell transcriptomes contained IR25a and IR93a. They also contained variable tuning-IR transcripts, while IR8a and IR76b were not detected in those cells. The photographed collection pipette documents the cellular preparation used for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shared receptor components with cell-specific combinations of additional candidates. Seven cells cannot exhaust the entire sensory population, and a failure to detect an RNA need not mean the gene is absent from every neuron. Transcript detection also does not establish protein abundance or channel assembly.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Tuning IRs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heat-map color is a transformed expression measurement from the original paper. A stronger color does not establish a proportionally larger odor-evoked current because translation and channel regulation intervene.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data constrain candidate combinations but do not show that all detected IRs enter the same membrane complex. Low-abundance transcripts could have different functions or reflect technical sampling. Receptor composition, surface delivery and ligand specificity require additional protein-localization and functional experiments.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3. Single-cell expression of common and variable ionotropic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Kozma and colleagues also examined G-protein-coupled receptors, or GPCRs, and transient receptor potential channels, or TRP channels, in sensory neurons. GPCRs can regulate intracellular signaling, whereas TRP proteins form ion channels with diverse sensory and cellular functions.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 protein links some activated receptors to intracellular enzymes or channels. Molecular presence indicates that a pathway could exist, but causal function must be tested rather than assigned from a protein-family name.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of a GPCR in an olfactory neuron does not prove that it binds a food odor; it may receive modulatory input. Likewise, a TRP transcript does not establish the channel carrying the primary receptor current. Connecting genes to mechanism requires ligand responses, channel properties and perturbations in identified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4. Authors’ summary of genes expressed in olfactory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loose-patch electrode detects spikes without tightly controlling membrane voltage. It records output timing, while stimulus calibration independently measures the physical input that produces that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calibrations establish when chemical input arrived relative to cellular activity. They also expose an important experimental limitation: pulse duration, onset kinetics and effective dose can covary. Apparent concentration dependence must therefore be interpreted using the actual delivery waveform, rather than only the solution concentration stated at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1A–C. Simultaneous dye calibration, calcium responses and firing-rate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found tonic excitation, phasic–tonic excitation and inhibition among olfactory receptor neurons exposed to food extract. Tonic responses persist during stimulation; phasic responses emphasize its beginning. Inhibitory responses reduce activity relative to the cell’s unstimulated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Voltage clamp holds membrane voltage near a chosen level and measures compensating current. A current trace therefore reveals membrane conductance changes more directly than a spike train, but requires ionic tests to identify the ions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reject an account in which all peripheral cells transmit the same excitation and the brain creates every inhibitory response. They do not resolve the molecular channel responsible for every current class. A current’s direction depends on holding voltage and ionic driving force, not simply the behavioral meaning of an odor.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2A–D. Excitatory, inhibitory and intrinsic sensory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can enter through voltage-dependent channels and can also be released from intracellular stores. This simultaneous-recording experiment relates fluorescence to activity without proving the contribution of each calcium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relationship supports calcium imaging for identifying response classes while limiting interpretations of precise encounter timing. Dye kinetics, intracellular buffering and calcium removal all intervene between spikes and fluorescence. A broad calcium peak cannot be assigned the same duration as the odor pulse or the underlying burst of spikes.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3A–C. Simultaneous spikes and calcium responses across neuronal response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burst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Intrinsic means generated by the neuron’s own dynamics under the recording conditions. It does not mean the neuron is unaffected by chemical stimulation, modulators or the ionic composition of the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establish spontaneous peripheral timing, not a synchronized clock shared by the whole antennule. They also do not identify every ion channel producing the oscillation. An odor-evoked burst must be distinguished from a spontaneous burst when evaluating whether a cell has detected a new encounter.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4A–B. Simultaneous bursting and slower calcium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imaged many sensory somata within the same antennular cluster and compared their calcium time series. Correlation measures the degree to which two signals vary together. Pairwise comparisons tested whether nearby bursting cells behaved as one tightly synchronized peripheral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Independent oscillators can provide diverse temporal sensitivities. A population may become more informative by combining their outputs centrally even when neighboring peripheral cells do not synchronize with one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substantial independence among nearby sensory-cell oscillations in this preparation. It does not exclude all interactions or establish independence after signals converge centrally. Optical separation and imaging resolution constrain a negative result, so lack of correlation should not be expanded into proof that no communication is possible.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5A–C. Colored sensory-cell images, calcium records and pairwise correlations.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second messenger is an intracellular molecule whose concentration changes after signaling begins. Michel and Ache tested cyclic nucleotides in lobster sensory neurons that were excited by food extract but inhibited by proline. Whole-cell recordings were made at a holding voltage of −60 mV.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phosphodiesterase normally breaks down cyclic nucleotides. Blocking it can raise intracellular signaling levels, but its inhibitor is a pathway probe rather than an odor-specific receptor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interpretation builds on an odor-evoked potassium conductance characterized in this receptor-cell system. Pharmacological mimicry does not identify the odor-binding receptor or prove that one nucleotide is the exclusive physiological signal. Drug actions and analog selectivity require comparison with cells lacking the same proline-inhibitory phenotype.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4. Proline, phosphodiesterase inhibition and cyclic-GMP analog evoke outward currents.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Adenylyl cyclase synthesizes cyclic AMP, or cAMP. Michel and Ache applied forskolin, an activator of this enzyme, to test whether increasing its activity could reproduce proline-associated inhibition. Saline application provided a comparison for the mechanical delivery of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Opening a potassium conductance can stabilize or shift voltage toward the potassium equilibrium potential. The behavioral meaning depends on which sensory neuron is inhibited, not on potassium flow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cyclic-nucleotide participation in inhibitory transduction. They do not prove a complete receptor-to-enzyme sequence in an intact searching lobster or identify a GPCR that initiates it. Modern IR expression and earlier biochemical signaling findings must therefore be evaluated together without forcing them into one experimentally complete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2. Forskolin and IBMX evoke an outward current in a proline-inhibited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isolated membranes enriched from the outer dendrites of Panulirus olfactory hairs. A quench-flow assay mixes membrane material with stimulus and rapidly stops the reaction, allowing biochemical changes over milliseconds to be measured independently of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 biochemical response can be compatible with a causal transduction role without proving it. Necessity would require selectively disrupting that response while preserving other cellular functions and measuring sensory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Food extract produced transient increases in cAMP and inositol 1,4,5-trisphosphate, or IP3, peaking within approximately 50 ms. IP3 is a signaling molecule produced from membrane phosphoinositides. The timing is fast enough to participate in early sensory transduction rather than only a delayed behavioral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establishes rapid odor-associated biochemical signaling in pooled dendritic material. It does not demonstrate that both messengers rise in every individual neuron, or that a measured rise directly opens a particular channel. Pooling, biochemical enrichment and separation from the intact organ limit cell-specific circuit interpretations.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1. Odor evokes rapid cAMP and IP3 accumulation in dendritic membranes.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illustrated low-dose figure and the stated higher-dose values answer complementary questions. The higher-dose measurements come from Figure 4 of the same paper, rather than a numerical extrapolation from the displayed traces.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both ligands elevated both signals while retaining different preferences. Taurine produced peak IP3 near 630 pmol/mg and cAMP near 280 pmol/mg; proline produced cAMP near 720 pmol/mg and IP3 near 220 pmol/mg.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concentration dependence argues against assigning each ligand an exclusively fixed messenger pathway. Picomoles per milligram normalize the measured messenger quantity to membrane protein, not to one neuron. The data do not identify which receptor proteins or cell combinations generated the pooled signal, leaving several mechanistic explanations open.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3A–B. Taurine and proline differ in second-messenger recruitment.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recorded bursting olfactory receptor neurons and quantified the intervals between spontaneous bursts. A quasiperiodic oscillator repeats approximately, with variability rather than a perfectly fixed period. Such intrinsic activity offers a possible reference against which incoming odor encounters can be registered.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quasiperiodic cell is not a stopwatch with a perfectly reproducible tick. Trial-to-trial variability must be incorporated when evaluating how much information its response carries.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intrinsic period is a property of the recorded cell under these conditions, not a direct measurement of plume encounter rate. The diversity may support multiple temporal sensitivities, but its usefulness for navigation requires input-dependent responses and downstream interpretation. Recording spontaneous bursts alone cannot demonstrate a working distance or direction estimate.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1a–d. Recorded spontaneous bursts and distribution of intrinsic periods.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Phase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refractory or low-responsiveness phase can conceal an encounter in one cell. Other cells at different phases could respond, making population activity more informative than a single-neuron yes-or-no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an example cell, burst probability was about 50% when odor arrived 3 s after the preceding burst and approached 100% at 6 s. The same intensity therefore did not guarantee the same output. Recordings also showed odor-related changes in electrical activity and burst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history-dependent sensory responsiveness. It does not mean every bursting neuron has a 3- or 6-s threshold, nor that nonresponse proves chemical absence. A population with different periods could jointly report encounter timing, but behavioral use of that information remains a further hypothesis.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2a–d. Stimulus timing changes burst probability and sensory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fitted oscillator-response models using experimentally measured properties of bursting neurons, then combined 2,000 synthetic neurons into a population. A decoder is an analysis rule that estimates an input from output activity. It tests whether measured response rules could carry temporal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computationally available signal is not automatically read out by the animal. The model motivates a behavioral prediction, while its parameters and idealized decoder define the limits of that prediction.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estimated intervals among presented events, including inputs at 10, 12, 35, 40 and 43 s. Combining cells with different intrinsic periods improved access to the time since a previous encounter. The displayed curves are the authors’ published synthetic-population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study demonstrates coding feasibility under its model assumptions, not simultaneous recordings from 2,000 real neurons or a lobster’s actual decision rule. Successful model decoding cannot establish behavioral necessity. Selective disruption of bursting and measurement of plume tracking would be needed to connect the proposed code causally to searching.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6a–c. Authors’ synthetic-population decoder estimates stimulus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6" name="Google Shape;56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afferent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olfactory lobe is a primary central processing region, not the sensory hair itself. Paired-pulse suppression compares the second response with the first while controlling the delivered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locates suppression beyond peripheral conduction in the tested preparation. Electrical shocks synchronize afferents differently from natural odor, and a population optical signal does not identify each synapse. The result establishes central modulation of incoming information without demonstrating a particular turn command or source-search strategy.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Paired-shock responses in the olfactory lobe and antennular nerve.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and histamine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Presynaptic means acting on the input side of a synapse. Opening a shunting conductance allows current to leak across the membrane, reducing local voltage changes. A weaker spike can then reduce transmitter release; the channel’s exact molecular composition and natural behavioral recruitment were not measured 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histamine reduced the measured response by about 82% and GABA by about 45%. At 30 µM, histamine still reduced it by about 61%, whereas GABA had little effect. Responses recovered during washout, arguing against irreversible damage as the main explanation.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dose-dependent effects support distinct inhibitory sensitivities of lobster afferent transmission. The study did not measure odor-search behavior or identify every receptor subunit. The authors proposed shunting inhibition: ligand-gated conductance lowers membrane resistance, reducing terminal spike amplitude or propagation. They did not distinguish these alternatives or directly measure presynaptic calcium entry in the lobster.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2A–B. Histamine and GABA suppress lobster afferent voltage signals.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4" name="Google Shape;59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receptor antagonist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Histamine used as a central transmitter must be distinguished from histamine delivered as an odorant to sensory dendrites in other experiments. Site of application and the recorded response determine which role is being tested.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constrain receptor classes and the locus of modulation, but these drugs are not perfectly selective molecular labels at every concentration. An isolated nerve segment was comparatively unaffected, supporting a central-terminal locus. Exact channel subunits and natural release during a lobster’s food search were not established.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3. Histamine inhibition persists after GABA-receptor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Odor flux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Transverse means across the main flow direction. A concentration reading can signal presence, while correlated fluctuations in flow can additionally indicate where odor-bearing water is being transported.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Joint chemical and mechanical sensing could therefore provide a directional cue, but the study establishes physical availability rather than biological implementation. No lobster neuron was shown multiplying velocity by concentration, and no selective behavioral test demonstrated this calculation. The proposed mechanism should remain distinct from established source-search and lesion results.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Pravin &amp; Reidenbach (2013), Fig. 11C. Authors’ modeled transverse odor flux on opposite sides of a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https://doi.org/10.3390/s131216591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Intermittency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threshold defines an encounter when concentration crosses from below to above it. Its choice can change encounter counts, so an intermittency code requires a biologically plausible detector as well as a physically realistic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propose a statistic that complements a mean concentration reading. The published profiles are model-derived and threshold dependent, not direct measurements of lobster navigation commands. Physical validation strengthens the plume representation but does not validate every assumption about sensory thresholds, memory windows or bilateral neural comparisons.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6. Authors’ modeled concentration-spike counts across the plume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strongest next test would manipulate a specific timing mechanism while preserving chemical detection, then measure path efficiency under controlled plume statistics. That experiment would link a proposed neural code to its behavioral consequence.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Together, the studies connect physical acquisition, peripheral coding and source-directed behavior without establishing every intervening synapse. A complete account must distinguish measured fluid patterns, recorded neuronal responses and actual animal trajectories. Neither a successful model search nor receptor expression alone proves the mechanism that a lobster uses in nature.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7. Authors’ model compares detected concentration-spike counts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 changes during approach. Food odor changes walking speed, heading and close-range raking; successful paths do not follow one invariant turning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pathways overlap conditionally. Either antennular chemical pathway can preserve source finding in Panulirus, while selective loss can reduce path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Sniffing filters input mechanically. Fast flicks replace water between aesthetascs; slow returns retain it, changing the timing and spatial pattern reaching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does not establish receptor function. IR localization and single-cell coexpression identify candidate machinery, but ligand specificity, channel composition and causal function require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begins in the periphery. Excitation, inhibition and intrinsic bursting occur in sensory neurons; phase-dependent responses can carry encounter-history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requires linked evidence. Central inhibition changes transmission, while plume and decoding models propose usable cues; their behavioral necessity remains to be demonstrated.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Picrotoxin and cimetidine dissociate actions.</a:t>
            </a:r>
          </a:p>
          <a:p>
            <a:r>
              <a:rPr lang="en-US" sz="1200"/>
              <a:t>• Explanation 1.</a:t>
            </a:r>
          </a:p>
          <a:p>
            <a:r>
              <a:rPr lang="en-US" sz="1200"/>
              <a:t>– Picrotoxin at 100 µM blocked the GABA effect, whereas histamine inhibition persisted</a:t>
            </a:r>
          </a:p>
          <a:p>
            <a:r>
              <a:rPr lang="en-US" sz="1200"/>
              <a:t>– The GABA-receptor blocker left the histamine response in place in the same nerve preparation. Histamine inhibition remained after GABA receptor blockade. Responses were measured from afferent voltage signals. Picrotoxin left histamine inhibition intact in the same nerve. The effect was read from voltage signals in afferents.</a:t>
            </a:r>
          </a:p>
          <a:p>
            <a:r>
              <a:rPr lang="en-US" sz="1200"/>
              <a:t>• Explanation 2.</a:t>
            </a:r>
          </a:p>
          <a:p>
            <a:r>
              <a:rPr lang="en-US" sz="1200"/>
              <a:t>– Cimetidine at 5 mM reduced the histamine effect without producing the same blockade of GABA</a:t>
            </a:r>
          </a:p>
          <a:p>
            <a:r>
              <a:rPr lang="en-US" sz="1200"/>
              <a:t>– The two drugs separated the inhibitory actions by receptor type. The cimetidine result complements the picrotoxin result. Together the two drugs show that GABA and histamine act through separate receptor types. Its effect was measured against control responses in the same nerve.</a:t>
            </a:r>
          </a:p>
          <a:p>
            <a:r>
              <a:rPr lang="en-US" sz="1200"/>
              <a:t>• Explanation 3.</a:t>
            </a:r>
          </a:p>
          <a:p>
            <a:r>
              <a:rPr lang="en-US" sz="1200"/>
              <a:t>– Histamine used as a central transmitter must be distinguished from histamine delivered as an odorant to sensory dendrites</a:t>
            </a:r>
          </a:p>
          <a:p>
            <a:r>
              <a:rPr lang="en-US" sz="1200"/>
              <a:t>– The site of application determines which role is being tested, and the recorded response identifies the pathway. The two roles are distinct experimental questions. Odorant histamine reaches sensory dendrites, whereas transmitter histamine acts within the nerve. The two roles are separate experimental questions.</a:t>
            </a:r>
          </a:p>
          <a:p>
            <a:r>
              <a:rPr lang="en-US" sz="1200"/>
              <a:t>• Source.</a:t>
            </a:r>
          </a:p>
          <a:p>
            <a:r>
              <a:rPr lang="en-US" sz="1200"/>
              <a:t>– The figure and measurements come from Wachowiak &amp; Cohen (1999).</a:t>
            </a:r>
          </a:p>
          <a:p>
            <a:r>
              <a:rPr lang="en-US" sz="1200"/>
              <a:t/>
            </a:r>
          </a:p>
          <a:p>
            <a:r>
              <a:rPr lang="en-US" sz="1200"/>
              <a:t>References:</a:t>
            </a:r>
          </a:p>
          <a:p>
            <a:r>
              <a:rPr lang="en-US" sz="1200"/>
              <a:t>Wachowiak M, Cohen LB (1999). Presynaptic Inhibition of Primary Olfactory Afferents Mediated by Different Mechanisms in Lobster and Turtle. The Journal of Neuroscience 19(20):8808-8817. https://doi.org/10.1523/jneurosci.19-20-08808.1999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2,000 synthetic neurons estimate intervals.</a:t>
            </a:r>
          </a:p>
          <a:p>
            <a:r>
              <a:rPr lang="en-US" sz="1200"/>
              <a:t>• Explanation 1.</a:t>
            </a:r>
          </a:p>
          <a:p>
            <a:r>
              <a:rPr lang="en-US" sz="1200"/>
              <a:t>– The synthetic population contained 2,000 neurons, which the authors combined to estimate event timing</a:t>
            </a:r>
          </a:p>
          <a:p>
            <a:r>
              <a:rPr lang="en-US" sz="1200"/>
              <a:t>– The estimate used population output rather than the activity of any single neuron. Each synthetic cell carried its own intrinsic period. The population was then decoded as one signal. Each cell's period was set in the oscillator model. Those periods differed across the population.</a:t>
            </a:r>
          </a:p>
          <a:p>
            <a:r>
              <a:rPr lang="en-US" sz="1200"/>
              <a:t>• Explanation 2.</a:t>
            </a:r>
          </a:p>
          <a:p>
            <a:r>
              <a:rPr lang="en-US" sz="1200"/>
              <a:t>– The estimated intervals included inputs at 10, 12, 35, 40 and 43 s, spanning both brief and long gaps between events</a:t>
            </a:r>
          </a:p>
          <a:p>
            <a:r>
              <a:rPr lang="en-US" sz="1200"/>
              <a:t>– Combining cells whose intrinsic periods differ improved the estimate for each interval in the sequence. Each interval estimate used the same decoder, applied across the whole population. The estimates were checked against the true input intervals.</a:t>
            </a:r>
          </a:p>
          <a:p>
            <a:r>
              <a:rPr lang="en-US" sz="1200"/>
              <a:t>• Explanation 3.</a:t>
            </a:r>
          </a:p>
          <a:p>
            <a:r>
              <a:rPr lang="en-US" sz="1200"/>
              <a:t>– A computationally available signal is not automatically read out by the animal</a:t>
            </a:r>
          </a:p>
          <a:p>
            <a:r>
              <a:rPr lang="en-US" sz="1200"/>
              <a:t>– The model motivates a behavioral prediction, and its idealized decoder sets the scope of that prediction. The 2,000 neurons were synthetic, not simultaneously recorded from real animals. A behavioral test would be needed to link this code to searching. Its predictions can be tested in live animals.</a:t>
            </a:r>
          </a:p>
          <a:p>
            <a:r>
              <a:rPr lang="en-US" sz="1200"/>
              <a:t>• Source.</a:t>
            </a:r>
          </a:p>
          <a:p>
            <a:r>
              <a:rPr lang="en-US" sz="1200"/>
              <a:t>– The figure and measurements come from Park et al. (2014).</a:t>
            </a:r>
          </a:p>
          <a:p>
            <a:r>
              <a:rPr lang="en-US" sz="1200"/>
              <a:t/>
            </a:r>
          </a:p>
          <a:p>
            <a:r>
              <a:rPr lang="en-US" sz="1200"/>
              <a:t>References:</a:t>
            </a:r>
          </a:p>
          <a:p>
            <a:r>
              <a:rPr lang="en-US" sz="1200"/>
              <a:t>Park IM, Bobkov YV, Ache BW, Príncipe JC (2014). Intermittency Coding in the Primary Olfactory System: A Neural Substrate for Olfactory Scene Analysis. The Journal of Neuroscience 34(3):941-952. https://doi.org/10.1523/jneurosci.2204-13.2014</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Messenger levels at 100 µM.</a:t>
            </a:r>
          </a:p>
          <a:p>
            <a:r>
              <a:rPr lang="en-US" sz="1200"/>
              <a:t>• Explanation 1.</a:t>
            </a:r>
          </a:p>
          <a:p>
            <a:r>
              <a:rPr lang="en-US" sz="1200"/>
              <a:t>– At 100 µM, taurine produced a peak IP3 near 630 pmol/mg and a cAMP peak near 280 pmol/mg</a:t>
            </a:r>
          </a:p>
          <a:p>
            <a:r>
              <a:rPr lang="en-US" sz="1200"/>
              <a:t>– Those values were measured in the same isolated dendritic membranes as the low-dose traces, so the two concentrations can be read side by side. The higher-dose values come from a separate figure, not an extrapolation. The low-dose traces show preference rather than total messenger output.</a:t>
            </a:r>
          </a:p>
          <a:p>
            <a:r>
              <a:rPr lang="en-US" sz="1200"/>
              <a:t>• Explanation 2.</a:t>
            </a:r>
          </a:p>
          <a:p>
            <a:r>
              <a:rPr lang="en-US" sz="1200"/>
              <a:t>– Proline produced a cAMP peak near 720 pmol/mg and an IP3 peak near 220 pmol/mg at the same concentration</a:t>
            </a:r>
          </a:p>
          <a:p>
            <a:r>
              <a:rPr lang="en-US" sz="1200"/>
              <a:t>– Its cAMP response was larger than its IP3 response, which reverses the ordering seen for taurine at this dose. The two ligands kept their preferences at this dose as well. Both messengers were measured for each ligand.</a:t>
            </a:r>
          </a:p>
          <a:p>
            <a:r>
              <a:rPr lang="en-US" sz="1200"/>
              <a:t>• Explanation 3.</a:t>
            </a:r>
          </a:p>
          <a:p>
            <a:r>
              <a:rPr lang="en-US" sz="1200"/>
              <a:t>– Picomoles per milligram normalize the measured messenger quantity to membrane protein rather than to one neuron</a:t>
            </a:r>
          </a:p>
          <a:p>
            <a:r>
              <a:rPr lang="en-US" sz="1200"/>
              <a:t>– The pooled measurement describes membrane material rather than any single cell type. Membrane protein is the normalization unit used in these measurements. The values describe group-level messenger levels. Values are group-level, summarizing the whole preparation in each sample.</a:t>
            </a:r>
          </a:p>
          <a:p>
            <a:r>
              <a:rPr lang="en-US" sz="1200"/>
              <a:t>• Source.</a:t>
            </a:r>
          </a:p>
          <a:p>
            <a:r>
              <a:rPr lang="en-US" sz="1200"/>
              <a:t>– The figure and measurements come from Boekhoff et al. (1994).</a:t>
            </a:r>
          </a:p>
          <a:p>
            <a:r>
              <a:rPr lang="en-US" sz="1200"/>
              <a:t/>
            </a:r>
          </a:p>
          <a:p>
            <a:r>
              <a:rPr lang="en-US" sz="1200"/>
              <a:t>References:</a:t>
            </a:r>
          </a:p>
          <a:p>
            <a:r>
              <a:rPr lang="en-US" sz="1200"/>
              <a:t>Boekhoff I, Michel WC, Breer H, Ache BW (1994). Single odors differentially stimulate dual second messenger pathways in lobster olfactory receptor cells. The Journal of Neuroscience 14(5):3304-3309. https://doi.org/10.1523/jneurosci.14-05-03304.1994</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cGMP analog mimics proline's outward current.</a:t>
            </a:r>
          </a:p>
          <a:p>
            <a:r>
              <a:rPr lang="en-US" sz="1200"/>
              <a:t>• Explanation 1.</a:t>
            </a:r>
          </a:p>
          <a:p>
            <a:r>
              <a:rPr lang="en-US" sz="1200"/>
              <a:t>– Phosphodiesterases normally break down cyclic nucleotides</a:t>
            </a:r>
          </a:p>
          <a:p>
            <a:r>
              <a:rPr lang="en-US" sz="1200"/>
              <a:t>– Blocking them raises intracellular levels of these messengers, so the inhibitor works as a pathway probe rather than an odor-specific receptor ligand. Opening a potassium conductance can shift voltage toward the potassium equilibrium potential. The behavioral meaning of that shift depends on which sensory neuron is inhibited in each case.</a:t>
            </a:r>
          </a:p>
          <a:p>
            <a:r>
              <a:rPr lang="en-US" sz="1200"/>
              <a:t>• Explanation 2.</a:t>
            </a:r>
          </a:p>
          <a:p>
            <a:r>
              <a:rPr lang="en-US" sz="1200"/>
              <a:t>– The cyclic-GMP analog produced an outward current matching the one proline evoked in this cell class</a:t>
            </a:r>
          </a:p>
          <a:p>
            <a:r>
              <a:rPr lang="en-US" sz="1200"/>
              <a:t>– The same outward response appeared with phosphodiesterase inhibition, so three distinct manipulations converged on one current. IBMX raised cyclic-nucleotide levels by blocking their breakdown. The response class was defined by proline inhibition. Responses were recorded as outward currents.</a:t>
            </a:r>
          </a:p>
          <a:p>
            <a:r>
              <a:rPr lang="en-US" sz="1200"/>
              <a:t>• Explanation 3.</a:t>
            </a:r>
          </a:p>
          <a:p>
            <a:r>
              <a:rPr lang="en-US" sz="1200"/>
              <a:t>– Drug actions and analog selectivity need a check against cells that lack the proline-inhibitory phenotype</a:t>
            </a:r>
          </a:p>
          <a:p>
            <a:r>
              <a:rPr lang="en-US" sz="1200"/>
              <a:t>– Cells that respond to food extract but lack proline-driven inhibition form the contrasting group. Analog selectivity is tested by comparing these cells with the proline-excited class. Those cells test whether the outward current is specific to the inhibited class. The proline-excited class supplies that comparison.</a:t>
            </a:r>
          </a:p>
          <a:p>
            <a:r>
              <a:rPr lang="en-US" sz="1200"/>
              <a:t>• Source.</a:t>
            </a:r>
          </a:p>
          <a:p>
            <a:r>
              <a:rPr lang="en-US" sz="1200"/>
              <a:t>– The figure and measurements come from Michel &amp; Ache (1992).</a:t>
            </a:r>
          </a:p>
          <a:p>
            <a:r>
              <a:rPr lang="en-US" sz="1200"/>
              <a:t/>
            </a:r>
          </a:p>
          <a:p>
            <a:r>
              <a:rPr lang="en-US" sz="1200"/>
              <a:t>References:</a:t>
            </a:r>
          </a:p>
          <a:p>
            <a:r>
              <a:rPr lang="en-US" sz="1200"/>
              <a:t>Michel WC, Ache BW (1992). Cyclic nucleotides mediate an odor-evoked potassium conductance in lobster olfactory receptor cells. The Journal of Neuroscience 12(10):3979-3984. https://doi.org/10.1523/jneurosci.12-10-03979.1992</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Calcium follows spikes with a delay.</a:t>
            </a:r>
          </a:p>
          <a:p>
            <a:r>
              <a:rPr lang="en-US" sz="1200"/>
              <a:t>• Explanation 1.</a:t>
            </a:r>
          </a:p>
          <a:p>
            <a:r>
              <a:rPr lang="en-US" sz="1200"/>
              <a:t>– Calcium can enter a neuron through voltage-dependent channels, and it can also be released from intracellular stores</a:t>
            </a:r>
          </a:p>
          <a:p>
            <a:r>
              <a:rPr lang="en-US" sz="1200"/>
              <a:t>– The fluorescence reflects calcium from either source, so a single optical trace combines both contributions. Calcium-sensitive dye reports these changes through its fluorescence intensity. The calcium signal is slower than the electrical event that causes it. The calcium rise follows the stimulus with a delay.</a:t>
            </a:r>
          </a:p>
          <a:p>
            <a:r>
              <a:rPr lang="en-US" sz="1200"/>
              <a:t>• Explanation 2.</a:t>
            </a:r>
          </a:p>
          <a:p>
            <a:r>
              <a:rPr lang="en-US" sz="1200"/>
              <a:t>– A broad calcium peak has its own duration, which differs from both the odor pulse and the spike burst that produced it</a:t>
            </a:r>
          </a:p>
          <a:p>
            <a:r>
              <a:rPr lang="en-US" sz="1200"/>
              <a:t>– Dye kinetics stretch the signal in time, so the peak lasts longer than the electrical event it follows. Peak timing comes from that neuron's optical trace. Those effects were measured in identified neurons.</a:t>
            </a:r>
          </a:p>
          <a:p>
            <a:r>
              <a:rPr lang="en-US" sz="1200"/>
              <a:t>• Explanation 3.</a:t>
            </a:r>
          </a:p>
          <a:p>
            <a:r>
              <a:rPr lang="en-US" sz="1200"/>
              <a:t>– Excitation increased firing and then accumulated a calcium signal, while an inhibitory optical response accompanied reduced firing</a:t>
            </a:r>
          </a:p>
          <a:p>
            <a:r>
              <a:rPr lang="en-US" sz="1200"/>
              <a:t>– Bobkov and colleagues recorded both signals together, so the two time courses come from the same cells. The optical peak occurs after the spike burst that drives it. Spike timing and fluorescence answer different questions. Spikes alone resolve the timing of individual events.</a:t>
            </a:r>
          </a:p>
          <a:p>
            <a:r>
              <a:rPr lang="en-US" sz="1200"/>
              <a:t>• Source.</a:t>
            </a:r>
          </a:p>
          <a:p>
            <a:r>
              <a:rPr lang="en-US" sz="1200"/>
              <a:t>– The figure and measurements come from Bobkov et al. (2012).</a:t>
            </a:r>
          </a:p>
          <a:p>
            <a:r>
              <a:rPr lang="en-US" sz="1200"/>
              <a:t/>
            </a:r>
          </a:p>
          <a:p>
            <a:r>
              <a:rPr lang="en-US" sz="1200"/>
              <a:t>References:</a:t>
            </a:r>
          </a:p>
          <a:p>
            <a:r>
              <a:rPr lang="en-US" sz="1200"/>
              <a:t>Bobkov Y, Park I, Ukhanov K, Principe J, Ache B (2012). Cellular Basis for Response Diversity in the Olfactory Periphery. PLoS ONE 7(4):e34843. https://doi.org/10.1371/journal.pone.0034843</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 proteins couple receptors to enzymes.</a:t>
            </a:r>
          </a:p>
          <a:p>
            <a:r>
              <a:rPr lang="en-US" sz="1200"/>
              <a:t>• Explanation 1.</a:t>
            </a:r>
          </a:p>
          <a:p>
            <a:r>
              <a:rPr lang="en-US" sz="1200"/>
              <a:t>– A G protein links some activated receptors to intracellular enzymes or channels</a:t>
            </a:r>
          </a:p>
          <a:p>
            <a:r>
              <a:rPr lang="en-US" sz="1200"/>
              <a:t>– That coupling is a second-messenger route, which differs from ligand-gated channels that open directly when a ligand binds. Enzymes activated this way change messenger levels before any ionic current flows. The intracellular cascade sets the timing of the response. Its second messengers are inside the cell.</a:t>
            </a:r>
          </a:p>
          <a:p>
            <a:r>
              <a:rPr lang="en-US" sz="1200"/>
              <a:t>• Explanation 2.</a:t>
            </a:r>
          </a:p>
          <a:p>
            <a:r>
              <a:rPr lang="en-US" sz="1200"/>
              <a:t>– Ligand-gated channels are described by their ion permeation rather than by second-messenger steps</a:t>
            </a:r>
          </a:p>
          <a:p>
            <a:r>
              <a:rPr lang="en-US" sz="1200"/>
              <a:t>– Ionic current through the channel is the readout of activation, so the identity of the ions carried matters for the response. Current direction depends on the ions carried through that channel. GPCRs can regulate intracellular signaling, so they act through a different route.</a:t>
            </a:r>
          </a:p>
          <a:p>
            <a:r>
              <a:rPr lang="en-US" sz="1200"/>
              <a:t>• Explanation 3.</a:t>
            </a:r>
          </a:p>
          <a:p>
            <a:r>
              <a:rPr lang="en-US" sz="1200"/>
              <a:t>– Molecular presence indicates that a pathway could exist, but causal function must be tested rather than assigned from a protein-family name</a:t>
            </a:r>
          </a:p>
          <a:p>
            <a:r>
              <a:rPr lang="en-US" sz="1200"/>
              <a:t>– Expression data identify candidate genes, which functional tests then assign to odor responses. A transcript for a GPCR or TRP channel needs a functional test before it is linked to odor. Each candidate receptor then needs its own ligand test.</a:t>
            </a:r>
          </a:p>
          <a:p>
            <a:r>
              <a:rPr lang="en-US" sz="1200"/>
              <a:t>• Source.</a:t>
            </a:r>
          </a:p>
          <a:p>
            <a:r>
              <a:rPr lang="en-US" sz="1200"/>
              <a:t>– The figure and measurements come from Kozma et al. (2020).</a:t>
            </a:r>
          </a:p>
          <a:p>
            <a:r>
              <a:rPr lang="en-US" sz="1200"/>
              <a:t/>
            </a:r>
          </a:p>
          <a:p>
            <a:r>
              <a:rPr lang="en-US" sz="1200"/>
              <a:t>References:</a:t>
            </a:r>
          </a:p>
          <a:p>
            <a:r>
              <a:rPr lang="en-US" sz="1200"/>
              <a:t>Kozma MT, Ngo-Vu H, Rump MT, Bobkov YV, Ache BW, Derby CD (2020). Single cell transcriptomes reveal expression patterns of chemoreceptor genes in olfactory sensory neurons of the Caribbean spiny lobster, Panulirus argus. BMC Genomics 21(1):649. https://doi.org/10.1186/s12864-020-07034-7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Deorphanization links a ligand to a receptor.</a:t>
            </a:r>
          </a:p>
          <a:p>
            <a:r>
              <a:rPr lang="en-US" sz="1200"/>
              <a:t>• Explanation 1.</a:t>
            </a:r>
          </a:p>
          <a:p>
            <a:r>
              <a:rPr lang="en-US" sz="1200"/>
              <a:t>– Deorphanization means identifying the ligand that activates a receptor without an identified ligand</a:t>
            </a:r>
          </a:p>
          <a:p>
            <a:r>
              <a:rPr lang="en-US" sz="1200"/>
              <a:t>– Calcium imaging supplies a candidate list one cell at a time, and that list is then tested with the receptor protein itself. Responses were scored cell by cell across the stimulus panel. The dye turns calcium changes into fluorescence intensity. Calcium responses differed between cells that sat side by side.</a:t>
            </a:r>
          </a:p>
          <a:p>
            <a:r>
              <a:rPr lang="en-US" sz="1200"/>
              <a:t>• Explanation 2.</a:t>
            </a:r>
          </a:p>
          <a:p>
            <a:r>
              <a:rPr lang="en-US" sz="1200"/>
              <a:t>– IR25a appeared in cell somata and inner dendrites in the fluorescent row of the published immunolabeling figure</a:t>
            </a:r>
          </a:p>
          <a:p>
            <a:r>
              <a:rPr lang="en-US" sz="1200"/>
              <a:t>– The protein occurs in both the cell body and the inner dendrites, which places it in the cells whose responses were imaged. A control image accompanied the labeled row. The control labeling marks background staining. Labeling in that row shows bright somata and dendritic profiles.</a:t>
            </a:r>
          </a:p>
          <a:p>
            <a:r>
              <a:rPr lang="en-US" sz="1200"/>
              <a:t>• Explanation 3.</a:t>
            </a:r>
          </a:p>
          <a:p>
            <a:r>
              <a:rPr lang="en-US" sz="1200"/>
              <a:t>– A response to arginine in an intact cell identifies a candidate responder rather than the receptor protein</a:t>
            </a:r>
          </a:p>
          <a:p>
            <a:r>
              <a:rPr lang="en-US" sz="1200"/>
              <a:t>– Expression and localization together narrow the candidates before any functional test, and ligand binding, ion selectivity and subunit composition each need their own measurement. Sequence data alone identify candidates only. Functional tests are run in defined cell types.</a:t>
            </a:r>
          </a:p>
          <a:p>
            <a:r>
              <a:rPr lang="en-US" sz="1200"/>
              <a:t>• Source.</a:t>
            </a:r>
          </a:p>
          <a:p>
            <a:r>
              <a:rPr lang="en-US" sz="1200"/>
              <a:t>– The figure and measurements come from Corey et al. (2013).</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Dye parcels were about 1 mm thick.</a:t>
            </a:r>
          </a:p>
          <a:p>
            <a:r>
              <a:rPr lang="en-US" sz="1200"/>
              <a:t>• Explanation 1.</a:t>
            </a:r>
          </a:p>
          <a:p>
            <a:r>
              <a:rPr lang="en-US" sz="1200"/>
              <a:t>– Each dye parcel was about 1 mm thick when it crossed the array</a:t>
            </a:r>
          </a:p>
          <a:p>
            <a:r>
              <a:rPr lang="en-US" sz="1200"/>
              <a:t>– In the same preparation, the benthic dye source sat 1 m upstream of the antennule. A horizontal streak in the published map means concentration at one position remained similar over time. Parcel size and source distance were both taken from the video frames.</a:t>
            </a:r>
          </a:p>
          <a:p>
            <a:r>
              <a:rPr lang="en-US" sz="1200"/>
              <a:t>• Explanation 2.</a:t>
            </a:r>
          </a:p>
          <a:p>
            <a:r>
              <a:rPr lang="en-US" sz="1200"/>
              <a:t>– Tracking the same dye feature across frames distinguishes exchange with the plume from simple movement of the appendage</a:t>
            </a:r>
          </a:p>
          <a:p>
            <a:r>
              <a:rPr lang="en-US" sz="1200"/>
              <a:t>– The image sequence contains successive frames from the original recording rather than a drawn diagram. Each frame sequence captures one flick cycle from start to finish. Those video frames were recorded during successive flicks of the antennule.</a:t>
            </a:r>
          </a:p>
          <a:p>
            <a:r>
              <a:rPr lang="en-US" sz="1200"/>
              <a:t>• Explanation 3.</a:t>
            </a:r>
          </a:p>
          <a:p>
            <a:r>
              <a:rPr lang="en-US" sz="1200"/>
              <a:t>– The original high-speed frames record each stage of a flick, from the rapid downstroke through the slower return</a:t>
            </a:r>
          </a:p>
          <a:p>
            <a:r>
              <a:rPr lang="en-US" sz="1200"/>
              <a:t>– The parcels leave the array during the next downstroke. A sustained spike train or a labeled sensory axon is not what this map shows. Those parcels can be followed from frame to frame in each sequence. Parcels were captured in one downstroke each.</a:t>
            </a:r>
          </a:p>
          <a:p>
            <a:r>
              <a:rPr lang="en-US" sz="1200"/>
              <a:t>• Source.</a:t>
            </a:r>
          </a:p>
          <a:p>
            <a:r>
              <a:rPr lang="en-US" sz="1200"/>
              <a:t>– The figure and measurements come from Koehl et al. (2001).</a:t>
            </a:r>
          </a:p>
          <a:p>
            <a:r>
              <a:rPr lang="en-US" sz="1200"/>
              <a:t/>
            </a:r>
          </a:p>
          <a:p>
            <a:r>
              <a:rPr lang="en-US" sz="1200"/>
              <a:t>References:</a:t>
            </a:r>
          </a:p>
          <a:p>
            <a:r>
              <a:rPr lang="en-US" sz="1200"/>
              <a:t>Koehl MAR, Koseff JR, Crimaldi JP, McCay MG, Cooper T, Wiley MB, Moore PA (2001). Lobster Sniffing: Antennule Design and Hydrodynamic Filtering of Information in an Odor Plume. Science 294(5548):1948-1951. https://doi.org/10.1126/science.1063724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Diffusion spans about 32 µm in 0.5 s.</a:t>
            </a:r>
          </a:p>
          <a:p>
            <a:r>
              <a:rPr lang="en-US" sz="1200"/>
              <a:t>• Explanation 1.</a:t>
            </a:r>
          </a:p>
          <a:p>
            <a:r>
              <a:rPr lang="en-US" sz="1200"/>
              <a:t>– Diffusion is random molecular motion that redistributes solute down local concentration differences</a:t>
            </a:r>
          </a:p>
          <a:p>
            <a:r>
              <a:rPr lang="en-US" sz="1200"/>
              <a:t>– Retaining water increases the contact time available for molecules to reach the membrane, but not every retained molecule reaches it. That contact time is set by the slow return rather than by the downstroke. Diffusion acts within the retained water near each hair.</a:t>
            </a:r>
          </a:p>
          <a:p>
            <a:r>
              <a:rPr lang="en-US" sz="1200"/>
              <a:t>• Explanation 2.</a:t>
            </a:r>
          </a:p>
          <a:p>
            <a:r>
              <a:rPr lang="en-US" sz="1200"/>
              <a:t>– The authors estimated that diffusion over 0.5 s could span about 32 µm</a:t>
            </a:r>
          </a:p>
          <a:p>
            <a:r>
              <a:rPr lang="en-US" sz="1200"/>
              <a:t>– That figure is a length scale for the retained sample at the aesthetasc surfaces during the return, not the distance traveled by any particular molecule. The calculation uses a simple diffusion estimate over that time window. The estimate covers the return interval alone.</a:t>
            </a:r>
          </a:p>
          <a:p>
            <a:r>
              <a:rPr lang="en-US" sz="1200"/>
              <a:t>• Explanation 3.</a:t>
            </a:r>
          </a:p>
          <a:p>
            <a:r>
              <a:rPr lang="en-US" sz="1200"/>
              <a:t>– The estimate is a physical calculation, not a measured uptake of ligand by neurons</a:t>
            </a:r>
          </a:p>
          <a:p>
            <a:r>
              <a:rPr lang="en-US" sz="1200"/>
              <a:t>– Transport in the retained sample is one stage in a sequence, and receptor binding is the stage that follows it. The sequence begins with a physical stage before the molecular stage. Receptor binding follows once solute reaches the membrane. Its timing follows the flick.</a:t>
            </a:r>
          </a:p>
          <a:p>
            <a:r>
              <a:rPr lang="en-US" sz="1200"/>
              <a:t>• Source.</a:t>
            </a:r>
          </a:p>
          <a:p>
            <a:r>
              <a:rPr lang="en-US" sz="1200"/>
              <a:t>– The figure and measurements come from Reidenbach et al. (2008).</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Aesthetasc dimensions set the array scale.</a:t>
            </a:r>
          </a:p>
          <a:p>
            <a:r>
              <a:rPr lang="en-US" sz="1200"/>
              <a:t>• Explanation 1.</a:t>
            </a:r>
          </a:p>
          <a:p>
            <a:r>
              <a:rPr lang="en-US" sz="1200"/>
              <a:t>– Representative aesthetasc diameter was 22 µm, length about 720 µm and spacing about 60 µm</a:t>
            </a:r>
          </a:p>
          <a:p>
            <a:r>
              <a:rPr lang="en-US" sz="1200"/>
              <a:t>– These dimensions were measured on the lateral flagellum of Panulirus before any physical model was built. The model reproduces these scales at a larger size in mineral oil, which keeps the scale of each hair in proportion. Those dimensions define the scale of the array.</a:t>
            </a:r>
          </a:p>
          <a:p>
            <a:r>
              <a:rPr lang="en-US" sz="1200"/>
              <a:t>• Explanation 2.</a:t>
            </a:r>
          </a:p>
          <a:p>
            <a:r>
              <a:rPr lang="en-US" sz="1200"/>
              <a:t>– An outer dendrite is the distal sensory portion of a neuron extending into the hair</a:t>
            </a:r>
          </a:p>
          <a:p>
            <a:r>
              <a:rPr lang="en-US" sz="1200"/>
              <a:t>– Membrane receptors sit on those dendrites and respond to molecules that reach them. The hair's cuticle and fluid environment lie on the path between transported chemicals and the neuronal membrane. Odor molecules must reach that membrane before any receptor can respond.</a:t>
            </a:r>
          </a:p>
          <a:p>
            <a:r>
              <a:rPr lang="en-US" sz="1200"/>
              <a:t>• Explanation 3.</a:t>
            </a:r>
          </a:p>
          <a:p>
            <a:r>
              <a:rPr lang="en-US" sz="1200"/>
              <a:t>– Microscopy establishes dimensions and arrangement, not channel opening or neural firing</a:t>
            </a:r>
          </a:p>
          <a:p>
            <a:r>
              <a:rPr lang="en-US" sz="1200"/>
              <a:t>– The 60 µm spacing is the gap width that water passes through in the model. The 22 µm diameter sets the width of each hair in the same model, which keeps the proportions of the living array. The hair width sets the scale for the water flow analyzed in the model.</a:t>
            </a:r>
          </a:p>
          <a:p>
            <a:r>
              <a:rPr lang="en-US" sz="1200"/>
              <a:t>• Source.</a:t>
            </a:r>
          </a:p>
          <a:p>
            <a:r>
              <a:rPr lang="en-US" sz="1200"/>
              <a:t>– The figure and measurements come from Reidenbach et al. (2008).</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Virtual sampler flicks and plume geometry.</a:t>
            </a:r>
          </a:p>
          <a:p>
            <a:r>
              <a:rPr lang="en-US" sz="1200"/>
              <a:t>• Explanation 1.</a:t>
            </a:r>
          </a:p>
          <a:p>
            <a:r>
              <a:rPr lang="en-US" sz="1200"/>
              <a:t>– The lobster sampler flicked at 2 Hz and moved at 6 cm/s during the downstroke, so two downstrokes occurred every second</a:t>
            </a:r>
          </a:p>
          <a:p>
            <a:r>
              <a:rPr lang="en-US" sz="1200"/>
              <a:t>– The crab sampler flicked at 3 Hz, which made its flicks occur more often than the lobster's. Both geometries were compared at the same 8-cm height above the bed. Lobster geometry was the larger of the two sampling structures.</a:t>
            </a:r>
          </a:p>
          <a:p>
            <a:r>
              <a:rPr lang="en-US" sz="1200"/>
              <a:t>• Explanation 2.</a:t>
            </a:r>
          </a:p>
          <a:p>
            <a:r>
              <a:rPr lang="en-US" sz="1200"/>
              <a:t>– A virtual sampler is an analysis of physical measurements, not a recording of a receptor neuron</a:t>
            </a:r>
          </a:p>
          <a:p>
            <a:r>
              <a:rPr lang="en-US" sz="1200"/>
              <a:t>– Its purpose is to isolate which aspects of the input depend on appendage size and motion. Flick rate and sampler speed are fixed inputs in each calculation, and both samplers used the same plume records. Flick counts per second differ by one.</a:t>
            </a:r>
          </a:p>
          <a:p>
            <a:r>
              <a:rPr lang="en-US" sz="1200"/>
              <a:t>• Explanation 3.</a:t>
            </a:r>
          </a:p>
          <a:p>
            <a:r>
              <a:rPr lang="en-US" sz="1200"/>
              <a:t>– The calculated output is an estimate of odor encounters per flick</a:t>
            </a:r>
          </a:p>
          <a:p>
            <a:r>
              <a:rPr lang="en-US" sz="1200"/>
              <a:t>– That estimate follows from the measured plume images and the sampling assumptions specified in the analysis. Its values describe the physical input to a sampler of that shape, not a neuron's response. The estimate is an analysis output, not a measured animal response.</a:t>
            </a:r>
          </a:p>
          <a:p>
            <a:r>
              <a:rPr lang="en-US" sz="1200"/>
              <a:t>• Source.</a:t>
            </a:r>
          </a:p>
          <a:p>
            <a:r>
              <a:rPr lang="en-US" sz="1200"/>
              <a:t>– The figure and measurements come from Reidenbach &amp; Koehl (2011).</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Success rates by odor and sensory treatment.</a:t>
            </a:r>
          </a:p>
          <a:p>
            <a:r>
              <a:rPr lang="en-US" sz="1200"/>
              <a:t>• Explanation 1.</a:t>
            </a:r>
          </a:p>
          <a:p>
            <a:r>
              <a:rPr lang="en-US" sz="1200"/>
              <a:t>– Intact lobsters reached the high-odor source in 68% of trials, versus 45% for the weaker odor</a:t>
            </a:r>
          </a:p>
          <a:p>
            <a:r>
              <a:rPr lang="en-US" sz="1200"/>
              <a:t>– No intact animal located a seawater source, which fixes the reference point for the experiment. These intact values serve as the reference for every lesion condition in the flume. Intact animals reached the high-odor source more often than the low-odor source.</a:t>
            </a:r>
          </a:p>
          <a:p>
            <a:r>
              <a:rPr lang="en-US" sz="1200"/>
              <a:t>• Explanation 2.</a:t>
            </a:r>
          </a:p>
          <a:p>
            <a:r>
              <a:rPr lang="en-US" sz="1200"/>
              <a:t>– After aesthetasc removal, success was 77% for high odor and 69% for low odor, both above the intact values</a:t>
            </a:r>
          </a:p>
          <a:p>
            <a:r>
              <a:rPr lang="en-US" sz="1200"/>
              <a:t>– Removing non-aesthetasc sensilla gave 64% for high odor, four points below the intact animals, and 45% for low odor, matching the intact result. Those percentages come from the same flume trials. Those values are proportions of trials.</a:t>
            </a:r>
          </a:p>
          <a:p>
            <a:r>
              <a:rPr lang="en-US" sz="1200"/>
              <a:t>• Explanation 3.</a:t>
            </a:r>
          </a:p>
          <a:p>
            <a:r>
              <a:rPr lang="en-US" sz="1200"/>
              <a:t>– Preserved success after one pathway is removed argues against that pathway's unique necessity for the task</a:t>
            </a:r>
          </a:p>
          <a:p>
            <a:r>
              <a:rPr lang="en-US" sz="1200"/>
              <a:t>– Odor concentration changed success in every treatment, with high odor giving the higher percentage. Both pathways carried useful information for the weak odor. Non-aesthetasc removal left the low-odor result equal to the intact value. Low-odor trials were the more demanding test in each treatment.</a:t>
            </a:r>
          </a:p>
          <a:p>
            <a:r>
              <a:rPr lang="en-US" sz="1200"/>
              <a:t>• Source.</a:t>
            </a:r>
          </a:p>
          <a:p>
            <a:r>
              <a:rPr lang="en-US" sz="1200"/>
              <a:t>– The figure and measurements come from Horner et al. (2004).</a:t>
            </a:r>
          </a:p>
          <a:p>
            <a:r>
              <a:rPr lang="en-US" sz="1200"/>
              <a:t/>
            </a:r>
          </a:p>
          <a:p>
            <a:r>
              <a:rPr lang="en-US" sz="1200"/>
              <a:t>References:</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Raking events per 5 s by distance band.</a:t>
            </a:r>
          </a:p>
          <a:p>
            <a:r>
              <a:rPr lang="en-US" sz="1200"/>
              <a:t>• Explanation 1.</a:t>
            </a:r>
          </a:p>
          <a:p>
            <a:r>
              <a:rPr lang="en-US" sz="1200"/>
              <a:t>– Raking averaged 3.4 events per 5 s within 7 cm of the source and 2.6 events per 5 s at 7 to 15 cm</a:t>
            </a:r>
          </a:p>
          <a:p>
            <a:r>
              <a:rPr lang="en-US" sz="1200"/>
              <a:t>– Those two distance bands contained the highest raking rates in the recorded approaches. The 7-cm band marks the closest distance at which raking was scored. Raking was counted in each band separately.</a:t>
            </a:r>
          </a:p>
          <a:p>
            <a:r>
              <a:rPr lang="en-US" sz="1200"/>
              <a:t>• Explanation 2.</a:t>
            </a:r>
          </a:p>
          <a:p>
            <a:r>
              <a:rPr lang="en-US" sz="1200"/>
              <a:t>– Between 15 and 22 cm, the average fell to 1.15 events per 5 s, a value that sits between the nearer bands and the far one</a:t>
            </a:r>
          </a:p>
          <a:p>
            <a:r>
              <a:rPr lang="en-US" sz="1200"/>
              <a:t>– Beyond 22 cm it averaged 0.1 per 5 s, a rate near zero relative to the source zone. Rates are averages of counts taken within each distance band.</a:t>
            </a:r>
          </a:p>
          <a:p>
            <a:r>
              <a:rPr lang="en-US" sz="1200"/>
              <a:t>• Explanation 3.</a:t>
            </a:r>
          </a:p>
          <a:p>
            <a:r>
              <a:rPr lang="en-US" sz="1200"/>
              <a:t>– The distance bands were 0 to 7 cm, 7 to 15 cm, 15 to 22 cm and beyond 22 cm</a:t>
            </a:r>
          </a:p>
          <a:p>
            <a:r>
              <a:rPr lang="en-US" sz="1200"/>
              <a:t>– The figure omits raking frequency, so its trajectories alone are not a direct readout of leg-receptor activity. The bands are fixed ranges from the source rather than single lobster positions. These bands are the same for every recorded approach.</a:t>
            </a:r>
          </a:p>
          <a:p>
            <a:r>
              <a:rPr lang="en-US" sz="1200"/>
              <a:t>• Source.</a:t>
            </a:r>
          </a:p>
          <a:p>
            <a:r>
              <a:rPr lang="en-US" sz="1200"/>
              <a:t>– The figure and measurements come from Moore et al. (1991).</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Mussel extract was delivered at a set rate.</a:t>
            </a:r>
          </a:p>
          <a:p>
            <a:r>
              <a:rPr lang="en-US" sz="1200"/>
              <a:t>• Explanation 1.</a:t>
            </a:r>
          </a:p>
          <a:p>
            <a:r>
              <a:rPr lang="en-US" sz="1200"/>
              <a:t>– Mussel extract was delivered at 0.5 g/L and 50 mL/min from a source 9 cm above the bottom of the arena</a:t>
            </a:r>
          </a:p>
          <a:p>
            <a:r>
              <a:rPr lang="en-US" sz="1200"/>
              <a:t>– Control trials kept the same delivery conditions but replaced the extract with raw seawater, which sets the baseline for every extract condition. The control differs from its extract trial in chemical content alone.</a:t>
            </a:r>
          </a:p>
          <a:p>
            <a:r>
              <a:rPr lang="en-US" sz="1200"/>
              <a:t>• Explanation 2.</a:t>
            </a:r>
          </a:p>
          <a:p>
            <a:r>
              <a:rPr lang="en-US" sz="1200"/>
              <a:t>– A reference grid and overhead video allowed position and heading to be measured in each walk</a:t>
            </a:r>
          </a:p>
          <a:p>
            <a:r>
              <a:rPr lang="en-US" sz="1200"/>
              <a:t>– The rostrum, the animal's anterior projection, served as the positional landmark. Its position was digitized once per second, giving a common spatial and temporal reference for all trials. Heading was measured from the same digitized positions. All walks were scored on the same grid.</a:t>
            </a:r>
          </a:p>
          <a:p>
            <a:r>
              <a:rPr lang="en-US" sz="1200"/>
              <a:t>• Explanation 3.</a:t>
            </a:r>
          </a:p>
          <a:p>
            <a:r>
              <a:rPr lang="en-US" sz="1200"/>
              <a:t>– Turbulent dilution and the animal's own movement mean the concentration at a receptor is not read directly from the source solution</a:t>
            </a:r>
          </a:p>
          <a:p>
            <a:r>
              <a:rPr lang="en-US" sz="1200"/>
              <a:t>– The source concentration differs from the fluctuating concentration reaching the animal downstream. Odor arrives as intermittent pulses rather than as a steady field, so walking animals meet a fluctuating signal. Walking animals sample a fluctuating signal rather than a steady gradient.</a:t>
            </a:r>
          </a:p>
          <a:p>
            <a:r>
              <a:rPr lang="en-US" sz="1200"/>
              <a:t>• Source.</a:t>
            </a:r>
          </a:p>
          <a:p>
            <a:r>
              <a:rPr lang="en-US" sz="1200"/>
              <a:t>– The figure and measurements come from Moore et al. (1991).</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6.png"/><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7.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9.png"/><Relationship Id="rId4"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1.png"/><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34.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2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9.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2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4CCC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200"/>
              <a:buFont typeface="Arial"/>
              <a:buNone/>
            </a:pPr>
            <a:r>
              <a:rPr b="0" i="0" lang="en-US" sz="1200">
                <a:solidFill>
                  <a:srgbClr val="743B4A"/>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800"/>
              <a:buFont typeface="Arial"/>
              <a:buNone/>
            </a:pPr>
            <a:r>
              <a:rPr b="0" i="0" lang="en-US" sz="1500">
                <a:solidFill>
                  <a:srgbClr val="743B4A"/>
                </a:solidFill>
                <a:latin typeface="Arial"/>
                <a:ea typeface="Arial"/>
                <a:cs typeface="Arial"/>
                <a:sym typeface="Arial"/>
              </a:rPr>
              <a:t>Lecture 25</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2A32"/>
              </a:buClr>
              <a:buSzPts val="2500"/>
              <a:buFont typeface="Arial"/>
              <a:buNone/>
            </a:pPr>
            <a:r>
              <a:rPr b="1" i="0" lang="en-US" sz="1500">
                <a:solidFill>
                  <a:schemeClr val="dk1"/>
                </a:solidFill>
                <a:latin typeface="Arial"/>
                <a:ea typeface="Arial"/>
                <a:cs typeface="Arial"/>
                <a:sym typeface="Arial"/>
              </a:rPr>
              <a:t>Chemoreception II: lobster olfactory search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500">
                <a:solidFill>
                  <a:srgbClr val="743B4A"/>
                </a:solidFill>
                <a:latin typeface="Arial"/>
                <a:ea typeface="Arial"/>
                <a:cs typeface="Arial"/>
                <a:sym typeface="Arial"/>
              </a:rPr>
              <a:t>Friday, October 23,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200"/>
              <a:buFont typeface="Arial"/>
              <a:buNone/>
            </a:pPr>
            <a:r>
              <a:rPr b="0" i="0" lang="en-US" sz="1500">
                <a:solidFill>
                  <a:srgbClr val="743B4A"/>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200"/>
              <a:buFont typeface="Arial"/>
              <a:buNone/>
            </a:pPr>
            <a:r>
              <a:rPr b="0" i="0" lang="en-US" sz="1500">
                <a:solidFill>
                  <a:srgbClr val="743B4A"/>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2" cy="4056906"/>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1C. Caribbean spiny lobster with its lateral antennule labeled.</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Food odor organizes source-directed walking</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600"/>
              <a:buFont typeface="Arial"/>
              <a:buNone/>
            </a:pPr>
            <a:r>
              <a:rPr b="1" i="0" lang="en-US" sz="1400">
                <a:solidFill>
                  <a:srgbClr val="743B4A"/>
                </a:solidFill>
                <a:latin typeface="Arial"/>
                <a:ea typeface="Arial"/>
                <a:cs typeface="Arial"/>
                <a:sym typeface="Arial"/>
              </a:rPr>
              <a:t>Chemoreception</a:t>
            </a:r>
            <a:r>
              <a:rPr b="0" i="0" lang="en-US" sz="1400">
                <a:solidFill>
                  <a:srgbClr val="252D35"/>
                </a:solidFill>
                <a:latin typeface="Arial"/>
                <a:ea typeface="Arial"/>
                <a:cs typeface="Arial"/>
                <a:sym typeface="Arial"/>
              </a:rPr>
              <a:t> is the detection of chemicals by sensory cells. Clawed lobsters, Homarus americanus, use dissolved food odors to orient while walking across the seabed. Moore, Scholz and Atema recorded paths toward mussel extract and paths during raw-seawater delivery. The chemical stimulus was the main difference between those two conditions. Both conditions shared the same arena and flow.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Odor-search paths had pauses, sideways movement and backward steps, yet they still progressed toward the source. Chemical stimulation changed locomotion rather than simply speeding it up or slowing it. Faster walking did not signal better searching, since odor trials were slower. Mean speed was 5.94 cm/s during odor trials and 10.81 cm/s in controls.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The detailed analysis used motivated, successful approaches, so the recorded paths describe lobsters that reached the source. Individual heading corrections in these paths show how </a:t>
            </a:r>
            <a:r>
              <a:rPr b="1" i="0" lang="en-US" sz="1400">
                <a:solidFill>
                  <a:srgbClr val="743B4A"/>
                </a:solidFill>
                <a:latin typeface="Arial"/>
                <a:ea typeface="Arial"/>
                <a:cs typeface="Arial"/>
                <a:sym typeface="Arial"/>
              </a:rPr>
              <a:t>odor input steers each step</a:t>
            </a:r>
            <a:r>
              <a:rPr b="0" i="0" lang="en-US" sz="1400">
                <a:solidFill>
                  <a:srgbClr val="252D35"/>
                </a:solidFill>
                <a:latin typeface="Arial"/>
                <a:ea typeface="Arial"/>
                <a:cs typeface="Arial"/>
                <a:sym typeface="Arial"/>
              </a:rPr>
              <a:t> of the search while the animal keeps walking. A source-search path is the sequence of positions the animal occupies, and its length, direction and speed are separate variables.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flume separates chemical input from water flow</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flume</a:t>
            </a:r>
            <a:r>
              <a:rPr b="0" i="0" lang="en-US" sz="1500">
                <a:solidFill>
                  <a:srgbClr val="252D35"/>
                </a:solidFill>
                <a:latin typeface="Arial"/>
                <a:ea typeface="Arial"/>
                <a:cs typeface="Arial"/>
                <a:sym typeface="Arial"/>
              </a:rPr>
              <a:t> is a channel that supplies controlled flowing water. Moore and colleagues tested lobsters in a 250 × 90 × 20 cm arena with a steady current of 1.0 cm/s. This setup allowed odor-guided walking to be studied under realistic flow, with the animal moving across the floor of the channel toward the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Mussel extract is a mixture of food chemicals rather than one identified ligand, so the animal receives many compounds together. Once released, the extract was carried downstream by the current, and the odor reaching the lobster depended on how the flow moved it through the arena. Its release point lay at a fixed height within the arena.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Behavioral differences were attributed to the food extract itself rather than to the current or a delivery tube alone. Because the flow was held steady across trials, the chemical stimulus was the factor that varied between conditions in each session. Each trial set odor exposure beside a control in the same arena.</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Speed and heading change during the approach</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600"/>
              <a:buFont typeface="Arial"/>
              <a:buNone/>
            </a:pPr>
            <a:r>
              <a:rPr b="1" i="0" lang="en-US" sz="1400">
                <a:solidFill>
                  <a:srgbClr val="743B4A"/>
                </a:solidFill>
                <a:latin typeface="Arial"/>
                <a:ea typeface="Arial"/>
                <a:cs typeface="Arial"/>
                <a:sym typeface="Arial"/>
              </a:rPr>
              <a:t>Heading angle</a:t>
            </a:r>
            <a:r>
              <a:rPr b="0" i="0" lang="en-US" sz="1400">
                <a:solidFill>
                  <a:srgbClr val="252D35"/>
                </a:solidFill>
                <a:latin typeface="Arial"/>
                <a:ea typeface="Arial"/>
                <a:cs typeface="Arial"/>
                <a:sym typeface="Arial"/>
              </a:rPr>
              <a:t> is the direction of the lobster's body relative to upstream. Moore and colleagues grouped recorded behavior by distance from the source, which revealed how the approach changes as the lobster nears the odor. Speed and heading were analyzed as separate measures across these distance bins, giving a view of the whole approach.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From 240 to 110 cm away, mean speed increased while heading decreased sharply, so the lobster's body pointed more nearly upstream as it approached. Between 110 and 40 cm, speed held near a steady value. Within the final 40 cm, speed fell and heading increased toward the source. Speed changes were tied to distance rather than to elapsed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Successful searching moves through distinct phases: fast, nearly straight travel far from the source, then slower movement with larger heading changes close to it. Distance changes plume structure and concentration together, so each phase matches a changing set of sensory conditions near the source. This sequence describes lobsters that reached the source, not an average over every animal.</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503" y="1280071"/>
            <a:ext cx="5166207" cy="2978051"/>
          </a:xfrm>
          <a:prstGeom prst="rect">
            <a:avLst/>
          </a:prstGeom>
          <a:noFill/>
          <a:ln>
            <a:noFill/>
          </a:ln>
        </p:spPr>
      </p:pic>
      <p:sp>
        <p:nvSpPr>
          <p:cNvPr id="63" name="Google Shape;63;p4"/>
          <p:cNvSpPr/>
          <p:nvPr/>
        </p:nvSpPr>
        <p:spPr>
          <a:xfrm>
            <a:off x="6458396" y="434965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6. Walking speed and heading versus distance from the source.</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Recorded turns do not reveal a fixed casting program</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600"/>
              <a:buFont typeface="Arial"/>
              <a:buNone/>
            </a:pPr>
            <a:r>
              <a:rPr b="1" i="0" lang="en-US" sz="1400">
                <a:solidFill>
                  <a:srgbClr val="743B4A"/>
                </a:solidFill>
                <a:latin typeface="Arial"/>
                <a:ea typeface="Arial"/>
                <a:cs typeface="Arial"/>
                <a:sym typeface="Arial"/>
              </a:rPr>
              <a:t>Turning angle</a:t>
            </a:r>
            <a:r>
              <a:rPr b="0" i="0" lang="en-US" sz="1400">
                <a:solidFill>
                  <a:srgbClr val="252D35"/>
                </a:solidFill>
                <a:latin typeface="Arial"/>
                <a:ea typeface="Arial"/>
                <a:cs typeface="Arial"/>
                <a:sym typeface="Arial"/>
              </a:rPr>
              <a:t> is the change in movement direction between successive path segments. Moore and colleagues compared heading and turn distributions across odor-search trials, testing whether a stereotyped alternating search program appears in the recorded paths. Such a program would produce consistently organized counterturns from one trial to the next. Each recorded path was scored for its heading and turn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Headings clustered near 0 to 10 degrees, and turns clustered near 10 to 20 degrees. Individual lobsters followed variable paths across repeated trials, producing an upstream bias without a characteristic path repeated at fixed intervals, even within a single animal. The distributions summarize many turns, so one lobster's sequence can still differ markedly from the average.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A simple invariant counterturn account is weakened by this variability in the recorded paths. Bilateral antennular input and water-flow information are candidate sources of the directional corrections, and sensory feedback could modify an internally generated movement sequence on each trial. The paths were recorded from individual animals, so variation within each lobster is directly visible.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Close-range searching recruits walking-leg raking</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1" i="0" lang="en-US" sz="1400">
                <a:solidFill>
                  <a:srgbClr val="743B4A"/>
                </a:solidFill>
                <a:latin typeface="Arial"/>
                <a:ea typeface="Arial"/>
                <a:cs typeface="Arial"/>
                <a:sym typeface="Arial"/>
              </a:rPr>
              <a:t>Leg raking</a:t>
            </a:r>
            <a:r>
              <a:rPr b="0" i="0" lang="en-US" sz="1400">
                <a:solidFill>
                  <a:srgbClr val="252D35"/>
                </a:solidFill>
                <a:latin typeface="Arial"/>
                <a:ea typeface="Arial"/>
                <a:cs typeface="Arial"/>
                <a:sym typeface="Arial"/>
              </a:rPr>
              <a:t> is a repeated movement that brings walking-leg sensory surfaces into contact with the local environment. Moore and colleagues measured raking at several distances from the odor source. The question was whether close-range searching involves more than antennular sampling alone. Raking events were counted in fixed five-second windows at each distance.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Raking was concentrated near the source and was nearly absent far from it. The rate fell steadily as lobsters moved away from the odor source, so most of the recorded raking occurred in the final stretch of each approach, where the animal was closest to the food. Recorded raking events were rarest beyond 22 cm.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change supports a recruitment of near-substrate sampling during final localization. The authors interpreted it as a switch from antennular guidance to leg-based guidance, while contact exploration or feeding preparation could also raise the raking rate. The paths shown in the figure are repeated source-search trajectories from individual lobsters, which provide spatial context for the raking counts.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89" name="Google Shape;89;p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Two antennular pathways can guide spiny lobsters</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Caribbean spiny lobster, </a:t>
            </a:r>
            <a:r>
              <a:rPr b="1" i="0" lang="en-US" sz="1400">
                <a:solidFill>
                  <a:srgbClr val="743B4A"/>
                </a:solidFill>
                <a:latin typeface="Arial"/>
                <a:ea typeface="Arial"/>
                <a:cs typeface="Arial"/>
                <a:sym typeface="Arial"/>
              </a:rPr>
              <a:t>Panulirus argus</a:t>
            </a:r>
            <a:r>
              <a:rPr b="0" i="0" lang="en-US" sz="1400">
                <a:solidFill>
                  <a:srgbClr val="252D35"/>
                </a:solidFill>
                <a:latin typeface="Arial"/>
                <a:ea typeface="Arial"/>
                <a:cs typeface="Arial"/>
                <a:sym typeface="Arial"/>
              </a:rPr>
              <a:t>, differs from the clawed lobster in its antennules. These carry aesthetascs, specialized olfactory hairs, together with non-aesthetasc sensilla containing other chemical and mechanical sensory neurons. Both populations offer potentially overlapping information about food odor in the water, so each could guide the search. Both populations are present on each antennule.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Horner, Weissburg and Derby tested animals of 48 to 74 mm carapace length in a 5,000-L flume with flow near 5 cm/s. Shrimp extract at two concentrations supplied high- and low-odor treatments, while seawater served as the chemical control for the same flow conditions. Carapace length defines body size in these crustaceans, and the animals spanned a wide size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Selective manipulations targeted each sensory population on both antennules. This design tested whether the remaining pathway could still guide the animal to a food source under realistic flow, rather than under a simplified stimulus that ignores the water movement. Results from the two pathways are compared to determine the contribution of each one.</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973446" y="1280071"/>
            <a:ext cx="4136768"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1A–F. Body and antennular sensory structures.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Selective lesions require distinct procedural controls</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Horner and colleagues used several interventions because sensory hairs contain different neuron types. Shaving removed nearly all aesthetascs, while removing and sealing non-aesthetasc sensilla targeted the other pathway. Each treatment was chosen to affect one sensory population, and separate controls checked each manipulation. High and low shrimp concentrations were tested against seawater.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15-min distilled-water treatment temporarily impaired antennular chemosensitivity, and its effect was reversible within about 24 h. The source sat 2 m upstream of release, and animals were offered shrimp afterward to confirm that their feeding motivation was intact. Feeding after the trial also indicated whether the animals stayed motivated to search.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Some manipulations also affected mechanoreceptors, so a failure to orient can reflect more than chemical loss. The distilled-water treatment is a </a:t>
            </a:r>
            <a:r>
              <a:rPr b="1" i="0" lang="en-US" sz="1400">
                <a:solidFill>
                  <a:srgbClr val="743B4A"/>
                </a:solidFill>
                <a:latin typeface="Arial"/>
                <a:ea typeface="Arial"/>
                <a:cs typeface="Arial"/>
                <a:sym typeface="Arial"/>
              </a:rPr>
              <a:t>nonselective impairment</a:t>
            </a:r>
            <a:r>
              <a:rPr b="0" i="0" lang="en-US" sz="1400">
                <a:solidFill>
                  <a:srgbClr val="252D35"/>
                </a:solidFill>
                <a:latin typeface="Arial"/>
                <a:ea typeface="Arial"/>
                <a:cs typeface="Arial"/>
                <a:sym typeface="Arial"/>
              </a:rPr>
              <a:t> rather than a molecular receptor knockout, which changes how its effects should be read. Mechanoreceptor loss is therefore a second, nonchemical cause of disorientation in the flume. Both effects matter when a treated lobster fails to orient.</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Either pathway can preserve food-source finding</a:t>
            </a:r>
            <a:endParaRPr sz="1800">
              <a:solidFill>
                <a:schemeClr val="dk1"/>
              </a:solidFill>
              <a:latin typeface="Calibri"/>
              <a:ea typeface="Calibri"/>
              <a:cs typeface="Calibri"/>
              <a:sym typeface="Calibri"/>
            </a:endParaRPr>
          </a:p>
        </p:txBody>
      </p:sp>
      <p:sp>
        <p:nvSpPr>
          <p:cNvPr id="126" name="Google Shape;126;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Horner and colleagues measured the proportion of lobsters reaching the odor source after </a:t>
            </a:r>
            <a:r>
              <a:rPr b="1" i="0" lang="en-US" sz="1400">
                <a:solidFill>
                  <a:srgbClr val="743B4A"/>
                </a:solidFill>
                <a:latin typeface="Arial"/>
                <a:ea typeface="Arial"/>
                <a:cs typeface="Arial"/>
                <a:sym typeface="Arial"/>
              </a:rPr>
              <a:t>selective bilateral sensory manipulation</a:t>
            </a:r>
            <a:r>
              <a:rPr b="0" i="0" lang="en-US" sz="1400">
                <a:solidFill>
                  <a:srgbClr val="252D35"/>
                </a:solidFill>
                <a:latin typeface="Arial"/>
                <a:ea typeface="Arial"/>
                <a:cs typeface="Arial"/>
                <a:sym typeface="Arial"/>
              </a:rPr>
              <a:t>. Intact animals found the high-odor source in most trials and the low-odor source less often. Seawater sources were never located, which set the chemical baseline for the whole experiment. Each success rate is a proportion of trials in which the source was located.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After aesthetasc removal, success stayed high for high odor and for low odor. Removing non-aesthetasc sensilla also preserved source finding, although success fell for the weaker odor, which shows that each pathway carried useful chemical information for the search. Non-aesthetasc removal matched intact success for the weaker odor. Results are reported for each odor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Eliminating antennular chemoreceptor input broadly produced very poor localization across the tested conditions. Either retained antennular chemical pathway can support this food-search task on its own in the flume, as the success rates show. Each retained pathway alone supported that task in the flume. Those results depend on the flume setup used.</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662887" y="1280071"/>
            <a:ext cx="4529285" cy="2925961"/>
          </a:xfrm>
          <a:prstGeom prst="rect">
            <a:avLst/>
          </a:prstGeom>
          <a:noFill/>
          <a:ln>
            <a:noFill/>
          </a:ln>
        </p:spPr>
      </p:pic>
      <p:sp>
        <p:nvSpPr>
          <p:cNvPr id="130" name="Google Shape;130;p9"/>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3. Source-finding success after selective antennular lesions.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32" name="Google Shape;132;p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Successful searching can still become less efficient</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Net-to-gross displacement ratio</a:t>
            </a:r>
            <a:r>
              <a:rPr b="0" i="0" lang="en-US" sz="1400">
                <a:solidFill>
                  <a:srgbClr val="252D35"/>
                </a:solidFill>
                <a:latin typeface="Arial"/>
                <a:ea typeface="Arial"/>
                <a:cs typeface="Arial"/>
                <a:sym typeface="Arial"/>
              </a:rPr>
              <a:t>, or NGDR, is straight-line displacement divided by total path length, so values closer to one indicate straighter routes. Horner and colleagues measured this variable separately from eventual success, together with arrival time, speed and heading of each animal. Lower NGDR values indicate paths with more turning and side-to-side movement.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At high odor concentration, NGDR was lower after either sensory manipulation than in untreated controls. Arrival times stayed short across the treatment groups, which shows that lobsters still reached the source at a similar pace even though their routes became more winding. Mean arrival times were at most 96 s for high odor and 176 s for low odor.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Remaining sensory pathways can preserve arrival while losing efficient progress. Arrival and path straightness are different properties, since a lobster can succeed after walking farther and correcting its direction more often along the way to the food. Route efficiency and arrival time are separate outcomes of the same search, and each can change on its own.</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6229955" y="1280071"/>
            <a:ext cx="5394703" cy="2849463"/>
          </a:xfrm>
          <a:prstGeom prst="rect">
            <a:avLst/>
          </a:prstGeom>
          <a:noFill/>
          <a:ln>
            <a:noFill/>
          </a:ln>
        </p:spPr>
      </p:pic>
      <p:sp>
        <p:nvSpPr>
          <p:cNvPr id="145" name="Google Shape;145;p10"/>
          <p:cNvSpPr/>
          <p:nvPr/>
        </p:nvSpPr>
        <p:spPr>
          <a:xfrm>
            <a:off x="6229796" y="4221063"/>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4A–D. Arrival time, path straightness, walking speed and heading.</a:t>
            </a:r>
            <a:endParaRPr sz="18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47" name="Google Shape;147;p1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48" name="Google Shape;148;p1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50" name="Google Shape;15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 name="Shape 154"/>
        <p:cNvGrpSpPr/>
        <p:nvPr/>
      </p:nvGrpSpPr>
      <p:grpSpPr>
        <a:xfrm>
          <a:off x="0" y="0"/>
          <a:ext cx="0" cy="0"/>
          <a:chOff x="0" y="0"/>
          <a:chExt cx="0" cy="0"/>
        </a:xfrm>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Turbulence produces patchy dissolved odor input</a:t>
            </a:r>
            <a:endParaRPr sz="1800">
              <a:solidFill>
                <a:schemeClr val="dk1"/>
              </a:solidFill>
              <a:latin typeface="Calibri"/>
              <a:ea typeface="Calibri"/>
              <a:cs typeface="Calibri"/>
              <a:sym typeface="Calibri"/>
            </a:endParaRPr>
          </a:p>
        </p:txBody>
      </p:sp>
      <p:sp>
        <p:nvSpPr>
          <p:cNvPr id="156" name="Google Shape;156;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odor plume</a:t>
            </a:r>
            <a:r>
              <a:rPr b="0" i="0" lang="en-US" sz="1400">
                <a:solidFill>
                  <a:srgbClr val="252D35"/>
                </a:solidFill>
                <a:latin typeface="Arial"/>
                <a:ea typeface="Arial"/>
                <a:cs typeface="Arial"/>
                <a:sym typeface="Arial"/>
              </a:rPr>
              <a:t> is the distribution of odor-bearing water transported downstream from a source. Reidenbach and Koehl visualized plumes with planar laser-induced fluorescence, or PLIF, in which a laser sheet excites dissolved dye and camera intensity estimates local concentration in the illuminated plane. The laser-sheet approach records a single plane at a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Their flume produced fine odor filaments separated by cleaner water. Images recorded at high frame rates resolved changes over very short intervals, and the central plume was denser than the sparse encounters found toward its edge, where filaments were thin and spread apart. Images from several lateral positions were compared in this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A smooth time-averaged concentration field hides the intermittent encounters and gaps that a moving animal samples. Dye is a transport tracer, so these images describe the physical input reaching a sensory appendage rather than receptor activation itself. Fine filaments of dye appear and vanish at a single point as the plume shifts across the flume.</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3">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 name="Shape 167"/>
        <p:cNvGrpSpPr/>
        <p:nvPr/>
      </p:nvGrpSpPr>
      <p:grpSpPr>
        <a:xfrm>
          <a:off x="0" y="0"/>
          <a:ext cx="0" cy="0"/>
          <a:chOff x="0" y="0"/>
          <a:chExt cx="0" cy="0"/>
        </a:xfrm>
      </p:grpSpPr>
      <p:sp>
        <p:nvSpPr>
          <p:cNvPr id="168" name="Google Shape;168;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Antennular length changes the sampled chemical pattern</a:t>
            </a:r>
            <a:endParaRPr sz="1800">
              <a:solidFill>
                <a:schemeClr val="dk1"/>
              </a:solidFill>
              <a:latin typeface="Calibri"/>
              <a:ea typeface="Calibri"/>
              <a:cs typeface="Calibri"/>
              <a:sym typeface="Calibri"/>
            </a:endParaRPr>
          </a:p>
        </p:txBody>
      </p:sp>
      <p:sp>
        <p:nvSpPr>
          <p:cNvPr id="169" name="Google Shape;169;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Reidenbach and Koehl placed virtual sampling lines within measured PLIF images to represent the aesthetasc-bearing portion of an antennule. Lobster and blue-crab geometries were modeled at the same height above the bed, which isolates appendage geometry from receptor sensitivity in the analysis. The crab sampler measured 2 mm in length. Both sampler shapes were placed in identical plume images.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Lobster geometry intercepted odor during more flicks and sampled higher peak concentrations than crab geometry. The lobster's longer sampling structure carried more of the plume into its path, even though each flick moved the sampler a short distance through the water. Flicking rate and geometry together set the total odor sampled by each appendage.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Longer sampling structures encounter more filaments, while faster sampling partly compensates for shorter length. These values come from real plume images analyzed under specified sampling assumptions, which fixes how the appendage's motion is represented in the calculation. Sampling assumptions include the flicking rate and the sampler's downstroke speed used in each analysis.</a:t>
            </a:r>
            <a:endParaRPr sz="1800">
              <a:solidFill>
                <a:schemeClr val="dk1"/>
              </a:solidFill>
              <a:latin typeface="Calibri"/>
              <a:ea typeface="Calibri"/>
              <a:cs typeface="Calibri"/>
              <a:sym typeface="Calibri"/>
            </a:endParaRPr>
          </a:p>
        </p:txBody>
      </p:sp>
      <p:pic>
        <p:nvPicPr>
          <p:cNvPr id="172" name="Google Shape;172;p12"/>
          <p:cNvPicPr preferRelativeResize="0"/>
          <p:nvPr/>
        </p:nvPicPr>
        <p:blipFill rotWithShape="1">
          <a:blip r:embed="rId3">
            <a:alphaModFix/>
          </a:blip>
          <a:srcRect b="0" l="0" r="0" t="0"/>
          <a:stretch/>
        </p:blipFill>
        <p:spPr>
          <a:xfrm>
            <a:off x="6458497" y="1280071"/>
            <a:ext cx="5166219" cy="4067770"/>
          </a:xfrm>
          <a:prstGeom prst="rect">
            <a:avLst/>
          </a:prstGeom>
          <a:noFill/>
          <a:ln>
            <a:noFill/>
          </a:ln>
        </p:spPr>
      </p:pic>
      <p:sp>
        <p:nvSpPr>
          <p:cNvPr id="173" name="Google Shape;173;p12"/>
          <p:cNvSpPr/>
          <p:nvPr/>
        </p:nvSpPr>
        <p:spPr>
          <a:xfrm>
            <a:off x="6458396" y="543937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5A–B. Colored plume filaments and concentration along a sampling transect.</a:t>
            </a:r>
            <a:endParaRPr sz="1800">
              <a:solidFill>
                <a:schemeClr val="dk1"/>
              </a:solidFill>
              <a:latin typeface="Calibri"/>
              <a:ea typeface="Calibri"/>
              <a:cs typeface="Calibri"/>
              <a:sym typeface="Calibri"/>
            </a:endParaRPr>
          </a:p>
        </p:txBody>
      </p:sp>
      <p:sp>
        <p:nvSpPr>
          <p:cNvPr id="174" name="Google Shape;174;p1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76" name="Google Shape;176;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Discrete sniffing changes the gaps between encounters</a:t>
            </a:r>
            <a:endParaRPr sz="1800">
              <a:solidFill>
                <a:schemeClr val="dk1"/>
              </a:solidFill>
              <a:latin typeface="Calibri"/>
              <a:ea typeface="Calibri"/>
              <a:cs typeface="Calibri"/>
              <a:sym typeface="Calibri"/>
            </a:endParaRPr>
          </a:p>
        </p:txBody>
      </p:sp>
      <p:sp>
        <p:nvSpPr>
          <p:cNvPr id="182" name="Google Shape;182;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odor-free gap</a:t>
            </a:r>
            <a:r>
              <a:rPr b="0" i="0" lang="en-US" sz="1400">
                <a:solidFill>
                  <a:srgbClr val="252D35"/>
                </a:solidFill>
                <a:latin typeface="Arial"/>
                <a:ea typeface="Arial"/>
                <a:cs typeface="Arial"/>
                <a:sym typeface="Arial"/>
              </a:rPr>
              <a:t> is an interval without an encounter above the chosen detection threshold. Reidenbach and Koehl compared continuous concentration measurements with the concentrations met by virtual flicking antennules, using the same plume records for both sampling schemes in the analysis. A sensor sampling at discrete times can miss filaments that pass between samples.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Almost all gaps in continuously measured concentration were shorter than 500 ms throughout the sampled plume. Flicking antennules met longer gaps, and those gaps grew as downstream distance to the source decreased, so the sampling schedule changed the input statistics. Longer gaps appeared more often in the intermittent record than in the continuous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Encounter frequency changes with distance in this physical model, so it reflects plume transport, detection threshold and flicking geometry together. It works as a timing cue rather than a fixed ruler of distance, and its value depends on the sampling schedule of the animal. Each sampling schedule produces its own gap statistics from the same plume.</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3">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Antennules and legs encounter different gradients</a:t>
            </a:r>
            <a:endParaRPr sz="1800">
              <a:solidFill>
                <a:schemeClr val="dk1"/>
              </a:solidFill>
              <a:latin typeface="Calibri"/>
              <a:ea typeface="Calibri"/>
              <a:cs typeface="Calibri"/>
              <a:sym typeface="Calibri"/>
            </a:endParaRPr>
          </a:p>
        </p:txBody>
      </p:sp>
      <p:sp>
        <p:nvSpPr>
          <p:cNvPr id="195" name="Google Shape;195;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Near the seabed, transport and mixing differ from conditions several centimeters above it. Reidenbach and Koehl sampled chemistry at antennular height and at walking-leg height, so the two surfaces could be modeled separately within the same downstream plume. Sensory surfaces at different heights receive different chemical input from the same plume. Sampling heights were set at the two levels.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Mean concentrations sampled near the bed increased toward the source, while mean concentrations sampled higher by flicking antennules decreased toward it. Variance was also lower near the bed across the downstream positions measured, which spanned roughly one to two and a half meters. The plume was sampled at several downstream distances from the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same source produces different patterns for antennules and legs. Close-range leg sampling and distant antennular sampling therefore supply different information, which makes the rise in raking near the source a plausible match to the bed-level signal. The behavioral and transport measurements involve different species and experimental arrangements. Their link remains an interpretation.</a:t>
            </a:r>
            <a:endParaRPr sz="1800">
              <a:solidFill>
                <a:schemeClr val="dk1"/>
              </a:solidFill>
              <a:latin typeface="Calibri"/>
              <a:ea typeface="Calibri"/>
              <a:cs typeface="Calibri"/>
              <a:sym typeface="Calibri"/>
            </a:endParaRPr>
          </a:p>
        </p:txBody>
      </p:sp>
      <p:pic>
        <p:nvPicPr>
          <p:cNvPr id="198" name="Google Shape;198;p14"/>
          <p:cNvPicPr preferRelativeResize="0"/>
          <p:nvPr/>
        </p:nvPicPr>
        <p:blipFill rotWithShape="1">
          <a:blip r:embed="rId3">
            <a:alphaModFix/>
          </a:blip>
          <a:srcRect b="0" l="0" r="0" t="0"/>
          <a:stretch/>
        </p:blipFill>
        <p:spPr>
          <a:xfrm>
            <a:off x="6458564" y="1280071"/>
            <a:ext cx="5166085" cy="2195513"/>
          </a:xfrm>
          <a:prstGeom prst="rect">
            <a:avLst/>
          </a:prstGeom>
          <a:noFill/>
          <a:ln>
            <a:noFill/>
          </a:ln>
        </p:spPr>
      </p:pic>
      <p:sp>
        <p:nvSpPr>
          <p:cNvPr id="199" name="Google Shape;199;p14"/>
          <p:cNvSpPr/>
          <p:nvPr/>
        </p:nvSpPr>
        <p:spPr>
          <a:xfrm>
            <a:off x="6458396" y="3567113"/>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8A–D. Encountered concentrations versus source distance.</a:t>
            </a:r>
            <a:endParaRPr sz="1800">
              <a:solidFill>
                <a:schemeClr val="dk1"/>
              </a:solidFill>
              <a:latin typeface="Calibri"/>
              <a:ea typeface="Calibri"/>
              <a:cs typeface="Calibri"/>
              <a:sym typeface="Calibri"/>
            </a:endParaRPr>
          </a:p>
        </p:txBody>
      </p:sp>
      <p:sp>
        <p:nvSpPr>
          <p:cNvPr id="200" name="Google Shape;200;p1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 Moore et al. (1991)</a:t>
            </a:r>
            <a:endParaRPr sz="1800">
              <a:solidFill>
                <a:schemeClr val="dk1"/>
              </a:solidFill>
              <a:latin typeface="Calibri"/>
              <a:ea typeface="Calibri"/>
              <a:cs typeface="Calibri"/>
              <a:sym typeface="Calibri"/>
            </a:endParaRPr>
          </a:p>
        </p:txBody>
      </p:sp>
      <p:sp>
        <p:nvSpPr>
          <p:cNvPr id="202" name="Google Shape;20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sp>
        <p:nvSpPr>
          <p:cNvPr id="207" name="Google Shape;20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Aesthetasc arrays organize the olfactory interface</a:t>
            </a:r>
            <a:endParaRPr sz="1800">
              <a:solidFill>
                <a:schemeClr val="dk1"/>
              </a:solidFill>
              <a:latin typeface="Calibri"/>
              <a:ea typeface="Calibri"/>
              <a:cs typeface="Calibri"/>
              <a:sym typeface="Calibri"/>
            </a:endParaRPr>
          </a:p>
        </p:txBody>
      </p:sp>
      <p:sp>
        <p:nvSpPr>
          <p:cNvPr id="208" name="Google Shape;208;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Aesthetascs</a:t>
            </a:r>
            <a:r>
              <a:rPr b="0" i="0" lang="en-US" sz="1400">
                <a:solidFill>
                  <a:srgbClr val="252D35"/>
                </a:solidFill>
                <a:latin typeface="Arial"/>
                <a:ea typeface="Arial"/>
                <a:cs typeface="Arial"/>
                <a:sym typeface="Arial"/>
              </a:rPr>
              <a:t> are thin-walled sensory hairs carrying the outer dendrites of olfactory receptor neurons. On a Panulirus lateral antennular flagellum, they occur in repeated rows bordered by larger guard hairs, forming a structured array rather than a uniformly exposed sensory surface. Guard hairs mark the edges of each row. Each row contains many aesthetascs.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Reidenbach, George and Koehl measured the biological geometry of these hairs before building physical models of them. The hairs sit at an offset angle, so the orientation of the appendage changes how water enters the gaps between neighboring hairs during each movement. Scanning electron micrographs show the rows and guard hairs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Chemical detection requires molecules to reach this sensory interface before membrane receptors can respond. Guard-hair function is tested through flow measurements in the model, rather than inferred from the protective look of the structure alone. Microscopy establishes dimensions and arrangement, which the physical model reproduces at a larger scale in mineral oil.</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3">
            <a:alphaModFix/>
          </a:blip>
          <a:srcRect b="0" l="0" r="0" t="0"/>
          <a:stretch/>
        </p:blipFill>
        <p:spPr>
          <a:xfrm>
            <a:off x="7996463" y="1280071"/>
            <a:ext cx="2090584" cy="4297561"/>
          </a:xfrm>
          <a:prstGeom prst="rect">
            <a:avLst/>
          </a:prstGeom>
          <a:noFill/>
          <a:ln>
            <a:noFill/>
          </a:ln>
        </p:spPr>
      </p:pic>
      <p:sp>
        <p:nvSpPr>
          <p:cNvPr id="212" name="Google Shape;212;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1A–C. Spiny lobster photograph and antennular scanning electron micrographs.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Scaled physical models isolate hair-array hydrodynamics</a:t>
            </a:r>
            <a:endParaRPr sz="1800">
              <a:solidFill>
                <a:schemeClr val="dk1"/>
              </a:solidFill>
              <a:latin typeface="Calibri"/>
              <a:ea typeface="Calibri"/>
              <a:cs typeface="Calibri"/>
              <a:sym typeface="Calibri"/>
            </a:endParaRPr>
          </a:p>
        </p:txBody>
      </p:sp>
      <p:sp>
        <p:nvSpPr>
          <p:cNvPr id="221" name="Google Shape;22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a:t>
            </a:r>
            <a:r>
              <a:rPr b="1" i="0" lang="en-US" sz="1400">
                <a:solidFill>
                  <a:srgbClr val="743B4A"/>
                </a:solidFill>
                <a:latin typeface="Arial"/>
                <a:ea typeface="Arial"/>
                <a:cs typeface="Arial"/>
                <a:sym typeface="Arial"/>
              </a:rPr>
              <a:t>dynamically scaled model</a:t>
            </a:r>
            <a:r>
              <a:rPr b="0" i="0" lang="en-US" sz="1400">
                <a:solidFill>
                  <a:srgbClr val="252D35"/>
                </a:solidFill>
                <a:latin typeface="Arial"/>
                <a:ea typeface="Arial"/>
                <a:cs typeface="Arial"/>
                <a:sym typeface="Arial"/>
              </a:rPr>
              <a:t> reproduces the balance of fluid forces despite enlarged structures and a different fluid. Reidenbach and colleagues built glass-rod hair arrays in mineral oil and matched the Reynolds number, the ratio of inertial to viscous effects that governs how the fluid moves. Hair arrays were built at enlarged size in the laboratory.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Particle-image velocimetry, or PIV, tracked suspended particles between images to measure fluid velocity around and between the hairs. The investigators varied orientation, speed and guard-hair presence while the rest of the setup stayed fixed, so each change had a single cause. The model was built from measured biological dimensions and flicking motions.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These controlled changes reveal mechanical causes of water exchange that are difficult to measure inside a living hair array. The model contains no sensory neurons and measures no ligand binding, so its results describe the delivery conditions that can influence olfaction. The physical model stands in for a living antennule, with each result tied to the delivery conditions it reproduces.</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7959642" y="1280071"/>
            <a:ext cx="1935477" cy="2925961"/>
          </a:xfrm>
          <a:prstGeom prst="rect">
            <a:avLst/>
          </a:prstGeom>
          <a:noFill/>
          <a:ln>
            <a:noFill/>
          </a:ln>
        </p:spPr>
      </p:pic>
      <p:pic>
        <p:nvPicPr>
          <p:cNvPr id="226" name="Google Shape;226;p16"/>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27" name="Google Shape;22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28" name="Google Shape;228;p1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30" name="Google Shape;23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fast downstroke replaces water between hairs</a:t>
            </a:r>
            <a:endParaRPr sz="1800">
              <a:solidFill>
                <a:schemeClr val="dk1"/>
              </a:solidFill>
              <a:latin typeface="Calibri"/>
              <a:ea typeface="Calibri"/>
              <a:cs typeface="Calibri"/>
              <a:sym typeface="Calibri"/>
            </a:endParaRPr>
          </a:p>
        </p:txBody>
      </p:sp>
      <p:sp>
        <p:nvSpPr>
          <p:cNvPr id="236" name="Google Shape;236;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antennular flick</a:t>
            </a:r>
            <a:r>
              <a:rPr b="0" i="0" lang="en-US" sz="1400">
                <a:solidFill>
                  <a:srgbClr val="252D35"/>
                </a:solidFill>
                <a:latin typeface="Arial"/>
                <a:ea typeface="Arial"/>
                <a:cs typeface="Arial"/>
                <a:sym typeface="Arial"/>
              </a:rPr>
              <a:t> consists of a fast downward movement followed by a slower return. In the scaled model, PIV measured water velocity inside the hair array during the downstroke. The color map reports velocity rather than chemical concentration or neural activity, so it shows the delivery of water alone. Each flick is a separate delivery event.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During the fast movement, water penetrated the aesthetasc gaps and replaced the previously retained sample. Measured velocity profiles were comparatively uniform across the array, showing that the whole hair field exchanged its water together rather than in one local patch. High-speed recordings placed downstroke motion near an aesthetasc Reynolds number of 2, while return motion sat near 0.5.</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Mechanical movement of the organ sets when new water reaches the receptors, before any receptor opens. Fresh water entering the gaps delivers new odor molecules to the sensory surface, and the timing of that delivery follows the flick. Its timing is set by the movement of the appendage rather than by the plume alone.</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3">
            <a:alphaModFix/>
          </a:blip>
          <a:srcRect b="0" l="0" r="0" t="0"/>
          <a:stretch/>
        </p:blipFill>
        <p:spPr>
          <a:xfrm>
            <a:off x="7886744" y="1280071"/>
            <a:ext cx="2081572" cy="2925961"/>
          </a:xfrm>
          <a:prstGeom prst="rect">
            <a:avLst/>
          </a:prstGeom>
          <a:noFill/>
          <a:ln>
            <a:noFill/>
          </a:ln>
        </p:spPr>
      </p:pic>
      <p:pic>
        <p:nvPicPr>
          <p:cNvPr id="241" name="Google Shape;241;p17"/>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slow return retains a chemical sample</a:t>
            </a:r>
            <a:endParaRPr sz="1800">
              <a:solidFill>
                <a:schemeClr val="dk1"/>
              </a:solidFill>
              <a:latin typeface="Calibri"/>
              <a:ea typeface="Calibri"/>
              <a:cs typeface="Calibri"/>
              <a:sym typeface="Calibri"/>
            </a:endParaRPr>
          </a:p>
        </p:txBody>
      </p:sp>
      <p:sp>
        <p:nvSpPr>
          <p:cNvPr id="251" name="Google Shape;25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Leakiness</a:t>
            </a:r>
            <a:r>
              <a:rPr b="0" i="0" lang="en-US" sz="1400">
                <a:solidFill>
                  <a:srgbClr val="252D35"/>
                </a:solidFill>
                <a:latin typeface="Arial"/>
                <a:ea typeface="Arial"/>
                <a:cs typeface="Arial"/>
                <a:sym typeface="Arial"/>
              </a:rPr>
              <a:t> describes how much water passes through a hair array rather than around it. Reidenbach and colleagues compared measured downstroke and return-stroke flow, finding that the slower return reduced penetration and kept water near the hairs for longer. The downstroke and return were compared as two phases of one flick. Both phases are part of the same movement cycle.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Return motion was about one-quarter of downstroke speed, yet water between the hairs moved about 25 times more slowly. Slowing the appendage alters array permeability far more than it alters the appendage's own movement, which makes the return stroke a sampling phase in its own right. The effect is measured as a difference in flow between the two strokes.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A slow return keeps captured water beside the aesthetasc surfaces, which gives molecules time to move toward the sensory layer before the next downstroke. The retained sample therefore sits in place long enough for chemical contact to occur. Water that moves through the array carries dissolved molecules into the gaps. The effect is physical and happens before any receptor responds.</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3">
            <a:alphaModFix/>
          </a:blip>
          <a:srcRect b="0" l="0" r="0" t="0"/>
          <a:stretch/>
        </p:blipFill>
        <p:spPr>
          <a:xfrm>
            <a:off x="7963535" y="1280071"/>
            <a:ext cx="1927692" cy="2925961"/>
          </a:xfrm>
          <a:prstGeom prst="rect">
            <a:avLst/>
          </a:prstGeom>
          <a:noFill/>
          <a:ln>
            <a:noFill/>
          </a:ln>
        </p:spPr>
      </p:pic>
      <p:pic>
        <p:nvPicPr>
          <p:cNvPr id="256" name="Google Shape;256;p1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 name="Shape 264"/>
        <p:cNvGrpSpPr/>
        <p:nvPr/>
      </p:nvGrpSpPr>
      <p:grpSpPr>
        <a:xfrm>
          <a:off x="0" y="0"/>
          <a:ext cx="0" cy="0"/>
          <a:chOff x="0" y="0"/>
          <a:chExt cx="0" cy="0"/>
        </a:xfrm>
      </p:grpSpPr>
      <p:sp>
        <p:nvSpPr>
          <p:cNvPr id="265" name="Google Shape;26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Hair orientation and guard hairs alter delivery</a:t>
            </a:r>
            <a:endParaRPr sz="1800">
              <a:solidFill>
                <a:schemeClr val="dk1"/>
              </a:solidFill>
              <a:latin typeface="Calibri"/>
              <a:ea typeface="Calibri"/>
              <a:cs typeface="Calibri"/>
              <a:sym typeface="Calibri"/>
            </a:endParaRPr>
          </a:p>
        </p:txBody>
      </p:sp>
      <p:sp>
        <p:nvSpPr>
          <p:cNvPr id="266" name="Google Shape;266;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shape and orientation of an aesthetasc array determine how incident water moves through it. Reidenbach and colleagues measured the observed zigzag orientation, offset by about 32 degrees, alongside a zero-degree arrangement. They also measured arrays with and without the surrounding guard hairs in place. Both arrangements were tested in the same model flow.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observed orientation produced relatively uniform water penetration during the flick. Removing the guard hairs changed the spatial velocity profile, which reveals a hydrodynamic contribution beyond any protective role that these hairs might play for the animal. The uniform penetration occurs across the whole array rather than through a few gaps. The profile is measured, not inferred.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findings link anatomical arrangement to the distribution of a fresh sensory sample across the array. Diffusion, receptor activation and central interpretation determine what follows from that sample, and the model measured none of them directly. Guard hairs change the water entering each array, which links structure to delivery. Those effects are physical rather than neural.</a:t>
            </a:r>
            <a:endParaRPr sz="1800">
              <a:solidFill>
                <a:schemeClr val="dk1"/>
              </a:solidFill>
              <a:latin typeface="Calibri"/>
              <a:ea typeface="Calibri"/>
              <a:cs typeface="Calibri"/>
              <a:sym typeface="Calibri"/>
            </a:endParaRPr>
          </a:p>
        </p:txBody>
      </p:sp>
      <p:pic>
        <p:nvPicPr>
          <p:cNvPr id="269" name="Google Shape;269;p19"/>
          <p:cNvPicPr preferRelativeResize="0"/>
          <p:nvPr/>
        </p:nvPicPr>
        <p:blipFill rotWithShape="1">
          <a:blip r:embed="rId3">
            <a:alphaModFix/>
          </a:blip>
          <a:srcRect b="0" l="0" r="0" t="0"/>
          <a:stretch/>
        </p:blipFill>
        <p:spPr>
          <a:xfrm>
            <a:off x="7086500" y="1280071"/>
            <a:ext cx="3681761" cy="2925961"/>
          </a:xfrm>
          <a:prstGeom prst="rect">
            <a:avLst/>
          </a:prstGeom>
          <a:noFill/>
          <a:ln>
            <a:noFill/>
          </a:ln>
        </p:spPr>
      </p:pic>
      <p:sp>
        <p:nvSpPr>
          <p:cNvPr id="270" name="Google Shape;270;p1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6. Measured flow through a zigzag array in its observed orientation.</a:t>
            </a:r>
            <a:endParaRPr sz="1800">
              <a:solidFill>
                <a:schemeClr val="dk1"/>
              </a:solidFill>
              <a:latin typeface="Calibri"/>
              <a:ea typeface="Calibri"/>
              <a:cs typeface="Calibri"/>
              <a:sym typeface="Calibri"/>
            </a:endParaRPr>
          </a:p>
        </p:txBody>
      </p:sp>
      <p:pic>
        <p:nvPicPr>
          <p:cNvPr id="271" name="Google Shape;271;p19"/>
          <p:cNvPicPr preferRelativeResize="0"/>
          <p:nvPr/>
        </p:nvPicPr>
        <p:blipFill rotWithShape="1">
          <a:blip r:embed="rId4">
            <a:alphaModFix/>
          </a:blip>
          <a:srcRect b="0" l="0" r="0" t="0"/>
          <a:stretch/>
        </p:blipFill>
        <p:spPr>
          <a:xfrm>
            <a:off x="8526959" y="4754776"/>
            <a:ext cx="800993" cy="1005751"/>
          </a:xfrm>
          <a:prstGeom prst="rect">
            <a:avLst/>
          </a:prstGeom>
          <a:noFill/>
          <a:ln>
            <a:noFill/>
          </a:ln>
        </p:spPr>
      </p:pic>
      <p:sp>
        <p:nvSpPr>
          <p:cNvPr id="272" name="Google Shape;272;p1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7A–C. Hair-array photographs and measured velocity with guard hairs present or removed.</a:t>
            </a:r>
            <a:endParaRPr sz="1800">
              <a:solidFill>
                <a:schemeClr val="dk1"/>
              </a:solidFill>
              <a:latin typeface="Calibri"/>
              <a:ea typeface="Calibri"/>
              <a:cs typeface="Calibri"/>
              <a:sym typeface="Calibri"/>
            </a:endParaRPr>
          </a:p>
        </p:txBody>
      </p:sp>
      <p:sp>
        <p:nvSpPr>
          <p:cNvPr id="273" name="Google Shape;273;p1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75" name="Google Shape;27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Published video directly reveals lobster sniffing</a:t>
            </a:r>
            <a:endParaRPr sz="1800">
              <a:solidFill>
                <a:schemeClr val="dk1"/>
              </a:solidFill>
              <a:latin typeface="Calibri"/>
              <a:ea typeface="Calibri"/>
              <a:cs typeface="Calibri"/>
              <a:sym typeface="Calibri"/>
            </a:endParaRPr>
          </a:p>
        </p:txBody>
      </p:sp>
      <p:sp>
        <p:nvSpPr>
          <p:cNvPr id="281" name="Google Shape;281;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Koehl and colleagues programmed a mechanical lobster to flick real Panulirus antennules within a fluorescent dye plume. The preparation kept the biological hair array while the movement was controlled, and dye from a benthic source stood in for food chemicals carried by the current. The dye marked where the plume's water traveled.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High-speed frames show dye parcels entering the array during the rapid downstroke. During the slower return, dye stayed trapped between the hairs while the surrounding plume kept moving, and the next downstroke shed that sample and captured another from the plume. Parcels of dye were visible as they moved into and out of the array.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frames show discrete water sampling rather than continuous exposure to ambient concentration. Fluorescent dye tracks transported water and solute, but it records no receptor binding, and the mechanical preparation omits the feedback an intact animal uses to adjust its flicks. A mechanically driven flick is simpler than an animal's own flicking behavior.</a:t>
            </a:r>
            <a:endParaRPr sz="1800">
              <a:solidFill>
                <a:schemeClr val="dk1"/>
              </a:solidFill>
              <a:latin typeface="Calibri"/>
              <a:ea typeface="Calibri"/>
              <a:cs typeface="Calibri"/>
              <a:sym typeface="Calibri"/>
            </a:endParaRPr>
          </a:p>
        </p:txBody>
      </p:sp>
      <p:pic>
        <p:nvPicPr>
          <p:cNvPr id="284" name="Google Shape;284;p20"/>
          <p:cNvPicPr preferRelativeResize="0"/>
          <p:nvPr/>
        </p:nvPicPr>
        <p:blipFill rotWithShape="1">
          <a:blip r:embed="rId3">
            <a:alphaModFix/>
          </a:blip>
          <a:srcRect b="0" l="0" r="0" t="0"/>
          <a:stretch/>
        </p:blipFill>
        <p:spPr>
          <a:xfrm>
            <a:off x="6458755" y="1280071"/>
            <a:ext cx="5165703" cy="1070967"/>
          </a:xfrm>
          <a:prstGeom prst="rect">
            <a:avLst/>
          </a:prstGeom>
          <a:noFill/>
          <a:ln>
            <a:noFill/>
          </a:ln>
        </p:spPr>
      </p:pic>
      <p:sp>
        <p:nvSpPr>
          <p:cNvPr id="285" name="Google Shape;285;p20"/>
          <p:cNvSpPr/>
          <p:nvPr/>
        </p:nvSpPr>
        <p:spPr>
          <a:xfrm>
            <a:off x="6458396" y="244256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1A–D. Original video frames of dye capture and retention during flicking.</a:t>
            </a:r>
            <a:endParaRPr sz="1800">
              <a:solidFill>
                <a:schemeClr val="dk1"/>
              </a:solidFill>
              <a:latin typeface="Calibri"/>
              <a:ea typeface="Calibri"/>
              <a:cs typeface="Calibri"/>
              <a:sym typeface="Calibri"/>
            </a:endParaRPr>
          </a:p>
        </p:txBody>
      </p:sp>
      <p:sp>
        <p:nvSpPr>
          <p:cNvPr id="286" name="Google Shape;286;p2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288" name="Google Shape;28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captured sample preserves spatial information briefly</a:t>
            </a:r>
            <a:endParaRPr sz="1800">
              <a:solidFill>
                <a:schemeClr val="dk1"/>
              </a:solidFill>
              <a:latin typeface="Calibri"/>
              <a:ea typeface="Calibri"/>
              <a:cs typeface="Calibri"/>
              <a:sym typeface="Calibri"/>
            </a:endParaRPr>
          </a:p>
        </p:txBody>
      </p:sp>
      <p:sp>
        <p:nvSpPr>
          <p:cNvPr id="294" name="Google Shape;294;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Koehl and colleagues measured concentration along the aesthetasc-bearing section of the antennule through successive video frames. Their spatiotemporal map places position on one axis and time on the other, with color showing dye concentration at each point along the appendage. Successive frames trace the same positions as the flicks proceed. The map covers the aesthetasc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spatial pattern changed during rapid downstrokes and stayed comparatively stable during the slower return and stationary intervals. Dye spread along the antennule during acquisition, so the captured pattern was altered from the original plume it came from. The dye pattern changed most during the downstroke, when the appendage moved fastest. The change was visible in consecutive frames.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Sampling both retains and filters information before any neuron responds. A spatially uneven retained sample could drive different sensory endings to different degrees, which makes spatial structure part of the input the animal receives. The retained pattern is a physical product of the flick. The retained pattern shapes what later neurons can encode.</a:t>
            </a:r>
            <a:endParaRPr sz="1800">
              <a:solidFill>
                <a:schemeClr val="dk1"/>
              </a:solidFill>
              <a:latin typeface="Calibri"/>
              <a:ea typeface="Calibri"/>
              <a:cs typeface="Calibri"/>
              <a:sym typeface="Calibri"/>
            </a:endParaRPr>
          </a:p>
        </p:txBody>
      </p:sp>
      <p:pic>
        <p:nvPicPr>
          <p:cNvPr id="297" name="Google Shape;297;p21"/>
          <p:cNvPicPr preferRelativeResize="0"/>
          <p:nvPr/>
        </p:nvPicPr>
        <p:blipFill rotWithShape="1">
          <a:blip r:embed="rId3">
            <a:alphaModFix/>
          </a:blip>
          <a:srcRect b="0" l="0" r="0" t="0"/>
          <a:stretch/>
        </p:blipFill>
        <p:spPr>
          <a:xfrm>
            <a:off x="6458495" y="1280071"/>
            <a:ext cx="5166223" cy="1914079"/>
          </a:xfrm>
          <a:prstGeom prst="rect">
            <a:avLst/>
          </a:prstGeom>
          <a:noFill/>
          <a:ln>
            <a:noFill/>
          </a:ln>
        </p:spPr>
      </p:pic>
      <p:sp>
        <p:nvSpPr>
          <p:cNvPr id="298" name="Google Shape;298;p21"/>
          <p:cNvSpPr/>
          <p:nvPr/>
        </p:nvSpPr>
        <p:spPr>
          <a:xfrm>
            <a:off x="6458396" y="3285679"/>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2. Measured spatial dye pattern retained between successive flicks.</a:t>
            </a:r>
            <a:endParaRPr sz="1800">
              <a:solidFill>
                <a:schemeClr val="dk1"/>
              </a:solidFill>
              <a:latin typeface="Calibri"/>
              <a:ea typeface="Calibri"/>
              <a:cs typeface="Calibri"/>
              <a:sym typeface="Calibri"/>
            </a:endParaRPr>
          </a:p>
        </p:txBody>
      </p:sp>
      <p:sp>
        <p:nvSpPr>
          <p:cNvPr id="299" name="Google Shape;299;p2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301" name="Google Shape;30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Ionotropic-receptor genes occur in olfactory neurons</a:t>
            </a:r>
            <a:endParaRPr sz="1800">
              <a:solidFill>
                <a:schemeClr val="dk1"/>
              </a:solidFill>
              <a:latin typeface="Calibri"/>
              <a:ea typeface="Calibri"/>
              <a:cs typeface="Calibri"/>
              <a:sym typeface="Calibri"/>
            </a:endParaRPr>
          </a:p>
        </p:txBody>
      </p:sp>
      <p:sp>
        <p:nvSpPr>
          <p:cNvPr id="307" name="Google Shape;307;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Ionotropic receptors</a:t>
            </a:r>
            <a:r>
              <a:rPr b="0" i="0" lang="en-US" sz="1400">
                <a:solidFill>
                  <a:srgbClr val="252D35"/>
                </a:solidFill>
                <a:latin typeface="Arial"/>
                <a:ea typeface="Arial"/>
                <a:cs typeface="Arial"/>
                <a:sym typeface="Arial"/>
              </a:rPr>
              <a:t>, or IRs, are chemosensory proteins related to ionotropic glutamate receptors, a family of ligand-gated membrane channels. Corey and colleagues identified candidate IR sequences in Panulirus olfactory tissue and used in situ hybridization to locate their RNA within sensory cells. Antisense probes detect complementary target RNA, while sense probes supplied negative controls for nonspecific staining.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IR25a and IR93a signals were broad, appearing in most olfactory receptor neurons. IR8a and another candidate showed narrower expression across the sampled cells. Shared components therefore appear in most neurons, while more variable candidates appear in only some cells, a shared core with variable additions. Those two candidates were the most restricted.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These findings support an IR-based molecular architecture in lobster olfaction. Expression data narrow the candidate list, and functional tests identify the ligand of each candidate receptor. Protein and channel recordings then link those RNA patterns to odor function in the cell, and each receptor needs its own separate functional test in situ.</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3">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8" name="Shape 318"/>
        <p:cNvGrpSpPr/>
        <p:nvPr/>
      </p:nvGrpSpPr>
      <p:grpSpPr>
        <a:xfrm>
          <a:off x="0" y="0"/>
          <a:ext cx="0" cy="0"/>
          <a:chOff x="0" y="0"/>
          <a:chExt cx="0" cy="0"/>
        </a:xfrm>
      </p:grpSpPr>
      <p:sp>
        <p:nvSpPr>
          <p:cNvPr id="319" name="Google Shape;31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Receptor protein reaches the sensory dendrites</a:t>
            </a:r>
            <a:endParaRPr sz="1800">
              <a:solidFill>
                <a:schemeClr val="dk1"/>
              </a:solidFill>
              <a:latin typeface="Calibri"/>
              <a:ea typeface="Calibri"/>
              <a:cs typeface="Calibri"/>
              <a:sym typeface="Calibri"/>
            </a:endParaRPr>
          </a:p>
        </p:txBody>
      </p:sp>
      <p:sp>
        <p:nvSpPr>
          <p:cNvPr id="320" name="Google Shape;320;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RNA expression shows where a gene is active, but the location of the protein requires its own test. Corey and colleagues used an antibody against IR25a to localize the protein. Cross-sections through distal aesthetasc hairs gave access to the outer dendrites, where transported odorants first approach olfactory neurons. Protein staining answers a separate question.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IR25a immunofluorescence appeared within the dendritic profiles. Sections stained without the primary antibody served as a background control, and an antibody against an Ih-channel protein provided a separate neuronal comparison. Western blots detected a band near the predicted molecular mass of about 100 kDa. Blots and staining used separate samples and methods, which strengthens the identification.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Biochemical detection and dendritic staining together place a candidate receptor component at a plausible transduction site. Antibody specificity, membrane localization and odor-evoked current are separate lines of evidence, each establishing a different property of the channel. Immunolabeling reveals where the protein is present in the tissue, not whether it forms an open channel.</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6458702" y="1280071"/>
            <a:ext cx="5165808" cy="1681311"/>
          </a:xfrm>
          <a:prstGeom prst="rect">
            <a:avLst/>
          </a:prstGeom>
          <a:noFill/>
          <a:ln>
            <a:noFill/>
          </a:ln>
        </p:spPr>
      </p:pic>
      <p:sp>
        <p:nvSpPr>
          <p:cNvPr id="324" name="Google Shape;324;p23"/>
          <p:cNvSpPr/>
          <p:nvPr/>
        </p:nvSpPr>
        <p:spPr>
          <a:xfrm>
            <a:off x="6458396" y="305291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Neighboring sensory cells differ in chemical selectivity</a:t>
            </a:r>
            <a:endParaRPr sz="1800">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Corey and colleagues loaded sensory-cell clusters with a calcium-sensitive dye and applied different chemical stimuli. Calcium imaging reports changes in intracellular calcium through changing fluorescence, and it records many cells at once rather than one neuron at a time. Each single cell was scored separately for every chemical in the stimulus set.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stimulus set included food extract, arginine and glutamate at 1 mM for the amino-acid tests. Neighboring cells showed different response profiles across this stimulus set, and a heat map displays that heterogeneity cell by cell rather than as one shared cluster response. Individual cells responded to some stimuli and not others. Those contrasts appeared within a single cluster.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responses establish chemical selectivity at the cellular level, even though common IR components are broadly expressed. Expression and physiology together motivate receptor tests, which identify the ligand that each receptor recognizes in the cell. Fluorescence amplitude is an indirect indicator of activity rather than a direct current measure. Expression patterns motivate the receptor experiments that follow.</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Single-cell sequencing resolves receptor coexpression</a:t>
            </a:r>
            <a:endParaRPr sz="1800">
              <a:solidFill>
                <a:schemeClr val="dk1"/>
              </a:solidFill>
              <a:latin typeface="Calibri"/>
              <a:ea typeface="Calibri"/>
              <a:cs typeface="Calibri"/>
              <a:sym typeface="Calibri"/>
            </a:endParaRPr>
          </a:p>
        </p:txBody>
      </p:sp>
      <p:sp>
        <p:nvSpPr>
          <p:cNvPr id="348" name="Google Shape;348;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Whole-organ sequencing combines RNA from sensory neurons, support cells and other tissue. Kozma and colleagues instead collected individual fluorescently identified olfactory sensory neurons for single-cell transcriptomics, sequencing the expressed RNA of each cell separately from the others. Fluorescent identification ensured that each cell was an olfactory sensory neuron. Support cells were excluded from each sample.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All seven analyzed single-cell transcriptomes contained IR25a and IR93a. They also contained variable tuning-IR transcripts, while IR8a and IR76b were detected in none of those cells, so the shared components appeared in every sampled neuron. Seven cells were analyzed, a small sample of the full population. Each cell contributed its complete transcript profile.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result supports shared receptor components with cell-specific combinations of additional candidates. Transcript detection shows gene expression in each cell, while protein abundance and channel assembly need measurements in the same preparation. Each cell therefore contributes its own list of expressed genes in this sample. The transcript list alone says nothing about protein levels.</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516236" y="1280071"/>
            <a:ext cx="5050890" cy="4297561"/>
          </a:xfrm>
          <a:prstGeom prst="rect">
            <a:avLst/>
          </a:prstGeom>
          <a:noFill/>
          <a:ln>
            <a:noFill/>
          </a:ln>
        </p:spPr>
      </p:pic>
      <p:sp>
        <p:nvSpPr>
          <p:cNvPr id="352" name="Google Shape;352;p2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neuron can express many candidate tuning receptors</a:t>
            </a:r>
            <a:endParaRPr sz="1800">
              <a:solidFill>
                <a:schemeClr val="dk1"/>
              </a:solidFill>
              <a:latin typeface="Calibri"/>
              <a:ea typeface="Calibri"/>
              <a:cs typeface="Calibri"/>
              <a:sym typeface="Calibri"/>
            </a:endParaRPr>
          </a:p>
        </p:txBody>
      </p:sp>
      <p:sp>
        <p:nvSpPr>
          <p:cNvPr id="361" name="Google Shape;361;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Tuning IRs</a:t>
            </a:r>
            <a:r>
              <a:rPr b="0" i="0" lang="en-US" sz="1400">
                <a:solidFill>
                  <a:srgbClr val="252D35"/>
                </a:solidFill>
                <a:latin typeface="Arial"/>
                <a:ea typeface="Arial"/>
                <a:cs typeface="Arial"/>
                <a:sym typeface="Arial"/>
              </a:rPr>
              <a:t> are variable receptor candidates proposed to contribute ligand selectivity alongside widely expressed components. Kozma and colleagues compared their abundance across single olfactory sensory neurons, with receptor identity shown by row and each cellular sample by column. The heat map uses color to show how strongly each transcript is expressed in each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Each analyzed neuron held 9 to 53 tuning-IR transcripts, often with just a few at high levels. This pattern breaks the simple rule that each neuron expresses one ligand-selective receptor. Levels varied sharply from one receptor to the next within each cell. Low-abundance transcripts could also reflect technical sampling rather than biology.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Shared coreceptors coexist with molecular diversity between cells. The transcript data constrain candidate combinations, while receptor composition, surface delivery and ligand specificity require protein-localization and functional experiments. The data show diversity among individual neurons rather than a uniform pattern across the sampled cells. Each candidate combination in each cell needs its own functional test.</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553220" y="1280071"/>
            <a:ext cx="2919671" cy="4297561"/>
          </a:xfrm>
          <a:prstGeom prst="rect">
            <a:avLst/>
          </a:prstGeom>
          <a:noFill/>
          <a:ln>
            <a:noFill/>
          </a:ln>
        </p:spPr>
      </p:pic>
      <p:sp>
        <p:nvSpPr>
          <p:cNvPr id="365" name="Google Shape;365;p26"/>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3. Single-cell expression of common and variable ionotropic receptors.</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9978976" y="2148780"/>
            <a:ext cx="1645790" cy="1400324"/>
          </a:xfrm>
          <a:prstGeom prst="rect">
            <a:avLst/>
          </a:prstGeom>
          <a:noFill/>
          <a:ln>
            <a:noFill/>
          </a:ln>
        </p:spPr>
      </p:pic>
      <p:sp>
        <p:nvSpPr>
          <p:cNvPr id="367" name="Google Shape;367;p26"/>
          <p:cNvSpPr/>
          <p:nvPr/>
        </p:nvSpPr>
        <p:spPr>
          <a:xfrm>
            <a:off x="9978926" y="3622328"/>
            <a:ext cx="166494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Gene expression does not establish odor recognition</a:t>
            </a:r>
            <a:endParaRPr sz="1800">
              <a:solidFill>
                <a:schemeClr val="dk1"/>
              </a:solidFill>
              <a:latin typeface="Calibri"/>
              <a:ea typeface="Calibri"/>
              <a:cs typeface="Calibri"/>
              <a:sym typeface="Calibri"/>
            </a:endParaRPr>
          </a:p>
        </p:txBody>
      </p:sp>
      <p:sp>
        <p:nvSpPr>
          <p:cNvPr id="376" name="Google Shape;376;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Kozma and colleagues also examined </a:t>
            </a:r>
            <a:r>
              <a:rPr b="1" i="0" lang="en-US" sz="1400">
                <a:solidFill>
                  <a:srgbClr val="743B4A"/>
                </a:solidFill>
                <a:latin typeface="Arial"/>
                <a:ea typeface="Arial"/>
                <a:cs typeface="Arial"/>
                <a:sym typeface="Arial"/>
              </a:rPr>
              <a:t>G-protein-coupled receptors</a:t>
            </a:r>
            <a:r>
              <a:rPr b="0" i="0" lang="en-US" sz="1400">
                <a:solidFill>
                  <a:srgbClr val="252D35"/>
                </a:solidFill>
                <a:latin typeface="Arial"/>
                <a:ea typeface="Arial"/>
                <a:cs typeface="Arial"/>
                <a:sym typeface="Arial"/>
              </a:rPr>
              <a:t>, or GPCRs, and </a:t>
            </a:r>
            <a:r>
              <a:rPr b="1" i="0" lang="en-US" sz="1400">
                <a:solidFill>
                  <a:srgbClr val="743B4A"/>
                </a:solidFill>
                <a:latin typeface="Arial"/>
                <a:ea typeface="Arial"/>
                <a:cs typeface="Arial"/>
                <a:sym typeface="Arial"/>
              </a:rPr>
              <a:t>transient receptor potential channels</a:t>
            </a:r>
            <a:r>
              <a:rPr b="0" i="0" lang="en-US" sz="1400">
                <a:solidFill>
                  <a:srgbClr val="252D35"/>
                </a:solidFill>
                <a:latin typeface="Arial"/>
                <a:ea typeface="Arial"/>
                <a:cs typeface="Arial"/>
                <a:sym typeface="Arial"/>
              </a:rPr>
              <a:t>, or TRP channels, in sensory neurons. GPCRs regulate intracellular signaling, whereas TRP proteins form ion channels with diverse sensory and cellular functions across many tissues. Both receptor families were studied in the same neurons. Their transcripts were quantified in each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Individual cells expressed 12 to 17 GPCR candidates and overlapping sets of TRP-channel genes. The published summary includes common proteins and additional variable candidates, which together outline potential molecular machinery alongside the IR family in these neurons. The summary distinguishes shared proteins from variable ones. Counts varied from cell to cell within the sample.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GPCR in an olfactory neuron may receive modulatory input rather than bind a food odor. Connecting these genes to mechanism requires ligand responses, channel properties and perturbations in identified cells. A TRP transcript identifies a candidate channel that must be tested for the primary receptor current. Each candidate needs its own functional test.</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229989" y="1280071"/>
            <a:ext cx="5394635" cy="2505224"/>
          </a:xfrm>
          <a:prstGeom prst="rect">
            <a:avLst/>
          </a:prstGeom>
          <a:noFill/>
          <a:ln>
            <a:noFill/>
          </a:ln>
        </p:spPr>
      </p:pic>
      <p:sp>
        <p:nvSpPr>
          <p:cNvPr id="380" name="Google Shape;380;p27"/>
          <p:cNvSpPr/>
          <p:nvPr/>
        </p:nvSpPr>
        <p:spPr>
          <a:xfrm>
            <a:off x="6229796" y="387682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4. Authors’ summary of genes expressed in olfactory sensory neurons.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336338" y="4754761"/>
            <a:ext cx="1182086" cy="1005780"/>
          </a:xfrm>
          <a:prstGeom prst="rect">
            <a:avLst/>
          </a:prstGeom>
          <a:noFill/>
          <a:ln>
            <a:noFill/>
          </a:ln>
        </p:spPr>
      </p:pic>
      <p:sp>
        <p:nvSpPr>
          <p:cNvPr id="382" name="Google Shape;382;p2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Controlled odor delivery separates input from response</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Bobkov and colleagues recorded Panulirus sensory neurons in a semi-intact antennular preparation. Odor reached the outer dendrites while the cell bodies stayed accessible to electrodes and imaging, and separate fluid compartments allowed repeated inputs to the sensory surface. Calibrated pulses could be repeated on the same sensory surface across each trial series.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fluorescent tracer characterized stimulus timing, while calcium imaging and loose-patch recordings measured the responses. Food extract was tested at concentrations up to 0.5 mg/mL, and increasing pulse duration increased the effective delivered stimulus during each trial. Calcium signals and loose-patch spikes were recorded from the same cells. The tracer confirmed when each pulse reached the sensory surface.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These calibrations establish when chemical input arrived relative to cellular activity. Pulse duration, onset kinetics and effective dose covary, so concentration dependence must be read from the actual delivery waveform rather than the source concentration alone. Waveform calibration makes the stimulus at the sensory surface explicit for every recorded response. Each response is matched to the waveform that produced it.</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Peripheral neurons can be excited or inhibited by odor</a:t>
            </a:r>
            <a:endParaRPr sz="1800">
              <a:solidFill>
                <a:schemeClr val="dk1"/>
              </a:solidFill>
              <a:latin typeface="Calibri"/>
              <a:ea typeface="Calibri"/>
              <a:cs typeface="Calibri"/>
              <a:sym typeface="Calibri"/>
            </a:endParaRPr>
          </a:p>
        </p:txBody>
      </p:sp>
      <p:sp>
        <p:nvSpPr>
          <p:cNvPr id="406" name="Google Shape;406;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Bobkov and colleagues found tonic excitation, phasic-tonic excitation and inhibition among olfactory receptor neurons exposed to food extract. Tonic responses persist during stimulation, while phasic responses emphasize its beginning, and inhibitory responses reduce activity below the unstimulated level. Sensory neurons carry distinct response types. Some excitatory cells responded more briefly than others.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Whole-cell voltage-clamp recordings near -70 to -60 mV measured inward or outward odor-evoked currents alongside firing patterns. Excitatory current could persist or adapt rapidly, while some cells showed inhibitory currents during the same odor exposure. Inward and outward currents were both measured across cells. Those currents were read at a set holding voltage.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Peripheral cells transmit different signs of input, so inhibition is already present in the receptor population. A current's direction depends on holding voltage and ionic driving force rather than on the behavioral meaning of an odor. Inhibitory responses are part of peripheral coding rather than a central product. Tonic and phasic classes differ in their timing.</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559821" y="1280071"/>
            <a:ext cx="2906468" cy="4297561"/>
          </a:xfrm>
          <a:prstGeom prst="rect">
            <a:avLst/>
          </a:prstGeom>
          <a:noFill/>
          <a:ln>
            <a:noFill/>
          </a:ln>
        </p:spPr>
      </p:pic>
      <p:sp>
        <p:nvSpPr>
          <p:cNvPr id="410" name="Google Shape;410;p29"/>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2A–D. Excitatory, inhibitory and intrinsic sensory activity.</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12" name="Google Shape;412;p29"/>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signals and spikes have different time courses</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Calcium-sensitive fluorescence is often used as a proxy for neuronal activity, but it is not an action potential. Bobkov and colleagues recorded spikes and calcium simultaneously in identified lobster sensory neurons, testing how closely the optical signal follows the electrical output of each cell. Fluorescence follows activity with a delay in the recorded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Tonic, phasic-tonic and inhibitory neurons showed corresponding but differently filtered fluorescence changes. Calcium generally changed more slowly than the spike pattern, and the optical peaks lagged the bursts they followed. Spike and calcium traces were compared cell by cell. Each class showed its own optical profile, and each cell served as its own 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Calcium supports the identification of response classes, while precise encounter timing requires spike recordings. Dye kinetics, intracellular buffering and calcium removal all intervene between spikes and fluorescence in the recorded cells. Spike recordings resolve individual events within each cell. Each measurement answers a different question. Both readouts were taken from identified neurons.</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385981" y="1280071"/>
            <a:ext cx="3082947" cy="2925961"/>
          </a:xfrm>
          <a:prstGeom prst="rect">
            <a:avLst/>
          </a:prstGeom>
          <a:noFill/>
          <a:ln>
            <a:noFill/>
          </a:ln>
        </p:spPr>
      </p:pic>
      <p:sp>
        <p:nvSpPr>
          <p:cNvPr id="425" name="Google Shape;425;p3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3A–C. Simultaneous spikes and calcium responses across neuronal response classes.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27" name="Google Shape;427;p3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Some olfactory neurons burst without odor stimulation</a:t>
            </a:r>
            <a:endParaRPr sz="1800">
              <a:solidFill>
                <a:schemeClr val="dk1"/>
              </a:solidFill>
              <a:latin typeface="Calibri"/>
              <a:ea typeface="Calibri"/>
              <a:cs typeface="Calibri"/>
              <a:sym typeface="Calibri"/>
            </a:endParaRPr>
          </a:p>
        </p:txBody>
      </p:sp>
      <p:sp>
        <p:nvSpPr>
          <p:cNvPr id="436" name="Google Shape;436;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A </a:t>
            </a:r>
            <a:r>
              <a:rPr b="1" i="0" lang="en-US" sz="1400">
                <a:solidFill>
                  <a:srgbClr val="743B4A"/>
                </a:solidFill>
                <a:latin typeface="Arial"/>
                <a:ea typeface="Arial"/>
                <a:cs typeface="Arial"/>
                <a:sym typeface="Arial"/>
              </a:rPr>
              <a:t>burst</a:t>
            </a:r>
            <a:r>
              <a:rPr b="0" i="0" lang="en-US" sz="1400">
                <a:solidFill>
                  <a:srgbClr val="252D35"/>
                </a:solidFill>
                <a:latin typeface="Arial"/>
                <a:ea typeface="Arial"/>
                <a:cs typeface="Arial"/>
                <a:sym typeface="Arial"/>
              </a:rPr>
              <a:t> is a cluster of spikes separated from another cluster by a quieter interval. Bobkov and colleagues observed intrinsically bursting olfactory receptor neurons in the absence of presented odor, so spontaneous output already has temporal structure before any stimulation arrives. The bursting pattern provides intrinsic timing separate from the odor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Simultaneous recordings showed repeated electrical bursts followed by slower calcium oscillations. Across cells, optical oscillation frequencies ranged from about 0.015 to 0.9 Hz, with an average near 0.16 Hz, so each cell supplied its own intrinsic temporal reference. Lower frequencies reflected slower recurring bursts, and higher ones recurred more quickly. Electrical bursts preceded each calcium cycle.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These observations establish spontaneous peripheral timing rather than a clock shared by the whole antennule. An odor-evoked burst must be separated from a spontaneous burst when judging whether a cell has detected a new encounter. Spontaneous bursts give each cell its own baseline rhythm before odor arrives. Odor arrival modifies that baseline in measurable ways.</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62489" y="1280071"/>
            <a:ext cx="2300982" cy="4297561"/>
          </a:xfrm>
          <a:prstGeom prst="rect">
            <a:avLst/>
          </a:prstGeom>
          <a:noFill/>
          <a:ln>
            <a:noFill/>
          </a:ln>
        </p:spPr>
      </p:pic>
      <p:sp>
        <p:nvSpPr>
          <p:cNvPr id="440" name="Google Shape;440;p31"/>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4A–B. Simultaneous bursting and slower calcium oscillations.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42" name="Google Shape;442;p31"/>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Adjacent receptor neurons need not share an oscillator</a:t>
            </a:r>
            <a:endParaRPr sz="1800">
              <a:solidFill>
                <a:schemeClr val="dk1"/>
              </a:solidFill>
              <a:latin typeface="Calibri"/>
              <a:ea typeface="Calibri"/>
              <a:cs typeface="Calibri"/>
              <a:sym typeface="Calibri"/>
            </a:endParaRPr>
          </a:p>
        </p:txBody>
      </p:sp>
      <p:sp>
        <p:nvSpPr>
          <p:cNvPr id="451" name="Google Shape;451;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Bobkov and colleagues imaged many sensory somata within the same antennular cluster and compared their calcium time series. Correlation measures how strongly two signals vary together, and pairwise comparisons tested whether nearby bursting cells behaved as one synchronized network. Each pair of neighboring cells was then compared across the recording. Its correlation was scored for every pair in the cluster.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Most recorded pairs were weakly correlated and had different oscillatory timing. A small number of highly similar records may reflect overlapping optical sampling, so those pairs are judged with care before any cellular coupling is inferred from them. Most cells in the cluster oscillated independently of one another. Such results argue against shared timing across neighboring somata.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Nearby sensory-cell oscillations were largely independent in this preparation. Neighboring bursting cells can provide diverse temporal signals, which may combine centrally into a more informative population signal than any single cell supplies. Diverse oscillators can carry more information together than any one cell alone. Central combination of their outputs is the proposed mechanism.</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7551688" y="1280075"/>
            <a:ext cx="2980134" cy="4297552"/>
          </a:xfrm>
          <a:prstGeom prst="rect">
            <a:avLst/>
          </a:prstGeom>
          <a:noFill/>
          <a:ln>
            <a:noFill/>
          </a:ln>
        </p:spPr>
      </p:pic>
      <p:sp>
        <p:nvSpPr>
          <p:cNvPr id="455" name="Google Shape;455;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5A–C. Colored sensory-cell images, calcium records and pairwise correlations.</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Cyclic nucleotides can support peripheral inhibition</a:t>
            </a:r>
            <a:endParaRPr sz="1800">
              <a:solidFill>
                <a:schemeClr val="dk1"/>
              </a:solidFill>
              <a:latin typeface="Calibri"/>
              <a:ea typeface="Calibri"/>
              <a:cs typeface="Calibri"/>
              <a:sym typeface="Calibri"/>
            </a:endParaRPr>
          </a:p>
        </p:txBody>
      </p:sp>
      <p:sp>
        <p:nvSpPr>
          <p:cNvPr id="464" name="Google Shape;464;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a:t>
            </a:r>
            <a:r>
              <a:rPr b="1" i="0" lang="en-US" sz="1400">
                <a:solidFill>
                  <a:srgbClr val="743B4A"/>
                </a:solidFill>
                <a:latin typeface="Arial"/>
                <a:ea typeface="Arial"/>
                <a:cs typeface="Arial"/>
                <a:sym typeface="Arial"/>
              </a:rPr>
              <a:t>second messenger</a:t>
            </a:r>
            <a:r>
              <a:rPr b="0" i="0" lang="en-US" sz="1400">
                <a:solidFill>
                  <a:srgbClr val="252D35"/>
                </a:solidFill>
                <a:latin typeface="Arial"/>
                <a:ea typeface="Arial"/>
                <a:cs typeface="Arial"/>
                <a:sym typeface="Arial"/>
              </a:rPr>
              <a:t> is an intracellular molecule whose concentration changes after signaling begins. Michel and Ache tested cyclic nucleotides in lobster sensory neurons that were excited by food extract but inhibited by proline. Whole-cell recordings were made at a holding voltage of −60 mV, which allowed the outward current to be measured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Proline evoked a small outward current in this cell class. The phosphodiesterase inhibitor IBMX, applied at 1 mM, mimicked that outward response, as did membrane-permeant cyclic-nucleotide analogs. Together, these manipulations connect accumulation of cyclic nucleotides to the conductance seen with proline. Holding the cell at a fixed voltage made the direction of the current measurable.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These manipulations link intracellular cyclic-nucleotide accumulation to a conductance associated with peripheral inhibition. The interpretation builds on an odor-evoked potassium conductance characterized earlier in this receptor-cell system. Pharmacological mimicry identifies a pathway, not the odor-binding receptor that starts it. Their outward current depends on the ionic driving force at the holding voltage.</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6229924" y="1280071"/>
            <a:ext cx="5394765" cy="2859435"/>
          </a:xfrm>
          <a:prstGeom prst="rect">
            <a:avLst/>
          </a:prstGeom>
          <a:noFill/>
          <a:ln>
            <a:noFill/>
          </a:ln>
        </p:spPr>
      </p:pic>
      <p:sp>
        <p:nvSpPr>
          <p:cNvPr id="468" name="Google Shape;468;p33"/>
          <p:cNvSpPr/>
          <p:nvPr/>
        </p:nvSpPr>
        <p:spPr>
          <a:xfrm>
            <a:off x="6229796" y="423103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4. Proline, phosphodiesterase inhibition and cyclic-GMP analog evoke outward currents.</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70" name="Google Shape;470;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Enzyme activation probes a candidate inhibitory pathway</a:t>
            </a:r>
            <a:endParaRPr sz="1800">
              <a:solidFill>
                <a:schemeClr val="dk1"/>
              </a:solidFill>
              <a:latin typeface="Calibri"/>
              <a:ea typeface="Calibri"/>
              <a:cs typeface="Calibri"/>
              <a:sym typeface="Calibri"/>
            </a:endParaRPr>
          </a:p>
        </p:txBody>
      </p:sp>
      <p:sp>
        <p:nvSpPr>
          <p:cNvPr id="479" name="Google Shape;479;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Adenylyl cyclase</a:t>
            </a:r>
            <a:r>
              <a:rPr b="0" i="0" lang="en-US" sz="1400">
                <a:solidFill>
                  <a:srgbClr val="252D35"/>
                </a:solidFill>
                <a:latin typeface="Arial"/>
                <a:ea typeface="Arial"/>
                <a:cs typeface="Arial"/>
                <a:sym typeface="Arial"/>
              </a:rPr>
              <a:t> synthesizes cyclic AMP, or cAMP. Michel and Ache applied forskolin, an activator of this enzyme, to test whether increasing its activity could reproduce the proline-associated inhibition. Saline application served as a control for the mechanical delivery of solution in the same chamber. Forskolin is a pharmacological tool for raising cAMP synthesis.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Forskolin at 50 µM evoked an outward current in proline-inhibited neurons. IBMX enhanced related responses by slowing nucleotide breakdown. Cells excited by food extract but not inhibited by proline showed a different response class, so the effect depends on which neuron class is recorded. Forskolin's effect shows the enzyme can produce the outward response when activated.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These results support cyclic-nucleotide participation in inhibitory transduction. Modern expression studies and earlier biochemical findings point to one shared pathway, although the receptor that starts it is a separate question for the field. Those findings are compatible with modern IR expression data. The finding ties the proline response to a specific enzyme class.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rapidly changes dendritic second messengers</a:t>
            </a:r>
            <a:endParaRPr sz="1800">
              <a:solidFill>
                <a:schemeClr val="dk1"/>
              </a:solidFill>
              <a:latin typeface="Calibri"/>
              <a:ea typeface="Calibri"/>
              <a:cs typeface="Calibri"/>
              <a:sym typeface="Calibri"/>
            </a:endParaRPr>
          </a:p>
        </p:txBody>
      </p:sp>
      <p:sp>
        <p:nvSpPr>
          <p:cNvPr id="494" name="Google Shape;494;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Boekhoff and colleagues isolated membranes enriched from the outer dendrites of Panulirus olfactory hairs. A quench-flow assay mixed membrane material with the stimulus and stopped the reaction rapidly, so biochemical changes over milliseconds could be measured apart from spike output. Enrichment concentrates the outer-dendrite material before the assay. The assay then measured messenger levels at each time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Food extract produced transient increases in cAMP and inositol 1,4,5-trisphosphate, or IP3, peaking within about 50 ms. IP3 is a signaling molecule produced from membrane phosphoinositides, so both messengers rose within the same brief window after stimulation. Both messengers were quantified in the same membrane samples. Their rise was transient rather than sustained.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timing is fast enough to take part in early sensory transduction, well before any behavioral response. The data reflect pooled dendritic material, so it describes odor-associated signaling in aggregate rather than in a single neuron. Measured messenger levels are biochemical quantities, so they are compared across conditions rather than read as spike rates.</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7732093" y="1280071"/>
            <a:ext cx="2390724" cy="2925961"/>
          </a:xfrm>
          <a:prstGeom prst="rect">
            <a:avLst/>
          </a:prstGeom>
          <a:noFill/>
          <a:ln>
            <a:noFill/>
          </a:ln>
        </p:spPr>
      </p:pic>
      <p:sp>
        <p:nvSpPr>
          <p:cNvPr id="498" name="Google Shape;498;p3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1. Odor evokes rapid cAMP and IP3 accumulation in dendritic membranes.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00" name="Google Shape;500;p3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Ligand concentration changes messenger recruitment</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Boekhoff and colleagues compared taurine and proline because one ligand can excite a lobster sensory neuron while another inhibits it. At 1 µM, taurine preferentially elevated IP3 and proline preferentially elevated cAMP in isolated dendritic membranes. Each ligand's preference was assessed at both doses. The ratio of IP3 to cAMP shifted between the two doses.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At the higher dose of 100 µM, both ligands elevated both messengers while retaining their different preferences. The published plots show these distinct low-dose time courses, which differ in peak timing and size. The higher dose raised both messengers above their low-dose levels. The two messengers peaked at different times for each ligand.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Both ligands shifted their messenger ratio as concentration increased, so no single ligand kept a fixed pathway. Pooled membranes report the signal without naming the receptor proteins or cell combinations behind it. The concentration series makes the shift visible for each ligand separately. Taurine and proline both showed this shift. Each ligand's preference appeared at both doses.</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6631316" y="1280071"/>
            <a:ext cx="4592278" cy="2925961"/>
          </a:xfrm>
          <a:prstGeom prst="rect">
            <a:avLst/>
          </a:prstGeom>
          <a:noFill/>
          <a:ln>
            <a:noFill/>
          </a:ln>
        </p:spPr>
      </p:pic>
      <p:sp>
        <p:nvSpPr>
          <p:cNvPr id="513" name="Google Shape;513;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3A–B. Taurine and proline differ in second-messenger recruitment.</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15" name="Google Shape;515;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Bursting neurons supply diverse temporal reference scales</a:t>
            </a:r>
            <a:endParaRPr sz="1800">
              <a:solidFill>
                <a:schemeClr val="dk1"/>
              </a:solidFill>
              <a:latin typeface="Calibri"/>
              <a:ea typeface="Calibri"/>
              <a:cs typeface="Calibri"/>
              <a:sym typeface="Calibri"/>
            </a:endParaRPr>
          </a:p>
        </p:txBody>
      </p:sp>
      <p:sp>
        <p:nvSpPr>
          <p:cNvPr id="524" name="Google Shape;524;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A quasiperiodic oscillator repeats approximately, with variability rather than a perfectly fixed period, so each cell carries its own rhythm. Spontaneous bursts supplied all of these intervals. No odor was applied during these recordings. Each cell's intervals were summarized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The recorded cells displayed different mean burst intervals and different amounts of within-cell variation. Some repeated over a few seconds, whereas others had substantially longer intervals, and electrical records are set against interval distributions. Within-cell variation was measured for each cell separately. The original records show the electrical traces directly. Within-cell variation differed among the cells recorded.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Such intrinsic activity offers a possible reference against which incoming odor encounters can be registered. An intrinsic period describes the recorded cell under these conditions, which makes it a property of the cell rather than of the plume. A population of such cells could encode when encounters occurred. Each cell adds its own interval to that code.</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7" name="Shape 537"/>
        <p:cNvGrpSpPr/>
        <p:nvPr/>
      </p:nvGrpSpPr>
      <p:grpSpPr>
        <a:xfrm>
          <a:off x="0" y="0"/>
          <a:ext cx="0" cy="0"/>
          <a:chOff x="0" y="0"/>
          <a:chExt cx="0" cy="0"/>
        </a:xfrm>
      </p:grpSpPr>
      <p:sp>
        <p:nvSpPr>
          <p:cNvPr id="538" name="Google Shape;53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Odor-response probability depends on bursting phase</a:t>
            </a:r>
            <a:endParaRPr sz="1800">
              <a:solidFill>
                <a:schemeClr val="dk1"/>
              </a:solidFill>
              <a:latin typeface="Calibri"/>
              <a:ea typeface="Calibri"/>
              <a:cs typeface="Calibri"/>
              <a:sym typeface="Calibri"/>
            </a:endParaRPr>
          </a:p>
        </p:txBody>
      </p:sp>
      <p:sp>
        <p:nvSpPr>
          <p:cNvPr id="539" name="Google Shape;539;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Phase describes where a neuron lies within its recurring burst cycle. Park and colleagues delivered comparable odor pulses at different times after the previous spontaneous burst, testing whether the same chemical input has different effects depending on the cell's current state. Burst timing thus defines the cell's current state. Each pulse was judged against the cell's spontaneous firing.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In an example cell, burst probability was about 50% when odor arrived 3 s after the preceding burst and approached 100% at 6 s. The same odor intensity produced different outcomes depending on timing, and recordings also showed changes in electrical activity and burst timing. The example cell shows the effect of timing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600"/>
              <a:buFont typeface="Arial"/>
              <a:buNone/>
            </a:pPr>
            <a:r>
              <a:rPr b="0" i="0" lang="en-US" sz="1400">
                <a:solidFill>
                  <a:srgbClr val="252D35"/>
                </a:solidFill>
                <a:latin typeface="Arial"/>
                <a:ea typeface="Arial"/>
                <a:cs typeface="Arial"/>
                <a:sym typeface="Arial"/>
              </a:rPr>
              <a:t>The result establishes history-dependent sensory responsiveness. A refractory or low-responsiveness phase can hide an encounter in one cell, while other cells at different phases can still respond to the same odor. Population activity with different periods could carry the timing of encounters. Behavioral use of that information is a further hypothesis. The pattern is a measured relationship between timing and response probability.</a:t>
            </a:r>
            <a:endParaRPr sz="1800">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3">
            <a:alphaModFix/>
          </a:blip>
          <a:srcRect b="0" l="0" r="0" t="0"/>
          <a:stretch/>
        </p:blipFill>
        <p:spPr>
          <a:xfrm>
            <a:off x="7388639" y="1280071"/>
            <a:ext cx="3077484" cy="2925961"/>
          </a:xfrm>
          <a:prstGeom prst="rect">
            <a:avLst/>
          </a:prstGeom>
          <a:noFill/>
          <a:ln>
            <a:noFill/>
          </a:ln>
        </p:spPr>
      </p:pic>
      <p:sp>
        <p:nvSpPr>
          <p:cNvPr id="543" name="Google Shape;543;p3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2a–d. Stimulus timing changes burst probability and sensory responses.</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45" name="Google Shape;545;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46" name="Google Shape;546;p3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7" name="Google Shape;547;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48" name="Google Shape;548;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published decoder tests the timing-code hypothesis</a:t>
            </a:r>
            <a:endParaRPr sz="1800">
              <a:solidFill>
                <a:schemeClr val="dk1"/>
              </a:solidFill>
              <a:latin typeface="Calibri"/>
              <a:ea typeface="Calibri"/>
              <a:cs typeface="Calibri"/>
              <a:sym typeface="Calibri"/>
            </a:endParaRPr>
          </a:p>
        </p:txBody>
      </p:sp>
      <p:sp>
        <p:nvSpPr>
          <p:cNvPr id="554" name="Google Shape;554;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Park and colleagues fitted oscillator-response models using experimentally measured properties of bursting neurons. A decoder is an analysis rule that estimates an input from output activity, so the question was whether these response rules could carry temporal information. The decoder reads the pooled output of many fitted cells, not any single cell, in the simulation.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model estimated the intervals among presented events, and combining cells with different intrinsic periods improved access to the time since a previous encounter. The displayed curves are the authors' published synthetic-population results. Each added cell with a different period contributed its own timing signal. The authors' estimates use simulated intervals rather than recorded animal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Successful model decoding shows coding feasibility under the model's assumptions. Connecting the proposed code to searching would require selective disruption of bursting and measurement of plume tracking. The model motivates that experiment without replacing it. Such an experiment would link a proposed neural code to its behavioral consequence. Model parameters set the scope of that prediction.</a:t>
            </a:r>
            <a:endParaRPr sz="1800">
              <a:solidFill>
                <a:schemeClr val="dk1"/>
              </a:solidFill>
              <a:latin typeface="Calibri"/>
              <a:ea typeface="Calibri"/>
              <a:cs typeface="Calibri"/>
              <a:sym typeface="Calibri"/>
            </a:endParaRPr>
          </a:p>
        </p:txBody>
      </p:sp>
      <p:pic>
        <p:nvPicPr>
          <p:cNvPr id="557" name="Google Shape;557;p39"/>
          <p:cNvPicPr preferRelativeResize="0"/>
          <p:nvPr/>
        </p:nvPicPr>
        <p:blipFill rotWithShape="1">
          <a:blip r:embed="rId3">
            <a:alphaModFix/>
          </a:blip>
          <a:srcRect b="0" l="0" r="0" t="0"/>
          <a:stretch/>
        </p:blipFill>
        <p:spPr>
          <a:xfrm>
            <a:off x="6958552" y="1280071"/>
            <a:ext cx="3937657" cy="2925961"/>
          </a:xfrm>
          <a:prstGeom prst="rect">
            <a:avLst/>
          </a:prstGeom>
          <a:noFill/>
          <a:ln>
            <a:noFill/>
          </a:ln>
        </p:spPr>
      </p:pic>
      <p:sp>
        <p:nvSpPr>
          <p:cNvPr id="558" name="Google Shape;558;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6a–c. Authors’ synthetic-population decoder estimates stimulus intervals.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60" name="Google Shape;560;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61" name="Google Shape;561;p3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63" name="Google Shape;56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4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Central transmission can suppress repeated afferent input</a:t>
            </a:r>
            <a:endParaRPr sz="1800">
              <a:solidFill>
                <a:schemeClr val="dk1"/>
              </a:solidFill>
              <a:latin typeface="Calibri"/>
              <a:ea typeface="Calibri"/>
              <a:cs typeface="Calibri"/>
              <a:sym typeface="Calibri"/>
            </a:endParaRPr>
          </a:p>
        </p:txBody>
      </p:sp>
      <p:sp>
        <p:nvSpPr>
          <p:cNvPr id="569" name="Google Shape;569;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afferent neuron</a:t>
            </a:r>
            <a:r>
              <a:rPr b="0" i="0" lang="en-US" sz="1400">
                <a:solidFill>
                  <a:srgbClr val="252D35"/>
                </a:solidFill>
                <a:latin typeface="Arial"/>
                <a:ea typeface="Arial"/>
                <a:cs typeface="Arial"/>
                <a:sym typeface="Arial"/>
              </a:rPr>
              <a:t> carries sensory input toward the brain. Wachowiak and Cohen electrically stimulated the lobster antennular nerve and recorded voltage-sensitive dye signals in the nerve and olfactory lobe. The anatomy identifies the central region that receives these sensory axons. Its response to repeated shocks was measured in the olfactory lobe. Stimulation used two shocks per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Two 2-ms shocks separated by approximately 300 to 400 ms produced a smaller second response in the olfactory lobe, while the nerve response was less affected. Calcium-free, high-magnesium saline reduced synaptic transmission, which helped separate incoming axonal signals from activity generated by the local network. Nerve responses were recorded simultaneously with the olfactory-lobe signal.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pattern places suppression beyond peripheral conduction in this tested preparation. Electrical shocks also synchronize afferents differently from natural odor, and population optical signals still average over many synapses. Suppression appears in central neurons rather than in the sensory hairs. The second response was measured relative to the first within each pair.</a:t>
            </a:r>
            <a:endParaRPr sz="1800">
              <a:solidFill>
                <a:schemeClr val="dk1"/>
              </a:solidFill>
              <a:latin typeface="Calibri"/>
              <a:ea typeface="Calibri"/>
              <a:cs typeface="Calibri"/>
              <a:sym typeface="Calibri"/>
            </a:endParaRPr>
          </a:p>
        </p:txBody>
      </p:sp>
      <p:pic>
        <p:nvPicPr>
          <p:cNvPr id="572" name="Google Shape;572;p40"/>
          <p:cNvPicPr preferRelativeResize="0"/>
          <p:nvPr/>
        </p:nvPicPr>
        <p:blipFill rotWithShape="1">
          <a:blip r:embed="rId3">
            <a:alphaModFix/>
          </a:blip>
          <a:srcRect b="0" l="0" r="0" t="0"/>
          <a:stretch/>
        </p:blipFill>
        <p:spPr>
          <a:xfrm>
            <a:off x="6762871" y="1280071"/>
            <a:ext cx="4557618" cy="4297561"/>
          </a:xfrm>
          <a:prstGeom prst="rect">
            <a:avLst/>
          </a:prstGeom>
          <a:noFill/>
          <a:ln>
            <a:noFill/>
          </a:ln>
        </p:spPr>
      </p:pic>
      <p:sp>
        <p:nvSpPr>
          <p:cNvPr id="573" name="Google Shape;573;p40"/>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Paired-shock responses in the olfactory lobe and antennular nerve.</a:t>
            </a:r>
            <a:endParaRPr sz="1800">
              <a:solidFill>
                <a:schemeClr val="dk1"/>
              </a:solidFill>
              <a:latin typeface="Calibri"/>
              <a:ea typeface="Calibri"/>
              <a:cs typeface="Calibri"/>
              <a:sym typeface="Calibri"/>
            </a:endParaRPr>
          </a:p>
        </p:txBody>
      </p:sp>
      <p:sp>
        <p:nvSpPr>
          <p:cNvPr id="574" name="Google Shape;574;p4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76" name="Google Shape;57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GABA and histamine inhibit lobster afferent transmission</a:t>
            </a:r>
            <a:endParaRPr sz="1800">
              <a:solidFill>
                <a:schemeClr val="dk1"/>
              </a:solidFill>
              <a:latin typeface="Calibri"/>
              <a:ea typeface="Calibri"/>
              <a:cs typeface="Calibri"/>
              <a:sym typeface="Calibri"/>
            </a:endParaRPr>
          </a:p>
        </p:txBody>
      </p:sp>
      <p:sp>
        <p:nvSpPr>
          <p:cNvPr id="582" name="Google Shape;582;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400"/>
              <a:buFont typeface="Arial"/>
              <a:buNone/>
            </a:pPr>
            <a:r>
              <a:rPr b="0" i="0" lang="en-US" sz="1400">
                <a:solidFill>
                  <a:srgbClr val="252D35"/>
                </a:solidFill>
                <a:latin typeface="Arial"/>
                <a:ea typeface="Arial"/>
                <a:cs typeface="Arial"/>
                <a:sym typeface="Arial"/>
              </a:rPr>
              <a:t>GABA, gamma-aminobutyric acid, and histamine can act as neurotransmitters. Wachowiak and Cohen applied them while measuring lobster afferent voltage signals under calcium-free conditions, which reduced network transmission and isolated effects on incoming sensory processes. Calcium-free conditions were chosen to reduce ordinary downstream synaptic activity. The recordings measured afferent voltage, not spike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400"/>
              <a:buFont typeface="Arial"/>
              <a:buNone/>
            </a:pPr>
            <a:r>
              <a:rPr b="0" i="0" lang="en-US" sz="1400">
                <a:solidFill>
                  <a:srgbClr val="252D35"/>
                </a:solidFill>
                <a:latin typeface="Arial"/>
                <a:ea typeface="Arial"/>
                <a:cs typeface="Arial"/>
                <a:sym typeface="Arial"/>
              </a:rPr>
              <a:t>At 100 µM, histamine reduced the measured response by about 82% and GABA by about 45%. At 30 µM, histamine still reduced it by about 61%, whereas GABA had little effect. Responses recovered during washout. Histamine inhibited the response at both concentrations tested. The GABA response was largely absent at the lower dose.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400"/>
              <a:buFont typeface="Arial"/>
              <a:buNone/>
            </a:pPr>
            <a:r>
              <a:rPr b="0" i="0" lang="en-US" sz="1400">
                <a:solidFill>
                  <a:srgbClr val="252D35"/>
                </a:solidFill>
                <a:latin typeface="Arial"/>
                <a:ea typeface="Arial"/>
                <a:cs typeface="Arial"/>
                <a:sym typeface="Arial"/>
              </a:rPr>
              <a:t>The authors proposed shunting inhibition, in which a ligand-gated conductance lowers membrane resistance and reduces terminal spike amplitude or propagation. The data identify dose-dependent inhibitory sensitivities without measuring odor-search behavior. Presynaptic calcium entry in the lobster would test the proposed mechanism directly. Recovery during the washout indicates that the effects were reversible.</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3">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Antagonists distinguish two inhibitory receptor actions</a:t>
            </a:r>
            <a:endParaRPr sz="1800">
              <a:solidFill>
                <a:schemeClr val="dk1"/>
              </a:solidFill>
              <a:latin typeface="Calibri"/>
              <a:ea typeface="Calibri"/>
              <a:cs typeface="Calibri"/>
              <a:sym typeface="Calibri"/>
            </a:endParaRPr>
          </a:p>
        </p:txBody>
      </p:sp>
      <p:sp>
        <p:nvSpPr>
          <p:cNvPr id="597" name="Google Shape;59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a:t>
            </a:r>
            <a:r>
              <a:rPr b="1" i="0" lang="en-US" sz="1400">
                <a:solidFill>
                  <a:srgbClr val="743B4A"/>
                </a:solidFill>
                <a:latin typeface="Arial"/>
                <a:ea typeface="Arial"/>
                <a:cs typeface="Arial"/>
                <a:sym typeface="Arial"/>
              </a:rPr>
              <a:t>receptor antagonist</a:t>
            </a:r>
            <a:r>
              <a:rPr b="0" i="0" lang="en-US" sz="1400">
                <a:solidFill>
                  <a:srgbClr val="252D35"/>
                </a:solidFill>
                <a:latin typeface="Arial"/>
                <a:ea typeface="Arial"/>
                <a:cs typeface="Arial"/>
                <a:sym typeface="Arial"/>
              </a:rPr>
              <a:t> reduces activation of a receptor by its ligand. Wachowiak and Cohen used antagonists to test GABA-sensitive and histamine-sensitive inhibition in lobster olfactory afferents, following control recordings from the same preparation. Their effects were measured as changes in afferent voltage signals. Histamine and GABA were the two transmitters examined in these experiments.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An isolated nerve segment was fairly unaffected by these drugs, which supports a central-terminal locus. The separation of the two actions suggests distinct receptor mechanisms for each transmitter. Exact channel subunits were not identified in these experiments, and natural release during a lobster's food search was never recorded directly in the nerve.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drugs act as useful but imperfect selective labels, and their selectivity varies with concentration. The findings constrain receptor classes and the place where modulation occurs rather than naming exact channel subunits. Each drug was chosen for one receptor class, and different concentrations tested those classes. These two drugs supplied the pharmacological tests in the same nerve.</a:t>
            </a:r>
            <a:endParaRPr sz="1800">
              <a:solidFill>
                <a:schemeClr val="dk1"/>
              </a:solidFill>
              <a:latin typeface="Calibri"/>
              <a:ea typeface="Calibri"/>
              <a:cs typeface="Calibri"/>
              <a:sym typeface="Calibri"/>
            </a:endParaRPr>
          </a:p>
        </p:txBody>
      </p:sp>
      <p:pic>
        <p:nvPicPr>
          <p:cNvPr id="600" name="Google Shape;600;p42"/>
          <p:cNvPicPr preferRelativeResize="0"/>
          <p:nvPr/>
        </p:nvPicPr>
        <p:blipFill rotWithShape="1">
          <a:blip r:embed="rId3">
            <a:alphaModFix/>
          </a:blip>
          <a:srcRect b="0" l="0" r="0" t="0"/>
          <a:stretch/>
        </p:blipFill>
        <p:spPr>
          <a:xfrm>
            <a:off x="8052093" y="1280071"/>
            <a:ext cx="1750575" cy="2925961"/>
          </a:xfrm>
          <a:prstGeom prst="rect">
            <a:avLst/>
          </a:prstGeom>
          <a:noFill/>
          <a:ln>
            <a:noFill/>
          </a:ln>
        </p:spPr>
      </p:pic>
      <p:pic>
        <p:nvPicPr>
          <p:cNvPr id="602" name="Google Shape;602;p42"/>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603" name="Google Shape;603;p4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604" name="Google Shape;604;p4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606" name="Google Shape;60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Joint odor and flow sampling offers direction cues</a:t>
            </a:r>
            <a:endParaRPr sz="1800">
              <a:solidFill>
                <a:schemeClr val="dk1"/>
              </a:solidFill>
              <a:latin typeface="Calibri"/>
              <a:ea typeface="Calibri"/>
              <a:cs typeface="Calibri"/>
              <a:sym typeface="Calibri"/>
            </a:endParaRPr>
          </a:p>
        </p:txBody>
      </p:sp>
      <p:sp>
        <p:nvSpPr>
          <p:cNvPr id="612" name="Google Shape;612;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1" i="0" lang="en-US" sz="1400">
                <a:solidFill>
                  <a:srgbClr val="743B4A"/>
                </a:solidFill>
                <a:latin typeface="Arial"/>
                <a:ea typeface="Arial"/>
                <a:cs typeface="Arial"/>
                <a:sym typeface="Arial"/>
              </a:rPr>
              <a:t>Odor flux</a:t>
            </a:r>
            <a:r>
              <a:rPr b="0" i="0" lang="en-US" sz="1400">
                <a:solidFill>
                  <a:srgbClr val="252D35"/>
                </a:solidFill>
                <a:latin typeface="Arial"/>
                <a:ea typeface="Arial"/>
                <a:cs typeface="Arial"/>
                <a:sym typeface="Arial"/>
              </a:rPr>
              <a:t> combines chemical concentration with the motion carrying that chemical. Pravin and Reidenbach measured flow and fluorescent concentration in a flume, then built a three-dimensional fluid model constrained by those measurements, which addresses direction information unavailable from concentration alone. Concentration alone indicates where odor is present, not which direction it moves.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The authors' model showed transverse chemical transport toward the plume center on opposite sides of the plume. Useful differences emerged over averaging intervals of about 0.5 s, and the colored traces show modeled transverse flux rather than trajectories. The modeled flux differs on each side of the plume. These differences appeared only after averaging.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Joint chemical and mechanical sensing could provide a directional cue. The study establishes that this cue is physically available, while its biological use remains a hypothesis. The proposed mechanism is kept separate from the established source-search and lesion results. No lobster neuron was shown multiplying velocity by concentration. The model's flux values are presented as model outputs, not biological signals.</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3">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Plume intermittency supplies a different spatial statistic</a:t>
            </a:r>
            <a:endParaRPr sz="1800">
              <a:solidFill>
                <a:schemeClr val="dk1"/>
              </a:solidFill>
              <a:latin typeface="Calibri"/>
              <a:ea typeface="Calibri"/>
              <a:cs typeface="Calibri"/>
              <a:sym typeface="Calibri"/>
            </a:endParaRPr>
          </a:p>
        </p:txBody>
      </p:sp>
      <p:sp>
        <p:nvSpPr>
          <p:cNvPr id="625" name="Google Shape;62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400"/>
              <a:buFont typeface="Arial"/>
              <a:buNone/>
            </a:pPr>
            <a:r>
              <a:rPr b="1" i="0" lang="en-US" sz="1400">
                <a:solidFill>
                  <a:srgbClr val="743B4A"/>
                </a:solidFill>
                <a:latin typeface="Arial"/>
                <a:ea typeface="Arial"/>
                <a:cs typeface="Arial"/>
                <a:sym typeface="Arial"/>
              </a:rPr>
              <a:t>Intermittency</a:t>
            </a:r>
            <a:r>
              <a:rPr b="0" i="0" lang="en-US" sz="1400">
                <a:solidFill>
                  <a:srgbClr val="252D35"/>
                </a:solidFill>
                <a:latin typeface="Arial"/>
                <a:ea typeface="Arial"/>
                <a:cs typeface="Arial"/>
                <a:sym typeface="Arial"/>
              </a:rPr>
              <a:t> describes the temporal discontinuity of odor. Michaelis and colleagues quantified it as the count of concentration spikes crossing a threshold within a time window, using a turbulent-plume model validated against laboratory fluorescence and velocity measurements. The model reproduces the physical plume rather than an animal's sensory response. Spikes are counted as crossings of the chosen threshold.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400"/>
              <a:buFont typeface="Arial"/>
              <a:buNone/>
            </a:pPr>
            <a:r>
              <a:rPr b="0" i="0" lang="en-US" sz="1400">
                <a:solidFill>
                  <a:srgbClr val="252D35"/>
                </a:solidFill>
                <a:latin typeface="Arial"/>
                <a:ea typeface="Arial"/>
                <a:cs typeface="Arial"/>
                <a:sym typeface="Arial"/>
              </a:rPr>
              <a:t>The modeled domain was 5 × 0.5 × 0.15 m with mean flow near 0.02 m/s. Intermittency profiles depended on cross-stream position and on the length of the observation window, so the statistic varies across the plume. Spatial profiles differ between the plume center and its edges. Profiles were computed for several observation windows.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400"/>
              <a:buFont typeface="Arial"/>
              <a:buNone/>
            </a:pPr>
            <a:r>
              <a:rPr b="0" i="0" lang="en-US" sz="1400">
                <a:solidFill>
                  <a:srgbClr val="252D35"/>
                </a:solidFill>
                <a:latin typeface="Arial"/>
                <a:ea typeface="Arial"/>
                <a:cs typeface="Arial"/>
                <a:sym typeface="Arial"/>
              </a:rPr>
              <a:t>At plume edges, bilateral differences in encounter frequency could remain informative when instantaneous concentration was unreliable. These results propose a statistic that complements a mean concentration reading. Physical validation strengthens the plume representation of this statistic. Validation of the sensory threshold and memory window was not part of the model. Bilateral neural comparisons remain a hypothesis for the model.</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6458483" y="1280071"/>
            <a:ext cx="5166247" cy="1862882"/>
          </a:xfrm>
          <a:prstGeom prst="rect">
            <a:avLst/>
          </a:prstGeom>
          <a:noFill/>
          <a:ln>
            <a:noFill/>
          </a:ln>
        </p:spPr>
      </p:pic>
      <p:sp>
        <p:nvSpPr>
          <p:cNvPr id="629" name="Google Shape;629;p44"/>
          <p:cNvSpPr/>
          <p:nvPr/>
        </p:nvSpPr>
        <p:spPr>
          <a:xfrm>
            <a:off x="6458396" y="32344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6. Authors’ modeled concentration-spike counts across the plume at different sampling frequencies.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Search combines sampling, neural timing and context</a:t>
            </a:r>
            <a:endParaRPr sz="1800">
              <a:solidFill>
                <a:schemeClr val="dk1"/>
              </a:solidFill>
              <a:latin typeface="Calibri"/>
              <a:ea typeface="Calibri"/>
              <a:cs typeface="Calibri"/>
              <a:sym typeface="Calibri"/>
            </a:endParaRPr>
          </a:p>
        </p:txBody>
      </p:sp>
      <p:sp>
        <p:nvSpPr>
          <p:cNvPr id="638" name="Google Shape;638;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Michaelis and colleagues compared modeled intermittency estimates at different sampling frequencies and tested simulated search rules. A finite observation window and sample schedule change the estimated chemical statistic, so sampling strategy becomes part of the navigation hypothesis. Their simulated search rules were run at each sampling frequency, and the estimate changed with each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Their results support temporal encounter information alongside concentration under specified plume conditions. Earlier work linked flicking to encounter gaps, bursting neurons to recent history, and one antennular pathway to path straightness. Each link came from a separate preparation, so the three kinds of evidence are not yet joined together in one experiment.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400"/>
              <a:buFont typeface="Arial"/>
              <a:buNone/>
            </a:pPr>
            <a:r>
              <a:rPr b="0" i="0" lang="en-US" sz="1400">
                <a:solidFill>
                  <a:srgbClr val="252D35"/>
                </a:solidFill>
                <a:latin typeface="Arial"/>
                <a:ea typeface="Arial"/>
                <a:cs typeface="Arial"/>
                <a:sym typeface="Arial"/>
              </a:rPr>
              <a:t>Together, the studies connect physical acquisition, peripheral coding and source-directed behavior across several preparations. A successful model search and receptor expression each support the mechanism, and neither alone establishes it. Explicit links between timing and behavior require direct manipulation in live animals, which would test whether the proposed code drives searching in natural plumes.</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6458567" y="1280071"/>
            <a:ext cx="5166078" cy="1784300"/>
          </a:xfrm>
          <a:prstGeom prst="rect">
            <a:avLst/>
          </a:prstGeom>
          <a:noFill/>
          <a:ln>
            <a:noFill/>
          </a:ln>
        </p:spPr>
      </p:pic>
      <p:sp>
        <p:nvSpPr>
          <p:cNvPr id="642" name="Google Shape;642;p45"/>
          <p:cNvSpPr/>
          <p:nvPr/>
        </p:nvSpPr>
        <p:spPr>
          <a:xfrm>
            <a:off x="6458396" y="315590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7. Authors’ model compares detected concentration-spike counts at different sampling frequencies.</a:t>
            </a:r>
            <a:endParaRPr sz="1800">
              <a:solidFill>
                <a:schemeClr val="dk1"/>
              </a:solidFill>
              <a:latin typeface="Calibri"/>
              <a:ea typeface="Calibri"/>
              <a:cs typeface="Calibri"/>
              <a:sym typeface="Calibri"/>
            </a:endParaRPr>
          </a:p>
        </p:txBody>
      </p:sp>
      <p:sp>
        <p:nvSpPr>
          <p:cNvPr id="643" name="Google Shape;643;p4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 Reidenbach &amp; Koehl (2011); Park et al. (2014); Horner et al. (2004)</a:t>
            </a:r>
            <a:endParaRPr sz="1800">
              <a:solidFill>
                <a:schemeClr val="dk1"/>
              </a:solidFill>
              <a:latin typeface="Calibri"/>
              <a:ea typeface="Calibri"/>
              <a:cs typeface="Calibri"/>
              <a:sym typeface="Calibri"/>
            </a:endParaRPr>
          </a:p>
        </p:txBody>
      </p:sp>
      <p:sp>
        <p:nvSpPr>
          <p:cNvPr id="645" name="Google Shape;645;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9" name="Shape 649"/>
        <p:cNvGrpSpPr/>
        <p:nvPr/>
      </p:nvGrpSpPr>
      <p:grpSpPr>
        <a:xfrm>
          <a:off x="0" y="0"/>
          <a:ext cx="0" cy="0"/>
          <a:chOff x="0" y="0"/>
          <a:chExt cx="0" cy="0"/>
        </a:xfrm>
      </p:grpSpPr>
      <p:sp>
        <p:nvSpPr>
          <p:cNvPr id="650" name="Google Shape;650;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1" name="Google Shape;651;p46"/>
          <p:cNvSpPr/>
          <p:nvPr/>
        </p:nvSpPr>
        <p:spPr>
          <a:xfrm>
            <a:off x="566886"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Behavior changes during approach</a:t>
            </a:r>
            <a:r>
              <a:rPr b="0" i="0" lang="en-US" sz="1600">
                <a:solidFill>
                  <a:srgbClr val="252D35"/>
                </a:solidFill>
                <a:latin typeface="Arial"/>
                <a:ea typeface="Arial"/>
                <a:cs typeface="Arial"/>
                <a:sym typeface="Arial"/>
              </a:rPr>
              <a:t> Food odor changes walking speed, heading and close-range raking; successful paths do not follow one invariant turning program.</a:t>
            </a:r>
            <a:endParaRPr sz="1800">
              <a:solidFill>
                <a:schemeClr val="dk1"/>
              </a:solidFill>
              <a:latin typeface="Calibri"/>
              <a:ea typeface="Calibri"/>
              <a:cs typeface="Calibri"/>
              <a:sym typeface="Calibri"/>
            </a:endParaRPr>
          </a:p>
        </p:txBody>
      </p:sp>
      <p:sp>
        <p:nvSpPr>
          <p:cNvPr id="653" name="Google Shape;653;p46"/>
          <p:cNvSpPr/>
          <p:nvPr/>
        </p:nvSpPr>
        <p:spPr>
          <a:xfrm>
            <a:off x="6233071"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Sensory pathways overlap conditionally</a:t>
            </a:r>
            <a:r>
              <a:rPr b="0" i="0" lang="en-US" sz="1600">
                <a:solidFill>
                  <a:srgbClr val="252D35"/>
                </a:solidFill>
                <a:latin typeface="Arial"/>
                <a:ea typeface="Arial"/>
                <a:cs typeface="Arial"/>
                <a:sym typeface="Arial"/>
              </a:rPr>
              <a:t> Either antennular chemical pathway can preserve source finding in Panulirus, while selective loss can reduce path efficiency.</a:t>
            </a:r>
            <a:endParaRPr sz="1800">
              <a:solidFill>
                <a:schemeClr val="dk1"/>
              </a:solidFill>
              <a:latin typeface="Calibri"/>
              <a:ea typeface="Calibri"/>
              <a:cs typeface="Calibri"/>
              <a:sym typeface="Calibri"/>
            </a:endParaRPr>
          </a:p>
        </p:txBody>
      </p:sp>
      <p:sp>
        <p:nvSpPr>
          <p:cNvPr id="655" name="Google Shape;655;p46"/>
          <p:cNvSpPr/>
          <p:nvPr/>
        </p:nvSpPr>
        <p:spPr>
          <a:xfrm>
            <a:off x="566886"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Sniffing filters input mechanically</a:t>
            </a:r>
            <a:r>
              <a:rPr b="0" i="0" lang="en-US" sz="1600">
                <a:solidFill>
                  <a:srgbClr val="252D35"/>
                </a:solidFill>
                <a:latin typeface="Arial"/>
                <a:ea typeface="Arial"/>
                <a:cs typeface="Arial"/>
                <a:sym typeface="Arial"/>
              </a:rPr>
              <a:t> Fast flicks replace water between aesthetascs; slow returns retain it, changing the timing and spatial pattern reaching receptors.</a:t>
            </a:r>
            <a:endParaRPr sz="1800">
              <a:solidFill>
                <a:schemeClr val="dk1"/>
              </a:solidFill>
              <a:latin typeface="Calibri"/>
              <a:ea typeface="Calibri"/>
              <a:cs typeface="Calibri"/>
              <a:sym typeface="Calibri"/>
            </a:endParaRPr>
          </a:p>
        </p:txBody>
      </p:sp>
      <p:sp>
        <p:nvSpPr>
          <p:cNvPr id="657" name="Google Shape;657;p46"/>
          <p:cNvSpPr/>
          <p:nvPr/>
        </p:nvSpPr>
        <p:spPr>
          <a:xfrm>
            <a:off x="6233071"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500"/>
              <a:buFont typeface="Arial"/>
              <a:buNone/>
            </a:pPr>
            <a:r>
              <a:rPr b="1" i="0" lang="en-US" sz="1500">
                <a:solidFill>
                  <a:srgbClr val="743B4A"/>
                </a:solidFill>
                <a:latin typeface="Arial"/>
                <a:ea typeface="Arial"/>
                <a:cs typeface="Arial"/>
                <a:sym typeface="Arial"/>
              </a:rPr>
              <a:t>Expression does not establish receptor function</a:t>
            </a:r>
            <a:r>
              <a:rPr b="0" i="0" lang="en-US" sz="1500">
                <a:solidFill>
                  <a:srgbClr val="252D35"/>
                </a:solidFill>
                <a:latin typeface="Arial"/>
                <a:ea typeface="Arial"/>
                <a:cs typeface="Arial"/>
                <a:sym typeface="Arial"/>
              </a:rPr>
              <a:t> IR localization and single-cell coexpression identify candidate machinery, but ligand specificity, channel composition and causal function require further tests.</a:t>
            </a:r>
            <a:endParaRPr sz="1800">
              <a:solidFill>
                <a:schemeClr val="dk1"/>
              </a:solidFill>
              <a:latin typeface="Calibri"/>
              <a:ea typeface="Calibri"/>
              <a:cs typeface="Calibri"/>
              <a:sym typeface="Calibri"/>
            </a:endParaRPr>
          </a:p>
        </p:txBody>
      </p:sp>
      <p:sp>
        <p:nvSpPr>
          <p:cNvPr id="659" name="Google Shape;659;p46"/>
          <p:cNvSpPr/>
          <p:nvPr/>
        </p:nvSpPr>
        <p:spPr>
          <a:xfrm>
            <a:off x="566886"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Timing begins in the periphery</a:t>
            </a:r>
            <a:r>
              <a:rPr b="0" i="0" lang="en-US" sz="1600">
                <a:solidFill>
                  <a:srgbClr val="252D35"/>
                </a:solidFill>
                <a:latin typeface="Arial"/>
                <a:ea typeface="Arial"/>
                <a:cs typeface="Arial"/>
                <a:sym typeface="Arial"/>
              </a:rPr>
              <a:t> Excitation, inhibition and intrinsic bursting occur in sensory neurons; phase-dependent responses can carry encounter-history information.</a:t>
            </a:r>
            <a:endParaRPr sz="1800">
              <a:solidFill>
                <a:schemeClr val="dk1"/>
              </a:solidFill>
              <a:latin typeface="Calibri"/>
              <a:ea typeface="Calibri"/>
              <a:cs typeface="Calibri"/>
              <a:sym typeface="Calibri"/>
            </a:endParaRPr>
          </a:p>
        </p:txBody>
      </p:sp>
      <p:sp>
        <p:nvSpPr>
          <p:cNvPr id="661" name="Google Shape;661;p46"/>
          <p:cNvSpPr/>
          <p:nvPr/>
        </p:nvSpPr>
        <p:spPr>
          <a:xfrm>
            <a:off x="6233071"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Navigation requires linked evidence</a:t>
            </a:r>
            <a:r>
              <a:rPr b="0" i="0" lang="en-US" sz="1600">
                <a:solidFill>
                  <a:srgbClr val="252D35"/>
                </a:solidFill>
                <a:latin typeface="Arial"/>
                <a:ea typeface="Arial"/>
                <a:cs typeface="Arial"/>
                <a:sym typeface="Arial"/>
              </a:rPr>
              <a:t> Central inhibition changes transmission, while plume and decoding models propose usable cues; their behavioral necessity remains to be demonstrated.</a:t>
            </a:r>
            <a:endParaRPr sz="1800">
              <a:solidFill>
                <a:schemeClr val="dk1"/>
              </a:solidFill>
              <a:latin typeface="Calibri"/>
              <a:ea typeface="Calibri"/>
              <a:cs typeface="Calibri"/>
              <a:sym typeface="Calibri"/>
            </a:endParaRPr>
          </a:p>
        </p:txBody>
      </p:sp>
      <p:sp>
        <p:nvSpPr>
          <p:cNvPr id="663" name="Google Shape;663;p4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 Horner et al. (2004); Koehl et al. (2001); Corey et al. (2013); Kozma et al. (2020); Park et al. (2014)</a:t>
            </a:r>
            <a:endParaRPr sz="1800">
              <a:solidFill>
                <a:schemeClr val="dk1"/>
              </a:solidFill>
              <a:latin typeface="Calibri"/>
              <a:ea typeface="Calibri"/>
              <a:cs typeface="Calibri"/>
              <a:sym typeface="Calibri"/>
            </a:endParaRPr>
          </a:p>
        </p:txBody>
      </p:sp>
      <p:sp>
        <p:nvSpPr>
          <p:cNvPr id="665" name="Google Shape;665;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6" name="Google Shape;59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Picrotoxin and cimetidine dissociate actions</a:t>
            </a:r>
            <a:endParaRPr sz="1800">
              <a:solidFill>
                <a:schemeClr val="dk1"/>
              </a:solidFill>
              <a:latin typeface="Calibri"/>
              <a:ea typeface="Calibri"/>
              <a:cs typeface="Calibri"/>
              <a:sym typeface="Calibri"/>
            </a:endParaRPr>
          </a:p>
        </p:txBody>
      </p:sp>
      <p:sp>
        <p:nvSpPr>
          <p:cNvPr id="597" name="Google Shape;59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Picrotoxin at 100 µM blocked the GABA effect, whereas histamine inhibition persisted. The GABA-receptor blocker left the histamine response in place in the same nerve preparation. Histamine inhibition remained after GABA receptor blockade. Responses were measured from afferent voltage signals. Picrotoxin left histamine inhibition intact in the same nerve. The effect was read from voltage signals in afferents.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Cimetidine at 5 mM reduced the histamine effect without producing the same blockade of GABA. The two drugs separated the inhibitory actions by receptor type. The cimetidine result complements the picrotoxin result. Together the two drugs show that GABA and histamine act through separate receptor types. Its effect was measured against control responses in the same nerve.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Histamine used as a central transmitter must be distinguished from histamine delivered as an odorant to sensory dendrites. The site of application determines which role is being tested, and the recorded response identifies the pathway. The two roles are distinct experimental questions. Odorant histamine reaches sensory dendrites, whereas transmitter histamine acts within the nerve. The two roles are separate experimental questions.</a:t>
            </a:r>
            <a:endParaRPr sz="1800">
              <a:solidFill>
                <a:schemeClr val="dk1"/>
              </a:solidFill>
              <a:latin typeface="Calibri"/>
              <a:ea typeface="Calibri"/>
              <a:cs typeface="Calibri"/>
              <a:sym typeface="Calibri"/>
            </a:endParaRPr>
          </a:p>
        </p:txBody>
      </p:sp>
      <p:pic>
        <p:nvPicPr>
          <p:cNvPr id="600" name="Google Shape;600;p42"/>
          <p:cNvPicPr preferRelativeResize="0"/>
          <p:nvPr/>
        </p:nvPicPr>
        <p:blipFill rotWithShape="1">
          <a:blip r:embed="rId2">
            <a:alphaModFix/>
          </a:blip>
          <a:srcRect b="0" l="0" r="0" t="0"/>
          <a:stretch/>
        </p:blipFill>
        <p:spPr>
          <a:xfrm>
            <a:off x="8052093" y="1280071"/>
            <a:ext cx="1750575" cy="2925961"/>
          </a:xfrm>
          <a:prstGeom prst="rect">
            <a:avLst/>
          </a:prstGeom>
          <a:noFill/>
          <a:ln>
            <a:noFill/>
          </a:ln>
        </p:spPr>
      </p:pic>
      <p:pic>
        <p:nvPicPr>
          <p:cNvPr id="602" name="Google Shape;602;p42"/>
          <p:cNvPicPr preferRelativeResize="0"/>
          <p:nvPr/>
        </p:nvPicPr>
        <p:blipFill rotWithShape="1">
          <a:blip r:embed="rId3">
            <a:alphaModFix/>
          </a:blip>
          <a:srcRect b="0" l="0" r="0" t="0"/>
          <a:stretch/>
        </p:blipFill>
        <p:spPr>
          <a:xfrm>
            <a:off x="8394059" y="4754761"/>
            <a:ext cx="1066643" cy="1005780"/>
          </a:xfrm>
          <a:prstGeom prst="rect">
            <a:avLst/>
          </a:prstGeom>
          <a:noFill/>
          <a:ln>
            <a:noFill/>
          </a:ln>
        </p:spPr>
      </p:pic>
      <p:sp>
        <p:nvSpPr>
          <p:cNvPr id="603" name="Google Shape;603;p4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604" name="Google Shape;604;p4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606" name="Google Shape;60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3" name="Google Shape;553;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2,000 synthetic neurons estimate intervals</a:t>
            </a:r>
            <a:endParaRPr sz="1800">
              <a:solidFill>
                <a:schemeClr val="dk1"/>
              </a:solidFill>
              <a:latin typeface="Calibri"/>
              <a:ea typeface="Calibri"/>
              <a:cs typeface="Calibri"/>
              <a:sym typeface="Calibri"/>
            </a:endParaRPr>
          </a:p>
        </p:txBody>
      </p:sp>
      <p:sp>
        <p:nvSpPr>
          <p:cNvPr id="554" name="Google Shape;554;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synthetic population contained 2,000 neurons, which the authors combined to estimate event timing. The estimate used population output rather than the activity of any single neuron. Each synthetic cell carried its own intrinsic period. The population was then decoded as one signal. Each cell's period was set in the oscillator model. Those periods differed across the population.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estimated intervals included inputs at 10, 12, 35, 40 and 43 s, spanning both brief and long gaps between events. Combining cells whose intrinsic periods differ improved the estimate for each interval in the sequence. Each interval estimate used the same decoder, applied across the whole population. The estimates were checked against the true input intervals.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computationally available signal is not automatically read out by the animal. The model motivates a behavioral prediction, and its idealized decoder sets the scope of that prediction. The 2,000 neurons were synthetic, not simultaneously recorded from real animals. A behavioral test would be needed to link this code to searching. Its predictions can be tested in live animals.</a:t>
            </a:r>
            <a:endParaRPr sz="1800">
              <a:solidFill>
                <a:schemeClr val="dk1"/>
              </a:solidFill>
              <a:latin typeface="Calibri"/>
              <a:ea typeface="Calibri"/>
              <a:cs typeface="Calibri"/>
              <a:sym typeface="Calibri"/>
            </a:endParaRPr>
          </a:p>
        </p:txBody>
      </p:sp>
      <p:pic>
        <p:nvPicPr>
          <p:cNvPr id="557" name="Google Shape;557;p39"/>
          <p:cNvPicPr preferRelativeResize="0"/>
          <p:nvPr/>
        </p:nvPicPr>
        <p:blipFill rotWithShape="1">
          <a:blip r:embed="rId2">
            <a:alphaModFix/>
          </a:blip>
          <a:srcRect b="0" l="0" r="0" t="0"/>
          <a:stretch/>
        </p:blipFill>
        <p:spPr>
          <a:xfrm>
            <a:off x="6958552" y="1280071"/>
            <a:ext cx="3937657" cy="2925961"/>
          </a:xfrm>
          <a:prstGeom prst="rect">
            <a:avLst/>
          </a:prstGeom>
          <a:noFill/>
          <a:ln>
            <a:noFill/>
          </a:ln>
        </p:spPr>
      </p:pic>
      <p:sp>
        <p:nvSpPr>
          <p:cNvPr id="558" name="Google Shape;558;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6a–c. Authors’ synthetic-population decoder estimates stimulus intervals.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560" name="Google Shape;560;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61" name="Google Shape;561;p3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a:t>
            </a:r>
            <a:endParaRPr sz="1800">
              <a:solidFill>
                <a:schemeClr val="dk1"/>
              </a:solidFill>
              <a:latin typeface="Calibri"/>
              <a:ea typeface="Calibri"/>
              <a:cs typeface="Calibri"/>
              <a:sym typeface="Calibri"/>
            </a:endParaRPr>
          </a:p>
        </p:txBody>
      </p:sp>
      <p:sp>
        <p:nvSpPr>
          <p:cNvPr id="563" name="Google Shape;563;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Messenger levels at 100 µM</a:t>
            </a:r>
            <a:endParaRPr sz="1800">
              <a:solidFill>
                <a:schemeClr val="dk1"/>
              </a:solidFill>
              <a:latin typeface="Calibri"/>
              <a:ea typeface="Calibri"/>
              <a:cs typeface="Calibri"/>
              <a:sym typeface="Calibri"/>
            </a:endParaRPr>
          </a:p>
        </p:txBody>
      </p:sp>
      <p:sp>
        <p:nvSpPr>
          <p:cNvPr id="509" name="Google Shape;50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At 100 µM, taurine produced a peak IP3 near 630 pmol/mg and a cAMP peak near 280 pmol/mg. Those values were measured in the same isolated dendritic membranes as the low-dose traces, so the two concentrations can be read side by side. The higher-dose values come from a separate figure, not an extrapolation. The low-dose traces show preference rather than total messenger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Proline produced a cAMP peak near 720 pmol/mg and an IP3 peak near 220 pmol/mg at the same concentration. Its cAMP response was larger than its IP3 response, which reverses the ordering seen for taurine at this dose. The two ligands kept their preferences at this dose as well. Both messengers were measured for each ligand.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Picomoles per milligram normalize the measured messenger quantity to membrane protein rather than to one neuron. The pooled measurement describes membrane material rather than any single cell type. Membrane protein is the normalization unit used in these measurements. The values describe group-level messenger levels. Values are group-level, summarizing the whole preparation in each sample.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2">
            <a:alphaModFix/>
          </a:blip>
          <a:srcRect b="0" l="0" r="0" t="0"/>
          <a:stretch/>
        </p:blipFill>
        <p:spPr>
          <a:xfrm>
            <a:off x="6631316" y="1280071"/>
            <a:ext cx="4592278" cy="2925961"/>
          </a:xfrm>
          <a:prstGeom prst="rect">
            <a:avLst/>
          </a:prstGeom>
          <a:noFill/>
          <a:ln>
            <a:noFill/>
          </a:ln>
        </p:spPr>
      </p:pic>
      <p:sp>
        <p:nvSpPr>
          <p:cNvPr id="513" name="Google Shape;513;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3A–B. Taurine and proline differ in second-messenger recruitment.</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7382257" y="4754761"/>
            <a:ext cx="3090248" cy="1005780"/>
          </a:xfrm>
          <a:prstGeom prst="rect">
            <a:avLst/>
          </a:prstGeom>
          <a:noFill/>
          <a:ln>
            <a:noFill/>
          </a:ln>
        </p:spPr>
      </p:pic>
      <p:sp>
        <p:nvSpPr>
          <p:cNvPr id="515" name="Google Shape;515;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a:t>
            </a:r>
            <a:endParaRPr sz="1800">
              <a:solidFill>
                <a:schemeClr val="dk1"/>
              </a:solidFill>
              <a:latin typeface="Calibri"/>
              <a:ea typeface="Calibri"/>
              <a:cs typeface="Calibri"/>
              <a:sym typeface="Calibri"/>
            </a:endParaRPr>
          </a:p>
        </p:txBody>
      </p:sp>
      <p:sp>
        <p:nvSpPr>
          <p:cNvPr id="518" name="Google Shape;51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cGMP analog mimics proline's outward current</a:t>
            </a:r>
            <a:endParaRPr sz="1800">
              <a:solidFill>
                <a:schemeClr val="dk1"/>
              </a:solidFill>
              <a:latin typeface="Calibri"/>
              <a:ea typeface="Calibri"/>
              <a:cs typeface="Calibri"/>
              <a:sym typeface="Calibri"/>
            </a:endParaRPr>
          </a:p>
        </p:txBody>
      </p:sp>
      <p:sp>
        <p:nvSpPr>
          <p:cNvPr id="464" name="Google Shape;464;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Phosphodiesterases normally break down cyclic nucleotides. Blocking them raises intracellular levels of these messengers, so the inhibitor works as a pathway probe rather than an odor-specific receptor ligand. Opening a potassium conductance can shift voltage toward the potassium equilibrium potential. The behavioral meaning of that shift depends on which sensory neuron is inhibited in each case.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The cyclic-GMP analog produced an outward current matching the one proline evoked in this cell class. The same outward response appeared with phosphodiesterase inhibition, so three distinct manipulations converged on one current. IBMX raised cyclic-nucleotide levels by blocking their breakdown. The response class was defined by proline inhibition. Responses were recorded as outward currents.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Drug actions and analog selectivity need a check against cells that lack the proline-inhibitory phenotype. Cells that respond to food extract but lack proline-driven inhibition form the contrasting group. Analog selectivity is tested by comparing these cells with the proline-excited class. Those cells test whether the outward current is specific to the inhibited class. The proline-excited class supplies that comparison.</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2">
            <a:alphaModFix/>
          </a:blip>
          <a:srcRect b="0" l="0" r="0" t="0"/>
          <a:stretch/>
        </p:blipFill>
        <p:spPr>
          <a:xfrm>
            <a:off x="6229924" y="1280071"/>
            <a:ext cx="5394765" cy="2859435"/>
          </a:xfrm>
          <a:prstGeom prst="rect">
            <a:avLst/>
          </a:prstGeom>
          <a:noFill/>
          <a:ln>
            <a:noFill/>
          </a:ln>
        </p:spPr>
      </p:pic>
      <p:sp>
        <p:nvSpPr>
          <p:cNvPr id="468" name="Google Shape;468;p33"/>
          <p:cNvSpPr/>
          <p:nvPr/>
        </p:nvSpPr>
        <p:spPr>
          <a:xfrm>
            <a:off x="6229796" y="423103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4. Proline, phosphodiesterase inhibition and cyclic-GMP analog evoke outward currents.</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470" name="Google Shape;470;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a:t>
            </a:r>
            <a:endParaRPr sz="1800">
              <a:solidFill>
                <a:schemeClr val="dk1"/>
              </a:solidFill>
              <a:latin typeface="Calibri"/>
              <a:ea typeface="Calibri"/>
              <a:cs typeface="Calibri"/>
              <a:sym typeface="Calibri"/>
            </a:endParaRPr>
          </a:p>
        </p:txBody>
      </p:sp>
      <p:sp>
        <p:nvSpPr>
          <p:cNvPr id="473" name="Google Shape;47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follows spikes with a delay</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Calcium can enter a neuron through voltage-dependent channels, and it can also be released from intracellular stores. The fluorescence reflects calcium from either source, so a single optical trace combines both contributions. Calcium-sensitive dye reports these changes through its fluorescence intensity. The calcium signal is slower than the electrical event that causes it. The calcium rise follows the stimulus with a delay.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broad calcium peak has its own duration, which differs from both the odor pulse and the spike burst that produced it. Dye kinetics stretch the signal in time, so the peak lasts longer than the electrical event it follows. Peak timing comes from that neuron's optical trace. Those effects were measured in identified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Excitation increased firing and then accumulated a calcium signal, while an inhibitory optical response accompanied reduced firing. Bobkov and colleagues recorded both signals together, so the two time courses come from the same cells. The optical peak occurs after the spike burst that drives it. Spike timing and fluorescence answer different questions. Spikes alone resolve the timing of individual events.</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7385981" y="1280071"/>
            <a:ext cx="3082947" cy="2925961"/>
          </a:xfrm>
          <a:prstGeom prst="rect">
            <a:avLst/>
          </a:prstGeom>
          <a:noFill/>
          <a:ln>
            <a:noFill/>
          </a:ln>
        </p:spPr>
      </p:pic>
      <p:sp>
        <p:nvSpPr>
          <p:cNvPr id="425" name="Google Shape;425;p3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3A–C. Simultaneous spikes and calcium responses across neuronal response classes.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427" name="Google Shape;427;p3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a:t>
            </a:r>
            <a:endParaRPr sz="1800">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 proteins couple receptors to enzymes</a:t>
            </a:r>
            <a:endParaRPr sz="1800">
              <a:solidFill>
                <a:schemeClr val="dk1"/>
              </a:solidFill>
              <a:latin typeface="Calibri"/>
              <a:ea typeface="Calibri"/>
              <a:cs typeface="Calibri"/>
              <a:sym typeface="Calibri"/>
            </a:endParaRPr>
          </a:p>
        </p:txBody>
      </p:sp>
      <p:sp>
        <p:nvSpPr>
          <p:cNvPr id="376" name="Google Shape;376;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G protein links some activated receptors to intracellular enzymes or channels. That coupling is a second-messenger route, which differs from ligand-gated channels that open directly when a ligand binds. Enzymes activated this way change messenger levels before any ionic current flows. The intracellular cascade sets the timing of the response. Its second messengers are inside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Ligand-gated channels are described by their ion permeation rather than by second-messenger steps. Ionic current through the channel is the readout of activation, so the identity of the ions carried matters for the response. Current direction depends on the ions carried through that channel. GPCRs can regulate intracellular signaling, so they act through a different route.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Molecular presence indicates that a pathway could exist, but causal function must be tested rather than assigned from a protein-family name. Expression data identify candidate genes, which functional tests then assign to odor responses. A transcript for a GPCR or TRP channel needs a functional test before it is linked to odor. Each candidate receptor then needs its own ligand test.</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2">
            <a:alphaModFix/>
          </a:blip>
          <a:srcRect b="0" l="0" r="0" t="0"/>
          <a:stretch/>
        </p:blipFill>
        <p:spPr>
          <a:xfrm>
            <a:off x="6229989" y="1280071"/>
            <a:ext cx="5394635" cy="2505224"/>
          </a:xfrm>
          <a:prstGeom prst="rect">
            <a:avLst/>
          </a:prstGeom>
          <a:noFill/>
          <a:ln>
            <a:noFill/>
          </a:ln>
        </p:spPr>
      </p:pic>
      <p:sp>
        <p:nvSpPr>
          <p:cNvPr id="380" name="Google Shape;380;p27"/>
          <p:cNvSpPr/>
          <p:nvPr/>
        </p:nvSpPr>
        <p:spPr>
          <a:xfrm>
            <a:off x="6229796" y="387682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4. Authors’ summary of genes expressed in olfactory sensory neurons.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8336338" y="4754761"/>
            <a:ext cx="1182086" cy="1005780"/>
          </a:xfrm>
          <a:prstGeom prst="rect">
            <a:avLst/>
          </a:prstGeom>
          <a:noFill/>
          <a:ln>
            <a:noFill/>
          </a:ln>
        </p:spPr>
      </p:pic>
      <p:sp>
        <p:nvSpPr>
          <p:cNvPr id="382" name="Google Shape;382;p2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85" name="Google Shape;38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Deorphanization links a ligand to a receptor</a:t>
            </a:r>
            <a:endParaRPr sz="1800">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Deorphanization means identifying the ligand that activates a receptor without an identified ligand. Calcium imaging supplies a candidate list one cell at a time, and that list is then tested with the receptor protein itself. Responses were scored cell by cell across the stimulus panel. The dye turns calcium changes into fluorescence intensity. Calcium responses differed between cells that sat side by side.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IR25a appeared in cell somata and inner dendrites in the fluorescent row of the published immunolabeling figure. The protein occurs in both the cell body and the inner dendrites, which places it in the cells whose responses were imaged. A control image accompanied the labeled row. The control labeling marks background staining. Labeling in that row shows bright somata and dendritic profiles.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 response to arginine in an intact cell identifies a candidate responder rather than the receptor protein. Expression and localization together narrow the candidates before any functional test, and ligand binding, ion selectivity and subunit composition each need their own measurement. Sequence data alone identify candidates only. Functional tests are run in defined cell types.</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3" name="Google Shape;29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Dye parcels were about 1 mm thick</a:t>
            </a:r>
            <a:endParaRPr sz="1800">
              <a:solidFill>
                <a:schemeClr val="dk1"/>
              </a:solidFill>
              <a:latin typeface="Calibri"/>
              <a:ea typeface="Calibri"/>
              <a:cs typeface="Calibri"/>
              <a:sym typeface="Calibri"/>
            </a:endParaRPr>
          </a:p>
        </p:txBody>
      </p:sp>
      <p:sp>
        <p:nvSpPr>
          <p:cNvPr id="294" name="Google Shape;294;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Each dye parcel was about 1 mm thick when it crossed the array. In the same preparation, the benthic dye source sat 1 m upstream of the antennule. A horizontal streak in the published map means concentration at one position remained similar over time. Parcel size and source distance were both taken from the video frames.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Tracking the same dye feature across frames distinguishes exchange with the plume from simple movement of the appendage. The image sequence contains successive frames from the original recording rather than a drawn diagram. Each frame sequence captures one flick cycle from start to finish. Those video frames were recorded during successive flicks of the antennule.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original high-speed frames record each stage of a flick, from the rapid downstroke through the slower return. The parcels leave the array during the next downstroke. A sustained spike train or a labeled sensory axon is not what this map shows. Those parcels can be followed from frame to frame in each sequence. Parcels were captured in one downstroke each.</a:t>
            </a:r>
            <a:endParaRPr sz="1800">
              <a:solidFill>
                <a:schemeClr val="dk1"/>
              </a:solidFill>
              <a:latin typeface="Calibri"/>
              <a:ea typeface="Calibri"/>
              <a:cs typeface="Calibri"/>
              <a:sym typeface="Calibri"/>
            </a:endParaRPr>
          </a:p>
        </p:txBody>
      </p:sp>
      <p:pic>
        <p:nvPicPr>
          <p:cNvPr id="297" name="Google Shape;297;p21"/>
          <p:cNvPicPr preferRelativeResize="0"/>
          <p:nvPr/>
        </p:nvPicPr>
        <p:blipFill rotWithShape="1">
          <a:blip r:embed="rId2">
            <a:alphaModFix/>
          </a:blip>
          <a:srcRect b="0" l="0" r="0" t="0"/>
          <a:stretch/>
        </p:blipFill>
        <p:spPr>
          <a:xfrm>
            <a:off x="6458495" y="1280071"/>
            <a:ext cx="5166223" cy="1914079"/>
          </a:xfrm>
          <a:prstGeom prst="rect">
            <a:avLst/>
          </a:prstGeom>
          <a:noFill/>
          <a:ln>
            <a:noFill/>
          </a:ln>
        </p:spPr>
      </p:pic>
      <p:sp>
        <p:nvSpPr>
          <p:cNvPr id="298" name="Google Shape;298;p21"/>
          <p:cNvSpPr/>
          <p:nvPr/>
        </p:nvSpPr>
        <p:spPr>
          <a:xfrm>
            <a:off x="6458396" y="3285679"/>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2. Measured spatial dye pattern retained between successive flicks.</a:t>
            </a:r>
            <a:endParaRPr sz="1800">
              <a:solidFill>
                <a:schemeClr val="dk1"/>
              </a:solidFill>
              <a:latin typeface="Calibri"/>
              <a:ea typeface="Calibri"/>
              <a:cs typeface="Calibri"/>
              <a:sym typeface="Calibri"/>
            </a:endParaRPr>
          </a:p>
        </p:txBody>
      </p:sp>
      <p:sp>
        <p:nvSpPr>
          <p:cNvPr id="299" name="Google Shape;299;p2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301" name="Google Shape;30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Diffusion spans about 32 µm in 0.5 s</a:t>
            </a:r>
            <a:endParaRPr sz="1800">
              <a:solidFill>
                <a:schemeClr val="dk1"/>
              </a:solidFill>
              <a:latin typeface="Calibri"/>
              <a:ea typeface="Calibri"/>
              <a:cs typeface="Calibri"/>
              <a:sym typeface="Calibri"/>
            </a:endParaRPr>
          </a:p>
        </p:txBody>
      </p:sp>
      <p:sp>
        <p:nvSpPr>
          <p:cNvPr id="251" name="Google Shape;25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Diffusion is random molecular motion that redistributes solute down local concentration differences. Retaining water increases the contact time available for molecules to reach the membrane, but not every retained molecule reaches it. That contact time is set by the slow return rather than by the downstroke. Diffusion acts within the retained water near each hair.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The authors estimated that diffusion over 0.5 s could span about 32 µm. That figure is a length scale for the retained sample at the aesthetasc surfaces during the return, not the distance traveled by any particular molecule. The calculation uses a simple diffusion estimate over that time window. The estimate covers the return interval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The estimate is a physical calculation, not a measured uptake of ligand by neurons. Transport in the retained sample is one stage in a sequence, and receptor binding is the stage that follows it. The sequence begins with a physical stage before the molecular stage. Receptor binding follows once solute reaches the membrane. Its timing follows the flick.</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2">
            <a:alphaModFix/>
          </a:blip>
          <a:srcRect b="0" l="0" r="0" t="0"/>
          <a:stretch/>
        </p:blipFill>
        <p:spPr>
          <a:xfrm>
            <a:off x="7963535" y="1280071"/>
            <a:ext cx="1927692" cy="2925961"/>
          </a:xfrm>
          <a:prstGeom prst="rect">
            <a:avLst/>
          </a:prstGeom>
          <a:noFill/>
          <a:ln>
            <a:noFill/>
          </a:ln>
        </p:spPr>
      </p:pic>
      <p:pic>
        <p:nvPicPr>
          <p:cNvPr id="256" name="Google Shape;256;p1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60" name="Google Shape;26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7" name="Google Shape;20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Aesthetasc dimensions set the array scale</a:t>
            </a:r>
            <a:endParaRPr sz="1800">
              <a:solidFill>
                <a:schemeClr val="dk1"/>
              </a:solidFill>
              <a:latin typeface="Calibri"/>
              <a:ea typeface="Calibri"/>
              <a:cs typeface="Calibri"/>
              <a:sym typeface="Calibri"/>
            </a:endParaRPr>
          </a:p>
        </p:txBody>
      </p:sp>
      <p:sp>
        <p:nvSpPr>
          <p:cNvPr id="208" name="Google Shape;208;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Representative aesthetasc diameter was 22 µm, length about 720 µm and spacing about 60 µm. These dimensions were measured on the lateral flagellum of Panulirus before any physical model was built. The model reproduces these scales at a larger size in mineral oil, which keeps the scale of each hair in proportion. Those dimensions define the scale of the array.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An outer dendrite is the distal sensory portion of a neuron extending into the hair. Membrane receptors sit on those dendrites and respond to molecules that reach them. The hair's cuticle and fluid environment lie on the path between transported chemicals and the neuronal membrane. Odor molecules must reach that membrane before any receptor can respond.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743B4A"/>
              </a:buClr>
              <a:buSzPts val="1500"/>
              <a:buFont typeface="Arial"/>
              <a:buNone/>
            </a:pPr>
            <a:r>
              <a:rPr b="0" i="0" lang="en-US" sz="1400">
                <a:solidFill>
                  <a:srgbClr val="252D35"/>
                </a:solidFill>
                <a:latin typeface="Arial"/>
                <a:ea typeface="Arial"/>
                <a:cs typeface="Arial"/>
                <a:sym typeface="Arial"/>
              </a:rPr>
              <a:t>Microscopy establishes dimensions and arrangement, not channel opening or neural firing. The 60 µm spacing is the gap width that water passes through in the model. The 22 µm diameter sets the width of each hair in the same model, which keeps the proportions of the living array. The hair width sets the scale for the water flow analyzed in the model.</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2">
            <a:alphaModFix/>
          </a:blip>
          <a:srcRect b="0" l="0" r="0" t="0"/>
          <a:stretch/>
        </p:blipFill>
        <p:spPr>
          <a:xfrm>
            <a:off x="7996463" y="1280071"/>
            <a:ext cx="2090584" cy="4297561"/>
          </a:xfrm>
          <a:prstGeom prst="rect">
            <a:avLst/>
          </a:prstGeom>
          <a:noFill/>
          <a:ln>
            <a:noFill/>
          </a:ln>
        </p:spPr>
      </p:pic>
      <p:sp>
        <p:nvSpPr>
          <p:cNvPr id="212" name="Google Shape;212;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1A–C. Spiny lobster photograph and antennular scanning electron micrographs.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15" name="Google Shape;215;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8" name="Google Shape;168;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Virtual sampler flicks and plume geometry</a:t>
            </a:r>
            <a:endParaRPr sz="1800">
              <a:solidFill>
                <a:schemeClr val="dk1"/>
              </a:solidFill>
              <a:latin typeface="Calibri"/>
              <a:ea typeface="Calibri"/>
              <a:cs typeface="Calibri"/>
              <a:sym typeface="Calibri"/>
            </a:endParaRPr>
          </a:p>
        </p:txBody>
      </p:sp>
      <p:sp>
        <p:nvSpPr>
          <p:cNvPr id="169" name="Google Shape;169;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lobster sampler flicked at 2 Hz and moved at 6 cm/s during the downstroke, so two downstrokes occurred every second. The crab sampler flicked at 3 Hz, which made its flicks occur more often than the lobster's. Both geometries were compared at the same 8-cm height above the bed. Lobster geometry was the larger of the two sampling structures.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A virtual sampler is an analysis of physical measurements, not a recording of a receptor neuron. Its purpose is to isolate which aspects of the input depend on appendage size and motion. Flick rate and sampler speed are fixed inputs in each calculation, and both samplers used the same plume records. Flick counts per second differ by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The calculated output is an estimate of odor encounters per flick. That estimate follows from the measured plume images and the sampling assumptions specified in the analysis. Its values describe the physical input to a sampler of that shape, not a neuron's response. The estimate is an analysis output, not a measured animal response.</a:t>
            </a:r>
            <a:endParaRPr sz="1800">
              <a:solidFill>
                <a:schemeClr val="dk1"/>
              </a:solidFill>
              <a:latin typeface="Calibri"/>
              <a:ea typeface="Calibri"/>
              <a:cs typeface="Calibri"/>
              <a:sym typeface="Calibri"/>
            </a:endParaRPr>
          </a:p>
        </p:txBody>
      </p:sp>
      <p:pic>
        <p:nvPicPr>
          <p:cNvPr id="172" name="Google Shape;172;p12"/>
          <p:cNvPicPr preferRelativeResize="0"/>
          <p:nvPr/>
        </p:nvPicPr>
        <p:blipFill rotWithShape="1">
          <a:blip r:embed="rId2">
            <a:alphaModFix/>
          </a:blip>
          <a:srcRect b="0" l="0" r="0" t="0"/>
          <a:stretch/>
        </p:blipFill>
        <p:spPr>
          <a:xfrm>
            <a:off x="6458497" y="1280071"/>
            <a:ext cx="5166219" cy="4067770"/>
          </a:xfrm>
          <a:prstGeom prst="rect">
            <a:avLst/>
          </a:prstGeom>
          <a:noFill/>
          <a:ln>
            <a:noFill/>
          </a:ln>
        </p:spPr>
      </p:pic>
      <p:sp>
        <p:nvSpPr>
          <p:cNvPr id="173" name="Google Shape;173;p12"/>
          <p:cNvSpPr/>
          <p:nvPr/>
        </p:nvSpPr>
        <p:spPr>
          <a:xfrm>
            <a:off x="6458396" y="543937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5A–B. Colored plume filaments and concentration along a sampling transect.</a:t>
            </a:r>
            <a:endParaRPr sz="1800">
              <a:solidFill>
                <a:schemeClr val="dk1"/>
              </a:solidFill>
              <a:latin typeface="Calibri"/>
              <a:ea typeface="Calibri"/>
              <a:cs typeface="Calibri"/>
              <a:sym typeface="Calibri"/>
            </a:endParaRPr>
          </a:p>
        </p:txBody>
      </p:sp>
      <p:sp>
        <p:nvSpPr>
          <p:cNvPr id="174" name="Google Shape;174;p1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76" name="Google Shape;176;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Success rates by odor and sensory treatment</a:t>
            </a:r>
            <a:endParaRPr sz="1800">
              <a:solidFill>
                <a:schemeClr val="dk1"/>
              </a:solidFill>
              <a:latin typeface="Calibri"/>
              <a:ea typeface="Calibri"/>
              <a:cs typeface="Calibri"/>
              <a:sym typeface="Calibri"/>
            </a:endParaRPr>
          </a:p>
        </p:txBody>
      </p:sp>
      <p:sp>
        <p:nvSpPr>
          <p:cNvPr id="126" name="Google Shape;126;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Intact lobsters reached the high-odor source in 68% of trials, versus 45% for the weaker odor. No intact animal located a seawater source, which fixes the reference point for the experiment. These intact values serve as the reference for every lesion condition in the flume. Intact animals reached the high-odor source more often than the low-odor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After aesthetasc removal, success was 77% for high odor and 69% for low odor, both above the intact values. Removing non-aesthetasc sensilla gave 64% for high odor, four points below the intact animals, and 45% for low odor, matching the intact result. Those percentages come from the same flume trials. Those values are proportions of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500"/>
              <a:buFont typeface="Arial"/>
              <a:buNone/>
            </a:pPr>
            <a:r>
              <a:rPr b="0" i="0" lang="en-US" sz="1400">
                <a:solidFill>
                  <a:srgbClr val="252D35"/>
                </a:solidFill>
                <a:latin typeface="Arial"/>
                <a:ea typeface="Arial"/>
                <a:cs typeface="Arial"/>
                <a:sym typeface="Arial"/>
              </a:rPr>
              <a:t>Preserved success after one pathway is removed argues against that pathway's unique necessity for the task. Odor concentration changed success in every treatment, with high odor giving the higher percentage. Both pathways carried useful information for the weak odor. Non-aesthetasc removal left the low-odor result equal to the intact value. Low-odor trials were the more demanding test in each treatment.</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2">
            <a:alphaModFix/>
          </a:blip>
          <a:srcRect b="0" l="0" r="0" t="0"/>
          <a:stretch/>
        </p:blipFill>
        <p:spPr>
          <a:xfrm>
            <a:off x="6662887" y="1280071"/>
            <a:ext cx="4529285" cy="2925961"/>
          </a:xfrm>
          <a:prstGeom prst="rect">
            <a:avLst/>
          </a:prstGeom>
          <a:noFill/>
          <a:ln>
            <a:noFill/>
          </a:ln>
        </p:spPr>
      </p:pic>
      <p:sp>
        <p:nvSpPr>
          <p:cNvPr id="130" name="Google Shape;130;p9"/>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3. Source-finding success after selective antennular lesions.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132" name="Google Shape;132;p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35" name="Google Shape;135;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Raking events per 5 s by distance band</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Raking averaged 3.4 events per 5 s within 7 cm of the source and 2.6 events per 5 s at 7 to 15 cm. Those two distance bands contained the highest raking rates in the recorded approaches. The 7-cm band marks the closest distance at which raking was scored. Raking was counted in each band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Between 15 and 22 cm, the average fell to 1.15 events per 5 s, a value that sits between the nearer bands and the far one. Beyond 22 cm it averaged 0.1 per 5 s, a rate near zero relative to the source zone. Rates are averages of counts taken within each distance band.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500">
                <a:solidFill>
                  <a:srgbClr val="252D35"/>
                </a:solidFill>
                <a:latin typeface="Arial"/>
                <a:ea typeface="Arial"/>
                <a:cs typeface="Arial"/>
                <a:sym typeface="Arial"/>
              </a:rPr>
              <a:t>The distance bands were 0 to 7 cm, 7 to 15 cm, 15 to 22 cm and beyond 22 cm. The figure omits raking frequency, so its trajectories alone are not a direct readout of leg-receptor activity. The bands are fixed ranges from the source rather than single lobster positions. These bands are the same for every recorded approach.</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612064" y="1280071"/>
            <a:ext cx="4859233" cy="4297561"/>
          </a:xfrm>
          <a:prstGeom prst="rect">
            <a:avLst/>
          </a:prstGeom>
          <a:noFill/>
          <a:ln>
            <a:noFill/>
          </a:ln>
        </p:spPr>
      </p:pic>
      <p:sp>
        <p:nvSpPr>
          <p:cNvPr id="89" name="Google Shape;89;p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Mussel extract was delivered at a set rate</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Mussel extract was delivered at 0.5 g/L and 50 mL/min from a source 9 cm above the bottom of the arena. Control trials kept the same delivery conditions but replaced the extract with raw seawater, which sets the baseline for every extract condition. The control differs from its extract trial in chemical content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A reference grid and overhead video allowed position and heading to be measured in each walk. The rostrum, the animal's anterior projection, served as the positional landmark. Its position was digitized once per second, giving a common spatial and temporal reference for all trials. Heading was measured from the same digitized positions. All walks were scored on the same grid.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D35"/>
              </a:buClr>
              <a:buSzPts val="1600"/>
              <a:buFont typeface="Arial"/>
              <a:buNone/>
            </a:pPr>
            <a:r>
              <a:rPr b="0" i="0" lang="en-US" sz="1400">
                <a:solidFill>
                  <a:srgbClr val="252D35"/>
                </a:solidFill>
                <a:latin typeface="Arial"/>
                <a:ea typeface="Arial"/>
                <a:cs typeface="Arial"/>
                <a:sym typeface="Arial"/>
              </a:rPr>
              <a:t>Turbulent dilution and the animal's own movement mean the concentration at a receptor is not read directly from the source solution. The source concentration differs from the fluctuating concentration reaching the animal downstream. Odor arrives as intermittent pulses rather than as a steady field, so walking animals meet a fluctuating signal. Walking animals sample a fluctuating signal rather than a steady gradient.</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2026-10-08T17:32:48.925Z</dcterms:created>
  <dc:creator>Presenton</dc:creator>
</cp:coreProperties>
</file>