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315" r:id="rId66"/>
    <p:sldId id="259" r:id="rId9"/>
    <p:sldId id="260" r:id="rId10"/>
    <p:sldId id="261" r:id="rId11"/>
    <p:sldId id="314" r:id="rId65"/>
    <p:sldId id="262" r:id="rId12"/>
    <p:sldId id="263" r:id="rId13"/>
    <p:sldId id="264" r:id="rId14"/>
    <p:sldId id="313" r:id="rId64"/>
    <p:sldId id="265" r:id="rId15"/>
    <p:sldId id="266" r:id="rId16"/>
    <p:sldId id="267" r:id="rId17"/>
    <p:sldId id="312" r:id="rId63"/>
    <p:sldId id="268" r:id="rId18"/>
    <p:sldId id="269" r:id="rId19"/>
    <p:sldId id="270" r:id="rId20"/>
    <p:sldId id="311" r:id="rId62"/>
    <p:sldId id="271" r:id="rId21"/>
    <p:sldId id="272" r:id="rId22"/>
    <p:sldId id="273" r:id="rId23"/>
    <p:sldId id="310" r:id="rId61"/>
    <p:sldId id="274" r:id="rId24"/>
    <p:sldId id="275" r:id="rId25"/>
    <p:sldId id="276" r:id="rId26"/>
    <p:sldId id="309" r:id="rId60"/>
    <p:sldId id="277" r:id="rId27"/>
    <p:sldId id="278" r:id="rId28"/>
    <p:sldId id="279" r:id="rId29"/>
    <p:sldId id="308" r:id="rId59"/>
    <p:sldId id="280" r:id="rId30"/>
    <p:sldId id="281" r:id="rId31"/>
    <p:sldId id="282" r:id="rId32"/>
    <p:sldId id="307" r:id="rId58"/>
    <p:sldId id="283" r:id="rId33"/>
    <p:sldId id="284" r:id="rId34"/>
    <p:sldId id="285" r:id="rId35"/>
    <p:sldId id="306" r:id="rId57"/>
    <p:sldId id="286" r:id="rId36"/>
    <p:sldId id="287" r:id="rId37"/>
    <p:sldId id="288" r:id="rId38"/>
    <p:sldId id="305" r:id="rId56"/>
    <p:sldId id="289" r:id="rId39"/>
    <p:sldId id="290" r:id="rId40"/>
    <p:sldId id="291" r:id="rId41"/>
    <p:sldId id="304" r:id="rId55"/>
    <p:sldId id="292" r:id="rId42"/>
    <p:sldId id="293" r:id="rId43"/>
    <p:sldId id="294" r:id="rId44"/>
    <p:sldId id="303" r:id="rId54"/>
    <p:sldId id="295" r:id="rId45"/>
    <p:sldId id="296" r:id="rId46"/>
    <p:sldId id="297" r:id="rId47"/>
    <p:sldId id="302" r:id="rId53"/>
    <p:sldId id="298" r:id="rId48"/>
    <p:sldId id="299" r:id="rId49"/>
    <p:sldId id="300" r:id="rId50"/>
    <p:sldId id="301" r:id="rId51"/>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2" roundtripDataSignature="AMtx7mh1iEt38XLQ35c+ePo/ZgweTdKU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customschemas.google.com/relationships/presentationmetadata" Target="metadata"/><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Navigation I: desert ant path integration (Wehner)</a:t>
            </a:r>
            <a:endParaRPr/>
          </a:p>
          <a:p>
            <a:pPr indent="0" lvl="0" marL="0" rtl="0" algn="l">
              <a:spcBef>
                <a:spcPts val="0"/>
              </a:spcBef>
              <a:spcAft>
                <a:spcPts val="0"/>
              </a:spcAft>
              <a:buNone/>
            </a:pPr>
            <a:r>
              <a:rPr lang="en-US"/>
              <a:t>Lecture 28. NEUR 411 · NEUROETHOLOGY · FALL 2026. Friday, October 30, 2026.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Wittlinger et al. (2007), Fig. 3(A). Normal tripod gait in a walking Cataglyphis fortis.</a:t>
            </a:r>
            <a:endParaRPr/>
          </a:p>
          <a:p>
            <a:pPr indent="0" lvl="0" marL="0" rtl="0" algn="l">
              <a:spcBef>
                <a:spcPts val="0"/>
              </a:spcBef>
              <a:spcAft>
                <a:spcPts val="0"/>
              </a:spcAft>
              <a:buNone/>
            </a:pPr>
            <a:r>
              <a:rPr lang="en-US"/>
              <a:t>Figure source: https://doi.org/10.1242/jeb.02657</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**Path integration** is the continual updating of direction and distance from a starting point using information gathered during movement. A **home vector** specifies the direction and distance back to the nest; it need not reproduce the sequence of outward turns.</a:t>
            </a:r>
            <a:endParaRPr/>
          </a:p>
          <a:p>
            <a:pPr indent="0" lvl="0" marL="0" rtl="0" algn="l">
              <a:spcBef>
                <a:spcPts val="0"/>
              </a:spcBef>
              <a:spcAft>
                <a:spcPts val="0"/>
              </a:spcAft>
              <a:buNone/>
            </a:pPr>
            <a:r>
              <a:rPr lang="en-US"/>
              <a:t>• Müller and Wehner recorded a natural foraging trip of Cataglyphis fortis in Tunisia. The outward path measured 354.5 m, while the maximum distance from the nest was 113.2 m. After finding food, the ant returned along a comparatively direct inbound route.</a:t>
            </a:r>
            <a:endParaRPr/>
          </a:p>
          <a:p>
            <a:pPr indent="0" lvl="0" marL="0" rtl="0" algn="l">
              <a:spcBef>
                <a:spcPts val="0"/>
              </a:spcBef>
              <a:spcAft>
                <a:spcPts val="0"/>
              </a:spcAft>
              <a:buNone/>
            </a:pPr>
            <a:r>
              <a:rPr lang="en-US"/>
              <a:t>• The difference between outward path length and nest displacement separates route retracing from vector-guided homing. This recorded journey documents the behavior, but does not identify a neuron that stores the vector or establish the mathematical precision of its updating mechanism.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Müller M, Wehner R (1988). Path integration in desert ants, Cataglyphis fortis. Proceedings of the National Academy of Sciences 85(14):5287–5290. https://doi.org/10.1073/pnas.85.14.5287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Müller &amp; Wehner (1988), Fig. 1. A natural outbound route and direct homeward return.</a:t>
            </a:r>
            <a:endParaRPr/>
          </a:p>
          <a:p>
            <a:pPr indent="0" lvl="0" marL="0" rtl="0" algn="l">
              <a:spcBef>
                <a:spcPts val="0"/>
              </a:spcBef>
              <a:spcAft>
                <a:spcPts val="0"/>
              </a:spcAft>
              <a:buNone/>
            </a:pPr>
            <a:r>
              <a:rPr lang="en-US"/>
              <a:t>Figure source: https://doi.org/10.1073/pnas.85.14.5287</a:t>
            </a:r>
            <a:endParaRPr/>
          </a:p>
        </p:txBody>
      </p:sp>
      <p:sp>
        <p:nvSpPr>
          <p:cNvPr id="96" name="Google Shape;96;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Passive displacement changes an ant’s geographical position without supplying the walking movements that normally update its home vector. A displaced ant can therefore express a direction appropriate to its earlier position rather than to the nest’s actual location.</a:t>
            </a:r>
            <a:endParaRPr/>
          </a:p>
          <a:p>
            <a:pPr indent="0" lvl="0" marL="0" rtl="0" algn="l">
              <a:spcBef>
                <a:spcPts val="0"/>
              </a:spcBef>
              <a:spcAft>
                <a:spcPts val="0"/>
              </a:spcAft>
              <a:buNone/>
            </a:pPr>
            <a:r>
              <a:rPr lang="en-US"/>
              <a:t>• Müller and Wehner captured a food-carrying ant at its feeding location and released it elsewhere in open terrain. The animal’s subsequent course was compared with the geographical nest direction and the course predicted from its recorded outbound trajectory, using a 10 m spatial scale.</a:t>
            </a:r>
            <a:endParaRPr/>
          </a:p>
          <a:p>
            <a:pPr indent="0" lvl="0" marL="0" rtl="0" algn="l">
              <a:spcBef>
                <a:spcPts val="0"/>
              </a:spcBef>
              <a:spcAft>
                <a:spcPts val="0"/>
              </a:spcAft>
              <a:buNone/>
            </a:pPr>
            <a:r>
              <a:rPr lang="en-US"/>
              <a:t>• The course retained information from the outward journey despite the transfer. The test distinguishes movement-derived navigation from immediate attraction to the true nest, while leaving landmark guidance and systematic searching available as additional mechanisms under natural conditions.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Müller M, Wehner R (1988). Path integration in desert ants, Cataglyphis fortis. Proceedings of the National Academy of Sciences 85(14):5287–5290. https://doi.org/10.1073/pnas.85.14.5287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Müller &amp; Wehner (1988), Fig. 4. Natural-path displacement and the resulting homeward course.</a:t>
            </a:r>
            <a:endParaRPr/>
          </a:p>
          <a:p>
            <a:pPr indent="0" lvl="0" marL="0" rtl="0" algn="l">
              <a:spcBef>
                <a:spcPts val="0"/>
              </a:spcBef>
              <a:spcAft>
                <a:spcPts val="0"/>
              </a:spcAft>
              <a:buNone/>
            </a:pPr>
            <a:r>
              <a:rPr lang="en-US"/>
              <a:t>Figure source: https://doi.org/10.1073/pnas.85.14.5287</a:t>
            </a:r>
            <a:endParaRPr/>
          </a:p>
        </p:txBody>
      </p:sp>
      <p:sp>
        <p:nvSpPr>
          <p:cNvPr id="108" name="Google Shape;108;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experimental path can specify the directions and distances an ant experiences before homing. Müller and Wehner trained Cataglyphis fortis through narrow plastic channels, then transferred individuals from the feeder to a separate open test field.</a:t>
            </a:r>
            <a:endParaRPr/>
          </a:p>
          <a:p>
            <a:pPr indent="0" lvl="0" marL="0" rtl="0" algn="l">
              <a:spcBef>
                <a:spcPts val="0"/>
              </a:spcBef>
              <a:spcAft>
                <a:spcPts val="0"/>
              </a:spcAft>
              <a:buNone/>
            </a:pPr>
            <a:r>
              <a:rPr lang="en-US"/>
              <a:t>• The two legs were varied over lengths of 5–10 m and turning angles spanning 0–180°. In the plotted experiment, the first leg was 10 m and the second 5 m. Release occurred within one minute of capture, reducing the delay between training and the directional test.</a:t>
            </a:r>
            <a:endParaRPr/>
          </a:p>
          <a:p>
            <a:pPr indent="0" lvl="0" marL="0" rtl="0" algn="l">
              <a:spcBef>
                <a:spcPts val="0"/>
              </a:spcBef>
              <a:spcAft>
                <a:spcPts val="0"/>
              </a:spcAft>
              <a:buNone/>
            </a:pPr>
            <a:r>
              <a:rPr lang="en-US"/>
              <a:t>• The recorded initial homeward course measures the ant’s accumulated directional estimate rather than its ability to follow the training channel backward. Removing the channels during testing separates the geometry experienced during acquisition from the geometry available during expression.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Müller M, Wehner R (1988). Path integration in desert ants, Cataglyphis fortis. Proceedings of the National Academy of Sciences 85(14):5287–5290. https://doi.org/10.1073/pnas.85.14.5287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Müller &amp; Wehner (1988), Fig. 2(A–B). Two-leg training and measured homing-direction errors.</a:t>
            </a:r>
            <a:endParaRPr/>
          </a:p>
          <a:p>
            <a:pPr indent="0" lvl="0" marL="0" rtl="0" algn="l">
              <a:spcBef>
                <a:spcPts val="0"/>
              </a:spcBef>
              <a:spcAft>
                <a:spcPts val="0"/>
              </a:spcAft>
              <a:buNone/>
            </a:pPr>
            <a:r>
              <a:rPr lang="en-US"/>
              <a:t>Figure source: https://doi.org/10.1073/pnas.85.14.5287</a:t>
            </a:r>
            <a:endParaRPr/>
          </a:p>
        </p:txBody>
      </p:sp>
      <p:sp>
        <p:nvSpPr>
          <p:cNvPr id="120" name="Google Shape;120;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**Systematic error** means a directional deviation that varies predictably with an experimental manipulation. It differs from random scatter among journeys. Müller and Wehner measured the angular difference between the true homeward direction and the course expressed after two-leg training.</a:t>
            </a:r>
            <a:endParaRPr/>
          </a:p>
          <a:p>
            <a:pPr indent="0" lvl="0" marL="0" rtl="0" algn="l">
              <a:spcBef>
                <a:spcPts val="0"/>
              </a:spcBef>
              <a:spcAft>
                <a:spcPts val="0"/>
              </a:spcAft>
              <a:buNone/>
            </a:pPr>
            <a:r>
              <a:rPr lang="en-US"/>
              <a:t>• With outbound legs of 10 m and 5 m, the error increased as the turning angle approached approximately 150°, reaching about 20° in the published measurements. The error returned toward zero at the limiting straight or reversed arrangements.</a:t>
            </a:r>
            <a:endParaRPr/>
          </a:p>
          <a:p>
            <a:pPr indent="0" lvl="0" marL="0" rtl="0" algn="l">
              <a:spcBef>
                <a:spcPts val="0"/>
              </a:spcBef>
              <a:spcAft>
                <a:spcPts val="0"/>
              </a:spcAft>
              <a:buNone/>
            </a:pPr>
            <a:r>
              <a:rPr lang="en-US"/>
              <a:t>• The angle-dependent pattern supported an approximate updating rule under these conditions. It does not prove that every ant species, every route geometry, or every neural representation uses the same approximation; the inference concerns the measured Cataglyphis trajectories and their proposed mathematical account.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Müller M, Wehner R (1988). Path integration in desert ants, Cataglyphis fortis. Proceedings of the National Academy of Sciences 85(14):5287–5290. https://doi.org/10.1073/pnas.85.14.5287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Müller &amp; Wehner (1988), Fig. 2(A–B). Two-leg training and measured homing-direction errors.</a:t>
            </a:r>
            <a:endParaRPr/>
          </a:p>
          <a:p>
            <a:pPr indent="0" lvl="0" marL="0" rtl="0" algn="l">
              <a:spcBef>
                <a:spcPts val="0"/>
              </a:spcBef>
              <a:spcAft>
                <a:spcPts val="0"/>
              </a:spcAft>
              <a:buNone/>
            </a:pPr>
            <a:r>
              <a:rPr lang="en-US"/>
              <a:t>Figure source: https://doi.org/10.1073/pnas.85.14.5287</a:t>
            </a:r>
            <a:endParaRPr/>
          </a:p>
        </p:txBody>
      </p:sp>
      <p:sp>
        <p:nvSpPr>
          <p:cNvPr id="132" name="Google Shape;132;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**celestial compass** derives heading information from features of the sky. Direct sunlight and the pattern of polarized skylight provide related but separable information. Polarization refers to the orientation of the electric field oscillation in a light wave.</a:t>
            </a:r>
            <a:endParaRPr/>
          </a:p>
          <a:p>
            <a:pPr indent="0" lvl="0" marL="0" rtl="0" algn="l">
              <a:spcBef>
                <a:spcPts val="0"/>
              </a:spcBef>
              <a:spcAft>
                <a:spcPts val="0"/>
              </a:spcAft>
              <a:buNone/>
            </a:pPr>
            <a:r>
              <a:rPr lang="en-US"/>
              <a:t>• Müller and Wehner compared homing errors while ants used the sun, polarized skylight, or both. Screening the sun removed direct solar information; painting the dorsal rim of the compound eyes removed access to the specialized polarization-sensitive eye region. The 10 m and 5 m route still produced systematic errors.</a:t>
            </a:r>
            <a:endParaRPr/>
          </a:p>
          <a:p>
            <a:pPr indent="0" lvl="0" marL="0" rtl="0" algn="l">
              <a:spcBef>
                <a:spcPts val="0"/>
              </a:spcBef>
              <a:spcAft>
                <a:spcPts val="0"/>
              </a:spcAft>
              <a:buNone/>
            </a:pPr>
            <a:r>
              <a:rPr lang="en-US"/>
              <a:t>• The persistence of the error pattern across compass conditions argues against a single defective sky cue accounting for the path-integration bias. Restricted sky windows can themselves distort polarization estimates, so the authors considered this separate source of compass error in their interpretation.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Müller M, Wehner R (1988). Path integration in desert ants, Cataglyphis fortis. Proceedings of the National Academy of Sciences 85(14):5287–5290. https://doi.org/10.1073/pnas.85.14.5287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Müller &amp; Wehner (1988), Fig. 2(A–B). Two-leg training and measured homing-direction errors.</a:t>
            </a:r>
            <a:endParaRPr/>
          </a:p>
          <a:p>
            <a:pPr indent="0" lvl="0" marL="0" rtl="0" algn="l">
              <a:spcBef>
                <a:spcPts val="0"/>
              </a:spcBef>
              <a:spcAft>
                <a:spcPts val="0"/>
              </a:spcAft>
              <a:buNone/>
            </a:pPr>
            <a:r>
              <a:rPr lang="en-US"/>
              <a:t>Figure source: https://doi.org/10.1073/pnas.85.14.5287</a:t>
            </a:r>
            <a:endParaRPr/>
          </a:p>
        </p:txBody>
      </p:sp>
      <p:sp>
        <p:nvSpPr>
          <p:cNvPr id="144" name="Google Shape;144;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explanation fitted to one route geometry must also account for a different sequence of movements. Müller and Wehner added a third leg to the channel arrangement, introducing a second 90° turn rather than repeating the original two-leg experiment.</a:t>
            </a:r>
            <a:endParaRPr/>
          </a:p>
          <a:p>
            <a:pPr indent="0" lvl="0" marL="0" rtl="0" algn="l">
              <a:spcBef>
                <a:spcPts val="0"/>
              </a:spcBef>
              <a:spcAft>
                <a:spcPts val="0"/>
              </a:spcAft>
              <a:buNone/>
            </a:pPr>
            <a:r>
              <a:rPr lang="en-US"/>
              <a:t>• The first leg was 10 m and the second and third legs were each 5 m. Ants subsequently released into open terrain deviated by 30.8° from the true home direction. The approximation derived from the earlier experiments predicted a deviation of 33.7°.</a:t>
            </a:r>
            <a:endParaRPr/>
          </a:p>
          <a:p>
            <a:pPr indent="0" lvl="0" marL="0" rtl="0" algn="l">
              <a:spcBef>
                <a:spcPts val="0"/>
              </a:spcBef>
              <a:spcAft>
                <a:spcPts val="0"/>
              </a:spcAft>
              <a:buNone/>
            </a:pPr>
            <a:r>
              <a:rPr lang="en-US"/>
              <a:t>• The agreement extended the behavioral account beyond the particular angles used to derive it. A successful prediction of homing direction still leaves the cellular implementation unresolved: the experiment measured the animal’s course, not the voltage, transmitter or synaptic activity of an identified integrator.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Müller M, Wehner R (1988). Path integration in desert ants, Cataglyphis fortis. Proceedings of the National Academy of Sciences 85(14):5287–5290. https://doi.org/10.1073/pnas.85.14.5287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Müller &amp; Wehner (1988), Fig. 3. Three-leg training and homing directions.</a:t>
            </a:r>
            <a:endParaRPr/>
          </a:p>
          <a:p>
            <a:pPr indent="0" lvl="0" marL="0" rtl="0" algn="l">
              <a:spcBef>
                <a:spcPts val="0"/>
              </a:spcBef>
              <a:spcAft>
                <a:spcPts val="0"/>
              </a:spcAft>
              <a:buNone/>
            </a:pPr>
            <a:r>
              <a:rPr lang="en-US"/>
              <a:t>Figure source: https://doi.org/10.1073/pnas.85.14.5287</a:t>
            </a:r>
            <a:endParaRPr/>
          </a:p>
        </p:txBody>
      </p:sp>
      <p:sp>
        <p:nvSpPr>
          <p:cNvPr id="156" name="Google Shape;156;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Route geometry determines how an approximate path integrator accumulates error. A sharp sustained turn can produce a large deviation, whereas turns in opposite directions may partly cancel their effects on the estimated homeward direction.</a:t>
            </a:r>
            <a:endParaRPr/>
          </a:p>
          <a:p>
            <a:pPr indent="0" lvl="0" marL="0" rtl="0" algn="l">
              <a:spcBef>
                <a:spcPts val="0"/>
              </a:spcBef>
              <a:spcAft>
                <a:spcPts val="0"/>
              </a:spcAft>
              <a:buNone/>
            </a:pPr>
            <a:r>
              <a:rPr lang="en-US"/>
              <a:t>• Müller and Wehner compared the proposed updating rule with recorded natural foraging paths. In the displaced example, the expressed course departed from the real nest direction by approximately 20°, consistent with the direction predicted from that ant’s outward trajectory.</a:t>
            </a:r>
            <a:endParaRPr/>
          </a:p>
          <a:p>
            <a:pPr indent="0" lvl="0" marL="0" rtl="0" algn="l">
              <a:spcBef>
                <a:spcPts val="0"/>
              </a:spcBef>
              <a:spcAft>
                <a:spcPts val="0"/>
              </a:spcAft>
              <a:buNone/>
            </a:pPr>
            <a:r>
              <a:rPr lang="en-US"/>
              <a:t>• The authors noted that natural Cataglyphis paths rarely contained the repeated sharp backward turns that generated especially large experimental errors. This ecological interpretation explains possible usefulness without establishing perfect accuracy; landmarks and searching remain relevant when a home vector is insufficient.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Müller M, Wehner R (1988). Path integration in desert ants, Cataglyphis fortis. Proceedings of the National Academy of Sciences 85(14):5287–5290. https://doi.org/10.1073/pnas.85.14.5287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Müller &amp; Wehner (1988), Fig. 4. Natural-path displacement and the resulting homeward course.</a:t>
            </a:r>
            <a:endParaRPr/>
          </a:p>
          <a:p>
            <a:pPr indent="0" lvl="0" marL="0" rtl="0" algn="l">
              <a:spcBef>
                <a:spcPts val="0"/>
              </a:spcBef>
              <a:spcAft>
                <a:spcPts val="0"/>
              </a:spcAft>
              <a:buNone/>
            </a:pPr>
            <a:r>
              <a:rPr lang="en-US"/>
              <a:t>Figure source: https://doi.org/10.1073/pnas.85.14.5287</a:t>
            </a:r>
            <a:endParaRPr/>
          </a:p>
        </p:txBody>
      </p:sp>
      <p:sp>
        <p:nvSpPr>
          <p:cNvPr id="168" name="Google Shape;16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**odometer** is a mechanism for estimating distance traveled. A **stride** is one complete movement cycle of a particular leg. Altering leg length can change the distance covered during each stride without changing the distance experienced before the manipulation.</a:t>
            </a:r>
            <a:endParaRPr/>
          </a:p>
          <a:p>
            <a:pPr indent="0" lvl="0" marL="0" rtl="0" algn="l">
              <a:spcBef>
                <a:spcPts val="0"/>
              </a:spcBef>
              <a:spcAft>
                <a:spcPts val="0"/>
              </a:spcAft>
              <a:buNone/>
            </a:pPr>
            <a:r>
              <a:rPr lang="en-US"/>
              <a:t>• Wittlinger and colleagues trained Cataglyphis fortis to a feeder 10 m from the nest. At the feeder, they lengthened legs with attached pig bristles, producing stilts, or shortened legs, producing stumps. Food-carrying ants were then tested in a separate channel.</a:t>
            </a:r>
            <a:endParaRPr/>
          </a:p>
          <a:p>
            <a:pPr indent="0" lvl="0" marL="0" rtl="0" algn="l">
              <a:spcBef>
                <a:spcPts val="0"/>
              </a:spcBef>
              <a:spcAft>
                <a:spcPts val="0"/>
              </a:spcAft>
              <a:buNone/>
            </a:pPr>
            <a:r>
              <a:rPr lang="en-US"/>
              <a:t>• The manipulation was performed after the outbound distance had been acquired, allowing an unequal relationship between outbound and inbound strides. The resulting distance error tests locomotor information, but leg surgery alone does not distinguish peripheral sensory feedback from centrally generated movement signals.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Wittlinger M, Wehner R, Wolf H (2006). The Ant Odometer: Stepping on Stilts and Stumps. Science 312(5782):1965–1967. https://doi.org/10.1126/science.1126912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Wittlinger et al. (2006), Fig. 2. Normal legs, stilts and stumps.</a:t>
            </a:r>
            <a:endParaRPr/>
          </a:p>
          <a:p>
            <a:pPr indent="0" lvl="0" marL="0" rtl="0" algn="l">
              <a:spcBef>
                <a:spcPts val="0"/>
              </a:spcBef>
              <a:spcAft>
                <a:spcPts val="0"/>
              </a:spcAft>
              <a:buNone/>
            </a:pPr>
            <a:r>
              <a:rPr lang="en-US"/>
              <a:t>Figure source: https://doi.org/10.1126/science.1126912</a:t>
            </a:r>
            <a:endParaRPr/>
          </a:p>
        </p:txBody>
      </p:sp>
      <p:sp>
        <p:nvSpPr>
          <p:cNvPr id="180" name="Google Shape;180;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transition from directed walking to repeated U-turns provides a behavioral measure of expected nest distance. Wittlinger and colleagues used the median of the initial six turning points to identify the centre of an ant’s nest-search behavior.</a:t>
            </a:r>
            <a:endParaRPr/>
          </a:p>
          <a:p>
            <a:pPr indent="0" lvl="0" marL="0" rtl="0" algn="l">
              <a:spcBef>
                <a:spcPts val="0"/>
              </a:spcBef>
              <a:spcAft>
                <a:spcPts val="0"/>
              </a:spcAft>
              <a:buNone/>
            </a:pPr>
            <a:r>
              <a:rPr lang="en-US"/>
              <a:t>• After a normal 10 m outbound journey, ants with lengthened legs searched at 15.30 m, ants with shortened legs searched at 5.75 m, and normal-legged controls searched at 10.20 m. The direction of the error followed the change in stride length.</a:t>
            </a:r>
            <a:endParaRPr/>
          </a:p>
          <a:p>
            <a:pPr indent="0" lvl="0" marL="0" rtl="0" algn="l">
              <a:spcBef>
                <a:spcPts val="0"/>
              </a:spcBef>
              <a:spcAft>
                <a:spcPts val="0"/>
              </a:spcAft>
              <a:buNone/>
            </a:pPr>
            <a:r>
              <a:rPr lang="en-US"/>
              <a:t>• Longer inbound strides made the stored journey terminate farther from release, while shorter strides made it terminate sooner. This bidirectional effect is difficult to attribute solely to debilitation, which would not predict vigorous overshooting by the animals walking on stilts.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Wittlinger M, Wehner R, Wolf H (2006). The Ant Odometer: Stepping on Stilts and Stumps. Science 312(5782):1965–1967. https://doi.org/10.1126/science.1126912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Wittlinger et al. (2006), Fig. 3(A–B). Homing distances after leg manipulation and after matched outbound training.</a:t>
            </a:r>
            <a:endParaRPr/>
          </a:p>
          <a:p>
            <a:pPr indent="0" lvl="0" marL="0" rtl="0" algn="l">
              <a:spcBef>
                <a:spcPts val="0"/>
              </a:spcBef>
              <a:spcAft>
                <a:spcPts val="0"/>
              </a:spcAft>
              <a:buNone/>
            </a:pPr>
            <a:r>
              <a:rPr lang="en-US"/>
              <a:t>Figure source: https://doi.org/10.1126/science.1126912</a:t>
            </a:r>
            <a:endParaRPr/>
          </a:p>
        </p:txBody>
      </p:sp>
      <p:sp>
        <p:nvSpPr>
          <p:cNvPr id="192" name="Google Shape;192;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same modified animal can experience a new outbound journey with the altered legs. This control keeps the manipulation present while removing the mismatch between the locomotor conditions used to acquire and express the stored distance.</a:t>
            </a:r>
            <a:endParaRPr/>
          </a:p>
          <a:p>
            <a:pPr indent="0" lvl="0" marL="0" rtl="0" algn="l">
              <a:spcBef>
                <a:spcPts val="0"/>
              </a:spcBef>
              <a:spcAft>
                <a:spcPts val="0"/>
              </a:spcAft>
              <a:buNone/>
            </a:pPr>
            <a:r>
              <a:rPr lang="en-US"/>
              <a:t>• After returning to the nest, ants walked to the feeder again with their stilts or stumps and were retested. Searches centred at 10.55 m for stilts and 10.25 m for stumps, close to the 10.20 m normal-leg condition and the true 10 m separation.</a:t>
            </a:r>
            <a:endParaRPr/>
          </a:p>
          <a:p>
            <a:pPr indent="0" lvl="0" marL="0" rtl="0" algn="l">
              <a:spcBef>
                <a:spcPts val="0"/>
              </a:spcBef>
              <a:spcAft>
                <a:spcPts val="0"/>
              </a:spcAft>
              <a:buNone/>
            </a:pPr>
            <a:r>
              <a:rPr lang="en-US"/>
              <a:t>• Recovery of the expected distance supports a stride-dependent acquisition-and-readout relationship rather than permanent loss of navigation after surgery. It does not require the ant to measure its leg length explicitly or identify which neural signal constitutes the odometer’s input.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Wittlinger M, Wehner R, Wolf H (2006). The Ant Odometer: Stepping on Stilts and Stumps. Science 312(5782):1965–1967. https://doi.org/10.1126/science.1126912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Wittlinger et al. (2006), Fig. 3(A–B). Homing distances after leg manipulation and after matched outbound training.</a:t>
            </a:r>
            <a:endParaRPr/>
          </a:p>
          <a:p>
            <a:pPr indent="0" lvl="0" marL="0" rtl="0" algn="l">
              <a:spcBef>
                <a:spcPts val="0"/>
              </a:spcBef>
              <a:spcAft>
                <a:spcPts val="0"/>
              </a:spcAft>
              <a:buNone/>
            </a:pPr>
            <a:r>
              <a:rPr lang="en-US"/>
              <a:t>Figure source: https://doi.org/10.1126/science.1126912</a:t>
            </a:r>
            <a:endParaRPr/>
          </a:p>
        </p:txBody>
      </p:sp>
      <p:sp>
        <p:nvSpPr>
          <p:cNvPr id="204" name="Google Shape;204;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Wittlinger and colleagues extended the odometer experiment with two degrees of leg shortening. **Tarsomeres** are the distal segments of an insect leg; the **tibia** lies proximal to the tarsus. Removing these regions changes the effective length of the walking limb.</a:t>
            </a:r>
            <a:endParaRPr/>
          </a:p>
          <a:p>
            <a:pPr indent="0" lvl="0" marL="0" rtl="0" algn="l">
              <a:spcBef>
                <a:spcPts val="0"/>
              </a:spcBef>
              <a:spcAft>
                <a:spcPts val="0"/>
              </a:spcAft>
              <a:buNone/>
            </a:pPr>
            <a:r>
              <a:rPr lang="en-US"/>
              <a:t>• Stumps I lacked the distal tarsal segments, whereas stumps II had the distal half of the tibia removed. A third group carried bristle stilts, and normal-legged ants provided the comparison. All groups had acquired the same 10 m outbound feeder distance before the first test.</a:t>
            </a:r>
            <a:endParaRPr/>
          </a:p>
          <a:p>
            <a:pPr indent="0" lvl="0" marL="0" rtl="0" algn="l">
              <a:spcBef>
                <a:spcPts val="0"/>
              </a:spcBef>
              <a:spcAft>
                <a:spcPts val="0"/>
              </a:spcAft>
              <a:buNone/>
            </a:pPr>
            <a:r>
              <a:rPr lang="en-US"/>
              <a:t>• The anatomically graded manipulation allowed comparison of different reductions in stride length rather than treating all shortened legs as one condition. It preserved a common navigational task, while acknowledging that leg length, walking speed and load can change together.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Wittlinger M, Wehner R, Wolf H (2007). The desert ant odometer: a stride integrator that accounts for stride length and walking speed. Journal of Experimental Biology 210(2):198–207. https://doi.org/10.1242/jeb.02657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Wittlinger et al. (2007), Fig. 2. Leg anatomy and the four length conditions.</a:t>
            </a:r>
            <a:endParaRPr/>
          </a:p>
          <a:p>
            <a:pPr indent="0" lvl="0" marL="0" rtl="0" algn="l">
              <a:spcBef>
                <a:spcPts val="0"/>
              </a:spcBef>
              <a:spcAft>
                <a:spcPts val="0"/>
              </a:spcAft>
              <a:buNone/>
            </a:pPr>
            <a:r>
              <a:rPr lang="en-US"/>
              <a:t>Figure source: https://doi.org/10.1242/jeb.02657</a:t>
            </a:r>
            <a:endParaRPr/>
          </a:p>
        </p:txBody>
      </p:sp>
      <p:sp>
        <p:nvSpPr>
          <p:cNvPr id="216" name="Google Shape;216;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 name="Google Shape;22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**tripod gait** alternates two sets of three supporting legs. In Cataglyphis, one set combines the left front and hind legs with the right middle leg; the complementary set uses the remaining three legs.</a:t>
            </a:r>
            <a:endParaRPr/>
          </a:p>
          <a:p>
            <a:pPr indent="0" lvl="0" marL="0" rtl="0" algn="l">
              <a:spcBef>
                <a:spcPts val="0"/>
              </a:spcBef>
              <a:spcAft>
                <a:spcPts val="0"/>
              </a:spcAft>
              <a:buNone/>
            </a:pPr>
            <a:r>
              <a:rPr lang="en-US"/>
              <a:t>• High-speed video at 250 frames per second recorded ants before and after manipulation. The published normal example had a stride length of 13.3 mm at 0.28 m/s, whereas a stumps-II example retained tripod coordination with a 10.5 mm stride at 0.27 m/s.</a:t>
            </a:r>
            <a:endParaRPr/>
          </a:p>
          <a:p>
            <a:pPr indent="0" lvl="0" marL="0" rtl="0" algn="l">
              <a:spcBef>
                <a:spcPts val="0"/>
              </a:spcBef>
              <a:spcAft>
                <a:spcPts val="0"/>
              </a:spcAft>
              <a:buNone/>
            </a:pPr>
            <a:r>
              <a:rPr lang="en-US"/>
              <a:t>• The observations separate shortening of the walking cycle’s spatial extent from replacement of its basic coordination pattern. Preserved tripods do not establish unchanged sensory feedback or motor-neuron activity, but they constrain explanations that require an entirely different gait after shortening.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Wittlinger M, Wehner R, Wolf H (2007). The desert ant odometer: a stride integrator that accounts for stride length and walking speed. Journal of Experimental Biology 210(2):198–207. https://doi.org/10.1242/jeb.02657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Wittlinger et al. (2007), Fig. 3(B). Tripod gait after shortening the tibiae.</a:t>
            </a:r>
            <a:endParaRPr/>
          </a:p>
          <a:p>
            <a:pPr indent="0" lvl="0" marL="0" rtl="0" algn="l">
              <a:spcBef>
                <a:spcPts val="0"/>
              </a:spcBef>
              <a:spcAft>
                <a:spcPts val="0"/>
              </a:spcAft>
              <a:buNone/>
            </a:pPr>
            <a:r>
              <a:rPr lang="en-US"/>
              <a:t>Figure source: https://doi.org/10.1242/jeb.02657</a:t>
            </a:r>
            <a:endParaRPr/>
          </a:p>
        </p:txBody>
      </p:sp>
      <p:sp>
        <p:nvSpPr>
          <p:cNvPr id="228" name="Google Shape;228;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 name="Google Shape;239;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shorter stride covers less ground during each locomotor cycle. If outbound distance is stored in relation to movement cycles, shortening the legs only after that journey should make the inbound estimate terminate before the original feeder-to-nest distance.</a:t>
            </a:r>
            <a:endParaRPr/>
          </a:p>
          <a:p>
            <a:pPr indent="0" lvl="0" marL="0" rtl="0" algn="l">
              <a:spcBef>
                <a:spcPts val="0"/>
              </a:spcBef>
              <a:spcAft>
                <a:spcPts val="0"/>
              </a:spcAft>
              <a:buNone/>
            </a:pPr>
            <a:r>
              <a:rPr lang="en-US"/>
              <a:t>• In the expanded experiment, normal-legged ants searched at 10.20 m, stumps-I ants at 6.95 m and stumps-II ants at 5.75 m. Stilts produced searches at 15.30 m. These values were measured after a 10 m outbound run through the training channel.</a:t>
            </a:r>
            <a:endParaRPr/>
          </a:p>
          <a:p>
            <a:pPr indent="0" lvl="0" marL="0" rtl="0" algn="l">
              <a:spcBef>
                <a:spcPts val="0"/>
              </a:spcBef>
              <a:spcAft>
                <a:spcPts val="0"/>
              </a:spcAft>
              <a:buNone/>
            </a:pPr>
            <a:r>
              <a:rPr lang="en-US"/>
              <a:t>• The graded undershoot is consistent with a stride integrator rather than a fixed physical-distance readout independent of locomotion. The two shortening treatments nevertheless changed more than one biomechanical variable, so recorded stride kinematics were needed to assess the quantitative prediction.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Wittlinger M, Wehner R, Wolf H (2007). The desert ant odometer: a stride integrator that accounts for stride length and walking speed. Journal of Experimental Biology 210(2):198–207. https://doi.org/10.1242/jeb.02657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Wittlinger et al. (2007), Fig. 4(A–B). Color-coded searches before and after matched leg-length training.</a:t>
            </a:r>
            <a:endParaRPr/>
          </a:p>
          <a:p>
            <a:pPr indent="0" lvl="0" marL="0" rtl="0" algn="l">
              <a:spcBef>
                <a:spcPts val="0"/>
              </a:spcBef>
              <a:spcAft>
                <a:spcPts val="0"/>
              </a:spcAft>
              <a:buNone/>
            </a:pPr>
            <a:r>
              <a:rPr lang="en-US"/>
              <a:t>Figure source: https://doi.org/10.1242/jeb.02657</a:t>
            </a:r>
            <a:endParaRPr/>
          </a:p>
        </p:txBody>
      </p:sp>
      <p:sp>
        <p:nvSpPr>
          <p:cNvPr id="240" name="Google Shape;240;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**search density distribution** records how often an ant visits positions during its search. Its centre estimates expected nest location, while its width describes how broadly the animal distributes its search around that estimate.</a:t>
            </a:r>
            <a:endParaRPr/>
          </a:p>
          <a:p>
            <a:pPr indent="0" lvl="0" marL="0" rtl="0" algn="l">
              <a:spcBef>
                <a:spcPts val="0"/>
              </a:spcBef>
              <a:spcAft>
                <a:spcPts val="0"/>
              </a:spcAft>
              <a:buNone/>
            </a:pPr>
            <a:r>
              <a:rPr lang="en-US"/>
              <a:t>• The test channel was divided into 10 cm bins. In the first test, the full width at half maximum was 8.3 m for stilts, 6.0 m for normal legs, 5.2 m for stumps I and 4.1 m for stumps II. The plotted search curves therefore differed in spread as well as centre.</a:t>
            </a:r>
            <a:endParaRPr/>
          </a:p>
          <a:p>
            <a:pPr indent="0" lvl="0" marL="0" rtl="0" algn="l">
              <a:spcBef>
                <a:spcPts val="0"/>
              </a:spcBef>
              <a:spcAft>
                <a:spcPts val="0"/>
              </a:spcAft>
              <a:buNone/>
            </a:pPr>
            <a:r>
              <a:rPr lang="en-US"/>
              <a:t>• The widths are behavioral descriptions of searching rather than direct measurements of a neural uncertainty variable. Longer or shorter strides alter the spatial extent covered during searching, so distribution width cannot by itself establish how precisely a central memory encodes distance.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Wittlinger M, Wehner R, Wolf H (2007). The desert ant odometer: a stride integrator that accounts for stride length and walking speed. Journal of Experimental Biology 210(2):198–207. https://doi.org/10.1242/jeb.02657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Wittlinger et al. (2007), Fig. 5. Widths of the nest-search distributions.</a:t>
            </a:r>
            <a:endParaRPr/>
          </a:p>
          <a:p>
            <a:pPr indent="0" lvl="0" marL="0" rtl="0" algn="l">
              <a:spcBef>
                <a:spcPts val="0"/>
              </a:spcBef>
              <a:spcAft>
                <a:spcPts val="0"/>
              </a:spcAft>
              <a:buNone/>
            </a:pPr>
            <a:r>
              <a:rPr lang="en-US"/>
              <a:t>Figure source: https://doi.org/10.1242/jeb.02657</a:t>
            </a:r>
            <a:endParaRPr/>
          </a:p>
        </p:txBody>
      </p:sp>
      <p:sp>
        <p:nvSpPr>
          <p:cNvPr id="252" name="Google Shape;252;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3" name="Google Shape;263;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Comparing first and second tests separates a newly imposed mismatch from walking with altered legs on both journey directions. In the second test, ants had left the nest and reached the feeder using the same modified limbs used during homing.</a:t>
            </a:r>
            <a:endParaRPr/>
          </a:p>
          <a:p>
            <a:pPr indent="0" lvl="0" marL="0" rtl="0" algn="l">
              <a:spcBef>
                <a:spcPts val="0"/>
              </a:spcBef>
              <a:spcAft>
                <a:spcPts val="0"/>
              </a:spcAft>
              <a:buNone/>
            </a:pPr>
            <a:r>
              <a:rPr lang="en-US"/>
              <a:t>• The initial stilt and stump searches were displaced from the 10 m nest distance. After the subsequent outbound journey, the color-coded search distributions clustered near the correct distance across the four leg conditions, even though the surgical or bristle modifications remained present.</a:t>
            </a:r>
            <a:endParaRPr/>
          </a:p>
          <a:p>
            <a:pPr indent="0" lvl="0" marL="0" rtl="0" algn="l">
              <a:spcBef>
                <a:spcPts val="0"/>
              </a:spcBef>
              <a:spcAft>
                <a:spcPts val="0"/>
              </a:spcAft>
              <a:buNone/>
            </a:pPr>
            <a:r>
              <a:rPr lang="en-US"/>
              <a:t>• The dependence on journey history makes a persistent injury explanation insufficient. Matched locomotor conditions permit accurate homing without proving a numerical step counter; a physiological integrator of stride-associated signals can produce the same qualitative relationship between acquisition and return.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Wittlinger M, Wehner R, Wolf H (2007). The desert ant odometer: a stride integrator that accounts for stride length and walking speed. Journal of Experimental Biology 210(2):198–207. https://doi.org/10.1242/jeb.02657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Wittlinger et al. (2007), Fig. 4(A–B). Color-coded searches before and after matched leg-length training.</a:t>
            </a:r>
            <a:endParaRPr/>
          </a:p>
          <a:p>
            <a:pPr indent="0" lvl="0" marL="0" rtl="0" algn="l">
              <a:spcBef>
                <a:spcPts val="0"/>
              </a:spcBef>
              <a:spcAft>
                <a:spcPts val="0"/>
              </a:spcAft>
              <a:buNone/>
            </a:pPr>
            <a:r>
              <a:rPr lang="en-US"/>
              <a:t>Figure source: https://doi.org/10.1242/jeb.02657</a:t>
            </a:r>
            <a:endParaRPr/>
          </a:p>
        </p:txBody>
      </p:sp>
      <p:sp>
        <p:nvSpPr>
          <p:cNvPr id="264" name="Google Shape;264;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5" name="Google Shape;275;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Larger Cataglyphis workers have longer legs and can take longer strides. **Normalization** expresses measurements relative to a specified reference so that differences in body size do not masquerade as effects of the experimental manipulation.</a:t>
            </a:r>
            <a:endParaRPr/>
          </a:p>
          <a:p>
            <a:pPr indent="0" lvl="0" marL="0" rtl="0" algn="l">
              <a:spcBef>
                <a:spcPts val="0"/>
              </a:spcBef>
              <a:spcAft>
                <a:spcPts val="0"/>
              </a:spcAft>
              <a:buNone/>
            </a:pPr>
            <a:r>
              <a:rPr lang="en-US"/>
              <a:t>• Wittlinger and colleagues measured the **alitrunk**, the thoracic region between the pronotum and propodeum, and expressed middle-leg length and stride length relative to alitrunk length. High-speed records related these relative strides to frequency, including a comparison at 20 Hz.</a:t>
            </a:r>
            <a:endParaRPr/>
          </a:p>
          <a:p>
            <a:pPr indent="0" lvl="0" marL="0" rtl="0" algn="l">
              <a:spcBef>
                <a:spcPts val="0"/>
              </a:spcBef>
              <a:spcAft>
                <a:spcPts val="0"/>
              </a:spcAft>
              <a:buNone/>
            </a:pPr>
            <a:r>
              <a:rPr lang="en-US"/>
              <a:t>• The analysis placed normal, stilt and stump animals on a common anatomical and locomotor basis. Relative stride length is therefore dimensionless in the relevant plot; it is not a second independently measured estimate of homing distance or evidence that ants themselves perform this normalization.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Wittlinger M, Wehner R, Wolf H (2007). The desert ant odometer: a stride integrator that accounts for stride length and walking speed. Journal of Experimental Biology 210(2):198–207. https://doi.org/10.1242/jeb.02657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Wittlinger et al. (2007), Fig. 6. Stride length as a function of stride frequency.</a:t>
            </a:r>
            <a:endParaRPr/>
          </a:p>
          <a:p>
            <a:pPr indent="0" lvl="0" marL="0" rtl="0" algn="l">
              <a:spcBef>
                <a:spcPts val="0"/>
              </a:spcBef>
              <a:spcAft>
                <a:spcPts val="0"/>
              </a:spcAft>
              <a:buNone/>
            </a:pPr>
            <a:r>
              <a:rPr lang="en-US"/>
              <a:t>Figure source: https://doi.org/10.1242/jeb.02657</a:t>
            </a:r>
            <a:endParaRPr/>
          </a:p>
        </p:txBody>
      </p:sp>
      <p:sp>
        <p:nvSpPr>
          <p:cNvPr id="276" name="Google Shape;276;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**Stride frequency** is the number of complete leg cycles per second, measured in hertz. It is distinct from stride length, the distance advanced during one cycle. Either variable can change walking speed.</a:t>
            </a:r>
            <a:endParaRPr/>
          </a:p>
          <a:p>
            <a:pPr indent="0" lvl="0" marL="0" rtl="0" algn="l">
              <a:spcBef>
                <a:spcPts val="0"/>
              </a:spcBef>
              <a:spcAft>
                <a:spcPts val="0"/>
              </a:spcAft>
              <a:buNone/>
            </a:pPr>
            <a:r>
              <a:rPr lang="en-US"/>
              <a:t>• At comparable frequencies, stilt ants had longer relative strides and stump ants shorter relative strides than controls. The investigators used the measured frequency–length relationships to compare animals at 20 Hz, reducing the effect of unequal movement speeds on the predicted homing distances.</a:t>
            </a:r>
            <a:endParaRPr/>
          </a:p>
          <a:p>
            <a:pPr indent="0" lvl="0" marL="0" rtl="0" algn="l">
              <a:spcBef>
                <a:spcPts val="0"/>
              </a:spcBef>
              <a:spcAft>
                <a:spcPts val="0"/>
              </a:spcAft>
              <a:buNone/>
            </a:pPr>
            <a:r>
              <a:rPr lang="en-US"/>
              <a:t>• The remaining ordering of the leg conditions links the imposed limb geometry to locomotor displacement. The measured relationships provide a quantitative behavioral constraint, but they do not reveal whether the odometer receives cycle counts, proprioceptive signals or an integrated motor command.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Wittlinger M, Wehner R, Wolf H (2007). The desert ant odometer: a stride integrator that accounts for stride length and walking speed. Journal of Experimental Biology 210(2):198–207. https://doi.org/10.1242/jeb.02657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Wittlinger et al. (2007), Fig. 6. Stride length as a function of stride frequency.</a:t>
            </a:r>
            <a:endParaRPr/>
          </a:p>
          <a:p>
            <a:pPr indent="0" lvl="0" marL="0" rtl="0" algn="l">
              <a:spcBef>
                <a:spcPts val="0"/>
              </a:spcBef>
              <a:spcAft>
                <a:spcPts val="0"/>
              </a:spcAft>
              <a:buNone/>
            </a:pPr>
            <a:r>
              <a:rPr lang="en-US"/>
              <a:t>Figure source: https://doi.org/10.1242/jeb.02657</a:t>
            </a:r>
            <a:endParaRPr/>
          </a:p>
        </p:txBody>
      </p:sp>
      <p:sp>
        <p:nvSpPr>
          <p:cNvPr id="288" name="Google Shape;288;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 name="Google Shape;299;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Increasing walking speed can involve faster cycles, longer strides, or both. Wittlinger and colleagues recorded freely walking animals under several temperature and preparation conditions, retaining straight runs without abrupt stops for the kinematic comparisons.</a:t>
            </a:r>
            <a:endParaRPr/>
          </a:p>
          <a:p>
            <a:pPr indent="0" lvl="0" marL="0" rtl="0" algn="l">
              <a:spcBef>
                <a:spcPts val="0"/>
              </a:spcBef>
              <a:spcAft>
                <a:spcPts val="0"/>
              </a:spcAft>
              <a:buNone/>
            </a:pPr>
            <a:r>
              <a:rPr lang="en-US"/>
              <a:t>• The color-coded data related walking speed, in mm/s, to stride frequency, in Hz. Normal and shortened-leg ants increased cycle frequency as speed increased, while stilts tended to use lower frequencies for a given speed. Their longer strides partly compensated for the reduced frequency.</a:t>
            </a:r>
            <a:endParaRPr/>
          </a:p>
          <a:p>
            <a:pPr indent="0" lvl="0" marL="0" rtl="0" algn="l">
              <a:spcBef>
                <a:spcPts val="0"/>
              </a:spcBef>
              <a:spcAft>
                <a:spcPts val="0"/>
              </a:spcAft>
              <a:buNone/>
            </a:pPr>
            <a:r>
              <a:rPr lang="en-US"/>
              <a:t>• These relationships prevent interpreting every change in elapsed journey time as a proportional change in distance. A time-based explanation must account for the actual measured speeds rather than assume that all manipulated ants maintain the same cycle rate or velocity.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Wittlinger M, Wehner R, Wolf H (2007). The desert ant odometer: a stride integrator that accounts for stride length and walking speed. Journal of Experimental Biology 210(2):198–207. https://doi.org/10.1242/jeb.02657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Wittlinger et al. (2007), Fig. 7(A). Stride frequency increases with walking speed.</a:t>
            </a:r>
            <a:endParaRPr/>
          </a:p>
          <a:p>
            <a:pPr indent="0" lvl="0" marL="0" rtl="0" algn="l">
              <a:spcBef>
                <a:spcPts val="0"/>
              </a:spcBef>
              <a:spcAft>
                <a:spcPts val="0"/>
              </a:spcAft>
              <a:buNone/>
            </a:pPr>
            <a:r>
              <a:rPr lang="en-US"/>
              <a:t>Figure source: https://doi.org/10.1242/jeb.02657</a:t>
            </a:r>
            <a:endParaRPr/>
          </a:p>
        </p:txBody>
      </p:sp>
      <p:sp>
        <p:nvSpPr>
          <p:cNvPr id="300" name="Google Shape;300;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1" name="Google Shape;311;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distance advanced during one stride is not a fixed constant for a leg condition. Cataglyphis changes stride length as it runs faster, so the effect of altered limb length must be evaluated across measured locomotor speeds.</a:t>
            </a:r>
            <a:endParaRPr/>
          </a:p>
          <a:p>
            <a:pPr indent="0" lvl="0" marL="0" rtl="0" algn="l">
              <a:spcBef>
                <a:spcPts val="0"/>
              </a:spcBef>
              <a:spcAft>
                <a:spcPts val="0"/>
              </a:spcAft>
              <a:buNone/>
            </a:pPr>
            <a:r>
              <a:rPr lang="en-US"/>
              <a:t>• The published plot relates stride length in mm to walking speed in mm/s. Stilts have longer strides than controls at comparable speeds, and stumps shorter strides. High-speed recordings establish this relationship independently of the turning-point measures used to locate each ant’s nest search.</a:t>
            </a:r>
            <a:endParaRPr/>
          </a:p>
          <a:p>
            <a:pPr indent="0" lvl="0" marL="0" rtl="0" algn="l">
              <a:spcBef>
                <a:spcPts val="0"/>
              </a:spcBef>
              <a:spcAft>
                <a:spcPts val="0"/>
              </a:spcAft>
              <a:buNone/>
            </a:pPr>
            <a:r>
              <a:rPr lang="en-US"/>
              <a:t>• The agreement between locomotor displacement and homing bias supports stride-based odometry while avoiding an assumption of one unchanging step size. The measurements still leave unresolved how stride-length information is represented and combined with heading information in the nervous system.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Wittlinger M, Wehner R, Wolf H (2007). The desert ant odometer: a stride integrator that accounts for stride length and walking speed. Journal of Experimental Biology 210(2):198–207. https://doi.org/10.1242/jeb.02657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Wittlinger et al. (2007), Fig. 7(B). Stride length increases with walking speed.</a:t>
            </a:r>
            <a:endParaRPr/>
          </a:p>
          <a:p>
            <a:pPr indent="0" lvl="0" marL="0" rtl="0" algn="l">
              <a:spcBef>
                <a:spcPts val="0"/>
              </a:spcBef>
              <a:spcAft>
                <a:spcPts val="0"/>
              </a:spcAft>
              <a:buNone/>
            </a:pPr>
            <a:r>
              <a:rPr lang="en-US"/>
              <a:t>Figure source: https://doi.org/10.1242/jeb.02657</a:t>
            </a:r>
            <a:endParaRPr/>
          </a:p>
        </p:txBody>
      </p:sp>
      <p:sp>
        <p:nvSpPr>
          <p:cNvPr id="312" name="Google Shape;312;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 name="Google Shape;323;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**stride integrator** accumulates information associated with rhythmic locomotion. It need not register each footfall as a discrete counted object. Possible inputs include **proprioception**, sensory information about limb position and movement, or activity associated with generating the walking rhythm.</a:t>
            </a:r>
            <a:endParaRPr/>
          </a:p>
          <a:p>
            <a:pPr indent="0" lvl="0" marL="0" rtl="0" algn="l">
              <a:spcBef>
                <a:spcPts val="0"/>
              </a:spcBef>
              <a:spcAft>
                <a:spcPts val="0"/>
              </a:spcAft>
              <a:buNone/>
            </a:pPr>
            <a:r>
              <a:rPr lang="en-US"/>
              <a:t>• The 2007 experiments combined a 10 m navigational task with 250-frame-per-second video and leg-length manipulations. Both the preserved tripod pattern and the graded stride changes were consistent with accumulation of movement-linked information rather than a fixed elapsed-time rule.</a:t>
            </a:r>
            <a:endParaRPr/>
          </a:p>
          <a:p>
            <a:pPr indent="0" lvl="0" marL="0" rtl="0" algn="l">
              <a:spcBef>
                <a:spcPts val="0"/>
              </a:spcBef>
              <a:spcAft>
                <a:spcPts val="0"/>
              </a:spcAft>
              <a:buNone/>
            </a:pPr>
            <a:r>
              <a:rPr lang="en-US"/>
              <a:t>• The physiological alternatives were not directly recorded or selectively blocked in this study. No transmitter, receptor or ion channel was identified as the odometer mechanism, so these candidates remain proposed explanations rather than established cellular findings in Cataglyphis.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Wittlinger M, Wehner R, Wolf H (2007). The desert ant odometer: a stride integrator that accounts for stride length and walking speed. Journal of Experimental Biology 210(2):198–207. https://doi.org/10.1242/jeb.02657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Wittlinger et al. (2007), Fig. 3(A). Normal tripod gait in a walking Cataglyphis fortis.</a:t>
            </a:r>
            <a:endParaRPr/>
          </a:p>
          <a:p>
            <a:pPr indent="0" lvl="0" marL="0" rtl="0" algn="l">
              <a:spcBef>
                <a:spcPts val="0"/>
              </a:spcBef>
              <a:spcAft>
                <a:spcPts val="0"/>
              </a:spcAft>
              <a:buNone/>
            </a:pPr>
            <a:r>
              <a:rPr lang="en-US"/>
              <a:t>Figure source: https://doi.org/10.1242/jeb.02657</a:t>
            </a:r>
            <a:endParaRPr/>
          </a:p>
        </p:txBody>
      </p:sp>
      <p:sp>
        <p:nvSpPr>
          <p:cNvPr id="324" name="Google Shape;324;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5" name="Google Shape;335;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**Learning walks** are short excursions around the nest during the transition from interior work to outside foraging. Cataglyphis nodus repeatedly pauses and rotates during these walks, acquiring experience with directional and visual information before taking distant journeys.</a:t>
            </a:r>
            <a:endParaRPr/>
          </a:p>
          <a:p>
            <a:pPr indent="0" lvl="0" marL="0" rtl="0" algn="l">
              <a:spcBef>
                <a:spcPts val="0"/>
              </a:spcBef>
              <a:spcAft>
                <a:spcPts val="0"/>
              </a:spcAft>
              <a:buNone/>
            </a:pPr>
            <a:r>
              <a:rPr lang="en-US"/>
              <a:t>• Grob and colleagues tested novices around natural nests in Greece. A table installed 30 cm above the entrance held a polarization filter over a 60 × 60 cm learning-walk area. Ants experienced defined skylight conditions over three days before their brains were analyzed.</a:t>
            </a:r>
            <a:endParaRPr/>
          </a:p>
          <a:p>
            <a:pPr indent="0" lvl="0" marL="0" rtl="0" algn="l">
              <a:spcBef>
                <a:spcPts val="0"/>
              </a:spcBef>
              <a:spcAft>
                <a:spcPts val="0"/>
              </a:spcAft>
              <a:buNone/>
            </a:pPr>
            <a:r>
              <a:rPr lang="en-US"/>
              <a:t>• The field preparation retained active behavior near the home nest while manipulating one component of the compass environment. It tests experience-dependent structural change; it does not directly measure a complete home vector in an identified neuron or establish each novice’s later foraging success.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(2022), Fig. 1(a). The polarization-filter apparatus in the natural habitat.</a:t>
            </a:r>
            <a:endParaRPr/>
          </a:p>
          <a:p>
            <a:pPr indent="0" lvl="0" marL="0" rtl="0" algn="l">
              <a:spcBef>
                <a:spcPts val="0"/>
              </a:spcBef>
              <a:spcAft>
                <a:spcPts val="0"/>
              </a:spcAft>
              <a:buNone/>
            </a:pPr>
            <a:r>
              <a:rPr lang="en-US"/>
              <a:t>Figure source: https://doi.org/10.1098/rspb.2021.2499</a:t>
            </a:r>
            <a:endParaRPr/>
          </a:p>
        </p:txBody>
      </p:sp>
      <p:sp>
        <p:nvSpPr>
          <p:cNvPr id="336" name="Google Shape;336;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7" name="Google Shape;347;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**solar ephemeris** is the sun’s changing position over the day. A time-compensated sky compass must relate current solar or polarization information to heading despite that movement. Initial learning can establish the relation between celestial changes and stable surroundings.</a:t>
            </a:r>
            <a:endParaRPr/>
          </a:p>
          <a:p>
            <a:pPr indent="0" lvl="0" marL="0" rtl="0" algn="l">
              <a:spcBef>
                <a:spcPts val="0"/>
              </a:spcBef>
              <a:spcAft>
                <a:spcPts val="0"/>
              </a:spcAft>
              <a:buNone/>
            </a:pPr>
            <a:r>
              <a:rPr lang="en-US"/>
              <a:t>• Grob and colleagues compared natural skylight with a stationary polarizer, a single 90° turn at solar noon, hourly 45° turns, and continuous rotation at 15° per hour. Each treatment constrained how polarization direction changed during three days of learning walks.</a:t>
            </a:r>
            <a:endParaRPr/>
          </a:p>
          <a:p>
            <a:pPr indent="0" lvl="0" marL="0" rtl="0" algn="l">
              <a:spcBef>
                <a:spcPts val="0"/>
              </a:spcBef>
              <a:spcAft>
                <a:spcPts val="0"/>
              </a:spcAft>
              <a:buNone/>
            </a:pPr>
            <a:r>
              <a:rPr lang="en-US"/>
              <a:t>• The artificial schedules separated exposure to polarized light from experience of a changing polarization pattern. They were controlled experimental cues rather than claims that the natural sky everywhere follows those exact angular steps, especially near noon or at different geographical positions.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(2022), Fig. 1(b). Stationary, stepped and continuously rotating polarization treatments.</a:t>
            </a:r>
            <a:endParaRPr/>
          </a:p>
          <a:p>
            <a:pPr indent="0" lvl="0" marL="0" rtl="0" algn="l">
              <a:spcBef>
                <a:spcPts val="0"/>
              </a:spcBef>
              <a:spcAft>
                <a:spcPts val="0"/>
              </a:spcAft>
              <a:buNone/>
            </a:pPr>
            <a:r>
              <a:rPr lang="en-US"/>
              <a:t>Figure source: https://doi.org/10.1098/rspb.2021.2499</a:t>
            </a:r>
            <a:endParaRPr/>
          </a:p>
        </p:txBody>
      </p:sp>
      <p:sp>
        <p:nvSpPr>
          <p:cNvPr id="348" name="Google Shape;348;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**neuropil** is a region containing neuronal processes and synapses. The **central complex** comprises midline brain neuropils implicated in heading and navigation, while the **mushroom bodies** are paired structures implicated in memory-based processing.</a:t>
            </a:r>
            <a:endParaRPr/>
          </a:p>
          <a:p>
            <a:pPr indent="0" lvl="0" marL="0" rtl="0" algn="l">
              <a:spcBef>
                <a:spcPts val="0"/>
              </a:spcBef>
              <a:spcAft>
                <a:spcPts val="0"/>
              </a:spcAft>
              <a:buNone/>
            </a:pPr>
            <a:r>
              <a:rPr lang="en-US"/>
              <a:t>• Grob and colleagues labelled Cataglyphis brains with anti-synapsin antibodies and fluorescent phalloidin, which marks actin-rich structures. Their preparations identified mushroom-body collar microglomeruli and giant synapses in the lateral complex. The whole-brain image has a 200 µm scale bar and the synaptic insets 10 µm bars.</a:t>
            </a:r>
            <a:endParaRPr/>
          </a:p>
          <a:p>
            <a:pPr indent="0" lvl="0" marL="0" rtl="0" algn="l">
              <a:spcBef>
                <a:spcPts val="0"/>
              </a:spcBef>
              <a:spcAft>
                <a:spcPts val="0"/>
              </a:spcAft>
              <a:buNone/>
            </a:pPr>
            <a:r>
              <a:rPr lang="en-US"/>
              <a:t>• The anatomical distinction permits separate measurements along the two visual pathways. Labelling synaptic structures establishes their position and morphology, but neither stain reports the sign of a postsynaptic voltage change, an active compass heading or a stored navigational distance.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(2022), Fig. 1(c). Central complex, lateral complex and mushroom-body synaptic anatomy.</a:t>
            </a:r>
            <a:endParaRPr/>
          </a:p>
          <a:p>
            <a:pPr indent="0" lvl="0" marL="0" rtl="0" algn="l">
              <a:spcBef>
                <a:spcPts val="0"/>
              </a:spcBef>
              <a:spcAft>
                <a:spcPts val="0"/>
              </a:spcAft>
              <a:buNone/>
            </a:pPr>
            <a:r>
              <a:rPr lang="en-US"/>
              <a:t>Figure source: https://doi.org/10.1098/rspb.2021.2499</a:t>
            </a:r>
            <a:endParaRPr/>
          </a:p>
        </p:txBody>
      </p:sp>
      <p:sp>
        <p:nvSpPr>
          <p:cNvPr id="360" name="Google Shape;360;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1" name="Google Shape;371;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**Synapsin** is a protein associated with presynaptic vesicles, so anti-synapsin labelling helps identify presynaptic specializations. **F-actin** is filamentous actin; fluorescent phalloidin labels it in neuronal processes and supports identification of synaptic organization.</a:t>
            </a:r>
            <a:endParaRPr/>
          </a:p>
          <a:p>
            <a:pPr indent="0" lvl="0" marL="0" rtl="0" algn="l">
              <a:spcBef>
                <a:spcPts val="0"/>
              </a:spcBef>
              <a:spcAft>
                <a:spcPts val="0"/>
              </a:spcAft>
              <a:buNone/>
            </a:pPr>
            <a:r>
              <a:rPr lang="en-US"/>
              <a:t>• The Cataglyphis nodus preparations used complementary synapsin and actin labels to quantify **microglomeruli**, compact synaptic complexes in the mushroom-body collar, and giant synapses in the lateral complex. The magnified examples retain 10 µm scale bars for these different structures.</a:t>
            </a:r>
            <a:endParaRPr/>
          </a:p>
          <a:p>
            <a:pPr indent="0" lvl="0" marL="0" rtl="0" algn="l">
              <a:spcBef>
                <a:spcPts val="0"/>
              </a:spcBef>
              <a:spcAft>
                <a:spcPts val="0"/>
              </a:spcAft>
              <a:buNone/>
            </a:pPr>
            <a:r>
              <a:rPr lang="en-US"/>
              <a:t>• Structural counts can reveal experience-associated reorganization, but an additional labelled complex does not automatically imply increased firing or stronger transmission. The experiments did not measure release probability, receptor conductance or excitatory and inhibitory currents in the counted synapses.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(2022), Fig. 1(c). Central complex, lateral complex and mushroom-body synaptic anatomy.</a:t>
            </a:r>
            <a:endParaRPr/>
          </a:p>
          <a:p>
            <a:pPr indent="0" lvl="0" marL="0" rtl="0" algn="l">
              <a:spcBef>
                <a:spcPts val="0"/>
              </a:spcBef>
              <a:spcAft>
                <a:spcPts val="0"/>
              </a:spcAft>
              <a:buNone/>
            </a:pPr>
            <a:r>
              <a:rPr lang="en-US"/>
              <a:t>Figure source: https://doi.org/10.1098/rspb.2021.2499</a:t>
            </a:r>
            <a:endParaRPr/>
          </a:p>
        </p:txBody>
      </p:sp>
      <p:sp>
        <p:nvSpPr>
          <p:cNvPr id="372" name="Google Shape;372;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3" name="Google Shape;383;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**Light exposure** and active learning walks are separable experimental experiences. Grob and colleagues compared dark controls with ants exposed to natural skylight, ultraviolet-filtered skylight or a fixed polarization pattern, with additional groups allowed to perform learning walks.</a:t>
            </a:r>
            <a:endParaRPr/>
          </a:p>
          <a:p>
            <a:pPr indent="0" lvl="0" marL="0" rtl="0" algn="l">
              <a:spcBef>
                <a:spcPts val="0"/>
              </a:spcBef>
              <a:spcAft>
                <a:spcPts val="0"/>
              </a:spcAft>
              <a:buNone/>
            </a:pPr>
            <a:r>
              <a:rPr lang="en-US"/>
              <a:t>• After three days, lateral-complex giant-synapse counts increased under suitable full-spectrum light exposure even without learning walks. Removing ultraviolet light reduced this response. Central-complex volume did not exhibit the same simple light-exposure dependence as the lateral-complex synaptic count.</a:t>
            </a:r>
            <a:endParaRPr/>
          </a:p>
          <a:p>
            <a:pPr indent="0" lvl="0" marL="0" rtl="0" algn="l">
              <a:spcBef>
                <a:spcPts val="0"/>
              </a:spcBef>
              <a:spcAft>
                <a:spcPts val="0"/>
              </a:spcAft>
              <a:buNone/>
            </a:pPr>
            <a:r>
              <a:rPr lang="en-US"/>
              <a:t>• The dissociation supports different experience requirements in the two visual pathways. It does not identify ultraviolet phototransduction channels or prove that additional lateral-complex synapses are sufficient for accurate homing; the measured endpoint was synaptic structure rather than navigational performance.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(2022), Fig. 2(a). Lateral-complex synaptic counts across light conditions.</a:t>
            </a:r>
            <a:endParaRPr/>
          </a:p>
          <a:p>
            <a:pPr indent="0" lvl="0" marL="0" rtl="0" algn="l">
              <a:spcBef>
                <a:spcPts val="0"/>
              </a:spcBef>
              <a:spcAft>
                <a:spcPts val="0"/>
              </a:spcAft>
              <a:buNone/>
            </a:pPr>
            <a:r>
              <a:rPr lang="en-US"/>
              <a:t>Figure source: https://doi.org/10.1098/rspb.2021.2499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(2022), Fig. 1(c). Central complex, lateral complex and mushroom-body synaptic anatomy.</a:t>
            </a:r>
            <a:endParaRPr/>
          </a:p>
          <a:p>
            <a:pPr indent="0" lvl="0" marL="0" rtl="0" algn="l">
              <a:spcBef>
                <a:spcPts val="0"/>
              </a:spcBef>
              <a:spcAft>
                <a:spcPts val="0"/>
              </a:spcAft>
              <a:buNone/>
            </a:pPr>
            <a:r>
              <a:rPr lang="en-US"/>
              <a:t>Figure source: https://doi.org/10.1098/rspb.2021.2499</a:t>
            </a:r>
            <a:endParaRPr/>
          </a:p>
        </p:txBody>
      </p:sp>
      <p:sp>
        <p:nvSpPr>
          <p:cNvPr id="384" name="Google Shape;384;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7" name="Google Shape;397;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**Structural plasticity** is an experience-associated change in neuronal anatomy, such as neuropil volume or synaptic organization. It must be distinguished from an acute firing-rate response to a sensory stimulus.</a:t>
            </a:r>
            <a:endParaRPr/>
          </a:p>
          <a:p>
            <a:pPr indent="0" lvl="0" marL="0" rtl="0" algn="l">
              <a:spcBef>
                <a:spcPts val="0"/>
              </a:spcBef>
              <a:spcAft>
                <a:spcPts val="0"/>
              </a:spcAft>
              <a:buNone/>
            </a:pPr>
            <a:r>
              <a:rPr lang="en-US"/>
              <a:t>• After three days, natural learning walks increased the size-corrected central-complex volume relative to dark controls. Passive light exposure and learning walks under a stationary polarization filter did not produce the same increase. Brain volumes were corrected for body size rather than compared solely as raw tissue amounts.</a:t>
            </a:r>
            <a:endParaRPr/>
          </a:p>
          <a:p>
            <a:pPr indent="0" lvl="0" marL="0" rtl="0" algn="l">
              <a:spcBef>
                <a:spcPts val="0"/>
              </a:spcBef>
              <a:spcAft>
                <a:spcPts val="0"/>
              </a:spcAft>
              <a:buNone/>
            </a:pPr>
            <a:r>
              <a:rPr lang="en-US"/>
              <a:t>• The result links active experience with changing celestial information to central-complex structure. It does not establish whether volume changes arise from extra synapses, expanded neurites or other tissue components, nor whether the observed growth is causally required for path integration.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(2022), Fig. 2(b). Central-complex volumes after light exposure or learning walks.</a:t>
            </a:r>
            <a:endParaRPr/>
          </a:p>
          <a:p>
            <a:pPr indent="0" lvl="0" marL="0" rtl="0" algn="l">
              <a:spcBef>
                <a:spcPts val="0"/>
              </a:spcBef>
              <a:spcAft>
                <a:spcPts val="0"/>
              </a:spcAft>
              <a:buNone/>
            </a:pPr>
            <a:r>
              <a:rPr lang="en-US"/>
              <a:t>Figure source: https://doi.org/10.1098/rspb.2021.2499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(2022), Fig. 1(c). Central complex, lateral complex and mushroom-body synaptic anatomy.</a:t>
            </a:r>
            <a:endParaRPr/>
          </a:p>
          <a:p>
            <a:pPr indent="0" lvl="0" marL="0" rtl="0" algn="l">
              <a:spcBef>
                <a:spcPts val="0"/>
              </a:spcBef>
              <a:spcAft>
                <a:spcPts val="0"/>
              </a:spcAft>
              <a:buNone/>
            </a:pPr>
            <a:r>
              <a:rPr lang="en-US"/>
              <a:t>Figure source: https://doi.org/10.1098/rspb.2021.2499</a:t>
            </a:r>
            <a:endParaRPr/>
          </a:p>
        </p:txBody>
      </p:sp>
      <p:sp>
        <p:nvSpPr>
          <p:cNvPr id="398" name="Google Shape;398;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1" name="Google Shape;411;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**mushroom-body collar** is a visual input region of the mushroom-body calyx. Its microglomeruli receive visual information and provide a measurable synaptic endpoint for changes accompanying the acquisition of outdoor experience.</a:t>
            </a:r>
            <a:endParaRPr/>
          </a:p>
          <a:p>
            <a:pPr indent="0" lvl="0" marL="0" rtl="0" algn="l">
              <a:spcBef>
                <a:spcPts val="0"/>
              </a:spcBef>
              <a:spcAft>
                <a:spcPts val="0"/>
              </a:spcAft>
              <a:buNone/>
            </a:pPr>
            <a:r>
              <a:rPr lang="en-US"/>
              <a:t>• Grob and colleagues allowed three days of learning walks under different polarization schedules. A stationary pattern failed to elicit the growth associated with changing polarization. A single 90° daily turn, hourly 45° turns and continuous 15°-per-hour rotation supported increases in collar volume and microglomerular number.</a:t>
            </a:r>
            <a:endParaRPr/>
          </a:p>
          <a:p>
            <a:pPr indent="0" lvl="0" marL="0" rtl="0" algn="l">
              <a:spcBef>
                <a:spcPts val="0"/>
              </a:spcBef>
              <a:spcAft>
                <a:spcPts val="0"/>
              </a:spcAft>
              <a:buNone/>
            </a:pPr>
            <a:r>
              <a:rPr lang="en-US"/>
              <a:t>• The comparison separates a changing compass-related environment from polarized illumination alone. It does not prove that these mushroom-body synapses encode the complete solar ephemeris, and it does not equate structural growth with a measured increase in synaptic current or behavioral accuracy.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(2022), Fig. 3(c–d). Mushroom-body volume and microglomeruli under polarization rotation.</a:t>
            </a:r>
            <a:endParaRPr/>
          </a:p>
          <a:p>
            <a:pPr indent="0" lvl="0" marL="0" rtl="0" algn="l">
              <a:spcBef>
                <a:spcPts val="0"/>
              </a:spcBef>
              <a:spcAft>
                <a:spcPts val="0"/>
              </a:spcAft>
              <a:buNone/>
            </a:pPr>
            <a:r>
              <a:rPr lang="en-US"/>
              <a:t>Figure source: https://doi.org/10.1098/rspb.2021.2499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(2022), Fig. 1(c). Central complex, lateral complex and mushroom-body synaptic anatomy.</a:t>
            </a:r>
            <a:endParaRPr/>
          </a:p>
          <a:p>
            <a:pPr indent="0" lvl="0" marL="0" rtl="0" algn="l">
              <a:spcBef>
                <a:spcPts val="0"/>
              </a:spcBef>
              <a:spcAft>
                <a:spcPts val="0"/>
              </a:spcAft>
              <a:buNone/>
            </a:pPr>
            <a:r>
              <a:rPr lang="en-US"/>
              <a:t>Figure source: https://doi.org/10.1098/rspb.2021.2499</a:t>
            </a:r>
            <a:endParaRPr/>
          </a:p>
        </p:txBody>
      </p:sp>
      <p:sp>
        <p:nvSpPr>
          <p:cNvPr id="412" name="Google Shape;412;p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5" name="Google Shape;425;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common sensory manipulation can affect different brain regions differently. The lateral complex lies along the sky-compass pathway, whereas the central complex and mushroom-body collar provide distinct higher-order measures of experience-associated change.</a:t>
            </a:r>
            <a:endParaRPr/>
          </a:p>
          <a:p>
            <a:pPr indent="0" lvl="0" marL="0" rtl="0" algn="l">
              <a:spcBef>
                <a:spcPts val="0"/>
              </a:spcBef>
              <a:spcAft>
                <a:spcPts val="0"/>
              </a:spcAft>
              <a:buNone/>
            </a:pPr>
            <a:r>
              <a:rPr lang="en-US"/>
              <a:t>• Across the three-day learning-walk experiment, the different polarization-rotation schedules altered central-complex volume and mushroom-body measures, but giant-synapse counts in the lateral complex remained broadly similar. The continuous rotation condition changed filter orientation at 15° per hour.</a:t>
            </a:r>
            <a:endParaRPr/>
          </a:p>
          <a:p>
            <a:pPr indent="0" lvl="0" marL="0" rtl="0" algn="l">
              <a:spcBef>
                <a:spcPts val="0"/>
              </a:spcBef>
              <a:spcAft>
                <a:spcPts val="0"/>
              </a:spcAft>
              <a:buNone/>
            </a:pPr>
            <a:r>
              <a:rPr lang="en-US"/>
              <a:t>• The dissociation limits a claim of uniform growth throughout the visual system. Similar giant-synapse numbers do not establish identical activity in that pathway; transmitter release, synaptic strength and firing patterns were not measured by counting anatomical complexes.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(2022), Fig. 3(a–b). Giant synapses and central-complex volume under polarization rotation.</a:t>
            </a:r>
            <a:endParaRPr/>
          </a:p>
          <a:p>
            <a:pPr indent="0" lvl="0" marL="0" rtl="0" algn="l">
              <a:spcBef>
                <a:spcPts val="0"/>
              </a:spcBef>
              <a:spcAft>
                <a:spcPts val="0"/>
              </a:spcAft>
              <a:buNone/>
            </a:pPr>
            <a:r>
              <a:rPr lang="en-US"/>
              <a:t>Figure source: https://doi.org/10.1098/rspb.2021.2499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(2022), Fig. 1(c). Central complex, lateral complex and mushroom-body synaptic anatomy.</a:t>
            </a:r>
            <a:endParaRPr/>
          </a:p>
          <a:p>
            <a:pPr indent="0" lvl="0" marL="0" rtl="0" algn="l">
              <a:spcBef>
                <a:spcPts val="0"/>
              </a:spcBef>
              <a:spcAft>
                <a:spcPts val="0"/>
              </a:spcAft>
              <a:buNone/>
            </a:pPr>
            <a:r>
              <a:rPr lang="en-US"/>
              <a:t>Figure source: https://doi.org/10.1098/rspb.2021.2499</a:t>
            </a:r>
            <a:endParaRPr/>
          </a:p>
        </p:txBody>
      </p:sp>
      <p:sp>
        <p:nvSpPr>
          <p:cNvPr id="426" name="Google Shape;426;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9" name="Google Shape;439;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**GABAergic** neurons use gamma-aminobutyric acid as a transmitter; **cholinergic** neurons use acetylcholine. These transmitter classifications describe signaling identity, while the postsynaptic effect also depends on receptor type and cellular conditions.</a:t>
            </a:r>
            <a:endParaRPr/>
          </a:p>
          <a:p>
            <a:pPr indent="0" lvl="0" marL="0" rtl="0" algn="l">
              <a:spcBef>
                <a:spcPts val="0"/>
              </a:spcBef>
              <a:spcAft>
                <a:spcPts val="0"/>
              </a:spcAft>
              <a:buNone/>
            </a:pPr>
            <a:r>
              <a:rPr lang="en-US"/>
              <a:t>• Grob and colleagues discuss evidence that most tangential neurons projecting from the lateral complex toward the central complex are GABAergic, whereas visual projection neurons supplying mushroom bodies are presumably cholinergic. Their three-day experience experiment measured structural endpoints in these pathways rather than pharmacologically isolating transmitter action.</a:t>
            </a:r>
            <a:endParaRPr/>
          </a:p>
          <a:p>
            <a:pPr indent="0" lvl="0" marL="0" rtl="0" algn="l">
              <a:spcBef>
                <a:spcPts val="0"/>
              </a:spcBef>
              <a:spcAft>
                <a:spcPts val="0"/>
              </a:spcAft>
              <a:buNone/>
            </a:pPr>
            <a:r>
              <a:rPr lang="en-US"/>
              <a:t>• The different transmitter identities may contribute to different plasticity patterns, but that explanation was proposed rather than tested here. The study does not establish which GABA or acetylcholine receptor subtype, ion channel or intracellular cascade causes the observed volume and synaptic changes.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(2022), Fig. 1(d). Published three-dimensional reconstruction of visual integration centres.</a:t>
            </a:r>
            <a:endParaRPr/>
          </a:p>
          <a:p>
            <a:pPr indent="0" lvl="0" marL="0" rtl="0" algn="l">
              <a:spcBef>
                <a:spcPts val="0"/>
              </a:spcBef>
              <a:spcAft>
                <a:spcPts val="0"/>
              </a:spcAft>
              <a:buNone/>
            </a:pPr>
            <a:r>
              <a:rPr lang="en-US"/>
              <a:t>Figure source: https://doi.org/10.1098/rspb.2021.2499</a:t>
            </a:r>
            <a:endParaRPr/>
          </a:p>
        </p:txBody>
      </p:sp>
      <p:sp>
        <p:nvSpPr>
          <p:cNvPr id="440" name="Google Shape;440;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1" name="Google Shape;451;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**geomagnetic field** is Earth’s magnetic field, which can provide a directional reference independent of the sun’s daily movement. A **Helmholtz coil system** generates controlled magnetic fields in an experimental volume.</a:t>
            </a:r>
            <a:endParaRPr/>
          </a:p>
          <a:p>
            <a:pPr indent="0" lvl="0" marL="0" rtl="0" algn="l">
              <a:spcBef>
                <a:spcPts val="0"/>
              </a:spcBef>
              <a:spcAft>
                <a:spcPts val="0"/>
              </a:spcAft>
              <a:buNone/>
            </a:pPr>
            <a:r>
              <a:rPr lang="en-US"/>
              <a:t>• Grob and colleagues installed a three-dimensional coil system around a 60 × 60 cm platform connected to a Cataglyphis nodus nest. Novices performed learning walks over three consecutive days. At the site, the natural total field was about 46.1 µT, with a horizontal component of 26.6 µT.</a:t>
            </a:r>
            <a:endParaRPr/>
          </a:p>
          <a:p>
            <a:pPr indent="0" lvl="0" marL="0" rtl="0" algn="l">
              <a:spcBef>
                <a:spcPts val="0"/>
              </a:spcBef>
              <a:spcAft>
                <a:spcPts val="0"/>
              </a:spcAft>
              <a:buNone/>
            </a:pPr>
            <a:r>
              <a:rPr lang="en-US"/>
              <a:t>• The preparation manipulated magnetic information while retaining the natural panorama and celestial environment. Comparing several magnetic conditions with dark interior-worker controls allowed assessment of experience-associated brain changes, but did not directly identify a magnetic receptor or selectively stimulate a known magnetosensory neuron.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Müller VL, Grübel K, Rössler W, Fleischmann PN (2024). Importance of magnetic information for neuronal plasticity in desert ants. Proceedings of the National Academy of Sciences 121(8):e2320764121. https://doi.org/10.1073/pnas.2320764121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(2024), Fig. 1(C). Helmholtz coils and the learning-walk platform.</a:t>
            </a:r>
            <a:endParaRPr/>
          </a:p>
          <a:p>
            <a:pPr indent="0" lvl="0" marL="0" rtl="0" algn="l">
              <a:spcBef>
                <a:spcPts val="0"/>
              </a:spcBef>
              <a:spcAft>
                <a:spcPts val="0"/>
              </a:spcAft>
              <a:buNone/>
            </a:pPr>
            <a:r>
              <a:rPr lang="en-US"/>
              <a:t>Figure source: https://doi.org/10.1073/pnas.2320764121</a:t>
            </a:r>
            <a:endParaRPr/>
          </a:p>
        </p:txBody>
      </p:sp>
      <p:sp>
        <p:nvSpPr>
          <p:cNvPr id="452" name="Google Shape;452;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3" name="Google Shape;463;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**pirouette** is a rotation around the ant’s body axis during a learning walk. Under natural conditions, the longest pauses in these rotations are directed toward the nest, providing a measurable orientation behavior near the nest entrance.</a:t>
            </a:r>
            <a:endParaRPr/>
          </a:p>
          <a:p>
            <a:pPr indent="0" lvl="0" marL="0" rtl="0" algn="l">
              <a:spcBef>
                <a:spcPts val="0"/>
              </a:spcBef>
              <a:spcAft>
                <a:spcPts val="0"/>
              </a:spcAft>
              <a:buNone/>
            </a:pPr>
            <a:r>
              <a:rPr lang="en-US"/>
              <a:t>• In the horizontal-elimination condition, the coils cancelled the horizontal field component while retaining a downward vertical field of about 37.5 µT. The longest stopping directions no longer clustered toward the nest in the published angular distributions, which used 10° bins.</a:t>
            </a:r>
            <a:endParaRPr/>
          </a:p>
          <a:p>
            <a:pPr indent="0" lvl="0" marL="0" rtl="0" algn="l">
              <a:spcBef>
                <a:spcPts val="0"/>
              </a:spcBef>
              <a:spcAft>
                <a:spcPts val="0"/>
              </a:spcAft>
              <a:buNone/>
            </a:pPr>
            <a:r>
              <a:rPr lang="en-US"/>
              <a:t>• The result supports a role for horizontal magnetic information in the novices’ nest-directed behavior under this condition. It does not prove that every other compass cue is unavailable, and the remaining vertical field differs fundamentally from removing magnetic information entirely.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Müller VL, Grübel K, Rössler W, Fleischmann PN (2024). Importance of magnetic information for neuronal plasticity in desert ants. Proceedings of the National Academy of Sciences 121(8):e2320764121. https://doi.org/10.1073/pnas.2320764121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(2024), Fig. 2(A–C). Nest-directed gazes under three magnetic manipulations.</a:t>
            </a:r>
            <a:endParaRPr/>
          </a:p>
          <a:p>
            <a:pPr indent="0" lvl="0" marL="0" rtl="0" algn="l">
              <a:spcBef>
                <a:spcPts val="0"/>
              </a:spcBef>
              <a:spcAft>
                <a:spcPts val="0"/>
              </a:spcAft>
              <a:buNone/>
            </a:pPr>
            <a:r>
              <a:rPr lang="en-US"/>
              <a:t>Figure source: https://doi.org/10.1073/pnas.2320764121</a:t>
            </a:r>
            <a:endParaRPr/>
          </a:p>
        </p:txBody>
      </p:sp>
      <p:sp>
        <p:nvSpPr>
          <p:cNvPr id="464" name="Google Shape;464;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5" name="Google Shape;475;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Complete magnetic-field elimination is a distinct cue manipulation from retaining a vertical field. Grob and colleagues cancelled both the horizontal and vertical components rather than leaving a directional magnetic cue pointing downward.</a:t>
            </a:r>
            <a:endParaRPr/>
          </a:p>
          <a:p>
            <a:pPr indent="0" lvl="0" marL="0" rtl="0" algn="l">
              <a:spcBef>
                <a:spcPts val="0"/>
              </a:spcBef>
              <a:spcAft>
                <a:spcPts val="0"/>
              </a:spcAft>
              <a:buNone/>
            </a:pPr>
            <a:r>
              <a:rPr lang="en-US"/>
              <a:t>• Under total elimination, the residual field was about 0.1 µT. Ants nevertheless directed their longest pirouette pauses toward the nest. This differed from the loss of nest-directed gazes when only the horizontal component had been eliminated.</a:t>
            </a:r>
            <a:endParaRPr/>
          </a:p>
          <a:p>
            <a:pPr indent="0" lvl="0" marL="0" rtl="0" algn="l">
              <a:spcBef>
                <a:spcPts val="0"/>
              </a:spcBef>
              <a:spcAft>
                <a:spcPts val="0"/>
              </a:spcAft>
              <a:buNone/>
            </a:pPr>
            <a:r>
              <a:rPr lang="en-US"/>
              <a:t>• The authors interpreted the contrast as possible recruitment of a backup compass when magnetic information was absent altogether. Panoramic information is a candidate, but the experiment did not independently remove it, so the specific substitute cue and the switching mechanism remain unresolved.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Müller VL, Grübel K, Rössler W, Fleischmann PN (2024). Importance of magnetic information for neuronal plasticity in desert ants. Proceedings of the National Academy of Sciences 121(8):e2320764121. https://doi.org/10.1073/pnas.2320764121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(2024), Fig. 2(A–C). Nest-directed gazes under three magnetic manipulations.</a:t>
            </a:r>
            <a:endParaRPr/>
          </a:p>
          <a:p>
            <a:pPr indent="0" lvl="0" marL="0" rtl="0" algn="l">
              <a:spcBef>
                <a:spcPts val="0"/>
              </a:spcBef>
              <a:spcAft>
                <a:spcPts val="0"/>
              </a:spcAft>
              <a:buNone/>
            </a:pPr>
            <a:r>
              <a:rPr lang="en-US"/>
              <a:t>Figure source: https://doi.org/10.1073/pnas.2320764121</a:t>
            </a:r>
            <a:endParaRPr/>
          </a:p>
        </p:txBody>
      </p:sp>
      <p:sp>
        <p:nvSpPr>
          <p:cNvPr id="476" name="Google Shape;476;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7" name="Google Shape;487;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magnetic cue need not always point toward natural magnetic north to provide a usable short-term directional reference. The relevant comparison is whether its direction remains sufficiently stable during each individual learning walk.</a:t>
            </a:r>
            <a:endParaRPr/>
          </a:p>
          <a:p>
            <a:pPr indent="0" lvl="0" marL="0" rtl="0" algn="l">
              <a:spcBef>
                <a:spcPts val="0"/>
              </a:spcBef>
              <a:spcAft>
                <a:spcPts val="0"/>
              </a:spcAft>
              <a:buNone/>
            </a:pPr>
            <a:r>
              <a:rPr lang="en-US"/>
              <a:t>• In the magnetic-plus-solar condition, the horizontal vector was adjusted every 10 seconds to follow the sun’s azimuth over the day. Individual walks lasted seconds to minutes, and ants retained nest-directed longest stops despite the vector’s changing geographical alignment.</a:t>
            </a:r>
            <a:endParaRPr/>
          </a:p>
          <a:p>
            <a:pPr indent="0" lvl="0" marL="0" rtl="0" algn="l">
              <a:spcBef>
                <a:spcPts val="0"/>
              </a:spcBef>
              <a:spcAft>
                <a:spcPts val="0"/>
              </a:spcAft>
              <a:buNone/>
            </a:pPr>
            <a:r>
              <a:rPr lang="en-US"/>
              <a:t>• The preservation of look-back behavior does not establish normal long-term calibration. The manipulation makes magnetic and celestial directions covary over the day, removing their natural changing angular relationship even while leaving a useful reference for an individual short excursion.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Müller VL, Grübel K, Rössler W, Fleischmann PN (2024). Importance of magnetic information for neuronal plasticity in desert ants. Proceedings of the National Academy of Sciences 121(8):e2320764121. https://doi.org/10.1073/pnas.2320764121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(2024), Fig. 2(A–C). Nest-directed gazes under three magnetic manipulations.</a:t>
            </a:r>
            <a:endParaRPr/>
          </a:p>
          <a:p>
            <a:pPr indent="0" lvl="0" marL="0" rtl="0" algn="l">
              <a:spcBef>
                <a:spcPts val="0"/>
              </a:spcBef>
              <a:spcAft>
                <a:spcPts val="0"/>
              </a:spcAft>
              <a:buNone/>
            </a:pPr>
            <a:r>
              <a:rPr lang="en-US"/>
              <a:t>Figure source: https://doi.org/10.1073/pnas.2320764121</a:t>
            </a:r>
            <a:endParaRPr/>
          </a:p>
        </p:txBody>
      </p:sp>
      <p:sp>
        <p:nvSpPr>
          <p:cNvPr id="488" name="Google Shape;488;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9" name="Google Shape;499;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Accurate nest-directed gazes and structural brain change are different experimental endpoints. Recording a successful look-back does not guarantee that all compass-calibration and visual-memory processes associated with the learning period occur normally.</a:t>
            </a:r>
            <a:endParaRPr/>
          </a:p>
          <a:p>
            <a:pPr indent="0" lvl="0" marL="0" rtl="0" algn="l">
              <a:spcBef>
                <a:spcPts val="0"/>
              </a:spcBef>
              <a:spcAft>
                <a:spcPts val="0"/>
              </a:spcAft>
              <a:buNone/>
            </a:pPr>
            <a:r>
              <a:rPr lang="en-US"/>
              <a:t>• After three days, central-complex volume increased under natural magnetic conditions and under several elimination or disarray conditions. When the magnetic vector followed solar azimuth, central-complex growth did not occur relative to dark controls, despite preserved nest-directed look-backs.</a:t>
            </a:r>
            <a:endParaRPr/>
          </a:p>
          <a:p>
            <a:pPr indent="0" lvl="0" marL="0" rtl="0" algn="l">
              <a:spcBef>
                <a:spcPts val="0"/>
              </a:spcBef>
              <a:spcAft>
                <a:spcPts val="0"/>
              </a:spcAft>
              <a:buNone/>
            </a:pPr>
            <a:r>
              <a:rPr lang="en-US"/>
              <a:t>• The result dissociates an immediate orientation behavior from an experience-associated anatomical outcome. It supports a role for the changing relation between compass cues, but does not demonstrate that absent volume growth causes a later navigation deficit; that causal behavioral test was not performed.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Müller VL, Grübel K, Rössler W, Fleischmann PN (2024). Importance of magnetic information for neuronal plasticity in desert ants. Proceedings of the National Academy of Sciences 121(8):e2320764121. https://doi.org/10.1073/pnas.2320764121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(2024), Fig. 4(A). Central-complex volume under magnetic treatments.</a:t>
            </a:r>
            <a:endParaRPr/>
          </a:p>
          <a:p>
            <a:pPr indent="0" lvl="0" marL="0" rtl="0" algn="l">
              <a:spcBef>
                <a:spcPts val="0"/>
              </a:spcBef>
              <a:spcAft>
                <a:spcPts val="0"/>
              </a:spcAft>
              <a:buNone/>
            </a:pPr>
            <a:r>
              <a:rPr lang="en-US"/>
              <a:t>Figure source: https://doi.org/10.1073/pnas.2320764121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(2024), Fig. 3(B). Central complex and mushroom-body collar reconstruction.</a:t>
            </a:r>
            <a:endParaRPr/>
          </a:p>
          <a:p>
            <a:pPr indent="0" lvl="0" marL="0" rtl="0" algn="l">
              <a:spcBef>
                <a:spcPts val="0"/>
              </a:spcBef>
              <a:spcAft>
                <a:spcPts val="0"/>
              </a:spcAft>
              <a:buNone/>
            </a:pPr>
            <a:r>
              <a:rPr lang="en-US"/>
              <a:t>Figure source: https://doi.org/10.1073/pnas.2320764121</a:t>
            </a:r>
            <a:endParaRPr/>
          </a:p>
        </p:txBody>
      </p:sp>
      <p:sp>
        <p:nvSpPr>
          <p:cNvPr id="500" name="Google Shape;500;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3" name="Google Shape;513;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Visual memories acquired near the nest may require information specifying which direction the ant is facing. The mushroom-body collar provides a visual input region in which synaptic structure can be compared after controlled learning experience.</a:t>
            </a:r>
            <a:endParaRPr/>
          </a:p>
          <a:p>
            <a:pPr indent="0" lvl="0" marL="0" rtl="0" algn="l">
              <a:spcBef>
                <a:spcPts val="0"/>
              </a:spcBef>
              <a:spcAft>
                <a:spcPts val="0"/>
              </a:spcAft>
              <a:buNone/>
            </a:pPr>
            <a:r>
              <a:rPr lang="en-US"/>
              <a:t>• Grob and colleagues measured size-corrected collar volume and microglomerular number after three days of learning walks. These measures increased under the natural field, while the tested altered magnetic conditions did not produce the same increases. The effect differed from central-complex responses to complete field removal.</a:t>
            </a:r>
            <a:endParaRPr/>
          </a:p>
          <a:p>
            <a:pPr indent="0" lvl="0" marL="0" rtl="0" algn="l">
              <a:spcBef>
                <a:spcPts val="0"/>
              </a:spcBef>
              <a:spcAft>
                <a:spcPts val="0"/>
              </a:spcAft>
              <a:buNone/>
            </a:pPr>
            <a:r>
              <a:rPr lang="en-US"/>
              <a:t>• The association supports a role for appropriate magnetic information in experience-dependent visual circuitry. It does not identify an engram for a particular view, prove that microglomerular growth stores the nest panorama, or establish which molecular signal controls consolidation.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Müller VL, Grübel K, Rössler W, Fleischmann PN (2024). Importance of magnetic information for neuronal plasticity in desert ants. Proceedings of the National Academy of Sciences 121(8):e2320764121. https://doi.org/10.1073/pnas.2320764121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(2024), Fig. 4(B–C). Mushroom-body volume and synaptic complexes under magnetic treatments.</a:t>
            </a:r>
            <a:endParaRPr/>
          </a:p>
          <a:p>
            <a:pPr indent="0" lvl="0" marL="0" rtl="0" algn="l">
              <a:spcBef>
                <a:spcPts val="0"/>
              </a:spcBef>
              <a:spcAft>
                <a:spcPts val="0"/>
              </a:spcAft>
              <a:buNone/>
            </a:pPr>
            <a:r>
              <a:rPr lang="en-US"/>
              <a:t>Figure source: https://doi.org/10.1073/pnas.2320764121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(2024), Fig. 3(A). Synapsin-labelled brain and mushroom-body microglomeruli.</a:t>
            </a:r>
            <a:endParaRPr/>
          </a:p>
          <a:p>
            <a:pPr indent="0" lvl="0" marL="0" rtl="0" algn="l">
              <a:spcBef>
                <a:spcPts val="0"/>
              </a:spcBef>
              <a:spcAft>
                <a:spcPts val="0"/>
              </a:spcAft>
              <a:buNone/>
            </a:pPr>
            <a:r>
              <a:rPr lang="en-US"/>
              <a:t>Figure source: https://doi.org/10.1073/pnas.2320764121</a:t>
            </a:r>
            <a:endParaRPr/>
          </a:p>
        </p:txBody>
      </p:sp>
      <p:sp>
        <p:nvSpPr>
          <p:cNvPr id="514" name="Google Shape;514;p3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7" name="Google Shape;527;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**Compass calibration** establishes the relationship between a sensory directional cue and an internal heading reference. The sun and polarization pattern change over the day, whereas natural magnetic direction and a fixed panorama provide comparatively stable external references.</a:t>
            </a:r>
            <a:endParaRPr/>
          </a:p>
          <a:p>
            <a:pPr indent="0" lvl="0" marL="0" rtl="0" algn="l">
              <a:spcBef>
                <a:spcPts val="0"/>
              </a:spcBef>
              <a:spcAft>
                <a:spcPts val="0"/>
              </a:spcAft>
              <a:buNone/>
            </a:pPr>
            <a:r>
              <a:rPr lang="en-US"/>
              <a:t>• The three-day magnetic experiment dissociated natural-field exposure from a vector that rotated with the sun. The published circuit hypothesis proposes convergence of magnetic, panoramic and celestial information in the **posterior slope**, a multisensory brain region linked to the central complex.</a:t>
            </a:r>
            <a:endParaRPr/>
          </a:p>
          <a:p>
            <a:pPr indent="0" lvl="0" marL="0" rtl="0" algn="l">
              <a:spcBef>
                <a:spcPts val="0"/>
              </a:spcBef>
              <a:spcAft>
                <a:spcPts val="0"/>
              </a:spcAft>
              <a:buNone/>
            </a:pPr>
            <a:r>
              <a:rPr lang="en-US"/>
              <a:t>• The posterior-slope mechanism is a proposed anatomical account supported by comparative connectivity, not a direct recording of cue integration in these ants. The candidate contribution of the antennal Johnston’s organ to magnetoreception likewise remains unproven; no magnetic receptor molecule or ion channel was identified.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Grob R, Müller VL, Grübel K, Rössler W, Fleischmann PN (2024). Importance of magnetic information for neuronal plasticity in desert ants. Proceedings of the National Academy of Sciences 121(8):e2320764121. https://doi.org/10.1073/pnas.2320764121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Grob et al. (2024), Fig. 5. Published hypothesis for integrating magnetic and celestial information.</a:t>
            </a:r>
            <a:endParaRPr/>
          </a:p>
          <a:p>
            <a:pPr indent="0" lvl="0" marL="0" rtl="0" algn="l">
              <a:spcBef>
                <a:spcPts val="0"/>
              </a:spcBef>
              <a:spcAft>
                <a:spcPts val="0"/>
              </a:spcAft>
              <a:buNone/>
            </a:pPr>
            <a:r>
              <a:rPr lang="en-US"/>
              <a:t>Figure source: https://doi.org/10.1073/pnas.2320764121</a:t>
            </a:r>
            <a:endParaRPr/>
          </a:p>
        </p:txBody>
      </p:sp>
      <p:sp>
        <p:nvSpPr>
          <p:cNvPr id="528" name="Google Shape;528;p3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9" name="Google Shape;539;p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**goal vector** specifies a remembered direction and distance to a destination relative to the nest. A **shortcut** connects familiar destinations along a route that was not itself used during training; this behavior need not uniquely imply a metric cognitive map.</a:t>
            </a:r>
            <a:endParaRPr/>
          </a:p>
          <a:p>
            <a:pPr indent="0" lvl="0" marL="0" rtl="0" algn="l">
              <a:spcBef>
                <a:spcPts val="0"/>
              </a:spcBef>
              <a:spcAft>
                <a:spcPts val="0"/>
              </a:spcAft>
              <a:buNone/>
            </a:pPr>
            <a:r>
              <a:rPr lang="en-US"/>
              <a:t>• Voegeli and colleagues trained Cataglyphis ants to feeders A and B in separate channels. The nest distances were 4.5 m and 5.7 m, and the test channel connected the feeder positions across a 4.1 m separation. Only one nest-channel entrance was open at a time.</a:t>
            </a:r>
            <a:endParaRPr/>
          </a:p>
          <a:p>
            <a:pPr indent="0" lvl="0" marL="0" rtl="0" algn="l">
              <a:spcBef>
                <a:spcPts val="0"/>
              </a:spcBef>
              <a:spcAft>
                <a:spcPts val="0"/>
              </a:spcAft>
              <a:buNone/>
            </a:pPr>
            <a:r>
              <a:rPr lang="en-US"/>
              <a:t>• The channel arrangement separated experience with individual nest-to-feeder routes from experience with their connecting route. It provided a controlled way to test use of stored goals and an ongoing path integrator without first training the ant to follow the proposed shortcut.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Voegeli B, Sommer S, Knaden M, Wehner R (2025). Vector-based navigation in desert ants: the significance of path-integration vectors. Journal of Comparative Physiology A 211:209–220. https://doi.org/10.1007/s00359-024-01725-2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Voegeli et al. (2025), Fig. 1. Training channels, two feeders and the novel connecting route.</a:t>
            </a:r>
            <a:endParaRPr/>
          </a:p>
          <a:p>
            <a:pPr indent="0" lvl="0" marL="0" rtl="0" algn="l">
              <a:spcBef>
                <a:spcPts val="0"/>
              </a:spcBef>
              <a:spcAft>
                <a:spcPts val="0"/>
              </a:spcAft>
              <a:buNone/>
            </a:pPr>
            <a:r>
              <a:rPr lang="en-US"/>
              <a:t>Figure source: https://doi.org/10.1007/s00359-024-01725-2</a:t>
            </a:r>
            <a:endParaRPr/>
          </a:p>
        </p:txBody>
      </p:sp>
      <p:sp>
        <p:nvSpPr>
          <p:cNvPr id="540" name="Google Shape;540;p3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1" name="Google Shape;551;p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Experience with more than one food source can establish alternative navigational goals. In the channel experiment, feeders were hidden below the channel floor, preventing an approaching ant from simply steering toward a visible food cup.</a:t>
            </a:r>
            <a:endParaRPr/>
          </a:p>
          <a:p>
            <a:pPr indent="0" lvl="0" marL="0" rtl="0" algn="l">
              <a:spcBef>
                <a:spcPts val="0"/>
              </a:spcBef>
              <a:spcAft>
                <a:spcPts val="0"/>
              </a:spcAft>
              <a:buNone/>
            </a:pPr>
            <a:r>
              <a:rPr lang="en-US"/>
              <a:t>• Ants completed ten training journeys: four to feeder A, four to B and two final journeys to A. Feeder B lay 45° to the left or right of A as viewed from the nest. The subsequent test removed food and opened the connecting test channel at A.</a:t>
            </a:r>
            <a:endParaRPr/>
          </a:p>
          <a:p>
            <a:pPr indent="0" lvl="0" marL="0" rtl="0" algn="l">
              <a:spcBef>
                <a:spcPts val="0"/>
              </a:spcBef>
              <a:spcAft>
                <a:spcPts val="0"/>
              </a:spcAft>
              <a:buNone/>
            </a:pPr>
            <a:r>
              <a:rPr lang="en-US"/>
              <a:t>• The final visits standardized the starting goal while preserving experience with the second destination. Channel shutters constrained which route was available, but the design still allows the ant to choose search directions within the connecting channel rather than forcing a particular first turn.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Voegeli B, Sommer S, Knaden M, Wehner R (2025). Vector-based navigation in desert ants: the significance of path-integration vectors. Journal of Comparative Physiology A 211:209–220. https://doi.org/10.1007/s00359-024-01725-2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Voegeli et al. (2025), Fig. 1. Training channels, two feeders and the novel connecting route.</a:t>
            </a:r>
            <a:endParaRPr/>
          </a:p>
          <a:p>
            <a:pPr indent="0" lvl="0" marL="0" rtl="0" algn="l">
              <a:spcBef>
                <a:spcPts val="0"/>
              </a:spcBef>
              <a:spcAft>
                <a:spcPts val="0"/>
              </a:spcAft>
              <a:buNone/>
            </a:pPr>
            <a:r>
              <a:rPr lang="en-US"/>
              <a:t>Figure source: https://doi.org/10.1007/s00359-024-01725-2</a:t>
            </a:r>
            <a:endParaRPr/>
          </a:p>
        </p:txBody>
      </p:sp>
      <p:sp>
        <p:nvSpPr>
          <p:cNvPr id="552" name="Google Shape;552;p3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3" name="Google Shape;563;p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one-feeder control establishes the search pattern expected without memory of a second food source. This comparison distinguishes a general tendency to widen a search from a directional bias toward another learned destination.</a:t>
            </a:r>
            <a:endParaRPr/>
          </a:p>
          <a:p>
            <a:pPr indent="0" lvl="0" marL="0" rtl="0" algn="l">
              <a:spcBef>
                <a:spcPts val="0"/>
              </a:spcBef>
              <a:spcAft>
                <a:spcPts val="0"/>
              </a:spcAft>
              <a:buNone/>
            </a:pPr>
            <a:r>
              <a:rPr lang="en-US"/>
              <a:t>• Control ants visited only feeder A before testing. After food removal, their searches were concentrated around the former feeder position and distributed approximately symmetrically on its two sides. Distance from the starting point was measured in metres along the connecting test channel.</a:t>
            </a:r>
            <a:endParaRPr/>
          </a:p>
          <a:p>
            <a:pPr indent="0" lvl="0" marL="0" rtl="0" algn="l">
              <a:spcBef>
                <a:spcPts val="0"/>
              </a:spcBef>
              <a:spcAft>
                <a:spcPts val="0"/>
              </a:spcAft>
              <a:buNone/>
            </a:pPr>
            <a:r>
              <a:rPr lang="en-US"/>
              <a:t>• The symmetric baseline constrains interpretations of the two-feeder experiments. A later directional shift cannot be attributed simply to entering that channel, although a density distribution still describes where ants search rather than directly measuring the neural representation of a food vector.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Voegeli B, Sommer S, Knaden M, Wehner R (2025). Vector-based navigation in desert ants: the significance of path-integration vectors. Journal of Comparative Physiology A 211:209–220. https://doi.org/10.1007/s00359-024-01725-2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Voegeli et al. (2025), Fig. 2. Symmetric search after training to one feeder.</a:t>
            </a:r>
            <a:endParaRPr/>
          </a:p>
          <a:p>
            <a:pPr indent="0" lvl="0" marL="0" rtl="0" algn="l">
              <a:spcBef>
                <a:spcPts val="0"/>
              </a:spcBef>
              <a:spcAft>
                <a:spcPts val="0"/>
              </a:spcAft>
              <a:buNone/>
            </a:pPr>
            <a:r>
              <a:rPr lang="en-US"/>
              <a:t>Figure source: https://doi.org/10.1007/s00359-024-01725-2</a:t>
            </a:r>
            <a:endParaRPr/>
          </a:p>
        </p:txBody>
      </p:sp>
      <p:sp>
        <p:nvSpPr>
          <p:cNvPr id="564" name="Google Shape;564;p4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5" name="Google Shape;575;p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first U-turn after the missing feeder measures an early component of search direction. It is distinct from the full spatial distribution accumulated during later back-and-forth movements in the test channel.</a:t>
            </a:r>
            <a:endParaRPr/>
          </a:p>
          <a:p>
            <a:pPr indent="0" lvl="0" marL="0" rtl="0" algn="l">
              <a:spcBef>
                <a:spcPts val="0"/>
              </a:spcBef>
              <a:spcAft>
                <a:spcPts val="0"/>
              </a:spcAft>
              <a:buNone/>
            </a:pPr>
            <a:r>
              <a:rPr lang="en-US"/>
              <a:t>• After training to A and B, about two-thirds of the ants made their first U-turn on the side containing the second feeder. The effect occurred with feeder B either left or right of A, whose trained positions were separated by 4.1 m.</a:t>
            </a:r>
            <a:endParaRPr/>
          </a:p>
          <a:p>
            <a:pPr indent="0" lvl="0" marL="0" rtl="0" algn="l">
              <a:spcBef>
                <a:spcPts val="0"/>
              </a:spcBef>
              <a:spcAft>
                <a:spcPts val="0"/>
              </a:spcAft>
              <a:buNone/>
            </a:pPr>
            <a:r>
              <a:rPr lang="en-US"/>
              <a:t>• The left–right comparison argues against an intrinsic turning preference accounting for the result. The early bias is consistent with using an alternative learned goal, but a first turn alone does not establish arrival accuracy or distinguish all possible computations involving current and remembered vectors.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Voegeli B, Sommer S, Knaden M, Wehner R (2025). Vector-based navigation in desert ants: the significance of path-integration vectors. Journal of Comparative Physiology A 211:209–220. https://doi.org/10.1007/s00359-024-01725-2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Voegeli et al. (2025), Fig. 3(a–b). Search shifts toward the second feeder on either side.</a:t>
            </a:r>
            <a:endParaRPr/>
          </a:p>
          <a:p>
            <a:pPr indent="0" lvl="0" marL="0" rtl="0" algn="l">
              <a:spcBef>
                <a:spcPts val="0"/>
              </a:spcBef>
              <a:spcAft>
                <a:spcPts val="0"/>
              </a:spcAft>
              <a:buNone/>
            </a:pPr>
            <a:r>
              <a:rPr lang="en-US"/>
              <a:t>Figure source: https://doi.org/10.1007/s00359-024-01725-2</a:t>
            </a:r>
            <a:endParaRPr/>
          </a:p>
        </p:txBody>
      </p:sp>
      <p:sp>
        <p:nvSpPr>
          <p:cNvPr id="576" name="Google Shape;576;p4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7" name="Google Shape;587;p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full search trajectory contains information beyond its first movement. Ants can begin at the expected position of one feeder, then redistribute their efforts toward another destination when the first food source is absent.</a:t>
            </a:r>
            <a:endParaRPr/>
          </a:p>
          <a:p>
            <a:pPr indent="0" lvl="0" marL="0" rtl="0" algn="l">
              <a:spcBef>
                <a:spcPts val="0"/>
              </a:spcBef>
              <a:spcAft>
                <a:spcPts val="0"/>
              </a:spcAft>
              <a:buNone/>
            </a:pPr>
            <a:r>
              <a:rPr lang="en-US"/>
              <a:t>• Two-feeder ants initially searched around A but progressively widened their searches toward B. Their search-density distributions were asymmetric in the direction of the second feeder, whereas the one-feeder controls were symmetric. The effect reversed when B changed from the left to the right side.</a:t>
            </a:r>
            <a:endParaRPr/>
          </a:p>
          <a:p>
            <a:pPr indent="0" lvl="0" marL="0" rtl="0" algn="l">
              <a:spcBef>
                <a:spcPts val="0"/>
              </a:spcBef>
              <a:spcAft>
                <a:spcPts val="0"/>
              </a:spcAft>
              <a:buNone/>
            </a:pPr>
            <a:r>
              <a:rPr lang="en-US"/>
              <a:t>• The evidence supports flexible use of prior destination experience without requiring prior travel along A-to-B. It does not demonstrate a landmark-based representation of the connecting space, because the channel experiment was designed around controlled routes and stored vector information.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Voegeli B, Sommer S, Knaden M, Wehner R (2025). Vector-based navigation in desert ants: the significance of path-integration vectors. Journal of Comparative Physiology A 211:209–220. https://doi.org/10.1007/s00359-024-01725-2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Voegeli et al. (2025), Fig. 3(a–b). Search shifts toward the second feeder on either side.</a:t>
            </a:r>
            <a:endParaRPr/>
          </a:p>
          <a:p>
            <a:pPr indent="0" lvl="0" marL="0" rtl="0" algn="l">
              <a:spcBef>
                <a:spcPts val="0"/>
              </a:spcBef>
              <a:spcAft>
                <a:spcPts val="0"/>
              </a:spcAft>
              <a:buNone/>
            </a:pPr>
            <a:r>
              <a:rPr lang="en-US"/>
              <a:t>Figure source: https://doi.org/10.1007/s00359-024-01725-2</a:t>
            </a:r>
            <a:endParaRPr/>
          </a:p>
        </p:txBody>
      </p:sp>
      <p:sp>
        <p:nvSpPr>
          <p:cNvPr id="588" name="Google Shape;588;p4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9" name="Google Shape;599;p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narrow channel restricts the visible portion of the polarization pattern. Depending on channel orientation and solar position, this restriction can bias the compass information used during outbound acquisition and therefore alter a stored goal vector.</a:t>
            </a:r>
            <a:endParaRPr/>
          </a:p>
          <a:p>
            <a:pPr indent="0" lvl="0" marL="0" rtl="0" algn="l">
              <a:spcBef>
                <a:spcPts val="0"/>
              </a:spcBef>
              <a:spcAft>
                <a:spcPts val="0"/>
              </a:spcAft>
              <a:buNone/>
            </a:pPr>
            <a:r>
              <a:rPr lang="en-US"/>
              <a:t>• Voegeli and colleagues separated tests into conditions predicting underestimation or overestimation of the 4.1 m A-to-B distance. Relative search distributions were obtained by subtracting the one-feeder baseline from the two-feeder distributions. Their positive regions shifted in the predicted direction.</a:t>
            </a:r>
            <a:endParaRPr/>
          </a:p>
          <a:p>
            <a:pPr indent="0" lvl="0" marL="0" rtl="0" algn="l">
              <a:spcBef>
                <a:spcPts val="0"/>
              </a:spcBef>
              <a:spcAft>
                <a:spcPts val="0"/>
              </a:spcAft>
              <a:buNone/>
            </a:pPr>
            <a:r>
              <a:rPr lang="en-US"/>
              <a:t>• The relationship links the searches to compass information acquired through the channels rather than merely to the physical location of an absent feeder. The subtraction is an analysis of recorded behavior, not proof that ants themselves subtract search distributions or represent their uncertainty in this format.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Voegeli B, Sommer S, Knaden M, Wehner R (2025). Vector-based navigation in desert ants: the significance of path-integration vectors. Journal of Comparative Physiology A 211:209–220. https://doi.org/10.1007/s00359-024-01725-2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Voegeli et al. (2025), Fig. 4(a1–b2). Relative search distributions track predicted compass biases.</a:t>
            </a:r>
            <a:endParaRPr/>
          </a:p>
          <a:p>
            <a:pPr indent="0" lvl="0" marL="0" rtl="0" algn="l">
              <a:spcBef>
                <a:spcPts val="0"/>
              </a:spcBef>
              <a:spcAft>
                <a:spcPts val="0"/>
              </a:spcAft>
              <a:buNone/>
            </a:pPr>
            <a:r>
              <a:rPr lang="en-US"/>
              <a:t>Figure source: https://doi.org/10.1007/s00359-024-01725-2</a:t>
            </a:r>
            <a:endParaRPr/>
          </a:p>
        </p:txBody>
      </p:sp>
      <p:sp>
        <p:nvSpPr>
          <p:cNvPr id="600" name="Google Shape;600;p4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1" name="Google Shape;611;p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**current vector** is updated during ongoing travel, whereas a stored goal vector can persist across journeys. A goal can be approached by comparing the current nest-relative state with a remembered destination rather than constructing a map of all familiar places.</a:t>
            </a:r>
            <a:endParaRPr/>
          </a:p>
          <a:p>
            <a:pPr indent="0" lvl="0" marL="0" rtl="0" algn="l">
              <a:spcBef>
                <a:spcPts val="0"/>
              </a:spcBef>
              <a:spcAft>
                <a:spcPts val="0"/>
              </a:spcAft>
              <a:buNone/>
            </a:pPr>
            <a:r>
              <a:rPr lang="en-US"/>
              <a:t>• In the two-feeder experiment, ants searched toward B from A along an untrained connecting route separated by 4.1 m. The authors proposed retrieval of B’s food vector into working memory while the path integrator continued to track the ant’s current state.</a:t>
            </a:r>
            <a:endParaRPr/>
          </a:p>
          <a:p>
            <a:pPr indent="0" lvl="0" marL="0" rtl="0" algn="l">
              <a:spcBef>
                <a:spcPts val="0"/>
              </a:spcBef>
              <a:spcAft>
                <a:spcPts val="0"/>
              </a:spcAft>
              <a:buNone/>
            </a:pPr>
            <a:r>
              <a:rPr lang="en-US"/>
              <a:t>• This account explains the shortcut without requiring a metric cognitive map. It remains an interpretation of behavioral results: the experiment did not record a working-memory neuron, isolate synaptic storage of A and B, or decisively exclude every alternative form of vector computation.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Voegeli B, Sommer S, Knaden M, Wehner R (2025). Vector-based navigation in desert ants: the significance of path-integration vectors. Journal of Comparative Physiology A 211:209–220. https://doi.org/10.1007/s00359-024-01725-2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Voegeli et al. (2025), Fig. 5. Published framework relating current, stored and view-based vectors.</a:t>
            </a:r>
            <a:endParaRPr/>
          </a:p>
          <a:p>
            <a:pPr indent="0" lvl="0" marL="0" rtl="0" algn="l">
              <a:spcBef>
                <a:spcPts val="0"/>
              </a:spcBef>
              <a:spcAft>
                <a:spcPts val="0"/>
              </a:spcAft>
              <a:buNone/>
            </a:pPr>
            <a:r>
              <a:rPr lang="en-US"/>
              <a:t>Figure source: https://doi.org/10.1007/s00359-024-01725-2</a:t>
            </a:r>
            <a:endParaRPr/>
          </a:p>
        </p:txBody>
      </p:sp>
      <p:sp>
        <p:nvSpPr>
          <p:cNvPr id="612" name="Google Shape;612;p4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3" name="Google Shape;623;p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**metric cognitive map** represents spatial relationships among familiar places in a common coordinate system. Novel shortcutting is often treated as evidence for such a map, but the same behavior can sometimes follow from simpler stored vectors and continuous self-motion updating.</a:t>
            </a:r>
            <a:endParaRPr/>
          </a:p>
          <a:p>
            <a:pPr indent="0" lvl="0" marL="0" rtl="0" algn="l">
              <a:spcBef>
                <a:spcPts val="0"/>
              </a:spcBef>
              <a:spcAft>
                <a:spcPts val="0"/>
              </a:spcAft>
              <a:buNone/>
            </a:pPr>
            <a:r>
              <a:rPr lang="en-US"/>
              <a:t>• Cataglyphis ants trained separately to feeders 4.5 m and 5.7 m from the nest searched along their previously untraveled connecting route. The controlled A-to-B test demonstrated flexible navigation toward a second goal without requiring prior experience of that particular route.</a:t>
            </a:r>
            <a:endParaRPr/>
          </a:p>
          <a:p>
            <a:pPr indent="0" lvl="0" marL="0" rtl="0" algn="l">
              <a:spcBef>
                <a:spcPts val="0"/>
              </a:spcBef>
              <a:spcAft>
                <a:spcPts val="0"/>
              </a:spcAft>
              <a:buNone/>
            </a:pPr>
            <a:r>
              <a:rPr lang="en-US"/>
              <a:t>• The finding makes shortcutting insufficient as a unique diagnostic of map-based navigation. It does not prove that ants can never form other spatial representations; it specifies that this observed behavior is compatible with a nest-referenced vector system and does not require the stronger explanation.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Voegeli B, Sommer S, Knaden M, Wehner R (2025). Vector-based navigation in desert ants: the significance of path-integration vectors. Journal of Comparative Physiology A 211:209–220. https://doi.org/10.1007/s00359-024-01725-2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Voegeli et al. (2025), Fig. 5. Published framework relating current, stored and view-based vectors.</a:t>
            </a:r>
            <a:endParaRPr/>
          </a:p>
          <a:p>
            <a:pPr indent="0" lvl="0" marL="0" rtl="0" algn="l">
              <a:spcBef>
                <a:spcPts val="0"/>
              </a:spcBef>
              <a:spcAft>
                <a:spcPts val="0"/>
              </a:spcAft>
              <a:buNone/>
            </a:pPr>
            <a:r>
              <a:rPr lang="en-US"/>
              <a:t>Figure source: https://doi.org/10.1007/s00359-024-01725-2</a:t>
            </a:r>
            <a:endParaRPr/>
          </a:p>
        </p:txBody>
      </p:sp>
      <p:sp>
        <p:nvSpPr>
          <p:cNvPr id="624" name="Google Shape;624;p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5" name="Google Shape;635;p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Teaching transcript:</a:t>
            </a:r>
            <a:endParaRPr/>
          </a:p>
          <a:p>
            <a:pPr indent="0" lvl="0" marL="0" rtl="0" algn="l">
              <a:spcBef>
                <a:spcPts val="0"/>
              </a:spcBef>
              <a:spcAft>
                <a:spcPts val="0"/>
              </a:spcAft>
              <a:buNone/>
            </a:pPr>
            <a:r>
              <a:rPr lang="en-US"/>
              <a:t>• Home vectors combine direction and distance acquired during movement; they differ from retracing the outward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Controlled displacement reveals a stored movement-derived estimate by separating the expressed vector from the true nest position.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Stride-dependent odometry is supported by stilt overshoot, stump undershoot and recovery when outbound and inbound leg conditions match.</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Compass learning depends on changing celestial information during early learning walks and is associated with region-specific structural plasticity.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Magnetic reference signals affect nest-directed gazes and brain plasticity differently; the magnetic receptor and causal cellular mechanisms remain unresolved.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Novel shortcuts can arise from stored goal vectors interacting with an ongoing path integrator, so shortcutting alone does not establish a cognitive map.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Müller M, Wehner R (1988). Path integration in desert ants, Cataglyphis fortis. Proceedings of the National Academy of Sciences 85(14):5287–5290. https://doi.org/10.1073/pnas.85.14.5287</a:t>
            </a:r>
            <a:endParaRPr/>
          </a:p>
          <a:p>
            <a:pPr indent="0" lvl="0" marL="0" rtl="0" algn="l">
              <a:spcBef>
                <a:spcPts val="0"/>
              </a:spcBef>
              <a:spcAft>
                <a:spcPts val="0"/>
              </a:spcAft>
              <a:buNone/>
            </a:pPr>
            <a:r>
              <a:rPr lang="en-US"/>
              <a:t>Wittlinger M, Wehner R, Wolf H (2006). The Ant Odometer: Stepping on Stilts and Stumps. Science 312(5782):1965–1967. https://doi.org/10.1126/science.1126912</a:t>
            </a:r>
            <a:endParaRPr/>
          </a:p>
          <a:p>
            <a:pPr indent="0" lvl="0" marL="0" rtl="0" algn="l">
              <a:spcBef>
                <a:spcPts val="0"/>
              </a:spcBef>
              <a:spcAft>
                <a:spcPts val="0"/>
              </a:spcAft>
              <a:buNone/>
            </a:pPr>
            <a:r>
              <a:rPr lang="en-US"/>
              <a:t>Wittlinger M, Wehner R, Wolf H (2007). The desert ant odometer: a stride integrator that accounts for stride length and walking speed. Journal of Experimental Biology 210(2):198–207. https://doi.org/10.1242/jeb.02657</a:t>
            </a:r>
            <a:endParaRPr/>
          </a:p>
          <a:p>
            <a:pPr indent="0" lvl="0" marL="0" rtl="0" algn="l">
              <a:spcBef>
                <a:spcPts val="0"/>
              </a:spcBef>
              <a:spcAft>
                <a:spcPts val="0"/>
              </a:spcAft>
              <a:buNone/>
            </a:pPr>
            <a:r>
              <a:rPr lang="en-US"/>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endParaRPr/>
          </a:p>
          <a:p>
            <a:pPr indent="0" lvl="0" marL="0" rtl="0" algn="l">
              <a:spcBef>
                <a:spcPts val="0"/>
              </a:spcBef>
              <a:spcAft>
                <a:spcPts val="0"/>
              </a:spcAft>
              <a:buNone/>
            </a:pPr>
            <a:r>
              <a:rPr lang="en-US"/>
              <a:t>Grob R, Müller VL, Grübel K, Rössler W, Fleischmann PN (2024). Importance of magnetic information for neuronal plasticity in desert ants. Proceedings of the National Academy of Sciences 121(8):e2320764121. https://doi.org/10.1073/pnas.2320764121</a:t>
            </a:r>
            <a:endParaRPr/>
          </a:p>
          <a:p>
            <a:pPr indent="0" lvl="0" marL="0" rtl="0" algn="l">
              <a:spcBef>
                <a:spcPts val="0"/>
              </a:spcBef>
              <a:spcAft>
                <a:spcPts val="0"/>
              </a:spcAft>
              <a:buNone/>
            </a:pPr>
            <a:r>
              <a:rPr lang="en-US"/>
              <a:t>Voegeli B, Sommer S, Knaden M, Wehner R (2025). Vector-based navigation in desert ants: the significance of path-integration vectors. Journal of Comparative Physiology A 211:209–220. https://doi.org/10.1007/s00359-024-01725-2</a:t>
            </a:r>
            <a:endParaRPr/>
          </a:p>
        </p:txBody>
      </p:sp>
      <p:sp>
        <p:nvSpPr>
          <p:cNvPr id="636" name="Google Shape;636;p4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Symmetric controls set the baseline for the bias.</a:t>
            </a:r>
          </a:p>
          <a:p>
            <a:r>
              <a:rPr lang="en-US" sz="1200"/>
              <a:t>• Explanation 1.</a:t>
            </a:r>
          </a:p>
          <a:p>
            <a:r>
              <a:rPr lang="en-US" sz="1200"/>
              <a:t>– Control ants visited feeder A alone before the test</a:t>
            </a:r>
          </a:p>
          <a:p>
            <a:r>
              <a:rPr lang="en-US" sz="1200"/>
              <a:t>– Once food was removed, their searches centered on the old feeder and spread roughly evenly to both sides. Their distribution served as the baseline for the two-feeder searches. Without a second food source in memory, one-feeder controls show the expected search pattern.</a:t>
            </a:r>
          </a:p>
          <a:p>
            <a:r>
              <a:rPr lang="en-US" sz="1200"/>
              <a:t>• Explanation 2.</a:t>
            </a:r>
          </a:p>
          <a:p>
            <a:r>
              <a:rPr lang="en-US" sz="1200"/>
              <a:t>– About two-thirds of two-feeder ants turned first toward the side where the second feeder sat</a:t>
            </a:r>
          </a:p>
          <a:p>
            <a:r>
              <a:rPr lang="en-US" sz="1200"/>
              <a:t>– The effect appeared whichever side feeder B occupied. Stored goals persist across journeys, while the current vector updates during travel.</a:t>
            </a:r>
          </a:p>
          <a:p>
            <a:r>
              <a:rPr lang="en-US" sz="1200"/>
              <a:t>• Explanation 3.</a:t>
            </a:r>
          </a:p>
          <a:p>
            <a:r>
              <a:rPr lang="en-US" sz="1200"/>
              <a:t>– Searches were scored as distances in metres from the start along the connecting channel</a:t>
            </a:r>
          </a:p>
          <a:p>
            <a:r>
              <a:rPr lang="en-US" sz="1200"/>
              <a:t>– The first U-turn is an early movement, separate from the later back-and-forth searching. The searches were recorded as density distributions over the channel.</a:t>
            </a:r>
          </a:p>
          <a:p>
            <a:r>
              <a:rPr lang="en-US" sz="1200"/>
              <a:t>• Source.</a:t>
            </a:r>
          </a:p>
          <a:p>
            <a:r>
              <a:rPr lang="en-US" sz="1200"/>
              <a:t>– The figure and the measurements come from Voegeli et al. (2025).</a:t>
            </a:r>
          </a:p>
          <a:p>
            <a:r>
              <a:rPr lang="en-US" sz="1200"/>
              <a:t>– Each statement is tied to the recordings or observations of that study.</a:t>
            </a:r>
          </a:p>
          <a:p>
            <a:r>
              <a:rPr lang="en-US" sz="1200"/>
              <a:t/>
            </a:r>
          </a:p>
          <a:p>
            <a:r>
              <a:rPr lang="en-US" sz="1200"/>
              <a:t>References:</a:t>
            </a:r>
          </a:p>
          <a:p>
            <a:r>
              <a:rPr lang="en-US" sz="1200"/>
              <a:t>Voegeli B, Sommer S, Knaden M, Wehner R (2025). Vector-based navigation in desert ants: the significance of path-integration vectors. Journal of Comparative Physiology A 211:209–220. https://doi.org/10.1007/s00359-024-01725-2</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Ten training journeys set up two feeders.</a:t>
            </a:r>
          </a:p>
          <a:p>
            <a:r>
              <a:rPr lang="en-US" sz="1200"/>
              <a:t>• Explanation 1.</a:t>
            </a:r>
          </a:p>
          <a:p>
            <a:r>
              <a:rPr lang="en-US" sz="1200"/>
              <a:t>– Ants completed ten training journeys: four to feeder A, four to B and two final journeys to A</a:t>
            </a:r>
          </a:p>
          <a:p>
            <a:r>
              <a:rPr lang="en-US" sz="1200"/>
              <a:t>– Feeder B lay 45° to the left or right of A as viewed from the nest. Each feeder had its own channel leading from the nest during training. The nest-to-feeder channels were separated from the connecting channel.</a:t>
            </a:r>
          </a:p>
          <a:p>
            <a:r>
              <a:rPr lang="en-US" sz="1200"/>
              <a:t>• Explanation 2.</a:t>
            </a:r>
          </a:p>
          <a:p>
            <a:r>
              <a:rPr lang="en-US" sz="1200"/>
              <a:t>– The subsequent test removed food and opened the connecting test channel at A</a:t>
            </a:r>
          </a:p>
          <a:p>
            <a:r>
              <a:rPr lang="en-US" sz="1200"/>
              <a:t>– At any moment, a single nest-channel entrance was open. Its distances from the nest were 4.5 m to A and 5.7 m to B. The connecting channel was new to the ants. The test then measured where the searches concentrated.</a:t>
            </a:r>
          </a:p>
          <a:p>
            <a:r>
              <a:rPr lang="en-US" sz="1200"/>
              <a:t>• Explanation 3.</a:t>
            </a:r>
          </a:p>
          <a:p>
            <a:r>
              <a:rPr lang="en-US" sz="1200"/>
              <a:t>– Feeder B was placed on either side of A in separate test arrangements</a:t>
            </a:r>
          </a:p>
          <a:p>
            <a:r>
              <a:rPr lang="en-US" sz="1200"/>
              <a:t>– A shortcut links familiar destinations through a route that the ant never used during training. Feeder B's test arrangements placed it left or right of A in balanced fashion. The left and right placements were both tested.</a:t>
            </a:r>
          </a:p>
          <a:p>
            <a:r>
              <a:rPr lang="en-US" sz="1200"/>
              <a:t>• Source.</a:t>
            </a:r>
          </a:p>
          <a:p>
            <a:r>
              <a:rPr lang="en-US" sz="1200"/>
              <a:t>– The figure and the measurements come from Voegeli et al. (2025).</a:t>
            </a:r>
          </a:p>
          <a:p>
            <a:r>
              <a:rPr lang="en-US" sz="1200"/>
              <a:t>– Each statement is tied to the recordings or observations of that study.</a:t>
            </a:r>
          </a:p>
          <a:p>
            <a:r>
              <a:rPr lang="en-US" sz="1200"/>
              <a:t/>
            </a:r>
          </a:p>
          <a:p>
            <a:r>
              <a:rPr lang="en-US" sz="1200"/>
              <a:t>References:</a:t>
            </a:r>
          </a:p>
          <a:p>
            <a:r>
              <a:rPr lang="en-US" sz="1200"/>
              <a:t>Voegeli B, Sommer S, Knaden M, Wehner R (2025). Vector-based navigation in desert ants: the significance of path-integration vectors. Journal of Comparative Physiology A 211:209–220. https://doi.org/10.1007/s00359-024-01725-2</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Magnetic conditions set collar and microglomerular growth.</a:t>
            </a:r>
          </a:p>
          <a:p>
            <a:r>
              <a:rPr lang="en-US" sz="1200"/>
              <a:t>• Explanation 1.</a:t>
            </a:r>
          </a:p>
          <a:p>
            <a:r>
              <a:rPr lang="en-US" sz="1200"/>
              <a:t>– The magnetic-plus-solar condition adjusted the horizontal vector every 10 seconds to follow the sun's azimuth across the day</a:t>
            </a:r>
          </a:p>
          <a:p>
            <a:r>
              <a:rPr lang="en-US" sz="1200"/>
              <a:t>– Individual learning walks lasted seconds to minutes, and the reference only had to hold during each walk. During each walk, the sun's azimuth set the direction of the vector. The same magnetic-plus-solar condition kept the look-back behavior intact.</a:t>
            </a:r>
          </a:p>
          <a:p>
            <a:r>
              <a:rPr lang="en-US" sz="1200"/>
              <a:t>• Explanation 2.</a:t>
            </a:r>
          </a:p>
          <a:p>
            <a:r>
              <a:rPr lang="en-US" sz="1200"/>
              <a:t>– Under total elimination, the residual field was about 0.1 µT, far below the natural value</a:t>
            </a:r>
          </a:p>
          <a:p>
            <a:r>
              <a:rPr lang="en-US" sz="1200"/>
              <a:t>– Complete removal differs from a remaining downward vertical field. The natural field was measured at the same site as the coil platform. The altered conditions were set relative to the natural field measured at this site.</a:t>
            </a:r>
          </a:p>
          <a:p>
            <a:r>
              <a:rPr lang="en-US" sz="1200"/>
              <a:t>• Explanation 3.</a:t>
            </a:r>
          </a:p>
          <a:p>
            <a:r>
              <a:rPr lang="en-US" sz="1200"/>
              <a:t>– The coils controlled the horizontal and vertical field components separately, while the natural panorama stayed in view</a:t>
            </a:r>
          </a:p>
          <a:p>
            <a:r>
              <a:rPr lang="en-US" sz="1200"/>
              <a:t>– Both collar volume and microglomerular number were corrected for body size. Nest-directed pirouette pauses were the orientation measure in each condition. These two endpoints were measured after the same three-day learning period. Both measures were taken from the same brains.</a:t>
            </a:r>
          </a:p>
          <a:p>
            <a:r>
              <a:rPr lang="en-US" sz="1200"/>
              <a:t>• Source.</a:t>
            </a:r>
          </a:p>
          <a:p>
            <a:r>
              <a:rPr lang="en-US" sz="1200"/>
              <a:t>– The figure and the measurements come from Grob et al. (2024).</a:t>
            </a:r>
          </a:p>
          <a:p>
            <a:r>
              <a:rPr lang="en-US" sz="1200"/>
              <a:t>– Each statement is tied to the recordings or observations of that study.</a:t>
            </a:r>
          </a:p>
          <a:p>
            <a:r>
              <a:rPr lang="en-US" sz="1200"/>
              <a:t/>
            </a:r>
          </a:p>
          <a:p>
            <a:r>
              <a:rPr lang="en-US" sz="1200"/>
              <a:t>References:</a:t>
            </a:r>
          </a:p>
          <a:p>
            <a:r>
              <a:rPr lang="en-US" sz="1200"/>
              <a:t>Grob R, Müller VL, Grübel K, Rössler W, Fleischmann PN (2024). Importance of magnetic information for neuronal plasticity in desert ants. Proceedings of the National Academy of Sciences 121(8):e2320764121. https://doi.org/10.1073/pnas.2320764121</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Natural field components set the magnetic conditions.</a:t>
            </a:r>
          </a:p>
          <a:p>
            <a:r>
              <a:rPr lang="en-US" sz="1200"/>
              <a:t>• Explanation 1.</a:t>
            </a:r>
          </a:p>
          <a:p>
            <a:r>
              <a:rPr lang="en-US" sz="1200"/>
              <a:t>– The coil system was three-dimensional</a:t>
            </a:r>
          </a:p>
          <a:p>
            <a:r>
              <a:rPr lang="en-US" sz="1200"/>
              <a:t>– The natural field measured 46.1 µT in total, and 26.6 µT of that was horizontal. Helmholtz coils set the horizontal and vertical components separately in each condition. The coils set the field in a volume around the learning platform.</a:t>
            </a:r>
          </a:p>
          <a:p>
            <a:r>
              <a:rPr lang="en-US" sz="1200"/>
              <a:t>• Explanation 2.</a:t>
            </a:r>
          </a:p>
          <a:p>
            <a:r>
              <a:rPr lang="en-US" sz="1200"/>
              <a:t>– With horizontal elimination, the downward vertical field measured about 37.5 µT</a:t>
            </a:r>
          </a:p>
          <a:p>
            <a:r>
              <a:rPr lang="en-US" sz="1200"/>
              <a:t>– The published angular distributions of nest-directed gazes were binned at 10°. The coils surrounded a 60 × 60 cm platform joined to the nest, and novices learned on it for three days. The retained field pointed downward, not horizontally.</a:t>
            </a:r>
          </a:p>
          <a:p>
            <a:r>
              <a:rPr lang="en-US" sz="1200"/>
              <a:t>• Explanation 3.</a:t>
            </a:r>
          </a:p>
          <a:p>
            <a:r>
              <a:rPr lang="en-US" sz="1200"/>
              <a:t>– Central-complex volume rose in the natural field and in several elimination or disarray conditions over three days</a:t>
            </a:r>
          </a:p>
          <a:p>
            <a:r>
              <a:rPr lang="en-US" sz="1200"/>
              <a:t>– Nest-directed gazes were scored from the longest pirouette pauses in each walk. Under natural conditions, those pauses point toward the nest. Those pauses were scored within each ant's own walk.</a:t>
            </a:r>
          </a:p>
          <a:p>
            <a:r>
              <a:rPr lang="en-US" sz="1200"/>
              <a:t>• Source.</a:t>
            </a:r>
          </a:p>
          <a:p>
            <a:r>
              <a:rPr lang="en-US" sz="1200"/>
              <a:t>– The figure and the measurements come from Grob et al. (2024).</a:t>
            </a:r>
          </a:p>
          <a:p>
            <a:r>
              <a:rPr lang="en-US" sz="1200"/>
              <a:t>– Each statement is tied to the recordings or observations of that study.</a:t>
            </a:r>
          </a:p>
          <a:p>
            <a:r>
              <a:rPr lang="en-US" sz="1200"/>
              <a:t/>
            </a:r>
          </a:p>
          <a:p>
            <a:r>
              <a:rPr lang="en-US" sz="1200"/>
              <a:t>References:</a:t>
            </a:r>
          </a:p>
          <a:p>
            <a:r>
              <a:rPr lang="en-US" sz="1200"/>
              <a:t>Grob R, Müller VL, Grübel K, Rössler W, Fleischmann PN (2024). Importance of magnetic information for neuronal plasticity in desert ants. Proceedings of the National Academy of Sciences 121(8):e2320764121. https://doi.org/10.1073/pnas.2320764121</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Rotation schedules shape collar and lateral responses.</a:t>
            </a:r>
          </a:p>
          <a:p>
            <a:r>
              <a:rPr lang="en-US" sz="1200"/>
              <a:t>• Explanation 1.</a:t>
            </a:r>
          </a:p>
          <a:p>
            <a:r>
              <a:rPr lang="en-US" sz="1200"/>
              <a:t>– Each of the three rotating schedules raised collar volume and the microglomerular count</a:t>
            </a:r>
          </a:p>
          <a:p>
            <a:r>
              <a:rPr lang="en-US" sz="1200"/>
              <a:t>– A stationary pattern produced no such growth, and polarized light alone did not produce that growth either. The stationary pattern was the reference condition for the rotating schedules.</a:t>
            </a:r>
          </a:p>
          <a:p>
            <a:r>
              <a:rPr lang="en-US" sz="1200"/>
              <a:t>• Explanation 2.</a:t>
            </a:r>
          </a:p>
          <a:p>
            <a:r>
              <a:rPr lang="en-US" sz="1200"/>
              <a:t>– Lateral-complex giant synapses changed little across those schedules</a:t>
            </a:r>
          </a:p>
          <a:p>
            <a:r>
              <a:rPr lang="en-US" sz="1200"/>
              <a:t>– Continuous rotation advanced the filter orientation by 15° per hour, a slower step than the hourly 45° turns, and the schedules differed in how fast the pattern rotated over three days.</a:t>
            </a:r>
          </a:p>
          <a:p>
            <a:r>
              <a:rPr lang="en-US" sz="1200"/>
              <a:t>• Explanation 3.</a:t>
            </a:r>
          </a:p>
          <a:p>
            <a:r>
              <a:rPr lang="en-US" sz="1200"/>
              <a:t>– Learning walks take the ant on short trips around the nest as it moves from indoor work to outdoor foraging</a:t>
            </a:r>
          </a:p>
          <a:p>
            <a:r>
              <a:rPr lang="en-US" sz="1200"/>
              <a:t>– The sky-compass pathway runs through the lateral complex, one of the visual integration centers. Mushroom-body volume responded to the same schedules.</a:t>
            </a:r>
          </a:p>
          <a:p>
            <a:r>
              <a:rPr lang="en-US" sz="1200"/>
              <a:t>• Source.</a:t>
            </a:r>
          </a:p>
          <a:p>
            <a:r>
              <a:rPr lang="en-US" sz="1200"/>
              <a:t>– The figure and the measurements come from Grob et al. (2022).</a:t>
            </a:r>
          </a:p>
          <a:p>
            <a:r>
              <a:rPr lang="en-US" sz="1200"/>
              <a:t>– Each statement is tied to the recordings or observations of that study.</a:t>
            </a:r>
          </a:p>
          <a:p>
            <a:r>
              <a:rPr lang="en-US" sz="1200"/>
              <a:t/>
            </a:r>
          </a:p>
          <a:p>
            <a:r>
              <a:rPr lang="en-US" sz="1200"/>
              <a:t>References:</a:t>
            </a:r>
          </a:p>
          <a:p>
            <a:r>
              <a:rPr lang="en-US" sz="1200"/>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Learning-walk setup defines the treatment groups.</a:t>
            </a:r>
          </a:p>
          <a:p>
            <a:r>
              <a:rPr lang="en-US" sz="1200"/>
              <a:t>• Explanation 1.</a:t>
            </a:r>
          </a:p>
          <a:p>
            <a:r>
              <a:rPr lang="en-US" sz="1200"/>
              <a:t>– A table installed 30 cm above the nest entrance held the polarization filter over a 60 × 60 cm learning-walk area</a:t>
            </a:r>
          </a:p>
          <a:p>
            <a:r>
              <a:rPr lang="en-US" sz="1200"/>
              <a:t>– Novices tested around natural nests in Greece experienced their defined skylight condition over three days. Novices performed learning walks around the nest.</a:t>
            </a:r>
          </a:p>
          <a:p>
            <a:r>
              <a:rPr lang="en-US" sz="1200"/>
              <a:t>• Explanation 2.</a:t>
            </a:r>
          </a:p>
          <a:p>
            <a:r>
              <a:rPr lang="en-US" sz="1200"/>
              <a:t>– A time-compensated compass has to follow the sun's position, which changes through the day</a:t>
            </a:r>
          </a:p>
          <a:p>
            <a:r>
              <a:rPr lang="en-US" sz="1200"/>
              <a:t>– Initial learning can establish the link between those celestial changes and stable surroundings. Each treatment set how often the polarization direction changed.</a:t>
            </a:r>
          </a:p>
          <a:p>
            <a:r>
              <a:rPr lang="en-US" sz="1200"/>
              <a:t>• Explanation 3.</a:t>
            </a:r>
          </a:p>
          <a:p>
            <a:r>
              <a:rPr lang="en-US" sz="1200"/>
              <a:t>– Across the learning-walk schedules, volume changed in the central complex and in the mushroom-body collar, while giant-synapse counts stayed broadly similar</a:t>
            </a:r>
          </a:p>
          <a:p>
            <a:r>
              <a:rPr lang="en-US" sz="1200"/>
              <a:t>– The continuous rotation condition changed filter orientation at 15° per hour. The natural skylight condition was one of those schedules.</a:t>
            </a:r>
          </a:p>
          <a:p>
            <a:r>
              <a:rPr lang="en-US" sz="1200"/>
              <a:t>• Source.</a:t>
            </a:r>
          </a:p>
          <a:p>
            <a:r>
              <a:rPr lang="en-US" sz="1200"/>
              <a:t>– The figure and the measurements come from Grob et al. (2022).</a:t>
            </a:r>
          </a:p>
          <a:p>
            <a:r>
              <a:rPr lang="en-US" sz="1200"/>
              <a:t>– Each statement is tied to the recordings or observations of that study.</a:t>
            </a:r>
          </a:p>
          <a:p>
            <a:r>
              <a:rPr lang="en-US" sz="1200"/>
              <a:t/>
            </a:r>
          </a:p>
          <a:p>
            <a:r>
              <a:rPr lang="en-US" sz="1200"/>
              <a:t>References:</a:t>
            </a:r>
          </a:p>
          <a:p>
            <a:r>
              <a:rPr lang="en-US" sz="1200"/>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Lateral-complex synapses respond to light exposure.</a:t>
            </a:r>
          </a:p>
          <a:p>
            <a:r>
              <a:rPr lang="en-US" sz="1200"/>
              <a:t>• Explanation 1.</a:t>
            </a:r>
          </a:p>
          <a:p>
            <a:r>
              <a:rPr lang="en-US" sz="1200"/>
              <a:t>– The whole-brain image in the published figure has a 200 µm scale bar, and the synaptic insets have 10 µm bars</a:t>
            </a:r>
          </a:p>
          <a:p>
            <a:r>
              <a:rPr lang="en-US" sz="1200"/>
              <a:t>– Giant-synapse numbers in the lateral complex rose after three days of exposure to full-spectrum light, with no learning walks required. Both scales appear in the same figure panel.</a:t>
            </a:r>
          </a:p>
          <a:p>
            <a:r>
              <a:rPr lang="en-US" sz="1200"/>
              <a:t>• Explanation 2.</a:t>
            </a:r>
          </a:p>
          <a:p>
            <a:r>
              <a:rPr lang="en-US" sz="1200"/>
              <a:t>– Removing ultraviolet light lowered that rise</a:t>
            </a:r>
          </a:p>
          <a:p>
            <a:r>
              <a:rPr lang="en-US" sz="1200"/>
              <a:t>– Ants given full-spectrum light without learning walks still showed the increase. Dark controls provided the reference level for each light treatment. The experiment ran for three days before the brains were analyzed.</a:t>
            </a:r>
          </a:p>
          <a:p>
            <a:r>
              <a:rPr lang="en-US" sz="1200"/>
              <a:t>• Explanation 3.</a:t>
            </a:r>
          </a:p>
          <a:p>
            <a:r>
              <a:rPr lang="en-US" sz="1200"/>
              <a:t>– Central-complex volume did not follow this light-driven pattern</a:t>
            </a:r>
          </a:p>
          <a:p>
            <a:r>
              <a:rPr lang="en-US" sz="1200"/>
              <a:t>– The light treatments were natural skylight, a filter that removed ultraviolet, and a fixed polarization pattern. Lateral-complex synapses sit along the sky-compass pathway in these ants. The lateral complex is a region of the visual pathway that the study counted synapses in.</a:t>
            </a:r>
          </a:p>
          <a:p>
            <a:r>
              <a:rPr lang="en-US" sz="1200"/>
              <a:t>• Source.</a:t>
            </a:r>
          </a:p>
          <a:p>
            <a:r>
              <a:rPr lang="en-US" sz="1200"/>
              <a:t>– The figure and the measurements come from Grob et al. (2022).</a:t>
            </a:r>
          </a:p>
          <a:p>
            <a:r>
              <a:rPr lang="en-US" sz="1200"/>
              <a:t>– Each statement is tied to the recordings or observations of that study.</a:t>
            </a:r>
          </a:p>
          <a:p>
            <a:r>
              <a:rPr lang="en-US" sz="1200"/>
              <a:t/>
            </a:r>
          </a:p>
          <a:p>
            <a:r>
              <a:rPr lang="en-US" sz="1200"/>
              <a:t>References:</a:t>
            </a:r>
          </a:p>
          <a:p>
            <a:r>
              <a:rPr lang="en-US" sz="1200"/>
              <a:t>Grob R, Holland Cunz O, Grübel K, Pfeiffer K, Rössler W, Fleischmann PN (2022). Rotation of skylight polarization during learning walks is necessary to trigger neuronal plasticity in Cataglyphis ants. Proceedings of the Royal Society B 289:20212499. https://doi.org/10.1098/rspb.2021.2499</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Accumulated movement signals fit a stride integrator.</a:t>
            </a:r>
          </a:p>
          <a:p>
            <a:r>
              <a:rPr lang="en-US" sz="1200"/>
              <a:t>• Explanation 1.</a:t>
            </a:r>
          </a:p>
          <a:p>
            <a:r>
              <a:rPr lang="en-US" sz="1200"/>
              <a:t>– The 2007 experiment combined a 10 m navigational task with leg-length manipulations</a:t>
            </a:r>
          </a:p>
          <a:p>
            <a:r>
              <a:rPr lang="en-US" sz="1200"/>
              <a:t>– In that experiment the leg conditions were stilts, stumps and normal legs. The 2007 paper's title describes a stride integrator that accounts for both stride length and walking speed.</a:t>
            </a:r>
          </a:p>
          <a:p>
            <a:r>
              <a:rPr lang="en-US" sz="1200"/>
              <a:t>• Explanation 2.</a:t>
            </a:r>
          </a:p>
          <a:p>
            <a:r>
              <a:rPr lang="en-US" sz="1200"/>
              <a:t>– Stilted animals searched at 15.30 m after a 10 m outbound journey, while shortened-leg animals searched at 5.75 m</a:t>
            </a:r>
          </a:p>
          <a:p>
            <a:r>
              <a:rPr lang="en-US" sz="1200"/>
              <a:t>– The search centers came from the middle value of the initial six turning points. Both values came from searches after the same 10 m outbound run.</a:t>
            </a:r>
          </a:p>
          <a:p>
            <a:r>
              <a:rPr lang="en-US" sz="1200"/>
              <a:t>• Explanation 3.</a:t>
            </a:r>
          </a:p>
          <a:p>
            <a:r>
              <a:rPr lang="en-US" sz="1200"/>
              <a:t>– After one more outbound walk, the searches for all four leg conditions converged on the correct 10 m distance</a:t>
            </a:r>
          </a:p>
          <a:p>
            <a:r>
              <a:rPr lang="en-US" sz="1200"/>
              <a:t>– Stride length was plotted against walking speed in millimeters per second, and the kinematic analysis measured both for each animal.</a:t>
            </a:r>
          </a:p>
          <a:p>
            <a:r>
              <a:rPr lang="en-US" sz="1200"/>
              <a:t>• Source.</a:t>
            </a:r>
          </a:p>
          <a:p>
            <a:r>
              <a:rPr lang="en-US" sz="1200"/>
              <a:t>– The figure and the measurements come from Wittlinger et al. (2007).</a:t>
            </a:r>
          </a:p>
          <a:p>
            <a:r>
              <a:rPr lang="en-US" sz="1200"/>
              <a:t>– Each statement is tied to the recordings or observations of that study.</a:t>
            </a:r>
          </a:p>
          <a:p>
            <a:r>
              <a:rPr lang="en-US" sz="1200"/>
              <a:t/>
            </a:r>
          </a:p>
          <a:p>
            <a:r>
              <a:rPr lang="en-US" sz="1200"/>
              <a:t>References:</a:t>
            </a:r>
          </a:p>
          <a:p>
            <a:r>
              <a:rPr lang="en-US" sz="1200"/>
              <a:t>Wittlinger M, Wehner R, Wolf H (2007). The desert ant odometer: a stride integrator that accounts for stride length and walking speed. Journal of Experimental Biology 210(2):198–207. https://doi.org/10.1242/jeb.02657</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Stride frequency and length measured at 20 Hz.</a:t>
            </a:r>
          </a:p>
          <a:p>
            <a:r>
              <a:rPr lang="en-US" sz="1200"/>
              <a:t>• Explanation 1.</a:t>
            </a:r>
          </a:p>
          <a:p>
            <a:r>
              <a:rPr lang="en-US" sz="1200"/>
              <a:t>– Stride frequency and stride length are measured separately in the analysis, and either one can change walking speed</a:t>
            </a:r>
          </a:p>
          <a:p>
            <a:r>
              <a:rPr lang="en-US" sz="1200"/>
              <a:t>– Comparing animals at 20 Hz reduced the effect of unequal movement speeds on the predicted homing distances. The analysis used straight runs without abrupt stops. The analysis compared the leg conditions at 20 Hz, which is 20 cycles per second.</a:t>
            </a:r>
          </a:p>
          <a:p>
            <a:r>
              <a:rPr lang="en-US" sz="1200"/>
              <a:t>• Explanation 2.</a:t>
            </a:r>
          </a:p>
          <a:p>
            <a:r>
              <a:rPr lang="en-US" sz="1200"/>
              <a:t>– Stride length was expressed relative to the alitrunk, a body-size reference</a:t>
            </a:r>
          </a:p>
          <a:p>
            <a:r>
              <a:rPr lang="en-US" sz="1200"/>
              <a:t>– The high-speed records then linked those relative strides with frequency, including the 20 Hz analysis. The curves for stilts, stumps and normal legs were read at matching frequencies.</a:t>
            </a:r>
          </a:p>
          <a:p>
            <a:r>
              <a:rPr lang="en-US" sz="1200"/>
              <a:t>• Explanation 3.</a:t>
            </a:r>
          </a:p>
          <a:p>
            <a:r>
              <a:rPr lang="en-US" sz="1200"/>
              <a:t>– The stride-length relationship was established independently of the turning-point measures used to locate each ant's nest search</a:t>
            </a:r>
          </a:p>
          <a:p>
            <a:r>
              <a:rPr lang="en-US" sz="1200"/>
              <a:t>– Stilt ants showed longer strides at matched speeds, and stump ants showed shorter ones. Those measures came from freely walking animals. Each leg condition produced its own frequency-length curve.</a:t>
            </a:r>
          </a:p>
          <a:p>
            <a:r>
              <a:rPr lang="en-US" sz="1200"/>
              <a:t>• Source.</a:t>
            </a:r>
          </a:p>
          <a:p>
            <a:r>
              <a:rPr lang="en-US" sz="1200"/>
              <a:t>– The figure and the measurements come from Wittlinger et al. (2007).</a:t>
            </a:r>
          </a:p>
          <a:p>
            <a:r>
              <a:rPr lang="en-US" sz="1200"/>
              <a:t>– Each statement is tied to the recordings or observations of that study.</a:t>
            </a:r>
          </a:p>
          <a:p>
            <a:r>
              <a:rPr lang="en-US" sz="1200"/>
              <a:t/>
            </a:r>
          </a:p>
          <a:p>
            <a:r>
              <a:rPr lang="en-US" sz="1200"/>
              <a:t>References:</a:t>
            </a:r>
          </a:p>
          <a:p>
            <a:r>
              <a:rPr lang="en-US" sz="1200"/>
              <a:t>Wittlinger M, Wehner R, Wolf H (2007). The desert ant odometer: a stride integrator that accounts for stride length and walking speed. Journal of Experimental Biology 210(2):198–207. https://doi.org/10.1242/jeb.02657</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Search width tracks the stride-determined spread.</a:t>
            </a:r>
          </a:p>
          <a:p>
            <a:r>
              <a:rPr lang="en-US" sz="1200"/>
              <a:t>• Explanation 1.</a:t>
            </a:r>
          </a:p>
          <a:p>
            <a:r>
              <a:rPr lang="en-US" sz="1200"/>
              <a:t>– The test channel was divided into 10 cm bins before the search data were analyzed</a:t>
            </a:r>
          </a:p>
          <a:p>
            <a:r>
              <a:rPr lang="en-US" sz="1200"/>
              <a:t>– In the first test, the full width at half maximum was 8.3 m for stilts, 6.0 m for normal legs, 5.2 m for stumps I and 4.1 m for stumps II. The search distributions were then plotted for each leg condition.</a:t>
            </a:r>
          </a:p>
          <a:p>
            <a:r>
              <a:rPr lang="en-US" sz="1200"/>
              <a:t>• Explanation 2.</a:t>
            </a:r>
          </a:p>
          <a:p>
            <a:r>
              <a:rPr lang="en-US" sz="1200"/>
              <a:t>– Stilts had the widest distribution of the four conditions, and stumps II had the narrowest</a:t>
            </a:r>
          </a:p>
          <a:p>
            <a:r>
              <a:rPr lang="en-US" sz="1200"/>
              <a:t>– The four widths follow the same order as the leg treatments that produced them. Search centers for the same conditions were 15.30 m for stilts and 10.20 m for normal legs. The stump-II searches covered the least ground of the four conditions.</a:t>
            </a:r>
          </a:p>
          <a:p>
            <a:r>
              <a:rPr lang="en-US" sz="1200"/>
              <a:t>• Explanation 3.</a:t>
            </a:r>
          </a:p>
          <a:p>
            <a:r>
              <a:rPr lang="en-US" sz="1200"/>
              <a:t>– Searches in the first test were measured before any matched training, so these widths describe the initial mismatch</a:t>
            </a:r>
          </a:p>
          <a:p>
            <a:r>
              <a:rPr lang="en-US" sz="1200"/>
              <a:t>– Repeated outbound training changed the distributions in the second test. Those widths are full widths at half maximum, reported in meters.</a:t>
            </a:r>
          </a:p>
          <a:p>
            <a:r>
              <a:rPr lang="en-US" sz="1200"/>
              <a:t>• Source.</a:t>
            </a:r>
          </a:p>
          <a:p>
            <a:r>
              <a:rPr lang="en-US" sz="1200"/>
              <a:t>– The figure and the measurements come from Wittlinger et al. (2007).</a:t>
            </a:r>
          </a:p>
          <a:p>
            <a:r>
              <a:rPr lang="en-US" sz="1200"/>
              <a:t>– Each statement is tied to the recordings or observations of that study.</a:t>
            </a:r>
          </a:p>
          <a:p>
            <a:r>
              <a:rPr lang="en-US" sz="1200"/>
              <a:t/>
            </a:r>
          </a:p>
          <a:p>
            <a:r>
              <a:rPr lang="en-US" sz="1200"/>
              <a:t>References:</a:t>
            </a:r>
          </a:p>
          <a:p>
            <a:r>
              <a:rPr lang="en-US" sz="1200"/>
              <a:t>Wittlinger M, Wehner R, Wolf H (2007). The desert ant odometer: a stride integrator that accounts for stride length and walking speed. Journal of Experimental Biology 210(2):198–207. https://doi.org/10.1242/jeb.02657</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Graded shortening tests different leg reductions.</a:t>
            </a:r>
          </a:p>
          <a:p>
            <a:r>
              <a:rPr lang="en-US" sz="1200"/>
              <a:t>• Explanation 1.</a:t>
            </a:r>
          </a:p>
          <a:p>
            <a:r>
              <a:rPr lang="en-US" sz="1200"/>
              <a:t>– Stumps I lacked the distal tarsal segments, whereas stumps II had the distal half of the tibia removed</a:t>
            </a:r>
          </a:p>
          <a:p>
            <a:r>
              <a:rPr lang="en-US" sz="1200"/>
              <a:t>– The stilt group was lengthened with bristles, and normal-legged ants provided the reference for every group. Those leg changes were made at the feeder, after the outward distance had been learned.</a:t>
            </a:r>
          </a:p>
          <a:p>
            <a:r>
              <a:rPr lang="en-US" sz="1200"/>
              <a:t>• Explanation 2.</a:t>
            </a:r>
          </a:p>
          <a:p>
            <a:r>
              <a:rPr lang="en-US" sz="1200"/>
              <a:t>– All groups had acquired the same 10 m outbound feeder distance before the first test</a:t>
            </a:r>
          </a:p>
          <a:p>
            <a:r>
              <a:rPr lang="en-US" sz="1200"/>
              <a:t>– The expanded experiment placed the normal-legged group at 10.20 m, the stumps-I group at 6.95 m and the stumps-II group at 5.75 m. The stilted group reached 15.30 m.</a:t>
            </a:r>
          </a:p>
          <a:p>
            <a:r>
              <a:rPr lang="en-US" sz="1200"/>
              <a:t>• Explanation 3.</a:t>
            </a:r>
          </a:p>
          <a:p>
            <a:r>
              <a:rPr lang="en-US" sz="1200"/>
              <a:t>– The video was recorded at 250 frames per second before and after each manipulation</a:t>
            </a:r>
          </a:p>
          <a:p>
            <a:r>
              <a:rPr lang="en-US" sz="1200"/>
              <a:t>– The recorded strides were used to measure stride length and walking speed. Workers of larger size carry longer legs. The recorded strides supplied the stride frequency used in the analysis.</a:t>
            </a:r>
          </a:p>
          <a:p>
            <a:r>
              <a:rPr lang="en-US" sz="1200"/>
              <a:t>• Source.</a:t>
            </a:r>
          </a:p>
          <a:p>
            <a:r>
              <a:rPr lang="en-US" sz="1200"/>
              <a:t>– The figure and the measurements come from Wittlinger et al. (2007).</a:t>
            </a:r>
          </a:p>
          <a:p>
            <a:r>
              <a:rPr lang="en-US" sz="1200"/>
              <a:t>– Each statement is tied to the recordings or observations of that study.</a:t>
            </a:r>
          </a:p>
          <a:p>
            <a:r>
              <a:rPr lang="en-US" sz="1200"/>
              <a:t/>
            </a:r>
          </a:p>
          <a:p>
            <a:r>
              <a:rPr lang="en-US" sz="1200"/>
              <a:t>References:</a:t>
            </a:r>
          </a:p>
          <a:p>
            <a:r>
              <a:rPr lang="en-US" sz="1200"/>
              <a:t>Wittlinger M, Wehner R, Wolf H (2007). The desert ant odometer: a stride integrator that accounts for stride length and walking speed. Journal of Experimental Biology 210(2):198–207. https://doi.org/10.1242/jeb.02657</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Stilts and stumps alter the distance per stride.</a:t>
            </a:r>
          </a:p>
          <a:p>
            <a:r>
              <a:rPr lang="en-US" sz="1200"/>
              <a:t>• Explanation 1.</a:t>
            </a:r>
          </a:p>
          <a:p>
            <a:r>
              <a:rPr lang="en-US" sz="1200"/>
              <a:t>– Wittlinger and colleagues trained Cataglyphis fortis to a feeder 10 m from the nest</a:t>
            </a:r>
          </a:p>
          <a:p>
            <a:r>
              <a:rPr lang="en-US" sz="1200"/>
              <a:t>– At the feeder, attached pig bristles lengthened the legs to produce stilts, and shortened legs produced stumps. Food-carrying ants were then tested in a separate channel, after their outward distance had already been learned on normal legs.</a:t>
            </a:r>
          </a:p>
          <a:p>
            <a:r>
              <a:rPr lang="en-US" sz="1200"/>
              <a:t>• Explanation 2.</a:t>
            </a:r>
          </a:p>
          <a:p>
            <a:r>
              <a:rPr lang="en-US" sz="1200"/>
              <a:t>– The first study of this manipulation appeared in Science in 2006 under the title The Ant Odometer: Stepping on Stilts and Stumps</a:t>
            </a:r>
          </a:p>
          <a:p>
            <a:r>
              <a:rPr lang="en-US" sz="1200"/>
              <a:t>– The later follow-up, published in 2007, added a second level of leg shortening. The 2006 paper's figures show normal legs, stilts and stumps side by side.</a:t>
            </a:r>
          </a:p>
          <a:p>
            <a:r>
              <a:rPr lang="en-US" sz="1200"/>
              <a:t>• Explanation 3.</a:t>
            </a:r>
          </a:p>
          <a:p>
            <a:r>
              <a:rPr lang="en-US" sz="1200"/>
              <a:t>– The 2007 follow-up tested stumps that differed in which leg region was removed</a:t>
            </a:r>
          </a:p>
          <a:p>
            <a:r>
              <a:rPr lang="en-US" sz="1200"/>
              <a:t>– Its normal-legged group served as the reference for each lengthened and shortened condition. Its figures present the four leg conditions as color-coded search distributions.</a:t>
            </a:r>
          </a:p>
          <a:p>
            <a:r>
              <a:rPr lang="en-US" sz="1200"/>
              <a:t>• Source.</a:t>
            </a:r>
          </a:p>
          <a:p>
            <a:r>
              <a:rPr lang="en-US" sz="1200"/>
              <a:t>– The figure and the measurements come from Wittlinger et al. (2006).</a:t>
            </a:r>
          </a:p>
          <a:p>
            <a:r>
              <a:rPr lang="en-US" sz="1200"/>
              <a:t>– Each statement is tied to the recordings or observations of that study.</a:t>
            </a:r>
          </a:p>
          <a:p>
            <a:r>
              <a:rPr lang="en-US" sz="1200"/>
              <a:t/>
            </a:r>
          </a:p>
          <a:p>
            <a:r>
              <a:rPr lang="en-US" sz="1200"/>
              <a:t>References:</a:t>
            </a:r>
          </a:p>
          <a:p>
            <a:r>
              <a:rPr lang="en-US" sz="1200"/>
              <a:t>Wittlinger M, Wehner R, Wolf H (2006). The Ant Odometer: Stepping on Stilts and Stumps. Science 312(5782):1965–1967. https://doi.org/10.1126/science.1126912</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Screening and painting remove two compass inputs.</a:t>
            </a:r>
          </a:p>
          <a:p>
            <a:r>
              <a:rPr lang="en-US" sz="1200"/>
              <a:t>• Explanation 1.</a:t>
            </a:r>
          </a:p>
          <a:p>
            <a:r>
              <a:rPr lang="en-US" sz="1200"/>
              <a:t>– Screening the sun removed direct solar information from the compass</a:t>
            </a:r>
          </a:p>
          <a:p>
            <a:r>
              <a:rPr lang="en-US" sz="1200"/>
              <a:t>– Ants on this route still erred under the screening. The same two-leg geometry had produced homing errors of about 20° at turning angles near 150° in the earlier test. Screening removed the direct sun's information but left the polarized pattern in place. The polarized skylight pattern was still available to the screened ants.</a:t>
            </a:r>
          </a:p>
          <a:p>
            <a:r>
              <a:rPr lang="en-US" sz="1200"/>
              <a:t>• Explanation 2.</a:t>
            </a:r>
          </a:p>
          <a:p>
            <a:r>
              <a:rPr lang="en-US" sz="1200"/>
              <a:t>– Painting the dorsal rim of the compound eyes removed access to the specialized polarization-sensitive eye region</a:t>
            </a:r>
          </a:p>
          <a:p>
            <a:r>
              <a:rPr lang="en-US" sz="1200"/>
              <a:t>– Ants with painted eyes also erred on the 10 m and 5 m route, which uses the same two-leg geometry as the screened test. Direct sunlight stayed available to these ants, so the sun cue was not removed.</a:t>
            </a:r>
          </a:p>
          <a:p>
            <a:r>
              <a:rPr lang="en-US" sz="1200"/>
              <a:t>• Explanation 3.</a:t>
            </a:r>
          </a:p>
          <a:p>
            <a:r>
              <a:rPr lang="en-US" sz="1200"/>
              <a:t>– Restricted sky windows can themselves distort polarization estimates</a:t>
            </a:r>
          </a:p>
          <a:p>
            <a:r>
              <a:rPr lang="en-US" sz="1200"/>
              <a:t>– The authors treated this as a separate source of compass error when they interpreted their homing results, which kept the two sources apart. A narrow channel limits the visible part of the sky, which is one way a sky window becomes restricted.</a:t>
            </a:r>
          </a:p>
          <a:p>
            <a:r>
              <a:rPr lang="en-US" sz="1200"/>
              <a:t>• Source.</a:t>
            </a:r>
          </a:p>
          <a:p>
            <a:r>
              <a:rPr lang="en-US" sz="1200"/>
              <a:t>– The figure and the measurements come from Müller &amp; Wehner (1988).</a:t>
            </a:r>
          </a:p>
          <a:p>
            <a:r>
              <a:rPr lang="en-US" sz="1200"/>
              <a:t>– Each statement is tied to the recordings or observations of that study.</a:t>
            </a:r>
          </a:p>
          <a:p>
            <a:r>
              <a:rPr lang="en-US" sz="1200"/>
              <a:t/>
            </a:r>
          </a:p>
          <a:p>
            <a:r>
              <a:rPr lang="en-US" sz="1200"/>
              <a:t>References:</a:t>
            </a:r>
          </a:p>
          <a:p>
            <a:r>
              <a:rPr lang="en-US" sz="1200"/>
              <a:t>Müller M, Wehner R (1988). Path integration in desert ants, Cataglyphis fortis. Proceedings of the National Academy of Sciences 85(14):5287–5290. https://doi.org/10.1073/pnas.85.14.5287</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Displaced foragers reveal a stored outward vector.</a:t>
            </a:r>
          </a:p>
          <a:p>
            <a:r>
              <a:rPr lang="en-US" sz="1200"/>
              <a:t>• Explanation 1.</a:t>
            </a:r>
          </a:p>
          <a:p>
            <a:r>
              <a:rPr lang="en-US" sz="1200"/>
              <a:t>– Müller and Wehner captured food-carrying ants at the feeding location and released each one in open terrain</a:t>
            </a:r>
          </a:p>
          <a:p>
            <a:r>
              <a:rPr lang="en-US" sz="1200"/>
              <a:t>– Each ant's later course was followed on a 10 m spatial scale. That course was measured against the true geographical direction of the nest and against the course predicted from the ant's recorded outbound trajectory. Its outward walk had been recorded before the ant was captured.</a:t>
            </a:r>
          </a:p>
          <a:p>
            <a:r>
              <a:rPr lang="en-US" sz="1200"/>
              <a:t>• Explanation 2.</a:t>
            </a:r>
          </a:p>
          <a:p>
            <a:r>
              <a:rPr lang="en-US" sz="1200"/>
              <a:t>– In the two-leg experiments, both legs varied over lengths of 5–10 m and turning angles spanning 0–180°</a:t>
            </a:r>
          </a:p>
          <a:p>
            <a:r>
              <a:rPr lang="en-US" sz="1200"/>
              <a:t>– The plotted experiment used a first leg of 10 m and a second leg of 5 m. Release occurred within one minute of capture, which shortened the time before the directional test. The experiments produced a homing direction for each combination of lengths and angles.</a:t>
            </a:r>
          </a:p>
          <a:p>
            <a:r>
              <a:rPr lang="en-US" sz="1200"/>
              <a:t>• Explanation 3.</a:t>
            </a:r>
          </a:p>
          <a:p>
            <a:r>
              <a:rPr lang="en-US" sz="1200"/>
              <a:t>– Under natural conditions, landmark guidance and systematic searching remain available as additional mechanisms for locating the nest</a:t>
            </a:r>
          </a:p>
          <a:p>
            <a:r>
              <a:rPr lang="en-US" sz="1200"/>
              <a:t>– Each of these can operate alongside a stored home vector, and neither one replaces the other. Landmark guidance and systematic searching are listed as separate mechanisms, each one an addition to the path integrator.</a:t>
            </a:r>
          </a:p>
          <a:p>
            <a:r>
              <a:rPr lang="en-US" sz="1200"/>
              <a:t>• Source.</a:t>
            </a:r>
          </a:p>
          <a:p>
            <a:r>
              <a:rPr lang="en-US" sz="1200"/>
              <a:t>– The figure and the measurements come from Müller &amp; Wehner (1988).</a:t>
            </a:r>
          </a:p>
          <a:p>
            <a:r>
              <a:rPr lang="en-US" sz="1200"/>
              <a:t>– Each statement is tied to the recordings or observations of that study.</a:t>
            </a:r>
          </a:p>
          <a:p>
            <a:r>
              <a:rPr lang="en-US" sz="1200"/>
              <a:t/>
            </a:r>
          </a:p>
          <a:p>
            <a:r>
              <a:rPr lang="en-US" sz="1200"/>
              <a:t>References:</a:t>
            </a:r>
          </a:p>
          <a:p>
            <a:r>
              <a:rPr lang="en-US" sz="1200"/>
              <a:t>Müller M, Wehner R (1988). Path integration in desert ants, Cataglyphis fortis. Proceedings of the National Academy of Sciences 85(14):5287–5290. https://doi.org/10.1073/pnas.85.14.5287</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5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5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5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5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6"/>
          <p:cNvSpPr/>
          <p:nvPr>
            <p:ph idx="2" type="pic"/>
          </p:nvPr>
        </p:nvSpPr>
        <p:spPr>
          <a:xfrm>
            <a:off x="1792288" y="612775"/>
            <a:ext cx="5486400" cy="4114800"/>
          </a:xfrm>
          <a:prstGeom prst="rect">
            <a:avLst/>
          </a:prstGeom>
          <a:noFill/>
          <a:ln>
            <a:noFill/>
          </a:ln>
        </p:spPr>
      </p:sp>
      <p:sp>
        <p:nvSpPr>
          <p:cNvPr id="64" name="Google Shape;64;p5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5.png"/><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8.png"/><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7.png"/><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9.pn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5.png"/><Relationship Id="rId4" Type="http://schemas.openxmlformats.org/officeDocument/2006/relationships/image" Target="../media/image2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7.png"/><Relationship Id="rId4" Type="http://schemas.openxmlformats.org/officeDocument/2006/relationships/image" Target="../media/image2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3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4.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image" Target="../media/image20.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1"/>
          <p:cNvSpPr/>
          <p:nvPr/>
        </p:nvSpPr>
        <p:spPr>
          <a:xfrm>
            <a:off x="0" y="0"/>
            <a:ext cx="6095847" cy="6858000"/>
          </a:xfrm>
          <a:prstGeom prst="rect">
            <a:avLst/>
          </a:prstGeom>
          <a:solidFill>
            <a:srgbClr val="263F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CCD7DF"/>
              </a:solidFill>
              <a:latin typeface="Calibri"/>
              <a:ea typeface="Calibri"/>
              <a:cs typeface="Calibri"/>
              <a:sym typeface="Calibri"/>
            </a:endParaRPr>
          </a:p>
        </p:txBody>
      </p:sp>
      <p:sp>
        <p:nvSpPr>
          <p:cNvPr id="86" name="Google Shape;86;p1"/>
          <p:cNvSpPr txBox="1"/>
          <p:nvPr/>
        </p:nvSpPr>
        <p:spPr>
          <a:xfrm>
            <a:off x="685800" y="822960"/>
            <a:ext cx="4724100" cy="1848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CCD7DF"/>
                </a:solidFill>
                <a:latin typeface="Arial"/>
                <a:ea typeface="Arial"/>
                <a:cs typeface="Arial"/>
                <a:sym typeface="Arial"/>
              </a:rPr>
              <a:t>NEUR 411 · NEUROETHOLOGY · FALL 2026</a:t>
            </a:r>
            <a:endParaRPr>
              <a:solidFill>
                <a:srgbClr val="CCD7DF"/>
              </a:solidFill>
            </a:endParaRPr>
          </a:p>
        </p:txBody>
      </p:sp>
      <p:sp>
        <p:nvSpPr>
          <p:cNvPr id="87" name="Google Shape;87;p1"/>
          <p:cNvSpPr txBox="1"/>
          <p:nvPr/>
        </p:nvSpPr>
        <p:spPr>
          <a:xfrm>
            <a:off x="685800" y="1783080"/>
            <a:ext cx="4724100" cy="4366920"/>
          </a:xfrm>
          <a:prstGeom prst="rect">
            <a:avLst/>
          </a:prstGeom>
          <a:noFill/>
          <a:ln>
            <a:noFill/>
          </a:ln>
        </p:spPr>
        <p:txBody>
          <a:bodyPr anchorCtr="0" anchor="t" bIns="0" lIns="0" spcFirstLastPara="1" rIns="0" wrap="square" tIns="0">
            <a:spAutoFit/>
          </a:bodyPr>
          <a:lstStyle/>
          <a:p>
            <a:pPr indent="0" lvl="0" marL="0" marR="0" rtl="0" algn="l">
              <a:lnSpc>
                <a:spcPct val="108000"/>
              </a:lnSpc>
              <a:spcAft>
                <a:spcPts val="1200"/>
              </a:spcAft>
              <a:buNone/>
            </a:pPr>
            <a:r>
              <a:rPr b="0" i="0" lang="en-US" sz="1500" u="none" cap="none" strike="noStrike">
                <a:solidFill>
                  <a:srgbClr val="CCD7DF"/>
                </a:solidFill>
                <a:latin typeface="Arial"/>
                <a:ea typeface="Arial"/>
                <a:cs typeface="Arial"/>
                <a:sym typeface="Arial"/>
              </a:rPr>
              <a:t>Lecture 28</a:t>
            </a:r>
            <a:endParaRPr>
              <a:solidFill>
                <a:srgbClr val="CCD7DF"/>
              </a:solidFill>
            </a:endParaRPr>
          </a:p>
          <a:p>
            <a:pPr indent="0" lvl="0" marL="0" marR="0" rtl="0" algn="l">
              <a:lnSpc>
                <a:spcPct val="108000"/>
              </a:lnSpc>
              <a:spcAft>
                <a:spcPts val="1200"/>
              </a:spcAft>
              <a:buNone/>
            </a:pPr>
            <a:r>
              <a:rPr b="1" i="0" lang="en-US" sz="1500" u="none" cap="none" strike="noStrike">
                <a:solidFill>
                  <a:srgbClr val="EDF2F5"/>
                </a:solidFill>
                <a:latin typeface="Arial"/>
                <a:ea typeface="Arial"/>
                <a:cs typeface="Arial"/>
                <a:sym typeface="Arial"/>
              </a:rPr>
              <a:t>Navigation I:</a:t>
            </a:r>
            <a:endParaRPr>
              <a:solidFill>
                <a:srgbClr val="EDF2F5"/>
              </a:solidFill>
            </a:endParaRPr>
          </a:p>
          <a:p>
            <a:pPr indent="0" lvl="0" marL="0" marR="0" rtl="0" algn="l">
              <a:lnSpc>
                <a:spcPct val="108000"/>
              </a:lnSpc>
              <a:spcAft>
                <a:spcPts val="1200"/>
              </a:spcAft>
              <a:buNone/>
            </a:pPr>
            <a:r>
              <a:rPr b="1" i="0" lang="en-US" sz="1500" u="none" cap="none" strike="noStrike">
                <a:solidFill>
                  <a:srgbClr val="EDF2F5"/>
                </a:solidFill>
                <a:latin typeface="Arial"/>
                <a:ea typeface="Arial"/>
                <a:cs typeface="Arial"/>
                <a:sym typeface="Arial"/>
              </a:rPr>
              <a:t>desert ant path integration (Wehner)</a:t>
            </a:r>
            <a:endParaRPr>
              <a:solidFill>
                <a:srgbClr val="EDF2F5"/>
              </a:solidFill>
            </a:endParaRPr>
          </a:p>
          <a:p>
            <a:pPr indent="0" lvl="0" marL="0" marR="0" rtl="0" algn="l">
              <a:lnSpc>
                <a:spcPct val="108000"/>
              </a:lnSpc>
              <a:spcAft>
                <a:spcPts val="1200"/>
              </a:spcAft>
              <a:buNone/>
            </a:pPr>
            <a:r>
              <a:rPr b="0" i="0" lang="en-US" sz="1500" u="none" cap="none" strike="noStrike">
                <a:solidFill>
                  <a:srgbClr val="CCD7DF"/>
                </a:solidFill>
                <a:latin typeface="Arial"/>
                <a:ea typeface="Arial"/>
                <a:cs typeface="Arial"/>
                <a:sym typeface="Arial"/>
              </a:rPr>
              <a:t>Friday, October 30, 2026</a:t>
            </a:r>
            <a:endParaRPr>
              <a:solidFill>
                <a:srgbClr val="CCD7DF"/>
              </a:solidFill>
            </a:endParaRPr>
          </a:p>
          <a:p>
            <a:pPr indent="0" lvl="0" marL="0" marR="0" rtl="0" algn="l">
              <a:lnSpc>
                <a:spcPct val="108000"/>
              </a:lnSpc>
              <a:spcAft>
                <a:spcPts val="1200"/>
              </a:spcAft>
              <a:buNone/>
            </a:pPr>
            <a:r>
              <a:rPr b="0" i="0" lang="en-US" sz="1500" u="none" cap="none" strike="noStrike">
                <a:solidFill>
                  <a:srgbClr val="CCD7DF"/>
                </a:solidFill>
                <a:latin typeface="Arial"/>
                <a:ea typeface="Arial"/>
                <a:cs typeface="Arial"/>
                <a:sym typeface="Arial"/>
              </a:rPr>
              <a:t>Jordan Lopez, Ph.D.</a:t>
            </a:r>
            <a:endParaRPr>
              <a:solidFill>
                <a:srgbClr val="CCD7DF"/>
              </a:solidFill>
            </a:endParaRPr>
          </a:p>
          <a:p>
            <a:pPr indent="0" lvl="0" marL="0" marR="0" rtl="0" algn="l">
              <a:lnSpc>
                <a:spcPct val="108000"/>
              </a:lnSpc>
              <a:spcAft>
                <a:spcPts val="1200"/>
              </a:spcAft>
              <a:buNone/>
            </a:pPr>
            <a:r>
              <a:rPr b="0" i="0" lang="en-US" sz="1500" u="none" cap="none" strike="noStrike">
                <a:solidFill>
                  <a:srgbClr val="CCD7DF"/>
                </a:solidFill>
                <a:latin typeface="Arial"/>
                <a:ea typeface="Arial"/>
                <a:cs typeface="Arial"/>
                <a:sym typeface="Arial"/>
              </a:rPr>
              <a:t>Professor of Neurobiology &amp; Biomedical Engineering</a:t>
            </a:r>
            <a:endParaRPr>
              <a:solidFill>
                <a:srgbClr val="CCD7DF"/>
              </a:solidFill>
            </a:endParaRPr>
          </a:p>
        </p:txBody>
      </p:sp>
      <p:pic>
        <p:nvPicPr>
          <p:cNvPr descr="W07_3A.png" id="91" name="Google Shape;91;p1"/>
          <p:cNvPicPr preferRelativeResize="0"/>
          <p:nvPr/>
        </p:nvPicPr>
        <p:blipFill rotWithShape="1">
          <a:blip r:embed="rId3">
            <a:alphaModFix/>
          </a:blip>
          <a:srcRect b="0" l="0" r="0" t="0"/>
          <a:stretch/>
        </p:blipFill>
        <p:spPr>
          <a:xfrm>
            <a:off x="6553047" y="1402735"/>
            <a:ext cx="5181447" cy="2886903"/>
          </a:xfrm>
          <a:prstGeom prst="rect">
            <a:avLst/>
          </a:prstGeom>
          <a:noFill/>
          <a:ln>
            <a:noFill/>
          </a:ln>
        </p:spPr>
      </p:pic>
      <p:sp>
        <p:nvSpPr>
          <p:cNvPr id="92" name="Google Shape;92;p1"/>
          <p:cNvSpPr txBox="1"/>
          <p:nvPr/>
        </p:nvSpPr>
        <p:spPr>
          <a:xfrm>
            <a:off x="6553047" y="5943600"/>
            <a:ext cx="5181447"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(2007), Fig. 3(A). Normal tripod gait in a walking Cataglyphis fortis.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 name="Shape 97"/>
        <p:cNvGrpSpPr/>
        <p:nvPr/>
      </p:nvGrpSpPr>
      <p:grpSpPr>
        <a:xfrm>
          <a:off x="0" y="0"/>
          <a:ext cx="0" cy="0"/>
          <a:chOff x="0" y="0"/>
          <a:chExt cx="0" cy="0"/>
        </a:xfrm>
      </p:grpSpPr>
      <p:sp>
        <p:nvSpPr>
          <p:cNvPr id="98" name="Google Shape;98;p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A home vector survives a winding outward journey</a:t>
            </a:r>
            <a:endParaRPr/>
          </a:p>
        </p:txBody>
      </p:sp>
      <p:sp>
        <p:nvSpPr>
          <p:cNvPr id="99" name="Google Shape;99;p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344F61"/>
                </a:solidFill>
                <a:latin typeface="Arial"/>
                <a:ea typeface="Arial"/>
                <a:cs typeface="Arial"/>
                <a:sym typeface="Arial"/>
              </a:rPr>
              <a:t>Path integration</a:t>
            </a:r>
            <a:r>
              <a:rPr b="0" i="0" lang="en-US" sz="1400" u="none" cap="none" strike="noStrike">
                <a:solidFill>
                  <a:srgbClr val="27323A"/>
                </a:solidFill>
                <a:latin typeface="Arial"/>
                <a:ea typeface="Arial"/>
                <a:cs typeface="Arial"/>
                <a:sym typeface="Arial"/>
              </a:rPr>
              <a:t> is the continual updating of direction and distance from a starting point using information gathered during movement. A </a:t>
            </a:r>
            <a:r>
              <a:rPr b="1" i="0" lang="en-US" sz="1400" u="none" cap="none" strike="noStrike">
                <a:solidFill>
                  <a:srgbClr val="344F61"/>
                </a:solidFill>
                <a:latin typeface="Arial"/>
                <a:ea typeface="Arial"/>
                <a:cs typeface="Arial"/>
                <a:sym typeface="Arial"/>
              </a:rPr>
              <a:t>home vector</a:t>
            </a:r>
            <a:r>
              <a:rPr b="0" i="0" lang="en-US" sz="1400" u="none" cap="none" strike="noStrike">
                <a:solidFill>
                  <a:srgbClr val="27323A"/>
                </a:solidFill>
                <a:latin typeface="Arial"/>
                <a:ea typeface="Arial"/>
                <a:cs typeface="Arial"/>
                <a:sym typeface="Arial"/>
              </a:rPr>
              <a:t> gives the direction and distance back to the nest, so it condenses the whole outward trip into one quantity. Because the update runs continuously, the animal always holds an estimate of where its nest lies.</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Müller and Wehner recorded a natural foraging trip of </a:t>
            </a:r>
            <a:r>
              <a:rPr b="0" i="1" lang="en-US" sz="1400" u="none" cap="none" strike="noStrike">
                <a:solidFill>
                  <a:srgbClr val="27323A"/>
                </a:solidFill>
                <a:latin typeface="Arial"/>
                <a:ea typeface="Arial"/>
                <a:cs typeface="Arial"/>
                <a:sym typeface="Arial"/>
              </a:rPr>
              <a:t>Cataglyphis fortis</a:t>
            </a:r>
            <a:r>
              <a:rPr b="0" i="0" lang="en-US" sz="1400" u="none" cap="none" strike="noStrike">
                <a:solidFill>
                  <a:srgbClr val="27323A"/>
                </a:solidFill>
                <a:latin typeface="Arial"/>
                <a:ea typeface="Arial"/>
                <a:cs typeface="Arial"/>
                <a:sym typeface="Arial"/>
              </a:rPr>
              <a:t> in Tunisia. The outward path measured 354.5 m, while the farthest point of the trip lay 113.2 m from the nest. After finding food, the ant returned along a comparatively direct inbound route. The homeward path was therefore far shorter than the path the ant had walked outward.</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gap between outward path length and nest displacement marks </a:t>
            </a:r>
            <a:r>
              <a:rPr b="1" i="0" lang="en-US" sz="1400" u="none" cap="none" strike="noStrike">
                <a:solidFill>
                  <a:srgbClr val="344F61"/>
                </a:solidFill>
                <a:latin typeface="Arial"/>
                <a:ea typeface="Arial"/>
                <a:cs typeface="Arial"/>
                <a:sym typeface="Arial"/>
              </a:rPr>
              <a:t>vector-guided homing</a:t>
            </a:r>
            <a:r>
              <a:rPr b="0" i="0" lang="en-US" sz="1400" u="none" cap="none" strike="noStrike">
                <a:solidFill>
                  <a:srgbClr val="27323A"/>
                </a:solidFill>
                <a:latin typeface="Arial"/>
                <a:ea typeface="Arial"/>
                <a:cs typeface="Arial"/>
                <a:sym typeface="Arial"/>
              </a:rPr>
              <a:t> rather than </a:t>
            </a:r>
            <a:r>
              <a:rPr b="1" i="0" lang="en-US" sz="1400" u="none" cap="none" strike="noStrike">
                <a:solidFill>
                  <a:srgbClr val="344F61"/>
                </a:solidFill>
                <a:latin typeface="Arial"/>
                <a:ea typeface="Arial"/>
                <a:cs typeface="Arial"/>
                <a:sym typeface="Arial"/>
              </a:rPr>
              <a:t>route retracing</a:t>
            </a:r>
            <a:r>
              <a:rPr b="0" i="0" lang="en-US" sz="1400" u="none" cap="none" strike="noStrike">
                <a:solidFill>
                  <a:srgbClr val="27323A"/>
                </a:solidFill>
                <a:latin typeface="Arial"/>
                <a:ea typeface="Arial"/>
                <a:cs typeface="Arial"/>
                <a:sym typeface="Arial"/>
              </a:rPr>
              <a:t>. A direct return after a winding outward route shows that the vector summed every segment of the trip into one direction and distance. A retracing ant would instead need a stored memory of every turn. The vector summary avoids that memory requirement.</a:t>
            </a:r>
            <a:endParaRPr/>
          </a:p>
        </p:txBody>
      </p:sp>
      <p:pic>
        <p:nvPicPr>
          <p:cNvPr descr="M88_1.png" id="100" name="Google Shape;100;p2"/>
          <p:cNvPicPr preferRelativeResize="0"/>
          <p:nvPr/>
        </p:nvPicPr>
        <p:blipFill rotWithShape="1">
          <a:blip r:embed="rId3">
            <a:alphaModFix/>
          </a:blip>
          <a:srcRect b="0" l="0" r="0" t="0"/>
          <a:stretch/>
        </p:blipFill>
        <p:spPr>
          <a:xfrm>
            <a:off x="7526414" y="1280160"/>
            <a:ext cx="3076065" cy="4297679"/>
          </a:xfrm>
          <a:prstGeom prst="rect">
            <a:avLst/>
          </a:prstGeom>
          <a:noFill/>
          <a:ln>
            <a:noFill/>
          </a:ln>
        </p:spPr>
      </p:pic>
      <p:sp>
        <p:nvSpPr>
          <p:cNvPr id="101" name="Google Shape;101;p2"/>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Müller &amp; Wehner (1988), Fig. 1. A natural outbound route and direct homeward return.</a:t>
            </a:r>
            <a:endParaRPr/>
          </a:p>
        </p:txBody>
      </p:sp>
      <p:sp>
        <p:nvSpPr>
          <p:cNvPr id="102" name="Google Shape;102;p2"/>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 name="Google Shape;103;p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Müller &amp; Wehner (1988)</a:t>
            </a:r>
            <a:endParaRPr/>
          </a:p>
        </p:txBody>
      </p:sp>
      <p:sp>
        <p:nvSpPr>
          <p:cNvPr id="104" name="Google Shape;104;p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02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Displacement separates the vector from the real nest</a:t>
            </a:r>
            <a:endParaRPr/>
          </a:p>
        </p:txBody>
      </p:sp>
      <p:sp>
        <p:nvSpPr>
          <p:cNvPr id="111" name="Google Shape;111;p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344F61"/>
                </a:solidFill>
                <a:latin typeface="Arial"/>
                <a:ea typeface="Arial"/>
                <a:cs typeface="Arial"/>
                <a:sym typeface="Arial"/>
              </a:rPr>
              <a:t>Passive displacement</a:t>
            </a:r>
            <a:r>
              <a:rPr b="0" i="0" lang="en-US" sz="1400" u="none" cap="none" strike="noStrike">
                <a:solidFill>
                  <a:srgbClr val="27323A"/>
                </a:solidFill>
                <a:latin typeface="Arial"/>
                <a:ea typeface="Arial"/>
                <a:cs typeface="Arial"/>
                <a:sym typeface="Arial"/>
              </a:rPr>
              <a:t> changes an ant's position without the walking movements that normally update its </a:t>
            </a:r>
            <a:r>
              <a:rPr b="1" i="0" lang="en-US" sz="1400" u="none" cap="none" strike="noStrike">
                <a:solidFill>
                  <a:srgbClr val="344F61"/>
                </a:solidFill>
                <a:latin typeface="Arial"/>
                <a:ea typeface="Arial"/>
                <a:cs typeface="Arial"/>
                <a:sym typeface="Arial"/>
              </a:rPr>
              <a:t>home vector</a:t>
            </a:r>
            <a:r>
              <a:rPr b="0" i="0" lang="en-US" sz="1400" u="none" cap="none" strike="noStrike">
                <a:solidFill>
                  <a:srgbClr val="27323A"/>
                </a:solidFill>
                <a:latin typeface="Arial"/>
                <a:ea typeface="Arial"/>
                <a:cs typeface="Arial"/>
                <a:sym typeface="Arial"/>
              </a:rPr>
              <a:t>. The vector is a record of the ant's own movement, so a transfer that bypasses that movement leaves the record pointing elsewhere. A displaced ant therefore expresses a direction suited to its earlier position rather than to the nest.</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Müller and Wehner tracked the course taken by individual ants after they were moved. The question was whether each ant still expressed information from its own outward movement. The nest was no longer where the earlier movements had placed it. A course that matches the outward movement would therefore reveal the origin of the heading.</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released ant's heading retained information from its outward journey despite the transfer. That result points to </a:t>
            </a:r>
            <a:r>
              <a:rPr b="1" i="0" lang="en-US" sz="1400" u="none" cap="none" strike="noStrike">
                <a:solidFill>
                  <a:srgbClr val="344F61"/>
                </a:solidFill>
                <a:latin typeface="Arial"/>
                <a:ea typeface="Arial"/>
                <a:cs typeface="Arial"/>
                <a:sym typeface="Arial"/>
              </a:rPr>
              <a:t>movement-derived navigation</a:t>
            </a:r>
            <a:r>
              <a:rPr b="0" i="0" lang="en-US" sz="1400" u="none" cap="none" strike="noStrike">
                <a:solidFill>
                  <a:srgbClr val="27323A"/>
                </a:solidFill>
                <a:latin typeface="Arial"/>
                <a:ea typeface="Arial"/>
                <a:cs typeface="Arial"/>
                <a:sym typeface="Arial"/>
              </a:rPr>
              <a:t> rather than immediate attraction to the true nest. The ant's heading depended on where it had been walking, not on where the nest lay. This dependence is what the displacement test was designed to reveal.</a:t>
            </a:r>
            <a:endParaRPr/>
          </a:p>
        </p:txBody>
      </p:sp>
      <p:pic>
        <p:nvPicPr>
          <p:cNvPr descr="M88_4.png" id="112" name="Google Shape;112;p3"/>
          <p:cNvPicPr preferRelativeResize="0"/>
          <p:nvPr/>
        </p:nvPicPr>
        <p:blipFill rotWithShape="1">
          <a:blip r:embed="rId3">
            <a:alphaModFix/>
          </a:blip>
          <a:srcRect b="0" l="0" r="0" t="0"/>
          <a:stretch/>
        </p:blipFill>
        <p:spPr>
          <a:xfrm>
            <a:off x="7593303" y="1280160"/>
            <a:ext cx="2942286" cy="4297679"/>
          </a:xfrm>
          <a:prstGeom prst="rect">
            <a:avLst/>
          </a:prstGeom>
          <a:noFill/>
          <a:ln>
            <a:noFill/>
          </a:ln>
        </p:spPr>
      </p:pic>
      <p:sp>
        <p:nvSpPr>
          <p:cNvPr id="113" name="Google Shape;113;p3"/>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Müller &amp; Wehner (1988), Fig. 4. Natural-path displacement and the resulting homeward course.</a:t>
            </a:r>
            <a:endParaRPr/>
          </a:p>
        </p:txBody>
      </p:sp>
      <p:sp>
        <p:nvSpPr>
          <p:cNvPr id="114" name="Google Shape;114;p3"/>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Müller &amp; Wehner (1988)</a:t>
            </a:r>
            <a:endParaRPr/>
          </a:p>
        </p:txBody>
      </p:sp>
      <p:sp>
        <p:nvSpPr>
          <p:cNvPr id="116" name="Google Shape;116;p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03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Angular channels constrain the path being integrated</a:t>
            </a:r>
            <a:endParaRPr/>
          </a:p>
        </p:txBody>
      </p:sp>
      <p:sp>
        <p:nvSpPr>
          <p:cNvPr id="123" name="Google Shape;123;p4"/>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An </a:t>
            </a:r>
            <a:r>
              <a:rPr b="1" i="0" lang="en-US" sz="1400" u="none" cap="none" strike="noStrike">
                <a:solidFill>
                  <a:srgbClr val="344F61"/>
                </a:solidFill>
                <a:latin typeface="Arial"/>
                <a:ea typeface="Arial"/>
                <a:cs typeface="Arial"/>
                <a:sym typeface="Arial"/>
              </a:rPr>
              <a:t>experimental path</a:t>
            </a:r>
            <a:r>
              <a:rPr b="0" i="0" lang="en-US" sz="1400" u="none" cap="none" strike="noStrike">
                <a:solidFill>
                  <a:srgbClr val="27323A"/>
                </a:solidFill>
                <a:latin typeface="Arial"/>
                <a:ea typeface="Arial"/>
                <a:cs typeface="Arial"/>
                <a:sym typeface="Arial"/>
              </a:rPr>
              <a:t> can specify the directions and distances an ant experiences before homing. Müller and Wehner trained </a:t>
            </a:r>
            <a:r>
              <a:rPr b="0" i="1" lang="en-US" sz="1400" u="none" cap="none" strike="noStrike">
                <a:solidFill>
                  <a:srgbClr val="27323A"/>
                </a:solidFill>
                <a:latin typeface="Arial"/>
                <a:ea typeface="Arial"/>
                <a:cs typeface="Arial"/>
                <a:sym typeface="Arial"/>
              </a:rPr>
              <a:t>Cataglyphis fortis</a:t>
            </a:r>
            <a:r>
              <a:rPr b="0" i="0" lang="en-US" sz="1400" u="none" cap="none" strike="noStrike">
                <a:solidFill>
                  <a:srgbClr val="27323A"/>
                </a:solidFill>
                <a:latin typeface="Arial"/>
                <a:ea typeface="Arial"/>
                <a:cs typeface="Arial"/>
                <a:sym typeface="Arial"/>
              </a:rPr>
              <a:t> through narrow plastic channels, then moved individuals to an open test field where the channels were absent. Each training path therefore defined a known sequence of directions for the ant to integrate.</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experiment varied the two legs over a range of lengths and turning angles, so many route geometries could be tested with one procedure. Release occurred soon after capture, which kept the delay between training and the directional test short. Each animal was therefore tested while its training remained recent.</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initial homeward course reflects the ant's </a:t>
            </a:r>
            <a:r>
              <a:rPr b="1" i="0" lang="en-US" sz="1400" u="none" cap="none" strike="noStrike">
                <a:solidFill>
                  <a:srgbClr val="344F61"/>
                </a:solidFill>
                <a:latin typeface="Arial"/>
                <a:ea typeface="Arial"/>
                <a:cs typeface="Arial"/>
                <a:sym typeface="Arial"/>
              </a:rPr>
              <a:t>accumulated directional estimate</a:t>
            </a:r>
            <a:r>
              <a:rPr b="0" i="0" lang="en-US" sz="1400" u="none" cap="none" strike="noStrike">
                <a:solidFill>
                  <a:srgbClr val="27323A"/>
                </a:solidFill>
                <a:latin typeface="Arial"/>
                <a:ea typeface="Arial"/>
                <a:cs typeface="Arial"/>
                <a:sym typeface="Arial"/>
              </a:rPr>
              <a:t> rather than its ability to follow the training channel backward. Because the channels were removed during testing, the course depends on the geometry integrated during training. The expressed direction therefore measures what the ant computed, not what it retraced. This measure therefore isolates the integrated estimate.</a:t>
            </a:r>
            <a:endParaRPr/>
          </a:p>
        </p:txBody>
      </p:sp>
      <p:pic>
        <p:nvPicPr>
          <p:cNvPr descr="M88_2.png" id="124" name="Google Shape;124;p4"/>
          <p:cNvPicPr preferRelativeResize="0"/>
          <p:nvPr/>
        </p:nvPicPr>
        <p:blipFill rotWithShape="1">
          <a:blip r:embed="rId3">
            <a:alphaModFix/>
          </a:blip>
          <a:srcRect b="0" l="0" r="0" t="0"/>
          <a:stretch/>
        </p:blipFill>
        <p:spPr>
          <a:xfrm>
            <a:off x="6504127" y="1280160"/>
            <a:ext cx="5120640" cy="3109381"/>
          </a:xfrm>
          <a:prstGeom prst="rect">
            <a:avLst/>
          </a:prstGeom>
          <a:noFill/>
          <a:ln>
            <a:noFill/>
          </a:ln>
        </p:spPr>
      </p:pic>
      <p:sp>
        <p:nvSpPr>
          <p:cNvPr id="125" name="Google Shape;125;p4"/>
          <p:cNvSpPr txBox="1"/>
          <p:nvPr/>
        </p:nvSpPr>
        <p:spPr>
          <a:xfrm>
            <a:off x="6504127" y="4480981"/>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Müller &amp; Wehner (1988), Fig. 2(A–B). Two-leg training and measured homing-direction errors.</a:t>
            </a:r>
            <a:endParaRPr/>
          </a:p>
        </p:txBody>
      </p:sp>
      <p:sp>
        <p:nvSpPr>
          <p:cNvPr id="126" name="Google Shape;126;p4"/>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Müller &amp; Wehner (1988)</a:t>
            </a:r>
            <a:endParaRPr/>
          </a:p>
        </p:txBody>
      </p:sp>
      <p:sp>
        <p:nvSpPr>
          <p:cNvPr id="128" name="Google Shape;128;p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04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 name="Shape 133"/>
        <p:cNvGrpSpPr/>
        <p:nvPr/>
      </p:nvGrpSpPr>
      <p:grpSpPr>
        <a:xfrm>
          <a:off x="0" y="0"/>
          <a:ext cx="0" cy="0"/>
          <a:chOff x="0" y="0"/>
          <a:chExt cx="0" cy="0"/>
        </a:xfrm>
      </p:grpSpPr>
      <p:sp>
        <p:nvSpPr>
          <p:cNvPr id="134" name="Google Shape;134;p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Homing errors depend on the outward turning angle</a:t>
            </a:r>
            <a:endParaRPr/>
          </a:p>
        </p:txBody>
      </p:sp>
      <p:sp>
        <p:nvSpPr>
          <p:cNvPr id="135" name="Google Shape;135;p5"/>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344F61"/>
                </a:solidFill>
                <a:latin typeface="Arial"/>
                <a:ea typeface="Arial"/>
                <a:cs typeface="Arial"/>
                <a:sym typeface="Arial"/>
              </a:rPr>
              <a:t>Systematic error</a:t>
            </a:r>
            <a:r>
              <a:rPr b="0" i="0" lang="en-US" sz="1400" u="none" cap="none" strike="noStrike">
                <a:solidFill>
                  <a:srgbClr val="27323A"/>
                </a:solidFill>
                <a:latin typeface="Arial"/>
                <a:ea typeface="Arial"/>
                <a:cs typeface="Arial"/>
                <a:sym typeface="Arial"/>
              </a:rPr>
              <a:t> is a directional deviation that varies predictably with an experimental manipulation, in contrast with random scatter among journeys. Müller and Wehner measured the angular difference between the true homeward direction and the course expressed after two-leg training. The sign of each deviation shows which way the expressed course lay.</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With outbound legs of 10 m and 5 m, the error grew as the turning angle approached about 150°, reaching roughly 20° in the published measurements. The error fell back toward zero in the straight and reversed arrangements. The largest bias therefore appeared at intermediate angles rather than at the extremes.</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angle-dependent pattern supports an </a:t>
            </a:r>
            <a:r>
              <a:rPr b="1" i="0" lang="en-US" sz="1400" u="none" cap="none" strike="noStrike">
                <a:solidFill>
                  <a:srgbClr val="344F61"/>
                </a:solidFill>
                <a:latin typeface="Arial"/>
                <a:ea typeface="Arial"/>
                <a:cs typeface="Arial"/>
                <a:sym typeface="Arial"/>
              </a:rPr>
              <a:t>approximate updating rule</a:t>
            </a:r>
            <a:r>
              <a:rPr b="0" i="0" lang="en-US" sz="1400" u="none" cap="none" strike="noStrike">
                <a:solidFill>
                  <a:srgbClr val="27323A"/>
                </a:solidFill>
                <a:latin typeface="Arial"/>
                <a:ea typeface="Arial"/>
                <a:cs typeface="Arial"/>
                <a:sym typeface="Arial"/>
              </a:rPr>
              <a:t> for the </a:t>
            </a:r>
            <a:r>
              <a:rPr b="0" i="1" lang="en-US" sz="1400" u="none" cap="none" strike="noStrike">
                <a:solidFill>
                  <a:srgbClr val="27323A"/>
                </a:solidFill>
                <a:latin typeface="Arial"/>
                <a:ea typeface="Arial"/>
                <a:cs typeface="Arial"/>
                <a:sym typeface="Arial"/>
              </a:rPr>
              <a:t>Cataglyphis</a:t>
            </a:r>
            <a:r>
              <a:rPr b="0" i="0" lang="en-US" sz="1400" u="none" cap="none" strike="noStrike">
                <a:solidFill>
                  <a:srgbClr val="27323A"/>
                </a:solidFill>
                <a:latin typeface="Arial"/>
                <a:ea typeface="Arial"/>
                <a:cs typeface="Arial"/>
                <a:sym typeface="Arial"/>
              </a:rPr>
              <a:t> trajectories tested. The rule is written as a mathematical account, so it can be checked against route geometries that the original experiments did not use. The rule makes quantitative predictions for these geometries. It can therefore be tested on new route geometries.</a:t>
            </a:r>
            <a:endParaRPr/>
          </a:p>
        </p:txBody>
      </p:sp>
      <p:pic>
        <p:nvPicPr>
          <p:cNvPr descr="M88_2.png" id="136" name="Google Shape;136;p5"/>
          <p:cNvPicPr preferRelativeResize="0"/>
          <p:nvPr/>
        </p:nvPicPr>
        <p:blipFill rotWithShape="1">
          <a:blip r:embed="rId3">
            <a:alphaModFix/>
          </a:blip>
          <a:srcRect b="0" l="0" r="0" t="0"/>
          <a:stretch/>
        </p:blipFill>
        <p:spPr>
          <a:xfrm>
            <a:off x="6504127" y="1280160"/>
            <a:ext cx="5120640" cy="3109381"/>
          </a:xfrm>
          <a:prstGeom prst="rect">
            <a:avLst/>
          </a:prstGeom>
          <a:noFill/>
          <a:ln>
            <a:noFill/>
          </a:ln>
        </p:spPr>
      </p:pic>
      <p:sp>
        <p:nvSpPr>
          <p:cNvPr id="137" name="Google Shape;137;p5"/>
          <p:cNvSpPr txBox="1"/>
          <p:nvPr/>
        </p:nvSpPr>
        <p:spPr>
          <a:xfrm>
            <a:off x="6504127" y="4480981"/>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Müller &amp; Wehner (1988), Fig. 2(A–B). Two-leg training and measured homing-direction errors.</a:t>
            </a:r>
            <a:endParaRPr/>
          </a:p>
        </p:txBody>
      </p:sp>
      <p:sp>
        <p:nvSpPr>
          <p:cNvPr id="138" name="Google Shape;138;p5"/>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Müller &amp; Wehner (1988)</a:t>
            </a:r>
            <a:endParaRPr/>
          </a:p>
        </p:txBody>
      </p:sp>
      <p:sp>
        <p:nvSpPr>
          <p:cNvPr id="140" name="Google Shape;140;p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05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 name="Shape 145"/>
        <p:cNvGrpSpPr/>
        <p:nvPr/>
      </p:nvGrpSpPr>
      <p:grpSpPr>
        <a:xfrm>
          <a:off x="0" y="0"/>
          <a:ext cx="0" cy="0"/>
          <a:chOff x="0" y="0"/>
          <a:chExt cx="0" cy="0"/>
        </a:xfrm>
      </p:grpSpPr>
      <p:sp>
        <p:nvSpPr>
          <p:cNvPr id="146" name="Google Shape;146;p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Sun and polarization cues support the directional test</a:t>
            </a:r>
            <a:endParaRPr/>
          </a:p>
        </p:txBody>
      </p:sp>
      <p:sp>
        <p:nvSpPr>
          <p:cNvPr id="147" name="Google Shape;147;p6"/>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A </a:t>
            </a:r>
            <a:r>
              <a:rPr b="1" i="0" lang="en-US" sz="1400" u="none" cap="none" strike="noStrike">
                <a:solidFill>
                  <a:srgbClr val="344F61"/>
                </a:solidFill>
                <a:latin typeface="Arial"/>
                <a:ea typeface="Arial"/>
                <a:cs typeface="Arial"/>
                <a:sym typeface="Arial"/>
              </a:rPr>
              <a:t>celestial compass</a:t>
            </a:r>
            <a:r>
              <a:rPr b="0" i="0" lang="en-US" sz="1400" u="none" cap="none" strike="noStrike">
                <a:solidFill>
                  <a:srgbClr val="27323A"/>
                </a:solidFill>
                <a:latin typeface="Arial"/>
                <a:ea typeface="Arial"/>
                <a:cs typeface="Arial"/>
                <a:sym typeface="Arial"/>
              </a:rPr>
              <a:t> derives heading information from features of the sky. Direct sunlight and the pattern of </a:t>
            </a:r>
            <a:r>
              <a:rPr b="1" i="0" lang="en-US" sz="1400" u="none" cap="none" strike="noStrike">
                <a:solidFill>
                  <a:srgbClr val="344F61"/>
                </a:solidFill>
                <a:latin typeface="Arial"/>
                <a:ea typeface="Arial"/>
                <a:cs typeface="Arial"/>
                <a:sym typeface="Arial"/>
              </a:rPr>
              <a:t>polarized skylight</a:t>
            </a:r>
            <a:r>
              <a:rPr b="0" i="0" lang="en-US" sz="1400" u="none" cap="none" strike="noStrike">
                <a:solidFill>
                  <a:srgbClr val="27323A"/>
                </a:solidFill>
                <a:latin typeface="Arial"/>
                <a:ea typeface="Arial"/>
                <a:cs typeface="Arial"/>
                <a:sym typeface="Arial"/>
              </a:rPr>
              <a:t> provide related but separable information. Polarization refers to the orientation of the electric field oscillation in a light wave. Ants can therefore draw heading information from either source. Both sources therefore contribute heading information.</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Müller and Wehner measured homing errors while the ants used the sun, polarized skylight, or both. Each compass condition was tested with the same navigation procedure. The compass input was the only variable that changed between conditions. The homing error therefore reflects the compass information available to the ant. The sun and polarized skylight were tested separately and together.</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Because the error pattern persisted across compass conditions, the bias lies in the path-integration computation rather than in one defective sky cue. A single sky cue would have produced a pattern tied to that cue alone. The persistence therefore points to the computation itself. The bias therefore has a computational origin.</a:t>
            </a:r>
            <a:endParaRPr/>
          </a:p>
        </p:txBody>
      </p:sp>
      <p:pic>
        <p:nvPicPr>
          <p:cNvPr descr="M88_2.png" id="148" name="Google Shape;148;p6"/>
          <p:cNvPicPr preferRelativeResize="0"/>
          <p:nvPr/>
        </p:nvPicPr>
        <p:blipFill rotWithShape="1">
          <a:blip r:embed="rId3">
            <a:alphaModFix/>
          </a:blip>
          <a:srcRect b="0" l="0" r="0" t="0"/>
          <a:stretch/>
        </p:blipFill>
        <p:spPr>
          <a:xfrm>
            <a:off x="6504127" y="1280160"/>
            <a:ext cx="5120640" cy="3109381"/>
          </a:xfrm>
          <a:prstGeom prst="rect">
            <a:avLst/>
          </a:prstGeom>
          <a:noFill/>
          <a:ln>
            <a:noFill/>
          </a:ln>
        </p:spPr>
      </p:pic>
      <p:sp>
        <p:nvSpPr>
          <p:cNvPr id="149" name="Google Shape;149;p6"/>
          <p:cNvSpPr txBox="1"/>
          <p:nvPr/>
        </p:nvSpPr>
        <p:spPr>
          <a:xfrm>
            <a:off x="6504127" y="4480981"/>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Müller &amp; Wehner (1988), Fig. 2(A–B). Two-leg training and measured homing-direction errors.</a:t>
            </a:r>
            <a:endParaRPr/>
          </a:p>
        </p:txBody>
      </p:sp>
      <p:sp>
        <p:nvSpPr>
          <p:cNvPr id="150" name="Google Shape;150;p6"/>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Müller &amp; Wehner (1988)</a:t>
            </a:r>
            <a:endParaRPr/>
          </a:p>
        </p:txBody>
      </p:sp>
      <p:sp>
        <p:nvSpPr>
          <p:cNvPr id="152" name="Google Shape;152;p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06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sp>
        <p:nvSpPr>
          <p:cNvPr id="158" name="Google Shape;158;p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Three-leg routes test an approximate updating rule</a:t>
            </a:r>
            <a:endParaRPr/>
          </a:p>
        </p:txBody>
      </p:sp>
      <p:sp>
        <p:nvSpPr>
          <p:cNvPr id="159" name="Google Shape;159;p7"/>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An explanation fitted to one route geometry has to predict a different sequence of movements. Müller and Wehner added a third leg to the channel arrangement, introducing a second 90° turn in place of repeating the original two-leg design. The new route tested whether the rule still held for an unfamiliar sequence of turns.</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Released ants deviated by 30.8° from the true home direction, and the approximation derived from the earlier experiments predicted a deviation of 33.7°. This close agreement shows that the rule generalizes beyond the angles used to derive it. The rule predicted that value before the three-leg test. This match is an independent test of the approximation.</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experiment measured the animal's course rather than the voltage, transmitter or synaptic activity of an identified integrator. The behavioral match therefore describes the output of the computation rather than its cellular mechanism. The result constrains the computation rather than identifying its cells. Cellular recordings would be needed to test that mechanism.</a:t>
            </a:r>
            <a:endParaRPr/>
          </a:p>
        </p:txBody>
      </p:sp>
      <p:pic>
        <p:nvPicPr>
          <p:cNvPr descr="M88_3.png" id="160" name="Google Shape;160;p7"/>
          <p:cNvPicPr preferRelativeResize="0"/>
          <p:nvPr/>
        </p:nvPicPr>
        <p:blipFill rotWithShape="1">
          <a:blip r:embed="rId3">
            <a:alphaModFix/>
          </a:blip>
          <a:srcRect b="0" l="0" r="0" t="0"/>
          <a:stretch/>
        </p:blipFill>
        <p:spPr>
          <a:xfrm>
            <a:off x="7171342" y="1280160"/>
            <a:ext cx="3786209" cy="4297679"/>
          </a:xfrm>
          <a:prstGeom prst="rect">
            <a:avLst/>
          </a:prstGeom>
          <a:noFill/>
          <a:ln>
            <a:noFill/>
          </a:ln>
        </p:spPr>
      </p:pic>
      <p:sp>
        <p:nvSpPr>
          <p:cNvPr id="161" name="Google Shape;161;p7"/>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Müller &amp; Wehner (1988), Fig. 3. Three-leg training and homing directions.</a:t>
            </a:r>
            <a:endParaRPr/>
          </a:p>
        </p:txBody>
      </p:sp>
      <p:sp>
        <p:nvSpPr>
          <p:cNvPr id="162" name="Google Shape;162;p7"/>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Müller &amp; Wehner (1988)</a:t>
            </a:r>
            <a:endParaRPr/>
          </a:p>
        </p:txBody>
      </p:sp>
      <p:sp>
        <p:nvSpPr>
          <p:cNvPr id="164" name="Google Shape;164;p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07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 name="Shape 169"/>
        <p:cNvGrpSpPr/>
        <p:nvPr/>
      </p:nvGrpSpPr>
      <p:grpSpPr>
        <a:xfrm>
          <a:off x="0" y="0"/>
          <a:ext cx="0" cy="0"/>
          <a:chOff x="0" y="0"/>
          <a:chExt cx="0" cy="0"/>
        </a:xfrm>
      </p:grpSpPr>
      <p:sp>
        <p:nvSpPr>
          <p:cNvPr id="170" name="Google Shape;170;p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Natural routes can limit the cost of directional bias</a:t>
            </a:r>
            <a:endParaRPr/>
          </a:p>
        </p:txBody>
      </p:sp>
      <p:sp>
        <p:nvSpPr>
          <p:cNvPr id="171" name="Google Shape;171;p8"/>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Route geometry determines how an approximate path integrator accumulates error. A sharp sustained turn can produce a large deviation, whereas turns in opposite directions can partly cancel their effects on the estimated homeward direction. Opposing turns keep the accumulated error small along many natural routes. Repeated sharp reversals produce the largest errors.</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Müller and Wehner tested the proposed updating rule against recorded natural foraging paths. In the displaced example, the expressed course departed from the real nest direction by about 20°, matching the direction predicted from that ant's outward trajectory. The approximation was tested on paths that the ants had really walked.</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authors observed that natural </a:t>
            </a:r>
            <a:r>
              <a:rPr b="0" i="1" lang="en-US" sz="1400" u="none" cap="none" strike="noStrike">
                <a:solidFill>
                  <a:srgbClr val="27323A"/>
                </a:solidFill>
                <a:latin typeface="Arial"/>
                <a:ea typeface="Arial"/>
                <a:cs typeface="Arial"/>
                <a:sym typeface="Arial"/>
              </a:rPr>
              <a:t>Cataglyphis</a:t>
            </a:r>
            <a:r>
              <a:rPr b="0" i="0" lang="en-US" sz="1400" u="none" cap="none" strike="noStrike">
                <a:solidFill>
                  <a:srgbClr val="27323A"/>
                </a:solidFill>
                <a:latin typeface="Arial"/>
                <a:ea typeface="Arial"/>
                <a:cs typeface="Arial"/>
                <a:sym typeface="Arial"/>
              </a:rPr>
              <a:t> paths seldom contain the repeated sharp backward turns that generate the largest experimental errors. Under this ecological interpretation, the home vector serves typical routes well. Repeated sharp reversals produce the largest errors, so natural routes rarely expose the rule's weakest case. The authors' argument rests on the route statistics of natural foraging.</a:t>
            </a:r>
            <a:endParaRPr/>
          </a:p>
        </p:txBody>
      </p:sp>
      <p:pic>
        <p:nvPicPr>
          <p:cNvPr descr="M88_4.png" id="172" name="Google Shape;172;p8"/>
          <p:cNvPicPr preferRelativeResize="0"/>
          <p:nvPr/>
        </p:nvPicPr>
        <p:blipFill rotWithShape="1">
          <a:blip r:embed="rId3">
            <a:alphaModFix/>
          </a:blip>
          <a:srcRect b="0" l="0" r="0" t="0"/>
          <a:stretch/>
        </p:blipFill>
        <p:spPr>
          <a:xfrm>
            <a:off x="7593303" y="1280160"/>
            <a:ext cx="2942286" cy="4297679"/>
          </a:xfrm>
          <a:prstGeom prst="rect">
            <a:avLst/>
          </a:prstGeom>
          <a:noFill/>
          <a:ln>
            <a:noFill/>
          </a:ln>
        </p:spPr>
      </p:pic>
      <p:sp>
        <p:nvSpPr>
          <p:cNvPr id="173" name="Google Shape;173;p8"/>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Müller &amp; Wehner (1988), Fig. 4. Natural-path displacement and the resulting homeward course.</a:t>
            </a:r>
            <a:endParaRPr/>
          </a:p>
        </p:txBody>
      </p:sp>
      <p:sp>
        <p:nvSpPr>
          <p:cNvPr id="174" name="Google Shape;174;p8"/>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Müller &amp; Wehner (1988)</a:t>
            </a:r>
            <a:endParaRPr/>
          </a:p>
        </p:txBody>
      </p:sp>
      <p:sp>
        <p:nvSpPr>
          <p:cNvPr id="176" name="Google Shape;176;p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08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 name="Shape 181"/>
        <p:cNvGrpSpPr/>
        <p:nvPr/>
      </p:nvGrpSpPr>
      <p:grpSpPr>
        <a:xfrm>
          <a:off x="0" y="0"/>
          <a:ext cx="0" cy="0"/>
          <a:chOff x="0" y="0"/>
          <a:chExt cx="0" cy="0"/>
        </a:xfrm>
      </p:grpSpPr>
      <p:sp>
        <p:nvSpPr>
          <p:cNvPr id="182" name="Google Shape;182;p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Leg length manipulation changes the estimated distance</a:t>
            </a:r>
            <a:endParaRPr/>
          </a:p>
        </p:txBody>
      </p:sp>
      <p:sp>
        <p:nvSpPr>
          <p:cNvPr id="183" name="Google Shape;183;p9"/>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An </a:t>
            </a:r>
            <a:r>
              <a:rPr b="1" i="0" lang="en-US" sz="1400" u="none" cap="none" strike="noStrike">
                <a:solidFill>
                  <a:srgbClr val="344F61"/>
                </a:solidFill>
                <a:latin typeface="Arial"/>
                <a:ea typeface="Arial"/>
                <a:cs typeface="Arial"/>
                <a:sym typeface="Arial"/>
              </a:rPr>
              <a:t>odometer</a:t>
            </a:r>
            <a:r>
              <a:rPr b="0" i="0" lang="en-US" sz="1400" u="none" cap="none" strike="noStrike">
                <a:solidFill>
                  <a:srgbClr val="27323A"/>
                </a:solidFill>
                <a:latin typeface="Arial"/>
                <a:ea typeface="Arial"/>
                <a:cs typeface="Arial"/>
                <a:sym typeface="Arial"/>
              </a:rPr>
              <a:t> is a mechanism for estimating distance traveled. A </a:t>
            </a:r>
            <a:r>
              <a:rPr b="1" i="0" lang="en-US" sz="1400" u="none" cap="none" strike="noStrike">
                <a:solidFill>
                  <a:srgbClr val="344F61"/>
                </a:solidFill>
                <a:latin typeface="Arial"/>
                <a:ea typeface="Arial"/>
                <a:cs typeface="Arial"/>
                <a:sym typeface="Arial"/>
              </a:rPr>
              <a:t>stride</a:t>
            </a:r>
            <a:r>
              <a:rPr b="0" i="0" lang="en-US" sz="1400" u="none" cap="none" strike="noStrike">
                <a:solidFill>
                  <a:srgbClr val="27323A"/>
                </a:solidFill>
                <a:latin typeface="Arial"/>
                <a:ea typeface="Arial"/>
                <a:cs typeface="Arial"/>
                <a:sym typeface="Arial"/>
              </a:rPr>
              <a:t> is one complete movement cycle of a particular leg. Altering leg length changes the distance covered in each stride, while the distance already experienced before the change stays the same. Stride length, not the number of steps, sets how far each cycle carries the ant.</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Wittlinger and colleagues tested whether a distance estimate built with legs of one length still works after the legs change. Because the stored distance was acquired before the manipulation, any resulting error reflects the altered locomotion itself. The design makes locomotion the only variable that changes between the outbound and inbound walks.</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resulting distance error therefore probes </a:t>
            </a:r>
            <a:r>
              <a:rPr b="1" i="0" lang="en-US" sz="1400" u="none" cap="none" strike="noStrike">
                <a:solidFill>
                  <a:srgbClr val="344F61"/>
                </a:solidFill>
                <a:latin typeface="Arial"/>
                <a:ea typeface="Arial"/>
                <a:cs typeface="Arial"/>
                <a:sym typeface="Arial"/>
              </a:rPr>
              <a:t>locomotor information</a:t>
            </a:r>
            <a:r>
              <a:rPr b="0" i="0" lang="en-US" sz="1400" u="none" cap="none" strike="noStrike">
                <a:solidFill>
                  <a:srgbClr val="27323A"/>
                </a:solidFill>
                <a:latin typeface="Arial"/>
                <a:ea typeface="Arial"/>
                <a:cs typeface="Arial"/>
                <a:sym typeface="Arial"/>
              </a:rPr>
              <a:t>. Leg manipulation changes sensory feedback and movement commands together, so the error points to the combined signal rather than to one input. The error therefore reflects locomotion, not the training history. Changing the legs after training is the design's key feature. The error is measured directly in each animal.</a:t>
            </a:r>
            <a:endParaRPr/>
          </a:p>
        </p:txBody>
      </p:sp>
      <p:pic>
        <p:nvPicPr>
          <p:cNvPr descr="W06_2.png" id="184" name="Google Shape;184;p9"/>
          <p:cNvPicPr preferRelativeResize="0"/>
          <p:nvPr/>
        </p:nvPicPr>
        <p:blipFill rotWithShape="1">
          <a:blip r:embed="rId3">
            <a:alphaModFix/>
          </a:blip>
          <a:srcRect b="0" l="0" r="0" t="0"/>
          <a:stretch/>
        </p:blipFill>
        <p:spPr>
          <a:xfrm>
            <a:off x="7306589" y="1280160"/>
            <a:ext cx="3515714" cy="4297679"/>
          </a:xfrm>
          <a:prstGeom prst="rect">
            <a:avLst/>
          </a:prstGeom>
          <a:noFill/>
          <a:ln>
            <a:noFill/>
          </a:ln>
        </p:spPr>
      </p:pic>
      <p:sp>
        <p:nvSpPr>
          <p:cNvPr id="185" name="Google Shape;185;p9"/>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(2006), Fig. 2. Normal legs, stilts and stumps.</a:t>
            </a:r>
            <a:endParaRPr/>
          </a:p>
        </p:txBody>
      </p:sp>
      <p:sp>
        <p:nvSpPr>
          <p:cNvPr id="186" name="Google Shape;186;p9"/>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Wittlinger et al. (2006)</a:t>
            </a:r>
            <a:endParaRPr/>
          </a:p>
        </p:txBody>
      </p:sp>
      <p:sp>
        <p:nvSpPr>
          <p:cNvPr id="188" name="Google Shape;188;p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09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 name="Shape 193"/>
        <p:cNvGrpSpPr/>
        <p:nvPr/>
      </p:nvGrpSpPr>
      <p:grpSpPr>
        <a:xfrm>
          <a:off x="0" y="0"/>
          <a:ext cx="0" cy="0"/>
          <a:chOff x="0" y="0"/>
          <a:chExt cx="0" cy="0"/>
        </a:xfrm>
      </p:grpSpPr>
      <p:sp>
        <p:nvSpPr>
          <p:cNvPr id="194" name="Google Shape;194;p1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Stilts overshoot and stumps undershoot the nest</a:t>
            </a:r>
            <a:endParaRPr/>
          </a:p>
        </p:txBody>
      </p:sp>
      <p:sp>
        <p:nvSpPr>
          <p:cNvPr id="195" name="Google Shape;195;p10"/>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transition from directed walking to repeated U-turns provides a behavioral measure of expected nest distance. Wittlinger and colleagues used the median of the first six turning points to locate the center of each ant's nest search. The measure turns a behavior into a number that can be compared across animals.</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After a normal 10 m outbound journey, ants with lengthened legs searched at 15.30 m, ants with shortened legs searched at 5.75 m, and normal-legged controls searched at 10.20 m. The direction of each error followed the change in stride length. Stilts and stumps therefore pushed the expected distance in opposite directions from the true one.</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Longer inbound strides made the stored journey terminate farther from release, while shorter strides made it terminate sooner. Debilitation would predict weaker searching, yet the animals walking on stilts overshot vigorously, so this </a:t>
            </a:r>
            <a:r>
              <a:rPr b="1" i="0" lang="en-US" sz="1400" u="none" cap="none" strike="noStrike">
                <a:solidFill>
                  <a:srgbClr val="344F61"/>
                </a:solidFill>
                <a:latin typeface="Arial"/>
                <a:ea typeface="Arial"/>
                <a:cs typeface="Arial"/>
                <a:sym typeface="Arial"/>
              </a:rPr>
              <a:t>bidirectional effect</a:t>
            </a:r>
            <a:r>
              <a:rPr b="0" i="0" lang="en-US" sz="1400" u="none" cap="none" strike="noStrike">
                <a:solidFill>
                  <a:srgbClr val="27323A"/>
                </a:solidFill>
                <a:latin typeface="Arial"/>
                <a:ea typeface="Arial"/>
                <a:cs typeface="Arial"/>
                <a:sym typeface="Arial"/>
              </a:rPr>
              <a:t> points to stride length. The search centers therefore sort by stride length. Each animal's search center therefore reflects its leg treatment.</a:t>
            </a:r>
            <a:endParaRPr/>
          </a:p>
        </p:txBody>
      </p:sp>
      <p:pic>
        <p:nvPicPr>
          <p:cNvPr descr="W06_3.png" id="196" name="Google Shape;196;p10"/>
          <p:cNvPicPr preferRelativeResize="0"/>
          <p:nvPr/>
        </p:nvPicPr>
        <p:blipFill rotWithShape="1">
          <a:blip r:embed="rId3">
            <a:alphaModFix/>
          </a:blip>
          <a:srcRect b="0" l="0" r="0" t="0"/>
          <a:stretch/>
        </p:blipFill>
        <p:spPr>
          <a:xfrm>
            <a:off x="6504127" y="1280160"/>
            <a:ext cx="5120640" cy="2891337"/>
          </a:xfrm>
          <a:prstGeom prst="rect">
            <a:avLst/>
          </a:prstGeom>
          <a:noFill/>
          <a:ln>
            <a:noFill/>
          </a:ln>
        </p:spPr>
      </p:pic>
      <p:sp>
        <p:nvSpPr>
          <p:cNvPr id="197" name="Google Shape;197;p10"/>
          <p:cNvSpPr txBox="1"/>
          <p:nvPr/>
        </p:nvSpPr>
        <p:spPr>
          <a:xfrm>
            <a:off x="6504127" y="4262937"/>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(2006), Fig. 3(A–B). Homing distances after leg manipulation and after matched outbound training.</a:t>
            </a:r>
            <a:endParaRPr/>
          </a:p>
        </p:txBody>
      </p:sp>
      <p:sp>
        <p:nvSpPr>
          <p:cNvPr id="198" name="Google Shape;198;p10"/>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9" name="Google Shape;199;p1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Wittlinger et al. (2006)</a:t>
            </a:r>
            <a:endParaRPr/>
          </a:p>
        </p:txBody>
      </p:sp>
      <p:sp>
        <p:nvSpPr>
          <p:cNvPr id="200" name="Google Shape;200;p1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 name="Shape 205"/>
        <p:cNvGrpSpPr/>
        <p:nvPr/>
      </p:nvGrpSpPr>
      <p:grpSpPr>
        <a:xfrm>
          <a:off x="0" y="0"/>
          <a:ext cx="0" cy="0"/>
          <a:chOff x="0" y="0"/>
          <a:chExt cx="0" cy="0"/>
        </a:xfrm>
      </p:grpSpPr>
      <p:sp>
        <p:nvSpPr>
          <p:cNvPr id="206" name="Google Shape;206;p1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Matched outward and inward legs restore homing distance</a:t>
            </a:r>
            <a:endParaRPr/>
          </a:p>
        </p:txBody>
      </p:sp>
      <p:sp>
        <p:nvSpPr>
          <p:cNvPr id="207" name="Google Shape;207;p11"/>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same modified animal can experience a new outbound journey with the altered legs. This matched training keeps the manipulation present while removing the mismatch between the conditions used to acquire and to express the stored distance. The manipulation therefore stays constant across both journeys. Its stored distance is thus matched to its walking conditions.</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After returning to the nest, ants walked to the feeder again on stilts or stumps and were retested. Their searches centered at 10.55 m for stilts and 10.25 m for stumps, close to the 10.20 m result for normal-legged controls and the true 10 m separation. Each retest used the leg condition the animal had experienced during its outbound walk.</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Recovery of the expected distance supports a </a:t>
            </a:r>
            <a:r>
              <a:rPr b="1" i="0" lang="en-US" sz="1400" u="none" cap="none" strike="noStrike">
                <a:solidFill>
                  <a:srgbClr val="344F61"/>
                </a:solidFill>
                <a:latin typeface="Arial"/>
                <a:ea typeface="Arial"/>
                <a:cs typeface="Arial"/>
                <a:sym typeface="Arial"/>
              </a:rPr>
              <a:t>stride-dependent relationship</a:t>
            </a:r>
            <a:r>
              <a:rPr b="0" i="0" lang="en-US" sz="1400" u="none" cap="none" strike="noStrike">
                <a:solidFill>
                  <a:srgbClr val="27323A"/>
                </a:solidFill>
                <a:latin typeface="Arial"/>
                <a:ea typeface="Arial"/>
                <a:cs typeface="Arial"/>
                <a:sym typeface="Arial"/>
              </a:rPr>
              <a:t> between acquisition and readout, rather than permanent loss of navigation after surgery. The ant reaches the correct distance without measuring its leg length explicitly. The error therefore depends on journey history rather than on the surgery alone. The stored value is expressed in stride-based terms.</a:t>
            </a:r>
            <a:endParaRPr/>
          </a:p>
        </p:txBody>
      </p:sp>
      <p:pic>
        <p:nvPicPr>
          <p:cNvPr descr="W06_3.png" id="208" name="Google Shape;208;p11"/>
          <p:cNvPicPr preferRelativeResize="0"/>
          <p:nvPr/>
        </p:nvPicPr>
        <p:blipFill rotWithShape="1">
          <a:blip r:embed="rId3">
            <a:alphaModFix/>
          </a:blip>
          <a:srcRect b="0" l="0" r="0" t="0"/>
          <a:stretch/>
        </p:blipFill>
        <p:spPr>
          <a:xfrm>
            <a:off x="6504127" y="1280160"/>
            <a:ext cx="5120640" cy="2891337"/>
          </a:xfrm>
          <a:prstGeom prst="rect">
            <a:avLst/>
          </a:prstGeom>
          <a:noFill/>
          <a:ln>
            <a:noFill/>
          </a:ln>
        </p:spPr>
      </p:pic>
      <p:sp>
        <p:nvSpPr>
          <p:cNvPr id="209" name="Google Shape;209;p11"/>
          <p:cNvSpPr txBox="1"/>
          <p:nvPr/>
        </p:nvSpPr>
        <p:spPr>
          <a:xfrm>
            <a:off x="6504127" y="4262937"/>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(2006), Fig. 3(A–B). Homing distances after leg manipulation and after matched outbound training.</a:t>
            </a:r>
            <a:endParaRPr/>
          </a:p>
        </p:txBody>
      </p:sp>
      <p:sp>
        <p:nvSpPr>
          <p:cNvPr id="210" name="Google Shape;210;p11"/>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1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Wittlinger et al. (2006)</a:t>
            </a:r>
            <a:endParaRPr/>
          </a:p>
        </p:txBody>
      </p:sp>
      <p:sp>
        <p:nvSpPr>
          <p:cNvPr id="212" name="Google Shape;212;p1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 name="Shape 217"/>
        <p:cNvGrpSpPr/>
        <p:nvPr/>
      </p:nvGrpSpPr>
      <p:grpSpPr>
        <a:xfrm>
          <a:off x="0" y="0"/>
          <a:ext cx="0" cy="0"/>
          <a:chOff x="0" y="0"/>
          <a:chExt cx="0" cy="0"/>
        </a:xfrm>
      </p:grpSpPr>
      <p:sp>
        <p:nvSpPr>
          <p:cNvPr id="218" name="Google Shape;218;p1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Two shortening treatments separate locomotor effects</a:t>
            </a:r>
            <a:endParaRPr/>
          </a:p>
        </p:txBody>
      </p:sp>
      <p:sp>
        <p:nvSpPr>
          <p:cNvPr id="219" name="Google Shape;219;p1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Wittlinger and colleagues extended the odometer experiment with two degrees of leg shortening. </a:t>
            </a:r>
            <a:r>
              <a:rPr b="1" i="0" lang="en-US" sz="1500" u="none" cap="none" strike="noStrike">
                <a:solidFill>
                  <a:srgbClr val="344F61"/>
                </a:solidFill>
                <a:latin typeface="Arial"/>
                <a:ea typeface="Arial"/>
                <a:cs typeface="Arial"/>
                <a:sym typeface="Arial"/>
              </a:rPr>
              <a:t>Tarsomeres</a:t>
            </a:r>
            <a:r>
              <a:rPr b="0" i="0" lang="en-US" sz="1500" u="none" cap="none" strike="noStrike">
                <a:solidFill>
                  <a:srgbClr val="27323A"/>
                </a:solidFill>
                <a:latin typeface="Arial"/>
                <a:ea typeface="Arial"/>
                <a:cs typeface="Arial"/>
                <a:sym typeface="Arial"/>
              </a:rPr>
              <a:t> are the distal segments of an insect leg, and the </a:t>
            </a:r>
            <a:r>
              <a:rPr b="1" i="0" lang="en-US" sz="1500" u="none" cap="none" strike="noStrike">
                <a:solidFill>
                  <a:srgbClr val="344F61"/>
                </a:solidFill>
                <a:latin typeface="Arial"/>
                <a:ea typeface="Arial"/>
                <a:cs typeface="Arial"/>
                <a:sym typeface="Arial"/>
              </a:rPr>
              <a:t>tibia</a:t>
            </a:r>
            <a:r>
              <a:rPr b="0" i="0" lang="en-US" sz="1500" u="none" cap="none" strike="noStrike">
                <a:solidFill>
                  <a:srgbClr val="27323A"/>
                </a:solidFill>
                <a:latin typeface="Arial"/>
                <a:ea typeface="Arial"/>
                <a:cs typeface="Arial"/>
                <a:sym typeface="Arial"/>
              </a:rPr>
              <a:t> lies proximal to the tarsus. Removing either region changes the effective length of the walking limb. The two treatments therefore form a graded test of stride length.</a:t>
            </a:r>
            <a:endParaRPr/>
          </a:p>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The two shortening treatments removed different leg regions, and a third group carried bristle stilts. Normal-legged ants served as the reference group against which both shortened groups were measured. Each group was tested after its own leg manipulation. Stumps II therefore removed more of the limb than stumps I did.</a:t>
            </a:r>
            <a:endParaRPr/>
          </a:p>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The graded design measured different reductions in stride length rather than treating every shortened leg as one condition. Leg length, walking speed and load can change together, so the design tests a range of shortening rather than a single length. Each treatment therefore produced a distinct reduction in effective limb length.</a:t>
            </a:r>
            <a:endParaRPr/>
          </a:p>
        </p:txBody>
      </p:sp>
      <p:pic>
        <p:nvPicPr>
          <p:cNvPr descr="W07_2.png" id="220" name="Google Shape;220;p12"/>
          <p:cNvPicPr preferRelativeResize="0"/>
          <p:nvPr/>
        </p:nvPicPr>
        <p:blipFill rotWithShape="1">
          <a:blip r:embed="rId3">
            <a:alphaModFix/>
          </a:blip>
          <a:srcRect b="0" l="0" r="0" t="0"/>
          <a:stretch/>
        </p:blipFill>
        <p:spPr>
          <a:xfrm>
            <a:off x="7085812" y="1280160"/>
            <a:ext cx="3957269" cy="4297679"/>
          </a:xfrm>
          <a:prstGeom prst="rect">
            <a:avLst/>
          </a:prstGeom>
          <a:noFill/>
          <a:ln>
            <a:noFill/>
          </a:ln>
        </p:spPr>
      </p:pic>
      <p:sp>
        <p:nvSpPr>
          <p:cNvPr id="221" name="Google Shape;221;p12"/>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(2007), Fig. 2. Leg anatomy and the four length conditions.</a:t>
            </a:r>
            <a:endParaRPr/>
          </a:p>
        </p:txBody>
      </p:sp>
      <p:sp>
        <p:nvSpPr>
          <p:cNvPr id="222" name="Google Shape;222;p12"/>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1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Wittlinger et al. (2007)</a:t>
            </a:r>
            <a:endParaRPr/>
          </a:p>
        </p:txBody>
      </p:sp>
      <p:sp>
        <p:nvSpPr>
          <p:cNvPr id="224" name="Google Shape;224;p1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12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9" name="Shape 229"/>
        <p:cNvGrpSpPr/>
        <p:nvPr/>
      </p:nvGrpSpPr>
      <p:grpSpPr>
        <a:xfrm>
          <a:off x="0" y="0"/>
          <a:ext cx="0" cy="0"/>
          <a:chOff x="0" y="0"/>
          <a:chExt cx="0" cy="0"/>
        </a:xfrm>
      </p:grpSpPr>
      <p:sp>
        <p:nvSpPr>
          <p:cNvPr id="230" name="Google Shape;230;p1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Shortened legs retain alternating tripod coordination</a:t>
            </a:r>
            <a:endParaRPr/>
          </a:p>
        </p:txBody>
      </p:sp>
      <p:sp>
        <p:nvSpPr>
          <p:cNvPr id="231" name="Google Shape;231;p1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A </a:t>
            </a:r>
            <a:r>
              <a:rPr b="1" i="0" lang="en-US" sz="1500" u="none" cap="none" strike="noStrike">
                <a:solidFill>
                  <a:srgbClr val="344F61"/>
                </a:solidFill>
                <a:latin typeface="Arial"/>
                <a:ea typeface="Arial"/>
                <a:cs typeface="Arial"/>
                <a:sym typeface="Arial"/>
              </a:rPr>
              <a:t>tripod gait</a:t>
            </a:r>
            <a:r>
              <a:rPr b="0" i="0" lang="en-US" sz="1500" u="none" cap="none" strike="noStrike">
                <a:solidFill>
                  <a:srgbClr val="27323A"/>
                </a:solidFill>
                <a:latin typeface="Arial"/>
                <a:ea typeface="Arial"/>
                <a:cs typeface="Arial"/>
                <a:sym typeface="Arial"/>
              </a:rPr>
              <a:t> alternates two sets of three supporting legs. In </a:t>
            </a:r>
            <a:r>
              <a:rPr b="0" i="1" lang="en-US" sz="1500" u="none" cap="none" strike="noStrike">
                <a:solidFill>
                  <a:srgbClr val="27323A"/>
                </a:solidFill>
                <a:latin typeface="Arial"/>
                <a:ea typeface="Arial"/>
                <a:cs typeface="Arial"/>
                <a:sym typeface="Arial"/>
              </a:rPr>
              <a:t>Cataglyphis</a:t>
            </a:r>
            <a:r>
              <a:rPr b="0" i="0" lang="en-US" sz="1500" u="none" cap="none" strike="noStrike">
                <a:solidFill>
                  <a:srgbClr val="27323A"/>
                </a:solidFill>
                <a:latin typeface="Arial"/>
                <a:ea typeface="Arial"/>
                <a:cs typeface="Arial"/>
                <a:sym typeface="Arial"/>
              </a:rPr>
              <a:t>, one set combines the left front and hind legs with the right middle leg. The complementary set uses the remaining three legs. This alternating pattern keeps the body supported at every step. Those two sets are the building blocks of the stepping pattern.</a:t>
            </a:r>
            <a:endParaRPr/>
          </a:p>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The two sets of legs alternate with each step of the walk. Shortened legs did not change this basic alternation. The published normal example had a stride length of 13.3 mm at 0.28 m/s. A stumps-II example kept its tripods with a 10.5 mm stride at 0.27 m/s. This alternation persists after the manipulation.</a:t>
            </a:r>
            <a:endParaRPr/>
          </a:p>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Preserved tripods constrain explanations that would require an entirely different gait after shortening. Changes in stride length therefore occur within an ordinary tripod rhythm. The walking cycle keeps its basic coordination pattern. The spatial extent of each cycle is the part that changes. The leg manipulation changes the stride, not the pattern of support.</a:t>
            </a:r>
            <a:endParaRPr/>
          </a:p>
        </p:txBody>
      </p:sp>
      <p:pic>
        <p:nvPicPr>
          <p:cNvPr descr="W07_3B.png" id="232" name="Google Shape;232;p13"/>
          <p:cNvPicPr preferRelativeResize="0"/>
          <p:nvPr/>
        </p:nvPicPr>
        <p:blipFill rotWithShape="1">
          <a:blip r:embed="rId3">
            <a:alphaModFix/>
          </a:blip>
          <a:srcRect b="0" l="0" r="0" t="0"/>
          <a:stretch/>
        </p:blipFill>
        <p:spPr>
          <a:xfrm>
            <a:off x="6504127" y="1280160"/>
            <a:ext cx="5120640" cy="2940498"/>
          </a:xfrm>
          <a:prstGeom prst="rect">
            <a:avLst/>
          </a:prstGeom>
          <a:noFill/>
          <a:ln>
            <a:noFill/>
          </a:ln>
        </p:spPr>
      </p:pic>
      <p:sp>
        <p:nvSpPr>
          <p:cNvPr id="233" name="Google Shape;233;p13"/>
          <p:cNvSpPr txBox="1"/>
          <p:nvPr/>
        </p:nvSpPr>
        <p:spPr>
          <a:xfrm>
            <a:off x="6504127" y="4312098"/>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(2007), Fig. 3(B). Tripod gait after shortening the tibiae.</a:t>
            </a:r>
            <a:endParaRPr/>
          </a:p>
        </p:txBody>
      </p:sp>
      <p:sp>
        <p:nvSpPr>
          <p:cNvPr id="234" name="Google Shape;234;p13"/>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5" name="Google Shape;235;p1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Wittlinger et al. (2007)</a:t>
            </a:r>
            <a:endParaRPr/>
          </a:p>
        </p:txBody>
      </p:sp>
      <p:sp>
        <p:nvSpPr>
          <p:cNvPr id="236" name="Google Shape;236;p1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 name="Shape 241"/>
        <p:cNvGrpSpPr/>
        <p:nvPr/>
      </p:nvGrpSpPr>
      <p:grpSpPr>
        <a:xfrm>
          <a:off x="0" y="0"/>
          <a:ext cx="0" cy="0"/>
          <a:chOff x="0" y="0"/>
          <a:chExt cx="0" cy="0"/>
        </a:xfrm>
      </p:grpSpPr>
      <p:sp>
        <p:nvSpPr>
          <p:cNvPr id="242" name="Google Shape;242;p1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Distance errors track the extent of leg shortening</a:t>
            </a:r>
            <a:endParaRPr/>
          </a:p>
        </p:txBody>
      </p:sp>
      <p:sp>
        <p:nvSpPr>
          <p:cNvPr id="243" name="Google Shape;243;p14"/>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A shorter stride covers less ground during each locomotor cycle. If outbound distance is stored in relation to movement cycles, shortening the legs after that journey makes the inbound estimate terminate before the original feeder-to-nest distance. The estimate is set by the cycles the ant completes, not by the metres it covers.</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In the expanded experiment, normal-legged ants searched at 10.20 m, stumps-I ants at 6.95 m and stumps-II ants at 5.75 m. Stilts produced searches at 15.30 m. Each shortening treatment produced an undershoot relative to the controls. Stumps II, with the larger removal, produced the shorter search. The stumps-I searches fell between those of stumps II and normal legs.</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graded undershoot fits a </a:t>
            </a:r>
            <a:r>
              <a:rPr b="1" i="0" lang="en-US" sz="1400" u="none" cap="none" strike="noStrike">
                <a:solidFill>
                  <a:srgbClr val="344F61"/>
                </a:solidFill>
                <a:latin typeface="Arial"/>
                <a:ea typeface="Arial"/>
                <a:cs typeface="Arial"/>
                <a:sym typeface="Arial"/>
              </a:rPr>
              <a:t>stride integrator</a:t>
            </a:r>
            <a:r>
              <a:rPr b="0" i="0" lang="en-US" sz="1400" u="none" cap="none" strike="noStrike">
                <a:solidFill>
                  <a:srgbClr val="27323A"/>
                </a:solidFill>
                <a:latin typeface="Arial"/>
                <a:ea typeface="Arial"/>
                <a:cs typeface="Arial"/>
                <a:sym typeface="Arial"/>
              </a:rPr>
              <a:t> more closely than a fixed physical-distance readout independent of locomotion. Both shortening treatments changed more than one biomechanical variable. The authors therefore measured stride kinematics to test the quantitative prediction. The undershoot therefore reflects the stride geometry of each treatment. Both points come from the same channel experiment.</a:t>
            </a:r>
            <a:endParaRPr/>
          </a:p>
        </p:txBody>
      </p:sp>
      <p:pic>
        <p:nvPicPr>
          <p:cNvPr descr="W07_4.png" id="244" name="Google Shape;244;p14"/>
          <p:cNvPicPr preferRelativeResize="0"/>
          <p:nvPr/>
        </p:nvPicPr>
        <p:blipFill rotWithShape="1">
          <a:blip r:embed="rId3">
            <a:alphaModFix/>
          </a:blip>
          <a:srcRect b="0" l="0" r="0" t="0"/>
          <a:stretch/>
        </p:blipFill>
        <p:spPr>
          <a:xfrm>
            <a:off x="6651785" y="1280160"/>
            <a:ext cx="4825323" cy="4297679"/>
          </a:xfrm>
          <a:prstGeom prst="rect">
            <a:avLst/>
          </a:prstGeom>
          <a:noFill/>
          <a:ln>
            <a:noFill/>
          </a:ln>
        </p:spPr>
      </p:pic>
      <p:sp>
        <p:nvSpPr>
          <p:cNvPr id="245" name="Google Shape;245;p14"/>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(2007), Fig. 4(A–B). Color-coded searches before and after matched leg-length training.</a:t>
            </a:r>
            <a:endParaRPr/>
          </a:p>
        </p:txBody>
      </p:sp>
      <p:sp>
        <p:nvSpPr>
          <p:cNvPr id="246" name="Google Shape;246;p14"/>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7" name="Google Shape;247;p1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Wittlinger et al. (2007)</a:t>
            </a:r>
            <a:endParaRPr/>
          </a:p>
        </p:txBody>
      </p:sp>
      <p:sp>
        <p:nvSpPr>
          <p:cNvPr id="248" name="Google Shape;248;p1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14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3" name="Shape 253"/>
        <p:cNvGrpSpPr/>
        <p:nvPr/>
      </p:nvGrpSpPr>
      <p:grpSpPr>
        <a:xfrm>
          <a:off x="0" y="0"/>
          <a:ext cx="0" cy="0"/>
          <a:chOff x="0" y="0"/>
          <a:chExt cx="0" cy="0"/>
        </a:xfrm>
      </p:grpSpPr>
      <p:sp>
        <p:nvSpPr>
          <p:cNvPr id="254" name="Google Shape;254;p1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Search density distinguishes distance from uncertainty</a:t>
            </a:r>
            <a:endParaRPr/>
          </a:p>
        </p:txBody>
      </p:sp>
      <p:sp>
        <p:nvSpPr>
          <p:cNvPr id="255" name="Google Shape;255;p15"/>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A </a:t>
            </a:r>
            <a:r>
              <a:rPr b="1" i="0" lang="en-US" sz="1400" u="none" cap="none" strike="noStrike">
                <a:solidFill>
                  <a:srgbClr val="344F61"/>
                </a:solidFill>
                <a:latin typeface="Arial"/>
                <a:ea typeface="Arial"/>
                <a:cs typeface="Arial"/>
                <a:sym typeface="Arial"/>
              </a:rPr>
              <a:t>search density distribution</a:t>
            </a:r>
            <a:r>
              <a:rPr b="0" i="0" lang="en-US" sz="1400" u="none" cap="none" strike="noStrike">
                <a:solidFill>
                  <a:srgbClr val="27323A"/>
                </a:solidFill>
                <a:latin typeface="Arial"/>
                <a:ea typeface="Arial"/>
                <a:cs typeface="Arial"/>
                <a:sym typeface="Arial"/>
              </a:rPr>
              <a:t> records how often an ant visits each position during its search. Its center estimates the expected nest location. Its width describes how broadly the animal spreads its search around that estimate. Both properties come from one search record. The center and width therefore give two readouts of one search record.</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distributions differed in spread as well as in center across the four leg conditions. Shorter legs produced narrower searches. The width ranks the four conditions in the same order as the stride treatments. The spread therefore carries information about stride length. The stilted animals searched across the widest range of positions.</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Longer strides spread the search over more ground, and shorter strides concentrate it. The widths describe searching behavior rather than a direct measurement of a neural uncertainty variable. Each stride sets how much ground a single cycle covers. Stride length therefore sets the spatial extent of the search. The widths therefore follow the stride treatments directly.</a:t>
            </a:r>
            <a:endParaRPr/>
          </a:p>
        </p:txBody>
      </p:sp>
      <p:pic>
        <p:nvPicPr>
          <p:cNvPr descr="W07_5.png" id="256" name="Google Shape;256;p15"/>
          <p:cNvPicPr preferRelativeResize="0"/>
          <p:nvPr/>
        </p:nvPicPr>
        <p:blipFill rotWithShape="1">
          <a:blip r:embed="rId3">
            <a:alphaModFix/>
          </a:blip>
          <a:srcRect b="0" l="0" r="0" t="0"/>
          <a:stretch/>
        </p:blipFill>
        <p:spPr>
          <a:xfrm>
            <a:off x="6504127" y="1280160"/>
            <a:ext cx="5120640" cy="4103827"/>
          </a:xfrm>
          <a:prstGeom prst="rect">
            <a:avLst/>
          </a:prstGeom>
          <a:noFill/>
          <a:ln>
            <a:noFill/>
          </a:ln>
        </p:spPr>
      </p:pic>
      <p:sp>
        <p:nvSpPr>
          <p:cNvPr id="257" name="Google Shape;257;p15"/>
          <p:cNvSpPr txBox="1"/>
          <p:nvPr/>
        </p:nvSpPr>
        <p:spPr>
          <a:xfrm>
            <a:off x="6504127" y="5475427"/>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(2007), Fig. 5. Widths of the nest-search distributions.</a:t>
            </a:r>
            <a:endParaRPr/>
          </a:p>
        </p:txBody>
      </p:sp>
      <p:sp>
        <p:nvSpPr>
          <p:cNvPr id="258" name="Google Shape;258;p15"/>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1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Wittlinger et al. (2007)</a:t>
            </a:r>
            <a:endParaRPr/>
          </a:p>
        </p:txBody>
      </p:sp>
      <p:sp>
        <p:nvSpPr>
          <p:cNvPr id="260" name="Google Shape;260;p1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15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5" name="Shape 265"/>
        <p:cNvGrpSpPr/>
        <p:nvPr/>
      </p:nvGrpSpPr>
      <p:grpSpPr>
        <a:xfrm>
          <a:off x="0" y="0"/>
          <a:ext cx="0" cy="0"/>
          <a:chOff x="0" y="0"/>
          <a:chExt cx="0" cy="0"/>
        </a:xfrm>
      </p:grpSpPr>
      <p:sp>
        <p:nvSpPr>
          <p:cNvPr id="266" name="Google Shape;266;p1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Repeated training removes most of the distance mismatch</a:t>
            </a:r>
            <a:endParaRPr/>
          </a:p>
        </p:txBody>
      </p:sp>
      <p:sp>
        <p:nvSpPr>
          <p:cNvPr id="267" name="Google Shape;267;p16"/>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Comparing the first and second tests distinguishes a newly imposed mismatch from walking with altered legs on both journey directions. In the second test, ants had left the nest and reached the feeder using the same modified limbs they used during homing. The second test therefore evaluates walking under the legs used for homing.</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initial stilt and stump searches were displaced from the 10 m nest distance. After the subsequent outbound journey, the search distributions clustered near the correct distance across all four leg conditions. The four conditions converged on the same distance. Stilts, stumps and normal legs all ended up near the same correct distance.</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dependence on journey history points to a stride-associated mechanism rather than a persistent injury. Matched locomotor conditions permit accurate homing. A physiological integrator of stride-associated signals can produce the same relationship between acquisition and return. Walking with the same legs, the ant recovers the distance. The result distinguishes a stride-associated mechanism from a lasting physical injury.</a:t>
            </a:r>
            <a:endParaRPr/>
          </a:p>
        </p:txBody>
      </p:sp>
      <p:pic>
        <p:nvPicPr>
          <p:cNvPr descr="W07_4.png" id="268" name="Google Shape;268;p16"/>
          <p:cNvPicPr preferRelativeResize="0"/>
          <p:nvPr/>
        </p:nvPicPr>
        <p:blipFill rotWithShape="1">
          <a:blip r:embed="rId3">
            <a:alphaModFix/>
          </a:blip>
          <a:srcRect b="0" l="0" r="0" t="0"/>
          <a:stretch/>
        </p:blipFill>
        <p:spPr>
          <a:xfrm>
            <a:off x="6651785" y="1280160"/>
            <a:ext cx="4825323" cy="4297679"/>
          </a:xfrm>
          <a:prstGeom prst="rect">
            <a:avLst/>
          </a:prstGeom>
          <a:noFill/>
          <a:ln>
            <a:noFill/>
          </a:ln>
        </p:spPr>
      </p:pic>
      <p:sp>
        <p:nvSpPr>
          <p:cNvPr id="269" name="Google Shape;269;p16"/>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(2007), Fig. 4(A–B). Color-coded searches before and after matched leg-length training.</a:t>
            </a:r>
            <a:endParaRPr/>
          </a:p>
        </p:txBody>
      </p:sp>
      <p:sp>
        <p:nvSpPr>
          <p:cNvPr id="270" name="Google Shape;270;p16"/>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1" name="Google Shape;271;p1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Wittlinger et al. (2007)</a:t>
            </a:r>
            <a:endParaRPr/>
          </a:p>
        </p:txBody>
      </p:sp>
      <p:sp>
        <p:nvSpPr>
          <p:cNvPr id="272" name="Google Shape;272;p1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16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7" name="Shape 277"/>
        <p:cNvGrpSpPr/>
        <p:nvPr/>
      </p:nvGrpSpPr>
      <p:grpSpPr>
        <a:xfrm>
          <a:off x="0" y="0"/>
          <a:ext cx="0" cy="0"/>
          <a:chOff x="0" y="0"/>
          <a:chExt cx="0" cy="0"/>
        </a:xfrm>
      </p:grpSpPr>
      <p:sp>
        <p:nvSpPr>
          <p:cNvPr id="278" name="Google Shape;278;p1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Body size must be separated from stride length</a:t>
            </a:r>
            <a:endParaRPr/>
          </a:p>
        </p:txBody>
      </p:sp>
      <p:sp>
        <p:nvSpPr>
          <p:cNvPr id="279" name="Google Shape;279;p17"/>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Larger </a:t>
            </a:r>
            <a:r>
              <a:rPr b="0" i="1" lang="en-US" sz="1400" u="none" cap="none" strike="noStrike">
                <a:solidFill>
                  <a:srgbClr val="27323A"/>
                </a:solidFill>
                <a:latin typeface="Arial"/>
                <a:ea typeface="Arial"/>
                <a:cs typeface="Arial"/>
                <a:sym typeface="Arial"/>
              </a:rPr>
              <a:t>Cataglyphis</a:t>
            </a:r>
            <a:r>
              <a:rPr b="0" i="0" lang="en-US" sz="1400" u="none" cap="none" strike="noStrike">
                <a:solidFill>
                  <a:srgbClr val="27323A"/>
                </a:solidFill>
                <a:latin typeface="Arial"/>
                <a:ea typeface="Arial"/>
                <a:cs typeface="Arial"/>
                <a:sym typeface="Arial"/>
              </a:rPr>
              <a:t> workers have longer legs and can take longer strides. </a:t>
            </a:r>
            <a:r>
              <a:rPr b="1" i="0" lang="en-US" sz="1400" u="none" cap="none" strike="noStrike">
                <a:solidFill>
                  <a:srgbClr val="344F61"/>
                </a:solidFill>
                <a:latin typeface="Arial"/>
                <a:ea typeface="Arial"/>
                <a:cs typeface="Arial"/>
                <a:sym typeface="Arial"/>
              </a:rPr>
              <a:t>Normalization</a:t>
            </a:r>
            <a:r>
              <a:rPr b="0" i="0" lang="en-US" sz="1400" u="none" cap="none" strike="noStrike">
                <a:solidFill>
                  <a:srgbClr val="27323A"/>
                </a:solidFill>
                <a:latin typeface="Arial"/>
                <a:ea typeface="Arial"/>
                <a:cs typeface="Arial"/>
                <a:sym typeface="Arial"/>
              </a:rPr>
              <a:t> expresses measurements relative to a specified reference. Body-size differences are thereby separated from the effects of the experimental manipulation. This removes body size as a confound. Normalizing removes body size as a source of variation in the plot.</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Wittlinger and colleagues expressed middle-leg length and stride length relative to alitrunk length, the thoracic region between the pronotum and propodeum. High-speed records related these relative strides to stride frequency. Each animal's own alitrunk length supplies the reference. Those relative strides were then plotted against frequency for each animal group.</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analysis places normal, stilt and stump animals on a common anatomical and locomotor basis. Relative stride length is dimensionless in the relevant plot. That property makes it readable across animals of different sizes. This allows direct comparison across the groups. Each group is therefore measured on one scale. The plot therefore places every animal on a common axis.</a:t>
            </a:r>
            <a:endParaRPr/>
          </a:p>
        </p:txBody>
      </p:sp>
      <p:pic>
        <p:nvPicPr>
          <p:cNvPr descr="W07_6.png" id="280" name="Google Shape;280;p17"/>
          <p:cNvPicPr preferRelativeResize="0"/>
          <p:nvPr/>
        </p:nvPicPr>
        <p:blipFill rotWithShape="1">
          <a:blip r:embed="rId3">
            <a:alphaModFix/>
          </a:blip>
          <a:srcRect b="0" l="0" r="0" t="0"/>
          <a:stretch/>
        </p:blipFill>
        <p:spPr>
          <a:xfrm>
            <a:off x="6504127" y="1280160"/>
            <a:ext cx="5120640" cy="4165349"/>
          </a:xfrm>
          <a:prstGeom prst="rect">
            <a:avLst/>
          </a:prstGeom>
          <a:noFill/>
          <a:ln>
            <a:noFill/>
          </a:ln>
        </p:spPr>
      </p:pic>
      <p:sp>
        <p:nvSpPr>
          <p:cNvPr id="281" name="Google Shape;281;p17"/>
          <p:cNvSpPr txBox="1"/>
          <p:nvPr/>
        </p:nvSpPr>
        <p:spPr>
          <a:xfrm>
            <a:off x="6504127" y="553694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(2007), Fig. 6. Stride length as a function of stride frequency.</a:t>
            </a:r>
            <a:endParaRPr/>
          </a:p>
        </p:txBody>
      </p:sp>
      <p:sp>
        <p:nvSpPr>
          <p:cNvPr id="282" name="Google Shape;282;p17"/>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3" name="Google Shape;283;p1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Wittlinger et al. (2007)</a:t>
            </a:r>
            <a:endParaRPr/>
          </a:p>
        </p:txBody>
      </p:sp>
      <p:sp>
        <p:nvSpPr>
          <p:cNvPr id="284" name="Google Shape;284;p1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17</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9" name="Shape 289"/>
        <p:cNvGrpSpPr/>
        <p:nvPr/>
      </p:nvGrpSpPr>
      <p:grpSpPr>
        <a:xfrm>
          <a:off x="0" y="0"/>
          <a:ext cx="0" cy="0"/>
          <a:chOff x="0" y="0"/>
          <a:chExt cx="0" cy="0"/>
        </a:xfrm>
      </p:grpSpPr>
      <p:sp>
        <p:nvSpPr>
          <p:cNvPr id="290" name="Google Shape;290;p1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Stride length varies even at a common cycle frequency</a:t>
            </a:r>
            <a:endParaRPr/>
          </a:p>
        </p:txBody>
      </p:sp>
      <p:sp>
        <p:nvSpPr>
          <p:cNvPr id="291" name="Google Shape;291;p18"/>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344F61"/>
                </a:solidFill>
                <a:latin typeface="Arial"/>
                <a:ea typeface="Arial"/>
                <a:cs typeface="Arial"/>
                <a:sym typeface="Arial"/>
              </a:rPr>
              <a:t>Stride frequency</a:t>
            </a:r>
            <a:r>
              <a:rPr b="0" i="0" lang="en-US" sz="1400" u="none" cap="none" strike="noStrike">
                <a:solidFill>
                  <a:srgbClr val="27323A"/>
                </a:solidFill>
                <a:latin typeface="Arial"/>
                <a:ea typeface="Arial"/>
                <a:cs typeface="Arial"/>
                <a:sym typeface="Arial"/>
              </a:rPr>
              <a:t> is the number of complete leg cycles per second, measured in hertz. It is distinct from </a:t>
            </a:r>
            <a:r>
              <a:rPr b="1" i="0" lang="en-US" sz="1400" u="none" cap="none" strike="noStrike">
                <a:solidFill>
                  <a:srgbClr val="344F61"/>
                </a:solidFill>
                <a:latin typeface="Arial"/>
                <a:ea typeface="Arial"/>
                <a:cs typeface="Arial"/>
                <a:sym typeface="Arial"/>
              </a:rPr>
              <a:t>stride length</a:t>
            </a:r>
            <a:r>
              <a:rPr b="0" i="0" lang="en-US" sz="1400" u="none" cap="none" strike="noStrike">
                <a:solidFill>
                  <a:srgbClr val="27323A"/>
                </a:solidFill>
                <a:latin typeface="Arial"/>
                <a:ea typeface="Arial"/>
                <a:cs typeface="Arial"/>
                <a:sym typeface="Arial"/>
              </a:rPr>
              <a:t>, the distance advanced during one cycle. Either variable can change walking speed. Each variable is measured separately in the analysis. Measuring both variables separately is necessary for the analysis. A change in speed can come from either variable.</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At comparable frequencies, stilt ants had longer relative strides and stump ants shorter relative strides than controls. The profiles differ systematically by leg condition. Each leg condition therefore has its own frequency-length profile. These differences are measurable at a common frequency. Stilted ants therefore covered more distance per cycle than controls.</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measured relationships link the imposed limb geometry to locomotor displacement. They give a quantitative target for any model of the odometer. The odometer's inputs must therefore match these curves. They set the standard that the odometer's inputs must meet. The stride-based account must therefore agree with each measured curve.</a:t>
            </a:r>
            <a:endParaRPr/>
          </a:p>
        </p:txBody>
      </p:sp>
      <p:pic>
        <p:nvPicPr>
          <p:cNvPr descr="W07_6.png" id="292" name="Google Shape;292;p18"/>
          <p:cNvPicPr preferRelativeResize="0"/>
          <p:nvPr/>
        </p:nvPicPr>
        <p:blipFill rotWithShape="1">
          <a:blip r:embed="rId3">
            <a:alphaModFix/>
          </a:blip>
          <a:srcRect b="0" l="0" r="0" t="0"/>
          <a:stretch/>
        </p:blipFill>
        <p:spPr>
          <a:xfrm>
            <a:off x="6504127" y="1280160"/>
            <a:ext cx="5120640" cy="4165349"/>
          </a:xfrm>
          <a:prstGeom prst="rect">
            <a:avLst/>
          </a:prstGeom>
          <a:noFill/>
          <a:ln>
            <a:noFill/>
          </a:ln>
        </p:spPr>
      </p:pic>
      <p:sp>
        <p:nvSpPr>
          <p:cNvPr id="293" name="Google Shape;293;p18"/>
          <p:cNvSpPr txBox="1"/>
          <p:nvPr/>
        </p:nvSpPr>
        <p:spPr>
          <a:xfrm>
            <a:off x="6504127" y="553694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(2007), Fig. 6. Stride length as a function of stride frequency.</a:t>
            </a:r>
            <a:endParaRPr/>
          </a:p>
        </p:txBody>
      </p:sp>
      <p:sp>
        <p:nvSpPr>
          <p:cNvPr id="294" name="Google Shape;294;p18"/>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5" name="Google Shape;295;p1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Wittlinger et al. (2007)</a:t>
            </a:r>
            <a:endParaRPr/>
          </a:p>
        </p:txBody>
      </p:sp>
      <p:sp>
        <p:nvSpPr>
          <p:cNvPr id="296" name="Google Shape;296;p1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18</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1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Walking speed is not determined by frequency alone</a:t>
            </a:r>
            <a:endParaRPr/>
          </a:p>
        </p:txBody>
      </p:sp>
      <p:sp>
        <p:nvSpPr>
          <p:cNvPr id="303" name="Google Shape;303;p19"/>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Increasing walking speed can involve faster cycles, longer strides, or both. Wittlinger and colleagues recorded freely walking animals under several temperature and preparation conditions. The analysis retained straight runs without abrupt stops. Speed was measured in millimeters per second in the analysis. The analysis excluded any run with abrupt stops.</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color-coded data relate walking speed to stride frequency. Normal and shortened-leg ants increased cycle frequency as speed rose. Stilted ants used lower frequencies for a given speed. Stride length carried the rest of the speed change, so the two variables offset each other. Those frequency patterns separate the leg conditions.</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A time-based explanation has to use measured speeds, since manipulated ants may differ in cycle rate and velocity. Elapsed journey time translates into distance only through the measured relationship between speed and stride. Distance follows from speed and stride, not from time alone. Two animals walking at the same speed may cover different distances.</a:t>
            </a:r>
            <a:endParaRPr/>
          </a:p>
        </p:txBody>
      </p:sp>
      <p:pic>
        <p:nvPicPr>
          <p:cNvPr descr="W07_7A.png" id="304" name="Google Shape;304;p19"/>
          <p:cNvPicPr preferRelativeResize="0"/>
          <p:nvPr/>
        </p:nvPicPr>
        <p:blipFill rotWithShape="1">
          <a:blip r:embed="rId3">
            <a:alphaModFix/>
          </a:blip>
          <a:srcRect b="0" l="0" r="0" t="0"/>
          <a:stretch/>
        </p:blipFill>
        <p:spPr>
          <a:xfrm>
            <a:off x="6594939" y="1280160"/>
            <a:ext cx="4939014" cy="4297679"/>
          </a:xfrm>
          <a:prstGeom prst="rect">
            <a:avLst/>
          </a:prstGeom>
          <a:noFill/>
          <a:ln>
            <a:noFill/>
          </a:ln>
        </p:spPr>
      </p:pic>
      <p:sp>
        <p:nvSpPr>
          <p:cNvPr id="305" name="Google Shape;305;p19"/>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(2007), Fig. 7(A). Stride frequency increases with walking speed.</a:t>
            </a:r>
            <a:endParaRPr/>
          </a:p>
        </p:txBody>
      </p:sp>
      <p:sp>
        <p:nvSpPr>
          <p:cNvPr id="306" name="Google Shape;306;p19"/>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7" name="Google Shape;307;p1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Wittlinger et al. (2007)</a:t>
            </a:r>
            <a:endParaRPr/>
          </a:p>
        </p:txBody>
      </p:sp>
      <p:sp>
        <p:nvSpPr>
          <p:cNvPr id="308" name="Google Shape;308;p1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19</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3" name="Shape 313"/>
        <p:cNvGrpSpPr/>
        <p:nvPr/>
      </p:nvGrpSpPr>
      <p:grpSpPr>
        <a:xfrm>
          <a:off x="0" y="0"/>
          <a:ext cx="0" cy="0"/>
          <a:chOff x="0" y="0"/>
          <a:chExt cx="0" cy="0"/>
        </a:xfrm>
      </p:grpSpPr>
      <p:sp>
        <p:nvSpPr>
          <p:cNvPr id="314" name="Google Shape;314;p2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Stride length also increases with walking speed</a:t>
            </a:r>
            <a:endParaRPr/>
          </a:p>
        </p:txBody>
      </p:sp>
      <p:sp>
        <p:nvSpPr>
          <p:cNvPr id="315" name="Google Shape;315;p20"/>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distance advanced during one stride varies with the leg condition and with walking speed. </a:t>
            </a:r>
            <a:r>
              <a:rPr b="0" i="1" lang="en-US" sz="1400" u="none" cap="none" strike="noStrike">
                <a:solidFill>
                  <a:srgbClr val="27323A"/>
                </a:solidFill>
                <a:latin typeface="Arial"/>
                <a:ea typeface="Arial"/>
                <a:cs typeface="Arial"/>
                <a:sym typeface="Arial"/>
              </a:rPr>
              <a:t>Cataglyphis</a:t>
            </a:r>
            <a:r>
              <a:rPr b="0" i="0" lang="en-US" sz="1400" u="none" cap="none" strike="noStrike">
                <a:solidFill>
                  <a:srgbClr val="27323A"/>
                </a:solidFill>
                <a:latin typeface="Arial"/>
                <a:ea typeface="Arial"/>
                <a:cs typeface="Arial"/>
                <a:sym typeface="Arial"/>
              </a:rPr>
              <a:t> lengthens its stride as it runs faster. The effect of altered limb length has to be evaluated across measured locomotor speeds. A single fixed step size would misrepresent the walk. This dependence is measured across the speed range.</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published plot relates stride length to walking speed. Stilted ants had longer strides than controls at comparable speeds. Stumped ants had shorter strides. High-speed recordings measured stride length and speed directly for each animal. This makes stride length a measured variable rather than an assumption. The plot covers several speeds in each condition.</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agreement between locomotor displacement and homing bias supports stride-based odometry without assuming one unchanging step size. The stride-length term therefore sits alongside heading information in the homing computation. Both inputs are needed to explain the observed bias. Stride length enters the homing computation as a measured quantity. This keeps the odometer tied to measured locomotion.</a:t>
            </a:r>
            <a:endParaRPr/>
          </a:p>
        </p:txBody>
      </p:sp>
      <p:pic>
        <p:nvPicPr>
          <p:cNvPr descr="W07_7B.png" id="316" name="Google Shape;316;p20"/>
          <p:cNvPicPr preferRelativeResize="0"/>
          <p:nvPr/>
        </p:nvPicPr>
        <p:blipFill rotWithShape="1">
          <a:blip r:embed="rId3">
            <a:alphaModFix/>
          </a:blip>
          <a:srcRect b="0" l="0" r="0" t="0"/>
          <a:stretch/>
        </p:blipFill>
        <p:spPr>
          <a:xfrm>
            <a:off x="6977892" y="1280160"/>
            <a:ext cx="4173109" cy="4297679"/>
          </a:xfrm>
          <a:prstGeom prst="rect">
            <a:avLst/>
          </a:prstGeom>
          <a:noFill/>
          <a:ln>
            <a:noFill/>
          </a:ln>
        </p:spPr>
      </p:pic>
      <p:sp>
        <p:nvSpPr>
          <p:cNvPr id="317" name="Google Shape;317;p20"/>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(2007), Fig. 7(B). Stride length increases with walking speed.</a:t>
            </a:r>
            <a:endParaRPr/>
          </a:p>
        </p:txBody>
      </p:sp>
      <p:sp>
        <p:nvSpPr>
          <p:cNvPr id="318" name="Google Shape;318;p20"/>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9" name="Google Shape;319;p2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Wittlinger et al. (2007)</a:t>
            </a:r>
            <a:endParaRPr/>
          </a:p>
        </p:txBody>
      </p:sp>
      <p:sp>
        <p:nvSpPr>
          <p:cNvPr id="320" name="Google Shape;320;p2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20</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5" name="Shape 325"/>
        <p:cNvGrpSpPr/>
        <p:nvPr/>
      </p:nvGrpSpPr>
      <p:grpSpPr>
        <a:xfrm>
          <a:off x="0" y="0"/>
          <a:ext cx="0" cy="0"/>
          <a:chOff x="0" y="0"/>
          <a:chExt cx="0" cy="0"/>
        </a:xfrm>
      </p:grpSpPr>
      <p:sp>
        <p:nvSpPr>
          <p:cNvPr id="326" name="Google Shape;326;p2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A stride integrator need not be a literal counter</a:t>
            </a:r>
            <a:endParaRPr/>
          </a:p>
        </p:txBody>
      </p:sp>
      <p:sp>
        <p:nvSpPr>
          <p:cNvPr id="327" name="Google Shape;327;p21"/>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A </a:t>
            </a:r>
            <a:r>
              <a:rPr b="1" i="0" lang="en-US" sz="1400" u="none" cap="none" strike="noStrike">
                <a:solidFill>
                  <a:srgbClr val="344F61"/>
                </a:solidFill>
                <a:latin typeface="Arial"/>
                <a:ea typeface="Arial"/>
                <a:cs typeface="Arial"/>
                <a:sym typeface="Arial"/>
              </a:rPr>
              <a:t>stride integrator</a:t>
            </a:r>
            <a:r>
              <a:rPr b="0" i="0" lang="en-US" sz="1400" u="none" cap="none" strike="noStrike">
                <a:solidFill>
                  <a:srgbClr val="27323A"/>
                </a:solidFill>
                <a:latin typeface="Arial"/>
                <a:ea typeface="Arial"/>
                <a:cs typeface="Arial"/>
                <a:sym typeface="Arial"/>
              </a:rPr>
              <a:t> accumulates information tied to rhythmic locomotion, so footfalls can accumulate without being counted as separate objects. Possible inputs include </a:t>
            </a:r>
            <a:r>
              <a:rPr b="1" i="0" lang="en-US" sz="1400" u="none" cap="none" strike="noStrike">
                <a:solidFill>
                  <a:srgbClr val="344F61"/>
                </a:solidFill>
                <a:latin typeface="Arial"/>
                <a:ea typeface="Arial"/>
                <a:cs typeface="Arial"/>
                <a:sym typeface="Arial"/>
              </a:rPr>
              <a:t>proprioception</a:t>
            </a:r>
            <a:r>
              <a:rPr b="0" i="0" lang="en-US" sz="1400" u="none" cap="none" strike="noStrike">
                <a:solidFill>
                  <a:srgbClr val="27323A"/>
                </a:solidFill>
                <a:latin typeface="Arial"/>
                <a:ea typeface="Arial"/>
                <a:cs typeface="Arial"/>
                <a:sym typeface="Arial"/>
              </a:rPr>
              <a:t>, which is sensory information about limb position and movement. Footfalls are therefore summed as a rhythmic signal, not counted one at a time. This rhythmic input is what the odometer reads.</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preserved tripod pattern and the graded stride changes both fit accumulation of movement-linked information rather than a fixed elapsed-time rule. Those findings favor this account over a clock-based one. The navigation task stayed the same across all leg conditions, which isolates the stride effect. Only stride-based accumulation changes when the leg length changes.</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Proprioception, central rhythm-generating activity and motor commands are the candidate sources of this information. No transmitter, receptor or ion channel has been identified as the odometer mechanism. These candidates are therefore proposed explanations. Each candidate needs its own targeted test. Each candidate needs its own targeted test before a mechanism is assigned.</a:t>
            </a:r>
            <a:endParaRPr/>
          </a:p>
        </p:txBody>
      </p:sp>
      <p:pic>
        <p:nvPicPr>
          <p:cNvPr descr="W07_3A.png" id="328" name="Google Shape;328;p21"/>
          <p:cNvPicPr preferRelativeResize="0"/>
          <p:nvPr/>
        </p:nvPicPr>
        <p:blipFill rotWithShape="1">
          <a:blip r:embed="rId3">
            <a:alphaModFix/>
          </a:blip>
          <a:srcRect b="0" l="0" r="0" t="0"/>
          <a:stretch/>
        </p:blipFill>
        <p:spPr>
          <a:xfrm>
            <a:off x="6504127" y="1280160"/>
            <a:ext cx="5120640" cy="2853024"/>
          </a:xfrm>
          <a:prstGeom prst="rect">
            <a:avLst/>
          </a:prstGeom>
          <a:noFill/>
          <a:ln>
            <a:noFill/>
          </a:ln>
        </p:spPr>
      </p:pic>
      <p:sp>
        <p:nvSpPr>
          <p:cNvPr id="329" name="Google Shape;329;p21"/>
          <p:cNvSpPr txBox="1"/>
          <p:nvPr/>
        </p:nvSpPr>
        <p:spPr>
          <a:xfrm>
            <a:off x="6504127" y="4224624"/>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(2007), Fig. 3(A). Normal tripod gait in a walking Cataglyphis fortis.</a:t>
            </a:r>
            <a:endParaRPr/>
          </a:p>
        </p:txBody>
      </p:sp>
      <p:sp>
        <p:nvSpPr>
          <p:cNvPr id="330" name="Google Shape;330;p21"/>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1" name="Google Shape;331;p2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Wittlinger et al. (2007)</a:t>
            </a:r>
            <a:endParaRPr/>
          </a:p>
        </p:txBody>
      </p:sp>
      <p:sp>
        <p:nvSpPr>
          <p:cNvPr id="332" name="Google Shape;332;p2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21</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7" name="Shape 337"/>
        <p:cNvGrpSpPr/>
        <p:nvPr/>
      </p:nvGrpSpPr>
      <p:grpSpPr>
        <a:xfrm>
          <a:off x="0" y="0"/>
          <a:ext cx="0" cy="0"/>
          <a:chOff x="0" y="0"/>
          <a:chExt cx="0" cy="0"/>
        </a:xfrm>
      </p:grpSpPr>
      <p:sp>
        <p:nvSpPr>
          <p:cNvPr id="338" name="Google Shape;338;p2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Learning walks precede long-distance foraging</a:t>
            </a:r>
            <a:endParaRPr/>
          </a:p>
        </p:txBody>
      </p:sp>
      <p:sp>
        <p:nvSpPr>
          <p:cNvPr id="339" name="Google Shape;339;p2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344F61"/>
                </a:solidFill>
                <a:latin typeface="Arial"/>
                <a:ea typeface="Arial"/>
                <a:cs typeface="Arial"/>
                <a:sym typeface="Arial"/>
              </a:rPr>
              <a:t>Learning walks</a:t>
            </a:r>
            <a:r>
              <a:rPr b="0" i="0" lang="en-US" sz="1400" u="none" cap="none" strike="noStrike">
                <a:solidFill>
                  <a:srgbClr val="27323A"/>
                </a:solidFill>
                <a:latin typeface="Arial"/>
                <a:ea typeface="Arial"/>
                <a:cs typeface="Arial"/>
                <a:sym typeface="Arial"/>
              </a:rPr>
              <a:t> are short excursions around the nest during the transition from interior work to outside foraging. </a:t>
            </a:r>
            <a:r>
              <a:rPr b="0" i="1" lang="en-US" sz="1400" u="none" cap="none" strike="noStrike">
                <a:solidFill>
                  <a:srgbClr val="27323A"/>
                </a:solidFill>
                <a:latin typeface="Arial"/>
                <a:ea typeface="Arial"/>
                <a:cs typeface="Arial"/>
                <a:sym typeface="Arial"/>
              </a:rPr>
              <a:t>Cataglyphis nodus</a:t>
            </a:r>
            <a:r>
              <a:rPr b="0" i="0" lang="en-US" sz="1400" u="none" cap="none" strike="noStrike">
                <a:solidFill>
                  <a:srgbClr val="27323A"/>
                </a:solidFill>
                <a:latin typeface="Arial"/>
                <a:ea typeface="Arial"/>
                <a:cs typeface="Arial"/>
                <a:sym typeface="Arial"/>
              </a:rPr>
              <a:t> repeatedly pauses and rotates during these walks. The ants gather experience with directional and visual information before they make distant journeys. Learning walks therefore link the first experiences of the nest surroundings to later foraging.</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Grob and colleagues tested novice ants around natural nests in Greece. A polarization filter was held over a learning-walk area. The ants experienced defined skylight conditions over three days before their brains were analyzed. The filter was held in place, so polarization stayed fixed. The filter restricted the polarization information available to the novices.</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field setup keeps natural behavior near the home nest while manipulating one component of the compass environment. The structural outcome of that experience can be measured in the brain. The design therefore links daily learning to anatomy. The learning experience is linked to a structural endpoint rather than to later success.</a:t>
            </a:r>
            <a:endParaRPr/>
          </a:p>
        </p:txBody>
      </p:sp>
      <p:pic>
        <p:nvPicPr>
          <p:cNvPr descr="G22_1A.png" id="340" name="Google Shape;340;p22"/>
          <p:cNvPicPr preferRelativeResize="0"/>
          <p:nvPr/>
        </p:nvPicPr>
        <p:blipFill rotWithShape="1">
          <a:blip r:embed="rId3">
            <a:alphaModFix/>
          </a:blip>
          <a:srcRect b="0" l="0" r="0" t="0"/>
          <a:stretch/>
        </p:blipFill>
        <p:spPr>
          <a:xfrm>
            <a:off x="6670593" y="1280160"/>
            <a:ext cx="4787708" cy="4297679"/>
          </a:xfrm>
          <a:prstGeom prst="rect">
            <a:avLst/>
          </a:prstGeom>
          <a:noFill/>
          <a:ln>
            <a:noFill/>
          </a:ln>
        </p:spPr>
      </p:pic>
      <p:sp>
        <p:nvSpPr>
          <p:cNvPr id="341" name="Google Shape;341;p22"/>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(2022), Fig. 1(a). The polarization-filter apparatus in the natural habitat.</a:t>
            </a:r>
            <a:endParaRPr/>
          </a:p>
        </p:txBody>
      </p:sp>
      <p:sp>
        <p:nvSpPr>
          <p:cNvPr id="342" name="Google Shape;342;p22"/>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3" name="Google Shape;343;p2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(2022)</a:t>
            </a:r>
            <a:endParaRPr/>
          </a:p>
        </p:txBody>
      </p:sp>
      <p:sp>
        <p:nvSpPr>
          <p:cNvPr id="344" name="Google Shape;344;p2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22</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9" name="Shape 349"/>
        <p:cNvGrpSpPr/>
        <p:nvPr/>
      </p:nvGrpSpPr>
      <p:grpSpPr>
        <a:xfrm>
          <a:off x="0" y="0"/>
          <a:ext cx="0" cy="0"/>
          <a:chOff x="0" y="0"/>
          <a:chExt cx="0" cy="0"/>
        </a:xfrm>
      </p:grpSpPr>
      <p:sp>
        <p:nvSpPr>
          <p:cNvPr id="350" name="Google Shape;350;p2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Sky polarization supplies a changing compass reference</a:t>
            </a:r>
            <a:endParaRPr/>
          </a:p>
        </p:txBody>
      </p:sp>
      <p:sp>
        <p:nvSpPr>
          <p:cNvPr id="351" name="Google Shape;351;p2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a:t>
            </a:r>
            <a:r>
              <a:rPr b="1" i="0" lang="en-US" sz="1400" u="none" cap="none" strike="noStrike">
                <a:solidFill>
                  <a:srgbClr val="344F61"/>
                </a:solidFill>
                <a:latin typeface="Arial"/>
                <a:ea typeface="Arial"/>
                <a:cs typeface="Arial"/>
                <a:sym typeface="Arial"/>
              </a:rPr>
              <a:t>solar ephemeris</a:t>
            </a:r>
            <a:r>
              <a:rPr b="0" i="0" lang="en-US" sz="1400" u="none" cap="none" strike="noStrike">
                <a:solidFill>
                  <a:srgbClr val="27323A"/>
                </a:solidFill>
                <a:latin typeface="Arial"/>
                <a:ea typeface="Arial"/>
                <a:cs typeface="Arial"/>
                <a:sym typeface="Arial"/>
              </a:rPr>
              <a:t> is the sun's changing position over the day. A time-compensated sky compass must relate current solar or polarization information to heading despite that movement. Initial learning can establish that relation between celestial changes and stable surroundings. The compass must therefore calibrate its reference over the day. The sun's apparent path changes continuously during the day.</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Grob and colleagues tested natural skylight alongside a stationary polarizer, a single 90° turn at solar noon, hourly 45° turns, and continuous rotation at 15° per hour. Each treatment set how the polarization direction changed during three days of learning walks. Continuous rotation advanced the filter more slowly than the hourly steps did.</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artificial schedules isolate experience of a changing polarization pattern from simple exposure to polarized light. They are controlled experimental cues rather than exact copies of the natural sky. They are chosen to isolate change, not to mimic the sky. They therefore make the rate of change a controlled variable. Each schedule was run over the same three days.</a:t>
            </a:r>
            <a:endParaRPr/>
          </a:p>
        </p:txBody>
      </p:sp>
      <p:pic>
        <p:nvPicPr>
          <p:cNvPr descr="G22_1B.png" id="352" name="Google Shape;352;p23"/>
          <p:cNvPicPr preferRelativeResize="0"/>
          <p:nvPr/>
        </p:nvPicPr>
        <p:blipFill rotWithShape="1">
          <a:blip r:embed="rId3">
            <a:alphaModFix/>
          </a:blip>
          <a:srcRect b="0" l="0" r="0" t="0"/>
          <a:stretch/>
        </p:blipFill>
        <p:spPr>
          <a:xfrm>
            <a:off x="6504127" y="1280160"/>
            <a:ext cx="5120640" cy="3371873"/>
          </a:xfrm>
          <a:prstGeom prst="rect">
            <a:avLst/>
          </a:prstGeom>
          <a:noFill/>
          <a:ln>
            <a:noFill/>
          </a:ln>
        </p:spPr>
      </p:pic>
      <p:sp>
        <p:nvSpPr>
          <p:cNvPr id="353" name="Google Shape;353;p23"/>
          <p:cNvSpPr txBox="1"/>
          <p:nvPr/>
        </p:nvSpPr>
        <p:spPr>
          <a:xfrm>
            <a:off x="6504127" y="4743473"/>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(2022), Fig. 1(b). Stationary, stepped and continuously rotating polarization treatments.</a:t>
            </a:r>
            <a:endParaRPr/>
          </a:p>
        </p:txBody>
      </p:sp>
      <p:sp>
        <p:nvSpPr>
          <p:cNvPr id="354" name="Google Shape;354;p23"/>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5" name="Google Shape;355;p2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(2022)</a:t>
            </a:r>
            <a:endParaRPr/>
          </a:p>
        </p:txBody>
      </p:sp>
      <p:sp>
        <p:nvSpPr>
          <p:cNvPr id="356" name="Google Shape;356;p2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23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1" name="Shape 361"/>
        <p:cNvGrpSpPr/>
        <p:nvPr/>
      </p:nvGrpSpPr>
      <p:grpSpPr>
        <a:xfrm>
          <a:off x="0" y="0"/>
          <a:ext cx="0" cy="0"/>
          <a:chOff x="0" y="0"/>
          <a:chExt cx="0" cy="0"/>
        </a:xfrm>
      </p:grpSpPr>
      <p:sp>
        <p:nvSpPr>
          <p:cNvPr id="362" name="Google Shape;362;p2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Two visual pathways reach different integration centres</a:t>
            </a:r>
            <a:endParaRPr/>
          </a:p>
        </p:txBody>
      </p:sp>
      <p:sp>
        <p:nvSpPr>
          <p:cNvPr id="363" name="Google Shape;363;p24"/>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A </a:t>
            </a:r>
            <a:r>
              <a:rPr b="1" i="0" lang="en-US" sz="1400" u="none" cap="none" strike="noStrike">
                <a:solidFill>
                  <a:srgbClr val="344F61"/>
                </a:solidFill>
                <a:latin typeface="Arial"/>
                <a:ea typeface="Arial"/>
                <a:cs typeface="Arial"/>
                <a:sym typeface="Arial"/>
              </a:rPr>
              <a:t>neuropil</a:t>
            </a:r>
            <a:r>
              <a:rPr b="0" i="0" lang="en-US" sz="1400" u="none" cap="none" strike="noStrike">
                <a:solidFill>
                  <a:srgbClr val="27323A"/>
                </a:solidFill>
                <a:latin typeface="Arial"/>
                <a:ea typeface="Arial"/>
                <a:cs typeface="Arial"/>
                <a:sym typeface="Arial"/>
              </a:rPr>
              <a:t> is a region containing neuronal processes and synapses. The </a:t>
            </a:r>
            <a:r>
              <a:rPr b="1" i="0" lang="en-US" sz="1400" u="none" cap="none" strike="noStrike">
                <a:solidFill>
                  <a:srgbClr val="344F61"/>
                </a:solidFill>
                <a:latin typeface="Arial"/>
                <a:ea typeface="Arial"/>
                <a:cs typeface="Arial"/>
                <a:sym typeface="Arial"/>
              </a:rPr>
              <a:t>central complex</a:t>
            </a:r>
            <a:r>
              <a:rPr b="0" i="0" lang="en-US" sz="1400" u="none" cap="none" strike="noStrike">
                <a:solidFill>
                  <a:srgbClr val="27323A"/>
                </a:solidFill>
                <a:latin typeface="Arial"/>
                <a:ea typeface="Arial"/>
                <a:cs typeface="Arial"/>
                <a:sym typeface="Arial"/>
              </a:rPr>
              <a:t> comprises midline neuropils implicated in heading and navigation. The </a:t>
            </a:r>
            <a:r>
              <a:rPr b="1" i="0" lang="en-US" sz="1400" u="none" cap="none" strike="noStrike">
                <a:solidFill>
                  <a:srgbClr val="344F61"/>
                </a:solidFill>
                <a:latin typeface="Arial"/>
                <a:ea typeface="Arial"/>
                <a:cs typeface="Arial"/>
                <a:sym typeface="Arial"/>
              </a:rPr>
              <a:t>mushroom bodies</a:t>
            </a:r>
            <a:r>
              <a:rPr b="0" i="0" lang="en-US" sz="1400" u="none" cap="none" strike="noStrike">
                <a:solidFill>
                  <a:srgbClr val="27323A"/>
                </a:solidFill>
                <a:latin typeface="Arial"/>
                <a:ea typeface="Arial"/>
                <a:cs typeface="Arial"/>
                <a:sym typeface="Arial"/>
              </a:rPr>
              <a:t> are paired structures implicated in memory-based processing. These structures are the targets of the mapping. Both neuropils therefore carry processes and synapses that can be counted.</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Grob and colleagues examined synaptic structures in both pathways of the same brains. The central complex and the mushroom-body collar receive visual information through different routes. Those labels were applied to the same brains, allowing a direct comparison of the two regions. Those labels reveal the synaptic structures in each region.</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anatomical distinction permits separate measurements along the two visual pathways. Labeling synaptic structures establishes their position and morphology. Each pathway therefore supplies its own anatomical measure. Position, morphology and count can all be recorded for each pathway. The two measurements are made on the same brains. Both measures are made on the same brains.</a:t>
            </a:r>
            <a:endParaRPr/>
          </a:p>
        </p:txBody>
      </p:sp>
      <p:pic>
        <p:nvPicPr>
          <p:cNvPr descr="G22_1C.png" id="364" name="Google Shape;364;p24"/>
          <p:cNvPicPr preferRelativeResize="0"/>
          <p:nvPr/>
        </p:nvPicPr>
        <p:blipFill rotWithShape="1">
          <a:blip r:embed="rId3">
            <a:alphaModFix/>
          </a:blip>
          <a:srcRect b="0" l="0" r="0" t="0"/>
          <a:stretch/>
        </p:blipFill>
        <p:spPr>
          <a:xfrm>
            <a:off x="6504127" y="1280160"/>
            <a:ext cx="5120640" cy="3155801"/>
          </a:xfrm>
          <a:prstGeom prst="rect">
            <a:avLst/>
          </a:prstGeom>
          <a:noFill/>
          <a:ln>
            <a:noFill/>
          </a:ln>
        </p:spPr>
      </p:pic>
      <p:sp>
        <p:nvSpPr>
          <p:cNvPr id="365" name="Google Shape;365;p24"/>
          <p:cNvSpPr txBox="1"/>
          <p:nvPr/>
        </p:nvSpPr>
        <p:spPr>
          <a:xfrm>
            <a:off x="6504127" y="4527401"/>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(2022), Fig. 1(c). Central complex, lateral complex and mushroom-body synaptic anatomy.</a:t>
            </a:r>
            <a:endParaRPr/>
          </a:p>
        </p:txBody>
      </p:sp>
      <p:sp>
        <p:nvSpPr>
          <p:cNvPr id="366" name="Google Shape;366;p24"/>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7" name="Google Shape;367;p2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(2022)</a:t>
            </a:r>
            <a:endParaRPr/>
          </a:p>
        </p:txBody>
      </p:sp>
      <p:sp>
        <p:nvSpPr>
          <p:cNvPr id="368" name="Google Shape;368;p2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24</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3" name="Shape 373"/>
        <p:cNvGrpSpPr/>
        <p:nvPr/>
      </p:nvGrpSpPr>
      <p:grpSpPr>
        <a:xfrm>
          <a:off x="0" y="0"/>
          <a:ext cx="0" cy="0"/>
          <a:chOff x="0" y="0"/>
          <a:chExt cx="0" cy="0"/>
        </a:xfrm>
      </p:grpSpPr>
      <p:sp>
        <p:nvSpPr>
          <p:cNvPr id="374" name="Google Shape;374;p2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Synaptic labels distinguish boutons from target processes</a:t>
            </a:r>
            <a:endParaRPr/>
          </a:p>
        </p:txBody>
      </p:sp>
      <p:sp>
        <p:nvSpPr>
          <p:cNvPr id="375" name="Google Shape;375;p25"/>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344F61"/>
                </a:solidFill>
                <a:latin typeface="Arial"/>
                <a:ea typeface="Arial"/>
                <a:cs typeface="Arial"/>
                <a:sym typeface="Arial"/>
              </a:rPr>
              <a:t>Synapsin</a:t>
            </a:r>
            <a:r>
              <a:rPr b="0" i="0" lang="en-US" sz="1400" u="none" cap="none" strike="noStrike">
                <a:solidFill>
                  <a:srgbClr val="27323A"/>
                </a:solidFill>
                <a:latin typeface="Arial"/>
                <a:ea typeface="Arial"/>
                <a:cs typeface="Arial"/>
                <a:sym typeface="Arial"/>
              </a:rPr>
              <a:t> is a protein associated with presynaptic vesicles, so anti-synapsin labeling helps identify presynaptic specializations. </a:t>
            </a:r>
            <a:r>
              <a:rPr b="1" i="0" lang="en-US" sz="1400" u="none" cap="none" strike="noStrike">
                <a:solidFill>
                  <a:srgbClr val="344F61"/>
                </a:solidFill>
                <a:latin typeface="Arial"/>
                <a:ea typeface="Arial"/>
                <a:cs typeface="Arial"/>
                <a:sym typeface="Arial"/>
              </a:rPr>
              <a:t>F-actin</a:t>
            </a:r>
            <a:r>
              <a:rPr b="0" i="0" lang="en-US" sz="1400" u="none" cap="none" strike="noStrike">
                <a:solidFill>
                  <a:srgbClr val="27323A"/>
                </a:solidFill>
                <a:latin typeface="Arial"/>
                <a:ea typeface="Arial"/>
                <a:cs typeface="Arial"/>
                <a:sym typeface="Arial"/>
              </a:rPr>
              <a:t> is filamentous actin, and fluorescent phalloidin labels it in neuronal processes. The two labels therefore mark different sides of each connection. Both labels are needed to read each connection. Each one adds different information.</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a:t>
            </a:r>
            <a:r>
              <a:rPr b="0" i="1" lang="en-US" sz="1400" u="none" cap="none" strike="noStrike">
                <a:solidFill>
                  <a:srgbClr val="27323A"/>
                </a:solidFill>
                <a:latin typeface="Arial"/>
                <a:ea typeface="Arial"/>
                <a:cs typeface="Arial"/>
                <a:sym typeface="Arial"/>
              </a:rPr>
              <a:t>Cataglyphis nodus</a:t>
            </a:r>
            <a:r>
              <a:rPr b="0" i="0" lang="en-US" sz="1400" u="none" cap="none" strike="noStrike">
                <a:solidFill>
                  <a:srgbClr val="27323A"/>
                </a:solidFill>
                <a:latin typeface="Arial"/>
                <a:ea typeface="Arial"/>
                <a:cs typeface="Arial"/>
                <a:sym typeface="Arial"/>
              </a:rPr>
              <a:t> preparations quantified </a:t>
            </a:r>
            <a:r>
              <a:rPr b="1" i="0" lang="en-US" sz="1400" u="none" cap="none" strike="noStrike">
                <a:solidFill>
                  <a:srgbClr val="344F61"/>
                </a:solidFill>
                <a:latin typeface="Arial"/>
                <a:ea typeface="Arial"/>
                <a:cs typeface="Arial"/>
                <a:sym typeface="Arial"/>
              </a:rPr>
              <a:t>microglomeruli</a:t>
            </a:r>
            <a:r>
              <a:rPr b="0" i="0" lang="en-US" sz="1400" u="none" cap="none" strike="noStrike">
                <a:solidFill>
                  <a:srgbClr val="27323A"/>
                </a:solidFill>
                <a:latin typeface="Arial"/>
                <a:ea typeface="Arial"/>
                <a:cs typeface="Arial"/>
                <a:sym typeface="Arial"/>
              </a:rPr>
              <a:t>, which are compact synaptic complexes in the mushroom-body collar. The preparations also quantified giant synapses in the lateral complex. Each structure type was tallied separately within its own region. Synapsin and actin labels were combined for every count. Each count was made within its own brain region.</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Structural counts can reveal experience-associated reorganization of synapses. The endpoints were the number and form of synaptic complexes. Measures of transmitter release and synaptic current form a separate class of experiments. The counts therefore describe the synaptic organization of each region. Each region yields its own count and structural measure.</a:t>
            </a:r>
            <a:endParaRPr/>
          </a:p>
        </p:txBody>
      </p:sp>
      <p:pic>
        <p:nvPicPr>
          <p:cNvPr descr="G22_1C.png" id="376" name="Google Shape;376;p25"/>
          <p:cNvPicPr preferRelativeResize="0"/>
          <p:nvPr/>
        </p:nvPicPr>
        <p:blipFill rotWithShape="1">
          <a:blip r:embed="rId3">
            <a:alphaModFix/>
          </a:blip>
          <a:srcRect b="0" l="0" r="0" t="0"/>
          <a:stretch/>
        </p:blipFill>
        <p:spPr>
          <a:xfrm>
            <a:off x="6504127" y="1280160"/>
            <a:ext cx="5120640" cy="3155801"/>
          </a:xfrm>
          <a:prstGeom prst="rect">
            <a:avLst/>
          </a:prstGeom>
          <a:noFill/>
          <a:ln>
            <a:noFill/>
          </a:ln>
        </p:spPr>
      </p:pic>
      <p:sp>
        <p:nvSpPr>
          <p:cNvPr id="377" name="Google Shape;377;p25"/>
          <p:cNvSpPr txBox="1"/>
          <p:nvPr/>
        </p:nvSpPr>
        <p:spPr>
          <a:xfrm>
            <a:off x="6504127" y="4527401"/>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(2022), Fig. 1(c). Central complex, lateral complex and mushroom-body synaptic anatomy.</a:t>
            </a:r>
            <a:endParaRPr/>
          </a:p>
        </p:txBody>
      </p:sp>
      <p:sp>
        <p:nvSpPr>
          <p:cNvPr id="378" name="Google Shape;378;p25"/>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9" name="Google Shape;379;p2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(2022)</a:t>
            </a:r>
            <a:endParaRPr/>
          </a:p>
        </p:txBody>
      </p:sp>
      <p:sp>
        <p:nvSpPr>
          <p:cNvPr id="380" name="Google Shape;380;p2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25</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5" name="Shape 385"/>
        <p:cNvGrpSpPr/>
        <p:nvPr/>
      </p:nvGrpSpPr>
      <p:grpSpPr>
        <a:xfrm>
          <a:off x="0" y="0"/>
          <a:ext cx="0" cy="0"/>
          <a:chOff x="0" y="0"/>
          <a:chExt cx="0" cy="0"/>
        </a:xfrm>
      </p:grpSpPr>
      <p:sp>
        <p:nvSpPr>
          <p:cNvPr id="386" name="Google Shape;386;p2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Light exposure changes the lateral-complex pathway</a:t>
            </a:r>
            <a:endParaRPr/>
          </a:p>
        </p:txBody>
      </p:sp>
      <p:sp>
        <p:nvSpPr>
          <p:cNvPr id="387" name="Google Shape;387;p26"/>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Light exposure and active learning walks are separable experiences. Grob and colleagues tested dark controls alongside ants exposed to natural skylight, ultraviolet-filtered skylight or a fixed polarization pattern. Additional groups performed learning walks. The dark control sets the baseline for every light condition. Each group therefore isolates one kind of experience.</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After three days, lateral-complex giant-synapse counts rose under suitable full-spectrum light exposure even without learning walks. The design distinguishes the influence of light from the influence of learning walks. Central-complex volume followed a different pattern. The response depended on full-spectrum light rather than on learning walks alone. The lateral-complex change is therefore a light effect.</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dissociation shows that the two visual pathways require different kinds of experience. The lateral-complex synaptic count responds to ultraviolet-containing light alone. The endpoint of that comparison was synaptic structure rather than homing accuracy. Removing ultraviolet light lowered that response. The two pathways therefore respond to different features of experience.</a:t>
            </a:r>
            <a:endParaRPr/>
          </a:p>
        </p:txBody>
      </p:sp>
      <p:pic>
        <p:nvPicPr>
          <p:cNvPr descr="G22_2a.png" id="388" name="Google Shape;388;p26"/>
          <p:cNvPicPr preferRelativeResize="0"/>
          <p:nvPr/>
        </p:nvPicPr>
        <p:blipFill rotWithShape="1">
          <a:blip r:embed="rId3">
            <a:alphaModFix/>
          </a:blip>
          <a:srcRect b="0" l="0" r="0" t="0"/>
          <a:stretch/>
        </p:blipFill>
        <p:spPr>
          <a:xfrm>
            <a:off x="6321247" y="1280160"/>
            <a:ext cx="3291839" cy="2062224"/>
          </a:xfrm>
          <a:prstGeom prst="rect">
            <a:avLst/>
          </a:prstGeom>
          <a:noFill/>
          <a:ln>
            <a:noFill/>
          </a:ln>
        </p:spPr>
      </p:pic>
      <p:sp>
        <p:nvSpPr>
          <p:cNvPr id="389" name="Google Shape;389;p26"/>
          <p:cNvSpPr txBox="1"/>
          <p:nvPr/>
        </p:nvSpPr>
        <p:spPr>
          <a:xfrm>
            <a:off x="6321247" y="3433824"/>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(2022), Fig. 2(a). Lateral-complex synaptic counts across light conditions.</a:t>
            </a:r>
            <a:endParaRPr/>
          </a:p>
        </p:txBody>
      </p:sp>
      <p:pic>
        <p:nvPicPr>
          <p:cNvPr descr="G22_1C.png" id="390" name="Google Shape;390;p26"/>
          <p:cNvPicPr preferRelativeResize="0"/>
          <p:nvPr/>
        </p:nvPicPr>
        <p:blipFill rotWithShape="1">
          <a:blip r:embed="rId4">
            <a:alphaModFix/>
          </a:blip>
          <a:srcRect b="0" l="0" r="0" t="0"/>
          <a:stretch/>
        </p:blipFill>
        <p:spPr>
          <a:xfrm>
            <a:off x="9795967" y="2148840"/>
            <a:ext cx="1828799" cy="1127072"/>
          </a:xfrm>
          <a:prstGeom prst="rect">
            <a:avLst/>
          </a:prstGeom>
          <a:noFill/>
          <a:ln>
            <a:noFill/>
          </a:ln>
        </p:spPr>
      </p:pic>
      <p:sp>
        <p:nvSpPr>
          <p:cNvPr id="391" name="Google Shape;391;p26"/>
          <p:cNvSpPr txBox="1"/>
          <p:nvPr/>
        </p:nvSpPr>
        <p:spPr>
          <a:xfrm>
            <a:off x="9795967" y="3349064"/>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(2022), Fig. 1(c). Central complex, lateral complex and mushroom-body synaptic anatomy.</a:t>
            </a:r>
            <a:endParaRPr/>
          </a:p>
        </p:txBody>
      </p:sp>
      <p:sp>
        <p:nvSpPr>
          <p:cNvPr id="392" name="Google Shape;392;p26"/>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3" name="Google Shape;393;p2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(2022)</a:t>
            </a:r>
            <a:endParaRPr/>
          </a:p>
        </p:txBody>
      </p:sp>
      <p:sp>
        <p:nvSpPr>
          <p:cNvPr id="394" name="Google Shape;394;p2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26</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9" name="Shape 399"/>
        <p:cNvGrpSpPr/>
        <p:nvPr/>
      </p:nvGrpSpPr>
      <p:grpSpPr>
        <a:xfrm>
          <a:off x="0" y="0"/>
          <a:ext cx="0" cy="0"/>
          <a:chOff x="0" y="0"/>
          <a:chExt cx="0" cy="0"/>
        </a:xfrm>
      </p:grpSpPr>
      <p:sp>
        <p:nvSpPr>
          <p:cNvPr id="400" name="Google Shape;400;p2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Central-complex growth requires more than light alone</a:t>
            </a:r>
            <a:endParaRPr/>
          </a:p>
        </p:txBody>
      </p:sp>
      <p:sp>
        <p:nvSpPr>
          <p:cNvPr id="401" name="Google Shape;401;p27"/>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344F61"/>
                </a:solidFill>
                <a:latin typeface="Arial"/>
                <a:ea typeface="Arial"/>
                <a:cs typeface="Arial"/>
                <a:sym typeface="Arial"/>
              </a:rPr>
              <a:t>Structural plasticity</a:t>
            </a:r>
            <a:r>
              <a:rPr b="0" i="0" lang="en-US" sz="1400" u="none" cap="none" strike="noStrike">
                <a:solidFill>
                  <a:srgbClr val="27323A"/>
                </a:solidFill>
                <a:latin typeface="Arial"/>
                <a:ea typeface="Arial"/>
                <a:cs typeface="Arial"/>
                <a:sym typeface="Arial"/>
              </a:rPr>
              <a:t> is an experience-associated change in neuronal anatomy, such as neuropil volume or synaptic organization. It is distinct from an acute firing-rate response to a sensory stimulus. Such growth accumulates over days of experience. Neither is an acute firing response. Growth and reorganization both count as structural change. The change is therefore slow relative to an acute response.</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After three days, natural learning walks increased central-complex volume relative to dark controls. Passive light exposure and learning walks under a stationary polarization filter failed to produce the same increase. Brain volumes were corrected for body size. The volumes are therefore comparable between animals. The dark controls set the reference for each measured volume.</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volume change could arise from extra synapses, expanded neurites or other tissue components. Causal tests of path integration would address whether this growth is required for the behavior. Only that kind of test would link the growth to behavior. The growth therefore needs a direct test of its functional role.</a:t>
            </a:r>
            <a:endParaRPr/>
          </a:p>
        </p:txBody>
      </p:sp>
      <p:pic>
        <p:nvPicPr>
          <p:cNvPr descr="G22_2b.png" id="402" name="Google Shape;402;p27"/>
          <p:cNvPicPr preferRelativeResize="0"/>
          <p:nvPr/>
        </p:nvPicPr>
        <p:blipFill rotWithShape="1">
          <a:blip r:embed="rId3">
            <a:alphaModFix/>
          </a:blip>
          <a:srcRect b="0" l="0" r="0" t="0"/>
          <a:stretch/>
        </p:blipFill>
        <p:spPr>
          <a:xfrm>
            <a:off x="6321247" y="1280160"/>
            <a:ext cx="3291839" cy="2053953"/>
          </a:xfrm>
          <a:prstGeom prst="rect">
            <a:avLst/>
          </a:prstGeom>
          <a:noFill/>
          <a:ln>
            <a:noFill/>
          </a:ln>
        </p:spPr>
      </p:pic>
      <p:sp>
        <p:nvSpPr>
          <p:cNvPr id="403" name="Google Shape;403;p27"/>
          <p:cNvSpPr txBox="1"/>
          <p:nvPr/>
        </p:nvSpPr>
        <p:spPr>
          <a:xfrm>
            <a:off x="6321247" y="3425553"/>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(2022), Fig. 2(b). Central-complex volumes after light exposure or learning walks.</a:t>
            </a:r>
            <a:endParaRPr/>
          </a:p>
        </p:txBody>
      </p:sp>
      <p:pic>
        <p:nvPicPr>
          <p:cNvPr descr="G22_1C.png" id="404" name="Google Shape;404;p27"/>
          <p:cNvPicPr preferRelativeResize="0"/>
          <p:nvPr/>
        </p:nvPicPr>
        <p:blipFill rotWithShape="1">
          <a:blip r:embed="rId4">
            <a:alphaModFix/>
          </a:blip>
          <a:srcRect b="0" l="0" r="0" t="0"/>
          <a:stretch/>
        </p:blipFill>
        <p:spPr>
          <a:xfrm>
            <a:off x="9795967" y="2148840"/>
            <a:ext cx="1828799" cy="1127072"/>
          </a:xfrm>
          <a:prstGeom prst="rect">
            <a:avLst/>
          </a:prstGeom>
          <a:noFill/>
          <a:ln>
            <a:noFill/>
          </a:ln>
        </p:spPr>
      </p:pic>
      <p:sp>
        <p:nvSpPr>
          <p:cNvPr id="405" name="Google Shape;405;p27"/>
          <p:cNvSpPr txBox="1"/>
          <p:nvPr/>
        </p:nvSpPr>
        <p:spPr>
          <a:xfrm>
            <a:off x="9795967" y="3349064"/>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(2022), Fig. 1(c). Central complex, lateral complex and mushroom-body synaptic anatomy.</a:t>
            </a:r>
            <a:endParaRPr/>
          </a:p>
        </p:txBody>
      </p:sp>
      <p:sp>
        <p:nvSpPr>
          <p:cNvPr id="406" name="Google Shape;406;p27"/>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7" name="Google Shape;407;p2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(2022)</a:t>
            </a:r>
            <a:endParaRPr/>
          </a:p>
        </p:txBody>
      </p:sp>
      <p:sp>
        <p:nvSpPr>
          <p:cNvPr id="408" name="Google Shape;408;p2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27</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3" name="Shape 413"/>
        <p:cNvGrpSpPr/>
        <p:nvPr/>
      </p:nvGrpSpPr>
      <p:grpSpPr>
        <a:xfrm>
          <a:off x="0" y="0"/>
          <a:ext cx="0" cy="0"/>
          <a:chOff x="0" y="0"/>
          <a:chExt cx="0" cy="0"/>
        </a:xfrm>
      </p:grpSpPr>
      <p:sp>
        <p:nvSpPr>
          <p:cNvPr id="414" name="Google Shape;414;p2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Rotation during learning changes mushroom-body structure</a:t>
            </a:r>
            <a:endParaRPr/>
          </a:p>
        </p:txBody>
      </p:sp>
      <p:sp>
        <p:nvSpPr>
          <p:cNvPr id="415" name="Google Shape;415;p28"/>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a:t>
            </a:r>
            <a:r>
              <a:rPr b="1" i="0" lang="en-US" sz="1400" u="none" cap="none" strike="noStrike">
                <a:solidFill>
                  <a:srgbClr val="344F61"/>
                </a:solidFill>
                <a:latin typeface="Arial"/>
                <a:ea typeface="Arial"/>
                <a:cs typeface="Arial"/>
                <a:sym typeface="Arial"/>
              </a:rPr>
              <a:t>mushroom-body collar</a:t>
            </a:r>
            <a:r>
              <a:rPr b="0" i="0" lang="en-US" sz="1400" u="none" cap="none" strike="noStrike">
                <a:solidFill>
                  <a:srgbClr val="27323A"/>
                </a:solidFill>
                <a:latin typeface="Arial"/>
                <a:ea typeface="Arial"/>
                <a:cs typeface="Arial"/>
                <a:sym typeface="Arial"/>
              </a:rPr>
              <a:t> is a visual input region of the mushroom-body calyx. Its microglomeruli receive visual information and provide a measurable synaptic endpoint for changes that accompany acquisition of outdoor experience. The collar therefore records visual experience as a change in synapse numbers. The synapses respond to the changing sky, not to light alone.</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This result follows from the schedule design. A stationary pattern failed to elicit the growth associated with changing polarization. Each schedule of changing polarization increased collar volume and microglomerular number. The three changing schedules and the stationary pattern therefore form a direct comparison. Each schedule is therefore judged against the stationary pattern.</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Change in the compass-related environment is the driving variable, since a stationary pattern produced no growth even though polarized light was present. The growth is measured as an anatomical outcome of the schedule. The growth follows the changing compass reference rather than polarized light by itself. Polarized light alone therefore did not account for the collar growth.</a:t>
            </a:r>
            <a:endParaRPr/>
          </a:p>
        </p:txBody>
      </p:sp>
      <p:pic>
        <p:nvPicPr>
          <p:cNvPr descr="G22_3cd.png" id="416" name="Google Shape;416;p28"/>
          <p:cNvPicPr preferRelativeResize="0"/>
          <p:nvPr/>
        </p:nvPicPr>
        <p:blipFill rotWithShape="1">
          <a:blip r:embed="rId3">
            <a:alphaModFix/>
          </a:blip>
          <a:srcRect b="0" l="0" r="0" t="0"/>
          <a:stretch/>
        </p:blipFill>
        <p:spPr>
          <a:xfrm>
            <a:off x="6321247" y="1280160"/>
            <a:ext cx="3291840" cy="3788669"/>
          </a:xfrm>
          <a:prstGeom prst="rect">
            <a:avLst/>
          </a:prstGeom>
          <a:noFill/>
          <a:ln>
            <a:noFill/>
          </a:ln>
        </p:spPr>
      </p:pic>
      <p:sp>
        <p:nvSpPr>
          <p:cNvPr id="417" name="Google Shape;417;p28"/>
          <p:cNvSpPr txBox="1"/>
          <p:nvPr/>
        </p:nvSpPr>
        <p:spPr>
          <a:xfrm>
            <a:off x="6321247" y="5160269"/>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(2022), Fig. 3(c–d). Mushroom-body volume and microglomeruli under polarization rotation.</a:t>
            </a:r>
            <a:endParaRPr/>
          </a:p>
        </p:txBody>
      </p:sp>
      <p:pic>
        <p:nvPicPr>
          <p:cNvPr descr="G22_1C.png" id="418" name="Google Shape;418;p28"/>
          <p:cNvPicPr preferRelativeResize="0"/>
          <p:nvPr/>
        </p:nvPicPr>
        <p:blipFill rotWithShape="1">
          <a:blip r:embed="rId4">
            <a:alphaModFix/>
          </a:blip>
          <a:srcRect b="0" l="0" r="0" t="0"/>
          <a:stretch/>
        </p:blipFill>
        <p:spPr>
          <a:xfrm>
            <a:off x="9795967" y="2148840"/>
            <a:ext cx="1828799" cy="1127072"/>
          </a:xfrm>
          <a:prstGeom prst="rect">
            <a:avLst/>
          </a:prstGeom>
          <a:noFill/>
          <a:ln>
            <a:noFill/>
          </a:ln>
        </p:spPr>
      </p:pic>
      <p:sp>
        <p:nvSpPr>
          <p:cNvPr id="419" name="Google Shape;419;p28"/>
          <p:cNvSpPr txBox="1"/>
          <p:nvPr/>
        </p:nvSpPr>
        <p:spPr>
          <a:xfrm>
            <a:off x="9795967" y="3349064"/>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(2022), Fig. 1(c). Central complex, lateral complex and mushroom-body synaptic anatomy.</a:t>
            </a:r>
            <a:endParaRPr/>
          </a:p>
        </p:txBody>
      </p:sp>
      <p:sp>
        <p:nvSpPr>
          <p:cNvPr id="420" name="Google Shape;420;p28"/>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1" name="Google Shape;421;p2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(2022)</a:t>
            </a:r>
            <a:endParaRPr/>
          </a:p>
        </p:txBody>
      </p:sp>
      <p:sp>
        <p:nvSpPr>
          <p:cNvPr id="422" name="Google Shape;422;p2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28</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7" name="Shape 427"/>
        <p:cNvGrpSpPr/>
        <p:nvPr/>
      </p:nvGrpSpPr>
      <p:grpSpPr>
        <a:xfrm>
          <a:off x="0" y="0"/>
          <a:ext cx="0" cy="0"/>
          <a:chOff x="0" y="0"/>
          <a:chExt cx="0" cy="0"/>
        </a:xfrm>
      </p:grpSpPr>
      <p:sp>
        <p:nvSpPr>
          <p:cNvPr id="428" name="Google Shape;428;p2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Rotation affects higher centres more than giant synapses</a:t>
            </a:r>
            <a:endParaRPr/>
          </a:p>
        </p:txBody>
      </p:sp>
      <p:sp>
        <p:nvSpPr>
          <p:cNvPr id="429" name="Google Shape;429;p29"/>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A common sensory manipulation can affect brain regions differently. The lateral complex lies along the sky-compass pathway, while the central complex and mushroom-body collar provide distinct higher-order measures of change. Each region therefore records the same experience in its own way. The lateral complex is the exception among these regions.</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Across the three-day learning-walk experiment, the rotation schedules altered central-complex volume and mushroom-body measures. Giant-synapse counts in the lateral complex stayed broadly similar. The stationary condition provides the baseline for each schedule. Rotation therefore affected higher centers more strongly than giant synapses. Each schedule therefore reports its own effect across all schedules tested.</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Giant-synapse numbers were similar across schedules, so the lateral complex responded less to rotation than the higher centers. Release, strength and firing are separate physiological measures, while counts describe structure. Giant synapses and collar growth therefore diverge under the same schedules. Those measures need recordings that counts never give here.</a:t>
            </a:r>
            <a:endParaRPr/>
          </a:p>
        </p:txBody>
      </p:sp>
      <p:pic>
        <p:nvPicPr>
          <p:cNvPr descr="G22_3ab.png" id="430" name="Google Shape;430;p29"/>
          <p:cNvPicPr preferRelativeResize="0"/>
          <p:nvPr/>
        </p:nvPicPr>
        <p:blipFill rotWithShape="1">
          <a:blip r:embed="rId3">
            <a:alphaModFix/>
          </a:blip>
          <a:srcRect b="0" l="0" r="0" t="0"/>
          <a:stretch/>
        </p:blipFill>
        <p:spPr>
          <a:xfrm>
            <a:off x="6321247" y="1280160"/>
            <a:ext cx="3291840" cy="3860834"/>
          </a:xfrm>
          <a:prstGeom prst="rect">
            <a:avLst/>
          </a:prstGeom>
          <a:noFill/>
          <a:ln>
            <a:noFill/>
          </a:ln>
        </p:spPr>
      </p:pic>
      <p:sp>
        <p:nvSpPr>
          <p:cNvPr id="431" name="Google Shape;431;p29"/>
          <p:cNvSpPr txBox="1"/>
          <p:nvPr/>
        </p:nvSpPr>
        <p:spPr>
          <a:xfrm>
            <a:off x="6321247" y="5232434"/>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(2022), Fig. 3(a–b). Giant synapses and central-complex volume under polarization rotation.</a:t>
            </a:r>
            <a:endParaRPr/>
          </a:p>
        </p:txBody>
      </p:sp>
      <p:pic>
        <p:nvPicPr>
          <p:cNvPr descr="G22_1C.png" id="432" name="Google Shape;432;p29"/>
          <p:cNvPicPr preferRelativeResize="0"/>
          <p:nvPr/>
        </p:nvPicPr>
        <p:blipFill rotWithShape="1">
          <a:blip r:embed="rId4">
            <a:alphaModFix/>
          </a:blip>
          <a:srcRect b="0" l="0" r="0" t="0"/>
          <a:stretch/>
        </p:blipFill>
        <p:spPr>
          <a:xfrm>
            <a:off x="9795967" y="2148840"/>
            <a:ext cx="1828799" cy="1127072"/>
          </a:xfrm>
          <a:prstGeom prst="rect">
            <a:avLst/>
          </a:prstGeom>
          <a:noFill/>
          <a:ln>
            <a:noFill/>
          </a:ln>
        </p:spPr>
      </p:pic>
      <p:sp>
        <p:nvSpPr>
          <p:cNvPr id="433" name="Google Shape;433;p29"/>
          <p:cNvSpPr txBox="1"/>
          <p:nvPr/>
        </p:nvSpPr>
        <p:spPr>
          <a:xfrm>
            <a:off x="9795967" y="3349064"/>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(2022), Fig. 1(c). Central complex, lateral complex and mushroom-body synaptic anatomy.</a:t>
            </a:r>
            <a:endParaRPr/>
          </a:p>
        </p:txBody>
      </p:sp>
      <p:sp>
        <p:nvSpPr>
          <p:cNvPr id="434" name="Google Shape;434;p29"/>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5" name="Google Shape;435;p2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(2022)</a:t>
            </a:r>
            <a:endParaRPr/>
          </a:p>
        </p:txBody>
      </p:sp>
      <p:sp>
        <p:nvSpPr>
          <p:cNvPr id="436" name="Google Shape;436;p2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29</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1" name="Shape 441"/>
        <p:cNvGrpSpPr/>
        <p:nvPr/>
      </p:nvGrpSpPr>
      <p:grpSpPr>
        <a:xfrm>
          <a:off x="0" y="0"/>
          <a:ext cx="0" cy="0"/>
          <a:chOff x="0" y="0"/>
          <a:chExt cx="0" cy="0"/>
        </a:xfrm>
      </p:grpSpPr>
      <p:sp>
        <p:nvSpPr>
          <p:cNvPr id="442" name="Google Shape;442;p3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Transmitter assignments constrain proposed circuit roles</a:t>
            </a:r>
            <a:endParaRPr/>
          </a:p>
        </p:txBody>
      </p:sp>
      <p:sp>
        <p:nvSpPr>
          <p:cNvPr id="443" name="Google Shape;443;p30"/>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pathways differ in transmitter identity, which may contribute to their distinct plasticity. These classifications describe signaling identity, while the postsynaptic effect also depends on receptor type and cellular conditions. Receptors determine what the target does. The postsynaptic effect therefore depends on more than the transmitter. Transmitter identity is one part of the outcome.</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Grob and colleagues measured structural endpoints in these pathways rather than pharmacologically isolating transmitter action. A transmitter identity names the chemical signal, while receptors determine what the target does. The authors offer the resulting differences as a hypothesis rather than a measured mechanism. Receptor identity at each synapse sets the postsynaptic result.</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distinction between identity and effect is central to this open question. Which receptor subtype, ion channel or intracellular cascade drives the volume and synaptic changes is a question for pharmacological work. Such tests would target specific receptor subtypes directly. The transmitter identities themselves were not manipulated in this study.</a:t>
            </a:r>
            <a:endParaRPr/>
          </a:p>
        </p:txBody>
      </p:sp>
      <p:pic>
        <p:nvPicPr>
          <p:cNvPr descr="G22_1D.png" id="444" name="Google Shape;444;p30"/>
          <p:cNvPicPr preferRelativeResize="0"/>
          <p:nvPr/>
        </p:nvPicPr>
        <p:blipFill rotWithShape="1">
          <a:blip r:embed="rId3">
            <a:alphaModFix/>
          </a:blip>
          <a:srcRect b="0" l="0" r="0" t="0"/>
          <a:stretch/>
        </p:blipFill>
        <p:spPr>
          <a:xfrm>
            <a:off x="6785581" y="1280160"/>
            <a:ext cx="4557730" cy="4297679"/>
          </a:xfrm>
          <a:prstGeom prst="rect">
            <a:avLst/>
          </a:prstGeom>
          <a:noFill/>
          <a:ln>
            <a:noFill/>
          </a:ln>
        </p:spPr>
      </p:pic>
      <p:sp>
        <p:nvSpPr>
          <p:cNvPr id="445" name="Google Shape;445;p30"/>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(2022), Fig. 1(d). Published three-dimensional reconstruction of visual integration centres.</a:t>
            </a:r>
            <a:endParaRPr/>
          </a:p>
        </p:txBody>
      </p:sp>
      <p:sp>
        <p:nvSpPr>
          <p:cNvPr id="446" name="Google Shape;446;p30"/>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7" name="Google Shape;447;p3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(2022)</a:t>
            </a:r>
            <a:endParaRPr/>
          </a:p>
        </p:txBody>
      </p:sp>
      <p:sp>
        <p:nvSpPr>
          <p:cNvPr id="448" name="Google Shape;448;p3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30</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3" name="Shape 453"/>
        <p:cNvGrpSpPr/>
        <p:nvPr/>
      </p:nvGrpSpPr>
      <p:grpSpPr>
        <a:xfrm>
          <a:off x="0" y="0"/>
          <a:ext cx="0" cy="0"/>
          <a:chOff x="0" y="0"/>
          <a:chExt cx="0" cy="0"/>
        </a:xfrm>
      </p:grpSpPr>
      <p:sp>
        <p:nvSpPr>
          <p:cNvPr id="454" name="Google Shape;454;p3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Magnetic coils isolate the reference used during learning</a:t>
            </a:r>
            <a:endParaRPr/>
          </a:p>
        </p:txBody>
      </p:sp>
      <p:sp>
        <p:nvSpPr>
          <p:cNvPr id="455" name="Google Shape;455;p31"/>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a:t>
            </a:r>
            <a:r>
              <a:rPr b="1" i="0" lang="en-US" sz="1400" u="none" cap="none" strike="noStrike">
                <a:solidFill>
                  <a:srgbClr val="344F61"/>
                </a:solidFill>
                <a:latin typeface="Arial"/>
                <a:ea typeface="Arial"/>
                <a:cs typeface="Arial"/>
                <a:sym typeface="Arial"/>
              </a:rPr>
              <a:t>geomagnetic field</a:t>
            </a:r>
            <a:r>
              <a:rPr b="0" i="0" lang="en-US" sz="1400" u="none" cap="none" strike="noStrike">
                <a:solidFill>
                  <a:srgbClr val="27323A"/>
                </a:solidFill>
                <a:latin typeface="Arial"/>
                <a:ea typeface="Arial"/>
                <a:cs typeface="Arial"/>
                <a:sym typeface="Arial"/>
              </a:rPr>
              <a:t> is Earth's magnetic field, which can supply a directional reference independent of the sun's daily movement. A </a:t>
            </a:r>
            <a:r>
              <a:rPr b="1" i="0" lang="en-US" sz="1400" u="none" cap="none" strike="noStrike">
                <a:solidFill>
                  <a:srgbClr val="344F61"/>
                </a:solidFill>
                <a:latin typeface="Arial"/>
                <a:ea typeface="Arial"/>
                <a:cs typeface="Arial"/>
                <a:sym typeface="Arial"/>
              </a:rPr>
              <a:t>Helmholtz coil</a:t>
            </a:r>
            <a:r>
              <a:rPr b="0" i="0" lang="en-US" sz="1400" u="none" cap="none" strike="noStrike">
                <a:solidFill>
                  <a:srgbClr val="27323A"/>
                </a:solidFill>
                <a:latin typeface="Arial"/>
                <a:ea typeface="Arial"/>
                <a:cs typeface="Arial"/>
                <a:sym typeface="Arial"/>
              </a:rPr>
              <a:t> system generates controlled magnetic fields in an experimental volume. A controlled field allows the investigators to vary the magnetic reference independently of the sky. The field's magnitude and direction can be set independently.</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platform was 60 × 60 cm and was connected directly to the nest. Novices performed learning walks over three consecutive days. The natural field at the site was known, so manipulated conditions could be set relative to it. The natural total field at the site was about 46.1 µT.</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same dark interior-worker controls served in every magnetic condition tested here. Several magnetic conditions were set against dark interior-worker controls to assess experience-associated brain changes. Nest-directed pirouettes served as the orientation measure. The natural panorama and celestial cues remained available during these manipulations. The design isolates the magnetic component.</a:t>
            </a:r>
            <a:endParaRPr/>
          </a:p>
        </p:txBody>
      </p:sp>
      <p:pic>
        <p:nvPicPr>
          <p:cNvPr descr="G24_1C.png" id="456" name="Google Shape;456;p31"/>
          <p:cNvPicPr preferRelativeResize="0"/>
          <p:nvPr/>
        </p:nvPicPr>
        <p:blipFill rotWithShape="1">
          <a:blip r:embed="rId3">
            <a:alphaModFix/>
          </a:blip>
          <a:srcRect b="0" l="0" r="0" t="0"/>
          <a:stretch/>
        </p:blipFill>
        <p:spPr>
          <a:xfrm>
            <a:off x="6862599" y="1280160"/>
            <a:ext cx="4403694" cy="4297679"/>
          </a:xfrm>
          <a:prstGeom prst="rect">
            <a:avLst/>
          </a:prstGeom>
          <a:noFill/>
          <a:ln>
            <a:noFill/>
          </a:ln>
        </p:spPr>
      </p:pic>
      <p:sp>
        <p:nvSpPr>
          <p:cNvPr id="457" name="Google Shape;457;p31"/>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(2024), Fig. 1(C). Helmholtz coils and the learning-walk platform.</a:t>
            </a:r>
            <a:endParaRPr/>
          </a:p>
        </p:txBody>
      </p:sp>
      <p:sp>
        <p:nvSpPr>
          <p:cNvPr id="458" name="Google Shape;458;p31"/>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9" name="Google Shape;459;p3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(2024)</a:t>
            </a:r>
            <a:endParaRPr/>
          </a:p>
        </p:txBody>
      </p:sp>
      <p:sp>
        <p:nvSpPr>
          <p:cNvPr id="460" name="Google Shape;460;p3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31</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5" name="Shape 465"/>
        <p:cNvGrpSpPr/>
        <p:nvPr/>
      </p:nvGrpSpPr>
      <p:grpSpPr>
        <a:xfrm>
          <a:off x="0" y="0"/>
          <a:ext cx="0" cy="0"/>
          <a:chOff x="0" y="0"/>
          <a:chExt cx="0" cy="0"/>
        </a:xfrm>
      </p:grpSpPr>
      <p:sp>
        <p:nvSpPr>
          <p:cNvPr id="466" name="Google Shape;466;p3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Removing horizontal magnetic information disrupts gazes</a:t>
            </a:r>
            <a:endParaRPr/>
          </a:p>
        </p:txBody>
      </p:sp>
      <p:sp>
        <p:nvSpPr>
          <p:cNvPr id="467" name="Google Shape;467;p3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A </a:t>
            </a:r>
            <a:r>
              <a:rPr b="1" i="0" lang="en-US" sz="1400" u="none" cap="none" strike="noStrike">
                <a:solidFill>
                  <a:srgbClr val="344F61"/>
                </a:solidFill>
                <a:latin typeface="Arial"/>
                <a:ea typeface="Arial"/>
                <a:cs typeface="Arial"/>
                <a:sym typeface="Arial"/>
              </a:rPr>
              <a:t>pirouette</a:t>
            </a:r>
            <a:r>
              <a:rPr b="0" i="0" lang="en-US" sz="1400" u="none" cap="none" strike="noStrike">
                <a:solidFill>
                  <a:srgbClr val="27323A"/>
                </a:solidFill>
                <a:latin typeface="Arial"/>
                <a:ea typeface="Arial"/>
                <a:cs typeface="Arial"/>
                <a:sym typeface="Arial"/>
              </a:rPr>
              <a:t> is a rotation around the ant's body axis during a learning walk. Under natural conditions, the longest pauses in these rotations point toward the nest, giving a measurable orientation behavior near the nest entrance. The pauses therefore provide a direction-specific readout during each walk. Longest pauses were analyzed as directions relative to the nest.</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In the horizontal-elimination condition, the coils canceled the horizontal field component while keeping a downward vertical field. The longest stopping directions lost their clustering toward the nest in the published angular distributions. The horizontal component was therefore required for this clustering. The vertical component measured about 37.5 µT in this condition.</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result supports a role for horizontal magnetic information in nest-directed behavior under this condition. A downward vertical field remains a directional cue, which differs fundamentally from removing magnetic information entirely. Vertical information therefore has consequences that complete removal lacks. Horizontal information therefore supports the nest-directed signal in this design.</a:t>
            </a:r>
            <a:endParaRPr/>
          </a:p>
        </p:txBody>
      </p:sp>
      <p:pic>
        <p:nvPicPr>
          <p:cNvPr descr="G24_2.png" id="468" name="Google Shape;468;p32"/>
          <p:cNvPicPr preferRelativeResize="0"/>
          <p:nvPr/>
        </p:nvPicPr>
        <p:blipFill rotWithShape="1">
          <a:blip r:embed="rId3">
            <a:alphaModFix/>
          </a:blip>
          <a:srcRect b="0" l="0" r="0" t="0"/>
          <a:stretch/>
        </p:blipFill>
        <p:spPr>
          <a:xfrm>
            <a:off x="6504127" y="1280160"/>
            <a:ext cx="5120640" cy="1782125"/>
          </a:xfrm>
          <a:prstGeom prst="rect">
            <a:avLst/>
          </a:prstGeom>
          <a:noFill/>
          <a:ln>
            <a:noFill/>
          </a:ln>
        </p:spPr>
      </p:pic>
      <p:sp>
        <p:nvSpPr>
          <p:cNvPr id="469" name="Google Shape;469;p32"/>
          <p:cNvSpPr txBox="1"/>
          <p:nvPr/>
        </p:nvSpPr>
        <p:spPr>
          <a:xfrm>
            <a:off x="6504127" y="3153725"/>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(2024), Fig. 2(A–C). Nest-directed gazes under three magnetic manipulations.</a:t>
            </a:r>
            <a:endParaRPr/>
          </a:p>
        </p:txBody>
      </p:sp>
      <p:sp>
        <p:nvSpPr>
          <p:cNvPr id="470" name="Google Shape;470;p32"/>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1" name="Google Shape;471;p3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(2024)</a:t>
            </a:r>
            <a:endParaRPr/>
          </a:p>
        </p:txBody>
      </p:sp>
      <p:sp>
        <p:nvSpPr>
          <p:cNvPr id="472" name="Google Shape;472;p3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32</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7" name="Shape 477"/>
        <p:cNvGrpSpPr/>
        <p:nvPr/>
      </p:nvGrpSpPr>
      <p:grpSpPr>
        <a:xfrm>
          <a:off x="0" y="0"/>
          <a:ext cx="0" cy="0"/>
          <a:chOff x="0" y="0"/>
          <a:chExt cx="0" cy="0"/>
        </a:xfrm>
      </p:grpSpPr>
      <p:sp>
        <p:nvSpPr>
          <p:cNvPr id="478" name="Google Shape;478;p3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Complete field elimination permits a different outcome</a:t>
            </a:r>
            <a:endParaRPr/>
          </a:p>
        </p:txBody>
      </p:sp>
      <p:sp>
        <p:nvSpPr>
          <p:cNvPr id="479" name="Google Shape;479;p3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Complete magnetic-field elimination is a distinct cue manipulation from retaining a vertical field. Grob and colleagues canceled the horizontal and vertical components, so the magnetic environment contained no directional cue pointing downward. Total elimination therefore removes the vertical cue as well. Each component of the field was canceled separately in the experiment.</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Under total elimination, ants still directed their longest pirouette pauses toward the nest. This contrasted with the loss of nest-directed gazes seen when the horizontal component alone had been eliminated. This contrast is central to the authors' interpretation. This comparison isolates the horizontal component. The contrast reveals the role of the horizontal component.</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Panoramic information is a candidate substitute cue when magnetic information is absent altogether. Identifying the switching mechanism would reveal which cue takes over. That candidate is one of several interpretations. Panoramic information is one candidate for that substitute. The contrast points to a switch in cue use rather than a loss of direction.</a:t>
            </a:r>
            <a:endParaRPr/>
          </a:p>
        </p:txBody>
      </p:sp>
      <p:pic>
        <p:nvPicPr>
          <p:cNvPr descr="G24_2.png" id="480" name="Google Shape;480;p33"/>
          <p:cNvPicPr preferRelativeResize="0"/>
          <p:nvPr/>
        </p:nvPicPr>
        <p:blipFill rotWithShape="1">
          <a:blip r:embed="rId3">
            <a:alphaModFix/>
          </a:blip>
          <a:srcRect b="0" l="0" r="0" t="0"/>
          <a:stretch/>
        </p:blipFill>
        <p:spPr>
          <a:xfrm>
            <a:off x="6504127" y="1280160"/>
            <a:ext cx="5120640" cy="1782125"/>
          </a:xfrm>
          <a:prstGeom prst="rect">
            <a:avLst/>
          </a:prstGeom>
          <a:noFill/>
          <a:ln>
            <a:noFill/>
          </a:ln>
        </p:spPr>
      </p:pic>
      <p:sp>
        <p:nvSpPr>
          <p:cNvPr id="481" name="Google Shape;481;p33"/>
          <p:cNvSpPr txBox="1"/>
          <p:nvPr/>
        </p:nvSpPr>
        <p:spPr>
          <a:xfrm>
            <a:off x="6504127" y="3153725"/>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(2024), Fig. 2(A–C). Nest-directed gazes under three magnetic manipulations.</a:t>
            </a:r>
            <a:endParaRPr/>
          </a:p>
        </p:txBody>
      </p:sp>
      <p:sp>
        <p:nvSpPr>
          <p:cNvPr id="482" name="Google Shape;482;p33"/>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3" name="Google Shape;483;p3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(2024)</a:t>
            </a:r>
            <a:endParaRPr/>
          </a:p>
        </p:txBody>
      </p:sp>
      <p:sp>
        <p:nvSpPr>
          <p:cNvPr id="484" name="Google Shape;484;p3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33</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9" name="Shape 489"/>
        <p:cNvGrpSpPr/>
        <p:nvPr/>
      </p:nvGrpSpPr>
      <p:grpSpPr>
        <a:xfrm>
          <a:off x="0" y="0"/>
          <a:ext cx="0" cy="0"/>
          <a:chOff x="0" y="0"/>
          <a:chExt cx="0" cy="0"/>
        </a:xfrm>
      </p:grpSpPr>
      <p:sp>
        <p:nvSpPr>
          <p:cNvPr id="490" name="Google Shape;490;p3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A rotating magnetic vector can still guide look-backs</a:t>
            </a:r>
            <a:endParaRPr/>
          </a:p>
        </p:txBody>
      </p:sp>
      <p:sp>
        <p:nvSpPr>
          <p:cNvPr id="491" name="Google Shape;491;p34"/>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A magnetic cue can serve as a usable short-term directional reference even when its direction differs from natural magnetic north. What matters is whether the direction stays stable during each individual learning walk. Individual walks lasted seconds to minutes, so the reference only needed to hold briefly. The reference needs to be stable only within each walk.</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In the magnetic-plus-solar condition, the horizontal vector was adjusted to follow the sun's azimuth over the day. Ants kept directing their longest stops toward the nest despite the vector's changing geographical alignment. The solar azimuth therefore sets the reference direction. The horizontal vector was updated every 10 seconds. Each update kept the vector aligned with the sun's current azimuth.</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Preserved look-backs show that an individual short excursion can use a reference that changes over the day. The manipulation made magnetic and celestial directions covary over the day, which removed their natural changing angular relationship. Look-backs therefore reflect the reference of the moment. Calibration was a separate measure in this experiment.</a:t>
            </a:r>
            <a:endParaRPr/>
          </a:p>
        </p:txBody>
      </p:sp>
      <p:pic>
        <p:nvPicPr>
          <p:cNvPr descr="G24_2.png" id="492" name="Google Shape;492;p34"/>
          <p:cNvPicPr preferRelativeResize="0"/>
          <p:nvPr/>
        </p:nvPicPr>
        <p:blipFill rotWithShape="1">
          <a:blip r:embed="rId3">
            <a:alphaModFix/>
          </a:blip>
          <a:srcRect b="0" l="0" r="0" t="0"/>
          <a:stretch/>
        </p:blipFill>
        <p:spPr>
          <a:xfrm>
            <a:off x="6504127" y="1280160"/>
            <a:ext cx="5120640" cy="1782125"/>
          </a:xfrm>
          <a:prstGeom prst="rect">
            <a:avLst/>
          </a:prstGeom>
          <a:noFill/>
          <a:ln>
            <a:noFill/>
          </a:ln>
        </p:spPr>
      </p:pic>
      <p:sp>
        <p:nvSpPr>
          <p:cNvPr id="493" name="Google Shape;493;p34"/>
          <p:cNvSpPr txBox="1"/>
          <p:nvPr/>
        </p:nvSpPr>
        <p:spPr>
          <a:xfrm>
            <a:off x="6504127" y="3153725"/>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(2024), Fig. 2(A–C). Nest-directed gazes under three magnetic manipulations.</a:t>
            </a:r>
            <a:endParaRPr/>
          </a:p>
        </p:txBody>
      </p:sp>
      <p:sp>
        <p:nvSpPr>
          <p:cNvPr id="494" name="Google Shape;494;p34"/>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5" name="Google Shape;495;p3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(2024)</a:t>
            </a:r>
            <a:endParaRPr/>
          </a:p>
        </p:txBody>
      </p:sp>
      <p:sp>
        <p:nvSpPr>
          <p:cNvPr id="496" name="Google Shape;496;p3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34</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1" name="Shape 501"/>
        <p:cNvGrpSpPr/>
        <p:nvPr/>
      </p:nvGrpSpPr>
      <p:grpSpPr>
        <a:xfrm>
          <a:off x="0" y="0"/>
          <a:ext cx="0" cy="0"/>
          <a:chOff x="0" y="0"/>
          <a:chExt cx="0" cy="0"/>
        </a:xfrm>
      </p:grpSpPr>
      <p:sp>
        <p:nvSpPr>
          <p:cNvPr id="502" name="Google Shape;502;p3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Magnetic treatments dissociate gaze and brain growth</a:t>
            </a:r>
            <a:endParaRPr/>
          </a:p>
        </p:txBody>
      </p:sp>
      <p:sp>
        <p:nvSpPr>
          <p:cNvPr id="503" name="Google Shape;503;p35"/>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two endpoints measure different timescales of the ant's experience. A successful look-back measures orientation during a walk, while central-complex growth reflects the learning that accumulates across days. The two endpoints therefore answer different questions about the animal. Look-backs and growth are therefore complementary readouts. Each measure captures a different timescale of the ant's experience.</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After three days, central-complex volume increased under natural magnetic conditions and under several elimination or disarray conditions. When the magnetic vector followed the solar azimuth, central-complex growth was absent relative to dark controls. Dark controls set the baseline for that growth. Volume was corrected for body size in each animal.</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Central-complex growth followed the full three-day learning period in this study. It implicates the changing relation between compass cues in central-complex growth. Volume was the endpoint in each comparison. A causal test would need a manipulation that removes the growth. Growth and look-backs therefore measure separate features of the ant's experience.</a:t>
            </a:r>
            <a:endParaRPr/>
          </a:p>
        </p:txBody>
      </p:sp>
      <p:pic>
        <p:nvPicPr>
          <p:cNvPr descr="G24_4a.png" id="504" name="Google Shape;504;p35"/>
          <p:cNvPicPr preferRelativeResize="0"/>
          <p:nvPr/>
        </p:nvPicPr>
        <p:blipFill rotWithShape="1">
          <a:blip r:embed="rId3">
            <a:alphaModFix/>
          </a:blip>
          <a:srcRect b="0" l="0" r="0" t="0"/>
          <a:stretch/>
        </p:blipFill>
        <p:spPr>
          <a:xfrm>
            <a:off x="6321247" y="1280160"/>
            <a:ext cx="3291840" cy="2480363"/>
          </a:xfrm>
          <a:prstGeom prst="rect">
            <a:avLst/>
          </a:prstGeom>
          <a:noFill/>
          <a:ln>
            <a:noFill/>
          </a:ln>
        </p:spPr>
      </p:pic>
      <p:sp>
        <p:nvSpPr>
          <p:cNvPr id="505" name="Google Shape;505;p35"/>
          <p:cNvSpPr txBox="1"/>
          <p:nvPr/>
        </p:nvSpPr>
        <p:spPr>
          <a:xfrm>
            <a:off x="6321247" y="3851963"/>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(2024), Fig. 4(A). Central-complex volume under magnetic treatments.</a:t>
            </a:r>
            <a:endParaRPr/>
          </a:p>
        </p:txBody>
      </p:sp>
      <p:pic>
        <p:nvPicPr>
          <p:cNvPr descr="G24_3B.png" id="506" name="Google Shape;506;p35"/>
          <p:cNvPicPr preferRelativeResize="0"/>
          <p:nvPr/>
        </p:nvPicPr>
        <p:blipFill rotWithShape="1">
          <a:blip r:embed="rId4">
            <a:alphaModFix/>
          </a:blip>
          <a:srcRect b="0" l="0" r="0" t="0"/>
          <a:stretch/>
        </p:blipFill>
        <p:spPr>
          <a:xfrm>
            <a:off x="9795967" y="2148840"/>
            <a:ext cx="1828799" cy="1684244"/>
          </a:xfrm>
          <a:prstGeom prst="rect">
            <a:avLst/>
          </a:prstGeom>
          <a:noFill/>
          <a:ln>
            <a:noFill/>
          </a:ln>
        </p:spPr>
      </p:pic>
      <p:sp>
        <p:nvSpPr>
          <p:cNvPr id="507" name="Google Shape;507;p35"/>
          <p:cNvSpPr txBox="1"/>
          <p:nvPr/>
        </p:nvSpPr>
        <p:spPr>
          <a:xfrm>
            <a:off x="9795967" y="3906236"/>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(2024), Fig. 3(B). Central complex and mushroom-body collar reconstruction.</a:t>
            </a:r>
            <a:endParaRPr/>
          </a:p>
        </p:txBody>
      </p:sp>
      <p:sp>
        <p:nvSpPr>
          <p:cNvPr id="508" name="Google Shape;508;p35"/>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9" name="Google Shape;509;p3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(2024)</a:t>
            </a:r>
            <a:endParaRPr/>
          </a:p>
        </p:txBody>
      </p:sp>
      <p:sp>
        <p:nvSpPr>
          <p:cNvPr id="510" name="Google Shape;510;p3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35</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5" name="Shape 515"/>
        <p:cNvGrpSpPr/>
        <p:nvPr/>
      </p:nvGrpSpPr>
      <p:grpSpPr>
        <a:xfrm>
          <a:off x="0" y="0"/>
          <a:ext cx="0" cy="0"/>
          <a:chOff x="0" y="0"/>
          <a:chExt cx="0" cy="0"/>
        </a:xfrm>
      </p:grpSpPr>
      <p:sp>
        <p:nvSpPr>
          <p:cNvPr id="516" name="Google Shape;516;p3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Magnetic cues affect mushroom-body plasticity</a:t>
            </a:r>
            <a:endParaRPr/>
          </a:p>
        </p:txBody>
      </p:sp>
      <p:sp>
        <p:nvSpPr>
          <p:cNvPr id="517" name="Google Shape;517;p36"/>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Visual memories acquired near the nest may require information that specifies which direction the ant is facing. The mushroom-body collar provides a visual input region in which synaptic structure can be compared after controlled learning experience. Its microglomeruli receive visual information in this region. The collar's synapses therefore register the visual information the ant gathers.</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collar's synapses are therefore positioned to register visual information that the ant gathers. Both measures increased under the natural field, while the altered magnetic conditions produced no equivalent increases. The size correction was applied to each animal before the groups were measured. Microglomerular number and collar volume were the two outcome measures.</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association supports a role for appropriate magnetic information in experience-dependent visual circuitry. Magnetic information of the correct kind thus appears to take part in how the visual input region develops. The development of this region depends on the magnetic information present during learning. Such plasticity is tied to the learning context.</a:t>
            </a:r>
            <a:endParaRPr/>
          </a:p>
        </p:txBody>
      </p:sp>
      <p:pic>
        <p:nvPicPr>
          <p:cNvPr descr="G24_4bc.png" id="518" name="Google Shape;518;p36"/>
          <p:cNvPicPr preferRelativeResize="0"/>
          <p:nvPr/>
        </p:nvPicPr>
        <p:blipFill rotWithShape="1">
          <a:blip r:embed="rId3">
            <a:alphaModFix/>
          </a:blip>
          <a:srcRect b="0" l="0" r="0" t="0"/>
          <a:stretch/>
        </p:blipFill>
        <p:spPr>
          <a:xfrm>
            <a:off x="6321247" y="1280160"/>
            <a:ext cx="3291840" cy="4294702"/>
          </a:xfrm>
          <a:prstGeom prst="rect">
            <a:avLst/>
          </a:prstGeom>
          <a:noFill/>
          <a:ln>
            <a:noFill/>
          </a:ln>
        </p:spPr>
      </p:pic>
      <p:sp>
        <p:nvSpPr>
          <p:cNvPr id="519" name="Google Shape;519;p36"/>
          <p:cNvSpPr txBox="1"/>
          <p:nvPr/>
        </p:nvSpPr>
        <p:spPr>
          <a:xfrm>
            <a:off x="6321247" y="5666302"/>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(2024), Fig. 4(B–C). Mushroom-body volume and synaptic complexes under magnetic treatments.</a:t>
            </a:r>
            <a:endParaRPr/>
          </a:p>
        </p:txBody>
      </p:sp>
      <p:pic>
        <p:nvPicPr>
          <p:cNvPr descr="G24_3A.png" id="520" name="Google Shape;520;p36"/>
          <p:cNvPicPr preferRelativeResize="0"/>
          <p:nvPr/>
        </p:nvPicPr>
        <p:blipFill rotWithShape="1">
          <a:blip r:embed="rId4">
            <a:alphaModFix/>
          </a:blip>
          <a:srcRect b="0" l="0" r="0" t="0"/>
          <a:stretch/>
        </p:blipFill>
        <p:spPr>
          <a:xfrm>
            <a:off x="9795967" y="2148840"/>
            <a:ext cx="1828799" cy="1690459"/>
          </a:xfrm>
          <a:prstGeom prst="rect">
            <a:avLst/>
          </a:prstGeom>
          <a:noFill/>
          <a:ln>
            <a:noFill/>
          </a:ln>
        </p:spPr>
      </p:pic>
      <p:sp>
        <p:nvSpPr>
          <p:cNvPr id="521" name="Google Shape;521;p36"/>
          <p:cNvSpPr txBox="1"/>
          <p:nvPr/>
        </p:nvSpPr>
        <p:spPr>
          <a:xfrm>
            <a:off x="9795967" y="3912451"/>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(2024), Fig. 3(A). Synapsin-labelled brain and mushroom-body microglomeruli.</a:t>
            </a:r>
            <a:endParaRPr/>
          </a:p>
        </p:txBody>
      </p:sp>
      <p:sp>
        <p:nvSpPr>
          <p:cNvPr id="522" name="Google Shape;522;p36"/>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3" name="Google Shape;523;p3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(2024)</a:t>
            </a:r>
            <a:endParaRPr/>
          </a:p>
        </p:txBody>
      </p:sp>
      <p:sp>
        <p:nvSpPr>
          <p:cNvPr id="524" name="Google Shape;524;p3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36</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9" name="Shape 529"/>
        <p:cNvGrpSpPr/>
        <p:nvPr/>
      </p:nvGrpSpPr>
      <p:grpSpPr>
        <a:xfrm>
          <a:off x="0" y="0"/>
          <a:ext cx="0" cy="0"/>
          <a:chOff x="0" y="0"/>
          <a:chExt cx="0" cy="0"/>
        </a:xfrm>
      </p:grpSpPr>
      <p:sp>
        <p:nvSpPr>
          <p:cNvPr id="530" name="Google Shape;530;p3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A stable reference may calibrate the moving sky compass</a:t>
            </a:r>
            <a:endParaRPr/>
          </a:p>
        </p:txBody>
      </p:sp>
      <p:sp>
        <p:nvSpPr>
          <p:cNvPr id="531" name="Google Shape;531;p37"/>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344F61"/>
                </a:solidFill>
                <a:latin typeface="Arial"/>
                <a:ea typeface="Arial"/>
                <a:cs typeface="Arial"/>
                <a:sym typeface="Arial"/>
              </a:rPr>
              <a:t>Compass calibration</a:t>
            </a:r>
            <a:r>
              <a:rPr b="0" i="0" lang="en-US" sz="1400" u="none" cap="none" strike="noStrike">
                <a:solidFill>
                  <a:srgbClr val="27323A"/>
                </a:solidFill>
                <a:latin typeface="Arial"/>
                <a:ea typeface="Arial"/>
                <a:cs typeface="Arial"/>
                <a:sym typeface="Arial"/>
              </a:rPr>
              <a:t> establishes the relationship between a sensory directional cue and an internal heading reference. The sun and polarization pattern change over the day, whereas natural magnetic direction and a fixed panorama are comparatively stable external references. A calibration of this kind links a moving cue to fixed external references.</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three-day magnetic experiment separated natural-field exposure from a vector that rotated with the sun. The proposed circuit hypothesis suggests convergence of magnetic, panoramic and celestial information in the </a:t>
            </a:r>
            <a:r>
              <a:rPr b="1" i="0" lang="en-US" sz="1400" u="none" cap="none" strike="noStrike">
                <a:solidFill>
                  <a:srgbClr val="344F61"/>
                </a:solidFill>
                <a:latin typeface="Arial"/>
                <a:ea typeface="Arial"/>
                <a:cs typeface="Arial"/>
                <a:sym typeface="Arial"/>
              </a:rPr>
              <a:t>posterior slope</a:t>
            </a:r>
            <a:r>
              <a:rPr b="0" i="0" lang="en-US" sz="1400" u="none" cap="none" strike="noStrike">
                <a:solidFill>
                  <a:srgbClr val="27323A"/>
                </a:solidFill>
                <a:latin typeface="Arial"/>
                <a:ea typeface="Arial"/>
                <a:cs typeface="Arial"/>
                <a:sym typeface="Arial"/>
              </a:rPr>
              <a:t>. The posterior slope is a multisensory brain region linked to the central complex. The model predicts this convergence from comparative connectivity.</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Ion channels and receptors would need to be identified before the mechanism could be confirmed. The antennal Johnston's organ is a candidate contributor to magnetoreception. No magnetic receptor molecule or ion channel has yet been identified. Ion channels and receptors would need to be identified before the mechanism is confirmed.</a:t>
            </a:r>
            <a:endParaRPr/>
          </a:p>
        </p:txBody>
      </p:sp>
      <p:pic>
        <p:nvPicPr>
          <p:cNvPr descr="G24_5.png" id="532" name="Google Shape;532;p37"/>
          <p:cNvPicPr preferRelativeResize="0"/>
          <p:nvPr/>
        </p:nvPicPr>
        <p:blipFill rotWithShape="1">
          <a:blip r:embed="rId3">
            <a:alphaModFix/>
          </a:blip>
          <a:srcRect b="0" l="0" r="0" t="0"/>
          <a:stretch/>
        </p:blipFill>
        <p:spPr>
          <a:xfrm>
            <a:off x="6504127" y="1280160"/>
            <a:ext cx="5120640" cy="2243112"/>
          </a:xfrm>
          <a:prstGeom prst="rect">
            <a:avLst/>
          </a:prstGeom>
          <a:noFill/>
          <a:ln>
            <a:noFill/>
          </a:ln>
        </p:spPr>
      </p:pic>
      <p:sp>
        <p:nvSpPr>
          <p:cNvPr id="533" name="Google Shape;533;p37"/>
          <p:cNvSpPr txBox="1"/>
          <p:nvPr/>
        </p:nvSpPr>
        <p:spPr>
          <a:xfrm>
            <a:off x="6504127" y="3614712"/>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(2024), Fig. 5. Published hypothesis for integrating magnetic and celestial information.</a:t>
            </a:r>
            <a:endParaRPr/>
          </a:p>
        </p:txBody>
      </p:sp>
      <p:sp>
        <p:nvSpPr>
          <p:cNvPr id="534" name="Google Shape;534;p37"/>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5" name="Google Shape;535;p3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(2024)</a:t>
            </a:r>
            <a:endParaRPr/>
          </a:p>
        </p:txBody>
      </p:sp>
      <p:sp>
        <p:nvSpPr>
          <p:cNvPr id="536" name="Google Shape;536;p3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37</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1" name="Shape 541"/>
        <p:cNvGrpSpPr/>
        <p:nvPr/>
      </p:nvGrpSpPr>
      <p:grpSpPr>
        <a:xfrm>
          <a:off x="0" y="0"/>
          <a:ext cx="0" cy="0"/>
          <a:chOff x="0" y="0"/>
          <a:chExt cx="0" cy="0"/>
        </a:xfrm>
      </p:grpSpPr>
      <p:sp>
        <p:nvSpPr>
          <p:cNvPr id="542" name="Google Shape;542;p3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A new route can emerge from familiar goal vectors</a:t>
            </a:r>
            <a:endParaRPr/>
          </a:p>
        </p:txBody>
      </p:sp>
      <p:sp>
        <p:nvSpPr>
          <p:cNvPr id="543" name="Google Shape;543;p38"/>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A </a:t>
            </a:r>
            <a:r>
              <a:rPr b="1" i="0" lang="en-US" sz="1400" u="none" cap="none" strike="noStrike">
                <a:solidFill>
                  <a:srgbClr val="344F61"/>
                </a:solidFill>
                <a:latin typeface="Arial"/>
                <a:ea typeface="Arial"/>
                <a:cs typeface="Arial"/>
                <a:sym typeface="Arial"/>
              </a:rPr>
              <a:t>goal vector</a:t>
            </a:r>
            <a:r>
              <a:rPr b="0" i="0" lang="en-US" sz="1400" u="none" cap="none" strike="noStrike">
                <a:solidFill>
                  <a:srgbClr val="27323A"/>
                </a:solidFill>
                <a:latin typeface="Arial"/>
                <a:ea typeface="Arial"/>
                <a:cs typeface="Arial"/>
                <a:sym typeface="Arial"/>
              </a:rPr>
              <a:t> specifies a remembered direction and distance to a destination relative to the nest. A </a:t>
            </a:r>
            <a:r>
              <a:rPr b="1" i="0" lang="en-US" sz="1400" u="none" cap="none" strike="noStrike">
                <a:solidFill>
                  <a:srgbClr val="344F61"/>
                </a:solidFill>
                <a:latin typeface="Arial"/>
                <a:ea typeface="Arial"/>
                <a:cs typeface="Arial"/>
                <a:sym typeface="Arial"/>
              </a:rPr>
              <a:t>shortcut</a:t>
            </a:r>
            <a:r>
              <a:rPr b="0" i="0" lang="en-US" sz="1400" u="none" cap="none" strike="noStrike">
                <a:solidFill>
                  <a:srgbClr val="27323A"/>
                </a:solidFill>
                <a:latin typeface="Arial"/>
                <a:ea typeface="Arial"/>
                <a:cs typeface="Arial"/>
                <a:sym typeface="Arial"/>
              </a:rPr>
              <a:t> connects familiar destinations along a route that was never traveled during training, and this behavior can arise from stored vectors. The shortcut is therefore a new route between two feeders that the ant reached separately.</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Voegeli and colleagues trained </a:t>
            </a:r>
            <a:r>
              <a:rPr b="0" i="1" lang="en-US" sz="1400" u="none" cap="none" strike="noStrike">
                <a:solidFill>
                  <a:srgbClr val="27323A"/>
                </a:solidFill>
                <a:latin typeface="Arial"/>
                <a:ea typeface="Arial"/>
                <a:cs typeface="Arial"/>
                <a:sym typeface="Arial"/>
              </a:rPr>
              <a:t>Cataglyphis</a:t>
            </a:r>
            <a:r>
              <a:rPr b="0" i="0" lang="en-US" sz="1400" u="none" cap="none" strike="noStrike">
                <a:solidFill>
                  <a:srgbClr val="27323A"/>
                </a:solidFill>
                <a:latin typeface="Arial"/>
                <a:ea typeface="Arial"/>
                <a:cs typeface="Arial"/>
                <a:sym typeface="Arial"/>
              </a:rPr>
              <a:t> ants to feeders A and B in separate channels. The nest distances were 4.5 m and 5.7 m, and the test channel connected the feeder positions across a 4.1 m separation. One nest-channel entrance was open at a time. Each feeder was reached through its own channel during training.</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channel arrangement separated experience with individual nest-to-feeder routes from experience with the connecting route. It provided a controlled way to test use of stored goals and an ongoing path integrator. The design uses controlled routes so that stored goal vectors can be tested directly. The test therefore probed the stored feeder vectors directly.</a:t>
            </a:r>
            <a:endParaRPr/>
          </a:p>
        </p:txBody>
      </p:sp>
      <p:pic>
        <p:nvPicPr>
          <p:cNvPr descr="V25_1.png" id="544" name="Google Shape;544;p38"/>
          <p:cNvPicPr preferRelativeResize="0"/>
          <p:nvPr/>
        </p:nvPicPr>
        <p:blipFill rotWithShape="1">
          <a:blip r:embed="rId3">
            <a:alphaModFix/>
          </a:blip>
          <a:srcRect b="0" l="0" r="0" t="0"/>
          <a:stretch/>
        </p:blipFill>
        <p:spPr>
          <a:xfrm>
            <a:off x="6504127" y="1280160"/>
            <a:ext cx="5120640" cy="2524553"/>
          </a:xfrm>
          <a:prstGeom prst="rect">
            <a:avLst/>
          </a:prstGeom>
          <a:noFill/>
          <a:ln>
            <a:noFill/>
          </a:ln>
        </p:spPr>
      </p:pic>
      <p:sp>
        <p:nvSpPr>
          <p:cNvPr id="545" name="Google Shape;545;p38"/>
          <p:cNvSpPr txBox="1"/>
          <p:nvPr/>
        </p:nvSpPr>
        <p:spPr>
          <a:xfrm>
            <a:off x="6504127" y="3896153"/>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Voegeli et al. (2025), Fig. 1. Training channels, two feeders and the novel connecting route.</a:t>
            </a:r>
            <a:endParaRPr/>
          </a:p>
        </p:txBody>
      </p:sp>
      <p:sp>
        <p:nvSpPr>
          <p:cNvPr id="546" name="Google Shape;546;p38"/>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7" name="Google Shape;547;p3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Voegeli et al. (2025)</a:t>
            </a:r>
            <a:endParaRPr/>
          </a:p>
        </p:txBody>
      </p:sp>
      <p:sp>
        <p:nvSpPr>
          <p:cNvPr id="548" name="Google Shape;548;p3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38</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3" name="Shape 553"/>
        <p:cNvGrpSpPr/>
        <p:nvPr/>
      </p:nvGrpSpPr>
      <p:grpSpPr>
        <a:xfrm>
          <a:off x="0" y="0"/>
          <a:ext cx="0" cy="0"/>
          <a:chOff x="0" y="0"/>
          <a:chExt cx="0" cy="0"/>
        </a:xfrm>
      </p:grpSpPr>
      <p:sp>
        <p:nvSpPr>
          <p:cNvPr id="554" name="Google Shape;554;p3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Alternating training establishes two separate destinations</a:t>
            </a:r>
            <a:endParaRPr/>
          </a:p>
        </p:txBody>
      </p:sp>
      <p:sp>
        <p:nvSpPr>
          <p:cNvPr id="555" name="Google Shape;555;p39"/>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Experience with more than one food source can establish alternative navigational goals. Feeders were hidden below the channel floor, so an approaching ant had no visible food cup to steer toward. The feeders' concealment forced the ant to rely on remembered positions. Its steering depended on what it had learned earlier.</a:t>
            </a:r>
            <a:endParaRPr/>
          </a:p>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The final visits standardized the starting goal while preserving experience with the second destination. The channel shutters restricted which route was available. The ant still chooses its search directions inside the connecting channel rather than being forced into one turn. The shutters determined which route was open without fixing the first turn.</a:t>
            </a:r>
            <a:endParaRPr/>
          </a:p>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The design therefore tests stored destinations under controlled routes. A shutter restricted the route, so the first choice came from memory. The first turn reflects the ant's own choice rather than a forced direction. The first turn is therefore a readout of the stored goal. The ant chooses freely within the connecting channel.</a:t>
            </a:r>
            <a:endParaRPr/>
          </a:p>
        </p:txBody>
      </p:sp>
      <p:pic>
        <p:nvPicPr>
          <p:cNvPr descr="V25_1.png" id="556" name="Google Shape;556;p39"/>
          <p:cNvPicPr preferRelativeResize="0"/>
          <p:nvPr/>
        </p:nvPicPr>
        <p:blipFill rotWithShape="1">
          <a:blip r:embed="rId3">
            <a:alphaModFix/>
          </a:blip>
          <a:srcRect b="0" l="0" r="0" t="0"/>
          <a:stretch/>
        </p:blipFill>
        <p:spPr>
          <a:xfrm>
            <a:off x="6504127" y="1280160"/>
            <a:ext cx="5120640" cy="2524553"/>
          </a:xfrm>
          <a:prstGeom prst="rect">
            <a:avLst/>
          </a:prstGeom>
          <a:noFill/>
          <a:ln>
            <a:noFill/>
          </a:ln>
        </p:spPr>
      </p:pic>
      <p:sp>
        <p:nvSpPr>
          <p:cNvPr id="557" name="Google Shape;557;p39"/>
          <p:cNvSpPr txBox="1"/>
          <p:nvPr/>
        </p:nvSpPr>
        <p:spPr>
          <a:xfrm>
            <a:off x="6504127" y="3896153"/>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Voegeli et al. (2025), Fig. 1. Training channels, two feeders and the novel connecting route.</a:t>
            </a:r>
            <a:endParaRPr/>
          </a:p>
        </p:txBody>
      </p:sp>
      <p:sp>
        <p:nvSpPr>
          <p:cNvPr id="558" name="Google Shape;558;p39"/>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9" name="Google Shape;559;p3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Voegeli et al. (2025)</a:t>
            </a:r>
            <a:endParaRPr/>
          </a:p>
        </p:txBody>
      </p:sp>
      <p:sp>
        <p:nvSpPr>
          <p:cNvPr id="560" name="Google Shape;560;p3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39</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5" name="Shape 565"/>
        <p:cNvGrpSpPr/>
        <p:nvPr/>
      </p:nvGrpSpPr>
      <p:grpSpPr>
        <a:xfrm>
          <a:off x="0" y="0"/>
          <a:ext cx="0" cy="0"/>
          <a:chOff x="0" y="0"/>
          <a:chExt cx="0" cy="0"/>
        </a:xfrm>
      </p:grpSpPr>
      <p:sp>
        <p:nvSpPr>
          <p:cNvPr id="566" name="Google Shape;566;p4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One-feeder training produces a symmetric local search</a:t>
            </a:r>
            <a:endParaRPr/>
          </a:p>
        </p:txBody>
      </p:sp>
      <p:sp>
        <p:nvSpPr>
          <p:cNvPr id="567" name="Google Shape;567;p40"/>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A </a:t>
            </a:r>
            <a:r>
              <a:rPr b="1" i="0" lang="en-US" sz="1400" u="none" cap="none" strike="noStrike">
                <a:solidFill>
                  <a:srgbClr val="344F61"/>
                </a:solidFill>
                <a:latin typeface="Arial"/>
                <a:ea typeface="Arial"/>
                <a:cs typeface="Arial"/>
                <a:sym typeface="Arial"/>
              </a:rPr>
              <a:t>one-feeder control</a:t>
            </a:r>
            <a:r>
              <a:rPr b="0" i="0" lang="en-US" sz="1400" u="none" cap="none" strike="noStrike">
                <a:solidFill>
                  <a:srgbClr val="27323A"/>
                </a:solidFill>
                <a:latin typeface="Arial"/>
                <a:ea typeface="Arial"/>
                <a:cs typeface="Arial"/>
                <a:sym typeface="Arial"/>
              </a:rPr>
              <a:t> establishes the search pattern expected without memory of a second food source. This control allows a general tendency to widen a search to be told apart from a directional bias toward another learned destination. The baseline shows the search expected in the absence of any second goal.</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Control ants visited feeder A before testing. After food removal, their searches concentrated around the former feeder position and spread roughly symmetrically on its two sides. Distance from the starting point was measured in metres along the connecting channel. The baseline was measured under the same food-removal procedure. The symmetric pattern forms the reference for interpreting two-feeder data.</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Because the baseline is symmetric, a later directional shift in two-feeder ants is measured against a neutral reference. A density distribution indexes where ants search, which is a behavioral readout. The symmetric baseline therefore sets the reference for each comparison. The two-feeder results are judged against this same baseline. Symmetric controls therefore make the two-feeder bias interpretable.</a:t>
            </a:r>
            <a:endParaRPr/>
          </a:p>
        </p:txBody>
      </p:sp>
      <p:pic>
        <p:nvPicPr>
          <p:cNvPr descr="V25_2.png" id="568" name="Google Shape;568;p40"/>
          <p:cNvPicPr preferRelativeResize="0"/>
          <p:nvPr/>
        </p:nvPicPr>
        <p:blipFill rotWithShape="1">
          <a:blip r:embed="rId3">
            <a:alphaModFix/>
          </a:blip>
          <a:srcRect b="0" l="0" r="0" t="0"/>
          <a:stretch/>
        </p:blipFill>
        <p:spPr>
          <a:xfrm>
            <a:off x="6729731" y="1280160"/>
            <a:ext cx="4669432" cy="4297679"/>
          </a:xfrm>
          <a:prstGeom prst="rect">
            <a:avLst/>
          </a:prstGeom>
          <a:noFill/>
          <a:ln>
            <a:noFill/>
          </a:ln>
        </p:spPr>
      </p:pic>
      <p:sp>
        <p:nvSpPr>
          <p:cNvPr id="569" name="Google Shape;569;p40"/>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Voegeli et al. (2025), Fig. 2. Symmetric search after training to one feeder.</a:t>
            </a:r>
            <a:endParaRPr/>
          </a:p>
        </p:txBody>
      </p:sp>
      <p:sp>
        <p:nvSpPr>
          <p:cNvPr id="570" name="Google Shape;570;p40"/>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1" name="Google Shape;571;p4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Voegeli et al. (2025)</a:t>
            </a:r>
            <a:endParaRPr/>
          </a:p>
        </p:txBody>
      </p:sp>
      <p:sp>
        <p:nvSpPr>
          <p:cNvPr id="572" name="Google Shape;572;p4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40</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7" name="Shape 577"/>
        <p:cNvGrpSpPr/>
        <p:nvPr/>
      </p:nvGrpSpPr>
      <p:grpSpPr>
        <a:xfrm>
          <a:off x="0" y="0"/>
          <a:ext cx="0" cy="0"/>
          <a:chOff x="0" y="0"/>
          <a:chExt cx="0" cy="0"/>
        </a:xfrm>
      </p:grpSpPr>
      <p:sp>
        <p:nvSpPr>
          <p:cNvPr id="578" name="Google Shape;578;p4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Two-feeder experience biases the first search direction</a:t>
            </a:r>
            <a:endParaRPr/>
          </a:p>
        </p:txBody>
      </p:sp>
      <p:sp>
        <p:nvSpPr>
          <p:cNvPr id="579" name="Google Shape;579;p41"/>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The </a:t>
            </a:r>
            <a:r>
              <a:rPr b="1" i="0" lang="en-US" sz="1500" u="none" cap="none" strike="noStrike">
                <a:solidFill>
                  <a:srgbClr val="344F61"/>
                </a:solidFill>
                <a:latin typeface="Arial"/>
                <a:ea typeface="Arial"/>
                <a:cs typeface="Arial"/>
                <a:sym typeface="Arial"/>
              </a:rPr>
              <a:t>first U-turn</a:t>
            </a:r>
            <a:r>
              <a:rPr b="0" i="0" lang="en-US" sz="1500" u="none" cap="none" strike="noStrike">
                <a:solidFill>
                  <a:srgbClr val="27323A"/>
                </a:solidFill>
                <a:latin typeface="Arial"/>
                <a:ea typeface="Arial"/>
                <a:cs typeface="Arial"/>
                <a:sym typeface="Arial"/>
              </a:rPr>
              <a:t> after the missing feeder measures an early component of search direction. It differs from the full spatial distribution accumulated during later back-and-forth movements in the test channel. Early direction and the total search distribution are separate measurements. The first U-turn is a short, early movement after the feeder is absent.</a:t>
            </a:r>
            <a:endParaRPr/>
          </a:p>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After training to A and B, about two-thirds of the ants made their first U-turn on the side containing the second feeder. The effect appeared with feeder B either left or right of A, so the bias followed the feeder's location. The result held for feeder B on either side of A.</a:t>
            </a:r>
            <a:endParaRPr/>
          </a:p>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The left-right symmetry of this effect argues against an intrinsic turning preference. The early bias is consistent with use of an alternative learned goal. First turns reveal that goal's influence before later searching. The early bias reflects a choice among alternatives in the first turn. Each left-right condition was measured with its own feeder arrangement.</a:t>
            </a:r>
            <a:endParaRPr/>
          </a:p>
        </p:txBody>
      </p:sp>
      <p:pic>
        <p:nvPicPr>
          <p:cNvPr descr="V25_3.png" id="580" name="Google Shape;580;p41"/>
          <p:cNvPicPr preferRelativeResize="0"/>
          <p:nvPr/>
        </p:nvPicPr>
        <p:blipFill rotWithShape="1">
          <a:blip r:embed="rId3">
            <a:alphaModFix/>
          </a:blip>
          <a:srcRect b="0" l="0" r="0" t="0"/>
          <a:stretch/>
        </p:blipFill>
        <p:spPr>
          <a:xfrm>
            <a:off x="6504127" y="1280160"/>
            <a:ext cx="5120640" cy="2430977"/>
          </a:xfrm>
          <a:prstGeom prst="rect">
            <a:avLst/>
          </a:prstGeom>
          <a:noFill/>
          <a:ln>
            <a:noFill/>
          </a:ln>
        </p:spPr>
      </p:pic>
      <p:sp>
        <p:nvSpPr>
          <p:cNvPr id="581" name="Google Shape;581;p41"/>
          <p:cNvSpPr txBox="1"/>
          <p:nvPr/>
        </p:nvSpPr>
        <p:spPr>
          <a:xfrm>
            <a:off x="6504127" y="3802577"/>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Voegeli et al. (2025), Fig. 3(a–b). Search shifts toward the second feeder on either side.</a:t>
            </a:r>
            <a:endParaRPr/>
          </a:p>
        </p:txBody>
      </p:sp>
      <p:sp>
        <p:nvSpPr>
          <p:cNvPr id="582" name="Google Shape;582;p41"/>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3" name="Google Shape;583;p4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Voegeli et al. (2025)</a:t>
            </a:r>
            <a:endParaRPr/>
          </a:p>
        </p:txBody>
      </p:sp>
      <p:sp>
        <p:nvSpPr>
          <p:cNvPr id="584" name="Google Shape;584;p4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41</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9" name="Shape 589"/>
        <p:cNvGrpSpPr/>
        <p:nvPr/>
      </p:nvGrpSpPr>
      <p:grpSpPr>
        <a:xfrm>
          <a:off x="0" y="0"/>
          <a:ext cx="0" cy="0"/>
          <a:chOff x="0" y="0"/>
          <a:chExt cx="0" cy="0"/>
        </a:xfrm>
      </p:grpSpPr>
      <p:sp>
        <p:nvSpPr>
          <p:cNvPr id="590" name="Google Shape;590;p4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Search expands preferentially toward the missing goal</a:t>
            </a:r>
            <a:endParaRPr/>
          </a:p>
        </p:txBody>
      </p:sp>
      <p:sp>
        <p:nvSpPr>
          <p:cNvPr id="591" name="Google Shape;591;p4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full search trajectory contains information beyond its first movement. Ants can begin at the expected position of one feeder and then redistribute their efforts toward another destination when the first food source is absent. Such redistribution appears when the first goal fails to provide food. Redistribution follows from the stored goal rather than from food at the location.</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Two-feeder ants initially searched around A and progressively widened their searches toward B. Their search-density distributions were asymmetric toward the second feeder, while one-feeder controls stayed symmetric. The asymmetry reversed when feeder B moved to the other side, matching its new location. The asymmetry therefore tracked the position of the second feeder, not the channel side.</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Redistribution therefore follows from the stored goal rather than from food present at the location. The behavior points to stored vector information rather than a landmark-based representation of the connecting space. Flexible use of prior destination experience is therefore the central result. The connecting space was searched through stored vectors rather than landmark cues.</a:t>
            </a:r>
            <a:endParaRPr/>
          </a:p>
        </p:txBody>
      </p:sp>
      <p:pic>
        <p:nvPicPr>
          <p:cNvPr descr="V25_3.png" id="592" name="Google Shape;592;p42"/>
          <p:cNvPicPr preferRelativeResize="0"/>
          <p:nvPr/>
        </p:nvPicPr>
        <p:blipFill rotWithShape="1">
          <a:blip r:embed="rId3">
            <a:alphaModFix/>
          </a:blip>
          <a:srcRect b="0" l="0" r="0" t="0"/>
          <a:stretch/>
        </p:blipFill>
        <p:spPr>
          <a:xfrm>
            <a:off x="6504127" y="1280160"/>
            <a:ext cx="5120640" cy="2430977"/>
          </a:xfrm>
          <a:prstGeom prst="rect">
            <a:avLst/>
          </a:prstGeom>
          <a:noFill/>
          <a:ln>
            <a:noFill/>
          </a:ln>
        </p:spPr>
      </p:pic>
      <p:sp>
        <p:nvSpPr>
          <p:cNvPr id="593" name="Google Shape;593;p42"/>
          <p:cNvSpPr txBox="1"/>
          <p:nvPr/>
        </p:nvSpPr>
        <p:spPr>
          <a:xfrm>
            <a:off x="6504127" y="3802577"/>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Voegeli et al. (2025), Fig. 3(a–b). Search shifts toward the second feeder on either side.</a:t>
            </a:r>
            <a:endParaRPr/>
          </a:p>
        </p:txBody>
      </p:sp>
      <p:sp>
        <p:nvSpPr>
          <p:cNvPr id="594" name="Google Shape;594;p42"/>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5" name="Google Shape;595;p4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Voegeli et al. (2025)</a:t>
            </a:r>
            <a:endParaRPr/>
          </a:p>
        </p:txBody>
      </p:sp>
      <p:sp>
        <p:nvSpPr>
          <p:cNvPr id="596" name="Google Shape;596;p4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42</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1" name="Shape 601"/>
        <p:cNvGrpSpPr/>
        <p:nvPr/>
      </p:nvGrpSpPr>
      <p:grpSpPr>
        <a:xfrm>
          <a:off x="0" y="0"/>
          <a:ext cx="0" cy="0"/>
          <a:chOff x="0" y="0"/>
          <a:chExt cx="0" cy="0"/>
        </a:xfrm>
      </p:grpSpPr>
      <p:sp>
        <p:nvSpPr>
          <p:cNvPr id="602" name="Google Shape;602;p4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Restricted sky views predict biases in goal searches</a:t>
            </a:r>
            <a:endParaRPr/>
          </a:p>
        </p:txBody>
      </p:sp>
      <p:sp>
        <p:nvSpPr>
          <p:cNvPr id="603" name="Google Shape;603;p4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A </a:t>
            </a:r>
            <a:r>
              <a:rPr b="1" i="0" lang="en-US" sz="1400" u="none" cap="none" strike="noStrike">
                <a:solidFill>
                  <a:srgbClr val="344F61"/>
                </a:solidFill>
                <a:latin typeface="Arial"/>
                <a:ea typeface="Arial"/>
                <a:cs typeface="Arial"/>
                <a:sym typeface="Arial"/>
              </a:rPr>
              <a:t>narrow channel</a:t>
            </a:r>
            <a:r>
              <a:rPr b="0" i="0" lang="en-US" sz="1400" u="none" cap="none" strike="noStrike">
                <a:solidFill>
                  <a:srgbClr val="27323A"/>
                </a:solidFill>
                <a:latin typeface="Arial"/>
                <a:ea typeface="Arial"/>
                <a:cs typeface="Arial"/>
                <a:sym typeface="Arial"/>
              </a:rPr>
              <a:t> restricts the visible portion of the polarization pattern. Depending on channel orientation and solar position, this restriction biases the compass information used during outbound acquisition. The biased information can therefore alter a stored goal vector. Channel walls thus limit which part of the sky the ant sees.</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Voegeli and colleagues separated tests into conditions predicting underestimation or overestimation of the A-to-B distance. Subtracting the one-feeder baseline isolates the feeder-specific component of the search. Their positive regions shifted in the predicted direction. Those predictions defined the direction of each expected shift. Each condition predicted a specific direction of error.</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relationship ties the searches to compass information acquired through the channels rather than to the physical location of an absent feeder alone. The searches therefore track compass information acquired in the channels. The positive regions reflect compass information from the channel rather than the feeder site alone. The feeder itself was absent in both conditions.</a:t>
            </a:r>
            <a:endParaRPr/>
          </a:p>
        </p:txBody>
      </p:sp>
      <p:pic>
        <p:nvPicPr>
          <p:cNvPr descr="V25_4.png" id="604" name="Google Shape;604;p43"/>
          <p:cNvPicPr preferRelativeResize="0"/>
          <p:nvPr/>
        </p:nvPicPr>
        <p:blipFill rotWithShape="1">
          <a:blip r:embed="rId3">
            <a:alphaModFix/>
          </a:blip>
          <a:srcRect b="0" l="0" r="0" t="0"/>
          <a:stretch/>
        </p:blipFill>
        <p:spPr>
          <a:xfrm>
            <a:off x="6871286" y="1280160"/>
            <a:ext cx="4386321" cy="4297679"/>
          </a:xfrm>
          <a:prstGeom prst="rect">
            <a:avLst/>
          </a:prstGeom>
          <a:noFill/>
          <a:ln>
            <a:noFill/>
          </a:ln>
        </p:spPr>
      </p:pic>
      <p:sp>
        <p:nvSpPr>
          <p:cNvPr id="605" name="Google Shape;605;p43"/>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Voegeli et al. (2025), Fig. 4(a1–b2). Relative search distributions track predicted compass biases.</a:t>
            </a:r>
            <a:endParaRPr/>
          </a:p>
        </p:txBody>
      </p:sp>
      <p:sp>
        <p:nvSpPr>
          <p:cNvPr id="606" name="Google Shape;606;p43"/>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7" name="Google Shape;607;p4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Voegeli et al. (2025)</a:t>
            </a:r>
            <a:endParaRPr/>
          </a:p>
        </p:txBody>
      </p:sp>
      <p:sp>
        <p:nvSpPr>
          <p:cNvPr id="608" name="Google Shape;608;p4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43</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3" name="Shape 613"/>
        <p:cNvGrpSpPr/>
        <p:nvPr/>
      </p:nvGrpSpPr>
      <p:grpSpPr>
        <a:xfrm>
          <a:off x="0" y="0"/>
          <a:ext cx="0" cy="0"/>
          <a:chOff x="0" y="0"/>
          <a:chExt cx="0" cy="0"/>
        </a:xfrm>
      </p:grpSpPr>
      <p:sp>
        <p:nvSpPr>
          <p:cNvPr id="614" name="Google Shape;614;p4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Stored goals can interact with the current home vector</a:t>
            </a:r>
            <a:endParaRPr/>
          </a:p>
        </p:txBody>
      </p:sp>
      <p:sp>
        <p:nvSpPr>
          <p:cNvPr id="615" name="Google Shape;615;p44"/>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current vector is updated during ongoing travel, whereas a stored goal vector can persist across journeys. A goal can be approached by comparing the current nest-relative state with a remembered destination. This approach avoids constructing a map of all familiar places. The current state and the stored goal are therefore compared rather than mapped.</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In the two-feeder experiment, ants searched toward B from A along an untrained connecting route. The two feeders were separated by 4.1 m. The authors proposed that the food vector for B is retrieved into working memory while the path integrator keeps tracking the ant's current state. Retrieval of B's vector occurs while travel continues.</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This account explains the shortcut without invoking a metric cognitive map. The proposal is interpretive, because the behavioral experiment establishes the search pattern. Working-memory neurons and the synaptic storage of A and B remain for future identification. The shortcut is thus explained by two stored and continuous signals. The explanation fits the observed route without extra assumptions.</a:t>
            </a:r>
            <a:endParaRPr/>
          </a:p>
        </p:txBody>
      </p:sp>
      <p:pic>
        <p:nvPicPr>
          <p:cNvPr descr="V25_5.png" id="616" name="Google Shape;616;p44"/>
          <p:cNvPicPr preferRelativeResize="0"/>
          <p:nvPr/>
        </p:nvPicPr>
        <p:blipFill rotWithShape="1">
          <a:blip r:embed="rId3">
            <a:alphaModFix/>
          </a:blip>
          <a:srcRect b="0" l="0" r="0" t="0"/>
          <a:stretch/>
        </p:blipFill>
        <p:spPr>
          <a:xfrm>
            <a:off x="7075576" y="1280160"/>
            <a:ext cx="3977741" cy="4297679"/>
          </a:xfrm>
          <a:prstGeom prst="rect">
            <a:avLst/>
          </a:prstGeom>
          <a:noFill/>
          <a:ln>
            <a:noFill/>
          </a:ln>
        </p:spPr>
      </p:pic>
      <p:sp>
        <p:nvSpPr>
          <p:cNvPr id="617" name="Google Shape;617;p44"/>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Voegeli et al. (2025), Fig. 5. Published framework relating current, stored and view-based vectors.</a:t>
            </a:r>
            <a:endParaRPr/>
          </a:p>
        </p:txBody>
      </p:sp>
      <p:sp>
        <p:nvSpPr>
          <p:cNvPr id="618" name="Google Shape;618;p44"/>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9" name="Google Shape;619;p4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Voegeli et al. (2025)</a:t>
            </a:r>
            <a:endParaRPr/>
          </a:p>
        </p:txBody>
      </p:sp>
      <p:sp>
        <p:nvSpPr>
          <p:cNvPr id="620" name="Google Shape;620;p4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44</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5" name="Shape 625"/>
        <p:cNvGrpSpPr/>
        <p:nvPr/>
      </p:nvGrpSpPr>
      <p:grpSpPr>
        <a:xfrm>
          <a:off x="0" y="0"/>
          <a:ext cx="0" cy="0"/>
          <a:chOff x="0" y="0"/>
          <a:chExt cx="0" cy="0"/>
        </a:xfrm>
      </p:grpSpPr>
      <p:sp>
        <p:nvSpPr>
          <p:cNvPr id="626" name="Google Shape;626;p4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A shortcut does not uniquely establish a cognitive map</a:t>
            </a:r>
            <a:endParaRPr/>
          </a:p>
        </p:txBody>
      </p:sp>
      <p:sp>
        <p:nvSpPr>
          <p:cNvPr id="627" name="Google Shape;627;p45"/>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A </a:t>
            </a:r>
            <a:r>
              <a:rPr b="1" i="0" lang="en-US" sz="1400" u="none" cap="none" strike="noStrike">
                <a:solidFill>
                  <a:srgbClr val="344F61"/>
                </a:solidFill>
                <a:latin typeface="Arial"/>
                <a:ea typeface="Arial"/>
                <a:cs typeface="Arial"/>
                <a:sym typeface="Arial"/>
              </a:rPr>
              <a:t>metric cognitive map</a:t>
            </a:r>
            <a:r>
              <a:rPr b="0" i="0" lang="en-US" sz="1400" u="none" cap="none" strike="noStrike">
                <a:solidFill>
                  <a:srgbClr val="27323A"/>
                </a:solidFill>
                <a:latin typeface="Arial"/>
                <a:ea typeface="Arial"/>
                <a:cs typeface="Arial"/>
                <a:sym typeface="Arial"/>
              </a:rPr>
              <a:t> represents spatial relationships among familiar places in a common coordinate system. Novel shortcutting is often treated as evidence for such a map. The same behavior can follow from simpler stored vectors and continuous self-motion updating. A metric map would include the spatial relations among several familiar places.</a:t>
            </a:r>
            <a:endParaRPr/>
          </a:p>
          <a:p>
            <a:pPr indent="0" lvl="0" marL="0" marR="0" rtl="0" algn="l">
              <a:lnSpc>
                <a:spcPct val="108000"/>
              </a:lnSpc>
              <a:spcBef>
                <a:spcPts val="0"/>
              </a:spcBef>
              <a:spcAft>
                <a:spcPts val="1200"/>
              </a:spcAft>
              <a:buNone/>
            </a:pPr>
            <a:r>
              <a:rPr b="0" i="1" lang="en-US" sz="1400" u="none" cap="none" strike="noStrike">
                <a:solidFill>
                  <a:srgbClr val="27323A"/>
                </a:solidFill>
                <a:latin typeface="Arial"/>
                <a:ea typeface="Arial"/>
                <a:cs typeface="Arial"/>
                <a:sym typeface="Arial"/>
              </a:rPr>
              <a:t>Cataglyphis</a:t>
            </a:r>
            <a:r>
              <a:rPr b="0" i="0" lang="en-US" sz="1400" u="none" cap="none" strike="noStrike">
                <a:solidFill>
                  <a:srgbClr val="27323A"/>
                </a:solidFill>
                <a:latin typeface="Arial"/>
                <a:ea typeface="Arial"/>
                <a:cs typeface="Arial"/>
                <a:sym typeface="Arial"/>
              </a:rPr>
              <a:t> ants trained separately to feeders 4.5 m and 5.7 m from the nest searched along their previously untraveled connecting route. The controlled A-to-B test demonstrated flexible navigation toward a second goal. The route had no training history, so the shortcut was never practiced. Each feeder had been trained along its own nest channel.</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behavior is compatible with a nest-referenced vector system and fits that explanation without needing the stronger metric account. Shortcutting therefore identifies flexible navigation, and a unique marker of map-based navigation needs evidence beyond it. Shortcutting alone leaves the two explanations equally consistent. A nest-referenced vector system is therefore sufficient to produce the observed shortcut.</a:t>
            </a:r>
            <a:endParaRPr/>
          </a:p>
        </p:txBody>
      </p:sp>
      <p:pic>
        <p:nvPicPr>
          <p:cNvPr descr="V25_5.png" id="628" name="Google Shape;628;p45"/>
          <p:cNvPicPr preferRelativeResize="0"/>
          <p:nvPr/>
        </p:nvPicPr>
        <p:blipFill rotWithShape="1">
          <a:blip r:embed="rId3">
            <a:alphaModFix/>
          </a:blip>
          <a:srcRect b="0" l="0" r="0" t="0"/>
          <a:stretch/>
        </p:blipFill>
        <p:spPr>
          <a:xfrm>
            <a:off x="7075576" y="1280160"/>
            <a:ext cx="3977741" cy="4297679"/>
          </a:xfrm>
          <a:prstGeom prst="rect">
            <a:avLst/>
          </a:prstGeom>
          <a:noFill/>
          <a:ln>
            <a:noFill/>
          </a:ln>
        </p:spPr>
      </p:pic>
      <p:sp>
        <p:nvSpPr>
          <p:cNvPr id="629" name="Google Shape;629;p45"/>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Voegeli et al. (2025), Fig. 5. Published framework relating current, stored and view-based vectors.</a:t>
            </a:r>
            <a:endParaRPr/>
          </a:p>
        </p:txBody>
      </p:sp>
      <p:sp>
        <p:nvSpPr>
          <p:cNvPr id="630" name="Google Shape;630;p45"/>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1" name="Google Shape;631;p4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Voegeli et al. (2025)</a:t>
            </a:r>
            <a:endParaRPr/>
          </a:p>
        </p:txBody>
      </p:sp>
      <p:sp>
        <p:nvSpPr>
          <p:cNvPr id="632" name="Google Shape;632;p4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45</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7" name="Shape 637"/>
        <p:cNvGrpSpPr/>
        <p:nvPr/>
      </p:nvGrpSpPr>
      <p:grpSpPr>
        <a:xfrm>
          <a:off x="0" y="0"/>
          <a:ext cx="0" cy="0"/>
          <a:chOff x="0" y="0"/>
          <a:chExt cx="0" cy="0"/>
        </a:xfrm>
      </p:grpSpPr>
      <p:sp>
        <p:nvSpPr>
          <p:cNvPr id="638" name="Google Shape;638;p4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Key takeaways</a:t>
            </a:r>
            <a:endParaRPr/>
          </a:p>
        </p:txBody>
      </p:sp>
      <p:sp>
        <p:nvSpPr>
          <p:cNvPr id="639" name="Google Shape;639;p46"/>
          <p:cNvSpPr/>
          <p:nvPr/>
        </p:nvSpPr>
        <p:spPr>
          <a:xfrm>
            <a:off x="566928" y="1234440"/>
            <a:ext cx="5391759" cy="1478279"/>
          </a:xfrm>
          <a:prstGeom prst="rect">
            <a:avLst/>
          </a:prstGeom>
          <a:solidFill>
            <a:srgbClr val="EDF2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0" name="Google Shape;640;p46"/>
          <p:cNvSpPr txBox="1"/>
          <p:nvPr/>
        </p:nvSpPr>
        <p:spPr>
          <a:xfrm>
            <a:off x="749808"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344F61"/>
                </a:solidFill>
                <a:latin typeface="Arial"/>
                <a:ea typeface="Arial"/>
                <a:cs typeface="Arial"/>
                <a:sym typeface="Arial"/>
              </a:rPr>
              <a:t>Home vectors</a:t>
            </a:r>
            <a:r>
              <a:rPr b="0" i="0" lang="en-US" sz="1600" u="none" cap="none" strike="noStrike">
                <a:solidFill>
                  <a:srgbClr val="27323A"/>
                </a:solidFill>
                <a:latin typeface="Arial"/>
                <a:ea typeface="Arial"/>
                <a:cs typeface="Arial"/>
                <a:sym typeface="Arial"/>
              </a:rPr>
              <a:t> combine direction and distance acquired during movement; they differ from retracing the outward route.</a:t>
            </a:r>
            <a:endParaRPr/>
          </a:p>
        </p:txBody>
      </p:sp>
      <p:sp>
        <p:nvSpPr>
          <p:cNvPr id="641" name="Google Shape;641;p46"/>
          <p:cNvSpPr/>
          <p:nvPr/>
        </p:nvSpPr>
        <p:spPr>
          <a:xfrm>
            <a:off x="6233007" y="1234440"/>
            <a:ext cx="5391759" cy="1478279"/>
          </a:xfrm>
          <a:prstGeom prst="rect">
            <a:avLst/>
          </a:prstGeom>
          <a:solidFill>
            <a:srgbClr val="EDF2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2" name="Google Shape;642;p46"/>
          <p:cNvSpPr txBox="1"/>
          <p:nvPr/>
        </p:nvSpPr>
        <p:spPr>
          <a:xfrm>
            <a:off x="6415887"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344F61"/>
                </a:solidFill>
                <a:latin typeface="Arial"/>
                <a:ea typeface="Arial"/>
                <a:cs typeface="Arial"/>
                <a:sym typeface="Arial"/>
              </a:rPr>
              <a:t>Controlled displacement</a:t>
            </a:r>
            <a:r>
              <a:rPr b="0" i="0" lang="en-US" sz="1600" u="none" cap="none" strike="noStrike">
                <a:solidFill>
                  <a:srgbClr val="27323A"/>
                </a:solidFill>
                <a:latin typeface="Arial"/>
                <a:ea typeface="Arial"/>
                <a:cs typeface="Arial"/>
                <a:sym typeface="Arial"/>
              </a:rPr>
              <a:t> reveals a stored movement-derived estimate by separating the expressed vector from the true nest position.</a:t>
            </a:r>
            <a:endParaRPr/>
          </a:p>
        </p:txBody>
      </p:sp>
      <p:sp>
        <p:nvSpPr>
          <p:cNvPr id="643" name="Google Shape;643;p46"/>
          <p:cNvSpPr/>
          <p:nvPr/>
        </p:nvSpPr>
        <p:spPr>
          <a:xfrm>
            <a:off x="566928" y="2987040"/>
            <a:ext cx="5391759" cy="1478279"/>
          </a:xfrm>
          <a:prstGeom prst="rect">
            <a:avLst/>
          </a:prstGeom>
          <a:solidFill>
            <a:srgbClr val="EDF2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4" name="Google Shape;644;p46"/>
          <p:cNvSpPr txBox="1"/>
          <p:nvPr/>
        </p:nvSpPr>
        <p:spPr>
          <a:xfrm>
            <a:off x="749808"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344F61"/>
                </a:solidFill>
                <a:latin typeface="Arial"/>
                <a:ea typeface="Arial"/>
                <a:cs typeface="Arial"/>
                <a:sym typeface="Arial"/>
              </a:rPr>
              <a:t>Stride-dependent odometry</a:t>
            </a:r>
            <a:r>
              <a:rPr b="0" i="0" lang="en-US" sz="1600" u="none" cap="none" strike="noStrike">
                <a:solidFill>
                  <a:srgbClr val="27323A"/>
                </a:solidFill>
                <a:latin typeface="Arial"/>
                <a:ea typeface="Arial"/>
                <a:cs typeface="Arial"/>
                <a:sym typeface="Arial"/>
              </a:rPr>
              <a:t> is supported by stilt overshoot, stump undershoot and recovery when outbound and inbound leg conditions match.</a:t>
            </a:r>
            <a:endParaRPr/>
          </a:p>
        </p:txBody>
      </p:sp>
      <p:sp>
        <p:nvSpPr>
          <p:cNvPr id="645" name="Google Shape;645;p46"/>
          <p:cNvSpPr/>
          <p:nvPr/>
        </p:nvSpPr>
        <p:spPr>
          <a:xfrm>
            <a:off x="6233007" y="2987040"/>
            <a:ext cx="5391759" cy="1478279"/>
          </a:xfrm>
          <a:prstGeom prst="rect">
            <a:avLst/>
          </a:prstGeom>
          <a:solidFill>
            <a:srgbClr val="EDF2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6" name="Google Shape;646;p46"/>
          <p:cNvSpPr txBox="1"/>
          <p:nvPr/>
        </p:nvSpPr>
        <p:spPr>
          <a:xfrm>
            <a:off x="6415887"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344F61"/>
                </a:solidFill>
                <a:latin typeface="Arial"/>
                <a:ea typeface="Arial"/>
                <a:cs typeface="Arial"/>
                <a:sym typeface="Arial"/>
              </a:rPr>
              <a:t>Compass learning</a:t>
            </a:r>
            <a:r>
              <a:rPr b="0" i="0" lang="en-US" sz="1600" u="none" cap="none" strike="noStrike">
                <a:solidFill>
                  <a:srgbClr val="27323A"/>
                </a:solidFill>
                <a:latin typeface="Arial"/>
                <a:ea typeface="Arial"/>
                <a:cs typeface="Arial"/>
                <a:sym typeface="Arial"/>
              </a:rPr>
              <a:t> depends on changing celestial information during early learning walks and is associated with region-specific structural plasticity.</a:t>
            </a:r>
            <a:endParaRPr/>
          </a:p>
        </p:txBody>
      </p:sp>
      <p:sp>
        <p:nvSpPr>
          <p:cNvPr id="647" name="Google Shape;647;p46"/>
          <p:cNvSpPr/>
          <p:nvPr/>
        </p:nvSpPr>
        <p:spPr>
          <a:xfrm>
            <a:off x="566928" y="4739640"/>
            <a:ext cx="5391759" cy="1478279"/>
          </a:xfrm>
          <a:prstGeom prst="rect">
            <a:avLst/>
          </a:prstGeom>
          <a:solidFill>
            <a:srgbClr val="EDF2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8" name="Google Shape;648;p46"/>
          <p:cNvSpPr txBox="1"/>
          <p:nvPr/>
        </p:nvSpPr>
        <p:spPr>
          <a:xfrm>
            <a:off x="749808"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344F61"/>
                </a:solidFill>
                <a:latin typeface="Arial"/>
                <a:ea typeface="Arial"/>
                <a:cs typeface="Arial"/>
                <a:sym typeface="Arial"/>
              </a:rPr>
              <a:t>Magnetic reference signals</a:t>
            </a:r>
            <a:r>
              <a:rPr b="0" i="0" lang="en-US" sz="1600" u="none" cap="none" strike="noStrike">
                <a:solidFill>
                  <a:srgbClr val="27323A"/>
                </a:solidFill>
                <a:latin typeface="Arial"/>
                <a:ea typeface="Arial"/>
                <a:cs typeface="Arial"/>
                <a:sym typeface="Arial"/>
              </a:rPr>
              <a:t> affect nest-directed gazes and brain plasticity differently; the magnetic receptor and causal cellular mechanisms remain unresolved.</a:t>
            </a:r>
            <a:endParaRPr/>
          </a:p>
        </p:txBody>
      </p:sp>
      <p:sp>
        <p:nvSpPr>
          <p:cNvPr id="649" name="Google Shape;649;p46"/>
          <p:cNvSpPr/>
          <p:nvPr/>
        </p:nvSpPr>
        <p:spPr>
          <a:xfrm>
            <a:off x="6233007" y="4739640"/>
            <a:ext cx="5391759" cy="1478279"/>
          </a:xfrm>
          <a:prstGeom prst="rect">
            <a:avLst/>
          </a:prstGeom>
          <a:solidFill>
            <a:srgbClr val="EDF2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0" name="Google Shape;650;p46"/>
          <p:cNvSpPr txBox="1"/>
          <p:nvPr/>
        </p:nvSpPr>
        <p:spPr>
          <a:xfrm>
            <a:off x="6415887"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344F61"/>
                </a:solidFill>
                <a:latin typeface="Arial"/>
                <a:ea typeface="Arial"/>
                <a:cs typeface="Arial"/>
                <a:sym typeface="Arial"/>
              </a:rPr>
              <a:t>Novel shortcuts</a:t>
            </a:r>
            <a:r>
              <a:rPr b="0" i="0" lang="en-US" sz="1600" u="none" cap="none" strike="noStrike">
                <a:solidFill>
                  <a:srgbClr val="27323A"/>
                </a:solidFill>
                <a:latin typeface="Arial"/>
                <a:ea typeface="Arial"/>
                <a:cs typeface="Arial"/>
                <a:sym typeface="Arial"/>
              </a:rPr>
              <a:t> can arise from stored goal vectors interacting with an ongoing path integrator, so shortcutting alone does not establish a cognitive map.</a:t>
            </a:r>
            <a:endParaRPr/>
          </a:p>
        </p:txBody>
      </p:sp>
      <p:sp>
        <p:nvSpPr>
          <p:cNvPr id="651" name="Google Shape;651;p46"/>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2" name="Google Shape;652;p4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Müller &amp; Wehner (1988); Wittlinger et al. (2007); Grob et al. (2022, 2024); Voegeli et al. (2025)</a:t>
            </a:r>
            <a:endParaRPr/>
          </a:p>
        </p:txBody>
      </p:sp>
      <p:sp>
        <p:nvSpPr>
          <p:cNvPr id="653" name="Google Shape;653;p4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46</a:t>
            </a:r>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90" name="Google Shape;590;p4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Symmetric controls set the baseline for the bias</a:t>
            </a:r>
            <a:endParaRPr/>
          </a:p>
        </p:txBody>
      </p:sp>
      <p:sp>
        <p:nvSpPr>
          <p:cNvPr id="591" name="Google Shape;591;p4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Control ants visited feeder A alone before the test. Once food was removed, their searches centered on the old feeder and spread roughly evenly to both sides. Their distribution served as the baseline for the two-feeder searches. Without a second food source in memory, one-feeder controls show the expected search pattern.</a:t>
            </a:r>
            <a:endParaRPr/>
          </a:p>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About two-thirds of two-feeder ants turned first toward the side where the second feeder sat. The effect appeared whichever side feeder B occupied. Stored goals persist across journeys, while the current vector updates during travel.</a:t>
            </a:r>
            <a:endParaRPr/>
          </a:p>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Searches were scored as distances in metres from the start along the connecting channel. The first U-turn is an early movement, separate from the later back-and-forth searching. The searches were recorded as density distributions over the channel.</a:t>
            </a:r>
            <a:endParaRPr/>
          </a:p>
        </p:txBody>
      </p:sp>
      <p:pic>
        <p:nvPicPr>
          <p:cNvPr descr="V25_3.png" id="592" name="Google Shape;592;p42"/>
          <p:cNvPicPr preferRelativeResize="0"/>
          <p:nvPr/>
        </p:nvPicPr>
        <p:blipFill rotWithShape="1">
          <a:blip r:embed="rId2">
            <a:alphaModFix/>
          </a:blip>
          <a:srcRect b="0" l="0" r="0" t="0"/>
          <a:stretch/>
        </p:blipFill>
        <p:spPr>
          <a:xfrm>
            <a:off x="6504127" y="1280160"/>
            <a:ext cx="5120640" cy="2430977"/>
          </a:xfrm>
          <a:prstGeom prst="rect">
            <a:avLst/>
          </a:prstGeom>
          <a:noFill/>
          <a:ln>
            <a:noFill/>
          </a:ln>
        </p:spPr>
      </p:pic>
      <p:sp>
        <p:nvSpPr>
          <p:cNvPr id="593" name="Google Shape;593;p42"/>
          <p:cNvSpPr txBox="1"/>
          <p:nvPr/>
        </p:nvSpPr>
        <p:spPr>
          <a:xfrm>
            <a:off x="6504127" y="3802577"/>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Voegeli et al. (2025), Fig. 3(a–b). Search shifts toward the second feeder on either side.</a:t>
            </a:r>
            <a:endParaRPr/>
          </a:p>
        </p:txBody>
      </p:sp>
      <p:sp>
        <p:nvSpPr>
          <p:cNvPr id="594" name="Google Shape;594;p42"/>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5" name="Google Shape;595;p4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Voegeli et al. (2025)</a:t>
            </a:r>
            <a:endParaRPr/>
          </a:p>
        </p:txBody>
      </p:sp>
      <p:sp>
        <p:nvSpPr>
          <p:cNvPr id="596" name="Google Shape;596;p42"/>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42a</a:t>
            </a:r>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54" name="Google Shape;554;p3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Ten training journeys set up two feeders</a:t>
            </a:r>
            <a:endParaRPr/>
          </a:p>
        </p:txBody>
      </p:sp>
      <p:sp>
        <p:nvSpPr>
          <p:cNvPr id="555" name="Google Shape;555;p39"/>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Ants completed ten training journeys: four to feeder A, four to B and two final journeys to A. Feeder B lay 45° to the left or right of A as viewed from the nest. Each feeder had its own channel leading from the nest during training. The nest-to-feeder channels were separated from the connecting channel.</a:t>
            </a:r>
            <a:endParaRPr/>
          </a:p>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The subsequent test removed food and opened the connecting test channel at A. At any moment, a single nest-channel entrance was open. Its distances from the nest were 4.5 m to A and 5.7 m to B. The connecting channel was new to the ants. The test then measured where the searches concentrated.</a:t>
            </a:r>
            <a:endParaRPr/>
          </a:p>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Feeder B was placed on either side of A in separate test arrangements. A shortcut links familiar destinations through a route that the ant never used during training. Feeder B's test arrangements placed it left or right of A in balanced fashion. The left and right placements were both tested.</a:t>
            </a:r>
            <a:endParaRPr/>
          </a:p>
        </p:txBody>
      </p:sp>
      <p:pic>
        <p:nvPicPr>
          <p:cNvPr descr="V25_1.png" id="556" name="Google Shape;556;p39"/>
          <p:cNvPicPr preferRelativeResize="0"/>
          <p:nvPr/>
        </p:nvPicPr>
        <p:blipFill rotWithShape="1">
          <a:blip r:embed="rId2">
            <a:alphaModFix/>
          </a:blip>
          <a:srcRect b="0" l="0" r="0" t="0"/>
          <a:stretch/>
        </p:blipFill>
        <p:spPr>
          <a:xfrm>
            <a:off x="6504127" y="1280160"/>
            <a:ext cx="5120640" cy="2524553"/>
          </a:xfrm>
          <a:prstGeom prst="rect">
            <a:avLst/>
          </a:prstGeom>
          <a:noFill/>
          <a:ln>
            <a:noFill/>
          </a:ln>
        </p:spPr>
      </p:pic>
      <p:sp>
        <p:nvSpPr>
          <p:cNvPr id="557" name="Google Shape;557;p39"/>
          <p:cNvSpPr txBox="1"/>
          <p:nvPr/>
        </p:nvSpPr>
        <p:spPr>
          <a:xfrm>
            <a:off x="6504127" y="3896153"/>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Voegeli et al. (2025), Fig. 1. Training channels, two feeders and the novel connecting route.</a:t>
            </a:r>
            <a:endParaRPr/>
          </a:p>
        </p:txBody>
      </p:sp>
      <p:sp>
        <p:nvSpPr>
          <p:cNvPr id="558" name="Google Shape;558;p39"/>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9" name="Google Shape;559;p3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Voegeli et al. (2025)</a:t>
            </a:r>
            <a:endParaRPr/>
          </a:p>
        </p:txBody>
      </p:sp>
      <p:sp>
        <p:nvSpPr>
          <p:cNvPr id="560" name="Google Shape;560;p39"/>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39a</a:t>
            </a:r>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16" name="Google Shape;516;p3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Magnetic conditions set collar and microglomerular growth</a:t>
            </a:r>
            <a:endParaRPr/>
          </a:p>
        </p:txBody>
      </p:sp>
      <p:sp>
        <p:nvSpPr>
          <p:cNvPr id="517" name="Google Shape;517;p36"/>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magnetic-plus-solar condition adjusted the horizontal vector every 10 seconds to follow the sun's azimuth across the day. Individual learning walks lasted seconds to minutes, and the reference only had to hold during each walk. During each walk, the sun's azimuth set the direction of the vector. The same magnetic-plus-solar condition kept the look-back behavior intact.</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Under total elimination, the residual field was about 0.1 µT, far below the natural value. Complete removal differs from a remaining downward vertical field. The natural field was measured at the same site as the coil platform. The altered conditions were set relative to the natural field measured at this site.</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The coils controlled the horizontal and vertical field components separately, while the natural panorama stayed in view. Both collar volume and microglomerular number were corrected for body size. Nest-directed pirouette pauses were the orientation measure in each condition. These two endpoints were measured after the same three-day learning period. Both measures were taken from the same brains.</a:t>
            </a:r>
            <a:endParaRPr/>
          </a:p>
        </p:txBody>
      </p:sp>
      <p:pic>
        <p:nvPicPr>
          <p:cNvPr descr="G24_4bc.png" id="518" name="Google Shape;518;p36"/>
          <p:cNvPicPr preferRelativeResize="0"/>
          <p:nvPr/>
        </p:nvPicPr>
        <p:blipFill rotWithShape="1">
          <a:blip r:embed="rId2">
            <a:alphaModFix/>
          </a:blip>
          <a:srcRect b="0" l="0" r="0" t="0"/>
          <a:stretch/>
        </p:blipFill>
        <p:spPr>
          <a:xfrm>
            <a:off x="6321247" y="1280160"/>
            <a:ext cx="3291840" cy="4294702"/>
          </a:xfrm>
          <a:prstGeom prst="rect">
            <a:avLst/>
          </a:prstGeom>
          <a:noFill/>
          <a:ln>
            <a:noFill/>
          </a:ln>
        </p:spPr>
      </p:pic>
      <p:sp>
        <p:nvSpPr>
          <p:cNvPr id="519" name="Google Shape;519;p36"/>
          <p:cNvSpPr txBox="1"/>
          <p:nvPr/>
        </p:nvSpPr>
        <p:spPr>
          <a:xfrm>
            <a:off x="6321247" y="5666302"/>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(2024), Fig. 4(B–C). Mushroom-body volume and synaptic complexes under magnetic treatments.</a:t>
            </a:r>
            <a:endParaRPr/>
          </a:p>
        </p:txBody>
      </p:sp>
      <p:pic>
        <p:nvPicPr>
          <p:cNvPr descr="G24_3A.png" id="520" name="Google Shape;520;p36"/>
          <p:cNvPicPr preferRelativeResize="0"/>
          <p:nvPr/>
        </p:nvPicPr>
        <p:blipFill rotWithShape="1">
          <a:blip r:embed="rId3">
            <a:alphaModFix/>
          </a:blip>
          <a:srcRect b="0" l="0" r="0" t="0"/>
          <a:stretch/>
        </p:blipFill>
        <p:spPr>
          <a:xfrm>
            <a:off x="9795967" y="2148840"/>
            <a:ext cx="1828799" cy="1690459"/>
          </a:xfrm>
          <a:prstGeom prst="rect">
            <a:avLst/>
          </a:prstGeom>
          <a:noFill/>
          <a:ln>
            <a:noFill/>
          </a:ln>
        </p:spPr>
      </p:pic>
      <p:sp>
        <p:nvSpPr>
          <p:cNvPr id="521" name="Google Shape;521;p36"/>
          <p:cNvSpPr txBox="1"/>
          <p:nvPr/>
        </p:nvSpPr>
        <p:spPr>
          <a:xfrm>
            <a:off x="9795967" y="3912451"/>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(2024), Fig. 3(A). Synapsin-labelled brain and mushroom-body microglomeruli.</a:t>
            </a:r>
            <a:endParaRPr/>
          </a:p>
        </p:txBody>
      </p:sp>
      <p:sp>
        <p:nvSpPr>
          <p:cNvPr id="522" name="Google Shape;522;p36"/>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3" name="Google Shape;523;p3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(2024)</a:t>
            </a:r>
            <a:endParaRPr/>
          </a:p>
        </p:txBody>
      </p:sp>
      <p:sp>
        <p:nvSpPr>
          <p:cNvPr id="524" name="Google Shape;524;p36"/>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36a</a:t>
            </a:r>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78" name="Google Shape;478;p3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Natural field components set the magnetic conditions</a:t>
            </a:r>
            <a:endParaRPr/>
          </a:p>
        </p:txBody>
      </p:sp>
      <p:sp>
        <p:nvSpPr>
          <p:cNvPr id="479" name="Google Shape;479;p3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The coil system was three-dimensional. The natural field measured 46.1 µT in total, and 26.6 µT of that was horizontal. Helmholtz coils set the horizontal and vertical components separately in each condition. The coils set the field in a volume around the learning platform.</a:t>
            </a:r>
            <a:endParaRPr/>
          </a:p>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With horizontal elimination, the downward vertical field measured about 37.5 µT. The published angular distributions of nest-directed gazes were binned at 10°. The coils surrounded a 60 × 60 cm platform joined to the nest, and novices learned on it for three days. The retained field pointed downward, not horizontally.</a:t>
            </a:r>
            <a:endParaRPr/>
          </a:p>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Central-complex volume rose in the natural field and in several elimination or disarray conditions over three days. Nest-directed gazes were scored from the longest pirouette pauses in each walk. Under natural conditions, those pauses point toward the nest. Those pauses were scored within each ant's own walk.</a:t>
            </a:r>
            <a:endParaRPr/>
          </a:p>
        </p:txBody>
      </p:sp>
      <p:pic>
        <p:nvPicPr>
          <p:cNvPr descr="G24_2.png" id="480" name="Google Shape;480;p33"/>
          <p:cNvPicPr preferRelativeResize="0"/>
          <p:nvPr/>
        </p:nvPicPr>
        <p:blipFill rotWithShape="1">
          <a:blip r:embed="rId2">
            <a:alphaModFix/>
          </a:blip>
          <a:srcRect b="0" l="0" r="0" t="0"/>
          <a:stretch/>
        </p:blipFill>
        <p:spPr>
          <a:xfrm>
            <a:off x="6504127" y="1280160"/>
            <a:ext cx="5120640" cy="1782125"/>
          </a:xfrm>
          <a:prstGeom prst="rect">
            <a:avLst/>
          </a:prstGeom>
          <a:noFill/>
          <a:ln>
            <a:noFill/>
          </a:ln>
        </p:spPr>
      </p:pic>
      <p:sp>
        <p:nvSpPr>
          <p:cNvPr id="481" name="Google Shape;481;p33"/>
          <p:cNvSpPr txBox="1"/>
          <p:nvPr/>
        </p:nvSpPr>
        <p:spPr>
          <a:xfrm>
            <a:off x="6504127" y="3153725"/>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(2024), Fig. 2(A–C). Nest-directed gazes under three magnetic manipulations.</a:t>
            </a:r>
            <a:endParaRPr/>
          </a:p>
        </p:txBody>
      </p:sp>
      <p:sp>
        <p:nvSpPr>
          <p:cNvPr id="482" name="Google Shape;482;p33"/>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3" name="Google Shape;483;p3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(2024)</a:t>
            </a:r>
            <a:endParaRPr/>
          </a:p>
        </p:txBody>
      </p:sp>
      <p:sp>
        <p:nvSpPr>
          <p:cNvPr id="484" name="Google Shape;484;p33"/>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33a</a:t>
            </a:r>
            <a:endParaR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42" name="Google Shape;442;p3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Rotation schedules shape collar and lateral responses</a:t>
            </a:r>
            <a:endParaRPr/>
          </a:p>
        </p:txBody>
      </p:sp>
      <p:sp>
        <p:nvSpPr>
          <p:cNvPr id="443" name="Google Shape;443;p30"/>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Each of the three rotating schedules raised collar volume and the microglomerular count. A stationary pattern produced no such growth, and polarized light alone did not produce that growth either. The stationary pattern was the reference condition for the rotating schedules.</a:t>
            </a:r>
            <a:endParaRPr/>
          </a:p>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Lateral-complex giant synapses changed little across those schedules. Continuous rotation advanced the filter orientation by 15° per hour, a slower step than the hourly 45° turns, and the schedules differed in how fast the pattern rotated over three days.</a:t>
            </a:r>
            <a:endParaRPr/>
          </a:p>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Learning walks take the ant on short trips around the nest as it moves from indoor work to outdoor foraging. The sky-compass pathway runs through the lateral complex, one of the visual integration centers. Mushroom-body volume responded to the same schedules.</a:t>
            </a:r>
            <a:endParaRPr/>
          </a:p>
        </p:txBody>
      </p:sp>
      <p:pic>
        <p:nvPicPr>
          <p:cNvPr descr="G22_1D.png" id="444" name="Google Shape;444;p30"/>
          <p:cNvPicPr preferRelativeResize="0"/>
          <p:nvPr/>
        </p:nvPicPr>
        <p:blipFill rotWithShape="1">
          <a:blip r:embed="rId2">
            <a:alphaModFix/>
          </a:blip>
          <a:srcRect b="0" l="0" r="0" t="0"/>
          <a:stretch/>
        </p:blipFill>
        <p:spPr>
          <a:xfrm>
            <a:off x="6785581" y="1280160"/>
            <a:ext cx="4557730" cy="4297679"/>
          </a:xfrm>
          <a:prstGeom prst="rect">
            <a:avLst/>
          </a:prstGeom>
          <a:noFill/>
          <a:ln>
            <a:noFill/>
          </a:ln>
        </p:spPr>
      </p:pic>
      <p:sp>
        <p:nvSpPr>
          <p:cNvPr id="445" name="Google Shape;445;p30"/>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(2022), Fig. 1(d). Published three-dimensional reconstruction of visual integration centres.</a:t>
            </a:r>
            <a:endParaRPr/>
          </a:p>
        </p:txBody>
      </p:sp>
      <p:sp>
        <p:nvSpPr>
          <p:cNvPr id="446" name="Google Shape;446;p30"/>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7" name="Google Shape;447;p3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(2022)</a:t>
            </a:r>
            <a:endParaRPr/>
          </a:p>
        </p:txBody>
      </p:sp>
      <p:sp>
        <p:nvSpPr>
          <p:cNvPr id="448" name="Google Shape;448;p30"/>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30a</a:t>
            </a:r>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00" name="Google Shape;400;p2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Learning-walk setup defines the treatment groups</a:t>
            </a:r>
            <a:endParaRPr/>
          </a:p>
        </p:txBody>
      </p:sp>
      <p:sp>
        <p:nvSpPr>
          <p:cNvPr id="401" name="Google Shape;401;p27"/>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A table installed 30 cm above the nest entrance held the polarization filter over a 60 × 60 cm learning-walk area. Novices tested around natural nests in Greece experienced their defined skylight condition over three days. Novices performed learning walks around the nest.</a:t>
            </a:r>
            <a:endParaRPr/>
          </a:p>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A time-compensated compass has to follow the sun's position, which changes through the day. Initial learning can establish the link between those celestial changes and stable surroundings. Each treatment set how often the polarization direction changed.</a:t>
            </a:r>
            <a:endParaRPr/>
          </a:p>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Across the learning-walk schedules, volume changed in the central complex and in the mushroom-body collar, while giant-synapse counts stayed broadly similar. The continuous rotation condition changed filter orientation at 15° per hour. The natural skylight condition was one of those schedules.</a:t>
            </a:r>
            <a:endParaRPr/>
          </a:p>
        </p:txBody>
      </p:sp>
      <p:pic>
        <p:nvPicPr>
          <p:cNvPr descr="G22_2b.png" id="402" name="Google Shape;402;p27"/>
          <p:cNvPicPr preferRelativeResize="0"/>
          <p:nvPr/>
        </p:nvPicPr>
        <p:blipFill rotWithShape="1">
          <a:blip r:embed="rId2">
            <a:alphaModFix/>
          </a:blip>
          <a:srcRect b="0" l="0" r="0" t="0"/>
          <a:stretch/>
        </p:blipFill>
        <p:spPr>
          <a:xfrm>
            <a:off x="6321247" y="1280160"/>
            <a:ext cx="3291839" cy="2053953"/>
          </a:xfrm>
          <a:prstGeom prst="rect">
            <a:avLst/>
          </a:prstGeom>
          <a:noFill/>
          <a:ln>
            <a:noFill/>
          </a:ln>
        </p:spPr>
      </p:pic>
      <p:sp>
        <p:nvSpPr>
          <p:cNvPr id="403" name="Google Shape;403;p27"/>
          <p:cNvSpPr txBox="1"/>
          <p:nvPr/>
        </p:nvSpPr>
        <p:spPr>
          <a:xfrm>
            <a:off x="6321247" y="3425553"/>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(2022), Fig. 2(b). Central-complex volumes after light exposure or learning walks.</a:t>
            </a:r>
            <a:endParaRPr/>
          </a:p>
        </p:txBody>
      </p:sp>
      <p:pic>
        <p:nvPicPr>
          <p:cNvPr descr="G22_1C.png" id="404" name="Google Shape;404;p27"/>
          <p:cNvPicPr preferRelativeResize="0"/>
          <p:nvPr/>
        </p:nvPicPr>
        <p:blipFill rotWithShape="1">
          <a:blip r:embed="rId3">
            <a:alphaModFix/>
          </a:blip>
          <a:srcRect b="0" l="0" r="0" t="0"/>
          <a:stretch/>
        </p:blipFill>
        <p:spPr>
          <a:xfrm>
            <a:off x="9795967" y="2148840"/>
            <a:ext cx="1828799" cy="1127072"/>
          </a:xfrm>
          <a:prstGeom prst="rect">
            <a:avLst/>
          </a:prstGeom>
          <a:noFill/>
          <a:ln>
            <a:noFill/>
          </a:ln>
        </p:spPr>
      </p:pic>
      <p:sp>
        <p:nvSpPr>
          <p:cNvPr id="405" name="Google Shape;405;p27"/>
          <p:cNvSpPr txBox="1"/>
          <p:nvPr/>
        </p:nvSpPr>
        <p:spPr>
          <a:xfrm>
            <a:off x="9795967" y="3349064"/>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(2022), Fig. 1(c). Central complex, lateral complex and mushroom-body synaptic anatomy.</a:t>
            </a:r>
            <a:endParaRPr/>
          </a:p>
        </p:txBody>
      </p:sp>
      <p:sp>
        <p:nvSpPr>
          <p:cNvPr id="406" name="Google Shape;406;p27"/>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7" name="Google Shape;407;p2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(2022)</a:t>
            </a:r>
            <a:endParaRPr/>
          </a:p>
        </p:txBody>
      </p:sp>
      <p:sp>
        <p:nvSpPr>
          <p:cNvPr id="408" name="Google Shape;408;p27"/>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27a</a:t>
            </a:r>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62" name="Google Shape;362;p2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Lateral-complex synapses respond to light exposure</a:t>
            </a:r>
            <a:endParaRPr/>
          </a:p>
        </p:txBody>
      </p:sp>
      <p:sp>
        <p:nvSpPr>
          <p:cNvPr id="363" name="Google Shape;363;p24"/>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The whole-brain image in the published figure has a 200 µm scale bar, and the synaptic insets have 10 µm bars. Giant-synapse numbers in the lateral complex rose after three days of exposure to full-spectrum light, with no learning walks required. Both scales appear in the same figure panel.</a:t>
            </a:r>
            <a:endParaRPr/>
          </a:p>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Removing ultraviolet light lowered that rise. Ants given full-spectrum light without learning walks still showed the increase. Dark controls provided the reference level for each light treatment. The experiment ran for three days before the brains were analyzed.</a:t>
            </a:r>
            <a:endParaRPr/>
          </a:p>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Central-complex volume did not follow this light-driven pattern. The light treatments were natural skylight, a filter that removed ultraviolet, and a fixed polarization pattern. Lateral-complex synapses sit along the sky-compass pathway in these ants. The lateral complex is a region of the visual pathway that the study counted synapses in.</a:t>
            </a:r>
            <a:endParaRPr/>
          </a:p>
        </p:txBody>
      </p:sp>
      <p:pic>
        <p:nvPicPr>
          <p:cNvPr descr="G22_1C.png" id="364" name="Google Shape;364;p24"/>
          <p:cNvPicPr preferRelativeResize="0"/>
          <p:nvPr/>
        </p:nvPicPr>
        <p:blipFill rotWithShape="1">
          <a:blip r:embed="rId2">
            <a:alphaModFix/>
          </a:blip>
          <a:srcRect b="0" l="0" r="0" t="0"/>
          <a:stretch/>
        </p:blipFill>
        <p:spPr>
          <a:xfrm>
            <a:off x="6504127" y="1280160"/>
            <a:ext cx="5120640" cy="3155801"/>
          </a:xfrm>
          <a:prstGeom prst="rect">
            <a:avLst/>
          </a:prstGeom>
          <a:noFill/>
          <a:ln>
            <a:noFill/>
          </a:ln>
        </p:spPr>
      </p:pic>
      <p:sp>
        <p:nvSpPr>
          <p:cNvPr id="365" name="Google Shape;365;p24"/>
          <p:cNvSpPr txBox="1"/>
          <p:nvPr/>
        </p:nvSpPr>
        <p:spPr>
          <a:xfrm>
            <a:off x="6504127" y="4527401"/>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Grob et al. (2022), Fig. 1(c). Central complex, lateral complex and mushroom-body synaptic anatomy.</a:t>
            </a:r>
            <a:endParaRPr/>
          </a:p>
        </p:txBody>
      </p:sp>
      <p:sp>
        <p:nvSpPr>
          <p:cNvPr id="366" name="Google Shape;366;p24"/>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7" name="Google Shape;367;p2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Grob et al. (2022)</a:t>
            </a:r>
            <a:endParaRPr/>
          </a:p>
        </p:txBody>
      </p:sp>
      <p:sp>
        <p:nvSpPr>
          <p:cNvPr id="368" name="Google Shape;368;p24"/>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24a</a:t>
            </a:r>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26" name="Google Shape;326;p2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Accumulated movement signals fit a stride integrator</a:t>
            </a:r>
            <a:endParaRPr/>
          </a:p>
        </p:txBody>
      </p:sp>
      <p:sp>
        <p:nvSpPr>
          <p:cNvPr id="327" name="Google Shape;327;p21"/>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The 2007 experiment combined a 10 m navigational task with leg-length manipulations. In that experiment the leg conditions were stilts, stumps and normal legs. The 2007 paper's title describes a stride integrator that accounts for both stride length and walking speed.</a:t>
            </a:r>
            <a:endParaRPr/>
          </a:p>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Stilted animals searched at 15.30 m after a 10 m outbound journey, while shortened-leg animals searched at 5.75 m. The search centers came from the middle value of the initial six turning points. Both values came from searches after the same 10 m outbound run.</a:t>
            </a:r>
            <a:endParaRPr/>
          </a:p>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After one more outbound walk, the searches for all four leg conditions converged on the correct 10 m distance. Stride length was plotted against walking speed in millimeters per second, and the kinematic analysis measured both for each animal.</a:t>
            </a:r>
            <a:endParaRPr/>
          </a:p>
        </p:txBody>
      </p:sp>
      <p:pic>
        <p:nvPicPr>
          <p:cNvPr descr="W07_3A.png" id="328" name="Google Shape;328;p21"/>
          <p:cNvPicPr preferRelativeResize="0"/>
          <p:nvPr/>
        </p:nvPicPr>
        <p:blipFill rotWithShape="1">
          <a:blip r:embed="rId2">
            <a:alphaModFix/>
          </a:blip>
          <a:srcRect b="0" l="0" r="0" t="0"/>
          <a:stretch/>
        </p:blipFill>
        <p:spPr>
          <a:xfrm>
            <a:off x="6504127" y="1280160"/>
            <a:ext cx="5120640" cy="2853024"/>
          </a:xfrm>
          <a:prstGeom prst="rect">
            <a:avLst/>
          </a:prstGeom>
          <a:noFill/>
          <a:ln>
            <a:noFill/>
          </a:ln>
        </p:spPr>
      </p:pic>
      <p:sp>
        <p:nvSpPr>
          <p:cNvPr id="329" name="Google Shape;329;p21"/>
          <p:cNvSpPr txBox="1"/>
          <p:nvPr/>
        </p:nvSpPr>
        <p:spPr>
          <a:xfrm>
            <a:off x="6504127" y="4224624"/>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(2007), Fig. 3(A). Normal tripod gait in a walking Cataglyphis fortis.</a:t>
            </a:r>
            <a:endParaRPr/>
          </a:p>
        </p:txBody>
      </p:sp>
      <p:sp>
        <p:nvSpPr>
          <p:cNvPr id="330" name="Google Shape;330;p21"/>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1" name="Google Shape;331;p2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Wittlinger et al. (2007)</a:t>
            </a:r>
            <a:endParaRPr/>
          </a:p>
        </p:txBody>
      </p:sp>
      <p:sp>
        <p:nvSpPr>
          <p:cNvPr id="332" name="Google Shape;332;p21"/>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21a</a:t>
            </a:r>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90" name="Google Shape;290;p1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Stride frequency and length measured at 20 Hz</a:t>
            </a:r>
            <a:endParaRPr/>
          </a:p>
        </p:txBody>
      </p:sp>
      <p:sp>
        <p:nvSpPr>
          <p:cNvPr id="291" name="Google Shape;291;p18"/>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Stride frequency and stride length are measured separately in the analysis, and either one can change walking speed. Comparing animals at 20 Hz reduced the effect of unequal movement speeds on the predicted homing distances. The analysis used straight runs without abrupt stops. The analysis compared the leg conditions at 20 Hz, which is 20 cycles per second.</a:t>
            </a:r>
            <a:endParaRPr/>
          </a:p>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Stride length was expressed relative to the alitrunk, a body-size reference. The high-speed records then linked those relative strides with frequency, including the 20 Hz analysis. The curves for stilts, stumps and normal legs were read at matching frequencies.</a:t>
            </a:r>
            <a:endParaRPr/>
          </a:p>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The stride-length relationship was established independently of the turning-point measures used to locate each ant's nest search. Stilt ants showed longer strides at matched speeds, and stump ants showed shorter ones. Those measures came from freely walking animals. Each leg condition produced its own frequency-length curve.</a:t>
            </a:r>
            <a:endParaRPr/>
          </a:p>
        </p:txBody>
      </p:sp>
      <p:pic>
        <p:nvPicPr>
          <p:cNvPr descr="W07_6.png" id="292" name="Google Shape;292;p18"/>
          <p:cNvPicPr preferRelativeResize="0"/>
          <p:nvPr/>
        </p:nvPicPr>
        <p:blipFill rotWithShape="1">
          <a:blip r:embed="rId2">
            <a:alphaModFix/>
          </a:blip>
          <a:srcRect b="0" l="0" r="0" t="0"/>
          <a:stretch/>
        </p:blipFill>
        <p:spPr>
          <a:xfrm>
            <a:off x="6504127" y="1280160"/>
            <a:ext cx="5120640" cy="4165349"/>
          </a:xfrm>
          <a:prstGeom prst="rect">
            <a:avLst/>
          </a:prstGeom>
          <a:noFill/>
          <a:ln>
            <a:noFill/>
          </a:ln>
        </p:spPr>
      </p:pic>
      <p:sp>
        <p:nvSpPr>
          <p:cNvPr id="293" name="Google Shape;293;p18"/>
          <p:cNvSpPr txBox="1"/>
          <p:nvPr/>
        </p:nvSpPr>
        <p:spPr>
          <a:xfrm>
            <a:off x="6504127" y="553694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(2007), Fig. 6. Stride length as a function of stride frequency.</a:t>
            </a:r>
            <a:endParaRPr/>
          </a:p>
        </p:txBody>
      </p:sp>
      <p:sp>
        <p:nvSpPr>
          <p:cNvPr id="294" name="Google Shape;294;p18"/>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5" name="Google Shape;295;p1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Wittlinger et al. (2007)</a:t>
            </a:r>
            <a:endParaRPr/>
          </a:p>
        </p:txBody>
      </p:sp>
      <p:sp>
        <p:nvSpPr>
          <p:cNvPr id="296" name="Google Shape;296;p18"/>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18a</a:t>
            </a:r>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54" name="Google Shape;254;p1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Search width tracks the stride-determined spread</a:t>
            </a:r>
            <a:endParaRPr/>
          </a:p>
        </p:txBody>
      </p:sp>
      <p:sp>
        <p:nvSpPr>
          <p:cNvPr id="255" name="Google Shape;255;p15"/>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The test channel was divided into 10 cm bins before the search data were analyzed. In the first test, the full width at half maximum was 8.3 m for stilts, 6.0 m for normal legs, 5.2 m for stumps I and 4.1 m for stumps II. The search distributions were then plotted for each leg condition.</a:t>
            </a:r>
            <a:endParaRPr/>
          </a:p>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Stilts had the widest distribution of the four conditions, and stumps II had the narrowest. The four widths follow the same order as the leg treatments that produced them. Search centers for the same conditions were 15.30 m for stilts and 10.20 m for normal legs. The stump-II searches covered the least ground of the four conditions.</a:t>
            </a:r>
            <a:endParaRPr/>
          </a:p>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Searches in the first test were measured before any matched training, so these widths describe the initial mismatch. Repeated outbound training changed the distributions in the second test. Those widths are full widths at half maximum, reported in meters.</a:t>
            </a:r>
            <a:endParaRPr/>
          </a:p>
        </p:txBody>
      </p:sp>
      <p:pic>
        <p:nvPicPr>
          <p:cNvPr descr="W07_5.png" id="256" name="Google Shape;256;p15"/>
          <p:cNvPicPr preferRelativeResize="0"/>
          <p:nvPr/>
        </p:nvPicPr>
        <p:blipFill rotWithShape="1">
          <a:blip r:embed="rId2">
            <a:alphaModFix/>
          </a:blip>
          <a:srcRect b="0" l="0" r="0" t="0"/>
          <a:stretch/>
        </p:blipFill>
        <p:spPr>
          <a:xfrm>
            <a:off x="6504127" y="1280160"/>
            <a:ext cx="5120640" cy="4103827"/>
          </a:xfrm>
          <a:prstGeom prst="rect">
            <a:avLst/>
          </a:prstGeom>
          <a:noFill/>
          <a:ln>
            <a:noFill/>
          </a:ln>
        </p:spPr>
      </p:pic>
      <p:sp>
        <p:nvSpPr>
          <p:cNvPr id="257" name="Google Shape;257;p15"/>
          <p:cNvSpPr txBox="1"/>
          <p:nvPr/>
        </p:nvSpPr>
        <p:spPr>
          <a:xfrm>
            <a:off x="6504127" y="5475427"/>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(2007), Fig. 5. Widths of the nest-search distributions.</a:t>
            </a:r>
            <a:endParaRPr/>
          </a:p>
        </p:txBody>
      </p:sp>
      <p:sp>
        <p:nvSpPr>
          <p:cNvPr id="258" name="Google Shape;258;p15"/>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1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Wittlinger et al. (2007)</a:t>
            </a:r>
            <a:endParaRPr/>
          </a:p>
        </p:txBody>
      </p:sp>
      <p:sp>
        <p:nvSpPr>
          <p:cNvPr id="260" name="Google Shape;260;p15"/>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15a</a:t>
            </a:r>
            <a:endParaR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18" name="Google Shape;218;p1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Graded shortening tests different leg reductions</a:t>
            </a:r>
            <a:endParaRPr/>
          </a:p>
        </p:txBody>
      </p:sp>
      <p:sp>
        <p:nvSpPr>
          <p:cNvPr id="219" name="Google Shape;219;p1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Stumps I lacked the distal tarsal segments, whereas stumps II had the distal half of the tibia removed. The stilt group was lengthened with bristles, and normal-legged ants provided the reference for every group. Those leg changes were made at the feeder, after the outward distance had been learned.</a:t>
            </a:r>
            <a:endParaRPr/>
          </a:p>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All groups had acquired the same 10 m outbound feeder distance before the first test. The expanded experiment placed the normal-legged group at 10.20 m, the stumps-I group at 6.95 m and the stumps-II group at 5.75 m. The stilted group reached 15.30 m.</a:t>
            </a:r>
            <a:endParaRPr/>
          </a:p>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The video was recorded at 250 frames per second before and after each manipulation. The recorded strides were used to measure stride length and walking speed. Workers of larger size carry longer legs. The recorded strides supplied the stride frequency used in the analysis.</a:t>
            </a:r>
            <a:endParaRPr/>
          </a:p>
        </p:txBody>
      </p:sp>
      <p:pic>
        <p:nvPicPr>
          <p:cNvPr descr="W07_2.png" id="220" name="Google Shape;220;p12"/>
          <p:cNvPicPr preferRelativeResize="0"/>
          <p:nvPr/>
        </p:nvPicPr>
        <p:blipFill rotWithShape="1">
          <a:blip r:embed="rId2">
            <a:alphaModFix/>
          </a:blip>
          <a:srcRect b="0" l="0" r="0" t="0"/>
          <a:stretch/>
        </p:blipFill>
        <p:spPr>
          <a:xfrm>
            <a:off x="7085812" y="1280160"/>
            <a:ext cx="3957269" cy="4297679"/>
          </a:xfrm>
          <a:prstGeom prst="rect">
            <a:avLst/>
          </a:prstGeom>
          <a:noFill/>
          <a:ln>
            <a:noFill/>
          </a:ln>
        </p:spPr>
      </p:pic>
      <p:sp>
        <p:nvSpPr>
          <p:cNvPr id="221" name="Google Shape;221;p12"/>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(2007), Fig. 2. Leg anatomy and the four length conditions.</a:t>
            </a:r>
            <a:endParaRPr/>
          </a:p>
        </p:txBody>
      </p:sp>
      <p:sp>
        <p:nvSpPr>
          <p:cNvPr id="222" name="Google Shape;222;p12"/>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1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Wittlinger et al. (2007)</a:t>
            </a:r>
            <a:endParaRPr/>
          </a:p>
        </p:txBody>
      </p:sp>
      <p:sp>
        <p:nvSpPr>
          <p:cNvPr id="224" name="Google Shape;224;p12"/>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12a</a:t>
            </a:r>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82" name="Google Shape;182;p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Stilts and stumps alter the distance per stride</a:t>
            </a:r>
            <a:endParaRPr/>
          </a:p>
        </p:txBody>
      </p:sp>
      <p:sp>
        <p:nvSpPr>
          <p:cNvPr id="183" name="Google Shape;183;p9"/>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Wittlinger and colleagues trained Cataglyphis fortis to a feeder 10 m from the nest. At the feeder, attached pig bristles lengthened the legs to produce stilts, and shortened legs produced stumps. Food-carrying ants were then tested in a separate channel, after their outward distance had already been learned on normal legs.</a:t>
            </a:r>
            <a:endParaRPr/>
          </a:p>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The first study of this manipulation appeared in Science in 2006 under the title The Ant Odometer: Stepping on Stilts and Stumps. The later follow-up, published in 2007, added a second level of leg shortening. The 2006 paper's figures show normal legs, stilts and stumps side by side.</a:t>
            </a:r>
            <a:endParaRPr/>
          </a:p>
          <a:p>
            <a:pPr indent="0" lvl="0" marL="0" marR="0" rtl="0" algn="l">
              <a:lnSpc>
                <a:spcPct val="108000"/>
              </a:lnSpc>
              <a:spcBef>
                <a:spcPts val="0"/>
              </a:spcBef>
              <a:spcAft>
                <a:spcPts val="1200"/>
              </a:spcAft>
              <a:buNone/>
            </a:pPr>
            <a:r>
              <a:rPr b="0" i="0" lang="en-US" sz="1500" u="none" cap="none" strike="noStrike">
                <a:solidFill>
                  <a:srgbClr val="27323A"/>
                </a:solidFill>
                <a:latin typeface="Arial"/>
                <a:ea typeface="Arial"/>
                <a:cs typeface="Arial"/>
                <a:sym typeface="Arial"/>
              </a:rPr>
              <a:t>The 2007 follow-up tested stumps that differed in which leg region was removed. Its normal-legged group served as the reference for each lengthened and shortened condition. Its figures present the four leg conditions as color-coded search distributions.</a:t>
            </a:r>
            <a:endParaRPr/>
          </a:p>
        </p:txBody>
      </p:sp>
      <p:pic>
        <p:nvPicPr>
          <p:cNvPr descr="W06_2.png" id="184" name="Google Shape;184;p9"/>
          <p:cNvPicPr preferRelativeResize="0"/>
          <p:nvPr/>
        </p:nvPicPr>
        <p:blipFill rotWithShape="1">
          <a:blip r:embed="rId2">
            <a:alphaModFix/>
          </a:blip>
          <a:srcRect b="0" l="0" r="0" t="0"/>
          <a:stretch/>
        </p:blipFill>
        <p:spPr>
          <a:xfrm>
            <a:off x="7306589" y="1280160"/>
            <a:ext cx="3515714" cy="4297679"/>
          </a:xfrm>
          <a:prstGeom prst="rect">
            <a:avLst/>
          </a:prstGeom>
          <a:noFill/>
          <a:ln>
            <a:noFill/>
          </a:ln>
        </p:spPr>
      </p:pic>
      <p:sp>
        <p:nvSpPr>
          <p:cNvPr id="185" name="Google Shape;185;p9"/>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Wittlinger et al. (2006), Fig. 2. Normal legs, stilts and stumps.</a:t>
            </a:r>
            <a:endParaRPr/>
          </a:p>
        </p:txBody>
      </p:sp>
      <p:sp>
        <p:nvSpPr>
          <p:cNvPr id="186" name="Google Shape;186;p9"/>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Wittlinger et al. (2006)</a:t>
            </a:r>
            <a:endParaRPr/>
          </a:p>
        </p:txBody>
      </p:sp>
      <p:sp>
        <p:nvSpPr>
          <p:cNvPr id="188" name="Google Shape;188;p9"/>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09a</a:t>
            </a:r>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46" name="Google Shape;146;p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Screening and painting remove two compass inputs</a:t>
            </a:r>
            <a:endParaRPr/>
          </a:p>
        </p:txBody>
      </p:sp>
      <p:sp>
        <p:nvSpPr>
          <p:cNvPr id="147" name="Google Shape;147;p6"/>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Screening the sun removed direct solar information from the compass. Ants on this route still erred under the screening. The same two-leg geometry had produced homing errors of about 20° at turning angles near 150° in the earlier test. Screening removed the direct sun's information but left the polarized pattern in place. The polarized skylight pattern was still available to the screened ants.</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Painting the dorsal rim of the compound eyes removed access to the specialized polarization-sensitive eye region. Ants with painted eyes also erred on the 10 m and 5 m route, which uses the same two-leg geometry as the screened test. Direct sunlight stayed available to these ants, so the sun cue was not removed.</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Restricted sky windows can themselves distort polarization estimates. The authors treated this as a separate source of compass error when they interpreted their homing results, which kept the two sources apart. A narrow channel limits the visible part of the sky, which is one way a sky window becomes restricted.</a:t>
            </a:r>
            <a:endParaRPr/>
          </a:p>
        </p:txBody>
      </p:sp>
      <p:pic>
        <p:nvPicPr>
          <p:cNvPr descr="M88_2.png" id="148" name="Google Shape;148;p6"/>
          <p:cNvPicPr preferRelativeResize="0"/>
          <p:nvPr/>
        </p:nvPicPr>
        <p:blipFill rotWithShape="1">
          <a:blip r:embed="rId2">
            <a:alphaModFix/>
          </a:blip>
          <a:srcRect b="0" l="0" r="0" t="0"/>
          <a:stretch/>
        </p:blipFill>
        <p:spPr>
          <a:xfrm>
            <a:off x="6504127" y="1280160"/>
            <a:ext cx="5120640" cy="3109381"/>
          </a:xfrm>
          <a:prstGeom prst="rect">
            <a:avLst/>
          </a:prstGeom>
          <a:noFill/>
          <a:ln>
            <a:noFill/>
          </a:ln>
        </p:spPr>
      </p:pic>
      <p:sp>
        <p:nvSpPr>
          <p:cNvPr id="149" name="Google Shape;149;p6"/>
          <p:cNvSpPr txBox="1"/>
          <p:nvPr/>
        </p:nvSpPr>
        <p:spPr>
          <a:xfrm>
            <a:off x="6504127" y="4480981"/>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Müller &amp; Wehner (1988), Fig. 2(A–B). Two-leg training and measured homing-direction errors.</a:t>
            </a:r>
            <a:endParaRPr/>
          </a:p>
        </p:txBody>
      </p:sp>
      <p:sp>
        <p:nvSpPr>
          <p:cNvPr id="150" name="Google Shape;150;p6"/>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Müller &amp; Wehner (1988)</a:t>
            </a:r>
            <a:endParaRPr/>
          </a:p>
        </p:txBody>
      </p:sp>
      <p:sp>
        <p:nvSpPr>
          <p:cNvPr id="152" name="Google Shape;152;p6"/>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06a</a:t>
            </a:r>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10" name="Google Shape;110;p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344F61"/>
                </a:solidFill>
                <a:latin typeface="Arial"/>
                <a:ea typeface="Arial"/>
                <a:cs typeface="Arial"/>
                <a:sym typeface="Arial"/>
              </a:rPr>
              <a:t>Displaced foragers reveal a stored outward vector</a:t>
            </a:r>
            <a:endParaRPr/>
          </a:p>
        </p:txBody>
      </p:sp>
      <p:sp>
        <p:nvSpPr>
          <p:cNvPr id="111" name="Google Shape;111;p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Müller and Wehner captured food-carrying ants at the feeding location and released each one in open terrain. Each ant's later course was followed on a 10 m spatial scale. That course was measured against the true geographical direction of the nest and against the course predicted from the ant's recorded outbound trajectory. Its outward walk had been recorded before the ant was captured.</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In the two-leg experiments, both legs varied over lengths of 5–10 m and turning angles spanning 0–180°. The plotted experiment used a first leg of 10 m and a second leg of 5 m. Release occurred within one minute of capture, which shortened the time before the directional test. The experiments produced a homing direction for each combination of lengths and angles.</a:t>
            </a:r>
            <a:endParaRPr/>
          </a:p>
          <a:p>
            <a:pPr indent="0" lvl="0" marL="0" marR="0" rtl="0" algn="l">
              <a:lnSpc>
                <a:spcPct val="108000"/>
              </a:lnSpc>
              <a:spcBef>
                <a:spcPts val="0"/>
              </a:spcBef>
              <a:spcAft>
                <a:spcPts val="1200"/>
              </a:spcAft>
              <a:buNone/>
            </a:pPr>
            <a:r>
              <a:rPr b="0" i="0" lang="en-US" sz="1400" u="none" cap="none" strike="noStrike">
                <a:solidFill>
                  <a:srgbClr val="27323A"/>
                </a:solidFill>
                <a:latin typeface="Arial"/>
                <a:ea typeface="Arial"/>
                <a:cs typeface="Arial"/>
                <a:sym typeface="Arial"/>
              </a:rPr>
              <a:t>Under natural conditions, landmark guidance and systematic searching remain available as additional mechanisms for locating the nest. Each of these can operate alongside a stored home vector, and neither one replaces the other. Landmark guidance and systematic searching are listed as separate mechanisms, each one an addition to the path integrator.</a:t>
            </a:r>
            <a:endParaRPr/>
          </a:p>
        </p:txBody>
      </p:sp>
      <p:pic>
        <p:nvPicPr>
          <p:cNvPr descr="M88_4.png" id="112" name="Google Shape;112;p3"/>
          <p:cNvPicPr preferRelativeResize="0"/>
          <p:nvPr/>
        </p:nvPicPr>
        <p:blipFill rotWithShape="1">
          <a:blip r:embed="rId2">
            <a:alphaModFix/>
          </a:blip>
          <a:srcRect b="0" l="0" r="0" t="0"/>
          <a:stretch/>
        </p:blipFill>
        <p:spPr>
          <a:xfrm>
            <a:off x="7593303" y="1280160"/>
            <a:ext cx="2942286" cy="4297679"/>
          </a:xfrm>
          <a:prstGeom prst="rect">
            <a:avLst/>
          </a:prstGeom>
          <a:noFill/>
          <a:ln>
            <a:noFill/>
          </a:ln>
        </p:spPr>
      </p:pic>
      <p:sp>
        <p:nvSpPr>
          <p:cNvPr id="113" name="Google Shape;113;p3"/>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27D"/>
                </a:solidFill>
                <a:latin typeface="Arial"/>
                <a:ea typeface="Arial"/>
                <a:cs typeface="Arial"/>
                <a:sym typeface="Arial"/>
              </a:rPr>
              <a:t>Müller &amp; Wehner (1988), Fig. 4. Natural-path displacement and the resulting homeward course.</a:t>
            </a:r>
            <a:endParaRPr/>
          </a:p>
        </p:txBody>
      </p:sp>
      <p:sp>
        <p:nvSpPr>
          <p:cNvPr id="114" name="Google Shape;114;p3"/>
          <p:cNvSpPr/>
          <p:nvPr/>
        </p:nvSpPr>
        <p:spPr>
          <a:xfrm>
            <a:off x="566928" y="6382512"/>
            <a:ext cx="11057839" cy="9144"/>
          </a:xfrm>
          <a:prstGeom prst="rect">
            <a:avLst/>
          </a:prstGeom>
          <a:solidFill>
            <a:srgbClr val="CCD7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Müller &amp; Wehner (1988)</a:t>
            </a:r>
            <a:endParaRPr/>
          </a:p>
        </p:txBody>
      </p:sp>
      <p:sp>
        <p:nvSpPr>
          <p:cNvPr id="116" name="Google Shape;116;p3"/>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5727D"/>
                </a:solidFill>
                <a:latin typeface="Arial"/>
                <a:ea typeface="Arial"/>
                <a:cs typeface="Arial"/>
                <a:sym typeface="Arial"/>
              </a:rPr>
              <a:t>03a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Jordan Lopez, Ph.D.</dc:creator>
</cp:coreProperties>
</file>