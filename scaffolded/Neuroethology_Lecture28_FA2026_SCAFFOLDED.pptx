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315" r:id="rId66"/>
    <p:sldId id="258" r:id="rId8"/>
    <p:sldId id="259" r:id="rId9"/>
    <p:sldId id="260" r:id="rId10"/>
    <p:sldId id="314" r:id="rId65"/>
    <p:sldId id="261" r:id="rId11"/>
    <p:sldId id="313" r:id="rId64"/>
    <p:sldId id="262" r:id="rId12"/>
    <p:sldId id="263" r:id="rId13"/>
    <p:sldId id="264" r:id="rId14"/>
    <p:sldId id="312" r:id="rId63"/>
    <p:sldId id="265" r:id="rId15"/>
    <p:sldId id="311" r:id="rId62"/>
    <p:sldId id="266" r:id="rId16"/>
    <p:sldId id="267" r:id="rId17"/>
    <p:sldId id="268" r:id="rId18"/>
    <p:sldId id="310" r:id="rId61"/>
    <p:sldId id="269" r:id="rId19"/>
    <p:sldId id="270" r:id="rId20"/>
    <p:sldId id="309" r:id="rId60"/>
    <p:sldId id="271" r:id="rId21"/>
    <p:sldId id="272" r:id="rId22"/>
    <p:sldId id="273" r:id="rId23"/>
    <p:sldId id="308" r:id="rId59"/>
    <p:sldId id="274" r:id="rId24"/>
    <p:sldId id="275" r:id="rId25"/>
    <p:sldId id="276" r:id="rId26"/>
    <p:sldId id="307" r:id="rId58"/>
    <p:sldId id="277" r:id="rId27"/>
    <p:sldId id="278" r:id="rId28"/>
    <p:sldId id="279" r:id="rId29"/>
    <p:sldId id="306" r:id="rId57"/>
    <p:sldId id="280" r:id="rId30"/>
    <p:sldId id="281" r:id="rId31"/>
    <p:sldId id="282" r:id="rId32"/>
    <p:sldId id="305" r:id="rId56"/>
    <p:sldId id="283" r:id="rId33"/>
    <p:sldId id="284" r:id="rId34"/>
    <p:sldId id="285" r:id="rId35"/>
    <p:sldId id="286" r:id="rId36"/>
    <p:sldId id="304" r:id="rId55"/>
    <p:sldId id="287" r:id="rId37"/>
    <p:sldId id="303" r:id="rId54"/>
    <p:sldId id="288" r:id="rId38"/>
    <p:sldId id="289" r:id="rId39"/>
    <p:sldId id="290" r:id="rId40"/>
    <p:sldId id="291" r:id="rId41"/>
    <p:sldId id="292" r:id="rId42"/>
    <p:sldId id="293" r:id="rId43"/>
    <p:sldId id="302" r:id="rId53"/>
    <p:sldId id="294" r:id="rId44"/>
    <p:sldId id="295" r:id="rId45"/>
    <p:sldId id="296" r:id="rId46"/>
    <p:sldId id="297" r:id="rId47"/>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1iEt38XLQ35c+ePo/ZgweTdKUv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 desert ant path integration (Wehner)</a:t>
            </a:r>
            <a:endParaRPr/>
          </a:p>
          <a:p>
            <a:pPr indent="0" lvl="0" marL="0" rtl="0" algn="l">
              <a:spcBef>
                <a:spcPts val="0"/>
              </a:spcBef>
              <a:spcAft>
                <a:spcPts val="0"/>
              </a:spcAft>
              <a:buNone/>
            </a:pPr>
            <a:r>
              <a:rPr lang="en-US"/>
              <a:t>Lecture 28. NEUR 411 · NEUROETHOLOGY · FALL 2026. Friday, October 30,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3(A). Normal tripod gait in a walking Cataglyphis fortis.</a:t>
            </a:r>
            <a:endParaRPr/>
          </a:p>
          <a:p>
            <a:pPr indent="0" lvl="0" marL="0" rtl="0" algn="l">
              <a:spcBef>
                <a:spcPts val="0"/>
              </a:spcBef>
              <a:spcAft>
                <a:spcPts val="0"/>
              </a:spcAft>
              <a:buNone/>
            </a:pPr>
            <a:r>
              <a:rPr lang="en-US"/>
              <a:t>Figure source: https://doi.org/10.1242/jeb.02657</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is the continual updating of direction and distance from a starting point using information gathered during movement. A **home vector** specifies the direction and distance back to the nest; it need not reproduce the sequence of outward turns.</a:t>
            </a:r>
            <a:endParaRPr/>
          </a:p>
          <a:p>
            <a:pPr indent="0" lvl="0" marL="0" rtl="0" algn="l">
              <a:spcBef>
                <a:spcPts val="0"/>
              </a:spcBef>
              <a:spcAft>
                <a:spcPts val="0"/>
              </a:spcAft>
              <a:buNone/>
            </a:pPr>
            <a:r>
              <a:rPr lang="en-US"/>
              <a:t>• Müller and Wehner recorded a natural foraging trip of Cataglyphis fortis in Tunisia. The outward path measured 354.5 m, while the maximum distance from the nest was 113.2 m. After finding food, the ant returned along a comparatively direct inbound route.</a:t>
            </a:r>
            <a:endParaRPr/>
          </a:p>
          <a:p>
            <a:pPr indent="0" lvl="0" marL="0" rtl="0" algn="l">
              <a:spcBef>
                <a:spcPts val="0"/>
              </a:spcBef>
              <a:spcAft>
                <a:spcPts val="0"/>
              </a:spcAft>
              <a:buNone/>
            </a:pPr>
            <a:r>
              <a:rPr lang="en-US"/>
              <a:t>• The difference between outward path length and nest displacement separates route retracing from vector-guided homing. A direct return after a winding 354.5 m outward path reflects a vector that sums every segment of the trip into one direction and one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1. A natural outbound route and direct homeward return.</a:t>
            </a:r>
            <a:endParaRPr/>
          </a:p>
          <a:p>
            <a:pPr indent="0" lvl="0" marL="0" rtl="0" algn="l">
              <a:spcBef>
                <a:spcPts val="0"/>
              </a:spcBef>
              <a:spcAft>
                <a:spcPts val="0"/>
              </a:spcAft>
              <a:buNone/>
            </a:pPr>
            <a:r>
              <a:rPr lang="en-US"/>
              <a:t>Figure source: https://doi.org/10.1073/pnas.85.14.5287</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Passive displacement changes an ant’s geographical position without supplying the walking movements that normally update its home vector. A displaced ant can therefore express a direction appropriate to its earlier position rather than to the nest’s actual location.</a:t>
            </a:r>
            <a:endParaRPr/>
          </a:p>
          <a:p>
            <a:pPr indent="0" lvl="0" marL="0" rtl="0" algn="l">
              <a:spcBef>
                <a:spcPts val="0"/>
              </a:spcBef>
              <a:spcAft>
                <a:spcPts val="0"/>
              </a:spcAft>
              <a:buNone/>
            </a:pPr>
            <a:r>
              <a:rPr lang="en-US"/>
              <a:t>• Müller and Wehner captured a food-carrying ant at its feeding location and released it elsewhere in open terrain. The animal’s subsequent course was compared with the geographical nest direction and the course predicted from its recorded outbound trajectory, using a 10 m spatial scale.</a:t>
            </a:r>
            <a:endParaRPr/>
          </a:p>
          <a:p>
            <a:pPr indent="0" lvl="0" marL="0" rtl="0" algn="l">
              <a:spcBef>
                <a:spcPts val="0"/>
              </a:spcBef>
              <a:spcAft>
                <a:spcPts val="0"/>
              </a:spcAft>
              <a:buNone/>
            </a:pPr>
            <a:r>
              <a:rPr lang="en-US"/>
              <a:t>• The course retained information from the outward journey despite the transfer. The test distinguishes movement-derived navigation from immediate attraction to the true nest, because the course expressed after release points where the nest would lie had the ant not been moved.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4. Natural-path displacement and the resulting homeward course.</a:t>
            </a:r>
            <a:endParaRPr/>
          </a:p>
          <a:p>
            <a:pPr indent="0" lvl="0" marL="0" rtl="0" algn="l">
              <a:spcBef>
                <a:spcPts val="0"/>
              </a:spcBef>
              <a:spcAft>
                <a:spcPts val="0"/>
              </a:spcAft>
              <a:buNone/>
            </a:pPr>
            <a:r>
              <a:rPr lang="en-US"/>
              <a:t>Figure source: https://doi.org/10.1073/pnas.85.14.5287</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experimental path can specify the directions and distances an ant experiences before homing. Müller and Wehner trained Cataglyphis fortis through narrow plastic channels, then transferred individuals from the feeder to a separate open test field.</a:t>
            </a:r>
            <a:endParaRPr/>
          </a:p>
          <a:p>
            <a:pPr indent="0" lvl="0" marL="0" rtl="0" algn="l">
              <a:spcBef>
                <a:spcPts val="0"/>
              </a:spcBef>
              <a:spcAft>
                <a:spcPts val="0"/>
              </a:spcAft>
              <a:buNone/>
            </a:pPr>
            <a:r>
              <a:rPr lang="en-US"/>
              <a:t>• The two legs were varied over lengths of 5–10 m and turning angles spanning 0–180°. In the plotted experiment, the first leg was 10 m and the second 5 m. Release occurred within one minute of capture, reducing the delay between training and the directional test.</a:t>
            </a:r>
            <a:endParaRPr/>
          </a:p>
          <a:p>
            <a:pPr indent="0" lvl="0" marL="0" rtl="0" algn="l">
              <a:spcBef>
                <a:spcPts val="0"/>
              </a:spcBef>
              <a:spcAft>
                <a:spcPts val="0"/>
              </a:spcAft>
              <a:buNone/>
            </a:pPr>
            <a:r>
              <a:rPr lang="en-US"/>
              <a:t>• The recorded initial homeward course measures the ant’s accumulated directional estimate rather than its ability to follow the training channel backward. Removing the channels during testing separates the geometry experienced during acquisition from the geometry available during expression.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**Systematic error** means a directional deviation that varies predictably with an experimental manipulation. It differs from random scatter among journeys. Müller and Wehner measured the angular difference between the true homeward direction and the course expressed after two-leg training.</a:t>
            </a:r>
            <a:endParaRPr/>
          </a:p>
          <a:p>
            <a:pPr indent="0" lvl="0" marL="0" rtl="0" algn="l">
              <a:spcBef>
                <a:spcPts val="0"/>
              </a:spcBef>
              <a:spcAft>
                <a:spcPts val="0"/>
              </a:spcAft>
              <a:buNone/>
            </a:pPr>
            <a:r>
              <a:rPr lang="en-US"/>
              <a:t>• With outbound legs of 10 m and 5 m, the error increased as the turning angle approached approximately 150°, reaching about 20° in the published measurements. The error returned toward zero at the limiting straight or reversed arrangements.</a:t>
            </a:r>
            <a:endParaRPr/>
          </a:p>
          <a:p>
            <a:pPr indent="0" lvl="0" marL="0" rtl="0" algn="l">
              <a:spcBef>
                <a:spcPts val="0"/>
              </a:spcBef>
              <a:spcAft>
                <a:spcPts val="0"/>
              </a:spcAft>
              <a:buNone/>
            </a:pPr>
            <a:r>
              <a:rPr lang="en-US"/>
              <a:t>• The angle-dependent pattern supported an approximate updating rule under these conditions. Because the error is systematic and not random scatter, the integrator follows a consistent rule that can be described mathematically.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**celestial compass** derives heading information from features of the sky. Direct sunlight and the pattern of polarized skylight provide related but separable information. Polarization refers to the orientation of the electric field oscillation in a light wave.</a:t>
            </a:r>
            <a:endParaRPr/>
          </a:p>
          <a:p>
            <a:pPr indent="0" lvl="0" marL="0" rtl="0" algn="l">
              <a:spcBef>
                <a:spcPts val="0"/>
              </a:spcBef>
              <a:spcAft>
                <a:spcPts val="0"/>
              </a:spcAft>
              <a:buNone/>
            </a:pPr>
            <a:r>
              <a:rPr lang="en-US"/>
              <a:t>• Müller and Wehner compared homing errors while ants used the sun, polarized skylight, or both. Screening the sun removed direct solar information; painting the dorsal rim of the compound eyes removed access to the specialized polarization-sensitive eye region. The 10 m and 5 m route still produced systematic errors.</a:t>
            </a:r>
            <a:endParaRPr/>
          </a:p>
          <a:p>
            <a:pPr indent="0" lvl="0" marL="0" rtl="0" algn="l">
              <a:spcBef>
                <a:spcPts val="0"/>
              </a:spcBef>
              <a:spcAft>
                <a:spcPts val="0"/>
              </a:spcAft>
              <a:buNone/>
            </a:pPr>
            <a:r>
              <a:rPr lang="en-US"/>
              <a:t>• The error pattern persisted across compass conditions, which places the bias in the path-integration computation and not in one defective sky cue. Sun and polarized skylight are related but separable heading inputs to the same integrator.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explanation fitted to one route geometry must also account for a different sequence of movements. Müller and Wehner added a third leg to the channel arrangement, introducing a second 90° turn rather than repeating the original two-leg experiment.</a:t>
            </a:r>
            <a:endParaRPr/>
          </a:p>
          <a:p>
            <a:pPr indent="0" lvl="0" marL="0" rtl="0" algn="l">
              <a:spcBef>
                <a:spcPts val="0"/>
              </a:spcBef>
              <a:spcAft>
                <a:spcPts val="0"/>
              </a:spcAft>
              <a:buNone/>
            </a:pPr>
            <a:r>
              <a:rPr lang="en-US"/>
              <a:t>• The first leg was 10 m and the second and third legs were each 5 m. Ants subsequently released into open terrain deviated by 30.8° from the true home direction. The approximation derived from the earlier experiments predicted a deviation of 33.7°.</a:t>
            </a:r>
            <a:endParaRPr/>
          </a:p>
          <a:p>
            <a:pPr indent="0" lvl="0" marL="0" rtl="0" algn="l">
              <a:spcBef>
                <a:spcPts val="0"/>
              </a:spcBef>
              <a:spcAft>
                <a:spcPts val="0"/>
              </a:spcAft>
              <a:buNone/>
            </a:pPr>
            <a:r>
              <a:rPr lang="en-US"/>
              <a:t>• The agreement extended the behavioral account beyond the particular angles used to derive it. A successful prediction for a new route geometry supports the approximate updating rule as a description of how the ant combines successive legs.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3. Three-leg training and homing directions.</a:t>
            </a:r>
            <a:endParaRPr/>
          </a:p>
          <a:p>
            <a:pPr indent="0" lvl="0" marL="0" rtl="0" algn="l">
              <a:spcBef>
                <a:spcPts val="0"/>
              </a:spcBef>
              <a:spcAft>
                <a:spcPts val="0"/>
              </a:spcAft>
              <a:buNone/>
            </a:pPr>
            <a:r>
              <a:rPr lang="en-US"/>
              <a:t>Figure source: https://doi.org/10.1073/pnas.85.14.5287</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geometry determines how an approximate path integrator accumulates error. A sharp sustained turn can produce a large deviation, whereas turns in opposite directions may partly cancel their effects on the estimated homeward direction.</a:t>
            </a:r>
            <a:endParaRPr/>
          </a:p>
          <a:p>
            <a:pPr indent="0" lvl="0" marL="0" rtl="0" algn="l">
              <a:spcBef>
                <a:spcPts val="0"/>
              </a:spcBef>
              <a:spcAft>
                <a:spcPts val="0"/>
              </a:spcAft>
              <a:buNone/>
            </a:pPr>
            <a:r>
              <a:rPr lang="en-US"/>
              <a:t>• Müller and Wehner compared the proposed updating rule with recorded natural foraging paths. In the displaced example, the expressed course departed from the real nest direction by approximately 20°, consistent with the direction predicted from that ant’s outward trajectory.</a:t>
            </a:r>
            <a:endParaRPr/>
          </a:p>
          <a:p>
            <a:pPr indent="0" lvl="0" marL="0" rtl="0" algn="l">
              <a:spcBef>
                <a:spcPts val="0"/>
              </a:spcBef>
              <a:spcAft>
                <a:spcPts val="0"/>
              </a:spcAft>
              <a:buNone/>
            </a:pPr>
            <a:r>
              <a:rPr lang="en-US"/>
              <a:t>• The authors noted that natural Cataglyphis paths rarely contained the repeated sharp backward turns that generated especially large experimental errors. The ecological interpretation is that the approximation keeps homing errors small for the turning patterns an ant meets on a real foraging trip, and landmarks and searching cover the cases a home vector cannot.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4. Natural-path displacement and the resulting homeward course.</a:t>
            </a:r>
            <a:endParaRPr/>
          </a:p>
          <a:p>
            <a:pPr indent="0" lvl="0" marL="0" rtl="0" algn="l">
              <a:spcBef>
                <a:spcPts val="0"/>
              </a:spcBef>
              <a:spcAft>
                <a:spcPts val="0"/>
              </a:spcAft>
              <a:buNone/>
            </a:pPr>
            <a:r>
              <a:rPr lang="en-US"/>
              <a:t>Figure source: https://doi.org/10.1073/pnas.85.14.5287</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**odometer** is a mechanism for estimating distance traveled. A **stride** is one complete movement cycle of a particular leg. Altering leg length can change the distance covered during each stride without changing the distance experienced before the manipulation.</a:t>
            </a:r>
            <a:endParaRPr/>
          </a:p>
          <a:p>
            <a:pPr indent="0" lvl="0" marL="0" rtl="0" algn="l">
              <a:spcBef>
                <a:spcPts val="0"/>
              </a:spcBef>
              <a:spcAft>
                <a:spcPts val="0"/>
              </a:spcAft>
              <a:buNone/>
            </a:pPr>
            <a:r>
              <a:rPr lang="en-US"/>
              <a:t>• Wittlinger and colleagues trained Cataglyphis fortis to a feeder 10 m from the nest. At the feeder, they lengthened legs with attached pig bristles, producing stilts, or shortened legs, producing stumps. Food-carrying ants were then tested in a separate channel.</a:t>
            </a:r>
            <a:endParaRPr/>
          </a:p>
          <a:p>
            <a:pPr indent="0" lvl="0" marL="0" rtl="0" algn="l">
              <a:spcBef>
                <a:spcPts val="0"/>
              </a:spcBef>
              <a:spcAft>
                <a:spcPts val="0"/>
              </a:spcAft>
              <a:buNone/>
            </a:pPr>
            <a:r>
              <a:rPr lang="en-US"/>
              <a:t>• The manipulation was performed after the outbound distance had been acquired, allowing an unequal relationship between outbound and inbound strides. Lengthened or shortened legs change the distance covered per stride on the inbound journey, which makes stride length the variable under test for the odometer.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2. Normal legs, stilts and stumps.</a:t>
            </a:r>
            <a:endParaRPr/>
          </a:p>
          <a:p>
            <a:pPr indent="0" lvl="0" marL="0" rtl="0" algn="l">
              <a:spcBef>
                <a:spcPts val="0"/>
              </a:spcBef>
              <a:spcAft>
                <a:spcPts val="0"/>
              </a:spcAft>
              <a:buNone/>
            </a:pPr>
            <a:r>
              <a:rPr lang="en-US"/>
              <a:t>Figure source: https://doi.org/10.1126/science.1126912</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transition from directed walking to repeated U-turns provides a behavioral measure of expected nest distance. Wittlinger and colleagues used the median of the initial six turning points to identify the centre of an ant’s nest-search behavior.</a:t>
            </a:r>
            <a:endParaRPr/>
          </a:p>
          <a:p>
            <a:pPr indent="0" lvl="0" marL="0" rtl="0" algn="l">
              <a:spcBef>
                <a:spcPts val="0"/>
              </a:spcBef>
              <a:spcAft>
                <a:spcPts val="0"/>
              </a:spcAft>
              <a:buNone/>
            </a:pPr>
            <a:r>
              <a:rPr lang="en-US"/>
              <a:t>• After a normal 10 m outbound journey, ants with lengthened legs searched at 15.30 m, ants with shortened legs searched at 5.75 m, and normal-legged controls searched at 10.20 m. The direction of the error followed the change in stride length.</a:t>
            </a:r>
            <a:endParaRPr/>
          </a:p>
          <a:p>
            <a:pPr indent="0" lvl="0" marL="0" rtl="0" algn="l">
              <a:spcBef>
                <a:spcPts val="0"/>
              </a:spcBef>
              <a:spcAft>
                <a:spcPts val="0"/>
              </a:spcAft>
              <a:buNone/>
            </a:pPr>
            <a:r>
              <a:rPr lang="en-US"/>
              <a:t>• Longer inbound strides made the stored journey terminate farther from release, while shorter strides made it terminate sooner. This bidirectional effect is difficult to attribute solely to debilitation, which would not predict vigorous overshooting by the animals walking on stilts.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3(A–B). Homing distances after leg manipulation and after matched outbound training.</a:t>
            </a:r>
            <a:endParaRPr/>
          </a:p>
          <a:p>
            <a:pPr indent="0" lvl="0" marL="0" rtl="0" algn="l">
              <a:spcBef>
                <a:spcPts val="0"/>
              </a:spcBef>
              <a:spcAft>
                <a:spcPts val="0"/>
              </a:spcAft>
              <a:buNone/>
            </a:pPr>
            <a:r>
              <a:rPr lang="en-US"/>
              <a:t>Figure source: https://doi.org/10.1126/science.1126912</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same modified animal can experience a new outbound journey with the altered legs. This control keeps the manipulation present while removing the mismatch between the locomotor conditions used to acquire and express the stored distance.</a:t>
            </a:r>
            <a:endParaRPr/>
          </a:p>
          <a:p>
            <a:pPr indent="0" lvl="0" marL="0" rtl="0" algn="l">
              <a:spcBef>
                <a:spcPts val="0"/>
              </a:spcBef>
              <a:spcAft>
                <a:spcPts val="0"/>
              </a:spcAft>
              <a:buNone/>
            </a:pPr>
            <a:r>
              <a:rPr lang="en-US"/>
              <a:t>• After returning to the nest, ants walked to the feeder again with their stilts or stumps and were retested. Searches centred at 10.55 m for stilts and 10.25 m for stumps, close to the 10.20 m normal-leg condition and the true 10 m separation.</a:t>
            </a:r>
            <a:endParaRPr/>
          </a:p>
          <a:p>
            <a:pPr indent="0" lvl="0" marL="0" rtl="0" algn="l">
              <a:spcBef>
                <a:spcPts val="0"/>
              </a:spcBef>
              <a:spcAft>
                <a:spcPts val="0"/>
              </a:spcAft>
              <a:buNone/>
            </a:pPr>
            <a:r>
              <a:rPr lang="en-US"/>
              <a:t>• Recovery of the expected distance supports a stride-dependent acquisition-and-readout relationship rather than permanent loss of navigation after surgery. The ant reads out the stored distance in the same stride units in which it acquired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3(A–B). Homing distances after leg manipulation and after matched outbound training.</a:t>
            </a:r>
            <a:endParaRPr/>
          </a:p>
          <a:p>
            <a:pPr indent="0" lvl="0" marL="0" rtl="0" algn="l">
              <a:spcBef>
                <a:spcPts val="0"/>
              </a:spcBef>
              <a:spcAft>
                <a:spcPts val="0"/>
              </a:spcAft>
              <a:buNone/>
            </a:pPr>
            <a:r>
              <a:rPr lang="en-US"/>
              <a:t>Figure source: https://doi.org/10.1126/science.1126912</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Wittlinger and colleagues extended the odometer experiment with two degrees of leg shortening. **Tarsomeres** are the distal segments of an insect leg; the **tibia** lies proximal to the tarsus. Removing these regions changes the effective length of the walking limb.</a:t>
            </a:r>
            <a:endParaRPr/>
          </a:p>
          <a:p>
            <a:pPr indent="0" lvl="0" marL="0" rtl="0" algn="l">
              <a:spcBef>
                <a:spcPts val="0"/>
              </a:spcBef>
              <a:spcAft>
                <a:spcPts val="0"/>
              </a:spcAft>
              <a:buNone/>
            </a:pPr>
            <a:r>
              <a:rPr lang="en-US"/>
              <a:t>• Stumps I lacked the distal tarsal segments, whereas stumps II had the distal half of the tibia removed. A third group carried bristle stilts, and normal-legged ants provided the comparison. All groups had acquired the same 10 m outbound feeder distance before the first test.</a:t>
            </a:r>
            <a:endParaRPr/>
          </a:p>
          <a:p>
            <a:pPr indent="0" lvl="0" marL="0" rtl="0" algn="l">
              <a:spcBef>
                <a:spcPts val="0"/>
              </a:spcBef>
              <a:spcAft>
                <a:spcPts val="0"/>
              </a:spcAft>
              <a:buNone/>
            </a:pPr>
            <a:r>
              <a:rPr lang="en-US"/>
              <a:t>• The anatomically graded manipulation allowed comparison of different reductions in stride length rather than treating all shortened legs as one condition. All groups shared the same navigational task, so differences in homing distance can be assigned to the degree of leg shortening.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2. Leg anatomy and the four length conditions.</a:t>
            </a:r>
            <a:endParaRPr/>
          </a:p>
          <a:p>
            <a:pPr indent="0" lvl="0" marL="0" rtl="0" algn="l">
              <a:spcBef>
                <a:spcPts val="0"/>
              </a:spcBef>
              <a:spcAft>
                <a:spcPts val="0"/>
              </a:spcAft>
              <a:buNone/>
            </a:pPr>
            <a:r>
              <a:rPr lang="en-US"/>
              <a:t>Figure source: https://doi.org/10.1242/jeb.02657</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**tripod gait** alternates two sets of three supporting legs. In Cataglyphis, one set combines the left front and hind legs with the right middle leg; the complementary set uses the remaining three legs.</a:t>
            </a:r>
            <a:endParaRPr/>
          </a:p>
          <a:p>
            <a:pPr indent="0" lvl="0" marL="0" rtl="0" algn="l">
              <a:spcBef>
                <a:spcPts val="0"/>
              </a:spcBef>
              <a:spcAft>
                <a:spcPts val="0"/>
              </a:spcAft>
              <a:buNone/>
            </a:pPr>
            <a:r>
              <a:rPr lang="en-US"/>
              <a:t>• High-speed video at 250 frames per second recorded ants before and after manipulation. The published normal example had a stride length of 13.3 mm at 0.28 m/s, whereas a stumps-II example retained tripod coordination with a 10.5 mm stride at 0.27 m/s.</a:t>
            </a:r>
            <a:endParaRPr/>
          </a:p>
          <a:p>
            <a:pPr indent="0" lvl="0" marL="0" rtl="0" algn="l">
              <a:spcBef>
                <a:spcPts val="0"/>
              </a:spcBef>
              <a:spcAft>
                <a:spcPts val="0"/>
              </a:spcAft>
              <a:buNone/>
            </a:pPr>
            <a:r>
              <a:rPr lang="en-US"/>
              <a:t>• The observations separate shortening of the walking cycle’s spatial extent from replacement of its basic coordination pattern. Shortened legs reduce how far each step advances the ant while the alternating pattern of the two supporting sets stays the same.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3(B). Tripod gait after shortening the tibiae.</a:t>
            </a:r>
            <a:endParaRPr/>
          </a:p>
          <a:p>
            <a:pPr indent="0" lvl="0" marL="0" rtl="0" algn="l">
              <a:spcBef>
                <a:spcPts val="0"/>
              </a:spcBef>
              <a:spcAft>
                <a:spcPts val="0"/>
              </a:spcAft>
              <a:buNone/>
            </a:pPr>
            <a:r>
              <a:rPr lang="en-US"/>
              <a:t>Figure source: https://doi.org/10.1242/jeb.02657</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shorter stride covers less ground during each locomotor cycle. If outbound distance is stored in relation to movement cycles, shortening the legs only after that journey should make the inbound estimate terminate before the original feeder-to-nest distance.</a:t>
            </a:r>
            <a:endParaRPr/>
          </a:p>
          <a:p>
            <a:pPr indent="0" lvl="0" marL="0" rtl="0" algn="l">
              <a:spcBef>
                <a:spcPts val="0"/>
              </a:spcBef>
              <a:spcAft>
                <a:spcPts val="0"/>
              </a:spcAft>
              <a:buNone/>
            </a:pPr>
            <a:r>
              <a:rPr lang="en-US"/>
              <a:t>• In the expanded experiment, normal-legged ants searched at 10.20 m, stumps-I ants at 6.95 m and stumps-II ants at 5.75 m. Stilts produced searches at 15.30 m. These values were measured after a 10 m outbound run through the training channel.</a:t>
            </a:r>
            <a:endParaRPr/>
          </a:p>
          <a:p>
            <a:pPr indent="0" lvl="0" marL="0" rtl="0" algn="l">
              <a:spcBef>
                <a:spcPts val="0"/>
              </a:spcBef>
              <a:spcAft>
                <a:spcPts val="0"/>
              </a:spcAft>
              <a:buNone/>
            </a:pPr>
            <a:r>
              <a:rPr lang="en-US"/>
              <a:t>• The graded undershoot is consistent with a stride integrator rather than a fixed physical-distance readout independent of locomotion. Stumps II removed more of the leg than stumps I and gave the shorter search, so greater shortening produced greater undershoot.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4(A–B). Color-coded searches before and after matched leg-length training.</a:t>
            </a:r>
            <a:endParaRPr/>
          </a:p>
          <a:p>
            <a:pPr indent="0" lvl="0" marL="0" rtl="0" algn="l">
              <a:spcBef>
                <a:spcPts val="0"/>
              </a:spcBef>
              <a:spcAft>
                <a:spcPts val="0"/>
              </a:spcAft>
              <a:buNone/>
            </a:pPr>
            <a:r>
              <a:rPr lang="en-US"/>
              <a:t>Figure source: https://doi.org/10.1242/jeb.02657</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**search density distribution** records how often an ant visits positions during its search. Its centre estimates expected nest location, while its width describes how broadly the animal distributes its search around that estimate.</a:t>
            </a:r>
            <a:endParaRPr/>
          </a:p>
          <a:p>
            <a:pPr indent="0" lvl="0" marL="0" rtl="0" algn="l">
              <a:spcBef>
                <a:spcPts val="0"/>
              </a:spcBef>
              <a:spcAft>
                <a:spcPts val="0"/>
              </a:spcAft>
              <a:buNone/>
            </a:pPr>
            <a:r>
              <a:rPr lang="en-US"/>
              <a:t>• The test channel was divided into 10 cm bins. In the first test, the full width at half maximum was 8.3 m for stilts, 6.0 m for normal legs, 5.2 m for stumps I and 4.1 m for stumps II. The plotted search curves therefore differed in spread as well as centre.</a:t>
            </a:r>
            <a:endParaRPr/>
          </a:p>
          <a:p>
            <a:pPr indent="0" lvl="0" marL="0" rtl="0" algn="l">
              <a:spcBef>
                <a:spcPts val="0"/>
              </a:spcBef>
              <a:spcAft>
                <a:spcPts val="0"/>
              </a:spcAft>
              <a:buNone/>
            </a:pPr>
            <a:r>
              <a:rPr lang="en-US"/>
              <a:t>• Longer strides spread the search over more distance and shorter strides over less, so the width of the distribution scales with stride length as the centre does. Centre and width are two behavioral readouts of the same stride-based process.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5. Widths of the nest-search distributions.</a:t>
            </a:r>
            <a:endParaRPr/>
          </a:p>
          <a:p>
            <a:pPr indent="0" lvl="0" marL="0" rtl="0" algn="l">
              <a:spcBef>
                <a:spcPts val="0"/>
              </a:spcBef>
              <a:spcAft>
                <a:spcPts val="0"/>
              </a:spcAft>
              <a:buNone/>
            </a:pPr>
            <a:r>
              <a:rPr lang="en-US"/>
              <a:t>Figure source: https://doi.org/10.1242/jeb.02657</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Comparing first and second tests separates a newly imposed mismatch from walking with altered legs on both journey directions. In the second test, ants had left the nest and reached the feeder using the same modified limbs used during homing.</a:t>
            </a:r>
            <a:endParaRPr/>
          </a:p>
          <a:p>
            <a:pPr indent="0" lvl="0" marL="0" rtl="0" algn="l">
              <a:spcBef>
                <a:spcPts val="0"/>
              </a:spcBef>
              <a:spcAft>
                <a:spcPts val="0"/>
              </a:spcAft>
              <a:buNone/>
            </a:pPr>
            <a:r>
              <a:rPr lang="en-US"/>
              <a:t>• The initial stilt and stump searches were displaced from the 10 m nest distance. After the subsequent outbound journey, the color-coded search distributions clustered near the correct distance across the four leg conditions, even though the surgical or bristle modifications remained present.</a:t>
            </a:r>
            <a:endParaRPr/>
          </a:p>
          <a:p>
            <a:pPr indent="0" lvl="0" marL="0" rtl="0" algn="l">
              <a:spcBef>
                <a:spcPts val="0"/>
              </a:spcBef>
              <a:spcAft>
                <a:spcPts val="0"/>
              </a:spcAft>
              <a:buNone/>
            </a:pPr>
            <a:r>
              <a:rPr lang="en-US"/>
              <a:t>• The dependence on journey history excludes a persistent injury as the explanation, because the same modified limbs gave accurate homing once outbound and inbound conditions matched. Stride-associated signals gathered on the way out are read out in the same units on the way back.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4(A–B). Color-coded searches before and after matched leg-length training.</a:t>
            </a:r>
            <a:endParaRPr/>
          </a:p>
          <a:p>
            <a:pPr indent="0" lvl="0" marL="0" rtl="0" algn="l">
              <a:spcBef>
                <a:spcPts val="0"/>
              </a:spcBef>
              <a:spcAft>
                <a:spcPts val="0"/>
              </a:spcAft>
              <a:buNone/>
            </a:pPr>
            <a:r>
              <a:rPr lang="en-US"/>
              <a:t>Figure source: https://doi.org/10.1242/jeb.02657</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Larger Cataglyphis workers have longer legs and can take longer strides. **Normalization** expresses measurements relative to a specified reference so that differences in body size do not masquerade as effects of the experimental manipulation.</a:t>
            </a:r>
            <a:endParaRPr/>
          </a:p>
          <a:p>
            <a:pPr indent="0" lvl="0" marL="0" rtl="0" algn="l">
              <a:spcBef>
                <a:spcPts val="0"/>
              </a:spcBef>
              <a:spcAft>
                <a:spcPts val="0"/>
              </a:spcAft>
              <a:buNone/>
            </a:pPr>
            <a:r>
              <a:rPr lang="en-US"/>
              <a:t>• Wittlinger and colleagues measured the **alitrunk**, the thoracic region between the pronotum and propodeum, and expressed middle-leg length and stride length relative to alitrunk length. High-speed records related these relative strides to frequency, including a comparison at 20 Hz.</a:t>
            </a:r>
            <a:endParaRPr/>
          </a:p>
          <a:p>
            <a:pPr indent="0" lvl="0" marL="0" rtl="0" algn="l">
              <a:spcBef>
                <a:spcPts val="0"/>
              </a:spcBef>
              <a:spcAft>
                <a:spcPts val="0"/>
              </a:spcAft>
              <a:buNone/>
            </a:pPr>
            <a:r>
              <a:rPr lang="en-US"/>
              <a:t>• The analysis placed normal, stilt and stump animals on a common anatomical and locomotor basis. Expressing stride length relative to alitrunk length makes a stride comparable between large and small workers, so differences reflect the leg manipulation.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6. Stride length as a function of stride frequency.</a:t>
            </a:r>
            <a:endParaRPr/>
          </a:p>
          <a:p>
            <a:pPr indent="0" lvl="0" marL="0" rtl="0" algn="l">
              <a:spcBef>
                <a:spcPts val="0"/>
              </a:spcBef>
              <a:spcAft>
                <a:spcPts val="0"/>
              </a:spcAft>
              <a:buNone/>
            </a:pPr>
            <a:r>
              <a:rPr lang="en-US"/>
              <a:t>Figure source: https://doi.org/10.1242/jeb.02657</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**Stride frequency** is the number of complete leg cycles per second, measured in hertz. It is distinct from stride length, the distance advanced during one cycle. Either variable can change walking speed.</a:t>
            </a:r>
            <a:endParaRPr/>
          </a:p>
          <a:p>
            <a:pPr indent="0" lvl="0" marL="0" rtl="0" algn="l">
              <a:spcBef>
                <a:spcPts val="0"/>
              </a:spcBef>
              <a:spcAft>
                <a:spcPts val="0"/>
              </a:spcAft>
              <a:buNone/>
            </a:pPr>
            <a:r>
              <a:rPr lang="en-US"/>
              <a:t>• At comparable frequencies, stilt ants had longer relative strides and stump ants shorter relative strides than controls. The investigators used the measured frequency–length relationships to compare animals at 20 Hz, reducing the effect of unequal movement speeds on the predicted homing distances.</a:t>
            </a:r>
            <a:endParaRPr/>
          </a:p>
          <a:p>
            <a:pPr indent="0" lvl="0" marL="0" rtl="0" algn="l">
              <a:spcBef>
                <a:spcPts val="0"/>
              </a:spcBef>
              <a:spcAft>
                <a:spcPts val="0"/>
              </a:spcAft>
              <a:buNone/>
            </a:pPr>
            <a:r>
              <a:rPr lang="en-US"/>
              <a:t>• The remaining ordering of the leg conditions links the imposed limb geometry to locomotor displacement. Longer strides at a given frequency carry the ant farther per cycle, so stride length is the quantity that the odometer must track.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6. Stride length as a function of stride frequency.</a:t>
            </a:r>
            <a:endParaRPr/>
          </a:p>
          <a:p>
            <a:pPr indent="0" lvl="0" marL="0" rtl="0" algn="l">
              <a:spcBef>
                <a:spcPts val="0"/>
              </a:spcBef>
              <a:spcAft>
                <a:spcPts val="0"/>
              </a:spcAft>
              <a:buNone/>
            </a:pPr>
            <a:r>
              <a:rPr lang="en-US"/>
              <a:t>Figure source: https://doi.org/10.1242/jeb.02657</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Increasing walking speed can involve faster cycles, longer strides, or both. Wittlinger and colleagues recorded freely walking animals under several temperature and preparation conditions, retaining straight runs without abrupt stops for the kinematic comparisons.</a:t>
            </a:r>
            <a:endParaRPr/>
          </a:p>
          <a:p>
            <a:pPr indent="0" lvl="0" marL="0" rtl="0" algn="l">
              <a:spcBef>
                <a:spcPts val="0"/>
              </a:spcBef>
              <a:spcAft>
                <a:spcPts val="0"/>
              </a:spcAft>
              <a:buNone/>
            </a:pPr>
            <a:r>
              <a:rPr lang="en-US"/>
              <a:t>• The color-coded data related walking speed, in mm/s, to stride frequency, in Hz. Normal and shortened-leg ants increased cycle frequency as speed increased, while stilts tended to use lower frequencies for a given speed. Their longer strides partly compensated for the reduced frequency.</a:t>
            </a:r>
            <a:endParaRPr/>
          </a:p>
          <a:p>
            <a:pPr indent="0" lvl="0" marL="0" rtl="0" algn="l">
              <a:spcBef>
                <a:spcPts val="0"/>
              </a:spcBef>
              <a:spcAft>
                <a:spcPts val="0"/>
              </a:spcAft>
              <a:buNone/>
            </a:pPr>
            <a:r>
              <a:rPr lang="en-US"/>
              <a:t>• These relationships prevent interpreting every change in elapsed journey time as a proportional change in distance. A time-based explanation must account for the actual measured speeds rather than assume that all manipulated ants maintain the same cycle rate or velocity.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7(A). Stride frequency increases with walking speed.</a:t>
            </a:r>
            <a:endParaRPr/>
          </a:p>
          <a:p>
            <a:pPr indent="0" lvl="0" marL="0" rtl="0" algn="l">
              <a:spcBef>
                <a:spcPts val="0"/>
              </a:spcBef>
              <a:spcAft>
                <a:spcPts val="0"/>
              </a:spcAft>
              <a:buNone/>
            </a:pPr>
            <a:r>
              <a:rPr lang="en-US"/>
              <a:t>Figure source: https://doi.org/10.1242/jeb.02657</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advanced during one stride is not a fixed constant for a leg condition. Cataglyphis changes stride length as it runs faster, so the effect of altered limb length must be evaluated across measured locomotor speeds.</a:t>
            </a:r>
            <a:endParaRPr/>
          </a:p>
          <a:p>
            <a:pPr indent="0" lvl="0" marL="0" rtl="0" algn="l">
              <a:spcBef>
                <a:spcPts val="0"/>
              </a:spcBef>
              <a:spcAft>
                <a:spcPts val="0"/>
              </a:spcAft>
              <a:buNone/>
            </a:pPr>
            <a:r>
              <a:rPr lang="en-US"/>
              <a:t>• The published plot relates stride length in mm to walking speed in mm/s. Stilts have longer strides than controls at comparable speeds, and stumps shorter strides. High-speed recordings establish this relationship independently of the turning-point measures used to locate each ant’s nest search.</a:t>
            </a:r>
            <a:endParaRPr/>
          </a:p>
          <a:p>
            <a:pPr indent="0" lvl="0" marL="0" rtl="0" algn="l">
              <a:spcBef>
                <a:spcPts val="0"/>
              </a:spcBef>
              <a:spcAft>
                <a:spcPts val="0"/>
              </a:spcAft>
              <a:buNone/>
            </a:pPr>
            <a:r>
              <a:rPr lang="en-US"/>
              <a:t>• The agreement between locomotor displacement and homing bias supports stride-based odometry while avoiding an assumption of one unchanging step size. The distance an ant covers depends on the strides actually taken, which vary with speed and with leg condition.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7(B). Stride length increases with walking speed.</a:t>
            </a:r>
            <a:endParaRPr/>
          </a:p>
          <a:p>
            <a:pPr indent="0" lvl="0" marL="0" rtl="0" algn="l">
              <a:spcBef>
                <a:spcPts val="0"/>
              </a:spcBef>
              <a:spcAft>
                <a:spcPts val="0"/>
              </a:spcAft>
              <a:buNone/>
            </a:pPr>
            <a:r>
              <a:rPr lang="en-US"/>
              <a:t>Figure source: https://doi.org/10.1242/jeb.02657</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**stride integrator** accumulates information associated with rhythmic locomotion. It need not register each footfall as a discrete counted object. Possible inputs include **proprioception**, sensory information about limb position and movement, or activity associated with generating the walking rhythm.</a:t>
            </a:r>
            <a:endParaRPr/>
          </a:p>
          <a:p>
            <a:pPr indent="0" lvl="0" marL="0" rtl="0" algn="l">
              <a:spcBef>
                <a:spcPts val="0"/>
              </a:spcBef>
              <a:spcAft>
                <a:spcPts val="0"/>
              </a:spcAft>
              <a:buNone/>
            </a:pPr>
            <a:r>
              <a:rPr lang="en-US"/>
              <a:t>• The 2007 experiments combined a 10 m navigational task with 250-frame-per-second video and leg-length manipulations. Both the preserved tripod pattern and the graded stride changes were consistent with accumulation of movement-linked information rather than a fixed elapsed-time rule.</a:t>
            </a:r>
            <a:endParaRPr/>
          </a:p>
          <a:p>
            <a:pPr indent="0" lvl="0" marL="0" rtl="0" algn="l">
              <a:spcBef>
                <a:spcPts val="0"/>
              </a:spcBef>
              <a:spcAft>
                <a:spcPts val="0"/>
              </a:spcAft>
              <a:buNone/>
            </a:pPr>
            <a:r>
              <a:rPr lang="en-US"/>
              <a:t>• Proprioceptive signals, limb-position feedback and the motor commands that generate the walking rhythm are the candidate inputs to the integrator. Each carries information proportional to stride, which is why a stride integrator can account for graded distance errors.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3(A). Normal tripod gait in a walking Cataglyphis fortis.</a:t>
            </a:r>
            <a:endParaRPr/>
          </a:p>
          <a:p>
            <a:pPr indent="0" lvl="0" marL="0" rtl="0" algn="l">
              <a:spcBef>
                <a:spcPts val="0"/>
              </a:spcBef>
              <a:spcAft>
                <a:spcPts val="0"/>
              </a:spcAft>
              <a:buNone/>
            </a:pPr>
            <a:r>
              <a:rPr lang="en-US"/>
              <a:t>Figure source: https://doi.org/10.1242/jeb.02657</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**Learning walks** are short excursions around the nest during the transition from interior work to outside foraging. Cataglyphis nodus repeatedly pauses and rotates during these walks, acquiring experience with directional and visual information before taking distant journeys.</a:t>
            </a:r>
            <a:endParaRPr/>
          </a:p>
          <a:p>
            <a:pPr indent="0" lvl="0" marL="0" rtl="0" algn="l">
              <a:spcBef>
                <a:spcPts val="0"/>
              </a:spcBef>
              <a:spcAft>
                <a:spcPts val="0"/>
              </a:spcAft>
              <a:buNone/>
            </a:pPr>
            <a:r>
              <a:rPr lang="en-US"/>
              <a:t>• Grob and colleagues tested novices around natural nests in Greece. A table installed 30 cm above the entrance held a polarization filter over a 60 × 60 cm learning-walk area. Ants experienced defined skylight conditions over three days before their brains were analyzed.</a:t>
            </a:r>
            <a:endParaRPr/>
          </a:p>
          <a:p>
            <a:pPr indent="0" lvl="0" marL="0" rtl="0" algn="l">
              <a:spcBef>
                <a:spcPts val="0"/>
              </a:spcBef>
              <a:spcAft>
                <a:spcPts val="0"/>
              </a:spcAft>
              <a:buNone/>
            </a:pPr>
            <a:r>
              <a:rPr lang="en-US"/>
              <a:t>• The polarization filter over the learning-walk area controls one component of the compass environment while the ants behave naturally near the nest. Brains analysed after three days reflect the skylight experience each novice received.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1(a). The polarization-filter apparatus in the natural habitat.</a:t>
            </a:r>
            <a:endParaRPr/>
          </a:p>
          <a:p>
            <a:pPr indent="0" lvl="0" marL="0" rtl="0" algn="l">
              <a:spcBef>
                <a:spcPts val="0"/>
              </a:spcBef>
              <a:spcAft>
                <a:spcPts val="0"/>
              </a:spcAft>
              <a:buNone/>
            </a:pPr>
            <a:r>
              <a:rPr lang="en-US"/>
              <a:t>Figure source: https://doi.org/10.1098/rspb.2021.2499</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**solar ephemeris** is the sun’s changing position over the day. A time-compensated sky compass must relate current solar or polarization information to heading despite that movement. Initial learning can establish the relation between celestial changes and stable surroundings.</a:t>
            </a:r>
            <a:endParaRPr/>
          </a:p>
          <a:p>
            <a:pPr indent="0" lvl="0" marL="0" rtl="0" algn="l">
              <a:spcBef>
                <a:spcPts val="0"/>
              </a:spcBef>
              <a:spcAft>
                <a:spcPts val="0"/>
              </a:spcAft>
              <a:buNone/>
            </a:pPr>
            <a:r>
              <a:rPr lang="en-US"/>
              <a:t>• Grob and colleagues compared natural skylight with a stationary polarizer, a single 90° turn at solar noon, hourly 45° turns, and continuous rotation at 15° per hour. Each treatment constrained how polarization direction changed during three days of learning walks.</a:t>
            </a:r>
            <a:endParaRPr/>
          </a:p>
          <a:p>
            <a:pPr indent="0" lvl="0" marL="0" rtl="0" algn="l">
              <a:spcBef>
                <a:spcPts val="0"/>
              </a:spcBef>
              <a:spcAft>
                <a:spcPts val="0"/>
              </a:spcAft>
              <a:buNone/>
            </a:pPr>
            <a:r>
              <a:rPr lang="en-US"/>
              <a:t>• The artificial schedules separated exposure to polarized light from experience of a changing polarization pattern. Each schedule changes the polarization direction at a known rate, from a single 90° turn to continuous rotation at 15° per hour, so experience of change in the compass reference is the manipulated variable.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1(b). Stationary, stepped and continuously rotating polarization treatments.</a:t>
            </a:r>
            <a:endParaRPr/>
          </a:p>
          <a:p>
            <a:pPr indent="0" lvl="0" marL="0" rtl="0" algn="l">
              <a:spcBef>
                <a:spcPts val="0"/>
              </a:spcBef>
              <a:spcAft>
                <a:spcPts val="0"/>
              </a:spcAft>
              <a:buNone/>
            </a:pPr>
            <a:r>
              <a:rPr lang="en-US"/>
              <a:t>Figure source: https://doi.org/10.1098/rspb.2021.2499</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**neuropil** is a region containing neuronal processes and synapses. The **central complex** comprises midline brain neuropils implicated in heading and navigation, while the **mushroom bodies** are paired structures implicated in memory-based processing.</a:t>
            </a:r>
            <a:endParaRPr/>
          </a:p>
          <a:p>
            <a:pPr indent="0" lvl="0" marL="0" rtl="0" algn="l">
              <a:spcBef>
                <a:spcPts val="0"/>
              </a:spcBef>
              <a:spcAft>
                <a:spcPts val="0"/>
              </a:spcAft>
              <a:buNone/>
            </a:pPr>
            <a:r>
              <a:rPr lang="en-US"/>
              <a:t>• Grob and colleagues labelled Cataglyphis brains with anti-synapsin antibodies and fluorescent phalloidin, which marks actin-rich structures. Their preparations identified mushroom-body collar microglomeruli and giant synapses in the lateral complex. The whole-brain image has a 200 µm scale bar and the synaptic insets 10 µm bars.</a:t>
            </a:r>
            <a:endParaRPr/>
          </a:p>
          <a:p>
            <a:pPr indent="0" lvl="0" marL="0" rtl="0" algn="l">
              <a:spcBef>
                <a:spcPts val="0"/>
              </a:spcBef>
              <a:spcAft>
                <a:spcPts val="0"/>
              </a:spcAft>
              <a:buNone/>
            </a:pPr>
            <a:r>
              <a:rPr lang="en-US"/>
              <a:t>• The anatomical distinction permits separate measurements along the two visual pathways. Anti-synapsin labels presynaptic sites and phalloidin labels actin, so microglomeruli and giant synapses appear as countable structures in defined neuropils.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**Synapsin** is a protein associated with presynaptic vesicles, so anti-synapsin labelling helps identify presynaptic specializations. **F-actin** is filamentous actin; fluorescent phalloidin labels it in neuronal processes and supports identification of synaptic organization.</a:t>
            </a:r>
            <a:endParaRPr/>
          </a:p>
          <a:p>
            <a:pPr indent="0" lvl="0" marL="0" rtl="0" algn="l">
              <a:spcBef>
                <a:spcPts val="0"/>
              </a:spcBef>
              <a:spcAft>
                <a:spcPts val="0"/>
              </a:spcAft>
              <a:buNone/>
            </a:pPr>
            <a:r>
              <a:rPr lang="en-US"/>
              <a:t>• The Cataglyphis nodus preparations used complementary synapsin and actin labels to quantify **microglomeruli**, compact synaptic complexes in the mushroom-body collar, and giant synapses in the lateral complex. The magnified examples retain 10 µm scale bars for these different structures.</a:t>
            </a:r>
            <a:endParaRPr/>
          </a:p>
          <a:p>
            <a:pPr indent="0" lvl="0" marL="0" rtl="0" algn="l">
              <a:spcBef>
                <a:spcPts val="0"/>
              </a:spcBef>
              <a:spcAft>
                <a:spcPts val="0"/>
              </a:spcAft>
              <a:buNone/>
            </a:pPr>
            <a:r>
              <a:rPr lang="en-US"/>
              <a:t>• Counts of microglomeruli and giant synapses in defined neuropils reveal experience-associated reorganization of synaptic structure. Synapsin marks presynaptic boutons and actin marks target processes, so the two labels together define each synaptic complex.</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72" name="Google Shape;3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3" name="Google Shape;3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**Light exposure** and active learning walks are separable experimental experiences. Grob and colleagues compared dark controls with ants exposed to natural skylight, ultraviolet-filtered skylight or a fixed polarization pattern, with additional groups allowed to perform learning walks.</a:t>
            </a:r>
            <a:endParaRPr/>
          </a:p>
          <a:p>
            <a:pPr indent="0" lvl="0" marL="0" rtl="0" algn="l">
              <a:spcBef>
                <a:spcPts val="0"/>
              </a:spcBef>
              <a:spcAft>
                <a:spcPts val="0"/>
              </a:spcAft>
              <a:buNone/>
            </a:pPr>
            <a:r>
              <a:rPr lang="en-US"/>
              <a:t>• After three days, lateral-complex giant-synapse counts increased under suitable full-spectrum light exposure even without learning walks. Removing ultraviolet light reduced this response. Central-complex volume did not exhibit the same simple light-exposure dependence as the lateral-complex synaptic count.</a:t>
            </a:r>
            <a:endParaRPr/>
          </a:p>
          <a:p>
            <a:pPr indent="0" lvl="0" marL="0" rtl="0" algn="l">
              <a:spcBef>
                <a:spcPts val="0"/>
              </a:spcBef>
              <a:spcAft>
                <a:spcPts val="0"/>
              </a:spcAft>
              <a:buNone/>
            </a:pPr>
            <a:r>
              <a:rPr lang="en-US"/>
              <a:t>• The dissociation supports different experience requirements in the two visual pathways. The lateral-complex synaptic count responds to ultraviolet-containing light alone, whereas the central complex needs more than passive light, so the pathways differ in the experience that drives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2(a). Lateral-complex synaptic counts across light conditions.</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84" name="Google Shape;3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**Structural plasticity** is an experience-associated change in neuronal anatomy, such as neuropil volume or synaptic organization. It must be distinguished from an acute firing-rate response to a sensory stimulus.</a:t>
            </a:r>
            <a:endParaRPr/>
          </a:p>
          <a:p>
            <a:pPr indent="0" lvl="0" marL="0" rtl="0" algn="l">
              <a:spcBef>
                <a:spcPts val="0"/>
              </a:spcBef>
              <a:spcAft>
                <a:spcPts val="0"/>
              </a:spcAft>
              <a:buNone/>
            </a:pPr>
            <a:r>
              <a:rPr lang="en-US"/>
              <a:t>• After three days, natural learning walks increased the size-corrected central-complex volume relative to dark controls. Passive light exposure and learning walks under a stationary polarization filter did not produce the same increase. Brain volumes were corrected for body size rather than compared solely as raw tissue amounts.</a:t>
            </a:r>
            <a:endParaRPr/>
          </a:p>
          <a:p>
            <a:pPr indent="0" lvl="0" marL="0" rtl="0" algn="l">
              <a:spcBef>
                <a:spcPts val="0"/>
              </a:spcBef>
              <a:spcAft>
                <a:spcPts val="0"/>
              </a:spcAft>
              <a:buNone/>
            </a:pPr>
            <a:r>
              <a:rPr lang="en-US"/>
              <a:t>• The central complex grows with the active experience of learning walks under natural skylight, a different requirement from the light exposure that suffices for lateral-complex giant synapses.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2(b). Central-complex volumes after light exposure or learning walks.</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98" name="Google Shape;39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1" name="Google Shape;411;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**mushroom-body collar** is a visual input region of the mushroom-body calyx. Its microglomeruli receive visual information and provide a measurable synaptic endpoint for changes accompanying the acquisition of outdoor experience.</a:t>
            </a:r>
            <a:endParaRPr/>
          </a:p>
          <a:p>
            <a:pPr indent="0" lvl="0" marL="0" rtl="0" algn="l">
              <a:spcBef>
                <a:spcPts val="0"/>
              </a:spcBef>
              <a:spcAft>
                <a:spcPts val="0"/>
              </a:spcAft>
              <a:buNone/>
            </a:pPr>
            <a:r>
              <a:rPr lang="en-US"/>
              <a:t>• Grob and colleagues allowed three days of learning walks under different polarization schedules. A stationary pattern failed to elicit the growth associated with changing polarization. A single 90° daily turn, hourly 45° turns and continuous 15°-per-hour rotation supported increases in collar volume and microglomerular number.</a:t>
            </a:r>
            <a:endParaRPr/>
          </a:p>
          <a:p>
            <a:pPr indent="0" lvl="0" marL="0" rtl="0" algn="l">
              <a:spcBef>
                <a:spcPts val="0"/>
              </a:spcBef>
              <a:spcAft>
                <a:spcPts val="0"/>
              </a:spcAft>
              <a:buNone/>
            </a:pPr>
            <a:r>
              <a:rPr lang="en-US"/>
              <a:t>• The comparison separates a changing compass-related environment from polarized illumination alone. Any schedule in which polarization direction changes, whether one daily turn, hourly turns or continuous rotation, supports collar growth, so the mushroom body responds to change in the celestial compass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3(c–d). Mushroom-body volume and microglomeruli under polarization rotation.</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412" name="Google Shape;412;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5" name="Google Shape;425;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sensory manipulation can affect different brain regions differently. The lateral complex lies along the sky-compass pathway, whereas the central complex and mushroom-body collar provide distinct higher-order measures of experience-associated change.</a:t>
            </a:r>
            <a:endParaRPr/>
          </a:p>
          <a:p>
            <a:pPr indent="0" lvl="0" marL="0" rtl="0" algn="l">
              <a:spcBef>
                <a:spcPts val="0"/>
              </a:spcBef>
              <a:spcAft>
                <a:spcPts val="0"/>
              </a:spcAft>
              <a:buNone/>
            </a:pPr>
            <a:r>
              <a:rPr lang="en-US"/>
              <a:t>• Across the three-day learning-walk experiment, the different polarization-rotation schedules altered central-complex volume and mushroom-body measures, but giant-synapse counts in the lateral complex remained broadly similar. The continuous rotation condition changed filter orientation at 15° per hour.</a:t>
            </a:r>
            <a:endParaRPr/>
          </a:p>
          <a:p>
            <a:pPr indent="0" lvl="0" marL="0" rtl="0" algn="l">
              <a:spcBef>
                <a:spcPts val="0"/>
              </a:spcBef>
              <a:spcAft>
                <a:spcPts val="0"/>
              </a:spcAft>
              <a:buNone/>
            </a:pPr>
            <a:r>
              <a:rPr lang="en-US"/>
              <a:t>• The lateral complex lies on the sky-compass pathway, and its giant synapses did not respond to rotation schedules that altered central-complex and collar measures. Experience shapes the higher centres differently from this earlier stage.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3(a–b). Giant synapses and central-complex volume under polarization rotation.</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426" name="Google Shape;426;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**GABAergic** neurons use gamma-aminobutyric acid as a transmitter; **cholinergic** neurons use acetylcholine. These transmitter classifications describe signaling identity, while the postsynaptic effect also depends on receptor type and cellular conditions.</a:t>
            </a:r>
            <a:endParaRPr/>
          </a:p>
          <a:p>
            <a:pPr indent="0" lvl="0" marL="0" rtl="0" algn="l">
              <a:spcBef>
                <a:spcPts val="0"/>
              </a:spcBef>
              <a:spcAft>
                <a:spcPts val="0"/>
              </a:spcAft>
              <a:buNone/>
            </a:pPr>
            <a:r>
              <a:rPr lang="en-US"/>
              <a:t>• Grob and colleagues discuss evidence that most tangential neurons projecting from the lateral complex toward the central complex are GABAergic, whereas visual projection neurons supplying mushroom bodies are presumably cholinergic. Their three-day experience experiment measured structural endpoints in these pathways rather than pharmacologically isolating transmitter action.</a:t>
            </a:r>
            <a:endParaRPr/>
          </a:p>
          <a:p>
            <a:pPr indent="0" lvl="0" marL="0" rtl="0" algn="l">
              <a:spcBef>
                <a:spcPts val="0"/>
              </a:spcBef>
              <a:spcAft>
                <a:spcPts val="0"/>
              </a:spcAft>
              <a:buNone/>
            </a:pPr>
            <a:r>
              <a:rPr lang="en-US"/>
              <a:t>• The different transmitter identities of the lateral-complex projection and the mushroom-body input pathway are a proposed explanation for their different plasticity patterns, and the receptor type at each synapse sets the postsynaptic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1(d). Published three-dimensional reconstruction of visual integration centres.</a:t>
            </a:r>
            <a:endParaRPr/>
          </a:p>
          <a:p>
            <a:pPr indent="0" lvl="0" marL="0" rtl="0" algn="l">
              <a:spcBef>
                <a:spcPts val="0"/>
              </a:spcBef>
              <a:spcAft>
                <a:spcPts val="0"/>
              </a:spcAft>
              <a:buNone/>
            </a:pPr>
            <a:r>
              <a:rPr lang="en-US"/>
              <a:t>Figure source: https://doi.org/10.1098/rspb.2021.2499</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**geomagnetic field** is Earth’s magnetic field, which can provide a directional reference independent of the sun’s daily movement. A **Helmholtz coil system** generates controlled magnetic fields in an experimental volume.</a:t>
            </a:r>
            <a:endParaRPr/>
          </a:p>
          <a:p>
            <a:pPr indent="0" lvl="0" marL="0" rtl="0" algn="l">
              <a:spcBef>
                <a:spcPts val="0"/>
              </a:spcBef>
              <a:spcAft>
                <a:spcPts val="0"/>
              </a:spcAft>
              <a:buNone/>
            </a:pPr>
            <a:r>
              <a:rPr lang="en-US"/>
              <a:t>• Grob and colleagues installed a three-dimensional coil system around a 60 × 60 cm platform connected to a Cataglyphis nodus nest. Novices performed learning walks over three consecutive days. At the site, the natural total field was about 46.1 µT, with a horizontal component of 26.6 µT.</a:t>
            </a:r>
            <a:endParaRPr/>
          </a:p>
          <a:p>
            <a:pPr indent="0" lvl="0" marL="0" rtl="0" algn="l">
              <a:spcBef>
                <a:spcPts val="0"/>
              </a:spcBef>
              <a:spcAft>
                <a:spcPts val="0"/>
              </a:spcAft>
              <a:buNone/>
            </a:pPr>
            <a:r>
              <a:rPr lang="en-US"/>
              <a:t>• The preparation manipulated magnetic information while retaining the natural panorama and celestial environment. Comparing several magnetic conditions with dark interior-worker controls assesses experience-associated brain changes caused by the magnetic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1(C). Helmholtz coils and the learning-walk platform.</a:t>
            </a:r>
            <a:endParaRPr/>
          </a:p>
          <a:p>
            <a:pPr indent="0" lvl="0" marL="0" rtl="0" algn="l">
              <a:spcBef>
                <a:spcPts val="0"/>
              </a:spcBef>
              <a:spcAft>
                <a:spcPts val="0"/>
              </a:spcAft>
              <a:buNone/>
            </a:pPr>
            <a:r>
              <a:rPr lang="en-US"/>
              <a:t>Figure source: https://doi.org/10.1073/pnas.2320764121</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**pirouette** is a rotation around the ant’s body axis during a learning walk. Under natural conditions, the longest pauses in these rotations are directed toward the nest, providing a measurable orientation behavior near the nest entrance.</a:t>
            </a:r>
            <a:endParaRPr/>
          </a:p>
          <a:p>
            <a:pPr indent="0" lvl="0" marL="0" rtl="0" algn="l">
              <a:spcBef>
                <a:spcPts val="0"/>
              </a:spcBef>
              <a:spcAft>
                <a:spcPts val="0"/>
              </a:spcAft>
              <a:buNone/>
            </a:pPr>
            <a:r>
              <a:rPr lang="en-US"/>
              <a:t>• In the horizontal-elimination condition, the coils cancelled the horizontal field component while retaining a downward vertical field of about 37.5 µT. The longest stopping directions no longer clustered toward the nest in the published angular distributions, which used 10° bins.</a:t>
            </a:r>
            <a:endParaRPr/>
          </a:p>
          <a:p>
            <a:pPr indent="0" lvl="0" marL="0" rtl="0" algn="l">
              <a:spcBef>
                <a:spcPts val="0"/>
              </a:spcBef>
              <a:spcAft>
                <a:spcPts val="0"/>
              </a:spcAft>
              <a:buNone/>
            </a:pPr>
            <a:r>
              <a:rPr lang="en-US"/>
              <a:t>• The result supports a role for horizontal magnetic information in the novices’ nest-directed behavior under this condition. A downward vertical field alone does not supply a horizontal reference direction, so nest-directed pauses depend on the horizontal component.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5" name="Google Shape;475;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Complete magnetic-field elimination is a distinct cue manipulation from retaining a vertical field. Grob and colleagues cancelled both the horizontal and vertical components rather than leaving a directional magnetic cue pointing downward.</a:t>
            </a:r>
            <a:endParaRPr/>
          </a:p>
          <a:p>
            <a:pPr indent="0" lvl="0" marL="0" rtl="0" algn="l">
              <a:spcBef>
                <a:spcPts val="0"/>
              </a:spcBef>
              <a:spcAft>
                <a:spcPts val="0"/>
              </a:spcAft>
              <a:buNone/>
            </a:pPr>
            <a:r>
              <a:rPr lang="en-US"/>
              <a:t>• Under total elimination, the residual field was about 0.1 µT. Ants nevertheless directed their longest pirouette pauses toward the nest. This differed from the loss of nest-directed gazes when only the horizontal component had been eliminated.</a:t>
            </a:r>
            <a:endParaRPr/>
          </a:p>
          <a:p>
            <a:pPr indent="0" lvl="0" marL="0" rtl="0" algn="l">
              <a:spcBef>
                <a:spcPts val="0"/>
              </a:spcBef>
              <a:spcAft>
                <a:spcPts val="0"/>
              </a:spcAft>
              <a:buNone/>
            </a:pPr>
            <a:r>
              <a:rPr lang="en-US"/>
              <a:t>• The authors interpreted the contrast as possible recruitment of a backup compass when magnetic information was absent altogether. Nest-directed gazes were lost with a vertical field alone and preserved with no field at all, so a partial magnetic cue and a complete absence of magnetic information have different effects on orientation.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76" name="Google Shape;476;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magnetic cue need not always point toward natural magnetic north to provide a usable short-term directional reference. The relevant comparison is whether its direction remains sufficiently stable during each individual learning walk.</a:t>
            </a:r>
            <a:endParaRPr/>
          </a:p>
          <a:p>
            <a:pPr indent="0" lvl="0" marL="0" rtl="0" algn="l">
              <a:spcBef>
                <a:spcPts val="0"/>
              </a:spcBef>
              <a:spcAft>
                <a:spcPts val="0"/>
              </a:spcAft>
              <a:buNone/>
            </a:pPr>
            <a:r>
              <a:rPr lang="en-US"/>
              <a:t>• In the magnetic-plus-solar condition, the horizontal vector was adjusted every 10 seconds to follow the sun’s azimuth over the day. Individual walks lasted seconds to minutes, and ants retained nest-directed longest stops despite the vector’s changing geographical alignment.</a:t>
            </a:r>
            <a:endParaRPr/>
          </a:p>
          <a:p>
            <a:pPr indent="0" lvl="0" marL="0" rtl="0" algn="l">
              <a:spcBef>
                <a:spcPts val="0"/>
              </a:spcBef>
              <a:spcAft>
                <a:spcPts val="0"/>
              </a:spcAft>
              <a:buNone/>
            </a:pPr>
            <a:r>
              <a:rPr lang="en-US"/>
              <a:t>• A magnetic vector that follows the solar azimuth still serves as a usable reference within each short learning walk, so nest-directed look-backs persist. The manipulation makes magnetic and celestial directions covary over the day, removing their natural changing angular relationship.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88" name="Google Shape;488;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Accurate nest-directed gazes and structural brain change are different experimental endpoints. Recording a successful look-back does not guarantee that all compass-calibration and visual-memory processes associated with the learning period occur normally.</a:t>
            </a:r>
            <a:endParaRPr/>
          </a:p>
          <a:p>
            <a:pPr indent="0" lvl="0" marL="0" rtl="0" algn="l">
              <a:spcBef>
                <a:spcPts val="0"/>
              </a:spcBef>
              <a:spcAft>
                <a:spcPts val="0"/>
              </a:spcAft>
              <a:buNone/>
            </a:pPr>
            <a:r>
              <a:rPr lang="en-US"/>
              <a:t>• After three days, central-complex volume increased under natural magnetic conditions and under several elimination or disarray conditions. When the magnetic vector followed solar azimuth, central-complex growth did not occur relative to dark controls, despite preserved nest-directed look-backs.</a:t>
            </a:r>
            <a:endParaRPr/>
          </a:p>
          <a:p>
            <a:pPr indent="0" lvl="0" marL="0" rtl="0" algn="l">
              <a:spcBef>
                <a:spcPts val="0"/>
              </a:spcBef>
              <a:spcAft>
                <a:spcPts val="0"/>
              </a:spcAft>
              <a:buNone/>
            </a:pPr>
            <a:r>
              <a:rPr lang="en-US"/>
              <a:t>• The result dissociates an immediate orientation behavior from an experience-associated anatomical outcome. Central-complex growth required the natural changing relation between magnetic and celestial cues, which the sun-following vector removed, even though the ants could still look back toward the nest.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4(A). Central-complex volume under magnetic treatments.</a:t>
            </a:r>
            <a:endParaRPr/>
          </a:p>
          <a:p>
            <a:pPr indent="0" lvl="0" marL="0" rtl="0" algn="l">
              <a:spcBef>
                <a:spcPts val="0"/>
              </a:spcBef>
              <a:spcAft>
                <a:spcPts val="0"/>
              </a:spcAft>
              <a:buNone/>
            </a:pPr>
            <a:r>
              <a:rPr lang="en-US"/>
              <a:t>Figure source: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3(B). Central complex and mushroom-body collar reconstruction.</a:t>
            </a:r>
            <a:endParaRPr/>
          </a:p>
          <a:p>
            <a:pPr indent="0" lvl="0" marL="0" rtl="0" algn="l">
              <a:spcBef>
                <a:spcPts val="0"/>
              </a:spcBef>
              <a:spcAft>
                <a:spcPts val="0"/>
              </a:spcAft>
              <a:buNone/>
            </a:pPr>
            <a:r>
              <a:rPr lang="en-US"/>
              <a:t>Figure source: https://doi.org/10.1073/pnas.2320764121</a:t>
            </a:r>
            <a:endParaRPr/>
          </a:p>
        </p:txBody>
      </p:sp>
      <p:sp>
        <p:nvSpPr>
          <p:cNvPr id="500" name="Google Shape;500;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memories acquired near the nest may require information specifying which direction the ant is facing. The mushroom-body collar provides a visual input region in which synaptic structure can be compared after controlled learning experience.</a:t>
            </a:r>
            <a:endParaRPr/>
          </a:p>
          <a:p>
            <a:pPr indent="0" lvl="0" marL="0" rtl="0" algn="l">
              <a:spcBef>
                <a:spcPts val="0"/>
              </a:spcBef>
              <a:spcAft>
                <a:spcPts val="0"/>
              </a:spcAft>
              <a:buNone/>
            </a:pPr>
            <a:r>
              <a:rPr lang="en-US"/>
              <a:t>• Grob and colleagues measured size-corrected collar volume and microglomerular number after three days of learning walks. These measures increased under the natural field, while the tested altered magnetic conditions did not produce the same increases. The effect differed from central-complex responses to complete field removal.</a:t>
            </a:r>
            <a:endParaRPr/>
          </a:p>
          <a:p>
            <a:pPr indent="0" lvl="0" marL="0" rtl="0" algn="l">
              <a:spcBef>
                <a:spcPts val="0"/>
              </a:spcBef>
              <a:spcAft>
                <a:spcPts val="0"/>
              </a:spcAft>
              <a:buNone/>
            </a:pPr>
            <a:r>
              <a:rPr lang="en-US"/>
              <a:t>• The association supports a role for appropriate magnetic information in experience-dependent visual circuitry. Collar growth in the natural field and its absence under altered magnetic conditions indicate that the directional reference available during learning walks influences how visual input circuitry develops.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4(B–C). Mushroom-body volume and synaptic complexes under magnetic treatments.</a:t>
            </a:r>
            <a:endParaRPr/>
          </a:p>
          <a:p>
            <a:pPr indent="0" lvl="0" marL="0" rtl="0" algn="l">
              <a:spcBef>
                <a:spcPts val="0"/>
              </a:spcBef>
              <a:spcAft>
                <a:spcPts val="0"/>
              </a:spcAft>
              <a:buNone/>
            </a:pPr>
            <a:r>
              <a:rPr lang="en-US"/>
              <a:t>Figure source: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3(A). Synapsin-labelled brain and mushroom-body microglomeruli.</a:t>
            </a:r>
            <a:endParaRPr/>
          </a:p>
          <a:p>
            <a:pPr indent="0" lvl="0" marL="0" rtl="0" algn="l">
              <a:spcBef>
                <a:spcPts val="0"/>
              </a:spcBef>
              <a:spcAft>
                <a:spcPts val="0"/>
              </a:spcAft>
              <a:buNone/>
            </a:pPr>
            <a:r>
              <a:rPr lang="en-US"/>
              <a:t>Figure source: https://doi.org/10.1073/pnas.2320764121</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**Compass calibration** establishes the relationship between a sensory directional cue and an internal heading reference. The sun and polarization pattern change over the day, whereas natural magnetic direction and a fixed panorama provide comparatively stable external references.</a:t>
            </a:r>
            <a:endParaRPr/>
          </a:p>
          <a:p>
            <a:pPr indent="0" lvl="0" marL="0" rtl="0" algn="l">
              <a:spcBef>
                <a:spcPts val="0"/>
              </a:spcBef>
              <a:spcAft>
                <a:spcPts val="0"/>
              </a:spcAft>
              <a:buNone/>
            </a:pPr>
            <a:r>
              <a:rPr lang="en-US"/>
              <a:t>• The three-day magnetic experiment dissociated natural-field exposure from a vector that rotated with the sun. The published circuit hypothesis proposes convergence of magnetic, panoramic and celestial information in the **posterior slope**, a multisensory brain region linked to the central complex.</a:t>
            </a:r>
            <a:endParaRPr/>
          </a:p>
          <a:p>
            <a:pPr indent="0" lvl="0" marL="0" rtl="0" algn="l">
              <a:spcBef>
                <a:spcPts val="0"/>
              </a:spcBef>
              <a:spcAft>
                <a:spcPts val="0"/>
              </a:spcAft>
              <a:buNone/>
            </a:pPr>
            <a:r>
              <a:rPr lang="en-US"/>
              <a:t>• Natural magnetic direction and a fixed panorama stay constant while the sun and polarization pattern move, so they can serve as the fixed standard against which the moving sky compass is calibrated. The antennal Johnston’s organ is a candidate contributor to magnetoreception in this scheme.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5. Published hypothesis for integrating magnetic and celestial information.</a:t>
            </a:r>
            <a:endParaRPr/>
          </a:p>
          <a:p>
            <a:pPr indent="0" lvl="0" marL="0" rtl="0" algn="l">
              <a:spcBef>
                <a:spcPts val="0"/>
              </a:spcBef>
              <a:spcAft>
                <a:spcPts val="0"/>
              </a:spcAft>
              <a:buNone/>
            </a:pPr>
            <a:r>
              <a:rPr lang="en-US"/>
              <a:t>Figure source: https://doi.org/10.1073/pnas.2320764121</a:t>
            </a:r>
            <a:endParaRPr/>
          </a:p>
        </p:txBody>
      </p:sp>
      <p:sp>
        <p:nvSpPr>
          <p:cNvPr id="528" name="Google Shape;528;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**goal vector** specifies a remembered direction and distance to a destination relative to the nest. A **shortcut** connects familiar destinations along a route that was not itself used during training; this behavior need not uniquely imply a metric cognitive map.</a:t>
            </a:r>
            <a:endParaRPr/>
          </a:p>
          <a:p>
            <a:pPr indent="0" lvl="0" marL="0" rtl="0" algn="l">
              <a:spcBef>
                <a:spcPts val="0"/>
              </a:spcBef>
              <a:spcAft>
                <a:spcPts val="0"/>
              </a:spcAft>
              <a:buNone/>
            </a:pPr>
            <a:r>
              <a:rPr lang="en-US"/>
              <a:t>• Voegeli and colleagues trained Cataglyphis ants to feeders A and B in separate channels. The nest distances were 4.5 m and 5.7 m, and the test channel connected the feeder positions across a 4.1 m separation. Only one nest-channel entrance was open at a time.</a:t>
            </a:r>
            <a:endParaRPr/>
          </a:p>
          <a:p>
            <a:pPr indent="0" lvl="0" marL="0" rtl="0" algn="l">
              <a:spcBef>
                <a:spcPts val="0"/>
              </a:spcBef>
              <a:spcAft>
                <a:spcPts val="0"/>
              </a:spcAft>
              <a:buNone/>
            </a:pPr>
            <a:r>
              <a:rPr lang="en-US"/>
              <a:t>• The channel arrangement separated experience with individual nest-to-feeder routes from experience with their connecting route. It provided a controlled way to test use of stored goals and an ongoing path integrator without first training the ant to follow the proposed shortcut.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1. Training channels, two feeders and the novel connecting route.</a:t>
            </a:r>
            <a:endParaRPr/>
          </a:p>
          <a:p>
            <a:pPr indent="0" lvl="0" marL="0" rtl="0" algn="l">
              <a:spcBef>
                <a:spcPts val="0"/>
              </a:spcBef>
              <a:spcAft>
                <a:spcPts val="0"/>
              </a:spcAft>
              <a:buNone/>
            </a:pPr>
            <a:r>
              <a:rPr lang="en-US"/>
              <a:t>Figure source: https://doi.org/10.1007/s00359-024-01725-2</a:t>
            </a:r>
            <a:endParaRPr/>
          </a:p>
        </p:txBody>
      </p:sp>
      <p:sp>
        <p:nvSpPr>
          <p:cNvPr id="540" name="Google Shape;540;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 with more than one food source can establish alternative navigational goals. In the channel experiment, feeders were hidden below the channel floor, preventing an approaching ant from simply steering toward a visible food cup.</a:t>
            </a:r>
            <a:endParaRPr/>
          </a:p>
          <a:p>
            <a:pPr indent="0" lvl="0" marL="0" rtl="0" algn="l">
              <a:spcBef>
                <a:spcPts val="0"/>
              </a:spcBef>
              <a:spcAft>
                <a:spcPts val="0"/>
              </a:spcAft>
              <a:buNone/>
            </a:pPr>
            <a:r>
              <a:rPr lang="en-US"/>
              <a:t>• Ants completed ten training journeys: four to feeder A, four to B and two final journeys to A. Feeder B lay 45° to the left or right of A as viewed from the nest. The subsequent test removed food and opened the connecting test channel at A.</a:t>
            </a:r>
            <a:endParaRPr/>
          </a:p>
          <a:p>
            <a:pPr indent="0" lvl="0" marL="0" rtl="0" algn="l">
              <a:spcBef>
                <a:spcPts val="0"/>
              </a:spcBef>
              <a:spcAft>
                <a:spcPts val="0"/>
              </a:spcAft>
              <a:buNone/>
            </a:pPr>
            <a:r>
              <a:rPr lang="en-US"/>
              <a:t>• The final visits standardized the starting goal while preserving experience with the second destination. Channel shutters constrained which route was available, but the design still allows the ant to choose search directions within the connecting channel rather than forcing a particular first turn.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1. Training channels, two feeders and the novel connecting route.</a:t>
            </a:r>
            <a:endParaRPr/>
          </a:p>
          <a:p>
            <a:pPr indent="0" lvl="0" marL="0" rtl="0" algn="l">
              <a:spcBef>
                <a:spcPts val="0"/>
              </a:spcBef>
              <a:spcAft>
                <a:spcPts val="0"/>
              </a:spcAft>
              <a:buNone/>
            </a:pPr>
            <a:r>
              <a:rPr lang="en-US"/>
              <a:t>Figure source: https://doi.org/10.1007/s00359-024-01725-2</a:t>
            </a:r>
            <a:endParaRPr/>
          </a:p>
        </p:txBody>
      </p:sp>
      <p:sp>
        <p:nvSpPr>
          <p:cNvPr id="552" name="Google Shape;552;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one-feeder control establishes the search pattern expected without memory of a second food source. This comparison distinguishes a general tendency to widen a search from a directional bias toward another learned destination.</a:t>
            </a:r>
            <a:endParaRPr/>
          </a:p>
          <a:p>
            <a:pPr indent="0" lvl="0" marL="0" rtl="0" algn="l">
              <a:spcBef>
                <a:spcPts val="0"/>
              </a:spcBef>
              <a:spcAft>
                <a:spcPts val="0"/>
              </a:spcAft>
              <a:buNone/>
            </a:pPr>
            <a:r>
              <a:rPr lang="en-US"/>
              <a:t>• Control ants visited only feeder A before testing. After food removal, their searches were concentrated around the former feeder position and distributed approximately symmetrically on its two sides. Distance from the starting point was measured in metres along the connecting test channel.</a:t>
            </a:r>
            <a:endParaRPr/>
          </a:p>
          <a:p>
            <a:pPr indent="0" lvl="0" marL="0" rtl="0" algn="l">
              <a:spcBef>
                <a:spcPts val="0"/>
              </a:spcBef>
              <a:spcAft>
                <a:spcPts val="0"/>
              </a:spcAft>
              <a:buNone/>
            </a:pPr>
            <a:r>
              <a:rPr lang="en-US"/>
              <a:t>• The symmetric baseline constrains interpretations of the two-feeder experiments. A later directional shift cannot be attributed simply to entering that channel, because ants with one feeder search equally on both sides of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2. Symmetric search after training to one feeder.</a:t>
            </a:r>
            <a:endParaRPr/>
          </a:p>
          <a:p>
            <a:pPr indent="0" lvl="0" marL="0" rtl="0" algn="l">
              <a:spcBef>
                <a:spcPts val="0"/>
              </a:spcBef>
              <a:spcAft>
                <a:spcPts val="0"/>
              </a:spcAft>
              <a:buNone/>
            </a:pPr>
            <a:r>
              <a:rPr lang="en-US"/>
              <a:t>Figure source: https://doi.org/10.1007/s00359-024-01725-2</a:t>
            </a:r>
            <a:endParaRPr/>
          </a:p>
        </p:txBody>
      </p:sp>
      <p:sp>
        <p:nvSpPr>
          <p:cNvPr id="564" name="Google Shape;564;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first U-turn after the missing feeder measures an early component of search direction. It is distinct from the full spatial distribution accumulated during later back-and-forth movements in the test channel.</a:t>
            </a:r>
            <a:endParaRPr/>
          </a:p>
          <a:p>
            <a:pPr indent="0" lvl="0" marL="0" rtl="0" algn="l">
              <a:spcBef>
                <a:spcPts val="0"/>
              </a:spcBef>
              <a:spcAft>
                <a:spcPts val="0"/>
              </a:spcAft>
              <a:buNone/>
            </a:pPr>
            <a:r>
              <a:rPr lang="en-US"/>
              <a:t>• After training to A and B, about two-thirds of the ants made their first U-turn on the side containing the second feeder. The effect occurred with feeder B either left or right of A, whose trained positions were separated by 4.1 m.</a:t>
            </a:r>
            <a:endParaRPr/>
          </a:p>
          <a:p>
            <a:pPr indent="0" lvl="0" marL="0" rtl="0" algn="l">
              <a:spcBef>
                <a:spcPts val="0"/>
              </a:spcBef>
              <a:spcAft>
                <a:spcPts val="0"/>
              </a:spcAft>
              <a:buNone/>
            </a:pPr>
            <a:r>
              <a:rPr lang="en-US"/>
              <a:t>• The left–right comparison argues against an intrinsic turning preference accounting for the result. The early bias toward the side of the second feeder is what an ant using an alternative learned goal would show.</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3(a–b). Search shifts toward the second feeder on either side.</a:t>
            </a:r>
            <a:endParaRPr/>
          </a:p>
          <a:p>
            <a:pPr indent="0" lvl="0" marL="0" rtl="0" algn="l">
              <a:spcBef>
                <a:spcPts val="0"/>
              </a:spcBef>
              <a:spcAft>
                <a:spcPts val="0"/>
              </a:spcAft>
              <a:buNone/>
            </a:pPr>
            <a:r>
              <a:rPr lang="en-US"/>
              <a:t>Figure source: https://doi.org/10.1007/s00359-024-01725-2</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full search trajectory contains information beyond its first movement. Ants can begin at the expected position of one feeder, then redistribute their efforts toward another destination when the first food source is absent.</a:t>
            </a:r>
            <a:endParaRPr/>
          </a:p>
          <a:p>
            <a:pPr indent="0" lvl="0" marL="0" rtl="0" algn="l">
              <a:spcBef>
                <a:spcPts val="0"/>
              </a:spcBef>
              <a:spcAft>
                <a:spcPts val="0"/>
              </a:spcAft>
              <a:buNone/>
            </a:pPr>
            <a:r>
              <a:rPr lang="en-US"/>
              <a:t>• Two-feeder ants initially searched around A but progressively widened their searches toward B. Their search-density distributions were asymmetric in the direction of the second feeder, whereas the one-feeder controls were symmetric. The effect reversed when B changed from the left to the right side.</a:t>
            </a:r>
            <a:endParaRPr/>
          </a:p>
          <a:p>
            <a:pPr indent="0" lvl="0" marL="0" rtl="0" algn="l">
              <a:spcBef>
                <a:spcPts val="0"/>
              </a:spcBef>
              <a:spcAft>
                <a:spcPts val="0"/>
              </a:spcAft>
              <a:buNone/>
            </a:pPr>
            <a:r>
              <a:rPr lang="en-US"/>
              <a:t>• The evidence supports flexible use of prior destination experience without requiring prior travel along A-to-B. Ants widen their search toward a second stored goal when the first goal is absent, so each feeder is stored as its own destination.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3(a–b). Search shifts toward the second feeder on either side.</a:t>
            </a:r>
            <a:endParaRPr/>
          </a:p>
          <a:p>
            <a:pPr indent="0" lvl="0" marL="0" rtl="0" algn="l">
              <a:spcBef>
                <a:spcPts val="0"/>
              </a:spcBef>
              <a:spcAft>
                <a:spcPts val="0"/>
              </a:spcAft>
              <a:buNone/>
            </a:pPr>
            <a:r>
              <a:rPr lang="en-US"/>
              <a:t>Figure source: https://doi.org/10.1007/s00359-024-01725-2</a:t>
            </a:r>
            <a:endParaRPr/>
          </a:p>
        </p:txBody>
      </p:sp>
      <p:sp>
        <p:nvSpPr>
          <p:cNvPr id="588" name="Google Shape;588;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narrow channel restricts the visible portion of the polarization pattern. Depending on channel orientation and solar position, this restriction can bias the compass information used during outbound acquisition and therefore alter a stored goal vector.</a:t>
            </a:r>
            <a:endParaRPr/>
          </a:p>
          <a:p>
            <a:pPr indent="0" lvl="0" marL="0" rtl="0" algn="l">
              <a:spcBef>
                <a:spcPts val="0"/>
              </a:spcBef>
              <a:spcAft>
                <a:spcPts val="0"/>
              </a:spcAft>
              <a:buNone/>
            </a:pPr>
            <a:r>
              <a:rPr lang="en-US"/>
              <a:t>• Voegeli and colleagues separated tests into conditions predicting underestimation or overestimation of the 4.1 m A-to-B distance. Relative search distributions were obtained by subtracting the one-feeder baseline from the two-feeder distributions. Their positive regions shifted in the predicted direction.</a:t>
            </a:r>
            <a:endParaRPr/>
          </a:p>
          <a:p>
            <a:pPr indent="0" lvl="0" marL="0" rtl="0" algn="l">
              <a:spcBef>
                <a:spcPts val="0"/>
              </a:spcBef>
              <a:spcAft>
                <a:spcPts val="0"/>
              </a:spcAft>
              <a:buNone/>
            </a:pPr>
            <a:r>
              <a:rPr lang="en-US"/>
              <a:t>• The relationship links the searches to compass information acquired through the channels rather than merely to the physical location of an absent feeder. Subtracting the one-feeder baseline isolates the part of the search attributable to the second feeder.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4(a1–b2). Relative search distributions track predicted compass biases.</a:t>
            </a:r>
            <a:endParaRPr/>
          </a:p>
          <a:p>
            <a:pPr indent="0" lvl="0" marL="0" rtl="0" algn="l">
              <a:spcBef>
                <a:spcPts val="0"/>
              </a:spcBef>
              <a:spcAft>
                <a:spcPts val="0"/>
              </a:spcAft>
              <a:buNone/>
            </a:pPr>
            <a:r>
              <a:rPr lang="en-US"/>
              <a:t>Figure source: https://doi.org/10.1007/s00359-024-01725-2</a:t>
            </a:r>
            <a:endParaRPr/>
          </a:p>
        </p:txBody>
      </p:sp>
      <p:sp>
        <p:nvSpPr>
          <p:cNvPr id="600" name="Google Shape;600;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**current vector** is updated during ongoing travel, whereas a stored goal vector can persist across journeys. A goal can be approached by comparing the current nest-relative state with a remembered destination rather than constructing a map of all familiar places.</a:t>
            </a:r>
            <a:endParaRPr/>
          </a:p>
          <a:p>
            <a:pPr indent="0" lvl="0" marL="0" rtl="0" algn="l">
              <a:spcBef>
                <a:spcPts val="0"/>
              </a:spcBef>
              <a:spcAft>
                <a:spcPts val="0"/>
              </a:spcAft>
              <a:buNone/>
            </a:pPr>
            <a:r>
              <a:rPr lang="en-US"/>
              <a:t>• In the two-feeder experiment, ants searched toward B from A along an untrained connecting route separated by 4.1 m. The authors proposed retrieval of B’s food vector into working memory while the path integrator continued to track the ant’s current state.</a:t>
            </a:r>
            <a:endParaRPr/>
          </a:p>
          <a:p>
            <a:pPr indent="0" lvl="0" marL="0" rtl="0" algn="l">
              <a:spcBef>
                <a:spcPts val="0"/>
              </a:spcBef>
              <a:spcAft>
                <a:spcPts val="0"/>
              </a:spcAft>
              <a:buNone/>
            </a:pPr>
            <a:r>
              <a:rPr lang="en-US"/>
              <a:t>• The ongoing path integrator supplies the current nest-relative state and the stored vector supplies the target, so comparing them yields a heading toward B without a metric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5. Published framework relating current, stored and view-based vectors.</a:t>
            </a:r>
            <a:endParaRPr/>
          </a:p>
          <a:p>
            <a:pPr indent="0" lvl="0" marL="0" rtl="0" algn="l">
              <a:spcBef>
                <a:spcPts val="0"/>
              </a:spcBef>
              <a:spcAft>
                <a:spcPts val="0"/>
              </a:spcAft>
              <a:buNone/>
            </a:pPr>
            <a:r>
              <a:rPr lang="en-US"/>
              <a:t>Figure source: https://doi.org/10.1007/s00359-024-01725-2</a:t>
            </a:r>
            <a:endParaRPr/>
          </a:p>
        </p:txBody>
      </p:sp>
      <p:sp>
        <p:nvSpPr>
          <p:cNvPr id="612" name="Google Shape;612;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**metric cognitive map** represents spatial relationships among familiar places in a common coordinate system. Novel shortcutting is often treated as evidence for such a map, but the same behavior can sometimes follow from simpler stored vectors and continuous self-motion updating.</a:t>
            </a:r>
            <a:endParaRPr/>
          </a:p>
          <a:p>
            <a:pPr indent="0" lvl="0" marL="0" rtl="0" algn="l">
              <a:spcBef>
                <a:spcPts val="0"/>
              </a:spcBef>
              <a:spcAft>
                <a:spcPts val="0"/>
              </a:spcAft>
              <a:buNone/>
            </a:pPr>
            <a:r>
              <a:rPr lang="en-US"/>
              <a:t>• Cataglyphis ants trained separately to feeders 4.5 m and 5.7 m from the nest searched along their previously untraveled connecting route. The controlled A-to-B test demonstrated flexible navigation toward a second goal without requiring prior experience of that particular route.</a:t>
            </a:r>
            <a:endParaRPr/>
          </a:p>
          <a:p>
            <a:pPr indent="0" lvl="0" marL="0" rtl="0" algn="l">
              <a:spcBef>
                <a:spcPts val="0"/>
              </a:spcBef>
              <a:spcAft>
                <a:spcPts val="0"/>
              </a:spcAft>
              <a:buNone/>
            </a:pPr>
            <a:r>
              <a:rPr lang="en-US"/>
              <a:t>• The finding makes shortcutting insufficient as a unique diagnostic of map-based navigation. The observed behavior is compatible with a nest-referenced vector system and does not require the stronger explanation of a metric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5. Published framework relating current, stored and view-based vectors.</a:t>
            </a:r>
            <a:endParaRPr/>
          </a:p>
          <a:p>
            <a:pPr indent="0" lvl="0" marL="0" rtl="0" algn="l">
              <a:spcBef>
                <a:spcPts val="0"/>
              </a:spcBef>
              <a:spcAft>
                <a:spcPts val="0"/>
              </a:spcAft>
              <a:buNone/>
            </a:pPr>
            <a:r>
              <a:rPr lang="en-US"/>
              <a:t>Figure source: https://doi.org/10.1007/s00359-024-01725-2</a:t>
            </a:r>
            <a:endParaRPr/>
          </a:p>
        </p:txBody>
      </p:sp>
      <p:sp>
        <p:nvSpPr>
          <p:cNvPr id="624" name="Google Shape;624;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Home vectors combine direction and distance acquired during movement; they differ from retracing the outward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Controlled displacement reveals a stored movement-derived estimate by separating the expressed vector from the true nest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Stride-dependent odometry is supported by stilt overshoot, stump undershoot and recovery when outbound and inbound leg conditions match.</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Compass learning depends on changing celestial information during early learning walks and is associated with region-specific structural plasticity.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reference signals affect nest-directed gazes and brain plasticity differently; the magnetic receptor and causal cellular mechanisms remain unresolved.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Novel shortcuts can arise from stored goal vectors interacting with an ongoing path integrator, so shortcutting alone does not establish a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p:txBody>
      </p:sp>
      <p:sp>
        <p:nvSpPr>
          <p:cNvPr id="636" name="Google Shape;636;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stored destination can be tested without training the shortcut.</a:t>
            </a:r>
          </a:p>
          <a:p>
            <a:r>
              <a:rPr lang="en-US" sz="1200"/>
              <a:t>• Definition.</a:t>
            </a:r>
          </a:p>
          <a:p>
            <a:r>
              <a:rPr lang="en-US" sz="1200"/>
              <a:t>– A goal vector is a remembered direction and distance to a destination, relative to the nest.</a:t>
            </a:r>
          </a:p>
          <a:p>
            <a:r>
              <a:rPr lang="en-US" sz="1200"/>
              <a:t>• Shortcut.</a:t>
            </a:r>
          </a:p>
          <a:p>
            <a:r>
              <a:rPr lang="en-US" sz="1200"/>
              <a:t>– A shortcut joins familiar destinations along a route not used in training.</a:t>
            </a:r>
          </a:p>
          <a:p>
            <a:r>
              <a:rPr lang="en-US" sz="1200"/>
              <a:t>• Training.</a:t>
            </a:r>
          </a:p>
          <a:p>
            <a:r>
              <a:rPr lang="en-US" sz="1200"/>
              <a:t>– Ants learned feeders A and B in separate channels.</a:t>
            </a:r>
          </a:p>
          <a:p>
            <a:r>
              <a:rPr lang="en-US" sz="1200"/>
              <a:t>– Nest distances were 4.5 meters and 5.7 meters.</a:t>
            </a:r>
          </a:p>
          <a:p>
            <a:r>
              <a:rPr lang="en-US" sz="1200"/>
              <a:t>• Test channel.</a:t>
            </a:r>
          </a:p>
          <a:p>
            <a:r>
              <a:rPr lang="en-US" sz="1200"/>
              <a:t>– It connected the feeder positions across a 4.1 meter separation.</a:t>
            </a:r>
          </a:p>
          <a:p>
            <a:r>
              <a:rPr lang="en-US" sz="1200"/>
              <a:t>– Only one nest-channel entrance was open at a time.</a:t>
            </a:r>
          </a:p>
          <a:p>
            <a:r>
              <a:rPr lang="en-US" sz="1200"/>
              <a:t>• Design.</a:t>
            </a:r>
          </a:p>
          <a:p>
            <a:r>
              <a:rPr lang="en-US" sz="1200"/>
              <a:t>– Experience with each nest-to-feeder route was separated from experience with the connecting route.</a:t>
            </a:r>
          </a:p>
          <a:p>
            <a:r>
              <a:rPr lang="en-US" sz="1200"/>
              <a:t>• Meaning.</a:t>
            </a:r>
          </a:p>
          <a:p>
            <a:r>
              <a:rPr lang="en-US" sz="1200"/>
              <a:t>– Searching toward the second feeder reflects stored goal vectors and the ongoing path integrator.</a:t>
            </a:r>
          </a:p>
          <a:p>
            <a:r>
              <a:rPr lang="en-US" sz="1200"/>
              <a:t>• Why hidden feeders.</a:t>
            </a:r>
          </a:p>
          <a:p>
            <a:r>
              <a:rPr lang="en-US" sz="1200"/>
              <a:t>– Feeders were hidden below the channel floor.</a:t>
            </a:r>
          </a:p>
          <a:p>
            <a:r>
              <a:rPr lang="en-US" sz="1200"/>
              <a:t>– An approaching ant could not steer toward a visible food cup.</a:t>
            </a:r>
          </a:p>
          <a:p>
            <a:r>
              <a:rPr lang="en-US" sz="1200"/>
              <a:t>– Searching therefore depends on stored information.</a:t>
            </a:r>
          </a:p>
          <a:p>
            <a:r>
              <a:rPr lang="en-US" sz="1200"/>
              <a:t>• Goal vector and shortcut.</a:t>
            </a:r>
          </a:p>
          <a:p>
            <a:r>
              <a:rPr lang="en-US" sz="1200"/>
              <a:t>– A goal vector is a stored destination.</a:t>
            </a:r>
          </a:p>
          <a:p>
            <a:r>
              <a:rPr lang="en-US" sz="1200"/>
              <a:t>– A shortcut is a new route between known destinations.</a:t>
            </a:r>
          </a:p>
          <a:p>
            <a:r>
              <a:rPr lang="en-US" sz="1200"/>
              <a:t>• Summary.</a:t>
            </a:r>
          </a:p>
          <a:p>
            <a:r>
              <a:rPr lang="en-US" sz="1200"/>
              <a:t>– Training the two feeders separately tests stored goals without teaching the shortcut.</a:t>
            </a:r>
          </a:p>
          <a:p>
            <a:r>
              <a:rPr lang="en-US" sz="1200"/>
              <a:t/>
            </a:r>
          </a:p>
          <a:p>
            <a:r>
              <a:rPr lang="en-US" sz="1200"/>
              <a:t>References:</a:t>
            </a:r>
          </a:p>
          <a:p>
            <a:r>
              <a:rPr lang="en-US" sz="1200"/>
              <a:t>Voegeli B, Sommer S, Knaden M, Wehner R (2025). Vector-based navigation in desert ants: the significance of path-integration vectors. Journal of Comparative Physiology A 211:209–220. https://doi.org/10.1007/s00359-024-01725-2</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Learning walks include rotations whose pauses can be scored.</a:t>
            </a:r>
          </a:p>
          <a:p>
            <a:r>
              <a:rPr lang="en-US" sz="1200"/>
              <a:t>• Definition.</a:t>
            </a:r>
          </a:p>
          <a:p>
            <a:r>
              <a:rPr lang="en-US" sz="1200"/>
              <a:t>– A pirouette is a rotation around the ant's body axis during a learning walk.</a:t>
            </a:r>
          </a:p>
          <a:p>
            <a:r>
              <a:rPr lang="en-US" sz="1200"/>
              <a:t>• Natural pattern.</a:t>
            </a:r>
          </a:p>
          <a:p>
            <a:r>
              <a:rPr lang="en-US" sz="1200"/>
              <a:t>– The longest pauses are directed toward the nest.</a:t>
            </a:r>
          </a:p>
          <a:p>
            <a:r>
              <a:rPr lang="en-US" sz="1200"/>
              <a:t>– This is a measurable orientation near the entrance.</a:t>
            </a:r>
          </a:p>
          <a:p>
            <a:r>
              <a:rPr lang="en-US" sz="1200"/>
              <a:t>• Manipulation.</a:t>
            </a:r>
          </a:p>
          <a:p>
            <a:r>
              <a:rPr lang="en-US" sz="1200"/>
              <a:t>– The coils cancelled the horizontal field component.</a:t>
            </a:r>
          </a:p>
          <a:p>
            <a:r>
              <a:rPr lang="en-US" sz="1200"/>
              <a:t>– A downward vertical field of about 37.5 microtesla remained.</a:t>
            </a:r>
          </a:p>
          <a:p>
            <a:r>
              <a:rPr lang="en-US" sz="1200"/>
              <a:t>• Analysis.</a:t>
            </a:r>
          </a:p>
          <a:p>
            <a:r>
              <a:rPr lang="en-US" sz="1200"/>
              <a:t>– Directions of the longest stops were plotted in 10 degree bins.</a:t>
            </a:r>
          </a:p>
          <a:p>
            <a:r>
              <a:rPr lang="en-US" sz="1200"/>
              <a:t>• Result.</a:t>
            </a:r>
          </a:p>
          <a:p>
            <a:r>
              <a:rPr lang="en-US" sz="1200"/>
              <a:t>– The longest stops no longer clustered toward the nest.</a:t>
            </a:r>
          </a:p>
          <a:p>
            <a:r>
              <a:rPr lang="en-US" sz="1200"/>
              <a:t>• Meaning.</a:t>
            </a:r>
          </a:p>
          <a:p>
            <a:r>
              <a:rPr lang="en-US" sz="1200"/>
              <a:t>– Horizontal magnetic information contributes to nest-directed behavior in this condition.</a:t>
            </a:r>
          </a:p>
          <a:p>
            <a:r>
              <a:rPr lang="en-US" sz="1200"/>
              <a:t>• Why the longest pause.</a:t>
            </a:r>
          </a:p>
          <a:p>
            <a:r>
              <a:rPr lang="en-US" sz="1200"/>
              <a:t>– The longest stop during a pirouette marks the direction of gaze.</a:t>
            </a:r>
          </a:p>
          <a:p>
            <a:r>
              <a:rPr lang="en-US" sz="1200"/>
              <a:t>– Under natural conditions this direction points toward the nest.</a:t>
            </a:r>
          </a:p>
          <a:p>
            <a:r>
              <a:rPr lang="en-US" sz="1200"/>
              <a:t>– Losing that pattern is a clear behavioral readout.</a:t>
            </a:r>
          </a:p>
          <a:p>
            <a:r>
              <a:rPr lang="en-US" sz="1200"/>
              <a:t>• Field conditions.</a:t>
            </a:r>
          </a:p>
          <a:p>
            <a:r>
              <a:rPr lang="en-US" sz="1200"/>
              <a:t>– The vertical field of 37.5 microtesla remained when the horizontal field was cancelled.</a:t>
            </a:r>
          </a:p>
          <a:p>
            <a:r>
              <a:rPr lang="en-US" sz="1200"/>
              <a:t>– Complete elimination is a different condition.</a:t>
            </a:r>
          </a:p>
          <a:p>
            <a:r>
              <a:rPr lang="en-US" sz="1200"/>
              <a:t>• Summary.</a:t>
            </a:r>
          </a:p>
          <a:p>
            <a:r>
              <a:rPr lang="en-US" sz="1200"/>
              <a:t>– Pauses toward the nest report the use of horizontal magnetic information.</a:t>
            </a:r>
          </a:p>
          <a:p>
            <a:r>
              <a:rPr lang="en-US" sz="1200"/>
              <a:t/>
            </a:r>
          </a:p>
          <a:p>
            <a:r>
              <a:rPr lang="en-US" sz="1200"/>
              <a:t>References:</a:t>
            </a:r>
          </a:p>
          <a:p>
            <a:r>
              <a:rPr lang="en-US" sz="1200"/>
              <a:t>Grob R, Müller VL, Grübel K, Rössler W, Fleischmann PN (2024). Importance of magnetic information for neuronal plasticity in desert ants. Proceedings of the National Academy of Sciences 121(8):e2320764121. https://doi.org/10.1073/pnas.2320764121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Coils make the magnetic field an experimental variable.</a:t>
            </a:r>
          </a:p>
          <a:p>
            <a:r>
              <a:rPr lang="en-US" sz="1200"/>
              <a:t>• Definition.</a:t>
            </a:r>
          </a:p>
          <a:p>
            <a:r>
              <a:rPr lang="en-US" sz="1200"/>
              <a:t>– A Helmholtz coil system generates controlled magnetic fields in a volume.</a:t>
            </a:r>
          </a:p>
          <a:p>
            <a:r>
              <a:rPr lang="en-US" sz="1200"/>
              <a:t>• Geomagnetic field.</a:t>
            </a:r>
          </a:p>
          <a:p>
            <a:r>
              <a:rPr lang="en-US" sz="1200"/>
              <a:t>– Earth's field gives a directional reference independent of the sun's movement.</a:t>
            </a:r>
          </a:p>
          <a:p>
            <a:r>
              <a:rPr lang="en-US" sz="1200"/>
              <a:t>• Set-up.</a:t>
            </a:r>
          </a:p>
          <a:p>
            <a:r>
              <a:rPr lang="en-US" sz="1200"/>
              <a:t>– A three-dimensional coil system surrounded a 60 by 60 centimeter platform.</a:t>
            </a:r>
          </a:p>
          <a:p>
            <a:r>
              <a:rPr lang="en-US" sz="1200"/>
              <a:t>– The platform was connected to a Cataglyphis nodus nest.</a:t>
            </a:r>
          </a:p>
          <a:p>
            <a:r>
              <a:rPr lang="en-US" sz="1200"/>
              <a:t>• Field values.</a:t>
            </a:r>
          </a:p>
          <a:p>
            <a:r>
              <a:rPr lang="en-US" sz="1200"/>
              <a:t>– The natural total field was about 46.1 microtesla.</a:t>
            </a:r>
          </a:p>
          <a:p>
            <a:r>
              <a:rPr lang="en-US" sz="1200"/>
              <a:t>– Its horizontal component was 26.6 microtesla.</a:t>
            </a:r>
          </a:p>
          <a:p>
            <a:r>
              <a:rPr lang="en-US" sz="1200"/>
              <a:t>• Experience.</a:t>
            </a:r>
          </a:p>
          <a:p>
            <a:r>
              <a:rPr lang="en-US" sz="1200"/>
              <a:t>– Novices performed learning walks over three consecutive days.</a:t>
            </a:r>
          </a:p>
          <a:p>
            <a:r>
              <a:rPr lang="en-US" sz="1200"/>
              <a:t>• Controls.</a:t>
            </a:r>
          </a:p>
          <a:p>
            <a:r>
              <a:rPr lang="en-US" sz="1200"/>
              <a:t>– Dark interior-worker controls provide the comparison for brain changes.</a:t>
            </a:r>
          </a:p>
          <a:p>
            <a:r>
              <a:rPr lang="en-US" sz="1200"/>
              <a:t>• Why coils and not a magnet.</a:t>
            </a:r>
          </a:p>
          <a:p>
            <a:r>
              <a:rPr lang="en-US" sz="1200"/>
              <a:t>– Coils produce a uniform field that can be set in each of three directions.</a:t>
            </a:r>
          </a:p>
          <a:p>
            <a:r>
              <a:rPr lang="en-US" sz="1200"/>
              <a:t>– The field can also be cancelled almost completely.</a:t>
            </a:r>
          </a:p>
          <a:p>
            <a:r>
              <a:rPr lang="en-US" sz="1200"/>
              <a:t>– These options make several magnetic conditions possible.</a:t>
            </a:r>
          </a:p>
          <a:p>
            <a:r>
              <a:rPr lang="en-US" sz="1200"/>
              <a:t>• Field components.</a:t>
            </a:r>
          </a:p>
          <a:p>
            <a:r>
              <a:rPr lang="en-US" sz="1200"/>
              <a:t>– The horizontal and vertical components of the field can be handled separately.</a:t>
            </a:r>
          </a:p>
          <a:p>
            <a:r>
              <a:rPr lang="en-US" sz="1200"/>
              <a:t>– The natural total field was about 46.1 microtesla.</a:t>
            </a:r>
          </a:p>
          <a:p>
            <a:r>
              <a:rPr lang="en-US" sz="1200"/>
              <a:t>• Summary.</a:t>
            </a:r>
          </a:p>
          <a:p>
            <a:r>
              <a:rPr lang="en-US" sz="1200"/>
              <a:t>– Coils turn the magnetic field into a variable that the experimenter controls.</a:t>
            </a:r>
          </a:p>
          <a:p>
            <a:r>
              <a:rPr lang="en-US" sz="1200"/>
              <a:t/>
            </a:r>
          </a:p>
          <a:p>
            <a:r>
              <a:rPr lang="en-US" sz="1200"/>
              <a:t>References:</a:t>
            </a:r>
          </a:p>
          <a:p>
            <a:r>
              <a:rPr lang="en-US" sz="1200"/>
              <a:t>Grob R, Müller VL, Grübel K, Rössler W, Fleischmann PN (2024). Importance of magnetic information for neuronal plasticity in desert ants. Proceedings of the National Academy of Sciences 121(8):e2320764121. https://doi.org/10.1073/pnas.2320764121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Experience can change the structure of the brain, and not only its activity.</a:t>
            </a:r>
          </a:p>
          <a:p>
            <a:r>
              <a:rPr lang="en-US" sz="1200"/>
              <a:t>• Definition.</a:t>
            </a:r>
          </a:p>
          <a:p>
            <a:r>
              <a:rPr lang="en-US" sz="1200"/>
              <a:t>– Structural plasticity is an experience-associated change in anatomy.</a:t>
            </a:r>
          </a:p>
          <a:p>
            <a:r>
              <a:rPr lang="en-US" sz="1200"/>
              <a:t>– Examples are neuropil volume and synaptic organization.</a:t>
            </a:r>
          </a:p>
          <a:p>
            <a:r>
              <a:rPr lang="en-US" sz="1200"/>
              <a:t>• Contrast.</a:t>
            </a:r>
          </a:p>
          <a:p>
            <a:r>
              <a:rPr lang="en-US" sz="1200"/>
              <a:t>– An acute firing-rate response to a stimulus is a different kind of change.</a:t>
            </a:r>
          </a:p>
          <a:p>
            <a:r>
              <a:rPr lang="en-US" sz="1200"/>
              <a:t>• Experiment.</a:t>
            </a:r>
          </a:p>
          <a:p>
            <a:r>
              <a:rPr lang="en-US" sz="1200"/>
              <a:t>– Novices performed learning walks for three days.</a:t>
            </a:r>
          </a:p>
          <a:p>
            <a:r>
              <a:rPr lang="en-US" sz="1200"/>
              <a:t>• Result.</a:t>
            </a:r>
          </a:p>
          <a:p>
            <a:r>
              <a:rPr lang="en-US" sz="1200"/>
              <a:t>– Natural learning walks increased central-complex volume relative to dark controls.</a:t>
            </a:r>
          </a:p>
          <a:p>
            <a:r>
              <a:rPr lang="en-US" sz="1200"/>
              <a:t>– Passive light and a stationary filter did not.</a:t>
            </a:r>
          </a:p>
          <a:p>
            <a:r>
              <a:rPr lang="en-US" sz="1200"/>
              <a:t>• Size correction.</a:t>
            </a:r>
          </a:p>
          <a:p>
            <a:r>
              <a:rPr lang="en-US" sz="1200"/>
              <a:t>– Brain volumes were corrected for body size.</a:t>
            </a:r>
          </a:p>
          <a:p>
            <a:r>
              <a:rPr lang="en-US" sz="1200"/>
              <a:t>– Raw tissue amounts alone would be misleading.</a:t>
            </a:r>
          </a:p>
          <a:p>
            <a:r>
              <a:rPr lang="en-US" sz="1200"/>
              <a:t>• Meaning.</a:t>
            </a:r>
          </a:p>
          <a:p>
            <a:r>
              <a:rPr lang="en-US" sz="1200"/>
              <a:t>– Active experience with changing celestial information drives central-complex growth.</a:t>
            </a:r>
          </a:p>
          <a:p>
            <a:r>
              <a:rPr lang="en-US" sz="1200"/>
              <a:t>• Why correct for body size.</a:t>
            </a:r>
          </a:p>
          <a:p>
            <a:r>
              <a:rPr lang="en-US" sz="1200"/>
              <a:t>– Larger Cataglyphis workers have larger bodies.</a:t>
            </a:r>
          </a:p>
          <a:p>
            <a:r>
              <a:rPr lang="en-US" sz="1200"/>
              <a:t>– Without correction a body-size difference could look like an effect of experience.</a:t>
            </a:r>
          </a:p>
          <a:p>
            <a:r>
              <a:rPr lang="en-US" sz="1200"/>
              <a:t>– Size-corrected volumes make dark controls and learning-walk groups comparable.</a:t>
            </a:r>
          </a:p>
          <a:p>
            <a:r>
              <a:rPr lang="en-US" sz="1200"/>
              <a:t>• Comparison groups.</a:t>
            </a:r>
          </a:p>
          <a:p>
            <a:r>
              <a:rPr lang="en-US" sz="1200"/>
              <a:t>– Dark controls, passive light exposure and a stationary filter were compared with natural learning walks.</a:t>
            </a:r>
          </a:p>
          <a:p>
            <a:r>
              <a:rPr lang="en-US" sz="1200"/>
              <a:t>– Only natural learning walks raised central-complex volume.</a:t>
            </a:r>
          </a:p>
          <a:p>
            <a:r>
              <a:rPr lang="en-US" sz="1200"/>
              <a:t>• Summary.</a:t>
            </a:r>
          </a:p>
          <a:p>
            <a:r>
              <a:rPr lang="en-US" sz="1200"/>
              <a:t>– Anatomy changes with experience of a changing sky.</a:t>
            </a:r>
          </a:p>
          <a:p>
            <a:r>
              <a:rPr lang="en-US" sz="1200"/>
              <a:t/>
            </a:r>
          </a:p>
          <a:p>
            <a:r>
              <a:rPr lang="en-US" sz="1200"/>
              <a:t>References:</a:t>
            </a:r>
          </a:p>
          <a:p>
            <a:r>
              <a:rPr lang="en-US" sz="1200"/>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Navigation involves distinct neuropils, each measured on its own.</a:t>
            </a:r>
          </a:p>
          <a:p>
            <a:r>
              <a:rPr lang="en-US" sz="1200"/>
              <a:t>• Neuropil.</a:t>
            </a:r>
          </a:p>
          <a:p>
            <a:r>
              <a:rPr lang="en-US" sz="1200"/>
              <a:t>– A neuropil is a region of neuronal processes and synapses.</a:t>
            </a:r>
          </a:p>
          <a:p>
            <a:r>
              <a:rPr lang="en-US" sz="1200"/>
              <a:t>• Central complex.</a:t>
            </a:r>
          </a:p>
          <a:p>
            <a:r>
              <a:rPr lang="en-US" sz="1200"/>
              <a:t>– It lies at the midline and is implicated in heading and navigation.</a:t>
            </a:r>
          </a:p>
          <a:p>
            <a:r>
              <a:rPr lang="en-US" sz="1200"/>
              <a:t>• Mushroom bodies.</a:t>
            </a:r>
          </a:p>
          <a:p>
            <a:r>
              <a:rPr lang="en-US" sz="1200"/>
              <a:t>– These paired structures are implicated in memory-based processing.</a:t>
            </a:r>
          </a:p>
          <a:p>
            <a:r>
              <a:rPr lang="en-US" sz="1200"/>
              <a:t>• Labels.</a:t>
            </a:r>
          </a:p>
          <a:p>
            <a:r>
              <a:rPr lang="en-US" sz="1200"/>
              <a:t>– Anti-synapsin antibodies and fluorescent phalloidin were used.</a:t>
            </a:r>
          </a:p>
          <a:p>
            <a:r>
              <a:rPr lang="en-US" sz="1200"/>
              <a:t>– Phalloidin marks actin-rich structures.</a:t>
            </a:r>
          </a:p>
          <a:p>
            <a:r>
              <a:rPr lang="en-US" sz="1200"/>
              <a:t>• Structures counted.</a:t>
            </a:r>
          </a:p>
          <a:p>
            <a:r>
              <a:rPr lang="en-US" sz="1200"/>
              <a:t>– Mushroom-body collar microglomeruli and giant synapses in the lateral complex were identified.</a:t>
            </a:r>
          </a:p>
          <a:p>
            <a:r>
              <a:rPr lang="en-US" sz="1200"/>
              <a:t>– Scale bars were 200 micrometers for the whole brain and 10 micrometers for insets.</a:t>
            </a:r>
          </a:p>
          <a:p>
            <a:r>
              <a:rPr lang="en-US" sz="1200"/>
              <a:t>• Meaning.</a:t>
            </a:r>
          </a:p>
          <a:p>
            <a:r>
              <a:rPr lang="en-US" sz="1200"/>
              <a:t>– Each visual pathway gives a separate anatomical endpoint after the same experience.</a:t>
            </a:r>
          </a:p>
          <a:p>
            <a:r>
              <a:rPr lang="en-US" sz="1200"/>
              <a:t>• Why scale bars matter.</a:t>
            </a:r>
          </a:p>
          <a:p>
            <a:r>
              <a:rPr lang="en-US" sz="1200"/>
              <a:t>– The whole-brain image gives overall position.</a:t>
            </a:r>
          </a:p>
          <a:p>
            <a:r>
              <a:rPr lang="en-US" sz="1200"/>
              <a:t>– The insets show individual synaptic structures at higher magnification.</a:t>
            </a:r>
          </a:p>
          <a:p>
            <a:r>
              <a:rPr lang="en-US" sz="1200"/>
              <a:t>– Both pathways can then be quantified in the same animals.</a:t>
            </a:r>
          </a:p>
          <a:p>
            <a:r>
              <a:rPr lang="en-US" sz="1200"/>
              <a:t>• Lateral complex.</a:t>
            </a:r>
          </a:p>
          <a:p>
            <a:r>
              <a:rPr lang="en-US" sz="1200"/>
              <a:t>– Giant synapses in the lateral complex lie along the sky-compass pathway.</a:t>
            </a:r>
          </a:p>
          <a:p>
            <a:r>
              <a:rPr lang="en-US" sz="1200"/>
              <a:t>– They are counted in the same preparations.</a:t>
            </a:r>
          </a:p>
          <a:p>
            <a:r>
              <a:rPr lang="en-US" sz="1200"/>
              <a:t>• Summary.</a:t>
            </a:r>
          </a:p>
          <a:p>
            <a:r>
              <a:rPr lang="en-US" sz="1200"/>
              <a:t>– Separate structures give separate measures of experience.</a:t>
            </a:r>
          </a:p>
          <a:p>
            <a:r>
              <a:rPr lang="en-US" sz="1200"/>
              <a:t/>
            </a:r>
          </a:p>
          <a:p>
            <a:r>
              <a:rPr lang="en-US" sz="1200"/>
              <a:t>References:</a:t>
            </a:r>
          </a:p>
          <a:p>
            <a:r>
              <a:rPr lang="en-US" sz="1200"/>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stride integrator can draw on several kinds of movement signal.</a:t>
            </a:r>
          </a:p>
          <a:p>
            <a:r>
              <a:rPr lang="en-US" sz="1200"/>
              <a:t>• Definition.</a:t>
            </a:r>
          </a:p>
          <a:p>
            <a:r>
              <a:rPr lang="en-US" sz="1200"/>
              <a:t>– Proprioception is sensing of the position and movement of the body's own parts.</a:t>
            </a:r>
          </a:p>
          <a:p>
            <a:r>
              <a:rPr lang="en-US" sz="1200"/>
              <a:t>• In the leg.</a:t>
            </a:r>
          </a:p>
          <a:p>
            <a:r>
              <a:rPr lang="en-US" sz="1200"/>
              <a:t>– It supplies information about limb position and movement during each step.</a:t>
            </a:r>
          </a:p>
          <a:p>
            <a:r>
              <a:rPr lang="en-US" sz="1200"/>
              <a:t>• Other inputs.</a:t>
            </a:r>
          </a:p>
          <a:p>
            <a:r>
              <a:rPr lang="en-US" sz="1200"/>
              <a:t>– Activity associated with generating the walking rhythm is another candidate.</a:t>
            </a:r>
          </a:p>
          <a:p>
            <a:r>
              <a:rPr lang="en-US" sz="1200"/>
              <a:t>• Integrator.</a:t>
            </a:r>
          </a:p>
          <a:p>
            <a:r>
              <a:rPr lang="en-US" sz="1200"/>
              <a:t>– A stride integrator accumulates information associated with rhythmic locomotion.</a:t>
            </a:r>
          </a:p>
          <a:p>
            <a:r>
              <a:rPr lang="en-US" sz="1200"/>
              <a:t>– It need not count each footfall.</a:t>
            </a:r>
          </a:p>
          <a:p>
            <a:r>
              <a:rPr lang="en-US" sz="1200"/>
              <a:t>• Experiments.</a:t>
            </a:r>
          </a:p>
          <a:p>
            <a:r>
              <a:rPr lang="en-US" sz="1200"/>
              <a:t>– A 10 meter task was combined with 250-frame-per-second video and leg-length manipulations.</a:t>
            </a:r>
          </a:p>
          <a:p>
            <a:r>
              <a:rPr lang="en-US" sz="1200"/>
              <a:t>• Meaning.</a:t>
            </a:r>
          </a:p>
          <a:p>
            <a:r>
              <a:rPr lang="en-US" sz="1200"/>
              <a:t>– Graded stride changes yield graded errors, as an accumulator of movement-linked information predicts.</a:t>
            </a:r>
          </a:p>
          <a:p>
            <a:r>
              <a:rPr lang="en-US" sz="1200"/>
              <a:t>• Why not elapsed time.</a:t>
            </a:r>
          </a:p>
          <a:p>
            <a:r>
              <a:rPr lang="en-US" sz="1200"/>
              <a:t>– A rule based only on elapsed time would give the same distance for different stride lengths.</a:t>
            </a:r>
          </a:p>
          <a:p>
            <a:r>
              <a:rPr lang="en-US" sz="1200"/>
              <a:t>– The graded errors followed stride length.</a:t>
            </a:r>
          </a:p>
          <a:p>
            <a:r>
              <a:rPr lang="en-US" sz="1200"/>
              <a:t>– The tripod pattern was preserved after shortening.</a:t>
            </a:r>
          </a:p>
          <a:p>
            <a:r>
              <a:rPr lang="en-US" sz="1200"/>
              <a:t>• Candidate inputs.</a:t>
            </a:r>
          </a:p>
          <a:p>
            <a:r>
              <a:rPr lang="en-US" sz="1200"/>
              <a:t>– Proprioception reports limb position and movement.</a:t>
            </a:r>
          </a:p>
          <a:p>
            <a:r>
              <a:rPr lang="en-US" sz="1200"/>
              <a:t>– Activity that generates the walking rhythm is another candidate.</a:t>
            </a:r>
          </a:p>
          <a:p>
            <a:r>
              <a:rPr lang="en-US" sz="1200"/>
              <a:t>• Summary.</a:t>
            </a:r>
          </a:p>
          <a:p>
            <a:r>
              <a:rPr lang="en-US" sz="1200"/>
              <a:t>– A stride integrator sums movement-linked information over the journey.</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variables of the walking cycle can both change speed.</a:t>
            </a:r>
          </a:p>
          <a:p>
            <a:r>
              <a:rPr lang="en-US" sz="1200"/>
              <a:t>• Frequency.</a:t>
            </a:r>
          </a:p>
          <a:p>
            <a:r>
              <a:rPr lang="en-US" sz="1200"/>
              <a:t>– Stride frequency is the number of leg cycles per second, in hertz.</a:t>
            </a:r>
          </a:p>
          <a:p>
            <a:r>
              <a:rPr lang="en-US" sz="1200"/>
              <a:t>• Length.</a:t>
            </a:r>
          </a:p>
          <a:p>
            <a:r>
              <a:rPr lang="en-US" sz="1200"/>
              <a:t>– Stride length is the distance advanced during one cycle.</a:t>
            </a:r>
          </a:p>
          <a:p>
            <a:r>
              <a:rPr lang="en-US" sz="1200"/>
              <a:t>• Speed.</a:t>
            </a:r>
          </a:p>
          <a:p>
            <a:r>
              <a:rPr lang="en-US" sz="1200"/>
              <a:t>– Faster walking can come from faster cycles, longer strides, or both.</a:t>
            </a:r>
          </a:p>
          <a:p>
            <a:r>
              <a:rPr lang="en-US" sz="1200"/>
              <a:t>• Observation.</a:t>
            </a:r>
          </a:p>
          <a:p>
            <a:r>
              <a:rPr lang="en-US" sz="1200"/>
              <a:t>– At comparable frequencies stilt ants had longer relative strides.</a:t>
            </a:r>
          </a:p>
          <a:p>
            <a:r>
              <a:rPr lang="en-US" sz="1200"/>
              <a:t>– Stump ants had shorter relative strides than controls.</a:t>
            </a:r>
          </a:p>
          <a:p>
            <a:r>
              <a:rPr lang="en-US" sz="1200"/>
              <a:t>• Standardizing.</a:t>
            </a:r>
          </a:p>
          <a:p>
            <a:r>
              <a:rPr lang="en-US" sz="1200"/>
              <a:t>– Animals were compared at 20 hertz using the measured frequency and length relationships.</a:t>
            </a:r>
          </a:p>
          <a:p>
            <a:r>
              <a:rPr lang="en-US" sz="1200"/>
              <a:t>• Meaning.</a:t>
            </a:r>
          </a:p>
          <a:p>
            <a:r>
              <a:rPr lang="en-US" sz="1200"/>
              <a:t>– The ordering of the leg conditions follows the stride length each limb geometry produces.</a:t>
            </a:r>
          </a:p>
          <a:p>
            <a:r>
              <a:rPr lang="en-US" sz="1200"/>
              <a:t>• Why 20 hertz.</a:t>
            </a:r>
          </a:p>
          <a:p>
            <a:r>
              <a:rPr lang="en-US" sz="1200"/>
              <a:t>– A common frequency puts all animals at a comparable cycle rate.</a:t>
            </a:r>
          </a:p>
          <a:p>
            <a:r>
              <a:rPr lang="en-US" sz="1200"/>
              <a:t>– Differences in stride length then predict differences in homing distance.</a:t>
            </a:r>
          </a:p>
          <a:p>
            <a:r>
              <a:rPr lang="en-US" sz="1200"/>
              <a:t>– The relationships were measured from high-speed records.</a:t>
            </a:r>
          </a:p>
          <a:p>
            <a:r>
              <a:rPr lang="en-US" sz="1200"/>
              <a:t>• Relative stride.</a:t>
            </a:r>
          </a:p>
          <a:p>
            <a:r>
              <a:rPr lang="en-US" sz="1200"/>
              <a:t>– Stride lengths were expressed relative to body size.</a:t>
            </a:r>
          </a:p>
          <a:p>
            <a:r>
              <a:rPr lang="en-US" sz="1200"/>
              <a:t>– This allows animals of different size to be compared.</a:t>
            </a:r>
          </a:p>
          <a:p>
            <a:r>
              <a:rPr lang="en-US" sz="1200"/>
              <a:t>• Summary.</a:t>
            </a:r>
          </a:p>
          <a:p>
            <a:r>
              <a:rPr lang="en-US" sz="1200"/>
              <a:t>– Leg geometry sets the distance advanced per cycle.</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distribution has a centre and a width, and each carries information.</a:t>
            </a:r>
          </a:p>
          <a:p>
            <a:r>
              <a:rPr lang="en-US" sz="1200"/>
              <a:t>• Definition.</a:t>
            </a:r>
          </a:p>
          <a:p>
            <a:r>
              <a:rPr lang="en-US" sz="1200"/>
              <a:t>– Full width at half maximum is the width of a curve at half its peak height.</a:t>
            </a:r>
          </a:p>
          <a:p>
            <a:r>
              <a:rPr lang="en-US" sz="1200"/>
              <a:t>• Search density.</a:t>
            </a:r>
          </a:p>
          <a:p>
            <a:r>
              <a:rPr lang="en-US" sz="1200"/>
              <a:t>– The distribution records how often the ant visits positions.</a:t>
            </a:r>
          </a:p>
          <a:p>
            <a:r>
              <a:rPr lang="en-US" sz="1200"/>
              <a:t>– Its centre estimates the expected nest location.</a:t>
            </a:r>
          </a:p>
          <a:p>
            <a:r>
              <a:rPr lang="en-US" sz="1200"/>
              <a:t>• Binning.</a:t>
            </a:r>
          </a:p>
          <a:p>
            <a:r>
              <a:rPr lang="en-US" sz="1200"/>
              <a:t>– The test channel was divided into 10 centimeter bins.</a:t>
            </a:r>
          </a:p>
          <a:p>
            <a:r>
              <a:rPr lang="en-US" sz="1200"/>
              <a:t>• Widths.</a:t>
            </a:r>
          </a:p>
          <a:p>
            <a:r>
              <a:rPr lang="en-US" sz="1200"/>
              <a:t>– Stilts measured 8.3 meters and normal legs 6.0 meters.</a:t>
            </a:r>
          </a:p>
          <a:p>
            <a:r>
              <a:rPr lang="en-US" sz="1200"/>
              <a:t>– Stumps I measured 5.2 meters and stumps II 4.1 meters.</a:t>
            </a:r>
          </a:p>
          <a:p>
            <a:r>
              <a:rPr lang="en-US" sz="1200"/>
              <a:t>• Ordering.</a:t>
            </a:r>
          </a:p>
          <a:p>
            <a:r>
              <a:rPr lang="en-US" sz="1200"/>
              <a:t>– Stilts gave the broadest search and stumps II the narrowest.</a:t>
            </a:r>
          </a:p>
          <a:p>
            <a:r>
              <a:rPr lang="en-US" sz="1200"/>
              <a:t>• Meaning.</a:t>
            </a:r>
          </a:p>
          <a:p>
            <a:r>
              <a:rPr lang="en-US" sz="1200"/>
              <a:t>– Both the centre and the spread of the search vary with leg length.</a:t>
            </a:r>
          </a:p>
          <a:p>
            <a:r>
              <a:rPr lang="en-US" sz="1200"/>
              <a:t>• Why spread is informative.</a:t>
            </a:r>
          </a:p>
          <a:p>
            <a:r>
              <a:rPr lang="en-US" sz="1200"/>
              <a:t>– Centre and width are separate descriptions of the same curve.</a:t>
            </a:r>
          </a:p>
          <a:p>
            <a:r>
              <a:rPr lang="en-US" sz="1200"/>
              <a:t>– The centre gives the expected nest location.</a:t>
            </a:r>
          </a:p>
          <a:p>
            <a:r>
              <a:rPr lang="en-US" sz="1200"/>
              <a:t>– The width describes how broadly the search is distributed around it.</a:t>
            </a:r>
          </a:p>
          <a:p>
            <a:r>
              <a:rPr lang="en-US" sz="1200"/>
              <a:t>• Interpretation of the numbers.</a:t>
            </a:r>
          </a:p>
          <a:p>
            <a:r>
              <a:rPr lang="en-US" sz="1200"/>
              <a:t>– The widths ranged from 4.1 to 8.3 meters across the four groups.</a:t>
            </a:r>
          </a:p>
          <a:p>
            <a:r>
              <a:rPr lang="en-US" sz="1200"/>
              <a:t>– Longer legs gave broader searches.</a:t>
            </a:r>
          </a:p>
          <a:p>
            <a:r>
              <a:rPr lang="en-US" sz="1200"/>
              <a:t>• Summary.</a:t>
            </a:r>
          </a:p>
          <a:p>
            <a:r>
              <a:rPr lang="en-US" sz="1200"/>
              <a:t>– The distribution carries both a location and a spread.</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Gait coordination shows what shortened legs change and what they keep.</a:t>
            </a:r>
          </a:p>
          <a:p>
            <a:r>
              <a:rPr lang="en-US" sz="1200"/>
              <a:t>• Definition.</a:t>
            </a:r>
          </a:p>
          <a:p>
            <a:r>
              <a:rPr lang="en-US" sz="1200"/>
              <a:t>– A tripod gait alternates two sets of three supporting legs.</a:t>
            </a:r>
          </a:p>
          <a:p>
            <a:r>
              <a:rPr lang="en-US" sz="1200"/>
              <a:t>– One set is the left front, left hind and right middle legs.</a:t>
            </a:r>
          </a:p>
          <a:p>
            <a:r>
              <a:rPr lang="en-US" sz="1200"/>
              <a:t>• The other set.</a:t>
            </a:r>
          </a:p>
          <a:p>
            <a:r>
              <a:rPr lang="en-US" sz="1200"/>
              <a:t>– The complementary set uses the remaining three legs.</a:t>
            </a:r>
          </a:p>
          <a:p>
            <a:r>
              <a:rPr lang="en-US" sz="1200"/>
              <a:t>• Recording.</a:t>
            </a:r>
          </a:p>
          <a:p>
            <a:r>
              <a:rPr lang="en-US" sz="1200"/>
              <a:t>– High-speed video at 250 frames per second was taken before and after manipulation.</a:t>
            </a:r>
          </a:p>
          <a:p>
            <a:r>
              <a:rPr lang="en-US" sz="1200"/>
              <a:t>• Normal example.</a:t>
            </a:r>
          </a:p>
          <a:p>
            <a:r>
              <a:rPr lang="en-US" sz="1200"/>
              <a:t>– Stride length was 13.3 millimeters at 0.28 meters per second.</a:t>
            </a:r>
          </a:p>
          <a:p>
            <a:r>
              <a:rPr lang="en-US" sz="1200"/>
              <a:t>• Stumps example.</a:t>
            </a:r>
          </a:p>
          <a:p>
            <a:r>
              <a:rPr lang="en-US" sz="1200"/>
              <a:t>– A stumps-II ant had a 10.5 millimeter stride at 0.27 meters per second.</a:t>
            </a:r>
          </a:p>
          <a:p>
            <a:r>
              <a:rPr lang="en-US" sz="1200"/>
              <a:t>– It retained tripod coordination.</a:t>
            </a:r>
          </a:p>
          <a:p>
            <a:r>
              <a:rPr lang="en-US" sz="1200"/>
              <a:t>• Meaning.</a:t>
            </a:r>
          </a:p>
          <a:p>
            <a:r>
              <a:rPr lang="en-US" sz="1200"/>
              <a:t>– Shortening changes how far each step advances the ant and leaves the coordination pattern in place.</a:t>
            </a:r>
          </a:p>
          <a:p>
            <a:r>
              <a:rPr lang="en-US" sz="1200"/>
              <a:t>• Why coordination matters.</a:t>
            </a:r>
          </a:p>
          <a:p>
            <a:r>
              <a:rPr lang="en-US" sz="1200"/>
              <a:t>– A different gait after shortening would make stride comparisons between groups unclear.</a:t>
            </a:r>
          </a:p>
          <a:p>
            <a:r>
              <a:rPr lang="en-US" sz="1200"/>
              <a:t>– Preserved tripod coordination keeps the comparison to stride length.</a:t>
            </a:r>
          </a:p>
          <a:p>
            <a:r>
              <a:rPr lang="en-US" sz="1200"/>
              <a:t>– The ants carried food during the tests.</a:t>
            </a:r>
          </a:p>
          <a:p>
            <a:r>
              <a:rPr lang="en-US" sz="1200"/>
              <a:t>• Complementary sets.</a:t>
            </a:r>
          </a:p>
          <a:p>
            <a:r>
              <a:rPr lang="en-US" sz="1200"/>
              <a:t>– While one set of three legs is on the ground the other set is in the air.</a:t>
            </a:r>
          </a:p>
          <a:p>
            <a:r>
              <a:rPr lang="en-US" sz="1200"/>
              <a:t>– The alternation repeats every cycle.</a:t>
            </a:r>
          </a:p>
          <a:p>
            <a:r>
              <a:rPr lang="en-US" sz="1200"/>
              <a:t>• Summary.</a:t>
            </a:r>
          </a:p>
          <a:p>
            <a:r>
              <a:rPr lang="en-US" sz="1200"/>
              <a:t>– Shortened legs keep the coordination pattern and reduce the spatial extent of the cycle.</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first turns of a search report the distance the ant expects.</a:t>
            </a:r>
          </a:p>
          <a:p>
            <a:r>
              <a:rPr lang="en-US" sz="1200"/>
              <a:t>• Definition.</a:t>
            </a:r>
          </a:p>
          <a:p>
            <a:r>
              <a:rPr lang="en-US" sz="1200"/>
              <a:t>– Turning points are U-turn positions during the search.</a:t>
            </a:r>
          </a:p>
          <a:p>
            <a:r>
              <a:rPr lang="en-US" sz="1200"/>
              <a:t>– The median of the first six identifies the search centre.</a:t>
            </a:r>
          </a:p>
          <a:p>
            <a:r>
              <a:rPr lang="en-US" sz="1200"/>
              <a:t>• Behavior.</a:t>
            </a:r>
          </a:p>
          <a:p>
            <a:r>
              <a:rPr lang="en-US" sz="1200"/>
              <a:t>– Ants walk in a directed way and then switch to repeated U-turns.</a:t>
            </a:r>
          </a:p>
          <a:p>
            <a:r>
              <a:rPr lang="en-US" sz="1200"/>
              <a:t>• Stilts.</a:t>
            </a:r>
          </a:p>
          <a:p>
            <a:r>
              <a:rPr lang="en-US" sz="1200"/>
              <a:t>– Ants with lengthened legs searched at 15.30 meters.</a:t>
            </a:r>
          </a:p>
          <a:p>
            <a:r>
              <a:rPr lang="en-US" sz="1200"/>
              <a:t>• Stumps and controls.</a:t>
            </a:r>
          </a:p>
          <a:p>
            <a:r>
              <a:rPr lang="en-US" sz="1200"/>
              <a:t>– Ants with shortened legs searched at 5.75 meters.</a:t>
            </a:r>
          </a:p>
          <a:p>
            <a:r>
              <a:rPr lang="en-US" sz="1200"/>
              <a:t>– Normal-legged controls searched at 10.20 meters.</a:t>
            </a:r>
          </a:p>
          <a:p>
            <a:r>
              <a:rPr lang="en-US" sz="1200"/>
              <a:t>• Direction of error.</a:t>
            </a:r>
          </a:p>
          <a:p>
            <a:r>
              <a:rPr lang="en-US" sz="1200"/>
              <a:t>– Longer strides produced overshoot and shorter strides produced undershoot.</a:t>
            </a:r>
          </a:p>
          <a:p>
            <a:r>
              <a:rPr lang="en-US" sz="1200"/>
              <a:t>• Meaning.</a:t>
            </a:r>
          </a:p>
          <a:p>
            <a:r>
              <a:rPr lang="en-US" sz="1200"/>
              <a:t>– The search centre reads out the stored distance in the units of the strides used.</a:t>
            </a:r>
          </a:p>
          <a:p>
            <a:r>
              <a:rPr lang="en-US" sz="1200"/>
              <a:t>• Why median of six.</a:t>
            </a:r>
          </a:p>
          <a:p>
            <a:r>
              <a:rPr lang="en-US" sz="1200"/>
              <a:t>– A single turn can be noisy.</a:t>
            </a:r>
          </a:p>
          <a:p>
            <a:r>
              <a:rPr lang="en-US" sz="1200"/>
              <a:t>– The median of the first six turning points gives a stable estimate of the centre of the search.</a:t>
            </a:r>
          </a:p>
          <a:p>
            <a:r>
              <a:rPr lang="en-US" sz="1200"/>
              <a:t>– Controls searched near the true 10 meter distance.</a:t>
            </a:r>
          </a:p>
          <a:p>
            <a:r>
              <a:rPr lang="en-US" sz="1200"/>
              <a:t>• Comparison.</a:t>
            </a:r>
          </a:p>
          <a:p>
            <a:r>
              <a:rPr lang="en-US" sz="1200"/>
              <a:t>– Normal-legged ants searched at 10.20 meters, close to the true separation.</a:t>
            </a:r>
          </a:p>
          <a:p>
            <a:r>
              <a:rPr lang="en-US" sz="1200"/>
              <a:t>– Stilts and stumps departed from it in opposite directions.</a:t>
            </a:r>
          </a:p>
          <a:p>
            <a:r>
              <a:rPr lang="en-US" sz="1200"/>
              <a:t>• Summary.</a:t>
            </a:r>
          </a:p>
          <a:p>
            <a:r>
              <a:rPr lang="en-US" sz="1200"/>
              <a:t>– Search position reports the stored distance.</a:t>
            </a:r>
          </a:p>
          <a:p>
            <a:r>
              <a:rPr lang="en-US" sz="1200"/>
              <a:t/>
            </a:r>
          </a:p>
          <a:p>
            <a:r>
              <a:rPr lang="en-US" sz="1200"/>
              <a:t>References:</a:t>
            </a:r>
          </a:p>
          <a:p>
            <a:r>
              <a:rPr lang="en-US" sz="1200"/>
              <a:t>Wittlinger M, Wehner R, Wolf H (2006). The Ant Odometer: Stepping on Stilts and Stumps. Science 312(5782):1965–1967. https://doi.org/10.1126/science.1126912</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estimation can be tested by changing the length of a stride.</a:t>
            </a:r>
          </a:p>
          <a:p>
            <a:r>
              <a:rPr lang="en-US" sz="1200"/>
              <a:t>• Definition.</a:t>
            </a:r>
          </a:p>
          <a:p>
            <a:r>
              <a:rPr lang="en-US" sz="1200"/>
              <a:t>– An odometer estimates distance traveled.</a:t>
            </a:r>
          </a:p>
          <a:p>
            <a:r>
              <a:rPr lang="en-US" sz="1200"/>
              <a:t>– A stride is one complete movement cycle of a leg.</a:t>
            </a:r>
          </a:p>
          <a:p>
            <a:r>
              <a:rPr lang="en-US" sz="1200"/>
              <a:t>• Training.</a:t>
            </a:r>
          </a:p>
          <a:p>
            <a:r>
              <a:rPr lang="en-US" sz="1200"/>
              <a:t>– Cataglyphis fortis walked to a feeder 10 meters from the nest.</a:t>
            </a:r>
          </a:p>
          <a:p>
            <a:r>
              <a:rPr lang="en-US" sz="1200"/>
              <a:t>• Manipulation.</a:t>
            </a:r>
          </a:p>
          <a:p>
            <a:r>
              <a:rPr lang="en-US" sz="1200"/>
              <a:t>– Pig bristles attached to the legs produced stilts.</a:t>
            </a:r>
          </a:p>
          <a:p>
            <a:r>
              <a:rPr lang="en-US" sz="1200"/>
              <a:t>– Shortened legs produced stumps.</a:t>
            </a:r>
          </a:p>
          <a:p>
            <a:r>
              <a:rPr lang="en-US" sz="1200"/>
              <a:t>• Timing.</a:t>
            </a:r>
          </a:p>
          <a:p>
            <a:r>
              <a:rPr lang="en-US" sz="1200"/>
              <a:t>– The change was made at the feeder, after the outbound distance had been acquired.</a:t>
            </a:r>
          </a:p>
          <a:p>
            <a:r>
              <a:rPr lang="en-US" sz="1200"/>
              <a:t>– Outbound strides and inbound strides therefore differed.</a:t>
            </a:r>
          </a:p>
          <a:p>
            <a:r>
              <a:rPr lang="en-US" sz="1200"/>
              <a:t>• Test.</a:t>
            </a:r>
          </a:p>
          <a:p>
            <a:r>
              <a:rPr lang="en-US" sz="1200"/>
              <a:t>– Food-carrying ants were released into a separate channel and their search was recorded.</a:t>
            </a:r>
          </a:p>
          <a:p>
            <a:r>
              <a:rPr lang="en-US" sz="1200"/>
              <a:t>• Prediction.</a:t>
            </a:r>
          </a:p>
          <a:p>
            <a:r>
              <a:rPr lang="en-US" sz="1200"/>
              <a:t>– If stride length underlies the odometer, the direction of the error follows the change in leg length.</a:t>
            </a:r>
          </a:p>
          <a:p>
            <a:r>
              <a:rPr lang="en-US" sz="1200"/>
              <a:t>• Why stilts and stumps.</a:t>
            </a:r>
          </a:p>
          <a:p>
            <a:r>
              <a:rPr lang="en-US" sz="1200"/>
              <a:t>– Longer legs cover more ground per stride and shorter legs cover less.</a:t>
            </a:r>
          </a:p>
          <a:p>
            <a:r>
              <a:rPr lang="en-US" sz="1200"/>
              <a:t>– The two manipulations push the prediction in opposite directions.</a:t>
            </a:r>
          </a:p>
          <a:p>
            <a:r>
              <a:rPr lang="en-US" sz="1200"/>
              <a:t>– Agreement in both directions makes the test stronger.</a:t>
            </a:r>
          </a:p>
          <a:p>
            <a:r>
              <a:rPr lang="en-US" sz="1200"/>
              <a:t>• Pig bristles.</a:t>
            </a:r>
          </a:p>
          <a:p>
            <a:r>
              <a:rPr lang="en-US" sz="1200"/>
              <a:t>– Attached bristles lengthened the legs into stilts.</a:t>
            </a:r>
          </a:p>
          <a:p>
            <a:r>
              <a:rPr lang="en-US" sz="1200"/>
              <a:t>– Cutting the legs produced stumps.</a:t>
            </a:r>
          </a:p>
          <a:p>
            <a:r>
              <a:rPr lang="en-US" sz="1200"/>
              <a:t>• Summary.</a:t>
            </a:r>
          </a:p>
          <a:p>
            <a:r>
              <a:rPr lang="en-US" sz="1200"/>
              <a:t>– Changing stride length after acquisition tests the odometer directly.</a:t>
            </a:r>
          </a:p>
          <a:p>
            <a:r>
              <a:rPr lang="en-US" sz="1200"/>
              <a:t/>
            </a:r>
          </a:p>
          <a:p>
            <a:r>
              <a:rPr lang="en-US" sz="1200"/>
              <a:t>References:</a:t>
            </a:r>
          </a:p>
          <a:p>
            <a:r>
              <a:rPr lang="en-US" sz="1200"/>
              <a:t>Wittlinger M, Wehner R, Wolf H (2006). The Ant Odometer: Stepping on Stilts and Stumps. Science 312(5782):1965–1967. https://doi.org/10.1126/science.1126912</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sky provides more than one directional signal.</a:t>
            </a:r>
          </a:p>
          <a:p>
            <a:r>
              <a:rPr lang="en-US" sz="1200"/>
              <a:t>• Definition.</a:t>
            </a:r>
          </a:p>
          <a:p>
            <a:r>
              <a:rPr lang="en-US" sz="1200"/>
              <a:t>– Polarization is the orientation of the electric field oscillation in a light wave.</a:t>
            </a:r>
          </a:p>
          <a:p>
            <a:r>
              <a:rPr lang="en-US" sz="1200"/>
              <a:t>– Skylight has a pattern of such orientations across the sky.</a:t>
            </a:r>
          </a:p>
          <a:p>
            <a:r>
              <a:rPr lang="en-US" sz="1200"/>
              <a:t>• Two cues.</a:t>
            </a:r>
          </a:p>
          <a:p>
            <a:r>
              <a:rPr lang="en-US" sz="1200"/>
              <a:t>– Direct sunlight and the polarization pattern give related heading information.</a:t>
            </a:r>
          </a:p>
          <a:p>
            <a:r>
              <a:rPr lang="en-US" sz="1200"/>
              <a:t>– They can be separated experimentally.</a:t>
            </a:r>
          </a:p>
          <a:p>
            <a:r>
              <a:rPr lang="en-US" sz="1200"/>
              <a:t>• Removing the sun.</a:t>
            </a:r>
          </a:p>
          <a:p>
            <a:r>
              <a:rPr lang="en-US" sz="1200"/>
              <a:t>– Screening the sun removed direct solar information.</a:t>
            </a:r>
          </a:p>
          <a:p>
            <a:r>
              <a:rPr lang="en-US" sz="1200"/>
              <a:t>• Removing polarization.</a:t>
            </a:r>
          </a:p>
          <a:p>
            <a:r>
              <a:rPr lang="en-US" sz="1200"/>
              <a:t>– Painting the dorsal rim of the compound eyes removed the specialized polarization-sensitive region.</a:t>
            </a:r>
          </a:p>
          <a:p>
            <a:r>
              <a:rPr lang="en-US" sz="1200"/>
              <a:t>• Result.</a:t>
            </a:r>
          </a:p>
          <a:p>
            <a:r>
              <a:rPr lang="en-US" sz="1200"/>
              <a:t>– The 10 meter and 5 meter route produced systematic errors in each condition.</a:t>
            </a:r>
          </a:p>
          <a:p>
            <a:r>
              <a:rPr lang="en-US" sz="1200"/>
              <a:t>• Meaning.</a:t>
            </a:r>
          </a:p>
          <a:p>
            <a:r>
              <a:rPr lang="en-US" sz="1200"/>
              <a:t>– The bias lies in the path-integration process and not in a single defective sky cue.</a:t>
            </a:r>
          </a:p>
          <a:p>
            <a:r>
              <a:rPr lang="en-US" sz="1200"/>
              <a:t>• Why compare conditions.</a:t>
            </a:r>
          </a:p>
          <a:p>
            <a:r>
              <a:rPr lang="en-US" sz="1200"/>
              <a:t>– Each condition removes a different part of the sky compass.</a:t>
            </a:r>
          </a:p>
          <a:p>
            <a:r>
              <a:rPr lang="en-US" sz="1200"/>
              <a:t>– If one cue caused the bias, removing it would change the error pattern.</a:t>
            </a:r>
          </a:p>
          <a:p>
            <a:r>
              <a:rPr lang="en-US" sz="1200"/>
              <a:t>– The pattern stayed, which points to the integrator itself.</a:t>
            </a:r>
          </a:p>
          <a:p>
            <a:r>
              <a:rPr lang="en-US" sz="1200"/>
              <a:t>• Dorsal rim.</a:t>
            </a:r>
          </a:p>
          <a:p>
            <a:r>
              <a:rPr lang="en-US" sz="1200"/>
              <a:t>– The dorsal rim of the compound eye is the specialized polarization-sensitive region.</a:t>
            </a:r>
          </a:p>
          <a:p>
            <a:r>
              <a:rPr lang="en-US" sz="1200"/>
              <a:t>– Painting it removes access to polarized skylight.</a:t>
            </a:r>
          </a:p>
          <a:p>
            <a:r>
              <a:rPr lang="en-US" sz="1200"/>
              <a:t>• Summary.</a:t>
            </a:r>
          </a:p>
          <a:p>
            <a:r>
              <a:rPr lang="en-US" sz="1200"/>
              <a:t>– Related but separable cues feed one integrator.</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Errors that follow a pattern reveal the rule the animal uses.</a:t>
            </a:r>
          </a:p>
          <a:p>
            <a:r>
              <a:rPr lang="en-US" sz="1200"/>
              <a:t>• Definition.</a:t>
            </a:r>
          </a:p>
          <a:p>
            <a:r>
              <a:rPr lang="en-US" sz="1200"/>
              <a:t>– Systematic error varies predictably with the manipulation.</a:t>
            </a:r>
          </a:p>
          <a:p>
            <a:r>
              <a:rPr lang="en-US" sz="1200"/>
              <a:t>– Random scatter varies from journey to journey with no relation to it.</a:t>
            </a:r>
          </a:p>
          <a:p>
            <a:r>
              <a:rPr lang="en-US" sz="1200"/>
              <a:t>• The measure.</a:t>
            </a:r>
          </a:p>
          <a:p>
            <a:r>
              <a:rPr lang="en-US" sz="1200"/>
              <a:t>– The angular difference between the true homeward direction and the expressed course was recorded.</a:t>
            </a:r>
          </a:p>
          <a:p>
            <a:r>
              <a:rPr lang="en-US" sz="1200"/>
              <a:t>– Ants had been trained through two-leg channels.</a:t>
            </a:r>
          </a:p>
          <a:p>
            <a:r>
              <a:rPr lang="en-US" sz="1200"/>
              <a:t>• The route.</a:t>
            </a:r>
          </a:p>
          <a:p>
            <a:r>
              <a:rPr lang="en-US" sz="1200"/>
              <a:t>– The first leg was 10 meters and the second was 5 meters.</a:t>
            </a:r>
          </a:p>
          <a:p>
            <a:r>
              <a:rPr lang="en-US" sz="1200"/>
              <a:t>– The turning angle between legs was varied.</a:t>
            </a:r>
          </a:p>
          <a:p>
            <a:r>
              <a:rPr lang="en-US" sz="1200"/>
              <a:t>• The pattern.</a:t>
            </a:r>
          </a:p>
          <a:p>
            <a:r>
              <a:rPr lang="en-US" sz="1200"/>
              <a:t>– The error grew as the turning angle approached about 150 degrees.</a:t>
            </a:r>
          </a:p>
          <a:p>
            <a:r>
              <a:rPr lang="en-US" sz="1200"/>
              <a:t>– It reached about 20 degrees in the published measurements.</a:t>
            </a:r>
          </a:p>
          <a:p>
            <a:r>
              <a:rPr lang="en-US" sz="1200"/>
              <a:t>• The limits.</a:t>
            </a:r>
          </a:p>
          <a:p>
            <a:r>
              <a:rPr lang="en-US" sz="1200"/>
              <a:t>– The error returned toward zero for the straight and the reversed arrangements.</a:t>
            </a:r>
          </a:p>
          <a:p>
            <a:r>
              <a:rPr lang="en-US" sz="1200"/>
              <a:t>• Meaning.</a:t>
            </a:r>
          </a:p>
          <a:p>
            <a:r>
              <a:rPr lang="en-US" sz="1200"/>
              <a:t>– An orderly relation between error and angle points to a consistent approximate updating rule.</a:t>
            </a:r>
          </a:p>
          <a:p>
            <a:r>
              <a:rPr lang="en-US" sz="1200"/>
              <a:t>• Why the distinction matters.</a:t>
            </a:r>
          </a:p>
          <a:p>
            <a:r>
              <a:rPr lang="en-US" sz="1200"/>
              <a:t>– Random scatter would be averaged away across many journeys.</a:t>
            </a:r>
          </a:p>
          <a:p>
            <a:r>
              <a:rPr lang="en-US" sz="1200"/>
              <a:t>– Systematic error remains in the average and reveals the rule the integrator uses.</a:t>
            </a:r>
          </a:p>
          <a:p>
            <a:r>
              <a:rPr lang="en-US" sz="1200"/>
              <a:t>– The training legs were channels, and release occurred in an open test field.</a:t>
            </a:r>
          </a:p>
          <a:p>
            <a:r>
              <a:rPr lang="en-US" sz="1200"/>
              <a:t>• Summary.</a:t>
            </a:r>
          </a:p>
          <a:p>
            <a:r>
              <a:rPr lang="en-US" sz="1200"/>
              <a:t>– Orderly error is evidence of a rule, and the rule is approximate.</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home vector is the quantity that path integration maintains.</a:t>
            </a:r>
          </a:p>
          <a:p>
            <a:r>
              <a:rPr lang="en-US" sz="1200"/>
              <a:t>• Definition.</a:t>
            </a:r>
          </a:p>
          <a:p>
            <a:r>
              <a:rPr lang="en-US" sz="1200"/>
              <a:t>– A home vector gives the direction and distance back to the nest.</a:t>
            </a:r>
          </a:p>
          <a:p>
            <a:r>
              <a:rPr lang="en-US" sz="1200"/>
              <a:t>– Movement keeps updating it during the whole journey.</a:t>
            </a:r>
          </a:p>
          <a:p>
            <a:r>
              <a:rPr lang="en-US" sz="1200"/>
              <a:t>• Not a memory of turns.</a:t>
            </a:r>
          </a:p>
          <a:p>
            <a:r>
              <a:rPr lang="en-US" sz="1200"/>
              <a:t>– The vector summarizes the outward journey in one direction and one distance.</a:t>
            </a:r>
          </a:p>
          <a:p>
            <a:r>
              <a:rPr lang="en-US" sz="1200"/>
              <a:t>– It does not store the order of the turns that produced it.</a:t>
            </a:r>
          </a:p>
          <a:p>
            <a:r>
              <a:rPr lang="en-US" sz="1200"/>
              <a:t>• The recorded trip.</a:t>
            </a:r>
          </a:p>
          <a:p>
            <a:r>
              <a:rPr lang="en-US" sz="1200"/>
              <a:t>– The ant was Cataglyphis fortis, tracked in Tunisia.</a:t>
            </a:r>
          </a:p>
          <a:p>
            <a:r>
              <a:rPr lang="en-US" sz="1200"/>
              <a:t>– The outward path measured 354.5 meters.</a:t>
            </a:r>
          </a:p>
          <a:p>
            <a:r>
              <a:rPr lang="en-US" sz="1200"/>
              <a:t>• Displacement from the nest.</a:t>
            </a:r>
          </a:p>
          <a:p>
            <a:r>
              <a:rPr lang="en-US" sz="1200"/>
              <a:t>– The maximum distance from the nest was 113.2 meters.</a:t>
            </a:r>
          </a:p>
          <a:p>
            <a:r>
              <a:rPr lang="en-US" sz="1200"/>
              <a:t>– The path was therefore much longer than the straight distance away.</a:t>
            </a:r>
          </a:p>
          <a:p>
            <a:r>
              <a:rPr lang="en-US" sz="1200"/>
              <a:t>• The return.</a:t>
            </a:r>
          </a:p>
          <a:p>
            <a:r>
              <a:rPr lang="en-US" sz="1200"/>
              <a:t>– After finding food the ant returned along a comparatively direct route.</a:t>
            </a:r>
          </a:p>
          <a:p>
            <a:r>
              <a:rPr lang="en-US" sz="1200"/>
              <a:t>– It did not repeat the winding outward path.</a:t>
            </a:r>
          </a:p>
          <a:p>
            <a:r>
              <a:rPr lang="en-US" sz="1200"/>
              <a:t>• Meaning.</a:t>
            </a:r>
          </a:p>
          <a:p>
            <a:r>
              <a:rPr lang="en-US" sz="1200"/>
              <a:t>– Direct homing after a winding trip separates route retracing from vector-guided homing.</a:t>
            </a:r>
          </a:p>
          <a:p>
            <a:r>
              <a:rPr lang="en-US" sz="1200"/>
              <a:t>• Why it matters for navigation.</a:t>
            </a:r>
          </a:p>
          <a:p>
            <a:r>
              <a:rPr lang="en-US" sz="1200"/>
              <a:t>– An animal that stores only a vector needs very little memory for a long trip.</a:t>
            </a:r>
          </a:p>
          <a:p>
            <a:r>
              <a:rPr lang="en-US" sz="1200"/>
              <a:t>– The vector can be used from any point on the outward path.</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5.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9.pn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263F5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CCD7DF"/>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CCD7DF"/>
                </a:solidFill>
                <a:latin typeface="Arial"/>
                <a:ea typeface="Arial"/>
                <a:cs typeface="Arial"/>
                <a:sym typeface="Arial"/>
              </a:rPr>
              <a:t>NEUR 411 · NEUROETHOLOGY · FALL 2026</a:t>
            </a:r>
            <a:endParaRPr>
              <a:solidFill>
                <a:srgbClr val="CCD7DF"/>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CCD7DF"/>
                </a:solidFill>
                <a:latin typeface="Arial"/>
                <a:ea typeface="Arial"/>
                <a:cs typeface="Arial"/>
                <a:sym typeface="Arial"/>
              </a:rPr>
              <a:t>Lecture 28</a:t>
            </a:r>
            <a:endParaRPr>
              <a:solidFill>
                <a:srgbClr val="CCD7DF"/>
              </a:solidFill>
            </a:endParaRPr>
          </a:p>
          <a:p>
            <a:pPr indent="0" lvl="0" marL="0" marR="0" rtl="0" algn="l">
              <a:lnSpc>
                <a:spcPct val="108000"/>
              </a:lnSpc>
              <a:spcAft>
                <a:spcPts val="1200"/>
              </a:spcAft>
              <a:buNone/>
            </a:pPr>
            <a:r>
              <a:rPr b="1" i="0" lang="en-US" sz="3000" u="none" cap="none" strike="noStrike">
                <a:solidFill>
                  <a:srgbClr val="EDF2F5"/>
                </a:solidFill>
                <a:latin typeface="Arial"/>
                <a:ea typeface="Arial"/>
                <a:cs typeface="Arial"/>
                <a:sym typeface="Arial"/>
              </a:rPr>
              <a:t>Navigation I:</a:t>
            </a:r>
            <a:endParaRPr>
              <a:solidFill>
                <a:srgbClr val="EDF2F5"/>
              </a:solidFill>
            </a:endParaRPr>
          </a:p>
          <a:p>
            <a:pPr indent="0" lvl="0" marL="0" marR="0" rtl="0" algn="l">
              <a:lnSpc>
                <a:spcPct val="108000"/>
              </a:lnSpc>
              <a:spcAft>
                <a:spcPts val="1200"/>
              </a:spcAft>
              <a:buNone/>
            </a:pPr>
            <a:r>
              <a:rPr b="1" i="0" lang="en-US" sz="3000" u="none" cap="none" strike="noStrike">
                <a:solidFill>
                  <a:srgbClr val="EDF2F5"/>
                </a:solidFill>
                <a:latin typeface="Arial"/>
                <a:ea typeface="Arial"/>
                <a:cs typeface="Arial"/>
                <a:sym typeface="Arial"/>
              </a:rPr>
              <a:t>desert ant path integration (Wehner)</a:t>
            </a:r>
            <a:endParaRPr>
              <a:solidFill>
                <a:srgbClr val="EDF2F5"/>
              </a:solidFill>
            </a:endParaRPr>
          </a:p>
          <a:p>
            <a:pPr indent="0" lvl="0" marL="0" marR="0" rtl="0" algn="l">
              <a:lnSpc>
                <a:spcPct val="108000"/>
              </a:lnSpc>
              <a:spcAft>
                <a:spcPts val="1200"/>
              </a:spcAft>
              <a:buNone/>
            </a:pPr>
            <a:r>
              <a:rPr b="0" i="0" lang="en-US" sz="1600" u="none" cap="none" strike="noStrike">
                <a:solidFill>
                  <a:srgbClr val="CCD7DF"/>
                </a:solidFill>
                <a:latin typeface="Arial"/>
                <a:ea typeface="Arial"/>
                <a:cs typeface="Arial"/>
                <a:sym typeface="Arial"/>
              </a:rPr>
              <a:t>Friday, October 30, 2026</a:t>
            </a:r>
            <a:endParaRPr>
              <a:solidFill>
                <a:srgbClr val="CCD7DF"/>
              </a:solidFill>
            </a:endParaRPr>
          </a:p>
          <a:p>
            <a:pPr indent="0" lvl="0" marL="0" marR="0" rtl="0" algn="l">
              <a:lnSpc>
                <a:spcPct val="108000"/>
              </a:lnSpc>
              <a:spcAft>
                <a:spcPts val="1200"/>
              </a:spcAft>
              <a:buNone/>
            </a:pPr>
            <a:r>
              <a:rPr b="0" i="0" lang="en-US" sz="1200" u="none" cap="none" strike="noStrike">
                <a:solidFill>
                  <a:srgbClr val="CCD7DF"/>
                </a:solidFill>
                <a:latin typeface="Arial"/>
                <a:ea typeface="Arial"/>
                <a:cs typeface="Arial"/>
                <a:sym typeface="Arial"/>
              </a:rPr>
              <a:t>Jordan Lopez, Ph.D.</a:t>
            </a:r>
            <a:endParaRPr>
              <a:solidFill>
                <a:srgbClr val="CCD7DF"/>
              </a:solidFill>
            </a:endParaRPr>
          </a:p>
          <a:p>
            <a:pPr indent="0" lvl="0" marL="0" marR="0" rtl="0" algn="l">
              <a:lnSpc>
                <a:spcPct val="108000"/>
              </a:lnSpc>
              <a:spcAft>
                <a:spcPts val="0"/>
              </a:spcAft>
              <a:buNone/>
            </a:pPr>
            <a:r>
              <a:rPr b="0" i="0" lang="en-US" sz="1200" u="none" cap="none" strike="noStrike">
                <a:solidFill>
                  <a:srgbClr val="CCD7DF"/>
                </a:solidFill>
                <a:latin typeface="Arial"/>
                <a:ea typeface="Arial"/>
                <a:cs typeface="Arial"/>
                <a:sym typeface="Arial"/>
              </a:rPr>
              <a:t>Professor of Neurobiology &amp; Biomedical Engineering</a:t>
            </a:r>
            <a:endParaRPr>
              <a:solidFill>
                <a:srgbClr val="CCD7DF"/>
              </a:solidFill>
            </a:endParaRPr>
          </a:p>
        </p:txBody>
      </p:sp>
      <p:pic>
        <p:nvPicPr>
          <p:cNvPr descr="W07_3A.png" id="91" name="Google Shape;91;p1"/>
          <p:cNvPicPr preferRelativeResize="0"/>
          <p:nvPr/>
        </p:nvPicPr>
        <p:blipFill rotWithShape="1">
          <a:blip r:embed="rId3">
            <a:alphaModFix/>
          </a:blip>
          <a:srcRect b="0" l="0" r="0" t="0"/>
          <a:stretch/>
        </p:blipFill>
        <p:spPr>
          <a:xfrm>
            <a:off x="6553047" y="1402735"/>
            <a:ext cx="5181447" cy="2886903"/>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home vector survives a winding outward journey</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50" u="none" cap="none" strike="noStrike">
                <a:solidFill>
                  <a:srgbClr val="344F61"/>
                </a:solidFill>
                <a:latin typeface="Arial"/>
                <a:ea typeface="Arial"/>
                <a:cs typeface="Arial"/>
                <a:sym typeface="Arial"/>
              </a:rPr>
              <a:t>Path integration</a:t>
            </a:r>
            <a:r>
              <a:rPr b="0" i="0" lang="en-US" sz="1550" u="none" cap="none" strike="noStrike">
                <a:solidFill>
                  <a:srgbClr val="27323A"/>
                </a:solidFill>
                <a:latin typeface="Arial"/>
                <a:ea typeface="Arial"/>
                <a:cs typeface="Arial"/>
                <a:sym typeface="Arial"/>
              </a:rPr>
              <a:t> is the continual updating of direction and distance from a starting point using information gathered during movement. The </a:t>
            </a:r>
            <a:r>
              <a:rPr b="1" i="0" lang="en-US" sz="1550" u="none" cap="none" strike="noStrike">
                <a:solidFill>
                  <a:srgbClr val="344F61"/>
                </a:solidFill>
                <a:latin typeface="Arial"/>
                <a:ea typeface="Arial"/>
                <a:cs typeface="Arial"/>
                <a:sym typeface="Arial"/>
              </a:rPr>
              <a:t>home vector</a:t>
            </a:r>
            <a:r>
              <a:rPr b="0" i="0" lang="en-US" sz="1550" u="none" cap="none" strike="noStrike">
                <a:solidFill>
                  <a:srgbClr val="27323A"/>
                </a:solidFill>
                <a:latin typeface="Arial"/>
                <a:ea typeface="Arial"/>
                <a:cs typeface="Arial"/>
                <a:sym typeface="Arial"/>
              </a:rPr>
              <a:t> specifies the direction and distance back to the nest, so it summarizes the whole outward trip in one vector rather than retracing each turn. It is a computation that runs continuously, so the ant always holds an estimate of where the nest lies.</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Müller and Wehner recorded a natural foraging trip of Cataglyphis fortis in Tunisia. The outward path measured 354.5 m, while the maximum distance from the nest was 113.2 m. After finding food, the ant returned along a comparatively direct inbound route, so the homing path was far shorter than the outward path.</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difference between outward path length and nest displacement separates route retracing from </a:t>
            </a:r>
            <a:r>
              <a:rPr b="1" i="0" lang="en-US" sz="1550" u="none" cap="none" strike="noStrike">
                <a:solidFill>
                  <a:srgbClr val="344F61"/>
                </a:solidFill>
                <a:latin typeface="Arial"/>
                <a:ea typeface="Arial"/>
                <a:cs typeface="Arial"/>
                <a:sym typeface="Arial"/>
              </a:rPr>
              <a:t>vector-guided homing</a:t>
            </a:r>
            <a:r>
              <a:rPr b="0" i="0" lang="en-US" sz="1550" u="none" cap="none" strike="noStrike">
                <a:solidFill>
                  <a:srgbClr val="27323A"/>
                </a:solidFill>
                <a:latin typeface="Arial"/>
                <a:ea typeface="Arial"/>
                <a:cs typeface="Arial"/>
                <a:sym typeface="Arial"/>
              </a:rPr>
              <a:t>. A direct return after a winding 354.5 m outward path reflects a vector that sums every segment of the trip into one direction and one distance. The vector is recalculated from the full path, so the inbound route can be short even when the outbound route was long.</a:t>
            </a:r>
            <a:endParaRPr/>
          </a:p>
        </p:txBody>
      </p:sp>
      <p:pic>
        <p:nvPicPr>
          <p:cNvPr descr="M88_1.png" id="100" name="Google Shape;100;p2"/>
          <p:cNvPicPr preferRelativeResize="0"/>
          <p:nvPr/>
        </p:nvPicPr>
        <p:blipFill rotWithShape="1">
          <a:blip r:embed="rId3">
            <a:alphaModFix/>
          </a:blip>
          <a:srcRect b="0" l="0" r="0" t="0"/>
          <a:stretch/>
        </p:blipFill>
        <p:spPr>
          <a:xfrm>
            <a:off x="7526414" y="1280160"/>
            <a:ext cx="3076065"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1. A natural outbound route and direct homeward return.</a:t>
            </a:r>
            <a:endParaRPr/>
          </a:p>
        </p:txBody>
      </p:sp>
      <p:sp>
        <p:nvSpPr>
          <p:cNvPr id="102" name="Google Shape;102;p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Displacement separates the vector from the real nest</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Passive displacement changes an ant's geographical position without supplying the walking movements that normally update its </a:t>
            </a:r>
            <a:r>
              <a:rPr b="1" i="0" lang="en-US" sz="1550" u="none" cap="none" strike="noStrike">
                <a:solidFill>
                  <a:srgbClr val="344F61"/>
                </a:solidFill>
                <a:latin typeface="Arial"/>
                <a:ea typeface="Arial"/>
                <a:cs typeface="Arial"/>
                <a:sym typeface="Arial"/>
              </a:rPr>
              <a:t>home vector</a:t>
            </a:r>
            <a:r>
              <a:rPr b="0" i="0" lang="en-US" sz="1550" u="none" cap="none" strike="noStrike">
                <a:solidFill>
                  <a:srgbClr val="27323A"/>
                </a:solidFill>
                <a:latin typeface="Arial"/>
                <a:ea typeface="Arial"/>
                <a:cs typeface="Arial"/>
                <a:sym typeface="Arial"/>
              </a:rPr>
              <a:t>. A displaced ant therefore expresses a direction that matches its earlier position rather than the nest's actual location. The ant's internal estimate therefore stays fixed at the place where the displacement occurred.</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Müller and Wehner captured a food-carrying ant at its feeding location and released it elsewhere in open terrain. The subsequent course was compared with the geographical nest direction and with the course predicted from its recorded outbound trajectory, on a 10 m spatial scale. The released ant was free to walk, so its first heading reveals the vector it held at release.</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course retained information from the outward journey despite the transfer. The test separates movement-derived navigation from immediate attraction to the true nest, because the course after release points to where the nest would lie had the ant not been moved. The ant's direction after release is therefore a measure of its stored vector.</a:t>
            </a:r>
            <a:endParaRPr/>
          </a:p>
        </p:txBody>
      </p:sp>
      <p:pic>
        <p:nvPicPr>
          <p:cNvPr descr="M88_4.png" id="112" name="Google Shape;112;p3"/>
          <p:cNvPicPr preferRelativeResize="0"/>
          <p:nvPr/>
        </p:nvPicPr>
        <p:blipFill rotWithShape="1">
          <a:blip r:embed="rId3">
            <a:alphaModFix/>
          </a:blip>
          <a:srcRect b="0" l="0" r="0" t="0"/>
          <a:stretch/>
        </p:blipFill>
        <p:spPr>
          <a:xfrm>
            <a:off x="7593303" y="1280160"/>
            <a:ext cx="2942286"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4. Natural-path displacement and the resulting homeward course.</a:t>
            </a:r>
            <a:endParaRPr/>
          </a:p>
        </p:txBody>
      </p:sp>
      <p:sp>
        <p:nvSpPr>
          <p:cNvPr id="114" name="Google Shape;114;p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Angular channels constrain the path being integrated</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experimental path can specify the directions and distances an ant experiences before homing. Müller and Wehner trained Cataglyphis fortis through narrow plastic channels, then transferred individuals from the feeder to a separate open test field.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two legs were varied over lengths of 5–10 m and turning angles spanning 0–180°. In the plotted experiment, the first leg was 10 m and the second 5 m. Release occurred within one minute of capture, reducing the delay between training and the directional test.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recorded initial homeward course measures the ant’s accumulated directional estimate rather than its ability to follow the training channel backward. Removing the channels during testing separates the geometry experienced during acquisition from the geometry available during expression.</a:t>
            </a:r>
            <a:endParaRPr/>
          </a:p>
        </p:txBody>
      </p:sp>
      <p:pic>
        <p:nvPicPr>
          <p:cNvPr descr="M88_2.png" id="124" name="Google Shape;124;p4"/>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25" name="Google Shape;125;p4"/>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26" name="Google Shape;126;p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Homing errors depend on the outward turning angle</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Systematic error</a:t>
            </a:r>
            <a:r>
              <a:rPr b="0" i="0" lang="en-US" sz="1500" u="none" cap="none" strike="noStrike">
                <a:solidFill>
                  <a:srgbClr val="27323A"/>
                </a:solidFill>
                <a:latin typeface="Arial"/>
                <a:ea typeface="Arial"/>
                <a:cs typeface="Arial"/>
                <a:sym typeface="Arial"/>
              </a:rPr>
              <a:t> means a directional deviation that varies predictably with an experimental manipulation, and it differs from random scatter among journeys. Müller and Wehner measured the angular difference between the true homeward direction and the course expressed after two-leg training. Each outbound turn adds a small error to the estimate, and the errors accumulate along the path.</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With outbound legs of 10 m and 5 m, the error increased as the turning angle approached about 150°, reaching about 20° in the published measurements. The error returned toward zero at the straight and reversed arrangements, so its size depends on the geometry of the outbound turn. The published measurements thus describe a clear relationship between the turn and the homeward error.</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angle-dependent pattern supports an approximate </a:t>
            </a:r>
            <a:r>
              <a:rPr b="1" i="0" lang="en-US" sz="1500" u="none" cap="none" strike="noStrike">
                <a:solidFill>
                  <a:srgbClr val="344F61"/>
                </a:solidFill>
                <a:latin typeface="Arial"/>
                <a:ea typeface="Arial"/>
                <a:cs typeface="Arial"/>
                <a:sym typeface="Arial"/>
              </a:rPr>
              <a:t>updating rule</a:t>
            </a:r>
            <a:r>
              <a:rPr b="0" i="0" lang="en-US" sz="1500" u="none" cap="none" strike="noStrike">
                <a:solidFill>
                  <a:srgbClr val="27323A"/>
                </a:solidFill>
                <a:latin typeface="Arial"/>
                <a:ea typeface="Arial"/>
                <a:cs typeface="Arial"/>
                <a:sym typeface="Arial"/>
              </a:rPr>
              <a:t> under these conditions. Because the error is systematic rather than random, the integrator follows a consistent rule that can be described mathematically. The rule therefore predicts the error for any tested turning angle. Its prediction is the quantity that the experiment tests against the measured errors, and the two agree in direction and size.</a:t>
            </a:r>
            <a:endParaRPr/>
          </a:p>
        </p:txBody>
      </p:sp>
      <p:pic>
        <p:nvPicPr>
          <p:cNvPr descr="M88_2.png" id="136" name="Google Shape;136;p5"/>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37" name="Google Shape;137;p5"/>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38" name="Google Shape;138;p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Sun and polarization cues support the directional test</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celestial compass</a:t>
            </a:r>
            <a:r>
              <a:rPr b="0" i="0" lang="en-US" sz="1600" u="none" cap="none" strike="noStrike">
                <a:solidFill>
                  <a:srgbClr val="27323A"/>
                </a:solidFill>
                <a:latin typeface="Arial"/>
                <a:ea typeface="Arial"/>
                <a:cs typeface="Arial"/>
                <a:sym typeface="Arial"/>
              </a:rPr>
              <a:t> derives heading information from features of the sky. Direct sunlight and the pattern of polarized skylight provide related but separable information. Polarization refers to the orientation of the electric field oscillation in a light wave.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Müller and Wehner compared homing errors while ants used the sun, polarized skylight, or both. Screening the sun removed direct solar information; painting the dorsal rim of the compound eyes removed access to the specialized polarization-sensitive eye region. The 10 m and 5 m route still produced systematic errors.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error pattern persisted across compass conditions, which places the bias in the path-integration computation and not in one defective sky cue. Sun and polarized skylight are related but separable heading inputs to the same integrator.</a:t>
            </a:r>
            <a:endParaRPr/>
          </a:p>
        </p:txBody>
      </p:sp>
      <p:pic>
        <p:nvPicPr>
          <p:cNvPr descr="M88_2.png" id="148" name="Google Shape;148;p6"/>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49" name="Google Shape;149;p6"/>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50" name="Google Shape;150;p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Three-leg routes test an approximate updating rule</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An explanation fitted to one route geometry must also account for a different sequence of movements. Müller and Wehner added a third leg to the channel arrangement, introducing a second 90° turn rather than repeating the original two-leg experiment.</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first leg was 10 m and the second and third legs were each 5 m. Ants subsequently released into open terrain deviated by 30.8° from the true home direction. The approximation derived from the earlier experiments predicted a deviation of 33.7°.</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agreement extended the behavioral account beyond the particular angles used to derive it. A successful prediction for a new route geometry supports the approximate updating rule as a description of how the ant combines successive legs.</a:t>
            </a:r>
            <a:endParaRPr/>
          </a:p>
        </p:txBody>
      </p:sp>
      <p:pic>
        <p:nvPicPr>
          <p:cNvPr descr="M88_3.png" id="160" name="Google Shape;160;p7"/>
          <p:cNvPicPr preferRelativeResize="0"/>
          <p:nvPr/>
        </p:nvPicPr>
        <p:blipFill rotWithShape="1">
          <a:blip r:embed="rId3">
            <a:alphaModFix/>
          </a:blip>
          <a:srcRect b="0" l="0" r="0" t="0"/>
          <a:stretch/>
        </p:blipFill>
        <p:spPr>
          <a:xfrm>
            <a:off x="7171342" y="1280160"/>
            <a:ext cx="3786209"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3. Three-leg training and homing directions.</a:t>
            </a:r>
            <a:endParaRPr/>
          </a:p>
        </p:txBody>
      </p:sp>
      <p:sp>
        <p:nvSpPr>
          <p:cNvPr id="162" name="Google Shape;162;p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Natural routes can limit the cost of directional bias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Route geometry determines how an approximate path integrator accumulates error. A sharp sustained turn produces a large deviation, whereas turns in opposite directions partly cancel their effects on the estimated homeward direction. The sign of each turn determines whether successive errors add or cancel. The effect of each turn therefore depends on the turn that came before it.</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Müller and Wehner compared the proposed updating rule with recorded natural foraging paths. In the displaced example the expressed course departed from the real nest direction by about 20°, in agreement with the direction predicted from that ant's outward trajectory. Both paths were recorded in the field, so the prediction is tested in natural conditions.</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Natural Cataglyphis paths rarely contain the repeated sharp backward turns that generate the largest experimental errors. For the turning patterns an ant meets on a real foraging trip, the approximation keeps homing errors small, and landmarks and searching cover the cases where the vector alone is insufficient. The natural route therefore keeps the error small, consistent with a navigation system adapted to ordinary foraging routes.</a:t>
            </a:r>
            <a:endParaRPr/>
          </a:p>
        </p:txBody>
      </p:sp>
      <p:pic>
        <p:nvPicPr>
          <p:cNvPr descr="M88_4.png" id="172" name="Google Shape;172;p8"/>
          <p:cNvPicPr preferRelativeResize="0"/>
          <p:nvPr/>
        </p:nvPicPr>
        <p:blipFill rotWithShape="1">
          <a:blip r:embed="rId3">
            <a:alphaModFix/>
          </a:blip>
          <a:srcRect b="0" l="0" r="0" t="0"/>
          <a:stretch/>
        </p:blipFill>
        <p:spPr>
          <a:xfrm>
            <a:off x="7593303" y="1280160"/>
            <a:ext cx="2942286"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4. Natural-path displacement and the resulting homeward course.</a:t>
            </a:r>
            <a:endParaRPr/>
          </a:p>
        </p:txBody>
      </p:sp>
      <p:sp>
        <p:nvSpPr>
          <p:cNvPr id="174" name="Google Shape;174;p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Leg length manipulation changes the estimated distance</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a:t>
            </a:r>
            <a:r>
              <a:rPr b="1" i="0" lang="en-US" sz="1600" u="none" cap="none" strike="noStrike">
                <a:solidFill>
                  <a:srgbClr val="344F61"/>
                </a:solidFill>
                <a:latin typeface="Arial"/>
                <a:ea typeface="Arial"/>
                <a:cs typeface="Arial"/>
                <a:sym typeface="Arial"/>
              </a:rPr>
              <a:t>odometer</a:t>
            </a:r>
            <a:r>
              <a:rPr b="0" i="0" lang="en-US" sz="1600" u="none" cap="none" strike="noStrike">
                <a:solidFill>
                  <a:srgbClr val="27323A"/>
                </a:solidFill>
                <a:latin typeface="Arial"/>
                <a:ea typeface="Arial"/>
                <a:cs typeface="Arial"/>
                <a:sym typeface="Arial"/>
              </a:rPr>
              <a:t> is a mechanism for estimating distance traveled. A </a:t>
            </a:r>
            <a:r>
              <a:rPr b="1" i="0" lang="en-US" sz="1600" u="none" cap="none" strike="noStrike">
                <a:solidFill>
                  <a:srgbClr val="344F61"/>
                </a:solidFill>
                <a:latin typeface="Arial"/>
                <a:ea typeface="Arial"/>
                <a:cs typeface="Arial"/>
                <a:sym typeface="Arial"/>
              </a:rPr>
              <a:t>stride</a:t>
            </a:r>
            <a:r>
              <a:rPr b="0" i="0" lang="en-US" sz="1600" u="none" cap="none" strike="noStrike">
                <a:solidFill>
                  <a:srgbClr val="27323A"/>
                </a:solidFill>
                <a:latin typeface="Arial"/>
                <a:ea typeface="Arial"/>
                <a:cs typeface="Arial"/>
                <a:sym typeface="Arial"/>
              </a:rPr>
              <a:t> is one complete movement cycle of a particular leg. Altering leg length can change the distance covered during each stride without changing the distance experienced before the manipulation.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Wittlinger and colleagues trained Cataglyphis fortis to a feeder 10 m from the nest. At the feeder, they lengthened legs with attached pig bristles, producing stilts, or shortened legs, producing stumps. Food-carrying ants were then tested in a separate channel.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manipulation was performed after the outbound distance had been acquired, allowing an unequal relationship between outbound and inbound strides. Lengthened or shortened legs change the distance covered per stride on the inbound journey, which makes stride length the variable under test for the odometer.</a:t>
            </a:r>
            <a:endParaRPr/>
          </a:p>
        </p:txBody>
      </p:sp>
      <p:pic>
        <p:nvPicPr>
          <p:cNvPr descr="W06_2.png" id="184" name="Google Shape;184;p9"/>
          <p:cNvPicPr preferRelativeResize="0"/>
          <p:nvPr/>
        </p:nvPicPr>
        <p:blipFill rotWithShape="1">
          <a:blip r:embed="rId3">
            <a:alphaModFix/>
          </a:blip>
          <a:srcRect b="0" l="0" r="0" t="0"/>
          <a:stretch/>
        </p:blipFill>
        <p:spPr>
          <a:xfrm>
            <a:off x="7306589" y="1280160"/>
            <a:ext cx="3515714"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2. Normal legs, stilts and stumps.</a:t>
            </a:r>
            <a:endParaRPr/>
          </a:p>
        </p:txBody>
      </p:sp>
      <p:sp>
        <p:nvSpPr>
          <p:cNvPr id="186" name="Google Shape;186;p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Stilts overshoot and stumps undershoot the nest</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transition from directed walking to repeated U-turns provides a behavioral measure of expected nest distance. Wittlinger and colleagues used the median of the initial six turning points to identify the centre of an ant’s nest-search behavior.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a normal 10 m outbound journey, ants with lengthened legs searched at 15.30 m, ants with shortened legs searched at 5.75 m, and normal-legged controls searched at 10.20 m. The direction of the error followed the change in stride length.</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Longer inbound strides made the stored journey terminate farther from release, while shorter strides made it terminate sooner. This bidirectional effect is difficult to attribute solely to debilitation, which would not predict vigorous overshooting by the animals walking on stilts.</a:t>
            </a:r>
            <a:endParaRPr/>
          </a:p>
        </p:txBody>
      </p:sp>
      <p:pic>
        <p:nvPicPr>
          <p:cNvPr descr="W06_3.png" id="196" name="Google Shape;196;p10"/>
          <p:cNvPicPr preferRelativeResize="0"/>
          <p:nvPr/>
        </p:nvPicPr>
        <p:blipFill rotWithShape="1">
          <a:blip r:embed="rId3">
            <a:alphaModFix/>
          </a:blip>
          <a:srcRect b="0" l="0" r="0" t="0"/>
          <a:stretch/>
        </p:blipFill>
        <p:spPr>
          <a:xfrm>
            <a:off x="6504127" y="1280160"/>
            <a:ext cx="5120640" cy="2891337"/>
          </a:xfrm>
          <a:prstGeom prst="rect">
            <a:avLst/>
          </a:prstGeom>
          <a:noFill/>
          <a:ln>
            <a:noFill/>
          </a:ln>
        </p:spPr>
      </p:pic>
      <p:sp>
        <p:nvSpPr>
          <p:cNvPr id="197" name="Google Shape;197;p10"/>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198" name="Google Shape;198;p1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Matched outward and inward legs restore homing distance</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same modified animal can experience a new outbound journey with the altered legs. This control keeps the manipulation present while removing the mismatch between the locomotor conditions used to acquire and express the stored distance.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returning to the nest, ants walked to the feeder again with their stilts or stumps and were retested. Searches centred at 10.55 m for stilts and 10.25 m for stumps, close to the 10.20 m normal-leg condition and the true 10 m separation.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Recovery of the expected distance supports a stride-dependent acquisition-and-readout relationship rather than permanent loss of navigation after surgery. The ant reads out the stored distance in the same stride units in which it acquired it.</a:t>
            </a:r>
            <a:endParaRPr/>
          </a:p>
        </p:txBody>
      </p:sp>
      <p:pic>
        <p:nvPicPr>
          <p:cNvPr descr="W06_3.png" id="208" name="Google Shape;208;p11"/>
          <p:cNvPicPr preferRelativeResize="0"/>
          <p:nvPr/>
        </p:nvPicPr>
        <p:blipFill rotWithShape="1">
          <a:blip r:embed="rId3">
            <a:alphaModFix/>
          </a:blip>
          <a:srcRect b="0" l="0" r="0" t="0"/>
          <a:stretch/>
        </p:blipFill>
        <p:spPr>
          <a:xfrm>
            <a:off x="6504127" y="1280160"/>
            <a:ext cx="5120640" cy="2891337"/>
          </a:xfrm>
          <a:prstGeom prst="rect">
            <a:avLst/>
          </a:prstGeom>
          <a:noFill/>
          <a:ln>
            <a:noFill/>
          </a:ln>
        </p:spPr>
      </p:pic>
      <p:sp>
        <p:nvSpPr>
          <p:cNvPr id="209" name="Google Shape;209;p11"/>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210" name="Google Shape;210;p1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 shortening treatments separate locomotor effects</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Wittlinger and colleagues extended the odometer experiment with two degrees of leg shortening. </a:t>
            </a:r>
            <a:r>
              <a:rPr b="1" i="0" lang="en-US" sz="1550" u="none" cap="none" strike="noStrike">
                <a:solidFill>
                  <a:srgbClr val="344F61"/>
                </a:solidFill>
                <a:latin typeface="Arial"/>
                <a:ea typeface="Arial"/>
                <a:cs typeface="Arial"/>
                <a:sym typeface="Arial"/>
              </a:rPr>
              <a:t>Tarsomeres</a:t>
            </a:r>
            <a:r>
              <a:rPr b="0" i="0" lang="en-US" sz="1550" u="none" cap="none" strike="noStrike">
                <a:solidFill>
                  <a:srgbClr val="27323A"/>
                </a:solidFill>
                <a:latin typeface="Arial"/>
                <a:ea typeface="Arial"/>
                <a:cs typeface="Arial"/>
                <a:sym typeface="Arial"/>
              </a:rPr>
              <a:t> are the distal segments of an insect leg, and the </a:t>
            </a:r>
            <a:r>
              <a:rPr b="1" i="0" lang="en-US" sz="1550" u="none" cap="none" strike="noStrike">
                <a:solidFill>
                  <a:srgbClr val="344F61"/>
                </a:solidFill>
                <a:latin typeface="Arial"/>
                <a:ea typeface="Arial"/>
                <a:cs typeface="Arial"/>
                <a:sym typeface="Arial"/>
              </a:rPr>
              <a:t>tibia</a:t>
            </a:r>
            <a:r>
              <a:rPr b="0" i="0" lang="en-US" sz="1550" u="none" cap="none" strike="noStrike">
                <a:solidFill>
                  <a:srgbClr val="27323A"/>
                </a:solidFill>
                <a:latin typeface="Arial"/>
                <a:ea typeface="Arial"/>
                <a:cs typeface="Arial"/>
                <a:sym typeface="Arial"/>
              </a:rPr>
              <a:t> lies proximal to the tarsus. Removing these regions changes the effective length of the walking limb. Each degree of shortening changes the stride length, which is the quantity the experiment varies.</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Stumps I lacked the distal tarsal segments, whereas stumps II had the distal half of the tibia removed. A third group carried bristle stilts, and normal-legged ants provided the comparison. All groups had acquired the same 10 m outbound feeder distance before the first test. Each group is defined by its anatomical change, so the groups can be compared directly.</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graded manipulation allows comparison of different reductions in stride length rather than treating all shortened legs as one condition. All groups shared the same navigational task, so differences in homing distance can be attributed to the degree of leg shortening. The comparison therefore isolates the effect of leg length on the search.</a:t>
            </a:r>
            <a:endParaRPr/>
          </a:p>
        </p:txBody>
      </p:sp>
      <p:pic>
        <p:nvPicPr>
          <p:cNvPr descr="W07_2.png" id="220" name="Google Shape;220;p12"/>
          <p:cNvPicPr preferRelativeResize="0"/>
          <p:nvPr/>
        </p:nvPicPr>
        <p:blipFill rotWithShape="1">
          <a:blip r:embed="rId3">
            <a:alphaModFix/>
          </a:blip>
          <a:srcRect b="0" l="0" r="0" t="0"/>
          <a:stretch/>
        </p:blipFill>
        <p:spPr>
          <a:xfrm>
            <a:off x="7085812" y="1280160"/>
            <a:ext cx="3957269"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2. Leg anatomy and the four length conditions.</a:t>
            </a:r>
            <a:endParaRPr/>
          </a:p>
        </p:txBody>
      </p:sp>
      <p:sp>
        <p:nvSpPr>
          <p:cNvPr id="222" name="Google Shape;222;p1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Shortened legs retain alternating tripod coordination</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tripod gait</a:t>
            </a:r>
            <a:r>
              <a:rPr b="0" i="0" lang="en-US" sz="1600" u="none" cap="none" strike="noStrike">
                <a:solidFill>
                  <a:srgbClr val="27323A"/>
                </a:solidFill>
                <a:latin typeface="Arial"/>
                <a:ea typeface="Arial"/>
                <a:cs typeface="Arial"/>
                <a:sym typeface="Arial"/>
              </a:rPr>
              <a:t> alternates two sets of three supporting legs. In Cataglyphis, one set combines the left front and hind legs with the right middle leg; the complementary set uses the remaining three legs.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High-speed video at 250 frames per second recorded ants before and after manipulation. The published normal example had a stride length of 13.3 mm at 0.28 m/s, whereas a stumps-II example retained tripod coordination with a 10.5 mm stride at 0.27 m/s.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observations separate shortening of the walking cycle’s spatial extent from replacement of its basic coordination pattern. Shortened legs reduce how far each step advances the ant while the alternating pattern of the two supporting sets stays the same.</a:t>
            </a:r>
            <a:endParaRPr/>
          </a:p>
        </p:txBody>
      </p:sp>
      <p:pic>
        <p:nvPicPr>
          <p:cNvPr descr="W07_3B.png" id="232" name="Google Shape;232;p13"/>
          <p:cNvPicPr preferRelativeResize="0"/>
          <p:nvPr/>
        </p:nvPicPr>
        <p:blipFill rotWithShape="1">
          <a:blip r:embed="rId3">
            <a:alphaModFix/>
          </a:blip>
          <a:srcRect b="0" l="0" r="0" t="0"/>
          <a:stretch/>
        </p:blipFill>
        <p:spPr>
          <a:xfrm>
            <a:off x="6504127" y="1280160"/>
            <a:ext cx="5120640" cy="2940498"/>
          </a:xfrm>
          <a:prstGeom prst="rect">
            <a:avLst/>
          </a:prstGeom>
          <a:noFill/>
          <a:ln>
            <a:noFill/>
          </a:ln>
        </p:spPr>
      </p:pic>
      <p:sp>
        <p:nvSpPr>
          <p:cNvPr id="233" name="Google Shape;233;p13"/>
          <p:cNvSpPr txBox="1"/>
          <p:nvPr/>
        </p:nvSpPr>
        <p:spPr>
          <a:xfrm>
            <a:off x="6504127" y="431209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3(B). Tripod gait after shortening the tibiae.</a:t>
            </a:r>
            <a:endParaRPr/>
          </a:p>
        </p:txBody>
      </p:sp>
      <p:sp>
        <p:nvSpPr>
          <p:cNvPr id="234" name="Google Shape;234;p1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Distance errors track the extent of leg shortening</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A shorter stride covers less ground during each locomotor cycle. If outbound distance is stored in relation to movement cycles, shortening the legs after that journey makes the inbound estimate end before the original feeder-to-nest distance. The estimate of distance is built from the number of cycles, so each step of the stride matters.</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In the expanded experiment, normal-legged ants searched at 10.20 m, stumps-I ants at 6.95 m and stumps-II ants at 5.75 m. Stilts produced searches at 15.30 m. These values were measured after a 10 m outbound run through the training channel. These measured distances all come from the same outbound run, so they can be compared directly.</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The graded undershoot is consistent with a stride integrator rather than a fixed physical-distance readout independent of locomotion. Stumps II removed more of the leg than stumps I and produced the shorter search, so greater shortening produced greater undershoot. The graded pattern shows that the search distance scales with the stride, as the integrator predicts.</a:t>
            </a:r>
            <a:endParaRPr/>
          </a:p>
        </p:txBody>
      </p:sp>
      <p:pic>
        <p:nvPicPr>
          <p:cNvPr descr="W07_4.png" id="244" name="Google Shape;244;p14"/>
          <p:cNvPicPr preferRelativeResize="0"/>
          <p:nvPr/>
        </p:nvPicPr>
        <p:blipFill rotWithShape="1">
          <a:blip r:embed="rId3">
            <a:alphaModFix/>
          </a:blip>
          <a:srcRect b="0" l="0" r="0" t="0"/>
          <a:stretch/>
        </p:blipFill>
        <p:spPr>
          <a:xfrm>
            <a:off x="6651785" y="1280160"/>
            <a:ext cx="482532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4(A–B). Color-coded searches before and after matched leg-length training.</a:t>
            </a:r>
            <a:endParaRPr/>
          </a:p>
        </p:txBody>
      </p:sp>
      <p:sp>
        <p:nvSpPr>
          <p:cNvPr id="246" name="Google Shape;246;p1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Search density distinguishes distance from uncertainty</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A </a:t>
            </a:r>
            <a:r>
              <a:rPr b="1" i="0" lang="en-US" sz="1650" u="none" cap="none" strike="noStrike">
                <a:solidFill>
                  <a:srgbClr val="344F61"/>
                </a:solidFill>
                <a:latin typeface="Arial"/>
                <a:ea typeface="Arial"/>
                <a:cs typeface="Arial"/>
                <a:sym typeface="Arial"/>
              </a:rPr>
              <a:t>search density distribution</a:t>
            </a:r>
            <a:r>
              <a:rPr b="0" i="0" lang="en-US" sz="1650" u="none" cap="none" strike="noStrike">
                <a:solidFill>
                  <a:srgbClr val="27323A"/>
                </a:solidFill>
                <a:latin typeface="Arial"/>
                <a:ea typeface="Arial"/>
                <a:cs typeface="Arial"/>
                <a:sym typeface="Arial"/>
              </a:rPr>
              <a:t> records how often an ant visits positions during its search. Its center estimates the expected nest location, while its width describes how broadly the animal distributes its search around that estimate. The distribution is the record of where the ant searched, so its shape carries the search information.</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The test channel was divided into 10 cm bins. In the first test the full width at half maximum was 8.3 m for stilts, 6.0 m for normal legs, 5.2 m for stumps I and 4.1 m for stumps II. The search curves therefore differed in spread as well as in center.</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Longer strides spread the search over more distance and shorter strides over less, so the width of the distribution scales with stride length as the center does. Center and width are two behavioral readouts of the same stride-based process. Stride length therefore sets both the place where the search is centered and the spread around it.</a:t>
            </a:r>
            <a:endParaRPr/>
          </a:p>
        </p:txBody>
      </p:sp>
      <p:pic>
        <p:nvPicPr>
          <p:cNvPr descr="W07_5.png" id="256" name="Google Shape;256;p15"/>
          <p:cNvPicPr preferRelativeResize="0"/>
          <p:nvPr/>
        </p:nvPicPr>
        <p:blipFill rotWithShape="1">
          <a:blip r:embed="rId3">
            <a:alphaModFix/>
          </a:blip>
          <a:srcRect b="0" l="0" r="0" t="0"/>
          <a:stretch/>
        </p:blipFill>
        <p:spPr>
          <a:xfrm>
            <a:off x="6504127" y="1280160"/>
            <a:ext cx="5120640" cy="4103827"/>
          </a:xfrm>
          <a:prstGeom prst="rect">
            <a:avLst/>
          </a:prstGeom>
          <a:noFill/>
          <a:ln>
            <a:noFill/>
          </a:ln>
        </p:spPr>
      </p:pic>
      <p:sp>
        <p:nvSpPr>
          <p:cNvPr id="257" name="Google Shape;257;p15"/>
          <p:cNvSpPr txBox="1"/>
          <p:nvPr/>
        </p:nvSpPr>
        <p:spPr>
          <a:xfrm>
            <a:off x="6504127" y="547542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5. Widths of the nest-search distributions.</a:t>
            </a:r>
            <a:endParaRPr/>
          </a:p>
        </p:txBody>
      </p:sp>
      <p:sp>
        <p:nvSpPr>
          <p:cNvPr id="258" name="Google Shape;258;p1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Repeated training removes most of the distance mismatch</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Comparing first and second tests separates a newly imposed mismatch from walking with altered legs on both journey directions. In the second test, ants had left the nest and reached the feeder using the same modified limbs used during homing.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initial stilt and stump searches were displaced from the 10 m nest distance. After the subsequent outbound journey, the color-coded search distributions clustered near the correct distance across the four leg conditions, even though the surgical or bristle modifications remained present.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dependence on journey history excludes a persistent injury as the explanation, because the same modified limbs gave accurate homing once outbound and inbound conditions matched. Stride-associated signals gathered on the way out are read out in the same units on the way back.</a:t>
            </a:r>
            <a:endParaRPr/>
          </a:p>
        </p:txBody>
      </p:sp>
      <p:pic>
        <p:nvPicPr>
          <p:cNvPr descr="W07_4.png" id="268" name="Google Shape;268;p16"/>
          <p:cNvPicPr preferRelativeResize="0"/>
          <p:nvPr/>
        </p:nvPicPr>
        <p:blipFill rotWithShape="1">
          <a:blip r:embed="rId3">
            <a:alphaModFix/>
          </a:blip>
          <a:srcRect b="0" l="0" r="0" t="0"/>
          <a:stretch/>
        </p:blipFill>
        <p:spPr>
          <a:xfrm>
            <a:off x="6651785" y="1280160"/>
            <a:ext cx="4825323" cy="4297679"/>
          </a:xfrm>
          <a:prstGeom prst="rect">
            <a:avLst/>
          </a:prstGeom>
          <a:noFill/>
          <a:ln>
            <a:noFill/>
          </a:ln>
        </p:spPr>
      </p:pic>
      <p:sp>
        <p:nvSpPr>
          <p:cNvPr id="269" name="Google Shape;269;p1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4(A–B). Color-coded searches before and after matched leg-length training.</a:t>
            </a:r>
            <a:endParaRPr/>
          </a:p>
        </p:txBody>
      </p:sp>
      <p:sp>
        <p:nvSpPr>
          <p:cNvPr id="270" name="Google Shape;270;p1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Body size must be separated from stride length</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Larger Cataglyphis workers have longer legs and can take longer strides. </a:t>
            </a:r>
            <a:r>
              <a:rPr b="1" i="0" lang="en-US" sz="1600" u="none" cap="none" strike="noStrike">
                <a:solidFill>
                  <a:srgbClr val="344F61"/>
                </a:solidFill>
                <a:latin typeface="Arial"/>
                <a:ea typeface="Arial"/>
                <a:cs typeface="Arial"/>
                <a:sym typeface="Arial"/>
              </a:rPr>
              <a:t>Normalization</a:t>
            </a:r>
            <a:r>
              <a:rPr b="0" i="0" lang="en-US" sz="1600" u="none" cap="none" strike="noStrike">
                <a:solidFill>
                  <a:srgbClr val="27323A"/>
                </a:solidFill>
                <a:latin typeface="Arial"/>
                <a:ea typeface="Arial"/>
                <a:cs typeface="Arial"/>
                <a:sym typeface="Arial"/>
              </a:rPr>
              <a:t> expresses measurements relative to a specified reference so that differences in body size do not masquerade as effects of the experimental manipulation.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Wittlinger and colleagues measured the </a:t>
            </a:r>
            <a:r>
              <a:rPr b="1" i="0" lang="en-US" sz="1600" u="none" cap="none" strike="noStrike">
                <a:solidFill>
                  <a:srgbClr val="344F61"/>
                </a:solidFill>
                <a:latin typeface="Arial"/>
                <a:ea typeface="Arial"/>
                <a:cs typeface="Arial"/>
                <a:sym typeface="Arial"/>
              </a:rPr>
              <a:t>alitrunk</a:t>
            </a:r>
            <a:r>
              <a:rPr b="0" i="0" lang="en-US" sz="1600" u="none" cap="none" strike="noStrike">
                <a:solidFill>
                  <a:srgbClr val="27323A"/>
                </a:solidFill>
                <a:latin typeface="Arial"/>
                <a:ea typeface="Arial"/>
                <a:cs typeface="Arial"/>
                <a:sym typeface="Arial"/>
              </a:rPr>
              <a:t>, the thoracic region between the pronotum and propodeum, and expressed middle-leg length and stride length relative to alitrunk length. High-speed records related these relative strides to frequency, including a comparison at 20 Hz.</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analysis placed normal, stilt and stump animals on a common anatomical and locomotor basis. Expressing stride length relative to alitrunk length makes a stride comparable between large and small workers, so differences reflect the leg manipulation.</a:t>
            </a:r>
            <a:endParaRPr/>
          </a:p>
        </p:txBody>
      </p:sp>
      <p:pic>
        <p:nvPicPr>
          <p:cNvPr descr="W07_6.png" id="280" name="Google Shape;280;p17"/>
          <p:cNvPicPr preferRelativeResize="0"/>
          <p:nvPr/>
        </p:nvPicPr>
        <p:blipFill rotWithShape="1">
          <a:blip r:embed="rId3">
            <a:alphaModFix/>
          </a:blip>
          <a:srcRect b="0" l="0" r="0" t="0"/>
          <a:stretch/>
        </p:blipFill>
        <p:spPr>
          <a:xfrm>
            <a:off x="6504127" y="1280160"/>
            <a:ext cx="5120640" cy="4165349"/>
          </a:xfrm>
          <a:prstGeom prst="rect">
            <a:avLst/>
          </a:prstGeom>
          <a:noFill/>
          <a:ln>
            <a:noFill/>
          </a:ln>
        </p:spPr>
      </p:pic>
      <p:sp>
        <p:nvSpPr>
          <p:cNvPr id="281" name="Google Shape;281;p17"/>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82" name="Google Shape;282;p1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length varies even at a common cycle frequency</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 frequency</a:t>
            </a:r>
            <a:r>
              <a:rPr b="0" i="0" lang="en-US" sz="1600" u="none" cap="none" strike="noStrike">
                <a:solidFill>
                  <a:srgbClr val="27323A"/>
                </a:solidFill>
                <a:latin typeface="Arial"/>
                <a:ea typeface="Arial"/>
                <a:cs typeface="Arial"/>
                <a:sym typeface="Arial"/>
              </a:rPr>
              <a:t> is the number of complete leg cycles per second, measured in hertz. It is distinct from stride length, the distance advanced during one cycle. Either variable can change walking speed.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At comparable frequencies, stilt ants had longer relative strides and stump ants shorter relative strides than controls. The investigators used the measured frequency–length relationships to compare animals at 20 Hz, reducing the effect of unequal movement speeds on the predicted homing distances.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remaining ordering of the leg conditions links the imposed limb geometry to locomotor displacement. Longer strides at a given frequency carry the ant farther per cycle, so stride length is the quantity that the odometer must track.</a:t>
            </a:r>
            <a:endParaRPr/>
          </a:p>
        </p:txBody>
      </p:sp>
      <p:pic>
        <p:nvPicPr>
          <p:cNvPr descr="W07_6.png" id="292" name="Google Shape;292;p18"/>
          <p:cNvPicPr preferRelativeResize="0"/>
          <p:nvPr/>
        </p:nvPicPr>
        <p:blipFill rotWithShape="1">
          <a:blip r:embed="rId3">
            <a:alphaModFix/>
          </a:blip>
          <a:srcRect b="0" l="0" r="0" t="0"/>
          <a:stretch/>
        </p:blipFill>
        <p:spPr>
          <a:xfrm>
            <a:off x="6504127" y="1280160"/>
            <a:ext cx="5120640" cy="4165349"/>
          </a:xfrm>
          <a:prstGeom prst="rect">
            <a:avLst/>
          </a:prstGeom>
          <a:noFill/>
          <a:ln>
            <a:noFill/>
          </a:ln>
        </p:spPr>
      </p:pic>
      <p:sp>
        <p:nvSpPr>
          <p:cNvPr id="293" name="Google Shape;293;p18"/>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94" name="Google Shape;294;p1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Walking speed is not determined by frequency alone</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Increasing walking speed can involve faster cycles, longer strides, or both. Wittlinger and colleagues recorded freely walking animals under several temperature and preparation conditions, retaining straight runs without abrupt stops for the kinematic comparisons.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color-coded data related walking speed, in mm/s, to stride frequency, in Hz. Normal and shortened-leg ants increased cycle frequency as speed increased, while stilts tended to use lower frequencies for a given speed. Their longer strides partly compensated for the reduced frequency.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These relationships prevent interpreting every change in elapsed journey time as a proportional change in distance. A time-based explanation must account for the actual measured speeds rather than assume that all manipulated ants maintain the same cycle rate or velocity.</a:t>
            </a:r>
            <a:endParaRPr/>
          </a:p>
        </p:txBody>
      </p:sp>
      <p:pic>
        <p:nvPicPr>
          <p:cNvPr descr="W07_7A.png" id="304" name="Google Shape;304;p19"/>
          <p:cNvPicPr preferRelativeResize="0"/>
          <p:nvPr/>
        </p:nvPicPr>
        <p:blipFill rotWithShape="1">
          <a:blip r:embed="rId3">
            <a:alphaModFix/>
          </a:blip>
          <a:srcRect b="0" l="0" r="0" t="0"/>
          <a:stretch/>
        </p:blipFill>
        <p:spPr>
          <a:xfrm>
            <a:off x="6594939" y="1280160"/>
            <a:ext cx="4939014"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7(A). Stride frequency increases with walking speed.</a:t>
            </a:r>
            <a:endParaRPr/>
          </a:p>
        </p:txBody>
      </p:sp>
      <p:sp>
        <p:nvSpPr>
          <p:cNvPr id="306" name="Google Shape;306;p1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length also increases with walking speed</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distance advanced during one stride is not a fixed constant for a leg condition. Cataglyphis changes stride length as it runs faster, so the effect of altered limb length must be evaluated across measured locomotor speeds.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published plot relates stride length in mm to walking speed in mm/s. Stilts have longer strides than controls at comparable speeds, and stumps shorter strides. High-speed recordings establish this relationship independently of the turning-point measures used to locate each ant’s nest search.</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agreement between locomotor displacement and homing bias supports stride-based odometry while avoiding an assumption of one unchanging step size. The distance an ant covers depends on the strides actually taken, which vary with speed and with leg condition.</a:t>
            </a:r>
            <a:endParaRPr/>
          </a:p>
        </p:txBody>
      </p:sp>
      <p:pic>
        <p:nvPicPr>
          <p:cNvPr descr="W07_7B.png" id="316" name="Google Shape;316;p20"/>
          <p:cNvPicPr preferRelativeResize="0"/>
          <p:nvPr/>
        </p:nvPicPr>
        <p:blipFill rotWithShape="1">
          <a:blip r:embed="rId3">
            <a:alphaModFix/>
          </a:blip>
          <a:srcRect b="0" l="0" r="0" t="0"/>
          <a:stretch/>
        </p:blipFill>
        <p:spPr>
          <a:xfrm>
            <a:off x="6977892" y="1280160"/>
            <a:ext cx="4173109" cy="4297679"/>
          </a:xfrm>
          <a:prstGeom prst="rect">
            <a:avLst/>
          </a:prstGeom>
          <a:noFill/>
          <a:ln>
            <a:noFill/>
          </a:ln>
        </p:spPr>
      </p:pic>
      <p:sp>
        <p:nvSpPr>
          <p:cNvPr id="317" name="Google Shape;317;p2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7(B). Stride length increases with walking speed.</a:t>
            </a:r>
            <a:endParaRPr/>
          </a:p>
        </p:txBody>
      </p:sp>
      <p:sp>
        <p:nvSpPr>
          <p:cNvPr id="318" name="Google Shape;318;p2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stride integrator need not be a literal counter</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A </a:t>
            </a:r>
            <a:r>
              <a:rPr b="1" i="0" lang="en-US" sz="1350" u="none" cap="none" strike="noStrike">
                <a:solidFill>
                  <a:srgbClr val="344F61"/>
                </a:solidFill>
                <a:latin typeface="Arial"/>
                <a:ea typeface="Arial"/>
                <a:cs typeface="Arial"/>
                <a:sym typeface="Arial"/>
              </a:rPr>
              <a:t>stride integrator</a:t>
            </a:r>
            <a:r>
              <a:rPr b="0" i="0" lang="en-US" sz="1350" u="none" cap="none" strike="noStrike">
                <a:solidFill>
                  <a:srgbClr val="27323A"/>
                </a:solidFill>
                <a:latin typeface="Arial"/>
                <a:ea typeface="Arial"/>
                <a:cs typeface="Arial"/>
                <a:sym typeface="Arial"/>
              </a:rPr>
              <a:t> accumulates information associated with rhythmic locomotion. It accumulates movement-linked signals rather than counting discrete footfalls. Possible inputs include proprioception, sensory information about limb position and movement, and activity associated with generating the walking rhythm. Each input is a signal that changes with every stride. The integrator therefore keeps a running total that grows with each stride the ant takes.</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The 2007 experiments combined a 10 m navigational task with 250-frame-per-second video and leg-length manipulations. The preserved tripod pattern and the graded stride changes were both consistent with accumulation of movement-linked information rather than a fixed elapsed-time rule. The graded pattern therefore matches a process that accumulates stride-linked information. Each leg-length treatment changes the size of the stride, which changes the total that the integrator accumulates.</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Proprioceptive signals, limb-position feedback and the motor commands that generate the walking rhythm are the candidate inputs to the integrator. Each carries information proportional to stride, which is why a stride integrator can account for graded distance errors. Together these inputs supply the stride-based estimate that the experiments measured. Each of these signals scales with the distance covered, which links the stride to the integrated estimate.</a:t>
            </a:r>
            <a:endParaRPr/>
          </a:p>
        </p:txBody>
      </p:sp>
      <p:pic>
        <p:nvPicPr>
          <p:cNvPr descr="W07_3A.png" id="328" name="Google Shape;328;p21"/>
          <p:cNvPicPr preferRelativeResize="0"/>
          <p:nvPr/>
        </p:nvPicPr>
        <p:blipFill rotWithShape="1">
          <a:blip r:embed="rId3">
            <a:alphaModFix/>
          </a:blip>
          <a:srcRect b="0" l="0" r="0" t="0"/>
          <a:stretch/>
        </p:blipFill>
        <p:spPr>
          <a:xfrm>
            <a:off x="6504127" y="1280160"/>
            <a:ext cx="5120640" cy="2853024"/>
          </a:xfrm>
          <a:prstGeom prst="rect">
            <a:avLst/>
          </a:prstGeom>
          <a:noFill/>
          <a:ln>
            <a:noFill/>
          </a:ln>
        </p:spPr>
      </p:pic>
      <p:sp>
        <p:nvSpPr>
          <p:cNvPr id="329" name="Google Shape;329;p21"/>
          <p:cNvSpPr txBox="1"/>
          <p:nvPr/>
        </p:nvSpPr>
        <p:spPr>
          <a:xfrm>
            <a:off x="6504127" y="42246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
        <p:nvSpPr>
          <p:cNvPr id="330" name="Google Shape;330;p2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Learning walks precede long-distance foraging</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Learning walks</a:t>
            </a:r>
            <a:r>
              <a:rPr b="0" i="0" lang="en-US" sz="1600" u="none" cap="none" strike="noStrike">
                <a:solidFill>
                  <a:srgbClr val="27323A"/>
                </a:solidFill>
                <a:latin typeface="Arial"/>
                <a:ea typeface="Arial"/>
                <a:cs typeface="Arial"/>
                <a:sym typeface="Arial"/>
              </a:rPr>
              <a:t> are short excursions around the nest during the transition from interior work to outside foraging. Cataglyphis nodus repeatedly pauses and rotates during these walks, acquiring experience with directional and visual information before taking distant journeys.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tested novices around natural nests in Greece. A table installed 30 cm above the entrance held a polarization filter over a 60 × 60 cm learning-walk area. Ants experienced defined skylight conditions over three days before their brains were analyzed.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polarization filter over the learning-walk area controls one component of the compass environment while the ants behave naturally near the nest. Brains analysed after three days reflect the skylight experience each novice received.</a:t>
            </a:r>
            <a:endParaRPr/>
          </a:p>
        </p:txBody>
      </p:sp>
      <p:pic>
        <p:nvPicPr>
          <p:cNvPr descr="G22_1A.png" id="340" name="Google Shape;340;p22"/>
          <p:cNvPicPr preferRelativeResize="0"/>
          <p:nvPr/>
        </p:nvPicPr>
        <p:blipFill rotWithShape="1">
          <a:blip r:embed="rId3">
            <a:alphaModFix/>
          </a:blip>
          <a:srcRect b="0" l="0" r="0" t="0"/>
          <a:stretch/>
        </p:blipFill>
        <p:spPr>
          <a:xfrm>
            <a:off x="6670593" y="1280160"/>
            <a:ext cx="4787708"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1(a). The polarization-filter apparatus in the natural habitat.</a:t>
            </a:r>
            <a:endParaRPr/>
          </a:p>
        </p:txBody>
      </p:sp>
      <p:sp>
        <p:nvSpPr>
          <p:cNvPr id="342" name="Google Shape;342;p2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Sky polarization supplies a changing compass reference</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solar ephemeris</a:t>
            </a:r>
            <a:r>
              <a:rPr b="0" i="0" lang="en-US" sz="1600" u="none" cap="none" strike="noStrike">
                <a:solidFill>
                  <a:srgbClr val="27323A"/>
                </a:solidFill>
                <a:latin typeface="Arial"/>
                <a:ea typeface="Arial"/>
                <a:cs typeface="Arial"/>
                <a:sym typeface="Arial"/>
              </a:rPr>
              <a:t> is the sun’s changing position over the day. A time-compensated sky compass must relate current solar or polarization information to heading despite that movement. Initial learning can establish the relation between celestial changes and stable surroundings.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compared natural skylight with a stationary polarizer, a single 90° turn at solar noon, hourly 45° turns, and continuous rotation at 15° per hour. Each treatment constrained how polarization direction changed during three days of learning walks.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artificial schedules separated exposure to polarized light from experience of a changing polarization pattern. Each schedule changes the polarization direction at a known rate, from a single 90° turn to continuous rotation at 15° per hour, so experience of change in the compass reference is the manipulated variable.</a:t>
            </a:r>
            <a:endParaRPr/>
          </a:p>
        </p:txBody>
      </p:sp>
      <p:pic>
        <p:nvPicPr>
          <p:cNvPr descr="G22_1B.png" id="352" name="Google Shape;352;p23"/>
          <p:cNvPicPr preferRelativeResize="0"/>
          <p:nvPr/>
        </p:nvPicPr>
        <p:blipFill rotWithShape="1">
          <a:blip r:embed="rId3">
            <a:alphaModFix/>
          </a:blip>
          <a:srcRect b="0" l="0" r="0" t="0"/>
          <a:stretch/>
        </p:blipFill>
        <p:spPr>
          <a:xfrm>
            <a:off x="6504127" y="1280160"/>
            <a:ext cx="5120640" cy="3371873"/>
          </a:xfrm>
          <a:prstGeom prst="rect">
            <a:avLst/>
          </a:prstGeom>
          <a:noFill/>
          <a:ln>
            <a:noFill/>
          </a:ln>
        </p:spPr>
      </p:pic>
      <p:sp>
        <p:nvSpPr>
          <p:cNvPr id="353" name="Google Shape;353;p23"/>
          <p:cNvSpPr txBox="1"/>
          <p:nvPr/>
        </p:nvSpPr>
        <p:spPr>
          <a:xfrm>
            <a:off x="6504127" y="474347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1(b). Stationary, stepped and continuously rotating polarization treatments.</a:t>
            </a:r>
            <a:endParaRPr/>
          </a:p>
        </p:txBody>
      </p:sp>
      <p:sp>
        <p:nvSpPr>
          <p:cNvPr id="354" name="Google Shape;354;p2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 visual pathways reach different integration centres</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neuropil</a:t>
            </a:r>
            <a:r>
              <a:rPr b="0" i="0" lang="en-US" sz="1600" u="none" cap="none" strike="noStrike">
                <a:solidFill>
                  <a:srgbClr val="27323A"/>
                </a:solidFill>
                <a:latin typeface="Arial"/>
                <a:ea typeface="Arial"/>
                <a:cs typeface="Arial"/>
                <a:sym typeface="Arial"/>
              </a:rPr>
              <a:t> is a region containing neuronal processes and synapses. The </a:t>
            </a:r>
            <a:r>
              <a:rPr b="1" i="0" lang="en-US" sz="1600" u="none" cap="none" strike="noStrike">
                <a:solidFill>
                  <a:srgbClr val="344F61"/>
                </a:solidFill>
                <a:latin typeface="Arial"/>
                <a:ea typeface="Arial"/>
                <a:cs typeface="Arial"/>
                <a:sym typeface="Arial"/>
              </a:rPr>
              <a:t>central complex</a:t>
            </a:r>
            <a:r>
              <a:rPr b="0" i="0" lang="en-US" sz="1600" u="none" cap="none" strike="noStrike">
                <a:solidFill>
                  <a:srgbClr val="27323A"/>
                </a:solidFill>
                <a:latin typeface="Arial"/>
                <a:ea typeface="Arial"/>
                <a:cs typeface="Arial"/>
                <a:sym typeface="Arial"/>
              </a:rPr>
              <a:t> comprises midline brain neuropils implicated in heading and navigation, while the </a:t>
            </a:r>
            <a:r>
              <a:rPr b="1" i="0" lang="en-US" sz="1600" u="none" cap="none" strike="noStrike">
                <a:solidFill>
                  <a:srgbClr val="344F61"/>
                </a:solidFill>
                <a:latin typeface="Arial"/>
                <a:ea typeface="Arial"/>
                <a:cs typeface="Arial"/>
                <a:sym typeface="Arial"/>
              </a:rPr>
              <a:t>mushroom bodies</a:t>
            </a:r>
            <a:r>
              <a:rPr b="0" i="0" lang="en-US" sz="1600" u="none" cap="none" strike="noStrike">
                <a:solidFill>
                  <a:srgbClr val="27323A"/>
                </a:solidFill>
                <a:latin typeface="Arial"/>
                <a:ea typeface="Arial"/>
                <a:cs typeface="Arial"/>
                <a:sym typeface="Arial"/>
              </a:rPr>
              <a:t> are paired structures implicated in memory-based processing.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labelled Cataglyphis brains with anti-synapsin antibodies and fluorescent phalloidin, which marks actin-rich structures. Their preparations identified mushroom-body collar microglomeruli and giant synapses in the lateral complex. The whole-brain image has a 200 µm scale bar and the synaptic insets 10 µm bars.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anatomical distinction permits separate measurements along the two visual pathways. Anti-synapsin labels presynaptic sites and phalloidin labels actin, so microglomeruli and giant synapses appear as countable structures in defined neuropils.</a:t>
            </a:r>
            <a:endParaRPr/>
          </a:p>
        </p:txBody>
      </p:sp>
      <p:pic>
        <p:nvPicPr>
          <p:cNvPr descr="G22_1C.png" id="364" name="Google Shape;364;p24"/>
          <p:cNvPicPr preferRelativeResize="0"/>
          <p:nvPr/>
        </p:nvPicPr>
        <p:blipFill rotWithShape="1">
          <a:blip r:embed="rId3">
            <a:alphaModFix/>
          </a:blip>
          <a:srcRect b="0" l="0" r="0" t="0"/>
          <a:stretch/>
        </p:blipFill>
        <p:spPr>
          <a:xfrm>
            <a:off x="6504127" y="1280160"/>
            <a:ext cx="5120640" cy="3155801"/>
          </a:xfrm>
          <a:prstGeom prst="rect">
            <a:avLst/>
          </a:prstGeom>
          <a:noFill/>
          <a:ln>
            <a:noFill/>
          </a:ln>
        </p:spPr>
      </p:pic>
      <p:sp>
        <p:nvSpPr>
          <p:cNvPr id="365" name="Google Shape;365;p24"/>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66" name="Google Shape;366;p2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68" name="Google Shape;36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Synaptic labels distinguish boutons from target processes</a:t>
            </a:r>
            <a:endParaRPr/>
          </a:p>
        </p:txBody>
      </p:sp>
      <p:sp>
        <p:nvSpPr>
          <p:cNvPr id="375" name="Google Shape;375;p2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Synapsin</a:t>
            </a:r>
            <a:r>
              <a:rPr b="0" i="0" lang="en-US" sz="1600" u="none" cap="none" strike="noStrike">
                <a:solidFill>
                  <a:srgbClr val="27323A"/>
                </a:solidFill>
                <a:latin typeface="Arial"/>
                <a:ea typeface="Arial"/>
                <a:cs typeface="Arial"/>
                <a:sym typeface="Arial"/>
              </a:rPr>
              <a:t> is a protein associated with presynaptic vesicles, so anti-synapsin labelling helps identify presynaptic specializations. </a:t>
            </a:r>
            <a:r>
              <a:rPr b="1" i="0" lang="en-US" sz="1600" u="none" cap="none" strike="noStrike">
                <a:solidFill>
                  <a:srgbClr val="344F61"/>
                </a:solidFill>
                <a:latin typeface="Arial"/>
                <a:ea typeface="Arial"/>
                <a:cs typeface="Arial"/>
                <a:sym typeface="Arial"/>
              </a:rPr>
              <a:t>F-actin</a:t>
            </a:r>
            <a:r>
              <a:rPr b="0" i="0" lang="en-US" sz="1600" u="none" cap="none" strike="noStrike">
                <a:solidFill>
                  <a:srgbClr val="27323A"/>
                </a:solidFill>
                <a:latin typeface="Arial"/>
                <a:ea typeface="Arial"/>
                <a:cs typeface="Arial"/>
                <a:sym typeface="Arial"/>
              </a:rPr>
              <a:t> is filamentous actin; fluorescent phalloidin labels it in neuronal processes and supports identification of synaptic organization.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Cataglyphis nodus preparations used complementary synapsin and actin labels to quantify </a:t>
            </a:r>
            <a:r>
              <a:rPr b="1" i="0" lang="en-US" sz="1600" u="none" cap="none" strike="noStrike">
                <a:solidFill>
                  <a:srgbClr val="344F61"/>
                </a:solidFill>
                <a:latin typeface="Arial"/>
                <a:ea typeface="Arial"/>
                <a:cs typeface="Arial"/>
                <a:sym typeface="Arial"/>
              </a:rPr>
              <a:t>microglomeruli</a:t>
            </a:r>
            <a:r>
              <a:rPr b="0" i="0" lang="en-US" sz="1600" u="none" cap="none" strike="noStrike">
                <a:solidFill>
                  <a:srgbClr val="27323A"/>
                </a:solidFill>
                <a:latin typeface="Arial"/>
                <a:ea typeface="Arial"/>
                <a:cs typeface="Arial"/>
                <a:sym typeface="Arial"/>
              </a:rPr>
              <a:t>, compact synaptic complexes in the mushroom-body collar, and giant synapses in the lateral complex. The magnified examples retain 10 µm scale bars for these different structures.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Counts of microglomeruli and giant synapses in defined neuropils reveal experience-associated reorganization of synaptic structure. Synapsin marks presynaptic boutons and actin marks target processes, so the two labels together define each synaptic complex.</a:t>
            </a:r>
            <a:endParaRPr/>
          </a:p>
        </p:txBody>
      </p:sp>
      <p:pic>
        <p:nvPicPr>
          <p:cNvPr descr="G22_1C.png" id="376" name="Google Shape;376;p25"/>
          <p:cNvPicPr preferRelativeResize="0"/>
          <p:nvPr/>
        </p:nvPicPr>
        <p:blipFill rotWithShape="1">
          <a:blip r:embed="rId3">
            <a:alphaModFix/>
          </a:blip>
          <a:srcRect b="0" l="0" r="0" t="0"/>
          <a:stretch/>
        </p:blipFill>
        <p:spPr>
          <a:xfrm>
            <a:off x="6504127" y="1280160"/>
            <a:ext cx="5120640" cy="3155801"/>
          </a:xfrm>
          <a:prstGeom prst="rect">
            <a:avLst/>
          </a:prstGeom>
          <a:noFill/>
          <a:ln>
            <a:noFill/>
          </a:ln>
        </p:spPr>
      </p:pic>
      <p:sp>
        <p:nvSpPr>
          <p:cNvPr id="377" name="Google Shape;377;p25"/>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78" name="Google Shape;378;p2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80" name="Google Shape;38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Light exposure changes the lateral-complex pathway</a:t>
            </a:r>
            <a:endParaRPr/>
          </a:p>
        </p:txBody>
      </p:sp>
      <p:sp>
        <p:nvSpPr>
          <p:cNvPr id="387" name="Google Shape;387;p2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Light exposure</a:t>
            </a:r>
            <a:r>
              <a:rPr b="0" i="0" lang="en-US" sz="1500" u="none" cap="none" strike="noStrike">
                <a:solidFill>
                  <a:srgbClr val="27323A"/>
                </a:solidFill>
                <a:latin typeface="Arial"/>
                <a:ea typeface="Arial"/>
                <a:cs typeface="Arial"/>
                <a:sym typeface="Arial"/>
              </a:rPr>
              <a:t> and active learning walks are separable experimental experiences. Grob and colleagues compared dark controls with ants exposed to natural skylight, ultraviolet-filtered skylight or a fixed polarization pattern, with additional groups allowed to perform learning walks.</a:t>
            </a:r>
            <a:endParaRPr/>
          </a:p>
          <a:p>
            <a:pPr indent="0" lvl="0" marL="0" marR="0" rtl="0" algn="l">
              <a:lnSpc>
                <a:spcPct val="108000"/>
              </a:lnSpc>
              <a:spcBef>
                <a:spcPts val="900"/>
              </a:spcBef>
              <a:spcAft>
                <a:spcPts val="0"/>
              </a:spcAft>
              <a:buNone/>
            </a:pPr>
            <a:r>
              <a:rPr b="0" i="0" lang="en-US" sz="1500" u="none" cap="none" strike="noStrike">
                <a:solidFill>
                  <a:srgbClr val="27323A"/>
                </a:solidFill>
                <a:latin typeface="Arial"/>
                <a:ea typeface="Arial"/>
                <a:cs typeface="Arial"/>
                <a:sym typeface="Arial"/>
              </a:rPr>
              <a:t>After three days, lateral-complex giant-synapse counts increased under suitable full-spectrum light exposure even without learning walks. Removing ultraviolet light reduced this response. Central-complex volume did not exhibit the same simple light-exposure dependence as the lateral-complex synaptic count.</a:t>
            </a:r>
            <a:endParaRPr/>
          </a:p>
          <a:p>
            <a:pPr indent="0" lvl="0" marL="0" marR="0" rtl="0" algn="l">
              <a:lnSpc>
                <a:spcPct val="108000"/>
              </a:lnSpc>
              <a:spcBef>
                <a:spcPts val="900"/>
              </a:spcBef>
              <a:spcAft>
                <a:spcPts val="0"/>
              </a:spcAft>
              <a:buNone/>
            </a:pPr>
            <a:r>
              <a:rPr b="0" i="0" lang="en-US" sz="1500" u="none" cap="none" strike="noStrike">
                <a:solidFill>
                  <a:srgbClr val="27323A"/>
                </a:solidFill>
                <a:latin typeface="Arial"/>
                <a:ea typeface="Arial"/>
                <a:cs typeface="Arial"/>
                <a:sym typeface="Arial"/>
              </a:rPr>
              <a:t>The dissociation supports different experience requirements in the two visual pathways. The lateral-complex synaptic count responds to ultraviolet-containing light alone, whereas the central complex needs more than passive light, so the pathways differ in the experience that drives them.</a:t>
            </a:r>
            <a:endParaRPr/>
          </a:p>
        </p:txBody>
      </p:sp>
      <p:pic>
        <p:nvPicPr>
          <p:cNvPr descr="G22_2a.png" id="388" name="Google Shape;388;p26"/>
          <p:cNvPicPr preferRelativeResize="0"/>
          <p:nvPr/>
        </p:nvPicPr>
        <p:blipFill rotWithShape="1">
          <a:blip r:embed="rId3">
            <a:alphaModFix/>
          </a:blip>
          <a:srcRect b="0" l="0" r="0" t="0"/>
          <a:stretch/>
        </p:blipFill>
        <p:spPr>
          <a:xfrm>
            <a:off x="6321247" y="1280160"/>
            <a:ext cx="3291839" cy="2062224"/>
          </a:xfrm>
          <a:prstGeom prst="rect">
            <a:avLst/>
          </a:prstGeom>
          <a:noFill/>
          <a:ln>
            <a:noFill/>
          </a:ln>
        </p:spPr>
      </p:pic>
      <p:sp>
        <p:nvSpPr>
          <p:cNvPr id="389" name="Google Shape;389;p26"/>
          <p:cNvSpPr txBox="1"/>
          <p:nvPr/>
        </p:nvSpPr>
        <p:spPr>
          <a:xfrm>
            <a:off x="6321247" y="343382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2(a). Lateral-complex synaptic counts across light conditions.</a:t>
            </a:r>
            <a:endParaRPr/>
          </a:p>
        </p:txBody>
      </p:sp>
      <p:pic>
        <p:nvPicPr>
          <p:cNvPr descr="G22_1C.png" id="390" name="Google Shape;390;p26"/>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391" name="Google Shape;391;p26"/>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92" name="Google Shape;392;p2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3" name="Google Shape;393;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94" name="Google Shape;394;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Central-complex growth requires more than light alone</a:t>
            </a:r>
            <a:endParaRPr/>
          </a:p>
        </p:txBody>
      </p:sp>
      <p:sp>
        <p:nvSpPr>
          <p:cNvPr id="401" name="Google Shape;401;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Structural plasticity</a:t>
            </a:r>
            <a:r>
              <a:rPr b="0" i="0" lang="en-US" sz="1600" u="none" cap="none" strike="noStrike">
                <a:solidFill>
                  <a:srgbClr val="27323A"/>
                </a:solidFill>
                <a:latin typeface="Arial"/>
                <a:ea typeface="Arial"/>
                <a:cs typeface="Arial"/>
                <a:sym typeface="Arial"/>
              </a:rPr>
              <a:t> is an experience-associated change in neuronal anatomy, such as neuropil volume or synaptic organization. It must be distinguished from an acute firing-rate response to a sensory stimulus.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three days, natural learning walks increased the size-corrected central-complex volume relative to dark controls. Passive light exposure and learning walks under a stationary polarization filter did not produce the same increase. Brain volumes were corrected for body size rather than compared solely as raw tissue amounts.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central complex grows with the active experience of learning walks under natural skylight, a different requirement from the light exposure that suffices for lateral-complex giant synapses.</a:t>
            </a:r>
            <a:endParaRPr/>
          </a:p>
        </p:txBody>
      </p:sp>
      <p:pic>
        <p:nvPicPr>
          <p:cNvPr descr="G22_2b.png" id="402" name="Google Shape;402;p27"/>
          <p:cNvPicPr preferRelativeResize="0"/>
          <p:nvPr/>
        </p:nvPicPr>
        <p:blipFill rotWithShape="1">
          <a:blip r:embed="rId3">
            <a:alphaModFix/>
          </a:blip>
          <a:srcRect b="0" l="0" r="0" t="0"/>
          <a:stretch/>
        </p:blipFill>
        <p:spPr>
          <a:xfrm>
            <a:off x="6321247" y="1280160"/>
            <a:ext cx="3291839" cy="2053953"/>
          </a:xfrm>
          <a:prstGeom prst="rect">
            <a:avLst/>
          </a:prstGeom>
          <a:noFill/>
          <a:ln>
            <a:noFill/>
          </a:ln>
        </p:spPr>
      </p:pic>
      <p:sp>
        <p:nvSpPr>
          <p:cNvPr id="403" name="Google Shape;403;p27"/>
          <p:cNvSpPr txBox="1"/>
          <p:nvPr/>
        </p:nvSpPr>
        <p:spPr>
          <a:xfrm>
            <a:off x="6321247" y="342555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2(b). Central-complex volumes after light exposure or learning walks.</a:t>
            </a:r>
            <a:endParaRPr/>
          </a:p>
        </p:txBody>
      </p:sp>
      <p:pic>
        <p:nvPicPr>
          <p:cNvPr descr="G22_1C.png" id="404" name="Google Shape;404;p27"/>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05" name="Google Shape;405;p27"/>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06" name="Google Shape;406;p2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08" name="Google Shape;408;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Rotation during learning changes mushroom-body structure</a:t>
            </a:r>
            <a:endParaRPr/>
          </a:p>
        </p:txBody>
      </p:sp>
      <p:sp>
        <p:nvSpPr>
          <p:cNvPr id="415" name="Google Shape;415;p28"/>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mushroom-body collar</a:t>
            </a:r>
            <a:r>
              <a:rPr b="0" i="0" lang="en-US" sz="1600" u="none" cap="none" strike="noStrike">
                <a:solidFill>
                  <a:srgbClr val="27323A"/>
                </a:solidFill>
                <a:latin typeface="Arial"/>
                <a:ea typeface="Arial"/>
                <a:cs typeface="Arial"/>
                <a:sym typeface="Arial"/>
              </a:rPr>
              <a:t> is a visual input region of the mushroom-body calyx. Its microglomeruli receive visual information and provide a measurable synaptic endpoint for changes accompanying the acquisition of outdoor experience.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allowed three days of learning walks under different polarization schedules. A stationary pattern failed to elicit the growth associated with changing polarization. A single 90° daily turn, hourly 45° turns and continuous 15°-per-hour rotation supported increases in collar volume and microglomerular number.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comparison separates a changing compass-related environment from polarized illumination alone. Any schedule in which polarization direction changes, whether one daily turn, hourly turns or continuous rotation, supports collar growth, so the mushroom body responds to change in the celestial compass reference.</a:t>
            </a:r>
            <a:endParaRPr/>
          </a:p>
        </p:txBody>
      </p:sp>
      <p:pic>
        <p:nvPicPr>
          <p:cNvPr descr="G22_3cd.png" id="416" name="Google Shape;416;p28"/>
          <p:cNvPicPr preferRelativeResize="0"/>
          <p:nvPr/>
        </p:nvPicPr>
        <p:blipFill rotWithShape="1">
          <a:blip r:embed="rId3">
            <a:alphaModFix/>
          </a:blip>
          <a:srcRect b="0" l="0" r="0" t="0"/>
          <a:stretch/>
        </p:blipFill>
        <p:spPr>
          <a:xfrm>
            <a:off x="6321247" y="1280160"/>
            <a:ext cx="3291840" cy="3788669"/>
          </a:xfrm>
          <a:prstGeom prst="rect">
            <a:avLst/>
          </a:prstGeom>
          <a:noFill/>
          <a:ln>
            <a:noFill/>
          </a:ln>
        </p:spPr>
      </p:pic>
      <p:sp>
        <p:nvSpPr>
          <p:cNvPr id="417" name="Google Shape;417;p28"/>
          <p:cNvSpPr txBox="1"/>
          <p:nvPr/>
        </p:nvSpPr>
        <p:spPr>
          <a:xfrm>
            <a:off x="6321247" y="516026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3(c–d). Mushroom-body volume and microglomeruli under polarization rotation.</a:t>
            </a:r>
            <a:endParaRPr/>
          </a:p>
        </p:txBody>
      </p:sp>
      <p:pic>
        <p:nvPicPr>
          <p:cNvPr descr="G22_1C.png" id="418" name="Google Shape;418;p28"/>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19" name="Google Shape;419;p28"/>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20" name="Google Shape;420;p2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1" name="Google Shape;421;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22" name="Google Shape;422;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Rotation affects higher centres more than giant synapses</a:t>
            </a:r>
            <a:endParaRPr/>
          </a:p>
        </p:txBody>
      </p:sp>
      <p:sp>
        <p:nvSpPr>
          <p:cNvPr id="429" name="Google Shape;429;p29"/>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common sensory manipulation can affect different brain regions differently. The lateral complex lies along the sky-compass pathway, whereas the central complex and mushroom-body collar provide distinct higher-order measures of experience-associated change.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Across the three-day learning-walk experiment, the different polarization-rotation schedules altered central-complex volume and mushroom-body measures, but giant-synapse counts in the lateral complex remained broadly similar. The continuous rotation condition changed filter orientation at 15° per hour.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lateral complex lies on the sky-compass pathway, and its giant synapses did not respond to rotation schedules that altered central-complex and collar measures. Experience shapes the higher centres differently from this earlier stage.</a:t>
            </a:r>
            <a:endParaRPr/>
          </a:p>
        </p:txBody>
      </p:sp>
      <p:pic>
        <p:nvPicPr>
          <p:cNvPr descr="G22_3ab.png" id="430" name="Google Shape;430;p29"/>
          <p:cNvPicPr preferRelativeResize="0"/>
          <p:nvPr/>
        </p:nvPicPr>
        <p:blipFill rotWithShape="1">
          <a:blip r:embed="rId3">
            <a:alphaModFix/>
          </a:blip>
          <a:srcRect b="0" l="0" r="0" t="0"/>
          <a:stretch/>
        </p:blipFill>
        <p:spPr>
          <a:xfrm>
            <a:off x="6321247" y="1280160"/>
            <a:ext cx="3291840" cy="3860834"/>
          </a:xfrm>
          <a:prstGeom prst="rect">
            <a:avLst/>
          </a:prstGeom>
          <a:noFill/>
          <a:ln>
            <a:noFill/>
          </a:ln>
        </p:spPr>
      </p:pic>
      <p:sp>
        <p:nvSpPr>
          <p:cNvPr id="431" name="Google Shape;431;p29"/>
          <p:cNvSpPr txBox="1"/>
          <p:nvPr/>
        </p:nvSpPr>
        <p:spPr>
          <a:xfrm>
            <a:off x="6321247" y="523243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3(a–b). Giant synapses and central-complex volume under polarization rotation.</a:t>
            </a:r>
            <a:endParaRPr/>
          </a:p>
        </p:txBody>
      </p:sp>
      <p:pic>
        <p:nvPicPr>
          <p:cNvPr descr="G22_1C.png" id="432" name="Google Shape;432;p29"/>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33" name="Google Shape;433;p29"/>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34" name="Google Shape;434;p2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Transmitter assignments constrain proposed circuit roles</a:t>
            </a:r>
            <a:endParaRPr/>
          </a:p>
        </p:txBody>
      </p:sp>
      <p:sp>
        <p:nvSpPr>
          <p:cNvPr id="443" name="Google Shape;443;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GABAergic</a:t>
            </a:r>
            <a:r>
              <a:rPr b="0" i="0" lang="en-US" sz="1600" u="none" cap="none" strike="noStrike">
                <a:solidFill>
                  <a:srgbClr val="27323A"/>
                </a:solidFill>
                <a:latin typeface="Arial"/>
                <a:ea typeface="Arial"/>
                <a:cs typeface="Arial"/>
                <a:sym typeface="Arial"/>
              </a:rPr>
              <a:t> neurons use gamma-aminobutyric acid as a transmitter; </a:t>
            </a:r>
            <a:r>
              <a:rPr b="1" i="0" lang="en-US" sz="1600" u="none" cap="none" strike="noStrike">
                <a:solidFill>
                  <a:srgbClr val="344F61"/>
                </a:solidFill>
                <a:latin typeface="Arial"/>
                <a:ea typeface="Arial"/>
                <a:cs typeface="Arial"/>
                <a:sym typeface="Arial"/>
              </a:rPr>
              <a:t>cholinergic</a:t>
            </a:r>
            <a:r>
              <a:rPr b="0" i="0" lang="en-US" sz="1600" u="none" cap="none" strike="noStrike">
                <a:solidFill>
                  <a:srgbClr val="27323A"/>
                </a:solidFill>
                <a:latin typeface="Arial"/>
                <a:ea typeface="Arial"/>
                <a:cs typeface="Arial"/>
                <a:sym typeface="Arial"/>
              </a:rPr>
              <a:t> neurons use acetylcholine. These transmitter classifications describe signaling identity, while the postsynaptic effect also depends on receptor type and cellular conditions.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discuss evidence that most tangential neurons projecting from the lateral complex toward the central complex are GABAergic, whereas visual projection neurons supplying mushroom bodies are presumably cholinergic. Their three-day experience experiment measured structural endpoints in these pathways rather than pharmacologically isolating transmitter action.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different transmitter identities of the lateral-complex projection and the mushroom-body input pathway are a proposed explanation for their different plasticity patterns, and the receptor type at each synapse sets the postsynaptic effect.</a:t>
            </a:r>
            <a:endParaRPr/>
          </a:p>
        </p:txBody>
      </p:sp>
      <p:pic>
        <p:nvPicPr>
          <p:cNvPr descr="G22_1D.png" id="444" name="Google Shape;444;p30"/>
          <p:cNvPicPr preferRelativeResize="0"/>
          <p:nvPr/>
        </p:nvPicPr>
        <p:blipFill rotWithShape="1">
          <a:blip r:embed="rId3">
            <a:alphaModFix/>
          </a:blip>
          <a:srcRect b="0" l="0" r="0" t="0"/>
          <a:stretch/>
        </p:blipFill>
        <p:spPr>
          <a:xfrm>
            <a:off x="6785581" y="1280160"/>
            <a:ext cx="4557730" cy="4297679"/>
          </a:xfrm>
          <a:prstGeom prst="rect">
            <a:avLst/>
          </a:prstGeom>
          <a:noFill/>
          <a:ln>
            <a:noFill/>
          </a:ln>
        </p:spPr>
      </p:pic>
      <p:sp>
        <p:nvSpPr>
          <p:cNvPr id="445" name="Google Shape;445;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1(d). Published three-dimensional reconstruction of visual integration centres.</a:t>
            </a:r>
            <a:endParaRPr/>
          </a:p>
        </p:txBody>
      </p:sp>
      <p:sp>
        <p:nvSpPr>
          <p:cNvPr id="446" name="Google Shape;446;p3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coils isolate the reference used during learning</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geomagnetic field</a:t>
            </a:r>
            <a:r>
              <a:rPr b="0" i="0" lang="en-US" sz="1600" u="none" cap="none" strike="noStrike">
                <a:solidFill>
                  <a:srgbClr val="27323A"/>
                </a:solidFill>
                <a:latin typeface="Arial"/>
                <a:ea typeface="Arial"/>
                <a:cs typeface="Arial"/>
                <a:sym typeface="Arial"/>
              </a:rPr>
              <a:t> is Earth’s magnetic field, which can provide a directional reference independent of the sun’s daily movement. A </a:t>
            </a:r>
            <a:r>
              <a:rPr b="1" i="0" lang="en-US" sz="1600" u="none" cap="none" strike="noStrike">
                <a:solidFill>
                  <a:srgbClr val="344F61"/>
                </a:solidFill>
                <a:latin typeface="Arial"/>
                <a:ea typeface="Arial"/>
                <a:cs typeface="Arial"/>
                <a:sym typeface="Arial"/>
              </a:rPr>
              <a:t>Helmholtz coil system</a:t>
            </a:r>
            <a:r>
              <a:rPr b="0" i="0" lang="en-US" sz="1600" u="none" cap="none" strike="noStrike">
                <a:solidFill>
                  <a:srgbClr val="27323A"/>
                </a:solidFill>
                <a:latin typeface="Arial"/>
                <a:ea typeface="Arial"/>
                <a:cs typeface="Arial"/>
                <a:sym typeface="Arial"/>
              </a:rPr>
              <a:t> generates controlled magnetic fields in an experimental volume.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installed a three-dimensional coil system around a 60 × 60 cm platform connected to a Cataglyphis nodus nest. Novices performed learning walks over three consecutive days. At the site, the natural total field was about 46.1 µT, with a horizontal component of 26.6 µT.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preparation manipulated magnetic information while retaining the natural panorama and celestial environment. Comparing several magnetic conditions with dark interior-worker controls assesses experience-associated brain changes caused by the magnetic reference.</a:t>
            </a:r>
            <a:endParaRPr/>
          </a:p>
        </p:txBody>
      </p:sp>
      <p:pic>
        <p:nvPicPr>
          <p:cNvPr descr="G24_1C.png" id="456" name="Google Shape;456;p31"/>
          <p:cNvPicPr preferRelativeResize="0"/>
          <p:nvPr/>
        </p:nvPicPr>
        <p:blipFill rotWithShape="1">
          <a:blip r:embed="rId3">
            <a:alphaModFix/>
          </a:blip>
          <a:srcRect b="0" l="0" r="0" t="0"/>
          <a:stretch/>
        </p:blipFill>
        <p:spPr>
          <a:xfrm>
            <a:off x="6862599" y="1280160"/>
            <a:ext cx="4403694" cy="4297679"/>
          </a:xfrm>
          <a:prstGeom prst="rect">
            <a:avLst/>
          </a:prstGeom>
          <a:noFill/>
          <a:ln>
            <a:noFill/>
          </a:ln>
        </p:spPr>
      </p:pic>
      <p:sp>
        <p:nvSpPr>
          <p:cNvPr id="457" name="Google Shape;457;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1(C). Helmholtz coils and the learning-walk platform.</a:t>
            </a:r>
            <a:endParaRPr/>
          </a:p>
        </p:txBody>
      </p:sp>
      <p:sp>
        <p:nvSpPr>
          <p:cNvPr id="458" name="Google Shape;458;p3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Removing horizontal magnetic information disrupts gazes</a:t>
            </a:r>
            <a:endParaRPr/>
          </a:p>
        </p:txBody>
      </p:sp>
      <p:sp>
        <p:nvSpPr>
          <p:cNvPr id="467" name="Google Shape;467;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pirouette</a:t>
            </a:r>
            <a:r>
              <a:rPr b="0" i="0" lang="en-US" sz="1600" u="none" cap="none" strike="noStrike">
                <a:solidFill>
                  <a:srgbClr val="27323A"/>
                </a:solidFill>
                <a:latin typeface="Arial"/>
                <a:ea typeface="Arial"/>
                <a:cs typeface="Arial"/>
                <a:sym typeface="Arial"/>
              </a:rPr>
              <a:t> is a rotation around the ant’s body axis during a learning walk. Under natural conditions, the longest pauses in these rotations are directed toward the nest, providing a measurable orientation behavior near the nest entrance.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horizontal-elimination condition, the coils cancelled the horizontal field component while retaining a downward vertical field of about 37.5 µT. The longest stopping directions no longer clustered toward the nest in the published angular distributions, which used 10° bins.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result supports a role for horizontal magnetic information in the novices’ nest-directed behavior under this condition. A downward vertical field alone does not supply a horizontal reference direction, so nest-directed pauses depend on the horizontal component.</a:t>
            </a:r>
            <a:endParaRPr/>
          </a:p>
        </p:txBody>
      </p:sp>
      <p:pic>
        <p:nvPicPr>
          <p:cNvPr descr="G24_2.png" id="468" name="Google Shape;468;p32"/>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69" name="Google Shape;469;p32"/>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70" name="Google Shape;470;p3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1" name="Google Shape;471;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72" name="Google Shape;472;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Complete field elimination permits a different outcome</a:t>
            </a:r>
            <a:endParaRPr/>
          </a:p>
        </p:txBody>
      </p:sp>
      <p:sp>
        <p:nvSpPr>
          <p:cNvPr id="479" name="Google Shape;479;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Complete magnetic-field elimination is a distinct cue manipulation from retaining a vertical field. Grob and colleagues cancelled both the horizontal and vertical components rather than leaving a directional magnetic cue pointing downward.</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Under total elimination, the residual field was about 0.1 µT. Ants nevertheless directed their longest pirouette pauses toward the nest. This differed from the loss of nest-directed gazes when only the horizontal component had been eliminated.</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authors interpreted the contrast as possible recruitment of a backup compass when magnetic information was absent altogether. Nest-directed gazes were lost with a vertical field alone and preserved with no field at all, so a partial magnetic cue and a complete absence of magnetic information have different effects on orientation.</a:t>
            </a:r>
            <a:endParaRPr/>
          </a:p>
        </p:txBody>
      </p:sp>
      <p:pic>
        <p:nvPicPr>
          <p:cNvPr descr="G24_2.png" id="480" name="Google Shape;480;p33"/>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81" name="Google Shape;481;p33"/>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82" name="Google Shape;482;p3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3" name="Google Shape;483;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84" name="Google Shape;484;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9" name="Shape 489"/>
        <p:cNvGrpSpPr/>
        <p:nvPr/>
      </p:nvGrpSpPr>
      <p:grpSpPr>
        <a:xfrm>
          <a:off x="0" y="0"/>
          <a:ext cx="0" cy="0"/>
          <a:chOff x="0" y="0"/>
          <a:chExt cx="0" cy="0"/>
        </a:xfrm>
      </p:grpSpPr>
      <p:sp>
        <p:nvSpPr>
          <p:cNvPr id="490" name="Google Shape;490;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rotating magnetic vector can still guide look-backs</a:t>
            </a:r>
            <a:endParaRPr/>
          </a:p>
        </p:txBody>
      </p:sp>
      <p:sp>
        <p:nvSpPr>
          <p:cNvPr id="491" name="Google Shape;491;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magnetic cue does not have to point toward natural magnetic north to serve as a usable short-term directional reference. What matters is whether its direction remains stable during each individual learning walk. The ant needs only a direction that stays stable during the walk to use the cue. The cue functions because it stays stable during each walk, even though its alignment changes over the day.</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In the magnetic-plus-solar condition, the horizontal vector was adjusted every 10 seconds to follow the sun's azimuth over the day. Individual walks lasted seconds to minutes, and the ants retained nest-directed longest stops despite the vector's changing geographical alignment. The solar azimuth moved steadily during the day, and the vector followed it at each 10-second update.</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magnetic vector that follows the solar azimuth still serves as a usable reference within each short learning walk, so nest-directed look-backs persist. The manipulation makes magnetic and celestial directions covary over the day, which removes their natural changing angular relationship. The ants therefore keep orienting toward the nest throughout each walk.</a:t>
            </a:r>
            <a:endParaRPr/>
          </a:p>
        </p:txBody>
      </p:sp>
      <p:pic>
        <p:nvPicPr>
          <p:cNvPr descr="G24_2.png" id="492" name="Google Shape;492;p34"/>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93" name="Google Shape;493;p34"/>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94" name="Google Shape;494;p3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5" name="Google Shape;495;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96" name="Google Shape;496;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treatments dissociate gaze and brain growth</a:t>
            </a:r>
            <a:endParaRPr/>
          </a:p>
        </p:txBody>
      </p:sp>
      <p:sp>
        <p:nvSpPr>
          <p:cNvPr id="503" name="Google Shape;503;p3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Accurate nest-directed gazes and structural brain change are different experimental endpoints. Recording a successful look-back does not guarantee that all compass-calibration and visual-memory processes associated with the learning period occur normally.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three days, central-complex volume increased under natural magnetic conditions and under several elimination or disarray conditions. When the magnetic vector followed solar azimuth, central-complex growth did not occur relative to dark controls, despite preserved nest-directed look-backs.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result dissociates an immediate orientation behavior from an experience-associated anatomical outcome. Central-complex growth required the natural changing relation between magnetic and celestial cues, which the sun-following vector removed, even though the ants could still look back toward the nest.</a:t>
            </a:r>
            <a:endParaRPr/>
          </a:p>
        </p:txBody>
      </p:sp>
      <p:pic>
        <p:nvPicPr>
          <p:cNvPr descr="G24_4a.png" id="504" name="Google Shape;504;p35"/>
          <p:cNvPicPr preferRelativeResize="0"/>
          <p:nvPr/>
        </p:nvPicPr>
        <p:blipFill rotWithShape="1">
          <a:blip r:embed="rId3">
            <a:alphaModFix/>
          </a:blip>
          <a:srcRect b="0" l="0" r="0" t="0"/>
          <a:stretch/>
        </p:blipFill>
        <p:spPr>
          <a:xfrm>
            <a:off x="6321247" y="1280160"/>
            <a:ext cx="3291840" cy="2480363"/>
          </a:xfrm>
          <a:prstGeom prst="rect">
            <a:avLst/>
          </a:prstGeom>
          <a:noFill/>
          <a:ln>
            <a:noFill/>
          </a:ln>
        </p:spPr>
      </p:pic>
      <p:sp>
        <p:nvSpPr>
          <p:cNvPr id="505" name="Google Shape;505;p35"/>
          <p:cNvSpPr txBox="1"/>
          <p:nvPr/>
        </p:nvSpPr>
        <p:spPr>
          <a:xfrm>
            <a:off x="6321247" y="385196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4(A). Central-complex volume under magnetic treatments.</a:t>
            </a:r>
            <a:endParaRPr/>
          </a:p>
        </p:txBody>
      </p:sp>
      <p:pic>
        <p:nvPicPr>
          <p:cNvPr descr="G24_3B.png" id="506" name="Google Shape;506;p35"/>
          <p:cNvPicPr preferRelativeResize="0"/>
          <p:nvPr/>
        </p:nvPicPr>
        <p:blipFill rotWithShape="1">
          <a:blip r:embed="rId4">
            <a:alphaModFix/>
          </a:blip>
          <a:srcRect b="0" l="0" r="0" t="0"/>
          <a:stretch/>
        </p:blipFill>
        <p:spPr>
          <a:xfrm>
            <a:off x="9795967" y="2148840"/>
            <a:ext cx="1828799" cy="1684244"/>
          </a:xfrm>
          <a:prstGeom prst="rect">
            <a:avLst/>
          </a:prstGeom>
          <a:noFill/>
          <a:ln>
            <a:noFill/>
          </a:ln>
        </p:spPr>
      </p:pic>
      <p:sp>
        <p:nvSpPr>
          <p:cNvPr id="507" name="Google Shape;507;p35"/>
          <p:cNvSpPr txBox="1"/>
          <p:nvPr/>
        </p:nvSpPr>
        <p:spPr>
          <a:xfrm>
            <a:off x="9795967" y="390623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3(B). Central complex and mushroom-body collar reconstruction.</a:t>
            </a:r>
            <a:endParaRPr/>
          </a:p>
        </p:txBody>
      </p:sp>
      <p:sp>
        <p:nvSpPr>
          <p:cNvPr id="508" name="Google Shape;508;p3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cues affect mushroom-body plasticity</a:t>
            </a:r>
            <a:endParaRPr/>
          </a:p>
        </p:txBody>
      </p:sp>
      <p:sp>
        <p:nvSpPr>
          <p:cNvPr id="517" name="Google Shape;517;p3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Visual memories acquired near the nest may require information specifying which direction the ant is facing. The mushroom-body collar provides a visual input region in which synaptic structure can be compared after controlled learning experience.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measured size-corrected collar volume and microglomerular number after three days of learning walks. These measures increased under the natural field, while the tested altered magnetic conditions did not produce the same increases. The effect differed from central-complex responses to complete field removal.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association supports a role for appropriate magnetic information in experience-dependent visual circuitry. Collar growth in the natural field and its absence under altered magnetic conditions indicate that the directional reference available during learning walks influences how visual input circuitry develops.</a:t>
            </a:r>
            <a:endParaRPr/>
          </a:p>
        </p:txBody>
      </p:sp>
      <p:pic>
        <p:nvPicPr>
          <p:cNvPr descr="G24_4bc.png" id="518" name="Google Shape;518;p36"/>
          <p:cNvPicPr preferRelativeResize="0"/>
          <p:nvPr/>
        </p:nvPicPr>
        <p:blipFill rotWithShape="1">
          <a:blip r:embed="rId3">
            <a:alphaModFix/>
          </a:blip>
          <a:srcRect b="0" l="0" r="0" t="0"/>
          <a:stretch/>
        </p:blipFill>
        <p:spPr>
          <a:xfrm>
            <a:off x="6321247" y="1280160"/>
            <a:ext cx="3291840" cy="4294702"/>
          </a:xfrm>
          <a:prstGeom prst="rect">
            <a:avLst/>
          </a:prstGeom>
          <a:noFill/>
          <a:ln>
            <a:noFill/>
          </a:ln>
        </p:spPr>
      </p:pic>
      <p:sp>
        <p:nvSpPr>
          <p:cNvPr id="519" name="Google Shape;519;p36"/>
          <p:cNvSpPr txBox="1"/>
          <p:nvPr/>
        </p:nvSpPr>
        <p:spPr>
          <a:xfrm>
            <a:off x="6321247" y="566630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4(B–C). Mushroom-body volume and synaptic complexes under magnetic treatments.</a:t>
            </a:r>
            <a:endParaRPr/>
          </a:p>
        </p:txBody>
      </p:sp>
      <p:pic>
        <p:nvPicPr>
          <p:cNvPr descr="G24_3A.png" id="520" name="Google Shape;520;p36"/>
          <p:cNvPicPr preferRelativeResize="0"/>
          <p:nvPr/>
        </p:nvPicPr>
        <p:blipFill rotWithShape="1">
          <a:blip r:embed="rId4">
            <a:alphaModFix/>
          </a:blip>
          <a:srcRect b="0" l="0" r="0" t="0"/>
          <a:stretch/>
        </p:blipFill>
        <p:spPr>
          <a:xfrm>
            <a:off x="9795967" y="2148840"/>
            <a:ext cx="1828799" cy="1690459"/>
          </a:xfrm>
          <a:prstGeom prst="rect">
            <a:avLst/>
          </a:prstGeom>
          <a:noFill/>
          <a:ln>
            <a:noFill/>
          </a:ln>
        </p:spPr>
      </p:pic>
      <p:sp>
        <p:nvSpPr>
          <p:cNvPr id="521" name="Google Shape;521;p36"/>
          <p:cNvSpPr txBox="1"/>
          <p:nvPr/>
        </p:nvSpPr>
        <p:spPr>
          <a:xfrm>
            <a:off x="9795967" y="3912451"/>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3(A). Synapsin-labelled brain and mushroom-body microglomeruli.</a:t>
            </a:r>
            <a:endParaRPr/>
          </a:p>
        </p:txBody>
      </p:sp>
      <p:sp>
        <p:nvSpPr>
          <p:cNvPr id="522" name="Google Shape;522;p3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24" name="Google Shape;524;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stable reference may calibrate the moving sky compass</a:t>
            </a:r>
            <a:endParaRPr/>
          </a:p>
        </p:txBody>
      </p:sp>
      <p:sp>
        <p:nvSpPr>
          <p:cNvPr id="531" name="Google Shape;531;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Compass calibration</a:t>
            </a:r>
            <a:r>
              <a:rPr b="0" i="0" lang="en-US" sz="1600" u="none" cap="none" strike="noStrike">
                <a:solidFill>
                  <a:srgbClr val="27323A"/>
                </a:solidFill>
                <a:latin typeface="Arial"/>
                <a:ea typeface="Arial"/>
                <a:cs typeface="Arial"/>
                <a:sym typeface="Arial"/>
              </a:rPr>
              <a:t> establishes the relationship between a sensory directional cue and an internal heading reference. The sun and polarization pattern change over the day, whereas natural magnetic direction and a fixed panorama provide comparatively stable external references.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three-day magnetic experiment dissociated natural-field exposure from a vector that rotated with the sun. The published circuit hypothesis proposes convergence of magnetic, panoramic and celestial information in the </a:t>
            </a:r>
            <a:r>
              <a:rPr b="1" i="0" lang="en-US" sz="1600" u="none" cap="none" strike="noStrike">
                <a:solidFill>
                  <a:srgbClr val="344F61"/>
                </a:solidFill>
                <a:latin typeface="Arial"/>
                <a:ea typeface="Arial"/>
                <a:cs typeface="Arial"/>
                <a:sym typeface="Arial"/>
              </a:rPr>
              <a:t>posterior slope</a:t>
            </a:r>
            <a:r>
              <a:rPr b="0" i="0" lang="en-US" sz="1600" u="none" cap="none" strike="noStrike">
                <a:solidFill>
                  <a:srgbClr val="27323A"/>
                </a:solidFill>
                <a:latin typeface="Arial"/>
                <a:ea typeface="Arial"/>
                <a:cs typeface="Arial"/>
                <a:sym typeface="Arial"/>
              </a:rPr>
              <a:t>, a multisensory brain region linked to the central complex.</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Natural magnetic direction and a fixed panorama stay constant while the sun and polarization pattern move, so they can serve as the fixed standard against which the moving sky compass is calibrated. The antennal Johnston’s organ is a candidate contributor to magnetoreception in this scheme.</a:t>
            </a:r>
            <a:endParaRPr/>
          </a:p>
        </p:txBody>
      </p:sp>
      <p:pic>
        <p:nvPicPr>
          <p:cNvPr descr="G24_5.png" id="532" name="Google Shape;532;p37"/>
          <p:cNvPicPr preferRelativeResize="0"/>
          <p:nvPr/>
        </p:nvPicPr>
        <p:blipFill rotWithShape="1">
          <a:blip r:embed="rId3">
            <a:alphaModFix/>
          </a:blip>
          <a:srcRect b="0" l="0" r="0" t="0"/>
          <a:stretch/>
        </p:blipFill>
        <p:spPr>
          <a:xfrm>
            <a:off x="6504127" y="1280160"/>
            <a:ext cx="5120640" cy="2243112"/>
          </a:xfrm>
          <a:prstGeom prst="rect">
            <a:avLst/>
          </a:prstGeom>
          <a:noFill/>
          <a:ln>
            <a:noFill/>
          </a:ln>
        </p:spPr>
      </p:pic>
      <p:sp>
        <p:nvSpPr>
          <p:cNvPr id="533" name="Google Shape;533;p37"/>
          <p:cNvSpPr txBox="1"/>
          <p:nvPr/>
        </p:nvSpPr>
        <p:spPr>
          <a:xfrm>
            <a:off x="6504127" y="361471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5. Published hypothesis for integrating magnetic and celestial information.</a:t>
            </a:r>
            <a:endParaRPr/>
          </a:p>
        </p:txBody>
      </p:sp>
      <p:sp>
        <p:nvSpPr>
          <p:cNvPr id="534" name="Google Shape;534;p3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36" name="Google Shape;536;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new route can emerge from familiar goal vectors</a:t>
            </a:r>
            <a:endParaRPr/>
          </a:p>
        </p:txBody>
      </p:sp>
      <p:sp>
        <p:nvSpPr>
          <p:cNvPr id="543" name="Google Shape;543;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goal vector</a:t>
            </a:r>
            <a:r>
              <a:rPr b="0" i="0" lang="en-US" sz="1500" u="none" cap="none" strike="noStrike">
                <a:solidFill>
                  <a:srgbClr val="27323A"/>
                </a:solidFill>
                <a:latin typeface="Arial"/>
                <a:ea typeface="Arial"/>
                <a:cs typeface="Arial"/>
                <a:sym typeface="Arial"/>
              </a:rPr>
              <a:t> specifies a remembered direction and distance to a destination relative to the nest. A shortcut connects familiar destinations along a route that was never used during training, and such behavior can be produced by stored vectors without requiring a metric cognitive map. Each goal vector is tied to a feeder, so the ant can select the vector that matches its goal.</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Voegeli and colleagues trained Cataglyphis ants to feeders A and B in separate channels, at nest distances of 4.5 m and 5.7 m. The test channel connected the two feeder positions across a 4.1 m separation, and only one nest-channel entrance was open at a time. The two feeders were therefore separated by a fixed distance, which the test channel spanned.</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channel arrangement separates experience with each nest-to-feeder route from experience with the connecting route. The ants were never trained to follow the proposed shortcut, so a search toward the second feeder must come from stored goal vectors and the ongoing path integrator. The test thus isolates the effect of stored goal vectors from any learned route.</a:t>
            </a:r>
            <a:endParaRPr/>
          </a:p>
        </p:txBody>
      </p:sp>
      <p:pic>
        <p:nvPicPr>
          <p:cNvPr descr="V25_1.png" id="544" name="Google Shape;544;p38"/>
          <p:cNvPicPr preferRelativeResize="0"/>
          <p:nvPr/>
        </p:nvPicPr>
        <p:blipFill rotWithShape="1">
          <a:blip r:embed="rId3">
            <a:alphaModFix/>
          </a:blip>
          <a:srcRect b="0" l="0" r="0" t="0"/>
          <a:stretch/>
        </p:blipFill>
        <p:spPr>
          <a:xfrm>
            <a:off x="6504127" y="1280160"/>
            <a:ext cx="5120640" cy="2524553"/>
          </a:xfrm>
          <a:prstGeom prst="rect">
            <a:avLst/>
          </a:prstGeom>
          <a:noFill/>
          <a:ln>
            <a:noFill/>
          </a:ln>
        </p:spPr>
      </p:pic>
      <p:sp>
        <p:nvSpPr>
          <p:cNvPr id="545" name="Google Shape;545;p38"/>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46" name="Google Shape;546;p3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48" name="Google Shape;548;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Alternating training establishes two separate destinations</a:t>
            </a:r>
            <a:endParaRPr/>
          </a:p>
        </p:txBody>
      </p:sp>
      <p:sp>
        <p:nvSpPr>
          <p:cNvPr id="555" name="Google Shape;555;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Experience with more than one food source can establish alternative navigational goals. In the channel experiment, feeders were hidden below the channel floor, preventing an approaching ant from simply steering toward a visible food cup.</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Ants completed ten training journeys: four to feeder A, four to B and two final journeys to A. Feeder B lay 45° to the left or right of A as viewed from the nest. The subsequent test removed food and opened the connecting test channel at A.</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final visits standardized the starting goal while preserving experience with the second destination. Channel shutters constrained which route was available, but the design still allows the ant to choose search directions within the connecting channel rather than forcing a particular first turn.</a:t>
            </a:r>
            <a:endParaRPr/>
          </a:p>
        </p:txBody>
      </p:sp>
      <p:pic>
        <p:nvPicPr>
          <p:cNvPr descr="V25_1.png" id="556" name="Google Shape;556;p39"/>
          <p:cNvPicPr preferRelativeResize="0"/>
          <p:nvPr/>
        </p:nvPicPr>
        <p:blipFill rotWithShape="1">
          <a:blip r:embed="rId3">
            <a:alphaModFix/>
          </a:blip>
          <a:srcRect b="0" l="0" r="0" t="0"/>
          <a:stretch/>
        </p:blipFill>
        <p:spPr>
          <a:xfrm>
            <a:off x="6504127" y="1280160"/>
            <a:ext cx="5120640" cy="2524553"/>
          </a:xfrm>
          <a:prstGeom prst="rect">
            <a:avLst/>
          </a:prstGeom>
          <a:noFill/>
          <a:ln>
            <a:noFill/>
          </a:ln>
        </p:spPr>
      </p:pic>
      <p:sp>
        <p:nvSpPr>
          <p:cNvPr id="557" name="Google Shape;557;p39"/>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58" name="Google Shape;558;p3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60" name="Google Shape;560;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One-feeder training produces a symmetric local search</a:t>
            </a:r>
            <a:endParaRPr/>
          </a:p>
        </p:txBody>
      </p:sp>
      <p:sp>
        <p:nvSpPr>
          <p:cNvPr id="567" name="Google Shape;567;p4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one-feeder control</a:t>
            </a:r>
            <a:r>
              <a:rPr b="0" i="0" lang="en-US" sz="1500" u="none" cap="none" strike="noStrike">
                <a:solidFill>
                  <a:srgbClr val="27323A"/>
                </a:solidFill>
                <a:latin typeface="Arial"/>
                <a:ea typeface="Arial"/>
                <a:cs typeface="Arial"/>
                <a:sym typeface="Arial"/>
              </a:rPr>
              <a:t> establishes the search pattern expected without memory of a second food source. This comparison distinguishes a general tendency to widen a search from a directional bias toward another learned destination. The control establishes what a search looks like before any second destination is learned. The control makes the baseline explicit.</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Control ants visited only feeder A before testing. After food removal their searches concentrated around the former feeder position and spread approximately symmetrically on its two sides. Distance from the starting point was measured in meters along the connecting test channel. The searches after food removal reflect the position of the single feeder the ants had learned.</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symmetric baseline sets the reference for interpreting the two-feeder experiments. A later directional shift is attributed to the second feeder, because ants with one feeder search equally on both sides of the channel. The symmetric pattern therefore indicates a neutral search, against which any directional bias in the two-feeder tests can be measured.</a:t>
            </a:r>
            <a:endParaRPr/>
          </a:p>
        </p:txBody>
      </p:sp>
      <p:pic>
        <p:nvPicPr>
          <p:cNvPr descr="V25_2.png" id="568" name="Google Shape;568;p40"/>
          <p:cNvPicPr preferRelativeResize="0"/>
          <p:nvPr/>
        </p:nvPicPr>
        <p:blipFill rotWithShape="1">
          <a:blip r:embed="rId3">
            <a:alphaModFix/>
          </a:blip>
          <a:srcRect b="0" l="0" r="0" t="0"/>
          <a:stretch/>
        </p:blipFill>
        <p:spPr>
          <a:xfrm>
            <a:off x="6729731" y="1280160"/>
            <a:ext cx="4669432" cy="4297679"/>
          </a:xfrm>
          <a:prstGeom prst="rect">
            <a:avLst/>
          </a:prstGeom>
          <a:noFill/>
          <a:ln>
            <a:noFill/>
          </a:ln>
        </p:spPr>
      </p:pic>
      <p:sp>
        <p:nvSpPr>
          <p:cNvPr id="569" name="Google Shape;569;p4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2. Symmetric search after training to one feeder.</a:t>
            </a:r>
            <a:endParaRPr/>
          </a:p>
        </p:txBody>
      </p:sp>
      <p:sp>
        <p:nvSpPr>
          <p:cNvPr id="570" name="Google Shape;570;p4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Two-feeder experience biases the first search direction</a:t>
            </a:r>
            <a:endParaRPr/>
          </a:p>
        </p:txBody>
      </p:sp>
      <p:sp>
        <p:nvSpPr>
          <p:cNvPr id="579" name="Google Shape;579;p4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The first U-turn after the missing feeder measures an early component of search direction. It is distinct from the full spatial distribution accumulated during later back-and-forth movements in the test channel.</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After training to A and B, about two-thirds of the ants made their first U-turn on the side containing the second feeder. The effect occurred with feeder B either left or right of A, whose trained positions were separated by 4.1 m.</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left–right comparison argues against an intrinsic turning preference accounting for the result. The early bias toward the side of the second feeder is what an ant using an alternative learned goal would show.</a:t>
            </a:r>
            <a:endParaRPr/>
          </a:p>
        </p:txBody>
      </p:sp>
      <p:pic>
        <p:nvPicPr>
          <p:cNvPr descr="V25_3.png" id="580" name="Google Shape;580;p41"/>
          <p:cNvPicPr preferRelativeResize="0"/>
          <p:nvPr/>
        </p:nvPicPr>
        <p:blipFill rotWithShape="1">
          <a:blip r:embed="rId3">
            <a:alphaModFix/>
          </a:blip>
          <a:srcRect b="0" l="0" r="0" t="0"/>
          <a:stretch/>
        </p:blipFill>
        <p:spPr>
          <a:xfrm>
            <a:off x="6504127" y="1280160"/>
            <a:ext cx="5120640" cy="2430977"/>
          </a:xfrm>
          <a:prstGeom prst="rect">
            <a:avLst/>
          </a:prstGeom>
          <a:noFill/>
          <a:ln>
            <a:noFill/>
          </a:ln>
        </p:spPr>
      </p:pic>
      <p:sp>
        <p:nvSpPr>
          <p:cNvPr id="581" name="Google Shape;581;p41"/>
          <p:cNvSpPr txBox="1"/>
          <p:nvPr/>
        </p:nvSpPr>
        <p:spPr>
          <a:xfrm>
            <a:off x="6504127" y="380257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3(a–b). Search shifts toward the second feeder on either side.</a:t>
            </a:r>
            <a:endParaRPr/>
          </a:p>
        </p:txBody>
      </p:sp>
      <p:sp>
        <p:nvSpPr>
          <p:cNvPr id="582" name="Google Shape;582;p4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84" name="Google Shape;584;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Search expands preferentially toward the missing goal</a:t>
            </a:r>
            <a:endParaRPr/>
          </a:p>
        </p:txBody>
      </p:sp>
      <p:sp>
        <p:nvSpPr>
          <p:cNvPr id="591" name="Google Shape;591;p4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full search trajectory contains information beyond its first movement. Ants can begin at the expected position of one feeder, then redistribute their efforts toward another destination when the first food source is absent.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Two-feeder ants initially searched around A but progressively widened their searches toward B. Their search-density distributions were asymmetric in the direction of the second feeder, whereas the one-feeder controls were symmetric. The effect reversed when B changed from the left to the right side.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evidence supports flexible use of prior destination experience without requiring prior travel along A-to-B. Ants widen their search toward a second stored goal when the first goal is absent, so each feeder is stored as its own destination.</a:t>
            </a:r>
            <a:endParaRPr/>
          </a:p>
        </p:txBody>
      </p:sp>
      <p:pic>
        <p:nvPicPr>
          <p:cNvPr descr="V25_3.png" id="592" name="Google Shape;592;p42"/>
          <p:cNvPicPr preferRelativeResize="0"/>
          <p:nvPr/>
        </p:nvPicPr>
        <p:blipFill rotWithShape="1">
          <a:blip r:embed="rId3">
            <a:alphaModFix/>
          </a:blip>
          <a:srcRect b="0" l="0" r="0" t="0"/>
          <a:stretch/>
        </p:blipFill>
        <p:spPr>
          <a:xfrm>
            <a:off x="6504127" y="1280160"/>
            <a:ext cx="5120640" cy="2430977"/>
          </a:xfrm>
          <a:prstGeom prst="rect">
            <a:avLst/>
          </a:prstGeom>
          <a:noFill/>
          <a:ln>
            <a:noFill/>
          </a:ln>
        </p:spPr>
      </p:pic>
      <p:sp>
        <p:nvSpPr>
          <p:cNvPr id="593" name="Google Shape;593;p42"/>
          <p:cNvSpPr txBox="1"/>
          <p:nvPr/>
        </p:nvSpPr>
        <p:spPr>
          <a:xfrm>
            <a:off x="6504127" y="380257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3(a–b). Search shifts toward the second feeder on either side.</a:t>
            </a:r>
            <a:endParaRPr/>
          </a:p>
        </p:txBody>
      </p:sp>
      <p:sp>
        <p:nvSpPr>
          <p:cNvPr id="594" name="Google Shape;594;p4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96" name="Google Shape;596;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Restricted sky views predict biases in goal searches</a:t>
            </a:r>
            <a:endParaRPr/>
          </a:p>
        </p:txBody>
      </p:sp>
      <p:sp>
        <p:nvSpPr>
          <p:cNvPr id="603" name="Google Shape;603;p4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narrow channel restricts the visible portion of the polarization pattern. Depending on channel orientation and solar position, this restriction can bias the compass information used during outbound acquisition and therefore alter a stored goal vector.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Voegeli and colleagues separated tests into conditions predicting underestimation or overestimation of the 4.1 m A-to-B distance. Relative search distributions were obtained by subtracting the one-feeder baseline from the two-feeder distributions. Their positive regions shifted in the predicted direction.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relationship links the searches to compass information acquired through the channels rather than merely to the physical location of an absent feeder. Subtracting the one-feeder baseline isolates the part of the search attributable to the second feeder.</a:t>
            </a:r>
            <a:endParaRPr/>
          </a:p>
        </p:txBody>
      </p:sp>
      <p:pic>
        <p:nvPicPr>
          <p:cNvPr descr="V25_4.png" id="604" name="Google Shape;604;p43"/>
          <p:cNvPicPr preferRelativeResize="0"/>
          <p:nvPr/>
        </p:nvPicPr>
        <p:blipFill rotWithShape="1">
          <a:blip r:embed="rId3">
            <a:alphaModFix/>
          </a:blip>
          <a:srcRect b="0" l="0" r="0" t="0"/>
          <a:stretch/>
        </p:blipFill>
        <p:spPr>
          <a:xfrm>
            <a:off x="6871286" y="1280160"/>
            <a:ext cx="4386321" cy="4297679"/>
          </a:xfrm>
          <a:prstGeom prst="rect">
            <a:avLst/>
          </a:prstGeom>
          <a:noFill/>
          <a:ln>
            <a:noFill/>
          </a:ln>
        </p:spPr>
      </p:pic>
      <p:sp>
        <p:nvSpPr>
          <p:cNvPr id="605" name="Google Shape;605;p4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4(a1–b2). Relative search distributions track predicted compass biases.</a:t>
            </a:r>
            <a:endParaRPr/>
          </a:p>
        </p:txBody>
      </p:sp>
      <p:sp>
        <p:nvSpPr>
          <p:cNvPr id="606" name="Google Shape;606;p4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08" name="Google Shape;608;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Stored goals can interact with the current home vector</a:t>
            </a:r>
            <a:endParaRPr/>
          </a:p>
        </p:txBody>
      </p:sp>
      <p:sp>
        <p:nvSpPr>
          <p:cNvPr id="615" name="Google Shape;615;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current vector</a:t>
            </a:r>
            <a:r>
              <a:rPr b="0" i="0" lang="en-US" sz="1600" u="none" cap="none" strike="noStrike">
                <a:solidFill>
                  <a:srgbClr val="27323A"/>
                </a:solidFill>
                <a:latin typeface="Arial"/>
                <a:ea typeface="Arial"/>
                <a:cs typeface="Arial"/>
                <a:sym typeface="Arial"/>
              </a:rPr>
              <a:t> is updated during ongoing travel, whereas a stored goal vector can persist across journeys. A goal can be approached by comparing the current nest-relative state with a remembered destination rather than constructing a map of all familiar places.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two-feeder experiment, ants searched toward B from A along an untrained connecting route separated by 4.1 m. The authors proposed retrieval of B’s food vector into working memory while the path integrator continued to track the ant’s current state.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ongoing path integrator supplies the current nest-relative state and the stored vector supplies the target, so comparing them yields a heading toward B without a metric cognitive map.</a:t>
            </a:r>
            <a:endParaRPr/>
          </a:p>
        </p:txBody>
      </p:sp>
      <p:pic>
        <p:nvPicPr>
          <p:cNvPr descr="V25_5.png" id="616" name="Google Shape;616;p44"/>
          <p:cNvPicPr preferRelativeResize="0"/>
          <p:nvPr/>
        </p:nvPicPr>
        <p:blipFill rotWithShape="1">
          <a:blip r:embed="rId3">
            <a:alphaModFix/>
          </a:blip>
          <a:srcRect b="0" l="0" r="0" t="0"/>
          <a:stretch/>
        </p:blipFill>
        <p:spPr>
          <a:xfrm>
            <a:off x="7075576" y="1280160"/>
            <a:ext cx="3977741" cy="4297679"/>
          </a:xfrm>
          <a:prstGeom prst="rect">
            <a:avLst/>
          </a:prstGeom>
          <a:noFill/>
          <a:ln>
            <a:noFill/>
          </a:ln>
        </p:spPr>
      </p:pic>
      <p:sp>
        <p:nvSpPr>
          <p:cNvPr id="617" name="Google Shape;617;p4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5. Published framework relating current, stored and view-based vectors.</a:t>
            </a:r>
            <a:endParaRPr/>
          </a:p>
        </p:txBody>
      </p:sp>
      <p:sp>
        <p:nvSpPr>
          <p:cNvPr id="618" name="Google Shape;618;p4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20" name="Google Shape;620;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shortcut does not uniquely establish a cognitive map</a:t>
            </a:r>
            <a:endParaRPr/>
          </a:p>
        </p:txBody>
      </p:sp>
      <p:sp>
        <p:nvSpPr>
          <p:cNvPr id="627" name="Google Shape;627;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metric cognitive map</a:t>
            </a:r>
            <a:r>
              <a:rPr b="0" i="0" lang="en-US" sz="1500" u="none" cap="none" strike="noStrike">
                <a:solidFill>
                  <a:srgbClr val="27323A"/>
                </a:solidFill>
                <a:latin typeface="Arial"/>
                <a:ea typeface="Arial"/>
                <a:cs typeface="Arial"/>
                <a:sym typeface="Arial"/>
              </a:rPr>
              <a:t> represents spatial relationships among familiar places in a common coordinate system. Novel shortcutting is often taken as evidence for such a map, yet the same behavior can follow from simpler stored vectors combined with continuous updating of self-motion. A map of this kind predicts that the ant can take any route between learned places, not only the routes it has traveled.</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Cataglyphis ants trained separately to feeders 4.5 m and 5.7 m from the nest searched along their previously untraveled connecting route. The controlled A-to-B test showed flexible navigation toward a second goal without prior experience of that particular route. The distances of the two feeders from the nest were fixed by the training, and the test used the same feeders.</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Shortcutting is therefore a diagnostic that depends on the model of navigation considered. The observed behavior is compatible with a nest-referenced vector system, which accounts for the shortcut without the stronger assumption of a metric cognitive map. The interpretation therefore depends on which model the shortcut is evaluated against, and the vector model explains the observed route.</a:t>
            </a:r>
            <a:endParaRPr/>
          </a:p>
        </p:txBody>
      </p:sp>
      <p:pic>
        <p:nvPicPr>
          <p:cNvPr descr="V25_5.png" id="628" name="Google Shape;628;p45"/>
          <p:cNvPicPr preferRelativeResize="0"/>
          <p:nvPr/>
        </p:nvPicPr>
        <p:blipFill rotWithShape="1">
          <a:blip r:embed="rId3">
            <a:alphaModFix/>
          </a:blip>
          <a:srcRect b="0" l="0" r="0" t="0"/>
          <a:stretch/>
        </p:blipFill>
        <p:spPr>
          <a:xfrm>
            <a:off x="7075576" y="1280160"/>
            <a:ext cx="3977741" cy="4297679"/>
          </a:xfrm>
          <a:prstGeom prst="rect">
            <a:avLst/>
          </a:prstGeom>
          <a:noFill/>
          <a:ln>
            <a:noFill/>
          </a:ln>
        </p:spPr>
      </p:pic>
      <p:sp>
        <p:nvSpPr>
          <p:cNvPr id="629" name="Google Shape;629;p4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5. Published framework relating current, stored and view-based vectors.</a:t>
            </a:r>
            <a:endParaRPr/>
          </a:p>
        </p:txBody>
      </p:sp>
      <p:sp>
        <p:nvSpPr>
          <p:cNvPr id="630" name="Google Shape;630;p4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1" name="Google Shape;631;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32" name="Google Shape;632;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Key takeaways</a:t>
            </a:r>
            <a:endParaRPr/>
          </a:p>
        </p:txBody>
      </p:sp>
      <p:sp>
        <p:nvSpPr>
          <p:cNvPr id="639" name="Google Shape;639;p46"/>
          <p:cNvSpPr/>
          <p:nvPr/>
        </p:nvSpPr>
        <p:spPr>
          <a:xfrm>
            <a:off x="566928" y="12344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Home vectors</a:t>
            </a:r>
            <a:r>
              <a:rPr b="0" i="0" lang="en-US" sz="1600" u="none" cap="none" strike="noStrike">
                <a:solidFill>
                  <a:srgbClr val="27323A"/>
                </a:solidFill>
                <a:latin typeface="Arial"/>
                <a:ea typeface="Arial"/>
                <a:cs typeface="Arial"/>
                <a:sym typeface="Arial"/>
              </a:rPr>
              <a:t> combine direction and distance acquired during movement; they differ from retracing the outward route.</a:t>
            </a:r>
            <a:endParaRPr/>
          </a:p>
        </p:txBody>
      </p:sp>
      <p:sp>
        <p:nvSpPr>
          <p:cNvPr id="641" name="Google Shape;641;p46"/>
          <p:cNvSpPr/>
          <p:nvPr/>
        </p:nvSpPr>
        <p:spPr>
          <a:xfrm>
            <a:off x="6233007" y="12344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2" name="Google Shape;642;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Controlled displacement</a:t>
            </a:r>
            <a:r>
              <a:rPr b="0" i="0" lang="en-US" sz="1600" u="none" cap="none" strike="noStrike">
                <a:solidFill>
                  <a:srgbClr val="27323A"/>
                </a:solidFill>
                <a:latin typeface="Arial"/>
                <a:ea typeface="Arial"/>
                <a:cs typeface="Arial"/>
                <a:sym typeface="Arial"/>
              </a:rPr>
              <a:t> reveals a stored movement-derived estimate by separating the expressed vector from the true nest position.</a:t>
            </a:r>
            <a:endParaRPr/>
          </a:p>
        </p:txBody>
      </p:sp>
      <p:sp>
        <p:nvSpPr>
          <p:cNvPr id="643" name="Google Shape;643;p46"/>
          <p:cNvSpPr/>
          <p:nvPr/>
        </p:nvSpPr>
        <p:spPr>
          <a:xfrm>
            <a:off x="566928" y="29870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4" name="Google Shape;644;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Stride-dependent odometry</a:t>
            </a:r>
            <a:r>
              <a:rPr b="0" i="0" lang="en-US" sz="1600" u="none" cap="none" strike="noStrike">
                <a:solidFill>
                  <a:srgbClr val="27323A"/>
                </a:solidFill>
                <a:latin typeface="Arial"/>
                <a:ea typeface="Arial"/>
                <a:cs typeface="Arial"/>
                <a:sym typeface="Arial"/>
              </a:rPr>
              <a:t> is supported by stilt overshoot, stump undershoot and recovery when outbound and inbound leg conditions match.</a:t>
            </a:r>
            <a:endParaRPr/>
          </a:p>
        </p:txBody>
      </p:sp>
      <p:sp>
        <p:nvSpPr>
          <p:cNvPr id="645" name="Google Shape;645;p46"/>
          <p:cNvSpPr/>
          <p:nvPr/>
        </p:nvSpPr>
        <p:spPr>
          <a:xfrm>
            <a:off x="6233007" y="29870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Compass learning</a:t>
            </a:r>
            <a:r>
              <a:rPr b="0" i="0" lang="en-US" sz="1600" u="none" cap="none" strike="noStrike">
                <a:solidFill>
                  <a:srgbClr val="27323A"/>
                </a:solidFill>
                <a:latin typeface="Arial"/>
                <a:ea typeface="Arial"/>
                <a:cs typeface="Arial"/>
                <a:sym typeface="Arial"/>
              </a:rPr>
              <a:t> depends on changing celestial information during early learning walks and is associated with region-specific structural plasticity.</a:t>
            </a:r>
            <a:endParaRPr/>
          </a:p>
        </p:txBody>
      </p:sp>
      <p:sp>
        <p:nvSpPr>
          <p:cNvPr id="647" name="Google Shape;647;p46"/>
          <p:cNvSpPr/>
          <p:nvPr/>
        </p:nvSpPr>
        <p:spPr>
          <a:xfrm>
            <a:off x="566928" y="47396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Magnetic reference signals</a:t>
            </a:r>
            <a:r>
              <a:rPr b="0" i="0" lang="en-US" sz="1600" u="none" cap="none" strike="noStrike">
                <a:solidFill>
                  <a:srgbClr val="27323A"/>
                </a:solidFill>
                <a:latin typeface="Arial"/>
                <a:ea typeface="Arial"/>
                <a:cs typeface="Arial"/>
                <a:sym typeface="Arial"/>
              </a:rPr>
              <a:t> affect nest-directed gazes and brain plasticity differently; the magnetic receptor and causal cellular mechanisms remain unresolved.</a:t>
            </a:r>
            <a:endParaRPr/>
          </a:p>
        </p:txBody>
      </p:sp>
      <p:sp>
        <p:nvSpPr>
          <p:cNvPr id="649" name="Google Shape;649;p46"/>
          <p:cNvSpPr/>
          <p:nvPr/>
        </p:nvSpPr>
        <p:spPr>
          <a:xfrm>
            <a:off x="6233007" y="47396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Novel shortcuts</a:t>
            </a:r>
            <a:r>
              <a:rPr b="0" i="0" lang="en-US" sz="1600" u="none" cap="none" strike="noStrike">
                <a:solidFill>
                  <a:srgbClr val="27323A"/>
                </a:solidFill>
                <a:latin typeface="Arial"/>
                <a:ea typeface="Arial"/>
                <a:cs typeface="Arial"/>
                <a:sym typeface="Arial"/>
              </a:rPr>
              <a:t> can arise from stored goal vectors interacting with an ongoing path integrator, so shortcutting alone does not establish a cognitive map.</a:t>
            </a:r>
            <a:endParaRPr/>
          </a:p>
        </p:txBody>
      </p:sp>
      <p:sp>
        <p:nvSpPr>
          <p:cNvPr id="651" name="Google Shape;651;p4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 Wittlinger et al. (2007); Grob et al. (2022, 2024); Voegeli et al. (2025)</a:t>
            </a:r>
            <a:endParaRPr/>
          </a:p>
        </p:txBody>
      </p:sp>
      <p:sp>
        <p:nvSpPr>
          <p:cNvPr id="653" name="Google Shape;653;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2" name="Google Shape;542;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goal vector stores a destination</a:t>
            </a:r>
            <a:endParaRPr/>
          </a:p>
        </p:txBody>
      </p:sp>
      <p:sp>
        <p:nvSpPr>
          <p:cNvPr id="543" name="Google Shape;543;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A </a:t>
            </a:r>
            <a:r>
              <a:rPr b="1" i="0" lang="en-US" sz="1500" u="none" cap="none" strike="noStrike">
                <a:solidFill>
                  <a:srgbClr val="344F61"/>
                </a:solidFill>
                <a:latin typeface="Arial"/>
                <a:ea typeface="Arial"/>
                <a:cs typeface="Arial"/>
                <a:sym typeface="Arial"/>
              </a:rPr>
              <a:t>goal vector</a:t>
            </a:r>
            <a:r>
              <a:rPr b="0" i="0" lang="en-US" sz="1500" u="none" cap="none" strike="noStrike">
                <a:solidFill>
                  <a:srgbClr val="27323A"/>
                </a:solidFill>
                <a:latin typeface="Arial"/>
                <a:ea typeface="Arial"/>
                <a:cs typeface="Arial"/>
                <a:sym typeface="Arial"/>
              </a:rPr>
              <a:t> stores the direction and distance to a destination relative to the nest. Each feeder therefore has its own vector, and the ant can use either one at any time during a search.</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Voegeli and colleagues trained Cataglyphis ants to feeders A and B at nest distances of 4.5 m and 5.7 m. A test channel connected the feeder positions across a 4.1 m separation, and only one nest-channel entrance was open at a time.</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arrangement separates experience with each nest-to-feeder route from experience with the connecting route. Ants were never trained to follow the proposed shortcut, so a search toward the second feeder must come from the stored goal vectors combined with the ongoing path integrator.</a:t>
            </a:r>
            <a:endParaRPr/>
          </a:p>
        </p:txBody>
      </p:sp>
      <p:pic>
        <p:nvPicPr>
          <p:cNvPr descr="V25_1.png" id="544" name="Google Shape;544;p38"/>
          <p:cNvPicPr preferRelativeResize="0"/>
          <p:nvPr/>
        </p:nvPicPr>
        <p:blipFill rotWithShape="1">
          <a:blip r:embed="rId2">
            <a:alphaModFix/>
          </a:blip>
          <a:srcRect b="0" l="0" r="0" t="0"/>
          <a:stretch/>
        </p:blipFill>
        <p:spPr>
          <a:xfrm>
            <a:off x="6504127" y="1280160"/>
            <a:ext cx="5120640" cy="2524553"/>
          </a:xfrm>
          <a:prstGeom prst="rect">
            <a:avLst/>
          </a:prstGeom>
          <a:noFill/>
          <a:ln>
            <a:noFill/>
          </a:ln>
        </p:spPr>
      </p:pic>
      <p:sp>
        <p:nvSpPr>
          <p:cNvPr id="545" name="Google Shape;545;p38"/>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46" name="Google Shape;546;p3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48" name="Google Shape;548;p3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38a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pirouette is a rotation during a learning walk</a:t>
            </a:r>
            <a:endParaRPr/>
          </a:p>
        </p:txBody>
      </p:sp>
      <p:sp>
        <p:nvSpPr>
          <p:cNvPr id="467" name="Google Shape;467;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pirouette</a:t>
            </a:r>
            <a:r>
              <a:rPr b="0" i="0" lang="en-US" sz="1600" u="none" cap="none" strike="noStrike">
                <a:solidFill>
                  <a:srgbClr val="27323A"/>
                </a:solidFill>
                <a:latin typeface="Arial"/>
                <a:ea typeface="Arial"/>
                <a:cs typeface="Arial"/>
                <a:sym typeface="Arial"/>
              </a:rPr>
              <a:t> is a rotation around the ant's body axis during a learning walk. Under natural conditions the longest pauses in these rotations are directed toward the nest, which gives a measurable orientation behavior near the nest entrance.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In the horizontal-elimination condition the coils cancelled the horizontal field component and retained a downward vertical field of about 37.5 µT. The longest stopping directions no longer clustered toward the nest in the published angular distributions, which used 10° bins.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direction of the longest pause serves as the measure of where the ant looks. Loss of nest-directed pauses when only the horizontal component is removed indicates that horizontal magnetic information contributes to the novices' nest-directed behavior.</a:t>
            </a:r>
            <a:endParaRPr/>
          </a:p>
        </p:txBody>
      </p:sp>
      <p:pic>
        <p:nvPicPr>
          <p:cNvPr descr="G24_2.png" id="468" name="Google Shape;468;p32"/>
          <p:cNvPicPr preferRelativeResize="0"/>
          <p:nvPr/>
        </p:nvPicPr>
        <p:blipFill rotWithShape="1">
          <a:blip r:embed="rId2">
            <a:alphaModFix/>
          </a:blip>
          <a:srcRect b="0" l="0" r="0" t="0"/>
          <a:stretch/>
        </p:blipFill>
        <p:spPr>
          <a:xfrm>
            <a:off x="6504127" y="1280160"/>
            <a:ext cx="5120640" cy="1782125"/>
          </a:xfrm>
          <a:prstGeom prst="rect">
            <a:avLst/>
          </a:prstGeom>
          <a:noFill/>
          <a:ln>
            <a:noFill/>
          </a:ln>
        </p:spPr>
      </p:pic>
      <p:sp>
        <p:nvSpPr>
          <p:cNvPr id="469" name="Google Shape;469;p32"/>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70" name="Google Shape;470;p3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1" name="Google Shape;471;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72" name="Google Shape;472;p3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32a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Helmholtz coils set the magnetic field</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Helmholtz coil</a:t>
            </a:r>
            <a:r>
              <a:rPr b="0" i="0" lang="en-US" sz="1600" u="none" cap="none" strike="noStrike">
                <a:solidFill>
                  <a:srgbClr val="27323A"/>
                </a:solidFill>
                <a:latin typeface="Arial"/>
                <a:ea typeface="Arial"/>
                <a:cs typeface="Arial"/>
                <a:sym typeface="Arial"/>
              </a:rPr>
              <a:t> system generates a controlled magnetic field in an experimental volume. Currents in the coils can add to or cancel the geomagnetic field, which is Earth's magnetic field and provides a directional reference independent of the sun's daily movement.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Grob and colleagues installed a three-dimensional coil system around a 60 × 60 cm platform connected to a </a:t>
            </a:r>
            <a:r>
              <a:rPr b="0" i="1" lang="en-US" sz="1600" u="none" cap="none" strike="noStrike">
                <a:solidFill>
                  <a:srgbClr val="27323A"/>
                </a:solidFill>
                <a:latin typeface="Arial"/>
                <a:ea typeface="Arial"/>
                <a:cs typeface="Arial"/>
                <a:sym typeface="Arial"/>
              </a:rPr>
              <a:t>Cataglyphis nodus</a:t>
            </a:r>
            <a:r>
              <a:rPr b="0" i="0" lang="en-US" sz="1600" u="none" cap="none" strike="noStrike">
                <a:solidFill>
                  <a:srgbClr val="27323A"/>
                </a:solidFill>
                <a:latin typeface="Arial"/>
                <a:ea typeface="Arial"/>
                <a:cs typeface="Arial"/>
                <a:sym typeface="Arial"/>
              </a:rPr>
              <a:t> nest. Novices performed learning walks over three consecutive days, and the natural total field at the site was about 46.1 µT with a horizontal component of 26.6 µT.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coils change magnetic information while the natural panorama and celestial environment remain available. Several magnetic conditions can be compared with dark interior-worker controls to assess experience-associated brain changes caused by the magnetic reference.</a:t>
            </a:r>
            <a:endParaRPr/>
          </a:p>
        </p:txBody>
      </p:sp>
      <p:pic>
        <p:nvPicPr>
          <p:cNvPr descr="G24_1C.png" id="456" name="Google Shape;456;p31"/>
          <p:cNvPicPr preferRelativeResize="0"/>
          <p:nvPr/>
        </p:nvPicPr>
        <p:blipFill rotWithShape="1">
          <a:blip r:embed="rId2">
            <a:alphaModFix/>
          </a:blip>
          <a:srcRect b="0" l="0" r="0" t="0"/>
          <a:stretch/>
        </p:blipFill>
        <p:spPr>
          <a:xfrm>
            <a:off x="6862599" y="1280160"/>
            <a:ext cx="4403694" cy="4297679"/>
          </a:xfrm>
          <a:prstGeom prst="rect">
            <a:avLst/>
          </a:prstGeom>
          <a:noFill/>
          <a:ln>
            <a:noFill/>
          </a:ln>
        </p:spPr>
      </p:pic>
      <p:sp>
        <p:nvSpPr>
          <p:cNvPr id="457" name="Google Shape;457;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1(C). Helmholtz coils and the learning-walk platform.</a:t>
            </a:r>
            <a:endParaRPr/>
          </a:p>
        </p:txBody>
      </p:sp>
      <p:sp>
        <p:nvSpPr>
          <p:cNvPr id="458" name="Google Shape;458;p3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31a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0" name="Google Shape;40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Structural plasticity is a change in anatomy</a:t>
            </a:r>
            <a:endParaRPr/>
          </a:p>
        </p:txBody>
      </p:sp>
      <p:sp>
        <p:nvSpPr>
          <p:cNvPr id="401" name="Google Shape;401;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Structural plasticity</a:t>
            </a:r>
            <a:r>
              <a:rPr b="0" i="0" lang="en-US" sz="1600" u="none" cap="none" strike="noStrike">
                <a:solidFill>
                  <a:srgbClr val="27323A"/>
                </a:solidFill>
                <a:latin typeface="Arial"/>
                <a:ea typeface="Arial"/>
                <a:cs typeface="Arial"/>
                <a:sym typeface="Arial"/>
              </a:rPr>
              <a:t> is an experience-associated change in neuronal anatomy, such as neuropil volume or synaptic organization. It differs from an acute firing-rate response to a sensory stimulus, which changes within seconds and leaves anatomy unchanged.</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After three days, natural learning walks increased the size-corrected central-complex volume of </a:t>
            </a:r>
            <a:r>
              <a:rPr b="0" i="1" lang="en-US" sz="1600" u="none" cap="none" strike="noStrike">
                <a:solidFill>
                  <a:srgbClr val="27323A"/>
                </a:solidFill>
                <a:latin typeface="Arial"/>
                <a:ea typeface="Arial"/>
                <a:cs typeface="Arial"/>
                <a:sym typeface="Arial"/>
              </a:rPr>
              <a:t>Cataglyphis nodus</a:t>
            </a:r>
            <a:r>
              <a:rPr b="0" i="0" lang="en-US" sz="1600" u="none" cap="none" strike="noStrike">
                <a:solidFill>
                  <a:srgbClr val="27323A"/>
                </a:solidFill>
                <a:latin typeface="Arial"/>
                <a:ea typeface="Arial"/>
                <a:cs typeface="Arial"/>
                <a:sym typeface="Arial"/>
              </a:rPr>
              <a:t> relative to dark controls. Passive light exposure and learning walks under a stationary polarization filter did not produce the same increase.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Correcting volume for body size ensures that larger ants do not appear to have larger brain regions through body size alone. The central complex grows with active experience of changing celestial information and not with light exposure alone. Larger bodies carry larger brains, so the correction keeps the comparison between treatments.</a:t>
            </a:r>
            <a:endParaRPr/>
          </a:p>
        </p:txBody>
      </p:sp>
      <p:pic>
        <p:nvPicPr>
          <p:cNvPr descr="G22_2b.png" id="402" name="Google Shape;402;p27"/>
          <p:cNvPicPr preferRelativeResize="0"/>
          <p:nvPr/>
        </p:nvPicPr>
        <p:blipFill rotWithShape="1">
          <a:blip r:embed="rId2">
            <a:alphaModFix/>
          </a:blip>
          <a:srcRect b="0" l="0" r="0" t="0"/>
          <a:stretch/>
        </p:blipFill>
        <p:spPr>
          <a:xfrm>
            <a:off x="6321247" y="1280160"/>
            <a:ext cx="3291839" cy="2053953"/>
          </a:xfrm>
          <a:prstGeom prst="rect">
            <a:avLst/>
          </a:prstGeom>
          <a:noFill/>
          <a:ln>
            <a:noFill/>
          </a:ln>
        </p:spPr>
      </p:pic>
      <p:sp>
        <p:nvSpPr>
          <p:cNvPr id="403" name="Google Shape;403;p27"/>
          <p:cNvSpPr txBox="1"/>
          <p:nvPr/>
        </p:nvSpPr>
        <p:spPr>
          <a:xfrm>
            <a:off x="6321247" y="342555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2(b). Central-complex volumes after light exposure or learning walks.</a:t>
            </a:r>
            <a:endParaRPr/>
          </a:p>
        </p:txBody>
      </p:sp>
      <p:pic>
        <p:nvPicPr>
          <p:cNvPr descr="G22_1C.png" id="404" name="Google Shape;404;p27"/>
          <p:cNvPicPr preferRelativeResize="0"/>
          <p:nvPr/>
        </p:nvPicPr>
        <p:blipFill rotWithShape="1">
          <a:blip r:embed="rId3">
            <a:alphaModFix/>
          </a:blip>
          <a:srcRect b="0" l="0" r="0" t="0"/>
          <a:stretch/>
        </p:blipFill>
        <p:spPr>
          <a:xfrm>
            <a:off x="9795967" y="2148840"/>
            <a:ext cx="1828799" cy="1127072"/>
          </a:xfrm>
          <a:prstGeom prst="rect">
            <a:avLst/>
          </a:prstGeom>
          <a:noFill/>
          <a:ln>
            <a:noFill/>
          </a:ln>
        </p:spPr>
      </p:pic>
      <p:sp>
        <p:nvSpPr>
          <p:cNvPr id="405" name="Google Shape;405;p27"/>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06" name="Google Shape;406;p2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08" name="Google Shape;408;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27a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Central complex and mushroom bodies in the ant brain</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central complex</a:t>
            </a:r>
            <a:r>
              <a:rPr b="0" i="0" lang="en-US" sz="1600" u="none" cap="none" strike="noStrike">
                <a:solidFill>
                  <a:srgbClr val="27323A"/>
                </a:solidFill>
                <a:latin typeface="Arial"/>
                <a:ea typeface="Arial"/>
                <a:cs typeface="Arial"/>
                <a:sym typeface="Arial"/>
              </a:rPr>
              <a:t> is a set of midline brain neuropils implicated in heading and navigation, and the mushroom bodies are paired structures implicated in memory-based processing. A neuropil is a region containing neuronal processes and synapses.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Grob and colleagues labelled Cataglyphis brains with anti-synapsin antibodies and fluorescent phalloidin, which marks actin-rich structures. The preparations identified mushroom-body collar microglomeruli and giant synapses in the lateral complex, with a 200 µm scale bar for the whole brain and 10 µm bars for the insets.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two visual pathways reach different integration centres, so the structures can be measured separately after the same experience. Counts of synaptic structures give each pathway its own anatomical endpoint.</a:t>
            </a:r>
            <a:endParaRPr/>
          </a:p>
        </p:txBody>
      </p:sp>
      <p:pic>
        <p:nvPicPr>
          <p:cNvPr descr="G22_1C.png" id="364" name="Google Shape;364;p24"/>
          <p:cNvPicPr preferRelativeResize="0"/>
          <p:nvPr/>
        </p:nvPicPr>
        <p:blipFill rotWithShape="1">
          <a:blip r:embed="rId2">
            <a:alphaModFix/>
          </a:blip>
          <a:srcRect b="0" l="0" r="0" t="0"/>
          <a:stretch/>
        </p:blipFill>
        <p:spPr>
          <a:xfrm>
            <a:off x="6504127" y="1280160"/>
            <a:ext cx="5120640" cy="3155801"/>
          </a:xfrm>
          <a:prstGeom prst="rect">
            <a:avLst/>
          </a:prstGeom>
          <a:noFill/>
          <a:ln>
            <a:noFill/>
          </a:ln>
        </p:spPr>
      </p:pic>
      <p:sp>
        <p:nvSpPr>
          <p:cNvPr id="365" name="Google Shape;365;p24"/>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66" name="Google Shape;366;p2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68" name="Google Shape;36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24a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Proprioception reports limb position and movement</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350" u="none" cap="none" strike="noStrike">
                <a:solidFill>
                  <a:srgbClr val="344F61"/>
                </a:solidFill>
                <a:latin typeface="Arial"/>
                <a:ea typeface="Arial"/>
                <a:cs typeface="Arial"/>
                <a:sym typeface="Arial"/>
              </a:rPr>
              <a:t>Proprioception</a:t>
            </a:r>
            <a:r>
              <a:rPr b="0" i="0" lang="en-US" sz="1350" u="none" cap="none" strike="noStrike">
                <a:solidFill>
                  <a:srgbClr val="27323A"/>
                </a:solidFill>
                <a:latin typeface="Arial"/>
                <a:ea typeface="Arial"/>
                <a:cs typeface="Arial"/>
                <a:sym typeface="Arial"/>
              </a:rPr>
              <a:t> is the sensing of the position and movement of one's own body parts. In an insect leg it supplies information about limb position and movement during each step, and it is one candidate input to a stride integrator.</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The 2007 experiments combined a 10 m navigational task with 250-frame-per-second video and leg-length manipulations. Tripod coordination was preserved after shortening, and stride changes were graded with the extent of shortening.</a:t>
            </a:r>
            <a:endParaRPr/>
          </a:p>
          <a:p>
            <a:pPr indent="0" lvl="0" marL="0" marR="0" rtl="0" algn="l">
              <a:lnSpc>
                <a:spcPct val="108000"/>
              </a:lnSpc>
              <a:spcBef>
                <a:spcPts val="0"/>
              </a:spcBef>
              <a:spcAft>
                <a:spcPts val="0"/>
              </a:spcAft>
              <a:buNone/>
            </a:pPr>
            <a:r>
              <a:rPr b="0" i="0" lang="en-US" sz="1350" u="none" cap="none" strike="noStrike">
                <a:solidFill>
                  <a:srgbClr val="27323A"/>
                </a:solidFill>
                <a:latin typeface="Arial"/>
                <a:ea typeface="Arial"/>
                <a:cs typeface="Arial"/>
                <a:sym typeface="Arial"/>
              </a:rPr>
              <a:t>Another candidate input is activity associated with generating the walking rhythm. A stride integrator accumulates information tied to rhythmic locomotion and does not need to register each footfall as a discrete counted object, so graded stride changes yield graded errors in distance.</a:t>
            </a:r>
            <a:endParaRPr/>
          </a:p>
        </p:txBody>
      </p:sp>
      <p:pic>
        <p:nvPicPr>
          <p:cNvPr descr="W07_3A.png" id="328" name="Google Shape;328;p21"/>
          <p:cNvPicPr preferRelativeResize="0"/>
          <p:nvPr/>
        </p:nvPicPr>
        <p:blipFill rotWithShape="1">
          <a:blip r:embed="rId2">
            <a:alphaModFix/>
          </a:blip>
          <a:srcRect b="0" l="0" r="0" t="0"/>
          <a:stretch/>
        </p:blipFill>
        <p:spPr>
          <a:xfrm>
            <a:off x="6504127" y="1280160"/>
            <a:ext cx="5120640" cy="2853024"/>
          </a:xfrm>
          <a:prstGeom prst="rect">
            <a:avLst/>
          </a:prstGeom>
          <a:noFill/>
          <a:ln>
            <a:noFill/>
          </a:ln>
        </p:spPr>
      </p:pic>
      <p:sp>
        <p:nvSpPr>
          <p:cNvPr id="329" name="Google Shape;329;p21"/>
          <p:cNvSpPr txBox="1"/>
          <p:nvPr/>
        </p:nvSpPr>
        <p:spPr>
          <a:xfrm>
            <a:off x="6504127" y="42246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
        <p:nvSpPr>
          <p:cNvPr id="330" name="Google Shape;330;p2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32" name="Google Shape;332;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21a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frequency and stride length are separate</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 frequency</a:t>
            </a:r>
            <a:r>
              <a:rPr b="0" i="0" lang="en-US" sz="1600" u="none" cap="none" strike="noStrike">
                <a:solidFill>
                  <a:srgbClr val="27323A"/>
                </a:solidFill>
                <a:latin typeface="Arial"/>
                <a:ea typeface="Arial"/>
                <a:cs typeface="Arial"/>
                <a:sym typeface="Arial"/>
              </a:rPr>
              <a:t> is the number of complete leg cycles per second, measured in hertz, and stride length is the distance advanced during one cycle. Walking speed depends on both, so an ant can run faster by cycling more quickly, by taking longer strides, or by both.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At comparable frequencies, stilt ants had longer relative strides and stump ants shorter relative strides than controls. The investigators used the measured frequency–length relationships to compare animals at 20 Hz.</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Comparing animals at one cycle frequency reduces the effect of unequal movement speeds on predicted homing distances. The remaining ordering of stilts, controls and stumps reflects the imposed limb geometry and the distance each stride advances the ant.</a:t>
            </a:r>
            <a:endParaRPr/>
          </a:p>
        </p:txBody>
      </p:sp>
      <p:pic>
        <p:nvPicPr>
          <p:cNvPr descr="W07_6.png" id="292" name="Google Shape;292;p18"/>
          <p:cNvPicPr preferRelativeResize="0"/>
          <p:nvPr/>
        </p:nvPicPr>
        <p:blipFill rotWithShape="1">
          <a:blip r:embed="rId2">
            <a:alphaModFix/>
          </a:blip>
          <a:srcRect b="0" l="0" r="0" t="0"/>
          <a:stretch/>
        </p:blipFill>
        <p:spPr>
          <a:xfrm>
            <a:off x="6504127" y="1280160"/>
            <a:ext cx="5120640" cy="4165349"/>
          </a:xfrm>
          <a:prstGeom prst="rect">
            <a:avLst/>
          </a:prstGeom>
          <a:noFill/>
          <a:ln>
            <a:noFill/>
          </a:ln>
        </p:spPr>
      </p:pic>
      <p:sp>
        <p:nvSpPr>
          <p:cNvPr id="293" name="Google Shape;293;p18"/>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94" name="Google Shape;294;p1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18a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Full width at half maximum measures search spread</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The </a:t>
            </a:r>
            <a:r>
              <a:rPr b="1" i="0" lang="en-US" sz="1650" u="none" cap="none" strike="noStrike">
                <a:solidFill>
                  <a:srgbClr val="344F61"/>
                </a:solidFill>
                <a:latin typeface="Arial"/>
                <a:ea typeface="Arial"/>
                <a:cs typeface="Arial"/>
                <a:sym typeface="Arial"/>
              </a:rPr>
              <a:t>full width at half maximum</a:t>
            </a:r>
            <a:r>
              <a:rPr b="0" i="0" lang="en-US" sz="1650" u="none" cap="none" strike="noStrike">
                <a:solidFill>
                  <a:srgbClr val="27323A"/>
                </a:solidFill>
                <a:latin typeface="Arial"/>
                <a:ea typeface="Arial"/>
                <a:cs typeface="Arial"/>
                <a:sym typeface="Arial"/>
              </a:rPr>
              <a:t> is the width of a distribution measured at half of its peak height. For a search density distribution it describes how broadly an ant spreads its search around the expected nest location, while the center of the distribution estimates that location.</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The test channel was divided into 10 cm bins. In the first test the full width at half maximum was 8.3 m for stilts, 6.0 m for normal legs, 5.2 m for stumps I and 4.1 m for stumps II.</a:t>
            </a:r>
            <a:endParaRPr/>
          </a:p>
          <a:p>
            <a:pPr indent="0" lvl="0" marL="0" marR="0" rtl="0" algn="l">
              <a:lnSpc>
                <a:spcPct val="108000"/>
              </a:lnSpc>
              <a:spcBef>
                <a:spcPts val="0"/>
              </a:spcBef>
              <a:spcAft>
                <a:spcPts val="0"/>
              </a:spcAft>
              <a:buNone/>
            </a:pPr>
            <a:r>
              <a:rPr b="0" i="0" lang="en-US" sz="1650" u="none" cap="none" strike="noStrike">
                <a:solidFill>
                  <a:srgbClr val="27323A"/>
                </a:solidFill>
                <a:latin typeface="Arial"/>
                <a:ea typeface="Arial"/>
                <a:cs typeface="Arial"/>
                <a:sym typeface="Arial"/>
              </a:rPr>
              <a:t>Stilts produced the broadest search and stumps II the narrowest. Spread and center both vary with leg length, so the plotted search curves differ in how widely the animal samples positions as well as in where it expects the nest.</a:t>
            </a:r>
            <a:endParaRPr/>
          </a:p>
        </p:txBody>
      </p:sp>
      <p:pic>
        <p:nvPicPr>
          <p:cNvPr descr="W07_5.png" id="256" name="Google Shape;256;p15"/>
          <p:cNvPicPr preferRelativeResize="0"/>
          <p:nvPr/>
        </p:nvPicPr>
        <p:blipFill rotWithShape="1">
          <a:blip r:embed="rId2">
            <a:alphaModFix/>
          </a:blip>
          <a:srcRect b="0" l="0" r="0" t="0"/>
          <a:stretch/>
        </p:blipFill>
        <p:spPr>
          <a:xfrm>
            <a:off x="6504127" y="1280160"/>
            <a:ext cx="5120640" cy="4103827"/>
          </a:xfrm>
          <a:prstGeom prst="rect">
            <a:avLst/>
          </a:prstGeom>
          <a:noFill/>
          <a:ln>
            <a:noFill/>
          </a:ln>
        </p:spPr>
      </p:pic>
      <p:sp>
        <p:nvSpPr>
          <p:cNvPr id="257" name="Google Shape;257;p15"/>
          <p:cNvSpPr txBox="1"/>
          <p:nvPr/>
        </p:nvSpPr>
        <p:spPr>
          <a:xfrm>
            <a:off x="6504127" y="547542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5. Widths of the nest-search distributions.</a:t>
            </a:r>
            <a:endParaRPr/>
          </a:p>
        </p:txBody>
      </p:sp>
      <p:sp>
        <p:nvSpPr>
          <p:cNvPr id="258" name="Google Shape;258;p1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15a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tripod gait alternates two sets of legs</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tripod gait</a:t>
            </a:r>
            <a:r>
              <a:rPr b="0" i="0" lang="en-US" sz="1600" u="none" cap="none" strike="noStrike">
                <a:solidFill>
                  <a:srgbClr val="27323A"/>
                </a:solidFill>
                <a:latin typeface="Arial"/>
                <a:ea typeface="Arial"/>
                <a:cs typeface="Arial"/>
                <a:sym typeface="Arial"/>
              </a:rPr>
              <a:t> alternates two sets of three supporting legs. In Cataglyphis one set combines the left front and hind legs with the right middle leg, and the complementary set uses the remaining three legs. At each step one set supports the body while the other swings.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filmed ants with high-speed video at 250 frames per second before and after manipulation. A normal example had a stride length of 13.3 mm at 0.28 m/s, and a stumps-II example kept tripod coordination with a 10.5 mm stride at 0.27 m/s.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stump ant walked at nearly the same speed with a shorter stride and the same alternating pattern. Shortening the legs reduces how far each step advances the body and leaves the basic coordination of the walking cycle in place.</a:t>
            </a:r>
            <a:endParaRPr/>
          </a:p>
        </p:txBody>
      </p:sp>
      <p:pic>
        <p:nvPicPr>
          <p:cNvPr descr="W07_3B.png" id="232" name="Google Shape;232;p13"/>
          <p:cNvPicPr preferRelativeResize="0"/>
          <p:nvPr/>
        </p:nvPicPr>
        <p:blipFill rotWithShape="1">
          <a:blip r:embed="rId2">
            <a:alphaModFix/>
          </a:blip>
          <a:srcRect b="0" l="0" r="0" t="0"/>
          <a:stretch/>
        </p:blipFill>
        <p:spPr>
          <a:xfrm>
            <a:off x="6504127" y="1280160"/>
            <a:ext cx="5120640" cy="2940498"/>
          </a:xfrm>
          <a:prstGeom prst="rect">
            <a:avLst/>
          </a:prstGeom>
          <a:noFill/>
          <a:ln>
            <a:noFill/>
          </a:ln>
        </p:spPr>
      </p:pic>
      <p:sp>
        <p:nvSpPr>
          <p:cNvPr id="233" name="Google Shape;233;p13"/>
          <p:cNvSpPr txBox="1"/>
          <p:nvPr/>
        </p:nvSpPr>
        <p:spPr>
          <a:xfrm>
            <a:off x="6504127" y="431209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3(B). Tripod gait after shortening the tibiae.</a:t>
            </a:r>
            <a:endParaRPr/>
          </a:p>
        </p:txBody>
      </p:sp>
      <p:sp>
        <p:nvSpPr>
          <p:cNvPr id="234" name="Google Shape;234;p1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36" name="Google Shape;236;p1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13a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Turning points mark the expected nest distance</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Turning points</a:t>
            </a:r>
            <a:r>
              <a:rPr b="0" i="0" lang="en-US" sz="1600" u="none" cap="none" strike="noStrike">
                <a:solidFill>
                  <a:srgbClr val="27323A"/>
                </a:solidFill>
                <a:latin typeface="Arial"/>
                <a:ea typeface="Arial"/>
                <a:cs typeface="Arial"/>
                <a:sym typeface="Arial"/>
              </a:rPr>
              <a:t> are the places where a searching ant reverses direction in a U-turn. After directed walking toward the expected nest position, the ant begins repeated turns, and the median of the first six turning points marks the centre of its search.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After a normal 10 m outbound journey, ants with lengthened legs searched at 15.30 m, ants with shortened legs at 5.75 m, and normal-legged controls at 10.20 m. The search centre moved in the direction of the change in stride length.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switch from directed walking to repeated U-turns is a behavioral readout of the distance the ant expects to have covered. A search centred beyond or short of the true nest indicates that the stored estimate was read out with strides of a different length.</a:t>
            </a:r>
            <a:endParaRPr/>
          </a:p>
        </p:txBody>
      </p:sp>
      <p:pic>
        <p:nvPicPr>
          <p:cNvPr descr="W06_3.png" id="196" name="Google Shape;196;p10"/>
          <p:cNvPicPr preferRelativeResize="0"/>
          <p:nvPr/>
        </p:nvPicPr>
        <p:blipFill rotWithShape="1">
          <a:blip r:embed="rId2">
            <a:alphaModFix/>
          </a:blip>
          <a:srcRect b="0" l="0" r="0" t="0"/>
          <a:stretch/>
        </p:blipFill>
        <p:spPr>
          <a:xfrm>
            <a:off x="6504127" y="1280160"/>
            <a:ext cx="5120640" cy="2891337"/>
          </a:xfrm>
          <a:prstGeom prst="rect">
            <a:avLst/>
          </a:prstGeom>
          <a:noFill/>
          <a:ln>
            <a:noFill/>
          </a:ln>
        </p:spPr>
      </p:pic>
      <p:sp>
        <p:nvSpPr>
          <p:cNvPr id="197" name="Google Shape;197;p10"/>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198" name="Google Shape;198;p1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00" name="Google Shape;200;p1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10a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An odometer estimates distance walked</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a:t>
            </a:r>
            <a:r>
              <a:rPr b="1" i="0" lang="en-US" sz="1600" u="none" cap="none" strike="noStrike">
                <a:solidFill>
                  <a:srgbClr val="344F61"/>
                </a:solidFill>
                <a:latin typeface="Arial"/>
                <a:ea typeface="Arial"/>
                <a:cs typeface="Arial"/>
                <a:sym typeface="Arial"/>
              </a:rPr>
              <a:t>odometer</a:t>
            </a:r>
            <a:r>
              <a:rPr b="0" i="0" lang="en-US" sz="1600" u="none" cap="none" strike="noStrike">
                <a:solidFill>
                  <a:srgbClr val="27323A"/>
                </a:solidFill>
                <a:latin typeface="Arial"/>
                <a:ea typeface="Arial"/>
                <a:cs typeface="Arial"/>
                <a:sym typeface="Arial"/>
              </a:rPr>
              <a:t> is a mechanism for estimating distance traveled. In an ant it must convert locomotion into a distance, and one possible basis is the length and number of strides. A stride is one complete movement cycle of a particular leg.</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trained </a:t>
            </a:r>
            <a:r>
              <a:rPr b="0" i="1" lang="en-US" sz="1600" u="none" cap="none" strike="noStrike">
                <a:solidFill>
                  <a:srgbClr val="27323A"/>
                </a:solidFill>
                <a:latin typeface="Arial"/>
                <a:ea typeface="Arial"/>
                <a:cs typeface="Arial"/>
                <a:sym typeface="Arial"/>
              </a:rPr>
              <a:t>Cataglyphis fortis</a:t>
            </a:r>
            <a:r>
              <a:rPr b="0" i="0" lang="en-US" sz="1600" u="none" cap="none" strike="noStrike">
                <a:solidFill>
                  <a:srgbClr val="27323A"/>
                </a:solidFill>
                <a:latin typeface="Arial"/>
                <a:ea typeface="Arial"/>
                <a:cs typeface="Arial"/>
                <a:sym typeface="Arial"/>
              </a:rPr>
              <a:t> to a feeder 10 m from the nest. At the feeder they lengthened legs with attached pig bristles to make stilts, or shortened legs to make stumps, and tested food-carrying ants in a separate channel.</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Because the modification was made after the outbound distance had been acquired, outbound and inbound strides differed in length. If stride length underlies the odometer, the ant should misjudge the distance home in a direction set by the change in leg length.</a:t>
            </a:r>
            <a:endParaRPr/>
          </a:p>
        </p:txBody>
      </p:sp>
      <p:pic>
        <p:nvPicPr>
          <p:cNvPr descr="W06_2.png" id="184" name="Google Shape;184;p9"/>
          <p:cNvPicPr preferRelativeResize="0"/>
          <p:nvPr/>
        </p:nvPicPr>
        <p:blipFill rotWithShape="1">
          <a:blip r:embed="rId2">
            <a:alphaModFix/>
          </a:blip>
          <a:srcRect b="0" l="0" r="0" t="0"/>
          <a:stretch/>
        </p:blipFill>
        <p:spPr>
          <a:xfrm>
            <a:off x="7306589" y="1280160"/>
            <a:ext cx="3515714"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2. Normal legs, stilts and stumps.</a:t>
            </a:r>
            <a:endParaRPr/>
          </a:p>
        </p:txBody>
      </p:sp>
      <p:sp>
        <p:nvSpPr>
          <p:cNvPr id="186" name="Google Shape;186;p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188" name="Google Shape;188;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09a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Polarized skylight gives a compass direction</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Polarized skylight</a:t>
            </a:r>
            <a:r>
              <a:rPr b="0" i="0" lang="en-US" sz="1600" u="none" cap="none" strike="noStrike">
                <a:solidFill>
                  <a:srgbClr val="27323A"/>
                </a:solidFill>
                <a:latin typeface="Arial"/>
                <a:ea typeface="Arial"/>
                <a:cs typeface="Arial"/>
                <a:sym typeface="Arial"/>
              </a:rPr>
              <a:t> is sky light whose electric field oscillates in a preferred orientation, and the pattern of orientations across the sky depends on the position of the sun. An ant can read a heading from this pattern even when direct sunlight is screened.</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Müller and Wehner compared homing errors while ants used the sun, polarized skylight, or both. Screening the sun removed direct solar information, and painting the dorsal rim of the compound eyes removed access to the specialized polarization-sensitive eye region.</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10 m and 5 m route still produced systematic errors in every condition. The bias in homing direction therefore arises in the path-integration process and does not depend on a single sky cue. Direct sunlight and polarization are related but separable compass inputs.</a:t>
            </a:r>
            <a:endParaRPr/>
          </a:p>
        </p:txBody>
      </p:sp>
      <p:pic>
        <p:nvPicPr>
          <p:cNvPr descr="M88_2.png" id="148" name="Google Shape;148;p6"/>
          <p:cNvPicPr preferRelativeResize="0"/>
          <p:nvPr/>
        </p:nvPicPr>
        <p:blipFill rotWithShape="1">
          <a:blip r:embed="rId2">
            <a:alphaModFix/>
          </a:blip>
          <a:srcRect b="0" l="0" r="0" t="0"/>
          <a:stretch/>
        </p:blipFill>
        <p:spPr>
          <a:xfrm>
            <a:off x="6504127" y="1280160"/>
            <a:ext cx="5120640" cy="3109381"/>
          </a:xfrm>
          <a:prstGeom prst="rect">
            <a:avLst/>
          </a:prstGeom>
          <a:noFill/>
          <a:ln>
            <a:noFill/>
          </a:ln>
        </p:spPr>
      </p:pic>
      <p:sp>
        <p:nvSpPr>
          <p:cNvPr id="149" name="Google Shape;149;p6"/>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50" name="Google Shape;150;p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52" name="Google Shape;152;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06a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Systematic error differs from random scatter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Systematic error</a:t>
            </a:r>
            <a:r>
              <a:rPr b="0" i="0" lang="en-US" sz="1500" u="none" cap="none" strike="noStrike">
                <a:solidFill>
                  <a:srgbClr val="27323A"/>
                </a:solidFill>
                <a:latin typeface="Arial"/>
                <a:ea typeface="Arial"/>
                <a:cs typeface="Arial"/>
                <a:sym typeface="Arial"/>
              </a:rPr>
              <a:t> is a directional deviation that changes predictably with an experimental manipulation, such as the turning angle of the outward path. Random scatter varies unpredictably among journeys and has no relation to the manipulation. The two kinds of deviation call for different explanations.</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Müller and Wehner trained ants on a 10 m leg followed by a 5 m leg and measured the angular difference between the true homeward direction and the expressed course. The error increased as the turning angle approached approximately 150° and reached about 20°.</a:t>
            </a:r>
            <a:endParaRPr/>
          </a:p>
          <a:p>
            <a:pPr indent="0" lvl="0" marL="0" marR="0" rtl="0" algn="l">
              <a:lnSpc>
                <a:spcPct val="108000"/>
              </a:lnSpc>
              <a:spcBef>
                <a:spcPts val="0"/>
              </a:spcBef>
              <a:spcAft>
                <a:spcPts val="0"/>
              </a:spcAft>
              <a:buNone/>
            </a:pPr>
            <a:r>
              <a:rPr b="0" i="0" lang="en-US" sz="1500" u="none" cap="none" strike="noStrike">
                <a:solidFill>
                  <a:srgbClr val="27323A"/>
                </a:solidFill>
                <a:latin typeface="Arial"/>
                <a:ea typeface="Arial"/>
                <a:cs typeface="Arial"/>
                <a:sym typeface="Arial"/>
              </a:rPr>
              <a:t>The error returned toward zero at the limiting straight or reversed arrangements. A deviation that depends on turning angle in this orderly way indicates that the integrator follows a consistent rule that approximates the true homeward direction.</a:t>
            </a:r>
            <a:endParaRPr/>
          </a:p>
        </p:txBody>
      </p:sp>
      <p:pic>
        <p:nvPicPr>
          <p:cNvPr descr="M88_2.png" id="136" name="Google Shape;136;p5"/>
          <p:cNvPicPr preferRelativeResize="0"/>
          <p:nvPr/>
        </p:nvPicPr>
        <p:blipFill rotWithShape="1">
          <a:blip r:embed="rId2">
            <a:alphaModFix/>
          </a:blip>
          <a:srcRect b="0" l="0" r="0" t="0"/>
          <a:stretch/>
        </p:blipFill>
        <p:spPr>
          <a:xfrm>
            <a:off x="6504127" y="1280160"/>
            <a:ext cx="5120640" cy="3109381"/>
          </a:xfrm>
          <a:prstGeom prst="rect">
            <a:avLst/>
          </a:prstGeom>
          <a:noFill/>
          <a:ln>
            <a:noFill/>
          </a:ln>
        </p:spPr>
      </p:pic>
      <p:sp>
        <p:nvSpPr>
          <p:cNvPr id="137" name="Google Shape;137;p5"/>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38" name="Google Shape;138;p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home vector is a direction and a distance</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A </a:t>
            </a:r>
            <a:r>
              <a:rPr b="1" i="0" lang="en-US" sz="1550" u="none" cap="none" strike="noStrike">
                <a:solidFill>
                  <a:srgbClr val="344F61"/>
                </a:solidFill>
                <a:latin typeface="Arial"/>
                <a:ea typeface="Arial"/>
                <a:cs typeface="Arial"/>
                <a:sym typeface="Arial"/>
              </a:rPr>
              <a:t>home vector</a:t>
            </a:r>
            <a:r>
              <a:rPr b="0" i="0" lang="en-US" sz="1550" u="none" cap="none" strike="noStrike">
                <a:solidFill>
                  <a:srgbClr val="27323A"/>
                </a:solidFill>
                <a:latin typeface="Arial"/>
                <a:ea typeface="Arial"/>
                <a:cs typeface="Arial"/>
                <a:sym typeface="Arial"/>
              </a:rPr>
              <a:t> is the direction and distance from the animal's current position back to its nest, computed continually from information gathered during movement. It is a single summary of the whole outward journey and does not store the sequence of turns that produced it.</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Müller and Wehner recorded a natural foraging trip of </a:t>
            </a:r>
            <a:r>
              <a:rPr b="0" i="1" lang="en-US" sz="1550" u="none" cap="none" strike="noStrike">
                <a:solidFill>
                  <a:srgbClr val="27323A"/>
                </a:solidFill>
                <a:latin typeface="Arial"/>
                <a:ea typeface="Arial"/>
                <a:cs typeface="Arial"/>
                <a:sym typeface="Arial"/>
              </a:rPr>
              <a:t>Cataglyphis fortis</a:t>
            </a:r>
            <a:r>
              <a:rPr b="0" i="0" lang="en-US" sz="1550" u="none" cap="none" strike="noStrike">
                <a:solidFill>
                  <a:srgbClr val="27323A"/>
                </a:solidFill>
                <a:latin typeface="Arial"/>
                <a:ea typeface="Arial"/>
                <a:cs typeface="Arial"/>
                <a:sym typeface="Arial"/>
              </a:rPr>
              <a:t> in Tunisia. The outward path measured 354.5 m and the maximum distance from the nest was 113.2 m. After finding food, the ant returned along a comparatively direct inbound route.</a:t>
            </a:r>
            <a:endParaRPr/>
          </a:p>
          <a:p>
            <a:pPr indent="0" lvl="0" marL="0" marR="0" rtl="0" algn="l">
              <a:lnSpc>
                <a:spcPct val="108000"/>
              </a:lnSpc>
              <a:spcBef>
                <a:spcPts val="0"/>
              </a:spcBef>
              <a:spcAft>
                <a:spcPts val="0"/>
              </a:spcAft>
              <a:buNone/>
            </a:pPr>
            <a:r>
              <a:rPr b="0" i="0" lang="en-US" sz="1550" u="none" cap="none" strike="noStrike">
                <a:solidFill>
                  <a:srgbClr val="27323A"/>
                </a:solidFill>
                <a:latin typeface="Arial"/>
                <a:ea typeface="Arial"/>
                <a:cs typeface="Arial"/>
                <a:sym typeface="Arial"/>
              </a:rPr>
              <a:t>A direct return after a long winding outward path indicates that the ant did not retrace its steps. The difference between outward path length and nest displacement separates route retracing from vector-guided homing, and the ant updates the vector with every segment of the trip.</a:t>
            </a:r>
            <a:endParaRPr/>
          </a:p>
        </p:txBody>
      </p:sp>
      <p:pic>
        <p:nvPicPr>
          <p:cNvPr descr="M88_1.png" id="100" name="Google Shape;100;p2"/>
          <p:cNvPicPr preferRelativeResize="0"/>
          <p:nvPr/>
        </p:nvPicPr>
        <p:blipFill rotWithShape="1">
          <a:blip r:embed="rId2">
            <a:alphaModFix/>
          </a:blip>
          <a:srcRect b="0" l="0" r="0" t="0"/>
          <a:stretch/>
        </p:blipFill>
        <p:spPr>
          <a:xfrm>
            <a:off x="7526414" y="1280160"/>
            <a:ext cx="3076065"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1. A natural outbound route and direct homeward return.</a:t>
            </a:r>
            <a:endParaRPr/>
          </a:p>
        </p:txBody>
      </p:sp>
      <p:sp>
        <p:nvSpPr>
          <p:cNvPr id="102" name="Google Shape;102;p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04" name="Google Shape;104;p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02a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