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5xuPbOdqAnh/LO4RD8Z6BKxX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 silkmoth pheromone plume-tracking (Kramer &amp; Cardé)</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24. NEUR 411 · NEUROETHOLOGY · FALL 2026. Wednesday, October 21,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Yamada et al. (2021), Fig. 1(A, photograph). Male silkmoth on the trackball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https://doi.org/10.7554/elife.72001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Bombyx mori follow intermittent bombykol contacts with forward surges and searching turns. The title uses the original published photograph of a male on Yamada and colleagues’ trackball preparation.</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Pheromones are chemical signals exchanged between members of a species. Male silkmoths, Bombyx mori, respond to the female pheromone bombykol with a forward walking surge, alternating zigzag turns and wider looping search when further odor contacts are absent.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Bombykol is the alcohol (E,Z)-10,12-hexadecadien-1-ol. A surge is forward progress rather than continuous rotation; the later zigzag phase can search for another odor encounter.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repeated stimulation rates of 0.83 and 2 Hz, mutants spent less time surging and more time turning. Detecting pheromone is therefore insufficient for efficient tracking: the sensory system must also distinguish successive encounters. These behavioral differences do not establish the identity of the central circuit generating each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filament is a strand of odor-bearing air; a gap is an interval without detectable signal. Intermittency describes those alternations, rather than the average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released negatively charged air ions as a tracer and recorded fluctuations at downwind detectors. Signals were present only about 20% of the time in both environments. Sampling extended to 20 m downwind in the field and 10 m in the forest.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establish a discontinuous physical input at the detector, not the activity of a silkmoth neuron. Ionized air approximates plume transport but is not chemically identical to pheromone. Responses to intermittent odor must therefore be interpreted in relation to both environmental structure and the sensory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1(a–g). Intermittent ion-tracer signals at several field and forest distances.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Bursts are groups of closely spaced tracer peaks separated by longer gaps. Murlis and colleagues compared their timing in field and forest recordings. Although signal occupancy was about 20% in both environments, equal occupancy did not imply equal patterns of odor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Burst structure distinguishes several rapid contacts followed by a long interruption from contacts distributed evenly through time. Both can have the same average occupancy.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gaps can permit searching movements to develop before odor returns. That behavioral implication follows from combining plume measurements with separate moth experiments; the tracer study itself did not identify a motor program or measure silkmoth source-finding success. A single mean concentration cannot describe the temporal challenge imposed by these plumes.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2(a–b). Field and forest burst-length and burst-return-period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electroantennogram,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involves Lymantria dispar and disparlure. The animal and ligand differ from Bombyx mori and bombykol, although both assays address intermittent antennal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pheromone source was positioned about 10 cm from the ion source. Ion bursts became weaker with distance, whereas EAG burst strength did not decrease in the same systematic way. Antennal responses also depended on how quickly consecutive stimuli arrived.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EAG voltage is therefore not a simple linear measure of airborne pheromone concentration. Receptor sensitivity and recovery shape the recorded waveform. These gypsy-moth measurements validate aspects of plume encounter timing but cannot be assigned directly to silkmoth receptor neurons or interpreted as recordings of a central neural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5(a–c). Ion-tracer signals compared with gypsy-moth antennal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exposed flying male tobacco budworms, Heliothis virescens, to single strands of their species-specific six-component pheromone blend. After interrupting an established plume, they delivered an isolated filament and synchronized its passage with calibrated lights moving at wind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Casting means repeated crosswind turns after odor contact is lost. The authors combined observations into a proposed phasic–tonic account, but the individual recorded tracks remain distinct from their calculated template.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average upwind surge covered 13.4 cm and lasted 0.38 s. Its onset followed odor contact by about 0.30 s. Males cast across the wind before and after the surge; no-filament control trials produced no upwind displacement by casting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brief sensory event can therefore trigger a motor response that outlasts the event. The measurement concerns flying tobacco budworms, not walking silkmoths, and its numerical latency must not be transferred between species. The experiment establishes the timing of behavior without identifying the neurons maintaining the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1(A). Recorded flight responses to single pheromone filaments.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varied pheromone delivery from 1 to 10 filaments/s while holding wind speed at 0.6 m/s. Each pulse lasted 20 ms, and air flow through the delivery device remained 5 mL/s. Flight trajectories were recorded from below the wind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figure contains recorded tracks and an author-derived comparison template. The template is a proposed description of repeated responses, rather than an additional animal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Fewer than 4 filaments/s activated males and elicited casting but did not sustain upwind flight. At 4 filaments/s, upwind trajectories remained tortuous. At 10 filaments/s, flight was straighter and contained less crosswind casting; 5 filaments/s produced an intermediate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encounters can renew forward responses before casting fully develops. Constant wind speed excludes wind-velocity changes as the explanation, although changing pulse rate also changes odor delivery through time. The experiment does not isolate every integrated-dose variable or establish an identical frequency threshold in Bombyx mori.</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2(A–B). Recorded flight tracks and heading distributions at 4 and 10 filaments/s.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recorded local pheromone encounters during free flight using an excised third antenna mounted on a male’s thorax. Both of the animal’s own antennae remained intact. The mounted antenna supplied an EAG while synchronized video recorded the carrier’s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disappearing EAG signal marks the absence of a detected local encounter, rather than proving that every receptor on both intact antennae became silent at precisely that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Loss of intermittent input can release a different search movement without requiring the moth to detect a spatial concentration gradient. The mounted antenna sampled odor near the head but did not measure spikes in the animal’s brain. Correlated contact and movement cannot identify a specific inhibitory or excitatory central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3(A–B). Flight paths synchronized with local electroantennogram contacts.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studied walking male Bombyx mori using a virtual reality preparation: movement on a trackball updated the animal’s position in a controlled odor field. Odor ports could stimulate the two antennae independently, while wind arrived from four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Closed-loop stimulation means the sensory inputs depend on the animal’s measured movement. Movement and input influence one another instead of following an entirely predetermined replay.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stimulation supplied optic flow, the movement of a visual scene associated with self-motion. Odor, wind and visual conditions could be combined or reversed independently. A search was successful when the virtual position entered a 10-mm radius around the source within 300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sensory influences that normally covary during walking. The authors compared performance with free-walking experiments, but a tethered virtual search still differs from unrestricted movement toward a real female. The experiment measures multisensory behavior rather than directly identifying the synapses that combine those cues.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1(A–C). Photograph and published sensory-control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Odor signals that an appropriate chemical has arrived; wind can supply information about transport direction. Reversing that direction creates a conflict between sensory cues rather than removing odor detection.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wind improved source-finding success relative to odor alone. Reversed wind reduced success and increased downwind headings. Visual motion without wind produced trajectories more similar to odor-only search than did the addition of wind.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Anemotaxis is orientation relative to wind. The results support a role for wind direction in silkmoth odor-guided walking, while visual effects depend on the sensory context. They do not establish that odor concentration itself supplies direction or that the animal uses one fixed search rule in every cue combination.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2(A–F). Walking paths with odor, wind and visual treatments.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Olfactory receptor neurons, or ORNs, are sensory cells that convert odor exposure into electrical activity. In male Bombyx mori, long sensilla trichodea, hairlike structures on the antenna, house paired pheromone-responsive neurons. Their sensory endings contact the fluid inside each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detects a chosen RNA sequence within cells. Its localization is evidence about gene expression, whereas a neuronal spike recording measures the electrical consequence of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used receptor-gene expression, fluorescent labeling and in situ hybridization to identify the bombykol-responsive population. BmOR1 is the ligand-selective receptor expressed by these neurons; the neighboring bombykal-responsive neuron expresses BmOR3. Bombykal is the corresponding aldehyde rather than the alcohol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separate receptor populations distinguish chemical channels before central processing. Expression and localization establish cell identity but do not by themselves measure ion flow or explain the behavioral meaning assigned to each channel. Those functions require electrophysiological and behavioral tests of the identified sensory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single-sensillum recording measures spikes near the sensory neurons housed in one antennal hair. Sakurai and colleagues distinguished the large-amplitude spikes of the bombykol neuron from the smaller spikes of the bombykal neuron while presenting chemically different ligands.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foreign receptor came from Plutella xylostella. Adding it to Bombyx neurons tests the relationship between molecular ligand recognition and the behavioral pathway already connected to those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males responded through the bombykol channel to bombykol but not to the diamondback-moth ligand Z11-16:Ald. Introducing its receptor, PxOR1, into BmOR1-expressing neurons added responses to that aldehyde while retaining the original bombykol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changed which chemical could excite an existing sensory channel. It did not convert the neighboring bombykal neuron or establish that all antennal hairs respond identically. Spike amplitude separates recorded units in this preparation; amplitude alone is not a universal molecular signature of a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used the GAL4/UAS system, a genetic driver-and-target arrangement, to express PxOR1 in Bombyx bombykol-responsive neurons. PxOR1 was added alongside the native receptor rather than replacing or deleting BmOR1. Males bearing only one genetic component served as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Genetic targeting restricts the added receptor to a selected cell population. Single-component controls test whether the complete expression system is necessary for the new ligand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selectivity can therefore change without changing the identity of the sensory pathway. Lower expression may contribute to differing response thresholds, but transcript abundance is not a direct count of functioning channels at the membrane. The experiment does not establish that receptor proteins themselves encode the motor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copulation attempt is not the same as mating success. The experiment measured elicited behavior and cannot establish reproductive compatibility between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connects receptor-neuron activation to initiation of a species-typical program. It does not imply that the foreign receptor contains a walking algorithm or that every aspect of successful reproduction was transferred. The central interpretation depends on the identity of the activated channel as well as the molecule detected.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3(A–C). Behavioral responses and walking turns to the newly detected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glomerulus is a region of concentrated sensory terminals and their interacting central neurons. The male silkmoth macroglomerular complex, or MGC, contains enlarged pheromone-processing glomeruli. BmOR1 sensory axons terminate in the toroid, a glomerulus dedicated to bombykol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toroid is a central target, whereas the receptor resides in the peripheral neuron. Preserving the target separates a change in ligand recognition from a wholesale remapping of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targeting supports an interpretation in which a changed peripheral detector gains access to established behavioral wiring. It does not prove that every synaptic weight or developmental property remained unchanged. Gross anatomical targeting and functional output are complementary evidence, rather than a complete synapse-by-synapse reconstruction.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4(A–B). Sensory axons maintain glomerular targets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functional bombykol receptor combines the ligand-selective subunit BmOR1 with Orco, a broadly conserved olfactory co-receptor. A heteromeric complex contains different protein subunits. The older silkmoth name BmOr2 refers to this co-receptor rather than a second bombykol-selective detector.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Ligand recognition and channel function are linked properties of the complex. Heterologous expression tests what the expressed proteins can do without recreating a complete antennal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evidence supports a ligand-gated, nonselective cation conductance associated with the receptor complex. Cations are positively charged ions; their movement can change membrane voltage. The published topology drawing was predicted from sequence, so it must not be treated as an experimentally solved atomic structure or proof of exact subunit stoichiometry.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outside-out patch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picoampere is one trillionth of an ampere. An opening current is a membrane measurement, whereas neuronal firing additionally depends on the neuron’s voltage-dependent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Excised-patch activation supports direct odor-gated channel activity without requiring the usual cytoplasmic signaling cascade. These particular single-channel measurements are not recordings of BmOR1 or Bombyx behavior. They support a shared receptor mechanism while leaving modulation in intact sensory neurons possible.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Sato et al. (2008), Fig. 4(a–e). Odor-gated currents in isolated oocyte membrane patches.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 selectivity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amino-acid notation identifies the original residue, its position and the replacement. E356Q replaces glutamate at position 356 with glutamine; it does not delete the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Replacing extracellular sodium with potassium allowed comparison of reversal potentials, the voltage at which net current changes direction. BmOR1 D299N and E356Q reduced relative potassium permeability; Orco Y464A increased it. Thus, substitutions in either protein could affect the ions carried by the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implicate both subunits in channel function. They do not establish an atomic pore structure, nor does every mutation altering current necessarily line the pore. Expression, protein assembly and allosteric effects remain possible contributors unless separated by additional controls.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2(A–C). Ion-substitution measurements identify selectivity-changing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Nakagawa and colleagues replaced selected receptor residues with cysteine, an amino acid whose exposed chemical group can react with a modifying reagent. They applied MTSET, a cysteine-reactive compound, while recording bombykol currents from oocytes expressing the modified receptor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Chemical accessibility means a reagent can reach a reactive group under the experimental conditions. Accessibility and altered current constrain channel hypotheses without establishing the complete three-dimensional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accessibility and functional importance of specific residues near the proteins’ carboxy-terminal regions. They do not prove that the reagent contacts a resolved pore wall. MTSET also reduced normal receptor responses, so mutant effects must be interpreted relative to that background effect rather than against an assumed inert control.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3(A–B). Cysteine substitution and chemical modification probe channel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Pheromone-binding protein,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recovery time constant describes how quickly the response approaches baseline. Delayed recovery can blur closely spaced inputs even when the initial odor remains detectable.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contributes to termination of the peripheral response as well as detection sensitivity. The knockout does not reveal precisely how the protein clears receptor stimulation. Capturing or redistributing pheromone are proposed explanations; the study does not establish that BmPBP1 enzymatically destroys bombykol.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1(A–D). Antennal response kinetics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Hertz means events per second. The 2-Hz treatment tests repeated contact at a rate that can sustain consecutive surges, whereas the lower rate permits longer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defect therefore concerns separation of successive encounters rather than complete sensory failure. The filter-paper load is not a measured airborne concentration at each receptor. Amplitude matching strengthens the timing interpretation but cannot reproduce every aspect of the native sensillum’s chemical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2(A–D). Antennal recovery to 0.17-Hz and 2-Hz pheromone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Similar total spike counts can conceal very different temporal patterns. A persistent response and a short burst may transmit equal counts while carrying different information about odor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action potential, or spike, is a brief regenerative electrical event transmitted along an axon. Prolonged spike output can obscure the boundary between separate odor contacts. These results link the EAG recovery defect to sensory-neuron activity without identifying the molecular step by which BmPBP1 shortens receptor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3(A–F). Single-neuron response termination under amplitude-matched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Surge rate here is the fraction of locomotion time spent surging. It differs from the frequency of presented odor pulses and from the speed of an individual forward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successive contacts restarted surges in both groups. At 0.83 and 2 Hz, knockouts had lower surge rates and more zigzag turning. They also produced fewer surges lasting more than 2 s during the 2-Hz train, despite the prolonged response to an isolated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longer sensory response does not necessarily produce more sustained forward progress under repeated stimulation. The authors proposed that poor separation of onsets prevents efficient resetting. The concordance among sensory and behavioral measurements supports this explanation without recording the intervening central circuit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time and success answer different questions. A sensory system can retain the ability to reach a source while losing the timing precision required for rapid progress.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loss of BmPBP1 therefore impairs efficient navigation without abolishing odor-guided searching. Dose comparisons and female-source tests weaken a simple insufficient-dose explanation. They do not establish that the mutant lacks spatial information entirely or isolate one central neuron responsible for the delayed arrival.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5(A–I). Source-finding performance for synthetic pheromone and females.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antennal lobe is the first central olfactory processing region. Bombykol-sensitive ORNs terminate in its toroid, where projection neurons, or PNs, carry processed information toward higher brain regions. Local interneurons connect within the antennal lobe and influence its input–output transformation.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neuropil is a region rich in neuronal processes and synapses. Anatomical labeling establishes where the sensory terminals lie; the calcium assay measures changing activity in those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Fujiwara and colleagues expressed GCaMP, a calcium-sensitive fluorescent protein, selectively in BmOR1 neurons. Their axon terminals were localized to the toroid. Calcium signals increased with bombykol source load and remained concentration dependent during repeated 200-ms pulses delivered every 1.2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Sensory-terminal signals thus retained dose dependence even when downstream PN firing became less dose dependent after repeated stimulation. The comparison locates an additional transformation within the central pathway. Calcium fluorescence is an indirect activity measure and cannot be equated numerically with the firing rate recorded from a PN.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4(A–G). Sensory-terminal anatomy and concentration-dependent calcium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4" name="Google Shape;35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Optogenetics uses a light-sensitive protein to control selected cells. Tabuchi and colleagues expressed channelrhodopsin-2, or ChR2, in Bombyx bombykol-sensitive ORNs. ChR2 is a light-gated membrane channel; this intervention bypassed odor delivery while retaining the existing pheromone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afferent signal travels from a sensory organ toward a central processing region. The fluorescently marked axons still entered the toroid, connecting the manipulated input to its known central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gives millisecond control over afferent timing, allowing central integration to be tested without uncertain plume transit or binding kinetics. Artificial light activation is not natural pheromone transduction. Its value is selective stimulation of an identified input channel, rather than replacement of the chemical mechanism under natural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1(A–H). Selective receptor-neuron activation and resulting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short stimulus can initiate multiple spikes. The effective input to the brain is that transmitted activity, rather than the duration of illumination considered in isolation.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distinction concerns the experimental neural input, not a universal conversion between milliseconds of light and pheromone concentration. The receptor neuron must be measured because light pulse duration alone does not specify transmitted spike output. Peripheral recordings also constrain claims that later amplification originates entirely in the sensory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2(A–C). Light pulses control sensory-neuron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delivered two 3-ms light pulses to the bombykol sensory channel while varying the interstimulus interval, the time separating the pulses. Each pulse alone supplied weak input. The experiment tested whether closely spaced inputs could combine to cross the behavioral response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threshold is a boundary for expression of the scored response, not a claim that subthreshold stimulation is undetected by every neuron in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intervals of 100–180 ms, only about 17–28% of males responded. When the interval was below 80 ms, responsiveness increased more than twofold. The response depended on timing even though the number and duration of presented pulses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 integration is the combination of inputs arriving over a limited period. The behavioral assay establishes a behaviorally relevant integration window but cannot alone identify its location. Projection-neuron recordings and sensory controls are needed to distinguish peripheral summation from a central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3(single panel). Short interstimulus intervals enhance behavioral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Closely timed weak inputs can become effective together even if either is insufficient by itself. This temporal dependence increases sensitivity to brief clustered encounters.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Supralinear integration means output exceeds simple addition of the separate responses. Residual synaptic depolarization is a proposed contributor to the PN effect, but these recordings do not identify its complete membrane mechanism. The agreement with behavior supports relevance without proving that one PN alone determines the motor threshold.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4(A–C). Weak and strong paired sensory inputs evoke different projection-neuron integration.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GABA-A receptors are associated with ion-channel inhibition, whereas GABA-B receptors signal through G proteins. The study establishes pharmacological involvement without resolving the exact synaptic implementation.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GABA-dependent inhibition therefore constrains integration when sensory input is strong, favoring temporal separation. The combined treatment cannot assign the effect to one receptor subtype, synapse or local interneuron. Weak-input integration persisted during blockade, suggesting that inhibition regulates an integration capacity rather than creating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5(A–C). GABA-receptor blockade exposes integration of strong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presented repeated 200-ms bombykol pulses every 1.2 s and recorded PN spike responses. After the response settled, they increased the source load from 1,000 to 2,000 ng or decreased it from 1,000 to 100 ng while maintaining pulse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increase can evoke a transient response after adaptation without permanently increasing the settled rate. That difference separates change sensitivity from a simple static dose-response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odorant concentration differentiator is the authors’ functional description of this change-sensitive transformation. It does not mean that a neuron explicitly computes a symbolic equation. Source load also differs from receptor-level airborne concentration; the conclusion applies to the calibrated stimulus changes and repeated-stimulation conditions tested.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3(A–D). Projection-neuron responses to increases and decreases in odor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recorded toroid PN spikes during repeated bombykol pulses at 0.83 Hz. The first response had a peak firing frequency that increased with source load. Later responses were initially suppressed and then recovered toward a settled output level.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antagonist reduces receptor-mediated effects. Blocking inhibition changes output, but it cannot by itself identify the exact inhibitory neuron or distinguish every presynaptic and postsynaptic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therefore changes which response features carry concentration information. Rate adaptation does not imply total loss of dose information. Picrotoxin, a GABA-A receptor antagonist, reduced suppression and restored stronger dose dependence, implicating inhibitory processing without resolving every synapse or membrane channel in the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accessory lobes, or LALs, are paired higher-order brain regions associated with pheromone-guided motor control. Descending neurons, or DNs, send axons from the brain toward the ventral nervous system and thoracic motor centers. Namiki and colleagues mapped their regional arborizations in Bombyx mori.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connective is a nerve pathway linking central ganglia. A neuron’s arborization is the branching region through which it can receive or distribute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dye introduced through the neck connectives labeled descending and ascending fibers. Confocal imaging revealed dense innervation in the posterior slope, a posterior–ventral neuropil. LAL neurons also extended processes into that region, linking two candidate sites of sensorimotor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constrains the possible routes by which pheromone information reaches motor pathways. Backfill labels fibers by their trajectory, not by neurotransmitter or response type, and includes ascending fibers as well. Dense fluorescence therefore cannot be interpreted as a count of pheromone-specific descending neurons or direct evidence of synaptic excitation.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brief trigger and a maintained state have different time courses. Persistence permits the nervous system to continue responding during an interruption of odor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flip-flopping activity is a persistent state change, rather than a new odor contact lasting several seconds. It is consistent with central maintenance of a searching command. Extracellular bundle recordings do not identify every contributing cell or prove that persistent firing alone produces a particular leg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6(A–E). Descending-neuron locations and persistent pheromone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sensory event can have different effects depending on current activity. A neuron already in its high state need not respond as if it were initially silent.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class, two recorded signals changed in synchrony; other recordings had an opposite relationship. The maintained activity could be interrupted or switched by a later pulse, so its duration was not determined solely by the duration of one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 state-dependent central transformation between odor contact and descending output. They do not establish a fully autonomous oscillator with a fixed period or a particular recurrent inhibitory synapse. Switching, synchrony and persistence are measured response properties; the circuitry generating them remains an explanatory hypothesis.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7(A–F). Repeated pheromone stimulation changes descending activity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distinguished antiphasic activity, in which one signal was high while the other was low, from synchronized state changes. Bilateral connective recordings revealed opposite states across sides; a small-bundle recording also separated large and small impulses with opposite switching patterns.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Antiphasic refers to the relationship between two signals. It does not require that either signal oscillate at a regular frequency or that the pair be directly connected.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named the antiphasic class FF and the synchronized class ff. Both could change after brief pheromone stimulation. Thus, the descending pathway contained more than one relationship among persistent outputs rather than one uniform bilateral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states are compatible with alternating directional commands during searching, but compatibility is not a causal demonstration of turning. Bundle recordings cannot reveal the complete synaptic connections or assign every spike to an identified motor pathway. The labels FF and ff describe response classes in the paper, not distinct molecular receptor types.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8(single panel). Opposite switching states in units recorded from a descending bundle.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labeled cell provides a candidate anatomical source of recorded activity. Establishing necessary or sufficient behavioral control would additionally require a selective intervention on that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supports participation of a group-II LAL descending neuron in the switching pathway. It does not establish that all group-II neurons share the same response or that this one cell is sufficient to create zigzag behavior. Staining and physiology restrict candidate pathways without revealing the complete mechanism maintaining the high and low states.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10(A–C). Stained group-II descending neuron and switching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Smooth and varicose processes are morphological features used to infer likely input and output regions. Light-microscopic shape does not establish the direction of every individual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transient group-III signals might contribute to the initial surge, whereas persistent signals could contribute to casting. This assignment remains a functional hypothesis because neuron-specific behavioral necessity was not tested. The route supplying pheromone input to the posterior slope also remained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9(a–e). Posterior-slope descending-neuron anatomy and odor-evoked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Serotonin,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neuromodulator changes how a circuit responds to another input. Here the initiating sensory signal remained bombykol, while serotonin altered the likelihood of responding.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10⁻⁴ mol/L, serotonin increased behavioral sensitivity. For 5 ng bombykol, the response fraction rose from 18% in the control condition to 30% during treatment. The dose-response curve returned toward the control condition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effect connects a central chemical manipulation to altered behavioral initiation. It does not imply that serotonin replaces pheromone or selectively controls one identified PN. Brain exposure and pharmacological application can affect several elements, so the cellular target and signaling pathway cannot be assigned solely from the behavioral curve.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2(single panel). Pheromone response curve before serotonin, during treatment and after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4" name="Google Shape;55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picomole is one trillionth of a mole. Tissue content measures total recovered material and differs from the applied solution’s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High-performance liquid chromatography, or HPLC, separated serotonin from other tissue compounds for electrochemical measurement. Brain content rose from about 0.18 pmol/brain in controls to 0.44 and 0.80 pmol/brain after the intermediate and high applications. After 24 h, content returned toward control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verify that application changed tissue serotonin while revealing opposite behavioral outcomes. Whole-brain content is not the concentration at one synapse, and the study did not identify distinct receptor pathways causing enhancement and inhibition. Dose-dependent effects constrain a simple uniformly excitatory explanation.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4(single panel). Measured brain serotonin after application and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9" name="Google Shape;56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applied the serotonin antagonists mianserin and ketanserin to the exposed brain before bombykol testing. Mianserin at 10⁻⁴ mol/L and ketanserin at 10⁻³ mol/L shifted behavioral responsiveness toward higher required pheromone doses.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noted possible actions beyond the intended receptor classes. Pharmacological specificity must be established before an antagonist is treated as a selective deletion of one neural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5 ng bombykol, mianserin reduced the response fraction from 46% to 33% in its comparison group. Ketanserin reduced it from 25% to 17% in a separate group. Ketanserin at 10⁻⁴ mol/L did not produce the same inhibitory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antagonist results support serotonergic involvement in behavioral sensitivity, but the drugs are not perfectly selective probes of an identified insect receptor. Different control response fractions belong to different experiments and should not be pooled. Incomplete recovery after 24 h also limits attributing every remaining change solely to persistent receptor blockade.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5(A–B). Serotonin antagonists decrease behavioral sensitivity to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4" name="Google Shape;58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measured brain serotonin every 4 h over a 24-h light–dark cycle and tested pheromone responsiveness at multiple times. Serotonin content peaked around noon at about 0.72 pmol/brain and declined to about 0.41 pmol/brain two hours after darkness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endogenous circadian rhythm continues without repeated external time cues. A daily pattern measured under scheduled light and darkness requires additional tests before that stronger claim can be made.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1 ng bombykol, behavioral responsiveness rose from 32% at 06:00 to 63% around noon, then declined to 16% at 22:00. Brain serotonin and response sensitivity therefore varied together over the tested daily schedule.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correlation is consistent with a state-dependent serotonergic contribution but does not prove that serotonin alone generates the rhythm. Measurements under a light–dark cycle also do not establish persistence of an endogenous circadian oscillator in constant conditions. Daily modulation and the separate application experiments provide different forms of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7(single panel). Brain serotonin content varies with time of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measured forward and angular velocity as a function of odor-detection frequency during virtual navigation. Angular velocity is the rate of change of heading, distinct from translational movement through space. Wind and optic-flow direction could be reversed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Frequency depends on the transported plume and the animal’s movement. An encounter rate cannot be treated as an invariant chemical distance ruler across environments.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behavioral changes establish context-dependent control rather than a fixed response to odor frequency alone. The proposed association between higher encounter rates and proximity to a female remains an interpretation, not proof that frequency uniquely determines distance. The experiment does not identify the central neurons performing the multisensory comparison.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5(A–C). Measured speed and turning changes with odor frequency and cue reversals.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2" name="Google Shape;61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compared search success, arrival time and success per unit time across combinations of odor, wind and visual input. All treatments retained odor information, allowing the contributions of other cues to be evaluated against an odor-only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improvement under combined cues need not arise from one anatomical convergence point. Several processing stages could contribute to the performance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multisensory control of walking odor-source search. Success within a 300-s virtual trial does not establish unrestricted navigation in a natural habitat or a complete sensory-to-motor circuit. Behavioral cue manipulations complement receptor and neuronal experiments while leaving the site and synaptic mechanism of integration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4(A–C). Source-finding success, time and performance across sensory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5" name="Google Shape;62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supported component mechanism should not be expanded into a fully established circuit. Peripheral timing, central integration and descending persistence were measured in different experimental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No cited study establishes every synapse from bombykol binding to a completed plume-tracking trajectory. GABA pharmacology, serotonin application and anatomical overlap constrain mechanisms without resolving all receptor subtypes, intrinsic channels or causal motor assignments. Natural searching combines these sensory and central operations with wind and visual information.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Plumes are intermittent. Turbulence creates odor contacts and gaps; encounter timing can renew surges or permit casting rather than supplying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identity gates behavior. Adding a foreign receptor to bombykol neurons changes which ligand initiates searching while preserving their central toroid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conduct cations. Ligand-selective OR and Orco subunits support odor-gated currents; patch recordings and residue substitutions constrain the channel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Termination supports tracking. BmPBP1 loss prolongs sensory responses, blurs repeated contacts and delays source finding despite preserved searching and eventual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is state dependent. Weak contacts can integrate over tens of milliseconds; GABA limits strong-input integration, and descending signals can persist for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depends on context. Serotonin alters responsiveness in a dose-dependent manner, while wind and visual feedback influence odor-guided movement and source-finding success.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Serotonin content tracks daily sensitivity.</a:t>
            </a:r>
          </a:p>
          <a:p>
            <a:r>
              <a:rPr lang="en-US" sz="1200"/>
              <a:t>• Explanation 1.</a:t>
            </a:r>
          </a:p>
          <a:p>
            <a:r>
              <a:rPr lang="en-US" sz="1200"/>
              <a:t>– Serotonin content peaked around noon at about 0.72 pmol per brain and declined to about 0.41 pmol per brain two hours after darkness began</a:t>
            </a:r>
          </a:p>
          <a:p>
            <a:r>
              <a:rPr lang="en-US" sz="1200"/>
              <a:t>– Measurements were taken every 4 h across the 24-h cycle. Serotonin content changed by a large margin across a single day. The measurements covered a full light-dark cycle. The daily peak was found near midday.</a:t>
            </a:r>
          </a:p>
          <a:p>
            <a:r>
              <a:rPr lang="en-US" sz="1200"/>
              <a:t>• Explanation 2.</a:t>
            </a:r>
          </a:p>
          <a:p>
            <a:r>
              <a:rPr lang="en-US" sz="1200"/>
              <a:t>– For 1 ng bombykol, behavioral responsiveness rose from 32% at 06:00 to 63% around noon, then declined to 16% at 22:00</a:t>
            </a:r>
          </a:p>
          <a:p>
            <a:r>
              <a:rPr lang="en-US" sz="1200"/>
              <a:t>– The sensitivity curve followed the serotonin rhythm across the day. The lowest responsiveness came in the late night. Responsiveness was measured at several times across the day. Responsiveness followed the same daily order as serotonin content.</a:t>
            </a:r>
          </a:p>
          <a:p>
            <a:r>
              <a:rPr lang="en-US" sz="1200"/>
              <a:t>• Explanation 3.</a:t>
            </a:r>
          </a:p>
          <a:p>
            <a:r>
              <a:rPr lang="en-US" sz="1200"/>
              <a:t>– Both measures were taken at matching times of day</a:t>
            </a:r>
          </a:p>
          <a:p>
            <a:r>
              <a:rPr lang="en-US" sz="1200"/>
              <a:t>– The shared timing links the brain's serotonin state to the strength of the search response. The pattern is a correlation across the day rather than a direct test of cause. The peak sensitivity and the peak serotonin content occurred in the same part of the day.</a:t>
            </a:r>
          </a:p>
          <a:p>
            <a:r>
              <a:rPr lang="en-US" sz="1200"/>
              <a:t>• Source.</a:t>
            </a:r>
          </a:p>
          <a:p>
            <a:r>
              <a:rPr lang="en-US" sz="1200"/>
              <a:t>– The figure and the measurements come from Gatellier et al. (2004).</a:t>
            </a:r>
          </a:p>
          <a:p>
            <a:r>
              <a:rPr lang="en-US" sz="1200"/>
              <a:t>– Each statement is tied to the recordings or observations of that study.</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Serotonin raises the response fraction.</a:t>
            </a:r>
          </a:p>
          <a:p>
            <a:r>
              <a:rPr lang="en-US" sz="1200"/>
              <a:t>• Explanation 1.</a:t>
            </a:r>
          </a:p>
          <a:p>
            <a:r>
              <a:rPr lang="en-US" sz="1200"/>
              <a:t>– For 5 ng bombykol, the response fraction rose from 18% in the control condition to 30% during serotonin treatment</a:t>
            </a:r>
          </a:p>
          <a:p>
            <a:r>
              <a:rPr lang="en-US" sz="1200"/>
              <a:t>– That increase shows the same dose producing more behavioral responses. The curve shifted toward higher sensitivity at a fixed pheromone dose. Responses were scored as a fraction of tested males. The rise was measured against a saline-treated baseline.</a:t>
            </a:r>
          </a:p>
          <a:p>
            <a:r>
              <a:rPr lang="en-US" sz="1200"/>
              <a:t>• Explanation 2.</a:t>
            </a:r>
          </a:p>
          <a:p>
            <a:r>
              <a:rPr lang="en-US" sz="1200"/>
              <a:t>– Sensitivity drifted back toward baseline 24 h after application</a:t>
            </a:r>
          </a:p>
          <a:p>
            <a:r>
              <a:rPr lang="en-US" sz="1200"/>
              <a:t>– The curve moved back toward its original control position, and the recovery indicates that the effect was partly temporary. The change in responsiveness was partly reversible. A full dose-response curve was recorded at each time point. Sensitivity recovered toward its earlier level over the following day.</a:t>
            </a:r>
          </a:p>
          <a:p>
            <a:r>
              <a:rPr lang="en-US" sz="1200"/>
              <a:t>• Explanation 3.</a:t>
            </a:r>
          </a:p>
          <a:p>
            <a:r>
              <a:rPr lang="en-US" sz="1200"/>
              <a:t>– Brain exposure and pharmacological application can affect several elements at once</a:t>
            </a:r>
          </a:p>
          <a:p>
            <a:r>
              <a:rPr lang="en-US" sz="1200"/>
              <a:t>– The cellular target is inferred from the behavioral curve rather than measured directly. Identifying that target would need a more selective manipulation. The application site was the exposed brain, which is a broad target. Several cell types in that region could respond. Modulation is a change in gain, not in the stimulus.</a:t>
            </a:r>
          </a:p>
          <a:p>
            <a:r>
              <a:rPr lang="en-US" sz="1200"/>
              <a:t>• Source.</a:t>
            </a:r>
          </a:p>
          <a:p>
            <a:r>
              <a:rPr lang="en-US" sz="1200"/>
              <a:t>– The figure and the measurements come from Gatellier et al. (2004).</a:t>
            </a:r>
          </a:p>
          <a:p>
            <a:r>
              <a:rPr lang="en-US" sz="1200"/>
              <a:t>– Each statement is tied to the recordings or observations of that study.</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FF and ff name opposite and synchronized classes.</a:t>
            </a:r>
          </a:p>
          <a:p>
            <a:r>
              <a:rPr lang="en-US" sz="1200"/>
              <a:t>• Explanation 1.</a:t>
            </a:r>
          </a:p>
          <a:p>
            <a:r>
              <a:rPr lang="en-US" sz="1200"/>
              <a:t>– The authors named the antiphasic class FF and the synchronized class ff</a:t>
            </a:r>
          </a:p>
          <a:p>
            <a:r>
              <a:rPr lang="en-US" sz="1200"/>
              <a:t>– These labels appear throughout the paper's recordings and identify the two response classes. The paper treats these classes as response patterns, not as receptor types. Their names mark two distinct patterns across the recorded signals. Neither label implies a particular receptor or molecular cause.</a:t>
            </a:r>
          </a:p>
          <a:p>
            <a:r>
              <a:rPr lang="en-US" sz="1200"/>
              <a:t>• Explanation 2.</a:t>
            </a:r>
          </a:p>
          <a:p>
            <a:r>
              <a:rPr lang="en-US" sz="1200"/>
              <a:t>– Bilateral connective recordings revealed opposite states across the two sides</a:t>
            </a:r>
          </a:p>
          <a:p>
            <a:r>
              <a:rPr lang="en-US" sz="1200"/>
              <a:t>– A small-bundle recording separated large and small impulses with opposite switching patterns. The two impulse sizes carried opposite switching behavior within one bundle, a result that the bilateral data alone would miss. Those states describe two sides of the same descending system. The pattern was visible on both connectives.</a:t>
            </a:r>
          </a:p>
          <a:p>
            <a:r>
              <a:rPr lang="en-US" sz="1200"/>
              <a:t>• Explanation 3.</a:t>
            </a:r>
          </a:p>
          <a:p>
            <a:r>
              <a:rPr lang="en-US" sz="1200"/>
              <a:t>– Antiphasic activity means one signal is high while the other is low</a:t>
            </a:r>
          </a:p>
          <a:p>
            <a:r>
              <a:rPr lang="en-US" sz="1200"/>
              <a:t>– The relationship requires no regular oscillation and no direct connection between the two signals. Synchronized state changes instead move both signals in the same direction at the same time. Synchronized changes are the second pattern in the paper's classification. Both patterns are relationships between signals, not single responses.</a:t>
            </a:r>
          </a:p>
          <a:p>
            <a:r>
              <a:rPr lang="en-US" sz="1200"/>
              <a:t>• Source.</a:t>
            </a:r>
          </a:p>
          <a:p>
            <a:r>
              <a:rPr lang="en-US" sz="1200"/>
              <a:t>– The figure and the measurements come from Kanzaki et al. (1994).</a:t>
            </a:r>
          </a:p>
          <a:p>
            <a:r>
              <a:rPr lang="en-US" sz="1200"/>
              <a:t>– Each statement is tied to the recordings or observations of that study.</a:t>
            </a:r>
          </a:p>
          <a:p>
            <a:r>
              <a:rPr lang="en-US" sz="1200"/>
              <a:t/>
            </a:r>
          </a:p>
          <a:p>
            <a:r>
              <a:rPr lang="en-US" sz="1200"/>
              <a:t>References:</a:t>
            </a:r>
          </a:p>
          <a:p>
            <a:r>
              <a:rPr lang="en-US" sz="1200"/>
              <a:t>Kanzaki R, Ikeda A, Shibuya T (1994). Morphological and physiological properties of pheromone-triggered flipflopping descending interneurons of the male silkworm moth, Bombyx mori. Journal of Comparative Physiology A 175(1):1–14. https://doi.org/10.1007/bf00217431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Dye labels both fiber directions.</a:t>
            </a:r>
          </a:p>
          <a:p>
            <a:r>
              <a:rPr lang="en-US" sz="1200"/>
              <a:t>• Explanation 1.</a:t>
            </a:r>
          </a:p>
          <a:p>
            <a:r>
              <a:rPr lang="en-US" sz="1200"/>
              <a:t>– Fluorescent dye introduced through the neck connectives labeled both descending and ascending fibers</a:t>
            </a:r>
          </a:p>
          <a:p>
            <a:r>
              <a:rPr lang="en-US" sz="1200"/>
              <a:t>– Backfill labeling includes fibers that carry signals toward the brain as well as away from it. The staining map thus covers both directions of travel along the connectives. The dye was introduced through the neck connectives, so the labels reflect fibers that run along that route.</a:t>
            </a:r>
          </a:p>
          <a:p>
            <a:r>
              <a:rPr lang="en-US" sz="1200"/>
              <a:t>• Explanation 2.</a:t>
            </a:r>
          </a:p>
          <a:p>
            <a:r>
              <a:rPr lang="en-US" sz="1200"/>
              <a:t>– Confocal imaging showed dense labeling in the posterior slope, a posterior-ventral neuropil</a:t>
            </a:r>
          </a:p>
          <a:p>
            <a:r>
              <a:rPr lang="en-US" sz="1200"/>
              <a:t>– Dense labeling in one neuropil shows where fibers from the dye concentrate, and the cell types in those fibers need separate identification. The labeling was imaged with confocal microscopy, a method that produces optical sections. Optical sections separate the labeled fibers from one another in depth.</a:t>
            </a:r>
          </a:p>
          <a:p>
            <a:r>
              <a:rPr lang="en-US" sz="1200"/>
              <a:t>• Explanation 3.</a:t>
            </a:r>
          </a:p>
          <a:p>
            <a:r>
              <a:rPr lang="en-US" sz="1200"/>
              <a:t>– The staining included ascending fibers in the same preparation, so the map covers the full set of labeled routes rather than the outgoing neurons alone</a:t>
            </a:r>
          </a:p>
          <a:p>
            <a:r>
              <a:rPr lang="en-US" sz="1200"/>
              <a:t>– Each labeled route is a candidate pathway for pheromone information, and its identity is defined by its anatomy. Physiological recordings are needed to test each route. The mapping is an anatomical first step.</a:t>
            </a:r>
          </a:p>
          <a:p>
            <a:r>
              <a:rPr lang="en-US" sz="1200"/>
              <a:t>• Source.</a:t>
            </a:r>
          </a:p>
          <a:p>
            <a:r>
              <a:rPr lang="en-US" sz="1200"/>
              <a:t>– The figure and the measurements come from Namiki et al. (2018).</a:t>
            </a:r>
          </a:p>
          <a:p>
            <a:r>
              <a:rPr lang="en-US" sz="1200"/>
              <a:t>– Each statement is tied to the recordings or observations of that study.</a:t>
            </a:r>
          </a:p>
          <a:p>
            <a:r>
              <a:rPr lang="en-US" sz="1200"/>
              <a:t/>
            </a:r>
          </a:p>
          <a:p>
            <a:r>
              <a:rPr lang="en-US" sz="1200"/>
              <a:t>References:</a:t>
            </a:r>
          </a:p>
          <a:p>
            <a:r>
              <a:rPr lang="en-US" sz="1200"/>
              <a:t>Namiki S, Wada S, Kanzaki R (2018). Descending neurons from the lateral accessory lobe and posterior slope in the brain of the silkmoth Bombyx mori. Scientific Reports 8(1):9663. https://doi.org/10.1038/s41598-018-27954-5</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GABA blockade exposes strong-input integration.</a:t>
            </a:r>
          </a:p>
          <a:p>
            <a:r>
              <a:rPr lang="en-US" sz="1200"/>
              <a:t>• Explanation 1.</a:t>
            </a:r>
          </a:p>
          <a:p>
            <a:r>
              <a:rPr lang="en-US" sz="1200"/>
              <a:t>– After blockade, strong inputs separated by about 40-100 ms could produce supralinear integration in the projection neurons</a:t>
            </a:r>
          </a:p>
          <a:p>
            <a:r>
              <a:rPr lang="en-US" sz="1200"/>
              <a:t>– Before blockade, the same strong inputs did not integrate in this way. The integration window opened once inhibition was removed. The window was absent in normal PNs with inhibition intact. The contrast between normal and blocked preparations is the central result.</a:t>
            </a:r>
          </a:p>
          <a:p>
            <a:r>
              <a:rPr lang="en-US" sz="1200"/>
              <a:t>• Explanation 2.</a:t>
            </a:r>
          </a:p>
          <a:p>
            <a:r>
              <a:rPr lang="en-US" sz="1200"/>
              <a:t>– GABA-A receptors are associated with ion-channel inhibition, whereas GABA-B receptors signal through G proteins</a:t>
            </a:r>
          </a:p>
          <a:p>
            <a:r>
              <a:rPr lang="en-US" sz="1200"/>
              <a:t>– Those signaling mechanisms differ, and the combined blockade treats both receptor classes together. The pharmacology identifies GABA signaling as a whole rather than one subtype. The combined treatment tested the whole GABA system. The blockers were applied during the PN recordings.</a:t>
            </a:r>
          </a:p>
          <a:p>
            <a:r>
              <a:rPr lang="en-US" sz="1200"/>
              <a:t>• Explanation 3.</a:t>
            </a:r>
          </a:p>
          <a:p>
            <a:r>
              <a:rPr lang="en-US" sz="1200"/>
              <a:t>– Spontaneous and light-evoked firing also increased after blockade, consistent with removal of inhibition</a:t>
            </a:r>
          </a:p>
          <a:p>
            <a:r>
              <a:rPr lang="en-US" sz="1200"/>
              <a:t>– The rise in baseline firing is a second effect of the same treatment, separate from the change in how strong inputs combine. The increase persisted during the recordings. Strong inputs had a larger effect after blockade. Their rise was visible in the same cells.</a:t>
            </a:r>
          </a:p>
          <a:p>
            <a:r>
              <a:rPr lang="en-US" sz="1200"/>
              <a:t>• Source.</a:t>
            </a:r>
          </a:p>
          <a:p>
            <a:r>
              <a:rPr lang="en-US" sz="1200"/>
              <a:t>– The figure and the measurements come from Tabuchi et al. (2013).</a:t>
            </a:r>
          </a:p>
          <a:p>
            <a:r>
              <a:rPr lang="en-US" sz="1200"/>
              <a:t>– Each statement is tied to the recordings or observations of that study.</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Light pulse duration sets weak and strong input.</a:t>
            </a:r>
          </a:p>
          <a:p>
            <a:r>
              <a:rPr lang="en-US" sz="1200"/>
              <a:t>• Explanation 1.</a:t>
            </a:r>
          </a:p>
          <a:p>
            <a:r>
              <a:rPr lang="en-US" sz="1200"/>
              <a:t>– Tabuchi and colleagues used a 3-ms pulse, which sat near behavioral threshold, and a 10-ms pulse, which produced strong behavioral responsiveness</a:t>
            </a:r>
          </a:p>
          <a:p>
            <a:r>
              <a:rPr lang="en-US" sz="1200"/>
              <a:t>– These two durations defined weak and strong input for this optogenetic preparation. The 3-ms duration was then used for the paired-pulse tests. The contrast between these two durations was the basis of the test.</a:t>
            </a:r>
          </a:p>
          <a:p>
            <a:r>
              <a:rPr lang="en-US" sz="1200"/>
              <a:t>• Explanation 2.</a:t>
            </a:r>
          </a:p>
          <a:p>
            <a:r>
              <a:rPr lang="en-US" sz="1200"/>
              <a:t>– Parental genetic controls lacked the light response, which ties the response to the introduced channel</a:t>
            </a:r>
          </a:p>
          <a:p>
            <a:r>
              <a:rPr lang="en-US" sz="1200"/>
              <a:t>– Increasing the pulse duration raised the spike output of the targeted unit, so the input could be graded. Light intensity had the same effect, so both parameters set how strongly the sensory neuron fired. The sensory neuron's output was the quantity being controlled.</a:t>
            </a:r>
          </a:p>
          <a:p>
            <a:r>
              <a:rPr lang="en-US" sz="1200"/>
              <a:t>• Explanation 3.</a:t>
            </a:r>
          </a:p>
          <a:p>
            <a:r>
              <a:rPr lang="en-US" sz="1200"/>
              <a:t>– Peripheral recordings also constrain claims that later amplification originates entirely in the sensory neuron</a:t>
            </a:r>
          </a:p>
          <a:p>
            <a:r>
              <a:rPr lang="en-US" sz="1200"/>
              <a:t>– The measured spikes set the limit on what the central pathway receives. Recording the receptor neuron directly gives the transmitted input itself. Spike counts from one unit are a direct readout of its input. The readout is the unit's spikes, not the light itself.</a:t>
            </a:r>
          </a:p>
          <a:p>
            <a:r>
              <a:rPr lang="en-US" sz="1200"/>
              <a:t>• Source.</a:t>
            </a:r>
          </a:p>
          <a:p>
            <a:r>
              <a:rPr lang="en-US" sz="1200"/>
              <a:t>– The figure and the measurements come from Tabuchi et al. (2013).</a:t>
            </a:r>
          </a:p>
          <a:p>
            <a:r>
              <a:rPr lang="en-US" sz="1200"/>
              <a:t>– Each statement is tied to the recordings or observations of that study.</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Arrival delay reveals a timing deficit.</a:t>
            </a:r>
          </a:p>
          <a:p>
            <a:r>
              <a:rPr lang="en-US" sz="1200"/>
              <a:t>• Explanation 1.</a:t>
            </a:r>
          </a:p>
          <a:p>
            <a:r>
              <a:rPr lang="en-US" sz="1200"/>
              <a:t>– Normal moths received 1-100 ng bombykol source loads, while knockouts received 100-10,000 ng to compensate for lower sensitivity</a:t>
            </a:r>
          </a:p>
          <a:p>
            <a:r>
              <a:rPr lang="en-US" sz="1200"/>
              <a:t>– The two dose ranges overlap at 100 ng, and the knockout range reached loads 100-fold higher. Those loads were matched to the reduced sensitivity rather than to the stimulus timing. The knockout loads were set well above the normal range.</a:t>
            </a:r>
          </a:p>
          <a:p>
            <a:r>
              <a:rPr lang="en-US" sz="1200"/>
              <a:t>• Explanation 2.</a:t>
            </a:r>
          </a:p>
          <a:p>
            <a:r>
              <a:rPr lang="en-US" sz="1200"/>
              <a:t>– A sensory system can keep the ability to reach a source while losing the timing precision needed for rapid progress</a:t>
            </a:r>
          </a:p>
          <a:p>
            <a:r>
              <a:rPr lang="en-US" sz="1200"/>
              <a:t>– Arrival time was the measure that revealed the knockout deficit. Success alone would have hidden the delay, because both groups eventually located the source. Success was a weaker measure of the defect than arrival time.</a:t>
            </a:r>
          </a:p>
          <a:p>
            <a:r>
              <a:rPr lang="en-US" sz="1200"/>
              <a:t>• Explanation 3.</a:t>
            </a:r>
          </a:p>
          <a:p>
            <a:r>
              <a:rPr lang="en-US" sz="1200"/>
              <a:t>– Source-finding success and time were measured separately, so a delay could be identified even when the males found the source</a:t>
            </a:r>
          </a:p>
          <a:p>
            <a:r>
              <a:rPr lang="en-US" sz="1200"/>
              <a:t>– The knockout males showed briefer forward bouts and extra turning along the route. These differences appeared in the same wind tunnel trials that produced the success results. The delay was an arrival effect, not an inability to find the source.</a:t>
            </a:r>
          </a:p>
          <a:p>
            <a:r>
              <a:rPr lang="en-US" sz="1200"/>
              <a:t>• Source.</a:t>
            </a:r>
          </a:p>
          <a:p>
            <a:r>
              <a:rPr lang="en-US" sz="1200"/>
              <a:t>– The figure and the measurements come from Shiota et al. (2021).</a:t>
            </a:r>
          </a:p>
          <a:p>
            <a:r>
              <a:rPr lang="en-US" sz="1200"/>
              <a:t>– Each statement is tied to the recordings or observations of that study.</a:t>
            </a:r>
          </a:p>
          <a:p>
            <a:r>
              <a:rPr lang="en-US" sz="1200"/>
              <a:t/>
            </a:r>
          </a:p>
          <a:p>
            <a:r>
              <a:rPr lang="en-US" sz="1200"/>
              <a:t>References:</a:t>
            </a:r>
          </a:p>
          <a:p>
            <a:r>
              <a:rPr lang="en-US" sz="1200"/>
              <a:t>Shiota Y, Sakurai T, Ando N, Haupt SS, Mitsuno H, Daimon T, Kanzaki R (2021). Pheromone binding protein is involved in temporal olfactory resolution in the silkmoth. iScience 24(11):103334. https://doi.org/10.1016/j.isci.2021.103334</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Matched loads compensate for lower sensitivity.</a:t>
            </a:r>
          </a:p>
          <a:p>
            <a:r>
              <a:rPr lang="en-US" sz="1200"/>
              <a:t>• Explanation 1.</a:t>
            </a:r>
          </a:p>
          <a:p>
            <a:r>
              <a:rPr lang="en-US" sz="1200"/>
              <a:t>– Shiota and colleagues used 100 ng of bombykol for the normal group and 10,000 ng for the knockout group</a:t>
            </a:r>
          </a:p>
          <a:p>
            <a:r>
              <a:rPr lang="en-US" sz="1200"/>
              <a:t>– The larger knockout load was chosen to compensate for the lower knockout sensitivity. Matching the response amplitudes in this way kept the timing comparison from being driven by size. The matching was done on response size, not on stimulus timing.</a:t>
            </a:r>
          </a:p>
          <a:p>
            <a:r>
              <a:rPr lang="en-US" sz="1200"/>
              <a:t>• Explanation 2.</a:t>
            </a:r>
          </a:p>
          <a:p>
            <a:r>
              <a:rPr lang="en-US" sz="1200"/>
              <a:t>– Pulses were delivered at 0.17 Hz and at 2 Hz in these trains</a:t>
            </a:r>
          </a:p>
          <a:p>
            <a:r>
              <a:rPr lang="en-US" sz="1200"/>
              <a:t>– At 2 Hz, several knockout preparations never returned to baseline throughout the train, whereas normal antennae recovered rapidly. The knockout trace carried residual voltage from one pulse into the next. The difference between the two groups appeared at the faster rate.</a:t>
            </a:r>
          </a:p>
          <a:p>
            <a:r>
              <a:rPr lang="en-US" sz="1200"/>
              <a:t>• Explanation 3.</a:t>
            </a:r>
          </a:p>
          <a:p>
            <a:r>
              <a:rPr lang="en-US" sz="1200"/>
              <a:t>– The remaining voltage between responses was larger in the knockout</a:t>
            </a:r>
          </a:p>
          <a:p>
            <a:r>
              <a:rPr lang="en-US" sz="1200"/>
              <a:t>– That residual voltage is the trace of earlier stimuli that had not yet decayed when the next pulse arrived. Each successive pulse started from a higher baseline in the knockout trains. Those trains were analyzed for the voltage left between pulses. That measure reflects the slowed termination.</a:t>
            </a:r>
          </a:p>
          <a:p>
            <a:r>
              <a:rPr lang="en-US" sz="1200"/>
              <a:t>• Source.</a:t>
            </a:r>
          </a:p>
          <a:p>
            <a:r>
              <a:rPr lang="en-US" sz="1200"/>
              <a:t>– The figure and the measurements come from Shiota et al. (2021).</a:t>
            </a:r>
          </a:p>
          <a:p>
            <a:r>
              <a:rPr lang="en-US" sz="1200"/>
              <a:t>– Each statement is tied to the recordings or observations of that study.</a:t>
            </a:r>
          </a:p>
          <a:p>
            <a:r>
              <a:rPr lang="en-US" sz="1200"/>
              <a:t/>
            </a:r>
          </a:p>
          <a:p>
            <a:r>
              <a:rPr lang="en-US" sz="1200"/>
              <a:t>References:</a:t>
            </a:r>
          </a:p>
          <a:p>
            <a:r>
              <a:rPr lang="en-US" sz="1200"/>
              <a:t>Shiota Y, Sakurai T, Ando N, Haupt SS, Mitsuno H, Daimon T, Kanzaki R (2021). Pheromone binding protein is involved in temporal olfactory resolution in the silkmoth. iScience 24(11):103334. https://doi.org/10.1016/j.isci.2021.103334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Residue substitutions shift potassium permeability.</a:t>
            </a:r>
          </a:p>
          <a:p>
            <a:r>
              <a:rPr lang="en-US" sz="1200"/>
              <a:t>• Explanation 1.</a:t>
            </a:r>
          </a:p>
          <a:p>
            <a:r>
              <a:rPr lang="en-US" sz="1200"/>
              <a:t>– BmOR1 D299N and E356Q reduced relative potassium permeability, while Orco Y464A increased it</a:t>
            </a:r>
          </a:p>
          <a:p>
            <a:r>
              <a:rPr lang="en-US" sz="1200"/>
              <a:t>– Those three substitutions moved permeability in opposite directions across the two subunits. Because permeability sets the reversal potential, these shifts changed the ion balance of the complex in opposite ways. Each change alters one residue in one of the two subunits.</a:t>
            </a:r>
          </a:p>
          <a:p>
            <a:r>
              <a:rPr lang="en-US" sz="1200"/>
              <a:t>• Explanation 2.</a:t>
            </a:r>
          </a:p>
          <a:p>
            <a:r>
              <a:rPr lang="en-US" sz="1200"/>
              <a:t>– The notation names the original residue, its position and the replacement</a:t>
            </a:r>
          </a:p>
          <a:p>
            <a:r>
              <a:rPr lang="en-US" sz="1200"/>
              <a:t>– E356Q replaces glutamate at position 356 with glutamine, and the substitution keeps the receptor intact rather than deleting it. A residue name encodes the change at one position without removing the protein. The residue numbers refer to positions within each protein. The name thus pinpoints where the change was made.</a:t>
            </a:r>
          </a:p>
          <a:p>
            <a:r>
              <a:rPr lang="en-US" sz="1200"/>
              <a:t>• Explanation 3.</a:t>
            </a:r>
          </a:p>
          <a:p>
            <a:r>
              <a:rPr lang="en-US" sz="1200"/>
              <a:t>– Each test changed one subunit while the other stayed in its normal form, so each shift could be assigned to a single protein</a:t>
            </a:r>
          </a:p>
          <a:p>
            <a:r>
              <a:rPr lang="en-US" sz="1200"/>
              <a:t>– The reported changes identify which subunit carries each specific effect. Both subunits contribute to the ion preference of the complex, so neither can be treated as inert. Their effects are interpreted together.</a:t>
            </a:r>
          </a:p>
          <a:p>
            <a:r>
              <a:rPr lang="en-US" sz="1200"/>
              <a:t>• Source.</a:t>
            </a:r>
          </a:p>
          <a:p>
            <a:r>
              <a:rPr lang="en-US" sz="1200"/>
              <a:t>– The figure and the measurements come from Nakagawa et al. (2012).</a:t>
            </a:r>
          </a:p>
          <a:p>
            <a:r>
              <a:rPr lang="en-US" sz="1200"/>
              <a:t>– Each statement is tied to the recordings or observations of that study.</a:t>
            </a:r>
          </a:p>
          <a:p>
            <a:r>
              <a:rPr lang="en-US" sz="1200"/>
              <a:t/>
            </a:r>
          </a:p>
          <a:p>
            <a:r>
              <a:rPr lang="en-US" sz="1200"/>
              <a:t>References:</a:t>
            </a:r>
          </a:p>
          <a:p>
            <a:r>
              <a:rPr lang="en-US" sz="1200"/>
              <a:t>Nakagawa T, Pellegrino M, Sato K, Vosshall LB, Touhara K (2012). Amino Acid Residues Contributing to Function of the Heteromeric Insect Olfactory Receptor Complex. PLoS ONE 7(3):e32372. https://doi.org/10.1371/journal.pone.0032372</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Glomeruli set the central target.</a:t>
            </a:r>
          </a:p>
          <a:p>
            <a:r>
              <a:rPr lang="en-US" sz="1200"/>
              <a:t>• Explanation 1.</a:t>
            </a:r>
          </a:p>
          <a:p>
            <a:r>
              <a:rPr lang="en-US" sz="1200"/>
              <a:t>– A glomerulus is a region of concentrated sensory terminals and the central neurons that interact with them</a:t>
            </a:r>
          </a:p>
          <a:p>
            <a:r>
              <a:rPr lang="en-US" sz="1200"/>
              <a:t>– Sensory axons from one receptor class converge on a restricted target, so each glomerulus carries one kind of input. A glomerulus holds a defined place in the central map of olfactory input. The map links each receptor class to a defined place.</a:t>
            </a:r>
          </a:p>
          <a:p>
            <a:r>
              <a:rPr lang="en-US" sz="1200"/>
              <a:t>• Explanation 2.</a:t>
            </a:r>
          </a:p>
          <a:p>
            <a:r>
              <a:rPr lang="en-US" sz="1200"/>
              <a:t>– The toroid is a central target, whereas the receptor itself resides in the peripheral neuron</a:t>
            </a:r>
          </a:p>
          <a:p>
            <a:r>
              <a:rPr lang="en-US" sz="1200"/>
              <a:t>– Preserving the target distinguishes a change in ligand recognition from a wholesale remapping of sensory axons. A remapping would move the axons into a different glomerulus, and the axons did not move. Axon endings alone were used to judge the target.</a:t>
            </a:r>
          </a:p>
          <a:p>
            <a:r>
              <a:rPr lang="en-US" sz="1200"/>
              <a:t>• Explanation 3.</a:t>
            </a:r>
          </a:p>
          <a:p>
            <a:r>
              <a:rPr lang="en-US" sz="1200"/>
              <a:t>– A shift to the neighboring cumulus would have moved the new ligand's information into a different glomerulus</a:t>
            </a:r>
          </a:p>
          <a:p>
            <a:r>
              <a:rPr lang="en-US" sz="1200"/>
              <a:t>– The toroid result tests where that information lands in the brain after the receptor change. Because the target stayed the same, the altered receptor drove the existing toroid channel. That placement makes the toroid a useful test of channel rerouting.</a:t>
            </a:r>
          </a:p>
          <a:p>
            <a:r>
              <a:rPr lang="en-US" sz="1200"/>
              <a:t>• Source.</a:t>
            </a:r>
          </a:p>
          <a:p>
            <a:r>
              <a:rPr lang="en-US" sz="1200"/>
              <a:t>– The figure and the measurements come from Sakurai et al. (2011).</a:t>
            </a:r>
          </a:p>
          <a:p>
            <a:r>
              <a:rPr lang="en-US" sz="1200"/>
              <a:t>– Each statement is tied to the recordings or observations of that study.</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Spike size identifies the bombykol neuron.</a:t>
            </a:r>
          </a:p>
          <a:p>
            <a:r>
              <a:rPr lang="en-US" sz="1200"/>
              <a:t>• Explanation 1.</a:t>
            </a:r>
          </a:p>
          <a:p>
            <a:r>
              <a:rPr lang="en-US" sz="1200"/>
              <a:t>– Sakurai and colleagues distinguished the large-amplitude spikes of the bombykol neuron from the smaller spikes of the bombykal neuron</a:t>
            </a:r>
          </a:p>
          <a:p>
            <a:r>
              <a:rPr lang="en-US" sz="1200"/>
              <a:t>– Those amplitude differences allowed the two units to be followed separately during each stimulus, even within one hair. Spike amplitude served as a practical identity marker for each unit during the recordings. Spike size is a measurement of each unit's activity.</a:t>
            </a:r>
          </a:p>
          <a:p>
            <a:r>
              <a:rPr lang="en-US" sz="1200"/>
              <a:t>• Explanation 2.</a:t>
            </a:r>
          </a:p>
          <a:p>
            <a:r>
              <a:rPr lang="en-US" sz="1200"/>
              <a:t>– PxOR1 is a receptor from Plutella xylostella, a different species of moth from Bombyx mori</a:t>
            </a:r>
          </a:p>
          <a:p>
            <a:r>
              <a:rPr lang="en-US" sz="1200"/>
              <a:t>– Its gene was introduced into the bombykol-responsive neurons, which already expressed their native receptor. The transgenic neurons carried two receptors, and the native one was retained. Those two receptors were present together in one cell type. The second receptor did not replace the first.</a:t>
            </a:r>
          </a:p>
          <a:p>
            <a:r>
              <a:rPr lang="en-US" sz="1200"/>
              <a:t>• Explanation 3.</a:t>
            </a:r>
          </a:p>
          <a:p>
            <a:r>
              <a:rPr lang="en-US" sz="1200"/>
              <a:t>– Bombykal is the aldehyde corresponding to bombykol, while bombykol is the alcohol</a:t>
            </a:r>
          </a:p>
          <a:p>
            <a:r>
              <a:rPr lang="en-US" sz="1200"/>
              <a:t>– The neighboring neuron responds to a chemically related molecule rather than to the same compound. That difference in functional group is one reason the two channels can be told apart by their ligand preference. Ligand preference, not position in the hair, marks each channel.</a:t>
            </a:r>
          </a:p>
          <a:p>
            <a:r>
              <a:rPr lang="en-US" sz="1200"/>
              <a:t>• Source.</a:t>
            </a:r>
          </a:p>
          <a:p>
            <a:r>
              <a:rPr lang="en-US" sz="1200"/>
              <a:t>– The figure and the measurements come from Sakurai et al. (2011).</a:t>
            </a:r>
          </a:p>
          <a:p>
            <a:r>
              <a:rPr lang="en-US" sz="1200"/>
              <a:t>– Each statement is tied to the recordings or observations of that study.</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Virtual search succeeds within a 10-mm radius.</a:t>
            </a:r>
          </a:p>
          <a:p>
            <a:r>
              <a:rPr lang="en-US" sz="1200"/>
              <a:t>• Explanation 1.</a:t>
            </a:r>
          </a:p>
          <a:p>
            <a:r>
              <a:rPr lang="en-US" sz="1200"/>
              <a:t>– A search counted as successful when the virtual position entered a 10-mm radius around the source within 300 s</a:t>
            </a:r>
          </a:p>
          <a:p>
            <a:r>
              <a:rPr lang="en-US" sz="1200"/>
              <a:t>– Odor ports stimulated the two antennae independently, so the left and right sensory inputs could differ within the same trial. Wind arrived from four directions, which allowed wind direction to be set apart from odor. Every trial had a defined end point.</a:t>
            </a:r>
          </a:p>
          <a:p>
            <a:r>
              <a:rPr lang="en-US" sz="1200"/>
              <a:t>• Explanation 2.</a:t>
            </a:r>
          </a:p>
          <a:p>
            <a:r>
              <a:rPr lang="en-US" sz="1200"/>
              <a:t>– Closed-loop stimulation means the sensory inputs depend on the animal's measured movement</a:t>
            </a:r>
          </a:p>
          <a:p>
            <a:r>
              <a:rPr lang="en-US" sz="1200"/>
              <a:t>– Movement and input influence one another instead of following an entirely predetermined replay, which makes the virtual search interactive rather than scripted. Each step the animal takes changes what its antennae and eyes receive next. The loop links the animal's walking to what it smells next.</a:t>
            </a:r>
          </a:p>
          <a:p>
            <a:r>
              <a:rPr lang="en-US" sz="1200"/>
              <a:t>• Explanation 3.</a:t>
            </a:r>
          </a:p>
          <a:p>
            <a:r>
              <a:rPr lang="en-US" sz="1200"/>
              <a:t>– Optic flow is the movement of a visual scene associated with self-motion</a:t>
            </a:r>
          </a:p>
          <a:p>
            <a:r>
              <a:rPr lang="en-US" sz="1200"/>
              <a:t>– Visual stimulation supplied this optic flow, which gave the animal feedback about its own motion through the virtual field. That feedback sits alongside the odor and wind inputs in the same closed loop during each trial. Each cue can be reversed without changing the others.</a:t>
            </a:r>
          </a:p>
          <a:p>
            <a:r>
              <a:rPr lang="en-US" sz="1200"/>
              <a:t>• Source.</a:t>
            </a:r>
          </a:p>
          <a:p>
            <a:r>
              <a:rPr lang="en-US" sz="1200"/>
              <a:t>– The figure and the measurements come from Yamada et al. (2021).</a:t>
            </a:r>
          </a:p>
          <a:p>
            <a:r>
              <a:rPr lang="en-US" sz="1200"/>
              <a:t>– Each statement is tied to the recordings or observations of that study.</a:t>
            </a:r>
          </a:p>
          <a:p>
            <a:r>
              <a:rPr lang="en-US" sz="1200"/>
              <a:t/>
            </a:r>
          </a:p>
          <a:p>
            <a:r>
              <a:rPr lang="en-US" sz="1200"/>
              <a:t>References:</a:t>
            </a:r>
          </a:p>
          <a:p>
            <a:r>
              <a:rPr lang="en-US" sz="1200"/>
              <a:t>Yamada M, Ohashi H, Hosoda K, Kurabayashi D, Shigaki S (2021). Multisensory-motor integration in olfactory navigation of silkmoth, Bombyx mori, using virtual reality system. eLife 10:e72001. https://doi.org/10.7554/elife.72001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Filament contact triggers a brief surge.</a:t>
            </a:r>
          </a:p>
          <a:p>
            <a:r>
              <a:rPr lang="en-US" sz="1200"/>
              <a:t>• Explanation 1.</a:t>
            </a:r>
          </a:p>
          <a:p>
            <a:r>
              <a:rPr lang="en-US" sz="1200"/>
              <a:t>– The average upwind surge covered 13.4 cm and lasted 0.38 s</a:t>
            </a:r>
          </a:p>
          <a:p>
            <a:r>
              <a:rPr lang="en-US" sz="1200"/>
              <a:t>– Its onset followed odor contact by about 0.30 s, so the motor response began shortly after the strand had reached the male. Surge length and onset time are two separate measures of one brief response, and both describe the same flight event. The surge was short and came soon after contact.</a:t>
            </a:r>
          </a:p>
          <a:p>
            <a:r>
              <a:rPr lang="en-US" sz="1200"/>
              <a:t>• Explanation 2.</a:t>
            </a:r>
          </a:p>
          <a:p>
            <a:r>
              <a:rPr lang="en-US" sz="1200"/>
              <a:t>– The authors combined their observations into a proposed phasic-tonic account</a:t>
            </a:r>
          </a:p>
          <a:p>
            <a:r>
              <a:rPr lang="en-US" sz="1200"/>
              <a:t>– Individual recorded tracks remained distinct from the calculated template that the account produced, so the template summarized the responses without matching each track exactly. The account describes a pattern of responses rather than a single flight trajectory. The template was calculated from the recorded trajectories.</a:t>
            </a:r>
          </a:p>
          <a:p>
            <a:r>
              <a:rPr lang="en-US" sz="1200"/>
              <a:t>• Explanation 3.</a:t>
            </a:r>
          </a:p>
          <a:p>
            <a:r>
              <a:rPr lang="en-US" sz="1200"/>
              <a:t>– Casting means repeated crosswind turns after odor contact is lost</a:t>
            </a:r>
          </a:p>
          <a:p>
            <a:r>
              <a:rPr lang="en-US" sz="1200"/>
              <a:t>– The surge and the casting form two phases of one response, with the first moving the male upwind and the second searching sideways across the wind. Together the two phases produce the flight track that the recordings display. The sequence fits a short sensory trigger followed by a longer motor response.</a:t>
            </a:r>
          </a:p>
          <a:p>
            <a:r>
              <a:rPr lang="en-US" sz="1200"/>
              <a:t>• Source.</a:t>
            </a:r>
          </a:p>
          <a:p>
            <a:r>
              <a:rPr lang="en-US" sz="1200"/>
              <a:t>– The figure and the measurements come from Vickers &amp; Baker (1994).</a:t>
            </a:r>
          </a:p>
          <a:p>
            <a:r>
              <a:rPr lang="en-US" sz="1200"/>
              <a:t>– Each statement is tied to the recordings or observations of that study.</a:t>
            </a:r>
          </a:p>
          <a:p>
            <a:r>
              <a:rPr lang="en-US" sz="1200"/>
              <a:t/>
            </a:r>
          </a:p>
          <a:p>
            <a:r>
              <a:rPr lang="en-US" sz="1200"/>
              <a:t>References:</a:t>
            </a:r>
          </a:p>
          <a:p>
            <a:r>
              <a:rPr lang="en-US" sz="1200"/>
              <a:t>Vickers NJ, Baker TC (1994). Reiterative responses to single strands of odor promote sustained upwind flight and odor source location by moths. Proceedings of the National Academy of Sciences 91(13):5756-5760. https://doi.org/10.1073/pnas.91.13.5756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Ion tracers measure plume arrival.</a:t>
            </a:r>
          </a:p>
          <a:p>
            <a:r>
              <a:rPr lang="en-US" sz="1200"/>
              <a:t>• Explanation 1.</a:t>
            </a:r>
          </a:p>
          <a:p>
            <a:r>
              <a:rPr lang="en-US" sz="1200"/>
              <a:t>– Signal was present about 20% of the time at the downwind detectors in both the field and the forest</a:t>
            </a:r>
          </a:p>
          <a:p>
            <a:r>
              <a:rPr lang="en-US" sz="1200"/>
              <a:t>– Murlis, Willis and Cardé released negatively charged air ions as the tracer, which made the arrival of air from the source measurable at each detector. Intermittent tracer signals appeared at several field and forest distances, so the alternation between signal and gap held across both sites.</a:t>
            </a:r>
          </a:p>
          <a:p>
            <a:r>
              <a:rPr lang="en-US" sz="1200"/>
              <a:t>• Explanation 2.</a:t>
            </a:r>
          </a:p>
          <a:p>
            <a:r>
              <a:rPr lang="en-US" sz="1200"/>
              <a:t>– Sampling extended 20 m downwind in the open field and 10 m downwind in the forest, so the tracer covered a range of distances in both environments</a:t>
            </a:r>
          </a:p>
          <a:p>
            <a:r>
              <a:rPr lang="en-US" sz="1200"/>
              <a:t>– Ionized air approximates plume transport, but it is not chemically identical to pheromone. The tracer shows when air carrying odor arrives, rather than the chemistry of the signal a moth detects.</a:t>
            </a:r>
          </a:p>
          <a:p>
            <a:r>
              <a:rPr lang="en-US" sz="1200"/>
              <a:t>• Explanation 3.</a:t>
            </a:r>
          </a:p>
          <a:p>
            <a:r>
              <a:rPr lang="en-US" sz="1200"/>
              <a:t>– In this framework, a filament is a strand of odor-bearing air, and a gap is an interval without detectable signal</a:t>
            </a:r>
          </a:p>
          <a:p>
            <a:r>
              <a:rPr lang="en-US" sz="1200"/>
              <a:t>– The two states alternate along the wind, so a fixed detector switches between encounter and clean air as the strands pass. Strands are brief, and the clean-air gaps between them set the spacing of encounters.</a:t>
            </a:r>
          </a:p>
          <a:p>
            <a:r>
              <a:rPr lang="en-US" sz="1200"/>
              <a:t>• Source.</a:t>
            </a:r>
          </a:p>
          <a:p>
            <a:r>
              <a:rPr lang="en-US" sz="1200"/>
              <a:t>– The figure and the measurements come from Murlis et al. (2000).</a:t>
            </a:r>
          </a:p>
          <a:p>
            <a:r>
              <a:rPr lang="en-US" sz="1200"/>
              <a:t>– Each statement is tied to the recordings or observations of that study.</a:t>
            </a:r>
          </a:p>
          <a:p>
            <a:r>
              <a:rPr lang="en-US" sz="1200"/>
              <a:t/>
            </a:r>
          </a:p>
          <a:p>
            <a:r>
              <a:rPr lang="en-US" sz="1200"/>
              <a:t>References:</a:t>
            </a:r>
          </a:p>
          <a:p>
            <a:r>
              <a:rPr lang="en-US" sz="1200"/>
              <a:t>Murlis J, Willis MA, Cardé RT (2000). Spatial and temporal structures of pheromone plumes in fields and forests. Physiological Entomology 25(3):211-222. https://doi.org/10.1046/j.1365-3032.2000.00176.x</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0.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4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27.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7.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8ED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200"/>
              <a:buFont typeface="Arial"/>
              <a:buNone/>
            </a:pPr>
            <a:r>
              <a:rPr b="0" i="0" lang="en-US" sz="1200">
                <a:solidFill>
                  <a:srgbClr val="425B70"/>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800"/>
              <a:buFont typeface="Arial"/>
              <a:buNone/>
            </a:pPr>
            <a:r>
              <a:rPr b="0" i="0" lang="en-US" sz="1500">
                <a:solidFill>
                  <a:srgbClr val="425B70"/>
                </a:solidFill>
                <a:latin typeface="Arial"/>
                <a:ea typeface="Arial"/>
                <a:cs typeface="Arial"/>
                <a:sym typeface="Arial"/>
              </a:rPr>
              <a:t>Lecture 24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746"/>
              </a:buClr>
              <a:buSzPts val="2400"/>
              <a:buFont typeface="Arial"/>
              <a:buNone/>
            </a:pPr>
            <a:r>
              <a:rPr b="1" i="0" lang="en-US" sz="1500">
                <a:solidFill>
                  <a:schemeClr val="dk1"/>
                </a:solidFill>
                <a:latin typeface="Arial"/>
                <a:ea typeface="Arial"/>
                <a:cs typeface="Arial"/>
                <a:sym typeface="Arial"/>
              </a:rPr>
              <a:t>Chemoreception I: silkmoth pheromone plume-tracking (Kramer &amp; Cardé)</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600"/>
              <a:buFont typeface="Arial"/>
              <a:buNone/>
            </a:pPr>
            <a:r>
              <a:rPr b="0" i="0" lang="en-US" sz="1500">
                <a:solidFill>
                  <a:srgbClr val="425B70"/>
                </a:solidFill>
                <a:latin typeface="Arial"/>
                <a:ea typeface="Arial"/>
                <a:cs typeface="Arial"/>
                <a:sym typeface="Arial"/>
              </a:rPr>
              <a:t>Wednesday, October 21,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200"/>
              <a:buFont typeface="Arial"/>
              <a:buNone/>
            </a:pPr>
            <a:r>
              <a:rPr b="0" i="0" lang="en-US" sz="1500">
                <a:solidFill>
                  <a:srgbClr val="425B70"/>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200"/>
              <a:buFont typeface="Arial"/>
              <a:buNone/>
            </a:pPr>
            <a:r>
              <a:rPr b="0" i="0" lang="en-US" sz="1500">
                <a:solidFill>
                  <a:srgbClr val="425B70"/>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62880" y="1093421"/>
            <a:ext cx="5181290" cy="317361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 photograph). Male silkmoth on the trackball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triggers silkmoth mate searching</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Male silkmoths, Bombyx mori, respond to the female pheromone </a:t>
            </a:r>
            <a:r>
              <a:rPr b="1" i="0" lang="en-US" sz="1400">
                <a:solidFill>
                  <a:srgbClr val="425B70"/>
                </a:solidFill>
                <a:latin typeface="Arial"/>
                <a:ea typeface="Arial"/>
                <a:cs typeface="Arial"/>
                <a:sym typeface="Arial"/>
              </a:rPr>
              <a:t>bombykol</a:t>
            </a:r>
            <a:r>
              <a:rPr b="0" i="0" lang="en-US" sz="1400">
                <a:solidFill>
                  <a:srgbClr val="242B31"/>
                </a:solidFill>
                <a:latin typeface="Arial"/>
                <a:ea typeface="Arial"/>
                <a:cs typeface="Arial"/>
                <a:sym typeface="Arial"/>
              </a:rPr>
              <a:t> with a forward walking surge. Alternating zigzag turns follow, and wider looping search takes over when no further odor contacts arrive. Pheromones are chemical signals exchanged between members of a species, so this sequence turns one chemical contact into directed movement toward a mate.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Shiota and colleagues measured body angle in tethered males and source finding during free walking. A single bombykol pulse elicited the complete searching sequence in normal moths and in moths lacking a pheromone-binding protein. The sequence therefore persisted even when the peripheral response kinetics were altered. This points to a robust program.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At repeated stimulation rates of 0.83 and 2 Hz, the mutants spent less time surging and more time turning. </a:t>
            </a:r>
            <a:r>
              <a:rPr b="1" i="0" lang="en-US" sz="1400">
                <a:solidFill>
                  <a:srgbClr val="425B70"/>
                </a:solidFill>
                <a:latin typeface="Arial"/>
                <a:ea typeface="Arial"/>
                <a:cs typeface="Arial"/>
                <a:sym typeface="Arial"/>
              </a:rPr>
              <a:t>Detecting pheromone</a:t>
            </a:r>
            <a:r>
              <a:rPr b="0" i="0" lang="en-US" sz="1400">
                <a:solidFill>
                  <a:srgbClr val="242B31"/>
                </a:solidFill>
                <a:latin typeface="Arial"/>
                <a:ea typeface="Arial"/>
                <a:cs typeface="Arial"/>
                <a:sym typeface="Arial"/>
              </a:rPr>
              <a:t> is therefore not enough for efficient tracking, because the sensory system must also distinguish successive encounters from one another. Repeated stimulation reveals timing demands that a single pulse hides from view.</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Turbulence separates odor into intermittent strands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An odor plume is the distribution of odor-bearing air transported away from a source. Atmospheric turbulence divides that distribution into brief encounters separated by clean-air gaps. Murlis, Willis and Cardé measured this </a:t>
            </a:r>
            <a:r>
              <a:rPr b="1" i="0" lang="en-US" sz="1400">
                <a:solidFill>
                  <a:srgbClr val="425B70"/>
                </a:solidFill>
                <a:latin typeface="Arial"/>
                <a:ea typeface="Arial"/>
                <a:cs typeface="Arial"/>
                <a:sym typeface="Arial"/>
              </a:rPr>
              <a:t>intermittency</a:t>
            </a:r>
            <a:r>
              <a:rPr b="0" i="0" lang="en-US" sz="1400">
                <a:solidFill>
                  <a:srgbClr val="242B31"/>
                </a:solidFill>
                <a:latin typeface="Arial"/>
                <a:ea typeface="Arial"/>
                <a:cs typeface="Arial"/>
                <a:sym typeface="Arial"/>
              </a:rPr>
              <a:t> in an open field and in a forest, rather than assuming a smooth concentration gradient across the plume that a moth would simply climb.</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investigators recorded fluctuating signal at downwind detectors instead of a steady rise toward the source. Each detector therefore registers a sequence of separate encounters, and the timing of those encounters forms the main feature of the record. The record therefore shows timing rather than strength. Timing, not steady level, is the measurement that matters here.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measurement is a physical input at the detector, not the activity of a silkmoth neuron. That discontinuous input is the material a moth's sensory system must process when it meets the plume, so timing becomes central to what the moth receives. A moth therefore meets odor as a series of brief events.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Forest plumes contain longer gaps between bursts</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A </a:t>
            </a:r>
            <a:r>
              <a:rPr b="1" i="0" lang="en-US" sz="1400">
                <a:solidFill>
                  <a:srgbClr val="425B70"/>
                </a:solidFill>
                <a:latin typeface="Arial"/>
                <a:ea typeface="Arial"/>
                <a:cs typeface="Arial"/>
                <a:sym typeface="Arial"/>
              </a:rPr>
              <a:t>burst</a:t>
            </a:r>
            <a:r>
              <a:rPr b="0" i="0" lang="en-US" sz="1400">
                <a:solidFill>
                  <a:srgbClr val="242B31"/>
                </a:solidFill>
                <a:latin typeface="Arial"/>
                <a:ea typeface="Arial"/>
                <a:cs typeface="Arial"/>
                <a:sym typeface="Arial"/>
              </a:rPr>
              <a:t> is a group of closely spaced tracer peaks separated from the next group by a longer interval of clean air. Murlis and colleagues compared burst timing in field and forest recordings. Two plumes can carry the same fraction of signal time yet deliver odor in very different patterns, so the fraction alone hides how the odor arrives.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The forest grouped its encounters into fewer, denser episodes than the open field did. Burst size and gap length together set how much odor a searching animal meets in each episode, so the temporal pattern matters as much as the average level. The two environments therefore differ in that pattern. Burst size is one part of that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A long clean-air gap gives a searching animal time to make movements before odor returns. A single mean concentration describes the average odor level, yet it misses this temporal challenge entirely, because the same mean can arrive as steady exposure or as sharp, widely spaced clusters. Behavior in such plumes depends on how odor is spaced in time.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562602" y="1280071"/>
            <a:ext cx="2958306" cy="4297561"/>
          </a:xfrm>
          <a:prstGeom prst="rect">
            <a:avLst/>
          </a:prstGeom>
          <a:noFill/>
          <a:ln>
            <a:noFill/>
          </a:ln>
        </p:spPr>
      </p:pic>
      <p:sp>
        <p:nvSpPr>
          <p:cNvPr id="63" name="Google Shape;63;p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2(a–b). Field and forest burst-length and burst-return-period distributions.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 Vickers &amp; Baker (1994)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Antennal voltage is an imperfect odor readout</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An </a:t>
            </a:r>
            <a:r>
              <a:rPr b="1" i="0" lang="en-US" sz="1400">
                <a:solidFill>
                  <a:srgbClr val="425B70"/>
                </a:solidFill>
                <a:latin typeface="Arial"/>
                <a:ea typeface="Arial"/>
                <a:cs typeface="Arial"/>
                <a:sym typeface="Arial"/>
              </a:rPr>
              <a:t>electroantennogram</a:t>
            </a:r>
            <a:r>
              <a:rPr b="0" i="0" lang="en-US" sz="1400">
                <a:solidFill>
                  <a:srgbClr val="242B31"/>
                </a:solidFill>
                <a:latin typeface="Arial"/>
                <a:ea typeface="Arial"/>
                <a:cs typeface="Arial"/>
                <a:sym typeface="Arial"/>
              </a:rPr>
              <a:t>, or EAG, measures the summed electrical response of an antenna to odor. Murlis and colleagues paired ion-tracer records with antennal responses of male gypsy moths to the pheromone disparlure. The test asked whether tracer intermittency resembled the stimulation that reaches an insect's sensory organ, which would show that the plume's pattern survives transport to the antenna.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Ion bursts weakened with distance from the source, but EAG burst strength did not fall in the same systematic way. Antennal responses also depended on how quickly successive stimuli arrived, so the timing of input shaped the recorded voltage as much as the amount of odor reaching the antenna did. Ion bursts and antennal voltage therefore carry different information.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EAG voltage is therefore not a simple linear measure of airborne pheromone concentration. Receptor sensitivity and recovery shape the recorded waveform, so the record reflects both the timing of input and the antenna's own response properties. A voltage trace is a physiological readout rather than a concentration meter. That readout tracks the stimulus timing that reaches the antenna.</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280607" y="1280071"/>
            <a:ext cx="3522148" cy="4297561"/>
          </a:xfrm>
          <a:prstGeom prst="rect">
            <a:avLst/>
          </a:prstGeom>
          <a:noFill/>
          <a:ln>
            <a:noFill/>
          </a:ln>
        </p:spPr>
      </p:pic>
      <p:sp>
        <p:nvSpPr>
          <p:cNvPr id="76" name="Google Shape;76;p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5(a–c). Ion-tracer signals compared with gypsy-moth antennal responses.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One odor strand evokes a short upwind surge</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Vickers and Baker exposed flying male tobacco budworms, </a:t>
            </a:r>
            <a:r>
              <a:rPr b="0" i="1" lang="en-US" sz="1400">
                <a:solidFill>
                  <a:srgbClr val="242B31"/>
                </a:solidFill>
                <a:latin typeface="Arial"/>
                <a:ea typeface="Arial"/>
                <a:cs typeface="Arial"/>
                <a:sym typeface="Arial"/>
              </a:rPr>
              <a:t>Heliothis virescens</a:t>
            </a:r>
            <a:r>
              <a:rPr b="0" i="0" lang="en-US" sz="1400">
                <a:solidFill>
                  <a:srgbClr val="242B31"/>
                </a:solidFill>
                <a:latin typeface="Arial"/>
                <a:ea typeface="Arial"/>
                <a:cs typeface="Arial"/>
                <a:sym typeface="Arial"/>
              </a:rPr>
              <a:t>, to single strands of their six-component pheromone blend. After interrupting an established plume, they delivered one isolated filament and matched its passage to calibrated lights moving at wind speed. Each strand arrived at a known moment in the flight. The lights were calibrated to the wind.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Each single strand produced a short upwind surge in the flying male. Males cast across the wind before and after the surge, and control trials without a filament produced no upwind displacement by casting males. The surge therefore followed the odor event itself, and the flight response depended on the presence of a strand.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brief sensory event can trigger a motor response that lasts longer than the event. This study concerns flying budworms, so its timing describes that insect's flight rather than the walking behavior of silkmoths. Its timing is a measurement for one insect. A short event can therefore set a longer response in the flying animal.</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Frequent contacts sustain straighter upwind flight</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Vickers and Baker varied pheromone delivery from 1 to 10 filaments per second while holding wind speed at 0.6 m/s. Each pulse lasted 20 ms, and flight trajectories were recorded from below the wind tunnel. The delivery rate was the variable that changed, which allowed the authors to see how the flight path responded as pulses came more or less often.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Fewer than 4 filaments per second activated males and elicited casting, but the flight lacked sustained upwind progress. At 10 filaments per second, flight was straighter and contained less crosswind casting, while 5 filaments per second produced an intermediate pattern. The flight responses formed a graded series across the tested rates. Flight straightness therefore rose with contact rate.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Repeated encounters can renew forward responses before casting fully develops. Holding wind speed constant excludes wind velocity as the explanation, although changing pulse rate also changes how odor is delivered over time, so the rate itself carries the information that steers the flight. Flight direction followed the rate of contact across the range tested.</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189" y="1280071"/>
            <a:ext cx="3073133" cy="4297561"/>
          </a:xfrm>
          <a:prstGeom prst="rect">
            <a:avLst/>
          </a:prstGeom>
          <a:noFill/>
          <a:ln>
            <a:noFill/>
          </a:ln>
        </p:spPr>
      </p:pic>
      <p:sp>
        <p:nvSpPr>
          <p:cNvPr id="102" name="Google Shape;102;p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2(A–B). Recorded flight tracks and heading distributions at 4 and 10 filaments/s.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follows the loss of detectable odor</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Vickers and Baker recorded local pheromone encounters during free flight with an excised third antenna mounted on a male's thorax. The male's own antennae remained intact, and the mounted antenna supplied an electroantennogram while video tracked the carrier's trajectory, so sensory exposure and movement were recorded together. The two records shared one time base.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Steady upwind flight involved more frequent encounters than crosswind flight did. Casting began on average soon after the last recorded contact, and the video and electroantennogram records were synchronized closely enough to compare each change in heading with the local sensory exposure at that moment. Each crosswind movement was therefore tied to a specific sensory event.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Loss of intermittent input can release a different search movement without the moth detecting a spatial concentration gradient. Timing of contact, rather than a gradient, therefore sets the switch between surging and casting, so the moth responds to the presence or absence of a signal in time. Crosswind movement starts when the signal is absent.</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873305" y="1280102"/>
            <a:ext cx="2336750" cy="4297498"/>
          </a:xfrm>
          <a:prstGeom prst="rect">
            <a:avLst/>
          </a:prstGeom>
          <a:noFill/>
          <a:ln>
            <a:noFill/>
          </a:ln>
        </p:spPr>
      </p:pic>
      <p:sp>
        <p:nvSpPr>
          <p:cNvPr id="115" name="Google Shape;115;p8"/>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3(A–B). Flight paths synchronized with local electroantennogram contacts.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trackball separates odor, wind and visual inputs</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Yamada and colleagues studied walking male Bombyx mori in a virtual-reality preparation. Movement on a trackball updated the animal's position inside a controlled odor field, so the environment responded to the walking animal. The trackball gave the animal its means of moving through the field, and each step changed the input it received.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Odor, wind and visual stimuli could be combined or reversed independently. This control allows each sensory input to be varied while the others are held fixed, which makes the contribution of every cue measurable. Walking patterns could therefore be compared across each combination of cues, and each condition isolated a single sensory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 tethered virtual search still differs from unrestricted walking toward a real female. The experiment therefore measures multisensory behavior rather than identifying the synapses that combine those cues. Walking paths were recorded across every treatment condition, and the paths were compared across conditions to reveal the effect of each cue on the search.</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Wind information steers walking toward the source</a:t>
            </a:r>
            <a:endParaRPr sz="1800">
              <a:solidFill>
                <a:schemeClr val="dk1"/>
              </a:solidFill>
              <a:latin typeface="Calibri"/>
              <a:ea typeface="Calibri"/>
              <a:cs typeface="Calibri"/>
              <a:sym typeface="Calibri"/>
            </a:endParaRPr>
          </a:p>
        </p:txBody>
      </p:sp>
      <p:sp>
        <p:nvSpPr>
          <p:cNvPr id="137" name="Google Shape;137;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Males received odor alone, odor with wind, or odor with visual motion. Additional treatments reversed the wind or the visual direction while the other cues stayed in place, so the contribution of cue direction could be tested directly rather than inferred from overall stimulation strength. The reversals changed one cue at a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Correctly aligned wind raised source-finding success above odor alone. Reversed wind lowered success and increased downwind headings, whereas visual motion without wind produced trajectories closer to odor-alone search than to search with wind. Visual motion alone changed the trajectory less than adding wind did. Each reversal changed the direction of the search, not just its success.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Anemotaxis is orientation relative to the wind. These results support a role for wind direction in odor-guided walking, and the effect of visual motion depends on the sensory context in which it appears, so a single cue has no fixed role across all conditions. Context determines which cue carries the most weight.</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458509" y="1280071"/>
            <a:ext cx="5166195" cy="3704630"/>
          </a:xfrm>
          <a:prstGeom prst="rect">
            <a:avLst/>
          </a:prstGeom>
          <a:noFill/>
          <a:ln>
            <a:noFill/>
          </a:ln>
        </p:spPr>
      </p:pic>
      <p:sp>
        <p:nvSpPr>
          <p:cNvPr id="141" name="Google Shape;141;p10"/>
          <p:cNvSpPr/>
          <p:nvPr/>
        </p:nvSpPr>
        <p:spPr>
          <a:xfrm>
            <a:off x="6458396" y="507623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2(A–F). Walking paths with odor, wind and visual treatments.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detection begins in antennal sensory hairs</a:t>
            </a:r>
            <a:endParaRPr sz="1800">
              <a:solidFill>
                <a:schemeClr val="dk1"/>
              </a:solidFill>
              <a:latin typeface="Calibri"/>
              <a:ea typeface="Calibri"/>
              <a:cs typeface="Calibri"/>
              <a:sym typeface="Calibri"/>
            </a:endParaRPr>
          </a:p>
        </p:txBody>
      </p:sp>
      <p:sp>
        <p:nvSpPr>
          <p:cNvPr id="150" name="Google Shape;150;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Olfactory receptor neurons, or ORNs, convert odor exposure into electrical activity. In male Bombyx mori, long sensilla trichodea, hairlike structures on the antenna, house paired pheromone-responsive neurons whose endings contact the fluid inside each sensillum. These endings are the first site where the chemical is detected, and their signals then travel toward the brain.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Sakurai and colleagues combined receptor-gene expression, fluorescent labeling and in situ hybridization to identify the population that responds to bombykol. BmOR1 is the ligand-selective receptor that these neurons express, while the neighboring neuron expresses BmOR3 and responds to a related chemical. Each receptor population was defined by its expression pattern in the antennal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Separate receptor populations distinguish chemical channels before any central processing of the signal begins. Expression and localization establish the identity of each cell, which is the first step toward linking each receptor to its function. That linking step requires electrophysiology and behavior, so each population's identity is fixed before its signal reaches the brain.</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Distinct receptor neurons resolve pheromone identity</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single-sensillum recording measures spikes near the sensory neurons housed in one antennal hair. Sakurai and colleagues used this recording while presenting chemically different ligands to the same hair, which allowed them to watch which compound excited which neuron within that single sensillum. The recording therefore pairs a stimulus with one identified population.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Control males responded through the bombykol channel to bombykol but not to a ligand from the diamondback moth. Adding the receptor PxOR1 to BmOR1-expressing neurons produced a response to that aldehyde, while the original bombykol response stayed intact in the same neurons. Ligand choice, not the cell's location, determined the response. Bombykol remained the reference ligand throughout.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manipulation changed which chemical could excite an existing sensory channel. The neighboring neuron stayed unchanged, so receptor identity rather than the hair as a whole set the chemical response, and the change stayed confined to the neurons that carried the new receptor. Each neuron's chemical tuning therefore follows its receptor. The sensillum itself kept its original tuning.</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67" name="Google Shape;167;p1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68" name="Google Shape;168;p1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69" name="Google Shape;169;p1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70" name="Google Shape;170;p1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72" name="Google Shape;17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foreign receptor adds a new sensory response</a:t>
            </a:r>
            <a:endParaRPr sz="1800">
              <a:solidFill>
                <a:schemeClr val="dk1"/>
              </a:solidFill>
              <a:latin typeface="Calibri"/>
              <a:ea typeface="Calibri"/>
              <a:cs typeface="Calibri"/>
              <a:sym typeface="Calibri"/>
            </a:endParaRPr>
          </a:p>
        </p:txBody>
      </p:sp>
      <p:sp>
        <p:nvSpPr>
          <p:cNvPr id="178" name="Google Shape;178;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Sakurai and colleagues used the GAL4/UAS system, a genetic driver-and-target arrangement, to express PxOR1 in bombykol-responsive neurons. PxOR1 was added alongside the native receptor, so BmOR1 stayed in place throughout the experiment, and the new receptor sat in the same neurons that already carried the old one. Driver and target elements together placed the receptor in bombykol-responsive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manipulated neurons gained responses to Z11-16:Ald, while the tested acetate and alcohol compounds failed to activate them. Dose-response recordings showed that responsiveness to bombykol was retained, so the new response was added to the existing one rather than swapped in for it. Its selectivity was measured with a range of ligands rather than a single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Chemical selectivity can change while the identity of the sensory pathway stays the same. The added receptor's transcript abundance was about ten times lower than that of native BmOR1, so it may set a different response threshold, and expression level is one factor that shapes how strongly the new ligand drives the cell.</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changes mate-search initiation</a:t>
            </a:r>
            <a:endParaRPr sz="1800">
              <a:solidFill>
                <a:schemeClr val="dk1"/>
              </a:solidFill>
              <a:latin typeface="Calibri"/>
              <a:ea typeface="Calibri"/>
              <a:cs typeface="Calibri"/>
              <a:sym typeface="Calibri"/>
            </a:endParaRPr>
          </a:p>
        </p:txBody>
      </p:sp>
      <p:sp>
        <p:nvSpPr>
          <p:cNvPr id="193" name="Google Shape;193;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Sakurai and colleagues asked whether the newly detected aldehyde could start behavior through the bombykol pathway. Transgenic males expressing PxOR1 in BmOR1 neurons began wing flapping and pheromone-search walking in response to Z11-16:Ald, showing that the new chemical could launch the full species-typical start of a search. The response occurred in a species-typical context.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Their walking trajectories included the characteristic searching sequence, as in normal males, with surges and zigzag turns following the initial response. The manipulated males also attempted copulation with diamondback-moth females while still responding to bombykol. That result confirms that the behavioral program was reached through the bombykol channel rather than through a new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result links receptor-neuron activation to the start of a species-typical program. Chemical recognition changed, but the male's existing central sensory-to-motor pathway stayed in place. The same circuitry received a different input and still produced the familiar movements of a search, as in normal males, with surges and zigzag turns.</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77865" y="1280071"/>
            <a:ext cx="4927780" cy="4297561"/>
          </a:xfrm>
          <a:prstGeom prst="rect">
            <a:avLst/>
          </a:prstGeom>
          <a:noFill/>
          <a:ln>
            <a:noFill/>
          </a:ln>
        </p:spPr>
      </p:pic>
      <p:sp>
        <p:nvSpPr>
          <p:cNvPr id="197" name="Google Shape;197;p1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3(A–C). Behavioral responses and walking turns to the newly detected ligand.</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preserves central axon targets</a:t>
            </a:r>
            <a:endParaRPr sz="1800">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male silkmoth macroglomerular complex, or MGC, contains enlarged pheromone-processing glomeruli. BmOR1 sensory axons end in the toroid, a glomerulus devoted to bombykol input, and the toroid lies at the center of the pathway that carries pheromone signals toward the brain's higher processing centers. Bombykol input converges on this one dedicated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Sakurai and colleagues compared fluorescently labeled axon terminals before and after PxOR1 addition. The modified axons still innervated the toroid instead of shifting to the neighboring cumulus, so the new ligand entered an existing central channel rather than creating a new one elsewhere in the brain. The result rules out a new central target for the modified channel.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changed peripheral detector therefore gains access to established behavioral wiring. Anatomical targeting and functional output together supply this evidence, rather than a synapse-by-synapse reconstruction of the circuit, and the combination links the anatomy of the target to the behavior it drives. Both point to the same target. The toroid remained the target throughout.</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receptors require a second subunit</a:t>
            </a:r>
            <a:endParaRPr sz="1800">
              <a:solidFill>
                <a:schemeClr val="dk1"/>
              </a:solidFill>
              <a:latin typeface="Calibri"/>
              <a:ea typeface="Calibri"/>
              <a:cs typeface="Calibri"/>
              <a:sym typeface="Calibri"/>
            </a:endParaRPr>
          </a:p>
        </p:txBody>
      </p:sp>
      <p:sp>
        <p:nvSpPr>
          <p:cNvPr id="219" name="Google Shape;219;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functional bombykol receptor combines the ligand-selective subunit BmOR1 with Orco, a broadly conserved olfactory co-receptor. Heteromeric complexes contain different protein subunits, and the older silkmoth name BmOr2 refers to this co-receptor rather than to a second bombykol detector, so the naming can be confusing. Each subunit contributes a part of the functional receptor.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Sato and colleagues expressed insect receptor pairs in non-insect cells and measured odor-evoked electrical currents. Nakagawa and colleagues then examined the Bombyx pair in frog oocytes, using controlled voltage and amino-acid substitutions to probe how the complex carries current. Expression in foreign cells tests what the proteins can do on their 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evidence supports a ligand-gated, nonselective cation conductance associated with the receptor complex. Cations are positively charged ions, and their movement changes membrane voltage, so opening the channel can depolarize the cell. The topology drawing was predicted from sequence rather than solved experimentally, so it is a model of subunit layout.</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458471" y="1280071"/>
            <a:ext cx="5166271" cy="2356545"/>
          </a:xfrm>
          <a:prstGeom prst="rect">
            <a:avLst/>
          </a:prstGeom>
          <a:noFill/>
          <a:ln>
            <a:noFill/>
          </a:ln>
        </p:spPr>
      </p:pic>
      <p:sp>
        <p:nvSpPr>
          <p:cNvPr id="223" name="Google Shape;223;p16"/>
          <p:cNvSpPr/>
          <p:nvPr/>
        </p:nvSpPr>
        <p:spPr>
          <a:xfrm>
            <a:off x="6458396" y="372814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 Sato et al. (2008)</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Odor gates current in isolated membrane patches</a:t>
            </a:r>
            <a:endParaRPr sz="1800">
              <a:solidFill>
                <a:schemeClr val="dk1"/>
              </a:solidFill>
              <a:latin typeface="Calibri"/>
              <a:ea typeface="Calibri"/>
              <a:cs typeface="Calibri"/>
              <a:sym typeface="Calibri"/>
            </a:endParaRPr>
          </a:p>
        </p:txBody>
      </p:sp>
      <p:sp>
        <p:nvSpPr>
          <p:cNvPr id="232" name="Google Shape;232;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An </a:t>
            </a:r>
            <a:r>
              <a:rPr b="1" i="0" lang="en-US" sz="1400">
                <a:solidFill>
                  <a:srgbClr val="425B70"/>
                </a:solidFill>
                <a:latin typeface="Arial"/>
                <a:ea typeface="Arial"/>
                <a:cs typeface="Arial"/>
                <a:sym typeface="Arial"/>
              </a:rPr>
              <a:t>outside-out patch</a:t>
            </a:r>
            <a:r>
              <a:rPr b="0" i="0" lang="en-US" sz="1400">
                <a:solidFill>
                  <a:srgbClr val="242B31"/>
                </a:solidFill>
                <a:latin typeface="Arial"/>
                <a:ea typeface="Arial"/>
                <a:cs typeface="Arial"/>
                <a:sym typeface="Arial"/>
              </a:rPr>
              <a:t> is a small piece of membrane removed so that its extracellular surface faces the bathing solution. Sato and colleagues recorded odor-evoked openings in patches containing fruitfly Or47a with Or83b, and in mosquito receptor complexes, which places the insect receptor class under direct odor control. Each recording isolates the complex from the rest of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Pentyl acetate activated the fruitfly complex in excised patches from frog oocytes. At a holding voltage of -80 mV, individual current events measured about 1.2 pA, and control patches without the receptor proteins did not respond to the tested odorants, which identifies the receptor proteins as the source of the signal. Controls therefore set the baseline for the odor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Activity persisted without added ATP or GTP in the pipette. Excised-patch activation therefore supports direct odor-gated channel activity, without requiring the usual cytoplasmic signaling cascade that many receptors depend on to transmit a signal inside the cell. The channel responds to the odor itself. Odor binding therefore opens the channel directly. The recordings showed persistent channel activity.</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7955195" y="1280071"/>
            <a:ext cx="1944519" cy="2925961"/>
          </a:xfrm>
          <a:prstGeom prst="rect">
            <a:avLst/>
          </a:prstGeom>
          <a:noFill/>
          <a:ln>
            <a:noFill/>
          </a:ln>
        </p:spPr>
      </p:pic>
      <p:pic>
        <p:nvPicPr>
          <p:cNvPr id="237" name="Google Shape;237;p17"/>
          <p:cNvPicPr preferRelativeResize="0"/>
          <p:nvPr/>
        </p:nvPicPr>
        <p:blipFill rotWithShape="1">
          <a:blip r:embed="rId4">
            <a:alphaModFix/>
          </a:blip>
          <a:srcRect b="0" l="0" r="0" t="0"/>
          <a:stretch/>
        </p:blipFill>
        <p:spPr>
          <a:xfrm>
            <a:off x="7824816" y="4754761"/>
            <a:ext cx="2204980" cy="1005780"/>
          </a:xfrm>
          <a:prstGeom prst="rect">
            <a:avLst/>
          </a:prstGeom>
          <a:noFill/>
          <a:ln>
            <a:noFill/>
          </a:ln>
        </p:spPr>
      </p:pic>
      <p:sp>
        <p:nvSpPr>
          <p:cNvPr id="238" name="Google Shape;238;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Sato et al. (2008); Nakagawa et al. (2012)</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residues alter cation selectivity</a:t>
            </a:r>
            <a:endParaRPr sz="1800">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Ion selectivity describes the relative ease with which different ions pass through a channel. Nakagawa and colleagues changed conserved amino acids in the Bombyx BmOR1-Orco complex and recorded bombykol-evoked currents from frog oocytes, asking which residues shape the ions that pass through the receptor. The question was which residues determine that preference.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Replacing extracellular sodium with potassium allowed the authors to compare reversal potentials, which are the voltages at which net current changes direction. Substitutions in either subunit could therefore alter which ions the complex carries, and the shift in reversal potential reports that change. The recordings were made from frog oocytes expressing the complex.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Changes in both proteins implicate both subunits in channel function. The residue changes altered the ions carried through the complex, which links specific amino acids to channel selectivity and suggests that the two subunits share responsibility for the channel's ion preference. The ligand-selective subunit and the co-receptor share this role. The complex's ion preference is a joint property.</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Chemical modification probes receptor function</a:t>
            </a:r>
            <a:endParaRPr sz="1800">
              <a:solidFill>
                <a:schemeClr val="dk1"/>
              </a:solidFill>
              <a:latin typeface="Calibri"/>
              <a:ea typeface="Calibri"/>
              <a:cs typeface="Calibri"/>
              <a:sym typeface="Calibri"/>
            </a:endParaRPr>
          </a:p>
        </p:txBody>
      </p:sp>
      <p:sp>
        <p:nvSpPr>
          <p:cNvPr id="260" name="Google Shape;260;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Cysteine is an amino acid whose exposed chemical group can react with a modifying reagent. Nakagawa and colleagues substituted cysteine at selected receptor residues and applied MTSET, a cysteine-reactive compound, during bombykol recordings from oocytes, which tested whether those positions were reachable. Such a test shows whether a residue is accessible to the solution.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BmOR1 E356C currents were strongly and irreversibly inhibited by MTSET, whereas the Orco Y464C mutant produced a rapid inward current during reagent application. The mutants kept a bombykol dose-response similar to the normal complex, so the reagent changed the modified residues without abolishing sensitivity to the ligand, and the response curve kept its shape.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These interventions suggest that residues near the carboxy-terminal regions are accessible and functionally important. MTSET also reduced normal responses, so mutant effects are judged against that background rather than an inert control, which keeps the interpretation tied to the measured currents. The reagent effects therefore constrain the mechanism rather than define it.</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138072" y="1280071"/>
            <a:ext cx="1807217" cy="4297561"/>
          </a:xfrm>
          <a:prstGeom prst="rect">
            <a:avLst/>
          </a:prstGeom>
          <a:noFill/>
          <a:ln>
            <a:noFill/>
          </a:ln>
        </p:spPr>
      </p:pic>
      <p:sp>
        <p:nvSpPr>
          <p:cNvPr id="264" name="Google Shape;264;p1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3(A–B). Cysteine substitution and chemical modification probe channel function.</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binding protein shapes response termination</a:t>
            </a:r>
            <a:endParaRPr sz="1800">
              <a:solidFill>
                <a:schemeClr val="dk1"/>
              </a:solidFill>
              <a:latin typeface="Calibri"/>
              <a:ea typeface="Calibri"/>
              <a:cs typeface="Calibri"/>
              <a:sym typeface="Calibri"/>
            </a:endParaRPr>
          </a:p>
        </p:txBody>
      </p:sp>
      <p:sp>
        <p:nvSpPr>
          <p:cNvPr id="273" name="Google Shape;273;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Pheromone-binding protein, or PBP, is a soluble protein in the fluid around sensory endings inside an antennal sensillum. Shiota and colleagues deleted BmPBP1 and tested whether its role extended beyond increasing sensitivity, using the rise and recovery of responses to 200-ms odor pulses as the measure. Its role is therefore a question of kinetics as well as sensitivity.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Knockout antennae remained responsive but produced smaller EAG peaks at the same dose. After correcting for that amplitude difference, knockout responses recovered more slowly, while rise time and onset latency did not differ in the same way, which means the defect lies in how the response ends. Rise and onset were measured in the same preparations.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BmPBP1 therefore contributes to ending the peripheral response as well as to detection sensitivity. Capturing or redistributing pheromone are the proposed explanations for how the protein clears stimulation, and both would shorten the time that receptors stay active after a contact. Each explanation predicts faster clearance of the stimulus. Those proposals remain to be tested directly.</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Matched responses reveal slower peripheral recovery</a:t>
            </a:r>
            <a:endParaRPr sz="1800">
              <a:solidFill>
                <a:schemeClr val="dk1"/>
              </a:solidFill>
              <a:latin typeface="Calibri"/>
              <a:ea typeface="Calibri"/>
              <a:cs typeface="Calibri"/>
              <a:sym typeface="Calibri"/>
            </a:endParaRPr>
          </a:p>
        </p:txBody>
      </p:sp>
      <p:sp>
        <p:nvSpPr>
          <p:cNvPr id="288" name="Google Shape;28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An amplitude difference can confound comparisons of sensory timing. Amplitude matching strengthens the timing interpretation, so differences in recovery reflect timing rather than the size of the response, which keeps the analysis focused on how fast the antenna returns to baseline. The matched responses avoid that confound. Sensitivity and timing are therefore separated in the analysis.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Pulse trains delivered at a low and a high rate revealed the difference. At the lower rate, both groups recovered between pulses, although termination was slower in the mutants, so the mutant antenna was still able to reset between widely spaced contacts. The knockouts were still resetting, but more slowly. Recovery was therefore slower but present.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defect therefore concerns the separation of successive encounters rather than complete sensory failure. The sensory system still responds to each contact, but its reset between closely spaced contacts is too slow for the rapid pattern of odor that a plume delivers. The mutant still responds, so the defect is in timing.</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203900" y="1280071"/>
            <a:ext cx="3446813" cy="2925961"/>
          </a:xfrm>
          <a:prstGeom prst="rect">
            <a:avLst/>
          </a:prstGeom>
          <a:noFill/>
          <a:ln>
            <a:noFill/>
          </a:ln>
        </p:spPr>
      </p:pic>
      <p:sp>
        <p:nvSpPr>
          <p:cNvPr id="292" name="Google Shape;292;p2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2(A–D). Antennal recovery to 0.17-Hz and 2-Hz pheromone pulse trains.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94" name="Google Shape;294;p2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neurons must separate successive pulses</a:t>
            </a:r>
            <a:endParaRPr sz="1800">
              <a:solidFill>
                <a:schemeClr val="dk1"/>
              </a:solidFill>
              <a:latin typeface="Calibri"/>
              <a:ea typeface="Calibri"/>
              <a:cs typeface="Calibri"/>
              <a:sym typeface="Calibri"/>
            </a:endParaRPr>
          </a:p>
        </p:txBody>
      </p:sp>
      <p:sp>
        <p:nvSpPr>
          <p:cNvPr id="303" name="Google Shape;303;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Shiota and colleagues tested individual bombykol-responsive neurons with single-sensillum recordings. They compared normal and knockout antennae, using 1,000 ng source loads for normal antennae and 10,000 ng for knockouts. Similar evoked spike totals reduced the chance that response-strength differences alone explained the altered timing of the neurons. The cells were recorded one at a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Spontaneous firing was similar between the groups. After isolated stimulation at 0.17 Hz, knockout firing took longer to return to its spontaneous level, while normal responses returned quickly. At 2 Hz, all tested knockout neurons stayed above spontaneous activity between successive stimuli, so the next contact arrived before the neuron had recovered.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Action potentials, or spikes, are brief regenerative electrical events transmitted along an axon. Prolonged spike output can blur the boundary between separate odor contacts, which links the EAG recovery defect to the activity of the sensory neurons themselves. Neurons with prolonged output report one long contact rather than several. The spike train is the signal that the neuron passes forward.</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514970" y="1280071"/>
            <a:ext cx="2824970" cy="2925961"/>
          </a:xfrm>
          <a:prstGeom prst="rect">
            <a:avLst/>
          </a:prstGeom>
          <a:noFill/>
          <a:ln>
            <a:noFill/>
          </a:ln>
        </p:spPr>
      </p:pic>
      <p:sp>
        <p:nvSpPr>
          <p:cNvPr id="307" name="Google Shape;307;p2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3(A–F). Single-neuron response termination under amplitude-matched stimulation.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09" name="Google Shape;309;p2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Slow termination changes the surge–turn sequence</a:t>
            </a:r>
            <a:endParaRPr sz="1800">
              <a:solidFill>
                <a:schemeClr val="dk1"/>
              </a:solidFill>
              <a:latin typeface="Calibri"/>
              <a:ea typeface="Calibri"/>
              <a:cs typeface="Calibri"/>
              <a:sym typeface="Calibri"/>
            </a:endParaRPr>
          </a:p>
        </p:txBody>
      </p:sp>
      <p:sp>
        <p:nvSpPr>
          <p:cNvPr id="318" name="Google Shape;318;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Peripheral timing can affect how searching behavior resets. Shiota and colleagues measured tethered males' body angle during isolated and repeated bombykol exposure. Knockouts retained the complete surge-zigzag sequence after a single pulse, although their initial surge lasted longer than in normal males, which shows the sequence itself was intact. Surge duration was the measured feature.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At 0.17 Hz, successive contacts restarted surges in both groups. At 0.83 and 2 Hz, knockouts showed lower surge rates and more zigzag turning, and they produced fewer surges lasting more than 2 s during the 2-Hz train, so the forward bouts were shorter and interrupted more often. Surge rate was defined as a fraction of locomotion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longer sensory response can fail to produce sustained forward progress when stimuli repeat. The authors proposed that poor separation of onsets prevents efficient resetting, and the sensory and behavioral measurements agree with that account, since both show the same pattern of slowed termination. Its effect appears in the walk itself. The effect builds across repeated contacts.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22" name="Google Shape;322;p2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Binding-protein loss delays source finding</a:t>
            </a:r>
            <a:endParaRPr sz="1800">
              <a:solidFill>
                <a:schemeClr val="dk1"/>
              </a:solidFill>
              <a:latin typeface="Calibri"/>
              <a:ea typeface="Calibri"/>
              <a:cs typeface="Calibri"/>
              <a:sym typeface="Calibri"/>
            </a:endParaRPr>
          </a:p>
        </p:txBody>
      </p:sp>
      <p:sp>
        <p:nvSpPr>
          <p:cNvPr id="331" name="Google Shape;331;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Shiota and colleagues allowed males to walk freely in a wind tunnel toward pulsed bombykol or toward real females. Source-finding success and the time needed to reach the source were measured as separate outcomes, so a moth could succeed in the end yet still take longer than normal. The same wind tunnel setup served both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Both groups located the source, and success was similar across the tested treatments. Knockouts took longer to arrive, followed shorter forward surges and accumulated more turning, and the same pattern appeared when they searched toward real females, which confirms that the change is not specific to synthetic pheromone. The knockouts' arrival was delayed, not blocked.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loss of BmPBP1 therefore impairs efficient navigation without abolishing odor-guided searching. Dose comparisons and female-source tests make a simple insufficient-dose explanation less likely. This pattern suggests a timing deficit rather than a detection failure, and success itself was preserved across the trials. The delay is a navigation deficit, not a loss of odor guidance.</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384801" y="1280071"/>
            <a:ext cx="3313909" cy="4297561"/>
          </a:xfrm>
          <a:prstGeom prst="rect">
            <a:avLst/>
          </a:prstGeom>
          <a:noFill/>
          <a:ln>
            <a:noFill/>
          </a:ln>
        </p:spPr>
      </p:pic>
      <p:sp>
        <p:nvSpPr>
          <p:cNvPr id="335" name="Google Shape;335;p2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5(A–I). Source-finding performance for synthetic pheromone and females.</a:t>
            </a:r>
            <a:endParaRPr sz="1800">
              <a:solidFill>
                <a:schemeClr val="dk1"/>
              </a:solidFill>
              <a:latin typeface="Calibri"/>
              <a:ea typeface="Calibri"/>
              <a:cs typeface="Calibri"/>
              <a:sym typeface="Calibri"/>
            </a:endParaRPr>
          </a:p>
        </p:txBody>
      </p:sp>
      <p:sp>
        <p:nvSpPr>
          <p:cNvPr id="336" name="Google Shape;336;p2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38" name="Google Shape;338;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2" name="Shape 342"/>
        <p:cNvGrpSpPr/>
        <p:nvPr/>
      </p:nvGrpSpPr>
      <p:grpSpPr>
        <a:xfrm>
          <a:off x="0" y="0"/>
          <a:ext cx="0" cy="0"/>
          <a:chOff x="0" y="0"/>
          <a:chExt cx="0" cy="0"/>
        </a:xfrm>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dedicated glomerulus relays bombykol input</a:t>
            </a:r>
            <a:endParaRPr sz="1800">
              <a:solidFill>
                <a:schemeClr val="dk1"/>
              </a:solidFill>
              <a:latin typeface="Calibri"/>
              <a:ea typeface="Calibri"/>
              <a:cs typeface="Calibri"/>
              <a:sym typeface="Calibri"/>
            </a:endParaRPr>
          </a:p>
        </p:txBody>
      </p:sp>
      <p:sp>
        <p:nvSpPr>
          <p:cNvPr id="344" name="Google Shape;344;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antennal lobe is the first central olfactory processing region. Bombykol-sensitive ORNs terminate in its toroid, where projection neurons, or PNs, carry processed information toward higher brain regions. Local interneurons connect within the antennal lobe and shape its input-output transformation before any signal leaves the lobe, which allows the lobe to reshape each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Fujiwara and colleagues expressed GCaMP, a calcium-sensitive fluorescent protein, selectively in BmOR1 neurons, and their axon terminals localized to the toroid. Calcium signals increased with bombykol source load and stayed concentration dependent during repeated 200-ms pulses delivered every 1.2 s, which tracked the dose of the odor closely throughout each pulse train.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Sensory-terminal signals therefore kept their dose dependence even when downstream PN firing became less dose dependent after repeated stimulation. That contrast places an additional transformation within the central pathway, while calcium fluorescence remains an indirect activity measure. The measure is therefore local to the sensory terminals, not to the projection neurons that follow.</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3">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Optogenetics controls sensory input timing</a:t>
            </a:r>
            <a:endParaRPr sz="1800">
              <a:solidFill>
                <a:schemeClr val="dk1"/>
              </a:solidFill>
              <a:latin typeface="Calibri"/>
              <a:ea typeface="Calibri"/>
              <a:cs typeface="Calibri"/>
              <a:sym typeface="Calibri"/>
            </a:endParaRPr>
          </a:p>
        </p:txBody>
      </p:sp>
      <p:sp>
        <p:nvSpPr>
          <p:cNvPr id="357" name="Google Shape;357;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Optogenetics uses a light-sensitive protein to control selected cells. Tabuchi and colleagues expressed channelrhodopsin-2, or ChR2, in Bombyx bombykol-sensitive ORNs. ChR2 is a light-gated membrane channel, so this intervention bypassed odor delivery while keeping the existing pheromone pathway intact, and the light became a direct input to the same cells. The light input was delivered directly to the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Blue-light stimulation evoked sensory spikes along with pheromone-like wing flapping and zigzag turns. Control animals lacking one genetic component, the antennae or the required retinal cofactor did not respond in the same way, which tied the behavior to the presence of the complete light-activated pathway. Each control removed one component of the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The preparation gives millisecond control over afferent timing, so central integration can be tested without uncertain plume transit or binding kinetics. Light activation is artificial rather than natural pheromone transduction, and its value lies in stimulating one identified input channel with precisely timed pulses. Timing can therefore be set independently of plume structure.</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3">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Brief light pulses regulate sensory spike output</a:t>
            </a:r>
            <a:endParaRPr sz="1800">
              <a:solidFill>
                <a:schemeClr val="dk1"/>
              </a:solidFill>
              <a:latin typeface="Calibri"/>
              <a:ea typeface="Calibri"/>
              <a:cs typeface="Calibri"/>
              <a:sym typeface="Calibri"/>
            </a:endParaRPr>
          </a:p>
        </p:txBody>
      </p:sp>
      <p:sp>
        <p:nvSpPr>
          <p:cNvPr id="370" name="Google Shape;37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Tabuchi and colleagues recorded spikes from pheromone-sensitive sensilla while activating ChR2-expressing neurons. Increasing light intensity or pulse duration increased the sensory response, and bombykol and blue light evoked spikes of the same amplitude from the targeted unit, so light and odor produced equivalent input. The recording therefore links the light input to spike output.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Paired light pulses can impose a reproducible temporal pattern on the bombykol channel, so the timing of input is controlled directly. This control allows the investigators to compare how the central pathway handles weak and strong input delivered through one and the same sensory channel. Light pulses therefore deliver a defined input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A short stimulus can initiate multiple spikes, so the effective input to the brain is the transmitted activity rather than the illumination time. The distinction concerns the experimental input, not a universal conversion between light duration and pheromone concentration, and the receptor neuron must be measured to know what the brain receives.</a:t>
            </a:r>
            <a:endParaRPr sz="1800">
              <a:solidFill>
                <a:schemeClr val="dk1"/>
              </a:solidFill>
              <a:latin typeface="Calibri"/>
              <a:ea typeface="Calibri"/>
              <a:cs typeface="Calibri"/>
              <a:sym typeface="Calibri"/>
            </a:endParaRPr>
          </a:p>
        </p:txBody>
      </p:sp>
      <p:pic>
        <p:nvPicPr>
          <p:cNvPr id="373" name="Google Shape;373;p27"/>
          <p:cNvPicPr preferRelativeResize="0"/>
          <p:nvPr/>
        </p:nvPicPr>
        <p:blipFill rotWithShape="1">
          <a:blip r:embed="rId3">
            <a:alphaModFix/>
          </a:blip>
          <a:srcRect b="0" l="0" r="0" t="0"/>
          <a:stretch/>
        </p:blipFill>
        <p:spPr>
          <a:xfrm>
            <a:off x="6230030" y="1280071"/>
            <a:ext cx="5394552" cy="1336477"/>
          </a:xfrm>
          <a:prstGeom prst="rect">
            <a:avLst/>
          </a:prstGeom>
          <a:noFill/>
          <a:ln>
            <a:noFill/>
          </a:ln>
        </p:spPr>
      </p:pic>
      <p:sp>
        <p:nvSpPr>
          <p:cNvPr id="374" name="Google Shape;374;p27"/>
          <p:cNvSpPr/>
          <p:nvPr/>
        </p:nvSpPr>
        <p:spPr>
          <a:xfrm>
            <a:off x="6229796" y="2708077"/>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2(A–C). Light pulses control sensory-neuron spike output.</a:t>
            </a:r>
            <a:endParaRPr sz="1800">
              <a:solidFill>
                <a:schemeClr val="dk1"/>
              </a:solidFill>
              <a:latin typeface="Calibri"/>
              <a:ea typeface="Calibri"/>
              <a:cs typeface="Calibri"/>
              <a:sym typeface="Calibri"/>
            </a:endParaRPr>
          </a:p>
        </p:txBody>
      </p:sp>
      <p:pic>
        <p:nvPicPr>
          <p:cNvPr id="375" name="Google Shape;375;p27"/>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76" name="Google Shape;376;p2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77" name="Google Shape;377;p2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 Sakurai et al. (2011)</a:t>
            </a:r>
            <a:endParaRPr sz="1800">
              <a:solidFill>
                <a:schemeClr val="dk1"/>
              </a:solidFill>
              <a:latin typeface="Calibri"/>
              <a:ea typeface="Calibri"/>
              <a:cs typeface="Calibri"/>
              <a:sym typeface="Calibri"/>
            </a:endParaRPr>
          </a:p>
        </p:txBody>
      </p:sp>
      <p:sp>
        <p:nvSpPr>
          <p:cNvPr id="379" name="Google Shape;37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Short intervals enhance behavioral responsiveness</a:t>
            </a:r>
            <a:endParaRPr sz="1800">
              <a:solidFill>
                <a:schemeClr val="dk1"/>
              </a:solidFill>
              <a:latin typeface="Calibri"/>
              <a:ea typeface="Calibri"/>
              <a:cs typeface="Calibri"/>
              <a:sym typeface="Calibri"/>
            </a:endParaRPr>
          </a:p>
        </p:txBody>
      </p:sp>
      <p:sp>
        <p:nvSpPr>
          <p:cNvPr id="385" name="Google Shape;38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Tabuchi and colleagues delivered two light pulses to the bombykol sensory channel while varying the interval separating them. Each pulse alone supplied weak input, so the test asked whether closely spaced inputs could combine to cross the behavioral response threshold that a single pulse fails to reach. The number of pulses was kept constant.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Responsiveness depended on timing even though the number and duration of the presented pulses stayed fixed. At intervals of 100-180 ms, about 17-28% of males responded, and below 80 ms responsiveness more than doubled, which shows that the window of combination is short. Responsiveness rose sharply once the pulses were close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Temporal integration is the combination of inputs arriving within a limited period. The behavioral assay establishes a behaviorally relevant integration window, and projection-neuron recordings are needed to distinguish peripheral summation from central transformation as the source of that window. Such a window can arise centrally or peripherally. Recordings decide between those possibilities.</a:t>
            </a:r>
            <a:endParaRPr sz="1800">
              <a:solidFill>
                <a:schemeClr val="dk1"/>
              </a:solidFill>
              <a:latin typeface="Calibri"/>
              <a:ea typeface="Calibri"/>
              <a:cs typeface="Calibri"/>
              <a:sym typeface="Calibri"/>
            </a:endParaRPr>
          </a:p>
        </p:txBody>
      </p:sp>
      <p:pic>
        <p:nvPicPr>
          <p:cNvPr id="388" name="Google Shape;388;p28"/>
          <p:cNvPicPr preferRelativeResize="0"/>
          <p:nvPr/>
        </p:nvPicPr>
        <p:blipFill rotWithShape="1">
          <a:blip r:embed="rId3">
            <a:alphaModFix/>
          </a:blip>
          <a:srcRect b="0" l="0" r="0" t="0"/>
          <a:stretch/>
        </p:blipFill>
        <p:spPr>
          <a:xfrm>
            <a:off x="6229866" y="1280071"/>
            <a:ext cx="3886062" cy="3314105"/>
          </a:xfrm>
          <a:prstGeom prst="rect">
            <a:avLst/>
          </a:prstGeom>
          <a:noFill/>
          <a:ln>
            <a:noFill/>
          </a:ln>
        </p:spPr>
      </p:pic>
      <p:sp>
        <p:nvSpPr>
          <p:cNvPr id="389" name="Google Shape;389;p28"/>
          <p:cNvSpPr/>
          <p:nvPr/>
        </p:nvSpPr>
        <p:spPr>
          <a:xfrm>
            <a:off x="6229796" y="4685705"/>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3(single panel). Short interstimulus intervals enhance behavioral responsiveness.</a:t>
            </a:r>
            <a:endParaRPr sz="1800">
              <a:solidFill>
                <a:schemeClr val="dk1"/>
              </a:solidFill>
              <a:latin typeface="Calibri"/>
              <a:ea typeface="Calibri"/>
              <a:cs typeface="Calibri"/>
              <a:sym typeface="Calibri"/>
            </a:endParaRPr>
          </a:p>
        </p:txBody>
      </p:sp>
      <p:pic>
        <p:nvPicPr>
          <p:cNvPr id="390" name="Google Shape;390;p28"/>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391" name="Google Shape;391;p28"/>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392" name="Google Shape;392;p2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94" name="Google Shape;39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Weak input is amplified in projection neurons</a:t>
            </a:r>
            <a:endParaRPr sz="1800">
              <a:solidFill>
                <a:schemeClr val="dk1"/>
              </a:solidFill>
              <a:latin typeface="Calibri"/>
              <a:ea typeface="Calibri"/>
              <a:cs typeface="Calibri"/>
              <a:sym typeface="Calibri"/>
            </a:endParaRPr>
          </a:p>
        </p:txBody>
      </p:sp>
      <p:sp>
        <p:nvSpPr>
          <p:cNvPr id="400" name="Google Shape;400;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Tabuchi and colleagues recorded toroid projection neurons while presenting paired optogenetic inputs. At long intervals the two responses remained temporally separated, whereas weak 3-ms pulses spaced closely, 20-60 ms apart produced combined output that exceeded the response to widely spaced pulses, so nearby pulses summed beyond the simple addition of their responses.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integration window matched the interval range that enhanced behavior. Peripheral ORNs did not show the same supralinear enhancement at any interval, and variation in conduction through the antennal nerve was negligible in these recordings, which places the amplification after the recorded sensory input rather than in odor delivery to the antenna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Supralinear integration means the output exceeds the simple sum of the separate responses to weak pulses in each projection neuron. Residual synaptic depolarization is a proposed contributor to the PN effect, and the agreement with behavior supports relevance without showing that one PN alone sets the motor threshold for the whole male.</a:t>
            </a:r>
            <a:endParaRPr sz="1800">
              <a:solidFill>
                <a:schemeClr val="dk1"/>
              </a:solidFill>
              <a:latin typeface="Calibri"/>
              <a:ea typeface="Calibri"/>
              <a:cs typeface="Calibri"/>
              <a:sym typeface="Calibri"/>
            </a:endParaRPr>
          </a:p>
        </p:txBody>
      </p:sp>
      <p:pic>
        <p:nvPicPr>
          <p:cNvPr id="403" name="Google Shape;403;p29"/>
          <p:cNvPicPr preferRelativeResize="0"/>
          <p:nvPr/>
        </p:nvPicPr>
        <p:blipFill rotWithShape="1">
          <a:blip r:embed="rId3">
            <a:alphaModFix/>
          </a:blip>
          <a:srcRect b="0" l="0" r="0" t="0"/>
          <a:stretch/>
        </p:blipFill>
        <p:spPr>
          <a:xfrm>
            <a:off x="6973854" y="1280071"/>
            <a:ext cx="2398532" cy="4297561"/>
          </a:xfrm>
          <a:prstGeom prst="rect">
            <a:avLst/>
          </a:prstGeom>
          <a:noFill/>
          <a:ln>
            <a:noFill/>
          </a:ln>
        </p:spPr>
      </p:pic>
      <p:sp>
        <p:nvSpPr>
          <p:cNvPr id="404" name="Google Shape;404;p29"/>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4(A–C). Weak and strong paired sensory inputs evoke different projection-neuron integration.</a:t>
            </a:r>
            <a:endParaRPr sz="1800">
              <a:solidFill>
                <a:schemeClr val="dk1"/>
              </a:solidFill>
              <a:latin typeface="Calibri"/>
              <a:ea typeface="Calibri"/>
              <a:cs typeface="Calibri"/>
              <a:sym typeface="Calibri"/>
            </a:endParaRPr>
          </a:p>
        </p:txBody>
      </p:sp>
      <p:pic>
        <p:nvPicPr>
          <p:cNvPr id="405" name="Google Shape;405;p29"/>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06" name="Google Shape;406;p29"/>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07" name="Google Shape;407;p2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09" name="Google Shape;40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GABA limits integration of strong sensory input</a:t>
            </a:r>
            <a:endParaRPr sz="1800">
              <a:solidFill>
                <a:schemeClr val="dk1"/>
              </a:solidFill>
              <a:latin typeface="Calibri"/>
              <a:ea typeface="Calibri"/>
              <a:cs typeface="Calibri"/>
              <a:sym typeface="Calibri"/>
            </a:endParaRPr>
          </a:p>
        </p:txBody>
      </p:sp>
      <p:sp>
        <p:nvSpPr>
          <p:cNvPr id="415" name="Google Shape;41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GABA, gamma-aminobutyric acid, is an inhibitory neurotransmitter used by many antennal-lobe local interneurons. Tabuchi and colleagues tested its contribution by combining blockers of both GABA-A and GABA-B receptors during PN recordings, which asked whether inhibition shapes how the projection neurons combine their inputs when the stimulation is strong and brief, in the same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Normal PNs integrated weak inputs but showed no supralinear response to strong 10-ms pulses. After receptor blockade, spontaneous and light-evoked firing increased, consistent with removal of inhibition, and strong inputs could then integrate in the same supralinear way that weak inputs did. Inhibition was therefore part of the limit on strong inputs.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GABA-dependent inhibition therefore constrains integration when sensory input is strong, favoring temporal separation between the pulses. Weak-input integration persisted during blockade, which suggests that inhibition regulates an integration capacity rather than creating it, and that the capacity exists even when inhibition is absent. The weak-input capacity is therefore intrinsic to the circuit.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3">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Projection neurons emphasize changes in odor dose</a:t>
            </a:r>
            <a:endParaRPr sz="1800">
              <a:solidFill>
                <a:schemeClr val="dk1"/>
              </a:solidFill>
              <a:latin typeface="Calibri"/>
              <a:ea typeface="Calibri"/>
              <a:cs typeface="Calibri"/>
              <a:sym typeface="Calibri"/>
            </a:endParaRPr>
          </a:p>
        </p:txBody>
      </p:sp>
      <p:sp>
        <p:nvSpPr>
          <p:cNvPr id="430" name="Google Shape;430;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Fujiwara and colleagues presented repeated 200-ms bombykol pulses every 1.2 s and recorded PN spike responses. After the response settled, they raised the source load or lowered it while keeping the pulse timing fixed, which isolated the effect of a change in dose from the timing of the pulses. Each change was tested after the response had settled.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 concentration increase briefly enhanced firing before responses returned toward their earlier settled level. A decrease first suppressed responses and then recovered, so transient output signaled the direction of a change even when settled output hardly tracked absolute dose, and the neurons responded to change more than to level. Transient output therefore carries information about change.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authors call this change-sensitive transformation an odorant concentration differentiator. The label describes a functional transformation rather than a neuron that explicitly computes an equation, and it applies to the calibrated stimulus changes that were tested under repeated pulses. The result is a functional model of how the response transforms. Its scope is the conditions tested.</a:t>
            </a:r>
            <a:endParaRPr sz="1800">
              <a:solidFill>
                <a:schemeClr val="dk1"/>
              </a:solidFill>
              <a:latin typeface="Calibri"/>
              <a:ea typeface="Calibri"/>
              <a:cs typeface="Calibri"/>
              <a:sym typeface="Calibri"/>
            </a:endParaRPr>
          </a:p>
        </p:txBody>
      </p:sp>
      <p:pic>
        <p:nvPicPr>
          <p:cNvPr id="433" name="Google Shape;433;p31"/>
          <p:cNvPicPr preferRelativeResize="0"/>
          <p:nvPr/>
        </p:nvPicPr>
        <p:blipFill rotWithShape="1">
          <a:blip r:embed="rId3">
            <a:alphaModFix/>
          </a:blip>
          <a:srcRect b="0" l="0" r="0" t="0"/>
          <a:stretch/>
        </p:blipFill>
        <p:spPr>
          <a:xfrm>
            <a:off x="7072461" y="1280071"/>
            <a:ext cx="2201019" cy="4297560"/>
          </a:xfrm>
          <a:prstGeom prst="rect">
            <a:avLst/>
          </a:prstGeom>
          <a:noFill/>
          <a:ln>
            <a:noFill/>
          </a:ln>
        </p:spPr>
      </p:pic>
      <p:sp>
        <p:nvSpPr>
          <p:cNvPr id="434" name="Google Shape;434;p3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3(A–D). Projection-neuron responses to increases and decreases in odor dose.</a:t>
            </a:r>
            <a:endParaRPr sz="1800">
              <a:solidFill>
                <a:schemeClr val="dk1"/>
              </a:solidFill>
              <a:latin typeface="Calibri"/>
              <a:ea typeface="Calibri"/>
              <a:cs typeface="Calibri"/>
              <a:sym typeface="Calibri"/>
            </a:endParaRPr>
          </a:p>
        </p:txBody>
      </p:sp>
      <p:pic>
        <p:nvPicPr>
          <p:cNvPr id="435" name="Google Shape;435;p3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36" name="Google Shape;436;p3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37" name="Google Shape;437;p3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Tabuchi et al. (2013)</a:t>
            </a:r>
            <a:endParaRPr sz="1800">
              <a:solidFill>
                <a:schemeClr val="dk1"/>
              </a:solidFill>
              <a:latin typeface="Calibri"/>
              <a:ea typeface="Calibri"/>
              <a:cs typeface="Calibri"/>
              <a:sym typeface="Calibri"/>
            </a:endParaRPr>
          </a:p>
        </p:txBody>
      </p:sp>
      <p:sp>
        <p:nvSpPr>
          <p:cNvPr id="439" name="Google Shape;43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Repeated odor changes the antennal-lobe response</a:t>
            </a:r>
            <a:endParaRPr sz="1800">
              <a:solidFill>
                <a:schemeClr val="dk1"/>
              </a:solidFill>
              <a:latin typeface="Calibri"/>
              <a:ea typeface="Calibri"/>
              <a:cs typeface="Calibri"/>
              <a:sym typeface="Calibri"/>
            </a:endParaRPr>
          </a:p>
        </p:txBody>
      </p:sp>
      <p:sp>
        <p:nvSpPr>
          <p:cNvPr id="445" name="Google Shape;445;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Fujiwara and colleagues recorded toroid PN spikes during repeated bombykol pulses at 0.83 Hz. The first response's peak firing frequency increased with source load, while later responses were suppressed and then recovered toward a settled level, so repetition changed the shape of the output over time. Later pulses therefore reached the neuron in a changed state.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At medium and high source loads, settled spike output became relatively insensitive to concentration. Antennal controls showed no progressive loss of delivered odor, so the change came from the central processing rather than from the stimulus, and some absolute-dose information persisted in response timing. Settled latencies shifted from about 361 to 322 ms as the dose rose.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Central processing therefore changes which response features carry concentration information. Picrotoxin, a GABA-A receptor antagonist, reduced the suppression and restored stronger dose dependence, which implicates inhibitory processing in the transformation. Dose information thus persisted in a different response feature, timing. The stronger dose dependence after picrotoxin was measured in the same neurons.</a:t>
            </a:r>
            <a:endParaRPr sz="1800">
              <a:solidFill>
                <a:schemeClr val="dk1"/>
              </a:solidFill>
              <a:latin typeface="Calibri"/>
              <a:ea typeface="Calibri"/>
              <a:cs typeface="Calibri"/>
              <a:sym typeface="Calibri"/>
            </a:endParaRPr>
          </a:p>
        </p:txBody>
      </p:sp>
      <p:pic>
        <p:nvPicPr>
          <p:cNvPr id="448" name="Google Shape;448;p32"/>
          <p:cNvPicPr preferRelativeResize="0"/>
          <p:nvPr/>
        </p:nvPicPr>
        <p:blipFill rotWithShape="1">
          <a:blip r:embed="rId3">
            <a:alphaModFix/>
          </a:blip>
          <a:srcRect b="0" l="0" r="0" t="0"/>
          <a:stretch/>
        </p:blipFill>
        <p:spPr>
          <a:xfrm>
            <a:off x="7074163" y="1280071"/>
            <a:ext cx="3935184" cy="4297561"/>
          </a:xfrm>
          <a:prstGeom prst="rect">
            <a:avLst/>
          </a:prstGeom>
          <a:noFill/>
          <a:ln>
            <a:noFill/>
          </a:ln>
        </p:spPr>
      </p:pic>
      <p:sp>
        <p:nvSpPr>
          <p:cNvPr id="449" name="Google Shape;449;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sp>
        <p:nvSpPr>
          <p:cNvPr id="450" name="Google Shape;450;p3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452" name="Google Shape;45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6" name="Shape 456"/>
        <p:cNvGrpSpPr/>
        <p:nvPr/>
      </p:nvGrpSpPr>
      <p:grpSpPr>
        <a:xfrm>
          <a:off x="0" y="0"/>
          <a:ext cx="0" cy="0"/>
          <a:chOff x="0" y="0"/>
          <a:chExt cx="0" cy="0"/>
        </a:xfrm>
      </p:grpSpPr>
      <p:sp>
        <p:nvSpPr>
          <p:cNvPr id="457" name="Google Shape;45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Accessory lobes connect with descending pathways</a:t>
            </a:r>
            <a:endParaRPr sz="1800">
              <a:solidFill>
                <a:schemeClr val="dk1"/>
              </a:solidFill>
              <a:latin typeface="Calibri"/>
              <a:ea typeface="Calibri"/>
              <a:cs typeface="Calibri"/>
              <a:sym typeface="Calibri"/>
            </a:endParaRPr>
          </a:p>
        </p:txBody>
      </p:sp>
      <p:sp>
        <p:nvSpPr>
          <p:cNvPr id="458" name="Google Shape;45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lateral accessory lobes, or LALs, are paired higher-order brain regions associated with pheromone-guided motor control. Descending neurons, or DNs, send axons from the brain toward the ventral nervous system and thoracic motor centers. Namiki and colleagues mapped their regional arborizations across the brain of Bombyx mori, which links the brain to the legs.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posterior slope and LAL processes overlap in a posterior-ventral neuropil, which makes the two regions candidate sites of sensorimotor processing. Their overlap is the main anatomical basis for the proposal of a shared route from the pheromone-processing centers to descending motor commands that reach the thoracic segments in the body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anatomy constrains the possible routes by which pheromone information can reach motor pathways. Backfill labeling marks fibers by trajectory rather than by neurotransmitter or physiological response type, so the staining maps routes rather than tallying pheromone-specific neurons in the brain, and each route becomes a candidate for physiological testing in each labeled preparation.</a:t>
            </a:r>
            <a:endParaRPr sz="1800">
              <a:solidFill>
                <a:schemeClr val="dk1"/>
              </a:solidFill>
              <a:latin typeface="Calibri"/>
              <a:ea typeface="Calibri"/>
              <a:cs typeface="Calibri"/>
              <a:sym typeface="Calibri"/>
            </a:endParaRPr>
          </a:p>
        </p:txBody>
      </p:sp>
      <p:pic>
        <p:nvPicPr>
          <p:cNvPr id="461" name="Google Shape;461;p33"/>
          <p:cNvPicPr preferRelativeResize="0"/>
          <p:nvPr/>
        </p:nvPicPr>
        <p:blipFill rotWithShape="1">
          <a:blip r:embed="rId3">
            <a:alphaModFix/>
          </a:blip>
          <a:srcRect b="0" l="0" r="0" t="0"/>
          <a:stretch/>
        </p:blipFill>
        <p:spPr>
          <a:xfrm>
            <a:off x="7790130" y="1280071"/>
            <a:ext cx="2503101" cy="4297561"/>
          </a:xfrm>
          <a:prstGeom prst="rect">
            <a:avLst/>
          </a:prstGeom>
          <a:noFill/>
          <a:ln>
            <a:noFill/>
          </a:ln>
        </p:spPr>
      </p:pic>
      <p:sp>
        <p:nvSpPr>
          <p:cNvPr id="462" name="Google Shape;462;p3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63" name="Google Shape;463;p3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465" name="Google Shape;46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activity can persist after an odor pulse</a:t>
            </a:r>
            <a:endParaRPr sz="1800">
              <a:solidFill>
                <a:schemeClr val="dk1"/>
              </a:solidFill>
              <a:latin typeface="Calibri"/>
              <a:ea typeface="Calibri"/>
              <a:cs typeface="Calibri"/>
              <a:sym typeface="Calibri"/>
            </a:endParaRPr>
          </a:p>
        </p:txBody>
      </p:sp>
      <p:sp>
        <p:nvSpPr>
          <p:cNvPr id="471" name="Google Shape;471;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Kanzaki, Ikeda and Shibuya recorded activity from dorsal bundles of the neck connectives while delivering brief bombykol pulses. Anatomical staining identified descending neurons associated with the LAL, and the recordings tested whether the motor pathway copied the brief duration of peripheral stimulation. Bundle-level recordings sample many fibers at once. A bundle signal therefore reflects several neurons together.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Some units switched between high- and low-frequency states after 100-ms odor pulses. The operational criterion required at least a doubling or halving of prestimulus firing that persisted for at least 5 s after stimulation ended, so the response greatly outlasted the input that triggered it. Switching in this study was measured at the level of firing frequency.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This flip-flopping activity is a persistent state change rather than a new odor contact lasting several seconds. It is consistent with central maintenance of a searching command, and the recordings point to a state that the pathway holds after the stimulus has already ended. The persistence can last beyond the odor by seconds.</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3">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Later odor pulses can switch the persistent state</a:t>
            </a:r>
            <a:endParaRPr sz="1800">
              <a:solidFill>
                <a:schemeClr val="dk1"/>
              </a:solidFill>
              <a:latin typeface="Calibri"/>
              <a:ea typeface="Calibri"/>
              <a:cs typeface="Calibri"/>
              <a:sym typeface="Calibri"/>
            </a:endParaRPr>
          </a:p>
        </p:txBody>
      </p:sp>
      <p:sp>
        <p:nvSpPr>
          <p:cNvPr id="486" name="Google Shape;486;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Kanzaki and colleagues applied successive pheromone pulses to one or both antennae while recording descending units. Some units alternated between high and low firing states rather than producing an identical transient response to every presentation, and spontaneous state changes also occurred after stimulation. Responses were tracked from one presentation to the next.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In one class, two recorded signals changed in synchrony, while other recordings showed an opposite relationship. A later pulse could interrupt or switch the maintained activity, so the duration of the response was set by more than one stimulus and by the state the pathway was already in. The synchrony itself was measured in simultaneous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These findings support a state-dependent central transformation between odor contact and descending output. Switching, synchrony and persistence are measured response properties, and the circuitry generating them remains an explanatory hypothesis that later experiments must address. Persistence can therefore depend on what came before. Later pulses reset or switch that state, and the state carries forward.</a:t>
            </a:r>
            <a:endParaRPr sz="1800">
              <a:solidFill>
                <a:schemeClr val="dk1"/>
              </a:solidFill>
              <a:latin typeface="Calibri"/>
              <a:ea typeface="Calibri"/>
              <a:cs typeface="Calibri"/>
              <a:sym typeface="Calibri"/>
            </a:endParaRPr>
          </a:p>
        </p:txBody>
      </p:sp>
      <p:pic>
        <p:nvPicPr>
          <p:cNvPr id="489" name="Google Shape;489;p35"/>
          <p:cNvPicPr preferRelativeResize="0"/>
          <p:nvPr/>
        </p:nvPicPr>
        <p:blipFill rotWithShape="1">
          <a:blip r:embed="rId3">
            <a:alphaModFix/>
          </a:blip>
          <a:srcRect b="0" l="0" r="0" t="0"/>
          <a:stretch/>
        </p:blipFill>
        <p:spPr>
          <a:xfrm>
            <a:off x="6229826" y="1280071"/>
            <a:ext cx="3886142" cy="3635722"/>
          </a:xfrm>
          <a:prstGeom prst="rect">
            <a:avLst/>
          </a:prstGeom>
          <a:noFill/>
          <a:ln>
            <a:noFill/>
          </a:ln>
        </p:spPr>
      </p:pic>
      <p:sp>
        <p:nvSpPr>
          <p:cNvPr id="490" name="Google Shape;490;p35"/>
          <p:cNvSpPr/>
          <p:nvPr/>
        </p:nvSpPr>
        <p:spPr>
          <a:xfrm>
            <a:off x="6229796" y="5007322"/>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7(A–F). Repeated pheromone stimulation changes descending activity state.</a:t>
            </a:r>
            <a:endParaRPr sz="1800">
              <a:solidFill>
                <a:schemeClr val="dk1"/>
              </a:solidFill>
              <a:latin typeface="Calibri"/>
              <a:ea typeface="Calibri"/>
              <a:cs typeface="Calibri"/>
              <a:sym typeface="Calibri"/>
            </a:endParaRPr>
          </a:p>
        </p:txBody>
      </p:sp>
      <p:pic>
        <p:nvPicPr>
          <p:cNvPr id="491" name="Google Shape;491;p35"/>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92" name="Google Shape;492;p35"/>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93" name="Google Shape;493;p3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4" name="Google Shape;49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95" name="Google Shape;49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signals include opposite activity states</a:t>
            </a:r>
            <a:endParaRPr sz="1800">
              <a:solidFill>
                <a:schemeClr val="dk1"/>
              </a:solidFill>
              <a:latin typeface="Calibri"/>
              <a:ea typeface="Calibri"/>
              <a:cs typeface="Calibri"/>
              <a:sym typeface="Calibri"/>
            </a:endParaRPr>
          </a:p>
        </p:txBody>
      </p:sp>
      <p:sp>
        <p:nvSpPr>
          <p:cNvPr id="501" name="Google Shape;501;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Kanzaki and colleagues distinguished antiphasic activity, in which one signal was high while the other was low, from synchronized state changes in the recordings. The distinction matters because the two patterns imply different relationships between the two sides of the descending system during a pheromone search, and both patterns occur in one descending pathway.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Both patterns could change after a brief pheromone stimulation, so the descending pathway carried more than one relationship among persistent outputs. The paper's labels for the two classes describe the observed response patterns, and the same kinds of switching appear in both of these classes, so the labels name response patterns rather than receptors.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Opposite states are compatible with alternating directional commands during searching, but compatibility is not a causal demonstration of turning. Bundle recordings leave the complete synaptic connections unidentified, and the labels describe response classes rather than distinct molecular receptor types. The paired signals are the object of the analysis. Their timing defines the response class.</a:t>
            </a:r>
            <a:endParaRPr sz="1800">
              <a:solidFill>
                <a:schemeClr val="dk1"/>
              </a:solidFill>
              <a:latin typeface="Calibri"/>
              <a:ea typeface="Calibri"/>
              <a:cs typeface="Calibri"/>
              <a:sym typeface="Calibri"/>
            </a:endParaRPr>
          </a:p>
        </p:txBody>
      </p:sp>
      <p:pic>
        <p:nvPicPr>
          <p:cNvPr id="504" name="Google Shape;504;p36"/>
          <p:cNvPicPr preferRelativeResize="0"/>
          <p:nvPr/>
        </p:nvPicPr>
        <p:blipFill rotWithShape="1">
          <a:blip r:embed="rId3">
            <a:alphaModFix/>
          </a:blip>
          <a:srcRect b="0" l="0" r="0" t="0"/>
          <a:stretch/>
        </p:blipFill>
        <p:spPr>
          <a:xfrm>
            <a:off x="6374778" y="1280071"/>
            <a:ext cx="5105503" cy="2925961"/>
          </a:xfrm>
          <a:prstGeom prst="rect">
            <a:avLst/>
          </a:prstGeom>
          <a:noFill/>
          <a:ln>
            <a:noFill/>
          </a:ln>
        </p:spPr>
      </p:pic>
      <p:sp>
        <p:nvSpPr>
          <p:cNvPr id="505" name="Google Shape;505;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8(single panel). Opposite switching states in units recorded from a descending bundle.</a:t>
            </a:r>
            <a:endParaRPr sz="1800">
              <a:solidFill>
                <a:schemeClr val="dk1"/>
              </a:solidFill>
              <a:latin typeface="Calibri"/>
              <a:ea typeface="Calibri"/>
              <a:cs typeface="Calibri"/>
              <a:sym typeface="Calibri"/>
            </a:endParaRPr>
          </a:p>
        </p:txBody>
      </p:sp>
      <p:pic>
        <p:nvPicPr>
          <p:cNvPr id="506" name="Google Shape;506;p36"/>
          <p:cNvPicPr preferRelativeResize="0"/>
          <p:nvPr/>
        </p:nvPicPr>
        <p:blipFill rotWithShape="1">
          <a:blip r:embed="rId4">
            <a:alphaModFix/>
          </a:blip>
          <a:srcRect b="0" l="0" r="0" t="0"/>
          <a:stretch/>
        </p:blipFill>
        <p:spPr>
          <a:xfrm>
            <a:off x="8634561" y="4754783"/>
            <a:ext cx="585788" cy="1005736"/>
          </a:xfrm>
          <a:prstGeom prst="rect">
            <a:avLst/>
          </a:prstGeom>
          <a:noFill/>
          <a:ln>
            <a:noFill/>
          </a:ln>
        </p:spPr>
      </p:pic>
      <p:sp>
        <p:nvSpPr>
          <p:cNvPr id="507" name="Google Shape;507;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508" name="Google Shape;508;p3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510" name="Google Shape;51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Cell staining constrains the source of switching</a:t>
            </a:r>
            <a:endParaRPr sz="1800">
              <a:solidFill>
                <a:schemeClr val="dk1"/>
              </a:solidFill>
              <a:latin typeface="Calibri"/>
              <a:ea typeface="Calibri"/>
              <a:cs typeface="Calibri"/>
              <a:sym typeface="Calibri"/>
            </a:endParaRPr>
          </a:p>
        </p:txBody>
      </p:sp>
      <p:sp>
        <p:nvSpPr>
          <p:cNvPr id="516" name="Google Shape;516;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Kanzaki and colleagues combined electrophysiology with staining of a small descending bundle carrying FF-type activity. In the reported preparation, a single stained neuron had its cell body among group-II descending neurons and processes associated with the lateral accessory lobe, which links a recorded signal to a visible cell. The stained cell is a single identified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simultaneously recorded activity kept the opposite-state relationship with the other connective. The cell's descending axon and regional innervation linked its anatomical identity to a persistent physiological response, which is a more specific connection than a whole-connective recording can provide. The matched recordings made the link specific to one cell. Whole-connective recordings average across many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This result supports participation of a group-II LAL descending neuron in the switching pathway. Staining and physiology restrict the candidate pathways, and the complete mechanism that maintains the high and low states is still being worked out by the investigators. The result narrows the pathway to a small set of cells. A selective test would be needed to show necessity.</a:t>
            </a:r>
            <a:endParaRPr sz="1800">
              <a:solidFill>
                <a:schemeClr val="dk1"/>
              </a:solidFill>
              <a:latin typeface="Calibri"/>
              <a:ea typeface="Calibri"/>
              <a:cs typeface="Calibri"/>
              <a:sym typeface="Calibri"/>
            </a:endParaRPr>
          </a:p>
        </p:txBody>
      </p:sp>
      <p:pic>
        <p:nvPicPr>
          <p:cNvPr id="519" name="Google Shape;519;p37"/>
          <p:cNvPicPr preferRelativeResize="0"/>
          <p:nvPr/>
        </p:nvPicPr>
        <p:blipFill rotWithShape="1">
          <a:blip r:embed="rId3">
            <a:alphaModFix/>
          </a:blip>
          <a:srcRect b="0" l="0" r="0" t="0"/>
          <a:stretch/>
        </p:blipFill>
        <p:spPr>
          <a:xfrm>
            <a:off x="7365113" y="1280071"/>
            <a:ext cx="3353283" cy="4297561"/>
          </a:xfrm>
          <a:prstGeom prst="rect">
            <a:avLst/>
          </a:prstGeom>
          <a:noFill/>
          <a:ln>
            <a:noFill/>
          </a:ln>
        </p:spPr>
      </p:pic>
      <p:sp>
        <p:nvSpPr>
          <p:cNvPr id="520" name="Google Shape;520;p3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10(A–C). Stained group-II descending neuron and switching responses.</a:t>
            </a:r>
            <a:endParaRPr sz="1800">
              <a:solidFill>
                <a:schemeClr val="dk1"/>
              </a:solidFill>
              <a:latin typeface="Calibri"/>
              <a:ea typeface="Calibri"/>
              <a:cs typeface="Calibri"/>
              <a:sym typeface="Calibri"/>
            </a:endParaRPr>
          </a:p>
        </p:txBody>
      </p:sp>
      <p:sp>
        <p:nvSpPr>
          <p:cNvPr id="521" name="Google Shape;521;p3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a:t>
            </a:r>
            <a:endParaRPr sz="1800">
              <a:solidFill>
                <a:schemeClr val="dk1"/>
              </a:solidFill>
              <a:latin typeface="Calibri"/>
              <a:ea typeface="Calibri"/>
              <a:cs typeface="Calibri"/>
              <a:sym typeface="Calibri"/>
            </a:endParaRPr>
          </a:p>
        </p:txBody>
      </p:sp>
      <p:sp>
        <p:nvSpPr>
          <p:cNvPr id="523" name="Google Shape;52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Posterior-slope neurons carry transient odor signals</a:t>
            </a:r>
            <a:endParaRPr sz="1800">
              <a:solidFill>
                <a:schemeClr val="dk1"/>
              </a:solidFill>
              <a:latin typeface="Calibri"/>
              <a:ea typeface="Calibri"/>
              <a:cs typeface="Calibri"/>
              <a:sym typeface="Calibri"/>
            </a:endParaRPr>
          </a:p>
        </p:txBody>
      </p:sp>
      <p:sp>
        <p:nvSpPr>
          <p:cNvPr id="529" name="Google Shape;529;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Namiki and colleagues recorded and filled descending neurons whose processes entered the posterior slope, and some of them also reached the lateral accessory lobe. The group-III PSDN1 neuron had smooth processes in posterior brain regions and varicose processes in the gnathal ganglion, a lower central region associated with descending pathways. The filled neuron was then examined for its processes.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identified cell responded to bombykol with excitation. The authors did not observe the characteristic flip-flop activity in the group-III neurons they examined, which sets a transient pheromone-responsive population apart from the LAL-associated persistent pathways described in earlier work. The transient response was excitatory, not suppressive. Excitation followed the bombykol pulse. The group-III cells were examined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authors proposed that transient group-III signals might contribute to the initial surge, whereas persistent signals might contribute to casting. This assignment is a functional hypothesis, since neuron-specific behavioral necessity remains to be shown. Selective silencing of each neuron type would provide that test directly. Neuron-level tests would therefore decide the matter.</a:t>
            </a:r>
            <a:endParaRPr sz="1800">
              <a:solidFill>
                <a:schemeClr val="dk1"/>
              </a:solidFill>
              <a:latin typeface="Calibri"/>
              <a:ea typeface="Calibri"/>
              <a:cs typeface="Calibri"/>
              <a:sym typeface="Calibri"/>
            </a:endParaRPr>
          </a:p>
        </p:txBody>
      </p:sp>
      <p:pic>
        <p:nvPicPr>
          <p:cNvPr id="532" name="Google Shape;532;p38"/>
          <p:cNvPicPr preferRelativeResize="0"/>
          <p:nvPr/>
        </p:nvPicPr>
        <p:blipFill rotWithShape="1">
          <a:blip r:embed="rId3">
            <a:alphaModFix/>
          </a:blip>
          <a:srcRect b="0" l="0" r="0" t="0"/>
          <a:stretch/>
        </p:blipFill>
        <p:spPr>
          <a:xfrm>
            <a:off x="6458498" y="1280071"/>
            <a:ext cx="5166217" cy="2925514"/>
          </a:xfrm>
          <a:prstGeom prst="rect">
            <a:avLst/>
          </a:prstGeom>
          <a:noFill/>
          <a:ln>
            <a:noFill/>
          </a:ln>
        </p:spPr>
      </p:pic>
      <p:sp>
        <p:nvSpPr>
          <p:cNvPr id="533" name="Google Shape;533;p38"/>
          <p:cNvSpPr/>
          <p:nvPr/>
        </p:nvSpPr>
        <p:spPr>
          <a:xfrm>
            <a:off x="6458396" y="429711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9(a–e). Posterior-slope descending-neuron anatomy and odor-evoked activity.</a:t>
            </a:r>
            <a:endParaRPr sz="1800">
              <a:solidFill>
                <a:schemeClr val="dk1"/>
              </a:solidFill>
              <a:latin typeface="Calibri"/>
              <a:ea typeface="Calibri"/>
              <a:cs typeface="Calibri"/>
              <a:sym typeface="Calibri"/>
            </a:endParaRPr>
          </a:p>
        </p:txBody>
      </p:sp>
      <p:sp>
        <p:nvSpPr>
          <p:cNvPr id="534" name="Google Shape;534;p3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5" name="Google Shape;53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536" name="Google Shape;53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0" name="Shape 540"/>
        <p:cNvGrpSpPr/>
        <p:nvPr/>
      </p:nvGrpSpPr>
      <p:grpSpPr>
        <a:xfrm>
          <a:off x="0" y="0"/>
          <a:ext cx="0" cy="0"/>
          <a:chOff x="0" y="0"/>
          <a:chExt cx="0" cy="0"/>
        </a:xfrm>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changes behavioral pheromone sensitivity</a:t>
            </a:r>
            <a:endParaRPr sz="1800">
              <a:solidFill>
                <a:schemeClr val="dk1"/>
              </a:solidFill>
              <a:latin typeface="Calibri"/>
              <a:ea typeface="Calibri"/>
              <a:cs typeface="Calibri"/>
              <a:sym typeface="Calibri"/>
            </a:endParaRPr>
          </a:p>
        </p:txBody>
      </p:sp>
      <p:sp>
        <p:nvSpPr>
          <p:cNvPr id="542" name="Google Shape;54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Serotonin, also called 5-hydroxytryptamine, is a neurotransmitter and neuromodulator that can change how responsive a circuit is. Gatellier and colleagues applied it to exposed silkmoth antennal lobes and measured male responses to increasing bombykol source loads, with saline tests before treatment supplying the baseline. Serotonin in this study acted on the antennal lobe.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Serotonin increased behavioral sensitivity at 10⁻⁴ mol/L. The dose-response curve moved toward higher sensitivity during treatment, and it then returned toward the control condition after a later wash, which showed that the change was reversible. A 24-h return to control levels followed the treatment. Dose-response curves were compared before and after treatment.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The effect connects a central chemical manipulation to altered behavioral initiation. Serotonin left the pheromone itself unchanged as the initiating signal, and it altered how likely a response was, which places the modulation at the level of the decision to respond. Its effect is therefore a modulation of sensitivity. The threshold for initiating search shifted accordingly.</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3">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5" name="Shape 555"/>
        <p:cNvGrpSpPr/>
        <p:nvPr/>
      </p:nvGrpSpPr>
      <p:grpSpPr>
        <a:xfrm>
          <a:off x="0" y="0"/>
          <a:ext cx="0" cy="0"/>
          <a:chOff x="0" y="0"/>
          <a:chExt cx="0" cy="0"/>
        </a:xfrm>
      </p:grpSpPr>
      <p:sp>
        <p:nvSpPr>
          <p:cNvPr id="556" name="Google Shape;55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has concentration-dependent effects</a:t>
            </a:r>
            <a:endParaRPr sz="1800">
              <a:solidFill>
                <a:schemeClr val="dk1"/>
              </a:solidFill>
              <a:latin typeface="Calibri"/>
              <a:ea typeface="Calibri"/>
              <a:cs typeface="Calibri"/>
              <a:sym typeface="Calibri"/>
            </a:endParaRPr>
          </a:p>
        </p:txBody>
      </p:sp>
      <p:sp>
        <p:nvSpPr>
          <p:cNvPr id="557" name="Google Shape;55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Gatellier and colleagues compared serotonin applications of 10⁻⁵, 10⁻⁴ and 10⁻³ mol/L. The lowest concentration left behavioral sensitivity essentially unchanged, the intermediate concentration enhanced it, and the highest concentration reduced it, so the response to serotonin was not a simple monotonic increase. A flat response at the lowest dose set the baseline.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High-performance liquid chromatography, or HPLC, separated serotonin from other tissue compounds for electrochemical measurement. Brain content rose from about 0.18 pmol per brain in controls to 0.44 and 0.80 pmol per brain after the intermediate and high applications, and it returned toward control levels later. Tissue content therefore tracked the applied dose.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These measurements confirm that the application changed tissue serotonin while producing opposite behavioral outcomes. Dose-dependent effects constrain a simple uniformly excitatory explanation, so more serotonin did not produce steadily greater responsiveness across the tested range of concentrations. Whole-brain content is not the concentration at one synapse, so the tissue value is a summary.</a:t>
            </a:r>
            <a:endParaRPr sz="1800">
              <a:solidFill>
                <a:schemeClr val="dk1"/>
              </a:solidFill>
              <a:latin typeface="Calibri"/>
              <a:ea typeface="Calibri"/>
              <a:cs typeface="Calibri"/>
              <a:sym typeface="Calibri"/>
            </a:endParaRPr>
          </a:p>
        </p:txBody>
      </p:sp>
      <p:pic>
        <p:nvPicPr>
          <p:cNvPr id="560" name="Google Shape;560;p40"/>
          <p:cNvPicPr preferRelativeResize="0"/>
          <p:nvPr/>
        </p:nvPicPr>
        <p:blipFill rotWithShape="1">
          <a:blip r:embed="rId3">
            <a:alphaModFix/>
          </a:blip>
          <a:srcRect b="0" l="0" r="0" t="0"/>
          <a:stretch/>
        </p:blipFill>
        <p:spPr>
          <a:xfrm>
            <a:off x="6434281" y="1280071"/>
            <a:ext cx="4986497" cy="2925961"/>
          </a:xfrm>
          <a:prstGeom prst="rect">
            <a:avLst/>
          </a:prstGeom>
          <a:noFill/>
          <a:ln>
            <a:noFill/>
          </a:ln>
        </p:spPr>
      </p:pic>
      <p:sp>
        <p:nvSpPr>
          <p:cNvPr id="561" name="Google Shape;561;p4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4(single panel). Measured brain serotonin after application and wash.</a:t>
            </a:r>
            <a:endParaRPr sz="1800">
              <a:solidFill>
                <a:schemeClr val="dk1"/>
              </a:solidFill>
              <a:latin typeface="Calibri"/>
              <a:ea typeface="Calibri"/>
              <a:cs typeface="Calibri"/>
              <a:sym typeface="Calibri"/>
            </a:endParaRPr>
          </a:p>
        </p:txBody>
      </p:sp>
      <p:pic>
        <p:nvPicPr>
          <p:cNvPr id="562" name="Google Shape;562;p40"/>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63" name="Google Shape;563;p4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64" name="Google Shape;564;p4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66" name="Google Shape;56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0" name="Shape 570"/>
        <p:cNvGrpSpPr/>
        <p:nvPr/>
      </p:nvGrpSpPr>
      <p:grpSpPr>
        <a:xfrm>
          <a:off x="0" y="0"/>
          <a:ext cx="0" cy="0"/>
          <a:chOff x="0" y="0"/>
          <a:chExt cx="0" cy="0"/>
        </a:xfrm>
      </p:grpSpPr>
      <p:sp>
        <p:nvSpPr>
          <p:cNvPr id="571" name="Google Shape;57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Antagonists reduce pheromone responsiveness</a:t>
            </a:r>
            <a:endParaRPr sz="1800">
              <a:solidFill>
                <a:schemeClr val="dk1"/>
              </a:solidFill>
              <a:latin typeface="Calibri"/>
              <a:ea typeface="Calibri"/>
              <a:cs typeface="Calibri"/>
              <a:sym typeface="Calibri"/>
            </a:endParaRPr>
          </a:p>
        </p:txBody>
      </p:sp>
      <p:sp>
        <p:nvSpPr>
          <p:cNvPr id="572" name="Google Shape;572;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Gatellier and colleagues applied the serotonin antagonists mianserin and ketanserin to the exposed brain before bombykol testing. Mianserin at 10⁻⁴ mol/L and ketanserin at 10⁻³ mol/L shifted behavioral responsiveness toward higher required pheromone doses, which means the males needed more odor to respond. Both drugs were applied before the bombykol test. Antagonist effects were then measured against the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For 5 ng bombykol, mianserin reduced the response fraction from 46% to 33% in its comparison group. Ketanserin reduced it from 25% to 17% in a separate group, while ketanserin at 10⁻⁴ mol/L produced no comparable inhibition, so the effect depended on the dose of the drug. The two fractions are reported as separate measurements.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antagonist results support serotonergic involvement in behavioral sensitivity, although the drugs are imperfect probes of an identified insect receptor. Different control response fractions belong to different experiments, so each fraction is interpreted within its own experiment. Pharmacological specificity remains an open issue. The drugs therefore point toward serotonin rather than a single receptor.</a:t>
            </a:r>
            <a:endParaRPr sz="1800">
              <a:solidFill>
                <a:schemeClr val="dk1"/>
              </a:solidFill>
              <a:latin typeface="Calibri"/>
              <a:ea typeface="Calibri"/>
              <a:cs typeface="Calibri"/>
              <a:sym typeface="Calibri"/>
            </a:endParaRPr>
          </a:p>
        </p:txBody>
      </p:sp>
      <p:pic>
        <p:nvPicPr>
          <p:cNvPr id="575" name="Google Shape;575;p41"/>
          <p:cNvPicPr preferRelativeResize="0"/>
          <p:nvPr/>
        </p:nvPicPr>
        <p:blipFill rotWithShape="1">
          <a:blip r:embed="rId3">
            <a:alphaModFix/>
          </a:blip>
          <a:srcRect b="0" l="0" r="0" t="0"/>
          <a:stretch/>
        </p:blipFill>
        <p:spPr>
          <a:xfrm>
            <a:off x="6641753" y="1280079"/>
            <a:ext cx="3062436" cy="4297545"/>
          </a:xfrm>
          <a:prstGeom prst="rect">
            <a:avLst/>
          </a:prstGeom>
          <a:noFill/>
          <a:ln>
            <a:noFill/>
          </a:ln>
        </p:spPr>
      </p:pic>
      <p:sp>
        <p:nvSpPr>
          <p:cNvPr id="576" name="Google Shape;576;p4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5(A–B). Serotonin antagonists decrease behavioral sensitivity to bombykol.</a:t>
            </a:r>
            <a:endParaRPr sz="1800">
              <a:solidFill>
                <a:schemeClr val="dk1"/>
              </a:solidFill>
              <a:latin typeface="Calibri"/>
              <a:ea typeface="Calibri"/>
              <a:cs typeface="Calibri"/>
              <a:sym typeface="Calibri"/>
            </a:endParaRPr>
          </a:p>
        </p:txBody>
      </p:sp>
      <p:pic>
        <p:nvPicPr>
          <p:cNvPr id="577" name="Google Shape;577;p4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578" name="Google Shape;578;p4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79" name="Google Shape;579;p4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81" name="Google Shape;58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Daily serotonin variation accompanies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Gatellier and colleagues measured brain serotonin at regular intervals over a 24-h light-dark cycle and tested pheromone responsiveness at several times of day. Serotonin content peaked around midday and then fell during the early part of the night, following the schedule of the light cycle. Serotonin therefore followed the daily schedule. Levels were lowest later at night.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Brain serotonin and response sensitivity varied together over the tested daily schedule. Responsiveness was highest near midday and lowest late in the night, which places the sensitivity in step with the serotonin content of the brain. Sensitivity and serotonin content changed in the same direction. The daily pattern therefore ties sensitivity to brain state.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correlation is consistent with a state-dependent serotonergic contribution, yet daily modulation and the separate application experiments provide different forms of evidence. A pattern measured under scheduled light and darkness is the starting point for a rhythm, and the rhythm itself is tested in other conditions. Serotonin content and responsiveness were measured at the same times.</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3">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0" name="Shape 600"/>
        <p:cNvGrpSpPr/>
        <p:nvPr/>
      </p:nvGrpSpPr>
      <p:grpSpPr>
        <a:xfrm>
          <a:off x="0" y="0"/>
          <a:ext cx="0" cy="0"/>
          <a:chOff x="0" y="0"/>
          <a:chExt cx="0" cy="0"/>
        </a:xfrm>
      </p:grpSpPr>
      <p:sp>
        <p:nvSpPr>
          <p:cNvPr id="601" name="Google Shape;60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context changes walking speed and turning</a:t>
            </a:r>
            <a:endParaRPr sz="1800">
              <a:solidFill>
                <a:schemeClr val="dk1"/>
              </a:solidFill>
              <a:latin typeface="Calibri"/>
              <a:ea typeface="Calibri"/>
              <a:cs typeface="Calibri"/>
              <a:sym typeface="Calibri"/>
            </a:endParaRPr>
          </a:p>
        </p:txBody>
      </p:sp>
      <p:sp>
        <p:nvSpPr>
          <p:cNvPr id="602" name="Google Shape;602;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Yamada and colleagues measured forward and angular velocity as a function of odor-detection frequency during virtual navigation. Angular velocity is the rate of change of heading, which is distinct from translational movement through space, so the two measures capture different aspects of the walk. Each measure was taken across odor-detection frequencies. Forward and angular speeds were analyzed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With correctly aligned cues, forward velocity peaked around 0.7 Hz and turning velocity around 0.4 Hz. Reversing the wind removed the frequency-dependent forward-speed pattern and moved the turning peak toward about 0.2 Hz, so the wind direction shaped how the walk responded to odor frequency. Both values refer to the best-aligned condition.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These behavioral changes establish context-dependent control rather than a fixed response to odor frequency alone. Encounter rate depends on the plume and the animal's movement, so it works as a context-bound signal rather than a fixed distance gauge, and the proposed link to proximity to a female remains an interpretation. The encounter pattern depended on context.</a:t>
            </a:r>
            <a:endParaRPr sz="1800">
              <a:solidFill>
                <a:schemeClr val="dk1"/>
              </a:solidFill>
              <a:latin typeface="Calibri"/>
              <a:ea typeface="Calibri"/>
              <a:cs typeface="Calibri"/>
              <a:sym typeface="Calibri"/>
            </a:endParaRPr>
          </a:p>
        </p:txBody>
      </p:sp>
      <p:pic>
        <p:nvPicPr>
          <p:cNvPr id="605" name="Google Shape;605;p43"/>
          <p:cNvPicPr preferRelativeResize="0"/>
          <p:nvPr/>
        </p:nvPicPr>
        <p:blipFill rotWithShape="1">
          <a:blip r:embed="rId3">
            <a:alphaModFix/>
          </a:blip>
          <a:srcRect b="0" l="0" r="0" t="0"/>
          <a:stretch/>
        </p:blipFill>
        <p:spPr>
          <a:xfrm>
            <a:off x="7432649" y="1280071"/>
            <a:ext cx="3218063" cy="4297561"/>
          </a:xfrm>
          <a:prstGeom prst="rect">
            <a:avLst/>
          </a:prstGeom>
          <a:noFill/>
          <a:ln>
            <a:noFill/>
          </a:ln>
        </p:spPr>
      </p:pic>
      <p:sp>
        <p:nvSpPr>
          <p:cNvPr id="606" name="Google Shape;606;p4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5(A–C). Measured speed and turning changes with odor frequency and cue reversals.</a:t>
            </a:r>
            <a:endParaRPr sz="1800">
              <a:solidFill>
                <a:schemeClr val="dk1"/>
              </a:solidFill>
              <a:latin typeface="Calibri"/>
              <a:ea typeface="Calibri"/>
              <a:cs typeface="Calibri"/>
              <a:sym typeface="Calibri"/>
            </a:endParaRPr>
          </a:p>
        </p:txBody>
      </p:sp>
      <p:sp>
        <p:nvSpPr>
          <p:cNvPr id="607" name="Google Shape;607;p4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8" name="Google Shape;60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09" name="Google Shape;60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Aligned sensory cues improve source-finding success</a:t>
            </a:r>
            <a:endParaRPr sz="1800">
              <a:solidFill>
                <a:schemeClr val="dk1"/>
              </a:solidFill>
              <a:latin typeface="Calibri"/>
              <a:ea typeface="Calibri"/>
              <a:cs typeface="Calibri"/>
              <a:sym typeface="Calibri"/>
            </a:endParaRPr>
          </a:p>
        </p:txBody>
      </p:sp>
      <p:sp>
        <p:nvSpPr>
          <p:cNvPr id="615" name="Google Shape;61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Yamada and colleagues compared search success, arrival time and success per unit time across combinations of odor, wind and visual input. All treatments retained odor information. That allowed the contributions of the other cues to be judged against an odor-alone condition, so every change could be traced to a specific added or reversed cue.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Correctly aligned odor, wind and visual information improved performance over reduced-cue conditions. Reversing the wind inside the full-cue preparation sharply reduced success, and visual effects were context dependent, appearing strongly with the other cues present and weakly with odor alone. Its contribution depended on the other sensory cues present. Odor-alone search improved less than full-cue search.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These results support multisensory control of walking odor-source search. The preparation is controlled, and the behavioral cue manipulations complement the receptor and neuronal experiments that identify where each signal enters the brain. Natural habitats add further sensory structure. The study measures behavior inside a fixed virtual environment, so its results describe one controlled context.</a:t>
            </a:r>
            <a:endParaRPr sz="1800">
              <a:solidFill>
                <a:schemeClr val="dk1"/>
              </a:solidFill>
              <a:latin typeface="Calibri"/>
              <a:ea typeface="Calibri"/>
              <a:cs typeface="Calibri"/>
              <a:sym typeface="Calibri"/>
            </a:endParaRPr>
          </a:p>
        </p:txBody>
      </p:sp>
      <p:pic>
        <p:nvPicPr>
          <p:cNvPr id="618" name="Google Shape;618;p44"/>
          <p:cNvPicPr preferRelativeResize="0"/>
          <p:nvPr/>
        </p:nvPicPr>
        <p:blipFill rotWithShape="1">
          <a:blip r:embed="rId3">
            <a:alphaModFix/>
          </a:blip>
          <a:srcRect b="0" l="0" r="0" t="0"/>
          <a:stretch/>
        </p:blipFill>
        <p:spPr>
          <a:xfrm>
            <a:off x="6933429" y="1280071"/>
            <a:ext cx="4216652" cy="4297561"/>
          </a:xfrm>
          <a:prstGeom prst="rect">
            <a:avLst/>
          </a:prstGeom>
          <a:noFill/>
          <a:ln>
            <a:noFill/>
          </a:ln>
        </p:spPr>
      </p:pic>
      <p:sp>
        <p:nvSpPr>
          <p:cNvPr id="619" name="Google Shape;619;p4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4(A–C). Source-finding success, time and performance across sensory conditions.</a:t>
            </a:r>
            <a:endParaRPr sz="1800">
              <a:solidFill>
                <a:schemeClr val="dk1"/>
              </a:solidFill>
              <a:latin typeface="Calibri"/>
              <a:ea typeface="Calibri"/>
              <a:cs typeface="Calibri"/>
              <a:sym typeface="Calibri"/>
            </a:endParaRPr>
          </a:p>
        </p:txBody>
      </p:sp>
      <p:sp>
        <p:nvSpPr>
          <p:cNvPr id="620" name="Google Shape;620;p4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22" name="Google Shape;62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Tracking requires detection, timing and motor state</a:t>
            </a:r>
            <a:endParaRPr sz="1800">
              <a:solidFill>
                <a:schemeClr val="dk1"/>
              </a:solidFill>
              <a:latin typeface="Calibri"/>
              <a:ea typeface="Calibri"/>
              <a:cs typeface="Calibri"/>
              <a:sym typeface="Calibri"/>
            </a:endParaRPr>
          </a:p>
        </p:txBody>
      </p:sp>
      <p:sp>
        <p:nvSpPr>
          <p:cNvPr id="628" name="Google Shape;628;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Published silkmoth experiments link several transformations: ligand-selective receptors excite a defined sensory channel, the binding protein in the periphery helps responses end, and antennal-lobe neurons combine or split contacts according to input strength. These operations can be tested separately, which is why each one has its own experimental evidence. Each link has its own experimental support.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BmPBP1 loss preserves searching but reduces its temporal efficiency. Optogenetic paired inputs reveal central integration within tens of milliseconds, while descending recordings reveal states lasting seconds after brief stimulation, so the timescales span from milliseconds to seconds. Each timescale is set by its own experiment and preparation. Together they describe a sequence from detection to searching.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Several timescales together allow short odor encounters to shape extended motor behavior. Natural searching combines these sensory and central operations with wind and visual information, so the moth's track reflects all of them at once. The track is a joint product of these operations. Each operation contributes its own timescale to the result.</a:t>
            </a:r>
            <a:endParaRPr sz="1800">
              <a:solidFill>
                <a:schemeClr val="dk1"/>
              </a:solidFill>
              <a:latin typeface="Calibri"/>
              <a:ea typeface="Calibri"/>
              <a:cs typeface="Calibri"/>
              <a:sym typeface="Calibri"/>
            </a:endParaRPr>
          </a:p>
        </p:txBody>
      </p:sp>
      <p:pic>
        <p:nvPicPr>
          <p:cNvPr id="631" name="Google Shape;631;p45"/>
          <p:cNvPicPr preferRelativeResize="0"/>
          <p:nvPr/>
        </p:nvPicPr>
        <p:blipFill rotWithShape="1">
          <a:blip r:embed="rId3">
            <a:alphaModFix/>
          </a:blip>
          <a:srcRect b="0" l="0" r="0" t="0"/>
          <a:stretch/>
        </p:blipFill>
        <p:spPr>
          <a:xfrm>
            <a:off x="7587761" y="1280071"/>
            <a:ext cx="2679240" cy="2925961"/>
          </a:xfrm>
          <a:prstGeom prst="rect">
            <a:avLst/>
          </a:prstGeom>
          <a:noFill/>
          <a:ln>
            <a:noFill/>
          </a:ln>
        </p:spPr>
      </p:pic>
      <p:sp>
        <p:nvSpPr>
          <p:cNvPr id="632" name="Google Shape;632;p4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4">
            <a:alphaModFix/>
          </a:blip>
          <a:srcRect b="0" l="0" r="0" t="0"/>
          <a:stretch/>
        </p:blipFill>
        <p:spPr>
          <a:xfrm>
            <a:off x="8440654" y="4754761"/>
            <a:ext cx="973305" cy="1005780"/>
          </a:xfrm>
          <a:prstGeom prst="rect">
            <a:avLst/>
          </a:prstGeom>
          <a:noFill/>
          <a:ln>
            <a:noFill/>
          </a:ln>
        </p:spPr>
      </p:pic>
      <p:sp>
        <p:nvSpPr>
          <p:cNvPr id="634" name="Google Shape;634;p4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Shiota et al. (2021); Tabuchi et al. (2013); Kanzaki et al. (1994); Yamada et al. (2021)</a:t>
            </a:r>
            <a:endParaRPr sz="1800">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Plumes are intermittent</a:t>
            </a:r>
            <a:r>
              <a:rPr b="0" i="0" lang="en-US" sz="1600">
                <a:solidFill>
                  <a:srgbClr val="242B31"/>
                </a:solidFill>
                <a:latin typeface="Arial"/>
                <a:ea typeface="Arial"/>
                <a:cs typeface="Arial"/>
                <a:sym typeface="Arial"/>
              </a:rPr>
              <a:t> Turbulence creates odor contacts and gaps; encounter timing can renew surges or permit casting rather than supplying a smooth concentration gradient.</a:t>
            </a:r>
            <a:endParaRPr sz="1800">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Sensory identity gates behavior</a:t>
            </a:r>
            <a:r>
              <a:rPr b="0" i="0" lang="en-US" sz="1600">
                <a:solidFill>
                  <a:srgbClr val="242B31"/>
                </a:solidFill>
                <a:latin typeface="Arial"/>
                <a:ea typeface="Arial"/>
                <a:cs typeface="Arial"/>
                <a:sym typeface="Arial"/>
              </a:rPr>
              <a:t> Adding a foreign receptor to bombykol neurons changes which ligand initiates searching while preserving their central toroid targets.</a:t>
            </a:r>
            <a:endParaRPr sz="1800">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8" name="Google Shape;64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Receptors conduct cations</a:t>
            </a:r>
            <a:r>
              <a:rPr b="0" i="0" lang="en-US" sz="1600">
                <a:solidFill>
                  <a:srgbClr val="242B31"/>
                </a:solidFill>
                <a:latin typeface="Arial"/>
                <a:ea typeface="Arial"/>
                <a:cs typeface="Arial"/>
                <a:sym typeface="Arial"/>
              </a:rPr>
              <a:t> Ligand-selective OR and Orco subunits support odor-gated currents; patch recordings and residue substitutions constrain the channel mechanism.</a:t>
            </a:r>
            <a:endParaRPr sz="1800">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Termination supports tracking</a:t>
            </a:r>
            <a:r>
              <a:rPr b="0" i="0" lang="en-US" sz="1600">
                <a:solidFill>
                  <a:srgbClr val="242B31"/>
                </a:solidFill>
                <a:latin typeface="Arial"/>
                <a:ea typeface="Arial"/>
                <a:cs typeface="Arial"/>
                <a:sym typeface="Arial"/>
              </a:rPr>
              <a:t> BmPBP1 loss prolongs sensory responses, blurs repeated contacts and delays source finding despite preserved searching and eventual success.</a:t>
            </a:r>
            <a:endParaRPr sz="1800">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Central processing is state dependent</a:t>
            </a:r>
            <a:r>
              <a:rPr b="0" i="0" lang="en-US" sz="1600">
                <a:solidFill>
                  <a:srgbClr val="242B31"/>
                </a:solidFill>
                <a:latin typeface="Arial"/>
                <a:ea typeface="Arial"/>
                <a:cs typeface="Arial"/>
                <a:sym typeface="Arial"/>
              </a:rPr>
              <a:t> Weak contacts can integrate over tens of milliseconds; GABA limits strong-input integration, and descending signals can persist for seconds.</a:t>
            </a:r>
            <a:endParaRPr sz="1800">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Navigation depends on context</a:t>
            </a:r>
            <a:r>
              <a:rPr b="0" i="0" lang="en-US" sz="1600">
                <a:solidFill>
                  <a:srgbClr val="242B31"/>
                </a:solidFill>
                <a:latin typeface="Arial"/>
                <a:ea typeface="Arial"/>
                <a:cs typeface="Arial"/>
                <a:sym typeface="Arial"/>
              </a:rPr>
              <a:t> Serotonin alters responsiveness in a dose-dependent manner, while wind and visual feedback influence odor-guided movement and source-finding success.</a:t>
            </a:r>
            <a:endParaRPr sz="1800">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 Sakurai et al. (2011); Sato et al. (2008); Shiota et al. (2021); Tabuchi et al. (2013); Kanzaki et al. (1994); Yamada et al. (2021)</a:t>
            </a:r>
            <a:endParaRPr sz="1800">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content tracks daily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Serotonin content peaked around noon at about 0.72 pmol per brain and declined to about 0.41 pmol per brain two hours after darkness began. Measurements were taken every 4 h across the 24-h cycle. Serotonin content changed by a large margin across a single day. The measurements covered a full light-dark cycle. The daily peak was found near midday.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For 1 ng bombykol, behavioral responsiveness rose from 32% at 06:00 to 63% around noon, then declined to 16% at 22:00. The sensitivity curve followed the serotonin rhythm across the day. The lowest responsiveness came in the late night. Responsiveness was measured at several times across the day. Responsiveness followed the same daily order as serotonin content.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Both measures were taken at matching times of day. The shared timing links the brain's serotonin state to the strength of the search response. The pattern is a correlation across the day rather than a direct test of cause. The peak sensitivity and the peak serotonin content occurred in the same part of the day.</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2">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a:t>
            </a:r>
            <a:endParaRPr sz="1800">
              <a:solidFill>
                <a:schemeClr val="dk1"/>
              </a:solidFill>
              <a:latin typeface="Calibri"/>
              <a:ea typeface="Calibri"/>
              <a:cs typeface="Calibri"/>
              <a:sym typeface="Calibri"/>
            </a:endParaRPr>
          </a:p>
        </p:txBody>
      </p:sp>
      <p:sp>
        <p:nvSpPr>
          <p:cNvPr id="596" name="Google Shape;59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raises the response fraction</a:t>
            </a:r>
            <a:endParaRPr sz="1800">
              <a:solidFill>
                <a:schemeClr val="dk1"/>
              </a:solidFill>
              <a:latin typeface="Calibri"/>
              <a:ea typeface="Calibri"/>
              <a:cs typeface="Calibri"/>
              <a:sym typeface="Calibri"/>
            </a:endParaRPr>
          </a:p>
        </p:txBody>
      </p:sp>
      <p:sp>
        <p:nvSpPr>
          <p:cNvPr id="542" name="Google Shape;54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For 5 ng bombykol, the response fraction rose from 18% in the control condition to 30% during serotonin treatment. That increase shows the same dose producing more behavioral responses. The curve shifted toward higher sensitivity at a fixed pheromone dose. Responses were scored as a fraction of tested males. The rise was measured against a saline-treated baseline.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Sensitivity drifted back toward baseline 24 h after application. The curve moved back toward its original control position, and the recovery indicates that the effect was partly temporary. The change in responsiveness was partly reversible. A full dose-response curve was recorded at each time point. Sensitivity recovered toward its earlier level over the following day.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Brain exposure and pharmacological application can affect several elements at once. The cellular target is inferred from the behavioral curve rather than measured directly. Identifying that target would need a more selective manipulation. The application site was the exposed brain, which is a broad target. Several cell types in that region could respond. Modulation is a change in gain, not in the stimulus.</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2">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a:t>
            </a:r>
            <a:endParaRPr sz="1800">
              <a:solidFill>
                <a:schemeClr val="dk1"/>
              </a:solidFill>
              <a:latin typeface="Calibri"/>
              <a:ea typeface="Calibri"/>
              <a:cs typeface="Calibri"/>
              <a:sym typeface="Calibri"/>
            </a:endParaRPr>
          </a:p>
        </p:txBody>
      </p:sp>
      <p:sp>
        <p:nvSpPr>
          <p:cNvPr id="551" name="Google Shape;55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0" name="Google Shape;50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FF and ff name opposite and synchronized classes</a:t>
            </a:r>
            <a:endParaRPr sz="1800">
              <a:solidFill>
                <a:schemeClr val="dk1"/>
              </a:solidFill>
              <a:latin typeface="Calibri"/>
              <a:ea typeface="Calibri"/>
              <a:cs typeface="Calibri"/>
              <a:sym typeface="Calibri"/>
            </a:endParaRPr>
          </a:p>
        </p:txBody>
      </p:sp>
      <p:sp>
        <p:nvSpPr>
          <p:cNvPr id="501" name="Google Shape;501;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authors named the antiphasic class FF and the synchronized class ff. These labels appear throughout the paper's recordings and identify the two response classes. The paper treats these classes as response patterns, not as receptor types. Their names mark two distinct patterns across the recorded signals. Neither label implies a particular receptor or molecular cause.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Bilateral connective recordings revealed opposite states across the two sides. A small-bundle recording separated large and small impulses with opposite switching patterns. The two impulse sizes carried opposite switching behavior within one bundle, a result that the bilateral data alone would miss. Those states describe two sides of the same descending system. The pattern was visible on both connectives.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Antiphasic activity means one signal is high while the other is low. The relationship requires no regular oscillation and no direct connection between the two signals. Synchronized state changes instead move both signals in the same direction at the same time. Synchronized changes are the second pattern in the paper's classification. Both patterns are relationships between signals, not single responses.</a:t>
            </a:r>
            <a:endParaRPr sz="1800">
              <a:solidFill>
                <a:schemeClr val="dk1"/>
              </a:solidFill>
              <a:latin typeface="Calibri"/>
              <a:ea typeface="Calibri"/>
              <a:cs typeface="Calibri"/>
              <a:sym typeface="Calibri"/>
            </a:endParaRPr>
          </a:p>
        </p:txBody>
      </p:sp>
      <p:pic>
        <p:nvPicPr>
          <p:cNvPr id="504" name="Google Shape;504;p36"/>
          <p:cNvPicPr preferRelativeResize="0"/>
          <p:nvPr/>
        </p:nvPicPr>
        <p:blipFill rotWithShape="1">
          <a:blip r:embed="rId2">
            <a:alphaModFix/>
          </a:blip>
          <a:srcRect b="0" l="0" r="0" t="0"/>
          <a:stretch/>
        </p:blipFill>
        <p:spPr>
          <a:xfrm>
            <a:off x="6374778" y="1280071"/>
            <a:ext cx="5105503" cy="2925961"/>
          </a:xfrm>
          <a:prstGeom prst="rect">
            <a:avLst/>
          </a:prstGeom>
          <a:noFill/>
          <a:ln>
            <a:noFill/>
          </a:ln>
        </p:spPr>
      </p:pic>
      <p:sp>
        <p:nvSpPr>
          <p:cNvPr id="505" name="Google Shape;505;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8(single panel). Opposite switching states in units recorded from a descending bundle.</a:t>
            </a:r>
            <a:endParaRPr sz="1800">
              <a:solidFill>
                <a:schemeClr val="dk1"/>
              </a:solidFill>
              <a:latin typeface="Calibri"/>
              <a:ea typeface="Calibri"/>
              <a:cs typeface="Calibri"/>
              <a:sym typeface="Calibri"/>
            </a:endParaRPr>
          </a:p>
        </p:txBody>
      </p:sp>
      <p:pic>
        <p:nvPicPr>
          <p:cNvPr id="506" name="Google Shape;506;p36"/>
          <p:cNvPicPr preferRelativeResize="0"/>
          <p:nvPr/>
        </p:nvPicPr>
        <p:blipFill rotWithShape="1">
          <a:blip r:embed="rId3">
            <a:alphaModFix/>
          </a:blip>
          <a:srcRect b="0" l="0" r="0" t="0"/>
          <a:stretch/>
        </p:blipFill>
        <p:spPr>
          <a:xfrm>
            <a:off x="8634561" y="4754783"/>
            <a:ext cx="585788" cy="1005736"/>
          </a:xfrm>
          <a:prstGeom prst="rect">
            <a:avLst/>
          </a:prstGeom>
          <a:noFill/>
          <a:ln>
            <a:noFill/>
          </a:ln>
        </p:spPr>
      </p:pic>
      <p:sp>
        <p:nvSpPr>
          <p:cNvPr id="507" name="Google Shape;507;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508" name="Google Shape;508;p3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a:t>
            </a:r>
            <a:endParaRPr sz="1800">
              <a:solidFill>
                <a:schemeClr val="dk1"/>
              </a:solidFill>
              <a:latin typeface="Calibri"/>
              <a:ea typeface="Calibri"/>
              <a:cs typeface="Calibri"/>
              <a:sym typeface="Calibri"/>
            </a:endParaRPr>
          </a:p>
        </p:txBody>
      </p:sp>
      <p:sp>
        <p:nvSpPr>
          <p:cNvPr id="510" name="Google Shape;510;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7" name="Google Shape;45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Dye labels both fiber directions</a:t>
            </a:r>
            <a:endParaRPr sz="1800">
              <a:solidFill>
                <a:schemeClr val="dk1"/>
              </a:solidFill>
              <a:latin typeface="Calibri"/>
              <a:ea typeface="Calibri"/>
              <a:cs typeface="Calibri"/>
              <a:sym typeface="Calibri"/>
            </a:endParaRPr>
          </a:p>
        </p:txBody>
      </p:sp>
      <p:sp>
        <p:nvSpPr>
          <p:cNvPr id="458" name="Google Shape;45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Fluorescent dye introduced through the neck connectives labeled both descending and ascending fibers. Backfill labeling includes fibers that carry signals toward the brain as well as away from it. The staining map thus covers both directions of travel along the connectives. The dye was introduced through the neck connectives, so the labels reflect fibers that run along that route.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Confocal imaging showed dense labeling in the posterior slope, a posterior-ventral neuropil. Dense labeling in one neuropil shows where fibers from the dye concentrate, and the cell types in those fibers need separate identification. The labeling was imaged with confocal microscopy, a method that produces optical sections. Optical sections separate the labeled fibers from one another in depth.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The staining included ascending fibers in the same preparation, so the map covers the full set of labeled routes rather than the outgoing neurons alone. Each labeled route is a candidate pathway for pheromone information, and its identity is defined by its anatomy. Physiological recordings are needed to test each route. The mapping is an anatomical first step.</a:t>
            </a:r>
            <a:endParaRPr sz="1800">
              <a:solidFill>
                <a:schemeClr val="dk1"/>
              </a:solidFill>
              <a:latin typeface="Calibri"/>
              <a:ea typeface="Calibri"/>
              <a:cs typeface="Calibri"/>
              <a:sym typeface="Calibri"/>
            </a:endParaRPr>
          </a:p>
        </p:txBody>
      </p:sp>
      <p:pic>
        <p:nvPicPr>
          <p:cNvPr id="461" name="Google Shape;461;p33"/>
          <p:cNvPicPr preferRelativeResize="0"/>
          <p:nvPr/>
        </p:nvPicPr>
        <p:blipFill rotWithShape="1">
          <a:blip r:embed="rId2">
            <a:alphaModFix/>
          </a:blip>
          <a:srcRect b="0" l="0" r="0" t="0"/>
          <a:stretch/>
        </p:blipFill>
        <p:spPr>
          <a:xfrm>
            <a:off x="7790130" y="1280071"/>
            <a:ext cx="2503101" cy="4297561"/>
          </a:xfrm>
          <a:prstGeom prst="rect">
            <a:avLst/>
          </a:prstGeom>
          <a:noFill/>
          <a:ln>
            <a:noFill/>
          </a:ln>
        </p:spPr>
      </p:pic>
      <p:sp>
        <p:nvSpPr>
          <p:cNvPr id="462" name="Google Shape;462;p3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63" name="Google Shape;463;p3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465" name="Google Shape;46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GABA blockade exposes strong-input integration</a:t>
            </a:r>
            <a:endParaRPr sz="1800">
              <a:solidFill>
                <a:schemeClr val="dk1"/>
              </a:solidFill>
              <a:latin typeface="Calibri"/>
              <a:ea typeface="Calibri"/>
              <a:cs typeface="Calibri"/>
              <a:sym typeface="Calibri"/>
            </a:endParaRPr>
          </a:p>
        </p:txBody>
      </p:sp>
      <p:sp>
        <p:nvSpPr>
          <p:cNvPr id="415" name="Google Shape;41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After blockade, strong inputs separated by about 40-100 ms could produce supralinear integration in the projection neurons. Before blockade, the same strong inputs did not integrate in this way. The integration window opened once inhibition was removed. The window was absent in normal PNs with inhibition intact. The contrast between normal and blocked preparations is the central result.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GABA-A receptors are associated with ion-channel inhibition, whereas GABA-B receptors signal through G proteins. Those signaling mechanisms differ, and the combined blockade treats both receptor classes together. The pharmacology identifies GABA signaling as a whole rather than one subtype. The combined treatment tested the whole GABA system. The blockers were applied during the PN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500"/>
              <a:buFont typeface="Arial"/>
              <a:buNone/>
            </a:pPr>
            <a:r>
              <a:rPr b="0" i="0" lang="en-US" sz="1400">
                <a:solidFill>
                  <a:srgbClr val="242B31"/>
                </a:solidFill>
                <a:latin typeface="Arial"/>
                <a:ea typeface="Arial"/>
                <a:cs typeface="Arial"/>
                <a:sym typeface="Arial"/>
              </a:rPr>
              <a:t>Spontaneous and light-evoked firing also increased after blockade, consistent with removal of inhibition. The rise in baseline firing is a second effect of the same treatment, separate from the change in how strong inputs combine. The increase persisted during the recordings. Strong inputs had a larger effect after blockade. Their rise was visible in the same cells.</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2">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3">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9" name="Google Shape;36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Light pulse duration sets weak and strong input</a:t>
            </a:r>
            <a:endParaRPr sz="1800">
              <a:solidFill>
                <a:schemeClr val="dk1"/>
              </a:solidFill>
              <a:latin typeface="Calibri"/>
              <a:ea typeface="Calibri"/>
              <a:cs typeface="Calibri"/>
              <a:sym typeface="Calibri"/>
            </a:endParaRPr>
          </a:p>
        </p:txBody>
      </p:sp>
      <p:sp>
        <p:nvSpPr>
          <p:cNvPr id="370" name="Google Shape;370;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Tabuchi and colleagues used a 3-ms pulse, which sat near behavioral threshold, and a 10-ms pulse, which produced strong behavioral responsiveness. These two durations defined weak and strong input for this optogenetic preparation. The 3-ms duration was then used for the paired-pulse tests. The contrast between these two durations was the basis of the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Parental genetic controls lacked the light response, which ties the response to the introduced channel. Increasing the pulse duration raised the spike output of the targeted unit, so the input could be graded. Light intensity had the same effect, so both parameters set how strongly the sensory neuron fired. The sensory neuron's output was the quantity being controlled.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400"/>
              <a:buFont typeface="Arial"/>
              <a:buNone/>
            </a:pPr>
            <a:r>
              <a:rPr b="0" i="0" lang="en-US" sz="1400">
                <a:solidFill>
                  <a:srgbClr val="242B31"/>
                </a:solidFill>
                <a:latin typeface="Arial"/>
                <a:ea typeface="Arial"/>
                <a:cs typeface="Arial"/>
                <a:sym typeface="Arial"/>
              </a:rPr>
              <a:t>Peripheral recordings also constrain claims that later amplification originates entirely in the sensory neuron. The measured spikes set the limit on what the central pathway receives. Recording the receptor neuron directly gives the transmitted input itself. Spike counts from one unit are a direct readout of its input. The readout is the unit's spikes, not the light itself.</a:t>
            </a:r>
            <a:endParaRPr sz="1800">
              <a:solidFill>
                <a:schemeClr val="dk1"/>
              </a:solidFill>
              <a:latin typeface="Calibri"/>
              <a:ea typeface="Calibri"/>
              <a:cs typeface="Calibri"/>
              <a:sym typeface="Calibri"/>
            </a:endParaRPr>
          </a:p>
        </p:txBody>
      </p:sp>
      <p:pic>
        <p:nvPicPr>
          <p:cNvPr id="373" name="Google Shape;373;p27"/>
          <p:cNvPicPr preferRelativeResize="0"/>
          <p:nvPr/>
        </p:nvPicPr>
        <p:blipFill rotWithShape="1">
          <a:blip r:embed="rId2">
            <a:alphaModFix/>
          </a:blip>
          <a:srcRect b="0" l="0" r="0" t="0"/>
          <a:stretch/>
        </p:blipFill>
        <p:spPr>
          <a:xfrm>
            <a:off x="6230030" y="1280071"/>
            <a:ext cx="5394552" cy="1336477"/>
          </a:xfrm>
          <a:prstGeom prst="rect">
            <a:avLst/>
          </a:prstGeom>
          <a:noFill/>
          <a:ln>
            <a:noFill/>
          </a:ln>
        </p:spPr>
      </p:pic>
      <p:sp>
        <p:nvSpPr>
          <p:cNvPr id="374" name="Google Shape;374;p27"/>
          <p:cNvSpPr/>
          <p:nvPr/>
        </p:nvSpPr>
        <p:spPr>
          <a:xfrm>
            <a:off x="6229796" y="2708077"/>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2(A–C). Light pulses control sensory-neuron spike output.</a:t>
            </a:r>
            <a:endParaRPr sz="1800">
              <a:solidFill>
                <a:schemeClr val="dk1"/>
              </a:solidFill>
              <a:latin typeface="Calibri"/>
              <a:ea typeface="Calibri"/>
              <a:cs typeface="Calibri"/>
              <a:sym typeface="Calibri"/>
            </a:endParaRPr>
          </a:p>
        </p:txBody>
      </p:sp>
      <p:pic>
        <p:nvPicPr>
          <p:cNvPr id="375" name="Google Shape;375;p27"/>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376" name="Google Shape;376;p2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77" name="Google Shape;377;p2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79" name="Google Shape;379;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Arrival delay reveals a timing deficit</a:t>
            </a:r>
            <a:endParaRPr sz="1800">
              <a:solidFill>
                <a:schemeClr val="dk1"/>
              </a:solidFill>
              <a:latin typeface="Calibri"/>
              <a:ea typeface="Calibri"/>
              <a:cs typeface="Calibri"/>
              <a:sym typeface="Calibri"/>
            </a:endParaRPr>
          </a:p>
        </p:txBody>
      </p:sp>
      <p:sp>
        <p:nvSpPr>
          <p:cNvPr id="331" name="Google Shape;331;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Normal moths received 1-100 ng bombykol source loads, while knockouts received 100-10,000 ng to compensate for lower sensitivity. The two dose ranges overlap at 100 ng, and the knockout range reached loads 100-fold higher. Those loads were matched to the reduced sensitivity rather than to the stimulus timing. The knockout loads were set well above the normal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sensory system can keep the ability to reach a source while losing the timing precision needed for rapid progress. Arrival time was the measure that revealed the knockout deficit. Success alone would have hidden the delay, because both groups eventually located the source. Success was a weaker measure of the defect than arrival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Source-finding success and time were measured separately, so a delay could be identified even when the males found the source. The knockout males showed briefer forward bouts and extra turning along the route. These differences appeared in the same wind tunnel trials that produced the success results. The delay was an arrival effect, not an inability to find the source.</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2">
            <a:alphaModFix/>
          </a:blip>
          <a:srcRect b="0" l="0" r="0" t="0"/>
          <a:stretch/>
        </p:blipFill>
        <p:spPr>
          <a:xfrm>
            <a:off x="7384801" y="1280071"/>
            <a:ext cx="3313909" cy="4297561"/>
          </a:xfrm>
          <a:prstGeom prst="rect">
            <a:avLst/>
          </a:prstGeom>
          <a:noFill/>
          <a:ln>
            <a:noFill/>
          </a:ln>
        </p:spPr>
      </p:pic>
      <p:sp>
        <p:nvSpPr>
          <p:cNvPr id="335" name="Google Shape;335;p2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5(A–I). Source-finding performance for synthetic pheromone and females.</a:t>
            </a:r>
            <a:endParaRPr sz="1800">
              <a:solidFill>
                <a:schemeClr val="dk1"/>
              </a:solidFill>
              <a:latin typeface="Calibri"/>
              <a:ea typeface="Calibri"/>
              <a:cs typeface="Calibri"/>
              <a:sym typeface="Calibri"/>
            </a:endParaRPr>
          </a:p>
        </p:txBody>
      </p:sp>
      <p:sp>
        <p:nvSpPr>
          <p:cNvPr id="336" name="Google Shape;336;p2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38" name="Google Shape;338;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Matched loads compensate for lower sensitivity</a:t>
            </a:r>
            <a:endParaRPr sz="1800">
              <a:solidFill>
                <a:schemeClr val="dk1"/>
              </a:solidFill>
              <a:latin typeface="Calibri"/>
              <a:ea typeface="Calibri"/>
              <a:cs typeface="Calibri"/>
              <a:sym typeface="Calibri"/>
            </a:endParaRPr>
          </a:p>
        </p:txBody>
      </p:sp>
      <p:sp>
        <p:nvSpPr>
          <p:cNvPr id="288" name="Google Shape;28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Shiota and colleagues used 100 ng of bombykol for the normal group and 10,000 ng for the knockout group. The larger knockout load was chosen to compensate for the lower knockout sensitivity. Matching the response amplitudes in this way kept the timing comparison from being driven by size. The matching was done on response size, not on stimulus timing.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Pulses were delivered at 0.17 Hz and at 2 Hz in these trains. At 2 Hz, several knockout preparations never returned to baseline throughout the train, whereas normal antennae recovered rapidly. The knockout trace carried residual voltage from one pulse into the next. The difference between the two groups appeared at the faster rate.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remaining voltage between responses was larger in the knockout. That residual voltage is the trace of earlier stimuli that had not yet decayed when the next pulse arrived. Each successive pulse started from a higher baseline in the knockout trains. Those trains were analyzed for the voltage left between pulses. That measure reflects the slowed termination.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2">
            <a:alphaModFix/>
          </a:blip>
          <a:srcRect b="0" l="0" r="0" t="0"/>
          <a:stretch/>
        </p:blipFill>
        <p:spPr>
          <a:xfrm>
            <a:off x="7203900" y="1280071"/>
            <a:ext cx="3446813" cy="2925961"/>
          </a:xfrm>
          <a:prstGeom prst="rect">
            <a:avLst/>
          </a:prstGeom>
          <a:noFill/>
          <a:ln>
            <a:noFill/>
          </a:ln>
        </p:spPr>
      </p:pic>
      <p:sp>
        <p:nvSpPr>
          <p:cNvPr id="292" name="Google Shape;292;p2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2(A–D). Antennal recovery to 0.17-Hz and 2-Hz pheromone pulse trains.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294" name="Google Shape;294;p2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297" name="Google Shape;29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Residue substitutions shift potassium permeability</a:t>
            </a:r>
            <a:endParaRPr sz="1800">
              <a:solidFill>
                <a:schemeClr val="dk1"/>
              </a:solidFill>
              <a:latin typeface="Calibri"/>
              <a:ea typeface="Calibri"/>
              <a:cs typeface="Calibri"/>
              <a:sym typeface="Calibri"/>
            </a:endParaRPr>
          </a:p>
        </p:txBody>
      </p:sp>
      <p:sp>
        <p:nvSpPr>
          <p:cNvPr id="247" name="Google Shape;247;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BmOR1 D299N and E356Q reduced relative potassium permeability, while Orco Y464A increased it. Those three substitutions moved permeability in opposite directions across the two subunits. Because permeability sets the reversal potential, these shifts changed the ion balance of the complex in opposite ways. Each change alters one residue in one of the two subunits.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The notation names the original residue, its position and the replacement. E356Q replaces glutamate at position 356 with glutamine, and the substitution keeps the receptor intact rather than deleting it. A residue name encodes the change at one position without removing the protein. The residue numbers refer to positions within each protein. The name thus pinpoints where the change was made.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25B70"/>
              </a:buClr>
              <a:buSzPts val="1600"/>
              <a:buFont typeface="Arial"/>
              <a:buNone/>
            </a:pPr>
            <a:r>
              <a:rPr b="0" i="0" lang="en-US" sz="1400">
                <a:solidFill>
                  <a:srgbClr val="242B31"/>
                </a:solidFill>
                <a:latin typeface="Arial"/>
                <a:ea typeface="Arial"/>
                <a:cs typeface="Arial"/>
                <a:sym typeface="Arial"/>
              </a:rPr>
              <a:t>Each test changed one subunit while the other stayed in its normal form, so each shift could be assigned to a single protein. The reported changes identify which subunit carries each specific effect. Both subunits contribute to the ion preference of the complex, so neither can be treated as inert. Their effects are interpreted together.</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2">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Glomeruli set the central target</a:t>
            </a:r>
            <a:endParaRPr sz="1800">
              <a:solidFill>
                <a:schemeClr val="dk1"/>
              </a:solidFill>
              <a:latin typeface="Calibri"/>
              <a:ea typeface="Calibri"/>
              <a:cs typeface="Calibri"/>
              <a:sym typeface="Calibri"/>
            </a:endParaRPr>
          </a:p>
        </p:txBody>
      </p:sp>
      <p:sp>
        <p:nvSpPr>
          <p:cNvPr id="206" name="Google Shape;206;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glomerulus is a region of concentrated sensory terminals and the central neurons that interact with them. Sensory axons from one receptor class converge on a restricted target, so each glomerulus carries one kind of input. A glomerulus holds a defined place in the central map of olfactory input. The map links each receptor class to a defined place.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toroid is a central target, whereas the receptor itself resides in the peripheral neuron. Preserving the target distinguishes a change in ligand recognition from a wholesale remapping of sensory axons. A remapping would move the axons into a different glomerulus, and the axons did not move. Axon endings alone were used to judge the target.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A shift to the neighboring cumulus would have moved the new ligand's information into a different glomerulus. The toroid result tests where that information lands in the brain after the receptor change. Because the target stayed the same, the altered receptor drove the existing toroid channel. That placement makes the toroid a useful test of channel rerouting.</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Spike size identifies the bombykol neuron</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Sakurai and colleagues distinguished the large-amplitude spikes of the bombykol neuron from the smaller spikes of the bombykal neuron. Those amplitude differences allowed the two units to be followed separately during each stimulus, even within one hair. Spike amplitude served as a practical identity marker for each unit during the recordings. Spike size is a measurement of each unit's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PxOR1 is a receptor from Plutella xylostella, a different species of moth from Bombyx mori. Its gene was introduced into the bombykol-responsive neurons, which already expressed their native receptor. The transgenic neurons carried two receptors, and the native one was retained. Those two receptors were present together in one cell type. The second receptor did not replace the first.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Bombykal is the aldehyde corresponding to bombykol, while bombykol is the alcohol. The neighboring neuron responds to a chemically related molecule rather than to the same compound. That difference in functional group is one reason the two channels can be told apart by their ligand preference. Ligand preference, not position in the hair, marks each channel.</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7580744" y="1280071"/>
            <a:ext cx="2693422" cy="2925961"/>
          </a:xfrm>
          <a:prstGeom prst="rect">
            <a:avLst/>
          </a:prstGeom>
          <a:noFill/>
          <a:ln>
            <a:noFill/>
          </a:ln>
        </p:spPr>
      </p:pic>
      <p:sp>
        <p:nvSpPr>
          <p:cNvPr id="167" name="Google Shape;167;p1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68" name="Google Shape;168;p12"/>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169" name="Google Shape;169;p1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70" name="Google Shape;170;p1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72" name="Google Shape;172;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Virtual search succeeds within a 10-mm radius</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A search counted as successful when the virtual position entered a 10-mm radius around the source within 300 s. Odor ports stimulated the two antennae independently, so the left and right sensory inputs could differ within the same trial. Wind arrived from four directions, which allowed wind direction to be set apart from odor. Every trial had a defined end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Closed-loop stimulation means the sensory inputs depend on the animal's measured movement. Movement and input influence one another instead of following an entirely predetermined replay, which makes the virtual search interactive rather than scripted. Each step the animal takes changes what its antennae and eyes receive next. The loop links the animal's walking to what it smells next.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500"/>
              <a:buFont typeface="Arial"/>
              <a:buNone/>
            </a:pPr>
            <a:r>
              <a:rPr b="0" i="0" lang="en-US" sz="1400">
                <a:solidFill>
                  <a:srgbClr val="242B31"/>
                </a:solidFill>
                <a:latin typeface="Arial"/>
                <a:ea typeface="Arial"/>
                <a:cs typeface="Arial"/>
                <a:sym typeface="Arial"/>
              </a:rPr>
              <a:t>Optic flow is the movement of a visual scene associated with self-motion. Visual stimulation supplied this optic flow, which gave the animal feedback about its own motion through the virtual field. That feedback sits alongside the odor and wind inputs in the same closed loop during each trial. Each cue can be reversed without changing the others.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Filament contact triggers a brief surge</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average upwind surge covered 13.4 cm and lasted 0.38 s. Its onset followed odor contact by about 0.30 s, so the motor response began shortly after the strand had reached the male. Surge length and onset time are two separate measures of one brief response, and both describe the same flight event. The surge was short and came soon after contact.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The authors combined their observations into a proposed phasic-tonic account. Individual recorded tracks remained distinct from the calculated template that the account produced, so the template summarized the responses without matching each track exactly. The account describes a pattern of responses rather than a single flight trajectory. The template was calculated from the recorded trajectories.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Casting means repeated crosswind turns after odor contact is lost. The surge and the casting form two phases of one response, with the first moving the male upwind and the second searching sideways across the wind. Together the two phases produce the flight track that the recordings display. The sequence fits a short sensory trigger followed by a longer motor response.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Ion tracers measure plume arrival</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Signal was present about 20% of the time at the downwind detectors in both the field and the forest. Murlis, Willis and Cardé released negatively charged air ions as the tracer, which made the arrival of air from the source measurable at each detector. Intermittent tracer signals appeared at several field and forest distances, so the alternation between signal and gap held across both sites.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Sampling extended 20 m downwind in the open field and 10 m downwind in the forest, so the tracer covered a range of distances in both environments. Ionized air approximates plume transport, but it is not chemically identical to pheromone. The tracer shows when air carrying odor arrives, rather than the chemistry of the signal a moth detects.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42B31"/>
              </a:buClr>
              <a:buSzPts val="1600"/>
              <a:buFont typeface="Arial"/>
              <a:buNone/>
            </a:pPr>
            <a:r>
              <a:rPr b="0" i="0" lang="en-US" sz="1400">
                <a:solidFill>
                  <a:srgbClr val="242B31"/>
                </a:solidFill>
                <a:latin typeface="Arial"/>
                <a:ea typeface="Arial"/>
                <a:cs typeface="Arial"/>
                <a:sym typeface="Arial"/>
              </a:rPr>
              <a:t>In this framework, a filament is a strand of odor-bearing air, and a gap is an interval without detectable signal. The two states alternate along the wind, so a fixed detector switches between encounter and clean air as the strands pass. Strands are brief, and the clean-air gaps between them set the spacing of encounters.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2026-10-08T10:30:31.720Z</dcterms:created>
  <dc:creator>Presenton</dc:creator>
</cp:coreProperties>
</file>