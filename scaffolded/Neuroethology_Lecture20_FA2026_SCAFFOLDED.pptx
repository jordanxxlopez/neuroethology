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gSfaIxkiul1+Je1bWBsZ4+LFqnJ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Electroreception I: passive sensing in sharks and rays (ampullae of Lorenzini)</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20. NEUR 411 · NEUROETHOLOGY · FALL 2026. Monday, October 12,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Bellono et al. (2017), Fig. 1(a). Little skate (Leucoraja erinacea).</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https://doi.org/10.1038/nature21401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The little skate is one of the experimental animals studied here; the title image is an unmodified published photograph.</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Passive electroreception is detection of electric fields produced outside the sensing animal, without probing the environment with its own discharge. Kalmijn tested feeding in small-spotted catsharks, Scyliorhinus canicula, and thornback rays, Raja clavata, using living plaice concealed beneath sand.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plaice was a naturalistic bottom-dwelling prey item, 8–15 cm long. Whiting juice distributed through the pool promoted food searching without marking the prey’s precise location. The experimental question concerned directed attacks, rather than whether an animal could merely register the presence of another fish.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Catsharks made directed feeding turns when they passed within approximately 15 cm of buried prey. Because sand could still transmit odor and water movements, concealment alone did not isolate the sensory cue. Kalmijn therefore enclosed the plaice in electrically conductive agar and manipulated the information escaping from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Predators continued attacking the concealed living fish through agar, whereas pieces of whiting redirected searching toward the chamber’s water outlet. Electrical localization and odor-induced feeding motivation were experimentally separable. The result establishes short-range use of prey fields under these conditions, rather than unlimited detection through seawater.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Kalmijn (1971), Fig. 2(b–c). Agar screening separates living prey from odor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https://doi.org/10.1242/jeb.55.2.371</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 name="Google Shape;46;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electric field is a spatial voltage gradient that can drive current through a conductor. Kalmijn constructed a chamber from 3% agar in seawater, with thick sidewalls, a reinforced roof, and inlet and outlet tubes supplying the enclosed plaice with fresh seawater.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plastic pools and electrically isolated circulation system avoided metal-generated galvanic fields. Agar structures equilibrated in the pool for at least 12 hours. These preparation details reduced unintended electrical targets and helped assign the response to the experimentally enclosed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chamber concealed the fish and attenuated mechanical disturbances while remaining conductive. A 1-Hz test current of 120 µA passed between electrodes 5 cm apart; field measurements with and without the chamber differed by no more than the reported 3% measurement limit.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Water carried potential odorants toward the outlet, yet attacks on living plaice were directed toward the agar-covered head region. The conductivity measurement was an essential control: a barrier cannot isolate an electrical cue unless its effect on that cue is tested independently. Agar screening reduced competing cues without denervating the predator.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Kalmijn (1971), Fig. 1. Conductive agar chamber and seawater circulation.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https://doi.org/10.1242/jeb.55.2.371</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 name="Google Shape;59;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Kalmijn covered the conductive agar chamber with polyethylene approximately 10 µm thick, then replaced the sand. The living plaice remained inside, and diffuse whiting odor still motivated the predators to search. The critical manipulation was electrical insulation around an otherwise similar concealed target.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predator could search vigorously while failing to localize the shielded plaice. Motivation and sensory access were thus distinct variables. Restoration after removing the film also limited explanations based on fatigue, permanent sensory injury, or an irreversible change in the prey.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Catsharks and rays passed close to the shielded fish without directed feeding responses. Removing the plastic restored attacks in control trials. The film had an area-specific resistance near 10¹² Ω·cm² and capacitance below 200 pF/cm², strongly attenuating direct-current and low-frequency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thin film added relatively little mechanical shielding compared with the reinforced agar roof. Reversible loss of localization therefore supports electrical guidance rather than an explanation based solely on sight, odor, or prey movement. This behavioral manipulation identifies a necessary available cue without measuring individual receptor-cell conductances.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Kalmijn (1971), Fig. 2(d). Electrical shielding blocks directed attacks.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https://doi.org/10.1242/jeb.55.2.371</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 name="Google Shape;73;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electric dipole consists of a separated current source and sink. Kalmijn buried seawater-bridge outlets beneath sand and passed either a 1-Hz sinusoidal current or direct current of 4 µA between them, approximating the strength of a living plaice’s electrical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electrodes were connected through long seawater bridges to reduce chemical and polarization artifacts near the target. The predators sometimes left the outlets exposed after digging, despite no food reward there. Accurate localization could therefore occur independently of successful prey capture.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odor-induced arousal, catsharks and rays dug at the active outlets as though attacking prey. Identical buried outlets without current did not elicit these responses. In a competition test, a whiting piece 5 cm from the outlets supplied odor, but directed attacks favored the electrical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artificial field was therefore sufficient for localization, while odor supplied a complementary motivational cue. Current-switching controls excluded the mere presence of electrodes as the target. The experiment does not establish that predators identify prey species from a dipole or that all natural bioelectric signals have the same waveform.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Kalmijn (1971), Fig. 2(e–f). Artificial dipoles elicit attacks and compete with food odor.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https://doi.org/10.1242/jeb.55.2.371</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 name="Google Shape;86;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Kajiura and Holland compared juvenile scalloped hammerheads, Sphyrna lewini, with sandbar sharks, Carcharhinus plumbeus, in an enclosed reef habitat. Both species consume bottom-associated fishes and crustaceans, permitting comparison of similar feeding tasks despite markedly different head shapes.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surrounding pen included reef organisms and tidal exchange. Testing one shark at a time prevented a neighboring shark’s response from supplying the focal animal with an additional directional cue. The study measured behavioral orientation to an artificial prey-like source, rather than intracellular receptor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overhead camera recorded sharks crossing an acrylic electrode plate in water less than 0.5 m deep. Each shark was isolated from companions during testing. Feeding odor encouraged searching, while electric current selected the active dipole independently of the other inactive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Orientation was identified from a course change greater than 20° or a bite. Calibrated video allowed distance and trajectory measurements rather than relying only on observer descriptions. The semi-natural setting preserved swimming behavior, but odor stimulation and the plate constrained the encounter relative to unconstrained wild hunting.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2. Shallow-water arena, camera and electrode plate.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shark stimulus apparatus delivered a constant current of 6.0 µA through outlets separated by 1 cm. A battery-powered circuit and series ammeter controlled and monitored the stimulus. Four selectable dipoles allowed the experimenter to change the electrical target on the same plate.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1-cm outlet spacing approximated a compact prey source. An ammeter verified delivered current, and the inactive pairs supplied spatial controls within the same apparatus. A shark’s response to the active pair cannot by itself specify the voltage acting across any one ampullary epithelium.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Seawater-filled tubing separated the metal electrodes from the nearby swimming animal, reducing local chemical cues. Both species bit the active dipole and ignored inactive dipoles; repeated biting stopped when current was switched off. Target position and electrical activation were therefore independently manipulable.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Current in microamperes describes the source, whereas field strength in microvolts per centimeter describes the local stimulus encountered by the shark. These quantities are not interchangeable. Behavioral sensitivity requires the source geometry, seawater properties, distance, and encounter direction to be considered alongside the measured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1. Battery-powered dipole stimulation and electrode array.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 name="Google Shape;112;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Kajiura and Holland measured distance from the dipole center when a shark initiated a directed turn. Hammerheads most often oriented within 5 cm, whereas sandbars most often oriented within 10 cm. The farthest responses were 30.6 cm and 31.6 cm, respectively.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animals’ swimming paths affected when and where they encountered the source. Detection range is consequently an organism-level measure that combines sensory input, movement, and response criteria. Equal farthest distances need not imply identical pore counts, receptor currents, or neural population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nearly identical maximum ranges did not support the prediction that the hammerhead’s expanded head necessarily produces a lower behavioral detection threshold. Both species searched the same apparatus with the same source current and dipole spacing, limiting differences caused by stimulus construction.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Maximum range and the most frequent response distance describe different aspects of performance. An occasional distant orientation does not imply that every encounter is detected there. The result applies to these juvenile species and motivated feeding conditions, rather than establishing identical sensitivity across all sharks or developmental stages.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5(A–B). Orientation distance distributions for both shark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dipole’s field depends on direction as well as distance. Kajiura and Holland measured each shark’s approach angle relative to the line joining the two outlets. Orientations began farther away at smaller angles, where the relevant field component was stronger.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article calculated field intensity from a specified dipole model and measured seawater properties. The inference depends on those physical assumptions. Spatial sampling by a moving head also changes receptor input over time, even when the experimental current remains constant.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hammerheads and sandbars followed this relationship. Approaches nearer 90° required a closer encounter before an orientation began. Comparing orientation distance alone would therefore confound receptor sensitivity with the geometry of the sampled field; angle was needed to estimate the local electrical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two species encountered the source from many directions, so a distant response was not simply evidence of a preferred approach axis. The experiment relates swimming geometry to effective stimulation. It does not directly identify how downstream neurons combine the differing signals available at individual skin pores.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6. Orientation distance depends on dipole-axis angle.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Kajiura and Holland converted measured encounter geometry into estimated field intensity at orientation onset. Both shark species initiated approximately 70% of orientations below 0.1 µV/cm, and approximately 35–40% below 0.01 µV/cm. Their most sensitive responses were below 1 nV/cm.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histogram concentrates on encounters below 0.1 µV/cm because most responses occurred in this weak-field range. A field gradient expressed per centimeter cannot be equated directly with a voltage-clamp command expressed in millivolts. The two measures describe different levels of the sensory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6.0-µA, 1-cm dipole and calibrated video provided the common reference for these estimates. Inactive outlets and current-switching trials constrained explanations involving visible target marks or electrode-associated cues. The distributions broadly overlapped despite the conspicuous difference in head morphology.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behavioral threshold is defined by an observable response criterion; it is not necessarily the threshold of one sensory cell. The lowest measured responses depend on source modeling and motivation. Strong sensitivity is established, while exact comparisons with isolated-cell membrane voltages require additional physiological measurements.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8(A–B). Behavioral responses to fields below 0.1 µV/cm.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cephalofoil is the laterally expanded head of a hammerhead shark. Video sequences recorded the position of the head while a scalloped hammerhead turned toward the active dipole. The head edge nearest the source could remain nearly stationary as the trunk pivoted around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photographs retain the temporal order of the approach and pivot. The investigators reconstructed paths from video instead of assuming that a straight approach followed field lines. Sensory detection and the motor maneuver that follows it can therefore vary independently between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Sandbar sharks generally followed broader arcs. Because the maximum orientation distances were similar, the different trajectories could not be attributed simply to earlier detection by hammerheads. Head shape and trunk flexibility changed how a detected electrical target was brought toward the mouth.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cephalofoil also samples a wider lateral search area, potentially increasing encounters with sources beneath the animal. Improved search coverage and turning mechanics are distinct from greater receptor sensitivity. The proposed hydrodynamic explanation fits the observed trajectories but was not tested by directly manipulating head shape.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3(A–F). A hammerhead pivots toward an electric dipole.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Kajiura and Holland quantified maximum trunk flexure during feeding turns. The mean measured angle was 85.9° in scalloped hammerheads and 113.3° in sandbars; the smaller angle represented a tighter bend. Body configuration was measured from video rather than inferred from the detection threshold.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angle metric describes the geometry of body bending, so its direction must be interpreted correctly: a smaller included angle corresponds to stronger flexure. The article did not record motor-neuron activity or manipulate muscular force. Those causal steps cannot be assigned solely from behavioral images.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greater flexure of hammerheads was consistent with their rapid pivot orientations. Sandbars had broader trunks and typically used wider turning paths. The shared electrode apparatus distinguished these motor differences from differences in artificial-source spacing, current, or target availability.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Electroreception contributes to prey capture through a sensory-to-motor transformation, not merely by triggering a generic response. This study directly measured posture and trajectory, while the mechanical contribution of particular muscles or hydrodynamic forces remained an interpretation. Equal detection range can coexist with different interception performance.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10. Body flexure differs between shark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ampullae of Lorenzini are sensory organs in which skin pores connect through jelly-filled canals to an internal receptor epithelium. Bellono and colleagues examined the little skate, Leucoraja erinacea, using canal staining, organ dissection, and recordings from individual electrosensory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epithelium is a cellular sheet lining the sensory organ. Its lumen-facing surface and nerve-facing surface participate in different aspects of transduction and output. Maintaining an attached nerve in an organ preparation differs from dispersing cells for direct membrane-current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Alcian Blue revealed the ventral canal network. Isolated ampullae retained short canal segments and attached afferent nerves, which carry sensory signals toward the brain; the published organ image has a 400-µm scale bar. Dissociated receptor cells were accessible to patch-clamp electrodes, with a 5-µm scale bar in the cellular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pore samples external voltage. Receptor cells convert it into activity and synaptic output, transmission to sensory nerves through released chemicals called neurotransmitters. Canal anatomy explains access to an environmental signal but does not by itself identify the channel that amplifies it. Dissection allows mechanistic control while removing the intact animal’s spatial sampling.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1(a–d). Skate, canal network, isolated ampullae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Josberger and colleagues extracted ampullary jelly from sharks and skates and measured its electrical properties with controlled electrodes and humidity. A proton is a hydrogen ion, H⁺. Palladium-hydride contacts injected protons, whereas palladium contacts restricted their transfer into the sample.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jelly was hydrated before testing, and measurements controlled humidity because water content affects charge transport. A 1-V device stimulus is much larger than natural sensory signals. The preparation establishes a material property without identifying the receptor-cell mechanism or explaining a behavioral threshold.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75% relative humidity, a 1-V stimulus produced a proton-associated current peak near 250 nA, compared with approximately 10 nA for the ionic transient. Four-terminal measurements gave room-temperature proton conductivity near 2 mS/cm. Electrode comparisons separated charge-carrier behavior from a single undifferentiated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are measurements of extracted material, not a direct recording of charge carriers traveling through a living canal during prey detection. The authors proposed that proton conduction may contribute to ampullary function. The intact organ’s physiological carrier balance and sensory advantage were not established by the material experiment.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Josberger EE, Hassanzadeh P, Deng Y, Sohn J, Rego MJ, Amemiya CT, Rolandi M (2016). Proton conductivity in ampullae of Lorenzini jelly. Science Advances 2(5):e1600112. https://doi.org/10.1126/sciadv.1600112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Josberger et al. (2016), Fig. 2(A–F). Electrode controls and proton conductivity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https://doi.org/10.1126/sciadv.1600112</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Josberger and colleagues characterized the jelly as a hydrogel, a hydrated polymer network. Prepared samples contained approximately 97% water. Drying reduced sample volume by about 80%, making hydration an essential experimental variable rather than a minor handling detail.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authors treated the link between polymer chemistry and high proton conductivity as a proposed explanation. A constituent detected in extracted jelly need not be the only electrically relevant component. The results cannot establish a channel-mediated neuronal response because no living receptor epithelium was included.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Chemical analyses identified sugars and sulfate-containing components consistent with keratan sulfate, a sulfated carbohydrate polymer. The original article combined compositional chromatography with infrared measurements. Sulfate groups could provide proton donors within a hydrated network, offering a possible material basis for measured proton conduction.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Chemical composition and electrical measurement support a conductive matrix, but they do not prove that keratan sulfate alone carries physiological sensory current. Species differences, hydration, electrode interfaces, and the intact canal remain relevant limitations. Material conduction must also be distinguished from membrane ion-channel amplification in receptor cells.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Josberger EE, Hassanzadeh P, Deng Y, Sohn J, Rego MJ, Amemiya CT, Rolandi M (2016). Proton conductivity in ampullae of Lorenzini jelly. Science Advances 2(5):e1600112. https://doi.org/10.1126/sciadv.1600112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Josberger et al. (2016), Fig. 3(A–C). Chemical analyses of ampullary jelly.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https://doi.org/10.1126/sciadv.1600112</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Clusin and Bennett isolated skate ampullae with canals and afferent nerves attached. Separate saline compartments allowed current and voltage measurements across the receptor epithelium. A salt bridge shunted the canal, keeping transampullary voltage close to its resting operating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canal’s resistance and the salt bridge influence how the imposed current produces a voltage across the epithelium. Recording nerve activity in a separate compartment prevents epithelial current from being mistaken for propagated afferent spikes. Electrical loading is therefore part of the experimental mechanism, not merely apparatus geometry.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Current delivered between compartments imposed small voltage stimuli without requiring a freely swimming animal. The investigators simultaneously monitored epithelial current and postsynaptic, or receiving-side, nerve responses. Removing or restoring the shunt changed the electrical load, allowing spontaneous activity to be separated from stimulus-induced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links an external electrical perturbation to receptor-organ current and a neural response. It preserves a tissue-level circuit but cannot independently voltage-clamp every receptor cell or distinguish all apical and basal conductances. Later single-cell recordings provide complementary channel-level evidence rather than replacing this organ-level result.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Clusin WT, Bennett MVL (1979). The oscillatory responses of skate electroreceptors to small voltage stimuli. Journal of General Physiology 73(6):685-702. https://doi.org/10.1085/jgp.73.6.685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Clusin &amp; Bennett (1979), Fig. 1. Isolated ampulla, canal and recording compartments.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https://doi.org/10.1085/jgp.73.6.685</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Clusin and Bennett applied small voltage steps to a shunted skate ampulla. A lumen-negative stimulus of 5 µV depolarized the postsynaptic nerve, whereas a lumen-positive stimulus of 10 µV hyperpolarized it. Depolarization makes membrane voltage less negative; hyperpolarization makes it more negative.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stimulus sign refers to the ampullary lumen relative to the external compartment. It is not interchangeable with the polarity of an electrode source in an arbitrary swimming orientation. The experiment preserved simultaneous epithelial and neural recordings, giving two distinct measures of the same perturbation.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Tetrodotoxin at 0.1 µM abolished postsynaptic action potentials so the underlying synaptic response could be measured. Small stimuli changed nerve potential without a comparably large change in total epithelial current. The same organ therefore transmitted changes much smaller than ordinary cellular membrane-voltage excursions.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Opposite response signs constrain how the receptor converts an environmental voltage into afferent drive. Tetrodotoxin separates sodium-dependent spikes from the preceding synaptic potential; it does not identify the released neurotransmitter or its postsynaptic receptor. Those molecular identities should not be inferred from response polarity alone.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Clusin WT, Bennett MVL (1979). The oscillatory responses of skate electroreceptors to small voltage stimuli. Journal of General Physiology 73(6):685-702. https://doi.org/10.1085/jgp.73.6.685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Clusin &amp; Bennett (1979), Fig. 3(A–D). Opposite stimulus polarities alter postsynaptic potential.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https://doi.org/10.1085/jgp.73.6.685</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2" name="Google Shape;242;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membrane oscillation is a repeated fluctuation in electrical activity. Clusin and Bennett recorded small spontaneous currents in shunted skate ampullae. Their frequency lay approximately between 1 and 8 Hz under the reported conditions, even without a deliberately applied sensory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tonic current persists without periodic stimulation, whereas an oscillatory current repeatedly changes around its operating point. The receptor organ exhibited both. Altering the canal shunt also altered its electrical loading, so these records cannot be treated as unmodified measurements of a freely behaving skate.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Lifting the salt bridge interrupted canal current and exposed the organ’s steady receptor current. Comparing the shunted and unshunted conditions separated the small oscillatory component from the larger tonic current. The observations established endogenous epithelial activity rather than motion-induced electrical fluctuations in a swimming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Oscillations provide a time-varying presynaptic state upon which weak signals can act. Their presence does not alone specify which membrane or channel generates them, and intact epithelial measurements combine many cells. Later molecular experiments directly tested calcium and potassium currents that could produce this activity in single receptor cells.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Clusin WT, Bennett MVL (1979). The oscillatory responses of skate electroreceptors to small voltage stimuli. Journal of General Physiology 73(6):685-702. https://doi.org/10.1085/jgp.73.6.685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Clusin &amp; Bennett (1979), Fig. 2(A1–A3, B–E). Spontaneous epithelial currents and oscillations.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https://doi.org/10.1085/jgp.73.6.685</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5" name="Google Shape;255;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primary afferent is a sensory neuron carrying receptor output toward the central nervous system. Tricas and New recorded these neurons in immobilized round stingrays, Urolophus halleri, while uniform electric fields were applied across the body and artificial ventilation maintained respiration.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investigators cut sensory and motor branches that would otherwise permit bodily movements to contaminate the applied field. The uniform stimulus controlled field direction, but lacked the spatial complexity of an actual prey dipole. A primary nerve recording also includes receptor and synaptic processing before spikes are observed.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1-Hz sinusoid modulated a regular resting spike train. Increasing peak-to-peak field intensity from 0.05 to 0.26 µV/cm increased firing during one phase and progressively silenced the neuron during the opposite phase. Period histograms aligned spikes to the recurring stimulus cycle.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Phase-dependent increases and decreases carry directional electrical information relative to spontaneous activity. At stronger stimulation, pauses can become complete even while firing during the excitatory phase remains high. Afferent output is therefore a temporally structured spike train, not simply a binary indication that an electric source exists.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2(A–C). Resting firing and phase-dependent afferent modulation.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0" name="Google Shape;270;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Gain describes how strongly a neural response changes for a change in stimulus intensity. Tricas and New measured peak firing and resting firing while increasing a 1-Hz electric field. Different afferents had markedly different rate–intensity relationships under the same general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Peak firing above the spontaneous rate and total peak firing are different quantities. Subtracting baseline isolates modulation, while the absolute spike rate indicates how much activity reaches the brain. The authors emphasized weak-field measurements because strong stimuli can conceal this variation through saturation.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high-gain example reached strong modulation near 0.5 µV/cm, while lower-gain units required larger gradients. The most sensitive afferents encoded peak gradients of approximately 20 nV/cm or less. Measuring the field rather than source current allowed neural sensitivity to be related to the local applied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Higher sensitivity at weak fields does not imply unlimited encoding of stronger inputs. An afferent can reach a saturated response before another neuron becomes strongly modulated. Population diversity could therefore support detection and intensity representation over different ranges, although the study did not directly test the downstream population decoder.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5. Rate–intensity curves span distinct afferent gains.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5" name="Google Shape;285;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Tricas and New calculated local slopes of each rate–intensity curve across successive stimulus intervals. The most sensitive example maintained a steep response only over the weakest range, then lost incremental gain as field intensity increased. Lower-gain afferents declined over different operating ranges.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analysis used successive portions of a measured response curve rather than assuming one linear gain for its full extent. A neuron’s weak-field slope can consequently overestimate its sensitivity to stronger fields. This distinction matters when comparing thresholds from experiments using very different stimulus amplitudes.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many units, peak-rate intensity encoding was lost below 1 µV/cm when peak firing roughly doubled resting discharge. Inhibitory phases were also clipped at zero spikes. A physical increase in the electric field therefore did not guarantee a proportional increase in the neuron’s available rate modulation.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Saturation means that a response approaches a limit despite continued stimulus increase. It constrains what one afferent can report about source strength, but need not abolish all temporal information or population information. The study measured single-unit encoding; it did not establish the limits of behavioral intensity discrimination.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6. Incremental sensitivity falls as stimulus strength increases.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Tricas and New varied both sinusoidal frequency and field intensity for individual round-stingray afferents. A period histogram groups spikes by their position within one stimulus cycle. It separates changes in temporal locking from a change in overall spontaneous discharge.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At high frequencies the same amplitude could elicit much less modulation than near the best frequency. A best frequency is the stimulus rate yielding the strongest response under a specified condition, not a preferred acoustic tone. The tested input was an electric field changing over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published response matrix includes frequencies from 0.05 to 20 Hz and fields from 0.08 to 0.51 µV/cm. A representative unit was most sensitive near 1 Hz: approximately 0.08 µV/cm produced weak modulation, whereas around 0.4 µV/cm produced full modulation.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Frequency selectivity therefore depends on the response range used to measure it. Strong signals can saturate firing at favorable frequencies and conceal differences that are evident near threshold. These recordings connect receptor output to slow natural electrical fluctuations but do not directly measure behavioral discrimination between prey-generated waveforms.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7. Frequency and amplitude jointly determine afferent discharge.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Adaptation is a decline in response during maintained stimulation. Tricas and New applied direct-current field steps lasting 60 s to round-stingray afferents. A representative 2.2-µV/cm step caused a large initial increase in spike rate followed by a return toward the resting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time constant describes how rapidly the measured response approaches its adapted level. It does not mean that the stimulus lasted only four seconds or that all afferents adapt identically. The 60-second step was deliberately long enough to separate the initial response from sustained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measured decay had a time constant of approximately 4 s. Repeating steps allowed the response time course to be averaged without relying on a single spike train. The maintained physical input therefore differed from the transient information conveyed by the afferent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adapting system can still detect a spatially stationary prey source because swimming changes the electrical input sampled at the pores. The physiological finding is the step-response decline; applying it to natural movement is an interpretation about stimulus sampling. The experiment did not track receptor signals during an unconstrained hunting trajectory.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9. Response to a sustained field adapts over seconds.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0" name="Google Shape;330;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Tricas and New measured response gain across sinusoidal electric-field frequencies while keeping stimulation weak enough to limit saturation. Nearly all tested round-stingray afferents had their best sensitivity at approximately 1–2 Hz. Responses fell at frequencies both below and above this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phase plot measures whether peak neural activity occurs before, with, or after a particular phase of the applied sinusoid. The representative population response was approximately in phase near 1 Hz. Frequency-dependent phase and gain together describe how an afferent transforms a changing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normalized frequency response declined by 3 dB near 0.5 Hz and 4 Hz. Its low-frequency slope was approximately 8 dB per decade, and its high-frequency slope approximately −23 dB per decade. Normalizing each unit to its own maximum separated tuning shape from differences in absolute gain.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band-pass tuning favors changes over a limited frequency range rather than either constant fields or arbitrarily rapid fluctuations. Slow prey and conspecific ventilation can supply relevant inputs. The recordings establish afferent tuning in this species; they do not prove an identical frequency optimum for all sharks, rays, or behaviors.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10. Frequency-dependent gain and phase of primary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Chen and colleagues used whole-mount confocal microscopy to localize channel proteins in intact little-skate ampullae. CaV1.3 is a voltage-gated calcium channel; BK is a calcium-activated potassium channel. Antibody staining was combined with DAPI, a fluorescent label for nuclear DNA.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plasma membrane separates cytoplasm from extracellular fluid, whereas the nuclear envelope surrounds the nucleus. The same channel protein can occupy both compartments. Confocal sections distinguish their locations, but electrophysiology is still needed to assign each population a specific contribution to receptor signaling.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CaV1.3 and BK immunoreactivity occurred in receptor plasma membranes, nuclear envelopes, and kinocilia, the ciliary projections facing the lumen. Overlapping signals were measured in the preserved sensory epithelium rather than inferred solely from tissue-wide RNA expression. Blocking-peptide experiments supplied controls for the BK antibody.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Localization establishes candidate cellular sites but does not prove functional current at every stained compartment. The proposed trafficking mechanism includes a nuclear-localization sequence tested through mutations in transfected cells. Kinociliary staining should not be treated as direct evidence that ciliary channels alone explain nanovolt sensitivity or synaptic output.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AL, Wu TH, Shi L, Clusin WT, Kao PN (2023). Calcium-Activated Big-Conductance (BK) Potassium Channels Traffic through Nuclear Envelopes into Kinocilia in Ray Electrosensory Cells. Cells 12(17):2125. https://doi.org/10.3390/cells12172125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(2023), Fig. 2(A–D). CaV1.3 and BK localization in receptor epithelium.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https://doi.org/10.3390/cells12172125</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patch-clamped dissociated little-skate electrosensory cells. Voltage clamp holds membrane voltage at commanded values while measuring current. Intracellular cesium suppressed potassium currents, revealing an inward calcium current activated at unusually negative membrane potentials.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inward current reflects positive charge entering the cell under these conditions. Activation and inactivation were measured with distinct pulse protocols, so their overlap describes available sustained current rather than a separate ion-channel species. Direct membrane measurements complement organ-level amplification experiments.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Native calcium conductance reached half-maximal activation near −52 mV. Inactivation reduces channel availability during sustained stimulation. Its slow development left a window current, persistent activity where activation and availability overlap, between approximately −70 and −30 mV. The window peaked near −58 mV, close to the receptor’s normal operating voltage.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L-type calcium-channel modulators altered this current, whereas tested sodium-channel and several other calcium-channel antagonists did not. Pharmacology identified a functional channel class; transcript measurements subsequently implicated CaV1.3. Calcium entry can depolarize the receptor and drive release, but these recordings do not equate membrane voltage with environmental field gradient.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1(e–g). Low-threshold calcium currents and channel pharmacology.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replaced the cesium-based recording solution with a potassium-based solution to measure receptor outward currents. Calcium-activated potassium channels open more readily when intracellular calcium rises. Potassium efflux counteracts calcium-driven depolarization and can return the membrane toward negative voltages.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receptor’s outward current depended on calcium availability, distinguishing it from a purely voltage-gated potassium conductance. Drug effects were assessed on measured currents rather than assigned solely from gene names. A feedback relationship can exist through local calcium signaling without requiring a stable channel complex.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outward current was reduced by tetraethylammonium and selective BK antagonists, including iberiotoxin and charybdotoxin. Calcium-channel inhibition also reduced it, whereas enhancing calcium entry increased potassium current. These linked perturbations support functional coupling between inward calcium current and BK-mediated outward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coupling supplies negative feedback: depolarization opens calcium channels, calcium recruits BK, and potassium current promotes repolarization. Blocker sensitivity does not establish that every potassium channel in the organ is BK or determine a direct physical binding between channel proteins. The evidence concerns the dominant measured receptor-cell current.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1(h–i). Calcium-dependent potassium current and BK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8" name="Google Shape;38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sequenced RNA from little-skate ampullary organs and comparison tissues. A transcript is an RNA copy of a gene. The gene cacna1d, encoding CaV1.3’s pore-forming subunit, was enriched more than 90-fold relative to other tissues examined.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 situ hybridization uses complementary probes to locate particular RNA sequences in tissue. It differs from antibody staining of protein and from whole-tissue sequencing. Combining these methods reduces the possibility that an abundant transcript originated only from an unrelated cell type within the sampled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BK pore-forming gene kcnma1 was expressed more than 35-fold above other calcium-activated potassium-channel genes in ampullae. In situ hybridization localized CaV1.3 and BK transcripts together in electrosensory cells, with little detectable signal in supporting cells or canal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Expression specificity links the pharmacologically identified currents to molecular candidates in the appropriate cells. RNA abundance alone neither measures membrane-channel number nor proves channel function. Agreement among current recordings, blocker responses, expression, and cellular localization strengthens the assignment while leaving minor conductances or additional regulatory proteins possible.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1(j–k). Channel transcript enrichment and cellular colocalization.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expressed cloned skate and rat CaV1.3 channels in HEK293 cells, a mammalian cell line used for controlled channel measurements. Matched recording conditions tested whether low-threshold activation was intrinsic to the skate channel rather than unique to the intact receptor environment.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Conductance describes the channel-mediated relation between electrical driving force and current. Normalization permits comparison of opening behavior despite differences in expression level. The rat comparison was to a specified isoform, so it should not be generalized to every mammalian CaV1.3 splice variant.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Half-maximal activation was approximately −42.7 mV for skate CaV1.3 and −18.2 mV for the rat long isoform. Their inactivation relations were similar, so the negative shift in activation enlarged the skate channel’s window-current range. Current traces and normalized conductance curves supported the same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channel sequence therefore contributes directly to low-voltage opening. The cloned channel’s activation value differs from the native receptor value near −52 mV because experimental context and associated proteins can modify gating. Heterologous expression isolates molecular properties but does not reproduce the entire ampullary epithelium or sensory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2(a–d). Skate and rat CaV1.3 activation properties.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voltage-gated channel contains voltage-sensitive elements coupled to an ion-conducting pore. Gating current records charge movement within these elements rather than ion flow through the open pore. Bellono and colleagues measured both gating charge and ionic conductance in cells expressing skate or rat CaV1.3.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voltage sensor can move without producing maximal pore opening if coupling is inefficient. Ionic and gating recordings separate these two steps experimentally. The authors subsequently used sequence mutations to identify a region capable of changing that coupling, rather than relying on the comparison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voltage-dependent charge movement was broadly similar, yet skate channels achieved substantial conductance with less relative sensor movement. Returning from a depolarizing command to −100 mV also produced larger skate tail currents for comparable gating charge. A tail current reports open channels after the voltage change.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low threshold therefore reflects enhanced coupling between sensor movement and pore opening, rather than merely a larger number of moving charges. These functional measurements constrain gating mechanisms without resolving the channel’s complete three-dimensional structure. A small domain-specific sensor shift could also escape measurements combining all four channel domains.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2(e–g). Gating charge and pore-opening efficiency.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Comparing CaV1.3 sequences identified a skate insertion in an intracellular loop of domain IV. A motif is a short sequence with a characteristic structural or functional role. The insertion KKKER adds net positive charge between transmembrane segments S2 and S3.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mutation changes the tested channel sequence while the expression system and recording protocol remain matched. The result concerns the effect of the charged insertion within this molecular background. Its causal importance does not imply that it is the only residue or regulatory influence governing native receptor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Bellono and colleagues replaced its charged residues with neutral glutamines, producing QQQQQ. In the matched mutation experiment, half-maximal activation shifted from approximately −37.2 mV in the wild-type skate channel to −26.0 mV in the neutralized channel. Sensor–pore coupling also weakened without a comparable change in total gating-charge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controlled substitution establishes a causal contribution of these residues to low-threshold activation. Electrostatic repulsion of the nearby voltage sensor was proposed as an explanation, supported by kinetic tests. The study did not directly image that interaction, and sequence-dependent gating should be distinguished from a solved structural mechanism.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3(a–e). Charge-neutralization tests the skate channel motif.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8" name="Google Shape;448;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inserted the charged skate motif into rat CaV1.3 and compared it with an otherwise comparable neutral insertion. This gain-of-function experiment asks whether the sequence can confer a property on a channel that normally lacks it, complementing its neutralization in skate.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neutral insertion controlled for adding a short sequence without its positive charge. Comparisons within each experiment avoid treating values from different expression protocols as a single absolute threshold. The molecular result supplies a plausible amplification component rather than a complete explanation of behavioral field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charged rat construct activated at more negative potentials than the neutral construct; reported half-activation values were approximately −37.2 and −19.6 mV. Conductance required less relative gating charge, and tail currents increased for comparable charge movement. The transferred motif altered coupling as well as the activation curve.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Necessity and transfer experiments together provide stronger causal evidence than sequence correlation alone. Their measurements concern cloned channels in transfected cells, not a genetically modified hunting skate. The authors’ voltage-sensor priming model remains a mechanistic interpretation requiring structural confirmation despite the established sequence-dependent functional change.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3(f–i). Transfer of the skate motif alters rat channel gating.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3" name="Google Shape;463;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recorded individual BK channels in excised membrane patches from cells expressing skate or mouse subunits. Single-channel conductance measures current carried by one open channel for a specified driving force. This separates molecular pore behavior from whole-cell channel abundance.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Channel openings appear as discrete current steps in the original recordings. Their amplitudes and durations answer different questions: how rapidly ions pass through an open pore, and how long the pore remains open. Both can change the amount of potassium charge crossing the membrane.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skate channel had smaller current amplitudes and shorter openings than mouse BK. At 80 mV, open-time constants were approximately 1.09 ms and 5.06 ms, respectively. Their calcium sensitivity was broadly similar, so the difference was not simply a failure of skate channels to respond to calcium.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Smaller and briefer potassium currents can restrain, rather than immediately terminate, calcium-driven depolarization. This provides a mechanism for tuning receptor oscillations. The functional consequence in native cells requires further perturbation because excised patches lack the receptor’s calcium gradients, accessory proteins, and intact membrane geometry.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4(a–b). Single-channel currents and open-time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8" name="Google Shape;47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substituted two skate BK residues with their mouse counterparts and performed the reciprocal substitutions in mouse BK. These residues lie near the intracellular pore, where local charge can influence potassium concentration. The comparison tested functional effects rather than sequence similarity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picosiemens is a unit of electrical conductance. The effect of a substitution on current amplitude was examined alongside opening duration, and the two properties were not assumed identical. High-potassium experiments tested whether the channels retained a common maximum ion-passage capacity.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Wild-type skate conductance was approximately 104 pS, versus 263 pS for mouse BK. The double-mutant skate channel reached approximately 287 pS, while the reciprocal mouse construct fell near 97 pS. Open-time behavior also shifted toward the species supplying the substituted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Increasing intracellular potassium to a saturating 3.14 M equalized current amplitudes, supporting an electrostatic contribution to local ion availability rather than an intrinsically impassable skate pore. The very high potassium condition is an experimental probe, not a physiological receptor concentration. Reciprocal mutations establish sequence-dependent function without proving adaptive history directly.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5(a–e). Reciprocal mutations alter BK conductance and kinetics.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3" name="Google Shape;493;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recorded spontaneous voltage oscillations in little-skate receptors and then manipulated channel activity. Nifedipine reduced calcium-dependent activity; BK blockade disrupted oscillations. The BK activator NS11021 reduced oscillation amplitude while increasing frequency, consistent with stronger repolarizing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BK activator is not equivalent to removing potassium feedback: stronger activity changes the balance between calcium-driven depolarization and repolarization. The behavioral result depends on that balance, rather than simply on the presence or absence of any potassium channel. Pharmacological specificity must be evaluated at both cellular and organismal levels.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Behaving skates were tested for preference toward a buried dipole during 30-minute trials. Vehicle and a calcium-channel drug ineffective against the measured current preserved target preference, whereas nifedipine and NS11021 reduced time near the active electrode. Subsequent startle tests checked for gross mobility impairment.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paired physiological and behavioral perturbations connect channel activity to electrosensory performance. Whole-animal drug exposure is not restricted to the ampullae, so it does not prove that every behavioral effect originates exclusively in receptor cells. Startle controls limit a general motor explanation while leaving more specific sensory or systemic effects possible.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6(d–i). Channel modulation alters oscillations and dipole-zone preference.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8" name="Google Shape;508;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compared chain catshark, Scyliorhinus retifer, receptors with little-skate receptors. Shark outward current activated at more positive voltages than the calcium current. Unlike skate current, it was not reduced by calcium-current blockade or the tested BK antagonist.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outward potassium current can be activated directly by voltage or indirectly through rising calcium. Blocker comparisons and calcium dependence distinguish these alternatives experimentally. A calcium-channel antagonist served as a causal test of functional coupling, rather than treating all receptor potassium currents as interchangeable.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voltage-gated potassium blocker 4-aminopyridine, or 4-AP, inhibited shark outward current. Rapid activation and deactivation, together with weak slow inactivation, supported repetitive responses. Repeated depolarizing commands did not appreciably diminish the measured outward-current amplitude under the tested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identify a different functional potassium mechanism despite both species using low-threshold calcium entry. BK transcripts in shark tissue did not establish a dominant BK current. The conclusion concerns the measured species and preparation; channel contributions may differ with developmental stage, cellular compartment, or physiological state.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1(b–c). Shark potassium current activation and blocker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3" name="Google Shape;523;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KV1.3 is a voltage-gated potassium channel assembled from pore-forming subunits encoded by a specific gene. Bellono and colleagues found its transcript predominant among voltage-gated potassium channels in chain-catshark ampullary organs. In situ hybridization localized KV1.3 together with CaV1.3 in receptor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shark brain expressed a truncated KV1.3 transcript lacking an essential assembly region rather than the same full-length receptor form. Tissue expression patterns must therefore distinguish isoforms as well as gene identity. The study did not establish that the receptor form contributes identically in every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Shark KV1.3 expression was not detected in the tested skate ampullae, where BK dominated functional potassium feedback. Catshark receptor currents closed rapidly after repolarization and remained available during repeated stimulation. The expressed shark channel reproduced many native current properties when tested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Agreement among cellular localization, pharmacology, and cloned-channel function supports KV1.3 as the major measured shark potassium conductance. Native currents deactivated faster than cloned currents at some voltages, leaving accessory subunits or other cellular factors relevant. The transcript assignment therefore explains much of the mechanism without implying complete molecular sufficiency.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1(d–g). Fast deactivation, transcript enrichment and receptor localization.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8" name="Google Shape;538;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expressed shark and human KV1.3 channels under matched recording conditions. Shark half-maximal activation occurred near −5.4 mV, compared with −30.7 mV for human KV1.3. The shark channel therefore supplied outward current only after substantially greater depolarization.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Inactivation limits availability during sustained stimulation, whereas deactivation closes channels as voltage returns toward rest. A channel can deactivate rapidly yet remain ready to reopen. The distinction explains why repetitive currents can remain large without requiring channels to stay continuously open.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Shark channels returned rapidly to a closed state and showed weak, slow inactivation during prolonged or repeated commands. Human channels progressively lost current during repetitive stimulation. The comparison separated activation threshold, deactivation, and inactivation, three distinct properties that jointly influence sustained receptor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High activation voltage permits strong calcium-driven depolarization before potassium feedback intervenes; rapid closure then releases the membrane for another cycle. Sequence-swapping experiments implicated voltage-sensor regions and the outer pore in different properties. Reduced voltage-sensor relaxation was proposed from kinetic evidence, rather than directly observed as a resolved structural rearrangement.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2(a–e). Shark and human KV1.3 gating under matched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1" name="Shape 551"/>
        <p:cNvGrpSpPr/>
        <p:nvPr/>
      </p:nvGrpSpPr>
      <p:grpSpPr>
        <a:xfrm>
          <a:off x="0" y="0"/>
          <a:ext cx="0" cy="0"/>
          <a:chOff x="0" y="0"/>
          <a:chExt cx="0" cy="0"/>
        </a:xfrm>
      </p:grpSpPr>
      <p:sp>
        <p:nvSpPr>
          <p:cNvPr id="552" name="Google Shape;552;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3" name="Google Shape;553;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Current clamp measures membrane voltage while current is injected to change the cell’s operating point. Bellono and colleagues compared shark and skate receptor activity across matched voltage ranges. Average resting voltage was approximately −66 mV in shark cells and −54 mV in skate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cells were placed at different membrane potentials by fixed current injection, rather than by changing the surrounding natural field. This controls the operating point and tests voltage-dependent dynamics directly. The same command can expose a different balance of inward and outward conductances in the two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Depolarizing shark cells into the calcium-current range triggered large repetitive voltage spikes. Skate cells generated smaller oscillations whose amplitude and frequency varied more strongly with membrane voltage. Nifedipine blocked shark depolarization, and 4-AP prevented or markedly slowed repolarization.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receptor spikes are calcium-driven membrane events and should not be confused with sodium-dependent action potentials propagated by afferent nerves. The shared calcium mechanism and differing potassium feedback produce distinct cellular dynamics. Isolated-cell activity establishes a physiological difference, while its effect on natural stimulus discrimination requires synaptic and organismal tests.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3(a–c). Shark spikes and skate oscillations under current clamp.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6" name="Shape 566"/>
        <p:cNvGrpSpPr/>
        <p:nvPr/>
      </p:nvGrpSpPr>
      <p:grpSpPr>
        <a:xfrm>
          <a:off x="0" y="0"/>
          <a:ext cx="0" cy="0"/>
          <a:chOff x="0" y="0"/>
          <a:chExt cx="0" cy="0"/>
        </a:xfrm>
      </p:grpSpPr>
      <p:sp>
        <p:nvSpPr>
          <p:cNvPr id="567" name="Google Shape;567;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8" name="Google Shape;568;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imposed voltage commands resembling recorded shark receptor spikes while measuring ionic currents. This protocol tested whether the identified currents could follow the timing of actual membrane activity. Inward calcium current preceded outward potassium current during the repeated commands.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voltage-clamp command controls the membrane trajectory rather than allowing currents to determine it. Recording currents along that trajectory tests their timing and persistence. It is therefore complementary to current clamp, which records the voltage trajectory produced by the cell’s own conductances.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approximately −65 mV, calcium current was small; depolarization increased it before higher-voltage potassium activation opposed the inward flow. 4-AP removed the outward component and exposed renewed calcium current during the return toward negative voltage. Both conductances remained available across repeated cycles.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measured sequence supports calcium-driven depolarization followed by KV-mediated repolarization, with rapidly closing potassium channels allowing another depolarizing cycle. The applied waveform was an experimental command reported by the paper, not proof of every process generating a spontaneous spike. Calcium buffering and accessory proteins may also regulate the native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3(d). Calcium and potassium currents during voltage-spike commands.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3" name="Google Shape;583;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measured membrane capacitance, the membrane’s ability to store charge, as a readout of synaptic-vesicle fusion. Fusion adds vesicle membrane to the cell surface. A 200-ms pulse to −20 mV elicited calcium current and a capacitance increase in both shark and skate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Exocytosis means fusion of an intracellular vesicle with the plasma membrane. Cadmium is a calcium-channel pore blocker, so its effect links release to calcium entry under this protocol. A change in membrane conductance can interfere with capacitance estimates, making the reported conductance checks essential.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Cadmium blocked the inward current and capacitance change, supporting calcium-dependent release. Increasing stimulus duration produced larger release-associated responses, but shark responses approached saturation more rapidly; skate capacitance increased more steadily with duration. Membrane-conductance controls limited recording artifacts that could mimic capacitance changes.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assay measures membrane addition associated with exocytosis rather than directly counting transmitter molecules or postsynaptic receptor openings. These papers did not determine the transmitter identity or receptor subtype from capacitance alone. Calcium entry and vesicle fusion are established steps; the downstream chemical response requires separate synaptic measurements.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4(a–b). Calcium-dependent capacitance changes during vesicle fusion.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ribbon synapse contains an intracellular structure that tethers vesicles near the release membrane. Bellono and colleagues used electron microscopy to examine shark and skate receptor synapses. Both species contained unusually long ribbons associated with vesicles and postsynaptic afferent endings.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readily releasable pool is positioned for rapid fusion, whereas a refilling pool can replenish release sites over time. The reported anatomical differences are compatible with these functional distinctions. They do not directly measure the recycling history or neurotransmitter content of every imaged vesicle.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ribbons had similar shapes and tethered vesicles of comparable size and number. Shark receptors contained a larger readily releasable vesicle pool, whereas skate receptors contained more free cytoplasmic vesicles. The anatomical comparison accompanied measurements of faster release saturation in shark cells and more sustained responses in skate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Pool organization offers a plausible explanation for release dynamics, but morphology alone cannot assign every vesicle’s eventual fate. The proposed refilling role of free vesicles draws on comparison with other ribbon synapses. Electron microscopy establishes synaptic architecture while capacitance and current recordings test its functional output.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4(c–d). Electron microscopy of shark and skate ribbon synapses.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1" name="Google Shape;611;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compared electrically evoked ventilation in chain catsharks and little skates, using equal-strength stimuli across frequencies. Ventilation is movement of water over the gills for gas exchange. Food odor supplied a comparison stimulus that verified a measurable response in both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estimated fusion difference used measured calcium charge, capacitance changes, and vesicle diameter, not direct visual counting during a spike. Equal maximal odor responses helped compare the two species’ ventilatory readout. Species-specific ecology is a hypothesis informed by these results, not an experimentally manipulated variable.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Catsharks increased ventilation similarly across the tested electrical frequencies, whereas skates responded most strongly at lower frequencies. Cell measurements separately suggested at least tenfold greater vesicle release for a shark voltage spike than for a skate oscillation, based on calcium–capacitance relationships and vesicle-size estimates.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physiological and organismal comparisons support broad threshold-like detection in sharks and more selective tuning in skates. The vesicle number is an estimate, and ventilation is not a prey-identification task. A causal explanation linking each channel adaptation to natural communication or predation remains proposed rather than fully established.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4(e–g). Calcium–release relationships and frequency-dependent ventilation.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4" name="Google Shape;624;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Reafference is sensory stimulation caused by an animal’s own movement. Montgomery and Bodznick recorded ascending efferent neurons in the little skate’s dorsal octavolateralis nucleus, or DON, the first medullary electrosensory processing nucleus. Ventilation timing was measured with a force transducer near the gills.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animals were decerebrated and spinal cords transected, while natural ventilation continued. This reduced other movements but limits generalization to an intact hunting skate. Parallel fibers arise from cerebellar granule cells and can supply movement-related information to the same output neuron receiving electrical sensory input. When an expected signal is removed, the learned cancellation persists temporarily and becomes observable. The original article’s anatomical drawing is retained as a published source, not reconstructed.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2-µV dipole stimulus at the skin was repeatedly coupled to ventilation. Neural responses declined over minutes; uncoupled presentations still evoked responses. After 10 minutes of coupling, the mean reduction in responsive neurons was 44.3%. Turning the stimulus off revealed an opposite-sign cancellation response at the trained respiratory phase.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controls distinguish learned temporal cancellation from generalized fatigue. Primary afferents contact basal dendrites, while cerebellar parallel fibers and inhibitory interneurons contact apical dendrites. Plasticity in this circuit was proposed to generate the cancellation signal; this experiment established adaptive filtering without identifying its complete synaptic learning rule or transmitter mechanism.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Montgomery JC, Bodznick D (1994). An adaptive filter that cancels self-induced noise in the electrosensory and lateral line mechanosensory systems of fish. Neuroscience Letters 174(2):145-148. https://doi.org/10.1016/0304-3940(94)90007-8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Montgomery &amp; Bodznick (1994), Fig. 1. Ventilation-coupled stimulation induces adaptive cancellation.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https://doi.org/10.1016/0304-3940(94)90007-8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Montgomery &amp; Bodznick (1994), Fig. 3. Original published medullary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https://doi.org/10.1016/0304-3940(94)90007-8</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7" name="Shape 637"/>
        <p:cNvGrpSpPr/>
        <p:nvPr/>
      </p:nvGrpSpPr>
      <p:grpSpPr>
        <a:xfrm>
          <a:off x="0" y="0"/>
          <a:ext cx="0" cy="0"/>
          <a:chOff x="0" y="0"/>
          <a:chExt cx="0" cy="0"/>
        </a:xfrm>
      </p:grpSpPr>
      <p:sp>
        <p:nvSpPr>
          <p:cNvPr id="638" name="Google Shape;638;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9" name="Google Shape;639;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Sisneros and Tricas implanted male Atlantic stingrays, Dasyatis sabina, with dihydrotestosterone, or DHT, an androgen hormone. Empty implants provided treatment controls. After 10–21 days, they recorded electrosensory afferents while varying the frequency of uniform electric-field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androgen is a steroid hormone involved in reproductive state. Empty capsules controlled the implantation procedure, and the experiments distinguished short and long canal groups. Differences from round-stingray and little-skate results should preserve species, hormone state, canal identity, and preparation rather than be merged into one universal best frequency.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Control afferents had peak sensitivity near 7–8 Hz, compared with approximately 5–6 Hz after DHT treatment. Responses from 0.5 to 4 Hz were approximately 2–4 dB higher in treated animals. Canal-group comparisons associated different tuning patterns with receptor anatomy and canal length.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manipulation establishes hormonal modulation of peripheral sensory coding rather than a fixed species-wide frequency filter. The study did not identify the specific androgen-regulated channel or prove improved mating performance. Ecological tuning to conspecific ventilation is supported as an interpretation, while the recorded frequency shift is directly experimental.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Sisneros JA, Tricas TC (2000). Androgen-Induced Changes in the Response Dynamics of Ampullary Electrosensory Primary Afferent Neurons. The Journal of Neuroscience 20(22):8586-8595. https://doi.org/10.1523/jneurosci.20-22-08586.2000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Sisneros &amp; Tricas (2000), Fig. 6. Androgen treatment shifts afferent frequency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https://doi.org/10.1523/jneurosci.20-22-08586.2000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Sisneros &amp; Tricas (2000), Fig. 9. Ampullary canal distribution.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https://doi.org/10.1523/JNEUROSCI.20-22-08586.2000</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4" name="Google Shape;654;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Electrical guidance is experimentally isolated. Conductive agar preserves attacks, insulation blocks them, and active dipoles restore directed feeding independently of target odor.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Sensitivity depends on geometry and sampling. Nanovolt-gradient responses require source geometry, encounter angle and movement to be distinguished from cellular voltage thresholds.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Receptors amplify weak inputs. Low-threshold CaV1.3 supports calcium entry; BK feedback in skates and KV1.3 feedback in catsharks produce distinct membrane dynamics.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Sequence changes alter channel function. Neutralization and reciprocal mutations causally link particular CaV1.3 and BK residues to activation, conductance and opening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Synapses transform cellular activity into output. Calcium-dependent ribbon-synapse release differs between shark and skate receptors; vesicle estimates and ventilation do not alone prove ecological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 coding is adaptable. Afferents saturate and adapt; hindbrain filtering cancels ventilation-linked input, and androgen treatment changes peripheral frequency tuning.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Montgomery JC, Bodznick D (1994). An adaptive filter that cancels self-induced noise in the electrosensory and lateral line mechanosensory systems of fish. Neuroscience Letters 174(2):145-148. https://doi.org/10.1016/0304-3940(94)90007-8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Sisneros JA, Tricas TC (2000). Androgen-Induced Changes in the Response Dynamics of Ampullary Electrosensory Primary Afferent Neurons. The Journal of Neuroscience 20(22):8586-8595. https://doi.org/10.1523/jneurosci.20-22-08586.2000</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Exocytosis and vesicle pools in receptor cells.</a:t>
            </a:r>
          </a:p>
          <a:p>
            <a:r>
              <a:rPr lang="en-US" sz="1200"/>
              <a:t>• Explanation 1.</a:t>
            </a:r>
          </a:p>
          <a:p>
            <a:r>
              <a:rPr lang="en-US" sz="1200"/>
              <a:t>– Exocytosis means fusion of an intracellular vesicle with the plasma membrane</a:t>
            </a:r>
          </a:p>
          <a:p>
            <a:r>
              <a:rPr lang="en-US" sz="1200"/>
              <a:t>–  Cadmium is a calcium-channel pore blocker, so its effect on capacitance links vesicle release to calcium entry under this protocol, which is the logic behind the cadmium test. Blocking calcium entry is the step that removes the release response. The protocol isolates release that depends on calcium entry.</a:t>
            </a:r>
          </a:p>
          <a:p>
            <a:r>
              <a:rPr lang="en-US" sz="1200"/>
              <a:t>• Explanation 2.</a:t>
            </a:r>
          </a:p>
          <a:p>
            <a:r>
              <a:rPr lang="en-US" sz="1200"/>
              <a:t>– A change in membrane conductance can interfere with capacitance estimates, so the reported conductance checks were central to the measurement</a:t>
            </a:r>
          </a:p>
          <a:p>
            <a:r>
              <a:rPr lang="en-US" sz="1200"/>
              <a:t>–  The capacitance increase is interpreted as membrane addition from fusing vesicles only after those checks pass. The conductance controls ruled out artifacts that could mimic the capacitance change. Conductance checks were reported in each experiment.</a:t>
            </a:r>
          </a:p>
          <a:p>
            <a:r>
              <a:rPr lang="en-US" sz="1200"/>
              <a:t>• Explanation 3.</a:t>
            </a:r>
          </a:p>
          <a:p>
            <a:r>
              <a:rPr lang="en-US" sz="1200"/>
              <a:t>– A readily releasable pool is positioned for rapid fusion, whereas a refilling pool replenishes release sites over time</a:t>
            </a:r>
          </a:p>
          <a:p>
            <a:r>
              <a:rPr lang="en-US" sz="1200"/>
              <a:t>–  These two pool types describe different timescales of the same release process within a single receptor cell. Both pools are present in the same ribbon synapse of each receptor cell. Refilling is a proposed role for free vesicles in ribbon synapses.</a:t>
            </a:r>
          </a:p>
          <a:p>
            <a:r>
              <a:rPr lang="en-US" sz="1200"/>
              <a:t>• Source.</a:t>
            </a:r>
          </a:p>
          <a:p>
            <a:r>
              <a:rPr lang="en-US" sz="1200"/>
              <a:t>– The figure and the measurements come from Bellono et al. (2018).</a:t>
            </a:r>
          </a:p>
          <a:p>
            <a:r>
              <a:rPr lang="en-US" sz="1200"/>
              <a:t>– Each statement is tied to the recordings or observations of that study.</a:t>
            </a:r>
          </a:p>
          <a:p>
            <a:r>
              <a:rPr lang="en-US" sz="1200"/>
              <a:t/>
            </a:r>
          </a:p>
          <a:p>
            <a:r>
              <a:rPr lang="en-US" sz="1200"/>
              <a:t>References:</a:t>
            </a:r>
          </a:p>
          <a:p>
            <a:r>
              <a:rPr lang="en-US" sz="1200"/>
              <a:t>Bellono NW, Leitch DB, Julius D (2018). Molecular tuning of electroreception in sharks and skates. Nature 558(7708):122-126. https://doi.org/10.1038/s41586-018-0160-9</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Fixed current sets the operating point.</a:t>
            </a:r>
          </a:p>
          <a:p>
            <a:r>
              <a:rPr lang="en-US" sz="1200"/>
              <a:t>• Explanation 1.</a:t>
            </a:r>
          </a:p>
          <a:p>
            <a:r>
              <a:rPr lang="en-US" sz="1200"/>
              <a:t>– The cells were held at different potentials by current clamp, which injects a fixed current, so the natural field did not vary across the recordings</a:t>
            </a:r>
          </a:p>
          <a:p>
            <a:r>
              <a:rPr lang="en-US" sz="1200"/>
              <a:t>–  The same command can expose a different balance of inward and outward conductances in the two species. Fixed current sets the operating point, and the operating point determines which conductance dominates.</a:t>
            </a:r>
          </a:p>
          <a:p>
            <a:r>
              <a:rPr lang="en-US" sz="1200"/>
              <a:t>• Explanation 2.</a:t>
            </a:r>
          </a:p>
          <a:p>
            <a:r>
              <a:rPr lang="en-US" sz="1200"/>
              <a:t>– A voltage-clamp command controls the membrane trajectory instead of letting the currents set it</a:t>
            </a:r>
          </a:p>
          <a:p>
            <a:r>
              <a:rPr lang="en-US" sz="1200"/>
              <a:t>–  Voltage clamp records the currents along that imposed path, which tests their timing and persistence through each command. The imposed path is the same for every repetition of the protocol. Repeated commands with the same timing produced the same trajectory each time.</a:t>
            </a:r>
          </a:p>
          <a:p>
            <a:r>
              <a:rPr lang="en-US" sz="1200"/>
              <a:t>• Explanation 3.</a:t>
            </a:r>
          </a:p>
          <a:p>
            <a:r>
              <a:rPr lang="en-US" sz="1200"/>
              <a:t>– Current clamp complements voltage clamp, because it records the voltage trajectory produced by the cell's own conductances</a:t>
            </a:r>
          </a:p>
          <a:p>
            <a:r>
              <a:rPr lang="en-US" sz="1200"/>
              <a:t>–  Current clamp and voltage clamp answer different questions about the same receptor cells. The two methods answer complementary questions about one cell type. Both methods were applied to the shark and skate receptors in the same cells of each species.</a:t>
            </a:r>
          </a:p>
          <a:p>
            <a:r>
              <a:rPr lang="en-US" sz="1200"/>
              <a:t>• Source.</a:t>
            </a:r>
          </a:p>
          <a:p>
            <a:r>
              <a:rPr lang="en-US" sz="1200"/>
              <a:t>– The figure and the measurements come from Bellono et al. (2018).</a:t>
            </a:r>
          </a:p>
          <a:p>
            <a:r>
              <a:rPr lang="en-US" sz="1200"/>
              <a:t>– Each statement is tied to the recordings or observations of that study.</a:t>
            </a:r>
          </a:p>
          <a:p>
            <a:r>
              <a:rPr lang="en-US" sz="1200"/>
              <a:t/>
            </a:r>
          </a:p>
          <a:p>
            <a:r>
              <a:rPr lang="en-US" sz="1200"/>
              <a:t>References:</a:t>
            </a:r>
          </a:p>
          <a:p>
            <a:r>
              <a:rPr lang="en-US" sz="1200"/>
              <a:t>Bellono NW, Leitch DB, Julius D (2018). Molecular tuning of electroreception in sharks and skates. Nature 558(7708):122-126. https://doi.org/10.1038/s41586-018-0160-9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Voltage activation versus calcium-dependent activation.</a:t>
            </a:r>
          </a:p>
          <a:p>
            <a:r>
              <a:rPr lang="en-US" sz="1200"/>
              <a:t>• Explanation 1.</a:t>
            </a:r>
          </a:p>
          <a:p>
            <a:r>
              <a:rPr lang="en-US" sz="1200"/>
              <a:t>– An outward potassium current can be activated directly by voltage or indirectly through rising calcium</a:t>
            </a:r>
          </a:p>
          <a:p>
            <a:r>
              <a:rPr lang="en-US" sz="1200"/>
              <a:t>–  Blocker comparisons and tests of calcium dependence distinguish these two routes experimentally, which is how the investigators sorted the shark current. The two routes respond differently to the same blocker in receptor cells. Calcium dependence was tested directly in the same cells.</a:t>
            </a:r>
          </a:p>
          <a:p>
            <a:r>
              <a:rPr lang="en-US" sz="1200"/>
              <a:t>• Explanation 2.</a:t>
            </a:r>
          </a:p>
          <a:p>
            <a:r>
              <a:rPr lang="en-US" sz="1200"/>
              <a:t>– A calcium-channel antagonist served as a causal test of functional coupling, rather than a general screen of receptor potassium currents</a:t>
            </a:r>
          </a:p>
          <a:p>
            <a:r>
              <a:rPr lang="en-US" sz="1200"/>
              <a:t>–  The shark outward current was insensitive to this antagonist, which points to a current that is independent of calcium entry for its activation. The shark receptors thus depend on a voltage-activated current instead. The antagonist was tested under the same conditions.</a:t>
            </a:r>
          </a:p>
          <a:p>
            <a:r>
              <a:rPr lang="en-US" sz="1200"/>
              <a:t>• Explanation 3.</a:t>
            </a:r>
          </a:p>
          <a:p>
            <a:r>
              <a:rPr lang="en-US" sz="1200"/>
              <a:t>– The shark brain expressed a truncated KV1</a:t>
            </a:r>
          </a:p>
          <a:p>
            <a:r>
              <a:rPr lang="en-US" sz="1200"/>
              <a:t>– 3 transcript that lacks an essential assembly region, a form different from the full-length receptor transcript. Tissue expression patterns must distinguish isoforms as well as genes to identify the channel that is active in the receptor. The receptor transcript is the one that matters for the currents recorded here.</a:t>
            </a:r>
          </a:p>
          <a:p>
            <a:r>
              <a:rPr lang="en-US" sz="1200"/>
              <a:t>• Source.</a:t>
            </a:r>
          </a:p>
          <a:p>
            <a:r>
              <a:rPr lang="en-US" sz="1200"/>
              <a:t>– The figure and the measurements come from Bellono et al. (2018).</a:t>
            </a:r>
          </a:p>
          <a:p>
            <a:r>
              <a:rPr lang="en-US" sz="1200"/>
              <a:t>– Each statement is tied to the recordings or observations of that study.</a:t>
            </a:r>
          </a:p>
          <a:p>
            <a:r>
              <a:rPr lang="en-US" sz="1200"/>
              <a:t/>
            </a:r>
          </a:p>
          <a:p>
            <a:r>
              <a:rPr lang="en-US" sz="1200"/>
              <a:t>References:</a:t>
            </a:r>
          </a:p>
          <a:p>
            <a:r>
              <a:rPr lang="en-US" sz="1200"/>
              <a:t>Bellono NW, Leitch DB, Julius D (2018). Molecular tuning of electroreception in sharks and skates. Nature 558(7708):122-126. https://doi.org/10.1038/s41586-018-0160-9</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Pore amplitude and open time answer different questions.</a:t>
            </a:r>
          </a:p>
          <a:p>
            <a:r>
              <a:rPr lang="en-US" sz="1200"/>
              <a:t>• Explanation 1.</a:t>
            </a:r>
          </a:p>
          <a:p>
            <a:r>
              <a:rPr lang="en-US" sz="1200"/>
              <a:t>– Channel openings appear as discrete current steps in the original recordings</a:t>
            </a:r>
          </a:p>
          <a:p>
            <a:r>
              <a:rPr lang="en-US" sz="1200"/>
              <a:t>–  Their amplitudes and durations answer different questions: how quickly ions pass through an open pore, and how long that pore stays open between closures. Single openings in the excised patch appear as separate steps that can be measured one by one. Each opening is measured as a separate event.</a:t>
            </a:r>
          </a:p>
          <a:p>
            <a:r>
              <a:rPr lang="en-US" sz="1200"/>
              <a:t>• Explanation 2.</a:t>
            </a:r>
          </a:p>
          <a:p>
            <a:r>
              <a:rPr lang="en-US" sz="1200"/>
              <a:t>– Both properties change the amount of potassium charge that crosses the membrane during each opening</a:t>
            </a:r>
          </a:p>
          <a:p>
            <a:r>
              <a:rPr lang="en-US" sz="1200"/>
              <a:t>–  A picosiemens is a unit of electrical conductance, and the skate and mouse channels were measured in these units under the same driving force. Conductance is the quantity that sets how much current one opening carries at a given voltage.</a:t>
            </a:r>
          </a:p>
          <a:p>
            <a:r>
              <a:rPr lang="en-US" sz="1200"/>
              <a:t>• Explanation 3.</a:t>
            </a:r>
          </a:p>
          <a:p>
            <a:r>
              <a:rPr lang="en-US" sz="1200"/>
              <a:t>– High-potassium experiments asked whether the channels share a common maximum ion-passage capacity, and at a saturating potassium concentration the two channel types carried equal current amplitudes</a:t>
            </a:r>
          </a:p>
          <a:p>
            <a:r>
              <a:rPr lang="en-US" sz="1200"/>
              <a:t>–  That result distinguishes the pore's maximum passage from its routine operation under physiological conditions, which lie far below the saturating level. The result tests a capacity, not a typical operating condition.</a:t>
            </a:r>
          </a:p>
          <a:p>
            <a:r>
              <a:rPr lang="en-US" sz="1200"/>
              <a:t>• Source.</a:t>
            </a:r>
          </a:p>
          <a:p>
            <a:r>
              <a:rPr lang="en-US" sz="1200"/>
              <a:t>– The figure and the measurements come from Bellono et al. (2017).</a:t>
            </a:r>
          </a:p>
          <a:p>
            <a:r>
              <a:rPr lang="en-US" sz="1200"/>
              <a:t>– Each statement is tied to the recordings or observations of that study.</a:t>
            </a:r>
          </a:p>
          <a:p>
            <a:r>
              <a:rPr lang="en-US" sz="1200"/>
              <a:t/>
            </a:r>
          </a:p>
          <a:p>
            <a:r>
              <a:rPr lang="en-US" sz="1200"/>
              <a:t>References:</a:t>
            </a:r>
          </a:p>
          <a:p>
            <a:r>
              <a:rPr lang="en-US" sz="1200"/>
              <a:t>Bellono NW, Leitch DB, Julius D (2017). Molecular basis of ancestral vertebrate electroreception. Nature 543(7645):391-396. https://doi.org/10.1038/nature21401</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Sensor movement and pore opening are separate steps.</a:t>
            </a:r>
          </a:p>
          <a:p>
            <a:r>
              <a:rPr lang="en-US" sz="1200"/>
              <a:t>• Explanation 1.</a:t>
            </a:r>
          </a:p>
          <a:p>
            <a:r>
              <a:rPr lang="en-US" sz="1200"/>
              <a:t>– Conductance describes the relation between electrical driving force and the current through the channel</a:t>
            </a:r>
          </a:p>
          <a:p>
            <a:r>
              <a:rPr lang="en-US" sz="1200"/>
              <a:t>–  Normalization allowed the skate and rat curves to be judged despite differences in expression level. The skate and rat curves were each scaled to their own maximum conductance before plotting. Their activation values were then compared under the same recording conditions.</a:t>
            </a:r>
          </a:p>
          <a:p>
            <a:r>
              <a:rPr lang="en-US" sz="1200"/>
              <a:t>• Explanation 2.</a:t>
            </a:r>
          </a:p>
          <a:p>
            <a:r>
              <a:rPr lang="en-US" sz="1200"/>
              <a:t>– A voltage sensor can move without producing maximal pore opening when coupling is inefficient</a:t>
            </a:r>
          </a:p>
          <a:p>
            <a:r>
              <a:rPr lang="en-US" sz="1200"/>
              <a:t>–  Ionic and gating recordings measure these two steps in the same channel, so the sensor step and the pore step are measured separately. The two readouts were taken from the same cells expressing the channel. Sensor movement was measured as gating charge in the same cells.</a:t>
            </a:r>
          </a:p>
          <a:p>
            <a:r>
              <a:rPr lang="en-US" sz="1200"/>
              <a:t>• Explanation 3.</a:t>
            </a:r>
          </a:p>
          <a:p>
            <a:r>
              <a:rPr lang="en-US" sz="1200"/>
              <a:t>– The rat comparison used one specified isoform, so the result applies to that isoform rather than to every mammalian CaV1</a:t>
            </a:r>
          </a:p>
          <a:p>
            <a:r>
              <a:rPr lang="en-US" sz="1200"/>
              <a:t>– 3 splice variant. The skate channel was judged against this single reference under matched conditions. The rat isoform is the benchmark for the skate sequence in these cells. The matched conditions included the same cell line and recording protocol.</a:t>
            </a:r>
          </a:p>
          <a:p>
            <a:r>
              <a:rPr lang="en-US" sz="1200"/>
              <a:t>• Source.</a:t>
            </a:r>
          </a:p>
          <a:p>
            <a:r>
              <a:rPr lang="en-US" sz="1200"/>
              <a:t>– The figure and the measurements come from Bellono et al. (2017).</a:t>
            </a:r>
          </a:p>
          <a:p>
            <a:r>
              <a:rPr lang="en-US" sz="1200"/>
              <a:t>– Each statement is tied to the recordings or observations of that study.</a:t>
            </a:r>
          </a:p>
          <a:p>
            <a:r>
              <a:rPr lang="en-US" sz="1200"/>
              <a:t/>
            </a:r>
          </a:p>
          <a:p>
            <a:r>
              <a:rPr lang="en-US" sz="1200"/>
              <a:t>References:</a:t>
            </a:r>
          </a:p>
          <a:p>
            <a:r>
              <a:rPr lang="en-US" sz="1200"/>
              <a:t>Bellono NW, Leitch DB, Julius D (2017). Molecular basis of ancestral vertebrate electroreception. Nature 543(7645):391-396. https://doi.org/10.1038/nature21401</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Inward calcium current and its outward partner.</a:t>
            </a:r>
          </a:p>
          <a:p>
            <a:r>
              <a:rPr lang="en-US" sz="1200"/>
              <a:t>• Explanation 1.</a:t>
            </a:r>
          </a:p>
          <a:p>
            <a:r>
              <a:rPr lang="en-US" sz="1200"/>
              <a:t>– An inward current reflects positive charge entering the cell under these conditions</a:t>
            </a:r>
          </a:p>
          <a:p>
            <a:r>
              <a:rPr lang="en-US" sz="1200"/>
              <a:t>–  Activation and inactivation were measured with distinct pulse protocols, so their overlap describes sustained available current in the cell rather than a separate ion-channel species. This overlap defines the window current in the recorded cells. The window current is the overlap between activation and availability.</a:t>
            </a:r>
          </a:p>
          <a:p>
            <a:r>
              <a:rPr lang="en-US" sz="1200"/>
              <a:t>• Explanation 2.</a:t>
            </a:r>
          </a:p>
          <a:p>
            <a:r>
              <a:rPr lang="en-US" sz="1200"/>
              <a:t>– The receptor's outward current depended on calcium availability, which distinguishes it from a purely voltage-gated potassium conductance</a:t>
            </a:r>
          </a:p>
          <a:p>
            <a:r>
              <a:rPr lang="en-US" sz="1200"/>
              <a:t>–  Drug effects were assessed on measured currents, so the identity of the channel was judged by function rather than by the names of genes. Measured currents were the basis for each conclusion.</a:t>
            </a:r>
          </a:p>
          <a:p>
            <a:r>
              <a:rPr lang="en-US" sz="1200"/>
              <a:t>• Explanation 3.</a:t>
            </a:r>
          </a:p>
          <a:p>
            <a:r>
              <a:rPr lang="en-US" sz="1200"/>
              <a:t>– A feedback relationship can run through local calcium signaling, so a stable complex of the two channels is not needed for the feedback to operate</a:t>
            </a:r>
          </a:p>
          <a:p>
            <a:r>
              <a:rPr lang="en-US" sz="1200"/>
              <a:t>–  Calcium entering through the channel is enough to recruit the potassium current in the same cell. Local calcium couples the two currents within each receptor cell. The current recorded in each cell reflects that link.</a:t>
            </a:r>
          </a:p>
          <a:p>
            <a:r>
              <a:rPr lang="en-US" sz="1200"/>
              <a:t>• Source.</a:t>
            </a:r>
          </a:p>
          <a:p>
            <a:r>
              <a:rPr lang="en-US" sz="1200"/>
              <a:t>– The figure and the measurements come from Bellono et al. (2017).</a:t>
            </a:r>
          </a:p>
          <a:p>
            <a:r>
              <a:rPr lang="en-US" sz="1200"/>
              <a:t>– Each statement is tied to the recordings or observations of that study.</a:t>
            </a:r>
          </a:p>
          <a:p>
            <a:r>
              <a:rPr lang="en-US" sz="1200"/>
              <a:t/>
            </a:r>
          </a:p>
          <a:p>
            <a:r>
              <a:rPr lang="en-US" sz="1200"/>
              <a:t>References:</a:t>
            </a:r>
          </a:p>
          <a:p>
            <a:r>
              <a:rPr lang="en-US" sz="1200"/>
              <a:t>Bellono NW, Leitch DB, Julius D (2017). Molecular basis of ancestral vertebrate electroreception. Nature 543(7645):391-396. https://doi.org/10.1038/nature21401</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Phase and gain describe the transformation.</a:t>
            </a:r>
          </a:p>
          <a:p>
            <a:r>
              <a:rPr lang="en-US" sz="1200"/>
              <a:t>• Explanation 1.</a:t>
            </a:r>
          </a:p>
          <a:p>
            <a:r>
              <a:rPr lang="en-US" sz="1200"/>
              <a:t>– A phase plot measures whether peak neural activity occurs before, with, or after a particular phase of the applied sinusoid</a:t>
            </a:r>
          </a:p>
          <a:p>
            <a:r>
              <a:rPr lang="en-US" sz="1200"/>
              <a:t>–  The representative population response was approximately in phase near 1 Hz, which places the peak of firing at the same point in each cycle. Period histograms and phase plots describe the same temporal alignment from two angles.</a:t>
            </a:r>
          </a:p>
          <a:p>
            <a:r>
              <a:rPr lang="en-US" sz="1200"/>
              <a:t>• Explanation 2.</a:t>
            </a:r>
          </a:p>
          <a:p>
            <a:r>
              <a:rPr lang="en-US" sz="1200"/>
              <a:t>– Above the best frequency, an equal amplitude could drive much less modulation</a:t>
            </a:r>
          </a:p>
          <a:p>
            <a:r>
              <a:rPr lang="en-US" sz="1200"/>
              <a:t>–  Modulation falls off on either side of the peak. A best frequency is the stimulus rate that yields the strongest response under a specified condition, and it depends on the amplitude used to measure it. The published matrix varied both frequency and intensity, so the best frequency was identified across that range.</a:t>
            </a:r>
          </a:p>
          <a:p>
            <a:r>
              <a:rPr lang="en-US" sz="1200"/>
              <a:t>• Explanation 3.</a:t>
            </a:r>
          </a:p>
          <a:p>
            <a:r>
              <a:rPr lang="en-US" sz="1200"/>
              <a:t>– Frequency-dependent phase and gain together describe how an afferent transforms a changing field</a:t>
            </a:r>
          </a:p>
          <a:p>
            <a:r>
              <a:rPr lang="en-US" sz="1200"/>
              <a:t>–  The tested input was an electric field that changed over time, so the response reflects temporal structure in the stimulus rather than a static level of the field. Both gain and phase were tracked across the same frequency range in each unit.</a:t>
            </a:r>
          </a:p>
          <a:p>
            <a:r>
              <a:rPr lang="en-US" sz="1200"/>
              <a:t>• Source.</a:t>
            </a:r>
          </a:p>
          <a:p>
            <a:r>
              <a:rPr lang="en-US" sz="1200"/>
              <a:t>– The figure and the measurements come from Tricas &amp; New (1998).</a:t>
            </a:r>
          </a:p>
          <a:p>
            <a:r>
              <a:rPr lang="en-US" sz="1200"/>
              <a:t>– Each statement is tied to the recordings or observations of that study.</a:t>
            </a:r>
          </a:p>
          <a:p>
            <a:r>
              <a:rPr lang="en-US" sz="1200"/>
              <a:t/>
            </a:r>
          </a:p>
          <a:p>
            <a:r>
              <a:rPr lang="en-US" sz="1200"/>
              <a:t>References:</a:t>
            </a:r>
          </a:p>
          <a:p>
            <a:r>
              <a:rPr lang="en-US" sz="1200"/>
              <a:t>Tricas TC, New JG (1998). Sensitivity and response dynamics of elasmobranch electrosensory primary afferent neurons to near threshold fields. Journal of Comparative Physiology A: Sensory, Neural, and Behavioral Physiology 182(1):89-101. https://doi.org/10.1007/s003590050161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Baseline subtraction isolates modulation.</a:t>
            </a:r>
          </a:p>
          <a:p>
            <a:r>
              <a:rPr lang="en-US" sz="1200"/>
              <a:t>• Explanation 1.</a:t>
            </a:r>
          </a:p>
          <a:p>
            <a:r>
              <a:rPr lang="en-US" sz="1200"/>
              <a:t>– Peak firing above the spontaneous rate and total peak firing are different quantities</a:t>
            </a:r>
          </a:p>
          <a:p>
            <a:r>
              <a:rPr lang="en-US" sz="1200"/>
              <a:t>–  Subtracting the baseline isolates the modulation produced by the stimulus, while the absolute spike rate indicates how much activity actually reaches the brain from each afferent. Total peak firing includes the activity that the afferent produces even without the field. Peak modulation and absolute rate answer different questions about the afferent.</a:t>
            </a:r>
          </a:p>
          <a:p>
            <a:r>
              <a:rPr lang="en-US" sz="1200"/>
              <a:t>• Explanation 2.</a:t>
            </a:r>
          </a:p>
          <a:p>
            <a:r>
              <a:rPr lang="en-US" sz="1200"/>
              <a:t>– The authors emphasized weak-field measurements, because strong stimuli can hide differences between units through saturation</a:t>
            </a:r>
          </a:p>
          <a:p>
            <a:r>
              <a:rPr lang="en-US" sz="1200"/>
              <a:t>–  The weak-field range shows the differences in sensitivity most clearly, since many units still respond there with a steep rise in rate. Units with high gain are distinguished most easily in this range. Gain differences between units show up most clearly in this weak-field range.</a:t>
            </a:r>
          </a:p>
          <a:p>
            <a:r>
              <a:rPr lang="en-US" sz="1200"/>
              <a:t>• Explanation 3.</a:t>
            </a:r>
          </a:p>
          <a:p>
            <a:r>
              <a:rPr lang="en-US" sz="1200"/>
              <a:t>– The analysis used successive portions of each measured curve rather than assuming one linear gain across its full extent</a:t>
            </a:r>
          </a:p>
          <a:p>
            <a:r>
              <a:rPr lang="en-US" sz="1200"/>
              <a:t>–  A neuron's weak-field slope can overestimate its sensitivity to stronger fields, which changes how thresholds from different amplitudes should be compared. Successive portions of the curve were analyzed separately, so the shape of the full curve was preserved.</a:t>
            </a:r>
          </a:p>
          <a:p>
            <a:r>
              <a:rPr lang="en-US" sz="1200"/>
              <a:t>• Source.</a:t>
            </a:r>
          </a:p>
          <a:p>
            <a:r>
              <a:rPr lang="en-US" sz="1200"/>
              <a:t>– The figure and the measurements come from Tricas &amp; New (1998).</a:t>
            </a:r>
          </a:p>
          <a:p>
            <a:r>
              <a:rPr lang="en-US" sz="1200"/>
              <a:t>– Each statement is tied to the recordings or observations of that study.</a:t>
            </a:r>
          </a:p>
          <a:p>
            <a:r>
              <a:rPr lang="en-US" sz="1200"/>
              <a:t/>
            </a:r>
          </a:p>
          <a:p>
            <a:r>
              <a:rPr lang="en-US" sz="1200"/>
              <a:t>References:</a:t>
            </a:r>
          </a:p>
          <a:p>
            <a:r>
              <a:rPr lang="en-US" sz="1200"/>
              <a:t>Tricas TC, New JG (1998). Sensitivity and response dynamics of elasmobranch electrosensory primary afferent neurons to near threshold fields. Journal of Comparative Physiology A: Sensory, Neural, and Behavioral Physiology 182(1):89-101. https://doi.org/10.1007/s003590050161</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Shunts and separate recording compartments.</a:t>
            </a:r>
          </a:p>
          <a:p>
            <a:r>
              <a:rPr lang="en-US" sz="1200"/>
              <a:t>• Explanation 1.</a:t>
            </a:r>
          </a:p>
          <a:p>
            <a:r>
              <a:rPr lang="en-US" sz="1200"/>
              <a:t>– The canal's resistance and the salt bridge set how the imposed current produces a voltage across the epithelium</a:t>
            </a:r>
          </a:p>
          <a:p>
            <a:r>
              <a:rPr lang="en-US" sz="1200"/>
              <a:t>–  Electrical loading is part of the experimental mechanism, not a detail of the apparatus geometry. The shunt shapes what the epithelium reports for a given current, and changing it altered the recorded response.</a:t>
            </a:r>
          </a:p>
          <a:p>
            <a:r>
              <a:rPr lang="en-US" sz="1200"/>
              <a:t>• Explanation 2.</a:t>
            </a:r>
          </a:p>
          <a:p>
            <a:r>
              <a:rPr lang="en-US" sz="1200"/>
              <a:t>– Nerve activity was recorded in a separate compartment, which kept epithelial current from being mistaken for propagated afferent spikes</a:t>
            </a:r>
          </a:p>
          <a:p>
            <a:r>
              <a:rPr lang="en-US" sz="1200"/>
              <a:t>–  Changing the salt bridge altered the electrical load on the epithelium, so spontaneous and stimulus-driven responses could be separated from one another in the same preparation. Both conditions were recorded from the same preparation. Both conditions used the same preparation.</a:t>
            </a:r>
          </a:p>
          <a:p>
            <a:r>
              <a:rPr lang="en-US" sz="1200"/>
              <a:t>• Explanation 3.</a:t>
            </a:r>
          </a:p>
          <a:p>
            <a:r>
              <a:rPr lang="en-US" sz="1200"/>
              <a:t>– A tonic current persists without periodic stimulation, while an oscillatory current changes repeatedly around its operating point</a:t>
            </a:r>
          </a:p>
          <a:p>
            <a:r>
              <a:rPr lang="en-US" sz="1200"/>
              <a:t>–  The receptor organ showed both types of current, and altering the shunt changed the electrical loading that shaped each one. The oscillatory component is the fluctuation that remains after the tonic current is accounted for. This component was measured in the same recordings.</a:t>
            </a:r>
          </a:p>
          <a:p>
            <a:r>
              <a:rPr lang="en-US" sz="1200"/>
              <a:t>• Source.</a:t>
            </a:r>
          </a:p>
          <a:p>
            <a:r>
              <a:rPr lang="en-US" sz="1200"/>
              <a:t>– The figure and the measurements come from Clusin &amp; Bennett (1979).</a:t>
            </a:r>
          </a:p>
          <a:p>
            <a:r>
              <a:rPr lang="en-US" sz="1200"/>
              <a:t>– Each statement is tied to the recordings or observations of that study.</a:t>
            </a:r>
          </a:p>
          <a:p>
            <a:r>
              <a:rPr lang="en-US" sz="1200"/>
              <a:t/>
            </a:r>
          </a:p>
          <a:p>
            <a:r>
              <a:rPr lang="en-US" sz="1200"/>
              <a:t>References:</a:t>
            </a:r>
          </a:p>
          <a:p>
            <a:r>
              <a:rPr lang="en-US" sz="1200"/>
              <a:t>Clusin WT, Bennett MVL (1979). The oscillatory responses of skate electroreceptors to small voltage stimuli. Journal of General Physiology 73(6):685-702. https://doi.org/10.1085/jgp.73.6.685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Hydration and humidity control jelly conduction.</a:t>
            </a:r>
          </a:p>
          <a:p>
            <a:r>
              <a:rPr lang="en-US" sz="1200"/>
              <a:t>• Explanation 1.</a:t>
            </a:r>
          </a:p>
          <a:p>
            <a:r>
              <a:rPr lang="en-US" sz="1200"/>
              <a:t>– The jelly was hydrated before testing, and the measurements controlled humidity because water content affects charge transport</a:t>
            </a:r>
          </a:p>
          <a:p>
            <a:r>
              <a:rPr lang="en-US" sz="1200"/>
              <a:t>–  A 1-V device stimulus is much larger than natural sensory signals, so the result describes how the material conducts rather than how a receptor responds to weak fields. Humidity was held at a fixed level during each measurement, and the fixed level set the proton response.</a:t>
            </a:r>
          </a:p>
          <a:p>
            <a:r>
              <a:rPr lang="en-US" sz="1200"/>
              <a:t>• Explanation 2.</a:t>
            </a:r>
          </a:p>
          <a:p>
            <a:r>
              <a:rPr lang="en-US" sz="1200"/>
              <a:t>– Keratan sulfate is the identified sulfated component, and the authors treated its link to high proton conductivity as a proposed explanation</a:t>
            </a:r>
          </a:p>
          <a:p>
            <a:r>
              <a:rPr lang="en-US" sz="1200"/>
              <a:t>–  A constituent found in extracted jelly may be one of several electrically relevant components. The sugars detected alongside it also carry charge in the hydrated network, so the whole matrix contributes to conduction. The matrix is hydrated throughout.</a:t>
            </a:r>
          </a:p>
          <a:p>
            <a:r>
              <a:rPr lang="en-US" sz="1200"/>
              <a:t>• Explanation 3.</a:t>
            </a:r>
          </a:p>
          <a:p>
            <a:r>
              <a:rPr lang="en-US" sz="1200"/>
              <a:t>– The preparation contained no living receptor epithelium, so the measurement addresses the conductive matrix itself</a:t>
            </a:r>
          </a:p>
          <a:p>
            <a:r>
              <a:rPr lang="en-US" sz="1200"/>
              <a:t>–  That matrix is the hydrogel's contribution to the signal, while the amplification of the signal happens in the receptor cells. The two contributions are measured at different levels of the sensory pathway, from material to membrane. The two levels of measurement differ in scale.</a:t>
            </a:r>
          </a:p>
          <a:p>
            <a:r>
              <a:rPr lang="en-US" sz="1200"/>
              <a:t>• Source.</a:t>
            </a:r>
          </a:p>
          <a:p>
            <a:r>
              <a:rPr lang="en-US" sz="1200"/>
              <a:t>– The figure and the measurements come from Josberger et al. (2016).</a:t>
            </a:r>
          </a:p>
          <a:p>
            <a:r>
              <a:rPr lang="en-US" sz="1200"/>
              <a:t>– Each statement is tied to the recordings or observations of that study.</a:t>
            </a:r>
          </a:p>
          <a:p>
            <a:r>
              <a:rPr lang="en-US" sz="1200"/>
              <a:t/>
            </a:r>
          </a:p>
          <a:p>
            <a:r>
              <a:rPr lang="en-US" sz="1200"/>
              <a:t>References:</a:t>
            </a:r>
          </a:p>
          <a:p>
            <a:r>
              <a:rPr lang="en-US" sz="1200"/>
              <a:t>Josberger EE, Hassanzadeh P, Deng Y, Sohn J, Rego MJ, Amemiya CT, Rolandi M (2016). Proton conductivity in ampullae of Lorenzini jelly. Science Advances 2(5):e1600112. https://doi.org/10.1126/sciadv.1600112</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Video reconstructs the approach path.</a:t>
            </a:r>
          </a:p>
          <a:p>
            <a:r>
              <a:rPr lang="en-US" sz="1200"/>
              <a:t>• Explanation 1.</a:t>
            </a:r>
          </a:p>
          <a:p>
            <a:r>
              <a:rPr lang="en-US" sz="1200"/>
              <a:t>– The investigators reconstructed paths from video instead of assuming that a straight approach followed field lines</a:t>
            </a:r>
          </a:p>
          <a:p>
            <a:r>
              <a:rPr lang="en-US" sz="1200"/>
              <a:t>–  The original photographs keep the temporal order of the approach and the pivot, so each turn can be followed as a sequence of positions across the frames. The reconstruction uses the observed trajectory of each animal rather than a modeled one.</a:t>
            </a:r>
          </a:p>
          <a:p>
            <a:r>
              <a:rPr lang="en-US" sz="1200"/>
              <a:t>• Explanation 2.</a:t>
            </a:r>
          </a:p>
          <a:p>
            <a:r>
              <a:rPr lang="en-US" sz="1200"/>
              <a:t>– Sensory detection and the motor maneuver that follows it can vary independently between species</a:t>
            </a:r>
          </a:p>
          <a:p>
            <a:r>
              <a:rPr lang="en-US" sz="1200"/>
              <a:t>–  Hammerheads and sandbars shared a similar maximum range, yet their turning arcs differed, which indicates that detection and turning are separable stages of the response. The pivot timing and arc width were measured separately from detection distance. Hammerheads and sandbars turned along different arcs in the same apparatus.</a:t>
            </a:r>
          </a:p>
          <a:p>
            <a:r>
              <a:rPr lang="en-US" sz="1200"/>
              <a:t>• Explanation 3.</a:t>
            </a:r>
          </a:p>
          <a:p>
            <a:r>
              <a:rPr lang="en-US" sz="1200"/>
              <a:t>– The recordings captured body posture and movement, while motor-neuron activity and muscle force were outside what the study measured</a:t>
            </a:r>
          </a:p>
          <a:p>
            <a:r>
              <a:rPr lang="en-US" sz="1200"/>
              <a:t>–  The behavioral sequence describes movement in detail, and neural drive to the muscles was not part of the measurements. Posture and path were recorded in the same video frames. Both were measured on one video timeline.</a:t>
            </a:r>
          </a:p>
          <a:p>
            <a:r>
              <a:rPr lang="en-US" sz="1200"/>
              <a:t>• Source.</a:t>
            </a:r>
          </a:p>
          <a:p>
            <a:r>
              <a:rPr lang="en-US" sz="1200"/>
              <a:t>– The figure and the measurements come from Kajiura &amp; Holland (2002).</a:t>
            </a:r>
          </a:p>
          <a:p>
            <a:r>
              <a:rPr lang="en-US" sz="1200"/>
              <a:t>– Each statement is tied to the recordings or observations of that study.</a:t>
            </a:r>
          </a:p>
          <a:p>
            <a:r>
              <a:rPr lang="en-US" sz="1200"/>
              <a:t/>
            </a:r>
          </a:p>
          <a:p>
            <a:r>
              <a:rPr lang="en-US" sz="1200"/>
              <a:t>References:</a:t>
            </a:r>
          </a:p>
          <a:p>
            <a:r>
              <a:rPr lang="en-US" sz="1200"/>
              <a:t>Kajiura SM, Holland KN (2002). Electroreception in juvenile scalloped hammerhead and sandbar sharks. Journal of Experimental Biology 205(23):3609-3621. https://doi.org/10.1242/jeb.205.23.3609</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dipole model supplies the field estimate.</a:t>
            </a:r>
          </a:p>
          <a:p>
            <a:r>
              <a:rPr lang="en-US" sz="1200"/>
              <a:t>• Explanation 1.</a:t>
            </a:r>
          </a:p>
          <a:p>
            <a:r>
              <a:rPr lang="en-US" sz="1200"/>
              <a:t>– The original article calculated field intensity from a specified dipole model</a:t>
            </a:r>
          </a:p>
          <a:p>
            <a:r>
              <a:rPr lang="en-US" sz="1200"/>
              <a:t>–  It also measured the seawater properties that the model needed, so each converted value carries the assumptions of that model. Field intensity is a calculated quantity in this analysis, linked to the recorded approach angles and distances from each video record. The estimate is tied to each video record.</a:t>
            </a:r>
          </a:p>
          <a:p>
            <a:r>
              <a:rPr lang="en-US" sz="1200"/>
              <a:t>• Explanation 2.</a:t>
            </a:r>
          </a:p>
          <a:p>
            <a:r>
              <a:rPr lang="en-US" sz="1200"/>
              <a:t>– A moving head samples the electrical field at changing positions, so receptor input varies over time even when the experimental current remains constant</a:t>
            </a:r>
          </a:p>
          <a:p>
            <a:r>
              <a:rPr lang="en-US" sz="1200"/>
              <a:t>–  The local stimulus estimate depends on the path the animal takes through the field. The path changes from one approach to the next, so each estimate reflects the particular approach that produced it.</a:t>
            </a:r>
          </a:p>
          <a:p>
            <a:r>
              <a:rPr lang="en-US" sz="1200"/>
              <a:t>• Explanation 3.</a:t>
            </a:r>
          </a:p>
          <a:p>
            <a:r>
              <a:rPr lang="en-US" sz="1200"/>
              <a:t>– Approaches begin at different angles and distances, so the same dipole delivers a different local stimulus to each orientation</a:t>
            </a:r>
          </a:p>
          <a:p>
            <a:r>
              <a:rPr lang="en-US" sz="1200"/>
              <a:t>–  The angle information is what allows distance to be converted into a field strength at the moment of orientation. Angle and distance are both needed to estimate the local field at that moment. The angle matters as much as distance.</a:t>
            </a:r>
          </a:p>
          <a:p>
            <a:r>
              <a:rPr lang="en-US" sz="1200"/>
              <a:t>• Source.</a:t>
            </a:r>
          </a:p>
          <a:p>
            <a:r>
              <a:rPr lang="en-US" sz="1200"/>
              <a:t>– The figure and the measurements come from Kajiura &amp; Holland (2002).</a:t>
            </a:r>
          </a:p>
          <a:p>
            <a:r>
              <a:rPr lang="en-US" sz="1200"/>
              <a:t>– Each statement is tied to the recordings or observations of that study.</a:t>
            </a:r>
          </a:p>
          <a:p>
            <a:r>
              <a:rPr lang="en-US" sz="1200"/>
              <a:t/>
            </a:r>
          </a:p>
          <a:p>
            <a:r>
              <a:rPr lang="en-US" sz="1200"/>
              <a:t>References:</a:t>
            </a:r>
          </a:p>
          <a:p>
            <a:r>
              <a:rPr lang="en-US" sz="1200"/>
              <a:t>Kajiura SM, Holland KN (2002). Electroreception in juvenile scalloped hammerhead and sandbar sharks. Journal of Experimental Biology 205(23):3609-3621. https://doi.org/10.1242/jeb.205.23.3609</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tidal pen with single-animal trials.</a:t>
            </a:r>
          </a:p>
          <a:p>
            <a:r>
              <a:rPr lang="en-US" sz="1200"/>
              <a:t>• Explanation 1.</a:t>
            </a:r>
          </a:p>
          <a:p>
            <a:r>
              <a:rPr lang="en-US" sz="1200"/>
              <a:t>– The arena was a reef enclosure with tidal exchange, so the sharks swam in a living habitat rather than a sealed tank</a:t>
            </a:r>
          </a:p>
          <a:p>
            <a:r>
              <a:rPr lang="en-US" sz="1200"/>
              <a:t>–  Testing one shark at a time prevented a neighboring shark's response from giving the focal animal an extra directional cue, which kept each orientation tied to one animal. The pen also held reef organisms that shared the same water with the test sharks.</a:t>
            </a:r>
          </a:p>
          <a:p>
            <a:r>
              <a:rPr lang="en-US" sz="1200"/>
              <a:t>• Explanation 2.</a:t>
            </a:r>
          </a:p>
          <a:p>
            <a:r>
              <a:rPr lang="en-US" sz="1200"/>
              <a:t>– The study measured behavioral orientation to an artificial, prey-like source</a:t>
            </a:r>
          </a:p>
          <a:p>
            <a:r>
              <a:rPr lang="en-US" sz="1200"/>
              <a:t>–  Its measure was the whole animal's turn toward the plate, which is a different quantity from the sensitivity of an individual receptor cell. Behavioral orientation reports the decision of the whole shark rather than the output of one sensory cell, a distinction that matters when thresholds are judged across studies.</a:t>
            </a:r>
          </a:p>
          <a:p>
            <a:r>
              <a:rPr lang="en-US" sz="1200"/>
              <a:t>• Explanation 3.</a:t>
            </a:r>
          </a:p>
          <a:p>
            <a:r>
              <a:rPr lang="en-US" sz="1200"/>
              <a:t>– Scalloped hammerheads and sandbar sharks entered the same arena and the same electrode plate</a:t>
            </a:r>
          </a:p>
          <a:p>
            <a:r>
              <a:rPr lang="en-US" sz="1200"/>
              <a:t>–  Differences in approach trajectories can be traced to the animals rather than to the setup, because the plate and the water were identical for both species. Both species were juveniles, so the test isolates species differences at one life stage of the same habitat.</a:t>
            </a:r>
          </a:p>
          <a:p>
            <a:r>
              <a:rPr lang="en-US" sz="1200"/>
              <a:t>• Source.</a:t>
            </a:r>
          </a:p>
          <a:p>
            <a:r>
              <a:rPr lang="en-US" sz="1200"/>
              <a:t>– The figure and the measurements come from Kajiura &amp; Holland (2002).</a:t>
            </a:r>
          </a:p>
          <a:p>
            <a:r>
              <a:rPr lang="en-US" sz="1200"/>
              <a:t>– Each statement is tied to the recordings or observations of that study.</a:t>
            </a:r>
          </a:p>
          <a:p>
            <a:r>
              <a:rPr lang="en-US" sz="1200"/>
              <a:t/>
            </a:r>
          </a:p>
          <a:p>
            <a:r>
              <a:rPr lang="en-US" sz="1200"/>
              <a:t>References:</a:t>
            </a:r>
          </a:p>
          <a:p>
            <a:r>
              <a:rPr lang="en-US" sz="1200"/>
              <a:t>Kajiura SM, Holland KN (2002). Electroreception in juvenile scalloped hammerhead and sandbar sharks. Journal of Experimental Biology 205(23):3609-3621. https://doi.org/10.1242/jeb.205.23.3609</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Pools and agar prevent stray electrical sources.</a:t>
            </a:r>
          </a:p>
          <a:p>
            <a:r>
              <a:rPr lang="en-US" sz="1200"/>
              <a:t>• Explanation 1.</a:t>
            </a:r>
          </a:p>
          <a:p>
            <a:r>
              <a:rPr lang="en-US" sz="1200"/>
              <a:t>– Kalmijn housed the chamber in plastic pools, and an electrically isolated circulation system avoided galvanic fields produced by metal</a:t>
            </a:r>
          </a:p>
          <a:p>
            <a:r>
              <a:rPr lang="en-US" sz="1200"/>
              <a:t>–  Metal parts in contact with seawater can create electrical sources unrelated to the plaice. Keeping metal out of the circulation removed those unintended sources from the experiment, which left the enclosed fish as the intended target.</a:t>
            </a:r>
          </a:p>
          <a:p>
            <a:r>
              <a:rPr lang="en-US" sz="1200"/>
              <a:t>• Explanation 2.</a:t>
            </a:r>
          </a:p>
          <a:p>
            <a:r>
              <a:rPr lang="en-US" sz="1200"/>
              <a:t>– Agar structures were left to equilibrate in the pool for at least 12 hours before testing</a:t>
            </a:r>
          </a:p>
          <a:p>
            <a:r>
              <a:rPr lang="en-US" sz="1200"/>
              <a:t>–  This preparation reduced unintended electrical targets and helped assign each response to the experimentally enclosed source. The trials used agar that had already equilibrated, so each test began from the same chamber conditions, and the pool water was circulated continuously.</a:t>
            </a:r>
          </a:p>
          <a:p>
            <a:r>
              <a:rPr lang="en-US" sz="1200"/>
              <a:t>• Explanation 3.</a:t>
            </a:r>
          </a:p>
          <a:p>
            <a:r>
              <a:rPr lang="en-US" sz="1200"/>
              <a:t>– Agar screening removed rival cues without denervating the predator, so the predator's sensory system stayed intact</a:t>
            </a:r>
          </a:p>
          <a:p>
            <a:r>
              <a:rPr lang="en-US" sz="1200"/>
              <a:t>–  The electrical cue remained available through the agar, while the removed cues were the odor and mechanical signals that had reached the fish from the sand. Removing those signals left electrical guidance as the remaining option for the predator's attacks.</a:t>
            </a:r>
          </a:p>
          <a:p>
            <a:r>
              <a:rPr lang="en-US" sz="1200"/>
              <a:t>• Source.</a:t>
            </a:r>
          </a:p>
          <a:p>
            <a:r>
              <a:rPr lang="en-US" sz="1200"/>
              <a:t>– The figure and the measurements come from Kalmijn (1971).</a:t>
            </a:r>
          </a:p>
          <a:p>
            <a:r>
              <a:rPr lang="en-US" sz="1200"/>
              <a:t>– Each statement is tied to the recordings or observations of that study.</a:t>
            </a:r>
          </a:p>
          <a:p>
            <a:r>
              <a:rPr lang="en-US" sz="1200"/>
              <a:t/>
            </a:r>
          </a:p>
          <a:p>
            <a:r>
              <a:rPr lang="en-US" sz="1200"/>
              <a:t>References:</a:t>
            </a:r>
          </a:p>
          <a:p>
            <a:r>
              <a:rPr lang="en-US" sz="1200"/>
              <a:t>Kalmijn AJ (1971). The Electric Sense of Sharks and Rays. Journal of Experimental Biology 55(2):371-383. https://doi.org/10.1242/jeb.55.2.371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50.png"/><Relationship Id="rId5" Type="http://schemas.openxmlformats.org/officeDocument/2006/relationships/image" Target="../media/image5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8.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4.png"/><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5.png"/><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0.png"/><Relationship Id="rId4"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7.png"/><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1.png"/><Relationship Id="rId4"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9.png"/><Relationship Id="rId4"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6.png"/><Relationship Id="rId4" Type="http://schemas.openxmlformats.org/officeDocument/2006/relationships/image" Target="../media/image2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3.pn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2.png"/><Relationship Id="rId4"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7.png"/><Relationship Id="rId4" Type="http://schemas.openxmlformats.org/officeDocument/2006/relationships/image" Target="../media/image2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8.png"/><Relationship Id="rId4"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45.png"/><Relationship Id="rId4"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6.png"/><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8.png"/><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7.png"/><Relationship Id="rId4" Type="http://schemas.openxmlformats.org/officeDocument/2006/relationships/image" Target="../media/image4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1.png"/><Relationship Id="rId4" Type="http://schemas.openxmlformats.org/officeDocument/2006/relationships/image" Target="../media/image4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28.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28.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21.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21.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21.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21.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21.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0B2A4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200"/>
              <a:buFont typeface="Arial"/>
              <a:buNone/>
            </a:pPr>
            <a:r>
              <a:rPr b="0" i="0" lang="en-US" sz="1200">
                <a:solidFill>
                  <a:srgbClr val="9FC4DE"/>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24675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800"/>
              <a:buFont typeface="Arial"/>
              <a:buNone/>
            </a:pPr>
            <a:r>
              <a:rPr b="0" i="0" lang="en-US" sz="1800">
                <a:solidFill>
                  <a:srgbClr val="9FC4DE"/>
                </a:solidFill>
                <a:latin typeface="Arial"/>
                <a:ea typeface="Arial"/>
                <a:cs typeface="Arial"/>
                <a:sym typeface="Arial"/>
              </a:rPr>
              <a:t>Lecture 20</a:t>
            </a:r>
            <a:endParaRPr sz="1800">
              <a:solidFill>
                <a:schemeClr val="dk1"/>
              </a:solidFill>
              <a:latin typeface="Calibri"/>
              <a:ea typeface="Calibri"/>
              <a:cs typeface="Calibri"/>
              <a:sym typeface="Calibri"/>
            </a:endParaRPr>
          </a:p>
        </p:txBody>
      </p:sp>
      <p:sp>
        <p:nvSpPr>
          <p:cNvPr id="22" name="Google Shape;22;p1"/>
          <p:cNvSpPr/>
          <p:nvPr/>
        </p:nvSpPr>
        <p:spPr>
          <a:xfrm>
            <a:off x="685800" y="2331690"/>
            <a:ext cx="4743450" cy="98717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FFFFFF"/>
              </a:buClr>
              <a:buSzPts val="2400"/>
              <a:buFont typeface="Arial"/>
              <a:buNone/>
            </a:pPr>
            <a:r>
              <a:rPr b="1" i="0" lang="en-US" sz="2400">
                <a:solidFill>
                  <a:srgbClr val="FFFFFF"/>
                </a:solidFill>
                <a:latin typeface="Arial"/>
                <a:ea typeface="Arial"/>
                <a:cs typeface="Arial"/>
                <a:sym typeface="Arial"/>
              </a:rPr>
              <a:t>Electroreception I: passive sensing in sharks and rays (ampullae of Lorenzini)</a:t>
            </a:r>
            <a:endParaRPr sz="1800">
              <a:solidFill>
                <a:schemeClr val="dk1"/>
              </a:solidFill>
              <a:latin typeface="Calibri"/>
              <a:ea typeface="Calibri"/>
              <a:cs typeface="Calibri"/>
              <a:sym typeface="Calibri"/>
            </a:endParaRPr>
          </a:p>
        </p:txBody>
      </p:sp>
      <p:sp>
        <p:nvSpPr>
          <p:cNvPr id="23" name="Google Shape;23;p1"/>
          <p:cNvSpPr/>
          <p:nvPr/>
        </p:nvSpPr>
        <p:spPr>
          <a:xfrm>
            <a:off x="685800" y="4749552"/>
            <a:ext cx="4743450" cy="21937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600"/>
              <a:buFont typeface="Arial"/>
              <a:buNone/>
            </a:pPr>
            <a:r>
              <a:rPr b="0" i="0" lang="en-US" sz="1600">
                <a:solidFill>
                  <a:srgbClr val="9FC4DE"/>
                </a:solidFill>
                <a:latin typeface="Arial"/>
                <a:ea typeface="Arial"/>
                <a:cs typeface="Arial"/>
                <a:sym typeface="Arial"/>
              </a:rPr>
              <a:t>Monday, October 12, 2026</a:t>
            </a:r>
            <a:endParaRPr sz="1800">
              <a:solidFill>
                <a:schemeClr val="dk1"/>
              </a:solidFill>
              <a:latin typeface="Calibri"/>
              <a:ea typeface="Calibri"/>
              <a:cs typeface="Calibri"/>
              <a:sym typeface="Calibri"/>
            </a:endParaRPr>
          </a:p>
        </p:txBody>
      </p:sp>
      <p:sp>
        <p:nvSpPr>
          <p:cNvPr id="24" name="Google Shape;24;p1"/>
          <p:cNvSpPr/>
          <p:nvPr/>
        </p:nvSpPr>
        <p:spPr>
          <a:xfrm>
            <a:off x="685800" y="5435352"/>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200"/>
              <a:buFont typeface="Arial"/>
              <a:buNone/>
            </a:pPr>
            <a:r>
              <a:rPr b="0" i="0" lang="en-US" sz="1200">
                <a:solidFill>
                  <a:srgbClr val="9FC4DE"/>
                </a:solidFill>
                <a:latin typeface="Arial"/>
                <a:ea typeface="Arial"/>
                <a:cs typeface="Arial"/>
                <a:sym typeface="Arial"/>
              </a:rPr>
              <a:t>Jordan Lopez, Ph.D.</a:t>
            </a:r>
            <a:endParaRPr sz="1800">
              <a:solidFill>
                <a:schemeClr val="dk1"/>
              </a:solidFill>
              <a:latin typeface="Calibri"/>
              <a:ea typeface="Calibri"/>
              <a:cs typeface="Calibri"/>
              <a:sym typeface="Calibri"/>
            </a:endParaRPr>
          </a:p>
        </p:txBody>
      </p:sp>
      <p:sp>
        <p:nvSpPr>
          <p:cNvPr id="25" name="Google Shape;25;p1"/>
          <p:cNvSpPr/>
          <p:nvPr/>
        </p:nvSpPr>
        <p:spPr>
          <a:xfrm>
            <a:off x="685800" y="5625108"/>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200"/>
              <a:buFont typeface="Arial"/>
              <a:buNone/>
            </a:pPr>
            <a:r>
              <a:rPr b="0" i="0" lang="en-US" sz="1200">
                <a:solidFill>
                  <a:srgbClr val="9FC4DE"/>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7550811" y="822871"/>
            <a:ext cx="3186081" cy="4937671"/>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1(a). Little skate (Leucoraja erinacea).</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Hidden prey are located through their electric fields</a:t>
            </a:r>
            <a:endParaRPr sz="1800">
              <a:solidFill>
                <a:schemeClr val="dk1"/>
              </a:solidFill>
              <a:latin typeface="Calibri"/>
              <a:ea typeface="Calibri"/>
              <a:cs typeface="Calibri"/>
              <a:sym typeface="Calibri"/>
            </a:endParaRPr>
          </a:p>
        </p:txBody>
      </p:sp>
      <p:sp>
        <p:nvSpPr>
          <p:cNvPr id="33" name="Google Shape;33;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B4F7A"/>
              </a:buClr>
              <a:buSzPts val="1600"/>
              <a:buFont typeface="Arial"/>
              <a:buNone/>
            </a:pPr>
            <a:r>
              <a:rPr b="1" i="0" lang="en-US" sz="1400">
                <a:solidFill>
                  <a:srgbClr val="0B4F7A"/>
                </a:solidFill>
                <a:latin typeface="Arial"/>
                <a:ea typeface="Arial"/>
                <a:cs typeface="Arial"/>
                <a:sym typeface="Arial"/>
              </a:rPr>
              <a:t>Passive electroreception</a:t>
            </a:r>
            <a:r>
              <a:rPr b="0" i="0" lang="en-US" sz="1400">
                <a:solidFill>
                  <a:srgbClr val="1C242C"/>
                </a:solidFill>
                <a:latin typeface="Arial"/>
                <a:ea typeface="Arial"/>
                <a:cs typeface="Arial"/>
                <a:sym typeface="Arial"/>
              </a:rPr>
              <a:t> is detection of electric fields produced outside the sensing animal. A predator can therefore find prey without emitting its own discharge. Kalmijn tested feeding in small-spotted catsharks, </a:t>
            </a:r>
            <a:r>
              <a:rPr b="0" i="1" lang="en-US" sz="1400">
                <a:solidFill>
                  <a:srgbClr val="1C242C"/>
                </a:solidFill>
                <a:latin typeface="Arial"/>
                <a:ea typeface="Arial"/>
                <a:cs typeface="Arial"/>
                <a:sym typeface="Arial"/>
              </a:rPr>
              <a:t>Scyliorhinus canicula</a:t>
            </a:r>
            <a:r>
              <a:rPr b="0" i="0" lang="en-US" sz="1400">
                <a:solidFill>
                  <a:srgbClr val="1C242C"/>
                </a:solidFill>
                <a:latin typeface="Arial"/>
                <a:ea typeface="Arial"/>
                <a:cs typeface="Arial"/>
                <a:sym typeface="Arial"/>
              </a:rPr>
              <a:t>, and thornback rays, </a:t>
            </a:r>
            <a:r>
              <a:rPr b="0" i="1" lang="en-US" sz="1400">
                <a:solidFill>
                  <a:srgbClr val="1C242C"/>
                </a:solidFill>
                <a:latin typeface="Arial"/>
                <a:ea typeface="Arial"/>
                <a:cs typeface="Arial"/>
                <a:sym typeface="Arial"/>
              </a:rPr>
              <a:t>Raja clavata</a:t>
            </a:r>
            <a:r>
              <a:rPr b="0" i="0" lang="en-US" sz="1400">
                <a:solidFill>
                  <a:srgbClr val="1C242C"/>
                </a:solidFill>
                <a:latin typeface="Arial"/>
                <a:ea typeface="Arial"/>
                <a:cs typeface="Arial"/>
                <a:sym typeface="Arial"/>
              </a:rPr>
              <a:t>. The prey was living plaice buried beneath sand. Concealment alone left odor and water movement available as guides.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B4F7A"/>
              </a:buClr>
              <a:buSzPts val="1600"/>
              <a:buFont typeface="Arial"/>
              <a:buNone/>
            </a:pPr>
            <a:r>
              <a:rPr b="0" i="0" lang="en-US" sz="1400">
                <a:solidFill>
                  <a:srgbClr val="1C242C"/>
                </a:solidFill>
                <a:latin typeface="Arial"/>
                <a:ea typeface="Arial"/>
                <a:cs typeface="Arial"/>
                <a:sym typeface="Arial"/>
              </a:rPr>
              <a:t>Catsharks made directed feeding turns when they passed within about 15 cm of buried prey. Sand still transmits odor and water movement, so Kalmijn enclosed the plaice in </a:t>
            </a:r>
            <a:r>
              <a:rPr b="1" i="0" lang="en-US" sz="1400">
                <a:solidFill>
                  <a:srgbClr val="0B4F7A"/>
                </a:solidFill>
                <a:latin typeface="Arial"/>
                <a:ea typeface="Arial"/>
                <a:cs typeface="Arial"/>
                <a:sym typeface="Arial"/>
              </a:rPr>
              <a:t>conductive agar</a:t>
            </a:r>
            <a:r>
              <a:rPr b="0" i="0" lang="en-US" sz="1400">
                <a:solidFill>
                  <a:srgbClr val="1C242C"/>
                </a:solidFill>
                <a:latin typeface="Arial"/>
                <a:ea typeface="Arial"/>
                <a:cs typeface="Arial"/>
                <a:sym typeface="Arial"/>
              </a:rPr>
              <a:t>. The agar controlled what escaped from the chamber. The enclosure kept the living fish available as a target. Predators continued to respond to the fish through the enclosure.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B4F7A"/>
              </a:buClr>
              <a:buSzPts val="1600"/>
              <a:buFont typeface="Arial"/>
              <a:buNone/>
            </a:pPr>
            <a:r>
              <a:rPr b="0" i="0" lang="en-US" sz="1400">
                <a:solidFill>
                  <a:srgbClr val="1C242C"/>
                </a:solidFill>
                <a:latin typeface="Arial"/>
                <a:ea typeface="Arial"/>
                <a:cs typeface="Arial"/>
                <a:sym typeface="Arial"/>
              </a:rPr>
              <a:t>Predators kept attacking the concealed fish through the agar. Pieces of whiting redirected their searching toward the chamber's water outlet. Electrical localization and odor-driven feeding motivation can be separated experimentally. The result establishes short-range use of prey fields. The range is short under these conditions, not unlimited through seawater. The range was short under these conditions.</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870222" y="962571"/>
            <a:ext cx="4754576" cy="2359224"/>
          </a:xfrm>
          <a:prstGeom prst="rect">
            <a:avLst/>
          </a:prstGeom>
          <a:noFill/>
          <a:ln>
            <a:noFill/>
          </a:ln>
        </p:spPr>
      </p:pic>
      <p:sp>
        <p:nvSpPr>
          <p:cNvPr id="37" name="Google Shape;37;p2"/>
          <p:cNvSpPr/>
          <p:nvPr/>
        </p:nvSpPr>
        <p:spPr>
          <a:xfrm>
            <a:off x="6870055" y="3413323"/>
            <a:ext cx="47739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2(b–c). Agar screening separates living prey from odor controls.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02</a:t>
            </a:r>
            <a:endParaRPr sz="1800">
              <a:solidFill>
                <a:schemeClr val="dk1"/>
              </a:solidFill>
              <a:latin typeface="Calibri"/>
              <a:ea typeface="Calibri"/>
              <a:cs typeface="Calibri"/>
              <a:sym typeface="Calibri"/>
            </a:endParaRPr>
          </a:p>
        </p:txBody>
      </p:sp>
      <p:pic>
        <p:nvPicPr>
          <p:cNvPr id="41" name="Google Shape;41;p2" title="Screenshot 2026-10-08 at 6.39.53 PM.png"/>
          <p:cNvPicPr preferRelativeResize="0"/>
          <p:nvPr/>
        </p:nvPicPr>
        <p:blipFill rotWithShape="1">
          <a:blip r:embed="rId4">
            <a:alphaModFix/>
          </a:blip>
          <a:srcRect b="0" l="10897" r="0" t="0"/>
          <a:stretch/>
        </p:blipFill>
        <p:spPr>
          <a:xfrm>
            <a:off x="7186084" y="3837900"/>
            <a:ext cx="2144189" cy="1316101"/>
          </a:xfrm>
          <a:prstGeom prst="rect">
            <a:avLst/>
          </a:prstGeom>
          <a:noFill/>
          <a:ln>
            <a:noFill/>
          </a:ln>
        </p:spPr>
      </p:pic>
      <p:pic>
        <p:nvPicPr>
          <p:cNvPr id="43" name="Google Shape;43;p2" title="Screenshot 2026-10-08 at 6.43.53 PM.png"/>
          <p:cNvPicPr preferRelativeResize="0"/>
          <p:nvPr/>
        </p:nvPicPr>
        <p:blipFill>
          <a:blip r:embed="rId5">
            <a:alphaModFix/>
          </a:blip>
          <a:stretch>
            <a:fillRect/>
          </a:stretch>
        </p:blipFill>
        <p:spPr>
          <a:xfrm>
            <a:off x="9330275" y="3837895"/>
            <a:ext cx="2048481" cy="13161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Conductive agar isolates the prey’s electrical cue</a:t>
            </a:r>
            <a:endParaRPr sz="1800">
              <a:solidFill>
                <a:schemeClr val="dk1"/>
              </a:solidFill>
              <a:latin typeface="Calibri"/>
              <a:ea typeface="Calibri"/>
              <a:cs typeface="Calibri"/>
              <a:sym typeface="Calibri"/>
            </a:endParaRPr>
          </a:p>
        </p:txBody>
      </p:sp>
      <p:sp>
        <p:nvSpPr>
          <p:cNvPr id="49" name="Google Shape;49;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500">
                <a:solidFill>
                  <a:srgbClr val="1C242C"/>
                </a:solidFill>
                <a:latin typeface="Arial"/>
                <a:ea typeface="Arial"/>
                <a:cs typeface="Arial"/>
                <a:sym typeface="Arial"/>
              </a:rPr>
              <a:t>An </a:t>
            </a:r>
            <a:r>
              <a:rPr b="1" i="0" lang="en-US" sz="1500">
                <a:solidFill>
                  <a:srgbClr val="0B4F7A"/>
                </a:solidFill>
                <a:latin typeface="Arial"/>
                <a:ea typeface="Arial"/>
                <a:cs typeface="Arial"/>
                <a:sym typeface="Arial"/>
              </a:rPr>
              <a:t>electric field</a:t>
            </a:r>
            <a:r>
              <a:rPr b="0" i="0" lang="en-US" sz="1500">
                <a:solidFill>
                  <a:srgbClr val="1C242C"/>
                </a:solidFill>
                <a:latin typeface="Arial"/>
                <a:ea typeface="Arial"/>
                <a:cs typeface="Arial"/>
                <a:sym typeface="Arial"/>
              </a:rPr>
              <a:t> is a spatial voltage gradient that can drive current through a conductor. Kalmijn built a chamber from 3% agar in seawater. The chamber had thick sidewalls, a reinforced roof, and tubes carrying fresh seawater to the plaice. The agar was conductive, so it carried current from the outside field into the chamber.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500">
                <a:solidFill>
                  <a:srgbClr val="1C242C"/>
                </a:solidFill>
                <a:latin typeface="Arial"/>
                <a:ea typeface="Arial"/>
                <a:cs typeface="Arial"/>
                <a:sym typeface="Arial"/>
              </a:rPr>
              <a:t>The walls and roof reduced mechanical disturbance around the fish. A 1-Hz test current of 120 µA passed between electrodes 5 cm apart. The electrodes stayed in the same positions for both measurements. Field readings with and without the chamber differed by no more than the 3% measurement limit. The chamber stayed conductive.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500">
                <a:solidFill>
                  <a:srgbClr val="1C242C"/>
                </a:solidFill>
                <a:latin typeface="Arial"/>
                <a:ea typeface="Arial"/>
                <a:cs typeface="Arial"/>
                <a:sym typeface="Arial"/>
              </a:rPr>
              <a:t>Water carried odorants toward the outlet, yet predators attacked the agar-covered head of the living plaice. A barrier isolates an electrical cue only when its effect on that cue is tested on its own. The conductivity measurement was an essential control. The agar reduced competing cues without denervating the predator.</a:t>
            </a:r>
            <a:endParaRPr sz="1800">
              <a:solidFill>
                <a:schemeClr val="dk1"/>
              </a:solidFill>
              <a:latin typeface="Calibri"/>
              <a:ea typeface="Calibri"/>
              <a:cs typeface="Calibri"/>
              <a:sym typeface="Calibri"/>
            </a:endParaRPr>
          </a:p>
        </p:txBody>
      </p:sp>
      <p:pic>
        <p:nvPicPr>
          <p:cNvPr id="52" name="Google Shape;52;p3"/>
          <p:cNvPicPr preferRelativeResize="0"/>
          <p:nvPr/>
        </p:nvPicPr>
        <p:blipFill rotWithShape="1">
          <a:blip r:embed="rId3">
            <a:alphaModFix/>
          </a:blip>
          <a:srcRect b="0" l="0" r="0" t="0"/>
          <a:stretch/>
        </p:blipFill>
        <p:spPr>
          <a:xfrm>
            <a:off x="6870137" y="1280071"/>
            <a:ext cx="4754746" cy="2066776"/>
          </a:xfrm>
          <a:prstGeom prst="rect">
            <a:avLst/>
          </a:prstGeom>
          <a:noFill/>
          <a:ln>
            <a:noFill/>
          </a:ln>
        </p:spPr>
      </p:pic>
      <p:sp>
        <p:nvSpPr>
          <p:cNvPr id="53" name="Google Shape;53;p3"/>
          <p:cNvSpPr/>
          <p:nvPr/>
        </p:nvSpPr>
        <p:spPr>
          <a:xfrm>
            <a:off x="6870055" y="3438376"/>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1. Conductive agar chamber and seawater circulation.</a:t>
            </a:r>
            <a:endParaRPr sz="1800">
              <a:solidFill>
                <a:schemeClr val="dk1"/>
              </a:solidFill>
              <a:latin typeface="Calibri"/>
              <a:ea typeface="Calibri"/>
              <a:cs typeface="Calibri"/>
              <a:sym typeface="Calibri"/>
            </a:endParaRPr>
          </a:p>
        </p:txBody>
      </p:sp>
      <p:sp>
        <p:nvSpPr>
          <p:cNvPr id="54" name="Google Shape;54;p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 name="Google Shape;55;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56" name="Google Shape;56;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 name="Shape 60"/>
        <p:cNvGrpSpPr/>
        <p:nvPr/>
      </p:nvGrpSpPr>
      <p:grpSpPr>
        <a:xfrm>
          <a:off x="0" y="0"/>
          <a:ext cx="0" cy="0"/>
          <a:chOff x="0" y="0"/>
          <a:chExt cx="0" cy="0"/>
        </a:xfrm>
      </p:grpSpPr>
      <p:sp>
        <p:nvSpPr>
          <p:cNvPr id="61" name="Google Shape;61;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Electrical insulation abolishes directed attacks</a:t>
            </a:r>
            <a:endParaRPr sz="1800">
              <a:solidFill>
                <a:schemeClr val="dk1"/>
              </a:solidFill>
              <a:latin typeface="Calibri"/>
              <a:ea typeface="Calibri"/>
              <a:cs typeface="Calibri"/>
              <a:sym typeface="Calibri"/>
            </a:endParaRPr>
          </a:p>
        </p:txBody>
      </p:sp>
      <p:sp>
        <p:nvSpPr>
          <p:cNvPr id="62" name="Google Shape;62;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Kalmijn covered the agar chamber with polyethylene about 10 µm thick. The film replaced the sand, and the living plaice stayed inside. Diffuse whiting odor still motivated the predators to search. Their motivation stayed high while their electrical access to the fish changed. The same fish was used in every trial of this sequence.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Catsharks and rays passed close to the shielded fish without directed feeding responses. Removing the plastic restored attacks in control trials. The film's resistance near 10¹² Ω·cm² strongly attenuated direct-current fields. Its capacitance stayed below 200 pF/cm², which limited low-frequency fields as well. The film was tested in the same chamber as the control trials.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thin film added little mechanical shielding beside the reinforced agar roof. Reversible loss of localization points to an electrical cue as the guide for these attacks. Sight, odor, and the prey's own movement were not the cause. Motivation and sensory access were distinct variables in these trials. Insulation removed the electrical access but not the search motivation.</a:t>
            </a:r>
            <a:endParaRPr sz="1800">
              <a:solidFill>
                <a:schemeClr val="dk1"/>
              </a:solidFill>
              <a:latin typeface="Calibri"/>
              <a:ea typeface="Calibri"/>
              <a:cs typeface="Calibri"/>
              <a:sym typeface="Calibri"/>
            </a:endParaRPr>
          </a:p>
        </p:txBody>
      </p:sp>
      <p:pic>
        <p:nvPicPr>
          <p:cNvPr id="65" name="Google Shape;65;p4"/>
          <p:cNvPicPr preferRelativeResize="0"/>
          <p:nvPr/>
        </p:nvPicPr>
        <p:blipFill rotWithShape="1">
          <a:blip r:embed="rId3">
            <a:alphaModFix/>
          </a:blip>
          <a:srcRect b="0" l="0" r="0" t="0"/>
          <a:stretch/>
        </p:blipFill>
        <p:spPr>
          <a:xfrm>
            <a:off x="6870201" y="1280071"/>
            <a:ext cx="4754617" cy="1152525"/>
          </a:xfrm>
          <a:prstGeom prst="rect">
            <a:avLst/>
          </a:prstGeom>
          <a:noFill/>
          <a:ln>
            <a:noFill/>
          </a:ln>
        </p:spPr>
      </p:pic>
      <p:sp>
        <p:nvSpPr>
          <p:cNvPr id="66" name="Google Shape;66;p4"/>
          <p:cNvSpPr/>
          <p:nvPr/>
        </p:nvSpPr>
        <p:spPr>
          <a:xfrm>
            <a:off x="6870055" y="252412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2(d). Electrical shielding blocks directed attacks.</a:t>
            </a:r>
            <a:endParaRPr sz="1800">
              <a:solidFill>
                <a:schemeClr val="dk1"/>
              </a:solidFill>
              <a:latin typeface="Calibri"/>
              <a:ea typeface="Calibri"/>
              <a:cs typeface="Calibri"/>
              <a:sym typeface="Calibri"/>
            </a:endParaRPr>
          </a:p>
        </p:txBody>
      </p:sp>
      <p:sp>
        <p:nvSpPr>
          <p:cNvPr id="67" name="Google Shape;67;p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 name="Google Shape;68;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69" name="Google Shape;69;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04</a:t>
            </a:r>
            <a:endParaRPr sz="1800">
              <a:solidFill>
                <a:schemeClr val="dk1"/>
              </a:solidFill>
              <a:latin typeface="Calibri"/>
              <a:ea typeface="Calibri"/>
              <a:cs typeface="Calibri"/>
              <a:sym typeface="Calibri"/>
            </a:endParaRPr>
          </a:p>
        </p:txBody>
      </p:sp>
      <p:pic>
        <p:nvPicPr>
          <p:cNvPr id="70" name="Google Shape;70;p4" title="Screenshot 2026-10-08 at 6.46.08 PM.png"/>
          <p:cNvPicPr preferRelativeResize="0"/>
          <p:nvPr/>
        </p:nvPicPr>
        <p:blipFill>
          <a:blip r:embed="rId4">
            <a:alphaModFix/>
          </a:blip>
          <a:stretch>
            <a:fillRect/>
          </a:stretch>
        </p:blipFill>
        <p:spPr>
          <a:xfrm>
            <a:off x="7945351" y="2990062"/>
            <a:ext cx="2448250" cy="306357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Artificial dipoles are sufficient to direct feeding</a:t>
            </a:r>
            <a:endParaRPr sz="1800">
              <a:solidFill>
                <a:schemeClr val="dk1"/>
              </a:solidFill>
              <a:latin typeface="Calibri"/>
              <a:ea typeface="Calibri"/>
              <a:cs typeface="Calibri"/>
              <a:sym typeface="Calibri"/>
            </a:endParaRPr>
          </a:p>
        </p:txBody>
      </p:sp>
      <p:sp>
        <p:nvSpPr>
          <p:cNvPr id="76" name="Google Shape;76;p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An </a:t>
            </a:r>
            <a:r>
              <a:rPr b="1" i="0" lang="en-US" sz="1400">
                <a:solidFill>
                  <a:srgbClr val="0B4F7A"/>
                </a:solidFill>
                <a:latin typeface="Arial"/>
                <a:ea typeface="Arial"/>
                <a:cs typeface="Arial"/>
                <a:sym typeface="Arial"/>
              </a:rPr>
              <a:t>electric dipole</a:t>
            </a:r>
            <a:r>
              <a:rPr b="0" i="0" lang="en-US" sz="1400">
                <a:solidFill>
                  <a:srgbClr val="1C242C"/>
                </a:solidFill>
                <a:latin typeface="Arial"/>
                <a:ea typeface="Arial"/>
                <a:cs typeface="Arial"/>
                <a:sym typeface="Arial"/>
              </a:rPr>
              <a:t> consists of a separated current source and sink. Kalmijn buried seawater-bridge outlets beneath sand. He passed a 1-Hz sinusoidal current or a direct current of 4 µA between them. That strength is close to the electrical signal of a living plaice. The bridges reduced chemical artifacts near the outlets.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After odor-induced arousal, catsharks and rays dug at the active outlets as though attacking prey. Identical buried outlets without current drew no such response. Predators sometimes left the outlets exposed even though no food reward was there. In a competition test, a whiting piece 5 cm away supplied odor. Directed attacks still favored the electrical source.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An artificial field was sufficient for localization. Food odor supplied a complementary motivational cue. Odor was held constant across the trials, so the electrical source was the changing cue. Current-switching trials showed that the target was the active electrical source. The buried hardware was not the target. The electrical signal was the variable that changed.</a:t>
            </a:r>
            <a:endParaRPr sz="1800">
              <a:solidFill>
                <a:schemeClr val="dk1"/>
              </a:solidFill>
              <a:latin typeface="Calibri"/>
              <a:ea typeface="Calibri"/>
              <a:cs typeface="Calibri"/>
              <a:sym typeface="Calibri"/>
            </a:endParaRPr>
          </a:p>
        </p:txBody>
      </p:sp>
      <p:pic>
        <p:nvPicPr>
          <p:cNvPr id="79" name="Google Shape;79;p5"/>
          <p:cNvPicPr preferRelativeResize="0"/>
          <p:nvPr/>
        </p:nvPicPr>
        <p:blipFill rotWithShape="1">
          <a:blip r:embed="rId3">
            <a:alphaModFix/>
          </a:blip>
          <a:srcRect b="0" l="0" r="0" t="0"/>
          <a:stretch/>
        </p:blipFill>
        <p:spPr>
          <a:xfrm>
            <a:off x="6870201" y="1280071"/>
            <a:ext cx="4754617" cy="2409825"/>
          </a:xfrm>
          <a:prstGeom prst="rect">
            <a:avLst/>
          </a:prstGeom>
          <a:noFill/>
          <a:ln>
            <a:noFill/>
          </a:ln>
        </p:spPr>
      </p:pic>
      <p:sp>
        <p:nvSpPr>
          <p:cNvPr id="80" name="Google Shape;80;p5"/>
          <p:cNvSpPr/>
          <p:nvPr/>
        </p:nvSpPr>
        <p:spPr>
          <a:xfrm>
            <a:off x="6870055" y="378142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2(e–f). Artificial dipoles elicit attacks and compete with food odor.</a:t>
            </a:r>
            <a:endParaRPr sz="1800">
              <a:solidFill>
                <a:schemeClr val="dk1"/>
              </a:solidFill>
              <a:latin typeface="Calibri"/>
              <a:ea typeface="Calibri"/>
              <a:cs typeface="Calibri"/>
              <a:sym typeface="Calibri"/>
            </a:endParaRPr>
          </a:p>
        </p:txBody>
      </p:sp>
      <p:sp>
        <p:nvSpPr>
          <p:cNvPr id="81" name="Google Shape;81;p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2" name="Google Shape;82;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83" name="Google Shape;83;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 name="Shape 87"/>
        <p:cNvGrpSpPr/>
        <p:nvPr/>
      </p:nvGrpSpPr>
      <p:grpSpPr>
        <a:xfrm>
          <a:off x="0" y="0"/>
          <a:ext cx="0" cy="0"/>
          <a:chOff x="0" y="0"/>
          <a:chExt cx="0" cy="0"/>
        </a:xfrm>
      </p:grpSpPr>
      <p:sp>
        <p:nvSpPr>
          <p:cNvPr id="88" name="Google Shape;88;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semi-natural arena measures shark orientation</a:t>
            </a:r>
            <a:endParaRPr sz="1800">
              <a:solidFill>
                <a:schemeClr val="dk1"/>
              </a:solidFill>
              <a:latin typeface="Calibri"/>
              <a:ea typeface="Calibri"/>
              <a:cs typeface="Calibri"/>
              <a:sym typeface="Calibri"/>
            </a:endParaRPr>
          </a:p>
        </p:txBody>
      </p:sp>
      <p:sp>
        <p:nvSpPr>
          <p:cNvPr id="89" name="Google Shape;89;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Kajiura and Holland compared juvenile scalloped hammerheads, </a:t>
            </a:r>
            <a:r>
              <a:rPr b="0" i="1" lang="en-US" sz="1400">
                <a:solidFill>
                  <a:srgbClr val="1C242C"/>
                </a:solidFill>
                <a:latin typeface="Arial"/>
                <a:ea typeface="Arial"/>
                <a:cs typeface="Arial"/>
                <a:sym typeface="Arial"/>
              </a:rPr>
              <a:t>Sphyrna lewini</a:t>
            </a:r>
            <a:r>
              <a:rPr b="0" i="0" lang="en-US" sz="1400">
                <a:solidFill>
                  <a:srgbClr val="1C242C"/>
                </a:solidFill>
                <a:latin typeface="Arial"/>
                <a:ea typeface="Arial"/>
                <a:cs typeface="Arial"/>
                <a:sym typeface="Arial"/>
              </a:rPr>
              <a:t>, with sandbar sharks, </a:t>
            </a:r>
            <a:r>
              <a:rPr b="0" i="1" lang="en-US" sz="1400">
                <a:solidFill>
                  <a:srgbClr val="1C242C"/>
                </a:solidFill>
                <a:latin typeface="Arial"/>
                <a:ea typeface="Arial"/>
                <a:cs typeface="Arial"/>
                <a:sym typeface="Arial"/>
              </a:rPr>
              <a:t>Carcharhinus plumbeus</a:t>
            </a:r>
            <a:r>
              <a:rPr b="0" i="0" lang="en-US" sz="1400">
                <a:solidFill>
                  <a:srgbClr val="1C242C"/>
                </a:solidFill>
                <a:latin typeface="Arial"/>
                <a:ea typeface="Arial"/>
                <a:cs typeface="Arial"/>
                <a:sym typeface="Arial"/>
              </a:rPr>
              <a:t>. Both species were tested in an enclosed reef habitat. Both eat bottom-associated fishes and crustaceans. They could therefore be tested on similar feeding tasks. Their head shapes differ greatly, which makes this pairing informative. Both species were juveniles at the time of testing.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An overhead camera recorded each shark crossing an acrylic electrode plate. The water was less than 0.5 m deep. Each shark was isolated from its companions during testing. Feeding odor encouraged searching and reached the sharks throughout the trials. Electric current selected which dipole was active. Feeding odor reached the sharks throughout the trials.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 course change greater than 20° or a bite marked an orientation. Calibrated video gave distance and trajectory measurements for each approach. These were measurements, not impressions from observers alone. The arena preserved natural swimming. Odor and the plate narrowed the encounter relative to unconstrained hunting in the wild. The plate constrained the approach.</a:t>
            </a:r>
            <a:endParaRPr sz="1800">
              <a:solidFill>
                <a:schemeClr val="dk1"/>
              </a:solidFill>
              <a:latin typeface="Calibri"/>
              <a:ea typeface="Calibri"/>
              <a:cs typeface="Calibri"/>
              <a:sym typeface="Calibri"/>
            </a:endParaRPr>
          </a:p>
        </p:txBody>
      </p:sp>
      <p:pic>
        <p:nvPicPr>
          <p:cNvPr id="92" name="Google Shape;92;p6"/>
          <p:cNvPicPr preferRelativeResize="0"/>
          <p:nvPr/>
        </p:nvPicPr>
        <p:blipFill rotWithShape="1">
          <a:blip r:embed="rId3">
            <a:alphaModFix/>
          </a:blip>
          <a:srcRect b="0" l="0" r="0" t="0"/>
          <a:stretch/>
        </p:blipFill>
        <p:spPr>
          <a:xfrm>
            <a:off x="6870130" y="1280071"/>
            <a:ext cx="4754760" cy="3417391"/>
          </a:xfrm>
          <a:prstGeom prst="rect">
            <a:avLst/>
          </a:prstGeom>
          <a:noFill/>
          <a:ln>
            <a:noFill/>
          </a:ln>
        </p:spPr>
      </p:pic>
      <p:sp>
        <p:nvSpPr>
          <p:cNvPr id="93" name="Google Shape;93;p6"/>
          <p:cNvSpPr/>
          <p:nvPr/>
        </p:nvSpPr>
        <p:spPr>
          <a:xfrm>
            <a:off x="6870055" y="478899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2. Shallow-water arena, camera and electrode plate.</a:t>
            </a:r>
            <a:endParaRPr sz="1800">
              <a:solidFill>
                <a:schemeClr val="dk1"/>
              </a:solidFill>
              <a:latin typeface="Calibri"/>
              <a:ea typeface="Calibri"/>
              <a:cs typeface="Calibri"/>
              <a:sym typeface="Calibri"/>
            </a:endParaRPr>
          </a:p>
        </p:txBody>
      </p:sp>
      <p:sp>
        <p:nvSpPr>
          <p:cNvPr id="94" name="Google Shape;94;p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5" name="Google Shape;95;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96" name="Google Shape;96;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 name="Shape 100"/>
        <p:cNvGrpSpPr/>
        <p:nvPr/>
      </p:nvGrpSpPr>
      <p:grpSpPr>
        <a:xfrm>
          <a:off x="0" y="0"/>
          <a:ext cx="0" cy="0"/>
          <a:chOff x="0" y="0"/>
          <a:chExt cx="0" cy="0"/>
        </a:xfrm>
      </p:grpSpPr>
      <p:sp>
        <p:nvSpPr>
          <p:cNvPr id="101" name="Google Shape;101;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Controlled dipoles separate current from target position</a:t>
            </a:r>
            <a:endParaRPr sz="1800">
              <a:solidFill>
                <a:schemeClr val="dk1"/>
              </a:solidFill>
              <a:latin typeface="Calibri"/>
              <a:ea typeface="Calibri"/>
              <a:cs typeface="Calibri"/>
              <a:sym typeface="Calibri"/>
            </a:endParaRPr>
          </a:p>
        </p:txBody>
      </p:sp>
      <p:sp>
        <p:nvSpPr>
          <p:cNvPr id="102" name="Google Shape;102;p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shark stimulus apparatus delivered a constant current of 6.0 µA through outlets 1 cm apart. A battery-powered circuit and a series ammeter controlled and monitored the stimulus. The delivered current stayed constant from one trial to the next. Four selectable dipoles moved the electrical target across the same plate.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Seawater-filled tubing kept the metal electrodes away from the swimming animal. This reduced local chemical cues. Both species bit the active dipole and ignored the inactive ones. Biting stopped when the current was switched off. The inactive pairs supplied spatial controls within the same apparatus. Repeated biting stopped at once when the current was switched off.</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Current in microamperes describes the source. Field strength in microvolts per centimeter describes the stimulus a shark actually encounters. Behavioral sensitivity depends on source geometry, seawater properties, distance, and the direction of approach. A response to the active pair alone leaves the voltage across each ampulla unspecified. The inactive dipoles were used as spatial controls.</a:t>
            </a:r>
            <a:endParaRPr sz="1800">
              <a:solidFill>
                <a:schemeClr val="dk1"/>
              </a:solidFill>
              <a:latin typeface="Calibri"/>
              <a:ea typeface="Calibri"/>
              <a:cs typeface="Calibri"/>
              <a:sym typeface="Calibri"/>
            </a:endParaRPr>
          </a:p>
        </p:txBody>
      </p:sp>
      <p:pic>
        <p:nvPicPr>
          <p:cNvPr id="105" name="Google Shape;105;p7"/>
          <p:cNvPicPr preferRelativeResize="0"/>
          <p:nvPr/>
        </p:nvPicPr>
        <p:blipFill rotWithShape="1">
          <a:blip r:embed="rId3">
            <a:alphaModFix/>
          </a:blip>
          <a:srcRect b="0" l="0" r="0" t="0"/>
          <a:stretch/>
        </p:blipFill>
        <p:spPr>
          <a:xfrm>
            <a:off x="7835955" y="1280071"/>
            <a:ext cx="2822960" cy="4297561"/>
          </a:xfrm>
          <a:prstGeom prst="rect">
            <a:avLst/>
          </a:prstGeom>
          <a:noFill/>
          <a:ln>
            <a:noFill/>
          </a:ln>
        </p:spPr>
      </p:pic>
      <p:sp>
        <p:nvSpPr>
          <p:cNvPr id="106" name="Google Shape;106;p7"/>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1. Battery-powered dipole stimulation and electrode array.</a:t>
            </a:r>
            <a:endParaRPr sz="1800">
              <a:solidFill>
                <a:schemeClr val="dk1"/>
              </a:solidFill>
              <a:latin typeface="Calibri"/>
              <a:ea typeface="Calibri"/>
              <a:cs typeface="Calibri"/>
              <a:sym typeface="Calibri"/>
            </a:endParaRPr>
          </a:p>
        </p:txBody>
      </p:sp>
      <p:sp>
        <p:nvSpPr>
          <p:cNvPr id="107" name="Google Shape;107;p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8" name="Google Shape;108;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09" name="Google Shape;109;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 name="Shape 113"/>
        <p:cNvGrpSpPr/>
        <p:nvPr/>
      </p:nvGrpSpPr>
      <p:grpSpPr>
        <a:xfrm>
          <a:off x="0" y="0"/>
          <a:ext cx="0" cy="0"/>
          <a:chOff x="0" y="0"/>
          <a:chExt cx="0" cy="0"/>
        </a:xfrm>
      </p:grpSpPr>
      <p:sp>
        <p:nvSpPr>
          <p:cNvPr id="114" name="Google Shape;114;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Hammerheads and sandbars have similar detection range</a:t>
            </a:r>
            <a:endParaRPr sz="1800">
              <a:solidFill>
                <a:schemeClr val="dk1"/>
              </a:solidFill>
              <a:latin typeface="Calibri"/>
              <a:ea typeface="Calibri"/>
              <a:cs typeface="Calibri"/>
              <a:sym typeface="Calibri"/>
            </a:endParaRPr>
          </a:p>
        </p:txBody>
      </p:sp>
      <p:sp>
        <p:nvSpPr>
          <p:cNvPr id="115" name="Google Shape;115;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Kajiura and Holland measured how far each shark was from the dipole center when it began a directed turn. Hammerheads most often oriented within 5 cm, and sandbars most often within 10 cm. The farthest orientations reached 30.6 cm and 31.6 cm. Both species reached nearly the same outer edge of detection.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Both species searched the same apparatus with the same electrode plate and source current. The dipole spacing was the same as well. Their nearly identical maximum ranges show that the broader hammerhead head did not produce a longer detection range in these juveniles. Detection range is an organism-level measure. Both species were tested under identical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Maximum range and the most frequent response distance describe different aspects of performance. A rare distant orientation is a single event. The typical response occurred at much shorter range under motivated feeding conditions. The distribution of distances carries more information than the single farthest value. The most frequent distance is the typical performance.</a:t>
            </a:r>
            <a:endParaRPr sz="1800">
              <a:solidFill>
                <a:schemeClr val="dk1"/>
              </a:solidFill>
              <a:latin typeface="Calibri"/>
              <a:ea typeface="Calibri"/>
              <a:cs typeface="Calibri"/>
              <a:sym typeface="Calibri"/>
            </a:endParaRPr>
          </a:p>
        </p:txBody>
      </p:sp>
      <p:pic>
        <p:nvPicPr>
          <p:cNvPr id="118" name="Google Shape;118;p8"/>
          <p:cNvPicPr preferRelativeResize="0"/>
          <p:nvPr/>
        </p:nvPicPr>
        <p:blipFill rotWithShape="1">
          <a:blip r:embed="rId3">
            <a:alphaModFix/>
          </a:blip>
          <a:srcRect b="0" l="0" r="0" t="0"/>
          <a:stretch/>
        </p:blipFill>
        <p:spPr>
          <a:xfrm>
            <a:off x="7397711" y="1280071"/>
            <a:ext cx="3699301" cy="4297561"/>
          </a:xfrm>
          <a:prstGeom prst="rect">
            <a:avLst/>
          </a:prstGeom>
          <a:noFill/>
          <a:ln>
            <a:noFill/>
          </a:ln>
        </p:spPr>
      </p:pic>
      <p:sp>
        <p:nvSpPr>
          <p:cNvPr id="119" name="Google Shape;119;p8"/>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5(A–B). Orientation distance distributions for both shark species.</a:t>
            </a:r>
            <a:endParaRPr sz="1800">
              <a:solidFill>
                <a:schemeClr val="dk1"/>
              </a:solidFill>
              <a:latin typeface="Calibri"/>
              <a:ea typeface="Calibri"/>
              <a:cs typeface="Calibri"/>
              <a:sym typeface="Calibri"/>
            </a:endParaRPr>
          </a:p>
        </p:txBody>
      </p:sp>
      <p:sp>
        <p:nvSpPr>
          <p:cNvPr id="120" name="Google Shape;120;p8"/>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22" name="Google Shape;122;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 name="Shape 126"/>
        <p:cNvGrpSpPr/>
        <p:nvPr/>
      </p:nvGrpSpPr>
      <p:grpSpPr>
        <a:xfrm>
          <a:off x="0" y="0"/>
          <a:ext cx="0" cy="0"/>
          <a:chOff x="0" y="0"/>
          <a:chExt cx="0" cy="0"/>
        </a:xfrm>
      </p:grpSpPr>
      <p:sp>
        <p:nvSpPr>
          <p:cNvPr id="127" name="Google Shape;127;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Encounter angle changes the detectable dipole field</a:t>
            </a:r>
            <a:endParaRPr sz="1800">
              <a:solidFill>
                <a:schemeClr val="dk1"/>
              </a:solidFill>
              <a:latin typeface="Calibri"/>
              <a:ea typeface="Calibri"/>
              <a:cs typeface="Calibri"/>
              <a:sym typeface="Calibri"/>
            </a:endParaRPr>
          </a:p>
        </p:txBody>
      </p:sp>
      <p:sp>
        <p:nvSpPr>
          <p:cNvPr id="128" name="Google Shape;128;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 dipole's field depends on direction as well as distance. Kajiura and Holland measured each shark's approach angle relative to the line joining the two outlets. Orientations began farther away at smaller angles. The relevant field component was stronger at those angles. Angle and distance together estimate the local field when an orientation began.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Hammerheads and sandbars followed this same relationship. Approaches nearer 90° required a closer encounter before an orientation began. Judging orientation distance alone would confuse receptor sensitivity with the geometry of the sampled field. Estimating the stimulus needs both the distance and the angle at once. Each shark approached from its own direction.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two species approached the source from many directions. A distant response was therefore not simply evidence of a preferred approach axis. Each approach samples the dipole from its own geometry. Swimming geometry sets how much of the field each shark receives before it turns. The angle information was recorded for each approach.</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3">
            <a:alphaModFix/>
          </a:blip>
          <a:srcRect b="0" l="0" r="0" t="0"/>
          <a:stretch/>
        </p:blipFill>
        <p:spPr>
          <a:xfrm>
            <a:off x="6870070" y="1280071"/>
            <a:ext cx="4754879" cy="3516213"/>
          </a:xfrm>
          <a:prstGeom prst="rect">
            <a:avLst/>
          </a:prstGeom>
          <a:noFill/>
          <a:ln>
            <a:noFill/>
          </a:ln>
        </p:spPr>
      </p:pic>
      <p:sp>
        <p:nvSpPr>
          <p:cNvPr id="132" name="Google Shape;132;p9"/>
          <p:cNvSpPr/>
          <p:nvPr/>
        </p:nvSpPr>
        <p:spPr>
          <a:xfrm>
            <a:off x="6870055" y="488781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6. Orientation distance depends on dipole-axis angle.</a:t>
            </a:r>
            <a:endParaRPr sz="1800">
              <a:solidFill>
                <a:schemeClr val="dk1"/>
              </a:solidFill>
              <a:latin typeface="Calibri"/>
              <a:ea typeface="Calibri"/>
              <a:cs typeface="Calibri"/>
              <a:sym typeface="Calibri"/>
            </a:endParaRPr>
          </a:p>
        </p:txBody>
      </p:sp>
      <p:sp>
        <p:nvSpPr>
          <p:cNvPr id="133" name="Google Shape;133;p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35" name="Google Shape;135;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Feeding responses occur at nanovolt gradients</a:t>
            </a:r>
            <a:endParaRPr sz="1800">
              <a:solidFill>
                <a:schemeClr val="dk1"/>
              </a:solidFill>
              <a:latin typeface="Calibri"/>
              <a:ea typeface="Calibri"/>
              <a:cs typeface="Calibri"/>
              <a:sym typeface="Calibri"/>
            </a:endParaRPr>
          </a:p>
        </p:txBody>
      </p:sp>
      <p:sp>
        <p:nvSpPr>
          <p:cNvPr id="141" name="Google Shape;141;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Kajiura and Holland converted encounter geometry into estimated field intensity at each orientation onset. About 70% of orientations in both species began below 0.1 µV/cm. Roughly 35 to 40% began below 0.01 µV/cm. The histogram shows that most orientations occurred in this weak-field range. The most sensitive responses fell below 1 nV/cm.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6.0-µA, 1-cm dipole and calibrated video supplied the common reference for these estimates. Inactive outlets and current-switching trials ruled out visible target marks. They also ruled out electrode-associated cues. The two distributions overlapped broadly despite the marked difference in head morphology. The reference stayed identical across every trial and every shark.</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 behavioral threshold is defined by an observable response criterion. It can therefore differ from the threshold of a single sensory cell. These values describe the whole animal's decision. The decision combines sensory input with motivation and movement. These values reflect the whole animal's decision, not single cells, and they depend on source modeling.</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3">
            <a:alphaModFix/>
          </a:blip>
          <a:srcRect b="0" l="0" r="0" t="0"/>
          <a:stretch/>
        </p:blipFill>
        <p:spPr>
          <a:xfrm>
            <a:off x="7357230" y="1280071"/>
            <a:ext cx="3780262" cy="4297561"/>
          </a:xfrm>
          <a:prstGeom prst="rect">
            <a:avLst/>
          </a:prstGeom>
          <a:noFill/>
          <a:ln>
            <a:noFill/>
          </a:ln>
        </p:spPr>
      </p:pic>
      <p:sp>
        <p:nvSpPr>
          <p:cNvPr id="145" name="Google Shape;145;p10"/>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8(A–B). Behavioral responses to fields below 0.1 µV/cm.</a:t>
            </a:r>
            <a:endParaRPr sz="1800">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48" name="Google Shape;148;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sp>
        <p:nvSpPr>
          <p:cNvPr id="153" name="Google Shape;153;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broad head changes the mechanics of orientation</a:t>
            </a:r>
            <a:endParaRPr sz="1800">
              <a:solidFill>
                <a:schemeClr val="dk1"/>
              </a:solidFill>
              <a:latin typeface="Calibri"/>
              <a:ea typeface="Calibri"/>
              <a:cs typeface="Calibri"/>
              <a:sym typeface="Calibri"/>
            </a:endParaRPr>
          </a:p>
        </p:txBody>
      </p:sp>
      <p:sp>
        <p:nvSpPr>
          <p:cNvPr id="154" name="Google Shape;154;p1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a:t>
            </a:r>
            <a:r>
              <a:rPr b="1" i="0" lang="en-US" sz="1400">
                <a:solidFill>
                  <a:srgbClr val="0B4F7A"/>
                </a:solidFill>
                <a:latin typeface="Arial"/>
                <a:ea typeface="Arial"/>
                <a:cs typeface="Arial"/>
                <a:sym typeface="Arial"/>
              </a:rPr>
              <a:t>cephalofoil</a:t>
            </a:r>
            <a:r>
              <a:rPr b="0" i="0" lang="en-US" sz="1400">
                <a:solidFill>
                  <a:srgbClr val="1C242C"/>
                </a:solidFill>
                <a:latin typeface="Arial"/>
                <a:ea typeface="Arial"/>
                <a:cs typeface="Arial"/>
                <a:sym typeface="Arial"/>
              </a:rPr>
              <a:t> is the laterally expanded head of a hammerhead shark. Video recorded the head position as a scalloped hammerhead turned toward the active dipole. The head edge nearest the source stayed nearly stationary. The trunk pivoted around that edge. The turn appears as a sequence of head positions in the video.</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Sandbar sharks generally followed broader arcs. Because maximum distances were similar, the different paths reflect turning mechanics rather than earlier detection. Head shape and trunk flexibility changed how a detected target was brought toward the mouth. Trunk flexibility is part of how the body reaches the target. Trunk flexibility shapes how the target reaches the mouth.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cephalofoil also samples a wider lateral search area. This can increase encounters with sources beneath the animal. Search coverage and turning mechanics are separate from receptor sensitivity. A hydrodynamic explanation fits the recorded trajectories. The head shape itself was not the only variable studied. The cephalofoil widens the sampled area on each side of the animal.</a:t>
            </a:r>
            <a:endParaRPr sz="1800">
              <a:solidFill>
                <a:schemeClr val="dk1"/>
              </a:solidFill>
              <a:latin typeface="Calibri"/>
              <a:ea typeface="Calibri"/>
              <a:cs typeface="Calibri"/>
              <a:sym typeface="Calibri"/>
            </a:endParaRPr>
          </a:p>
        </p:txBody>
      </p:sp>
      <p:pic>
        <p:nvPicPr>
          <p:cNvPr id="157" name="Google Shape;157;p11"/>
          <p:cNvPicPr preferRelativeResize="0"/>
          <p:nvPr/>
        </p:nvPicPr>
        <p:blipFill rotWithShape="1">
          <a:blip r:embed="rId3">
            <a:alphaModFix/>
          </a:blip>
          <a:srcRect b="0" l="0" r="0" t="0"/>
          <a:stretch/>
        </p:blipFill>
        <p:spPr>
          <a:xfrm>
            <a:off x="7320936" y="1280071"/>
            <a:ext cx="3853149" cy="4297561"/>
          </a:xfrm>
          <a:prstGeom prst="rect">
            <a:avLst/>
          </a:prstGeom>
          <a:noFill/>
          <a:ln>
            <a:noFill/>
          </a:ln>
        </p:spPr>
      </p:pic>
      <p:sp>
        <p:nvSpPr>
          <p:cNvPr id="158" name="Google Shape;158;p11"/>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3(A–F). A hammerhead pivots toward an electric dipole.</a:t>
            </a:r>
            <a:endParaRPr sz="1800">
              <a:solidFill>
                <a:schemeClr val="dk1"/>
              </a:solidFill>
              <a:latin typeface="Calibri"/>
              <a:ea typeface="Calibri"/>
              <a:cs typeface="Calibri"/>
              <a:sym typeface="Calibri"/>
            </a:endParaRPr>
          </a:p>
        </p:txBody>
      </p:sp>
      <p:sp>
        <p:nvSpPr>
          <p:cNvPr id="159" name="Google Shape;159;p1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61" name="Google Shape;161;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sp>
        <p:nvSpPr>
          <p:cNvPr id="166" name="Google Shape;166;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Body flexibility contributes to electrical prey capture</a:t>
            </a:r>
            <a:endParaRPr sz="1800">
              <a:solidFill>
                <a:schemeClr val="dk1"/>
              </a:solidFill>
              <a:latin typeface="Calibri"/>
              <a:ea typeface="Calibri"/>
              <a:cs typeface="Calibri"/>
              <a:sym typeface="Calibri"/>
            </a:endParaRPr>
          </a:p>
        </p:txBody>
      </p:sp>
      <p:sp>
        <p:nvSpPr>
          <p:cNvPr id="167" name="Google Shape;167;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Kajiura and Holland quantified maximum trunk flexure during feeding turns. The mean angle was 85.9° in scalloped hammerheads and 113.3° in sandbars. A smaller angle means a tighter bend. The included angle was measured directly from video. It was not inferred from the detection threshold. The posture was measured on video during each turn.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stronger flexure of hammerheads fits their rapid pivot orientations. Sandbars had broader trunks and typically used wider turning paths. The shared electrode apparatus controlled source spacing and current. These motor differences stand apart from variation in those factors. Hammerhead and sandbar trunks differed in width. Sandbars swung wider through the same apparatus.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Electroreception contributes to prey capture through a sensory-to-motor transformation. It works through the motor sequence, not through a generic response. Equal detection range can coexist with different interception performance. Trunk flexure and trajectory determine how a detected target reaches the mouth. Interception depends on the motor sequence that follows detection. A detected target still has to be reached.</a:t>
            </a:r>
            <a:endParaRPr sz="1800">
              <a:solidFill>
                <a:schemeClr val="dk1"/>
              </a:solidFill>
              <a:latin typeface="Calibri"/>
              <a:ea typeface="Calibri"/>
              <a:cs typeface="Calibri"/>
              <a:sym typeface="Calibri"/>
            </a:endParaRPr>
          </a:p>
        </p:txBody>
      </p:sp>
      <p:pic>
        <p:nvPicPr>
          <p:cNvPr id="170" name="Google Shape;170;p12"/>
          <p:cNvPicPr preferRelativeResize="0"/>
          <p:nvPr/>
        </p:nvPicPr>
        <p:blipFill rotWithShape="1">
          <a:blip r:embed="rId3">
            <a:alphaModFix/>
          </a:blip>
          <a:srcRect b="0" l="0" r="0" t="0"/>
          <a:stretch/>
        </p:blipFill>
        <p:spPr>
          <a:xfrm>
            <a:off x="6870178" y="1280071"/>
            <a:ext cx="4754664" cy="3303240"/>
          </a:xfrm>
          <a:prstGeom prst="rect">
            <a:avLst/>
          </a:prstGeom>
          <a:noFill/>
          <a:ln>
            <a:noFill/>
          </a:ln>
        </p:spPr>
      </p:pic>
      <p:sp>
        <p:nvSpPr>
          <p:cNvPr id="171" name="Google Shape;171;p12"/>
          <p:cNvSpPr/>
          <p:nvPr/>
        </p:nvSpPr>
        <p:spPr>
          <a:xfrm>
            <a:off x="6870055" y="4674840"/>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10. Body flexure differs between shark species.</a:t>
            </a:r>
            <a:endParaRPr sz="1800">
              <a:solidFill>
                <a:schemeClr val="dk1"/>
              </a:solidFill>
              <a:latin typeface="Calibri"/>
              <a:ea typeface="Calibri"/>
              <a:cs typeface="Calibri"/>
              <a:sym typeface="Calibri"/>
            </a:endParaRPr>
          </a:p>
        </p:txBody>
      </p:sp>
      <p:sp>
        <p:nvSpPr>
          <p:cNvPr id="172" name="Google Shape;172;p1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3" name="Google Shape;173;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74" name="Google Shape;174;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Skin pores connect to internal ampullary epithelia</a:t>
            </a:r>
            <a:endParaRPr sz="1800">
              <a:solidFill>
                <a:schemeClr val="dk1"/>
              </a:solidFill>
              <a:latin typeface="Calibri"/>
              <a:ea typeface="Calibri"/>
              <a:cs typeface="Calibri"/>
              <a:sym typeface="Calibri"/>
            </a:endParaRPr>
          </a:p>
        </p:txBody>
      </p:sp>
      <p:sp>
        <p:nvSpPr>
          <p:cNvPr id="180" name="Google Shape;180;p1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 </a:t>
            </a:r>
            <a:r>
              <a:rPr b="1" i="0" lang="en-US" sz="1400">
                <a:solidFill>
                  <a:srgbClr val="0B4F7A"/>
                </a:solidFill>
                <a:latin typeface="Arial"/>
                <a:ea typeface="Arial"/>
                <a:cs typeface="Arial"/>
                <a:sym typeface="Arial"/>
              </a:rPr>
              <a:t>ampullae of Lorenzini</a:t>
            </a:r>
            <a:r>
              <a:rPr b="0" i="0" lang="en-US" sz="1400">
                <a:solidFill>
                  <a:srgbClr val="1C242C"/>
                </a:solidFill>
                <a:latin typeface="Arial"/>
                <a:ea typeface="Arial"/>
                <a:cs typeface="Arial"/>
                <a:sym typeface="Arial"/>
              </a:rPr>
              <a:t> are sensory organs in which skin pores connect through jelly-filled canals. Each canal runs to an internal receptor epithelium. Bellono and colleagues examined the little skate, </a:t>
            </a:r>
            <a:r>
              <a:rPr b="0" i="1" lang="en-US" sz="1400">
                <a:solidFill>
                  <a:srgbClr val="1C242C"/>
                </a:solidFill>
                <a:latin typeface="Arial"/>
                <a:ea typeface="Arial"/>
                <a:cs typeface="Arial"/>
                <a:sym typeface="Arial"/>
              </a:rPr>
              <a:t>Leucoraja erinacea</a:t>
            </a:r>
            <a:r>
              <a:rPr b="0" i="0" lang="en-US" sz="1400">
                <a:solidFill>
                  <a:srgbClr val="1C242C"/>
                </a:solidFill>
                <a:latin typeface="Arial"/>
                <a:ea typeface="Arial"/>
                <a:cs typeface="Arial"/>
                <a:sym typeface="Arial"/>
              </a:rPr>
              <a:t>. They used canal staining, organ dissection, and recordings from individual electrosensory cells. Each canal connects a surface pore to the sensory epithelium.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Alcian Blue revealed the ventral canal network. Isolated ampullae kept short canal segments and attached afferent nerves. Afferent nerves carry sensory signals toward the brain. Dissociated receptor cells were accessible to patch-clamp electrodes. Those electrodes record membrane currents from a single cell. The isolated ampullae kept their canal and nerve connections.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 pore samples external voltage. Receptor cells convert that voltage into activity and synaptic output through released neurotransmitters. Canal anatomy explains how the signal reaches the receptor. Later measurements identify the channel that amplifies it. The receptor cell is the step at which external voltage becomes a membrane signal. The receptor cell is the step where the voltage becomes a membrane signal.</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3">
            <a:alphaModFix/>
          </a:blip>
          <a:srcRect b="0" l="0" r="0" t="0"/>
          <a:stretch/>
        </p:blipFill>
        <p:spPr>
          <a:xfrm>
            <a:off x="6870153" y="1280071"/>
            <a:ext cx="4754713" cy="1931789"/>
          </a:xfrm>
          <a:prstGeom prst="rect">
            <a:avLst/>
          </a:prstGeom>
          <a:noFill/>
          <a:ln>
            <a:noFill/>
          </a:ln>
        </p:spPr>
      </p:pic>
      <p:sp>
        <p:nvSpPr>
          <p:cNvPr id="184" name="Google Shape;184;p13"/>
          <p:cNvSpPr/>
          <p:nvPr/>
        </p:nvSpPr>
        <p:spPr>
          <a:xfrm>
            <a:off x="6870055" y="3303389"/>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1(a–d). Skate, canal network, isolated ampullae and receptor cell.</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Ampullary jelly can conduct protons in vitro</a:t>
            </a:r>
            <a:endParaRPr sz="1800">
              <a:solidFill>
                <a:schemeClr val="dk1"/>
              </a:solidFill>
              <a:latin typeface="Calibri"/>
              <a:ea typeface="Calibri"/>
              <a:cs typeface="Calibri"/>
              <a:sym typeface="Calibri"/>
            </a:endParaRPr>
          </a:p>
        </p:txBody>
      </p:sp>
      <p:sp>
        <p:nvSpPr>
          <p:cNvPr id="193" name="Google Shape;193;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Josberger and colleagues extracted ampullary jelly from sharks and skates. They measured its electrical properties with controlled electrodes and humidity. A </a:t>
            </a:r>
            <a:r>
              <a:rPr b="1" i="0" lang="en-US" sz="1400">
                <a:solidFill>
                  <a:srgbClr val="0B4F7A"/>
                </a:solidFill>
                <a:latin typeface="Arial"/>
                <a:ea typeface="Arial"/>
                <a:cs typeface="Arial"/>
                <a:sym typeface="Arial"/>
              </a:rPr>
              <a:t>proton</a:t>
            </a:r>
            <a:r>
              <a:rPr b="0" i="0" lang="en-US" sz="1400">
                <a:solidFill>
                  <a:srgbClr val="1C242C"/>
                </a:solidFill>
                <a:latin typeface="Arial"/>
                <a:ea typeface="Arial"/>
                <a:cs typeface="Arial"/>
                <a:sym typeface="Arial"/>
              </a:rPr>
              <a:t> is a hydrogen ion, H⁺. Palladium-hydride contacts injected protons. Palladium contacts restricted their transfer into the sample. Electrode choice therefore controlled how protons entered the sample. The measurement was made at controlled humidity.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At 75% relative humidity, a 1-V stimulus produced a proton-associated current peak near 250 nA. The ionic transient was about 10 nA. Four-terminal measurements gave a room-temperature proton conductivity near 2 mS/cm. Electrode comparisons distinguished charge-carrier behavior from one undifferentiated current. The ionic transient was measured separately from the proton peak.</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Water content controls charge transport in the gel. Hydration sets how easily charge moves through it. The authors proposed that proton conduction may contribute to ampullary function. The jelly would then be a candidate conductor for the signal from the pore. The proposed link runs from the pore to the receptor epithelium.</a:t>
            </a:r>
            <a:endParaRPr sz="1800">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7395621" y="1280071"/>
            <a:ext cx="3703628" cy="4297561"/>
          </a:xfrm>
          <a:prstGeom prst="rect">
            <a:avLst/>
          </a:prstGeom>
          <a:noFill/>
          <a:ln>
            <a:noFill/>
          </a:ln>
        </p:spPr>
      </p:pic>
      <p:sp>
        <p:nvSpPr>
          <p:cNvPr id="197" name="Google Shape;197;p14"/>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Josberger et al. (2016), Fig. 2(A–F). Electrode controls and proton conductivity measurements.</a:t>
            </a:r>
            <a:endParaRPr sz="1800">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Josberger et al. (2016)</a:t>
            </a:r>
            <a:endParaRPr sz="1800">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Jelly chemistry supports a conductive hydrogel</a:t>
            </a:r>
            <a:endParaRPr sz="1800">
              <a:solidFill>
                <a:schemeClr val="dk1"/>
              </a:solidFill>
              <a:latin typeface="Calibri"/>
              <a:ea typeface="Calibri"/>
              <a:cs typeface="Calibri"/>
              <a:sym typeface="Calibri"/>
            </a:endParaRPr>
          </a:p>
        </p:txBody>
      </p:sp>
      <p:sp>
        <p:nvSpPr>
          <p:cNvPr id="206" name="Google Shape;206;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Josberger and colleagues characterized the jelly as a </a:t>
            </a:r>
            <a:r>
              <a:rPr b="1" i="0" lang="en-US" sz="1400">
                <a:solidFill>
                  <a:srgbClr val="0B4F7A"/>
                </a:solidFill>
                <a:latin typeface="Arial"/>
                <a:ea typeface="Arial"/>
                <a:cs typeface="Arial"/>
                <a:sym typeface="Arial"/>
              </a:rPr>
              <a:t>hydrogel</a:t>
            </a:r>
            <a:r>
              <a:rPr b="0" i="0" lang="en-US" sz="1400">
                <a:solidFill>
                  <a:srgbClr val="1C242C"/>
                </a:solidFill>
                <a:latin typeface="Arial"/>
                <a:ea typeface="Arial"/>
                <a:cs typeface="Arial"/>
                <a:sym typeface="Arial"/>
              </a:rPr>
              <a:t>, a hydrated polymer network. Prepared samples contained about 97% water. Drying reduced sample volume by about 80%. Hydration is therefore central to the jelly's electrical behavior. Hydrogels hold large amounts of water in a polymer network. Hydration was measured directly in the prepared samples.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Chemical analyses identified sugars and sulfate-containing components. These were consistent with keratan sulfate, a sulfated carbohydrate polymer. Sulfate groups can donate protons within a hydrated network. That is a possible material basis for the measured conduction. Infrared measurements identified the sulfate groups in the same samples. Sugars were identified in the same analyses.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Chemical composition and electrical measurement support a conductive matrix in the canal. Membrane ion-channel amplification in receptor cells is a separate step. The jelly and the receptor cells each contribute a different part of the signal. The matrix is the conductor, and the receptor is the amplifier. Hydration makes the matrix conductive in this model.</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8114570" y="1280071"/>
            <a:ext cx="2265730" cy="4297561"/>
          </a:xfrm>
          <a:prstGeom prst="rect">
            <a:avLst/>
          </a:prstGeom>
          <a:noFill/>
          <a:ln>
            <a:noFill/>
          </a:ln>
        </p:spPr>
      </p:pic>
      <p:sp>
        <p:nvSpPr>
          <p:cNvPr id="210" name="Google Shape;210;p15"/>
          <p:cNvSpPr/>
          <p:nvPr/>
        </p:nvSpPr>
        <p:spPr>
          <a:xfrm>
            <a:off x="6870055" y="5669161"/>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Josberger et al. (2016), Fig. 3(A–C). Chemical analyses of ampullary jelly.</a:t>
            </a:r>
            <a:endParaRPr sz="1800">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Josberger et al. (2016)</a:t>
            </a:r>
            <a:endParaRPr sz="1800">
              <a:solidFill>
                <a:schemeClr val="dk1"/>
              </a:solidFill>
              <a:latin typeface="Calibri"/>
              <a:ea typeface="Calibri"/>
              <a:cs typeface="Calibri"/>
              <a:sym typeface="Calibri"/>
            </a:endParaRPr>
          </a:p>
        </p:txBody>
      </p:sp>
      <p:sp>
        <p:nvSpPr>
          <p:cNvPr id="213" name="Google Shape;213;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6"/>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An isolated ampulla separates epithelial and nerve signals</a:t>
            </a:r>
            <a:endParaRPr sz="1800">
              <a:solidFill>
                <a:schemeClr val="dk1"/>
              </a:solidFill>
              <a:latin typeface="Calibri"/>
              <a:ea typeface="Calibri"/>
              <a:cs typeface="Calibri"/>
              <a:sym typeface="Calibri"/>
            </a:endParaRPr>
          </a:p>
        </p:txBody>
      </p:sp>
      <p:sp>
        <p:nvSpPr>
          <p:cNvPr id="219" name="Google Shape;219;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Clusin and Bennett isolated skate ampullae with canals and afferent nerves still attached. Separate saline compartments allowed current and voltage to be measured across the receptor epithelium. A salt bridge shunted the canal. It kept transampullary voltage near its resting operating range. The preparation kept the nerve attached throughout. The shunt sets the operating load.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Current delivered between the compartments imposed small voltage stimuli. The animal did not need to swim freely for this. The investigators recorded epithelial current and the postsynaptic nerve response at the same time. Changing the shunt altered the electrical load. Spontaneous activity could then be told apart from stimulus-induced output.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 preparation links an external electrical perturbation to receptor-organ current. It also links that perturbation to a neural response. Single-cell recordings add channel-level evidence about the conductances that build this response. The organ-level result connects the external voltage to the nerve response in one preparation. Single-cell recordings add to that link.</a:t>
            </a:r>
            <a:endParaRPr sz="1800">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3">
            <a:alphaModFix/>
          </a:blip>
          <a:srcRect b="0" l="0" r="0" t="0"/>
          <a:stretch/>
        </p:blipFill>
        <p:spPr>
          <a:xfrm>
            <a:off x="6870192" y="1280071"/>
            <a:ext cx="4754636" cy="1781324"/>
          </a:xfrm>
          <a:prstGeom prst="rect">
            <a:avLst/>
          </a:prstGeom>
          <a:noFill/>
          <a:ln>
            <a:noFill/>
          </a:ln>
        </p:spPr>
      </p:pic>
      <p:sp>
        <p:nvSpPr>
          <p:cNvPr id="223" name="Google Shape;223;p16"/>
          <p:cNvSpPr/>
          <p:nvPr/>
        </p:nvSpPr>
        <p:spPr>
          <a:xfrm>
            <a:off x="6870055" y="315292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Clusin &amp; Bennett (1979), Fig. 1. Isolated ampulla, canal and recording compartments.</a:t>
            </a:r>
            <a:endParaRPr sz="1800">
              <a:solidFill>
                <a:schemeClr val="dk1"/>
              </a:solidFill>
              <a:latin typeface="Calibri"/>
              <a:ea typeface="Calibri"/>
              <a:cs typeface="Calibri"/>
              <a:sym typeface="Calibri"/>
            </a:endParaRPr>
          </a:p>
        </p:txBody>
      </p:sp>
      <p:sp>
        <p:nvSpPr>
          <p:cNvPr id="224" name="Google Shape;224;p1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5" name="Google Shape;225;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Clusin &amp; Bennett (1979)</a:t>
            </a:r>
            <a:endParaRPr sz="1800">
              <a:solidFill>
                <a:schemeClr val="dk1"/>
              </a:solidFill>
              <a:latin typeface="Calibri"/>
              <a:ea typeface="Calibri"/>
              <a:cs typeface="Calibri"/>
              <a:sym typeface="Calibri"/>
            </a:endParaRPr>
          </a:p>
        </p:txBody>
      </p:sp>
      <p:sp>
        <p:nvSpPr>
          <p:cNvPr id="226" name="Google Shape;226;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 name="Shape 230"/>
        <p:cNvGrpSpPr/>
        <p:nvPr/>
      </p:nvGrpSpPr>
      <p:grpSpPr>
        <a:xfrm>
          <a:off x="0" y="0"/>
          <a:ext cx="0" cy="0"/>
          <a:chOff x="0" y="0"/>
          <a:chExt cx="0" cy="0"/>
        </a:xfrm>
      </p:grpSpPr>
      <p:sp>
        <p:nvSpPr>
          <p:cNvPr id="231" name="Google Shape;231;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Stimulus polarity changes synaptic drive to afferents</a:t>
            </a:r>
            <a:endParaRPr sz="1800">
              <a:solidFill>
                <a:schemeClr val="dk1"/>
              </a:solidFill>
              <a:latin typeface="Calibri"/>
              <a:ea typeface="Calibri"/>
              <a:cs typeface="Calibri"/>
              <a:sym typeface="Calibri"/>
            </a:endParaRPr>
          </a:p>
        </p:txBody>
      </p:sp>
      <p:sp>
        <p:nvSpPr>
          <p:cNvPr id="232" name="Google Shape;232;p1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Clusin and Bennett applied small voltage steps to a shunted skate ampulla. A lumen-negative stimulus of 5 µV depolarized the postsynaptic nerve, while a lumen-positive stimulus of 10 µV hyperpolarized it. Depolarization makes membrane voltage less negative, and hyperpolarization makes it more negative. Both stimuli were delivered to the same preparation, with the nerve recorded in the same compartment.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Tetrodotoxin at 0.1 µM abolished postsynaptic action potentials, which exposed the underlying synaptic response. Small stimuli changed nerve potential without a comparably large change in total epithelial current. The organ therefore transmitted changes far smaller than ordinary membrane-voltage excursions. Those small signals were carried by synaptic drive from the receptor epithelium.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Opposite response signs constrain how the receptor converts an environmental voltage into afferent drive. Tetrodotoxin isolates sodium-dependent spikes from the synaptic potential that precedes them. The released transmitter is identified separately from the sign of the response. The response sign reflects the direction of the voltage step relative to the lumen.</a:t>
            </a:r>
            <a:endParaRPr sz="1800">
              <a:solidFill>
                <a:schemeClr val="dk1"/>
              </a:solidFill>
              <a:latin typeface="Calibri"/>
              <a:ea typeface="Calibri"/>
              <a:cs typeface="Calibri"/>
              <a:sym typeface="Calibri"/>
            </a:endParaRPr>
          </a:p>
        </p:txBody>
      </p:sp>
      <p:pic>
        <p:nvPicPr>
          <p:cNvPr id="235" name="Google Shape;235;p17"/>
          <p:cNvPicPr preferRelativeResize="0"/>
          <p:nvPr/>
        </p:nvPicPr>
        <p:blipFill rotWithShape="1">
          <a:blip r:embed="rId3">
            <a:alphaModFix/>
          </a:blip>
          <a:srcRect b="0" l="0" r="0" t="0"/>
          <a:stretch/>
        </p:blipFill>
        <p:spPr>
          <a:xfrm>
            <a:off x="6870141" y="1280071"/>
            <a:ext cx="4754738" cy="2440632"/>
          </a:xfrm>
          <a:prstGeom prst="rect">
            <a:avLst/>
          </a:prstGeom>
          <a:noFill/>
          <a:ln>
            <a:noFill/>
          </a:ln>
        </p:spPr>
      </p:pic>
      <p:sp>
        <p:nvSpPr>
          <p:cNvPr id="236" name="Google Shape;236;p17"/>
          <p:cNvSpPr/>
          <p:nvPr/>
        </p:nvSpPr>
        <p:spPr>
          <a:xfrm>
            <a:off x="6870055" y="381223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Clusin &amp; Bennett (1979), Fig. 3(A–D). Opposite stimulus polarities alter postsynaptic potential.</a:t>
            </a:r>
            <a:endParaRPr sz="1800">
              <a:solidFill>
                <a:schemeClr val="dk1"/>
              </a:solidFill>
              <a:latin typeface="Calibri"/>
              <a:ea typeface="Calibri"/>
              <a:cs typeface="Calibri"/>
              <a:sym typeface="Calibri"/>
            </a:endParaRPr>
          </a:p>
        </p:txBody>
      </p:sp>
      <p:sp>
        <p:nvSpPr>
          <p:cNvPr id="237" name="Google Shape;237;p1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8" name="Google Shape;238;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Clusin &amp; Bennett (1979)</a:t>
            </a:r>
            <a:endParaRPr sz="1800">
              <a:solidFill>
                <a:schemeClr val="dk1"/>
              </a:solidFill>
              <a:latin typeface="Calibri"/>
              <a:ea typeface="Calibri"/>
              <a:cs typeface="Calibri"/>
              <a:sym typeface="Calibri"/>
            </a:endParaRPr>
          </a:p>
        </p:txBody>
      </p:sp>
      <p:sp>
        <p:nvSpPr>
          <p:cNvPr id="239" name="Google Shape;239;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 name="Shape 243"/>
        <p:cNvGrpSpPr/>
        <p:nvPr/>
      </p:nvGrpSpPr>
      <p:grpSpPr>
        <a:xfrm>
          <a:off x="0" y="0"/>
          <a:ext cx="0" cy="0"/>
          <a:chOff x="0" y="0"/>
          <a:chExt cx="0" cy="0"/>
        </a:xfrm>
      </p:grpSpPr>
      <p:sp>
        <p:nvSpPr>
          <p:cNvPr id="244" name="Google Shape;244;p18"/>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The receptor epithelium generates spontaneous oscillations</a:t>
            </a:r>
            <a:endParaRPr sz="1800">
              <a:solidFill>
                <a:schemeClr val="dk1"/>
              </a:solidFill>
              <a:latin typeface="Calibri"/>
              <a:ea typeface="Calibri"/>
              <a:cs typeface="Calibri"/>
              <a:sym typeface="Calibri"/>
            </a:endParaRPr>
          </a:p>
        </p:txBody>
      </p:sp>
      <p:sp>
        <p:nvSpPr>
          <p:cNvPr id="245" name="Google Shape;245;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A </a:t>
            </a:r>
            <a:r>
              <a:rPr b="1" i="0" lang="en-US" sz="1400">
                <a:solidFill>
                  <a:srgbClr val="0B4F7A"/>
                </a:solidFill>
                <a:latin typeface="Arial"/>
                <a:ea typeface="Arial"/>
                <a:cs typeface="Arial"/>
                <a:sym typeface="Arial"/>
              </a:rPr>
              <a:t>membrane oscillation</a:t>
            </a:r>
            <a:r>
              <a:rPr b="0" i="0" lang="en-US" sz="1400">
                <a:solidFill>
                  <a:srgbClr val="1C242C"/>
                </a:solidFill>
                <a:latin typeface="Arial"/>
                <a:ea typeface="Arial"/>
                <a:cs typeface="Arial"/>
                <a:sym typeface="Arial"/>
              </a:rPr>
              <a:t> is a repeated fluctuation in electrical activity. Clusin and Bennett recorded small spontaneous currents in shunted skate ampullae. Their frequencies lay between roughly 1 and 8 Hz under the reported conditions. No deliberate sensory stimulus was applied. The oscillation appeared in the epithelium by itself. No deliberate sensory stimulus was applied.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Lifting the salt bridge interrupted canal current and exposed the organ's steady receptor current. Comparing shunted and unshunted conditions isolated the small oscillatory component. That component is separate from the larger tonic current. These results establish endogenous epithelial activity. The activity is not movement-induced fluctuation in a swimming animal. The tonic current is the steady component.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Oscillations provide a time-varying presynaptic state on which weak signals can act. Later single-cell experiments examined calcium and potassium currents as candidate generators. Intact epithelial measurements combine many cells. The recorded oscillation is therefore an average over the organ. The recordings reflect many cells together. Such combined signals average over many cells. Single-cell tests were later added.</a:t>
            </a:r>
            <a:endParaRPr sz="1800">
              <a:solidFill>
                <a:schemeClr val="dk1"/>
              </a:solidFill>
              <a:latin typeface="Calibri"/>
              <a:ea typeface="Calibri"/>
              <a:cs typeface="Calibri"/>
              <a:sym typeface="Calibri"/>
            </a:endParaRPr>
          </a:p>
        </p:txBody>
      </p:sp>
      <p:pic>
        <p:nvPicPr>
          <p:cNvPr id="248" name="Google Shape;248;p18"/>
          <p:cNvPicPr preferRelativeResize="0"/>
          <p:nvPr/>
        </p:nvPicPr>
        <p:blipFill rotWithShape="1">
          <a:blip r:embed="rId3">
            <a:alphaModFix/>
          </a:blip>
          <a:srcRect b="0" l="0" r="0" t="0"/>
          <a:stretch/>
        </p:blipFill>
        <p:spPr>
          <a:xfrm>
            <a:off x="6870129" y="1280071"/>
            <a:ext cx="4754761" cy="2207568"/>
          </a:xfrm>
          <a:prstGeom prst="rect">
            <a:avLst/>
          </a:prstGeom>
          <a:noFill/>
          <a:ln>
            <a:noFill/>
          </a:ln>
        </p:spPr>
      </p:pic>
      <p:sp>
        <p:nvSpPr>
          <p:cNvPr id="249" name="Google Shape;249;p18"/>
          <p:cNvSpPr/>
          <p:nvPr/>
        </p:nvSpPr>
        <p:spPr>
          <a:xfrm>
            <a:off x="6870055" y="357916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Clusin &amp; Bennett (1979), Fig. 2(A1–A3, B–E). Spontaneous epithelial currents and oscillations.</a:t>
            </a:r>
            <a:endParaRPr sz="1800">
              <a:solidFill>
                <a:schemeClr val="dk1"/>
              </a:solidFill>
              <a:latin typeface="Calibri"/>
              <a:ea typeface="Calibri"/>
              <a:cs typeface="Calibri"/>
              <a:sym typeface="Calibri"/>
            </a:endParaRPr>
          </a:p>
        </p:txBody>
      </p:sp>
      <p:sp>
        <p:nvSpPr>
          <p:cNvPr id="250" name="Google Shape;250;p18"/>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Clusin &amp; Bennett (1979)</a:t>
            </a:r>
            <a:endParaRPr sz="1800">
              <a:solidFill>
                <a:schemeClr val="dk1"/>
              </a:solidFill>
              <a:latin typeface="Calibri"/>
              <a:ea typeface="Calibri"/>
              <a:cs typeface="Calibri"/>
              <a:sym typeface="Calibri"/>
            </a:endParaRPr>
          </a:p>
        </p:txBody>
      </p:sp>
      <p:sp>
        <p:nvSpPr>
          <p:cNvPr id="252" name="Google Shape;252;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Afferent spikes encode electric-field phase</a:t>
            </a:r>
            <a:endParaRPr sz="1800">
              <a:solidFill>
                <a:schemeClr val="dk1"/>
              </a:solidFill>
              <a:latin typeface="Calibri"/>
              <a:ea typeface="Calibri"/>
              <a:cs typeface="Calibri"/>
              <a:sym typeface="Calibri"/>
            </a:endParaRPr>
          </a:p>
        </p:txBody>
      </p:sp>
      <p:sp>
        <p:nvSpPr>
          <p:cNvPr id="258" name="Google Shape;258;p1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 </a:t>
            </a:r>
            <a:r>
              <a:rPr b="1" i="0" lang="en-US" sz="1400">
                <a:solidFill>
                  <a:srgbClr val="0B4F7A"/>
                </a:solidFill>
                <a:latin typeface="Arial"/>
                <a:ea typeface="Arial"/>
                <a:cs typeface="Arial"/>
                <a:sym typeface="Arial"/>
              </a:rPr>
              <a:t>primary afferent</a:t>
            </a:r>
            <a:r>
              <a:rPr b="0" i="0" lang="en-US" sz="1400">
                <a:solidFill>
                  <a:srgbClr val="1C242C"/>
                </a:solidFill>
                <a:latin typeface="Arial"/>
                <a:ea typeface="Arial"/>
                <a:cs typeface="Arial"/>
                <a:sym typeface="Arial"/>
              </a:rPr>
              <a:t> is a sensory neuron that carries receptor output toward the central nervous system. Tricas and New recorded these neurons in immobilized round stingrays, </a:t>
            </a:r>
            <a:r>
              <a:rPr b="0" i="1" lang="en-US" sz="1400">
                <a:solidFill>
                  <a:srgbClr val="1C242C"/>
                </a:solidFill>
                <a:latin typeface="Arial"/>
                <a:ea typeface="Arial"/>
                <a:cs typeface="Arial"/>
                <a:sym typeface="Arial"/>
              </a:rPr>
              <a:t>Urolophus halleri</a:t>
            </a:r>
            <a:r>
              <a:rPr b="0" i="0" lang="en-US" sz="1400">
                <a:solidFill>
                  <a:srgbClr val="1C242C"/>
                </a:solidFill>
                <a:latin typeface="Arial"/>
                <a:ea typeface="Arial"/>
                <a:cs typeface="Arial"/>
                <a:sym typeface="Arial"/>
              </a:rPr>
              <a:t>. Uniform electric fields were applied across the body. Artificial ventilation maintained breathing. The sensory and motor branches were cut to keep body movement from adding stimulation.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 1-Hz sinusoid modulated a regular resting spike train. Raising peak-to-peak intensity from 0.05 to 0.26 µV/cm increased firing during one phase. The same increase progressively silenced the neuron during the opposite phase. Period histograms aligned spikes to each stimulus cycle. Firing stayed regular before the field was applied. The baseline firing stayed regular.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Phase-dependent increases and decreases carry directional electrical information relative to spontaneous activity. At stronger stimulation, pauses can become complete. Firing in the excitatory phase stays high during those pauses. The spike train therefore carries the sign of the field as well as its strength. The sign of the field is carried by the spike train.</a:t>
            </a:r>
            <a:endParaRPr sz="1800">
              <a:solidFill>
                <a:schemeClr val="dk1"/>
              </a:solidFill>
              <a:latin typeface="Calibri"/>
              <a:ea typeface="Calibri"/>
              <a:cs typeface="Calibri"/>
              <a:sym typeface="Calibri"/>
            </a:endParaRPr>
          </a:p>
        </p:txBody>
      </p:sp>
      <p:pic>
        <p:nvPicPr>
          <p:cNvPr id="261" name="Google Shape;261;p19"/>
          <p:cNvPicPr preferRelativeResize="0"/>
          <p:nvPr/>
        </p:nvPicPr>
        <p:blipFill rotWithShape="1">
          <a:blip r:embed="rId3">
            <a:alphaModFix/>
          </a:blip>
          <a:srcRect b="0" l="0" r="0" t="0"/>
          <a:stretch/>
        </p:blipFill>
        <p:spPr>
          <a:xfrm>
            <a:off x="8061616" y="1280071"/>
            <a:ext cx="2371639" cy="2925961"/>
          </a:xfrm>
          <a:prstGeom prst="rect">
            <a:avLst/>
          </a:prstGeom>
          <a:noFill/>
          <a:ln>
            <a:noFill/>
          </a:ln>
        </p:spPr>
      </p:pic>
      <p:sp>
        <p:nvSpPr>
          <p:cNvPr id="262" name="Google Shape;262;p19"/>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2(A–C). Resting firing and phase-dependent afferent modulation.</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264" name="Google Shape;264;p19"/>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265" name="Google Shape;265;p1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6" name="Google Shape;266;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267" name="Google Shape;267;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 name="Shape 271"/>
        <p:cNvGrpSpPr/>
        <p:nvPr/>
      </p:nvGrpSpPr>
      <p:grpSpPr>
        <a:xfrm>
          <a:off x="0" y="0"/>
          <a:ext cx="0" cy="0"/>
          <a:chOff x="0" y="0"/>
          <a:chExt cx="0" cy="0"/>
        </a:xfrm>
      </p:grpSpPr>
      <p:sp>
        <p:nvSpPr>
          <p:cNvPr id="272" name="Google Shape;272;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Near-threshold afferents have different response gains</a:t>
            </a:r>
            <a:endParaRPr sz="1800">
              <a:solidFill>
                <a:schemeClr val="dk1"/>
              </a:solidFill>
              <a:latin typeface="Calibri"/>
              <a:ea typeface="Calibri"/>
              <a:cs typeface="Calibri"/>
              <a:sym typeface="Calibri"/>
            </a:endParaRPr>
          </a:p>
        </p:txBody>
      </p:sp>
      <p:sp>
        <p:nvSpPr>
          <p:cNvPr id="273" name="Google Shape;273;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B4F7A"/>
              </a:buClr>
              <a:buSzPts val="1600"/>
              <a:buFont typeface="Arial"/>
              <a:buNone/>
            </a:pPr>
            <a:r>
              <a:rPr b="1" i="0" lang="en-US" sz="1400">
                <a:solidFill>
                  <a:srgbClr val="0B4F7A"/>
                </a:solidFill>
                <a:latin typeface="Arial"/>
                <a:ea typeface="Arial"/>
                <a:cs typeface="Arial"/>
                <a:sym typeface="Arial"/>
              </a:rPr>
              <a:t>Gain</a:t>
            </a:r>
            <a:r>
              <a:rPr b="0" i="0" lang="en-US" sz="1400">
                <a:solidFill>
                  <a:srgbClr val="1C242C"/>
                </a:solidFill>
                <a:latin typeface="Arial"/>
                <a:ea typeface="Arial"/>
                <a:cs typeface="Arial"/>
                <a:sym typeface="Arial"/>
              </a:rPr>
              <a:t> describes how strongly a neural response changes for a change in stimulus intensity. Tricas and New measured peak firing and resting firing while increasing a 1-Hz electric field. Different afferents had markedly different rate to intensity relationships. The same general preparation produced these differences. Gain varied from one unit to the next.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B4F7A"/>
              </a:buClr>
              <a:buSzPts val="1600"/>
              <a:buFont typeface="Arial"/>
              <a:buNone/>
            </a:pPr>
            <a:r>
              <a:rPr b="0" i="0" lang="en-US" sz="1400">
                <a:solidFill>
                  <a:srgbClr val="1C242C"/>
                </a:solidFill>
                <a:latin typeface="Arial"/>
                <a:ea typeface="Arial"/>
                <a:cs typeface="Arial"/>
                <a:sym typeface="Arial"/>
              </a:rPr>
              <a:t>A high-gain afferent reached strong modulation near 0.5 µV/cm. Lower-gain units needed larger gradients. The most sensitive afferents encoded peak gradients of about 20 nV/cm or less. Measuring the local field instead of the source current linked neural sensitivity to the stimulus the animal encountered. The lower-gain units needed larger gradients to modulate.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B4F7A"/>
              </a:buClr>
              <a:buSzPts val="1600"/>
              <a:buFont typeface="Arial"/>
              <a:buNone/>
            </a:pPr>
            <a:r>
              <a:rPr b="0" i="0" lang="en-US" sz="1400">
                <a:solidFill>
                  <a:srgbClr val="1C242C"/>
                </a:solidFill>
                <a:latin typeface="Arial"/>
                <a:ea typeface="Arial"/>
                <a:cs typeface="Arial"/>
                <a:sym typeface="Arial"/>
              </a:rPr>
              <a:t>Higher sensitivity at weak fields comes with earlier saturation. An afferent can reach a saturated response before another neuron becomes strongly modulated. A population with diverse gains may therefore cover detection and intensity over different ranges. Diversity of gains can spread responses across field strengths. A single afferent covers only part of that range.</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3">
            <a:alphaModFix/>
          </a:blip>
          <a:srcRect b="0" l="0" r="0" t="0"/>
          <a:stretch/>
        </p:blipFill>
        <p:spPr>
          <a:xfrm>
            <a:off x="7873358" y="1280071"/>
            <a:ext cx="2748155" cy="2925961"/>
          </a:xfrm>
          <a:prstGeom prst="rect">
            <a:avLst/>
          </a:prstGeom>
          <a:noFill/>
          <a:ln>
            <a:noFill/>
          </a:ln>
        </p:spPr>
      </p:pic>
      <p:sp>
        <p:nvSpPr>
          <p:cNvPr id="277" name="Google Shape;277;p20"/>
          <p:cNvSpPr/>
          <p:nvPr/>
        </p:nvSpPr>
        <p:spPr>
          <a:xfrm>
            <a:off x="6870055" y="4297561"/>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5. Rate–intensity curves span distinct afferent gains.</a:t>
            </a:r>
            <a:endParaRPr sz="1800">
              <a:solidFill>
                <a:schemeClr val="dk1"/>
              </a:solidFill>
              <a:latin typeface="Calibri"/>
              <a:ea typeface="Calibri"/>
              <a:cs typeface="Calibri"/>
              <a:sym typeface="Calibri"/>
            </a:endParaRPr>
          </a:p>
        </p:txBody>
      </p:sp>
      <p:pic>
        <p:nvPicPr>
          <p:cNvPr id="278" name="Google Shape;278;p20"/>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279" name="Google Shape;279;p20"/>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280" name="Google Shape;280;p2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282" name="Google Shape;282;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Saturation limits rate-based intensity encoding</a:t>
            </a:r>
            <a:endParaRPr sz="1800">
              <a:solidFill>
                <a:schemeClr val="dk1"/>
              </a:solidFill>
              <a:latin typeface="Calibri"/>
              <a:ea typeface="Calibri"/>
              <a:cs typeface="Calibri"/>
              <a:sym typeface="Calibri"/>
            </a:endParaRPr>
          </a:p>
        </p:txBody>
      </p:sp>
      <p:sp>
        <p:nvSpPr>
          <p:cNvPr id="288" name="Google Shape;288;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Tricas and New calculated local slopes of each rate to intensity curve across successive stimulus intervals. The most sensitive example kept a steep response only over the weakest range. It then lost incremental gain as intensity rose. The steepest part of the curve belongs to the weakest intensities. Lower-gain afferents declined over other operating ranges.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For many units, peak-rate encoding was lost below 1 µV/cm. Peak firing roughly doubled the resting discharge at that point. Inhibitory phases were clipped at zero spikes. A physical increase in the field therefore produced no proportional increase in available rate modulation. The resting discharge set the reference for this doubling.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1" i="0" lang="en-US" sz="1400">
                <a:solidFill>
                  <a:srgbClr val="0B4F7A"/>
                </a:solidFill>
                <a:latin typeface="Arial"/>
                <a:ea typeface="Arial"/>
                <a:cs typeface="Arial"/>
                <a:sym typeface="Arial"/>
              </a:rPr>
              <a:t>Saturation</a:t>
            </a:r>
            <a:r>
              <a:rPr b="0" i="0" lang="en-US" sz="1400">
                <a:solidFill>
                  <a:srgbClr val="1C242C"/>
                </a:solidFill>
                <a:latin typeface="Arial"/>
                <a:ea typeface="Arial"/>
                <a:cs typeface="Arial"/>
                <a:sym typeface="Arial"/>
              </a:rPr>
              <a:t> means a response approaches a limit despite continued stimulus increase. It constrains what one afferent can report about source strength. Temporal information and population activity remain available to the brain. The brain receives the spike train from each afferent. Each afferent contributes one stream of spikes. Population activity can still carry information.</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3">
            <a:alphaModFix/>
          </a:blip>
          <a:srcRect b="0" l="0" r="0" t="0"/>
          <a:stretch/>
        </p:blipFill>
        <p:spPr>
          <a:xfrm>
            <a:off x="7537174" y="1280071"/>
            <a:ext cx="3420673" cy="2925961"/>
          </a:xfrm>
          <a:prstGeom prst="rect">
            <a:avLst/>
          </a:prstGeom>
          <a:noFill/>
          <a:ln>
            <a:noFill/>
          </a:ln>
        </p:spPr>
      </p:pic>
      <p:sp>
        <p:nvSpPr>
          <p:cNvPr id="292" name="Google Shape;292;p21"/>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6. Incremental sensitivity falls as stimulus strength increases.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294" name="Google Shape;294;p21"/>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Frequency and intensity interact in afferent responses</a:t>
            </a:r>
            <a:endParaRPr sz="1800">
              <a:solidFill>
                <a:schemeClr val="dk1"/>
              </a:solidFill>
              <a:latin typeface="Calibri"/>
              <a:ea typeface="Calibri"/>
              <a:cs typeface="Calibri"/>
              <a:sym typeface="Calibri"/>
            </a:endParaRPr>
          </a:p>
        </p:txBody>
      </p:sp>
      <p:sp>
        <p:nvSpPr>
          <p:cNvPr id="303" name="Google Shape;303;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Tricas and New varied both sinusoidal frequency and field intensity for individual round-stingray afferents. A period histogram groups spikes by their position within one stimulus cycle. That distinguishes temporal locking from overall spontaneous discharge. The response matrix covers each frequency and field intensity for the same unit. The matrix was measured for the same unit across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response matrix covered frequencies from 0.05 to 20 Hz and fields from 0.08 to 0.51 µV/cm. A representative unit was most sensitive near 1 Hz. About 0.08 µV/cm produced weak modulation there. About 0.4 µV/cm produced full modulation. Near threshold, a weak field at this frequency was enough to modulate firing.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Frequency selectivity depends on the response range used to measure it. Strong signals can saturate firing at favored frequencies. That hides differences that are visible near threshold. These recordings link receptor output to slow natural electrical fluctuations. Strong fields can hide these near-threshold differences. The recordings describe afferent tuning in this species.</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7158309" y="1280071"/>
            <a:ext cx="4178253" cy="2925961"/>
          </a:xfrm>
          <a:prstGeom prst="rect">
            <a:avLst/>
          </a:prstGeom>
          <a:noFill/>
          <a:ln>
            <a:noFill/>
          </a:ln>
        </p:spPr>
      </p:pic>
      <p:sp>
        <p:nvSpPr>
          <p:cNvPr id="307" name="Google Shape;307;p22"/>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7. Frequency and amplitude jointly determine afferent discharge.</a:t>
            </a:r>
            <a:endParaRPr sz="1800">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09" name="Google Shape;309;p22"/>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Sustained fields evoke adapting neural responses</a:t>
            </a:r>
            <a:endParaRPr sz="1800">
              <a:solidFill>
                <a:schemeClr val="dk1"/>
              </a:solidFill>
              <a:latin typeface="Calibri"/>
              <a:ea typeface="Calibri"/>
              <a:cs typeface="Calibri"/>
              <a:sym typeface="Calibri"/>
            </a:endParaRPr>
          </a:p>
        </p:txBody>
      </p:sp>
      <p:sp>
        <p:nvSpPr>
          <p:cNvPr id="318" name="Google Shape;318;p2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B4F7A"/>
              </a:buClr>
              <a:buSzPts val="1600"/>
              <a:buFont typeface="Arial"/>
              <a:buNone/>
            </a:pPr>
            <a:r>
              <a:rPr b="1" i="0" lang="en-US" sz="1500">
                <a:solidFill>
                  <a:srgbClr val="0B4F7A"/>
                </a:solidFill>
                <a:latin typeface="Arial"/>
                <a:ea typeface="Arial"/>
                <a:cs typeface="Arial"/>
                <a:sym typeface="Arial"/>
              </a:rPr>
              <a:t>Adaptation</a:t>
            </a:r>
            <a:r>
              <a:rPr b="0" i="0" lang="en-US" sz="1500">
                <a:solidFill>
                  <a:srgbClr val="1C242C"/>
                </a:solidFill>
                <a:latin typeface="Arial"/>
                <a:ea typeface="Arial"/>
                <a:cs typeface="Arial"/>
                <a:sym typeface="Arial"/>
              </a:rPr>
              <a:t> is a decline in response during maintained stimulation. Tricas and New applied direct-current field steps lasting 60 s to round-stingray afferents. A representative 2.2-µV/cm step caused a large initial rise in spike rate. The response then returned toward the resting rate while the field stayed on. The step was then held at a fixed level.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B4F7A"/>
              </a:buClr>
              <a:buSzPts val="1600"/>
              <a:buFont typeface="Arial"/>
              <a:buNone/>
            </a:pPr>
            <a:r>
              <a:rPr b="0" i="0" lang="en-US" sz="1500">
                <a:solidFill>
                  <a:srgbClr val="1C242C"/>
                </a:solidFill>
                <a:latin typeface="Arial"/>
                <a:ea typeface="Arial"/>
                <a:cs typeface="Arial"/>
                <a:sym typeface="Arial"/>
              </a:rPr>
              <a:t>The decay had a time constant of approximately 4 s. That value describes how quickly the response approaches its adapted level. Repeated steps allowed the response time course to be averaged. The averaging did not depend on a single spike train. The 60-second steps were long enough to separate the initial burst from the adapted level.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B4F7A"/>
              </a:buClr>
              <a:buSzPts val="1600"/>
              <a:buFont typeface="Arial"/>
              <a:buNone/>
            </a:pPr>
            <a:r>
              <a:rPr b="0" i="0" lang="en-US" sz="1500">
                <a:solidFill>
                  <a:srgbClr val="1C242C"/>
                </a:solidFill>
                <a:latin typeface="Arial"/>
                <a:ea typeface="Arial"/>
                <a:cs typeface="Arial"/>
                <a:sym typeface="Arial"/>
              </a:rPr>
              <a:t>Swimming changes the electrical input sampled at the pores, so an adapting afferent can still register a stationary prey source. The step-response decline is the measured finding in these recordings. Its relevance to natural movement is an inference about how the pores sample the field. The adaptation is measured under maintained stimulation only.</a:t>
            </a:r>
            <a:endParaRPr sz="1800">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7657439" y="1280071"/>
            <a:ext cx="3179993" cy="2925961"/>
          </a:xfrm>
          <a:prstGeom prst="rect">
            <a:avLst/>
          </a:prstGeom>
          <a:noFill/>
          <a:ln>
            <a:noFill/>
          </a:ln>
        </p:spPr>
      </p:pic>
      <p:sp>
        <p:nvSpPr>
          <p:cNvPr id="322" name="Google Shape;322;p23"/>
          <p:cNvSpPr/>
          <p:nvPr/>
        </p:nvSpPr>
        <p:spPr>
          <a:xfrm>
            <a:off x="6870055" y="4297561"/>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9. Response to a sustained field adapts over seconds.</a:t>
            </a:r>
            <a:endParaRPr sz="1800">
              <a:solidFill>
                <a:schemeClr val="dk1"/>
              </a:solidFill>
              <a:latin typeface="Calibri"/>
              <a:ea typeface="Calibri"/>
              <a:cs typeface="Calibri"/>
              <a:sym typeface="Calibri"/>
            </a:endParaRPr>
          </a:p>
        </p:txBody>
      </p:sp>
      <p:pic>
        <p:nvPicPr>
          <p:cNvPr id="323" name="Google Shape;323;p23"/>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24" name="Google Shape;324;p23"/>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25" name="Google Shape;325;p2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6" name="Google Shape;326;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327" name="Google Shape;327;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1" name="Shape 331"/>
        <p:cNvGrpSpPr/>
        <p:nvPr/>
      </p:nvGrpSpPr>
      <p:grpSpPr>
        <a:xfrm>
          <a:off x="0" y="0"/>
          <a:ext cx="0" cy="0"/>
          <a:chOff x="0" y="0"/>
          <a:chExt cx="0" cy="0"/>
        </a:xfrm>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Round-stingray afferents favor slow field changes</a:t>
            </a:r>
            <a:endParaRPr sz="1800">
              <a:solidFill>
                <a:schemeClr val="dk1"/>
              </a:solidFill>
              <a:latin typeface="Calibri"/>
              <a:ea typeface="Calibri"/>
              <a:cs typeface="Calibri"/>
              <a:sym typeface="Calibri"/>
            </a:endParaRPr>
          </a:p>
        </p:txBody>
      </p:sp>
      <p:sp>
        <p:nvSpPr>
          <p:cNvPr id="333" name="Google Shape;333;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Tricas and New measured response gain across sinusoidal electric-field frequencies. Stimulation was kept weak to limit saturation. Nearly all tested round-stingray afferents had their best sensitivity at about 1 to 2 Hz. Responses fell at frequencies both below and above that range. The tuning peak lies near the slow fluctuations a moving animal produces.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normalized frequency response declined by 3 dB near 0.5 Hz and 4 Hz. Its low-frequency slope was about 8 dB per decade. Its high-frequency slope was about −23 dB per decade. Normalizing each unit to its own maximum distinguishes tuning shape from absolute gain. Normalizing each unit to its own maximum allows shape comparisons.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This band-pass tuning favors changes over a limited frequency range. It favors changes over constant fields or very rapid fluctuations. Slow prey movements and conspecific ventilation can supply relevant inputs within this range. Conspecific ventilation is one such input, and constant fields are less effective. Rapid fluctuations are also less effective.</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3">
            <a:alphaModFix/>
          </a:blip>
          <a:srcRect b="0" l="0" r="0" t="0"/>
          <a:stretch/>
        </p:blipFill>
        <p:spPr>
          <a:xfrm>
            <a:off x="7811903" y="1280071"/>
            <a:ext cx="2871065" cy="2925961"/>
          </a:xfrm>
          <a:prstGeom prst="rect">
            <a:avLst/>
          </a:prstGeom>
          <a:noFill/>
          <a:ln>
            <a:noFill/>
          </a:ln>
        </p:spPr>
      </p:pic>
      <p:sp>
        <p:nvSpPr>
          <p:cNvPr id="337" name="Google Shape;337;p24"/>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10. Frequency-dependent gain and phase of primary afferents.</a:t>
            </a:r>
            <a:endParaRPr sz="1800">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39" name="Google Shape;339;p24"/>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342" name="Google Shape;342;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Channel proteins occupy specific receptor compartments</a:t>
            </a:r>
            <a:endParaRPr sz="1800">
              <a:solidFill>
                <a:schemeClr val="dk1"/>
              </a:solidFill>
              <a:latin typeface="Calibri"/>
              <a:ea typeface="Calibri"/>
              <a:cs typeface="Calibri"/>
              <a:sym typeface="Calibri"/>
            </a:endParaRPr>
          </a:p>
        </p:txBody>
      </p:sp>
      <p:sp>
        <p:nvSpPr>
          <p:cNvPr id="348" name="Google Shape;348;p2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Chen and colleagues used whole-mount confocal microscopy to localize channel proteins in intact little-skate ampullae. CaV1.3 is a voltage-gated calcium channel, and BK is a calcium-activated potassium channel. Antibody staining was combined with DAPI, a fluorescent label for nuclear DNA. Whole-mount preparation keeps the epithelium intact, so each stain sits in its natural tissue context.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CaV1.3 and BK immunoreactivity appeared in receptor plasma membranes, in nuclear envelopes, and in kinocilia, the ciliary projections facing the lumen. The signals were measured in the preserved sensory epithelium. Blocking-peptide experiments provided controls for the BK antibody. Labeling of both compartments places the protein in two places in one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 proposed trafficking mechanism involves a nuclear-localization sequence, which was tested through mutations in transfected cells. Localization identifies candidate sites for each channel. Electrophysiology then assigns each population its contribution to receptor signaling. Mutations in the sequence test whether it directs the protein's route through the cell. Each channel has its own candidate sites.</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6870069" y="1280071"/>
            <a:ext cx="4754882" cy="4261545"/>
          </a:xfrm>
          <a:prstGeom prst="rect">
            <a:avLst/>
          </a:prstGeom>
          <a:noFill/>
          <a:ln>
            <a:noFill/>
          </a:ln>
        </p:spPr>
      </p:pic>
      <p:sp>
        <p:nvSpPr>
          <p:cNvPr id="352" name="Google Shape;352;p25"/>
          <p:cNvSpPr/>
          <p:nvPr/>
        </p:nvSpPr>
        <p:spPr>
          <a:xfrm>
            <a:off x="6870055" y="563314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Chen et al. (2023), Fig. 2(A–D). CaV1.3 and BK localization in receptor epithelium.</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Chen et al. (2023)</a:t>
            </a:r>
            <a:endParaRPr sz="1800">
              <a:solidFill>
                <a:schemeClr val="dk1"/>
              </a:solidFill>
              <a:latin typeface="Calibri"/>
              <a:ea typeface="Calibri"/>
              <a:cs typeface="Calibri"/>
              <a:sym typeface="Calibri"/>
            </a:endParaRPr>
          </a:p>
        </p:txBody>
      </p:sp>
      <p:sp>
        <p:nvSpPr>
          <p:cNvPr id="355" name="Google Shape;355;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9" name="Shape 359"/>
        <p:cNvGrpSpPr/>
        <p:nvPr/>
      </p:nvGrpSpPr>
      <p:grpSpPr>
        <a:xfrm>
          <a:off x="0" y="0"/>
          <a:ext cx="0" cy="0"/>
          <a:chOff x="0" y="0"/>
          <a:chExt cx="0" cy="0"/>
        </a:xfrm>
      </p:grpSpPr>
      <p:sp>
        <p:nvSpPr>
          <p:cNvPr id="360" name="Google Shape;360;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Low-threshold calcium current initiates receptor activity</a:t>
            </a:r>
            <a:endParaRPr sz="1800">
              <a:solidFill>
                <a:schemeClr val="dk1"/>
              </a:solidFill>
              <a:latin typeface="Calibri"/>
              <a:ea typeface="Calibri"/>
              <a:cs typeface="Calibri"/>
              <a:sym typeface="Calibri"/>
            </a:endParaRPr>
          </a:p>
        </p:txBody>
      </p:sp>
      <p:sp>
        <p:nvSpPr>
          <p:cNvPr id="361" name="Google Shape;361;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Bellono and colleagues patch-clamped dissociated little-skate electrosensory cells. Voltage clamp holds membrane voltage at commanded values while measuring current. Intracellular cesium suppressed potassium currents, which revealed an inward calcium current activated at unusually negative membrane potentials. Each current was measured at each commanded value. The recordings were made from single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Native calcium conductance reached half-maximal activation near −52 mV. Inactivation reduces channel availability during sustained stimulation. Slow inactivation left a window current between about −70 and −30 mV. The window peaked near −58 mV, close to the receptor's normal operating voltage. The window current is a sustained current near rest.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L-type calcium-channel modulators altered this current, while tested sodium-channel antagonists did not. Several other calcium-channel antagonists also had no effect on it. Pharmacology identified the calcium channel class. Transcript measurements later named CaV1.3 as the candidate carrying the current. Those drug results pointed to one channel family. Transcript data agreed with the result.</a:t>
            </a:r>
            <a:endParaRPr sz="1800">
              <a:solidFill>
                <a:schemeClr val="dk1"/>
              </a:solidFill>
              <a:latin typeface="Calibri"/>
              <a:ea typeface="Calibri"/>
              <a:cs typeface="Calibri"/>
              <a:sym typeface="Calibri"/>
            </a:endParaRPr>
          </a:p>
        </p:txBody>
      </p:sp>
      <p:pic>
        <p:nvPicPr>
          <p:cNvPr id="364" name="Google Shape;364;p26"/>
          <p:cNvPicPr preferRelativeResize="0"/>
          <p:nvPr/>
        </p:nvPicPr>
        <p:blipFill rotWithShape="1">
          <a:blip r:embed="rId3">
            <a:alphaModFix/>
          </a:blip>
          <a:srcRect b="0" l="0" r="0" t="0"/>
          <a:stretch/>
        </p:blipFill>
        <p:spPr>
          <a:xfrm>
            <a:off x="6870169" y="1280071"/>
            <a:ext cx="4754681" cy="1809304"/>
          </a:xfrm>
          <a:prstGeom prst="rect">
            <a:avLst/>
          </a:prstGeom>
          <a:noFill/>
          <a:ln>
            <a:noFill/>
          </a:ln>
        </p:spPr>
      </p:pic>
      <p:sp>
        <p:nvSpPr>
          <p:cNvPr id="365" name="Google Shape;365;p26"/>
          <p:cNvSpPr/>
          <p:nvPr/>
        </p:nvSpPr>
        <p:spPr>
          <a:xfrm>
            <a:off x="6870055" y="318090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1(e–g). Low-threshold calcium currents and channel pharmacology.</a:t>
            </a:r>
            <a:endParaRPr sz="1800">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67" name="Google Shape;367;p26"/>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68" name="Google Shape;368;p2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370" name="Google Shape;370;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Calcium entry recruits an outward BK current</a:t>
            </a:r>
            <a:endParaRPr sz="1800">
              <a:solidFill>
                <a:schemeClr val="dk1"/>
              </a:solidFill>
              <a:latin typeface="Calibri"/>
              <a:ea typeface="Calibri"/>
              <a:cs typeface="Calibri"/>
              <a:sym typeface="Calibri"/>
            </a:endParaRPr>
          </a:p>
        </p:txBody>
      </p:sp>
      <p:sp>
        <p:nvSpPr>
          <p:cNvPr id="376" name="Google Shape;376;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Bellono and colleagues replaced the cesium-based recording solution with a potassium-based one to measure outward receptor currents. Calcium-activated potassium channels open more readily as intracellular calcium rises. Potassium efflux counteracts calcium-driven depolarization and returns the membrane toward negative voltages. The potassium-based solution allows outward currents to be recorded in the same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 outward current was reduced by tetraethylammonium and by selective BK antagonists, including iberiotoxin and charybdotoxin. Blocking calcium entry also reduced it, whereas enhancing calcium entry increased the potassium current. These linked perturbations show functional coupling between the two currents. The coupling was demonstrated with pharmacology rather than with structure.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 coupling forms negative feedback. Depolarization opens calcium channels, calcium recruits BK channels, and the resulting potassium current promotes repolarization. The evidence concerns the dominant measured current in these receptor cells. A stable channel complex is not required for this feedback. Calcium entry is the link between the two currents.</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3">
            <a:alphaModFix/>
          </a:blip>
          <a:srcRect b="0" l="0" r="0" t="0"/>
          <a:stretch/>
        </p:blipFill>
        <p:spPr>
          <a:xfrm>
            <a:off x="6870278" y="1280071"/>
            <a:ext cx="4754464" cy="1646932"/>
          </a:xfrm>
          <a:prstGeom prst="rect">
            <a:avLst/>
          </a:prstGeom>
          <a:noFill/>
          <a:ln>
            <a:noFill/>
          </a:ln>
        </p:spPr>
      </p:pic>
      <p:sp>
        <p:nvSpPr>
          <p:cNvPr id="380" name="Google Shape;380;p27"/>
          <p:cNvSpPr/>
          <p:nvPr/>
        </p:nvSpPr>
        <p:spPr>
          <a:xfrm>
            <a:off x="6870055" y="301853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1(h–i). Calcium-dependent potassium current and BK blockade.</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82" name="Google Shape;382;p27"/>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385" name="Google Shape;38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Receptor cells strongly enrich CaV1.3 and BK transcripts</a:t>
            </a:r>
            <a:endParaRPr sz="1800">
              <a:solidFill>
                <a:schemeClr val="dk1"/>
              </a:solidFill>
              <a:latin typeface="Calibri"/>
              <a:ea typeface="Calibri"/>
              <a:cs typeface="Calibri"/>
              <a:sym typeface="Calibri"/>
            </a:endParaRPr>
          </a:p>
        </p:txBody>
      </p:sp>
      <p:sp>
        <p:nvSpPr>
          <p:cNvPr id="391" name="Google Shape;391;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Bellono and colleagues sequenced RNA from little-skate ampullary organs and other tissues. A </a:t>
            </a:r>
            <a:r>
              <a:rPr b="1" i="0" lang="en-US" sz="1400">
                <a:solidFill>
                  <a:srgbClr val="0B4F7A"/>
                </a:solidFill>
                <a:latin typeface="Arial"/>
                <a:ea typeface="Arial"/>
                <a:cs typeface="Arial"/>
                <a:sym typeface="Arial"/>
              </a:rPr>
              <a:t>transcript</a:t>
            </a:r>
            <a:r>
              <a:rPr b="0" i="0" lang="en-US" sz="1400">
                <a:solidFill>
                  <a:srgbClr val="1C242C"/>
                </a:solidFill>
                <a:latin typeface="Arial"/>
                <a:ea typeface="Arial"/>
                <a:cs typeface="Arial"/>
                <a:sym typeface="Arial"/>
              </a:rPr>
              <a:t> is an RNA copy of a gene. The gene </a:t>
            </a:r>
            <a:r>
              <a:rPr b="0" i="1" lang="en-US" sz="1400">
                <a:solidFill>
                  <a:srgbClr val="1C242C"/>
                </a:solidFill>
                <a:latin typeface="Arial"/>
                <a:ea typeface="Arial"/>
                <a:cs typeface="Arial"/>
                <a:sym typeface="Arial"/>
              </a:rPr>
              <a:t>cacna1d</a:t>
            </a:r>
            <a:r>
              <a:rPr b="0" i="0" lang="en-US" sz="1400">
                <a:solidFill>
                  <a:srgbClr val="1C242C"/>
                </a:solidFill>
                <a:latin typeface="Arial"/>
                <a:ea typeface="Arial"/>
                <a:cs typeface="Arial"/>
                <a:sym typeface="Arial"/>
              </a:rPr>
              <a:t> encodes the CaV1.3 pore-forming subunit. It was enriched more than 90-fold relative to the other tissues examined. The enrichment was large relative to those tissues, measured by sequencing.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BK pore-forming gene </a:t>
            </a:r>
            <a:r>
              <a:rPr b="0" i="1" lang="en-US" sz="1400">
                <a:solidFill>
                  <a:srgbClr val="1C242C"/>
                </a:solidFill>
                <a:latin typeface="Arial"/>
                <a:ea typeface="Arial"/>
                <a:cs typeface="Arial"/>
                <a:sym typeface="Arial"/>
              </a:rPr>
              <a:t>kcnma1</a:t>
            </a:r>
            <a:r>
              <a:rPr b="0" i="0" lang="en-US" sz="1400">
                <a:solidFill>
                  <a:srgbClr val="1C242C"/>
                </a:solidFill>
                <a:latin typeface="Arial"/>
                <a:ea typeface="Arial"/>
                <a:cs typeface="Arial"/>
                <a:sym typeface="Arial"/>
              </a:rPr>
              <a:t> was expressed more than 35-fold above other calcium-activated potassium-channel genes in ampullae. In situ hybridization placed CaV1.3 and BK transcripts together in electrosensory cells. Little signal appeared in supporting cells or canal structures. The overlap matches the recorded currents. The two transcripts were in the same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Expression specificity links the pharmacologically identified currents to molecular candidates in the appropriate cells. Agreement among recordings, blocker responses, expression, and localization strengthens the assignment. Minor conductances remain a possibility in these cells. Multiple lines of evidence agree on the candidates. Blocker data and expression point the same way. Each line of evidence supports the candidates.</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3">
            <a:alphaModFix/>
          </a:blip>
          <a:srcRect b="0" l="0" r="0" t="0"/>
          <a:stretch/>
        </p:blipFill>
        <p:spPr>
          <a:xfrm>
            <a:off x="6870294" y="1280071"/>
            <a:ext cx="4754431" cy="1881336"/>
          </a:xfrm>
          <a:prstGeom prst="rect">
            <a:avLst/>
          </a:prstGeom>
          <a:noFill/>
          <a:ln>
            <a:noFill/>
          </a:ln>
        </p:spPr>
      </p:pic>
      <p:sp>
        <p:nvSpPr>
          <p:cNvPr id="395" name="Google Shape;395;p28"/>
          <p:cNvSpPr/>
          <p:nvPr/>
        </p:nvSpPr>
        <p:spPr>
          <a:xfrm>
            <a:off x="6870055" y="325293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1(j–k). Channel transcript enrichment and cellular colocalization.</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97" name="Google Shape;397;p28"/>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00" name="Google Shape;40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4" name="Shape 404"/>
        <p:cNvGrpSpPr/>
        <p:nvPr/>
      </p:nvGrpSpPr>
      <p:grpSpPr>
        <a:xfrm>
          <a:off x="0" y="0"/>
          <a:ext cx="0" cy="0"/>
          <a:chOff x="0" y="0"/>
          <a:chExt cx="0" cy="0"/>
        </a:xfrm>
      </p:grpSpPr>
      <p:sp>
        <p:nvSpPr>
          <p:cNvPr id="405" name="Google Shape;40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Skate CaV1.3 opens at more negative voltages</a:t>
            </a:r>
            <a:endParaRPr sz="1800">
              <a:solidFill>
                <a:schemeClr val="dk1"/>
              </a:solidFill>
              <a:latin typeface="Calibri"/>
              <a:ea typeface="Calibri"/>
              <a:cs typeface="Calibri"/>
              <a:sym typeface="Calibri"/>
            </a:endParaRPr>
          </a:p>
        </p:txBody>
      </p:sp>
      <p:sp>
        <p:nvSpPr>
          <p:cNvPr id="406" name="Google Shape;406;p2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Bellono and colleagues expressed cloned skate and rat CaV1.3 channels in HEK293 cells. HEK293 is a mammalian cell line used for controlled channel measurements. Matched recording conditions tested whether low-threshold activation was intrinsic to the skate channel itself. The rest of the receptor epithelium was absent from these cells. Cloned channels let the skate sequence be tested alone.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Half-maximal activation was approximately −42.7 mV for skate CaV1.3. It was −18.2 mV for the rat long isoform. Their inactivation relations were similar. The negative shift in activation enlarged the window-current range of the skate channel. Current traces and normalized conductance curves agreed. The shift moves opening into the native receptor's voltage range.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channel sequence contributes directly to low-voltage opening. The cloned channel's activation value differs from the native receptor value near −52 mV. Experimental context and associated proteins can modify gating in the native receptor. The cloned channel was judged against a known mammalian channel. The cloned channel was tested in matched conditions.</a:t>
            </a:r>
            <a:endParaRPr sz="1800">
              <a:solidFill>
                <a:schemeClr val="dk1"/>
              </a:solidFill>
              <a:latin typeface="Calibri"/>
              <a:ea typeface="Calibri"/>
              <a:cs typeface="Calibri"/>
              <a:sym typeface="Calibri"/>
            </a:endParaRPr>
          </a:p>
        </p:txBody>
      </p:sp>
      <p:pic>
        <p:nvPicPr>
          <p:cNvPr id="409" name="Google Shape;409;p29"/>
          <p:cNvPicPr preferRelativeResize="0"/>
          <p:nvPr/>
        </p:nvPicPr>
        <p:blipFill rotWithShape="1">
          <a:blip r:embed="rId3">
            <a:alphaModFix/>
          </a:blip>
          <a:srcRect b="0" l="0" r="0" t="0"/>
          <a:stretch/>
        </p:blipFill>
        <p:spPr>
          <a:xfrm>
            <a:off x="6870226" y="1280071"/>
            <a:ext cx="4754567" cy="1588740"/>
          </a:xfrm>
          <a:prstGeom prst="rect">
            <a:avLst/>
          </a:prstGeom>
          <a:noFill/>
          <a:ln>
            <a:noFill/>
          </a:ln>
        </p:spPr>
      </p:pic>
      <p:sp>
        <p:nvSpPr>
          <p:cNvPr id="410" name="Google Shape;410;p29"/>
          <p:cNvSpPr/>
          <p:nvPr/>
        </p:nvSpPr>
        <p:spPr>
          <a:xfrm>
            <a:off x="6870055" y="2960340"/>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2(a–d). Skate and rat CaV1.3 activation properties.</a:t>
            </a:r>
            <a:endParaRPr sz="1800">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12" name="Google Shape;412;p29"/>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Efficient sensor–pore coupling lowers activation voltage</a:t>
            </a:r>
            <a:endParaRPr sz="1800">
              <a:solidFill>
                <a:schemeClr val="dk1"/>
              </a:solidFill>
              <a:latin typeface="Calibri"/>
              <a:ea typeface="Calibri"/>
              <a:cs typeface="Calibri"/>
              <a:sym typeface="Calibri"/>
            </a:endParaRPr>
          </a:p>
        </p:txBody>
      </p:sp>
      <p:sp>
        <p:nvSpPr>
          <p:cNvPr id="421" name="Google Shape;421;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A </a:t>
            </a:r>
            <a:r>
              <a:rPr b="1" i="0" lang="en-US" sz="1400">
                <a:solidFill>
                  <a:srgbClr val="0B4F7A"/>
                </a:solidFill>
                <a:latin typeface="Arial"/>
                <a:ea typeface="Arial"/>
                <a:cs typeface="Arial"/>
                <a:sym typeface="Arial"/>
              </a:rPr>
              <a:t>voltage-gated channel</a:t>
            </a:r>
            <a:r>
              <a:rPr b="0" i="0" lang="en-US" sz="1400">
                <a:solidFill>
                  <a:srgbClr val="1C242C"/>
                </a:solidFill>
                <a:latin typeface="Arial"/>
                <a:ea typeface="Arial"/>
                <a:cs typeface="Arial"/>
                <a:sym typeface="Arial"/>
              </a:rPr>
              <a:t> elements coupled to an ion-conducting pore. Gating current records charge movement within these elements, separately from ion flow through the pore. Bellono and colleagues measured gating charge and ionic conductance in the same cells. Those cells expressed skate or rat CaV1.3. Gating charge was compared between the two channel types.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Voltage-dependent charge movement was broadly similar in both channels. Skate channels nevertheless reached substantial conductance with less relative sensor movement. Returning to −100 mV after a depolarizing command produced larger skate tail currents for comparable gating charge. A tail current reports the channels that stay open after the voltage change.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 low threshold therefore reflects stronger coupling between sensor movement and pore opening, not simply more moving charge. These functional measurements constrain gating mechanisms without resolving the channel's three-dimensional structure. The rat channel served as the matched comparison. Matched conditions controlled the expression level, so the two channels used identical recordings.</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6870207" y="1280071"/>
            <a:ext cx="4754606" cy="1701403"/>
          </a:xfrm>
          <a:prstGeom prst="rect">
            <a:avLst/>
          </a:prstGeom>
          <a:noFill/>
          <a:ln>
            <a:noFill/>
          </a:ln>
        </p:spPr>
      </p:pic>
      <p:sp>
        <p:nvSpPr>
          <p:cNvPr id="425" name="Google Shape;425;p30"/>
          <p:cNvSpPr/>
          <p:nvPr/>
        </p:nvSpPr>
        <p:spPr>
          <a:xfrm>
            <a:off x="6870055" y="3073003"/>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2(e–g). Gating charge and pore-opening efficiency.</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27" name="Google Shape;427;p30"/>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charged CaV1.3 motif is necessary for low threshold</a:t>
            </a:r>
            <a:endParaRPr sz="1800">
              <a:solidFill>
                <a:schemeClr val="dk1"/>
              </a:solidFill>
              <a:latin typeface="Calibri"/>
              <a:ea typeface="Calibri"/>
              <a:cs typeface="Calibri"/>
              <a:sym typeface="Calibri"/>
            </a:endParaRPr>
          </a:p>
        </p:txBody>
      </p:sp>
      <p:sp>
        <p:nvSpPr>
          <p:cNvPr id="436" name="Google Shape;436;p3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Comparing CaV1.3 sequences identified a skate insertion in an intracellular loop of domain IV. A </a:t>
            </a:r>
            <a:r>
              <a:rPr b="1" i="0" lang="en-US" sz="1400">
                <a:solidFill>
                  <a:srgbClr val="0B4F7A"/>
                </a:solidFill>
                <a:latin typeface="Arial"/>
                <a:ea typeface="Arial"/>
                <a:cs typeface="Arial"/>
                <a:sym typeface="Arial"/>
              </a:rPr>
              <a:t>motif</a:t>
            </a:r>
            <a:r>
              <a:rPr b="0" i="0" lang="en-US" sz="1400">
                <a:solidFill>
                  <a:srgbClr val="1C242C"/>
                </a:solidFill>
                <a:latin typeface="Arial"/>
                <a:ea typeface="Arial"/>
                <a:cs typeface="Arial"/>
                <a:sym typeface="Arial"/>
              </a:rPr>
              <a:t> is a short sequence with a characteristic structural or functional role. The insertion KKKER adds net positive charge between transmembrane segments S2 and S3. It sits near the voltage sensor that drives opening. The insertion is located in the intracellular loop.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Bellono and colleagues replaced its charged residues with neutral glutamines, producing QQQQQ. Half-maximal activation shifted from approximately −37.2 mV in the wild-type skate channel. It shifted to −26.0 mV in the neutralized channel. Sensor-pore coupling also weakened, with little change in total gating-charge behavior. The matched experiment kept the protocol identical.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controlled substitution establishes a causal contribution of these residues to low-threshold activation. Electrostatic repulsion of the nearby voltage sensor was proposed as the explanation. Kinetic tests were consistent with it. The matched experiment changed the residues and nothing else, so the sequence changes account for the difference. The change in activation was measured directly.</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6870118" y="1280071"/>
            <a:ext cx="4754783" cy="2719239"/>
          </a:xfrm>
          <a:prstGeom prst="rect">
            <a:avLst/>
          </a:prstGeom>
          <a:noFill/>
          <a:ln>
            <a:noFill/>
          </a:ln>
        </p:spPr>
      </p:pic>
      <p:sp>
        <p:nvSpPr>
          <p:cNvPr id="440" name="Google Shape;440;p31"/>
          <p:cNvSpPr/>
          <p:nvPr/>
        </p:nvSpPr>
        <p:spPr>
          <a:xfrm>
            <a:off x="6870055" y="4090839"/>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3(a–e). Charge-neutralization tests the skate channel motif.</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42" name="Google Shape;442;p31"/>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45" name="Google Shape;445;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9" name="Shape 449"/>
        <p:cNvGrpSpPr/>
        <p:nvPr/>
      </p:nvGrpSpPr>
      <p:grpSpPr>
        <a:xfrm>
          <a:off x="0" y="0"/>
          <a:ext cx="0" cy="0"/>
          <a:chOff x="0" y="0"/>
          <a:chExt cx="0" cy="0"/>
        </a:xfrm>
      </p:grpSpPr>
      <p:sp>
        <p:nvSpPr>
          <p:cNvPr id="450" name="Google Shape;450;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The skate motif transfers sensitivity to a rat channel</a:t>
            </a:r>
            <a:endParaRPr sz="1800">
              <a:solidFill>
                <a:schemeClr val="dk1"/>
              </a:solidFill>
              <a:latin typeface="Calibri"/>
              <a:ea typeface="Calibri"/>
              <a:cs typeface="Calibri"/>
              <a:sym typeface="Calibri"/>
            </a:endParaRPr>
          </a:p>
        </p:txBody>
      </p:sp>
      <p:sp>
        <p:nvSpPr>
          <p:cNvPr id="451" name="Google Shape;451;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Bellono and colleagues inserted the charged skate motif into rat CaV1.3 and tested it against an otherwise comparable neutral insertion. This gain-of-function experiment asks whether the sequence can confer a property on a channel that normally lacks it. The charged motif carries net positive charge. The neutral insertion carries none.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 charged rat construct activated at more negative potentials than the neutral one. Its half-activation was near −37.2 mV, versus about −19.6 mV for the neutral construct. Conductance required less relative gating charge. Tail currents rose for comparable charge movement. Transfer of the motif moved the activation curve toward the skate values.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Necessity and transfer experiments together give stronger causal evidence than sequence correlation alone. The authors proposed a voltage-sensor priming model. That model explains the shift in activation caused by the charged residues. The neutralization result in skate supports the same conclusion. The charged residues were the element that was swapped.</a:t>
            </a:r>
            <a:endParaRPr sz="1800">
              <a:solidFill>
                <a:schemeClr val="dk1"/>
              </a:solidFill>
              <a:latin typeface="Calibri"/>
              <a:ea typeface="Calibri"/>
              <a:cs typeface="Calibri"/>
              <a:sym typeface="Calibri"/>
            </a:endParaRPr>
          </a:p>
        </p:txBody>
      </p:sp>
      <p:pic>
        <p:nvPicPr>
          <p:cNvPr id="454" name="Google Shape;454;p32"/>
          <p:cNvPicPr preferRelativeResize="0"/>
          <p:nvPr/>
        </p:nvPicPr>
        <p:blipFill rotWithShape="1">
          <a:blip r:embed="rId3">
            <a:alphaModFix/>
          </a:blip>
          <a:srcRect b="0" l="0" r="0" t="0"/>
          <a:stretch/>
        </p:blipFill>
        <p:spPr>
          <a:xfrm>
            <a:off x="6870159" y="1280071"/>
            <a:ext cx="4754702" cy="1577132"/>
          </a:xfrm>
          <a:prstGeom prst="rect">
            <a:avLst/>
          </a:prstGeom>
          <a:noFill/>
          <a:ln>
            <a:noFill/>
          </a:ln>
        </p:spPr>
      </p:pic>
      <p:sp>
        <p:nvSpPr>
          <p:cNvPr id="455" name="Google Shape;455;p32"/>
          <p:cNvSpPr/>
          <p:nvPr/>
        </p:nvSpPr>
        <p:spPr>
          <a:xfrm>
            <a:off x="6870055" y="294873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3(f–i). Transfer of the skate motif alters rat channel gating.</a:t>
            </a:r>
            <a:endParaRPr sz="1800">
              <a:solidFill>
                <a:schemeClr val="dk1"/>
              </a:solidFill>
              <a:latin typeface="Calibri"/>
              <a:ea typeface="Calibri"/>
              <a:cs typeface="Calibri"/>
              <a:sym typeface="Calibri"/>
            </a:endParaRPr>
          </a:p>
        </p:txBody>
      </p:sp>
      <p:pic>
        <p:nvPicPr>
          <p:cNvPr id="456" name="Google Shape;456;p32"/>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57" name="Google Shape;457;p32"/>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58" name="Google Shape;458;p3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9" name="Google Shape;459;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60" name="Google Shape;460;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4" name="Shape 464"/>
        <p:cNvGrpSpPr/>
        <p:nvPr/>
      </p:nvGrpSpPr>
      <p:grpSpPr>
        <a:xfrm>
          <a:off x="0" y="0"/>
          <a:ext cx="0" cy="0"/>
          <a:chOff x="0" y="0"/>
          <a:chExt cx="0" cy="0"/>
        </a:xfrm>
      </p:grpSpPr>
      <p:sp>
        <p:nvSpPr>
          <p:cNvPr id="465" name="Google Shape;465;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Skate BK passes less current per channel opening</a:t>
            </a:r>
            <a:endParaRPr sz="1800">
              <a:solidFill>
                <a:schemeClr val="dk1"/>
              </a:solidFill>
              <a:latin typeface="Calibri"/>
              <a:ea typeface="Calibri"/>
              <a:cs typeface="Calibri"/>
              <a:sym typeface="Calibri"/>
            </a:endParaRPr>
          </a:p>
        </p:txBody>
      </p:sp>
      <p:sp>
        <p:nvSpPr>
          <p:cNvPr id="466" name="Google Shape;466;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Bellono and colleagues recorded individual BK channels in excised membrane patches. The cells expressed skate or mouse subunits. </a:t>
            </a:r>
            <a:r>
              <a:rPr b="1" i="0" lang="en-US" sz="1400">
                <a:solidFill>
                  <a:srgbClr val="0B4F7A"/>
                </a:solidFill>
                <a:latin typeface="Arial"/>
                <a:ea typeface="Arial"/>
                <a:cs typeface="Arial"/>
                <a:sym typeface="Arial"/>
              </a:rPr>
              <a:t>Single-channel conductance</a:t>
            </a:r>
            <a:r>
              <a:rPr b="0" i="0" lang="en-US" sz="1400">
                <a:solidFill>
                  <a:srgbClr val="1C242C"/>
                </a:solidFill>
                <a:latin typeface="Arial"/>
                <a:ea typeface="Arial"/>
                <a:cs typeface="Arial"/>
                <a:sym typeface="Arial"/>
              </a:rPr>
              <a:t> measures the current carried by one open channel. It is measured at a specified driving force. This isolates pore behavior from whole-cell channel abundance. Excised patches allow one channel's current to be measured directly.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skate channel had smaller current amplitudes than mouse BK. Its openings were also shorter. At 80 mV, open-time constants were about 1.09 ms and 5.06 ms, respectively. Their calcium sensitivity was broadly similar. The skate channel still responded to calcium. The open-time constant describes how long a channel stays open.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Smaller and briefer potassium currents can restrain calcium-driven depolarization rather than end it at once. This provides a way to tune receptor oscillations. Excised patches lack the receptor's calcium gradients and accessory proteins. These properties therefore belong to the pore itself. The difference lies in the pore rather than in calcium sensing.</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3">
            <a:alphaModFix/>
          </a:blip>
          <a:srcRect b="0" l="0" r="0" t="0"/>
          <a:stretch/>
        </p:blipFill>
        <p:spPr>
          <a:xfrm>
            <a:off x="7275238" y="1280071"/>
            <a:ext cx="3944247" cy="2925961"/>
          </a:xfrm>
          <a:prstGeom prst="rect">
            <a:avLst/>
          </a:prstGeom>
          <a:noFill/>
          <a:ln>
            <a:noFill/>
          </a:ln>
        </p:spPr>
      </p:pic>
      <p:sp>
        <p:nvSpPr>
          <p:cNvPr id="470" name="Google Shape;470;p33"/>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4(a–b). Single-channel currents and open-time distributions.</a:t>
            </a:r>
            <a:endParaRPr sz="1800">
              <a:solidFill>
                <a:schemeClr val="dk1"/>
              </a:solidFill>
              <a:latin typeface="Calibri"/>
              <a:ea typeface="Calibri"/>
              <a:cs typeface="Calibri"/>
              <a:sym typeface="Calibri"/>
            </a:endParaRPr>
          </a:p>
        </p:txBody>
      </p:sp>
      <p:pic>
        <p:nvPicPr>
          <p:cNvPr id="471" name="Google Shape;471;p33"/>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72" name="Google Shape;472;p33"/>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73" name="Google Shape;473;p3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4" name="Google Shape;47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75" name="Google Shape;47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9" name="Shape 479"/>
        <p:cNvGrpSpPr/>
        <p:nvPr/>
      </p:nvGrpSpPr>
      <p:grpSpPr>
        <a:xfrm>
          <a:off x="0" y="0"/>
          <a:ext cx="0" cy="0"/>
          <a:chOff x="0" y="0"/>
          <a:chExt cx="0" cy="0"/>
        </a:xfrm>
      </p:grpSpPr>
      <p:sp>
        <p:nvSpPr>
          <p:cNvPr id="480" name="Google Shape;48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Reciprocal BK mutations identify pore adaptations</a:t>
            </a:r>
            <a:endParaRPr sz="1800">
              <a:solidFill>
                <a:schemeClr val="dk1"/>
              </a:solidFill>
              <a:latin typeface="Calibri"/>
              <a:ea typeface="Calibri"/>
              <a:cs typeface="Calibri"/>
              <a:sym typeface="Calibri"/>
            </a:endParaRPr>
          </a:p>
        </p:txBody>
      </p:sp>
      <p:sp>
        <p:nvSpPr>
          <p:cNvPr id="481" name="Google Shape;481;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Bellono and colleagues substituted two skate BK residues with their mouse counterparts. They performed the reciprocal substitutions in mouse BK. These residues lie near the intracellular pore, where local charge can influence potassium concentration. The reciprocal design shows whether the same residues drive the difference in both directions. The swap identified functional residues.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Wild-type skate conductance was approximately 104 pS, versus 263 pS for mouse BK. The double-mutant skate channel reached about 287 pS, while the reciprocal mouse construct fell near 97 pS. Open-time behavior shifted in the same direction as conductance when the residues were exchanged. The residues changed both conductance and open time together.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Raising intracellular potassium to a saturating 3.14 M equalized current amplitudes. That result points to an electrostatic contribution to local ion availability. That very high potassium condition is an experimental probe rather than a physiological receptor concentration. Both channels reached the same plateau. The shared plateau indicates equal maximum capacity.</a:t>
            </a:r>
            <a:endParaRPr sz="1800">
              <a:solidFill>
                <a:schemeClr val="dk1"/>
              </a:solidFill>
              <a:latin typeface="Calibri"/>
              <a:ea typeface="Calibri"/>
              <a:cs typeface="Calibri"/>
              <a:sym typeface="Calibri"/>
            </a:endParaRPr>
          </a:p>
        </p:txBody>
      </p:sp>
      <p:pic>
        <p:nvPicPr>
          <p:cNvPr id="484" name="Google Shape;484;p34"/>
          <p:cNvPicPr preferRelativeResize="0"/>
          <p:nvPr/>
        </p:nvPicPr>
        <p:blipFill rotWithShape="1">
          <a:blip r:embed="rId3">
            <a:alphaModFix/>
          </a:blip>
          <a:srcRect b="0" l="0" r="0" t="0"/>
          <a:stretch/>
        </p:blipFill>
        <p:spPr>
          <a:xfrm>
            <a:off x="7376288" y="1280071"/>
            <a:ext cx="3742295" cy="2925961"/>
          </a:xfrm>
          <a:prstGeom prst="rect">
            <a:avLst/>
          </a:prstGeom>
          <a:noFill/>
          <a:ln>
            <a:noFill/>
          </a:ln>
        </p:spPr>
      </p:pic>
      <p:sp>
        <p:nvSpPr>
          <p:cNvPr id="485" name="Google Shape;485;p34"/>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5(a–e). Reciprocal mutations alter BK conductance and kinetics.</a:t>
            </a:r>
            <a:endParaRPr sz="1800">
              <a:solidFill>
                <a:schemeClr val="dk1"/>
              </a:solidFill>
              <a:latin typeface="Calibri"/>
              <a:ea typeface="Calibri"/>
              <a:cs typeface="Calibri"/>
              <a:sym typeface="Calibri"/>
            </a:endParaRPr>
          </a:p>
        </p:txBody>
      </p:sp>
      <p:pic>
        <p:nvPicPr>
          <p:cNvPr id="486" name="Google Shape;486;p34"/>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87" name="Google Shape;487;p34"/>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88" name="Google Shape;488;p3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9" name="Google Shape;48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90" name="Google Shape;490;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4" name="Shape 494"/>
        <p:cNvGrpSpPr/>
        <p:nvPr/>
      </p:nvGrpSpPr>
      <p:grpSpPr>
        <a:xfrm>
          <a:off x="0" y="0"/>
          <a:ext cx="0" cy="0"/>
          <a:chOff x="0" y="0"/>
          <a:chExt cx="0" cy="0"/>
        </a:xfrm>
      </p:grpSpPr>
      <p:sp>
        <p:nvSpPr>
          <p:cNvPr id="495" name="Google Shape;495;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Channel modulation changes oscillations and behavior</a:t>
            </a:r>
            <a:endParaRPr sz="1800">
              <a:solidFill>
                <a:schemeClr val="dk1"/>
              </a:solidFill>
              <a:latin typeface="Calibri"/>
              <a:ea typeface="Calibri"/>
              <a:cs typeface="Calibri"/>
              <a:sym typeface="Calibri"/>
            </a:endParaRPr>
          </a:p>
        </p:txBody>
      </p:sp>
      <p:sp>
        <p:nvSpPr>
          <p:cNvPr id="496" name="Google Shape;496;p3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Bellono and colleagues recorded spontaneous voltage oscillations in little-skate receptors, then manipulated channel activity. Nifedipine reduced calcium-dependent activity, and BK blockade disrupted the oscillations. The BK activator NS11021 reduced oscillation amplitude while increasing frequency. The two drugs acted on different channels, and each changed the oscillation in the same recordings.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Behaving skates were tested for preference toward a buried dipole during 30-minute trials. A calcium-channel drug that is ineffective against the measured current left target preference intact. Nifedipine and NS11021 reduced time near the active electrode. Startle tests then checked for gross mobility impairment. Trials lasted 30 minutes for each animal.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 paired physiological and behavioral results connect channel activity to electrosensory performance. Startle controls argue against a general motor explanation. Specific sensory or systemic effects remain as the other options. The startle tests were run after each behavioral trial. The vehicle group set the baseline behavior. Behavior was scored over the full trial.</a:t>
            </a:r>
            <a:endParaRPr sz="1800">
              <a:solidFill>
                <a:schemeClr val="dk1"/>
              </a:solidFill>
              <a:latin typeface="Calibri"/>
              <a:ea typeface="Calibri"/>
              <a:cs typeface="Calibri"/>
              <a:sym typeface="Calibri"/>
            </a:endParaRPr>
          </a:p>
        </p:txBody>
      </p:sp>
      <p:pic>
        <p:nvPicPr>
          <p:cNvPr id="499" name="Google Shape;499;p35"/>
          <p:cNvPicPr preferRelativeResize="0"/>
          <p:nvPr/>
        </p:nvPicPr>
        <p:blipFill rotWithShape="1">
          <a:blip r:embed="rId3">
            <a:alphaModFix/>
          </a:blip>
          <a:srcRect b="0" l="0" r="0" t="0"/>
          <a:stretch/>
        </p:blipFill>
        <p:spPr>
          <a:xfrm>
            <a:off x="7376311" y="1280071"/>
            <a:ext cx="3742248" cy="2925961"/>
          </a:xfrm>
          <a:prstGeom prst="rect">
            <a:avLst/>
          </a:prstGeom>
          <a:noFill/>
          <a:ln>
            <a:noFill/>
          </a:ln>
        </p:spPr>
      </p:pic>
      <p:sp>
        <p:nvSpPr>
          <p:cNvPr id="500" name="Google Shape;500;p35"/>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6(d–i). Channel modulation alters oscillations and dipole-zone preference.</a:t>
            </a:r>
            <a:endParaRPr sz="1800">
              <a:solidFill>
                <a:schemeClr val="dk1"/>
              </a:solidFill>
              <a:latin typeface="Calibri"/>
              <a:ea typeface="Calibri"/>
              <a:cs typeface="Calibri"/>
              <a:sym typeface="Calibri"/>
            </a:endParaRPr>
          </a:p>
        </p:txBody>
      </p:sp>
      <p:pic>
        <p:nvPicPr>
          <p:cNvPr id="501" name="Google Shape;501;p35"/>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502" name="Google Shape;502;p35"/>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503" name="Google Shape;503;p3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4" name="Google Shape;504;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505" name="Google Shape;505;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9" name="Shape 509"/>
        <p:cNvGrpSpPr/>
        <p:nvPr/>
      </p:nvGrpSpPr>
      <p:grpSpPr>
        <a:xfrm>
          <a:off x="0" y="0"/>
          <a:ext cx="0" cy="0"/>
          <a:chOff x="0" y="0"/>
          <a:chExt cx="0" cy="0"/>
        </a:xfrm>
      </p:grpSpPr>
      <p:sp>
        <p:nvSpPr>
          <p:cNvPr id="510" name="Google Shape;510;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Shark receptor potassium current is voltage-gated</a:t>
            </a:r>
            <a:endParaRPr sz="1800">
              <a:solidFill>
                <a:schemeClr val="dk1"/>
              </a:solidFill>
              <a:latin typeface="Calibri"/>
              <a:ea typeface="Calibri"/>
              <a:cs typeface="Calibri"/>
              <a:sym typeface="Calibri"/>
            </a:endParaRPr>
          </a:p>
        </p:txBody>
      </p:sp>
      <p:sp>
        <p:nvSpPr>
          <p:cNvPr id="511" name="Google Shape;511;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Bellono and colleagues compared chain catshark, </a:t>
            </a:r>
            <a:r>
              <a:rPr b="0" i="1" lang="en-US" sz="1400">
                <a:solidFill>
                  <a:srgbClr val="1C242C"/>
                </a:solidFill>
                <a:latin typeface="Arial"/>
                <a:ea typeface="Arial"/>
                <a:cs typeface="Arial"/>
                <a:sym typeface="Arial"/>
              </a:rPr>
              <a:t>Scyliorhinus retifer</a:t>
            </a:r>
            <a:r>
              <a:rPr b="0" i="0" lang="en-US" sz="1400">
                <a:solidFill>
                  <a:srgbClr val="1C242C"/>
                </a:solidFill>
                <a:latin typeface="Arial"/>
                <a:ea typeface="Arial"/>
                <a:cs typeface="Arial"/>
                <a:sym typeface="Arial"/>
              </a:rPr>
              <a:t>, receptors with little-skate receptors. Shark outward current activated at more positive voltages than calcium current. Unlike the skate current, it was reduced neither by calcium-current blockade nor by the tested BK antagonist. The skate current, by contrast, was reduced by calcium-current blockade.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voltage-gated potassium blocker 4-aminopyridine, or 4-AP, inhibited the shark outward current. Rapid activation and deactivation supported repetitive responses. Repeated depolarizing commands barely reduced the measured outward-current amplitude. The blocker identified a voltage-gated potassium channel. Weak slow inactivation was also present in these receptors. Results were consistent across all trials.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results identify a different functional potassium mechanism. Both species use low-threshold calcium entry. Shark tissue carries BK transcripts, yet the BK current was not the dominant one in the shark receptor cells. Shark receptors repolarize through a different channel from the skate receptors. The skate and shark receptors therefore differ.</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3">
            <a:alphaModFix/>
          </a:blip>
          <a:srcRect b="0" l="0" r="0" t="0"/>
          <a:stretch/>
        </p:blipFill>
        <p:spPr>
          <a:xfrm>
            <a:off x="6870165" y="1280071"/>
            <a:ext cx="4754690" cy="1852910"/>
          </a:xfrm>
          <a:prstGeom prst="rect">
            <a:avLst/>
          </a:prstGeom>
          <a:noFill/>
          <a:ln>
            <a:noFill/>
          </a:ln>
        </p:spPr>
      </p:pic>
      <p:sp>
        <p:nvSpPr>
          <p:cNvPr id="515" name="Google Shape;515;p36"/>
          <p:cNvSpPr/>
          <p:nvPr/>
        </p:nvSpPr>
        <p:spPr>
          <a:xfrm>
            <a:off x="6870055" y="322451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1(b–c). Shark potassium current activation and blocker sensitivity.</a:t>
            </a:r>
            <a:endParaRPr sz="1800">
              <a:solidFill>
                <a:schemeClr val="dk1"/>
              </a:solidFill>
              <a:latin typeface="Calibri"/>
              <a:ea typeface="Calibri"/>
              <a:cs typeface="Calibri"/>
              <a:sym typeface="Calibri"/>
            </a:endParaRPr>
          </a:p>
        </p:txBody>
      </p:sp>
      <p:pic>
        <p:nvPicPr>
          <p:cNvPr id="516" name="Google Shape;516;p36"/>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17" name="Google Shape;517;p36"/>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18" name="Google Shape;518;p3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9" name="Google Shape;519;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20" name="Google Shape;520;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4" name="Shape 524"/>
        <p:cNvGrpSpPr/>
        <p:nvPr/>
      </p:nvGrpSpPr>
      <p:grpSpPr>
        <a:xfrm>
          <a:off x="0" y="0"/>
          <a:ext cx="0" cy="0"/>
          <a:chOff x="0" y="0"/>
          <a:chExt cx="0" cy="0"/>
        </a:xfrm>
      </p:grpSpPr>
      <p:sp>
        <p:nvSpPr>
          <p:cNvPr id="525" name="Google Shape;525;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Catshark electrosensory cells enrich KV1.3</a:t>
            </a:r>
            <a:endParaRPr sz="1800">
              <a:solidFill>
                <a:schemeClr val="dk1"/>
              </a:solidFill>
              <a:latin typeface="Calibri"/>
              <a:ea typeface="Calibri"/>
              <a:cs typeface="Calibri"/>
              <a:sym typeface="Calibri"/>
            </a:endParaRPr>
          </a:p>
        </p:txBody>
      </p:sp>
      <p:sp>
        <p:nvSpPr>
          <p:cNvPr id="526" name="Google Shape;526;p3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B4F7A"/>
              </a:buClr>
              <a:buSzPts val="1500"/>
              <a:buFont typeface="Arial"/>
              <a:buNone/>
            </a:pPr>
            <a:r>
              <a:rPr b="1" i="0" lang="en-US" sz="1400">
                <a:solidFill>
                  <a:srgbClr val="0B4F7A"/>
                </a:solidFill>
                <a:latin typeface="Arial"/>
                <a:ea typeface="Arial"/>
                <a:cs typeface="Arial"/>
                <a:sym typeface="Arial"/>
              </a:rPr>
              <a:t>KV1.3</a:t>
            </a:r>
            <a:r>
              <a:rPr b="0" i="0" lang="en-US" sz="1400">
                <a:solidFill>
                  <a:srgbClr val="1C242C"/>
                </a:solidFill>
                <a:latin typeface="Arial"/>
                <a:ea typeface="Arial"/>
                <a:cs typeface="Arial"/>
                <a:sym typeface="Arial"/>
              </a:rPr>
              <a:t> is a voltage-gated potassium channel assembled from pore-forming subunits. Bellono and colleagues found its transcript predominant among voltage-gated potassium channels in chain-catshark ampullary organs. In situ hybridization localized KV1.3 together with CaV1.3 in receptor cells. The transcript count placed KV1.3 first among the channels in these organs. The ranking came from these same organs.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B4F7A"/>
              </a:buClr>
              <a:buSzPts val="1500"/>
              <a:buFont typeface="Arial"/>
              <a:buNone/>
            </a:pPr>
            <a:r>
              <a:rPr b="0" i="0" lang="en-US" sz="1400">
                <a:solidFill>
                  <a:srgbClr val="1C242C"/>
                </a:solidFill>
                <a:latin typeface="Arial"/>
                <a:ea typeface="Arial"/>
                <a:cs typeface="Arial"/>
                <a:sym typeface="Arial"/>
              </a:rPr>
              <a:t>KV1.3 expression was not detected in the tested skate ampullae, where BK dominated potassium feedback. Catshark receptor currents closed rapidly after repolarization and stayed available during repeated stimulation. The expressed shark channel reproduced many native current properties when tested alone. Native timing matched in several respects. Those currents were recorded from catshark receptor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B4F7A"/>
              </a:buClr>
              <a:buSzPts val="1500"/>
              <a:buFont typeface="Arial"/>
              <a:buNone/>
            </a:pPr>
            <a:r>
              <a:rPr b="0" i="0" lang="en-US" sz="1400">
                <a:solidFill>
                  <a:srgbClr val="1C242C"/>
                </a:solidFill>
                <a:latin typeface="Arial"/>
                <a:ea typeface="Arial"/>
                <a:cs typeface="Arial"/>
                <a:sym typeface="Arial"/>
              </a:rPr>
              <a:t>Cellular localization, pharmacology, and cloned-channel function jointly support KV1.3 as the major shark potassium conductance. Native currents deactivated faster than cloned currents at some voltages. That points to accessory subunits or other cellular factors. The timing differences were measured at several matched voltages for both channels under the same conditions.</a:t>
            </a:r>
            <a:endParaRPr sz="1800">
              <a:solidFill>
                <a:schemeClr val="dk1"/>
              </a:solidFill>
              <a:latin typeface="Calibri"/>
              <a:ea typeface="Calibri"/>
              <a:cs typeface="Calibri"/>
              <a:sym typeface="Calibri"/>
            </a:endParaRPr>
          </a:p>
        </p:txBody>
      </p:sp>
      <p:pic>
        <p:nvPicPr>
          <p:cNvPr id="529" name="Google Shape;529;p37"/>
          <p:cNvPicPr preferRelativeResize="0"/>
          <p:nvPr/>
        </p:nvPicPr>
        <p:blipFill rotWithShape="1">
          <a:blip r:embed="rId3">
            <a:alphaModFix/>
          </a:blip>
          <a:srcRect b="0" l="0" r="0" t="0"/>
          <a:stretch/>
        </p:blipFill>
        <p:spPr>
          <a:xfrm>
            <a:off x="6870258" y="1280071"/>
            <a:ext cx="4754503" cy="1471910"/>
          </a:xfrm>
          <a:prstGeom prst="rect">
            <a:avLst/>
          </a:prstGeom>
          <a:noFill/>
          <a:ln>
            <a:noFill/>
          </a:ln>
        </p:spPr>
      </p:pic>
      <p:sp>
        <p:nvSpPr>
          <p:cNvPr id="530" name="Google Shape;530;p37"/>
          <p:cNvSpPr/>
          <p:nvPr/>
        </p:nvSpPr>
        <p:spPr>
          <a:xfrm>
            <a:off x="6870055" y="284351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1(d–g). Fast deactivation, transcript enrichment and receptor localization.</a:t>
            </a:r>
            <a:endParaRPr sz="1800">
              <a:solidFill>
                <a:schemeClr val="dk1"/>
              </a:solidFill>
              <a:latin typeface="Calibri"/>
              <a:ea typeface="Calibri"/>
              <a:cs typeface="Calibri"/>
              <a:sym typeface="Calibri"/>
            </a:endParaRPr>
          </a:p>
        </p:txBody>
      </p:sp>
      <p:pic>
        <p:nvPicPr>
          <p:cNvPr id="531" name="Google Shape;531;p37"/>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32" name="Google Shape;532;p37"/>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33" name="Google Shape;533;p3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4" name="Google Shape;534;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35" name="Google Shape;535;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9" name="Shape 539"/>
        <p:cNvGrpSpPr/>
        <p:nvPr/>
      </p:nvGrpSpPr>
      <p:grpSpPr>
        <a:xfrm>
          <a:off x="0" y="0"/>
          <a:ext cx="0" cy="0"/>
          <a:chOff x="0" y="0"/>
          <a:chExt cx="0" cy="0"/>
        </a:xfrm>
      </p:grpSpPr>
      <p:sp>
        <p:nvSpPr>
          <p:cNvPr id="540" name="Google Shape;540;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Shark KV1.3 closes rapidly and resists inactivation</a:t>
            </a:r>
            <a:endParaRPr sz="1800">
              <a:solidFill>
                <a:schemeClr val="dk1"/>
              </a:solidFill>
              <a:latin typeface="Calibri"/>
              <a:ea typeface="Calibri"/>
              <a:cs typeface="Calibri"/>
              <a:sym typeface="Calibri"/>
            </a:endParaRPr>
          </a:p>
        </p:txBody>
      </p:sp>
      <p:sp>
        <p:nvSpPr>
          <p:cNvPr id="541" name="Google Shape;541;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Bellono and expressed shark and human KV1.3 channels under matched recording conditions. Shark half-maximal activation occurred near −5.4 mV, while human KV1.3 activated near −30.7 mV. The shark channel therefore opened only after much greater depolarization. Both channels were recorded under the same stimulation. The protocol used matched stimulus durations.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Shark channels returned rapidly to a closed state and showed weak, slow inactivation during prolonged or repeated commands. Human channels lost current progressively during repetitive stimulation. Activation threshold, deactivation, and inactivation are three distinct properties. Together they shape sustained receptor activity. Their closure allowed repeated cycles of activity. Each cycle began from a closed state.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A high activation voltage allows strong calcium-driven depolarization before potassium feedback intervenes. Rapid closure then releases the membrane for another cycle. Sequence swapping implicated the voltage-sensor regions and the outer pore in different properties. Each property traced back to particular channel regions. The voltage-sensor regions differ between species. The outer pore was implicated as well.</a:t>
            </a:r>
            <a:endParaRPr sz="1800">
              <a:solidFill>
                <a:schemeClr val="dk1"/>
              </a:solidFill>
              <a:latin typeface="Calibri"/>
              <a:ea typeface="Calibri"/>
              <a:cs typeface="Calibri"/>
              <a:sym typeface="Calibri"/>
            </a:endParaRPr>
          </a:p>
        </p:txBody>
      </p:sp>
      <p:pic>
        <p:nvPicPr>
          <p:cNvPr id="544" name="Google Shape;544;p38"/>
          <p:cNvPicPr preferRelativeResize="0"/>
          <p:nvPr/>
        </p:nvPicPr>
        <p:blipFill rotWithShape="1">
          <a:blip r:embed="rId3">
            <a:alphaModFix/>
          </a:blip>
          <a:srcRect b="0" l="0" r="0" t="0"/>
          <a:stretch/>
        </p:blipFill>
        <p:spPr>
          <a:xfrm>
            <a:off x="7099514" y="1280071"/>
            <a:ext cx="4295843" cy="2925961"/>
          </a:xfrm>
          <a:prstGeom prst="rect">
            <a:avLst/>
          </a:prstGeom>
          <a:noFill/>
          <a:ln>
            <a:noFill/>
          </a:ln>
        </p:spPr>
      </p:pic>
      <p:sp>
        <p:nvSpPr>
          <p:cNvPr id="545" name="Google Shape;545;p38"/>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2(a–e). Shark and human KV1.3 gating under matched stimulation.</a:t>
            </a:r>
            <a:endParaRPr sz="1800">
              <a:solidFill>
                <a:schemeClr val="dk1"/>
              </a:solidFill>
              <a:latin typeface="Calibri"/>
              <a:ea typeface="Calibri"/>
              <a:cs typeface="Calibri"/>
              <a:sym typeface="Calibri"/>
            </a:endParaRPr>
          </a:p>
        </p:txBody>
      </p:sp>
      <p:pic>
        <p:nvPicPr>
          <p:cNvPr id="546" name="Google Shape;546;p38"/>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47" name="Google Shape;547;p38"/>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48" name="Google Shape;548;p38"/>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50" name="Google Shape;550;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4" name="Shape 554"/>
        <p:cNvGrpSpPr/>
        <p:nvPr/>
      </p:nvGrpSpPr>
      <p:grpSpPr>
        <a:xfrm>
          <a:off x="0" y="0"/>
          <a:ext cx="0" cy="0"/>
          <a:chOff x="0" y="0"/>
          <a:chExt cx="0" cy="0"/>
        </a:xfrm>
      </p:grpSpPr>
      <p:sp>
        <p:nvSpPr>
          <p:cNvPr id="555" name="Google Shape;555;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Shark cells spike while skate cells oscillate</a:t>
            </a:r>
            <a:endParaRPr sz="1800">
              <a:solidFill>
                <a:schemeClr val="dk1"/>
              </a:solidFill>
              <a:latin typeface="Calibri"/>
              <a:ea typeface="Calibri"/>
              <a:cs typeface="Calibri"/>
              <a:sym typeface="Calibri"/>
            </a:endParaRPr>
          </a:p>
        </p:txBody>
      </p:sp>
      <p:sp>
        <p:nvSpPr>
          <p:cNvPr id="556" name="Google Shape;556;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B4F7A"/>
              </a:buClr>
              <a:buSzPts val="1500"/>
              <a:buFont typeface="Arial"/>
              <a:buNone/>
            </a:pPr>
            <a:r>
              <a:rPr b="1" i="0" lang="en-US" sz="1400">
                <a:solidFill>
                  <a:srgbClr val="0B4F7A"/>
                </a:solidFill>
                <a:latin typeface="Arial"/>
                <a:ea typeface="Arial"/>
                <a:cs typeface="Arial"/>
                <a:sym typeface="Arial"/>
              </a:rPr>
              <a:t>Current clamp</a:t>
            </a:r>
            <a:r>
              <a:rPr b="0" i="0" lang="en-US" sz="1400">
                <a:solidFill>
                  <a:srgbClr val="1C242C"/>
                </a:solidFill>
                <a:latin typeface="Arial"/>
                <a:ea typeface="Arial"/>
                <a:cs typeface="Arial"/>
                <a:sym typeface="Arial"/>
              </a:rPr>
              <a:t> voltage while current is injected to set the cell's operating point. Bellono and colleagues compared shark and skate receptor activity across matched voltage ranges. Average resting voltage was approximately −66 mV in shark cells and −54 mV in skate cells. Fixed injected current placed the cells at each operating point.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B4F7A"/>
              </a:buClr>
              <a:buSzPts val="1500"/>
              <a:buFont typeface="Arial"/>
              <a:buNone/>
            </a:pPr>
            <a:r>
              <a:rPr b="0" i="0" lang="en-US" sz="1400">
                <a:solidFill>
                  <a:srgbClr val="1C242C"/>
                </a:solidFill>
                <a:latin typeface="Arial"/>
                <a:ea typeface="Arial"/>
                <a:cs typeface="Arial"/>
                <a:sym typeface="Arial"/>
              </a:rPr>
              <a:t>Depolarizing shark cells into the calcium-current range triggered large repetitive voltage spikes. Skate cells generated smaller oscillations whose amplitude and frequency varied more strongly with membrane voltage. Nifedipine blocked shark depolarization. 4-AP prevented or markedly slowed repolarization in the shark cells. The spikes were repetitive across all repeated depolarizations in these recordings.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B4F7A"/>
              </a:buClr>
              <a:buSzPts val="1500"/>
              <a:buFont typeface="Arial"/>
              <a:buNone/>
            </a:pPr>
            <a:r>
              <a:rPr b="0" i="0" lang="en-US" sz="1400">
                <a:solidFill>
                  <a:srgbClr val="1C242C"/>
                </a:solidFill>
                <a:latin typeface="Arial"/>
                <a:ea typeface="Arial"/>
                <a:cs typeface="Arial"/>
                <a:sym typeface="Arial"/>
              </a:rPr>
              <a:t>These receptor spikes are calcium-driven membrane events, distinct from the sodium-dependent action potentials that afferent nerves propagate. The shared calcium mechanism and different potassium feedback produce distinct cellular dynamics in the two species. The potassium feedback is the element that differs between them. Shark cells fire spikes while skate cells oscillate.</a:t>
            </a:r>
            <a:endParaRPr sz="1800">
              <a:solidFill>
                <a:schemeClr val="dk1"/>
              </a:solidFill>
              <a:latin typeface="Calibri"/>
              <a:ea typeface="Calibri"/>
              <a:cs typeface="Calibri"/>
              <a:sym typeface="Calibri"/>
            </a:endParaRPr>
          </a:p>
        </p:txBody>
      </p:sp>
      <p:pic>
        <p:nvPicPr>
          <p:cNvPr id="559" name="Google Shape;559;p39"/>
          <p:cNvPicPr preferRelativeResize="0"/>
          <p:nvPr/>
        </p:nvPicPr>
        <p:blipFill rotWithShape="1">
          <a:blip r:embed="rId3">
            <a:alphaModFix/>
          </a:blip>
          <a:srcRect b="0" l="0" r="0" t="0"/>
          <a:stretch/>
        </p:blipFill>
        <p:spPr>
          <a:xfrm>
            <a:off x="7906262" y="1280071"/>
            <a:ext cx="2682347" cy="2925961"/>
          </a:xfrm>
          <a:prstGeom prst="rect">
            <a:avLst/>
          </a:prstGeom>
          <a:noFill/>
          <a:ln>
            <a:noFill/>
          </a:ln>
        </p:spPr>
      </p:pic>
      <p:sp>
        <p:nvSpPr>
          <p:cNvPr id="560" name="Google Shape;560;p39"/>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3(a–c). Shark spikes and skate oscillations under current clamp.</a:t>
            </a:r>
            <a:endParaRPr sz="1800">
              <a:solidFill>
                <a:schemeClr val="dk1"/>
              </a:solidFill>
              <a:latin typeface="Calibri"/>
              <a:ea typeface="Calibri"/>
              <a:cs typeface="Calibri"/>
              <a:sym typeface="Calibri"/>
            </a:endParaRPr>
          </a:p>
        </p:txBody>
      </p:sp>
      <p:pic>
        <p:nvPicPr>
          <p:cNvPr id="561" name="Google Shape;561;p39"/>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62" name="Google Shape;562;p39"/>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63" name="Google Shape;563;p3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4" name="Google Shape;564;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65" name="Google Shape;565;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9" name="Shape 569"/>
        <p:cNvGrpSpPr/>
        <p:nvPr/>
      </p:nvGrpSpPr>
      <p:grpSpPr>
        <a:xfrm>
          <a:off x="0" y="0"/>
          <a:ext cx="0" cy="0"/>
          <a:chOff x="0" y="0"/>
          <a:chExt cx="0" cy="0"/>
        </a:xfrm>
      </p:grpSpPr>
      <p:sp>
        <p:nvSpPr>
          <p:cNvPr id="570" name="Google Shape;570;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Sequential currents support repetitive shark spikes</a:t>
            </a:r>
            <a:endParaRPr sz="1800">
              <a:solidFill>
                <a:schemeClr val="dk1"/>
              </a:solidFill>
              <a:latin typeface="Calibri"/>
              <a:ea typeface="Calibri"/>
              <a:cs typeface="Calibri"/>
              <a:sym typeface="Calibri"/>
            </a:endParaRPr>
          </a:p>
        </p:txBody>
      </p:sp>
      <p:sp>
        <p:nvSpPr>
          <p:cNvPr id="571" name="Google Shape;571;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Bellono and colleagues imposed voltage commands that resemble recorded shark receptor spikes while measuring the ionic currents. This protocol tests whether the identified currents can follow the timing of actual membrane activity. Inward calcium current preceded outward potassium current during the repeated commands. commands were derived from recorded shark spikes.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At approximately −65 mV, the calcium current was small. Depolarization increased it before higher-voltage potassium activation opposed the inward flow. Blocking with 4-AP removed the outward component and exposed renewed calcium current during the return toward negative voltages. Both conductances remained available across repeated cycles. The current was measured at each command voltage.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 measured sequence supports calcium-driven depolarization followed by KV-mediated repolarization. Rapidly closing potassium channels allow another depolarizing cycle. Calcium buffering and accessory proteins may also shape the native response. The order of the currents matches the timing of the membrane spikes in the shark cells. Potassium current followed calcium current in each cycle.</a:t>
            </a:r>
            <a:endParaRPr sz="1800">
              <a:solidFill>
                <a:schemeClr val="dk1"/>
              </a:solidFill>
              <a:latin typeface="Calibri"/>
              <a:ea typeface="Calibri"/>
              <a:cs typeface="Calibri"/>
              <a:sym typeface="Calibri"/>
            </a:endParaRPr>
          </a:p>
        </p:txBody>
      </p:sp>
      <p:pic>
        <p:nvPicPr>
          <p:cNvPr id="574" name="Google Shape;574;p40"/>
          <p:cNvPicPr preferRelativeResize="0"/>
          <p:nvPr/>
        </p:nvPicPr>
        <p:blipFill rotWithShape="1">
          <a:blip r:embed="rId3">
            <a:alphaModFix/>
          </a:blip>
          <a:srcRect b="0" l="0" r="0" t="0"/>
          <a:stretch/>
        </p:blipFill>
        <p:spPr>
          <a:xfrm>
            <a:off x="6870139" y="1280071"/>
            <a:ext cx="4754742" cy="1456283"/>
          </a:xfrm>
          <a:prstGeom prst="rect">
            <a:avLst/>
          </a:prstGeom>
          <a:noFill/>
          <a:ln>
            <a:noFill/>
          </a:ln>
        </p:spPr>
      </p:pic>
      <p:sp>
        <p:nvSpPr>
          <p:cNvPr id="575" name="Google Shape;575;p40"/>
          <p:cNvSpPr/>
          <p:nvPr/>
        </p:nvSpPr>
        <p:spPr>
          <a:xfrm>
            <a:off x="6870055" y="282788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3(d). Calcium and potassium currents during voltage-spike commands.</a:t>
            </a:r>
            <a:endParaRPr sz="1800">
              <a:solidFill>
                <a:schemeClr val="dk1"/>
              </a:solidFill>
              <a:latin typeface="Calibri"/>
              <a:ea typeface="Calibri"/>
              <a:cs typeface="Calibri"/>
              <a:sym typeface="Calibri"/>
            </a:endParaRPr>
          </a:p>
        </p:txBody>
      </p:sp>
      <p:pic>
        <p:nvPicPr>
          <p:cNvPr id="576" name="Google Shape;576;p40"/>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77" name="Google Shape;577;p40"/>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78" name="Google Shape;578;p4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9" name="Google Shape;579;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80" name="Google Shape;580;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4" name="Shape 584"/>
        <p:cNvGrpSpPr/>
        <p:nvPr/>
      </p:nvGrpSpPr>
      <p:grpSpPr>
        <a:xfrm>
          <a:off x="0" y="0"/>
          <a:ext cx="0" cy="0"/>
          <a:chOff x="0" y="0"/>
          <a:chExt cx="0" cy="0"/>
        </a:xfrm>
      </p:grpSpPr>
      <p:sp>
        <p:nvSpPr>
          <p:cNvPr id="585" name="Google Shape;585;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Calcium influx triggers vesicular membrane fusion</a:t>
            </a:r>
            <a:endParaRPr sz="1800">
              <a:solidFill>
                <a:schemeClr val="dk1"/>
              </a:solidFill>
              <a:latin typeface="Calibri"/>
              <a:ea typeface="Calibri"/>
              <a:cs typeface="Calibri"/>
              <a:sym typeface="Calibri"/>
            </a:endParaRPr>
          </a:p>
        </p:txBody>
      </p:sp>
      <p:sp>
        <p:nvSpPr>
          <p:cNvPr id="586" name="Google Shape;586;p4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Bellono and colleagues measured membrane capacitance, a property reflecting how much charge the membrane can store. They used it as a readout of synaptic-vesicle fusion. Fusion adds vesicle membrane to the cell surface. A 200-ms pulse to −20 mV elicited calcium current and a capacitance increase in both shark and skate receptors.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Cadmium blocked both the inward current and the capacitance change, which supports calcium-dependent release. Longer stimuli produced larger release-associated responses. Shark responses approached saturation more rapidly, and skate capacitance rose more steadily with duration. Those release responses differed between the two species. Those responses were recorded from both receptor types.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Membrane-conductance controls ruled out recording artifacts that could mimic capacitance changes. The measured increase therefore reflects membrane addition associated with exocytosis. Calcium entry and vesicle fusion are established steps in this pathway. The conductance checks excluded changes in the membrane itself. Capacitance changes were read as fusion only after those checks.</a:t>
            </a:r>
            <a:endParaRPr sz="1800">
              <a:solidFill>
                <a:schemeClr val="dk1"/>
              </a:solidFill>
              <a:latin typeface="Calibri"/>
              <a:ea typeface="Calibri"/>
              <a:cs typeface="Calibri"/>
              <a:sym typeface="Calibri"/>
            </a:endParaRPr>
          </a:p>
        </p:txBody>
      </p:sp>
      <p:pic>
        <p:nvPicPr>
          <p:cNvPr id="589" name="Google Shape;589;p41"/>
          <p:cNvPicPr preferRelativeResize="0"/>
          <p:nvPr/>
        </p:nvPicPr>
        <p:blipFill rotWithShape="1">
          <a:blip r:embed="rId3">
            <a:alphaModFix/>
          </a:blip>
          <a:srcRect b="0" l="0" r="0" t="0"/>
          <a:stretch/>
        </p:blipFill>
        <p:spPr>
          <a:xfrm>
            <a:off x="6870121" y="1280071"/>
            <a:ext cx="4754779" cy="2294483"/>
          </a:xfrm>
          <a:prstGeom prst="rect">
            <a:avLst/>
          </a:prstGeom>
          <a:noFill/>
          <a:ln>
            <a:noFill/>
          </a:ln>
        </p:spPr>
      </p:pic>
      <p:sp>
        <p:nvSpPr>
          <p:cNvPr id="590" name="Google Shape;590;p41"/>
          <p:cNvSpPr/>
          <p:nvPr/>
        </p:nvSpPr>
        <p:spPr>
          <a:xfrm>
            <a:off x="6870055" y="366608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4(a–b). Calcium-dependent capacitance changes during vesicle fusion.</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592" name="Google Shape;592;p41"/>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593" name="Google Shape;593;p4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4" name="Google Shape;594;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95" name="Google Shape;595;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9" name="Shape 599"/>
        <p:cNvGrpSpPr/>
        <p:nvPr/>
      </p:nvGrpSpPr>
      <p:grpSpPr>
        <a:xfrm>
          <a:off x="0" y="0"/>
          <a:ext cx="0" cy="0"/>
          <a:chOff x="0" y="0"/>
          <a:chExt cx="0" cy="0"/>
        </a:xfrm>
      </p:grpSpPr>
      <p:sp>
        <p:nvSpPr>
          <p:cNvPr id="600" name="Google Shape;600;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Ribbon synapses organize receptor-to-nerve output</a:t>
            </a:r>
            <a:endParaRPr sz="1800">
              <a:solidFill>
                <a:schemeClr val="dk1"/>
              </a:solidFill>
              <a:latin typeface="Calibri"/>
              <a:ea typeface="Calibri"/>
              <a:cs typeface="Calibri"/>
              <a:sym typeface="Calibri"/>
            </a:endParaRPr>
          </a:p>
        </p:txBody>
      </p:sp>
      <p:sp>
        <p:nvSpPr>
          <p:cNvPr id="601" name="Google Shape;601;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A </a:t>
            </a:r>
            <a:r>
              <a:rPr b="1" i="0" lang="en-US" sz="1400">
                <a:solidFill>
                  <a:srgbClr val="0B4F7A"/>
                </a:solidFill>
                <a:latin typeface="Arial"/>
                <a:ea typeface="Arial"/>
                <a:cs typeface="Arial"/>
                <a:sym typeface="Arial"/>
              </a:rPr>
              <a:t>ribbon synapse</a:t>
            </a:r>
            <a:r>
              <a:rPr b="0" i="0" lang="en-US" sz="1400">
                <a:solidFill>
                  <a:srgbClr val="1C242C"/>
                </a:solidFill>
                <a:latin typeface="Arial"/>
                <a:ea typeface="Arial"/>
                <a:cs typeface="Arial"/>
                <a:sym typeface="Arial"/>
              </a:rPr>
              <a:t> contains an intracellular structure that tethers vesicles near the release membrane. Bellono and colleagues used electron microscopy to examine shark and skate receptor synapses. Both species contained unusually long ribbons. The ribbons were associated with vesicles and postsynaptic afferent endings. Long ribbons hold many vesicles near the release site.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 ribbons had similar shapes and tethered vesicles of comparable size and number. Shark receptors contained a larger readily releasable vesicle pool. Skate receptors contained more free cytoplasmic vesicles. These anatomical differences match the faster release saturation in shark cells. They also match the more sustained responses in skate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A readily releasable pool sits in position for rapid fusion. Free vesicles can replenish release sites over time. That role was proposed from comparison with other ribbon synapses. Electron microscopy shows the synaptic architecture. Capacitance and current recordings test its functional output. The anatomy and the recordings were compared as separate measures.</a:t>
            </a:r>
            <a:endParaRPr sz="1800">
              <a:solidFill>
                <a:schemeClr val="dk1"/>
              </a:solidFill>
              <a:latin typeface="Calibri"/>
              <a:ea typeface="Calibri"/>
              <a:cs typeface="Calibri"/>
              <a:sym typeface="Calibri"/>
            </a:endParaRPr>
          </a:p>
        </p:txBody>
      </p:sp>
      <p:pic>
        <p:nvPicPr>
          <p:cNvPr id="604" name="Google Shape;604;p42"/>
          <p:cNvPicPr preferRelativeResize="0"/>
          <p:nvPr/>
        </p:nvPicPr>
        <p:blipFill rotWithShape="1">
          <a:blip r:embed="rId3">
            <a:alphaModFix/>
          </a:blip>
          <a:srcRect b="0" l="0" r="0" t="0"/>
          <a:stretch/>
        </p:blipFill>
        <p:spPr>
          <a:xfrm>
            <a:off x="6870204" y="1280071"/>
            <a:ext cx="4754612" cy="1788021"/>
          </a:xfrm>
          <a:prstGeom prst="rect">
            <a:avLst/>
          </a:prstGeom>
          <a:noFill/>
          <a:ln>
            <a:noFill/>
          </a:ln>
        </p:spPr>
      </p:pic>
      <p:sp>
        <p:nvSpPr>
          <p:cNvPr id="605" name="Google Shape;605;p42"/>
          <p:cNvSpPr/>
          <p:nvPr/>
        </p:nvSpPr>
        <p:spPr>
          <a:xfrm>
            <a:off x="6870055" y="315962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4(c–d). Electron microscopy of shark and skate ribbon synapses.</a:t>
            </a:r>
            <a:endParaRPr sz="1800">
              <a:solidFill>
                <a:schemeClr val="dk1"/>
              </a:solidFill>
              <a:latin typeface="Calibri"/>
              <a:ea typeface="Calibri"/>
              <a:cs typeface="Calibri"/>
              <a:sym typeface="Calibri"/>
            </a:endParaRPr>
          </a:p>
        </p:txBody>
      </p:sp>
      <p:sp>
        <p:nvSpPr>
          <p:cNvPr id="606" name="Google Shape;606;p4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7" name="Google Shape;607;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a:t>
            </a:r>
            <a:endParaRPr sz="1800">
              <a:solidFill>
                <a:schemeClr val="dk1"/>
              </a:solidFill>
              <a:latin typeface="Calibri"/>
              <a:ea typeface="Calibri"/>
              <a:cs typeface="Calibri"/>
              <a:sym typeface="Calibri"/>
            </a:endParaRPr>
          </a:p>
        </p:txBody>
      </p:sp>
      <p:sp>
        <p:nvSpPr>
          <p:cNvPr id="608" name="Google Shape;608;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2" name="Shape 612"/>
        <p:cNvGrpSpPr/>
        <p:nvPr/>
      </p:nvGrpSpPr>
      <p:grpSpPr>
        <a:xfrm>
          <a:off x="0" y="0"/>
          <a:ext cx="0" cy="0"/>
          <a:chOff x="0" y="0"/>
          <a:chExt cx="0" cy="0"/>
        </a:xfrm>
      </p:grpSpPr>
      <p:sp>
        <p:nvSpPr>
          <p:cNvPr id="613" name="Google Shape;613;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Cellular tuning parallels species-specific ventilation</a:t>
            </a:r>
            <a:endParaRPr sz="1800">
              <a:solidFill>
                <a:schemeClr val="dk1"/>
              </a:solidFill>
              <a:latin typeface="Calibri"/>
              <a:ea typeface="Calibri"/>
              <a:cs typeface="Calibri"/>
              <a:sym typeface="Calibri"/>
            </a:endParaRPr>
          </a:p>
        </p:txBody>
      </p:sp>
      <p:sp>
        <p:nvSpPr>
          <p:cNvPr id="614" name="Google Shape;614;p4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Bellono and colleagues compared electrically evoked ventilation in chain catsharks and little skates. They used equal-strength stimuli across frequencies. Ventilation is the movement of water over the gills for gas exchange. Food odor verified that both species produced a measurable response. Ventilation provides a measurable output. That output depends on the electrical stimulus delivered.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Catsharks increased ventilation similarly across the tested electrical frequencies. Skates responded most strongly at lower frequencies. Cell measurements suggested at least tenfold greater vesicle release for a shark voltage spike. That comparison was made against a skate oscillation. Equal maximal odor responses showed comparable ventilatory readouts. The readouts allowed the two species to be compared.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These results support broad, threshold-like detection in sharks and more selective tuning in skates. The vesicle number is an estimate, and ventilation is a separate measure from prey identification. The estimate used calcium charge and capacitance changes. It was not a direct count of vesicles during a spike. The estimate depends on that calculation.</a:t>
            </a:r>
            <a:endParaRPr sz="1800">
              <a:solidFill>
                <a:schemeClr val="dk1"/>
              </a:solidFill>
              <a:latin typeface="Calibri"/>
              <a:ea typeface="Calibri"/>
              <a:cs typeface="Calibri"/>
              <a:sym typeface="Calibri"/>
            </a:endParaRPr>
          </a:p>
        </p:txBody>
      </p:sp>
      <p:pic>
        <p:nvPicPr>
          <p:cNvPr id="617" name="Google Shape;617;p43"/>
          <p:cNvPicPr preferRelativeResize="0"/>
          <p:nvPr/>
        </p:nvPicPr>
        <p:blipFill rotWithShape="1">
          <a:blip r:embed="rId3">
            <a:alphaModFix/>
          </a:blip>
          <a:srcRect b="0" l="0" r="0" t="0"/>
          <a:stretch/>
        </p:blipFill>
        <p:spPr>
          <a:xfrm>
            <a:off x="6870161" y="1280071"/>
            <a:ext cx="4754698" cy="1698427"/>
          </a:xfrm>
          <a:prstGeom prst="rect">
            <a:avLst/>
          </a:prstGeom>
          <a:noFill/>
          <a:ln>
            <a:noFill/>
          </a:ln>
        </p:spPr>
      </p:pic>
      <p:sp>
        <p:nvSpPr>
          <p:cNvPr id="618" name="Google Shape;618;p43"/>
          <p:cNvSpPr/>
          <p:nvPr/>
        </p:nvSpPr>
        <p:spPr>
          <a:xfrm>
            <a:off x="6870055" y="307002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4(e–g). Calcium–release relationships and frequency-dependent ventilation.</a:t>
            </a:r>
            <a:endParaRPr sz="1800">
              <a:solidFill>
                <a:schemeClr val="dk1"/>
              </a:solidFill>
              <a:latin typeface="Calibri"/>
              <a:ea typeface="Calibri"/>
              <a:cs typeface="Calibri"/>
              <a:sym typeface="Calibri"/>
            </a:endParaRPr>
          </a:p>
        </p:txBody>
      </p:sp>
      <p:sp>
        <p:nvSpPr>
          <p:cNvPr id="619" name="Google Shape;619;p4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a:t>
            </a:r>
            <a:endParaRPr sz="1800">
              <a:solidFill>
                <a:schemeClr val="dk1"/>
              </a:solidFill>
              <a:latin typeface="Calibri"/>
              <a:ea typeface="Calibri"/>
              <a:cs typeface="Calibri"/>
              <a:sym typeface="Calibri"/>
            </a:endParaRPr>
          </a:p>
        </p:txBody>
      </p:sp>
      <p:sp>
        <p:nvSpPr>
          <p:cNvPr id="621" name="Google Shape;621;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5" name="Shape 625"/>
        <p:cNvGrpSpPr/>
        <p:nvPr/>
      </p:nvGrpSpPr>
      <p:grpSpPr>
        <a:xfrm>
          <a:off x="0" y="0"/>
          <a:ext cx="0" cy="0"/>
          <a:chOff x="0" y="0"/>
          <a:chExt cx="0" cy="0"/>
        </a:xfrm>
      </p:grpSpPr>
      <p:sp>
        <p:nvSpPr>
          <p:cNvPr id="626" name="Google Shape;626;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The hindbrain learns to cancel predictable self-input</a:t>
            </a:r>
            <a:endParaRPr sz="1800">
              <a:solidFill>
                <a:schemeClr val="dk1"/>
              </a:solidFill>
              <a:latin typeface="Calibri"/>
              <a:ea typeface="Calibri"/>
              <a:cs typeface="Calibri"/>
              <a:sym typeface="Calibri"/>
            </a:endParaRPr>
          </a:p>
        </p:txBody>
      </p:sp>
      <p:sp>
        <p:nvSpPr>
          <p:cNvPr id="627" name="Google Shape;627;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B4F7A"/>
              </a:buClr>
              <a:buSzPts val="1500"/>
              <a:buFont typeface="Arial"/>
              <a:buNone/>
            </a:pPr>
            <a:r>
              <a:rPr b="1" i="0" lang="en-US" sz="1400">
                <a:solidFill>
                  <a:srgbClr val="0B4F7A"/>
                </a:solidFill>
                <a:latin typeface="Arial"/>
                <a:ea typeface="Arial"/>
                <a:cs typeface="Arial"/>
                <a:sym typeface="Arial"/>
              </a:rPr>
              <a:t>Reafference</a:t>
            </a:r>
            <a:r>
              <a:rPr b="0" i="0" lang="en-US" sz="1400">
                <a:solidFill>
                  <a:srgbClr val="1C242C"/>
                </a:solidFill>
                <a:latin typeface="Arial"/>
                <a:ea typeface="Arial"/>
                <a:cs typeface="Arial"/>
                <a:sym typeface="Arial"/>
              </a:rPr>
              <a:t> is sensory stimulation caused by an animal's own movement. Montgomery and Bodznick recorded ascending efferent neurons in the little skate's dorsal octavolateralis nucleus, or DON. The DON is the first medullary electrosensory processing nucleus. Ventilation timing was measured with a force transducer near the gills. The DON receives input from the skin.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B4F7A"/>
              </a:buClr>
              <a:buSzPts val="1500"/>
              <a:buFont typeface="Arial"/>
              <a:buNone/>
            </a:pPr>
            <a:r>
              <a:rPr b="0" i="0" lang="en-US" sz="1400">
                <a:solidFill>
                  <a:srgbClr val="1C242C"/>
                </a:solidFill>
                <a:latin typeface="Arial"/>
                <a:ea typeface="Arial"/>
                <a:cs typeface="Arial"/>
                <a:sym typeface="Arial"/>
              </a:rPr>
              <a:t>A 2-µV dipole stimulus at the skin was repeatedly coupled to ventilation. Neural responses declined over minutes. Uncoupled presentations still evoked responses. After 10 minutes of coupling, the mean reduction in responsive neurons was 44.3%. Turning the stimulus off revealed an opposite-sign cancellation response. The response was at the trained respiratory phase.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B4F7A"/>
              </a:buClr>
              <a:buSzPts val="1500"/>
              <a:buFont typeface="Arial"/>
              <a:buNone/>
            </a:pPr>
            <a:r>
              <a:rPr b="0" i="0" lang="en-US" sz="1400">
                <a:solidFill>
                  <a:srgbClr val="1C242C"/>
                </a:solidFill>
                <a:latin typeface="Arial"/>
                <a:ea typeface="Arial"/>
                <a:cs typeface="Arial"/>
                <a:sym typeface="Arial"/>
              </a:rPr>
              <a:t>Controls distinguish learned temporal cancellation from generalized fatigue. Primary afferents contact basal dendrites, while cerebellar parallel fibers and inhibitory interneurons contact apical dendrites. Plasticity in this circuit was proposed to generate the cancellation signal. The learned cancellation persists briefly when the input is removed. The cancellation was tied to the trained respiratory phase.</a:t>
            </a:r>
            <a:endParaRPr sz="1800">
              <a:solidFill>
                <a:schemeClr val="dk1"/>
              </a:solidFill>
              <a:latin typeface="Calibri"/>
              <a:ea typeface="Calibri"/>
              <a:cs typeface="Calibri"/>
              <a:sym typeface="Calibri"/>
            </a:endParaRPr>
          </a:p>
        </p:txBody>
      </p:sp>
      <p:pic>
        <p:nvPicPr>
          <p:cNvPr id="630" name="Google Shape;630;p44"/>
          <p:cNvPicPr preferRelativeResize="0"/>
          <p:nvPr/>
        </p:nvPicPr>
        <p:blipFill rotWithShape="1">
          <a:blip r:embed="rId3">
            <a:alphaModFix/>
          </a:blip>
          <a:srcRect b="0" l="0" r="0" t="0"/>
          <a:stretch/>
        </p:blipFill>
        <p:spPr>
          <a:xfrm>
            <a:off x="8216057" y="1280082"/>
            <a:ext cx="2062907" cy="2834558"/>
          </a:xfrm>
          <a:prstGeom prst="rect">
            <a:avLst/>
          </a:prstGeom>
          <a:noFill/>
          <a:ln>
            <a:noFill/>
          </a:ln>
        </p:spPr>
      </p:pic>
      <p:sp>
        <p:nvSpPr>
          <p:cNvPr id="631" name="Google Shape;631;p44"/>
          <p:cNvSpPr/>
          <p:nvPr/>
        </p:nvSpPr>
        <p:spPr>
          <a:xfrm>
            <a:off x="6870055" y="420618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Montgomery &amp; Bodznick (1994), Fig. 1. Ventilation-coupled stimulation induces adaptive cancellation.</a:t>
            </a:r>
            <a:endParaRPr sz="1800">
              <a:solidFill>
                <a:schemeClr val="dk1"/>
              </a:solidFill>
              <a:latin typeface="Calibri"/>
              <a:ea typeface="Calibri"/>
              <a:cs typeface="Calibri"/>
              <a:sym typeface="Calibri"/>
            </a:endParaRPr>
          </a:p>
        </p:txBody>
      </p:sp>
      <p:pic>
        <p:nvPicPr>
          <p:cNvPr id="632" name="Google Shape;632;p44"/>
          <p:cNvPicPr preferRelativeResize="0"/>
          <p:nvPr/>
        </p:nvPicPr>
        <p:blipFill rotWithShape="1">
          <a:blip r:embed="rId4">
            <a:alphaModFix/>
          </a:blip>
          <a:srcRect b="0" l="0" r="0" t="0"/>
          <a:stretch/>
        </p:blipFill>
        <p:spPr>
          <a:xfrm>
            <a:off x="8609142" y="4663380"/>
            <a:ext cx="1276586" cy="1097161"/>
          </a:xfrm>
          <a:prstGeom prst="rect">
            <a:avLst/>
          </a:prstGeom>
          <a:noFill/>
          <a:ln>
            <a:noFill/>
          </a:ln>
        </p:spPr>
      </p:pic>
      <p:sp>
        <p:nvSpPr>
          <p:cNvPr id="633" name="Google Shape;633;p44"/>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Montgomery &amp; Bodznick (1994), Fig. 3. Original published medullary anatomy.</a:t>
            </a:r>
            <a:endParaRPr sz="1800">
              <a:solidFill>
                <a:schemeClr val="dk1"/>
              </a:solidFill>
              <a:latin typeface="Calibri"/>
              <a:ea typeface="Calibri"/>
              <a:cs typeface="Calibri"/>
              <a:sym typeface="Calibri"/>
            </a:endParaRPr>
          </a:p>
        </p:txBody>
      </p:sp>
      <p:sp>
        <p:nvSpPr>
          <p:cNvPr id="634" name="Google Shape;634;p4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5" name="Google Shape;635;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Montgomery &amp; Bodznick (1994)</a:t>
            </a:r>
            <a:endParaRPr sz="1800">
              <a:solidFill>
                <a:schemeClr val="dk1"/>
              </a:solidFill>
              <a:latin typeface="Calibri"/>
              <a:ea typeface="Calibri"/>
              <a:cs typeface="Calibri"/>
              <a:sym typeface="Calibri"/>
            </a:endParaRPr>
          </a:p>
        </p:txBody>
      </p:sp>
      <p:sp>
        <p:nvSpPr>
          <p:cNvPr id="636" name="Google Shape;636;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0" name="Shape 640"/>
        <p:cNvGrpSpPr/>
        <p:nvPr/>
      </p:nvGrpSpPr>
      <p:grpSpPr>
        <a:xfrm>
          <a:off x="0" y="0"/>
          <a:ext cx="0" cy="0"/>
          <a:chOff x="0" y="0"/>
          <a:chExt cx="0" cy="0"/>
        </a:xfrm>
      </p:grpSpPr>
      <p:sp>
        <p:nvSpPr>
          <p:cNvPr id="641" name="Google Shape;641;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Androgen state alters afferent frequency tuning</a:t>
            </a:r>
            <a:endParaRPr sz="1800">
              <a:solidFill>
                <a:schemeClr val="dk1"/>
              </a:solidFill>
              <a:latin typeface="Calibri"/>
              <a:ea typeface="Calibri"/>
              <a:cs typeface="Calibri"/>
              <a:sym typeface="Calibri"/>
            </a:endParaRPr>
          </a:p>
        </p:txBody>
      </p:sp>
      <p:sp>
        <p:nvSpPr>
          <p:cNvPr id="642" name="Google Shape;642;p4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Sisneros and Tricas implanted male Atlantic stingrays, </a:t>
            </a:r>
            <a:r>
              <a:rPr b="0" i="1" lang="en-US" sz="1400">
                <a:solidFill>
                  <a:srgbClr val="1C242C"/>
                </a:solidFill>
                <a:latin typeface="Arial"/>
                <a:ea typeface="Arial"/>
                <a:cs typeface="Arial"/>
                <a:sym typeface="Arial"/>
              </a:rPr>
              <a:t>Dasyatis sabina</a:t>
            </a:r>
            <a:r>
              <a:rPr b="0" i="0" lang="en-US" sz="1400">
                <a:solidFill>
                  <a:srgbClr val="1C242C"/>
                </a:solidFill>
                <a:latin typeface="Arial"/>
                <a:ea typeface="Arial"/>
                <a:cs typeface="Arial"/>
                <a:sym typeface="Arial"/>
              </a:rPr>
              <a:t>, with dihydrotestosterone, or DHT, an androgen hormone. Empty implants served as treatment controls. After 10 to 21 days, they recorded electrosensory afferents while varying the frequency of uniform electric-field stimulation. The hormone state was set before each recording. The implants were given before the recordings were made.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Control afferents peaked near 7 to 8 Hz. Afferents from DHT-treated animals peaked at about 5 to 6 Hz. Responses from 0.5 to 4 Hz were about 2 to 4 dB higher in treated animals. Canal groups showed different tuning patterns linked to receptor anatomy and canal length. Responses were compared across the same frequency range.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Hormonal state modulates peripheral sensory coding instead of setting a fixed species-wide frequency filter. The frequency shift is a direct experimental result. The ecological interpretation about conspecific ventilation is a separate inference. The short and long canal groups showed different tuning. The tuning differences are an observed result. The ecological reading is a separate interpretation.</a:t>
            </a:r>
            <a:endParaRPr sz="1800">
              <a:solidFill>
                <a:schemeClr val="dk1"/>
              </a:solidFill>
              <a:latin typeface="Calibri"/>
              <a:ea typeface="Calibri"/>
              <a:cs typeface="Calibri"/>
              <a:sym typeface="Calibri"/>
            </a:endParaRPr>
          </a:p>
        </p:txBody>
      </p:sp>
      <p:pic>
        <p:nvPicPr>
          <p:cNvPr id="645" name="Google Shape;645;p45"/>
          <p:cNvPicPr preferRelativeResize="0"/>
          <p:nvPr/>
        </p:nvPicPr>
        <p:blipFill rotWithShape="1">
          <a:blip r:embed="rId3">
            <a:alphaModFix/>
          </a:blip>
          <a:srcRect b="0" l="0" r="0" t="0"/>
          <a:stretch/>
        </p:blipFill>
        <p:spPr>
          <a:xfrm>
            <a:off x="8147008" y="1280071"/>
            <a:ext cx="2200706" cy="2834580"/>
          </a:xfrm>
          <a:prstGeom prst="rect">
            <a:avLst/>
          </a:prstGeom>
          <a:noFill/>
          <a:ln>
            <a:noFill/>
          </a:ln>
        </p:spPr>
      </p:pic>
      <p:sp>
        <p:nvSpPr>
          <p:cNvPr id="646" name="Google Shape;646;p45"/>
          <p:cNvSpPr/>
          <p:nvPr/>
        </p:nvSpPr>
        <p:spPr>
          <a:xfrm>
            <a:off x="6870055" y="420618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Sisneros &amp; Tricas (2000), Fig. 6. Androgen treatment shifts afferent frequency response.</a:t>
            </a:r>
            <a:endParaRPr sz="1800">
              <a:solidFill>
                <a:schemeClr val="dk1"/>
              </a:solidFill>
              <a:latin typeface="Calibri"/>
              <a:ea typeface="Calibri"/>
              <a:cs typeface="Calibri"/>
              <a:sym typeface="Calibri"/>
            </a:endParaRPr>
          </a:p>
        </p:txBody>
      </p:sp>
      <p:pic>
        <p:nvPicPr>
          <p:cNvPr id="647" name="Google Shape;647;p45"/>
          <p:cNvPicPr preferRelativeResize="0"/>
          <p:nvPr/>
        </p:nvPicPr>
        <p:blipFill rotWithShape="1">
          <a:blip r:embed="rId4">
            <a:alphaModFix/>
          </a:blip>
          <a:srcRect b="0" l="0" r="0" t="0"/>
          <a:stretch/>
        </p:blipFill>
        <p:spPr>
          <a:xfrm>
            <a:off x="8465552" y="4663380"/>
            <a:ext cx="1563917" cy="1097161"/>
          </a:xfrm>
          <a:prstGeom prst="rect">
            <a:avLst/>
          </a:prstGeom>
          <a:noFill/>
          <a:ln>
            <a:noFill/>
          </a:ln>
        </p:spPr>
      </p:pic>
      <p:sp>
        <p:nvSpPr>
          <p:cNvPr id="648" name="Google Shape;648;p45"/>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Sisneros &amp; Tricas (2000), Fig. 9. Ampullary canal distribution.</a:t>
            </a:r>
            <a:endParaRPr sz="1800">
              <a:solidFill>
                <a:schemeClr val="dk1"/>
              </a:solidFill>
              <a:latin typeface="Calibri"/>
              <a:ea typeface="Calibri"/>
              <a:cs typeface="Calibri"/>
              <a:sym typeface="Calibri"/>
            </a:endParaRPr>
          </a:p>
        </p:txBody>
      </p:sp>
      <p:sp>
        <p:nvSpPr>
          <p:cNvPr id="649" name="Google Shape;649;p4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Sisneros &amp; Tricas (2000)</a:t>
            </a:r>
            <a:endParaRPr sz="1800">
              <a:solidFill>
                <a:schemeClr val="dk1"/>
              </a:solidFill>
              <a:latin typeface="Calibri"/>
              <a:ea typeface="Calibri"/>
              <a:cs typeface="Calibri"/>
              <a:sym typeface="Calibri"/>
            </a:endParaRPr>
          </a:p>
        </p:txBody>
      </p:sp>
      <p:sp>
        <p:nvSpPr>
          <p:cNvPr id="651" name="Google Shape;651;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5" name="Shape 655"/>
        <p:cNvGrpSpPr/>
        <p:nvPr/>
      </p:nvGrpSpPr>
      <p:grpSpPr>
        <a:xfrm>
          <a:off x="0" y="0"/>
          <a:ext cx="0" cy="0"/>
          <a:chOff x="0" y="0"/>
          <a:chExt cx="0" cy="0"/>
        </a:xfrm>
      </p:grpSpPr>
      <p:sp>
        <p:nvSpPr>
          <p:cNvPr id="656" name="Google Shape;656;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57" name="Google Shape;657;p46"/>
          <p:cNvSpPr/>
          <p:nvPr/>
        </p:nvSpPr>
        <p:spPr>
          <a:xfrm>
            <a:off x="566886" y="12343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8" name="Google Shape;658;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Electrical guidance is experimentally isolated</a:t>
            </a:r>
            <a:r>
              <a:rPr b="0" i="0" lang="en-US" sz="1600">
                <a:solidFill>
                  <a:srgbClr val="1C242C"/>
                </a:solidFill>
                <a:latin typeface="Arial"/>
                <a:ea typeface="Arial"/>
                <a:cs typeface="Arial"/>
                <a:sym typeface="Arial"/>
              </a:rPr>
              <a:t> Conductive agar preserves attacks, insulation blocks them, and active dipoles restore directed feeding independently of target odor.</a:t>
            </a:r>
            <a:endParaRPr sz="1800">
              <a:solidFill>
                <a:schemeClr val="dk1"/>
              </a:solidFill>
              <a:latin typeface="Calibri"/>
              <a:ea typeface="Calibri"/>
              <a:cs typeface="Calibri"/>
              <a:sym typeface="Calibri"/>
            </a:endParaRPr>
          </a:p>
        </p:txBody>
      </p:sp>
      <p:sp>
        <p:nvSpPr>
          <p:cNvPr id="659" name="Google Shape;659;p46"/>
          <p:cNvSpPr/>
          <p:nvPr/>
        </p:nvSpPr>
        <p:spPr>
          <a:xfrm>
            <a:off x="6233071" y="12343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0" name="Google Shape;660;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Sensitivity depends on geometry and sampling</a:t>
            </a:r>
            <a:r>
              <a:rPr b="0" i="0" lang="en-US" sz="1600">
                <a:solidFill>
                  <a:srgbClr val="1C242C"/>
                </a:solidFill>
                <a:latin typeface="Arial"/>
                <a:ea typeface="Arial"/>
                <a:cs typeface="Arial"/>
                <a:sym typeface="Arial"/>
              </a:rPr>
              <a:t> Nanovolt-gradient responses require source geometry, encounter angle and movement to be distinguished from cellular voltage thresholds.</a:t>
            </a:r>
            <a:endParaRPr sz="1800">
              <a:solidFill>
                <a:schemeClr val="dk1"/>
              </a:solidFill>
              <a:latin typeface="Calibri"/>
              <a:ea typeface="Calibri"/>
              <a:cs typeface="Calibri"/>
              <a:sym typeface="Calibri"/>
            </a:endParaRPr>
          </a:p>
        </p:txBody>
      </p:sp>
      <p:sp>
        <p:nvSpPr>
          <p:cNvPr id="661" name="Google Shape;661;p46"/>
          <p:cNvSpPr/>
          <p:nvPr/>
        </p:nvSpPr>
        <p:spPr>
          <a:xfrm>
            <a:off x="566886" y="29869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2" name="Google Shape;662;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Receptors amplify weak inputs</a:t>
            </a:r>
            <a:r>
              <a:rPr b="0" i="0" lang="en-US" sz="1600">
                <a:solidFill>
                  <a:srgbClr val="1C242C"/>
                </a:solidFill>
                <a:latin typeface="Arial"/>
                <a:ea typeface="Arial"/>
                <a:cs typeface="Arial"/>
                <a:sym typeface="Arial"/>
              </a:rPr>
              <a:t> Low-threshold CaV1.3 supports calcium entry; BK feedback in skates and KV1.3 feedback in catsharks produce distinct membrane dynamics.</a:t>
            </a:r>
            <a:endParaRPr sz="1800">
              <a:solidFill>
                <a:schemeClr val="dk1"/>
              </a:solidFill>
              <a:latin typeface="Calibri"/>
              <a:ea typeface="Calibri"/>
              <a:cs typeface="Calibri"/>
              <a:sym typeface="Calibri"/>
            </a:endParaRPr>
          </a:p>
        </p:txBody>
      </p:sp>
      <p:sp>
        <p:nvSpPr>
          <p:cNvPr id="663" name="Google Shape;663;p46"/>
          <p:cNvSpPr/>
          <p:nvPr/>
        </p:nvSpPr>
        <p:spPr>
          <a:xfrm>
            <a:off x="6233071" y="29869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Sequence changes alter channel function</a:t>
            </a:r>
            <a:r>
              <a:rPr b="0" i="0" lang="en-US" sz="1600">
                <a:solidFill>
                  <a:srgbClr val="1C242C"/>
                </a:solidFill>
                <a:latin typeface="Arial"/>
                <a:ea typeface="Arial"/>
                <a:cs typeface="Arial"/>
                <a:sym typeface="Arial"/>
              </a:rPr>
              <a:t> Neutralization and reciprocal mutations causally link particular CaV1.3 and BK residues to activation, conductance and opening behavior.</a:t>
            </a:r>
            <a:endParaRPr sz="1800">
              <a:solidFill>
                <a:schemeClr val="dk1"/>
              </a:solidFill>
              <a:latin typeface="Calibri"/>
              <a:ea typeface="Calibri"/>
              <a:cs typeface="Calibri"/>
              <a:sym typeface="Calibri"/>
            </a:endParaRPr>
          </a:p>
        </p:txBody>
      </p:sp>
      <p:sp>
        <p:nvSpPr>
          <p:cNvPr id="665" name="Google Shape;665;p46"/>
          <p:cNvSpPr/>
          <p:nvPr/>
        </p:nvSpPr>
        <p:spPr>
          <a:xfrm>
            <a:off x="566886" y="47395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46"/>
          <p:cNvSpPr/>
          <p:nvPr/>
        </p:nvSpPr>
        <p:spPr>
          <a:xfrm>
            <a:off x="749796"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500"/>
              <a:buFont typeface="Arial"/>
              <a:buNone/>
            </a:pPr>
            <a:r>
              <a:rPr b="1" i="0" lang="en-US" sz="1500">
                <a:solidFill>
                  <a:srgbClr val="0B4F7A"/>
                </a:solidFill>
                <a:latin typeface="Arial"/>
                <a:ea typeface="Arial"/>
                <a:cs typeface="Arial"/>
                <a:sym typeface="Arial"/>
              </a:rPr>
              <a:t>Synapses transform cellular activity into output</a:t>
            </a:r>
            <a:r>
              <a:rPr b="0" i="0" lang="en-US" sz="1500">
                <a:solidFill>
                  <a:srgbClr val="1C242C"/>
                </a:solidFill>
                <a:latin typeface="Arial"/>
                <a:ea typeface="Arial"/>
                <a:cs typeface="Arial"/>
                <a:sym typeface="Arial"/>
              </a:rPr>
              <a:t> Calcium-dependent ribbon-synapse release differs between shark and skate receptors; vesicle estimates and ventilation do not alone prove ecological function.</a:t>
            </a:r>
            <a:endParaRPr sz="1800">
              <a:solidFill>
                <a:schemeClr val="dk1"/>
              </a:solidFill>
              <a:latin typeface="Calibri"/>
              <a:ea typeface="Calibri"/>
              <a:cs typeface="Calibri"/>
              <a:sym typeface="Calibri"/>
            </a:endParaRPr>
          </a:p>
        </p:txBody>
      </p:sp>
      <p:sp>
        <p:nvSpPr>
          <p:cNvPr id="667" name="Google Shape;667;p46"/>
          <p:cNvSpPr/>
          <p:nvPr/>
        </p:nvSpPr>
        <p:spPr>
          <a:xfrm>
            <a:off x="6233071" y="47395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8" name="Google Shape;668;p46"/>
          <p:cNvSpPr/>
          <p:nvPr/>
        </p:nvSpPr>
        <p:spPr>
          <a:xfrm>
            <a:off x="6415980"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Sensory coding is adaptable</a:t>
            </a:r>
            <a:r>
              <a:rPr b="0" i="0" lang="en-US" sz="1600">
                <a:solidFill>
                  <a:srgbClr val="1C242C"/>
                </a:solidFill>
                <a:latin typeface="Arial"/>
                <a:ea typeface="Arial"/>
                <a:cs typeface="Arial"/>
                <a:sym typeface="Arial"/>
              </a:rPr>
              <a:t> Afferents saturate and adapt; hindbrain filtering cancels ventilation-linked input, and androgen treatment changes peripheral frequency tuning.</a:t>
            </a:r>
            <a:endParaRPr sz="1800">
              <a:solidFill>
                <a:schemeClr val="dk1"/>
              </a:solidFill>
              <a:latin typeface="Calibri"/>
              <a:ea typeface="Calibri"/>
              <a:cs typeface="Calibri"/>
              <a:sym typeface="Calibri"/>
            </a:endParaRPr>
          </a:p>
        </p:txBody>
      </p:sp>
      <p:sp>
        <p:nvSpPr>
          <p:cNvPr id="669" name="Google Shape;669;p4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 Bellono et al. (2017, 2018); Montgomery &amp; Bodznick (1994)</a:t>
            </a:r>
            <a:endParaRPr sz="1800">
              <a:solidFill>
                <a:schemeClr val="dk1"/>
              </a:solidFill>
              <a:latin typeface="Calibri"/>
              <a:ea typeface="Calibri"/>
              <a:cs typeface="Calibri"/>
              <a:sym typeface="Calibri"/>
            </a:endParaRPr>
          </a:p>
        </p:txBody>
      </p:sp>
      <p:sp>
        <p:nvSpPr>
          <p:cNvPr id="671" name="Google Shape;671;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00" name="Google Shape;600;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Exocytosis and vesicle pools in receptor cells</a:t>
            </a:r>
            <a:endParaRPr sz="1800">
              <a:solidFill>
                <a:schemeClr val="dk1"/>
              </a:solidFill>
              <a:latin typeface="Calibri"/>
              <a:ea typeface="Calibri"/>
              <a:cs typeface="Calibri"/>
              <a:sym typeface="Calibri"/>
            </a:endParaRPr>
          </a:p>
        </p:txBody>
      </p:sp>
      <p:sp>
        <p:nvSpPr>
          <p:cNvPr id="601" name="Google Shape;601;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1" i="0" lang="en-US" sz="1400">
                <a:solidFill>
                  <a:srgbClr val="0B4F7A"/>
                </a:solidFill>
                <a:latin typeface="Arial"/>
                <a:ea typeface="Arial"/>
                <a:cs typeface="Arial"/>
                <a:sym typeface="Arial"/>
              </a:rPr>
              <a:t>Exocytosis</a:t>
            </a:r>
            <a:r>
              <a:rPr b="0" i="0" lang="en-US" sz="1400">
                <a:solidFill>
                  <a:srgbClr val="1C242C"/>
                </a:solidFill>
                <a:latin typeface="Arial"/>
                <a:ea typeface="Arial"/>
                <a:cs typeface="Arial"/>
                <a:sym typeface="Arial"/>
              </a:rPr>
              <a:t> means fusion of an intracellular vesicle with the plasma membrane. Cadmium is a calcium-channel pore blocker, so its effect on capacitance links vesicle release to calcium entry under this protocol, which is the logic behind the cadmium test. Blocking calcium entry is the step that removes the release response. The protocol isolates release that depends on calcium entry.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A change in membrane conductance can interfere with capacitance estimates, so the reported conductance checks were central to the measurement. The capacitance increase is interpreted as membrane addition from fusing vesicles only after those checks pass. The conductance controls ruled out artifacts that could mimic the capacitance change. Conductance checks were reported in each experiment.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A readily releasable pool is positioned for rapid fusion, whereas a refilling pool replenishes release sites over time. These two pool types describe different timescales of the same release process within a single receptor cell. Both pools are present in the same ribbon synapse of each receptor cell. Refilling is a proposed role for free vesicles in ribbon synapses.</a:t>
            </a:r>
            <a:endParaRPr sz="1800">
              <a:solidFill>
                <a:schemeClr val="dk1"/>
              </a:solidFill>
              <a:latin typeface="Calibri"/>
              <a:ea typeface="Calibri"/>
              <a:cs typeface="Calibri"/>
              <a:sym typeface="Calibri"/>
            </a:endParaRPr>
          </a:p>
        </p:txBody>
      </p:sp>
      <p:pic>
        <p:nvPicPr>
          <p:cNvPr id="604" name="Google Shape;604;p42"/>
          <p:cNvPicPr preferRelativeResize="0"/>
          <p:nvPr/>
        </p:nvPicPr>
        <p:blipFill rotWithShape="1">
          <a:blip r:embed="rId2">
            <a:alphaModFix/>
          </a:blip>
          <a:srcRect b="0" l="0" r="0" t="0"/>
          <a:stretch/>
        </p:blipFill>
        <p:spPr>
          <a:xfrm>
            <a:off x="6870204" y="1280071"/>
            <a:ext cx="4754612" cy="1788021"/>
          </a:xfrm>
          <a:prstGeom prst="rect">
            <a:avLst/>
          </a:prstGeom>
          <a:noFill/>
          <a:ln>
            <a:noFill/>
          </a:ln>
        </p:spPr>
      </p:pic>
      <p:sp>
        <p:nvSpPr>
          <p:cNvPr id="605" name="Google Shape;605;p42"/>
          <p:cNvSpPr/>
          <p:nvPr/>
        </p:nvSpPr>
        <p:spPr>
          <a:xfrm>
            <a:off x="6870055" y="315962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4(c–d). Electron microscopy of shark and skate ribbon synapses.</a:t>
            </a:r>
            <a:endParaRPr sz="1800">
              <a:solidFill>
                <a:schemeClr val="dk1"/>
              </a:solidFill>
              <a:latin typeface="Calibri"/>
              <a:ea typeface="Calibri"/>
              <a:cs typeface="Calibri"/>
              <a:sym typeface="Calibri"/>
            </a:endParaRPr>
          </a:p>
        </p:txBody>
      </p:sp>
      <p:sp>
        <p:nvSpPr>
          <p:cNvPr id="606" name="Google Shape;606;p4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7" name="Google Shape;607;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a:t>
            </a:r>
            <a:endParaRPr sz="1800">
              <a:solidFill>
                <a:schemeClr val="dk1"/>
              </a:solidFill>
              <a:latin typeface="Calibri"/>
              <a:ea typeface="Calibri"/>
              <a:cs typeface="Calibri"/>
              <a:sym typeface="Calibri"/>
            </a:endParaRPr>
          </a:p>
        </p:txBody>
      </p:sp>
      <p:sp>
        <p:nvSpPr>
          <p:cNvPr id="608" name="Google Shape;608;p4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55" name="Google Shape;555;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Fixed current sets the operating point</a:t>
            </a:r>
            <a:endParaRPr sz="1800">
              <a:solidFill>
                <a:schemeClr val="dk1"/>
              </a:solidFill>
              <a:latin typeface="Calibri"/>
              <a:ea typeface="Calibri"/>
              <a:cs typeface="Calibri"/>
              <a:sym typeface="Calibri"/>
            </a:endParaRPr>
          </a:p>
        </p:txBody>
      </p:sp>
      <p:sp>
        <p:nvSpPr>
          <p:cNvPr id="556" name="Google Shape;556;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B4F7A"/>
              </a:buClr>
              <a:buSzPts val="1500"/>
              <a:buFont typeface="Arial"/>
              <a:buNone/>
            </a:pPr>
            <a:r>
              <a:rPr b="0" i="0" lang="en-US" sz="1400">
                <a:solidFill>
                  <a:srgbClr val="1C242C"/>
                </a:solidFill>
                <a:latin typeface="Arial"/>
                <a:ea typeface="Arial"/>
                <a:cs typeface="Arial"/>
                <a:sym typeface="Arial"/>
              </a:rPr>
              <a:t>The cells were held at different potentials by </a:t>
            </a:r>
            <a:r>
              <a:rPr b="1" i="0" lang="en-US" sz="1400">
                <a:solidFill>
                  <a:srgbClr val="0B4F7A"/>
                </a:solidFill>
                <a:latin typeface="Arial"/>
                <a:ea typeface="Arial"/>
                <a:cs typeface="Arial"/>
                <a:sym typeface="Arial"/>
              </a:rPr>
              <a:t>current clamp</a:t>
            </a:r>
            <a:r>
              <a:rPr b="0" i="0" lang="en-US" sz="1400">
                <a:solidFill>
                  <a:srgbClr val="1C242C"/>
                </a:solidFill>
                <a:latin typeface="Arial"/>
                <a:ea typeface="Arial"/>
                <a:cs typeface="Arial"/>
                <a:sym typeface="Arial"/>
              </a:rPr>
              <a:t>, which injects a fixed current, so the natural field did not vary across the recordings. The same command can expose a different balance of inward and outward conductances in the two species. Fixed current sets the operating point, and the operating point determines which conductance dominates.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B4F7A"/>
              </a:buClr>
              <a:buSzPts val="1500"/>
              <a:buFont typeface="Arial"/>
              <a:buNone/>
            </a:pPr>
            <a:r>
              <a:rPr b="0" i="0" lang="en-US" sz="1400">
                <a:solidFill>
                  <a:srgbClr val="1C242C"/>
                </a:solidFill>
                <a:latin typeface="Arial"/>
                <a:ea typeface="Arial"/>
                <a:cs typeface="Arial"/>
                <a:sym typeface="Arial"/>
              </a:rPr>
              <a:t>A voltage-clamp command controls the membrane trajectory instead of letting the currents set it. Voltage clamp records the currents along that imposed path, which tests their timing and persistence through each command. The imposed path is the same for every repetition of the protocol. Repeated commands with the same timing produced the same trajectory each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B4F7A"/>
              </a:buClr>
              <a:buSzPts val="1500"/>
              <a:buFont typeface="Arial"/>
              <a:buNone/>
            </a:pPr>
            <a:r>
              <a:rPr b="0" i="0" lang="en-US" sz="1400">
                <a:solidFill>
                  <a:srgbClr val="1C242C"/>
                </a:solidFill>
                <a:latin typeface="Arial"/>
                <a:ea typeface="Arial"/>
                <a:cs typeface="Arial"/>
                <a:sym typeface="Arial"/>
              </a:rPr>
              <a:t>Current clamp complements voltage clamp, because it records the voltage trajectory produced by the cell's own conductances. Current clamp and voltage clamp answer different questions about the same receptor cells. The two methods answer complementary questions about one cell type. Both methods were applied to the shark and skate receptors in the same cells of each species.</a:t>
            </a:r>
            <a:endParaRPr sz="1800">
              <a:solidFill>
                <a:schemeClr val="dk1"/>
              </a:solidFill>
              <a:latin typeface="Calibri"/>
              <a:ea typeface="Calibri"/>
              <a:cs typeface="Calibri"/>
              <a:sym typeface="Calibri"/>
            </a:endParaRPr>
          </a:p>
        </p:txBody>
      </p:sp>
      <p:pic>
        <p:nvPicPr>
          <p:cNvPr id="559" name="Google Shape;559;p39"/>
          <p:cNvPicPr preferRelativeResize="0"/>
          <p:nvPr/>
        </p:nvPicPr>
        <p:blipFill rotWithShape="1">
          <a:blip r:embed="rId2">
            <a:alphaModFix/>
          </a:blip>
          <a:srcRect b="0" l="0" r="0" t="0"/>
          <a:stretch/>
        </p:blipFill>
        <p:spPr>
          <a:xfrm>
            <a:off x="7906262" y="1280071"/>
            <a:ext cx="2682347" cy="2925961"/>
          </a:xfrm>
          <a:prstGeom prst="rect">
            <a:avLst/>
          </a:prstGeom>
          <a:noFill/>
          <a:ln>
            <a:noFill/>
          </a:ln>
        </p:spPr>
      </p:pic>
      <p:sp>
        <p:nvSpPr>
          <p:cNvPr id="560" name="Google Shape;560;p39"/>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3(a–c). Shark spikes and skate oscillations under current clamp.</a:t>
            </a:r>
            <a:endParaRPr sz="1800">
              <a:solidFill>
                <a:schemeClr val="dk1"/>
              </a:solidFill>
              <a:latin typeface="Calibri"/>
              <a:ea typeface="Calibri"/>
              <a:cs typeface="Calibri"/>
              <a:sym typeface="Calibri"/>
            </a:endParaRPr>
          </a:p>
        </p:txBody>
      </p:sp>
      <p:pic>
        <p:nvPicPr>
          <p:cNvPr id="561" name="Google Shape;561;p39"/>
          <p:cNvPicPr preferRelativeResize="0"/>
          <p:nvPr/>
        </p:nvPicPr>
        <p:blipFill rotWithShape="1">
          <a:blip r:embed="rId3">
            <a:alphaModFix/>
          </a:blip>
          <a:srcRect b="0" l="0" r="0" t="0"/>
          <a:stretch/>
        </p:blipFill>
        <p:spPr>
          <a:xfrm>
            <a:off x="8678770" y="4754761"/>
            <a:ext cx="1137331" cy="1005780"/>
          </a:xfrm>
          <a:prstGeom prst="rect">
            <a:avLst/>
          </a:prstGeom>
          <a:noFill/>
          <a:ln>
            <a:noFill/>
          </a:ln>
        </p:spPr>
      </p:pic>
      <p:sp>
        <p:nvSpPr>
          <p:cNvPr id="562" name="Google Shape;562;p39"/>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63" name="Google Shape;563;p3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4" name="Google Shape;564;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a:t>
            </a:r>
            <a:endParaRPr sz="1800">
              <a:solidFill>
                <a:schemeClr val="dk1"/>
              </a:solidFill>
              <a:latin typeface="Calibri"/>
              <a:ea typeface="Calibri"/>
              <a:cs typeface="Calibri"/>
              <a:sym typeface="Calibri"/>
            </a:endParaRPr>
          </a:p>
        </p:txBody>
      </p:sp>
      <p:sp>
        <p:nvSpPr>
          <p:cNvPr id="565" name="Google Shape;565;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10" name="Google Shape;510;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Voltage activation versus calcium-dependent activation</a:t>
            </a:r>
            <a:endParaRPr sz="1800">
              <a:solidFill>
                <a:schemeClr val="dk1"/>
              </a:solidFill>
              <a:latin typeface="Calibri"/>
              <a:ea typeface="Calibri"/>
              <a:cs typeface="Calibri"/>
              <a:sym typeface="Calibri"/>
            </a:endParaRPr>
          </a:p>
        </p:txBody>
      </p:sp>
      <p:sp>
        <p:nvSpPr>
          <p:cNvPr id="511" name="Google Shape;511;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An </a:t>
            </a:r>
            <a:r>
              <a:rPr b="1" i="0" lang="en-US" sz="1400">
                <a:solidFill>
                  <a:srgbClr val="0B4F7A"/>
                </a:solidFill>
                <a:latin typeface="Arial"/>
                <a:ea typeface="Arial"/>
                <a:cs typeface="Arial"/>
                <a:sym typeface="Arial"/>
              </a:rPr>
              <a:t>outward potassium current</a:t>
            </a:r>
            <a:r>
              <a:rPr b="0" i="0" lang="en-US" sz="1400">
                <a:solidFill>
                  <a:srgbClr val="1C242C"/>
                </a:solidFill>
                <a:latin typeface="Arial"/>
                <a:ea typeface="Arial"/>
                <a:cs typeface="Arial"/>
                <a:sym typeface="Arial"/>
              </a:rPr>
              <a:t> can be activated directly by voltage or indirectly through rising calcium. Blocker comparisons and tests of calcium dependence distinguish these two routes experimentally, which is how the investigators sorted the shark current. The two routes respond differently to the same blocker in receptor cells. Calcium dependence was tested directly in the same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 calcium-channel antagonist served as a causal test of functional coupling, rather than a general screen of receptor potassium currents. The shark outward current was insensitive to this antagonist, which points to a current that is independent of calcium entry for its activation. The shark receptors thus depend on a voltage-activated current instead. The antagonist was tested under the same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shark brain expressed a truncated KV1.3 transcript that lacks an essential assembly region, a form different from the full-length receptor transcript. Tissue expression patterns must distinguish isoforms as well as genes to identify the channel that is active in the receptor. The receptor transcript is the one that matters for the currents recorded here.</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2">
            <a:alphaModFix/>
          </a:blip>
          <a:srcRect b="0" l="0" r="0" t="0"/>
          <a:stretch/>
        </p:blipFill>
        <p:spPr>
          <a:xfrm>
            <a:off x="6870165" y="1280071"/>
            <a:ext cx="4754690" cy="1852910"/>
          </a:xfrm>
          <a:prstGeom prst="rect">
            <a:avLst/>
          </a:prstGeom>
          <a:noFill/>
          <a:ln>
            <a:noFill/>
          </a:ln>
        </p:spPr>
      </p:pic>
      <p:sp>
        <p:nvSpPr>
          <p:cNvPr id="515" name="Google Shape;515;p36"/>
          <p:cNvSpPr/>
          <p:nvPr/>
        </p:nvSpPr>
        <p:spPr>
          <a:xfrm>
            <a:off x="6870055" y="322451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1(b–c). Shark potassium current activation and blocker sensitivity.</a:t>
            </a:r>
            <a:endParaRPr sz="1800">
              <a:solidFill>
                <a:schemeClr val="dk1"/>
              </a:solidFill>
              <a:latin typeface="Calibri"/>
              <a:ea typeface="Calibri"/>
              <a:cs typeface="Calibri"/>
              <a:sym typeface="Calibri"/>
            </a:endParaRPr>
          </a:p>
        </p:txBody>
      </p:sp>
      <p:pic>
        <p:nvPicPr>
          <p:cNvPr id="516" name="Google Shape;516;p36"/>
          <p:cNvPicPr preferRelativeResize="0"/>
          <p:nvPr/>
        </p:nvPicPr>
        <p:blipFill rotWithShape="1">
          <a:blip r:embed="rId3">
            <a:alphaModFix/>
          </a:blip>
          <a:srcRect b="0" l="0" r="0" t="0"/>
          <a:stretch/>
        </p:blipFill>
        <p:spPr>
          <a:xfrm>
            <a:off x="8678770" y="4754761"/>
            <a:ext cx="1137331" cy="1005780"/>
          </a:xfrm>
          <a:prstGeom prst="rect">
            <a:avLst/>
          </a:prstGeom>
          <a:noFill/>
          <a:ln>
            <a:noFill/>
          </a:ln>
        </p:spPr>
      </p:pic>
      <p:sp>
        <p:nvSpPr>
          <p:cNvPr id="517" name="Google Shape;517;p36"/>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18" name="Google Shape;518;p3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9" name="Google Shape;519;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a:t>
            </a:r>
            <a:endParaRPr sz="1800">
              <a:solidFill>
                <a:schemeClr val="dk1"/>
              </a:solidFill>
              <a:latin typeface="Calibri"/>
              <a:ea typeface="Calibri"/>
              <a:cs typeface="Calibri"/>
              <a:sym typeface="Calibri"/>
            </a:endParaRPr>
          </a:p>
        </p:txBody>
      </p:sp>
      <p:sp>
        <p:nvSpPr>
          <p:cNvPr id="520" name="Google Shape;520;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65" name="Google Shape;465;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Pore amplitude and open time answer different questions</a:t>
            </a:r>
            <a:endParaRPr sz="1800">
              <a:solidFill>
                <a:schemeClr val="dk1"/>
              </a:solidFill>
              <a:latin typeface="Calibri"/>
              <a:ea typeface="Calibri"/>
              <a:cs typeface="Calibri"/>
              <a:sym typeface="Calibri"/>
            </a:endParaRPr>
          </a:p>
        </p:txBody>
      </p:sp>
      <p:sp>
        <p:nvSpPr>
          <p:cNvPr id="466" name="Google Shape;466;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Channel openings appear as discrete current steps in the original recordings. Their amplitudes and durations answer different questions: how quickly ions pass through an open pore, and how long that pore stays open between closures. Single openings in the excised patch appear as separate steps that can be measured one by one. Each opening is measured as a separate event.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Both properties change the amount of </a:t>
            </a:r>
            <a:r>
              <a:rPr b="1" i="0" lang="en-US" sz="1400">
                <a:solidFill>
                  <a:srgbClr val="0B4F7A"/>
                </a:solidFill>
                <a:latin typeface="Arial"/>
                <a:ea typeface="Arial"/>
                <a:cs typeface="Arial"/>
                <a:sym typeface="Arial"/>
              </a:rPr>
              <a:t>potassium charge</a:t>
            </a:r>
            <a:r>
              <a:rPr b="0" i="0" lang="en-US" sz="1400">
                <a:solidFill>
                  <a:srgbClr val="1C242C"/>
                </a:solidFill>
                <a:latin typeface="Arial"/>
                <a:ea typeface="Arial"/>
                <a:cs typeface="Arial"/>
                <a:sym typeface="Arial"/>
              </a:rPr>
              <a:t> that crosses the membrane during each opening. A picosiemens is a unit of electrical conductance, and the skate and mouse channels were measured in these units under the same driving force. Conductance is the quantity that sets how much current one opening carries at a given voltage.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High-potassium experiments asked whether the channels share a common maximum ion-passage capacity, and at a saturating potassium concentration the two channel types carried equal current amplitudes. That result distinguishes the pore's maximum passage from its routine operation under physiological conditions, which lie far below the saturating level. The result tests a capacity, not a typical operating condition.</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2">
            <a:alphaModFix/>
          </a:blip>
          <a:srcRect b="0" l="0" r="0" t="0"/>
          <a:stretch/>
        </p:blipFill>
        <p:spPr>
          <a:xfrm>
            <a:off x="7275238" y="1280071"/>
            <a:ext cx="3944247" cy="2925961"/>
          </a:xfrm>
          <a:prstGeom prst="rect">
            <a:avLst/>
          </a:prstGeom>
          <a:noFill/>
          <a:ln>
            <a:noFill/>
          </a:ln>
        </p:spPr>
      </p:pic>
      <p:sp>
        <p:nvSpPr>
          <p:cNvPr id="470" name="Google Shape;470;p33"/>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4(a–b). Single-channel currents and open-time distributions.</a:t>
            </a:r>
            <a:endParaRPr sz="1800">
              <a:solidFill>
                <a:schemeClr val="dk1"/>
              </a:solidFill>
              <a:latin typeface="Calibri"/>
              <a:ea typeface="Calibri"/>
              <a:cs typeface="Calibri"/>
              <a:sym typeface="Calibri"/>
            </a:endParaRPr>
          </a:p>
        </p:txBody>
      </p:sp>
      <p:pic>
        <p:nvPicPr>
          <p:cNvPr id="471" name="Google Shape;471;p33"/>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472" name="Google Shape;472;p33"/>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73" name="Google Shape;473;p3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4" name="Google Shape;47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75" name="Google Shape;475;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Sensor movement and pore opening are separate steps</a:t>
            </a:r>
            <a:endParaRPr sz="1800">
              <a:solidFill>
                <a:schemeClr val="dk1"/>
              </a:solidFill>
              <a:latin typeface="Calibri"/>
              <a:ea typeface="Calibri"/>
              <a:cs typeface="Calibri"/>
              <a:sym typeface="Calibri"/>
            </a:endParaRPr>
          </a:p>
        </p:txBody>
      </p:sp>
      <p:sp>
        <p:nvSpPr>
          <p:cNvPr id="421" name="Google Shape;421;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Conductance describes the relation between electrical driving force and the current through the channel. Normalization allowed the skate and rat curves to be judged despite differences in expression level. The skate and rat curves were each scaled to their own maximum conductance before plotting. Their activation values were then compared under the same recording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A </a:t>
            </a:r>
            <a:r>
              <a:rPr b="1" i="0" lang="en-US" sz="1400">
                <a:solidFill>
                  <a:srgbClr val="0B4F7A"/>
                </a:solidFill>
                <a:latin typeface="Arial"/>
                <a:ea typeface="Arial"/>
                <a:cs typeface="Arial"/>
                <a:sym typeface="Arial"/>
              </a:rPr>
              <a:t>voltage sensor</a:t>
            </a:r>
            <a:r>
              <a:rPr b="0" i="0" lang="en-US" sz="1400">
                <a:solidFill>
                  <a:srgbClr val="1C242C"/>
                </a:solidFill>
                <a:latin typeface="Arial"/>
                <a:ea typeface="Arial"/>
                <a:cs typeface="Arial"/>
                <a:sym typeface="Arial"/>
              </a:rPr>
              <a:t> can move without producing maximal pore opening when coupling is inefficient. Ionic and gating recordings measure these two steps in the same channel, so the sensor step and the pore step are measured separately. The two readouts were taken from the same cells expressing the channel. Sensor movement was measured as gating charge in the same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 rat comparison used one specified isoform, so the result applies to that isoform rather than to every mammalian CaV1.3 splice variant. The skate channel was judged against this single reference under matched conditions. The rat isoform is the benchmark for the skate sequence in these cells. The matched conditions included the same cell line and recording protocol.</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2">
            <a:alphaModFix/>
          </a:blip>
          <a:srcRect b="0" l="0" r="0" t="0"/>
          <a:stretch/>
        </p:blipFill>
        <p:spPr>
          <a:xfrm>
            <a:off x="6870207" y="1280071"/>
            <a:ext cx="4754606" cy="1701403"/>
          </a:xfrm>
          <a:prstGeom prst="rect">
            <a:avLst/>
          </a:prstGeom>
          <a:noFill/>
          <a:ln>
            <a:noFill/>
          </a:ln>
        </p:spPr>
      </p:pic>
      <p:sp>
        <p:nvSpPr>
          <p:cNvPr id="425" name="Google Shape;425;p30"/>
          <p:cNvSpPr/>
          <p:nvPr/>
        </p:nvSpPr>
        <p:spPr>
          <a:xfrm>
            <a:off x="6870055" y="3073003"/>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2(e–g). Gating charge and pore-opening efficiency.</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427" name="Google Shape;427;p30"/>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30" name="Google Shape;430;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Inward calcium current and its outward partner</a:t>
            </a:r>
            <a:endParaRPr sz="1800">
              <a:solidFill>
                <a:schemeClr val="dk1"/>
              </a:solidFill>
              <a:latin typeface="Calibri"/>
              <a:ea typeface="Calibri"/>
              <a:cs typeface="Calibri"/>
              <a:sym typeface="Calibri"/>
            </a:endParaRPr>
          </a:p>
        </p:txBody>
      </p:sp>
      <p:sp>
        <p:nvSpPr>
          <p:cNvPr id="376" name="Google Shape;376;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An inward current reflects positive charge entering the cell under these conditions. Activation and inactivation were measured with distinct pulse protocols, so their overlap describes </a:t>
            </a:r>
            <a:r>
              <a:rPr b="1" i="0" lang="en-US" sz="1400">
                <a:solidFill>
                  <a:srgbClr val="0B4F7A"/>
                </a:solidFill>
                <a:latin typeface="Arial"/>
                <a:ea typeface="Arial"/>
                <a:cs typeface="Arial"/>
                <a:sym typeface="Arial"/>
              </a:rPr>
              <a:t>sustained available current</a:t>
            </a:r>
            <a:r>
              <a:rPr b="0" i="0" lang="en-US" sz="1400">
                <a:solidFill>
                  <a:srgbClr val="1C242C"/>
                </a:solidFill>
                <a:latin typeface="Arial"/>
                <a:ea typeface="Arial"/>
                <a:cs typeface="Arial"/>
                <a:sym typeface="Arial"/>
              </a:rPr>
              <a:t> in the cell rather than a separate ion-channel species. This overlap defines the window current in the recorded cells. The window current is the overlap between activation and availability.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 receptor's outward current depended on calcium availability, which distinguishes it from a purely voltage-gated potassium conductance. Drug effects were assessed on measured currents, so the identity of the channel was judged by function rather than by the names of genes. Measured currents were the basis for each conclusion.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A feedback relationship can run through local calcium signaling, so a stable complex of the two channels is not needed for the feedback to operate. Calcium entering through the channel is enough to recruit the potassium current in the same cell. Local calcium couples the two currents within each receptor cell. The current recorded in each cell reflects that link.</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2">
            <a:alphaModFix/>
          </a:blip>
          <a:srcRect b="0" l="0" r="0" t="0"/>
          <a:stretch/>
        </p:blipFill>
        <p:spPr>
          <a:xfrm>
            <a:off x="6870278" y="1280071"/>
            <a:ext cx="4754464" cy="1646932"/>
          </a:xfrm>
          <a:prstGeom prst="rect">
            <a:avLst/>
          </a:prstGeom>
          <a:noFill/>
          <a:ln>
            <a:noFill/>
          </a:ln>
        </p:spPr>
      </p:pic>
      <p:sp>
        <p:nvSpPr>
          <p:cNvPr id="380" name="Google Shape;380;p27"/>
          <p:cNvSpPr/>
          <p:nvPr/>
        </p:nvSpPr>
        <p:spPr>
          <a:xfrm>
            <a:off x="6870055" y="301853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1(h–i). Calcium-dependent potassium current and BK blockade.</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382" name="Google Shape;382;p27"/>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385" name="Google Shape;385;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Phase and gain describe the transformation</a:t>
            </a:r>
            <a:endParaRPr sz="1800">
              <a:solidFill>
                <a:schemeClr val="dk1"/>
              </a:solidFill>
              <a:latin typeface="Calibri"/>
              <a:ea typeface="Calibri"/>
              <a:cs typeface="Calibri"/>
              <a:sym typeface="Calibri"/>
            </a:endParaRPr>
          </a:p>
        </p:txBody>
      </p:sp>
      <p:sp>
        <p:nvSpPr>
          <p:cNvPr id="333" name="Google Shape;333;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 phase plot measures whether peak neural activity occurs before, with, or after a particular phase of the applied sinusoid. The representative population response was approximately in phase near 1 Hz, which places the peak of firing at the same point in each cycle. Period histograms and phase plots describe the same temporal alignment from two angles.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Above the </a:t>
            </a:r>
            <a:r>
              <a:rPr b="1" i="0" lang="en-US" sz="1400">
                <a:solidFill>
                  <a:srgbClr val="0B4F7A"/>
                </a:solidFill>
                <a:latin typeface="Arial"/>
                <a:ea typeface="Arial"/>
                <a:cs typeface="Arial"/>
                <a:sym typeface="Arial"/>
              </a:rPr>
              <a:t>best frequency</a:t>
            </a:r>
            <a:r>
              <a:rPr b="0" i="0" lang="en-US" sz="1400">
                <a:solidFill>
                  <a:srgbClr val="1C242C"/>
                </a:solidFill>
                <a:latin typeface="Arial"/>
                <a:ea typeface="Arial"/>
                <a:cs typeface="Arial"/>
                <a:sym typeface="Arial"/>
              </a:rPr>
              <a:t>, an equal amplitude could drive much less modulation. Modulation falls off on either side of the peak. A best frequency is the stimulus rate that yields the strongest response under a specified condition, and it depends on the amplitude used to measure it. The published matrix varied both frequency and intensity, so the best frequency was identified across that range.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Frequency-dependent phase and gain together describe how an afferent transforms a changing field. The tested input was an electric field that changed over time, so the response reflects temporal structure in the stimulus rather than a static level of the field. Both gain and phase were tracked across the same frequency range in each unit.</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2">
            <a:alphaModFix/>
          </a:blip>
          <a:srcRect b="0" l="0" r="0" t="0"/>
          <a:stretch/>
        </p:blipFill>
        <p:spPr>
          <a:xfrm>
            <a:off x="7811903" y="1280071"/>
            <a:ext cx="2871065" cy="2925961"/>
          </a:xfrm>
          <a:prstGeom prst="rect">
            <a:avLst/>
          </a:prstGeom>
          <a:noFill/>
          <a:ln>
            <a:noFill/>
          </a:ln>
        </p:spPr>
      </p:pic>
      <p:sp>
        <p:nvSpPr>
          <p:cNvPr id="337" name="Google Shape;337;p24"/>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10. Frequency-dependent gain and phase of primary afferents.</a:t>
            </a:r>
            <a:endParaRPr sz="1800">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339" name="Google Shape;339;p24"/>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a:t>
            </a:r>
            <a:endParaRPr sz="1800">
              <a:solidFill>
                <a:schemeClr val="dk1"/>
              </a:solidFill>
              <a:latin typeface="Calibri"/>
              <a:ea typeface="Calibri"/>
              <a:cs typeface="Calibri"/>
              <a:sym typeface="Calibri"/>
            </a:endParaRPr>
          </a:p>
        </p:txBody>
      </p:sp>
      <p:sp>
        <p:nvSpPr>
          <p:cNvPr id="342" name="Google Shape;342;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Baseline subtraction isolates modulation</a:t>
            </a:r>
            <a:endParaRPr sz="1800">
              <a:solidFill>
                <a:schemeClr val="dk1"/>
              </a:solidFill>
              <a:latin typeface="Calibri"/>
              <a:ea typeface="Calibri"/>
              <a:cs typeface="Calibri"/>
              <a:sym typeface="Calibri"/>
            </a:endParaRPr>
          </a:p>
        </p:txBody>
      </p:sp>
      <p:sp>
        <p:nvSpPr>
          <p:cNvPr id="288" name="Google Shape;288;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Peak firing above the spontaneous rate and total peak firing are different quantities. Subtracting the baseline isolates the </a:t>
            </a:r>
            <a:r>
              <a:rPr b="1" i="0" lang="en-US" sz="1400">
                <a:solidFill>
                  <a:srgbClr val="0B4F7A"/>
                </a:solidFill>
                <a:latin typeface="Arial"/>
                <a:ea typeface="Arial"/>
                <a:cs typeface="Arial"/>
                <a:sym typeface="Arial"/>
              </a:rPr>
              <a:t>modulation</a:t>
            </a:r>
            <a:r>
              <a:rPr b="0" i="0" lang="en-US" sz="1400">
                <a:solidFill>
                  <a:srgbClr val="1C242C"/>
                </a:solidFill>
                <a:latin typeface="Arial"/>
                <a:ea typeface="Arial"/>
                <a:cs typeface="Arial"/>
                <a:sym typeface="Arial"/>
              </a:rPr>
              <a:t> produced by the stimulus, while the absolute spike rate indicates how much activity actually reaches the brain from each afferent. Total peak firing includes the activity that the afferent produces even without the field. Peak modulation and absolute rate answer different questions about the afferent.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authors emphasized weak-field measurements, because strong stimuli can hide differences between units through saturation. The weak-field range shows the differences in sensitivity most clearly, since many units still respond there with a steep rise in rate. Units with high gain are distinguished most easily in this range. Gain differences between units show up most clearly in this weak-field range.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analysis used successive portions of each measured curve rather than assuming one linear gain across its full extent. A neuron's weak-field slope can overestimate its sensitivity to stronger fields, which changes how thresholds from different amplitudes should be compared. Successive portions of the curve were analyzed separately, so the shape of the full curve was preserved.</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2">
            <a:alphaModFix/>
          </a:blip>
          <a:srcRect b="0" l="0" r="0" t="0"/>
          <a:stretch/>
        </p:blipFill>
        <p:spPr>
          <a:xfrm>
            <a:off x="7537174" y="1280071"/>
            <a:ext cx="3420673" cy="2925961"/>
          </a:xfrm>
          <a:prstGeom prst="rect">
            <a:avLst/>
          </a:prstGeom>
          <a:noFill/>
          <a:ln>
            <a:noFill/>
          </a:ln>
        </p:spPr>
      </p:pic>
      <p:sp>
        <p:nvSpPr>
          <p:cNvPr id="292" name="Google Shape;292;p21"/>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6. Incremental sensitivity falls as stimulus strength increases.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294" name="Google Shape;294;p21"/>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a:t>
            </a:r>
            <a:endParaRPr sz="1800">
              <a:solidFill>
                <a:schemeClr val="dk1"/>
              </a:solidFill>
              <a:latin typeface="Calibri"/>
              <a:ea typeface="Calibri"/>
              <a:cs typeface="Calibri"/>
              <a:sym typeface="Calibri"/>
            </a:endParaRPr>
          </a:p>
        </p:txBody>
      </p:sp>
      <p:sp>
        <p:nvSpPr>
          <p:cNvPr id="297" name="Google Shape;297;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44" name="Google Shape;244;p18"/>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Shunts and separate recording compartments</a:t>
            </a:r>
            <a:endParaRPr sz="1800">
              <a:solidFill>
                <a:schemeClr val="dk1"/>
              </a:solidFill>
              <a:latin typeface="Calibri"/>
              <a:ea typeface="Calibri"/>
              <a:cs typeface="Calibri"/>
              <a:sym typeface="Calibri"/>
            </a:endParaRPr>
          </a:p>
        </p:txBody>
      </p:sp>
      <p:sp>
        <p:nvSpPr>
          <p:cNvPr id="245" name="Google Shape;245;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The canal's resistance and the </a:t>
            </a:r>
            <a:r>
              <a:rPr b="1" i="0" lang="en-US" sz="1400">
                <a:solidFill>
                  <a:srgbClr val="0B4F7A"/>
                </a:solidFill>
                <a:latin typeface="Arial"/>
                <a:ea typeface="Arial"/>
                <a:cs typeface="Arial"/>
                <a:sym typeface="Arial"/>
              </a:rPr>
              <a:t>salt bridge</a:t>
            </a:r>
            <a:r>
              <a:rPr b="0" i="0" lang="en-US" sz="1400">
                <a:solidFill>
                  <a:srgbClr val="1C242C"/>
                </a:solidFill>
                <a:latin typeface="Arial"/>
                <a:ea typeface="Arial"/>
                <a:cs typeface="Arial"/>
                <a:sym typeface="Arial"/>
              </a:rPr>
              <a:t> set how the imposed current produces a voltage across the epithelium. Electrical loading is part of the experimental mechanism, not a detail of the apparatus geometry. The shunt shapes what the epithelium reports for a given current, and changing it altered the recorded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Nerve activity was recorded in a separate compartment, which kept epithelial current from being mistaken for propagated afferent spikes. Changing the salt bridge altered the electrical load on the epithelium, so spontaneous and stimulus-driven responses could be separated from one another in the same preparation. Both conditions were recorded from the same preparation. Both conditions used the same preparation.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500"/>
              <a:buFont typeface="Arial"/>
              <a:buNone/>
            </a:pPr>
            <a:r>
              <a:rPr b="0" i="0" lang="en-US" sz="1400">
                <a:solidFill>
                  <a:srgbClr val="1C242C"/>
                </a:solidFill>
                <a:latin typeface="Arial"/>
                <a:ea typeface="Arial"/>
                <a:cs typeface="Arial"/>
                <a:sym typeface="Arial"/>
              </a:rPr>
              <a:t>A tonic current persists without periodic stimulation, while an oscillatory current changes repeatedly around its operating point. The receptor organ showed both types of current, and altering the shunt changed the electrical loading that shaped each one. The oscillatory component is the fluctuation that remains after the tonic current is accounted for. This component was measured in the same recordings.</a:t>
            </a:r>
            <a:endParaRPr sz="1800">
              <a:solidFill>
                <a:schemeClr val="dk1"/>
              </a:solidFill>
              <a:latin typeface="Calibri"/>
              <a:ea typeface="Calibri"/>
              <a:cs typeface="Calibri"/>
              <a:sym typeface="Calibri"/>
            </a:endParaRPr>
          </a:p>
        </p:txBody>
      </p:sp>
      <p:pic>
        <p:nvPicPr>
          <p:cNvPr id="248" name="Google Shape;248;p18"/>
          <p:cNvPicPr preferRelativeResize="0"/>
          <p:nvPr/>
        </p:nvPicPr>
        <p:blipFill rotWithShape="1">
          <a:blip r:embed="rId2">
            <a:alphaModFix/>
          </a:blip>
          <a:srcRect b="0" l="0" r="0" t="0"/>
          <a:stretch/>
        </p:blipFill>
        <p:spPr>
          <a:xfrm>
            <a:off x="6870129" y="1280071"/>
            <a:ext cx="4754761" cy="2207568"/>
          </a:xfrm>
          <a:prstGeom prst="rect">
            <a:avLst/>
          </a:prstGeom>
          <a:noFill/>
          <a:ln>
            <a:noFill/>
          </a:ln>
        </p:spPr>
      </p:pic>
      <p:sp>
        <p:nvSpPr>
          <p:cNvPr id="249" name="Google Shape;249;p18"/>
          <p:cNvSpPr/>
          <p:nvPr/>
        </p:nvSpPr>
        <p:spPr>
          <a:xfrm>
            <a:off x="6870055" y="357916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Clusin &amp; Bennett (1979), Fig. 2(A1–A3, B–E). Spontaneous epithelial currents and oscillations.</a:t>
            </a:r>
            <a:endParaRPr sz="1800">
              <a:solidFill>
                <a:schemeClr val="dk1"/>
              </a:solidFill>
              <a:latin typeface="Calibri"/>
              <a:ea typeface="Calibri"/>
              <a:cs typeface="Calibri"/>
              <a:sym typeface="Calibri"/>
            </a:endParaRPr>
          </a:p>
        </p:txBody>
      </p:sp>
      <p:sp>
        <p:nvSpPr>
          <p:cNvPr id="250" name="Google Shape;250;p18"/>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Clusin &amp; Bennett (1979)</a:t>
            </a:r>
            <a:endParaRPr sz="1800">
              <a:solidFill>
                <a:schemeClr val="dk1"/>
              </a:solidFill>
              <a:latin typeface="Calibri"/>
              <a:ea typeface="Calibri"/>
              <a:cs typeface="Calibri"/>
              <a:sym typeface="Calibri"/>
            </a:endParaRPr>
          </a:p>
        </p:txBody>
      </p:sp>
      <p:sp>
        <p:nvSpPr>
          <p:cNvPr id="252" name="Google Shape;252;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Hydration and humidity control jelly conduction</a:t>
            </a:r>
            <a:endParaRPr sz="1800">
              <a:solidFill>
                <a:schemeClr val="dk1"/>
              </a:solidFill>
              <a:latin typeface="Calibri"/>
              <a:ea typeface="Calibri"/>
              <a:cs typeface="Calibri"/>
              <a:sym typeface="Calibri"/>
            </a:endParaRPr>
          </a:p>
        </p:txBody>
      </p:sp>
      <p:sp>
        <p:nvSpPr>
          <p:cNvPr id="206" name="Google Shape;206;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jelly was hydrated before testing, and the measurements controlled humidity because water content affects charge transport. A 1-V device stimulus is much larger than natural sensory signals, so the result describes how the material conducts rather than how a receptor responds to weak fields. Humidity was held at a fixed level during each measurement, and the fixed level set the proton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Keratan sulfate is the identified sulfated component, and the authors treated its link to high </a:t>
            </a:r>
            <a:r>
              <a:rPr b="1" i="0" lang="en-US" sz="1400">
                <a:solidFill>
                  <a:srgbClr val="0B4F7A"/>
                </a:solidFill>
                <a:latin typeface="Arial"/>
                <a:ea typeface="Arial"/>
                <a:cs typeface="Arial"/>
                <a:sym typeface="Arial"/>
              </a:rPr>
              <a:t>proton conductivity</a:t>
            </a:r>
            <a:r>
              <a:rPr b="0" i="0" lang="en-US" sz="1400">
                <a:solidFill>
                  <a:srgbClr val="1C242C"/>
                </a:solidFill>
                <a:latin typeface="Arial"/>
                <a:ea typeface="Arial"/>
                <a:cs typeface="Arial"/>
                <a:sym typeface="Arial"/>
              </a:rPr>
              <a:t> as a proposed explanation. A constituent found in extracted jelly may be one of several electrically relevant components. The sugars detected alongside it also carry charge in the hydrated network, so the whole matrix contributes to conduction. The matrix is hydrated throughout.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preparation contained no living receptor epithelium, so the measurement addresses the conductive matrix itself. That matrix is the hydrogel's contribution to the signal, while the amplification of the signal happens in the receptor cells. The two contributions are measured at different levels of the sensory pathway, from material to membrane. The two levels of measurement differ in scale.</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2">
            <a:alphaModFix/>
          </a:blip>
          <a:srcRect b="0" l="0" r="0" t="0"/>
          <a:stretch/>
        </p:blipFill>
        <p:spPr>
          <a:xfrm>
            <a:off x="8114570" y="1280071"/>
            <a:ext cx="2265730" cy="4297561"/>
          </a:xfrm>
          <a:prstGeom prst="rect">
            <a:avLst/>
          </a:prstGeom>
          <a:noFill/>
          <a:ln>
            <a:noFill/>
          </a:ln>
        </p:spPr>
      </p:pic>
      <p:sp>
        <p:nvSpPr>
          <p:cNvPr id="210" name="Google Shape;210;p15"/>
          <p:cNvSpPr/>
          <p:nvPr/>
        </p:nvSpPr>
        <p:spPr>
          <a:xfrm>
            <a:off x="6870055" y="5669161"/>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Josberger et al. (2016), Fig. 3(A–C). Chemical analyses of ampullary jelly.</a:t>
            </a:r>
            <a:endParaRPr sz="1800">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Josberger et al. (2016)</a:t>
            </a:r>
            <a:endParaRPr sz="1800">
              <a:solidFill>
                <a:schemeClr val="dk1"/>
              </a:solidFill>
              <a:latin typeface="Calibri"/>
              <a:ea typeface="Calibri"/>
              <a:cs typeface="Calibri"/>
              <a:sym typeface="Calibri"/>
            </a:endParaRPr>
          </a:p>
        </p:txBody>
      </p:sp>
      <p:sp>
        <p:nvSpPr>
          <p:cNvPr id="213" name="Google Shape;213;p1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66" name="Google Shape;166;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Video reconstructs the approach path</a:t>
            </a:r>
            <a:endParaRPr sz="1800">
              <a:solidFill>
                <a:schemeClr val="dk1"/>
              </a:solidFill>
              <a:latin typeface="Calibri"/>
              <a:ea typeface="Calibri"/>
              <a:cs typeface="Calibri"/>
              <a:sym typeface="Calibri"/>
            </a:endParaRPr>
          </a:p>
        </p:txBody>
      </p:sp>
      <p:sp>
        <p:nvSpPr>
          <p:cNvPr id="167" name="Google Shape;167;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investigators reconstructed paths from video instead of assuming that a straight approach followed field lines. The original photographs keep the temporal order of the approach and the pivot, so each turn can be followed as a sequence of positions across the frames. The reconstruction uses the observed trajectory of each animal rather than a modeled 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Sensory detection and the </a:t>
            </a:r>
            <a:r>
              <a:rPr b="1" i="0" lang="en-US" sz="1400">
                <a:solidFill>
                  <a:srgbClr val="0B4F7A"/>
                </a:solidFill>
                <a:latin typeface="Arial"/>
                <a:ea typeface="Arial"/>
                <a:cs typeface="Arial"/>
                <a:sym typeface="Arial"/>
              </a:rPr>
              <a:t>motor maneuver</a:t>
            </a:r>
            <a:r>
              <a:rPr b="0" i="0" lang="en-US" sz="1400">
                <a:solidFill>
                  <a:srgbClr val="1C242C"/>
                </a:solidFill>
                <a:latin typeface="Arial"/>
                <a:ea typeface="Arial"/>
                <a:cs typeface="Arial"/>
                <a:sym typeface="Arial"/>
              </a:rPr>
              <a:t> that follows it can vary independently between species. Hammerheads and sandbars shared a similar maximum range, yet their turning arcs differed, which indicates that detection and turning are separable stages of the response. The pivot timing and arc width were measured separately from detection distance. Hammerheads and sandbars turned along different arcs in the same apparatus.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recordings captured body posture and movement, while motor-neuron activity and muscle force were outside what the study measured. The behavioral sequence describes movement in detail, and neural drive to the muscles was not part of the measurements. Posture and path were recorded in the same video frames. Both were measured on one video timeline.</a:t>
            </a:r>
            <a:endParaRPr sz="1800">
              <a:solidFill>
                <a:schemeClr val="dk1"/>
              </a:solidFill>
              <a:latin typeface="Calibri"/>
              <a:ea typeface="Calibri"/>
              <a:cs typeface="Calibri"/>
              <a:sym typeface="Calibri"/>
            </a:endParaRPr>
          </a:p>
        </p:txBody>
      </p:sp>
      <p:pic>
        <p:nvPicPr>
          <p:cNvPr id="170" name="Google Shape;170;p12"/>
          <p:cNvPicPr preferRelativeResize="0"/>
          <p:nvPr/>
        </p:nvPicPr>
        <p:blipFill rotWithShape="1">
          <a:blip r:embed="rId2">
            <a:alphaModFix/>
          </a:blip>
          <a:srcRect b="0" l="0" r="0" t="0"/>
          <a:stretch/>
        </p:blipFill>
        <p:spPr>
          <a:xfrm>
            <a:off x="6870178" y="1280071"/>
            <a:ext cx="4754664" cy="3303240"/>
          </a:xfrm>
          <a:prstGeom prst="rect">
            <a:avLst/>
          </a:prstGeom>
          <a:noFill/>
          <a:ln>
            <a:noFill/>
          </a:ln>
        </p:spPr>
      </p:pic>
      <p:sp>
        <p:nvSpPr>
          <p:cNvPr id="171" name="Google Shape;171;p12"/>
          <p:cNvSpPr/>
          <p:nvPr/>
        </p:nvSpPr>
        <p:spPr>
          <a:xfrm>
            <a:off x="6870055" y="4674840"/>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10. Body flexure differs between shark species.</a:t>
            </a:r>
            <a:endParaRPr sz="1800">
              <a:solidFill>
                <a:schemeClr val="dk1"/>
              </a:solidFill>
              <a:latin typeface="Calibri"/>
              <a:ea typeface="Calibri"/>
              <a:cs typeface="Calibri"/>
              <a:sym typeface="Calibri"/>
            </a:endParaRPr>
          </a:p>
        </p:txBody>
      </p:sp>
      <p:sp>
        <p:nvSpPr>
          <p:cNvPr id="172" name="Google Shape;172;p1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3" name="Google Shape;173;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74" name="Google Shape;174;p1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12a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7" name="Google Shape;127;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dipole model supplies the field estimate</a:t>
            </a:r>
            <a:endParaRPr sz="1800">
              <a:solidFill>
                <a:schemeClr val="dk1"/>
              </a:solidFill>
              <a:latin typeface="Calibri"/>
              <a:ea typeface="Calibri"/>
              <a:cs typeface="Calibri"/>
              <a:sym typeface="Calibri"/>
            </a:endParaRPr>
          </a:p>
        </p:txBody>
      </p:sp>
      <p:sp>
        <p:nvSpPr>
          <p:cNvPr id="128" name="Google Shape;128;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original article calculated field intensity from a specified </a:t>
            </a:r>
            <a:r>
              <a:rPr b="1" i="0" lang="en-US" sz="1400">
                <a:solidFill>
                  <a:srgbClr val="0B4F7A"/>
                </a:solidFill>
                <a:latin typeface="Arial"/>
                <a:ea typeface="Arial"/>
                <a:cs typeface="Arial"/>
                <a:sym typeface="Arial"/>
              </a:rPr>
              <a:t>dipole model</a:t>
            </a:r>
            <a:r>
              <a:rPr b="0" i="0" lang="en-US" sz="1400">
                <a:solidFill>
                  <a:srgbClr val="1C242C"/>
                </a:solidFill>
                <a:latin typeface="Arial"/>
                <a:ea typeface="Arial"/>
                <a:cs typeface="Arial"/>
                <a:sym typeface="Arial"/>
              </a:rPr>
              <a:t>. It also measured the seawater properties that the model needed, so each converted value carries the assumptions of that model. Field intensity is a calculated quantity in this analysis, linked to the recorded approach angles and distances from each video record. The estimate is tied to each video record.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 moving head samples the electrical field at changing positions, so receptor input varies over time even when the experimental current remains constant. The local stimulus estimate depends on the path the animal takes through the field. The path changes from one approach to the next, so each estimate reflects the particular approach that produced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Approaches begin at different angles and distances, so the same dipole delivers a different local stimulus to each orientation. The angle information is what allows distance to be converted into a field strength at the moment of orientation. Angle and distance are both needed to estimate the local field at that moment. The angle matters as much as distance.</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2">
            <a:alphaModFix/>
          </a:blip>
          <a:srcRect b="0" l="0" r="0" t="0"/>
          <a:stretch/>
        </p:blipFill>
        <p:spPr>
          <a:xfrm>
            <a:off x="6870070" y="1280071"/>
            <a:ext cx="4754879" cy="3516213"/>
          </a:xfrm>
          <a:prstGeom prst="rect">
            <a:avLst/>
          </a:prstGeom>
          <a:noFill/>
          <a:ln>
            <a:noFill/>
          </a:ln>
        </p:spPr>
      </p:pic>
      <p:sp>
        <p:nvSpPr>
          <p:cNvPr id="132" name="Google Shape;132;p9"/>
          <p:cNvSpPr/>
          <p:nvPr/>
        </p:nvSpPr>
        <p:spPr>
          <a:xfrm>
            <a:off x="6870055" y="488781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6. Orientation distance depends on dipole-axis angle.</a:t>
            </a:r>
            <a:endParaRPr sz="1800">
              <a:solidFill>
                <a:schemeClr val="dk1"/>
              </a:solidFill>
              <a:latin typeface="Calibri"/>
              <a:ea typeface="Calibri"/>
              <a:cs typeface="Calibri"/>
              <a:sym typeface="Calibri"/>
            </a:endParaRPr>
          </a:p>
        </p:txBody>
      </p:sp>
      <p:sp>
        <p:nvSpPr>
          <p:cNvPr id="133" name="Google Shape;133;p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35" name="Google Shape;135;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8" name="Google Shape;88;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tidal pen with single-animal trials</a:t>
            </a:r>
            <a:endParaRPr sz="1800">
              <a:solidFill>
                <a:schemeClr val="dk1"/>
              </a:solidFill>
              <a:latin typeface="Calibri"/>
              <a:ea typeface="Calibri"/>
              <a:cs typeface="Calibri"/>
              <a:sym typeface="Calibri"/>
            </a:endParaRPr>
          </a:p>
        </p:txBody>
      </p:sp>
      <p:sp>
        <p:nvSpPr>
          <p:cNvPr id="89" name="Google Shape;89;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arena was a reef enclosure with tidal exchange, so the sharks swam in a living habitat rather than a sealed tank. Testing one shark at a time prevented a neighboring shark's response from giving the focal animal an extra directional cue, which kept each orientation tied to one animal. The pen also held reef organisms that shared the same water with the test sharks.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The study measured behavioral orientation to an artificial, </a:t>
            </a:r>
            <a:r>
              <a:rPr b="1" i="0" lang="en-US" sz="1400">
                <a:solidFill>
                  <a:srgbClr val="0B4F7A"/>
                </a:solidFill>
                <a:latin typeface="Arial"/>
                <a:ea typeface="Arial"/>
                <a:cs typeface="Arial"/>
                <a:sym typeface="Arial"/>
              </a:rPr>
              <a:t>prey-like source</a:t>
            </a:r>
            <a:r>
              <a:rPr b="0" i="0" lang="en-US" sz="1400">
                <a:solidFill>
                  <a:srgbClr val="1C242C"/>
                </a:solidFill>
                <a:latin typeface="Arial"/>
                <a:ea typeface="Arial"/>
                <a:cs typeface="Arial"/>
                <a:sym typeface="Arial"/>
              </a:rPr>
              <a:t>. Its measure was the whole animal's turn toward the plate, which is a different quantity from the sensitivity of an individual receptor cell. Behavioral orientation reports the decision of the whole shark rather than the output of one sensory cell, a distinction that matters when thresholds are judged across studies.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Scalloped hammerheads and sandbar sharks entered the same arena and the same electrode plate. Differences in approach trajectories can be traced to the animals rather than to the setup, because the plate and the water were identical for both species. Both species were juveniles, so the test isolates species differences at one life stage of the same habitat.</a:t>
            </a:r>
            <a:endParaRPr sz="1800">
              <a:solidFill>
                <a:schemeClr val="dk1"/>
              </a:solidFill>
              <a:latin typeface="Calibri"/>
              <a:ea typeface="Calibri"/>
              <a:cs typeface="Calibri"/>
              <a:sym typeface="Calibri"/>
            </a:endParaRPr>
          </a:p>
        </p:txBody>
      </p:sp>
      <p:pic>
        <p:nvPicPr>
          <p:cNvPr id="92" name="Google Shape;92;p6"/>
          <p:cNvPicPr preferRelativeResize="0"/>
          <p:nvPr/>
        </p:nvPicPr>
        <p:blipFill rotWithShape="1">
          <a:blip r:embed="rId2">
            <a:alphaModFix/>
          </a:blip>
          <a:srcRect b="0" l="0" r="0" t="0"/>
          <a:stretch/>
        </p:blipFill>
        <p:spPr>
          <a:xfrm>
            <a:off x="6870130" y="1280071"/>
            <a:ext cx="4754760" cy="3417391"/>
          </a:xfrm>
          <a:prstGeom prst="rect">
            <a:avLst/>
          </a:prstGeom>
          <a:noFill/>
          <a:ln>
            <a:noFill/>
          </a:ln>
        </p:spPr>
      </p:pic>
      <p:sp>
        <p:nvSpPr>
          <p:cNvPr id="93" name="Google Shape;93;p6"/>
          <p:cNvSpPr/>
          <p:nvPr/>
        </p:nvSpPr>
        <p:spPr>
          <a:xfrm>
            <a:off x="6870055" y="478899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2. Shallow-water arena, camera and electrode plate.</a:t>
            </a:r>
            <a:endParaRPr sz="1800">
              <a:solidFill>
                <a:schemeClr val="dk1"/>
              </a:solidFill>
              <a:latin typeface="Calibri"/>
              <a:ea typeface="Calibri"/>
              <a:cs typeface="Calibri"/>
              <a:sym typeface="Calibri"/>
            </a:endParaRPr>
          </a:p>
        </p:txBody>
      </p:sp>
      <p:sp>
        <p:nvSpPr>
          <p:cNvPr id="94" name="Google Shape;94;p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5" name="Google Shape;95;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96" name="Google Shape;96;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 name="Google Shape;48;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Pools and agar prevent stray electrical sources</a:t>
            </a:r>
            <a:endParaRPr sz="1800">
              <a:solidFill>
                <a:schemeClr val="dk1"/>
              </a:solidFill>
              <a:latin typeface="Calibri"/>
              <a:ea typeface="Calibri"/>
              <a:cs typeface="Calibri"/>
              <a:sym typeface="Calibri"/>
            </a:endParaRPr>
          </a:p>
        </p:txBody>
      </p:sp>
      <p:sp>
        <p:nvSpPr>
          <p:cNvPr id="49" name="Google Shape;49;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Kalmijn housed the chamber in plastic pools, and an electrically isolated circulation system avoided </a:t>
            </a:r>
            <a:r>
              <a:rPr b="1" i="0" lang="en-US" sz="1400">
                <a:solidFill>
                  <a:srgbClr val="0B4F7A"/>
                </a:solidFill>
                <a:latin typeface="Arial"/>
                <a:ea typeface="Arial"/>
                <a:cs typeface="Arial"/>
                <a:sym typeface="Arial"/>
              </a:rPr>
              <a:t>galvanic fields</a:t>
            </a:r>
            <a:r>
              <a:rPr b="0" i="0" lang="en-US" sz="1400">
                <a:solidFill>
                  <a:srgbClr val="1C242C"/>
                </a:solidFill>
                <a:latin typeface="Arial"/>
                <a:ea typeface="Arial"/>
                <a:cs typeface="Arial"/>
                <a:sym typeface="Arial"/>
              </a:rPr>
              <a:t> produced by metal. Metal parts in contact with seawater can create electrical sources unrelated to the plaice. Keeping metal out of the circulation removed those unintended sources from the experiment, which left the enclosed fish as the intended target.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Agar structures were left to equilibrate in the pool for at least 12 hours before testing. This preparation reduced unintended electrical targets and helped assign each response to the experimentally enclosed source. The trials used agar that had already equilibrated, so each test began from the same chamber conditions, and the pool water was circulated continuously.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1C242C"/>
              </a:buClr>
              <a:buSzPts val="1600"/>
              <a:buFont typeface="Arial"/>
              <a:buNone/>
            </a:pPr>
            <a:r>
              <a:rPr b="0" i="0" lang="en-US" sz="1400">
                <a:solidFill>
                  <a:srgbClr val="1C242C"/>
                </a:solidFill>
                <a:latin typeface="Arial"/>
                <a:ea typeface="Arial"/>
                <a:cs typeface="Arial"/>
                <a:sym typeface="Arial"/>
              </a:rPr>
              <a:t>Agar screening removed rival cues without denervating the predator, so the predator's sensory system stayed intact. The electrical cue remained available through the agar, while the removed cues were the odor and mechanical signals that had reached the fish from the sand. Removing those signals left electrical guidance as the remaining option for the predator's attacks.</a:t>
            </a:r>
            <a:endParaRPr sz="1800">
              <a:solidFill>
                <a:schemeClr val="dk1"/>
              </a:solidFill>
              <a:latin typeface="Calibri"/>
              <a:ea typeface="Calibri"/>
              <a:cs typeface="Calibri"/>
              <a:sym typeface="Calibri"/>
            </a:endParaRPr>
          </a:p>
        </p:txBody>
      </p:sp>
      <p:pic>
        <p:nvPicPr>
          <p:cNvPr id="52" name="Google Shape;52;p3"/>
          <p:cNvPicPr preferRelativeResize="0"/>
          <p:nvPr/>
        </p:nvPicPr>
        <p:blipFill rotWithShape="1">
          <a:blip r:embed="rId2">
            <a:alphaModFix/>
          </a:blip>
          <a:srcRect b="0" l="0" r="0" t="0"/>
          <a:stretch/>
        </p:blipFill>
        <p:spPr>
          <a:xfrm>
            <a:off x="6870137" y="1280071"/>
            <a:ext cx="4754746" cy="2066776"/>
          </a:xfrm>
          <a:prstGeom prst="rect">
            <a:avLst/>
          </a:prstGeom>
          <a:noFill/>
          <a:ln>
            <a:noFill/>
          </a:ln>
        </p:spPr>
      </p:pic>
      <p:sp>
        <p:nvSpPr>
          <p:cNvPr id="53" name="Google Shape;53;p3"/>
          <p:cNvSpPr/>
          <p:nvPr/>
        </p:nvSpPr>
        <p:spPr>
          <a:xfrm>
            <a:off x="6870055" y="3438376"/>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1. Conductive agar chamber and seawater circulation.</a:t>
            </a:r>
            <a:endParaRPr sz="1800">
              <a:solidFill>
                <a:schemeClr val="dk1"/>
              </a:solidFill>
              <a:latin typeface="Calibri"/>
              <a:ea typeface="Calibri"/>
              <a:cs typeface="Calibri"/>
              <a:sym typeface="Calibri"/>
            </a:endParaRPr>
          </a:p>
        </p:txBody>
      </p:sp>
      <p:sp>
        <p:nvSpPr>
          <p:cNvPr id="54" name="Google Shape;54;p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 name="Google Shape;55;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56" name="Google Shape;56;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2026-10-08T06:21:47.642Z</dcterms:created>
  <dc:creator>Presenton</dc:creator>
</cp:coreProperties>
</file>