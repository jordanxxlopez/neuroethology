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ijcUMslIkxRWgWEHnUR1jfYSME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Navigation II: honeybee waggle dance and sun-compass navigation (von Frisch)</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Honeybee foragers communicate a resource vector on the comb. The study animal is photographed within Dong et al. (2023), Figure 1A; the complete published panel retains its labels and dance-path annotation.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Direction, visually calibrated distance, time compensation and terminal search are experimentally separable components of recruitment.</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Dong et al. (2023), Fig. 1A. Waggle-run angle, return loops and following bees.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https://doi.org/10.1126/science.ade1702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Foragers of Apis mellifera communicate a resource location through the waggle dance, repeated movements on the comb that contain a straight abdominal-wagging run and alternating return loops. A vector specifies a direction and a distance from an origin; here the origin is the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return loops bring the dancer back to the start of another waggle run. The loop itself is not a second advertised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filmed individually marked bees visiting a feeder 150 m away. The angle of the waggle run on a vertical comb encoded the food direction relative to the sun, while its duration encoded distance. Attending bees followed the dancer at close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signal concerns a location outside the hive, rather than merely the dancer’s immediate position. Video measurements establish its spatial and temporal structure; successful communication additionally requires that followers obtain the signal and subsequently choose an appropriate flight. These are distinct experimental questions.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dancer on a vertical comb uses the upward direction as the reference for the sun. The waggle-run angle relative to vertical represents the resource direction relative to the sun outside. This transformation allows direction to be communicated where the sun itself is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Sunward is encoded upward on a vertical comb. The absolute flight bearing also depends on the sun’s current position, so a fixed resource can require changing dance angles during the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Dong and colleagues recorded dance angles on the crowded, uneven comb surface. They measured divergence among repeated waggle runs rather than assuming that every run conveyed an identical angle. Bees without experienced dancers produced larger directional divergence in their first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Directional encoding therefore has both a reference system and a motor-precision component. A follower must translate the comb-relative angle into a flight direction using celestial information. The video experiment measures the dancer’s output; it does not identify a gravity receptor or the neurons that perform the coordinate transformation.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1A. Waggle-run angle, return loops and following bees.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Von Frisch and Lindauer trained marked foragers to a feeding location and then moved the hive into an unfamiliar landscape. In their 1952 displacement experiment, the training feeder was 180 m away in a direction 30° north of west. The bees had learned this route during the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four dishes controlled food identity and odor across directions. Capturing arrivals separated an individual’s remembered route from recruitment by another successful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following morning, equally familiar scented food dishes were available in four directions in the new landscape. Arriving bees were captured immediately, preventing successful visitors from returning and recruiting nestmates. Searches favored the previously trained compass direction despite the changed terrestrial surroundings.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compensation for the sun’s movement between afternoon training and morning flight. Across related tests, cloudy conditions could prevent correct orientation when both direct sun and polarized skylight were unavailable. Landmarks and celestial cues can compete; the experiment does not imply that terrestrial information is normally ignored.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von Frisch &amp; Lindauer (1954), Fig. 1a,b. Training and unfamiliar release landscapes.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https://doi.org/10.1007/bf00634944</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tracked bees that had followed dances advertising an unscented feeder 200 m east of the hive. A harmonic radar detects a small transponder carried by the bee, allowing a trajectory to be measured outside the observation hive.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transponder marks the bee’s location, not a neural signal. The initial straight segment and later search were behaviorally defined from the recorded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Recruits released at the hive generally flew an initially straight, eastward route. Their straight-flight sections averaged 206 m before searching began. Radar positions were acquired every 3 s, permitting a separation between directed travel and more tortuous search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recruits had not previously visited the advertised feeder. The unscented feeding site and the experimental wind direction reduced the possibility of direct odor guidance from the destination. The trajectory supports acquisition of a flight vector from the dance, although radar cannot reveal which sensory components a follower used while attending the dancer.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captured dance followers at the hive and released them 200–250 m southwest of it. This manipulation preserved the communicated instruction but changed the point from which the recruit began its flight. The real feeder was no longer 200 m east of the release point.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Transport changed the origin without changing the dance. The predicted endpoint for the displaced vector differs from the actual food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Displaced bees nevertheless began with an eastward straight flight, averaging 188 m before search. They did not immediately choose the new bearing from the release point toward the actual feeder. The flight instruction therefore retained its direction and approximate distance after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origin-dependent vector is useful from its specified origin but leads to a different endpoint when executed elsewhere. This result separates a decoded movement instruction from immediate correction to a world location. It does not exclude later use of familiar landscape information, particularly in environments richer in recognizable landmarks.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1. Tracks from hive and displaced release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straight flights of hive-released recruits ended near the advertised feeder on average, but individual endpoints differed by tens of meters. Riley and colleagues then tracked looping searches, some lasting up to 20 min and extending as far as 200 m from the feeding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group average can be close to the feeder even when many individual bees miss it. The search phase is a genuine component of recruitment rather than an error-free continuation of the initial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Only two tracked recruits found the unscented feeder. A mean endpoint close to the food location therefore did not imply reliable arrival by every bee. Directional variation increased near the end of the vector flight as directed travel gave way to search.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 information supplies an approximate search area. Local visual or odor cues can be needed to resolve the final destination, but the unscented-feeder experiment did not manipulate every possible terminal cue. Spatial scatter and terminal failure distinguish successful long-range information transfer from precise source recognition.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2a,b. Direction changes during initial vector flights.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Riley and colleagues measured flight tracks together with wind velocity to distinguish movement over the ground from movement through the air. A bee exposed to a crosswind must direct its body partly into the wind if it is to maintain the advertised ground track.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 velocity combines the bee’s movement through air with air movement over the ground. Distinguishing those quantities prevents heading from being confused with destination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recorded flight, ground speed was 6.8 m/s while a 3.3 m/s wind acted from a different direction. The reconstructed air velocity was 5.2 m/s. The bee’s air heading differed from its ground-track direction by approximately 28°, counteracting wind drift.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displacement followed the eastward instruction rather than the uncorrected wind-displaced heading. This establishes active compensation during recruitment flight. The wind-and-radar measurements do not isolate the visual or other feedback signals that determine the correction, and a single trajectory is not a universal wind-response calibration.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Riley et al. (2005), Fig. 3a,b. Crosswind compensation during a recruit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https://doi.org/10.1038/nature03526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Optic flow is the movement of environmental images across the retina during self-motion. Nearby surfaces produce more angular image displacement than distant surfaces for the same translational travel. A narrow textured tunnel therefore increases optic flow without requiring a long physical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 dimensions matter because proximity changes angular image speed. The feeder location and tunnel texture were controlled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Srinivasan and colleagues trained honeybees through a tunnel 6.4 m long, 11 cm wide and 20 cm high. Random black-and-white texture covered the walls and floor; a mesh ceiling allowed a view of the sky. The feeder was positioned 6 m into the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Returning bees produced waggle dances after this short passage even when an equally short outdoor journey normally elicited round dances. The preparation separates physical distance from visual motion experienced en route. It supports a visual odometer, a mechanism estimating distance traveled, rather than an exclusively energy-based distance measure.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kept the feeder at the same physical location while replacing random tunnel texture with stripes parallel to flight. Axial stripes change little along the flight axis, reducing the visual motion normally generated by forward travel.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Parallel stripes and random texture impose different visual motion while preserving the target location. The comparison addresses distance estimation rather than reward quality.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35 m outdoor journey followed by 6 m through random texture produced waggle dances in 90% of recorded dances. With axial stripes at the same total distance of 41 m, 86.7% of dances were round dances. Without the tunnel, a feeder at 35 m elicited predominantly round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Physical journey length cannot explain the difference between the two 41 m preparations. The texture control identifies optic flow as the relevant variable under these conditions. It does not establish that all visual patterns are equally effective or that energetic state never affects other aspects of dancing.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1A,B. Tunnel geometry and texture-dependent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moved outdoor feeders between 60 and 350 m and measured the duration of each waggle phase on return to the hive. Over this range, mean waggle duration increased approximately linearly with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Duration is the measured motor output. The experimental outdoor calibration gives it a distance interpretation without treating a tunnel flight as an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calibration increased by 1.88 ms of waggle duration per meter of outdoor travel. It provided a reference for interpreting the unusually long dances produced after textured-tunnel flights. The calibration was measured independently of the tunnel manipulation.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calibration relates a measured signal to a known quantity under specified conditions. It is not necessarily a universal conversion applicable to every landscape or colony. The outdoor measurements establish the relation for the tested routes and distances; they do not identify the neurons integrating optic flow or storing the resulting distance estimate.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Srinivasan and colleagues used the outdoor calibration to interpret dances following textured-tunnel passages. A 41 m journey containing 6 m inside the tunnel produced a mean waggle duration of 528.8 ms, corresponding to approximately 230 m in the outdoor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tunnel conditions were mapped onto the published outdoor relation. They establish a visual dependence of the signal, without requiring a verbal attribution of perceived meters to the bee.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arrangement placed the tunnel nearer the hive, producing only 12 m of total travel. Its mean duration was 441.2 ms, corresponding to approximately 184 m outdoors. Both preparations generated a disproportionately large distance signal despite their different outdoor approach lengths.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close textured surfaces amplified the visually measured journey. The comparison rejects a simple account in which waggle duration reports physical meters independently of visual surroundings. These inferred outdoor distances are values from the authors’ calibration, not direct measurements of a bee’s subjective experience.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Srinivasan et al. (2000), Fig. 2. Outdoor distance calibration of waggle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https://doi.org/10.1126/science.287.5454.851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trained dancers to fly 3 m outdoors and then through an 8 m textured tunnel toward the south. Although the actual feeder was only 11 m from the hive, returning bees produced waggle runs averaging 358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Bees arriving at control stations were captured so their own return dances could not create additional recruitment to the station. The search behavior tests decoding independently of the dancer’s physical flight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local outdoor calibration associated this duration with approximately 72 m. Newly recruited bees searched predominantly at a control station 70 m south of the hive rather than at the tunnel feeder. Control stations offered neither food reward nor an added scent.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the first 30 min, the tunnel was closed: dancers did not advertise the tunnel journey and recruits did not arrive at the stations. Opening it initiated dancing and subsequent recruitment. This links the visually inflated distance signal to followers’ search behavior, rather than merely to a change in the dancer’s movements.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measured outdoor dance durations separately for southern and northwestern routes. A given waggle duration corresponded to different physical distances on the two routes, even though both involved ordinary outdoor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graph distinguishes southern squares from northwestern triangles. Duration can carry a reliable route-specific instruction even when physical meters differ between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example, 270 ms corresponded to about 52 m using the southern relation but about 157 m using the northwestern relation. The northwestern landscape generated less distance signal per physical meter than the southern landscape. A single route-independent conversion would therefore misread the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relevant quantity is accumulated visual motion shaped by the route. Terrain and viewing geometry can change the relation between optic flow and physical distance. The calibration experiment does not identify the exact contribution of every landmark, but it establishes that the environmental dependence matters when comparing advertised and searched distances.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1. Outdoor calibration of dance duration.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Esch and colleagues repeated the tunnel recruitment test with a northwestern approach: 3 m outdoors followed by 6 m through the tunnel. The actual feeder was 9 m away, and returning dancers produced waggle runs averaging 270 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tunnel-distance instruction can be shared because dancer and follower navigate comparable visual terrain. The physical feeder distance and the searched distance remain experimentally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Recruit searches peaked near 140 m along the northwestern route. The northwestern outdoor calibration predicted approximately 157 m, whereas applying the southern calibration would predict only about 52 m. Recruits therefore searched where a route-appropriate visual-distance interpretation placed the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Stations were unrewarded, and closing the tunnel before each experiment prevented the relevant dances and recruitment. The result connects dance decoding with followers’ own visual navigation. It does not establish a permanently fixed distance dictionary: the conversion depends on the visual conditions encountered by the navigating bees.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Esch et al. (2001), Fig. 2a–c. Recruit searches after tunnel-distance dances.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https://doi.org/10.1038/35079072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Tautz and colleagues moved feeders along two routes, each 580 m long. One route crossed land, water and then an island; the other remained over land. Marked foragers were trained to follow the moving food source, including a feeder carried by boat.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Maintaining trained bees at the boat feeder allowed distance signals to be measured even when spontaneous recruitment onto the water was uncommon.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each position, returning dances were filmed and waggle-run duration measured. The experiment tested whether the tunnel-defined visual odometer also depended on natural terrain. Both routes increased physical distance without the artificial proximity of tunnel walls.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Water-crossing bees continued to signal increasing distance, but the rate of increase differed across route segments. Recruits were scarce while the feeder was over water and reappeared on the island. Recruitment success and distance encoding are related but distinct outcomes, and the habitat change can affect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1. Land, water and island routes.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On the land–water–island route, Tautz and colleagues measured a waggle-duration increase of 1.970 ms/m over the first land segment, 0.546 ms/m over water and 2.243 ms/m over the island. Equal increments of physical travel therefore contributed unequally to the dance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units are milliseconds of additional waggle duration per physical meter. A flatter slope means less signal increment, not necessarily a lower flight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Segment-specific relations captured the change more closely than a single constant slope across the whole route. An all-land comparison route lacked a corresponding water-associated flattening. The control separated a specific terrain transition from a general dependence on increasing feeder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visual odometer need not stop working over water; it can accumulate less effective image motion there. These behavioral measurements constrain the distance signal’s input dependence. They do not directly record retinal motion neurons or prove that low contrast alone accounts for the entire water effect.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2A,B. Distance coding changes over 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Visual contrast measures differences in image intensity that make spatial structure detectable. Tautz and colleagues photographed land and water scenes along the experimental routes and analyzed intensity variation in defined image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Low contrast can weaken motion signals even when the animal continues moving. The photographs document the actual terrain; they are not a reconstructed visual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contrast was greater over land than over water. The low-contrast water segment coincided with slower accumulation of waggle duration, whereas the terrestrial segments supported larger increases. The original scene photographs retain the investigators’ measurement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Contrast provides a plausible connection between natural image structure and effective optic flow. A correlation across route segments does not isolate contrast from flight height, viewing direction or surface texture. The controlled tunnel-texture experiments supply a separate intervention on visual motion, while the field measurements establish ecological dependence under ordinary foraging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4. Scenes used to compare land and water contrast.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Tautz et al. (2004), Fig. 5. Natural terrestrial route and image-analysis windows.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https://doi.org/10.1371/journal.pbio.0020211</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Polarized light has a preferred orientation of its electric-field oscillation, called the e-vector. Sakura and colleagues tested whether restrained honeybees could discriminate two e-vector directions presented from above without having to complete a navigational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Rewarded and unrewarded directions differed by 90°. The dorsal-rim anatomy is from Zeller and colleagues; it identifies the sensory entry region investigated with occlusion in Sakura’s behavioral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direction was paired with sucrose; the perpendicular direction was not rewarded. The proboscis extension response, extension of the feeding mouthparts, supplied a behavioral readout of association. During ultraviolet-light conditioning, responses increased to the rewarded direction while remaining low to the 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 establishes learned discrimination of polarization orientation independently of free-flight steering. Head-fixed bees could also learn, supporting detection without repeated active head scanning. It does not measure an internal compass bearing or establish how this sensory discrimination is converted into the direction advertised in a dance.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1. Rewarded and unrewarded polarization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 and colleagues repeated polarization conditioning with ultraviolet light near 350 nm, blue light near 442 nm and green light near 546 nm. Each preparation used a rewarded e-vector and a perpendicular unrewarded e-vector.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three wavelength conditions isolate spectral dependence. The source anatomy places dorsal-rim inputs in the dorsal medulla, but wavelength-dependent learning itself was measured behaviorally.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acquired the discrimination under ultraviolet stimulation but did not acquire it under the tested blue or green conditions. The wavelength comparison controlled the form of the associative task while changing the available spectral input. Ordinary responsiveness to sucrose was assessed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ultraviolet-sensitive polarization input rather than a wavelength-independent task solution. It does not mean that blue and green receptors are unimportant in other visual behaviors. Nor does this behavioral experiment identify an individual phototransduction ion channel or trace a complete polarization-processing circuit.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3a–c. Learning with ultraviolet, blue and green 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dorsal rim area is a specialized region near the upper edge of the compound eye associated with skylight polarization detection. Sakura and colleagues painted either this region or the rest of the eye before ultraviolet polarization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extradorsal-rim condition leaves the candidate polarization-sensitive region available. This is a stronger localization control than covering the whole eye.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with the dorsal rim covered did not learn the rewarded e-vector. Bees with the extradorsal-rim region covered retained discrimination, despite having much of the eye occluded. This complementary control links the behavioral effect to the specialized region rather than simply to reduced exposed eye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necessary dorsal-rim contribution under these conditions. Zeller and colleagues traced input from this region into a specialized dorsal-medulla compartment. The occlusion and tracing results converge on a sensory pathway, but neither establishes every receptor subtype or the downstream synapses required for dance navigation.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 et al. (2012), Fig. 2a,b. Dorsal-rim occlusion and extradorsal-rim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Kraft and colleagues trained bees in a four-tunnel maze with one entrance and three possible exits. Each tunnel was 125 cm long, 11 cm wide and 18 cm high. Polarizing filters above the tunnels specified illumination parallel or perpendicular to the flight axis.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preparation drawing comes from the primary article. Relative polarization means orientation with respect to the tunnel axis, rather than a compass direction written on the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rewarded exit carried the same relative polarization orientation as the entrance. Incorrect exits offered no reward; during tests, choices were measured without reward. A diffuser prevented a direct view of the sun and obscured overhead landmarks.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asks whether a bee can associate a route with a particular relationship between body axis and e-vector. It does not require an absolute geographical compass solution. Moving the illumination pattern among exits then tests the contribution of polarization against a learned preference for turning or going straight.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1. Four-tunnel polarized-light maze.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Kraft and colleagues’ straight-ahead training condition, bees chose the rewarded tunnel on 67% of tests with the original illumination arrangement. Moving the rewarded polarization to the left exit raised left choices from 15% to 28%, but straight-ahead choices remained at 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two training conditions are separate preparations. Their different transfer patterns argue against treating all choices as a pure readout of one sensory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right-turn training condition, bees chose the rewarded right exit on 74% of tests. When its polarization was moved to the straight-ahead exit, straight-ahead choices reached 56%. Three exits gave a random-choice level of approximately 33%.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cue relocation changed behavior, but it did not erase the learned route preference uniformly across training conditions. Polarization and motor-route memory can both influence choice. The experiment supports learned use of relative e-vector information without claiming that this cue exclusively determines every route decision.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Kraft et al. (2011), Fig. 3a,b. Choices after relocating the rewarded 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https://doi.org/10.1098/rstb.2010.0203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trained bees through a 12 m textured tunnel covered by ultraviolet-transmitting polarizers and a diffuser. The diffuser removed a direct view of the sun and overhead landmarks, leaving the artificial polarization pattern as the celestial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polarizer orientation changed while tunnel direction remained fixed. The original article contains the preparation images and measured dance distributions; no direction plots have been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transverse polarization, waggle runs clustered along a vertical axis on the comb. With axial polarization, they clustered along a horizontal axis. The reported mean axes were approximately 91.7° and 1.3° relative to horizontal,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single e-vector has a 180° ambiguity: the same axis can represent opposite travel directions. Bees advertised both alternatives rather than a unique direction. The experiment links polarized flight input to the communicated direction while distinguishing an axis of possible headings from a fully disambiguated sun-referenced bearing.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2a–c. Transverse polarization and vertical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3a–c. Axial polarization and horizontal dance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9" name="Google Shape;33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Evangelista and colleagues also changed the polarization axis halfway along the tunnel. The first 6 m and the second 6 m provided perpendicular e-vector orientations, although the physical tunnel itself remained straight.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 figure includes the authors’ stimulus arrangement and measured durations. The suggested two-leg geometry is an interpretation of the behavior, not a directly observed physical 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the two-segment journey, bees advertised diagonal directions consistent with interpreting a turn between the segments. Their mean waggle duration was shorter than after a tunnel with one uniform polarization axis. The authors related this reduced distance signal to an inferred two-leg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alters the sensory compass instruction without inserting an actual corner. It supports combination of directional input with a distance estimate when generating the dance. The inferred trajectory depends on ambiguity in the artificial sky cue, and the study did not directly record neural vector accumulation or identify a central-complex calculation.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Evangelista et al. (2014), Fig. 8. Distance signals after switching polarization mid-route.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https://doi.org/10.1098/rstb.2013.0037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Solar azimuth is the sun’s horizontal bearing; an ephemeris describes its changing position over the day. Dyer and Dickinson reared bees in an incubator and allowed them to fly outside only during the late afternoon.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Cloud cover removed direct celestial information during the test. Direction was inferred from dances relative to a known food route, not from an electrode measurement of a sun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 a cloudy test day, these bees flew for the first time during morning and early afternoon. Their dances indicated a morning solar estimate approximately 180° from the evening azimuth they had previously experienced. Around local noon, they switched toward the familiar evening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bees therefore supplied an approximate morning reference without having directly experienced that portion of the sun’s course. The step-like pattern supports a general expectation of daily solar movement refined by experience. It differs from exact memorization of every hourly sun position and leaves the implementing neuronal computation unresolved.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2A. Solar estimates after afternoon-only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Dyer and Dickinson compared experience-restricted bees with bees that had previously flown throughout the day. Both groups were tested under a cloudy sky, so current direct sight of the sun could not explain the difference in their dance orientations.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actual daily course was known independently from astronomical position. Shared cloud cover controls the availability of immediate celestial cues across the two experience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Fully experienced bees’ solar estimates followed the continuously changing local sun course more closely. Bees with afternoon-only experience instead used the coarse morning–afternoon pattern. The comparison separates a broad expectation about solar movement from its more precise local calibration.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sun’s horizontal bearing changes at a variable rate with time, latitude and season; a universal constant angular-rate correction is insufficient. Experience improves the temporal reference used for navigation. The design supports learned calibration but does not isolate whether particular visual scenes, flight directions or training times supplied each component of that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Dyer &amp; Dickinson (1994), Fig. 2B. Experienced bees track the sun under cloud cover.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https://doi.org/10.1073/pnas.91.10.4471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8" name="Google Shape;37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circadian clock is an internal timing system with an approximately daily cycle. Cheeseman and colleagues used 2% isoflurane anesthesia to perturb this timing system and tested subsequent sun-compass homing.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was between long and short anesthesia, rather than between treatment and an unhandled animal alone. Vanishing bearing samples initial orientation and does not establish eventual homing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Southern Hemisphere, bees trained to a feeder 100 m from the hive were transported 6 km into unfamiliar terrain. Six-hour anesthesia produced an approximately 87° anticlockwise shift in vanishing bearing relative to a 30-min anesthetic control. A vanishing bearing is the direction at which a departing bee leaves the observer’s view.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time error predicts a directional error because solar bearing depends on time of day. The shifted orientation supports this relationship, but extended anesthesia can also affect general performance. The short-anesthetic control and independent clock measurements are needed to distinguish a timing disturbance from nonspecific drug effects.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1. Anesthesia shifts Southern Hemisphere bearings.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1" name="Google Shape;391;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repeated the navigation test in the Northern Hemisphere using harmonic radar. Bees trained to a feeder 300 m from the hive were displaced 500 m before release, allowing the initial homeward vector flight to be separated from later correction.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error tied to solar movement can reverse sign across hemispheres. A fixed lateral motor bias would not predict that reversal.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shifted the initial vector approximately 58° clockwise relative to the 30-min control. Unanesthetized catch-and-release bees provided another handling comparison. The direction of the error was opposite to the Southern Hemisphere result, as expected from the different solar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hemisphere comparison links the behavioral error to sun-compass timing rather than to a fixed tendency to turn left or right after treatment. Individual variation and possible secondary cues remain. The measured trajectory establishes an altered initial compass instruction, without locating its neural implementation.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2A,B. Northern Hemisphere tracks after clock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4" name="Google Shape;404;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Cheeseman and colleagues measured hive activity under constant dim light, removing ordinary day–night transitions as the immediate cause of a shifted rhythm. Daytime six-hour anesthesia delayed daily activity and altered rhythmic gene expression in sampled bee brains.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Cryptochrome and period expression were sampled across the daily cycle rather than at a single post-treatment time. A phase shift changes when the rhythm peaks, not simply whether a gene is expressed.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reported phase delays were 4.9 h for mammalian-type cryptochrome messenger RNA and 4.3 h for period messenger RNA. Messenger RNA is the transcript used to produce a gene’s protein. The sampled hive’s activity phase shifted by 5.3 h, while clock expression remained broadly constitutive.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Six-hour anesthesia during subjective night did not produce the same delay. This time-dependent effect supports disturbance of the circadian oscillator rather than a literal six-hour pause in all behavior. Whole-brain expression cannot specify the cells delivering time information to a compass pathway or identify the relevant anesthetic 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Cheeseman et al. (2012), Fig. 4A–D. Activity rhythms and clock-gene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https://doi.org/10.1073/pnas.1201734109</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injected fluorescent tracers into the dorsal rim of the honeybee eye and labeled surrounding neuropil. Neuropil is tissue containing interwoven neuronal branches and synapses. The medulla is a visual-processing region within the optic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Afferents are neurons carrying input into a processing region. Tracer transport identifies projection geometry, while synapsin staining supplies a reference for the surrounding synaptic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Dorsal-rim input reached a distinct dorsal-medulla compartment called the MEDRA. Complementary injections into other pathway regions and synapsin labeling distinguished this compartment from neighboring medulla. The published micrographs preserve anatomical orientation and micrometer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tracing identifies an entry pathway for polarization-associated visual input. It does not by itself measure e-vector tuning or prove that every labeled connection is required for dance orientation. Anatomical localization and Sakura’s regional-occlusion experiment address different links between sensory specialization and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1A–F. Dorsal-rim input reaches dorsal medulla.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0" name="Google Shape;43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traced transmedulla neurons, cells whose branches cross the medulla from the dorsal-rim-associated input compartment toward more medial brain regions. Dye injections from different locations provided complementary views of their branching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anterior optic tubercle is divided into compartments. The lower-unit complex is associated with this traced pathway, so the term does not refer to every tubercle neuron indiscriminately.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neurons arborized in the MEDRA and extended through a defined medulla layer. Their medial projections reached the lower-unit complex of the anterior optic tubercle, a visual-processing center outside the optic lobe. Fine terminal morphology distinguished plausible input and output portions of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ordered projection provides an anatomical route from specialized eye input toward central compass circuitry. Morphology supports this direction of information flow but cannot replace physiological measurements of transmission. The study did not identify a transmitter for every transmedulla cell or directly establish its role in correcting a dance angle for time of day.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2A–F. Transmedulla neuron branches and medial projections.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3A–D. Projections to the lower anterior optic tubercle.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Pigment-dispersing factor, or PDF, is a neuropeptide associated with circadian signaling in insects. Zeller and colleagues combined PDF immunostaining with tracer labeling of transmedulla neurons to ask where potential timing input could meet the honeybee sky-compass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Immunoreactivity means that an antibody recognizes a target in the preparation. It supports the presence of the labeled substance, but a nearby labeled bouton is not equivalent to a confirmed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PDF-positive fibers occupied the same medulla layer as parts of the traced neurons. At higher magnification, labeled puncta lay in close proximity along their passage through the medulla. The two labels did not colocalize, and PDF labeling was not found within the MEDRA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identifies neighboring neuronal populations and a candidate site for modulation. Close proximity does not establish peptide release, a postsynaptic PDF receptor or a functional synapse. Circadian compass correction is therefore a proposed role of this contact region rather than a demonstrated action of PDF on these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5A–C. PDF-positive fibers lie beside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Zeller and colleagues combined transmedulla tracer labeling with antibodies against serotonin, a monoamine signaling molecule, and GABA, gamma-aminobutyric acid. GABA commonly contributes inhibitory signaling, but its action at a particular connection requires receptor and physiological evidence.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Different distributions imply different possible access to the traced pathway. Assigning an excitatory or inhibitory effect solely from proximity would go beyond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Serotonin-positive puncta overlapped the dorsal portion of the relevant medulla layer but not the MEDRA. GABA-positive fibers lay near transmedulla branches throughout their length, including the MEDRA. In both preparations, tracer and transmitter labels marked different populations rather than the same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spatial relationships support candidate modulatory and local processing interactions. They do not establish whether serotonin increases or decreases compass-pathway excitability or whether a particular GABA receptor or chloride conductance mediates an effect. The necessary receptor identity, synaptic direction and time-dependent physiology remain unmeasured in this anatomical study.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6A–C. Serotonin-positive fibers and transmedulla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Zeller et al. (2015), Fig. 7A–C. GABA-positive fibers near compass-pathway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https://doi.org/10.1371/journal.pone.0143244</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3" name="Google Shape;47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traced the honeybee sky-compass network using dye injections, neuropil labeling and single-cell preparations. TuLAL1 neurons project from the anterior optic tubercle toward paired synaptic regions called the lateral and medial bulbs.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pathway nomenclature names the projection classes used by the authors. The original article’s anatomical drawing is included unchanged; no circuit has been newly drawn for this deck.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second class, TL neurons, connects these bulbs with the lower division of the central body, part of the central complex. The labeled branches establish two parallel anatomical routes from tubercle outputs toward central-brain circuitry associated with directional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bulbs provide a defined interface rather than an undifferentiated relay. The study identifies its neurons and terminal organization, but it does not directly record a honeybee heading code or demonstrate the conversion of that code into a waggle-run angle. Functional interpretations must remain separate from the measured projection anatomy.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1A–F. AOTU–bulb–central-body projection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microglomerulus is a compact synaptic complex in which a large presynaptic terminal contacts several smaller postsynaptic processes. Held and colleagues stained honeybee bulb tissue for synapsin, associated with presynaptic machinery, and filamentous actin, prominent in postsynaptic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Synapsin and actin are markers, not themselves a transmitter identity. Their different distributions help separate terminal compartments before synaptic membrane structure is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Confocal images revealed separated microglomerular complexes in the lateral and medial bulbs. Traced TuLAL1 terminals occupied the presynaptic cores, while postsynaptic processes from TL neurons contacted them. Complementary labeling linked cell projections to the local terminal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stains identify an anatomical arrangement for distributing tubercle signals among downstream neurons. Confocal proximity alone cannot resolve every membrane contact, so the authors also used electron microscopy. These structures are a measured substrate for parallel processing, without establishing what exact directional information each complex carries during flight or dancing.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2A–C. Synapsin and actin identify bulb microglomeruli.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Held and colleagues used transmission electron microscopy to examine honeybee bulb complexes at membrane resolution. Large TuLAL1 terminals contained vesicles and multiple presynaptic specializations facing smaller profiles. Vesicles are membrane-bound structures that store releasable signaling molecules.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Dyadic and tetradic count the postsynaptic profiles at a single specialization. They do not imply that the entire presynaptic neuron has only two or four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identified dyadic and tetradic contacts, where one presynaptic specialization faced two or four postsynaptic profiles. GABA immunostaining associated downstream TL neurons with an inhibitory transmitter phenotype. These observations constrain connectivity more directly than a light-microscopy overlap.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Synaptic morphology establishes physical contacts, and transmitter staining supports a candidate sign of downstream signaling. Neither observation identifies all postsynaptic receptors or the activity-dependent effect on a navigation computation. A GABA-associated projection is not sufficient evidence for a specific chloride-channel mechanism at every terminal in the network.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7A,B. Dyadic and tetradic synapses in bulb complexes.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Held et al. (2016), Fig. 5A–C. GABA-positive tangential-neuron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https://doi.org/10.3389/fnbeh.2016.00186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recorded electric fields around dancing bees and measured antennal movements during controlled electrical stimulation. Charged bodies can exert forces on nearby charged structures; detecting such a force does not require a dedicated electric-field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moving flagellum can stimulate the same mechanical sensory apparatus through different physical causes. The published anatomical panel locates the organ and the afferent route into the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isolated wing oscillating at 40 Hz, 2 mm from the head, evoked larger flagellar movements when charge was preserved rather than discharged. Laser Doppler measurements quantified these movements. Johnston’s organ, a mechanosensory organ in the antennal pedicel, responded to field-induced movement. The flagellum is the distal antennal segment, and the pedicel is its supporting joint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resulting sequence is an electric force, antennal displacement and activation of movement-sensitive sensory neurons. This supports a mechanical route for field detection. It does not establish that electric fields are necessary for natural dance decoding or identify the mechanotransduction channel converting movement into receptor current.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3a,b and Fig. 4. Field-induced flagellar motion and Johnston-organ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9" name="Google Shape;52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Treating bees after conditioning separates sensory access at test from initial acquisition. Surface coating and joint restriction are different interventions and should not be treated as identical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learning, removing antennae eliminated the learned field response. Wax treatments that restricted antennal joints strongly reduced it; coating surfaces while retaining movement produced a less marked reduction. Learned responses to electric cues were also retained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pattern supports a contribution from antennal mechanoreception, including receptors associated with both joints. It does not isolate Johnston’s organ as the sole sensor or exclude every contribution from antennal surface hairs. The conditioning demonstrates a usable cue under controlled conditions, rather than its exclusive or necessary role in a crowded hive.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Greggers et al. (2013), Fig. 7a–c. Associative learning after antennal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https://doi.org/10.1098/rspb.2013.0528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1a–c. Antennal input, mechanosensory neuropils and DL-Int-1.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recorded intracellularly from identified honeybee interneurons while a mechanical stimulator vibrated the antennal flagellum. DL-Int-1 branches in the dorsal lobe and related mechanosensory tissue. Dye filling and anti-GABA staining associated this cell type with a GABAergic phenotype.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Intracellular recording measures voltage changes and spikes in the same identified neuron. Suppression of this GABA-positive cell is different from evidence that its output inhibits a specific downstream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carrier was 265 Hz, within the wing-vibration range relevant to waggle dancing. Pulse trains with durations up to 16 ms and intervals up to 33 ms suppressed DL-Int-1 firing below its spontaneous level. Longer 100 ms intervals allowed intermittent spikes during the train.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response distinguishes closely spaced vibration pulses from more widely spaced events. Antibody controls supported label specificity, but GABA staining does not prove a particular inhibitory connection to another named neuron. The cellular recording establishes temporal filtering without identifying the receptor or ion channel that generates the observed inhibitory potentials.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3A–D. DL-Int-1 responses to pulse duration and interval.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2A–E. DL-Int-1 morphology and GABA immunoreactivity.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9" name="Google Shape;55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Ai and colleagues found a different response in DL-Int-2, another identified interneuron in the primary mechanosensory processing region. Its soma did not coincide with the anti-GABA labeling observed for DL-Int-1; this negative label does not by itself identify its transmitter.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envelope and the carrier are different quantities. A 265 Hz vibration inside repeated pulses is not equivalent to a 265 Hz rate of whole waggle runs.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265 Hz carrier, trains with 16 ms pulses and 33 ms intervals evoked an initial excitation followed by maintained excitation. In contrast, DL-Int-1 was suppressed during comparable short-interval stimulation. Tonic activity is sustained activity during a stimulus, whereas phasic activity is concentrated near a change such as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contrasting responses could allow pulse-train duration to influence downstream signaling. A proposed inhibitory relationship between the two cell types was supported by modeling and morphology, not by direct synaptic measurement. The recorded excitation must therefore be distinguished from a proven circuit for decoding advertised distance.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4A,B. DL-Int-2 excitation during vibration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Ai et al. (2017), Fig. 2F–J. DL-Int-2 morphology and transmitter-label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https://doi.org/10.1523/jneurosci.0044-17.2017</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4" name="Google Shape;57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Kumaraswamy and colleagues compared DL-Int-1 in newly emerged workers aged 1–3 days with foragers older than 10 days. The preparation combined intracellular recording with dye-filled morphology, allowing cell identity to be retained across the age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Young bees had been maintained in cages, while foragers had natural behavioral experience. That group difference limits any claim that age alone or dance experience alone caused the response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Gross arborization extent was similar between groups, but branch density differed in selected regions. Foragers’ responses showed a stronger contrast between spontaneous activity and vibration-evoked inhibition, giving the stimulus a more distinct temporal signature. The original reconstructions and response distributions document different levels of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Maturation can change signal processing without replacing a neuron’s overall projection pattern. Age and experience were not independently manipulated, however, so the differences cannot be assigned exclusively to dance learning. The comparison establishes developmental association rather than the cellular cause of an acquired navigational skill.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5a–d. Neuronal response distributions in young bees and foragers.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Kumaraswamy et al. (2019), Fig. 3a,b. Reconstructed DL-Int-1 arborizations during maturation.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https://doi.org/10.1523/eneuro.0454-18.2019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Dong and colleagues created colonies of newly emerged workers with no experienced dancers and compared them with mixed-age colonies. Individually marked bees first danced for a feeder 150 m away; the same bees were tested again 20 days later.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Directional divergence measures variation among waggle runs, not necessarily a systematic bias in the average advertised compass bearing. Those two kinds of error have different consequences for followers.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Bees that could not follow experienced dancers before their first dance produced larger waggle-angle divergence and more disordered movements. Their directional precision improved by the later test. First dances in mixed-age colonies were already more precise, separating early social exposure from the act of merely performing a 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social contributions to dance development alongside an inherited behavioral pattern. Later improvement could reflect age, flight practice, following experience or their combination. Colony composition changes several experiences together, so the study does not isolate a single teaching interaction or a synaptic learning rule.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1B. Directional divergence before and after dance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2" name="Google Shape;60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Dong and colleagues’ 150 m feeder preparation, naive first dancers produced longer waggle runs and more waggles per run than first dancers from mixed-age colonies. The altered timing advertised a greater distance despite the common food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feeder remained at the same distance for the group comparison. An improved return flight and a persistently long dance signal cannot be collapsed into one general measure of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Twenty days later, the previously naive bees still produced the elevated distance signal. Their return-flight times had improved, and their directional precision had recovered, but the distance difference remained. The persistence separates distance calibration from changes that become more normal with later foraging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Social experience therefore influences different components of the dance differently. Persistence through the measured adult interval supports a lasting calibration effect; it is not a longitudinal measurement of every future dance throughout a bee’s life. The experiment does not identify the sensory or neural mechanism storing that early calibration.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Dong et al. (2023), Fig. 2. Dance distance signals and return flights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https://doi.org/10.1126/science.ade1702</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Wang and colleagues tracked dance followers released either at the hive or at displaced sites within an explored landscape. The recruits had never visited the advertised food source. Harmonic radar sampled flight positions every 3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virtual endpoint is a predicted destination from an origin-dependent instruction, not a second feeder presented to the bee. The real and virtual alternatives distinguish later source-directed search from continuing the displaced vector.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first flew approximately the communicated vector. During later search, displaced recruits directed more behavior toward the real feeder location than toward the virtual endpoint obtained by executing that vector from the wrong origin. Search could therefore incorporate landscape knowledge acquired before the recruitment event.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interpreted this behavior as inference of source location using map-like spatial knowledge. It does not directly record a neural map, and familiar visual guidance must be distinguished from a purely metric representation. The contrast with Riley’s sparse-terrain experiment emphasizes the separate contributions of initial vector flight and subsequent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4. Search distributions relative to real and virtual feeders.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Wang et al. (2023), Fig. 1A–C. Experimental landscape and radar trajectories.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https://doi.org/10.1073/pnas.2213068120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Dance vectors. Waggle-run angle specifies direction relative to the sun; duration specifies a visually calibrated distance from the hive. Vector flight and terminal source search are distinct.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odometry. Optic flow changes dance duration and recruit search distance. Tunnel texture and natural terrain prevent a universal conversion from duration to physical meters.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Time compensation. Bees refine the local solar course through experience. Circadian phase disruption causes sun-compass errors whose direction depends on hemisphere.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Compass pathways. Ultraviolet-sensitive dorsal-rim input reaches the medulla, optic tubercle, bulbs and central body. Tracing establishes anatomy; candidate timing contacts require functional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Dance-signal processing. Antennal movement activates mechanosensory pathways. Identified interneurons filter vibration pulse trains, but their proposed inhibitory connections and distance-decoding role are not fully established.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Experience and search. Early social experience affects dance precision and lasting distance calibration. Familiar landscape knowledge can influence later search without replacing the initial dance vector.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von Frisch K, Lindauer M (1954). Himmel und Erde in Konkurrenz bei der Orientierung der Bienen. Die Naturwissenschaften 41(11): 245-253. https://doi.org/10.1007/bf00634944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Srinivasan MV, Zhang S, Altwein M, Tautz J (2000). Honeybee Navigation: Nature and Calibration of the "Odometer". Science 287(5454): 851-853. https://doi.org/10.1126/science.287.5454.851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Esch HE, Zhang S, Srinivasan MV, Tautz J (2001). Honeybee dances communicate distances measured by optic flow. Nature 411(6837): 581-583. https://doi.org/10.1038/35079072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Riley JR, Greggers U, Smith AD, Reynolds DR, Menzel R (2005). The flight paths of honeybees recruited by the waggle dance. Nature 435(7039): 205-207. https://doi.org/10.1038/nature03526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Dong S, Lin T, Nieh JC, Tan K (2023). Social signal learning of the waggle dance in honey bees. Science 379(6636): 1015-1018. https://doi.org/10.1126/science.ade1702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Wang Z, Chen X, Becker F, Greggers U, Walter S, Werner M, Gallistel CR, Menzel R (2023). Honey bees infer source location from the dances of returning foragers. Proceedings of the National Academy of Sciences 120(12): e2213068120. https://doi.org/10.1073/pnas.2213068120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Greggers U, Koch G, Schmidt V, Dürr A, Floriou-Servou A, Piepenbrock D, Göpfert MC, Menzel R (2013). Reception and learning of electric fields in bees. Proceedings of the Royal Society B: Biological Sciences 280(1759): 20130528. https://doi.org/10.1098/rspb.2013.0528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Kumaraswamy A, Ai H, Kai K, Ikeno H, Wachtler T (2019). Adaptations during Maturation in an Identified Honeybee Interneuron Responsive to Waggle Dance Vibration Signals. eNeuro 6(5): ENEURO.0454-18.2019. https://doi.org/10.1523/eneuro.0454-18.2019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 M, Okada R, Aonuma H (2012). Evidence for instantaneous e-vector detection in the honeybee using an associative learning paradigm. Proceedings of the Royal Society B: Biological Sciences 279(1728): 535-542. https://doi.org/10.1098/rspb.2011.0929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Evangelista C, Kraft P, Dacke M, Labhart T, Srinivasan MV (2014). Honeybee navigation: critically examining the role of the polarization compass. Philosophical Transactions of the Royal Society B: Biological Sciences 369(1636): 20130037. https://doi.org/10.1098/rstb.2013.0037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Kraft P, Evangelista C, Dacke M, Labhart T, Srinivasan MV (2011). Honeybee navigation: following routes using polarized-light cues. Philosophical Transactions of the Royal Society B: Biological Sciences 366(1565): 703-708. https://doi.org/10.1098/rstb.2010.0203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Dyer FC, Dickinson JA (1994). Development of sun compensation by honeybees: how partially experienced bees estimate the sun's course. Proceedings of the National Academy of Sciences 91(10): 4471-4474. https://doi.org/10.1073/pnas.91.10.4471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Tautz J, Zhang S, Spaethe J, Brockmann A, Si A, Srinivasan M (2004). Honeybee Odometry: Performance in Varying Natural Terrain. PLoS Biology 2(7): e211. https://doi.org/10.1371/journal.pbio.0020211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Zeller M, Held M, Bender J, Berz A, Heinloth T, Hellfritz T, Pfeiffer K (2015). Transmedulla Neurons in the Sky Compass Network of the Honeybee (Apis mellifera) Are a Possible Site of Circadian Input. PLOS ONE 10(12): e0143244. https://doi.org/10.1371/journal.pone.0143244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Ai H, Kai K, Kumaraswamy A, Ikeno H, Wachtler T (2017). Interneurons in the Honeybee Primary Auditory Center Responding to Waggle Dance-Like Vibration Pulses. The Journal of Neuroscience 37(44): 10624-10635. https://doi.org/10.1523/jneurosci.0044-17.2017</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Mature foragers differ from young workers.</a:t>
            </a:r>
          </a:p>
          <a:p>
            <a:r>
              <a:rPr lang="en-US" sz="1200"/>
              <a:t>• Explanation 1.</a:t>
            </a:r>
          </a:p>
          <a:p>
            <a:r>
              <a:rPr lang="en-US" sz="1200"/>
              <a:t>– Kumaraswamy and colleagues compared DL-Int-1 in newly emerged workers aged 1–3 days with foragers older than 10 days</a:t>
            </a:r>
          </a:p>
          <a:p>
            <a:r>
              <a:rPr lang="en-US" sz="1200"/>
              <a:t>– Both groups were recorded intracellularly and filled with dye for morphology. Cell identity was preserved across the age comparison, so the same neuron type could be followed. Gross arborization extent was similar in the two groups.</a:t>
            </a:r>
          </a:p>
          <a:p>
            <a:r>
              <a:rPr lang="en-US" sz="1200"/>
              <a:t>• Explanation 2.</a:t>
            </a:r>
          </a:p>
          <a:p>
            <a:r>
              <a:rPr lang="en-US" sz="1200"/>
              <a:t>– Branch density differed in selected regions, while the overall arbor extent matched between the groups</a:t>
            </a:r>
          </a:p>
          <a:p>
            <a:r>
              <a:rPr lang="en-US" sz="1200"/>
              <a:t>– Foragers' responses showed a stronger contrast between spontaneous activity and vibration-evoked inhibition. That contrast gives the stimulus a sharper temporal signature in older bees. Reconstructions and response distributions document these changes at two levels of analysis.</a:t>
            </a:r>
          </a:p>
          <a:p>
            <a:r>
              <a:rPr lang="en-US" sz="1200"/>
              <a:t>• Explanation 3.</a:t>
            </a:r>
          </a:p>
          <a:p>
            <a:r>
              <a:rPr lang="en-US" sz="1200"/>
              <a:t>– Maturation can change signal processing without replacing a neuron's overall projection pattern</a:t>
            </a:r>
          </a:p>
          <a:p>
            <a:r>
              <a:rPr lang="en-US" sz="1200"/>
              <a:t>– Age and experience covary in this design, so the differences reflect development linked with foraging. The response distribution shows what changes, and the reconstructions show that the cell's wiring is retained. Foraging experience is one candidate driver of these changes.</a:t>
            </a:r>
          </a:p>
          <a:p>
            <a:r>
              <a:rPr lang="en-US" sz="1200"/>
              <a:t>• Source.</a:t>
            </a:r>
          </a:p>
          <a:p>
            <a:r>
              <a:rPr lang="en-US" sz="1200"/>
              <a:t>– The figure and the measurements come from Kumaraswamy et al. (2019).</a:t>
            </a:r>
          </a:p>
          <a:p>
            <a:r>
              <a:rPr lang="en-US" sz="1200"/>
              <a:t>– Each statement is tied to the recordings or observations of that study.</a:t>
            </a:r>
          </a:p>
          <a:p>
            <a:r>
              <a:rPr lang="en-US" sz="1200"/>
              <a:t/>
            </a:r>
          </a:p>
          <a:p>
            <a:r>
              <a:rPr lang="en-US" sz="1200"/>
              <a:t>References:</a:t>
            </a:r>
          </a:p>
          <a:p>
            <a:r>
              <a:rPr lang="en-US" sz="1200"/>
              <a:t>Kumaraswamy A, Ai H, Kai K, Ikeno H, Wachtler T (2019). Adaptations during Maturation in an Identified Honeybee Interneuron Responsive to Waggle Dance Vibration Signals. eNeuro 6(5): ENEURO.0454-18.2019. https://doi.org/10.1523/eneuro.0454-18.2019</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Learned field cues persist for 24 h.</a:t>
            </a:r>
          </a:p>
          <a:p>
            <a:r>
              <a:rPr lang="en-US" sz="1200"/>
              <a:t>• Explanation 1.</a:t>
            </a:r>
          </a:p>
          <a:p>
            <a:r>
              <a:rPr lang="en-US" sz="1200"/>
              <a:t>– Greggers and colleagues paired an electric-field stimulus with sucrose during conditioning</a:t>
            </a:r>
          </a:p>
          <a:p>
            <a:r>
              <a:rPr lang="en-US" sz="1200"/>
              <a:t>– An uncharged material or an inactive stimulus source served as the unrewarded comparison. Bees learned constant fields as well as fields modulated at 60 Hz. The conditioned proboscis extension response served as the readout. Both stimulus types produced clear learning.</a:t>
            </a:r>
          </a:p>
          <a:p>
            <a:r>
              <a:rPr lang="en-US" sz="1200"/>
              <a:t>• Explanation 2.</a:t>
            </a:r>
          </a:p>
          <a:p>
            <a:r>
              <a:rPr lang="en-US" sz="1200"/>
              <a:t>– Removing the antennae eliminated the learned field response</a:t>
            </a:r>
          </a:p>
          <a:p>
            <a:r>
              <a:rPr lang="en-US" sz="1200"/>
              <a:t>– Wax coating that restricted the antennal joints strongly reduced it, while coating the surfaces and keeping the joints mobile produced a smaller reduction. Responses to electric cues were still present after 24 h. The retained response shows that the memory outlasted the conditioning session.</a:t>
            </a:r>
          </a:p>
          <a:p>
            <a:r>
              <a:rPr lang="en-US" sz="1200"/>
              <a:t>• Explanation 3.</a:t>
            </a:r>
          </a:p>
          <a:p>
            <a:r>
              <a:rPr lang="en-US" sz="1200"/>
              <a:t>– The intervention pattern supports a contribution from antennal mechanoreception, including receptors linked to both joints</a:t>
            </a:r>
          </a:p>
          <a:p>
            <a:r>
              <a:rPr lang="en-US" sz="1200"/>
              <a:t>– Johnston's organ is one of several possible sensors, alongside the antennal surface hairs. Antennal removal eliminates the whole antenna, which is a stronger manipulation than coating the surfaces. Conditioning under these controlled conditions demonstrates a usable electric cue.</a:t>
            </a:r>
          </a:p>
          <a:p>
            <a:r>
              <a:rPr lang="en-US" sz="1200"/>
              <a:t>• Source.</a:t>
            </a:r>
          </a:p>
          <a:p>
            <a:r>
              <a:rPr lang="en-US" sz="1200"/>
              <a:t>– The figure and the measurements come from Greggers et al. (2013).</a:t>
            </a:r>
          </a:p>
          <a:p>
            <a:r>
              <a:rPr lang="en-US" sz="1200"/>
              <a:t>– Each statement is tied to the recordings or observations of that study.</a:t>
            </a:r>
          </a:p>
          <a:p>
            <a:r>
              <a:rPr lang="en-US" sz="1200"/>
              <a:t/>
            </a:r>
          </a:p>
          <a:p>
            <a:r>
              <a:rPr lang="en-US" sz="1200"/>
              <a:t>References:</a:t>
            </a:r>
          </a:p>
          <a:p>
            <a:r>
              <a:rPr lang="en-US" sz="1200"/>
              <a:t>Greggers U, Koch G, Schmidt V, Dürr A, Floriou-Servou A, Piepenbrock D, Göpfert MC, Menzel R (2013). Reception and learning of electric fields in bees. Proceedings of the Royal Society B: Biological Sciences 280(1759): 20130528. https://doi.org/10.1098/rspb.2013.0528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Separated complexes lie in both bulbs.</a:t>
            </a:r>
          </a:p>
          <a:p>
            <a:r>
              <a:rPr lang="en-US" sz="1200"/>
              <a:t>• Explanation 1.</a:t>
            </a:r>
          </a:p>
          <a:p>
            <a:r>
              <a:rPr lang="en-US" sz="1200"/>
              <a:t>– Synapsin is associated with presynaptic machinery, and filamentous actin is prominent in postsynaptic regions</a:t>
            </a:r>
          </a:p>
          <a:p>
            <a:r>
              <a:rPr lang="en-US" sz="1200"/>
              <a:t>– Held and colleagues used both stains on honeybee bulb tissue. Their combined pattern marks the sites where terminals and processes meet. Each complex contains one large presynaptic core and several smaller postsynaptic profiles.</a:t>
            </a:r>
          </a:p>
          <a:p>
            <a:r>
              <a:rPr lang="en-US" sz="1200"/>
              <a:t>• Explanation 2.</a:t>
            </a:r>
          </a:p>
          <a:p>
            <a:r>
              <a:rPr lang="en-US" sz="1200"/>
              <a:t>– Confocal images revealed separated complexes in the lateral and medial bulbs</a:t>
            </a:r>
          </a:p>
          <a:p>
            <a:r>
              <a:rPr lang="en-US" sz="1200"/>
              <a:t>– Traced TuLAL1 terminals formed the presynaptic cores, and TL neuron processes contacted them. Complementary labeling connected each cell's projection to the local terminal organization. The arrangement distributes tubercle signals to several downstream cells in parallel.</a:t>
            </a:r>
          </a:p>
          <a:p>
            <a:r>
              <a:rPr lang="en-US" sz="1200"/>
              <a:t>• Explanation 3.</a:t>
            </a:r>
          </a:p>
          <a:p>
            <a:r>
              <a:rPr lang="en-US" sz="1200"/>
              <a:t>– The bulbs use these complexes to distribute the tubercle outputs among several downstream neurons</a:t>
            </a:r>
          </a:p>
          <a:p>
            <a:r>
              <a:rPr lang="en-US" sz="1200"/>
              <a:t>– Confocal images alone leave finer membrane contacts unseen. Electron microscopy, used next in the study, resolves the contacts in detail. Membrane-level detail shows which cells make each contact.</a:t>
            </a:r>
          </a:p>
          <a:p>
            <a:r>
              <a:rPr lang="en-US" sz="1200"/>
              <a:t>• Source.</a:t>
            </a:r>
          </a:p>
          <a:p>
            <a:r>
              <a:rPr lang="en-US" sz="1200"/>
              <a:t>– The figure and the measurements come from Held et al. (2016).</a:t>
            </a:r>
          </a:p>
          <a:p>
            <a:r>
              <a:rPr lang="en-US" sz="1200"/>
              <a:t>– Each statement is tied to the recordings or observations of that study.</a:t>
            </a:r>
          </a:p>
          <a:p>
            <a:r>
              <a:rPr lang="en-US" sz="1200"/>
              <a:t/>
            </a:r>
          </a:p>
          <a:p>
            <a:r>
              <a:rPr lang="en-US" sz="1200"/>
              <a:t>References:</a:t>
            </a:r>
          </a:p>
          <a:p>
            <a:r>
              <a:rPr lang="en-US" sz="1200"/>
              <a:t>Held M, Berz A, Hensgen R, Muenz TS, Scholl C, Rössler W, Homberg U, Pfeiffer K (2016). Microglomerular Synaptic Complexes in the Sky-Compass Network of the Honeybee Connect Parallel Pathways from the Anterior Optic Tubercle to the Central Complex. Frontiers in Behavioral Neuroscience 10: 186. https://doi.org/10.3389/fnbeh.2016.00186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PDF fibers lie beside transmedulla neurons.</a:t>
            </a:r>
          </a:p>
          <a:p>
            <a:r>
              <a:rPr lang="en-US" sz="1200"/>
              <a:t>• Explanation 1.</a:t>
            </a:r>
          </a:p>
          <a:p>
            <a:r>
              <a:rPr lang="en-US" sz="1200"/>
              <a:t>– Pigment-dispersing factor, or PDF, is a neuropeptide associated with circadian signaling in insects</a:t>
            </a:r>
          </a:p>
          <a:p>
            <a:r>
              <a:rPr lang="en-US" sz="1200"/>
              <a:t>– Zeller and colleagues combined PDF immunostaining with tracer labeling of transmedulla neurons. The combined labels revealed where potential timing input could meet the sky-compass pathway. Both labels were examined at higher magnification in the medulla.</a:t>
            </a:r>
          </a:p>
          <a:p>
            <a:r>
              <a:rPr lang="en-US" sz="1200"/>
              <a:t>• Explanation 2.</a:t>
            </a:r>
          </a:p>
          <a:p>
            <a:r>
              <a:rPr lang="en-US" sz="1200"/>
              <a:t>– PDF-positive fibers occupied the same medulla layer as parts of the traced neurons</a:t>
            </a:r>
          </a:p>
          <a:p>
            <a:r>
              <a:rPr lang="en-US" sz="1200"/>
              <a:t>– Labeled puncta lay in close proximity along the cells' passage through the medulla. The two labels did not colocalize, and PDF labeling was absent from within the MEDRA. This pattern places PDF fibers next to the cells without overlapping them.</a:t>
            </a:r>
          </a:p>
          <a:p>
            <a:r>
              <a:rPr lang="en-US" sz="1200"/>
              <a:t>• Explanation 3.</a:t>
            </a:r>
          </a:p>
          <a:p>
            <a:r>
              <a:rPr lang="en-US" sz="1200"/>
              <a:t>– The result identifies neighboring neuronal populations and a candidate site for modulation</a:t>
            </a:r>
          </a:p>
          <a:p>
            <a:r>
              <a:rPr lang="en-US" sz="1200"/>
              <a:t>– PDF is a neuropeptide, so the contact is a plausible route for timing signals. Circadian compass correction is the proposed role of that contact. Tracer labeling defined the traced neurons in these preparations.</a:t>
            </a:r>
          </a:p>
          <a:p>
            <a:r>
              <a:rPr lang="en-US" sz="1200"/>
              <a:t>• Source.</a:t>
            </a:r>
          </a:p>
          <a:p>
            <a:r>
              <a:rPr lang="en-US" sz="1200"/>
              <a:t>– The figure and the measurements come from Zeller et al. (2015).</a:t>
            </a:r>
          </a:p>
          <a:p>
            <a:r>
              <a:rPr lang="en-US" sz="1200"/>
              <a:t>– Each statement is tied to the recordings or observations of that study.</a:t>
            </a:r>
          </a:p>
          <a:p>
            <a:r>
              <a:rPr lang="en-US" sz="1200"/>
              <a:t/>
            </a:r>
          </a:p>
          <a:p>
            <a:r>
              <a:rPr lang="en-US" sz="1200"/>
              <a:t>References:</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Anesthesia delays the hive's activity rhythm.</a:t>
            </a:r>
          </a:p>
          <a:p>
            <a:r>
              <a:rPr lang="en-US" sz="1200"/>
              <a:t>• Explanation 1.</a:t>
            </a:r>
          </a:p>
          <a:p>
            <a:r>
              <a:rPr lang="en-US" sz="1200"/>
              <a:t>– Cheeseman and colleagues measured hive activity under constant dim light</a:t>
            </a:r>
          </a:p>
          <a:p>
            <a:r>
              <a:rPr lang="en-US" sz="1200"/>
              <a:t>– Under constant dim light, the ordinary day-night cycle is removed as the immediate cause of the shifted rhythm. Six hours of daytime anesthesia delayed daily activity and altered rhythmic gene expression in sampled brains. The hive's activity phase shifted by 5.3 h.</a:t>
            </a:r>
          </a:p>
          <a:p>
            <a:r>
              <a:rPr lang="en-US" sz="1200"/>
              <a:t>• Explanation 2.</a:t>
            </a:r>
          </a:p>
          <a:p>
            <a:r>
              <a:rPr lang="en-US" sz="1200"/>
              <a:t>– Messenger RNA is the transcript used to produce a gene's protein</a:t>
            </a:r>
          </a:p>
          <a:p>
            <a:r>
              <a:rPr lang="en-US" sz="1200"/>
              <a:t>– The reported delays were 4.9 h for mammalian-type cryptochrome messenger RNA and 4.3 h for period messenger RNA. Clock gene expression remained broadly constitutive. The delays fit a phase shift of the whole daily rhythm, not a pause in every process.</a:t>
            </a:r>
          </a:p>
          <a:p>
            <a:r>
              <a:rPr lang="en-US" sz="1200"/>
              <a:t>• Explanation 3.</a:t>
            </a:r>
          </a:p>
          <a:p>
            <a:r>
              <a:rPr lang="en-US" sz="1200"/>
              <a:t>– Six hours of anesthesia during subjective night produced no comparable delay</a:t>
            </a:r>
          </a:p>
          <a:p>
            <a:r>
              <a:rPr lang="en-US" sz="1200"/>
              <a:t>– The time-dependent effect points to disturbance of the circadian oscillator. Whole-brain expression averages over many cells, which hides the cells that deliver time information to a compass pathway. Timing of the anesthesia therefore matters for the phase of the rhythm.</a:t>
            </a:r>
          </a:p>
          <a:p>
            <a:r>
              <a:rPr lang="en-US" sz="1200"/>
              <a:t>• Source.</a:t>
            </a:r>
          </a:p>
          <a:p>
            <a:r>
              <a:rPr lang="en-US" sz="1200"/>
              <a:t>– The figure and the measurements come from Cheeseman et al. (2012).</a:t>
            </a:r>
          </a:p>
          <a:p>
            <a:r>
              <a:rPr lang="en-US" sz="1200"/>
              <a:t>– Each statement is tied to the recordings or observations of that study.</a:t>
            </a:r>
          </a:p>
          <a:p>
            <a:r>
              <a:rPr lang="en-US" sz="1200"/>
              <a:t/>
            </a:r>
          </a:p>
          <a:p>
            <a:r>
              <a:rPr lang="en-US" sz="1200"/>
              <a:t>References:</a:t>
            </a:r>
          </a:p>
          <a:p>
            <a:r>
              <a:rPr lang="en-US" sz="1200"/>
              <a:t>Cheeseman JF, Winnebeck EC, Millar CD, Kirkland LS, Sleigh J, Goodwin M, Pawley MDM, Bloch G, Lehmann K, Menzel R, Warman GR (2012). General anesthesia alters time perception by phase shifting the circadian clock. Proceedings of the National Academy of Sciences 109(18): 7061-7066. https://doi.org/10.1073/pnas.1201734109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Cloud cover removes direct sun sight.</a:t>
            </a:r>
          </a:p>
          <a:p>
            <a:r>
              <a:rPr lang="en-US" sz="1200"/>
              <a:t>• Explanation 1.</a:t>
            </a:r>
          </a:p>
          <a:p>
            <a:r>
              <a:rPr lang="en-US" sz="1200"/>
              <a:t>– Dyer and Dickinson tested both groups under a cloudy sky</a:t>
            </a:r>
          </a:p>
          <a:p>
            <a:r>
              <a:rPr lang="en-US" sz="1200"/>
              <a:t>– Under those conditions the sun was not visible, so visual access to it could not explain the difference between groups. Their dances therefore reflected learned information about the sun's course. Experience-restricted bees oriented to a morning-afternoon pattern, while full-day bees tracked the local course.</a:t>
            </a:r>
          </a:p>
          <a:p>
            <a:r>
              <a:rPr lang="en-US" sz="1200"/>
              <a:t>• Explanation 2.</a:t>
            </a:r>
          </a:p>
          <a:p>
            <a:r>
              <a:rPr lang="en-US" sz="1200"/>
              <a:t>– Fully experienced bees' solar estimates followed the continuously changing local sun course</a:t>
            </a:r>
          </a:p>
          <a:p>
            <a:r>
              <a:rPr lang="en-US" sz="1200"/>
              <a:t>– Bees with afternoon-only experience instead used a coarse pattern of the sun's movement. The difference is a refinement of a broad expectation rather than an exact memory of each hourly position. Experience thus sharpens the temporal reference that bees use for sun-compass orientation.</a:t>
            </a:r>
          </a:p>
          <a:p>
            <a:r>
              <a:rPr lang="en-US" sz="1200"/>
              <a:t>• Explanation 3.</a:t>
            </a:r>
          </a:p>
          <a:p>
            <a:r>
              <a:rPr lang="en-US" sz="1200"/>
              <a:t>– The sun's horizontal bearing changes at a variable rate with time, latitude and season</a:t>
            </a:r>
          </a:p>
          <a:p>
            <a:r>
              <a:rPr lang="en-US" sz="1200"/>
              <a:t>– A universal constant angular-rate correction is therefore inadequate. Experience improves the temporal reference used for navigation, making the calibration learned rather than fixed. Bees therefore calibrate the reference to the local sun course over time.</a:t>
            </a:r>
          </a:p>
          <a:p>
            <a:r>
              <a:rPr lang="en-US" sz="1200"/>
              <a:t>• Source.</a:t>
            </a:r>
          </a:p>
          <a:p>
            <a:r>
              <a:rPr lang="en-US" sz="1200"/>
              <a:t>– The figure and the measurements come from Dyer &amp; Dickinson (1994).</a:t>
            </a:r>
          </a:p>
          <a:p>
            <a:r>
              <a:rPr lang="en-US" sz="1200"/>
              <a:t>– Each statement is tied to the recordings or observations of that study.</a:t>
            </a:r>
          </a:p>
          <a:p>
            <a:r>
              <a:rPr lang="en-US" sz="1200"/>
              <a:t/>
            </a:r>
          </a:p>
          <a:p>
            <a:r>
              <a:rPr lang="en-US" sz="1200"/>
              <a:t>References:</a:t>
            </a:r>
          </a:p>
          <a:p>
            <a:r>
              <a:rPr lang="en-US" sz="1200"/>
              <a:t>Dyer FC, Dickinson JA (1994). Development of sun compensation by honeybees: how partially experienced bees estimate the sun's course. Proceedings of the National Academy of Sciences 91(10): 4471-4474. https://doi.org/10.1073/pnas.91.10.4471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Polarization axis sets the dance axis.</a:t>
            </a:r>
          </a:p>
          <a:p>
            <a:r>
              <a:rPr lang="en-US" sz="1200"/>
              <a:t>• Explanation 1.</a:t>
            </a:r>
          </a:p>
          <a:p>
            <a:r>
              <a:rPr lang="en-US" sz="1200"/>
              <a:t>– Evangelista and colleagues trained bees through a 12 m textured tunnel with ultraviolet-transmitting polarizers overhead</a:t>
            </a:r>
          </a:p>
          <a:p>
            <a:r>
              <a:rPr lang="en-US" sz="1200"/>
              <a:t>– A diffuser removed direct sight of the sun and overhead landmarks. The artificial polarization pattern therefore served as the sole celestial cue. Transverse and axial polarizations were presented in separate groups of bees. Each group's waggle runs were then measured on the comb.</a:t>
            </a:r>
          </a:p>
          <a:p>
            <a:r>
              <a:rPr lang="en-US" sz="1200"/>
              <a:t>• Explanation 2.</a:t>
            </a:r>
          </a:p>
          <a:p>
            <a:r>
              <a:rPr lang="en-US" sz="1200"/>
              <a:t>– Transverse polarization shifted the waggle runs to a vertical axis on the comb, and axial polarization shifted them to a horizontal axis</a:t>
            </a:r>
          </a:p>
          <a:p>
            <a:r>
              <a:rPr lang="en-US" sz="1200"/>
              <a:t>– The mean axes were about 91.7° and 1.3° relative to horizontal. The dance direction is therefore set by the polarization orientation. The axis constrains the direction without specifying one heading.</a:t>
            </a:r>
          </a:p>
          <a:p>
            <a:r>
              <a:rPr lang="en-US" sz="1200"/>
              <a:t>• Explanation 3.</a:t>
            </a:r>
          </a:p>
          <a:p>
            <a:r>
              <a:rPr lang="en-US" sz="1200"/>
              <a:t>– A single e-vector carries a 180° ambiguity, so the same axis represents opposite travel directions</a:t>
            </a:r>
          </a:p>
          <a:p>
            <a:r>
              <a:rPr lang="en-US" sz="1200"/>
              <a:t>– The bees' dances advertised both alternatives. The result links polarized flight input to the communicated direction, while showing that an axis of headings differs from a fully sun-referenced bearing.</a:t>
            </a:r>
          </a:p>
          <a:p>
            <a:r>
              <a:rPr lang="en-US" sz="1200"/>
              <a:t>• Source.</a:t>
            </a:r>
          </a:p>
          <a:p>
            <a:r>
              <a:rPr lang="en-US" sz="1200"/>
              <a:t>– The figure and the measurements come from Evangelista et al. (2014).</a:t>
            </a:r>
          </a:p>
          <a:p>
            <a:r>
              <a:rPr lang="en-US" sz="1200"/>
              <a:t>– Each statement is tied to the recordings or observations of that study.</a:t>
            </a:r>
          </a:p>
          <a:p>
            <a:r>
              <a:rPr lang="en-US" sz="1200"/>
              <a:t/>
            </a:r>
          </a:p>
          <a:p>
            <a:r>
              <a:rPr lang="en-US" sz="1200"/>
              <a:t>References:</a:t>
            </a:r>
          </a:p>
          <a:p>
            <a:r>
              <a:rPr lang="en-US" sz="1200"/>
              <a:t>Evangelista C, Kraft P, Dacke M, Labhart T, Srinivasan MV (2014). Honeybee navigation: critically examining the role of the polarization compass. Philosophical Transactions of the Royal Society B: Biological Sciences 369(1636): 20130037. https://doi.org/10.1098/rstb.2013.0037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Tracing links the dorsal rim to the MEDRA.</a:t>
            </a:r>
          </a:p>
          <a:p>
            <a:r>
              <a:rPr lang="en-US" sz="1200"/>
              <a:t>• Explanation 1.</a:t>
            </a:r>
          </a:p>
          <a:p>
            <a:r>
              <a:rPr lang="en-US" sz="1200"/>
              <a:t>– Zeller and colleagues injected fluorescent tracers into the dorsal rim of the honeybee eye</a:t>
            </a:r>
          </a:p>
          <a:p>
            <a:r>
              <a:rPr lang="en-US" sz="1200"/>
              <a:t>– The labeled input reached a distinct dorsal-medulla compartment called the MEDRA. Neighboring medulla regions were distinguished by complementary injections and synapsin labeling. The published micrographs keep anatomical orientation and micrometer scale bars.</a:t>
            </a:r>
          </a:p>
          <a:p>
            <a:r>
              <a:rPr lang="en-US" sz="1200"/>
              <a:t>• Explanation 2.</a:t>
            </a:r>
          </a:p>
          <a:p>
            <a:r>
              <a:rPr lang="en-US" sz="1200"/>
              <a:t>– Sakura's occlusion experiment tested the same region from a behavioral angle</a:t>
            </a:r>
          </a:p>
          <a:p>
            <a:r>
              <a:rPr lang="en-US" sz="1200"/>
              <a:t>– Covering the dorsal rim eliminated e-vector learning, whereas covering the rest of the eye left it intact. Anatomy and behavior therefore support the same pathway from opposite ends.</a:t>
            </a:r>
          </a:p>
          <a:p>
            <a:r>
              <a:rPr lang="en-US" sz="1200"/>
              <a:t>• Explanation 3.</a:t>
            </a:r>
          </a:p>
          <a:p>
            <a:r>
              <a:rPr lang="en-US" sz="1200"/>
              <a:t>– Input from the dorsal rim therefore enters the visual system through a specialized compartment</a:t>
            </a:r>
          </a:p>
          <a:p>
            <a:r>
              <a:rPr lang="en-US" sz="1200"/>
              <a:t>– Such an entry pathway identifies where polarization-associated signals first arrive in the optic lobe. Tracing reveals this connection, while the sky-compass response is tested separately.</a:t>
            </a:r>
          </a:p>
          <a:p>
            <a:r>
              <a:rPr lang="en-US" sz="1200"/>
              <a:t>• Source.</a:t>
            </a:r>
          </a:p>
          <a:p>
            <a:r>
              <a:rPr lang="en-US" sz="1200"/>
              <a:t>– The figure and the measurements come from Sakura et al. (2012); Zeller et al. (2015).</a:t>
            </a:r>
          </a:p>
          <a:p>
            <a:r>
              <a:rPr lang="en-US" sz="1200"/>
              <a:t>– Each statement is tied to the recordings or observations of that study.</a:t>
            </a:r>
          </a:p>
          <a:p>
            <a:r>
              <a:rPr lang="en-US" sz="1200"/>
              <a:t/>
            </a:r>
          </a:p>
          <a:p>
            <a:r>
              <a:rPr lang="en-US" sz="1200"/>
              <a:t>References:</a:t>
            </a:r>
          </a:p>
          <a:p>
            <a:r>
              <a:rPr lang="en-US" sz="1200"/>
              <a:t>Sakura M, Okada R, Aonuma H (2012). Evidence for instantaneous e-vector detection in the honeybee using an associative learning paradigm. Proceedings of the Royal Society B: Biological Sciences 279(1728): 535-542. https://doi.org/10.1098/rspb.2011.0929</a:t>
            </a:r>
          </a:p>
          <a:p>
            <a:r>
              <a:rPr lang="en-US" sz="1200"/>
              <a:t>Zeller M, Held M, Bender J, Berz A, Heinloth T, Hellfritz T, Pfeiffer K (2015). Transmedulla Neurons in the Sky Compass Network of the Honeybee (Apis mellifera) Are a Possible Site of Circadian Input. PLOS ONE 10(12): e0143244. https://doi.org/10.1371/journal.pone.0143244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Land scenes carry more image contrast.</a:t>
            </a:r>
          </a:p>
          <a:p>
            <a:r>
              <a:rPr lang="en-US" sz="1200"/>
              <a:t>• Explanation 1.</a:t>
            </a:r>
          </a:p>
          <a:p>
            <a:r>
              <a:rPr lang="en-US" sz="1200"/>
              <a:t>– Tautz and colleagues photographed land and water scenes along the experimental routes</a:t>
            </a:r>
          </a:p>
          <a:p>
            <a:r>
              <a:rPr lang="en-US" sz="1200"/>
              <a:t>– Contrast was calculated from intensity variation inside defined image windows, rather than estimated by eye. Each scene therefore produced a numeric value that could be compared across habitats. The original photographs keep the investigators' measurement windows.</a:t>
            </a:r>
          </a:p>
          <a:p>
            <a:r>
              <a:rPr lang="en-US" sz="1200"/>
              <a:t>• Explanation 2.</a:t>
            </a:r>
          </a:p>
          <a:p>
            <a:r>
              <a:rPr lang="en-US" sz="1200"/>
              <a:t>– Mean contrast was higher over land than over water</a:t>
            </a:r>
          </a:p>
          <a:p>
            <a:r>
              <a:rPr lang="en-US" sz="1200"/>
              <a:t>– The low-contrast water segment coincided with slower accumulation of waggle duration, while terrestrial segments supported larger increases. Contrast offers a plausible link between natural image structure and effective optic flow.</a:t>
            </a:r>
          </a:p>
          <a:p>
            <a:r>
              <a:rPr lang="en-US" sz="1200"/>
              <a:t>• Explanation 3.</a:t>
            </a:r>
          </a:p>
          <a:p>
            <a:r>
              <a:rPr lang="en-US" sz="1200"/>
              <a:t>– Controlled tunnel-texture experiments change visual motion directly</a:t>
            </a:r>
          </a:p>
          <a:p>
            <a:r>
              <a:rPr lang="en-US" sz="1200"/>
              <a:t>– Field measurements instead show the dependence under ordinary foraging conditions. The two approaches therefore test the same odometer from opposite directions. Both lines of evidence point to the same conclusion about optic flow.</a:t>
            </a:r>
          </a:p>
          <a:p>
            <a:r>
              <a:rPr lang="en-US" sz="1200"/>
              <a:t>• Source.</a:t>
            </a:r>
          </a:p>
          <a:p>
            <a:r>
              <a:rPr lang="en-US" sz="1200"/>
              <a:t>– The figure and the measurements come from Tautz et al. (2004).</a:t>
            </a:r>
          </a:p>
          <a:p>
            <a:r>
              <a:rPr lang="en-US" sz="1200"/>
              <a:t>– Each statement is tied to the recordings or observations of that study.</a:t>
            </a:r>
          </a:p>
          <a:p>
            <a:r>
              <a:rPr lang="en-US" sz="1200"/>
              <a:t/>
            </a:r>
          </a:p>
          <a:p>
            <a:r>
              <a:rPr lang="en-US" sz="1200"/>
              <a:t>References:</a:t>
            </a:r>
          </a:p>
          <a:p>
            <a:r>
              <a:rPr lang="en-US" sz="1200"/>
              <a:t>Tautz J, Zhang S, Spaethe J, Brockmann A, Si A, Srinivasan M (2004). Honeybee Odometry: Performance in Varying Natural Terrain. PLoS Biology 2(7): e211. https://doi.org/10.1371/journal.pbio.0020211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Closing the tunnel stops recruitment.</a:t>
            </a:r>
          </a:p>
          <a:p>
            <a:r>
              <a:rPr lang="en-US" sz="1200"/>
              <a:t>• Explanation 1.</a:t>
            </a:r>
          </a:p>
          <a:p>
            <a:r>
              <a:rPr lang="en-US" sz="1200"/>
              <a:t>– For the first 30 min, the closed tunnel kept dancers from advertising the tunnel journey</a:t>
            </a:r>
          </a:p>
          <a:p>
            <a:r>
              <a:rPr lang="en-US" sz="1200"/>
              <a:t>– Recruits did not arrive at the control stations during this period. Opening the tunnel started dancing and recruitment at the stations. The stations offered neither food reward nor added scent, so arrivals reflect the dance alone.</a:t>
            </a:r>
          </a:p>
          <a:p>
            <a:r>
              <a:rPr lang="en-US" sz="1200"/>
              <a:t>• Explanation 2.</a:t>
            </a:r>
          </a:p>
          <a:p>
            <a:r>
              <a:rPr lang="en-US" sz="1200"/>
              <a:t>– The northwestern test used the same logic: a closed tunnel before each trial prevented the relevant dances and recruitment</a:t>
            </a:r>
          </a:p>
          <a:p>
            <a:r>
              <a:rPr lang="en-US" sz="1200"/>
              <a:t>– Each trial therefore links a specific dance to the search it triggers. Recruits searched at distances consistent with the route-specific visual calibration. The result connects dance decoding with the followers' own visual navigation.</a:t>
            </a:r>
          </a:p>
          <a:p>
            <a:r>
              <a:rPr lang="en-US" sz="1200"/>
              <a:t>• Explanation 3.</a:t>
            </a:r>
          </a:p>
          <a:p>
            <a:r>
              <a:rPr lang="en-US" sz="1200"/>
              <a:t>– The search site is thus a measure of how followers decode the dance</a:t>
            </a:r>
          </a:p>
          <a:p>
            <a:r>
              <a:rPr lang="en-US" sz="1200"/>
              <a:t>– The decoding depends on the visual conditions that each route provides, so no single distance dictionary applies. The northwestern peak near 140 m matched that route's calibration of about 157 m. The southern calibration would have predicted about 52 m.</a:t>
            </a:r>
          </a:p>
          <a:p>
            <a:r>
              <a:rPr lang="en-US" sz="1200"/>
              <a:t>• Source.</a:t>
            </a:r>
          </a:p>
          <a:p>
            <a:r>
              <a:rPr lang="en-US" sz="1200"/>
              <a:t>– The figure and the measurements come from Esch et al. (2001).</a:t>
            </a:r>
          </a:p>
          <a:p>
            <a:r>
              <a:rPr lang="en-US" sz="1200"/>
              <a:t>– Each statement is tied to the recordings or observations of that study.</a:t>
            </a:r>
          </a:p>
          <a:p>
            <a:r>
              <a:rPr lang="en-US" sz="1200"/>
              <a:t/>
            </a:r>
          </a:p>
          <a:p>
            <a:r>
              <a:rPr lang="en-US" sz="1200"/>
              <a:t>References:</a:t>
            </a:r>
          </a:p>
          <a:p>
            <a:r>
              <a:rPr lang="en-US" sz="1200"/>
              <a:t>Esch HE, Zhang S, Srinivasan MV, Tautz J (2001). Honeybee dances communicate distances measured by optic flow. Nature 411(6837): 581-583. https://doi.org/10.1038/35079072</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Short tunnel journeys signal long distances.</a:t>
            </a:r>
          </a:p>
          <a:p>
            <a:r>
              <a:rPr lang="en-US" sz="1200"/>
              <a:t>• Explanation 1.</a:t>
            </a:r>
          </a:p>
          <a:p>
            <a:r>
              <a:rPr lang="en-US" sz="1200"/>
              <a:t>– Srinivasan and colleagues used the outdoor calibration to read dances that followed tunnel passages</a:t>
            </a:r>
          </a:p>
          <a:p>
            <a:r>
              <a:rPr lang="en-US" sz="1200"/>
              <a:t>– The first arrangement had 41 m of total travel, with 6 m inside the tunnel. Its mean waggle duration of 528.8 ms corresponded to about 230 m outdoors, far beyond the physical route.</a:t>
            </a:r>
          </a:p>
          <a:p>
            <a:r>
              <a:rPr lang="en-US" sz="1200"/>
              <a:t>• Explanation 2.</a:t>
            </a:r>
          </a:p>
          <a:p>
            <a:r>
              <a:rPr lang="en-US" sz="1200"/>
              <a:t>– The second arrangement moved the tunnel nearer the hive and covered 12 m in total</a:t>
            </a:r>
          </a:p>
          <a:p>
            <a:r>
              <a:rPr lang="en-US" sz="1200"/>
              <a:t>– Its mean duration of 441.2 ms corresponded to about 184 m. Both passages therefore produced an outdoor-equivalent distance many times the journey actually flown.</a:t>
            </a:r>
          </a:p>
          <a:p>
            <a:r>
              <a:rPr lang="en-US" sz="1200"/>
              <a:t>• Explanation 3.</a:t>
            </a:r>
          </a:p>
          <a:p>
            <a:r>
              <a:rPr lang="en-US" sz="1200"/>
              <a:t>– The tunnel's close textured surfaces amplify the visual motion that the bee experiences</a:t>
            </a:r>
          </a:p>
          <a:p>
            <a:r>
              <a:rPr lang="en-US" sz="1200"/>
              <a:t>– Waggle duration therefore records visual surroundings as well as physical meters. The 184 m and 230 m values are outputs of the authors' calibration, rather than records of what a bee experiences.</a:t>
            </a:r>
          </a:p>
          <a:p>
            <a:r>
              <a:rPr lang="en-US" sz="1200"/>
              <a:t>• Source.</a:t>
            </a:r>
          </a:p>
          <a:p>
            <a:r>
              <a:rPr lang="en-US" sz="1200"/>
              <a:t>– The figure and the measurements come from Srinivasan et al. (2000).</a:t>
            </a:r>
          </a:p>
          <a:p>
            <a:r>
              <a:rPr lang="en-US" sz="1200"/>
              <a:t>– Each statement is tied to the recordings or observations of that study.</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Tunnel texture drives the visual odometer.</a:t>
            </a:r>
          </a:p>
          <a:p>
            <a:r>
              <a:rPr lang="en-US" sz="1200"/>
              <a:t>• Explanation 1.</a:t>
            </a:r>
          </a:p>
          <a:p>
            <a:r>
              <a:rPr lang="en-US" sz="1200"/>
              <a:t>– Srinivasan and colleagues compared outdoor dances with dances after brief tunnel flights</a:t>
            </a:r>
          </a:p>
          <a:p>
            <a:r>
              <a:rPr lang="en-US" sz="1200"/>
              <a:t>– The tunnel was 6.4 m long, 11 cm wide and 20 cm high, so the walls were close to the flying bee. Random black-and-white texture covered the walls and floor, and a mesh ceiling allowed the sky to be seen. The feeder sat 6 m into the tunnel.</a:t>
            </a:r>
          </a:p>
          <a:p>
            <a:r>
              <a:rPr lang="en-US" sz="1200"/>
              <a:t>• Explanation 2.</a:t>
            </a:r>
          </a:p>
          <a:p>
            <a:r>
              <a:rPr lang="en-US" sz="1200"/>
              <a:t>– Returning bees produced waggle dances after this short passage, even though an equally short outdoor journey normally produces round dances</a:t>
            </a:r>
          </a:p>
          <a:p>
            <a:r>
              <a:rPr lang="en-US" sz="1200"/>
              <a:t>– Dance type therefore depends on the visual experience gathered along the route, not only on physical length.</a:t>
            </a:r>
          </a:p>
          <a:p>
            <a:r>
              <a:rPr lang="en-US" sz="1200"/>
              <a:t>• Explanation 3.</a:t>
            </a:r>
          </a:p>
          <a:p>
            <a:r>
              <a:rPr lang="en-US" sz="1200"/>
              <a:t>– A visual odometer estimates distance from optic flow, the image motion produced by self-motion</a:t>
            </a:r>
          </a:p>
          <a:p>
            <a:r>
              <a:rPr lang="en-US" sz="1200"/>
              <a:t>– Its readout is the duration of the waggle phase. Dance duration therefore encodes the visually experienced distance, which can differ from the physical distance flown. The striped-tunnel control keeps the feeder location fixed while changing the texture.</a:t>
            </a:r>
          </a:p>
          <a:p>
            <a:r>
              <a:rPr lang="en-US" sz="1200"/>
              <a:t>• Source.</a:t>
            </a:r>
          </a:p>
          <a:p>
            <a:r>
              <a:rPr lang="en-US" sz="1200"/>
              <a:t>– The figure and the measurements come from Srinivasan et al. (2000).</a:t>
            </a:r>
          </a:p>
          <a:p>
            <a:r>
              <a:rPr lang="en-US" sz="1200"/>
              <a:t>– Each statement is tied to the recordings or observations of that study.</a:t>
            </a:r>
          </a:p>
          <a:p>
            <a:r>
              <a:rPr lang="en-US" sz="1200"/>
              <a:t/>
            </a:r>
          </a:p>
          <a:p>
            <a:r>
              <a:rPr lang="en-US" sz="1200"/>
              <a:t>References:</a:t>
            </a:r>
          </a:p>
          <a:p>
            <a:r>
              <a:rPr lang="en-US" sz="1200"/>
              <a:t>Srinivasan MV, Zhang S, Altwein M, Tautz J (2000). Honeybee Navigation: Nature and Calibration of the "Odometer". Science 287(5454): 851-853. https://doi.org/10.1126/science.287.5454.851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Displaced recruits keep the flight vector.</a:t>
            </a:r>
          </a:p>
          <a:p>
            <a:r>
              <a:rPr lang="en-US" sz="1200"/>
              <a:t>• Explanation 1.</a:t>
            </a:r>
          </a:p>
          <a:p>
            <a:r>
              <a:rPr lang="en-US" sz="1200"/>
              <a:t>– Riley and colleagues released dance followers at sites 200–250 m southwest of the hive, after they had attended dances advertising a feeder 200 m east of the hive</a:t>
            </a:r>
          </a:p>
          <a:p>
            <a:r>
              <a:rPr lang="en-US" sz="1200"/>
              <a:t>– The flight instruction had been decoded at the hive, so the release point was the sole change. Their dances had described the same direction and distance from the hive.</a:t>
            </a:r>
          </a:p>
          <a:p>
            <a:r>
              <a:rPr lang="en-US" sz="1200"/>
              <a:t>• Explanation 2.</a:t>
            </a:r>
          </a:p>
          <a:p>
            <a:r>
              <a:rPr lang="en-US" sz="1200"/>
              <a:t>– Displaced bees began with a straight eastward flight, averaging 188 m before search</a:t>
            </a:r>
          </a:p>
          <a:p>
            <a:r>
              <a:rPr lang="en-US" sz="1200"/>
              <a:t>– Their initial heading matched the advertised feeder, not the release point. The bees did not calculate a new bearing from the release site toward the real feeder. Straight flights of this kind were measured in the hive-released recruits as well, averaging 206 m.</a:t>
            </a:r>
          </a:p>
          <a:p>
            <a:r>
              <a:rPr lang="en-US" sz="1200"/>
              <a:t>• Explanation 3.</a:t>
            </a:r>
          </a:p>
          <a:p>
            <a:r>
              <a:rPr lang="en-US" sz="1200"/>
              <a:t>– The dance therefore carries a flight instruction that is tied to the hive's position</a:t>
            </a:r>
          </a:p>
          <a:p>
            <a:r>
              <a:rPr lang="en-US" sz="1200"/>
              <a:t>– A vector from one origin leads to a different endpoint when executed elsewhere. Familiar landmarks can refine the search later, particularly in landscapes with many recognizable features. Riley's landscape was sparse, so the recruit's search depended on the flight vector.</a:t>
            </a:r>
          </a:p>
          <a:p>
            <a:r>
              <a:rPr lang="en-US" sz="1200"/>
              <a:t>• Source.</a:t>
            </a:r>
          </a:p>
          <a:p>
            <a:r>
              <a:rPr lang="en-US" sz="1200"/>
              <a:t>– The figure and the measurements come from Riley et al. (2005).</a:t>
            </a:r>
          </a:p>
          <a:p>
            <a:r>
              <a:rPr lang="en-US" sz="1200"/>
              <a:t>– Each statement is tied to the recordings or observations of that study.</a:t>
            </a:r>
          </a:p>
          <a:p>
            <a:r>
              <a:rPr lang="en-US" sz="1200"/>
              <a:t/>
            </a:r>
          </a:p>
          <a:p>
            <a:r>
              <a:rPr lang="en-US" sz="1200"/>
              <a:t>References:</a:t>
            </a:r>
          </a:p>
          <a:p>
            <a:r>
              <a:rPr lang="en-US" sz="1200"/>
              <a:t>Riley JR, Greggers U, Smith AD, Reynolds DR, Menzel R (2005). The flight paths of honeybees recruited by the waggle dance. Nature 435(7039): 205-207. https://doi.org/10.1038/nature03526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Waggle angles vary across repeated runs.</a:t>
            </a:r>
          </a:p>
          <a:p>
            <a:r>
              <a:rPr lang="en-US" sz="1200"/>
              <a:t>• Explanation 1.</a:t>
            </a:r>
          </a:p>
          <a:p>
            <a:r>
              <a:rPr lang="en-US" sz="1200"/>
              <a:t>– The waggle-run angle is measured relative to vertical on the comb, and vertical stands in for the sun inside the dark hive</a:t>
            </a:r>
          </a:p>
          <a:p>
            <a:r>
              <a:rPr lang="en-US" sz="1200"/>
              <a:t>– Dong and colleagues recorded these angles on the crowded, uneven comb surface. A single dance contains repeated waggle runs, and each run carries its own angle, so the dance produces a distribution of angles rather than one value.</a:t>
            </a:r>
          </a:p>
          <a:p>
            <a:r>
              <a:rPr lang="en-US" sz="1200"/>
              <a:t>• Explanation 2.</a:t>
            </a:r>
          </a:p>
          <a:p>
            <a:r>
              <a:rPr lang="en-US" sz="1200"/>
              <a:t>– Repeated runs spread around a mean angle, and the spread is the divergence the team measured</a:t>
            </a:r>
          </a:p>
          <a:p>
            <a:r>
              <a:rPr lang="en-US" sz="1200"/>
              <a:t>– Bees without experienced dancers to follow produced the largest divergence in their first dances. Precision therefore depends on experience, not only on the direction the dancer is signaling. Later tests of the same bees showed improved directional precision.</a:t>
            </a:r>
          </a:p>
          <a:p>
            <a:r>
              <a:rPr lang="en-US" sz="1200"/>
              <a:t>• Explanation 3.</a:t>
            </a:r>
          </a:p>
          <a:p>
            <a:r>
              <a:rPr lang="en-US" sz="1200"/>
              <a:t>– A follower must convert the comb-relative angle into a flight direction, and that conversion draws on celestial information outside the hive</a:t>
            </a:r>
          </a:p>
          <a:p>
            <a:r>
              <a:rPr lang="en-US" sz="1200"/>
              <a:t>– The dancer supplies the angle, while the follower supplies the sun's bearing. Both steps together turn a comb angle into a flight route toward the resource. Motor precision limits how exactly the angle is produced in the first place.</a:t>
            </a:r>
          </a:p>
          <a:p>
            <a:r>
              <a:rPr lang="en-US" sz="1200"/>
              <a:t>• Source.</a:t>
            </a:r>
          </a:p>
          <a:p>
            <a:r>
              <a:rPr lang="en-US" sz="1200"/>
              <a:t>– The figure and the measurements come from Dong et al. (2023).</a:t>
            </a:r>
          </a:p>
          <a:p>
            <a:r>
              <a:rPr lang="en-US" sz="1200"/>
              <a:t>– Each statement is tied to the recordings or observations of that study.</a:t>
            </a:r>
          </a:p>
          <a:p>
            <a:r>
              <a:rPr lang="en-US" sz="1200"/>
              <a:t/>
            </a:r>
          </a:p>
          <a:p>
            <a:r>
              <a:rPr lang="en-US" sz="1200"/>
              <a:t>References:</a:t>
            </a:r>
          </a:p>
          <a:p>
            <a:r>
              <a:rPr lang="en-US" sz="1200"/>
              <a:t>Dong S, Lin T, Nieh JC, Tan K (2023). Social signal learning of the waggle dance in honey bees. Science 379(6636): 1015-1018. https://doi.org/10.1126/science.ade1702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8.png"/><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3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27.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D9D2E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351C75"/>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B3747"/>
              </a:buClr>
              <a:buSzPts val="1200"/>
              <a:buFont typeface="Arial"/>
              <a:buNone/>
            </a:pPr>
            <a:r>
              <a:rPr b="0" i="0" lang="en-US" sz="1200">
                <a:solidFill>
                  <a:srgbClr val="351C75"/>
                </a:solidFill>
                <a:latin typeface="Arial"/>
                <a:ea typeface="Arial"/>
                <a:cs typeface="Arial"/>
                <a:sym typeface="Arial"/>
              </a:rPr>
              <a:t>NEUR 411 · NEUROETHOLOGY · FALL 2026</a:t>
            </a:r>
            <a:endParaRPr sz="1800">
              <a:solidFill>
                <a:srgbClr val="351C75"/>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B3747"/>
              </a:buClr>
              <a:buSzPts val="1800"/>
              <a:buFont typeface="Arial"/>
              <a:buNone/>
            </a:pPr>
            <a:r>
              <a:rPr b="0" i="0" lang="en-US" sz="1500">
                <a:solidFill>
                  <a:srgbClr val="351C75"/>
                </a:solidFill>
                <a:latin typeface="Arial"/>
                <a:ea typeface="Arial"/>
                <a:cs typeface="Arial"/>
                <a:sym typeface="Arial"/>
              </a:rPr>
              <a:t>Lecture 29</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3B4149"/>
              </a:buClr>
              <a:buSzPts val="2500"/>
              <a:buFont typeface="Arial"/>
              <a:buNone/>
            </a:pPr>
            <a:r>
              <a:rPr b="1" i="0" lang="en-US" sz="1500">
                <a:solidFill>
                  <a:schemeClr val="dk1"/>
                </a:solidFill>
                <a:latin typeface="Arial"/>
                <a:ea typeface="Arial"/>
                <a:cs typeface="Arial"/>
                <a:sym typeface="Arial"/>
              </a:rPr>
              <a:t>Navigation II: honeybee waggle dance and sun-compass navigation (von Frisch)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B3747"/>
              </a:buClr>
              <a:buSzPts val="1600"/>
              <a:buFont typeface="Arial"/>
              <a:buNone/>
            </a:pPr>
            <a:r>
              <a:rPr b="0" i="0" lang="en-US" sz="1500">
                <a:solidFill>
                  <a:srgbClr val="351C75"/>
                </a:solidFill>
                <a:latin typeface="Arial"/>
                <a:ea typeface="Arial"/>
                <a:cs typeface="Arial"/>
                <a:sym typeface="Arial"/>
              </a:rPr>
              <a:t>Monday, November 2, 2026</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8B3747"/>
              </a:buClr>
              <a:buSzPts val="1200"/>
              <a:buFont typeface="Arial"/>
              <a:buNone/>
            </a:pPr>
            <a:r>
              <a:rPr b="0" i="0" lang="en-US" sz="1500">
                <a:solidFill>
                  <a:srgbClr val="351C75"/>
                </a:solidFill>
                <a:latin typeface="Arial"/>
                <a:ea typeface="Arial"/>
                <a:cs typeface="Arial"/>
                <a:sym typeface="Arial"/>
              </a:rPr>
              <a:t>Jordan Lopez, Ph.D.</a:t>
            </a:r>
            <a:endParaRPr sz="1800">
              <a:solidFill>
                <a:srgbClr val="351C75"/>
              </a:solidFill>
              <a:latin typeface="Calibri"/>
              <a:ea typeface="Calibri"/>
              <a:cs typeface="Calibri"/>
              <a:sym typeface="Calibri"/>
            </a:endParaRPr>
          </a:p>
          <a:p>
            <a:pPr indent="0" lvl="0" marL="0" marR="0" rtl="0" algn="l">
              <a:lnSpc>
                <a:spcPct val="108000"/>
              </a:lnSpc>
              <a:spcAft>
                <a:spcPts val="1200"/>
              </a:spcAft>
              <a:buClr>
                <a:srgbClr val="8B3747"/>
              </a:buClr>
              <a:buSzPts val="1200"/>
              <a:buFont typeface="Arial"/>
              <a:buNone/>
            </a:pPr>
            <a:r>
              <a:rPr b="0" i="0" lang="en-US" sz="1500">
                <a:solidFill>
                  <a:srgbClr val="351C75"/>
                </a:solidFill>
                <a:latin typeface="Arial"/>
                <a:ea typeface="Arial"/>
                <a:cs typeface="Arial"/>
                <a:sym typeface="Arial"/>
              </a:rPr>
              <a:t>Professor of Neurobiology &amp; Biomedical Engineering</a:t>
            </a:r>
            <a:endParaRPr sz="1800">
              <a:solidFill>
                <a:srgbClr val="351C75"/>
              </a:solidFill>
              <a:latin typeface="Calibri"/>
              <a:ea typeface="Calibri"/>
              <a:cs typeface="Calibri"/>
              <a:sym typeface="Calibri"/>
            </a:endParaRPr>
          </a:p>
        </p:txBody>
      </p:sp>
      <p:pic>
        <p:nvPicPr>
          <p:cNvPr id="26" name="Google Shape;26;p1" title="Screenshot 2026-10-08 at 3.30.21 PM.png"/>
          <p:cNvPicPr preferRelativeResize="0"/>
          <p:nvPr/>
        </p:nvPicPr>
        <p:blipFill>
          <a:blip r:embed="rId3">
            <a:alphaModFix/>
          </a:blip>
          <a:stretch>
            <a:fillRect/>
          </a:stretch>
        </p:blipFill>
        <p:spPr>
          <a:xfrm>
            <a:off x="6840375" y="1225548"/>
            <a:ext cx="4626300" cy="3852451"/>
          </a:xfrm>
          <a:prstGeom prst="rect">
            <a:avLst/>
          </a:prstGeom>
          <a:noFill/>
          <a:ln>
            <a:noFill/>
          </a:ln>
        </p:spPr>
      </p:pic>
      <p:sp>
        <p:nvSpPr>
          <p:cNvPr id="27" name="Google Shape;27;p1"/>
          <p:cNvSpPr txBox="1"/>
          <p:nvPr/>
        </p:nvSpPr>
        <p:spPr>
          <a:xfrm>
            <a:off x="6840375" y="5265125"/>
            <a:ext cx="4626300" cy="504900"/>
          </a:xfrm>
          <a:prstGeom prst="rect">
            <a:avLst/>
          </a:prstGeom>
          <a:noFill/>
          <a:ln>
            <a:noFill/>
          </a:ln>
        </p:spPr>
        <p:txBody>
          <a:bodyPr anchorCtr="0" anchor="t" bIns="91425" lIns="91425" spcFirstLastPara="1" rIns="91425" wrap="square" tIns="91425">
            <a:spAutoFit/>
          </a:bodyPr>
          <a:lstStyle/>
          <a:p>
            <a:pPr indent="0" lvl="0" marL="0" rtl="0" algn="l">
              <a:lnSpc>
                <a:spcPct val="108000"/>
              </a:lnSpc>
              <a:spcBef>
                <a:spcPts val="0"/>
              </a:spcBef>
              <a:spcAft>
                <a:spcPts val="0"/>
              </a:spcAft>
              <a:buNone/>
            </a:pPr>
            <a:r>
              <a:rPr lang="en-US" sz="1000">
                <a:solidFill>
                  <a:srgbClr val="606B76"/>
                </a:solidFill>
              </a:rPr>
              <a:t>Photo: Honeybee (</a:t>
            </a:r>
            <a:r>
              <a:rPr i="1" lang="en-US" sz="1000">
                <a:solidFill>
                  <a:srgbClr val="606B76"/>
                </a:solidFill>
              </a:rPr>
              <a:t>Apis mellifera</a:t>
            </a:r>
            <a:r>
              <a:rPr lang="en-US" sz="1000">
                <a:solidFill>
                  <a:srgbClr val="606B76"/>
                </a:solidFill>
              </a:rPr>
              <a:t>), the classic species for waggle-dance and sun-compass navigation studies.</a:t>
            </a:r>
            <a:endParaRPr sz="1300">
              <a:solidFill>
                <a:srgbClr val="606B76"/>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waggle run encodes a resource vector</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1" i="0" lang="en-US" sz="1400">
                <a:solidFill>
                  <a:srgbClr val="3F5063"/>
                </a:solidFill>
                <a:latin typeface="Arial"/>
                <a:ea typeface="Arial"/>
                <a:cs typeface="Arial"/>
                <a:sym typeface="Arial"/>
              </a:rPr>
              <a:t>Waggle dances</a:t>
            </a:r>
            <a:r>
              <a:rPr b="0" i="0" lang="en-US" sz="1400">
                <a:solidFill>
                  <a:srgbClr val="252B32"/>
                </a:solidFill>
                <a:latin typeface="Arial"/>
                <a:ea typeface="Arial"/>
                <a:cs typeface="Arial"/>
                <a:sym typeface="Arial"/>
              </a:rPr>
              <a:t> are repeated movements on the vertical comb that tell nestmates where a food source lies. Each dance contains a straight abdominal-wagging run and alternating return loops. A </a:t>
            </a:r>
            <a:r>
              <a:rPr b="1" i="0" lang="en-US" sz="1400">
                <a:solidFill>
                  <a:srgbClr val="3F5063"/>
                </a:solidFill>
                <a:latin typeface="Arial"/>
                <a:ea typeface="Arial"/>
                <a:cs typeface="Arial"/>
                <a:sym typeface="Arial"/>
              </a:rPr>
              <a:t>vector</a:t>
            </a:r>
            <a:r>
              <a:rPr b="0" i="0" lang="en-US" sz="1400">
                <a:solidFill>
                  <a:srgbClr val="252B32"/>
                </a:solidFill>
                <a:latin typeface="Arial"/>
                <a:ea typeface="Arial"/>
                <a:cs typeface="Arial"/>
                <a:sym typeface="Arial"/>
              </a:rPr>
              <a:t> specifies a direction and a distance from an origin, and for a forager's dance that origin is the hive. The dance takes place inside the hive.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Dong and colleagues recorded marked foragers that visited a feeder 150 m from the hive. On the vertical comb, the angle of the waggle run encoded the food's direction relative to the sun, and the run's duration encoded its distance. Followers stayed close to the dancer and attended to every run. Marked bees made each visit traceable.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signal describes a place outside the hive rather than the dancer's immediate position. Video recordings measure the spatial and temporal structure of the message. Successful communication also requires that followers pick up the signal and then choose an appropriate flight. Dance followers can therefore act on information about a place they have not visited.</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37" name="Google Shape;37;p2"/>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Gravity supplies the reference inside the dark hive</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dancer on a vertical comb treats upward as the sun's direction. The waggle-run angle measured from vertical stands for the resource's direction relative to the sun outside, so </a:t>
            </a:r>
            <a:r>
              <a:rPr b="1" i="0" lang="en-US" sz="1400">
                <a:solidFill>
                  <a:srgbClr val="3F5063"/>
                </a:solidFill>
                <a:latin typeface="Arial"/>
                <a:ea typeface="Arial"/>
                <a:cs typeface="Arial"/>
                <a:sym typeface="Arial"/>
              </a:rPr>
              <a:t>gravity</a:t>
            </a:r>
            <a:r>
              <a:rPr b="0" i="0" lang="en-US" sz="1400">
                <a:solidFill>
                  <a:srgbClr val="252B32"/>
                </a:solidFill>
                <a:latin typeface="Arial"/>
                <a:ea typeface="Arial"/>
                <a:cs typeface="Arial"/>
                <a:sym typeface="Arial"/>
              </a:rPr>
              <a:t> substitutes for the sun in a dark hive. The message carries a direction even where no sunlight reaches the dancer. This shared reference works in darkness.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Dong and colleagues recorded dance angles on the crowded, uneven comb surface. Repeated waggle runs spread around a mean angle, so the team measured that </a:t>
            </a:r>
            <a:r>
              <a:rPr b="1" i="0" lang="en-US" sz="1400">
                <a:solidFill>
                  <a:srgbClr val="3F5063"/>
                </a:solidFill>
                <a:latin typeface="Arial"/>
                <a:ea typeface="Arial"/>
                <a:cs typeface="Arial"/>
                <a:sym typeface="Arial"/>
              </a:rPr>
              <a:t>divergence</a:t>
            </a:r>
            <a:r>
              <a:rPr b="0" i="0" lang="en-US" sz="1400">
                <a:solidFill>
                  <a:srgbClr val="252B32"/>
                </a:solidFill>
                <a:latin typeface="Arial"/>
                <a:ea typeface="Arial"/>
                <a:cs typeface="Arial"/>
                <a:sym typeface="Arial"/>
              </a:rPr>
              <a:t> rather than assuming each run conveyed an identical angle. Bees without experienced dancers produced the largest spread in their first dances. Divergence in direction is therefore a measure of precision.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Encoding direction involves a reference system and motor precision in executing the angle. A follower must convert the comb-relative angle into a flight direction using celestial information. The dancer's output supplies the first half of that conversion, which is why the recordings measure precision as well as direction. Angle precision and direction are both measured.</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948812" y="1280071"/>
            <a:ext cx="2185887" cy="4297561"/>
          </a:xfrm>
          <a:prstGeom prst="rect">
            <a:avLst/>
          </a:prstGeom>
          <a:noFill/>
          <a:ln>
            <a:noFill/>
          </a:ln>
        </p:spPr>
      </p:pic>
      <p:sp>
        <p:nvSpPr>
          <p:cNvPr id="50" name="Google Shape;50;p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familiar compass bearing survives hive relocation</a:t>
            </a:r>
            <a:endParaRPr sz="1800">
              <a:solidFill>
                <a:schemeClr val="dk1"/>
              </a:solidFill>
              <a:latin typeface="Calibri"/>
              <a:ea typeface="Calibri"/>
              <a:cs typeface="Calibri"/>
              <a:sym typeface="Calibri"/>
            </a:endParaRPr>
          </a:p>
        </p:txBody>
      </p:sp>
      <p:sp>
        <p:nvSpPr>
          <p:cNvPr id="59" name="Google Shape;59;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Von Frisch and Lindauer trained marked foragers to a feeder 180 m away, in a direction 30° north of west from the hive. The bees learned this route during the afternoon. The team then moved the hive into an unfamiliar landscape to test the learned bearing. The sun's position changed between afternoon training and morning flight.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following morning, equally familiar scented food dishes were offered in four directions in the new landscape. Arriving bees were captured at once, so successful visitors could not return and recruit nestmates. Searches favored the trained </a:t>
            </a:r>
            <a:r>
              <a:rPr b="1" i="0" lang="en-US" sz="1400">
                <a:solidFill>
                  <a:srgbClr val="3F5063"/>
                </a:solidFill>
                <a:latin typeface="Arial"/>
                <a:ea typeface="Arial"/>
                <a:cs typeface="Arial"/>
                <a:sym typeface="Arial"/>
              </a:rPr>
              <a:t>compass direction</a:t>
            </a:r>
            <a:r>
              <a:rPr b="0" i="0" lang="en-US" sz="1400">
                <a:solidFill>
                  <a:srgbClr val="252B32"/>
                </a:solidFill>
                <a:latin typeface="Arial"/>
                <a:ea typeface="Arial"/>
                <a:cs typeface="Arial"/>
                <a:sym typeface="Arial"/>
              </a:rPr>
              <a:t> despite the changed surroundings. Each dish carried the same familiar scent, so the choices reflect the bees' learned bearing.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result points to compensation for the sun's movement between afternoon training and morning flight. In related tests, cloudy skies prevented correct orientation when neither direct sunlight nor polarized skylight was available. Landmarks and celestial cues can compete with each other during orientation. Some cues compete, so orientation depends on which information is available.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438" y="1280071"/>
            <a:ext cx="5166336" cy="2812256"/>
          </a:xfrm>
          <a:prstGeom prst="rect">
            <a:avLst/>
          </a:prstGeom>
          <a:noFill/>
          <a:ln>
            <a:noFill/>
          </a:ln>
        </p:spPr>
      </p:pic>
      <p:sp>
        <p:nvSpPr>
          <p:cNvPr id="63" name="Google Shape;63;p4"/>
          <p:cNvSpPr/>
          <p:nvPr/>
        </p:nvSpPr>
        <p:spPr>
          <a:xfrm>
            <a:off x="6458396" y="4183856"/>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von Frisch &amp; Lindauer (1954), Fig. 1a,b. Training and unfamiliar release landscapes.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von Frisch &amp; Lindauer (1954)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initially fly the direction advertised in dances</a:t>
            </a:r>
            <a:endParaRPr sz="1800">
              <a:solidFill>
                <a:schemeClr val="dk1"/>
              </a:solidFill>
              <a:latin typeface="Calibri"/>
              <a:ea typeface="Calibri"/>
              <a:cs typeface="Calibri"/>
              <a:sym typeface="Calibri"/>
            </a:endParaRPr>
          </a:p>
        </p:txBody>
      </p:sp>
      <p:sp>
        <p:nvSpPr>
          <p:cNvPr id="72" name="Google Shape;72;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Riley and colleagues tracked bees that had followed dances advertising an unscented feeder 200 m east of the hive. A harmonic radar detects a small transponder carried by each bee, so the trajectory can be recorded outside the observation hive. Positions were sampled every 3 s. Recording outside the hive makes the whole flight measurable.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Recruits released at the hive generally flew an initially straight eastward route. Their straight sections averaged 206 m before searching began. Radar positions allowed </a:t>
            </a:r>
            <a:r>
              <a:rPr b="1" i="0" lang="en-US" sz="1400">
                <a:solidFill>
                  <a:srgbClr val="3F5063"/>
                </a:solidFill>
                <a:latin typeface="Arial"/>
                <a:ea typeface="Arial"/>
                <a:cs typeface="Arial"/>
                <a:sym typeface="Arial"/>
              </a:rPr>
              <a:t>directed travel</a:t>
            </a:r>
            <a:r>
              <a:rPr b="0" i="0" lang="en-US" sz="1400">
                <a:solidFill>
                  <a:srgbClr val="252B32"/>
                </a:solidFill>
                <a:latin typeface="Arial"/>
                <a:ea typeface="Arial"/>
                <a:cs typeface="Arial"/>
                <a:sym typeface="Arial"/>
              </a:rPr>
              <a:t> to be told apart from more tortuous search behavior. The straight flight came first, and searching followed it in most tracks, so the radar records two distinct phases of each recruit's flight.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recruits had never visited the advertised feeder, and the unscented food and wind direction reduced direct odor guidance from the destination. The flight therefore reflects a </a:t>
            </a:r>
            <a:r>
              <a:rPr b="1" i="0" lang="en-US" sz="1400">
                <a:solidFill>
                  <a:srgbClr val="3F5063"/>
                </a:solidFill>
                <a:latin typeface="Arial"/>
                <a:ea typeface="Arial"/>
                <a:cs typeface="Arial"/>
                <a:sym typeface="Arial"/>
              </a:rPr>
              <a:t>flight vector</a:t>
            </a:r>
            <a:r>
              <a:rPr b="0" i="0" lang="en-US" sz="1400">
                <a:solidFill>
                  <a:srgbClr val="252B32"/>
                </a:solidFill>
                <a:latin typeface="Arial"/>
                <a:ea typeface="Arial"/>
                <a:cs typeface="Arial"/>
                <a:sym typeface="Arial"/>
              </a:rPr>
              <a:t> acquired from the dance. Radar records the flight itself, while the sensory cues a follower used during the dance remain unmeasured. The flight vector therefore reflects what the dance told them.</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76" name="Google Shape;76;p5"/>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Displaced recruits retain a hive-centered flight vector</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Riley and colleagues captured dance followers at the hive and released them 200–250 m southwest of it. This manipulation kept the dance's instruction unchanged while moving the starting point. From the release site, the feeder lay in a new direction and at a new distance. The flight began from an origin the dance did not specify.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Rather than redirecting toward the feeder from the release point, displaced bees began with an eastward straight flight that averaged 188 m before search. The </a:t>
            </a:r>
            <a:r>
              <a:rPr b="1" i="0" lang="en-US" sz="1400">
                <a:solidFill>
                  <a:srgbClr val="3F5063"/>
                </a:solidFill>
                <a:latin typeface="Arial"/>
                <a:ea typeface="Arial"/>
                <a:cs typeface="Arial"/>
                <a:sym typeface="Arial"/>
              </a:rPr>
              <a:t>flight instruction</a:t>
            </a:r>
            <a:r>
              <a:rPr b="0" i="0" lang="en-US" sz="1400">
                <a:solidFill>
                  <a:srgbClr val="252B32"/>
                </a:solidFill>
                <a:latin typeface="Arial"/>
                <a:ea typeface="Arial"/>
                <a:cs typeface="Arial"/>
                <a:sym typeface="Arial"/>
              </a:rPr>
              <a:t> kept its direction and approximate distance after displacement, which shows that the decoded movement is separate from a world location. The eastward heading matched the advertised feeder, not the release point.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vector from one origin therefore leads to a different endpoint when executed elsewhere. Familiar landmarks can guide later search, particularly in landscapes rich in recognizable features. Those landmarks become useful after the initial vector flight has already been flown. The displaced flight ended at a point that the dance never described.</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09" y="1280071"/>
            <a:ext cx="5166194" cy="3256062"/>
          </a:xfrm>
          <a:prstGeom prst="rect">
            <a:avLst/>
          </a:prstGeom>
          <a:noFill/>
          <a:ln>
            <a:noFill/>
          </a:ln>
        </p:spPr>
      </p:pic>
      <p:sp>
        <p:nvSpPr>
          <p:cNvPr id="89" name="Google Shape;89;p6"/>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dance narrows search without pinpointing the feeder</a:t>
            </a:r>
            <a:endParaRPr sz="1800">
              <a:solidFill>
                <a:schemeClr val="dk1"/>
              </a:solidFill>
              <a:latin typeface="Calibri"/>
              <a:ea typeface="Calibri"/>
              <a:cs typeface="Calibri"/>
              <a:sym typeface="Calibri"/>
            </a:endParaRPr>
          </a:p>
        </p:txBody>
      </p:sp>
      <p:sp>
        <p:nvSpPr>
          <p:cNvPr id="98" name="Google Shape;98;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Hive-released recruits ended their straight flights near the advertised feeder on average, although individual endpoints differed by tens of meters. Riley and colleagues then tracked </a:t>
            </a:r>
            <a:r>
              <a:rPr b="1" i="0" lang="en-US" sz="1500">
                <a:solidFill>
                  <a:srgbClr val="3F5063"/>
                </a:solidFill>
                <a:latin typeface="Arial"/>
                <a:ea typeface="Arial"/>
                <a:cs typeface="Arial"/>
                <a:sym typeface="Arial"/>
              </a:rPr>
              <a:t>looping searches</a:t>
            </a:r>
            <a:r>
              <a:rPr b="0" i="0" lang="en-US" sz="1500">
                <a:solidFill>
                  <a:srgbClr val="252B32"/>
                </a:solidFill>
                <a:latin typeface="Arial"/>
                <a:ea typeface="Arial"/>
                <a:cs typeface="Arial"/>
                <a:sym typeface="Arial"/>
              </a:rPr>
              <a:t>, some lasting up to 20 min and reaching 200 m from the feeding site. Radar sampled these recruits' positions every 3 s throughout the flights.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Two of the tracked recruits found the unscented feeder. An average endpoint near the food location therefore fails to predict arrival by every bee. Directional variation rose near the end of the vector flight as directed travel gave way to search. Spread in endpoints is therefore a feature of individual flights, not a single average.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Dance information supplies an approximate search area. Local visual or odor cues can be needed to pin down the final destination. Spatial scatter and terminal failure set successful long-range information transfer apart from precise source recognition. The dance sets the size of the search region, and recruits then search within it for the feeder.</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578" y="1280071"/>
            <a:ext cx="3072205"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2a,b. Direction changes during initial vector flights.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Recruits compensate for drift during crosswind flight</a:t>
            </a:r>
            <a:endParaRPr sz="1800">
              <a:solidFill>
                <a:schemeClr val="dk1"/>
              </a:solidFill>
              <a:latin typeface="Calibri"/>
              <a:ea typeface="Calibri"/>
              <a:cs typeface="Calibri"/>
              <a:sym typeface="Calibri"/>
            </a:endParaRPr>
          </a:p>
        </p:txBody>
      </p:sp>
      <p:sp>
        <p:nvSpPr>
          <p:cNvPr id="111" name="Google Shape;11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Riley and colleagues measured flight tracks together with wind velocity, which distinguishes movement over the ground from movement through the air. A bee in a crosswind must angle its body partly into the wind to hold the advertised </a:t>
            </a:r>
            <a:r>
              <a:rPr b="1" i="0" lang="en-US" sz="1400">
                <a:solidFill>
                  <a:srgbClr val="3F5063"/>
                </a:solidFill>
                <a:latin typeface="Arial"/>
                <a:ea typeface="Arial"/>
                <a:cs typeface="Arial"/>
                <a:sym typeface="Arial"/>
              </a:rPr>
              <a:t>ground track</a:t>
            </a:r>
            <a:r>
              <a:rPr b="0" i="0" lang="en-US" sz="1400">
                <a:solidFill>
                  <a:srgbClr val="252B32"/>
                </a:solidFill>
                <a:latin typeface="Arial"/>
                <a:ea typeface="Arial"/>
                <a:cs typeface="Arial"/>
                <a:sym typeface="Arial"/>
              </a:rPr>
              <a:t>. The recorded wind velocity gives the bee's drift relative to the ground.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one recorded flight, ground speed was 6.8 m/s while a 3.3 m/s wind blew from another direction. The reconstructed air velocity was 5.2 m/s. The bee's air heading diverged from its ground-track direction by about 28°, counteracting the wind drift. The reconstruction treats the bee's air velocity separately from its ground speed.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displacement followed the eastward instruction instead of the uncorrected, wind-driven heading, which shows </a:t>
            </a:r>
            <a:r>
              <a:rPr b="1" i="0" lang="en-US" sz="1400">
                <a:solidFill>
                  <a:srgbClr val="3F5063"/>
                </a:solidFill>
                <a:latin typeface="Arial"/>
                <a:ea typeface="Arial"/>
                <a:cs typeface="Arial"/>
                <a:sym typeface="Arial"/>
              </a:rPr>
              <a:t>active compensation</a:t>
            </a:r>
            <a:r>
              <a:rPr b="0" i="0" lang="en-US" sz="1400">
                <a:solidFill>
                  <a:srgbClr val="252B32"/>
                </a:solidFill>
                <a:latin typeface="Arial"/>
                <a:ea typeface="Arial"/>
                <a:cs typeface="Arial"/>
                <a:sym typeface="Arial"/>
              </a:rPr>
              <a:t> during recruitment flight. The wind and radar data document the correction in this flight, while the visual feedback behind it was beyond these measurements. Heading and track were measured together, so the drift can be read directly from the flight.</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366759" y="1280071"/>
            <a:ext cx="3349992" cy="4297561"/>
          </a:xfrm>
          <a:prstGeom prst="rect">
            <a:avLst/>
          </a:prstGeom>
          <a:noFill/>
          <a:ln>
            <a:noFill/>
          </a:ln>
        </p:spPr>
      </p:pic>
      <p:sp>
        <p:nvSpPr>
          <p:cNvPr id="115" name="Google Shape;115;p8"/>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3a,b. Crosswind compensation during a recruit flight.</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narrow tunnel magnifies retinal image motion</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1" i="0" lang="en-US" sz="1400">
                <a:solidFill>
                  <a:srgbClr val="3F5063"/>
                </a:solidFill>
                <a:latin typeface="Arial"/>
                <a:ea typeface="Arial"/>
                <a:cs typeface="Arial"/>
                <a:sym typeface="Arial"/>
              </a:rPr>
              <a:t>Optic flow</a:t>
            </a:r>
            <a:r>
              <a:rPr b="0" i="0" lang="en-US" sz="1400">
                <a:solidFill>
                  <a:srgbClr val="252B32"/>
                </a:solidFill>
                <a:latin typeface="Arial"/>
                <a:ea typeface="Arial"/>
                <a:cs typeface="Arial"/>
                <a:sym typeface="Arial"/>
              </a:rPr>
              <a:t> is the movement of environmental images across the retina during self-motion. Nearby surfaces produce larger angular image displacement than distant surfaces for the same travel. A narrow textured tunnel therefore boosts optic flow without requiring a long physical flight. A bee flying close to textured walls therefore experiences more motion per meter.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Srinivasan and colleagues trained honeybees through a tunnel 6.4 m long, 11 cm wide and 20 cm high. Random black-and-white texture covered the walls and floor, a mesh ceiling let the bees see the sky, and the feeder sat 6 m into the tunnel. The tunnel's narrow width kept the walls close to flying bees.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Returning bees produced waggle dances after this brief passage, although a similar outdoor journey normally elicits round dances. The preparation distinguishes physical distance from the visual motion experienced en route. It supports a </a:t>
            </a:r>
            <a:r>
              <a:rPr b="1" i="0" lang="en-US" sz="1400">
                <a:solidFill>
                  <a:srgbClr val="3F5063"/>
                </a:solidFill>
                <a:latin typeface="Arial"/>
                <a:ea typeface="Arial"/>
                <a:cs typeface="Arial"/>
                <a:sym typeface="Arial"/>
              </a:rPr>
              <a:t>visual odometer</a:t>
            </a:r>
            <a:r>
              <a:rPr b="0" i="0" lang="en-US" sz="1400">
                <a:solidFill>
                  <a:srgbClr val="252B32"/>
                </a:solidFill>
                <a:latin typeface="Arial"/>
                <a:ea typeface="Arial"/>
                <a:cs typeface="Arial"/>
                <a:sym typeface="Arial"/>
              </a:rPr>
              <a:t>, a mechanism that estimates distance traveled, over an energy-based distance measure. Distance is measured here by visual motion, not by energy expenditure.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Axial stripes remove the tunnel’s distance inflation</a:t>
            </a:r>
            <a:endParaRPr sz="1800">
              <a:solidFill>
                <a:schemeClr val="dk1"/>
              </a:solidFill>
              <a:latin typeface="Calibri"/>
              <a:ea typeface="Calibri"/>
              <a:cs typeface="Calibri"/>
              <a:sym typeface="Calibri"/>
            </a:endParaRPr>
          </a:p>
        </p:txBody>
      </p:sp>
      <p:sp>
        <p:nvSpPr>
          <p:cNvPr id="137" name="Google Shape;137;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Srinivasan and colleagues kept the feeder at the same physical location and replaced the random texture with stripes parallel to flight. Axial stripes change little along the flight axis, so they generate much less visual motion during forward travel. The stripes lie parallel to the flight direction. Random texture does the opposite.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35 m outdoor journey followed by 6 m through random texture produced waggle dances in 90% of recorded dances. With axial stripes over the same total of 41 m, 86.7% of dances were round dances. Outdoors, a feeder at 35 m elicited mostly round dances. Surface pattern, not total distance, produced the change.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two 41 m preparations share the same physical journey length, which therefore fails to account for the difference. The texture control identifies </a:t>
            </a:r>
            <a:r>
              <a:rPr b="1" i="0" lang="en-US" sz="1400">
                <a:solidFill>
                  <a:srgbClr val="3F5063"/>
                </a:solidFill>
                <a:latin typeface="Arial"/>
                <a:ea typeface="Arial"/>
                <a:cs typeface="Arial"/>
                <a:sym typeface="Arial"/>
              </a:rPr>
              <a:t>optic flow</a:t>
            </a:r>
            <a:r>
              <a:rPr b="0" i="0" lang="en-US" sz="1400">
                <a:solidFill>
                  <a:srgbClr val="252B32"/>
                </a:solidFill>
                <a:latin typeface="Arial"/>
                <a:ea typeface="Arial"/>
                <a:cs typeface="Arial"/>
                <a:sym typeface="Arial"/>
              </a:rPr>
              <a:t> as the relevant variable under these conditions. Visual pattern, not the distance walked, sets how far the dance reports. Round dances appeared in place of waggle dances under axial stripes.</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221065" y="1280071"/>
            <a:ext cx="3641530" cy="4297561"/>
          </a:xfrm>
          <a:prstGeom prst="rect">
            <a:avLst/>
          </a:prstGeom>
          <a:noFill/>
          <a:ln>
            <a:noFill/>
          </a:ln>
        </p:spPr>
      </p:pic>
      <p:sp>
        <p:nvSpPr>
          <p:cNvPr id="141" name="Google Shape;141;p1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dances calibrate the duration–distance relation</a:t>
            </a:r>
            <a:endParaRPr sz="1800">
              <a:solidFill>
                <a:schemeClr val="dk1"/>
              </a:solidFill>
              <a:latin typeface="Calibri"/>
              <a:ea typeface="Calibri"/>
              <a:cs typeface="Calibri"/>
              <a:sym typeface="Calibri"/>
            </a:endParaRPr>
          </a:p>
        </p:txBody>
      </p:sp>
      <p:sp>
        <p:nvSpPr>
          <p:cNvPr id="150" name="Google Shape;150;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Srinivasan and colleagues moved outdoor feeders between 60 and 350 m and timed each waggle phase on the bee's return to the hive. Over this range, mean </a:t>
            </a:r>
            <a:r>
              <a:rPr b="1" i="0" lang="en-US" sz="1400">
                <a:solidFill>
                  <a:srgbClr val="3F5063"/>
                </a:solidFill>
                <a:latin typeface="Arial"/>
                <a:ea typeface="Arial"/>
                <a:cs typeface="Arial"/>
                <a:sym typeface="Arial"/>
              </a:rPr>
              <a:t>waggle duration</a:t>
            </a:r>
            <a:r>
              <a:rPr b="0" i="0" lang="en-US" sz="1400">
                <a:solidFill>
                  <a:srgbClr val="252B32"/>
                </a:solidFill>
                <a:latin typeface="Arial"/>
                <a:ea typeface="Arial"/>
                <a:cs typeface="Arial"/>
                <a:sym typeface="Arial"/>
              </a:rPr>
              <a:t> rose roughly linearly with feeder distance. The relation was drawn across the full range of tested distances. The waggle phase carries the distance information in this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calibration increased by 1.88 ms of waggle duration per meter of outdoor travel. It served as a reference for interpreting the unusually long dances produced after textured-tunnel flights. The calibration was obtained independently of the tunnel manipulation. The calibration therefore converts a measured duration into an outdoor-equivalent distance, which is how the tunnel results were read.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calibration links a measured signal to a known quantity under specified conditions. Its value holds for the tested routes and distances, and it is a relation rather than a universal conversion for every landscape or colony. Within that range, the relation is close to linear, and the measured points lie along one line.</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54" name="Google Shape;154;p11"/>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Six tunnel meters can signal a much longer journey</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Srinivasan and colleagues applied the outdoor calibration to dances that followed textured-tunnel passages. A 41 m journey with 6 m inside the tunnel produced a mean waggle duration of 528.8 ms, which corresponds to about 230 m outdoors. The outdoor portion of the journey was 35 m, and the tunnel extended the total.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second arrangement placed the tunnel nearer the hive, producing 12 m of total travel. Its mean duration was 441.2 ms, corresponding to about 184 m outdoors. Both preparations generated a disproportionately large </a:t>
            </a:r>
            <a:r>
              <a:rPr b="1" i="0" lang="en-US" sz="1400">
                <a:solidFill>
                  <a:srgbClr val="3F5063"/>
                </a:solidFill>
                <a:latin typeface="Arial"/>
                <a:ea typeface="Arial"/>
                <a:cs typeface="Arial"/>
                <a:sym typeface="Arial"/>
              </a:rPr>
              <a:t>distance signal</a:t>
            </a:r>
            <a:r>
              <a:rPr b="0" i="0" lang="en-US" sz="1400">
                <a:solidFill>
                  <a:srgbClr val="252B32"/>
                </a:solidFill>
                <a:latin typeface="Arial"/>
                <a:ea typeface="Arial"/>
                <a:cs typeface="Arial"/>
                <a:sym typeface="Arial"/>
              </a:rPr>
              <a:t> despite their different outdoor approach lengths. Here the total journey was far shorter than the signaled distance.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Close textured surfaces amplified the visually measured journey. Waggle duration therefore reflects visual surroundings as well as physical meters. These outdoor distances are values read from the authors' calibration rather than records of what a bee experiences. Both tunnel passages therefore inflated the distance a dancer reported. Visual surroundings can thus change the signal substantially.</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458400" y="1280071"/>
            <a:ext cx="5166413" cy="3720554"/>
          </a:xfrm>
          <a:prstGeom prst="rect">
            <a:avLst/>
          </a:prstGeom>
          <a:noFill/>
          <a:ln>
            <a:noFill/>
          </a:ln>
        </p:spPr>
      </p:pic>
      <p:sp>
        <p:nvSpPr>
          <p:cNvPr id="167" name="Google Shape;167;p12"/>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Followers search at the distance encoded by tunnel dances</a:t>
            </a:r>
            <a:endParaRPr sz="1800">
              <a:solidFill>
                <a:schemeClr val="dk1"/>
              </a:solidFill>
              <a:latin typeface="Calibri"/>
              <a:ea typeface="Calibri"/>
              <a:cs typeface="Calibri"/>
              <a:sym typeface="Calibri"/>
            </a:endParaRPr>
          </a:p>
        </p:txBody>
      </p:sp>
      <p:sp>
        <p:nvSpPr>
          <p:cNvPr id="176" name="Google Shape;176;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Esch and colleagues trained dancers to fly 3 m outdoors and then 8 m through a textured tunnel toward the south. The actual feeder lay 11 m from the hive, yet returning bees produced waggle runs averaging 358 ms. The 8 m tunnel pointed toward the south, the same direction as the control station used for recruit searches.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local outdoor calibration linked that duration to about 72 m. Newly recruited bees searched mostly at a </a:t>
            </a:r>
            <a:r>
              <a:rPr b="1" i="0" lang="en-US" sz="1400">
                <a:solidFill>
                  <a:srgbClr val="3F5063"/>
                </a:solidFill>
                <a:latin typeface="Arial"/>
                <a:ea typeface="Arial"/>
                <a:cs typeface="Arial"/>
                <a:sym typeface="Arial"/>
              </a:rPr>
              <a:t>control station</a:t>
            </a:r>
            <a:r>
              <a:rPr b="0" i="0" lang="en-US" sz="1400">
                <a:solidFill>
                  <a:srgbClr val="252B32"/>
                </a:solidFill>
                <a:latin typeface="Arial"/>
                <a:ea typeface="Arial"/>
                <a:cs typeface="Arial"/>
                <a:sym typeface="Arial"/>
              </a:rPr>
              <a:t> 70 m south of the hive instead of at the tunnel feeder. The stations offered neither food reward nor added scent. The stations were unrewarded, so search at them reflects the dance information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For the first 30 min, the closed tunnel kept dancers from advertising the tunnel journey, and no recruits arrived at the stations. Opening the tunnel started dancing and recruitment. The visually inflated distance signal therefore drives </a:t>
            </a:r>
            <a:r>
              <a:rPr b="1" i="0" lang="en-US" sz="1400">
                <a:solidFill>
                  <a:srgbClr val="3F5063"/>
                </a:solidFill>
                <a:latin typeface="Arial"/>
                <a:ea typeface="Arial"/>
                <a:cs typeface="Arial"/>
                <a:sym typeface="Arial"/>
              </a:rPr>
              <a:t>followers' search</a:t>
            </a:r>
            <a:r>
              <a:rPr b="0" i="0" lang="en-US" sz="1400">
                <a:solidFill>
                  <a:srgbClr val="252B32"/>
                </a:solidFill>
                <a:latin typeface="Arial"/>
                <a:ea typeface="Arial"/>
                <a:cs typeface="Arial"/>
                <a:sym typeface="Arial"/>
              </a:rPr>
              <a:t>, not just the dancer's movements. The inflated signal and the search site are therefore linked in one experiment.</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180" name="Google Shape;180;p1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Outdoor calibration differs between flight routes</a:t>
            </a:r>
            <a:endParaRPr sz="1800">
              <a:solidFill>
                <a:schemeClr val="dk1"/>
              </a:solidFill>
              <a:latin typeface="Calibri"/>
              <a:ea typeface="Calibri"/>
              <a:cs typeface="Calibri"/>
              <a:sym typeface="Calibri"/>
            </a:endParaRPr>
          </a:p>
        </p:txBody>
      </p:sp>
      <p:sp>
        <p:nvSpPr>
          <p:cNvPr id="189" name="Google Shape;189;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Esch and colleagues measured outdoor dance durations separately for southern and northwestern routes. A given waggle duration corresponded to different physical distances on the two routes, even though both involved ordinary outdoor flight. Both relations describe ordinary flights over real terrain, not tunnel passages. Each relation was built from its own feeder positions.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For example, 270 ms corresponded to about 52 m with the southern relation but about 157 m with the northwestern relation. The northwestern landscape produced less distance signal per physical meter. A single route-independent conversion would therefore misread the dance. Both calibrations use the same waggle-duration measure, so the difference lies in the landscape.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relevant quantity is the </a:t>
            </a:r>
            <a:r>
              <a:rPr b="1" i="0" lang="en-US" sz="1400">
                <a:solidFill>
                  <a:srgbClr val="3F5063"/>
                </a:solidFill>
                <a:latin typeface="Arial"/>
                <a:ea typeface="Arial"/>
                <a:cs typeface="Arial"/>
                <a:sym typeface="Arial"/>
              </a:rPr>
              <a:t>accumulated visual motion</a:t>
            </a:r>
            <a:r>
              <a:rPr b="0" i="0" lang="en-US" sz="1400">
                <a:solidFill>
                  <a:srgbClr val="252B32"/>
                </a:solidFill>
                <a:latin typeface="Arial"/>
                <a:ea typeface="Arial"/>
                <a:cs typeface="Arial"/>
                <a:sym typeface="Arial"/>
              </a:rPr>
              <a:t> shaped by the route. Terrain and viewing geometry change how optic flow relates to physical distance, so a conversion has to reflect the route being flown. The landscape changes how much image motion each flown meter produces, and the same dance then encodes a different distance.</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458497" y="1280071"/>
            <a:ext cx="5166218" cy="2921050"/>
          </a:xfrm>
          <a:prstGeom prst="rect">
            <a:avLst/>
          </a:prstGeom>
          <a:noFill/>
          <a:ln>
            <a:noFill/>
          </a:ln>
        </p:spPr>
      </p:pic>
      <p:sp>
        <p:nvSpPr>
          <p:cNvPr id="193" name="Google Shape;193;p14"/>
          <p:cNvSpPr/>
          <p:nvPr/>
        </p:nvSpPr>
        <p:spPr>
          <a:xfrm>
            <a:off x="6458396" y="429265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1. Outdoor calibration of dance duration.</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Northwestern recruits use their route’s visual calibration</a:t>
            </a:r>
            <a:endParaRPr sz="1800">
              <a:solidFill>
                <a:schemeClr val="dk1"/>
              </a:solidFill>
              <a:latin typeface="Calibri"/>
              <a:ea typeface="Calibri"/>
              <a:cs typeface="Calibri"/>
              <a:sym typeface="Calibri"/>
            </a:endParaRPr>
          </a:p>
        </p:txBody>
      </p:sp>
      <p:sp>
        <p:nvSpPr>
          <p:cNvPr id="202" name="Google Shape;202;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Esch and colleagues repeated the tunnel recruitment test with a northwestern approach, flying 3 m outdoors and then 6 m through the tunnel. The actual feeder lay 9 m from the hive, and returning dancers produced waggle runs averaging 270 ms. The recruitment test combined an outdoor approach with a short tunnel passage.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Recruit searches peaked near 140 m along the northwestern route. The northwestern calibration predicted about 157 m, while the southern calibration would have predicted about 52 m. Recruits searched where a </a:t>
            </a:r>
            <a:r>
              <a:rPr b="1" i="0" lang="en-US" sz="1400">
                <a:solidFill>
                  <a:srgbClr val="3F5063"/>
                </a:solidFill>
                <a:latin typeface="Arial"/>
                <a:ea typeface="Arial"/>
                <a:cs typeface="Arial"/>
                <a:sym typeface="Arial"/>
              </a:rPr>
              <a:t>route-appropriate visual distance</a:t>
            </a:r>
            <a:r>
              <a:rPr b="0" i="0" lang="en-US" sz="1400">
                <a:solidFill>
                  <a:srgbClr val="252B32"/>
                </a:solidFill>
                <a:latin typeface="Arial"/>
                <a:ea typeface="Arial"/>
                <a:cs typeface="Arial"/>
                <a:sym typeface="Arial"/>
              </a:rPr>
              <a:t> placed the destination. Searches at this route therefore followed the local calibration, not the southern one. The result matches the route flown.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Unrewarded stations and a tunnel closed before each trial prevented the relevant dances and recruitment. The result links dance decoding with followers' own visual navigation. The duration-to-distance conversion is set by the visual conditions the navigating bees encounter. Each route therefore supplies its own visual yardstick for interpreting the dance in the field.</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7772126" y="1280071"/>
            <a:ext cx="2539109" cy="4297561"/>
          </a:xfrm>
          <a:prstGeom prst="rect">
            <a:avLst/>
          </a:prstGeom>
          <a:noFill/>
          <a:ln>
            <a:noFill/>
          </a:ln>
        </p:spPr>
      </p:pic>
      <p:sp>
        <p:nvSpPr>
          <p:cNvPr id="206" name="Google Shape;206;p1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Natural water crossings alter the distance signal</a:t>
            </a:r>
            <a:endParaRPr sz="1800">
              <a:solidFill>
                <a:schemeClr val="dk1"/>
              </a:solidFill>
              <a:latin typeface="Calibri"/>
              <a:ea typeface="Calibri"/>
              <a:cs typeface="Calibri"/>
              <a:sym typeface="Calibri"/>
            </a:endParaRPr>
          </a:p>
        </p:txBody>
      </p:sp>
      <p:sp>
        <p:nvSpPr>
          <p:cNvPr id="215" name="Google Shape;215;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Tautz and colleagues moved feeders along two routes, each 580 m long. One route crossed land, then water, then an island, and the other stayed over land. Marked foragers were trained to follow the moving food source, including a feeder carried by boat. Recruits followed the feeder as it moved, so the test tracked the same food source.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At each position, returning dances were filmed and their </a:t>
            </a:r>
            <a:r>
              <a:rPr b="1" i="0" lang="en-US" sz="1400">
                <a:solidFill>
                  <a:srgbClr val="3F5063"/>
                </a:solidFill>
                <a:latin typeface="Arial"/>
                <a:ea typeface="Arial"/>
                <a:cs typeface="Arial"/>
                <a:sym typeface="Arial"/>
              </a:rPr>
              <a:t>waggle-run durations</a:t>
            </a:r>
            <a:r>
              <a:rPr b="0" i="0" lang="en-US" sz="1400">
                <a:solidFill>
                  <a:srgbClr val="252B32"/>
                </a:solidFill>
                <a:latin typeface="Arial"/>
                <a:ea typeface="Arial"/>
                <a:cs typeface="Arial"/>
                <a:sym typeface="Arial"/>
              </a:rPr>
              <a:t> measured. The experiment tested whether the tunnel-defined visual odometer also depends on natural terrain. Both routes increased physical distance without the artificial closeness of tunnel walls. Both routes were 580 m long, so their total distances were identical. Each route differed only in its terrain.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Water-crossing bees kept signaling increasing distance, but the rate of increase varied across route segments. Recruits were scarce while the feeder was over water and reappeared on the island. Recruitment success and distance encoding are related yet distinct outcomes, and habitat change can affect both. Each feeder position yielded its own dance measurements.</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6881273" y="1280071"/>
            <a:ext cx="4320666" cy="4297561"/>
          </a:xfrm>
          <a:prstGeom prst="rect">
            <a:avLst/>
          </a:prstGeom>
          <a:noFill/>
          <a:ln>
            <a:noFill/>
          </a:ln>
        </p:spPr>
      </p:pic>
      <p:sp>
        <p:nvSpPr>
          <p:cNvPr id="219" name="Google Shape;219;p1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1. Land, water and island routes.</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Waggle duration accumulates more slowly over water</a:t>
            </a:r>
            <a:endParaRPr sz="1800">
              <a:solidFill>
                <a:schemeClr val="dk1"/>
              </a:solidFill>
              <a:latin typeface="Calibri"/>
              <a:ea typeface="Calibri"/>
              <a:cs typeface="Calibri"/>
              <a:sym typeface="Calibri"/>
            </a:endParaRPr>
          </a:p>
        </p:txBody>
      </p:sp>
      <p:sp>
        <p:nvSpPr>
          <p:cNvPr id="228" name="Google Shape;228;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On the land–water–island route, Tautz and colleagues measured waggle-duration increases of 1.970 ms/m over the first land segment, 0.546 ms/m over water and 2.243 ms/m over the island. Equal physical travel therefore added unequal amounts to the dance signal. Each segment's rate came from the measurements taken along that segment alone, not from the whole route.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Segment-specific relations tracked the change more closely than one constant slope across the whole route. An all-land comparison route lacked the water-associated flattening, which identifies a specific </a:t>
            </a:r>
            <a:r>
              <a:rPr b="1" i="0" lang="en-US" sz="1400">
                <a:solidFill>
                  <a:srgbClr val="3F5063"/>
                </a:solidFill>
                <a:latin typeface="Arial"/>
                <a:ea typeface="Arial"/>
                <a:cs typeface="Arial"/>
                <a:sym typeface="Arial"/>
              </a:rPr>
              <a:t>terrain transition</a:t>
            </a:r>
            <a:r>
              <a:rPr b="0" i="0" lang="en-US" sz="1400">
                <a:solidFill>
                  <a:srgbClr val="252B32"/>
                </a:solidFill>
                <a:latin typeface="Arial"/>
                <a:ea typeface="Arial"/>
                <a:cs typeface="Arial"/>
                <a:sym typeface="Arial"/>
              </a:rPr>
              <a:t> rather than a general dependence on feeder distance. A single slope across the route would average over these very different rates of accumulation.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visual odometer can keep working over water while accumulating less effective image motion there. These behavioral measurements constrain how the distance signal depends on its input, with low </a:t>
            </a:r>
            <a:r>
              <a:rPr b="1" i="0" lang="en-US" sz="1400">
                <a:solidFill>
                  <a:srgbClr val="3F5063"/>
                </a:solidFill>
                <a:latin typeface="Arial"/>
                <a:ea typeface="Arial"/>
                <a:cs typeface="Arial"/>
                <a:sym typeface="Arial"/>
              </a:rPr>
              <a:t>image contrast</a:t>
            </a:r>
            <a:r>
              <a:rPr b="0" i="0" lang="en-US" sz="1400">
                <a:solidFill>
                  <a:srgbClr val="252B32"/>
                </a:solidFill>
                <a:latin typeface="Arial"/>
                <a:ea typeface="Arial"/>
                <a:cs typeface="Arial"/>
                <a:sym typeface="Arial"/>
              </a:rPr>
              <a:t> offering one explanation for the water effect. Image motion is the input the odometer reads, so its rate sets the distance signal.</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512145" y="1280071"/>
            <a:ext cx="3059071" cy="4297561"/>
          </a:xfrm>
          <a:prstGeom prst="rect">
            <a:avLst/>
          </a:prstGeom>
          <a:noFill/>
          <a:ln>
            <a:noFill/>
          </a:ln>
        </p:spPr>
      </p:pic>
      <p:sp>
        <p:nvSpPr>
          <p:cNvPr id="232" name="Google Shape;232;p1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2A,B. Distance coding changes over water.</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Image contrast constrains natural visual odometry</a:t>
            </a:r>
            <a:endParaRPr sz="1800">
              <a:solidFill>
                <a:schemeClr val="dk1"/>
              </a:solidFill>
              <a:latin typeface="Calibri"/>
              <a:ea typeface="Calibri"/>
              <a:cs typeface="Calibri"/>
              <a:sym typeface="Calibri"/>
            </a:endParaRPr>
          </a:p>
        </p:txBody>
      </p:sp>
      <p:sp>
        <p:nvSpPr>
          <p:cNvPr id="241" name="Google Shape;24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Visual contrast measures how much image intensity varies, which makes spatial structure visible. Tautz and colleagues photographed land and water scenes along the routes. They measured intensity variation inside fixed image windows, so each scene produced a number that could be compared across habitats. The photographs keep the same windows for every scene.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Mean contrast was higher over land than over water. The low-contrast water segment matched slower growth of waggle duration. The terrestrial segments showed clearly larger increases. Contrast is therefore a plausible link between natural image structure and effective optic flow. Waggle duration rose noticeably faster on land than on water.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Tunnel experiments change visual motion directly. Field measurements show the same dependence under ordinary foraging conditions. Both approaches measure the same visual input. The tunnel gives direct control over texture, while the field gives natural variation across real terrain and routes. Together they show how image structure shapes the distance the dance reports.</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8322932" y="1280071"/>
            <a:ext cx="1437646" cy="2148780"/>
          </a:xfrm>
          <a:prstGeom prst="rect">
            <a:avLst/>
          </a:prstGeom>
          <a:noFill/>
          <a:ln>
            <a:noFill/>
          </a:ln>
        </p:spPr>
      </p:pic>
      <p:pic>
        <p:nvPicPr>
          <p:cNvPr id="246" name="Google Shape;246;p18"/>
          <p:cNvPicPr preferRelativeResize="0"/>
          <p:nvPr/>
        </p:nvPicPr>
        <p:blipFill rotWithShape="1">
          <a:blip r:embed="rId4">
            <a:alphaModFix/>
          </a:blip>
          <a:srcRect b="0" l="0" r="0" t="0"/>
          <a:stretch/>
        </p:blipFill>
        <p:spPr>
          <a:xfrm>
            <a:off x="7712190" y="3977580"/>
            <a:ext cx="2658982" cy="1782961"/>
          </a:xfrm>
          <a:prstGeom prst="rect">
            <a:avLst/>
          </a:prstGeom>
          <a:noFill/>
          <a:ln>
            <a:noFill/>
          </a:ln>
        </p:spPr>
      </p:pic>
      <p:sp>
        <p:nvSpPr>
          <p:cNvPr id="247" name="Google Shape;247;p18"/>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5. Natural terrestrial route and image-analysis windows.</a:t>
            </a:r>
            <a:endParaRPr sz="1800">
              <a:solidFill>
                <a:schemeClr val="dk1"/>
              </a:solidFill>
              <a:latin typeface="Calibri"/>
              <a:ea typeface="Calibri"/>
              <a:cs typeface="Calibri"/>
              <a:sym typeface="Calibri"/>
            </a:endParaRPr>
          </a:p>
        </p:txBody>
      </p:sp>
      <p:sp>
        <p:nvSpPr>
          <p:cNvPr id="248" name="Google Shape;248;p1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 Srinivasan et al. (2000)</a:t>
            </a:r>
            <a:endParaRPr sz="1800">
              <a:solidFill>
                <a:schemeClr val="dk1"/>
              </a:solidFill>
              <a:latin typeface="Calibri"/>
              <a:ea typeface="Calibri"/>
              <a:cs typeface="Calibri"/>
              <a:sym typeface="Calibri"/>
            </a:endParaRPr>
          </a:p>
        </p:txBody>
      </p:sp>
      <p:sp>
        <p:nvSpPr>
          <p:cNvPr id="250" name="Google Shape;25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sp>
        <p:nvSpPr>
          <p:cNvPr id="255" name="Google Shape;25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Bees can learn the orientation of polarized light</a:t>
            </a:r>
            <a:endParaRPr sz="1800">
              <a:solidFill>
                <a:schemeClr val="dk1"/>
              </a:solidFill>
              <a:latin typeface="Calibri"/>
              <a:ea typeface="Calibri"/>
              <a:cs typeface="Calibri"/>
              <a:sym typeface="Calibri"/>
            </a:endParaRPr>
          </a:p>
        </p:txBody>
      </p:sp>
      <p:sp>
        <p:nvSpPr>
          <p:cNvPr id="256" name="Google Shape;256;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Polarized light has a preferred orientation of its electric-field oscillation, called the </a:t>
            </a:r>
            <a:r>
              <a:rPr b="1" i="0" lang="en-US" sz="1400">
                <a:solidFill>
                  <a:srgbClr val="3F5063"/>
                </a:solidFill>
                <a:latin typeface="Arial"/>
                <a:ea typeface="Arial"/>
                <a:cs typeface="Arial"/>
                <a:sym typeface="Arial"/>
              </a:rPr>
              <a:t>e-vector</a:t>
            </a:r>
            <a:r>
              <a:rPr b="0" i="0" lang="en-US" sz="1400">
                <a:solidFill>
                  <a:srgbClr val="252B32"/>
                </a:solidFill>
                <a:latin typeface="Arial"/>
                <a:ea typeface="Arial"/>
                <a:cs typeface="Arial"/>
                <a:sym typeface="Arial"/>
              </a:rPr>
              <a:t>. Sakura and colleagues tested whether restrained honeybees could discriminate two e-vector directions presented from above, without requiring a navigational journey. The e-vector is defined by the direction of that oscillation, a property of the light itself. The test isolates that property from navigation.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One direction was paired with sucrose, while the perpendicular direction went unrewarded. The </a:t>
            </a:r>
            <a:r>
              <a:rPr b="1" i="0" lang="en-US" sz="1400">
                <a:solidFill>
                  <a:srgbClr val="3F5063"/>
                </a:solidFill>
                <a:latin typeface="Arial"/>
                <a:ea typeface="Arial"/>
                <a:cs typeface="Arial"/>
                <a:sym typeface="Arial"/>
              </a:rPr>
              <a:t>proboscis extension response</a:t>
            </a:r>
            <a:r>
              <a:rPr b="0" i="0" lang="en-US" sz="1400">
                <a:solidFill>
                  <a:srgbClr val="252B32"/>
                </a:solidFill>
                <a:latin typeface="Arial"/>
                <a:ea typeface="Arial"/>
                <a:cs typeface="Arial"/>
                <a:sym typeface="Arial"/>
              </a:rPr>
              <a:t>, the extension of the feeding mouthparts, served as a behavioral readout of association. Responses increased to the rewarded direction during ultraviolet conditioning and stayed low to the other. The proboscis response was recorded during the conditioning.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400">
                <a:solidFill>
                  <a:srgbClr val="252B32"/>
                </a:solidFill>
                <a:latin typeface="Arial"/>
                <a:ea typeface="Arial"/>
                <a:cs typeface="Arial"/>
                <a:sym typeface="Arial"/>
              </a:rPr>
              <a:t>The test shows learned discrimination of polarization orientation, independent of free-flight steering. Head-fixed bees also learned, which points to detection without repeated active head scanning. The step from this sensory discrimination to the direction advertised in a dance lies beyond the test. The head-fixed preparation sees light from above, and the test required no flight.</a:t>
            </a:r>
            <a:endParaRPr sz="1800">
              <a:solidFill>
                <a:schemeClr val="dk1"/>
              </a:solidFill>
              <a:latin typeface="Calibri"/>
              <a:ea typeface="Calibri"/>
              <a:cs typeface="Calibri"/>
              <a:sym typeface="Calibri"/>
            </a:endParaRPr>
          </a:p>
        </p:txBody>
      </p:sp>
      <p:pic>
        <p:nvPicPr>
          <p:cNvPr id="259" name="Google Shape;259;p19"/>
          <p:cNvPicPr preferRelativeResize="0"/>
          <p:nvPr/>
        </p:nvPicPr>
        <p:blipFill rotWithShape="1">
          <a:blip r:embed="rId3">
            <a:alphaModFix/>
          </a:blip>
          <a:srcRect b="0" l="0" r="0" t="0"/>
          <a:stretch/>
        </p:blipFill>
        <p:spPr>
          <a:xfrm>
            <a:off x="6458420" y="1280071"/>
            <a:ext cx="3520483" cy="2177504"/>
          </a:xfrm>
          <a:prstGeom prst="rect">
            <a:avLst/>
          </a:prstGeom>
          <a:noFill/>
          <a:ln>
            <a:noFill/>
          </a:ln>
        </p:spPr>
      </p:pic>
      <p:sp>
        <p:nvSpPr>
          <p:cNvPr id="260" name="Google Shape;260;p19"/>
          <p:cNvSpPr/>
          <p:nvPr/>
        </p:nvSpPr>
        <p:spPr>
          <a:xfrm>
            <a:off x="6458396" y="3549104"/>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1. Rewarded and unrewarded polarization directions.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62" name="Google Shape;262;p19"/>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63" name="Google Shape;263;p1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4" name="Google Shape;26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65" name="Google Shape;26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learning depends on ultraviolet stimulation</a:t>
            </a:r>
            <a:endParaRPr sz="1800">
              <a:solidFill>
                <a:schemeClr val="dk1"/>
              </a:solidFill>
              <a:latin typeface="Calibri"/>
              <a:ea typeface="Calibri"/>
              <a:cs typeface="Calibri"/>
              <a:sym typeface="Calibri"/>
            </a:endParaRPr>
          </a:p>
        </p:txBody>
      </p:sp>
      <p:sp>
        <p:nvSpPr>
          <p:cNvPr id="271" name="Google Shape;271;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Sakura and colleagues repeated polarization conditioning with ultraviolet light near 350 nm, blue light near 442 nm and green light near 546 nm. Each preparation used a rewarded e-vector and a perpendicular unrewarded e-vector. Each wavelength was paired with the same rewarded and unrewarded e-vector geometry. The three conditions differed only in wavelength.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Bees acquired the discrimination under ultraviolet stimulation but failed to acquire it under the blue or green conditions. The wavelength comparison held the </a:t>
            </a:r>
            <a:r>
              <a:rPr b="1" i="0" lang="en-US" sz="1400">
                <a:solidFill>
                  <a:srgbClr val="3F5063"/>
                </a:solidFill>
                <a:latin typeface="Arial"/>
                <a:ea typeface="Arial"/>
                <a:cs typeface="Arial"/>
                <a:sym typeface="Arial"/>
              </a:rPr>
              <a:t>associative task</a:t>
            </a:r>
            <a:r>
              <a:rPr b="0" i="0" lang="en-US" sz="1400">
                <a:solidFill>
                  <a:srgbClr val="252B32"/>
                </a:solidFill>
                <a:latin typeface="Arial"/>
                <a:ea typeface="Arial"/>
                <a:cs typeface="Arial"/>
                <a:sym typeface="Arial"/>
              </a:rPr>
              <a:t> constant while changing the spectral input. Responsiveness to sucrose was assessed in a separate control. Reward was identical across all three conditions, which isolates the spectral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learning therefore depends on ultraviolet input, so the task is not solved at every wavelength. The result fits </a:t>
            </a:r>
            <a:r>
              <a:rPr b="1" i="0" lang="en-US" sz="1400">
                <a:solidFill>
                  <a:srgbClr val="3F5063"/>
                </a:solidFill>
                <a:latin typeface="Arial"/>
                <a:ea typeface="Arial"/>
                <a:cs typeface="Arial"/>
                <a:sym typeface="Arial"/>
              </a:rPr>
              <a:t>ultraviolet-sensitive polarization input</a:t>
            </a:r>
            <a:r>
              <a:rPr b="0" i="0" lang="en-US" sz="1400">
                <a:solidFill>
                  <a:srgbClr val="252B32"/>
                </a:solidFill>
                <a:latin typeface="Arial"/>
                <a:ea typeface="Arial"/>
                <a:cs typeface="Arial"/>
                <a:sym typeface="Arial"/>
              </a:rPr>
              <a:t> as the channel that carries the e-vector information used in learning. The learning was measured with rewarded e-vectors under each light source. Ultraviolet-sensitive input thus shapes which signals reach the e-vector task.</a:t>
            </a:r>
            <a:endParaRPr sz="1800">
              <a:solidFill>
                <a:schemeClr val="dk1"/>
              </a:solidFill>
              <a:latin typeface="Calibri"/>
              <a:ea typeface="Calibri"/>
              <a:cs typeface="Calibri"/>
              <a:sym typeface="Calibri"/>
            </a:endParaRPr>
          </a:p>
        </p:txBody>
      </p:sp>
      <p:pic>
        <p:nvPicPr>
          <p:cNvPr id="274" name="Google Shape;274;p20"/>
          <p:cNvPicPr preferRelativeResize="0"/>
          <p:nvPr/>
        </p:nvPicPr>
        <p:blipFill rotWithShape="1">
          <a:blip r:embed="rId3">
            <a:alphaModFix/>
          </a:blip>
          <a:srcRect b="0" l="0" r="0" t="0"/>
          <a:stretch/>
        </p:blipFill>
        <p:spPr>
          <a:xfrm>
            <a:off x="7073535" y="1280071"/>
            <a:ext cx="2290401" cy="4297561"/>
          </a:xfrm>
          <a:prstGeom prst="rect">
            <a:avLst/>
          </a:prstGeom>
          <a:noFill/>
          <a:ln>
            <a:noFill/>
          </a:ln>
        </p:spPr>
      </p:pic>
      <p:sp>
        <p:nvSpPr>
          <p:cNvPr id="275" name="Google Shape;275;p20"/>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3a–c. Learning with ultraviolet, blue and green light.</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77" name="Google Shape;277;p20"/>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78" name="Google Shape;278;p2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a:t>
            </a:r>
            <a:endParaRPr sz="1800">
              <a:solidFill>
                <a:schemeClr val="dk1"/>
              </a:solidFill>
              <a:latin typeface="Calibri"/>
              <a:ea typeface="Calibri"/>
              <a:cs typeface="Calibri"/>
              <a:sym typeface="Calibri"/>
            </a:endParaRPr>
          </a:p>
        </p:txBody>
      </p:sp>
      <p:sp>
        <p:nvSpPr>
          <p:cNvPr id="280" name="Google Shape;280;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Occluding the dorsal rim removes e-vector learning</a:t>
            </a:r>
            <a:endParaRPr sz="1800">
              <a:solidFill>
                <a:schemeClr val="dk1"/>
              </a:solidFill>
              <a:latin typeface="Calibri"/>
              <a:ea typeface="Calibri"/>
              <a:cs typeface="Calibri"/>
              <a:sym typeface="Calibri"/>
            </a:endParaRPr>
          </a:p>
        </p:txBody>
      </p:sp>
      <p:sp>
        <p:nvSpPr>
          <p:cNvPr id="286" name="Google Shape;28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dorsal rim area is a specialized region near the upper edge of the compound eye, associated with skylight polarization detection. Sakura and colleagues painted either this region or the rest of the eye before ultraviolet polarization conditioning. The painted areas were chosen to test the rim's specific role, not the eye's general exposure.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Bees with the dorsal rim covered failed to learn the rewarded e-vector. Bees with the extradorsal region covered kept their discrimination even with much of the eye occluded. This complementary control ties the behavioral effect to the specialized region rather than to reduced exposed area. Both groups received the same conditioning protocol.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result supports a necessary </a:t>
            </a:r>
            <a:r>
              <a:rPr b="1" i="0" lang="en-US" sz="1400">
                <a:solidFill>
                  <a:srgbClr val="3F5063"/>
                </a:solidFill>
                <a:latin typeface="Arial"/>
                <a:ea typeface="Arial"/>
                <a:cs typeface="Arial"/>
                <a:sym typeface="Arial"/>
              </a:rPr>
              <a:t>dorsal-rim contribution</a:t>
            </a:r>
            <a:r>
              <a:rPr b="0" i="0" lang="en-US" sz="1400">
                <a:solidFill>
                  <a:srgbClr val="252B32"/>
                </a:solidFill>
                <a:latin typeface="Arial"/>
                <a:ea typeface="Arial"/>
                <a:cs typeface="Arial"/>
                <a:sym typeface="Arial"/>
              </a:rPr>
              <a:t> under these conditions. Zeller and colleagues traced input from this region into a specialized dorsal-medulla compartment, so the occlusion and tracing results converge on one sensory pathway. Sakura's behavioral test and Zeller's anatomical tracing examine different levels of the same pathway. Sensory specialization thus connects to learned behavior.</a:t>
            </a:r>
            <a:endParaRPr sz="1800">
              <a:solidFill>
                <a:schemeClr val="dk1"/>
              </a:solidFill>
              <a:latin typeface="Calibri"/>
              <a:ea typeface="Calibri"/>
              <a:cs typeface="Calibri"/>
              <a:sym typeface="Calibri"/>
            </a:endParaRPr>
          </a:p>
        </p:txBody>
      </p:sp>
      <p:pic>
        <p:nvPicPr>
          <p:cNvPr id="289" name="Google Shape;289;p21"/>
          <p:cNvPicPr preferRelativeResize="0"/>
          <p:nvPr/>
        </p:nvPicPr>
        <p:blipFill rotWithShape="1">
          <a:blip r:embed="rId3">
            <a:alphaModFix/>
          </a:blip>
          <a:srcRect b="0" l="0" r="0" t="0"/>
          <a:stretch/>
        </p:blipFill>
        <p:spPr>
          <a:xfrm>
            <a:off x="6458496" y="1280071"/>
            <a:ext cx="3520330" cy="4232970"/>
          </a:xfrm>
          <a:prstGeom prst="rect">
            <a:avLst/>
          </a:prstGeom>
          <a:noFill/>
          <a:ln>
            <a:noFill/>
          </a:ln>
        </p:spPr>
      </p:pic>
      <p:sp>
        <p:nvSpPr>
          <p:cNvPr id="290" name="Google Shape;290;p21"/>
          <p:cNvSpPr/>
          <p:nvPr/>
        </p:nvSpPr>
        <p:spPr>
          <a:xfrm>
            <a:off x="6458396" y="5604570"/>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2a,b. Dorsal-rim occlusion and extradorsal-rim controls.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4">
            <a:alphaModFix/>
          </a:blip>
          <a:srcRect b="0" l="0" r="0" t="0"/>
          <a:stretch/>
        </p:blipFill>
        <p:spPr>
          <a:xfrm>
            <a:off x="10161836" y="2148796"/>
            <a:ext cx="1462980" cy="1396571"/>
          </a:xfrm>
          <a:prstGeom prst="rect">
            <a:avLst/>
          </a:prstGeom>
          <a:noFill/>
          <a:ln>
            <a:noFill/>
          </a:ln>
        </p:spPr>
      </p:pic>
      <p:sp>
        <p:nvSpPr>
          <p:cNvPr id="292" name="Google Shape;292;p21"/>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93" name="Google Shape;293;p2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 Zeller et al. (2015)</a:t>
            </a:r>
            <a:endParaRPr sz="1800">
              <a:solidFill>
                <a:schemeClr val="dk1"/>
              </a:solidFill>
              <a:latin typeface="Calibri"/>
              <a:ea typeface="Calibri"/>
              <a:cs typeface="Calibri"/>
              <a:sym typeface="Calibri"/>
            </a:endParaRPr>
          </a:p>
        </p:txBody>
      </p:sp>
      <p:sp>
        <p:nvSpPr>
          <p:cNvPr id="295" name="Google Shape;295;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Polarized illumination can label a learned flight route</a:t>
            </a:r>
            <a:endParaRPr sz="1800">
              <a:solidFill>
                <a:schemeClr val="dk1"/>
              </a:solidFill>
              <a:latin typeface="Calibri"/>
              <a:ea typeface="Calibri"/>
              <a:cs typeface="Calibri"/>
              <a:sym typeface="Calibri"/>
            </a:endParaRPr>
          </a:p>
        </p:txBody>
      </p:sp>
      <p:sp>
        <p:nvSpPr>
          <p:cNvPr id="301" name="Google Shape;301;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Kraft and colleagues trained bees in a four-tunnel maze with one entrance and three possible exits. Each tunnel measured 125 cm long, 11 cm wide and 18 cm high. Polarizing filters above the tunnels set the illumination parallel or perpendicular to the flight axis. The maze geometry stayed fixed across training and test, so only polarization changed.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rewarded exit carried the same relative polarization orientation as the entrance, while incorrect exits offered no reward. During tests, choices were recorded without reward. A diffuser blocked direct sight of the sun and obscured overhead landmarks. The reward structure therefore pairs the correct exit with its polarization orientation alone. Reward marks the correct orientation during training.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design asks whether a bee can associate a route with a fixed relationship between its body axis and the </a:t>
            </a:r>
            <a:r>
              <a:rPr b="1" i="0" lang="en-US" sz="1400">
                <a:solidFill>
                  <a:srgbClr val="3F5063"/>
                </a:solidFill>
                <a:latin typeface="Arial"/>
                <a:ea typeface="Arial"/>
                <a:cs typeface="Arial"/>
                <a:sym typeface="Arial"/>
              </a:rPr>
              <a:t>e-vector</a:t>
            </a:r>
            <a:r>
              <a:rPr b="0" i="0" lang="en-US" sz="1400">
                <a:solidFill>
                  <a:srgbClr val="252B32"/>
                </a:solidFill>
                <a:latin typeface="Arial"/>
                <a:ea typeface="Arial"/>
                <a:cs typeface="Arial"/>
                <a:sym typeface="Arial"/>
              </a:rPr>
              <a:t>. Moving the illumination among exits then tests polarization against a learned preference for turning or going straight. The learned association is local to the maze, with no geographic reference required here.</a:t>
            </a:r>
            <a:endParaRPr sz="1800">
              <a:solidFill>
                <a:schemeClr val="dk1"/>
              </a:solidFill>
              <a:latin typeface="Calibri"/>
              <a:ea typeface="Calibri"/>
              <a:cs typeface="Calibri"/>
              <a:sym typeface="Calibri"/>
            </a:endParaRPr>
          </a:p>
        </p:txBody>
      </p:sp>
      <p:pic>
        <p:nvPicPr>
          <p:cNvPr id="304" name="Google Shape;304;p22"/>
          <p:cNvPicPr preferRelativeResize="0"/>
          <p:nvPr/>
        </p:nvPicPr>
        <p:blipFill rotWithShape="1">
          <a:blip r:embed="rId3">
            <a:alphaModFix/>
          </a:blip>
          <a:srcRect b="0" l="0" r="0" t="0"/>
          <a:stretch/>
        </p:blipFill>
        <p:spPr>
          <a:xfrm>
            <a:off x="6458555" y="1280071"/>
            <a:ext cx="5166102" cy="2132112"/>
          </a:xfrm>
          <a:prstGeom prst="rect">
            <a:avLst/>
          </a:prstGeom>
          <a:noFill/>
          <a:ln>
            <a:noFill/>
          </a:ln>
        </p:spPr>
      </p:pic>
      <p:sp>
        <p:nvSpPr>
          <p:cNvPr id="305" name="Google Shape;305;p22"/>
          <p:cNvSpPr/>
          <p:nvPr/>
        </p:nvSpPr>
        <p:spPr>
          <a:xfrm>
            <a:off x="6458396" y="35037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1. Four-tunnel polarized-light maze.</a:t>
            </a:r>
            <a:endParaRPr sz="1800">
              <a:solidFill>
                <a:schemeClr val="dk1"/>
              </a:solidFill>
              <a:latin typeface="Calibri"/>
              <a:ea typeface="Calibri"/>
              <a:cs typeface="Calibri"/>
              <a:sym typeface="Calibri"/>
            </a:endParaRPr>
          </a:p>
        </p:txBody>
      </p:sp>
      <p:sp>
        <p:nvSpPr>
          <p:cNvPr id="306" name="Google Shape;306;p2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08" name="Google Shape;308;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Route choices combine polarization with learned turns</a:t>
            </a:r>
            <a:endParaRPr sz="1800">
              <a:solidFill>
                <a:schemeClr val="dk1"/>
              </a:solidFill>
              <a:latin typeface="Calibri"/>
              <a:ea typeface="Calibri"/>
              <a:cs typeface="Calibri"/>
              <a:sym typeface="Calibri"/>
            </a:endParaRPr>
          </a:p>
        </p:txBody>
      </p:sp>
      <p:sp>
        <p:nvSpPr>
          <p:cNvPr id="314" name="Google Shape;314;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Kraft and colleagues' straight-ahead training condition, bees chose the rewarded tunnel on 67% of tests with the original illumination. Moving the rewarded polarization to the left exit raised left choices from 15% to 28%, while straight-ahead choices held at 51%. The rewarded tunnel was the one aligned with the entrance's polarization, as before.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the right-turn training condition, bees chose the rewarded right exit on 74% of tests. After its polarization moved to the straight-ahead exit, straight-ahead choices reached 56%. A random choice among three exits would yield about 33%. A 33% level marks chance, so the 74% and 56% choices both sit above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cue relocation changed behavior, yet its effect varied with training. </a:t>
            </a:r>
            <a:r>
              <a:rPr b="1" i="0" lang="en-US" sz="1400">
                <a:solidFill>
                  <a:srgbClr val="3F5063"/>
                </a:solidFill>
                <a:latin typeface="Arial"/>
                <a:ea typeface="Arial"/>
                <a:cs typeface="Arial"/>
                <a:sym typeface="Arial"/>
              </a:rPr>
              <a:t>Polarization</a:t>
            </a:r>
            <a:r>
              <a:rPr b="0" i="0" lang="en-US" sz="1400">
                <a:solidFill>
                  <a:srgbClr val="252B32"/>
                </a:solidFill>
                <a:latin typeface="Arial"/>
                <a:ea typeface="Arial"/>
                <a:cs typeface="Arial"/>
                <a:sym typeface="Arial"/>
              </a:rPr>
              <a:t> and </a:t>
            </a:r>
            <a:r>
              <a:rPr b="1" i="0" lang="en-US" sz="1400">
                <a:solidFill>
                  <a:srgbClr val="3F5063"/>
                </a:solidFill>
                <a:latin typeface="Arial"/>
                <a:ea typeface="Arial"/>
                <a:cs typeface="Arial"/>
                <a:sym typeface="Arial"/>
              </a:rPr>
              <a:t>motor-route memory</a:t>
            </a:r>
            <a:r>
              <a:rPr b="0" i="0" lang="en-US" sz="1400">
                <a:solidFill>
                  <a:srgbClr val="252B32"/>
                </a:solidFill>
                <a:latin typeface="Arial"/>
                <a:ea typeface="Arial"/>
                <a:cs typeface="Arial"/>
                <a:sym typeface="Arial"/>
              </a:rPr>
              <a:t> can both shape choice. The results show learned use of relative e-vector information, which contributes to route decisions alongside turning habits. Both learned turns and e-vector cues therefore feed into each choice, and the balance between them varies.</a:t>
            </a:r>
            <a:endParaRPr sz="1800">
              <a:solidFill>
                <a:schemeClr val="dk1"/>
              </a:solidFill>
              <a:latin typeface="Calibri"/>
              <a:ea typeface="Calibri"/>
              <a:cs typeface="Calibri"/>
              <a:sym typeface="Calibri"/>
            </a:endParaRPr>
          </a:p>
        </p:txBody>
      </p:sp>
      <p:pic>
        <p:nvPicPr>
          <p:cNvPr id="317" name="Google Shape;317;p23"/>
          <p:cNvPicPr preferRelativeResize="0"/>
          <p:nvPr/>
        </p:nvPicPr>
        <p:blipFill rotWithShape="1">
          <a:blip r:embed="rId3">
            <a:alphaModFix/>
          </a:blip>
          <a:srcRect b="0" l="0" r="0" t="0"/>
          <a:stretch/>
        </p:blipFill>
        <p:spPr>
          <a:xfrm>
            <a:off x="6458525" y="1280071"/>
            <a:ext cx="5166162" cy="2813745"/>
          </a:xfrm>
          <a:prstGeom prst="rect">
            <a:avLst/>
          </a:prstGeom>
          <a:noFill/>
          <a:ln>
            <a:noFill/>
          </a:ln>
        </p:spPr>
      </p:pic>
      <p:sp>
        <p:nvSpPr>
          <p:cNvPr id="318" name="Google Shape;318;p23"/>
          <p:cNvSpPr/>
          <p:nvPr/>
        </p:nvSpPr>
        <p:spPr>
          <a:xfrm>
            <a:off x="6458396" y="418534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Kraft et al. (2011), Fig. 3a,b. Choices after relocating the rewarded polarization.</a:t>
            </a:r>
            <a:endParaRPr sz="1800">
              <a:solidFill>
                <a:schemeClr val="dk1"/>
              </a:solidFill>
              <a:latin typeface="Calibri"/>
              <a:ea typeface="Calibri"/>
              <a:cs typeface="Calibri"/>
              <a:sym typeface="Calibri"/>
            </a:endParaRPr>
          </a:p>
        </p:txBody>
      </p:sp>
      <p:sp>
        <p:nvSpPr>
          <p:cNvPr id="319" name="Google Shape;319;p2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Kraft et al. (2011)</a:t>
            </a:r>
            <a:endParaRPr sz="1800">
              <a:solidFill>
                <a:schemeClr val="dk1"/>
              </a:solidFill>
              <a:latin typeface="Calibri"/>
              <a:ea typeface="Calibri"/>
              <a:cs typeface="Calibri"/>
              <a:sym typeface="Calibri"/>
            </a:endParaRPr>
          </a:p>
        </p:txBody>
      </p:sp>
      <p:sp>
        <p:nvSpPr>
          <p:cNvPr id="321" name="Google Shape;32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orientation changes the direction danced</a:t>
            </a:r>
            <a:endParaRPr sz="1800">
              <a:solidFill>
                <a:schemeClr val="dk1"/>
              </a:solidFill>
              <a:latin typeface="Calibri"/>
              <a:ea typeface="Calibri"/>
              <a:cs typeface="Calibri"/>
              <a:sym typeface="Calibri"/>
            </a:endParaRPr>
          </a:p>
        </p:txBody>
      </p:sp>
      <p:sp>
        <p:nvSpPr>
          <p:cNvPr id="327" name="Google Shape;327;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Evangelista and colleagues trained bees through a 12 m textured tunnel covered by ultraviolet-transmitting polarizers and a diffuser. The diffuser removed direct sight of the sun and overhead landmarks, so the artificial polarization pattern served as the celestial cue. The tunnel was textured, so forward flight generated image motion along its walls.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With transverse polarization, waggle runs clustered along a vertical axis on the comb. With axial polarization, they clustered along a horizontal axis. The mean axes were about 91.7° and 1.3° relative to horizontal, respectively. Each axis was measured from the waggle runs in the dance comb. Vertical and horizontal orientations reflect the polarization axes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single e-vector has a </a:t>
            </a:r>
            <a:r>
              <a:rPr b="1" i="0" lang="en-US" sz="1400">
                <a:solidFill>
                  <a:srgbClr val="3F5063"/>
                </a:solidFill>
                <a:latin typeface="Arial"/>
                <a:ea typeface="Arial"/>
                <a:cs typeface="Arial"/>
                <a:sym typeface="Arial"/>
              </a:rPr>
              <a:t>180° ambiguity</a:t>
            </a:r>
            <a:r>
              <a:rPr b="0" i="0" lang="en-US" sz="1400">
                <a:solidFill>
                  <a:srgbClr val="252B32"/>
                </a:solidFill>
                <a:latin typeface="Arial"/>
                <a:ea typeface="Arial"/>
                <a:cs typeface="Arial"/>
                <a:sym typeface="Arial"/>
              </a:rPr>
              <a:t>, so the same axis represents opposite travel directions. Bees advertised both alternatives instead of a unique direction. The experiment links polarized flight input to the communicated direction, while showing that an axis of possible headings differs from a fully sun-referenced bearing. The result is an axis of headings, not a single bearing.</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3">
            <a:alphaModFix/>
          </a:blip>
          <a:srcRect b="0" l="0" r="0" t="0"/>
          <a:stretch/>
        </p:blipFill>
        <p:spPr>
          <a:xfrm>
            <a:off x="8256592" y="1280071"/>
            <a:ext cx="1570178" cy="2148780"/>
          </a:xfrm>
          <a:prstGeom prst="rect">
            <a:avLst/>
          </a:prstGeom>
          <a:noFill/>
          <a:ln>
            <a:noFill/>
          </a:ln>
        </p:spPr>
      </p:pic>
      <p:pic>
        <p:nvPicPr>
          <p:cNvPr id="332" name="Google Shape;332;p24"/>
          <p:cNvPicPr preferRelativeResize="0"/>
          <p:nvPr/>
        </p:nvPicPr>
        <p:blipFill rotWithShape="1">
          <a:blip r:embed="rId4">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0" name="Shape 340"/>
        <p:cNvGrpSpPr/>
        <p:nvPr/>
      </p:nvGrpSpPr>
      <p:grpSpPr>
        <a:xfrm>
          <a:off x="0" y="0"/>
          <a:ext cx="0" cy="0"/>
          <a:chOff x="0" y="0"/>
          <a:chExt cx="0" cy="0"/>
        </a:xfrm>
      </p:grpSpPr>
      <p:sp>
        <p:nvSpPr>
          <p:cNvPr id="341" name="Google Shape;34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 polarization switch changes the communicated journey</a:t>
            </a:r>
            <a:endParaRPr sz="1800">
              <a:solidFill>
                <a:schemeClr val="dk1"/>
              </a:solidFill>
              <a:latin typeface="Calibri"/>
              <a:ea typeface="Calibri"/>
              <a:cs typeface="Calibri"/>
              <a:sym typeface="Calibri"/>
            </a:endParaRPr>
          </a:p>
        </p:txBody>
      </p:sp>
      <p:sp>
        <p:nvSpPr>
          <p:cNvPr id="342" name="Google Shape;342;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Evangelista and colleagues also changed the polarization axis halfway along the tunnel. The first 6 m and the second 6 m carried perpendicular e-vector orientations, although the tunnel itself stayed straight. The switch occurred at a single point along the tunnel, halfway through the flight. Bees experienced both segments in one continuous flight.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After the two-segment journey, bees advertised diagonal directions consistent with interpreting a turn between the segments. Their mean waggle duration was shorter than after a tunnel with one uniform polarization axis. The authors linked this reduced </a:t>
            </a:r>
            <a:r>
              <a:rPr b="1" i="0" lang="en-US" sz="1400">
                <a:solidFill>
                  <a:srgbClr val="3F5063"/>
                </a:solidFill>
                <a:latin typeface="Arial"/>
                <a:ea typeface="Arial"/>
                <a:cs typeface="Arial"/>
                <a:sym typeface="Arial"/>
              </a:rPr>
              <a:t>distance signal</a:t>
            </a:r>
            <a:r>
              <a:rPr b="0" i="0" lang="en-US" sz="1400">
                <a:solidFill>
                  <a:srgbClr val="252B32"/>
                </a:solidFill>
                <a:latin typeface="Arial"/>
                <a:ea typeface="Arial"/>
                <a:cs typeface="Arial"/>
                <a:sym typeface="Arial"/>
              </a:rPr>
              <a:t> to an inferred two-leg displacement. The dance thus advertised a path that the uniform tunnel did not.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intervention alters the sensory compass instruction without inserting an actual corner. It supports combining directional input with a distance estimate when the dance is generated. The inferred trajectory relies on ambiguity in the artificial sky cue, and the neural accumulation of vector information remains unmeasured. Duration signals were shorter than in the uniform-axis control.</a:t>
            </a:r>
            <a:endParaRPr sz="1800">
              <a:solidFill>
                <a:schemeClr val="dk1"/>
              </a:solidFill>
              <a:latin typeface="Calibri"/>
              <a:ea typeface="Calibri"/>
              <a:cs typeface="Calibri"/>
              <a:sym typeface="Calibri"/>
            </a:endParaRPr>
          </a:p>
        </p:txBody>
      </p:sp>
      <p:pic>
        <p:nvPicPr>
          <p:cNvPr id="345" name="Google Shape;345;p25"/>
          <p:cNvPicPr preferRelativeResize="0"/>
          <p:nvPr/>
        </p:nvPicPr>
        <p:blipFill rotWithShape="1">
          <a:blip r:embed="rId3">
            <a:alphaModFix/>
          </a:blip>
          <a:srcRect b="0" l="0" r="0" t="0"/>
          <a:stretch/>
        </p:blipFill>
        <p:spPr>
          <a:xfrm>
            <a:off x="6458442" y="1280071"/>
            <a:ext cx="5166328" cy="3647480"/>
          </a:xfrm>
          <a:prstGeom prst="rect">
            <a:avLst/>
          </a:prstGeom>
          <a:noFill/>
          <a:ln>
            <a:noFill/>
          </a:ln>
        </p:spPr>
      </p:pic>
      <p:sp>
        <p:nvSpPr>
          <p:cNvPr id="346" name="Google Shape;346;p25"/>
          <p:cNvSpPr/>
          <p:nvPr/>
        </p:nvSpPr>
        <p:spPr>
          <a:xfrm>
            <a:off x="6458396" y="50190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8. Distance signals after switching polarization mid-route.</a:t>
            </a:r>
            <a:endParaRPr sz="1800">
              <a:solidFill>
                <a:schemeClr val="dk1"/>
              </a:solidFill>
              <a:latin typeface="Calibri"/>
              <a:ea typeface="Calibri"/>
              <a:cs typeface="Calibri"/>
              <a:sym typeface="Calibri"/>
            </a:endParaRPr>
          </a:p>
        </p:txBody>
      </p:sp>
      <p:sp>
        <p:nvSpPr>
          <p:cNvPr id="347" name="Google Shape;347;p2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49" name="Google Shape;34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sp>
        <p:nvSpPr>
          <p:cNvPr id="354" name="Google Shape;35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Partial solar experience supports a coarse compass</a:t>
            </a:r>
            <a:endParaRPr sz="1800">
              <a:solidFill>
                <a:schemeClr val="dk1"/>
              </a:solidFill>
              <a:latin typeface="Calibri"/>
              <a:ea typeface="Calibri"/>
              <a:cs typeface="Calibri"/>
              <a:sym typeface="Calibri"/>
            </a:endParaRPr>
          </a:p>
        </p:txBody>
      </p:sp>
      <p:sp>
        <p:nvSpPr>
          <p:cNvPr id="355" name="Google Shape;355;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1" i="0" lang="en-US" sz="1400">
                <a:solidFill>
                  <a:srgbClr val="3F5063"/>
                </a:solidFill>
                <a:latin typeface="Arial"/>
                <a:ea typeface="Arial"/>
                <a:cs typeface="Arial"/>
                <a:sym typeface="Arial"/>
              </a:rPr>
              <a:t>Solar azimuth</a:t>
            </a:r>
            <a:r>
              <a:rPr b="0" i="0" lang="en-US" sz="1400">
                <a:solidFill>
                  <a:srgbClr val="252B32"/>
                </a:solidFill>
                <a:latin typeface="Arial"/>
                <a:ea typeface="Arial"/>
                <a:cs typeface="Arial"/>
                <a:sym typeface="Arial"/>
              </a:rPr>
              <a:t> is the sun's horizontal bearing, and an ephemeris describes how that position changes over the day. Dyer and Dickinson reared bees in an incubator and restricted their outdoor flights to late afternoon. The sun moves across the sky in a predictable daily path, which bees must track. This course changes with the time of year.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On a cloudy test day, these bees flew for the first time during morning and early afternoon. Their dances indicated a morning solar estimate about 180° from the evening azimuth they had experienced. Around local noon, they switched toward the familiar evening direction. These bees had never flown in the morning before this test.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The bees supplied an approximate morning reference without having directly experienced that part of the sun's course. The step-like pattern reflects a general expectation of daily solar movement, refined by experience. It differs from exact memorization of every hourly sun position. Partial experience was enough to produce an approximate solar reference here.</a:t>
            </a:r>
            <a:endParaRPr sz="1800">
              <a:solidFill>
                <a:schemeClr val="dk1"/>
              </a:solidFill>
              <a:latin typeface="Calibri"/>
              <a:ea typeface="Calibri"/>
              <a:cs typeface="Calibri"/>
              <a:sym typeface="Calibri"/>
            </a:endParaRPr>
          </a:p>
        </p:txBody>
      </p:sp>
      <p:pic>
        <p:nvPicPr>
          <p:cNvPr id="358" name="Google Shape;358;p26"/>
          <p:cNvPicPr preferRelativeResize="0"/>
          <p:nvPr/>
        </p:nvPicPr>
        <p:blipFill rotWithShape="1">
          <a:blip r:embed="rId3">
            <a:alphaModFix/>
          </a:blip>
          <a:srcRect b="0" l="0" r="0" t="0"/>
          <a:stretch/>
        </p:blipFill>
        <p:spPr>
          <a:xfrm>
            <a:off x="6532888" y="1280071"/>
            <a:ext cx="5017735" cy="4297561"/>
          </a:xfrm>
          <a:prstGeom prst="rect">
            <a:avLst/>
          </a:prstGeom>
          <a:noFill/>
          <a:ln>
            <a:noFill/>
          </a:ln>
        </p:spPr>
      </p:pic>
      <p:sp>
        <p:nvSpPr>
          <p:cNvPr id="359" name="Google Shape;359;p26"/>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2A. Solar estimates after afternoon-only experience.</a:t>
            </a:r>
            <a:endParaRPr sz="1800">
              <a:solidFill>
                <a:schemeClr val="dk1"/>
              </a:solidFill>
              <a:latin typeface="Calibri"/>
              <a:ea typeface="Calibri"/>
              <a:cs typeface="Calibri"/>
              <a:sym typeface="Calibri"/>
            </a:endParaRPr>
          </a:p>
        </p:txBody>
      </p:sp>
      <p:sp>
        <p:nvSpPr>
          <p:cNvPr id="360" name="Google Shape;360;p2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62" name="Google Shape;36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6" name="Shape 366"/>
        <p:cNvGrpSpPr/>
        <p:nvPr/>
      </p:nvGrpSpPr>
      <p:grpSpPr>
        <a:xfrm>
          <a:off x="0" y="0"/>
          <a:ext cx="0" cy="0"/>
          <a:chOff x="0" y="0"/>
          <a:chExt cx="0" cy="0"/>
        </a:xfrm>
      </p:grpSpPr>
      <p:sp>
        <p:nvSpPr>
          <p:cNvPr id="367" name="Google Shape;36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Full-day experience refines the learned solar course</a:t>
            </a:r>
            <a:endParaRPr sz="1800">
              <a:solidFill>
                <a:schemeClr val="dk1"/>
              </a:solidFill>
              <a:latin typeface="Calibri"/>
              <a:ea typeface="Calibri"/>
              <a:cs typeface="Calibri"/>
              <a:sym typeface="Calibri"/>
            </a:endParaRPr>
          </a:p>
        </p:txBody>
      </p:sp>
      <p:sp>
        <p:nvSpPr>
          <p:cNvPr id="368" name="Google Shape;368;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Dyer and Dickinson compared experience-restricted bees with bees that had flown throughout the day earlier. Both groups were tested under cloudy skies, when direct sight of the sun was unavailable, so current visual access to the sun could not explain their different dance orientations. Their dances were nevertheless oriented differently by training history.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Fully experienced bees' solar estimates followed the continuously changing local sun course closely. Bees with afternoon-only experience instead used the coarse morning-afternoon pattern. The contrast shows a broad expectation about solar movement refined into a precise </a:t>
            </a:r>
            <a:r>
              <a:rPr b="1" i="0" lang="en-US" sz="1400">
                <a:solidFill>
                  <a:srgbClr val="3F5063"/>
                </a:solidFill>
                <a:latin typeface="Arial"/>
                <a:ea typeface="Arial"/>
                <a:cs typeface="Arial"/>
                <a:sym typeface="Arial"/>
              </a:rPr>
              <a:t>local calibration</a:t>
            </a:r>
            <a:r>
              <a:rPr b="0" i="0" lang="en-US" sz="1400">
                <a:solidFill>
                  <a:srgbClr val="252B32"/>
                </a:solidFill>
                <a:latin typeface="Arial"/>
                <a:ea typeface="Arial"/>
                <a:cs typeface="Arial"/>
                <a:sym typeface="Arial"/>
              </a:rPr>
              <a:t>. The full-day bees tracked the sun as it moved through the day and afternoon.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sun's horizontal bearing changes at a variable rate with time, latitude and season, so a universal constant angular-rate correction is inadequate. Experience improves the </a:t>
            </a:r>
            <a:r>
              <a:rPr b="1" i="0" lang="en-US" sz="1400">
                <a:solidFill>
                  <a:srgbClr val="3F5063"/>
                </a:solidFill>
                <a:latin typeface="Arial"/>
                <a:ea typeface="Arial"/>
                <a:cs typeface="Arial"/>
                <a:sym typeface="Arial"/>
              </a:rPr>
              <a:t>temporal reference</a:t>
            </a:r>
            <a:r>
              <a:rPr b="0" i="0" lang="en-US" sz="1400">
                <a:solidFill>
                  <a:srgbClr val="252B32"/>
                </a:solidFill>
                <a:latin typeface="Arial"/>
                <a:ea typeface="Arial"/>
                <a:cs typeface="Arial"/>
                <a:sym typeface="Arial"/>
              </a:rPr>
              <a:t> used for navigation, which makes the calibration learned rather than fixed. Calibration is therefore learned from experience and not built into the dance itself, according to these measurements.</a:t>
            </a:r>
            <a:endParaRPr sz="1800">
              <a:solidFill>
                <a:schemeClr val="dk1"/>
              </a:solidFill>
              <a:latin typeface="Calibri"/>
              <a:ea typeface="Calibri"/>
              <a:cs typeface="Calibri"/>
              <a:sym typeface="Calibri"/>
            </a:endParaRPr>
          </a:p>
        </p:txBody>
      </p:sp>
      <p:pic>
        <p:nvPicPr>
          <p:cNvPr id="371" name="Google Shape;371;p27"/>
          <p:cNvPicPr preferRelativeResize="0"/>
          <p:nvPr/>
        </p:nvPicPr>
        <p:blipFill rotWithShape="1">
          <a:blip r:embed="rId3">
            <a:alphaModFix/>
          </a:blip>
          <a:srcRect b="0" l="0" r="0" t="0"/>
          <a:stretch/>
        </p:blipFill>
        <p:spPr>
          <a:xfrm>
            <a:off x="6488592" y="1280071"/>
            <a:ext cx="5106327" cy="4297561"/>
          </a:xfrm>
          <a:prstGeom prst="rect">
            <a:avLst/>
          </a:prstGeom>
          <a:noFill/>
          <a:ln>
            <a:noFill/>
          </a:ln>
        </p:spPr>
      </p:pic>
      <p:sp>
        <p:nvSpPr>
          <p:cNvPr id="372" name="Google Shape;372;p2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2B. Experienced bees track the sun under cloud cover.</a:t>
            </a:r>
            <a:endParaRPr sz="1800">
              <a:solidFill>
                <a:schemeClr val="dk1"/>
              </a:solidFill>
              <a:latin typeface="Calibri"/>
              <a:ea typeface="Calibri"/>
              <a:cs typeface="Calibri"/>
              <a:sym typeface="Calibri"/>
            </a:endParaRPr>
          </a:p>
        </p:txBody>
      </p:sp>
      <p:sp>
        <p:nvSpPr>
          <p:cNvPr id="373" name="Google Shape;373;p2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75" name="Google Shape;37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9" name="Shape 379"/>
        <p:cNvGrpSpPr/>
        <p:nvPr/>
      </p:nvGrpSpPr>
      <p:grpSpPr>
        <a:xfrm>
          <a:off x="0" y="0"/>
          <a:ext cx="0" cy="0"/>
          <a:chOff x="0" y="0"/>
          <a:chExt cx="0" cy="0"/>
        </a:xfrm>
      </p:grpSpPr>
      <p:sp>
        <p:nvSpPr>
          <p:cNvPr id="380" name="Google Shape;38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Clock disruption shifts sun-compass flight bearings</a:t>
            </a:r>
            <a:endParaRPr sz="1800">
              <a:solidFill>
                <a:schemeClr val="dk1"/>
              </a:solidFill>
              <a:latin typeface="Calibri"/>
              <a:ea typeface="Calibri"/>
              <a:cs typeface="Calibri"/>
              <a:sym typeface="Calibri"/>
            </a:endParaRPr>
          </a:p>
        </p:txBody>
      </p:sp>
      <p:sp>
        <p:nvSpPr>
          <p:cNvPr id="381" name="Google Shape;381;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a:t>
            </a:r>
            <a:r>
              <a:rPr b="1" i="0" lang="en-US" sz="1400">
                <a:solidFill>
                  <a:srgbClr val="3F5063"/>
                </a:solidFill>
                <a:latin typeface="Arial"/>
                <a:ea typeface="Arial"/>
                <a:cs typeface="Arial"/>
                <a:sym typeface="Arial"/>
              </a:rPr>
              <a:t>circadian clock</a:t>
            </a:r>
            <a:r>
              <a:rPr b="0" i="0" lang="en-US" sz="1400">
                <a:solidFill>
                  <a:srgbClr val="252B32"/>
                </a:solidFill>
                <a:latin typeface="Arial"/>
                <a:ea typeface="Arial"/>
                <a:cs typeface="Arial"/>
                <a:sym typeface="Arial"/>
              </a:rPr>
              <a:t> is an internal timing system with an approximately daily cycle. Cheeseman and colleagues used 2% isoflurane anesthesia to perturb this timing system and then tested sun-compass homing. Internal timing matters for sun-compass navigation because the solar bearing changes through the day. The experiment compared six hours of anesthesia with a 30 min control.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the Southern Hemisphere, bees trained to a feeder 100 m from the hive were transported 6 km into unfamiliar terrain. Six hours of anesthesia shifted the vanishing bearing about 87° anticlockwise relative to a 30 min anesthetic control. A vanishing bearing is the direction in which a departing bee leaves the observer's view.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time error predicts a directional error, because solar bearing depends on the time of day. The shifted orientation supports this relationship, although extended anesthesia can also affect general performance. A short-anesthetic control and independent clock measurements help tell a timing disturbance apart from nonspecific drug effects. The control group received thirty minutes of anesthesia.</a:t>
            </a:r>
            <a:endParaRPr sz="1800">
              <a:solidFill>
                <a:schemeClr val="dk1"/>
              </a:solidFill>
              <a:latin typeface="Calibri"/>
              <a:ea typeface="Calibri"/>
              <a:cs typeface="Calibri"/>
              <a:sym typeface="Calibri"/>
            </a:endParaRPr>
          </a:p>
        </p:txBody>
      </p:sp>
      <p:pic>
        <p:nvPicPr>
          <p:cNvPr id="384" name="Google Shape;384;p28"/>
          <p:cNvPicPr preferRelativeResize="0"/>
          <p:nvPr/>
        </p:nvPicPr>
        <p:blipFill rotWithShape="1">
          <a:blip r:embed="rId3">
            <a:alphaModFix/>
          </a:blip>
          <a:srcRect b="0" l="0" r="0" t="0"/>
          <a:stretch/>
        </p:blipFill>
        <p:spPr>
          <a:xfrm>
            <a:off x="6458477" y="1280071"/>
            <a:ext cx="5166259" cy="3878312"/>
          </a:xfrm>
          <a:prstGeom prst="rect">
            <a:avLst/>
          </a:prstGeom>
          <a:noFill/>
          <a:ln>
            <a:noFill/>
          </a:ln>
        </p:spPr>
      </p:pic>
      <p:sp>
        <p:nvSpPr>
          <p:cNvPr id="385" name="Google Shape;385;p28"/>
          <p:cNvSpPr/>
          <p:nvPr/>
        </p:nvSpPr>
        <p:spPr>
          <a:xfrm>
            <a:off x="6458396" y="524991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1. Anesthesia shifts Southern Hemisphere bearings.</a:t>
            </a:r>
            <a:endParaRPr sz="1800">
              <a:solidFill>
                <a:schemeClr val="dk1"/>
              </a:solidFill>
              <a:latin typeface="Calibri"/>
              <a:ea typeface="Calibri"/>
              <a:cs typeface="Calibri"/>
              <a:sym typeface="Calibri"/>
            </a:endParaRPr>
          </a:p>
        </p:txBody>
      </p:sp>
      <p:sp>
        <p:nvSpPr>
          <p:cNvPr id="386" name="Google Shape;386;p2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388" name="Google Shape;388;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The opposite hemisphere reverses the directional error</a:t>
            </a:r>
            <a:endParaRPr sz="1800">
              <a:solidFill>
                <a:schemeClr val="dk1"/>
              </a:solidFill>
              <a:latin typeface="Calibri"/>
              <a:ea typeface="Calibri"/>
              <a:cs typeface="Calibri"/>
              <a:sym typeface="Calibri"/>
            </a:endParaRPr>
          </a:p>
        </p:txBody>
      </p:sp>
      <p:sp>
        <p:nvSpPr>
          <p:cNvPr id="394" name="Google Shape;394;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Cheeseman and colleagues repeated the navigation test in the Northern Hemisphere using harmonic radar. Bees trained to a feeder 300 m from the hive were displaced 500 m before release, allowing the initial homeward vector flight to be distinguished from later correction. Harmonic radar tracked the bees after their release from displacement.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Six hours of anesthesia shifted the initial vector about 58° clockwise relative to the 30 min control. Unanesthetized catch-and-release bees provided another handling comparison. The </a:t>
            </a:r>
            <a:r>
              <a:rPr b="1" i="0" lang="en-US" sz="1400">
                <a:solidFill>
                  <a:srgbClr val="3F5063"/>
                </a:solidFill>
                <a:latin typeface="Arial"/>
                <a:ea typeface="Arial"/>
                <a:cs typeface="Arial"/>
                <a:sym typeface="Arial"/>
              </a:rPr>
              <a:t>error direction</a:t>
            </a:r>
            <a:r>
              <a:rPr b="0" i="0" lang="en-US" sz="1400">
                <a:solidFill>
                  <a:srgbClr val="252B32"/>
                </a:solidFill>
                <a:latin typeface="Arial"/>
                <a:ea typeface="Arial"/>
                <a:cs typeface="Arial"/>
                <a:sym typeface="Arial"/>
              </a:rPr>
              <a:t> ran opposite to the Southern Hemisphere result, as expected from the different solar course. The 500 m displacement was larger than the initial feeder distance.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hemisphere pattern ties the behavioral error to </a:t>
            </a:r>
            <a:r>
              <a:rPr b="1" i="0" lang="en-US" sz="1400">
                <a:solidFill>
                  <a:srgbClr val="3F5063"/>
                </a:solidFill>
                <a:latin typeface="Arial"/>
                <a:ea typeface="Arial"/>
                <a:cs typeface="Arial"/>
                <a:sym typeface="Arial"/>
              </a:rPr>
              <a:t>sun-compass timing</a:t>
            </a:r>
            <a:r>
              <a:rPr b="0" i="0" lang="en-US" sz="1400">
                <a:solidFill>
                  <a:srgbClr val="252B32"/>
                </a:solidFill>
                <a:latin typeface="Arial"/>
                <a:ea typeface="Arial"/>
                <a:cs typeface="Arial"/>
                <a:sym typeface="Arial"/>
              </a:rPr>
              <a:t> instead of a fixed tendency to turn left or right after treatment. Individual variation and possible secondary cues exist. The trajectory shows an altered initial compass instruction, while its neural basis lies outside these tracks. Those tracks show where each flight deviated from the homeward course.</a:t>
            </a:r>
            <a:endParaRPr sz="1800">
              <a:solidFill>
                <a:schemeClr val="dk1"/>
              </a:solidFill>
              <a:latin typeface="Calibri"/>
              <a:ea typeface="Calibri"/>
              <a:cs typeface="Calibri"/>
              <a:sym typeface="Calibri"/>
            </a:endParaRPr>
          </a:p>
        </p:txBody>
      </p:sp>
      <p:pic>
        <p:nvPicPr>
          <p:cNvPr id="397" name="Google Shape;397;p29"/>
          <p:cNvPicPr preferRelativeResize="0"/>
          <p:nvPr/>
        </p:nvPicPr>
        <p:blipFill rotWithShape="1">
          <a:blip r:embed="rId3">
            <a:alphaModFix/>
          </a:blip>
          <a:srcRect b="0" l="0" r="0" t="0"/>
          <a:stretch/>
        </p:blipFill>
        <p:spPr>
          <a:xfrm>
            <a:off x="6458480" y="1280071"/>
            <a:ext cx="5166252" cy="2928640"/>
          </a:xfrm>
          <a:prstGeom prst="rect">
            <a:avLst/>
          </a:prstGeom>
          <a:noFill/>
          <a:ln>
            <a:noFill/>
          </a:ln>
        </p:spPr>
      </p:pic>
      <p:sp>
        <p:nvSpPr>
          <p:cNvPr id="398" name="Google Shape;398;p29"/>
          <p:cNvSpPr/>
          <p:nvPr/>
        </p:nvSpPr>
        <p:spPr>
          <a:xfrm>
            <a:off x="6458396" y="430024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2A,B. Northern Hemisphere tracks after clock disruption.</a:t>
            </a:r>
            <a:endParaRPr sz="1800">
              <a:solidFill>
                <a:schemeClr val="dk1"/>
              </a:solidFill>
              <a:latin typeface="Calibri"/>
              <a:ea typeface="Calibri"/>
              <a:cs typeface="Calibri"/>
              <a:sym typeface="Calibri"/>
            </a:endParaRPr>
          </a:p>
        </p:txBody>
      </p:sp>
      <p:sp>
        <p:nvSpPr>
          <p:cNvPr id="399" name="Google Shape;399;p2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01" name="Google Shape;401;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Anesthesia changes molecular-clock phase</a:t>
            </a:r>
            <a:endParaRPr sz="1800">
              <a:solidFill>
                <a:schemeClr val="dk1"/>
              </a:solidFill>
              <a:latin typeface="Calibri"/>
              <a:ea typeface="Calibri"/>
              <a:cs typeface="Calibri"/>
              <a:sym typeface="Calibri"/>
            </a:endParaRPr>
          </a:p>
        </p:txBody>
      </p:sp>
      <p:sp>
        <p:nvSpPr>
          <p:cNvPr id="407" name="Google Shape;407;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Cheeseman and colleagues measured hive activity under constant dim light, which removes ordinary day-night transitions as the immediate cause of a shifted rhythm. Six hours of daytime anesthesia delayed daily activity and altered rhythmic gene expression in the sampled bee brains. The hive was monitored throughout the experiment under the same light.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reported phase delays were 4.9 h for mammalian-type cryptochrome </a:t>
            </a:r>
            <a:r>
              <a:rPr b="1" i="0" lang="en-US" sz="1400">
                <a:solidFill>
                  <a:srgbClr val="3F5063"/>
                </a:solidFill>
                <a:latin typeface="Arial"/>
                <a:ea typeface="Arial"/>
                <a:cs typeface="Arial"/>
                <a:sym typeface="Arial"/>
              </a:rPr>
              <a:t>messenger RNA</a:t>
            </a:r>
            <a:r>
              <a:rPr b="0" i="0" lang="en-US" sz="1400">
                <a:solidFill>
                  <a:srgbClr val="252B32"/>
                </a:solidFill>
                <a:latin typeface="Arial"/>
                <a:ea typeface="Arial"/>
                <a:cs typeface="Arial"/>
                <a:sym typeface="Arial"/>
              </a:rPr>
              <a:t> and 4.3 h for period messenger RNA. Messenger RNA is the transcript used to produce a gene's protein. The sampled hive's activity phase shifted by 5.3 h, while clock gene expression stayed broadly constant. The hive's shift was measured in hours.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Six hours of anesthesia during subjective night produced no comparable delay. This time-dependent effect points to disturbance of the circadian oscillator rather than a literal six-hour pause in all behavior. Whole-brain expression averages over many cells, which hides the cells that deliver time information to a compass pathway. Daytime and night anesthesia therefore produced different effects.</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7441183" y="1280071"/>
            <a:ext cx="3201294" cy="4297561"/>
          </a:xfrm>
          <a:prstGeom prst="rect">
            <a:avLst/>
          </a:prstGeom>
          <a:noFill/>
          <a:ln>
            <a:noFill/>
          </a:ln>
        </p:spPr>
      </p:pic>
      <p:sp>
        <p:nvSpPr>
          <p:cNvPr id="411" name="Google Shape;411;p3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4A–D. Activity rhythms and clock-gene expression.</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Dorsal-rim afferents reach a specialized medulla region</a:t>
            </a:r>
            <a:endParaRPr sz="1800">
              <a:solidFill>
                <a:schemeClr val="dk1"/>
              </a:solidFill>
              <a:latin typeface="Calibri"/>
              <a:ea typeface="Calibri"/>
              <a:cs typeface="Calibri"/>
              <a:sym typeface="Calibri"/>
            </a:endParaRPr>
          </a:p>
        </p:txBody>
      </p:sp>
      <p:sp>
        <p:nvSpPr>
          <p:cNvPr id="420" name="Google Shape;420;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Zeller and colleagues injected fluorescent tracers into the dorsal rim of the honeybee eye. The tracers labeled the surrounding neuropil, which is tissue with branches and synapses. The medulla is a visual region in the optic lobe. The labels clearly marked the pathway. Fluorescent labels are visible under the microscope.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Dorsal-rim input reached a distinct compartment in the dorsal medulla, called the MEDRA. Other injections and synapsin staining set this area apart from nearby medulla. Synapsin marks synapses, so it highlights dense connections. The micrographs keep the orientation and scale. The labels were used across several preparations. Scale bars are included.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This tracing identifies an entry pathway for polarization input. Anatomy shows connectivity, while the occlusion experiment tests behavior. The labeled compartment is an entry point for this input. Tracing shows where this input enters the optic lobe. Sakura's experiment addresses a different link between sensory specialization and behavior. Both lines of evidence matter.</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790797" y="1280071"/>
            <a:ext cx="4501916" cy="4297561"/>
          </a:xfrm>
          <a:prstGeom prst="rect">
            <a:avLst/>
          </a:prstGeom>
          <a:noFill/>
          <a:ln>
            <a:noFill/>
          </a:ln>
        </p:spPr>
      </p:pic>
      <p:sp>
        <p:nvSpPr>
          <p:cNvPr id="424" name="Google Shape;424;p31"/>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425" name="Google Shape;425;p3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 Sakura et al. (2012)</a:t>
            </a:r>
            <a:endParaRPr sz="1800">
              <a:solidFill>
                <a:schemeClr val="dk1"/>
              </a:solidFill>
              <a:latin typeface="Calibri"/>
              <a:ea typeface="Calibri"/>
              <a:cs typeface="Calibri"/>
              <a:sym typeface="Calibri"/>
            </a:endParaRPr>
          </a:p>
        </p:txBody>
      </p:sp>
      <p:sp>
        <p:nvSpPr>
          <p:cNvPr id="427" name="Google Shape;427;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Transmedulla neurons relay dorsal visual input medially</a:t>
            </a:r>
            <a:endParaRPr sz="1800">
              <a:solidFill>
                <a:schemeClr val="dk1"/>
              </a:solidFill>
              <a:latin typeface="Calibri"/>
              <a:ea typeface="Calibri"/>
              <a:cs typeface="Calibri"/>
              <a:sym typeface="Calibri"/>
            </a:endParaRPr>
          </a:p>
        </p:txBody>
      </p:sp>
      <p:sp>
        <p:nvSpPr>
          <p:cNvPr id="433" name="Google Shape;433;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Zeller and colleagues traced </a:t>
            </a:r>
            <a:r>
              <a:rPr b="1" i="0" lang="en-US" sz="1400">
                <a:solidFill>
                  <a:srgbClr val="3F5063"/>
                </a:solidFill>
                <a:latin typeface="Arial"/>
                <a:ea typeface="Arial"/>
                <a:cs typeface="Arial"/>
                <a:sym typeface="Arial"/>
              </a:rPr>
              <a:t>transmedulla neurons</a:t>
            </a:r>
            <a:r>
              <a:rPr b="0" i="0" lang="en-US" sz="1400">
                <a:solidFill>
                  <a:srgbClr val="252B32"/>
                </a:solidFill>
                <a:latin typeface="Arial"/>
                <a:ea typeface="Arial"/>
                <a:cs typeface="Arial"/>
                <a:sym typeface="Arial"/>
              </a:rPr>
              <a:t>, cells whose branches cross the medulla from the dorsal-rim-associated input compartment toward more medial brain regions. Dye injections at different sites gave complementary views of their branching pattern. Each traced cell is a single neuron with a distinct branching pattern. Their projections cross the medulla in a defined order.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These neurons arborized in the MEDRA and extended through a defined medulla layer. Their medial projections reached the lower unit complex of the anterior optic tubercle, a visual-processing center outside the optic lobe. Fine terminal morphology distinguished the plausible input and output parts of the pathway. These projections were traced from several dye injection sites.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ordered projection offers an anatomical route from specialized eye input toward central compass circuitry. Morphology supports this direction of information flow, while transmission is measured through physiology. The </a:t>
            </a:r>
            <a:r>
              <a:rPr b="1" i="0" lang="en-US" sz="1400">
                <a:solidFill>
                  <a:srgbClr val="3F5063"/>
                </a:solidFill>
                <a:latin typeface="Arial"/>
                <a:ea typeface="Arial"/>
                <a:cs typeface="Arial"/>
                <a:sym typeface="Arial"/>
              </a:rPr>
              <a:t>direction of flow</a:t>
            </a:r>
            <a:r>
              <a:rPr b="0" i="0" lang="en-US" sz="1400">
                <a:solidFill>
                  <a:srgbClr val="252B32"/>
                </a:solidFill>
                <a:latin typeface="Arial"/>
                <a:ea typeface="Arial"/>
                <a:cs typeface="Arial"/>
                <a:sym typeface="Arial"/>
              </a:rPr>
              <a:t> is therefore set by the arrangement of branches. The transmedulla route is one candidate for compass input. Its anatomy is measured here, not its signaling.</a:t>
            </a:r>
            <a:endParaRPr sz="1800">
              <a:solidFill>
                <a:schemeClr val="dk1"/>
              </a:solidFill>
              <a:latin typeface="Calibri"/>
              <a:ea typeface="Calibri"/>
              <a:cs typeface="Calibri"/>
              <a:sym typeface="Calibri"/>
            </a:endParaRPr>
          </a:p>
        </p:txBody>
      </p:sp>
      <p:pic>
        <p:nvPicPr>
          <p:cNvPr id="436" name="Google Shape;436;p32"/>
          <p:cNvPicPr preferRelativeResize="0"/>
          <p:nvPr/>
        </p:nvPicPr>
        <p:blipFill rotWithShape="1">
          <a:blip r:embed="rId3">
            <a:alphaModFix/>
          </a:blip>
          <a:srcRect b="0" l="0" r="0" t="0"/>
          <a:stretch/>
        </p:blipFill>
        <p:spPr>
          <a:xfrm>
            <a:off x="7770063" y="1280071"/>
            <a:ext cx="2543384" cy="2148780"/>
          </a:xfrm>
          <a:prstGeom prst="rect">
            <a:avLst/>
          </a:prstGeom>
          <a:noFill/>
          <a:ln>
            <a:noFill/>
          </a:ln>
        </p:spPr>
      </p:pic>
      <p:sp>
        <p:nvSpPr>
          <p:cNvPr id="437" name="Google Shape;437;p32"/>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2A–F. Transmedulla neuron branches and medial projections.</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4">
            <a:alphaModFix/>
          </a:blip>
          <a:srcRect b="0" l="0" r="0" t="0"/>
          <a:stretch/>
        </p:blipFill>
        <p:spPr>
          <a:xfrm>
            <a:off x="7989169" y="3977580"/>
            <a:ext cx="2105320" cy="1782961"/>
          </a:xfrm>
          <a:prstGeom prst="rect">
            <a:avLst/>
          </a:prstGeom>
          <a:noFill/>
          <a:ln>
            <a:noFill/>
          </a:ln>
        </p:spPr>
      </p:pic>
      <p:sp>
        <p:nvSpPr>
          <p:cNvPr id="439" name="Google Shape;439;p32"/>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3A–D. Projections to the lower anterior optic tubercle.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PDF-positive fibers are candidate timing inputs</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1" i="0" lang="en-US" sz="1400">
                <a:solidFill>
                  <a:srgbClr val="3F5063"/>
                </a:solidFill>
                <a:latin typeface="Arial"/>
                <a:ea typeface="Arial"/>
                <a:cs typeface="Arial"/>
                <a:sym typeface="Arial"/>
              </a:rPr>
              <a:t>Pigment-dispersing factor</a:t>
            </a:r>
            <a:r>
              <a:rPr b="0" i="0" lang="en-US" sz="1400">
                <a:solidFill>
                  <a:srgbClr val="252B32"/>
                </a:solidFill>
                <a:latin typeface="Arial"/>
                <a:ea typeface="Arial"/>
                <a:cs typeface="Arial"/>
                <a:sym typeface="Arial"/>
              </a:rPr>
              <a:t>, or PDF, is a neuropeptide associated with circadian signaling in insects. Zeller and colleagues combined PDF immunostaining with tracer labeling of transmedulla neurons to locate where potential timing input could meet the honeybee sky-compass pathway. The immunostaining targets PDF, and the tracers reveal the transmedulla neurons in the same preparation.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PDF-positive fibers occupied the same medulla layer as parts of the traced neurons. At higher magnification, labeled puncta lay in close proximity along their passage through the medulla. The two labels did not colocalize, and PDF labeling was absent from within the MEDRA itself. The labels were spatially distinct within the same layer.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The result identifies neighboring neuronal populations and a candidate site for modulation. Close proximity marks a candidate contact region, and circadian compass correction is the proposed role of that contact. PDF is a neuropeptide, so its presence marks a potential chemical signal between neighboring cells. The labeled fibers lie next to the transmedulla branches.</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Serotonin and GABA lie near compass-pathway branches</a:t>
            </a:r>
            <a:endParaRPr sz="1800">
              <a:solidFill>
                <a:schemeClr val="dk1"/>
              </a:solidFill>
              <a:latin typeface="Calibri"/>
              <a:ea typeface="Calibri"/>
              <a:cs typeface="Calibri"/>
              <a:sym typeface="Calibri"/>
            </a:endParaRPr>
          </a:p>
        </p:txBody>
      </p:sp>
      <p:sp>
        <p:nvSpPr>
          <p:cNvPr id="461" name="Google Shape;461;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Zeller and colleagues combined tracer labeling with antibodies against serotonin, a signaling molecule, and GABA, an inhibitory transmitter. GABA often provides inhibition, but its effect at a given connection depends on receptors and physiology. Both antibodies were applied to the same preparations, so the two labels can be compared directly.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Serotonin-positive puncta overlapped the dorsal part of the medulla layer but not the MEDRA. GABA-positive fibers lay near transmedulla branches along their whole length, including the MEDRA. In both preparations, tracer and transmitter labels also marked different cell groups. Serotonin and GABA therefore occupy different parts of the same layer.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These spatial relationships suggest candidate modulatory and local processing effects in the medulla. Serotonin could raise or lower excitability, depending on which receptor it acts through. Each contact is a candidate site for modulation. Receptor identity and synaptic direction determine what each interaction does. GABA signaling depends on the receptor it reaches.</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692422" y="1280071"/>
            <a:ext cx="4698667" cy="2148780"/>
          </a:xfrm>
          <a:prstGeom prst="rect">
            <a:avLst/>
          </a:prstGeom>
          <a:noFill/>
          <a:ln>
            <a:noFill/>
          </a:ln>
        </p:spPr>
      </p:pic>
      <p:sp>
        <p:nvSpPr>
          <p:cNvPr id="465" name="Google Shape;465;p34"/>
          <p:cNvSpPr/>
          <p:nvPr/>
        </p:nvSpPr>
        <p:spPr>
          <a:xfrm>
            <a:off x="6458396" y="352038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6A–C. Serotonin-positive fibers and transmedulla neurons.</a:t>
            </a:r>
            <a:endParaRPr sz="1800">
              <a:solidFill>
                <a:schemeClr val="dk1"/>
              </a:solidFill>
              <a:latin typeface="Calibri"/>
              <a:ea typeface="Calibri"/>
              <a:cs typeface="Calibri"/>
              <a:sym typeface="Calibri"/>
            </a:endParaRPr>
          </a:p>
        </p:txBody>
      </p:sp>
      <p:pic>
        <p:nvPicPr>
          <p:cNvPr id="466" name="Google Shape;466;p34"/>
          <p:cNvPicPr preferRelativeResize="0"/>
          <p:nvPr/>
        </p:nvPicPr>
        <p:blipFill rotWithShape="1">
          <a:blip r:embed="rId4">
            <a:alphaModFix/>
          </a:blip>
          <a:srcRect b="0" l="0" r="0" t="0"/>
          <a:stretch/>
        </p:blipFill>
        <p:spPr>
          <a:xfrm>
            <a:off x="6884516" y="3977580"/>
            <a:ext cx="4314181" cy="1782961"/>
          </a:xfrm>
          <a:prstGeom prst="rect">
            <a:avLst/>
          </a:prstGeom>
          <a:noFill/>
          <a:ln>
            <a:noFill/>
          </a:ln>
        </p:spPr>
      </p:pic>
      <p:sp>
        <p:nvSpPr>
          <p:cNvPr id="467" name="Google Shape;467;p3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7A–C. GABA-positive fibers near compass-pathway cells.</a:t>
            </a:r>
            <a:endParaRPr sz="1800">
              <a:solidFill>
                <a:schemeClr val="dk1"/>
              </a:solidFill>
              <a:latin typeface="Calibri"/>
              <a:ea typeface="Calibri"/>
              <a:cs typeface="Calibri"/>
              <a:sym typeface="Calibri"/>
            </a:endParaRPr>
          </a:p>
        </p:txBody>
      </p:sp>
      <p:sp>
        <p:nvSpPr>
          <p:cNvPr id="468" name="Google Shape;468;p3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70" name="Google Shape;47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4" name="Shape 474"/>
        <p:cNvGrpSpPr/>
        <p:nvPr/>
      </p:nvGrpSpPr>
      <p:grpSpPr>
        <a:xfrm>
          <a:off x="0" y="0"/>
          <a:ext cx="0" cy="0"/>
          <a:chOff x="0" y="0"/>
          <a:chExt cx="0" cy="0"/>
        </a:xfrm>
      </p:grpSpPr>
      <p:sp>
        <p:nvSpPr>
          <p:cNvPr id="475" name="Google Shape;47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Tubercle outputs reach bulbs and the central body</a:t>
            </a:r>
            <a:endParaRPr sz="1800">
              <a:solidFill>
                <a:schemeClr val="dk1"/>
              </a:solidFill>
              <a:latin typeface="Calibri"/>
              <a:ea typeface="Calibri"/>
              <a:cs typeface="Calibri"/>
              <a:sym typeface="Calibri"/>
            </a:endParaRPr>
          </a:p>
        </p:txBody>
      </p:sp>
      <p:sp>
        <p:nvSpPr>
          <p:cNvPr id="476" name="Google Shape;476;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Held and colleagues traced the honeybee sky-compass network using dye injections, neuropil labeling and single-cell preparations. </a:t>
            </a:r>
            <a:r>
              <a:rPr b="1" i="0" lang="en-US" sz="1400">
                <a:solidFill>
                  <a:srgbClr val="3F5063"/>
                </a:solidFill>
                <a:latin typeface="Arial"/>
                <a:ea typeface="Arial"/>
                <a:cs typeface="Arial"/>
                <a:sym typeface="Arial"/>
              </a:rPr>
              <a:t>TuLAL1 neurons</a:t>
            </a:r>
            <a:r>
              <a:rPr b="0" i="0" lang="en-US" sz="1400">
                <a:solidFill>
                  <a:srgbClr val="252B32"/>
                </a:solidFill>
                <a:latin typeface="Arial"/>
                <a:ea typeface="Arial"/>
                <a:cs typeface="Arial"/>
                <a:sym typeface="Arial"/>
              </a:rPr>
              <a:t> project from the anterior optic tubercle toward paired synaptic regions called the lateral and medial bulbs. Dye injections placed tracer in the tubercle, and the labels traced its outputs. Neuropil labels mark the bulbs as dense synaptic regions.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second class, </a:t>
            </a:r>
            <a:r>
              <a:rPr b="1" i="0" lang="en-US" sz="1400">
                <a:solidFill>
                  <a:srgbClr val="3F5063"/>
                </a:solidFill>
                <a:latin typeface="Arial"/>
                <a:ea typeface="Arial"/>
                <a:cs typeface="Arial"/>
                <a:sym typeface="Arial"/>
              </a:rPr>
              <a:t>TL neurons</a:t>
            </a:r>
            <a:r>
              <a:rPr b="0" i="0" lang="en-US" sz="1400">
                <a:solidFill>
                  <a:srgbClr val="252B32"/>
                </a:solidFill>
                <a:latin typeface="Arial"/>
                <a:ea typeface="Arial"/>
                <a:cs typeface="Arial"/>
                <a:sym typeface="Arial"/>
              </a:rPr>
              <a:t>, connects these bulbs with the lower division of the central body, part of the central complex. The labeled branches establish two parallel anatomical routes from tubercle outputs toward central-brain circuitry associated with directional processing. Each route carries information from the anterior optic tubercle to the central body.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bulbs form a defined interface rather than an undifferentiated relay. The labeled projections describe anatomy, and physiological recordings would be the route to a honeybee heading code. Parallel routes give the network more than one path for the same tubercle signal. Each path leads toward a separate part of the central complex.</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3">
            <a:alphaModFix/>
          </a:blip>
          <a:srcRect b="0" l="0" r="0" t="0"/>
          <a:stretch/>
        </p:blipFill>
        <p:spPr>
          <a:xfrm>
            <a:off x="7655042" y="1280071"/>
            <a:ext cx="2773426" cy="4297561"/>
          </a:xfrm>
          <a:prstGeom prst="rect">
            <a:avLst/>
          </a:prstGeom>
          <a:noFill/>
          <a:ln>
            <a:noFill/>
          </a:ln>
        </p:spPr>
      </p:pic>
      <p:sp>
        <p:nvSpPr>
          <p:cNvPr id="480" name="Google Shape;480;p3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1A–F. AOTU–bulb–central-body projection anatomy.</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Bulb microglomeruli organize convergent synaptic tissue</a:t>
            </a:r>
            <a:endParaRPr sz="1800">
              <a:solidFill>
                <a:schemeClr val="dk1"/>
              </a:solidFill>
              <a:latin typeface="Calibri"/>
              <a:ea typeface="Calibri"/>
              <a:cs typeface="Calibri"/>
              <a:sym typeface="Calibri"/>
            </a:endParaRPr>
          </a:p>
        </p:txBody>
      </p:sp>
      <p:sp>
        <p:nvSpPr>
          <p:cNvPr id="489" name="Google Shape;48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 microglomerulus is a compact synaptic complex. One large presynaptic terminal contacts several smaller postsynaptic processes. Held and colleagues stained bulb tissue for synapsin, which marks presynaptic machinery, and for actin, which is prominent postsynaptically. Both stains mark the two sides of each contact. Both bulbs contain these complexes as well.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Confocal images revealed separated complexes in the lateral and medial bulbs. Traced TuLAL1 terminals formed the presynaptic cores. TL neuron processes contacted them. Complementary labeling connected each cell's projection to the local terminal organization. The arrangement distributes tubercle signals to several downstream cells in parallel. Light microscopy shows the arrangement clearly.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stains describe an arrangement that spreads tubercle signals among downstream neurons. Confocal images alone leave finer membrane contacts unseen. Electron microscopy resolves these contacts in detail. Membrane contacts at this scale show which synaptic partners interact closely. These structures form a measured substrate for parallel processing in the bulbs.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sp>
        <p:nvSpPr>
          <p:cNvPr id="501" name="Google Shape;501;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Electron microscopy resolves bulb synaptic contacts</a:t>
            </a:r>
            <a:endParaRPr sz="1800">
              <a:solidFill>
                <a:schemeClr val="dk1"/>
              </a:solidFill>
              <a:latin typeface="Calibri"/>
              <a:ea typeface="Calibri"/>
              <a:cs typeface="Calibri"/>
              <a:sym typeface="Calibri"/>
            </a:endParaRPr>
          </a:p>
        </p:txBody>
      </p:sp>
      <p:sp>
        <p:nvSpPr>
          <p:cNvPr id="502" name="Google Shape;502;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Held and colleagues used transmission electron microscopy to examine bulb complexes at membrane resolution. Large TuLAL1 terminals held vesicles and several presynaptic specializations. These specializations faced smaller profiles. Vesicles are small sacs that store signaling molecules for release. Electron images resolve these structures in very fine detail in the bulbs.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authors identified dyadic and tetradic contacts. In a dyadic contact, one presynaptic specialization faces two postsynaptic profiles. In a tetradic contact, it faces four. GABA staining linked downstream TL neurons to an inhibitory transmitter. These observations show connectivity more directly than light-microscopy overlap. Both observations come from the same complexes.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Synaptic morphology establishes physical contacts. Transmitter staining points to a possible sign of downstream signaling. Receptor identity and activity-dependent effects complete the picture for the navigation computation. Each contact in this study links a presynaptic terminal to specific downstream profiles, which the staining then characterizes. Electron micrographs confirm these contacts.</a:t>
            </a:r>
            <a:endParaRPr sz="1800">
              <a:solidFill>
                <a:schemeClr val="dk1"/>
              </a:solidFill>
              <a:latin typeface="Calibri"/>
              <a:ea typeface="Calibri"/>
              <a:cs typeface="Calibri"/>
              <a:sym typeface="Calibri"/>
            </a:endParaRPr>
          </a:p>
        </p:txBody>
      </p:sp>
      <p:pic>
        <p:nvPicPr>
          <p:cNvPr id="505" name="Google Shape;505;p37"/>
          <p:cNvPicPr preferRelativeResize="0"/>
          <p:nvPr/>
        </p:nvPicPr>
        <p:blipFill rotWithShape="1">
          <a:blip r:embed="rId3">
            <a:alphaModFix/>
          </a:blip>
          <a:srcRect b="0" l="0" r="0" t="0"/>
          <a:stretch/>
        </p:blipFill>
        <p:spPr>
          <a:xfrm>
            <a:off x="6846689" y="1280072"/>
            <a:ext cx="2743944" cy="4297558"/>
          </a:xfrm>
          <a:prstGeom prst="rect">
            <a:avLst/>
          </a:prstGeom>
          <a:noFill/>
          <a:ln>
            <a:noFill/>
          </a:ln>
        </p:spPr>
      </p:pic>
      <p:sp>
        <p:nvSpPr>
          <p:cNvPr id="506" name="Google Shape;506;p37"/>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7A,B. Dyadic and tetradic synapses in bulb complexes.</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4">
            <a:alphaModFix/>
          </a:blip>
          <a:srcRect b="0" l="0" r="0" t="0"/>
          <a:stretch/>
        </p:blipFill>
        <p:spPr>
          <a:xfrm>
            <a:off x="10161836" y="2148797"/>
            <a:ext cx="1462980" cy="1891572"/>
          </a:xfrm>
          <a:prstGeom prst="rect">
            <a:avLst/>
          </a:prstGeom>
          <a:noFill/>
          <a:ln>
            <a:noFill/>
          </a:ln>
        </p:spPr>
      </p:pic>
      <p:sp>
        <p:nvSpPr>
          <p:cNvPr id="508" name="Google Shape;508;p37"/>
          <p:cNvSpPr/>
          <p:nvPr/>
        </p:nvSpPr>
        <p:spPr>
          <a:xfrm>
            <a:off x="10161836" y="4113609"/>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5A–C. GABA-positive tangential-neuron terminals.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Electric fields can mechanically deflect bee antennae</a:t>
            </a:r>
            <a:endParaRPr sz="1800">
              <a:solidFill>
                <a:schemeClr val="dk1"/>
              </a:solidFill>
              <a:latin typeface="Calibri"/>
              <a:ea typeface="Calibri"/>
              <a:cs typeface="Calibri"/>
              <a:sym typeface="Calibri"/>
            </a:endParaRPr>
          </a:p>
        </p:txBody>
      </p:sp>
      <p:sp>
        <p:nvSpPr>
          <p:cNvPr id="517" name="Google Shape;517;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400"/>
              <a:buFont typeface="Arial"/>
              <a:buNone/>
            </a:pPr>
            <a:r>
              <a:rPr b="0" i="0" lang="en-US" sz="1400">
                <a:solidFill>
                  <a:srgbClr val="252B32"/>
                </a:solidFill>
                <a:latin typeface="Arial"/>
                <a:ea typeface="Arial"/>
                <a:cs typeface="Arial"/>
                <a:sym typeface="Arial"/>
              </a:rPr>
              <a:t>Greggers and colleagues recorded electric fields around dancing bees. They also measured antennal movements during controlled electrical stimulation. Charged bodies exert forces on nearby charged structures. A force can therefore move an antenna without any dedicated electric-field receptor. Those movements were measured with a laser. Each recording was analyzed separately.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400"/>
              <a:buFont typeface="Arial"/>
              <a:buNone/>
            </a:pPr>
            <a:r>
              <a:rPr b="0" i="0" lang="en-US" sz="1400">
                <a:solidFill>
                  <a:srgbClr val="252B32"/>
                </a:solidFill>
                <a:latin typeface="Arial"/>
                <a:ea typeface="Arial"/>
                <a:cs typeface="Arial"/>
                <a:sym typeface="Arial"/>
              </a:rPr>
              <a:t>An isolated wing oscillating at 40 Hz, 2 mm from the head, evoked larger flagellar movements when charge was kept. Johnston's organ, in the antennal pedicel, responded to the field-induced movement. The flagellum is the far antennal segment, and the pedicel is its joint region. Discharged charge produced smaller movements.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400"/>
              <a:buFont typeface="Arial"/>
              <a:buNone/>
            </a:pPr>
            <a:r>
              <a:rPr b="0" i="0" lang="en-US" sz="1400">
                <a:solidFill>
                  <a:srgbClr val="252B32"/>
                </a:solidFill>
                <a:latin typeface="Arial"/>
                <a:ea typeface="Arial"/>
                <a:cs typeface="Arial"/>
                <a:sym typeface="Arial"/>
              </a:rPr>
              <a:t>The sequence runs from electric force to antennal displacement. It then activates movement-sensitive sensory neurons. This supports a mechanical route for field detection. Electric force moves the antenna, and the displacement drives the mechanoreceptors. The channel that converts movement into receptor current completes the chain. The flagellum and pedicel both move with the applied force.</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6458555" y="1280071"/>
            <a:ext cx="5166102" cy="1733252"/>
          </a:xfrm>
          <a:prstGeom prst="rect">
            <a:avLst/>
          </a:prstGeom>
          <a:noFill/>
          <a:ln>
            <a:noFill/>
          </a:ln>
        </p:spPr>
      </p:pic>
      <p:sp>
        <p:nvSpPr>
          <p:cNvPr id="521" name="Google Shape;521;p38"/>
          <p:cNvSpPr/>
          <p:nvPr/>
        </p:nvSpPr>
        <p:spPr>
          <a:xfrm>
            <a:off x="6458396" y="310485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3a,b and Fig. 4. Field-induced flagellar motion and Johnston-organ activity.</a:t>
            </a:r>
            <a:endParaRPr sz="1800">
              <a:solidFill>
                <a:schemeClr val="dk1"/>
              </a:solidFill>
              <a:latin typeface="Calibri"/>
              <a:ea typeface="Calibri"/>
              <a:cs typeface="Calibri"/>
              <a:sym typeface="Calibri"/>
            </a:endParaRPr>
          </a:p>
        </p:txBody>
      </p:sp>
      <p:pic>
        <p:nvPicPr>
          <p:cNvPr id="522" name="Google Shape;522;p38"/>
          <p:cNvPicPr preferRelativeResize="0"/>
          <p:nvPr/>
        </p:nvPicPr>
        <p:blipFill rotWithShape="1">
          <a:blip r:embed="rId4">
            <a:alphaModFix/>
          </a:blip>
          <a:srcRect b="0" l="0" r="0" t="0"/>
          <a:stretch/>
        </p:blipFill>
        <p:spPr>
          <a:xfrm>
            <a:off x="8422802" y="3977580"/>
            <a:ext cx="1237758" cy="1782961"/>
          </a:xfrm>
          <a:prstGeom prst="rect">
            <a:avLst/>
          </a:prstGeom>
          <a:noFill/>
          <a:ln>
            <a:noFill/>
          </a:ln>
        </p:spPr>
      </p:pic>
      <p:sp>
        <p:nvSpPr>
          <p:cNvPr id="523" name="Google Shape;523;p38"/>
          <p:cNvSpPr/>
          <p:nvPr/>
        </p:nvSpPr>
        <p:spPr>
          <a:xfrm>
            <a:off x="6458396" y="583376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24" name="Google Shape;524;p3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5" name="Google Shape;52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26" name="Google Shape;52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Antennal interventions reduce learned field responses</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Greggers and colleagues paired an electric-field stimulus with sucrose and tested the conditioned proboscis extension response. Uncharged material or an inactive stimulus source served as the unrewarded comparison. Bees learned both constant fields and modulated stimulation at 60 Hz. The 60 Hz modulation tested whether bees could learn a time-varying cue here.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After learning, removing the antennae eliminated the learned field response. Wax treatments that restricted the antennal joints strongly reduced it, while coating the surfaces and keeping the joints mobile produced a smaller reduction. Learned responses to electric cues were still present after 24 h. Removal of the antennae had the largest effect on the learned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intervention pattern supports a contribution from </a:t>
            </a:r>
            <a:r>
              <a:rPr b="1" i="0" lang="en-US" sz="1400">
                <a:solidFill>
                  <a:srgbClr val="3F5063"/>
                </a:solidFill>
                <a:latin typeface="Arial"/>
                <a:ea typeface="Arial"/>
                <a:cs typeface="Arial"/>
                <a:sym typeface="Arial"/>
              </a:rPr>
              <a:t>antennal mechanoreception</a:t>
            </a:r>
            <a:r>
              <a:rPr b="0" i="0" lang="en-US" sz="1400">
                <a:solidFill>
                  <a:srgbClr val="252B32"/>
                </a:solidFill>
                <a:latin typeface="Arial"/>
                <a:ea typeface="Arial"/>
                <a:cs typeface="Arial"/>
                <a:sym typeface="Arial"/>
              </a:rPr>
              <a:t>, including receptors linked to both joints. Johnston's organ is one of several possible sensors, alongside the antennal surface hairs. The conditioning demonstrates a usable cue under controlled conditions. Antennal removal is a stronger manipulation than coating the surfaces, because it eliminates the whole antenna.</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3">
            <a:alphaModFix/>
          </a:blip>
          <a:srcRect b="0" l="0" r="0" t="0"/>
          <a:stretch/>
        </p:blipFill>
        <p:spPr>
          <a:xfrm>
            <a:off x="7194225" y="1280071"/>
            <a:ext cx="2048872" cy="4297561"/>
          </a:xfrm>
          <a:prstGeom prst="rect">
            <a:avLst/>
          </a:prstGeom>
          <a:noFill/>
          <a:ln>
            <a:noFill/>
          </a:ln>
        </p:spPr>
      </p:pic>
      <p:sp>
        <p:nvSpPr>
          <p:cNvPr id="536" name="Google Shape;536;p39"/>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7a–c. Associative learning after antennal interventions.</a:t>
            </a:r>
            <a:endParaRPr sz="1800">
              <a:solidFill>
                <a:schemeClr val="dk1"/>
              </a:solidFill>
              <a:latin typeface="Calibri"/>
              <a:ea typeface="Calibri"/>
              <a:cs typeface="Calibri"/>
              <a:sym typeface="Calibri"/>
            </a:endParaRPr>
          </a:p>
        </p:txBody>
      </p:sp>
      <p:pic>
        <p:nvPicPr>
          <p:cNvPr id="537" name="Google Shape;537;p39"/>
          <p:cNvPicPr preferRelativeResize="0"/>
          <p:nvPr/>
        </p:nvPicPr>
        <p:blipFill rotWithShape="1">
          <a:blip r:embed="rId4">
            <a:alphaModFix/>
          </a:blip>
          <a:srcRect b="0" l="0" r="0" t="0"/>
          <a:stretch/>
        </p:blipFill>
        <p:spPr>
          <a:xfrm>
            <a:off x="10161836" y="2148789"/>
            <a:ext cx="1462980" cy="2107389"/>
          </a:xfrm>
          <a:prstGeom prst="rect">
            <a:avLst/>
          </a:prstGeom>
          <a:noFill/>
          <a:ln>
            <a:noFill/>
          </a:ln>
        </p:spPr>
      </p:pic>
      <p:sp>
        <p:nvSpPr>
          <p:cNvPr id="538" name="Google Shape;538;p39"/>
          <p:cNvSpPr/>
          <p:nvPr/>
        </p:nvSpPr>
        <p:spPr>
          <a:xfrm>
            <a:off x="10161836" y="4329410"/>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39" name="Google Shape;539;p3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41" name="Google Shape;54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5" name="Shape 545"/>
        <p:cNvGrpSpPr/>
        <p:nvPr/>
      </p:nvGrpSpPr>
      <p:grpSpPr>
        <a:xfrm>
          <a:off x="0" y="0"/>
          <a:ext cx="0" cy="0"/>
          <a:chOff x="0" y="0"/>
          <a:chExt cx="0" cy="0"/>
        </a:xfrm>
      </p:grpSpPr>
      <p:sp>
        <p:nvSpPr>
          <p:cNvPr id="546" name="Google Shape;54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DL-Int-1 is GABA-positive and inhibited by pulse trains</a:t>
            </a:r>
            <a:endParaRPr sz="1800">
              <a:solidFill>
                <a:schemeClr val="dk1"/>
              </a:solidFill>
              <a:latin typeface="Calibri"/>
              <a:ea typeface="Calibri"/>
              <a:cs typeface="Calibri"/>
              <a:sym typeface="Calibri"/>
            </a:endParaRPr>
          </a:p>
        </p:txBody>
      </p:sp>
      <p:sp>
        <p:nvSpPr>
          <p:cNvPr id="547" name="Google Shape;547;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Ai and colleagues recorded intracellularly from identified honeybee interneurons while a mechanical stimulator vibrated the antennal flagellum. </a:t>
            </a:r>
            <a:r>
              <a:rPr b="1" i="0" lang="en-US" sz="1400">
                <a:solidFill>
                  <a:srgbClr val="3F5063"/>
                </a:solidFill>
                <a:latin typeface="Arial"/>
                <a:ea typeface="Arial"/>
                <a:cs typeface="Arial"/>
                <a:sym typeface="Arial"/>
              </a:rPr>
              <a:t>DL-Int-1</a:t>
            </a:r>
            <a:r>
              <a:rPr b="0" i="0" lang="en-US" sz="1400">
                <a:solidFill>
                  <a:srgbClr val="252B32"/>
                </a:solidFill>
                <a:latin typeface="Arial"/>
                <a:ea typeface="Arial"/>
                <a:cs typeface="Arial"/>
                <a:sym typeface="Arial"/>
              </a:rPr>
              <a:t> branches in the dorsal lobe and related mechanosensory tissue. Dye filling and anti-GABA staining associated this cell type with a GABAergic phenotype. DL-Int-1 is an identified interneuron, so the same cell type is recorded each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stimulus carrier was 265 Hz, within the wing-vibration range relevant to waggle dancing. Pulse trains with durations up to 16 ms and intervals up to 33 ms suppressed DL-Int-1 firing below its spontaneous level. Longer 100 ms intervals allowed intermittent spikes during the train. The carrier frequency was fixed for every pulse train.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This response distinguishes closely spaced vibration pulses from more widely spaced events. Antibody controls supported label specificity, and GABA staining links the cell to </a:t>
            </a:r>
            <a:r>
              <a:rPr b="1" i="0" lang="en-US" sz="1400">
                <a:solidFill>
                  <a:srgbClr val="3F5063"/>
                </a:solidFill>
                <a:latin typeface="Arial"/>
                <a:ea typeface="Arial"/>
                <a:cs typeface="Arial"/>
                <a:sym typeface="Arial"/>
              </a:rPr>
              <a:t>inhibitory signaling</a:t>
            </a:r>
            <a:r>
              <a:rPr b="0" i="0" lang="en-US" sz="1400">
                <a:solidFill>
                  <a:srgbClr val="252B32"/>
                </a:solidFill>
                <a:latin typeface="Arial"/>
                <a:ea typeface="Arial"/>
                <a:cs typeface="Arial"/>
                <a:sym typeface="Arial"/>
              </a:rPr>
              <a:t>. Responses reveal </a:t>
            </a:r>
            <a:r>
              <a:rPr b="1" i="0" lang="en-US" sz="1400">
                <a:solidFill>
                  <a:srgbClr val="3F5063"/>
                </a:solidFill>
                <a:latin typeface="Arial"/>
                <a:ea typeface="Arial"/>
                <a:cs typeface="Arial"/>
                <a:sym typeface="Arial"/>
              </a:rPr>
              <a:t>temporal filtering</a:t>
            </a:r>
            <a:r>
              <a:rPr b="0" i="0" lang="en-US" sz="1400">
                <a:solidFill>
                  <a:srgbClr val="252B32"/>
                </a:solidFill>
                <a:latin typeface="Arial"/>
                <a:ea typeface="Arial"/>
                <a:cs typeface="Arial"/>
                <a:sym typeface="Arial"/>
              </a:rPr>
              <a:t> of the vibration signal. Pulse spacing decides whether the neuron keeps firing during the vibration train. Dance-like spacing reduces the cell's response.</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3">
            <a:alphaModFix/>
          </a:blip>
          <a:srcRect b="0" l="0" r="0" t="0"/>
          <a:stretch/>
        </p:blipFill>
        <p:spPr>
          <a:xfrm>
            <a:off x="6458499" y="1280071"/>
            <a:ext cx="3520323" cy="2764482"/>
          </a:xfrm>
          <a:prstGeom prst="rect">
            <a:avLst/>
          </a:prstGeom>
          <a:noFill/>
          <a:ln>
            <a:noFill/>
          </a:ln>
        </p:spPr>
      </p:pic>
      <p:sp>
        <p:nvSpPr>
          <p:cNvPr id="551" name="Google Shape;551;p40"/>
          <p:cNvSpPr/>
          <p:nvPr/>
        </p:nvSpPr>
        <p:spPr>
          <a:xfrm>
            <a:off x="6458396" y="4136082"/>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3A–D. DL-Int-1 responses to pulse duration and interval.</a:t>
            </a:r>
            <a:endParaRPr sz="1800">
              <a:solidFill>
                <a:schemeClr val="dk1"/>
              </a:solidFill>
              <a:latin typeface="Calibri"/>
              <a:ea typeface="Calibri"/>
              <a:cs typeface="Calibri"/>
              <a:sym typeface="Calibri"/>
            </a:endParaRPr>
          </a:p>
        </p:txBody>
      </p:sp>
      <p:pic>
        <p:nvPicPr>
          <p:cNvPr id="552" name="Google Shape;552;p40"/>
          <p:cNvPicPr preferRelativeResize="0"/>
          <p:nvPr/>
        </p:nvPicPr>
        <p:blipFill rotWithShape="1">
          <a:blip r:embed="rId4">
            <a:alphaModFix/>
          </a:blip>
          <a:srcRect b="0" l="0" r="0" t="0"/>
          <a:stretch/>
        </p:blipFill>
        <p:spPr>
          <a:xfrm>
            <a:off x="10161836" y="2148780"/>
            <a:ext cx="1462980" cy="877788"/>
          </a:xfrm>
          <a:prstGeom prst="rect">
            <a:avLst/>
          </a:prstGeom>
          <a:noFill/>
          <a:ln>
            <a:noFill/>
          </a:ln>
        </p:spPr>
      </p:pic>
      <p:sp>
        <p:nvSpPr>
          <p:cNvPr id="553" name="Google Shape;553;p40"/>
          <p:cNvSpPr/>
          <p:nvPr/>
        </p:nvSpPr>
        <p:spPr>
          <a:xfrm>
            <a:off x="10161836" y="309979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2A–E. DL-Int-1 morphology and GABA immunoreactivity.</a:t>
            </a:r>
            <a:endParaRPr sz="1800">
              <a:solidFill>
                <a:schemeClr val="dk1"/>
              </a:solidFill>
              <a:latin typeface="Calibri"/>
              <a:ea typeface="Calibri"/>
              <a:cs typeface="Calibri"/>
              <a:sym typeface="Calibri"/>
            </a:endParaRPr>
          </a:p>
        </p:txBody>
      </p:sp>
      <p:sp>
        <p:nvSpPr>
          <p:cNvPr id="554" name="Google Shape;554;p4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5" name="Google Shape;55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56" name="Google Shape;55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DL-Int-2 remains excited during dance-like vibration</a:t>
            </a:r>
            <a:endParaRPr sz="1800">
              <a:solidFill>
                <a:schemeClr val="dk1"/>
              </a:solidFill>
              <a:latin typeface="Calibri"/>
              <a:ea typeface="Calibri"/>
              <a:cs typeface="Calibri"/>
              <a:sym typeface="Calibri"/>
            </a:endParaRPr>
          </a:p>
        </p:txBody>
      </p:sp>
      <p:sp>
        <p:nvSpPr>
          <p:cNvPr id="562" name="Google Shape;562;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Ai and colleagues found a different response in </a:t>
            </a:r>
            <a:r>
              <a:rPr b="1" i="0" lang="en-US" sz="1400">
                <a:solidFill>
                  <a:srgbClr val="3F5063"/>
                </a:solidFill>
                <a:latin typeface="Arial"/>
                <a:ea typeface="Arial"/>
                <a:cs typeface="Arial"/>
                <a:sym typeface="Arial"/>
              </a:rPr>
              <a:t>DL-Int-2</a:t>
            </a:r>
            <a:r>
              <a:rPr b="0" i="0" lang="en-US" sz="1400">
                <a:solidFill>
                  <a:srgbClr val="252B32"/>
                </a:solidFill>
                <a:latin typeface="Arial"/>
                <a:ea typeface="Arial"/>
                <a:cs typeface="Arial"/>
                <a:sym typeface="Arial"/>
              </a:rPr>
              <a:t>, another identified interneuron in the primary mechanosensory processing region. Its soma lacked the anti-GABA labeling seen in DL-Int-1, so its transmitter identity rests on other markers. DL-Int-2 sits in the same primary mechanosensory processing region as DL-Int-1. Both cells were recorded in that region.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At a 265 Hz carrier, trains with 16 ms pulses and 33 ms intervals evoked an initial excitation followed by maintained excitation. DL-Int-1, by contrast, was suppressed during comparable short-interval stimulation. </a:t>
            </a:r>
            <a:r>
              <a:rPr b="1" i="0" lang="en-US" sz="1400">
                <a:solidFill>
                  <a:srgbClr val="3F5063"/>
                </a:solidFill>
                <a:latin typeface="Arial"/>
                <a:ea typeface="Arial"/>
                <a:cs typeface="Arial"/>
                <a:sym typeface="Arial"/>
              </a:rPr>
              <a:t>Tonic activity</a:t>
            </a:r>
            <a:r>
              <a:rPr b="0" i="0" lang="en-US" sz="1400">
                <a:solidFill>
                  <a:srgbClr val="252B32"/>
                </a:solidFill>
                <a:latin typeface="Arial"/>
                <a:ea typeface="Arial"/>
                <a:cs typeface="Arial"/>
                <a:sym typeface="Arial"/>
              </a:rPr>
              <a:t> is sustained activity during a stimulus, whereas </a:t>
            </a:r>
            <a:r>
              <a:rPr b="1" i="0" lang="en-US" sz="1400">
                <a:solidFill>
                  <a:srgbClr val="3F5063"/>
                </a:solidFill>
                <a:latin typeface="Arial"/>
                <a:ea typeface="Arial"/>
                <a:cs typeface="Arial"/>
                <a:sym typeface="Arial"/>
              </a:rPr>
              <a:t>phasic activity</a:t>
            </a:r>
            <a:r>
              <a:rPr b="0" i="0" lang="en-US" sz="1400">
                <a:solidFill>
                  <a:srgbClr val="252B32"/>
                </a:solidFill>
                <a:latin typeface="Arial"/>
                <a:ea typeface="Arial"/>
                <a:cs typeface="Arial"/>
                <a:sym typeface="Arial"/>
              </a:rPr>
              <a:t> concentrates near a change such as onset. Excitation lasted through the whole train.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contrasting responses could allow pulse-train duration to shape downstream signaling. A proposed inhibitory relationship between the two cell types rests on modeling and morphology rather than direct synaptic measurement, which places the recorded excitation within a proposed circuit for decoding advertised distance. This interpretation fits the excitation seen during dance-like vibration.</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3">
            <a:alphaModFix/>
          </a:blip>
          <a:srcRect b="0" l="0" r="0" t="0"/>
          <a:stretch/>
        </p:blipFill>
        <p:spPr>
          <a:xfrm>
            <a:off x="6458461" y="1280071"/>
            <a:ext cx="3520401" cy="3967609"/>
          </a:xfrm>
          <a:prstGeom prst="rect">
            <a:avLst/>
          </a:prstGeom>
          <a:noFill/>
          <a:ln>
            <a:noFill/>
          </a:ln>
        </p:spPr>
      </p:pic>
      <p:sp>
        <p:nvSpPr>
          <p:cNvPr id="566" name="Google Shape;566;p41"/>
          <p:cNvSpPr/>
          <p:nvPr/>
        </p:nvSpPr>
        <p:spPr>
          <a:xfrm>
            <a:off x="6458396" y="5339209"/>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4A,B. DL-Int-2 excitation during vibration pulse trains.</a:t>
            </a:r>
            <a:endParaRPr sz="1800">
              <a:solidFill>
                <a:schemeClr val="dk1"/>
              </a:solidFill>
              <a:latin typeface="Calibri"/>
              <a:ea typeface="Calibri"/>
              <a:cs typeface="Calibri"/>
              <a:sym typeface="Calibri"/>
            </a:endParaRPr>
          </a:p>
        </p:txBody>
      </p:sp>
      <p:pic>
        <p:nvPicPr>
          <p:cNvPr id="567" name="Google Shape;567;p41"/>
          <p:cNvPicPr preferRelativeResize="0"/>
          <p:nvPr/>
        </p:nvPicPr>
        <p:blipFill rotWithShape="1">
          <a:blip r:embed="rId4">
            <a:alphaModFix/>
          </a:blip>
          <a:srcRect b="0" l="0" r="0" t="0"/>
          <a:stretch/>
        </p:blipFill>
        <p:spPr>
          <a:xfrm>
            <a:off x="10161842" y="2148780"/>
            <a:ext cx="1462967" cy="751136"/>
          </a:xfrm>
          <a:prstGeom prst="rect">
            <a:avLst/>
          </a:prstGeom>
          <a:noFill/>
          <a:ln>
            <a:noFill/>
          </a:ln>
        </p:spPr>
      </p:pic>
      <p:sp>
        <p:nvSpPr>
          <p:cNvPr id="568" name="Google Shape;568;p41"/>
          <p:cNvSpPr/>
          <p:nvPr/>
        </p:nvSpPr>
        <p:spPr>
          <a:xfrm>
            <a:off x="10161836" y="2972991"/>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Ai et al. (2017), Fig. 2F–J. DL-Int-2 morphology and transmitter-label controls.</a:t>
            </a:r>
            <a:endParaRPr sz="1800">
              <a:solidFill>
                <a:schemeClr val="dk1"/>
              </a:solidFill>
              <a:latin typeface="Calibri"/>
              <a:ea typeface="Calibri"/>
              <a:cs typeface="Calibri"/>
              <a:sym typeface="Calibri"/>
            </a:endParaRPr>
          </a:p>
        </p:txBody>
      </p:sp>
      <p:sp>
        <p:nvSpPr>
          <p:cNvPr id="569" name="Google Shape;569;p4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Ai et al. (2017)</a:t>
            </a:r>
            <a:endParaRPr sz="1800">
              <a:solidFill>
                <a:schemeClr val="dk1"/>
              </a:solidFill>
              <a:latin typeface="Calibri"/>
              <a:ea typeface="Calibri"/>
              <a:cs typeface="Calibri"/>
              <a:sym typeface="Calibri"/>
            </a:endParaRPr>
          </a:p>
        </p:txBody>
      </p:sp>
      <p:sp>
        <p:nvSpPr>
          <p:cNvPr id="571" name="Google Shape;57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sp>
        <p:nvSpPr>
          <p:cNvPr id="576" name="Google Shape;57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Mechanosensory responses change as workers mature</a:t>
            </a:r>
            <a:endParaRPr sz="1800">
              <a:solidFill>
                <a:schemeClr val="dk1"/>
              </a:solidFill>
              <a:latin typeface="Calibri"/>
              <a:ea typeface="Calibri"/>
              <a:cs typeface="Calibri"/>
              <a:sym typeface="Calibri"/>
            </a:endParaRPr>
          </a:p>
        </p:txBody>
      </p:sp>
      <p:sp>
        <p:nvSpPr>
          <p:cNvPr id="577" name="Google Shape;57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Kumaraswamy and colleagues compared DL-Int-1 in newly emerged workers aged 1–3 days with foragers older than 10 days. The preparation combined intracellular recording with dye-filled morphology, which kept cell identity constant across the age comparison. The workers were sampled at two ages, with foragers much older than the newly emerged group in the study.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Gross arborization extent was similar between groups, but branch density differed in selected regions. Foragers' responses showed a stronger contrast between spontaneous activity and vibration-evoked inhibition, giving the stimulus a sharper </a:t>
            </a:r>
            <a:r>
              <a:rPr b="1" i="0" lang="en-US" sz="1400">
                <a:solidFill>
                  <a:srgbClr val="3F5063"/>
                </a:solidFill>
                <a:latin typeface="Arial"/>
                <a:ea typeface="Arial"/>
                <a:cs typeface="Arial"/>
                <a:sym typeface="Arial"/>
              </a:rPr>
              <a:t>temporal signature</a:t>
            </a:r>
            <a:r>
              <a:rPr b="0" i="0" lang="en-US" sz="1400">
                <a:solidFill>
                  <a:srgbClr val="252B32"/>
                </a:solidFill>
                <a:latin typeface="Arial"/>
                <a:ea typeface="Arial"/>
                <a:cs typeface="Arial"/>
                <a:sym typeface="Arial"/>
              </a:rPr>
              <a:t>. Reconstructions and response distributions document these changes at two levels of analysis. Branch density was recorded in multiple regions of the arbor.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Maturation can alter signal processing without replacing a neuron's overall projection pattern. Age and experience covary in this design, so the differences reflect development linked with foraging rather than a single cause. The response change tracks the age difference between the two groups. Each group has its own response distribution. Both groups show the same overall cell morphology.</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3">
            <a:alphaModFix/>
          </a:blip>
          <a:srcRect b="0" l="0" r="0" t="0"/>
          <a:stretch/>
        </p:blipFill>
        <p:spPr>
          <a:xfrm>
            <a:off x="6458458" y="1280071"/>
            <a:ext cx="3520406" cy="2928045"/>
          </a:xfrm>
          <a:prstGeom prst="rect">
            <a:avLst/>
          </a:prstGeom>
          <a:noFill/>
          <a:ln>
            <a:noFill/>
          </a:ln>
        </p:spPr>
      </p:pic>
      <p:sp>
        <p:nvSpPr>
          <p:cNvPr id="581" name="Google Shape;581;p42"/>
          <p:cNvSpPr/>
          <p:nvPr/>
        </p:nvSpPr>
        <p:spPr>
          <a:xfrm>
            <a:off x="6458396" y="4299645"/>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5a–d. Neuronal response distributions in young bees and foragers.</a:t>
            </a:r>
            <a:endParaRPr sz="1800">
              <a:solidFill>
                <a:schemeClr val="dk1"/>
              </a:solidFill>
              <a:latin typeface="Calibri"/>
              <a:ea typeface="Calibri"/>
              <a:cs typeface="Calibri"/>
              <a:sym typeface="Calibri"/>
            </a:endParaRPr>
          </a:p>
        </p:txBody>
      </p:sp>
      <p:pic>
        <p:nvPicPr>
          <p:cNvPr id="582" name="Google Shape;582;p42"/>
          <p:cNvPicPr preferRelativeResize="0"/>
          <p:nvPr/>
        </p:nvPicPr>
        <p:blipFill rotWithShape="1">
          <a:blip r:embed="rId4">
            <a:alphaModFix/>
          </a:blip>
          <a:srcRect b="0" l="0" r="0" t="0"/>
          <a:stretch/>
        </p:blipFill>
        <p:spPr>
          <a:xfrm>
            <a:off x="10161837" y="2148780"/>
            <a:ext cx="1462978" cy="1007418"/>
          </a:xfrm>
          <a:prstGeom prst="rect">
            <a:avLst/>
          </a:prstGeom>
          <a:noFill/>
          <a:ln>
            <a:noFill/>
          </a:ln>
        </p:spPr>
      </p:pic>
      <p:sp>
        <p:nvSpPr>
          <p:cNvPr id="583" name="Google Shape;583;p42"/>
          <p:cNvSpPr/>
          <p:nvPr/>
        </p:nvSpPr>
        <p:spPr>
          <a:xfrm>
            <a:off x="10161836" y="3229421"/>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3a,b. Reconstructed DL-Int-1 arborizations during maturation.</a:t>
            </a:r>
            <a:endParaRPr sz="1800">
              <a:solidFill>
                <a:schemeClr val="dk1"/>
              </a:solidFill>
              <a:latin typeface="Calibri"/>
              <a:ea typeface="Calibri"/>
              <a:cs typeface="Calibri"/>
              <a:sym typeface="Calibri"/>
            </a:endParaRPr>
          </a:p>
        </p:txBody>
      </p:sp>
      <p:sp>
        <p:nvSpPr>
          <p:cNvPr id="584" name="Google Shape;584;p4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Kumaraswamy et al. (2019)</a:t>
            </a:r>
            <a:endParaRPr sz="1800">
              <a:solidFill>
                <a:schemeClr val="dk1"/>
              </a:solidFill>
              <a:latin typeface="Calibri"/>
              <a:ea typeface="Calibri"/>
              <a:cs typeface="Calibri"/>
              <a:sym typeface="Calibri"/>
            </a:endParaRPr>
          </a:p>
        </p:txBody>
      </p:sp>
      <p:sp>
        <p:nvSpPr>
          <p:cNvPr id="586" name="Google Shape;58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Experienced dancers improve novices’ directional precision</a:t>
            </a:r>
            <a:endParaRPr sz="1800">
              <a:solidFill>
                <a:schemeClr val="dk1"/>
              </a:solidFill>
              <a:latin typeface="Calibri"/>
              <a:ea typeface="Calibri"/>
              <a:cs typeface="Calibri"/>
              <a:sym typeface="Calibri"/>
            </a:endParaRPr>
          </a:p>
        </p:txBody>
      </p:sp>
      <p:sp>
        <p:nvSpPr>
          <p:cNvPr id="592" name="Google Shape;592;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Dong and colleagues created colonies of newly emerged workers without experienced dancers and compared them with mixed-age colonies. Individually marked bees first danced for a feeder 150 m away, and the same bees were tested again 20 days later. The colonies were built from newly emerged workers, which keeps age constant throughout.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Bees that could not follow experienced dancers before their first dance produced larger </a:t>
            </a:r>
            <a:r>
              <a:rPr b="1" i="0" lang="en-US" sz="1400">
                <a:solidFill>
                  <a:srgbClr val="3F5063"/>
                </a:solidFill>
                <a:latin typeface="Arial"/>
                <a:ea typeface="Arial"/>
                <a:cs typeface="Arial"/>
                <a:sym typeface="Arial"/>
              </a:rPr>
              <a:t>waggle-angle divergence</a:t>
            </a:r>
            <a:r>
              <a:rPr b="0" i="0" lang="en-US" sz="1400">
                <a:solidFill>
                  <a:srgbClr val="252B32"/>
                </a:solidFill>
                <a:latin typeface="Arial"/>
                <a:ea typeface="Arial"/>
                <a:cs typeface="Arial"/>
                <a:sym typeface="Arial"/>
              </a:rPr>
              <a:t> and more disordered movements. Their directional precision improved by the later test. First dances in mixed-age colonies were already more precise, which shows that early social exposure matters apart from simply performing a dance. Their first dances were measured.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result supports social contributions to dance development alongside an inherited behavioral pattern. Later improvement could reflect age, flight practice, following experience or a combination. Colony composition changes several experiences together, so one teaching interaction is hard to single out. Later improvement is measured across the same bees, so individual change is visible.</a:t>
            </a:r>
            <a:endParaRPr sz="1800">
              <a:solidFill>
                <a:schemeClr val="dk1"/>
              </a:solidFill>
              <a:latin typeface="Calibri"/>
              <a:ea typeface="Calibri"/>
              <a:cs typeface="Calibri"/>
              <a:sym typeface="Calibri"/>
            </a:endParaRPr>
          </a:p>
        </p:txBody>
      </p:sp>
      <p:pic>
        <p:nvPicPr>
          <p:cNvPr id="595" name="Google Shape;595;p43"/>
          <p:cNvPicPr preferRelativeResize="0"/>
          <p:nvPr/>
        </p:nvPicPr>
        <p:blipFill rotWithShape="1">
          <a:blip r:embed="rId3">
            <a:alphaModFix/>
          </a:blip>
          <a:srcRect b="0" l="0" r="0" t="0"/>
          <a:stretch/>
        </p:blipFill>
        <p:spPr>
          <a:xfrm>
            <a:off x="6932955" y="1280071"/>
            <a:ext cx="4217749" cy="4297561"/>
          </a:xfrm>
          <a:prstGeom prst="rect">
            <a:avLst/>
          </a:prstGeom>
          <a:noFill/>
          <a:ln>
            <a:noFill/>
          </a:ln>
        </p:spPr>
      </p:pic>
      <p:sp>
        <p:nvSpPr>
          <p:cNvPr id="596" name="Google Shape;596;p4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1B. Directional divergence before and after dance experience.</a:t>
            </a:r>
            <a:endParaRPr sz="1800">
              <a:solidFill>
                <a:schemeClr val="dk1"/>
              </a:solidFill>
              <a:latin typeface="Calibri"/>
              <a:ea typeface="Calibri"/>
              <a:cs typeface="Calibri"/>
              <a:sym typeface="Calibri"/>
            </a:endParaRPr>
          </a:p>
        </p:txBody>
      </p:sp>
      <p:sp>
        <p:nvSpPr>
          <p:cNvPr id="597" name="Google Shape;597;p4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8" name="Google Shape;59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99" name="Google Shape;59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Early social experience leaves a lasting distance bias</a:t>
            </a:r>
            <a:endParaRPr sz="1800">
              <a:solidFill>
                <a:schemeClr val="dk1"/>
              </a:solidFill>
              <a:latin typeface="Calibri"/>
              <a:ea typeface="Calibri"/>
              <a:cs typeface="Calibri"/>
              <a:sym typeface="Calibri"/>
            </a:endParaRPr>
          </a:p>
        </p:txBody>
      </p:sp>
      <p:sp>
        <p:nvSpPr>
          <p:cNvPr id="605" name="Google Shape;605;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In Dong and colleagues' 150 m feeder preparation, naive first dancers produced longer waggle runs and more waggles per run than first dancers from mixed-age colonies. The altered timing advertised a </a:t>
            </a:r>
            <a:r>
              <a:rPr b="1" i="0" lang="en-US" sz="1400">
                <a:solidFill>
                  <a:srgbClr val="3F5063"/>
                </a:solidFill>
                <a:latin typeface="Arial"/>
                <a:ea typeface="Arial"/>
                <a:cs typeface="Arial"/>
                <a:sym typeface="Arial"/>
              </a:rPr>
              <a:t>greater distance</a:t>
            </a:r>
            <a:r>
              <a:rPr b="0" i="0" lang="en-US" sz="1400">
                <a:solidFill>
                  <a:srgbClr val="252B32"/>
                </a:solidFill>
                <a:latin typeface="Arial"/>
                <a:ea typeface="Arial"/>
                <a:cs typeface="Arial"/>
                <a:sym typeface="Arial"/>
              </a:rPr>
              <a:t>, even though the food location was the same. The 150 m feeder was the same in both colony types.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Twenty days later, the previously naive bees still produced the elevated distance signal. Their return-flight times had improved and their directional precision had recovered, yet the distance difference persisted. The persistence distinguishes distance calibration from changes that become more typical with later foraging experience. The distance difference was still measurable after twenty days.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Social experience therefore influences different components of the dance in different ways. The lasting effect holds across the adult interval that was measured. The sensory and neural mechanisms that store this early calibration lie beyond these measurements. Persistent differences were observed in the adult bees across the test interval of 20 days.</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3">
            <a:alphaModFix/>
          </a:blip>
          <a:srcRect b="0" l="0" r="0" t="0"/>
          <a:stretch/>
        </p:blipFill>
        <p:spPr>
          <a:xfrm>
            <a:off x="8267263" y="1280071"/>
            <a:ext cx="1548836" cy="4297561"/>
          </a:xfrm>
          <a:prstGeom prst="rect">
            <a:avLst/>
          </a:prstGeom>
          <a:noFill/>
          <a:ln>
            <a:noFill/>
          </a:ln>
        </p:spPr>
      </p:pic>
      <p:sp>
        <p:nvSpPr>
          <p:cNvPr id="609" name="Google Shape;609;p44"/>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2. Dance distance signals and return flights over time.</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Landscape knowledge can modify the recruit’s later search</a:t>
            </a:r>
            <a:endParaRPr sz="1800">
              <a:solidFill>
                <a:schemeClr val="dk1"/>
              </a:solidFill>
              <a:latin typeface="Calibri"/>
              <a:ea typeface="Calibri"/>
              <a:cs typeface="Calibri"/>
              <a:sym typeface="Calibri"/>
            </a:endParaRPr>
          </a:p>
        </p:txBody>
      </p:sp>
      <p:sp>
        <p:nvSpPr>
          <p:cNvPr id="618" name="Google Shape;618;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Wang and colleagues tracked dance followers released either at the hive or at displaced sites within an explored landscape. The recruits had never visited the advertised food source. Harmonic radar sampled flight positions every 3 s. Displaced sites were chosen within an area the recruits had already explored before the test began.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Both groups first flew approximately the communicated vector. During later search, displaced recruits directed more behavior toward the real feeder location than toward the virtual endpoint obtained by executing that vector from the wrong origin. Search could therefore draw on </a:t>
            </a:r>
            <a:r>
              <a:rPr b="1" i="0" lang="en-US" sz="1400">
                <a:solidFill>
                  <a:srgbClr val="3F5063"/>
                </a:solidFill>
                <a:latin typeface="Arial"/>
                <a:ea typeface="Arial"/>
                <a:cs typeface="Arial"/>
                <a:sym typeface="Arial"/>
              </a:rPr>
              <a:t>landscape knowledge</a:t>
            </a:r>
            <a:r>
              <a:rPr b="0" i="0" lang="en-US" sz="1400">
                <a:solidFill>
                  <a:srgbClr val="252B32"/>
                </a:solidFill>
                <a:latin typeface="Arial"/>
                <a:ea typeface="Arial"/>
                <a:cs typeface="Arial"/>
                <a:sym typeface="Arial"/>
              </a:rPr>
              <a:t> acquired before the recruitment event. Both groups produced similar initial flights.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authors interpreted this as inference of source location from map-like spatial knowledge. The contrast with Riley and colleagues' sparse-terrain experiment shows that initial vector flight and subsequent search make separate contributions. The first flight followed the advertised vector, while the search showed landscape knowledge. That division of labor explains the search pattern in these recruits.</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159414" y="1280071"/>
            <a:ext cx="2118643" cy="4297561"/>
          </a:xfrm>
          <a:prstGeom prst="rect">
            <a:avLst/>
          </a:prstGeom>
          <a:noFill/>
          <a:ln>
            <a:noFill/>
          </a:ln>
        </p:spPr>
      </p:pic>
      <p:sp>
        <p:nvSpPr>
          <p:cNvPr id="622" name="Google Shape;622;p45"/>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4. Search distributions relative to real and virtual feeders.</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10161986" y="2148780"/>
            <a:ext cx="1462680" cy="399008"/>
          </a:xfrm>
          <a:prstGeom prst="rect">
            <a:avLst/>
          </a:prstGeom>
          <a:noFill/>
          <a:ln>
            <a:noFill/>
          </a:ln>
        </p:spPr>
      </p:pic>
      <p:sp>
        <p:nvSpPr>
          <p:cNvPr id="624" name="Google Shape;624;p45"/>
          <p:cNvSpPr/>
          <p:nvPr/>
        </p:nvSpPr>
        <p:spPr>
          <a:xfrm>
            <a:off x="10161836" y="2621012"/>
            <a:ext cx="148203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Wang et al. (2023), Fig. 1A–C. Experimental landscape and radar trajectories.</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Wang et al. (2023); Riley et al. (2005)</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 vectors</a:t>
            </a:r>
            <a:r>
              <a:rPr b="0" i="0" lang="en-US" sz="1500">
                <a:solidFill>
                  <a:srgbClr val="252B32"/>
                </a:solidFill>
                <a:latin typeface="Arial"/>
                <a:ea typeface="Arial"/>
                <a:cs typeface="Arial"/>
                <a:sym typeface="Arial"/>
              </a:rPr>
              <a:t> Waggle-run angle specifies direction relative to the sun; duration specifies a visually calibrated distance from the hive. Vector flight and terminal source search are distinct.</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Visual odometry</a:t>
            </a:r>
            <a:r>
              <a:rPr b="0" i="0" lang="en-US" sz="1600">
                <a:solidFill>
                  <a:srgbClr val="252B32"/>
                </a:solidFill>
                <a:latin typeface="Arial"/>
                <a:ea typeface="Arial"/>
                <a:cs typeface="Arial"/>
                <a:sym typeface="Arial"/>
              </a:rPr>
              <a:t> Optic flow changes dance duration and recruit search distance. Tunnel texture and natural terrain prevent a universal conversion from duration to physical meters.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600"/>
              <a:buFont typeface="Arial"/>
              <a:buNone/>
            </a:pPr>
            <a:r>
              <a:rPr b="1" i="0" lang="en-US" sz="1600">
                <a:solidFill>
                  <a:srgbClr val="3F5063"/>
                </a:solidFill>
                <a:latin typeface="Arial"/>
                <a:ea typeface="Arial"/>
                <a:cs typeface="Arial"/>
                <a:sym typeface="Arial"/>
              </a:rPr>
              <a:t>Time compensation</a:t>
            </a:r>
            <a:r>
              <a:rPr b="0" i="0" lang="en-US" sz="1600">
                <a:solidFill>
                  <a:srgbClr val="252B32"/>
                </a:solidFill>
                <a:latin typeface="Arial"/>
                <a:ea typeface="Arial"/>
                <a:cs typeface="Arial"/>
                <a:sym typeface="Arial"/>
              </a:rPr>
              <a:t> Bees refine the local solar course through experience. Circadian phase disruption causes sun-compass errors whose direction depends on hemisphere.</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Compass pathways</a:t>
            </a:r>
            <a:r>
              <a:rPr b="0" i="0" lang="en-US" sz="1500">
                <a:solidFill>
                  <a:srgbClr val="252B32"/>
                </a:solidFill>
                <a:latin typeface="Arial"/>
                <a:ea typeface="Arial"/>
                <a:cs typeface="Arial"/>
                <a:sym typeface="Arial"/>
              </a:rPr>
              <a:t> Ultraviolet-sensitive dorsal-rim input reaches the medulla, optic tubercle, bulbs and central body. Tracing establishes anatomy; candidate timing contacts require functional tests.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Dance-signal processing</a:t>
            </a:r>
            <a:r>
              <a:rPr b="0" i="0" lang="en-US" sz="1500">
                <a:solidFill>
                  <a:srgbClr val="252B32"/>
                </a:solidFill>
                <a:latin typeface="Arial"/>
                <a:ea typeface="Arial"/>
                <a:cs typeface="Arial"/>
                <a:sym typeface="Arial"/>
              </a:rPr>
              <a:t> Antennal movement activates mechanosensory pathways. Identified interneurons filter vibration pulse trains, but their proposed inhibitory connections and distance-decoding role are not fully established.</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5F1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1500"/>
              <a:buFont typeface="Arial"/>
              <a:buNone/>
            </a:pPr>
            <a:r>
              <a:rPr b="1" i="0" lang="en-US" sz="1500">
                <a:solidFill>
                  <a:srgbClr val="3F5063"/>
                </a:solidFill>
                <a:latin typeface="Arial"/>
                <a:ea typeface="Arial"/>
                <a:cs typeface="Arial"/>
                <a:sym typeface="Arial"/>
              </a:rPr>
              <a:t>Experience and search</a:t>
            </a:r>
            <a:r>
              <a:rPr b="0" i="0" lang="en-US" sz="1500">
                <a:solidFill>
                  <a:srgbClr val="252B32"/>
                </a:solidFill>
                <a:latin typeface="Arial"/>
                <a:ea typeface="Arial"/>
                <a:cs typeface="Arial"/>
                <a:sym typeface="Arial"/>
              </a:rPr>
              <a:t> Early social experience affects dance precision and lasting distance calibration. Familiar landscape knowledge can influence later search without replacing the initial dance vector.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 Dong et al. (2023); Srinivasan et al. (2000); Zeller et al. (2015)</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6" name="Google Shape;57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Mature foragers differ from young workers</a:t>
            </a:r>
            <a:endParaRPr sz="1800">
              <a:solidFill>
                <a:schemeClr val="dk1"/>
              </a:solidFill>
              <a:latin typeface="Calibri"/>
              <a:ea typeface="Calibri"/>
              <a:cs typeface="Calibri"/>
              <a:sym typeface="Calibri"/>
            </a:endParaRPr>
          </a:p>
        </p:txBody>
      </p:sp>
      <p:sp>
        <p:nvSpPr>
          <p:cNvPr id="577" name="Google Shape;57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Kumaraswamy and colleagues compared DL-Int-1 in newly emerged workers aged 1–3 days with foragers older than 10 days. Both groups were recorded intracellularly and filled with dye for morphology. Cell identity was preserved across the age comparison, so the same neuron type could be followed. Gross arborization extent was similar in the two groups.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Branch density differed in selected regions, while the overall arbor extent matched between the groups. Foragers' responses showed a stronger contrast between spontaneous activity and vibration-evoked inhibition. That contrast gives the stimulus a sharper temporal signature in older bees. Reconstructions and response distributions document these changes at two levels of analysis.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Maturation can change signal processing without replacing a neuron's overall projection pattern. Age and experience covary in this design, so the differences reflect development linked with foraging. The response distribution shows what changes, and the reconstructions show that the cell's wiring is retained. Foraging experience is one candidate driver of these changes.</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2">
            <a:alphaModFix/>
          </a:blip>
          <a:srcRect b="0" l="0" r="0" t="0"/>
          <a:stretch/>
        </p:blipFill>
        <p:spPr>
          <a:xfrm>
            <a:off x="6458458" y="1280071"/>
            <a:ext cx="3520406" cy="2928045"/>
          </a:xfrm>
          <a:prstGeom prst="rect">
            <a:avLst/>
          </a:prstGeom>
          <a:noFill/>
          <a:ln>
            <a:noFill/>
          </a:ln>
        </p:spPr>
      </p:pic>
      <p:sp>
        <p:nvSpPr>
          <p:cNvPr id="581" name="Google Shape;581;p42"/>
          <p:cNvSpPr/>
          <p:nvPr/>
        </p:nvSpPr>
        <p:spPr>
          <a:xfrm>
            <a:off x="6458396" y="4299645"/>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5a–d. Neuronal response distributions in young bees and foragers.</a:t>
            </a:r>
            <a:endParaRPr sz="1800">
              <a:solidFill>
                <a:schemeClr val="dk1"/>
              </a:solidFill>
              <a:latin typeface="Calibri"/>
              <a:ea typeface="Calibri"/>
              <a:cs typeface="Calibri"/>
              <a:sym typeface="Calibri"/>
            </a:endParaRPr>
          </a:p>
        </p:txBody>
      </p:sp>
      <p:pic>
        <p:nvPicPr>
          <p:cNvPr id="582" name="Google Shape;582;p42"/>
          <p:cNvPicPr preferRelativeResize="0"/>
          <p:nvPr/>
        </p:nvPicPr>
        <p:blipFill rotWithShape="1">
          <a:blip r:embed="rId3">
            <a:alphaModFix/>
          </a:blip>
          <a:srcRect b="0" l="0" r="0" t="0"/>
          <a:stretch/>
        </p:blipFill>
        <p:spPr>
          <a:xfrm>
            <a:off x="10161837" y="2148780"/>
            <a:ext cx="1462978" cy="1007418"/>
          </a:xfrm>
          <a:prstGeom prst="rect">
            <a:avLst/>
          </a:prstGeom>
          <a:noFill/>
          <a:ln>
            <a:noFill/>
          </a:ln>
        </p:spPr>
      </p:pic>
      <p:sp>
        <p:nvSpPr>
          <p:cNvPr id="583" name="Google Shape;583;p42"/>
          <p:cNvSpPr/>
          <p:nvPr/>
        </p:nvSpPr>
        <p:spPr>
          <a:xfrm>
            <a:off x="10161836" y="3229421"/>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3a,b. Reconstructed DL-Int-1 arborizations during maturation.</a:t>
            </a:r>
            <a:endParaRPr sz="1800">
              <a:solidFill>
                <a:schemeClr val="dk1"/>
              </a:solidFill>
              <a:latin typeface="Calibri"/>
              <a:ea typeface="Calibri"/>
              <a:cs typeface="Calibri"/>
              <a:sym typeface="Calibri"/>
            </a:endParaRPr>
          </a:p>
        </p:txBody>
      </p:sp>
      <p:sp>
        <p:nvSpPr>
          <p:cNvPr id="584" name="Google Shape;584;p4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Kumaraswamy et al. (2019)</a:t>
            </a:r>
            <a:endParaRPr sz="1800">
              <a:solidFill>
                <a:schemeClr val="dk1"/>
              </a:solidFill>
              <a:latin typeface="Calibri"/>
              <a:ea typeface="Calibri"/>
              <a:cs typeface="Calibri"/>
              <a:sym typeface="Calibri"/>
            </a:endParaRPr>
          </a:p>
        </p:txBody>
      </p:sp>
      <p:sp>
        <p:nvSpPr>
          <p:cNvPr id="586" name="Google Shape;58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1" name="Google Shape;53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Learned field cues persist for 24 h</a:t>
            </a:r>
            <a:endParaRPr sz="1800">
              <a:solidFill>
                <a:schemeClr val="dk1"/>
              </a:solidFill>
              <a:latin typeface="Calibri"/>
              <a:ea typeface="Calibri"/>
              <a:cs typeface="Calibri"/>
              <a:sym typeface="Calibri"/>
            </a:endParaRPr>
          </a:p>
        </p:txBody>
      </p:sp>
      <p:sp>
        <p:nvSpPr>
          <p:cNvPr id="532" name="Google Shape;532;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Greggers and colleagues paired an electric-field stimulus with sucrose during conditioning. An uncharged material or an inactive stimulus source served as the unrewarded comparison. Bees learned constant fields as well as fields modulated at 60 Hz. The conditioned proboscis extension response served as the readout. Both stimulus types produced clear learning.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Removing the antennae eliminated the learned field response. Wax coating that restricted the antennal joints strongly reduced it, while coating the surfaces and keeping the joints mobile produced a smaller reduction. Responses to electric cues were still present after 24 h. The retained response shows that the memory outlasted the conditioning session.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intervention pattern supports a contribution from antennal mechanoreception, including receptors linked to both joints. Johnston's organ is one of several possible sensors, alongside the antennal surface hairs. Antennal removal eliminates the whole antenna, which is a stronger manipulation than coating the surfaces. Conditioning under these controlled conditions demonstrates a usable electric cue.</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2">
            <a:alphaModFix/>
          </a:blip>
          <a:srcRect b="0" l="0" r="0" t="0"/>
          <a:stretch/>
        </p:blipFill>
        <p:spPr>
          <a:xfrm>
            <a:off x="7194225" y="1280071"/>
            <a:ext cx="2048872" cy="4297561"/>
          </a:xfrm>
          <a:prstGeom prst="rect">
            <a:avLst/>
          </a:prstGeom>
          <a:noFill/>
          <a:ln>
            <a:noFill/>
          </a:ln>
        </p:spPr>
      </p:pic>
      <p:sp>
        <p:nvSpPr>
          <p:cNvPr id="536" name="Google Shape;536;p39"/>
          <p:cNvSpPr/>
          <p:nvPr/>
        </p:nvSpPr>
        <p:spPr>
          <a:xfrm>
            <a:off x="6458396" y="5669161"/>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Greggers et al. (2013), Fig. 7a–c. Associative learning after antennal interventions.</a:t>
            </a:r>
            <a:endParaRPr sz="1800">
              <a:solidFill>
                <a:schemeClr val="dk1"/>
              </a:solidFill>
              <a:latin typeface="Calibri"/>
              <a:ea typeface="Calibri"/>
              <a:cs typeface="Calibri"/>
              <a:sym typeface="Calibri"/>
            </a:endParaRPr>
          </a:p>
        </p:txBody>
      </p:sp>
      <p:pic>
        <p:nvPicPr>
          <p:cNvPr id="537" name="Google Shape;537;p39"/>
          <p:cNvPicPr preferRelativeResize="0"/>
          <p:nvPr/>
        </p:nvPicPr>
        <p:blipFill rotWithShape="1">
          <a:blip r:embed="rId3">
            <a:alphaModFix/>
          </a:blip>
          <a:srcRect b="0" l="0" r="0" t="0"/>
          <a:stretch/>
        </p:blipFill>
        <p:spPr>
          <a:xfrm>
            <a:off x="10161836" y="2148789"/>
            <a:ext cx="1462980" cy="2107389"/>
          </a:xfrm>
          <a:prstGeom prst="rect">
            <a:avLst/>
          </a:prstGeom>
          <a:noFill/>
          <a:ln>
            <a:noFill/>
          </a:ln>
        </p:spPr>
      </p:pic>
      <p:sp>
        <p:nvSpPr>
          <p:cNvPr id="538" name="Google Shape;538;p39"/>
          <p:cNvSpPr/>
          <p:nvPr/>
        </p:nvSpPr>
        <p:spPr>
          <a:xfrm>
            <a:off x="10161836" y="4329410"/>
            <a:ext cx="1482030"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Kumaraswamy et al. (2019), Fig. 1a–c. Antennal input, mechanosensory neuropils and DL-Int-1.</a:t>
            </a:r>
            <a:endParaRPr sz="1800">
              <a:solidFill>
                <a:schemeClr val="dk1"/>
              </a:solidFill>
              <a:latin typeface="Calibri"/>
              <a:ea typeface="Calibri"/>
              <a:cs typeface="Calibri"/>
              <a:sym typeface="Calibri"/>
            </a:endParaRPr>
          </a:p>
        </p:txBody>
      </p:sp>
      <p:sp>
        <p:nvSpPr>
          <p:cNvPr id="539" name="Google Shape;539;p3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Greggers et al. (2013)</a:t>
            </a:r>
            <a:endParaRPr sz="1800">
              <a:solidFill>
                <a:schemeClr val="dk1"/>
              </a:solidFill>
              <a:latin typeface="Calibri"/>
              <a:ea typeface="Calibri"/>
              <a:cs typeface="Calibri"/>
              <a:sym typeface="Calibri"/>
            </a:endParaRPr>
          </a:p>
        </p:txBody>
      </p:sp>
      <p:sp>
        <p:nvSpPr>
          <p:cNvPr id="541" name="Google Shape;541;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Separated complexes lie in both bulbs</a:t>
            </a:r>
            <a:endParaRPr sz="1800">
              <a:solidFill>
                <a:schemeClr val="dk1"/>
              </a:solidFill>
              <a:latin typeface="Calibri"/>
              <a:ea typeface="Calibri"/>
              <a:cs typeface="Calibri"/>
              <a:sym typeface="Calibri"/>
            </a:endParaRPr>
          </a:p>
        </p:txBody>
      </p:sp>
      <p:sp>
        <p:nvSpPr>
          <p:cNvPr id="489" name="Google Shape;489;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Synapsin is associated with presynaptic machinery, and filamentous actin is prominent in postsynaptic regions. Held and colleagues used both stains on honeybee bulb tissue. Their combined pattern marks the sites where terminals and processes meet. Each complex contains one large presynaptic core and several smaller postsynaptic profiles.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Confocal images revealed separated complexes in the lateral and medial bulbs. Traced TuLAL1 terminals formed the presynaptic cores, and TL neuron processes contacted them. Complementary labeling connected each cell's projection to the local terminal organization. The arrangement distributes tubercle signals to several downstream cells in parallel.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500"/>
              <a:buFont typeface="Arial"/>
              <a:buNone/>
            </a:pPr>
            <a:r>
              <a:rPr b="0" i="0" lang="en-US" sz="1400">
                <a:solidFill>
                  <a:srgbClr val="252B32"/>
                </a:solidFill>
                <a:latin typeface="Arial"/>
                <a:ea typeface="Arial"/>
                <a:cs typeface="Arial"/>
                <a:sym typeface="Arial"/>
              </a:rPr>
              <a:t>The bulbs use these complexes to distribute the tubercle outputs among several downstream neurons. Confocal images alone leave finer membrane contacts unseen. Electron microscopy, used next in the study, resolves the contacts in detail. Membrane-level detail shows which cells make each contact.</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458453" y="1280071"/>
            <a:ext cx="5166306" cy="3925937"/>
          </a:xfrm>
          <a:prstGeom prst="rect">
            <a:avLst/>
          </a:prstGeom>
          <a:noFill/>
          <a:ln>
            <a:noFill/>
          </a:ln>
        </p:spPr>
      </p:pic>
      <p:sp>
        <p:nvSpPr>
          <p:cNvPr id="493" name="Google Shape;493;p36"/>
          <p:cNvSpPr/>
          <p:nvPr/>
        </p:nvSpPr>
        <p:spPr>
          <a:xfrm>
            <a:off x="6458396" y="5297537"/>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Held et al. (2016), Fig. 2A–C. Synapsin and actin identify bulb microglomeruli.</a:t>
            </a:r>
            <a:endParaRPr sz="1800">
              <a:solidFill>
                <a:schemeClr val="dk1"/>
              </a:solidFill>
              <a:latin typeface="Calibri"/>
              <a:ea typeface="Calibri"/>
              <a:cs typeface="Calibri"/>
              <a:sym typeface="Calibri"/>
            </a:endParaRPr>
          </a:p>
        </p:txBody>
      </p:sp>
      <p:sp>
        <p:nvSpPr>
          <p:cNvPr id="494" name="Google Shape;494;p3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Held et al. (2016)</a:t>
            </a:r>
            <a:endParaRPr sz="1800">
              <a:solidFill>
                <a:schemeClr val="dk1"/>
              </a:solidFill>
              <a:latin typeface="Calibri"/>
              <a:ea typeface="Calibri"/>
              <a:cs typeface="Calibri"/>
              <a:sym typeface="Calibri"/>
            </a:endParaRPr>
          </a:p>
        </p:txBody>
      </p:sp>
      <p:sp>
        <p:nvSpPr>
          <p:cNvPr id="496" name="Google Shape;496;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PDF fibers lie beside transmedulla neurons</a:t>
            </a:r>
            <a:endParaRPr sz="1800">
              <a:solidFill>
                <a:schemeClr val="dk1"/>
              </a:solidFill>
              <a:latin typeface="Calibri"/>
              <a:ea typeface="Calibri"/>
              <a:cs typeface="Calibri"/>
              <a:sym typeface="Calibri"/>
            </a:endParaRPr>
          </a:p>
        </p:txBody>
      </p:sp>
      <p:sp>
        <p:nvSpPr>
          <p:cNvPr id="448" name="Google Shape;448;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Pigment-dispersing factor, or PDF, is a neuropeptide associated with circadian signaling in insects. Zeller and colleagues combined PDF immunostaining with tracer labeling of transmedulla neurons. The combined labels revealed where potential timing input could meet the sky-compass pathway. Both labels were examined at higher magnification in the medulla.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PDF-positive fibers occupied the same medulla layer as parts of the traced neurons. Labeled puncta lay in close proximity along the cells' passage through the medulla. The two labels did not colocalize, and PDF labeling was absent from within the MEDRA. This pattern places PDF fibers next to the cells without overlapping them.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400">
                <a:solidFill>
                  <a:srgbClr val="252B32"/>
                </a:solidFill>
                <a:latin typeface="Arial"/>
                <a:ea typeface="Arial"/>
                <a:cs typeface="Arial"/>
                <a:sym typeface="Arial"/>
              </a:rPr>
              <a:t>The result identifies neighboring neuronal populations and a candidate site for modulation. PDF is a neuropeptide, so the contact is a plausible route for timing signals. Circadian compass correction is the proposed role of that contact. Tracer labeling defined the traced neurons in these preparations.</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2">
            <a:alphaModFix/>
          </a:blip>
          <a:srcRect b="0" l="0" r="0" t="0"/>
          <a:stretch/>
        </p:blipFill>
        <p:spPr>
          <a:xfrm>
            <a:off x="6458603" y="1280071"/>
            <a:ext cx="5166006" cy="2355503"/>
          </a:xfrm>
          <a:prstGeom prst="rect">
            <a:avLst/>
          </a:prstGeom>
          <a:noFill/>
          <a:ln>
            <a:noFill/>
          </a:ln>
        </p:spPr>
      </p:pic>
      <p:sp>
        <p:nvSpPr>
          <p:cNvPr id="452" name="Google Shape;452;p33"/>
          <p:cNvSpPr/>
          <p:nvPr/>
        </p:nvSpPr>
        <p:spPr>
          <a:xfrm>
            <a:off x="6458396" y="3727103"/>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5A–C. PDF-positive fibers lie beside transmedulla neurons.</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Zeller et al. (2015)</a:t>
            </a:r>
            <a:endParaRPr sz="1800">
              <a:solidFill>
                <a:schemeClr val="dk1"/>
              </a:solidFill>
              <a:latin typeface="Calibri"/>
              <a:ea typeface="Calibri"/>
              <a:cs typeface="Calibri"/>
              <a:sym typeface="Calibri"/>
            </a:endParaRPr>
          </a:p>
        </p:txBody>
      </p:sp>
      <p:sp>
        <p:nvSpPr>
          <p:cNvPr id="455" name="Google Shape;455;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6" name="Google Shape;406;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Anesthesia delays the hive's activity rhythm</a:t>
            </a:r>
            <a:endParaRPr sz="1800">
              <a:solidFill>
                <a:schemeClr val="dk1"/>
              </a:solidFill>
              <a:latin typeface="Calibri"/>
              <a:ea typeface="Calibri"/>
              <a:cs typeface="Calibri"/>
              <a:sym typeface="Calibri"/>
            </a:endParaRPr>
          </a:p>
        </p:txBody>
      </p:sp>
      <p:sp>
        <p:nvSpPr>
          <p:cNvPr id="407" name="Google Shape;407;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Cheeseman and colleagues measured hive activity under constant dim light. Under constant dim light, the ordinary day-night cycle is removed as the immediate cause of the shifted rhythm. Six hours of daytime anesthesia delayed daily activity and altered rhythmic gene expression in sampled brains. The hive's activity phase shifted by 5.3 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Messenger RNA is the transcript used to produce a gene's protein. The reported delays were 4.9 h for mammalian-type cryptochrome messenger RNA and 4.3 h for period messenger RNA. Clock gene expression remained broadly constitutive. The delays fit a phase shift of the whole daily rhythm, not a pause in every process.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Six hours of anesthesia during subjective night produced no comparable delay. The time-dependent effect points to disturbance of the circadian oscillator. Whole-brain expression averages over many cells, which hides the cells that deliver time information to a compass pathway. Timing of the anesthesia therefore matters for the phase of the rhythm.</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2">
            <a:alphaModFix/>
          </a:blip>
          <a:srcRect b="0" l="0" r="0" t="0"/>
          <a:stretch/>
        </p:blipFill>
        <p:spPr>
          <a:xfrm>
            <a:off x="7441183" y="1280071"/>
            <a:ext cx="3201294" cy="4297561"/>
          </a:xfrm>
          <a:prstGeom prst="rect">
            <a:avLst/>
          </a:prstGeom>
          <a:noFill/>
          <a:ln>
            <a:noFill/>
          </a:ln>
        </p:spPr>
      </p:pic>
      <p:sp>
        <p:nvSpPr>
          <p:cNvPr id="411" name="Google Shape;411;p30"/>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Cheeseman et al. (2012), Fig. 4A–D. Activity rhythms and clock-gene expression.</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Cheeseman et al. (2012)</a:t>
            </a:r>
            <a:endParaRPr sz="1800">
              <a:solidFill>
                <a:schemeClr val="dk1"/>
              </a:solidFill>
              <a:latin typeface="Calibri"/>
              <a:ea typeface="Calibri"/>
              <a:cs typeface="Calibri"/>
              <a:sym typeface="Calibri"/>
            </a:endParaRPr>
          </a:p>
        </p:txBody>
      </p:sp>
      <p:sp>
        <p:nvSpPr>
          <p:cNvPr id="414" name="Google Shape;41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7" name="Google Shape;36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Cloud cover removes direct sun sight</a:t>
            </a:r>
            <a:endParaRPr sz="1800">
              <a:solidFill>
                <a:schemeClr val="dk1"/>
              </a:solidFill>
              <a:latin typeface="Calibri"/>
              <a:ea typeface="Calibri"/>
              <a:cs typeface="Calibri"/>
              <a:sym typeface="Calibri"/>
            </a:endParaRPr>
          </a:p>
        </p:txBody>
      </p:sp>
      <p:sp>
        <p:nvSpPr>
          <p:cNvPr id="368" name="Google Shape;368;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Dyer and Dickinson tested both groups under a cloudy sky. Under those conditions the sun was not visible, so visual access to it could not explain the difference between groups. Their dances therefore reflected learned information about the sun's course. Experience-restricted bees oriented to a morning-afternoon pattern, while full-day bees tracked the local course.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Fully experienced bees' solar estimates followed the continuously changing local sun course. Bees with afternoon-only experience instead used a coarse pattern of the sun's movement. The difference is a refinement of a broad expectation rather than an exact memory of each hourly position. Experience thus sharpens the temporal reference that bees use for sun-compass orientation.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sun's horizontal bearing changes at a variable rate with time, latitude and season. A universal constant angular-rate correction is therefore inadequate. Experience improves the temporal reference used for navigation, making the calibration learned rather than fixed. Bees therefore calibrate the reference to the local sun course over time.</a:t>
            </a:r>
            <a:endParaRPr sz="1800">
              <a:solidFill>
                <a:schemeClr val="dk1"/>
              </a:solidFill>
              <a:latin typeface="Calibri"/>
              <a:ea typeface="Calibri"/>
              <a:cs typeface="Calibri"/>
              <a:sym typeface="Calibri"/>
            </a:endParaRPr>
          </a:p>
        </p:txBody>
      </p:sp>
      <p:pic>
        <p:nvPicPr>
          <p:cNvPr id="371" name="Google Shape;371;p27"/>
          <p:cNvPicPr preferRelativeResize="0"/>
          <p:nvPr/>
        </p:nvPicPr>
        <p:blipFill rotWithShape="1">
          <a:blip r:embed="rId2">
            <a:alphaModFix/>
          </a:blip>
          <a:srcRect b="0" l="0" r="0" t="0"/>
          <a:stretch/>
        </p:blipFill>
        <p:spPr>
          <a:xfrm>
            <a:off x="6488592" y="1280071"/>
            <a:ext cx="5106327" cy="4297561"/>
          </a:xfrm>
          <a:prstGeom prst="rect">
            <a:avLst/>
          </a:prstGeom>
          <a:noFill/>
          <a:ln>
            <a:noFill/>
          </a:ln>
        </p:spPr>
      </p:pic>
      <p:sp>
        <p:nvSpPr>
          <p:cNvPr id="372" name="Google Shape;372;p2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Dyer &amp; Dickinson (1994), Fig. 2B. Experienced bees track the sun under cloud cover.</a:t>
            </a:r>
            <a:endParaRPr sz="1800">
              <a:solidFill>
                <a:schemeClr val="dk1"/>
              </a:solidFill>
              <a:latin typeface="Calibri"/>
              <a:ea typeface="Calibri"/>
              <a:cs typeface="Calibri"/>
              <a:sym typeface="Calibri"/>
            </a:endParaRPr>
          </a:p>
        </p:txBody>
      </p:sp>
      <p:sp>
        <p:nvSpPr>
          <p:cNvPr id="373" name="Google Shape;373;p27"/>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Dyer &amp; Dickinson (1994)</a:t>
            </a:r>
            <a:endParaRPr sz="1800">
              <a:solidFill>
                <a:schemeClr val="dk1"/>
              </a:solidFill>
              <a:latin typeface="Calibri"/>
              <a:ea typeface="Calibri"/>
              <a:cs typeface="Calibri"/>
              <a:sym typeface="Calibri"/>
            </a:endParaRPr>
          </a:p>
        </p:txBody>
      </p:sp>
      <p:sp>
        <p:nvSpPr>
          <p:cNvPr id="375" name="Google Shape;37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Polarization axis sets the dance axis</a:t>
            </a:r>
            <a:endParaRPr sz="1800">
              <a:solidFill>
                <a:schemeClr val="dk1"/>
              </a:solidFill>
              <a:latin typeface="Calibri"/>
              <a:ea typeface="Calibri"/>
              <a:cs typeface="Calibri"/>
              <a:sym typeface="Calibri"/>
            </a:endParaRPr>
          </a:p>
        </p:txBody>
      </p:sp>
      <p:sp>
        <p:nvSpPr>
          <p:cNvPr id="327" name="Google Shape;327;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Evangelista and colleagues trained bees through a 12 m textured tunnel with ultraviolet-transmitting polarizers overhead. A diffuser removed direct sight of the sun and overhead landmarks. The artificial polarization pattern therefore served as the sole celestial cue. Transverse and axial polarizations were presented in separate groups of bees. Each group's waggle runs were then measured on the comb.</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Transverse polarization shifted the waggle runs to a vertical axis on the comb, and axial polarization shifted them to a horizontal axis. The mean axes were about 91.7° and 1.3° relative to horizontal. The dance direction is therefore set by the polarization orientation. The axis constrains the direction without specifying one heading.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single e-vector carries a 180° ambiguity, so the same axis represents opposite travel directions. The bees' dances advertised both alternatives. The result links polarized flight input to the communicated direction, while showing that an axis of headings differs from a fully sun-referenced bearing.</a:t>
            </a:r>
            <a:endParaRPr sz="1800">
              <a:solidFill>
                <a:schemeClr val="dk1"/>
              </a:solidFill>
              <a:latin typeface="Calibri"/>
              <a:ea typeface="Calibri"/>
              <a:cs typeface="Calibri"/>
              <a:sym typeface="Calibri"/>
            </a:endParaRPr>
          </a:p>
        </p:txBody>
      </p:sp>
      <p:pic>
        <p:nvPicPr>
          <p:cNvPr id="330" name="Google Shape;330;p24"/>
          <p:cNvPicPr preferRelativeResize="0"/>
          <p:nvPr/>
        </p:nvPicPr>
        <p:blipFill rotWithShape="1">
          <a:blip r:embed="rId2">
            <a:alphaModFix/>
          </a:blip>
          <a:srcRect b="0" l="0" r="0" t="0"/>
          <a:stretch/>
        </p:blipFill>
        <p:spPr>
          <a:xfrm>
            <a:off x="8256592" y="1280071"/>
            <a:ext cx="1570178" cy="2148780"/>
          </a:xfrm>
          <a:prstGeom prst="rect">
            <a:avLst/>
          </a:prstGeom>
          <a:noFill/>
          <a:ln>
            <a:noFill/>
          </a:ln>
        </p:spPr>
      </p:pic>
      <p:pic>
        <p:nvPicPr>
          <p:cNvPr id="332" name="Google Shape;332;p24"/>
          <p:cNvPicPr preferRelativeResize="0"/>
          <p:nvPr/>
        </p:nvPicPr>
        <p:blipFill rotWithShape="1">
          <a:blip r:embed="rId3">
            <a:alphaModFix/>
          </a:blip>
          <a:srcRect b="0" l="0" r="0" t="0"/>
          <a:stretch/>
        </p:blipFill>
        <p:spPr>
          <a:xfrm>
            <a:off x="8432506" y="3977580"/>
            <a:ext cx="1218497" cy="1782961"/>
          </a:xfrm>
          <a:prstGeom prst="rect">
            <a:avLst/>
          </a:prstGeom>
          <a:noFill/>
          <a:ln>
            <a:noFill/>
          </a:ln>
        </p:spPr>
      </p:pic>
      <p:sp>
        <p:nvSpPr>
          <p:cNvPr id="333" name="Google Shape;333;p24"/>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Evangelista et al. (2014), Fig. 3a–c. Axial polarization and horizontal dance runs.</a:t>
            </a:r>
            <a:endParaRPr sz="1800">
              <a:solidFill>
                <a:schemeClr val="dk1"/>
              </a:solidFill>
              <a:latin typeface="Calibri"/>
              <a:ea typeface="Calibri"/>
              <a:cs typeface="Calibri"/>
              <a:sym typeface="Calibri"/>
            </a:endParaRPr>
          </a:p>
        </p:txBody>
      </p:sp>
      <p:sp>
        <p:nvSpPr>
          <p:cNvPr id="334" name="Google Shape;334;p24"/>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Evangelista et al. (2014)</a:t>
            </a:r>
            <a:endParaRPr sz="1800">
              <a:solidFill>
                <a:schemeClr val="dk1"/>
              </a:solidFill>
              <a:latin typeface="Calibri"/>
              <a:ea typeface="Calibri"/>
              <a:cs typeface="Calibri"/>
              <a:sym typeface="Calibri"/>
            </a:endParaRPr>
          </a:p>
        </p:txBody>
      </p:sp>
      <p:sp>
        <p:nvSpPr>
          <p:cNvPr id="336" name="Google Shape;33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5" name="Google Shape;285;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Tracing links the dorsal rim to the MEDRA</a:t>
            </a:r>
            <a:endParaRPr sz="1800">
              <a:solidFill>
                <a:schemeClr val="dk1"/>
              </a:solidFill>
              <a:latin typeface="Calibri"/>
              <a:ea typeface="Calibri"/>
              <a:cs typeface="Calibri"/>
              <a:sym typeface="Calibri"/>
            </a:endParaRPr>
          </a:p>
        </p:txBody>
      </p:sp>
      <p:sp>
        <p:nvSpPr>
          <p:cNvPr id="286" name="Google Shape;286;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Zeller and colleagues injected fluorescent tracers into the dorsal rim of the honeybee eye. The labeled input reached a distinct dorsal-medulla compartment called the MEDRA. Neighboring medulla regions were distinguished by complementary injections and synapsin labeling. The published micrographs keep anatomical orientation and micrometer scale bars.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Sakura's occlusion experiment tested the same region from a behavioral angle. Covering the dorsal rim eliminated e-vector learning, whereas covering the rest of the eye left it intact. Anatomy and behavior therefore support the same pathway from opposite ends.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Input from the dorsal rim therefore enters the visual system through a specialized compartment. Such an entry pathway identifies where polarization-associated signals first arrive in the optic lobe. Tracing reveals this connection, while the sky-compass response is tested separately.</a:t>
            </a:r>
            <a:endParaRPr sz="1800">
              <a:solidFill>
                <a:schemeClr val="dk1"/>
              </a:solidFill>
              <a:latin typeface="Calibri"/>
              <a:ea typeface="Calibri"/>
              <a:cs typeface="Calibri"/>
              <a:sym typeface="Calibri"/>
            </a:endParaRPr>
          </a:p>
        </p:txBody>
      </p:sp>
      <p:pic>
        <p:nvPicPr>
          <p:cNvPr id="289" name="Google Shape;289;p21"/>
          <p:cNvPicPr preferRelativeResize="0"/>
          <p:nvPr/>
        </p:nvPicPr>
        <p:blipFill rotWithShape="1">
          <a:blip r:embed="rId2">
            <a:alphaModFix/>
          </a:blip>
          <a:srcRect b="0" l="0" r="0" t="0"/>
          <a:stretch/>
        </p:blipFill>
        <p:spPr>
          <a:xfrm>
            <a:off x="6458496" y="1280071"/>
            <a:ext cx="3520330" cy="4232970"/>
          </a:xfrm>
          <a:prstGeom prst="rect">
            <a:avLst/>
          </a:prstGeom>
          <a:noFill/>
          <a:ln>
            <a:noFill/>
          </a:ln>
        </p:spPr>
      </p:pic>
      <p:sp>
        <p:nvSpPr>
          <p:cNvPr id="290" name="Google Shape;290;p21"/>
          <p:cNvSpPr/>
          <p:nvPr/>
        </p:nvSpPr>
        <p:spPr>
          <a:xfrm>
            <a:off x="6458396" y="5604570"/>
            <a:ext cx="35395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Sakura et al. (2012), Fig. 2a,b. Dorsal-rim occlusion and extradorsal-rim controls.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10161836" y="2148796"/>
            <a:ext cx="1462980" cy="1396571"/>
          </a:xfrm>
          <a:prstGeom prst="rect">
            <a:avLst/>
          </a:prstGeom>
          <a:noFill/>
          <a:ln>
            <a:noFill/>
          </a:ln>
        </p:spPr>
      </p:pic>
      <p:sp>
        <p:nvSpPr>
          <p:cNvPr id="292" name="Google Shape;292;p21"/>
          <p:cNvSpPr/>
          <p:nvPr/>
        </p:nvSpPr>
        <p:spPr>
          <a:xfrm>
            <a:off x="10161836" y="3618607"/>
            <a:ext cx="148203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Zeller et al. (2015), Fig. 1A–F. Dorsal-rim input reaches dorsal medulla.</a:t>
            </a:r>
            <a:endParaRPr sz="1800">
              <a:solidFill>
                <a:schemeClr val="dk1"/>
              </a:solidFill>
              <a:latin typeface="Calibri"/>
              <a:ea typeface="Calibri"/>
              <a:cs typeface="Calibri"/>
              <a:sym typeface="Calibri"/>
            </a:endParaRPr>
          </a:p>
        </p:txBody>
      </p:sp>
      <p:sp>
        <p:nvSpPr>
          <p:cNvPr id="293" name="Google Shape;293;p21"/>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Sakura et al. (2012); Zeller et al. (2015)</a:t>
            </a:r>
            <a:endParaRPr sz="1800">
              <a:solidFill>
                <a:schemeClr val="dk1"/>
              </a:solidFill>
              <a:latin typeface="Calibri"/>
              <a:ea typeface="Calibri"/>
              <a:cs typeface="Calibri"/>
              <a:sym typeface="Calibri"/>
            </a:endParaRPr>
          </a:p>
        </p:txBody>
      </p:sp>
      <p:sp>
        <p:nvSpPr>
          <p:cNvPr id="295" name="Google Shape;295;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Land scenes carry more image contrast</a:t>
            </a:r>
            <a:endParaRPr sz="1800">
              <a:solidFill>
                <a:schemeClr val="dk1"/>
              </a:solidFill>
              <a:latin typeface="Calibri"/>
              <a:ea typeface="Calibri"/>
              <a:cs typeface="Calibri"/>
              <a:sym typeface="Calibri"/>
            </a:endParaRPr>
          </a:p>
        </p:txBody>
      </p:sp>
      <p:sp>
        <p:nvSpPr>
          <p:cNvPr id="241" name="Google Shape;241;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500"/>
              <a:buFont typeface="Arial"/>
              <a:buNone/>
            </a:pPr>
            <a:r>
              <a:rPr b="0" i="0" lang="en-US" sz="1500">
                <a:solidFill>
                  <a:srgbClr val="252B32"/>
                </a:solidFill>
                <a:latin typeface="Arial"/>
                <a:ea typeface="Arial"/>
                <a:cs typeface="Arial"/>
                <a:sym typeface="Arial"/>
              </a:rPr>
              <a:t>Tautz and colleagues photographed land and water scenes along the experimental routes. Contrast was calculated from intensity variation inside defined image windows, rather than estimated by eye. Each scene therefore produced a numeric value that could be compared across habitats. The original photographs keep the investigators' measurement windows.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500">
                <a:solidFill>
                  <a:srgbClr val="252B32"/>
                </a:solidFill>
                <a:latin typeface="Arial"/>
                <a:ea typeface="Arial"/>
                <a:cs typeface="Arial"/>
                <a:sym typeface="Arial"/>
              </a:rPr>
              <a:t>Mean contrast was higher over land than over water. The low-contrast water segment coincided with slower accumulation of waggle duration, while terrestrial segments supported larger increases. Contrast offers a plausible link between natural image structure and effective optic flow.</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500"/>
              <a:buFont typeface="Arial"/>
              <a:buNone/>
            </a:pPr>
            <a:r>
              <a:rPr b="0" i="0" lang="en-US" sz="1500">
                <a:solidFill>
                  <a:srgbClr val="252B32"/>
                </a:solidFill>
                <a:latin typeface="Arial"/>
                <a:ea typeface="Arial"/>
                <a:cs typeface="Arial"/>
                <a:sym typeface="Arial"/>
              </a:rPr>
              <a:t>Controlled tunnel-texture experiments change visual motion directly. Field measurements instead show the dependence under ordinary foraging conditions. The two approaches therefore test the same odometer from opposite directions. Both lines of evidence point to the same conclusion about optic flow.</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2">
            <a:alphaModFix/>
          </a:blip>
          <a:srcRect b="0" l="0" r="0" t="0"/>
          <a:stretch/>
        </p:blipFill>
        <p:spPr>
          <a:xfrm>
            <a:off x="8322932" y="1280071"/>
            <a:ext cx="1437646" cy="2148780"/>
          </a:xfrm>
          <a:prstGeom prst="rect">
            <a:avLst/>
          </a:prstGeom>
          <a:noFill/>
          <a:ln>
            <a:noFill/>
          </a:ln>
        </p:spPr>
      </p:pic>
      <p:pic>
        <p:nvPicPr>
          <p:cNvPr id="246" name="Google Shape;246;p18"/>
          <p:cNvPicPr preferRelativeResize="0"/>
          <p:nvPr/>
        </p:nvPicPr>
        <p:blipFill rotWithShape="1">
          <a:blip r:embed="rId3">
            <a:alphaModFix/>
          </a:blip>
          <a:srcRect b="0" l="0" r="0" t="0"/>
          <a:stretch/>
        </p:blipFill>
        <p:spPr>
          <a:xfrm>
            <a:off x="7712190" y="3977580"/>
            <a:ext cx="2658982" cy="1782961"/>
          </a:xfrm>
          <a:prstGeom prst="rect">
            <a:avLst/>
          </a:prstGeom>
          <a:noFill/>
          <a:ln>
            <a:noFill/>
          </a:ln>
        </p:spPr>
      </p:pic>
      <p:sp>
        <p:nvSpPr>
          <p:cNvPr id="247" name="Google Shape;247;p18"/>
          <p:cNvSpPr/>
          <p:nvPr/>
        </p:nvSpPr>
        <p:spPr>
          <a:xfrm>
            <a:off x="6458396" y="583376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Tautz et al. (2004), Fig. 5. Natural terrestrial route and image-analysis windows.</a:t>
            </a:r>
            <a:endParaRPr sz="1800">
              <a:solidFill>
                <a:schemeClr val="dk1"/>
              </a:solidFill>
              <a:latin typeface="Calibri"/>
              <a:ea typeface="Calibri"/>
              <a:cs typeface="Calibri"/>
              <a:sym typeface="Calibri"/>
            </a:endParaRPr>
          </a:p>
        </p:txBody>
      </p:sp>
      <p:sp>
        <p:nvSpPr>
          <p:cNvPr id="248" name="Google Shape;248;p18"/>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Tautz et al. (2004)</a:t>
            </a:r>
            <a:endParaRPr sz="1800">
              <a:solidFill>
                <a:schemeClr val="dk1"/>
              </a:solidFill>
              <a:latin typeface="Calibri"/>
              <a:ea typeface="Calibri"/>
              <a:cs typeface="Calibri"/>
              <a:sym typeface="Calibri"/>
            </a:endParaRPr>
          </a:p>
        </p:txBody>
      </p:sp>
      <p:sp>
        <p:nvSpPr>
          <p:cNvPr id="250" name="Google Shape;250;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Closing the tunnel stops recruitment</a:t>
            </a:r>
            <a:endParaRPr sz="1800">
              <a:solidFill>
                <a:schemeClr val="dk1"/>
              </a:solidFill>
              <a:latin typeface="Calibri"/>
              <a:ea typeface="Calibri"/>
              <a:cs typeface="Calibri"/>
              <a:sym typeface="Calibri"/>
            </a:endParaRPr>
          </a:p>
        </p:txBody>
      </p:sp>
      <p:sp>
        <p:nvSpPr>
          <p:cNvPr id="202" name="Google Shape;202;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For the first 30 min, the closed tunnel kept dancers from advertising the tunnel journey. Recruits did not arrive at the control stations during this period. Opening the tunnel started dancing and recruitment at the stations. The stations offered neither food reward nor added scent, so arrivals reflect the dance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The northwestern test used the same logic: a closed tunnel before each trial prevented the relevant dances and recruitment. Each trial therefore links a specific dance to the search it triggers. Recruits searched at distances consistent with the route-specific visual calibration. The result connects dance decoding with the followers' own visual navigation.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The search site is thus a measure of how followers decode the dance. The decoding depends on the visual conditions that each route provides, so no single distance dictionary applies. The northwestern peak near 140 m matched that route's calibration of about 157 m. The southern calibration would have predicted about 52 m.</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2">
            <a:alphaModFix/>
          </a:blip>
          <a:srcRect b="0" l="0" r="0" t="0"/>
          <a:stretch/>
        </p:blipFill>
        <p:spPr>
          <a:xfrm>
            <a:off x="7772126" y="1280071"/>
            <a:ext cx="2539109" cy="4297561"/>
          </a:xfrm>
          <a:prstGeom prst="rect">
            <a:avLst/>
          </a:prstGeom>
          <a:noFill/>
          <a:ln>
            <a:noFill/>
          </a:ln>
        </p:spPr>
      </p:pic>
      <p:sp>
        <p:nvSpPr>
          <p:cNvPr id="206" name="Google Shape;206;p1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Esch et al. (2001), Fig. 2a–c. Recruit searches after tunnel-distance dances.</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Esch et al. (2001)</a:t>
            </a:r>
            <a:endParaRPr sz="1800">
              <a:solidFill>
                <a:schemeClr val="dk1"/>
              </a:solidFill>
              <a:latin typeface="Calibri"/>
              <a:ea typeface="Calibri"/>
              <a:cs typeface="Calibri"/>
              <a:sym typeface="Calibri"/>
            </a:endParaRPr>
          </a:p>
        </p:txBody>
      </p:sp>
      <p:sp>
        <p:nvSpPr>
          <p:cNvPr id="209" name="Google Shape;209;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Short tunnel journeys signal long distances</a:t>
            </a:r>
            <a:endParaRPr sz="1800">
              <a:solidFill>
                <a:schemeClr val="dk1"/>
              </a:solidFill>
              <a:latin typeface="Calibri"/>
              <a:ea typeface="Calibri"/>
              <a:cs typeface="Calibri"/>
              <a:sym typeface="Calibri"/>
            </a:endParaRPr>
          </a:p>
        </p:txBody>
      </p:sp>
      <p:sp>
        <p:nvSpPr>
          <p:cNvPr id="163" name="Google Shape;163;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Srinivasan and colleagues used the outdoor calibration to read dances that followed tunnel passages. The first arrangement had 41 m of total travel, with 6 m inside the tunnel. Its mean waggle duration of 528.8 ms corresponded to about 230 m outdoors, far beyond the physical route.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The second arrangement moved the tunnel nearer the hive and covered 12 m in total. Its mean duration of 441.2 ms corresponded to about 184 m. Both passages therefore produced an outdoor-equivalent distance many times the journey actually flown.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500">
                <a:solidFill>
                  <a:srgbClr val="252B32"/>
                </a:solidFill>
                <a:latin typeface="Arial"/>
                <a:ea typeface="Arial"/>
                <a:cs typeface="Arial"/>
                <a:sym typeface="Arial"/>
              </a:rPr>
              <a:t>The tunnel's close textured surfaces amplify the visual motion that the bee experiences. Waggle duration therefore records visual surroundings as well as physical meters. The 184 m and 230 m values are outputs of the authors' calibration, rather than records of what a bee experiences.</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2">
            <a:alphaModFix/>
          </a:blip>
          <a:srcRect b="0" l="0" r="0" t="0"/>
          <a:stretch/>
        </p:blipFill>
        <p:spPr>
          <a:xfrm>
            <a:off x="6458400" y="1280071"/>
            <a:ext cx="5166413" cy="3720554"/>
          </a:xfrm>
          <a:prstGeom prst="rect">
            <a:avLst/>
          </a:prstGeom>
          <a:noFill/>
          <a:ln>
            <a:noFill/>
          </a:ln>
        </p:spPr>
      </p:pic>
      <p:sp>
        <p:nvSpPr>
          <p:cNvPr id="167" name="Google Shape;167;p12"/>
          <p:cNvSpPr/>
          <p:nvPr/>
        </p:nvSpPr>
        <p:spPr>
          <a:xfrm>
            <a:off x="6458396" y="5092154"/>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2. Outdoor distance calibration of waggle duration.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70" name="Google Shape;170;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Tunnel texture drives the visual odometer</a:t>
            </a:r>
            <a:endParaRPr sz="1800">
              <a:solidFill>
                <a:schemeClr val="dk1"/>
              </a:solidFill>
              <a:latin typeface="Calibri"/>
              <a:ea typeface="Calibri"/>
              <a:cs typeface="Calibri"/>
              <a:sym typeface="Calibri"/>
            </a:endParaRPr>
          </a:p>
        </p:txBody>
      </p:sp>
      <p:sp>
        <p:nvSpPr>
          <p:cNvPr id="124" name="Google Shape;124;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F5063"/>
              </a:buClr>
              <a:buSzPts val="1600"/>
              <a:buFont typeface="Arial"/>
              <a:buNone/>
            </a:pPr>
            <a:r>
              <a:rPr b="0" i="0" lang="en-US" sz="1500">
                <a:solidFill>
                  <a:srgbClr val="252B32"/>
                </a:solidFill>
                <a:latin typeface="Arial"/>
                <a:ea typeface="Arial"/>
                <a:cs typeface="Arial"/>
                <a:sym typeface="Arial"/>
              </a:rPr>
              <a:t>Srinivasan and colleagues compared outdoor dances with dances after brief tunnel flights. The tunnel was 6.4 m long, 11 cm wide and 20 cm high, so the walls were close to the flying bee. Random black-and-white texture covered the walls and floor, and a mesh ceiling allowed the sky to be seen. The feeder sat 6 m into the tunnel.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500">
                <a:solidFill>
                  <a:srgbClr val="252B32"/>
                </a:solidFill>
                <a:latin typeface="Arial"/>
                <a:ea typeface="Arial"/>
                <a:cs typeface="Arial"/>
                <a:sym typeface="Arial"/>
              </a:rPr>
              <a:t>Returning bees produced waggle dances after this short passage, even though an equally short outdoor journey normally produces round dances. Dance type therefore depends on the visual experience gathered along the route, not only on physical length.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F5063"/>
              </a:buClr>
              <a:buSzPts val="1600"/>
              <a:buFont typeface="Arial"/>
              <a:buNone/>
            </a:pPr>
            <a:r>
              <a:rPr b="0" i="0" lang="en-US" sz="1500">
                <a:solidFill>
                  <a:srgbClr val="252B32"/>
                </a:solidFill>
                <a:latin typeface="Arial"/>
                <a:ea typeface="Arial"/>
                <a:cs typeface="Arial"/>
                <a:sym typeface="Arial"/>
              </a:rPr>
              <a:t>A visual odometer estimates distance from optic flow, the image motion produced by self-motion. Its readout is the duration of the waggle phase. Dance duration therefore encodes the visually experienced distance, which can differ from the physical distance flown. The striped-tunnel control keeps the feeder location fixed while changing the texture.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221065" y="1280071"/>
            <a:ext cx="3641530" cy="4297561"/>
          </a:xfrm>
          <a:prstGeom prst="rect">
            <a:avLst/>
          </a:prstGeom>
          <a:noFill/>
          <a:ln>
            <a:noFill/>
          </a:ln>
        </p:spPr>
      </p:pic>
      <p:sp>
        <p:nvSpPr>
          <p:cNvPr id="128" name="Google Shape;128;p9"/>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Srinivasan et al. (2000), Fig. 1A,B. Tunnel geometry and texture-dependent dances.</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Srinivasan et al. (2000)</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Displaced recruits keep the flight vector</a:t>
            </a:r>
            <a:endParaRPr sz="1800">
              <a:solidFill>
                <a:schemeClr val="dk1"/>
              </a:solidFill>
              <a:latin typeface="Calibri"/>
              <a:ea typeface="Calibri"/>
              <a:cs typeface="Calibri"/>
              <a:sym typeface="Calibri"/>
            </a:endParaRPr>
          </a:p>
        </p:txBody>
      </p:sp>
      <p:sp>
        <p:nvSpPr>
          <p:cNvPr id="85" name="Google Shape;85;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Riley and colleagues released dance followers at sites 200–250 m southwest of the hive, after they had attended dances advertising a feeder 200 m east of the hive. The flight instruction had been decoded at the hive, so the release point was the sole change. Their dances had described the same direction and distance from the hive.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Displaced bees began with a straight eastward flight, averaging 188 m before search. Their initial heading matched the advertised feeder, not the release point. The bees did not calculate a new bearing from the release site toward the real feeder. Straight flights of this kind were measured in the hive-released recruits as well, averaging 206 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dance therefore carries a flight instruction that is tied to the hive's position. A vector from one origin leads to a different endpoint when executed elsewhere. Familiar landmarks can refine the search later, particularly in landscapes with many recognizable features. Riley's landscape was sparse, so the recruit's search depended on the flight vector.</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6458509" y="1280071"/>
            <a:ext cx="5166194" cy="3256062"/>
          </a:xfrm>
          <a:prstGeom prst="rect">
            <a:avLst/>
          </a:prstGeom>
          <a:noFill/>
          <a:ln>
            <a:noFill/>
          </a:ln>
        </p:spPr>
      </p:pic>
      <p:sp>
        <p:nvSpPr>
          <p:cNvPr id="89" name="Google Shape;89;p6"/>
          <p:cNvSpPr/>
          <p:nvPr/>
        </p:nvSpPr>
        <p:spPr>
          <a:xfrm>
            <a:off x="6458396" y="4627662"/>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Riley et al. (2005), Fig. 1. Tracks from hive and displaced release points.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Riley et al. (2005)</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F5063"/>
              </a:buClr>
              <a:buSzPts val="3000"/>
              <a:buFont typeface="Arial"/>
              <a:buNone/>
            </a:pPr>
            <a:r>
              <a:rPr b="1" i="0" lang="en-US" sz="3000">
                <a:solidFill>
                  <a:srgbClr val="3F5063"/>
                </a:solidFill>
                <a:latin typeface="Arial"/>
                <a:ea typeface="Arial"/>
                <a:cs typeface="Arial"/>
                <a:sym typeface="Arial"/>
              </a:rPr>
              <a:t>Waggle angles vary across repeated runs</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The waggle-run angle is measured relative to vertical on the comb, and vertical stands in for the sun inside the dark hive. Dong and colleagues recorded these angles on the crowded, uneven comb surface. A single dance contains repeated waggle runs, and each run carries its own angle, so the dance produces a distribution of angles rather than one value.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Repeated runs spread around a mean angle, and the spread is the divergence the team measured. Bees without experienced dancers to follow produced the largest divergence in their first dances. Precision therefore depends on experience, not only on the direction the dancer is signaling. Later tests of the same bees showed improved directional precision.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B32"/>
              </a:buClr>
              <a:buSzPts val="1600"/>
              <a:buFont typeface="Arial"/>
              <a:buNone/>
            </a:pPr>
            <a:r>
              <a:rPr b="0" i="0" lang="en-US" sz="1400">
                <a:solidFill>
                  <a:srgbClr val="252B32"/>
                </a:solidFill>
                <a:latin typeface="Arial"/>
                <a:ea typeface="Arial"/>
                <a:cs typeface="Arial"/>
                <a:sym typeface="Arial"/>
              </a:rPr>
              <a:t>A follower must convert the comb-relative angle into a flight direction, and that conversion draws on celestial information outside the hive. The dancer supplies the angle, while the follower supplies the sun's bearing. Both steps together turn a comb angle into a flight route toward the resource. Motor precision limits how exactly the angle is produced in the first place.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7948812" y="1280071"/>
            <a:ext cx="2185887" cy="4297561"/>
          </a:xfrm>
          <a:prstGeom prst="rect">
            <a:avLst/>
          </a:prstGeom>
          <a:noFill/>
          <a:ln>
            <a:noFill/>
          </a:ln>
        </p:spPr>
      </p:pic>
      <p:sp>
        <p:nvSpPr>
          <p:cNvPr id="50" name="Google Shape;50;p3"/>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1000"/>
              <a:buFont typeface="Arial"/>
              <a:buNone/>
            </a:pPr>
            <a:r>
              <a:rPr b="0" i="0" lang="en-US" sz="1000">
                <a:solidFill>
                  <a:srgbClr val="606B76"/>
                </a:solidFill>
                <a:latin typeface="Arial"/>
                <a:ea typeface="Arial"/>
                <a:cs typeface="Arial"/>
                <a:sym typeface="Arial"/>
              </a:rPr>
              <a:t>Dong et al. (2023), Fig. 1A. Waggle-run angle, return loops and following bees.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6D4D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Dong et al. (2023)</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06B76"/>
              </a:buClr>
              <a:buSzPts val="900"/>
              <a:buFont typeface="Arial"/>
              <a:buNone/>
            </a:pPr>
            <a:r>
              <a:rPr b="0" i="0" lang="en-US" sz="900">
                <a:solidFill>
                  <a:srgbClr val="606B76"/>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2026-10-08T22:26:11.889Z</dcterms:created>
  <dc:creator>Presenton</dc:creator>
</cp:coreProperties>
</file>