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315" r:id="rId65"/>
    <p:sldId id="258" r:id="rId7"/>
    <p:sldId id="259" r:id="rId8"/>
    <p:sldId id="260" r:id="rId9"/>
    <p:sldId id="314" r:id="rId64"/>
    <p:sldId id="261" r:id="rId10"/>
    <p:sldId id="262" r:id="rId11"/>
    <p:sldId id="263" r:id="rId12"/>
    <p:sldId id="313" r:id="rId63"/>
    <p:sldId id="264" r:id="rId13"/>
    <p:sldId id="312" r:id="rId62"/>
    <p:sldId id="265" r:id="rId14"/>
    <p:sldId id="266" r:id="rId15"/>
    <p:sldId id="311" r:id="rId61"/>
    <p:sldId id="267" r:id="rId16"/>
    <p:sldId id="268" r:id="rId17"/>
    <p:sldId id="269" r:id="rId18"/>
    <p:sldId id="270" r:id="rId19"/>
    <p:sldId id="271" r:id="rId20"/>
    <p:sldId id="272" r:id="rId21"/>
    <p:sldId id="273" r:id="rId22"/>
    <p:sldId id="274" r:id="rId23"/>
    <p:sldId id="310" r:id="rId60"/>
    <p:sldId id="275" r:id="rId24"/>
    <p:sldId id="276" r:id="rId25"/>
    <p:sldId id="277" r:id="rId26"/>
    <p:sldId id="278" r:id="rId27"/>
    <p:sldId id="279" r:id="rId28"/>
    <p:sldId id="309" r:id="rId59"/>
    <p:sldId id="280" r:id="rId29"/>
    <p:sldId id="281" r:id="rId30"/>
    <p:sldId id="308" r:id="rId58"/>
    <p:sldId id="282" r:id="rId31"/>
    <p:sldId id="283" r:id="rId32"/>
    <p:sldId id="307" r:id="rId57"/>
    <p:sldId id="284" r:id="rId33"/>
    <p:sldId id="285" r:id="rId34"/>
    <p:sldId id="286" r:id="rId35"/>
    <p:sldId id="306" r:id="rId56"/>
    <p:sldId id="287" r:id="rId36"/>
    <p:sldId id="288" r:id="rId37"/>
    <p:sldId id="305" r:id="rId55"/>
    <p:sldId id="289" r:id="rId38"/>
    <p:sldId id="290" r:id="rId39"/>
    <p:sldId id="291" r:id="rId40"/>
    <p:sldId id="304" r:id="rId54"/>
    <p:sldId id="292" r:id="rId41"/>
    <p:sldId id="293" r:id="rId42"/>
    <p:sldId id="303" r:id="rId53"/>
    <p:sldId id="294" r:id="rId43"/>
    <p:sldId id="295" r:id="rId44"/>
    <p:sldId id="302" r:id="rId52"/>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ijcUMslIkxRWgWEHnUR1jfYSME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customschemas.google.com/relationships/presentationmetadata" Target="metadata"/><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Navigation II: honeybee waggle dance and sun-compass navigation (von Frisch)</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Honeybee foragers communicate a resource vector on the comb. The study animal is photographed within Dong et al. (2023), Figure 1A; the complete published panel retains its labels and dance-path annotation.</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Direction, visually calibrated distance, time compensation and terminal search are experimentally separable components of recruitment.</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Dong et al. (2023), Fig. 1A. Waggle-run angle, return loops and following bees.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https://doi.org/10.1126/science.ade1702</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Dong S, Lin T, Nieh JC, Tan K (2023). Social signal learning of the waggle dance in honey bees. Science 379(6636): 1015-1018. https://doi.org/10.1126/science.ade1702</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Foragers of Apis mellifera communicate a resource location through the waggle dance, repeated movements on the comb that contain a straight abdominal-wagging run and alternating return loops. A vector specifies a direction and a distance from an origin; here the origin is the hive.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return loops bring the dancer back to the start of another waggle run. The loop itself is not a second advertised destination.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Dong and colleagues filmed individually marked bees visiting a feeder 150 m away. The angle of the waggle run on a vertical comb encoded the food direction relative to the sun, while its duration encoded distance. Attending bees followed the dancer at close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signal concerns a location outside the hive, rather than merely the dancer’s immediate position. The run angle gives the direction relative to the sun and the run duration gives the distance, so one dance specifies a complete vector from the hive.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Dong S, Lin T, Nieh JC, Tan K (2023). Social signal learning of the waggle dance in honey bees. Science 379(6636): 1015-1018. https://doi.org/10.1126/science.ade1702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Dong et al. (2023), Fig. 1A. Waggle-run angle, return loops and following bees.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https://doi.org/10.1126/science.ade1702</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dancer on a vertical comb uses the upward direction as the reference for the sun. The waggle-run angle relative to vertical represents the resource direction relative to the sun outside. This transformation allows direction to be communicated where the sun itself is unavailable.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Sunward is encoded upward on a vertical comb. The absolute flight bearing also depends on the sun’s current position, so a fixed resource can require changing dance angles during the day.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Dong and colleagues recorded dance angles on the crowded, uneven comb surface. They measured divergence among repeated waggle runs rather than assuming that every run conveyed an identical angle. Bees without experienced dancers produced larger directional divergence in their first dances.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Directional encoding therefore has both a reference system and a motor-precision component. A follower must translate the comb-relative angle into a flight direction using celestial information. Gravity supplies the vertical reference that stands in for the sun inside the dark hive.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Dong S, Lin T, Nieh JC, Tan K (2023). Social signal learning of the waggle dance in honey bees. Science 379(6636): 1015-1018. https://doi.org/10.1126/science.ade1702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Dong et al. (2023), Fig. 1A. Waggle-run angle, return loops and following bees.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https://doi.org/10.1126/science.ade1702</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Von Frisch and Lindauer trained marked foragers to a feeding location and then moved the hive into an unfamiliar landscape. In their 1952 displacement experiment, the training feeder was 180 m away in a direction 30° north of west. The bees had learned this route during the afternoon.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four dishes controlled food identity and odor across directions. Capturing arrivals separated an individual’s remembered route from recruitment by another successful bee.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following morning, equally familiar scented food dishes were available in four directions in the new landscape. Arriving bees were captured immediately, preventing successful visitors from returning and recruiting nestmates. Searches favored the previously trained compass direction despite the changed terrestrial surroundings.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supports compensation for the sun’s movement between afternoon training and morning flight. The learned bearing was therefore maintained across the shift in the sun's position and the change of landscape.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von Frisch K, Lindauer M (1954). Himmel und Erde in Konkurrenz bei der Orientierung der Bienen. Die Naturwissenschaften 41(11): 245-253. https://doi.org/10.1007/bf00634944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von Frisch &amp; Lindauer (1954), Fig. 1a,b. Training and unfamiliar release landscapes.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https://doi.org/10.1007/bf00634944</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Riley and colleagues tracked bees that had followed dances advertising an unscented feeder 200 m east of the hive. A harmonic radar detects a small transponder carried by the bee, allowing a trajectory to be measured outside the observation hive.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transponder marks the bee’s location, not a neural signal. The initial straight segment and later search were behaviorally defined from the recorded flight.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Recruits released at the hive generally flew an initially straight, eastward route. Their straight-flight sections averaged 206 m before searching began. Radar positions were acquired every 3 s, permitting a separation between directed travel and more tortuous search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recruits had not previously visited the advertised feeder. The unscented feeding site and the experimental wind direction reduced the possibility of direct odor guidance from the destination. The straight eastward flight reflects a flight vector acquired from the dance.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Riley et al. (2005), Fig. 1. Tracks from hive and displaced release points.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https://doi.org/10.1038/nature03526</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Riley and colleagues captured dance followers at the hive and released them 200–250 m southwest of it. This manipulation preserved the communicated instruction but changed the point from which the recruit began its flight. The real feeder was no longer 200 m east of the release point.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Transport changed the origin without changing the dance. The predicted endpoint for the displaced vector differs from the actual food site.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Displaced bees nevertheless began with an eastward straight flight, averaging 188 m before search. They did not immediately choose the new bearing from the release point toward the actual feeder. The flight instruction therefore retained its direction and approximate distance after displacement.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origin-dependent vector is useful from its specified origin but leads to a different endpoint when executed elsewhere. This result separates a decoded movement instruction from immediate correction to a world location. Bees execute the vector as a movement instruction from the hive and not as a bearing to a place on a map.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Riley et al. (2005), Fig. 1. Tracks from hive and displaced release points.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https://doi.org/10.1038/nature03526</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straight flights of hive-released recruits ended near the advertised feeder on average, but individual endpoints differed by tens of meters. Riley and colleagues then tracked looping searches, some lasting up to 20 min and extending as far as 200 m from the feeding site.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group average can be close to the feeder even when many individual bees miss it. The search phase is a genuine component of recruitment rather than an error-free continuation of the initial vector.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Only two tracked recruits found the unscented feeder. A mean endpoint close to the food location therefore did not imply reliable arrival by every bee. Directional variation increased near the end of the vector flight as directed travel gave way to search.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Dance information supplies an approximate search area. The straight flight brings recruits into the region of the feeder, and the looping search that follows covers the remaining area.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Riley et al. (2005), Fig. 2a,b. Direction changes during initial vector flights.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https://doi.org/10.1038/nature03526</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Riley and colleagues measured flight tracks together with wind velocity to distinguish movement over the ground from movement through the air. A bee exposed to a crosswind must direct its body partly into the wind if it is to maintain the advertised ground track.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Ground velocity combines the bee’s movement through air with air movement over the ground. Distinguishing those quantities prevents heading from being confused with destination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one recorded flight, ground speed was 6.8 m/s while a 3.3 m/s wind acted from a different direction. The reconstructed air velocity was 5.2 m/s. The bee’s air heading differed from its ground-track direction by approximately 28°, counteracting wind drift.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resulting displacement followed the eastward instruction rather than the uncorrected wind-displaced heading. This establishes active compensation during recruitment flight. Maintaining the ground track requires the bee to sense its drift and adjust its heading against the wind.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Riley et al. (2005), Fig. 3a,b. Crosswind compensation during a recruit flight.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https://doi.org/10.1038/nature03526</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Optic flow is the movement of environmental images across the retina during self-motion. Nearby surfaces produce more angular image displacement than distant surfaces for the same translational travel. A narrow textured tunnel therefore increases optic flow without requiring a long physical flight.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tunnel dimensions matter because proximity changes angular image speed. The feeder location and tunnel texture were controlled independently.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Srinivasan and colleagues trained honeybees through a tunnel 6.4 m long, 11 cm wide and 20 cm high. Random black-and-white texture covered the walls and floor; a mesh ceiling allowed a view of the sky. The feeder was positioned 6 m into the tunnel.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Returning bees produced waggle dances after this short passage even when an equally short outdoor journey normally elicited round dances. The preparation separates physical distance from visual motion experienced en route. It supports a visual odometer, a mechanism estimating distance traveled, rather than an exclusively energy-based distance measure.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Srinivasan MV, Zhang S, Altwein M, Tautz J (2000). Honeybee Navigation: Nature and Calibration of the "Odometer". Science 287(5454): 851-853. https://doi.org/10.1126/science.287.5454.851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Srinivasan et al. (2000), Fig. 1A,B. Tunnel geometry and texture-dependent dances.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https://doi.org/10.1126/science.287.5454.851</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Srinivasan and colleagues kept the feeder at the same physical location while replacing random tunnel texture with stripes parallel to flight. Axial stripes change little along the flight axis, reducing the visual motion normally generated by forward travel.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Parallel stripes and random texture impose different visual motion while preserving the target location. The comparison addresses distance estimation rather than reward quality.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35 m outdoor journey followed by 6 m through random texture produced waggle dances in 90% of recorded dances. With axial stripes at the same total distance of 41 m, 86.7% of dances were round dances. Without the tunnel, a feeder at 35 m elicited predominantly round dances.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two 41 m preparations had the same physical journey length but different dance types. The texture control identifies optic flow as the relevant variable, and the visual motion experienced en route sets the duration of the waggle phase.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Srinivasan MV, Zhang S, Altwein M, Tautz J (2000). Honeybee Navigation: Nature and Calibration of the "Odometer". Science 287(5454): 851-853. https://doi.org/10.1126/science.287.5454.851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Srinivasan et al. (2000), Fig. 1A,B. Tunnel geometry and texture-dependent dances.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https://doi.org/10.1126/science.287.5454.851</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Srinivasan and colleagues moved outdoor feeders between 60 and 350 m and measured the duration of each waggle phase on return to the hive. Over this range, mean waggle duration increased approximately linearly with feeder distance.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Duration is the measured motor output. The experimental outdoor calibration gives it a distance interpretation without treating a tunnel flight as an ordinary outdoor flight.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reported calibration increased by 1.88 ms of waggle duration per meter of outdoor travel. It provided a reference for interpreting the unusually long dances produced after textured-tunnel flights. The calibration was measured independently of the tunnel manipulation.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calibration relates a measured signal to a known quantity under specified conditions. Tunnel dances can then be expressed as the outdoor distance that would produce the same waggle duration.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Srinivasan MV, Zhang S, Altwein M, Tautz J (2000). Honeybee Navigation: Nature and Calibration of the "Odometer". Science 287(5454): 851-853. https://doi.org/10.1126/science.287.5454.851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Srinivasan et al. (2000), Fig. 2. Outdoor distance calibration of waggle duration.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https://doi.org/10.1126/science.287.5454.851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Srinivasan and colleagues used the outdoor calibration to interpret dances following textured-tunnel passages. A 41 m journey containing 6 m inside the tunnel produced a mean waggle duration of 528.8 ms, corresponding to approximately 230 m in the outdoor calibration.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two tunnel conditions were mapped onto the published outdoor relation. They establish a visual dependence of the signal, without requiring a verbal attribution of perceived meters to the bee.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second arrangement placed the tunnel nearer the hive, producing only 12 m of total travel. Its mean duration was 441.2 ms, corresponding to approximately 184 m outdoors. Both preparations generated a disproportionately large distance signal despite their different outdoor approach lengths.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close textured surfaces amplified the visually measured journey. The comparison rejects a simple account in which waggle duration reports physical meters independently of visual surroundings. Strong image motion from the nearby walls explains why only 12 m of travel could signal about 184 m outdoors.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Srinivasan MV, Zhang S, Altwein M, Tautz J (2000). Honeybee Navigation: Nature and Calibration of the "Odometer". Science 287(5454): 851-853. https://doi.org/10.1126/science.287.5454.851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Srinivasan et al. (2000), Fig. 2. Outdoor distance calibration of waggle duration.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https://doi.org/10.1126/science.287.5454.851</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Esch and colleagues trained dancers to fly 3 m outdoors and then through an 8 m textured tunnel toward the south. Although the actual feeder was only 11 m from the hive, returning bees produced waggle runs averaging 358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Bees arriving at control stations were captured so their own return dances could not create additional recruitment to the station. The search behavior tests decoding independently of the dancer’s physical flight length.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local outdoor calibration associated this duration with approximately 72 m. Newly recruited bees searched predominantly at a control station 70 m south of the hive rather than at the tunnel feeder. Control stations offered neither food reward nor an added scent.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the first 30 min, the tunnel was closed: dancers did not advertise the tunnel journey and recruits did not arrive at the stations. Opening it initiated dancing and subsequent recruitment. Followers therefore searched at the distance advertised by the visually inflated dance and not at the physical location of the feeder.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Esch HE, Zhang S, Srinivasan MV, Tautz J (2001). Honeybee dances communicate distances measured by optic flow. Nature 411(6837): 581-583. https://doi.org/10.1038/35079072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Esch et al. (2001), Fig. 2a–c. Recruit searches after tunnel-distance dances.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https://doi.org/10.1038/35079072</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Esch and colleagues measured outdoor dance durations separately for southern and northwestern routes. A given waggle duration corresponded to different physical distances on the two routes, even though both involved ordinary outdoor flight.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graph distinguishes southern squares from northwestern triangles. Duration can carry a reliable route-specific instruction even when physical meters differ between routes.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example, 270 ms corresponded to about 52 m using the southern relation but about 157 m using the northwestern relation. The northwestern landscape generated less distance signal per physical meter than the southern landscape. A single route-independent conversion would therefore misread the dance.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relevant quantity is accumulated visual motion shaped by the route. Terrain and viewing geometry can change the relation between optic flow and physical distance. A given waggle duration therefore corresponds to a distance only after the visual conditions of the route are taken into account.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Esch HE, Zhang S, Srinivasan MV, Tautz J (2001). Honeybee dances communicate distances measured by optic flow. Nature 411(6837): 581-583. https://doi.org/10.1038/35079072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Esch et al. (2001), Fig. 1. Outdoor calibration of dance duration.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https://doi.org/10.1038/35079072</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Esch and colleagues repeated the tunnel recruitment test with a northwestern approach: 3 m outdoors followed by 6 m through the tunnel. The actual feeder was 9 m away, and returning dancers produced waggle runs averaging 270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tunnel-distance instruction can be shared because dancer and follower navigate comparable visual terrain. The physical feeder distance and the searched distance remain experimentally distinct.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Recruit searches peaked near 140 m along the northwestern route. The northwestern outdoor calibration predicted approximately 157 m, whereas applying the southern calibration would predict only about 52 m. Recruits therefore searched where a route-appropriate visual-distance interpretation placed the destination.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Stations were unrewarded, and closing the tunnel before each experiment prevented the relevant dances and recruitment. The result connects dance decoding with followers’ own visual navigation. Recruits applied the visual calibration of their own route when they converted the dance into a search distance.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Esch HE, Zhang S, Srinivasan MV, Tautz J (2001). Honeybee dances communicate distances measured by optic flow. Nature 411(6837): 581-583. https://doi.org/10.1038/35079072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Esch et al. (2001), Fig. 2a–c. Recruit searches after tunnel-distance dances.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https://doi.org/10.1038/35079072</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Tautz and colleagues moved feeders along two routes, each 580 m long. One route crossed land, water and then an island; the other remained over land. Marked foragers were trained to follow the moving food source, including a feeder carried by boat.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Maintaining trained bees at the boat feeder allowed distance signals to be measured even when spontaneous recruitment onto the water was uncommon.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each position, returning dances were filmed and waggle-run duration measured. The experiment tested whether the tunnel-defined visual odometer also depended on natural terrain. Both routes increased physical distance without the artificial proximity of tunnel walls.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Water-crossing bees continued to signal increasing distance, but the rate of increase differed across route segments. Recruits were scarce while the feeder was over water and reappeared on the island. Recruitment success and distance encoding are related but distinct outcomes, and the habitat change can affect both.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Tautz J, Zhang S, Spaethe J, Brockmann A, Si A, Srinivasan M (2004). Honeybee Odometry: Performance in Varying Natural Terrain. PLoS Biology 2(7): e211. https://doi.org/10.1371/journal.pbio.0020211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Tautz et al. (2004), Fig. 1. Land, water and island routes.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https://doi.org/10.1371/journal.pbio.0020211</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On the land–water–island route, Tautz and colleagues measured a waggle-duration increase of 1.970 ms/m over the first land segment, 0.546 ms/m over water and 2.243 ms/m over the island. Equal increments of physical travel therefore contributed unequally to the dance signal.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units are milliseconds of additional waggle duration per physical meter. A flatter slope means less signal increment, not necessarily a lower flight speed.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Segment-specific relations captured the change more closely than a single constant slope across the whole route. An all-land comparison route lacked a corresponding water-associated flattening. The control separated a specific terrain transition from a general dependence on increasing feeder distance.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visual odometer need not stop working over water; it can accumulate less effective image motion there. Over water the low contrast of the surface yields less image motion per meter, so the waggle duration rises more slowly.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Tautz J, Zhang S, Spaethe J, Brockmann A, Si A, Srinivasan M (2004). Honeybee Odometry: Performance in Varying Natural Terrain. PLoS Biology 2(7): e211. https://doi.org/10.1371/journal.pbio.0020211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Tautz et al. (2004), Fig. 2A,B. Distance coding changes over water.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https://doi.org/10.1371/journal.pbio.0020211</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Visual contrast measures differences in image intensity that make spatial structure detectable. Tautz and colleagues photographed land and water scenes along the experimental routes and analyzed intensity variation in defined image windows.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Low contrast can weaken motion signals even when the animal continues moving. The photographs document the actual terrain; they are not a reconstructed visual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Mean contrast was greater over land than over water. The low-contrast water segment coincided with slower accumulation of waggle duration, whereas the terrestrial segments supported larger increases. The original scene photographs retain the investigators’ measurement windows.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Contrast provides a plausible connection between natural image structure and effective optic flow. The controlled tunnel-texture experiments supply a separate intervention on visual motion, and the field measurements establish ecological dependence under ordinary foraging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Tautz J, Zhang S, Spaethe J, Brockmann A, Si A, Srinivasan M (2004). Honeybee Odometry: Performance in Varying Natural Terrain. PLoS Biology 2(7): e211. https://doi.org/10.1371/journal.pbio.0020211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Srinivasan MV, Zhang S, Altwein M, Tautz J (2000). Honeybee Navigation: Nature and Calibration of the "Odometer". Science 287(5454): 851-853. https://doi.org/10.1126/science.287.5454.851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Tautz et al. (2004), Fig. 4. Scenes used to compare land and water contrast.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https://doi.org/10.1371/journal.pbio.0020211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Tautz et al. (2004), Fig. 5. Natural terrestrial route and image-analysis windows.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https://doi.org/10.1371/journal.pbio.0020211</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Polarized light has a preferred orientation of its electric-field oscillation, called the e-vector. Sakura and colleagues tested whether restrained honeybees could discriminate two e-vector directions presented from above without having to complete a navigational journey.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Rewarded and unrewarded directions differed by 90°. The dorsal-rim anatomy is from Zeller and colleagues; it identifies the sensory entry region investigated with occlusion in Sakura’s behavioral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One direction was paired with sucrose; the perpendicular direction was not rewarded. The proboscis extension response, extension of the feeding mouthparts, supplied a behavioral readout of association. During ultraviolet-light conditioning, responses increased to the rewarded direction while remaining low to the other.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test establishes learned discrimination of polarization orientation independently of free-flight steering. Head-fixed bees could also learn, supporting detection without repeated active head scanning. Detection of the e-vector alone is sufficient for the association, so the sensory input to a polarization compass can be studied without a journey.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 M, Okada R, Aonuma H (2012). Evidence for instantaneous e-vector detection in the honeybee using an associative learning paradigm. Proceedings of the Royal Society B: Biological Sciences 279(1728): 535-542. https://doi.org/10.1098/rspb.2011.0929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 et al. (2012), Fig. 1. Rewarded and unrewarded polarization directions.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https://doi.org/10.1098/rspb.2011.0929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1A–F. Dorsal-rim input reaches dorsal medulla.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Sakura and colleagues repeated polarization conditioning with ultraviolet light near 350 nm, blue light near 442 nm and green light near 546 nm. Each preparation used a rewarded e-vector and a perpendicular unrewarded e-vector.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three wavelength conditions isolate spectral dependence. The source anatomy places dorsal-rim inputs in the dorsal medulla, but wavelength-dependent learning itself was measured behaviorally.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Bees acquired the discrimination under ultraviolet stimulation but did not acquire it under the tested blue or green conditions. The wavelength comparison controlled the form of the associative task while changing the available spectral input. Ordinary responsiveness to sucrose was assessed separately.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is consistent with ultraviolet-sensitive polarization input rather than a wavelength-independent task solution. Ultraviolet stimulation is therefore the spectral input that supports polarization discrimination in this task.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 M, Okada R, Aonuma H (2012). Evidence for instantaneous e-vector detection in the honeybee using an associative learning paradigm. Proceedings of the Royal Society B: Biological Sciences 279(1728): 535-542. https://doi.org/10.1098/rspb.2011.0929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 et al. (2012), Fig. 3a–c. Learning with ultraviolet, blue and green 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https://doi.org/10.1098/rspb.2011.0929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1A–F. Dorsal-rim input reaches dorsal medulla.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dorsal rim area is a specialized region near the upper edge of the compound eye associated with skylight polarization detection. Sakura and colleagues painted either this region or the rest of the eye before ultraviolet polarization conditioning.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extradorsal-rim condition leaves the candidate polarization-sensitive region available. This is a stronger localization control than covering the whole eye.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Bees with the dorsal rim covered did not learn the rewarded e-vector. Bees with the extradorsal-rim region covered retained discrimination, despite having much of the eye occluded. This complementary control links the behavioral effect to the specialized region rather than simply to reduced exposed eye area.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supports a necessary dorsal-rim contribution under these conditions. Zeller and colleagues traced input from this region into a specialized dorsal-medulla compartment. Together the occlusion and tracing results place the dorsal rim and the dorsal-medulla compartment on the sensory pathway for skylight polarization.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 M, Okada R, Aonuma H (2012). Evidence for instantaneous e-vector detection in the honeybee using an associative learning paradigm. Proceedings of the Royal Society B: Biological Sciences 279(1728): 535-542. https://doi.org/10.1098/rspb.2011.0929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 et al. (2012), Fig. 2a,b. Dorsal-rim occlusion and extradorsal-rim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https://doi.org/10.1098/rspb.2011.0929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1A–F. Dorsal-rim input reaches dorsal medulla.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Kraft and colleagues trained bees in a four-tunnel maze with one entrance and three possible exits. Each tunnel was 125 cm long, 11 cm wide and 18 cm high. Polarizing filters above the tunnels specified illumination parallel or perpendicular to the flight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original preparation drawing comes from the primary article. Relative polarization means orientation with respect to the tunnel axis, rather than a compass direction written on the maze.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rewarded exit carried the same relative polarization orientation as the entrance. Incorrect exits offered no reward; during tests, choices were measured without reward. A diffuser prevented a direct view of the sun and obscured overhead landmarks.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preparation asks whether a bee can associate a route with a particular relationship between body axis and e-vector. The angle between the body axis and the e-vector is enough to solve the task. Moving the illumination among exits separates polarization from a learned preference for turning or going straight.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Kraft P, Evangelista C, Dacke M, Labhart T, Srinivasan MV (2011). Honeybee navigation: following routes using polarized-light cues. Philosophical Transactions of the Royal Society B: Biological Sciences 366(1565): 703-708. https://doi.org/10.1098/rstb.2010.0203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Kraft et al. (2011), Fig. 1. Four-tunnel polarized-light maze.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https://doi.org/10.1098/rstb.2010.0203</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 Kraft and colleagues’ straight-ahead training condition, bees chose the rewarded tunnel on 67% of tests with the original illumination arrangement. Moving the rewarded polarization to the left exit raised left choices from 15% to 28%, but straight-ahead choices remained at 51%.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two training conditions are separate preparations. Their different transfer patterns argue against treating all choices as a pure readout of one sensory cue.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the right-turn training condition, bees chose the rewarded right exit on 74% of tests. When its polarization was moved to the straight-ahead exit, straight-ahead choices reached 56%. Three exits gave a random-choice level of approximately 33%.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cue relocation changed behavior, but it did not erase the learned route preference uniformly across training conditions. Polarization and motor-route memory can both influence choice. The learned polarization cue is relative to the flight axis, and it combines with the turn made at the exit.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Kraft P, Evangelista C, Dacke M, Labhart T, Srinivasan MV (2011). Honeybee navigation: following routes using polarized-light cues. Philosophical Transactions of the Royal Society B: Biological Sciences 366(1565): 703-708. https://doi.org/10.1098/rstb.2010.0203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Kraft et al. (2011), Fig. 3a,b. Choices after relocating the rewarded polarization.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https://doi.org/10.1098/rstb.2010.0203</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Evangelista and colleagues trained bees through a 12 m textured tunnel covered by ultraviolet-transmitting polarizers and a diffuser. The diffuser removed a direct view of the sun and overhead landmarks, leaving the artificial polarization pattern as the celestial cue.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polarizer orientation changed while tunnel direction remained fixed. The original article contains the preparation images and measured dance distributions; no direction plots have been reconstructed.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With transverse polarization, waggle runs clustered along a vertical axis on the comb. With axial polarization, they clustered along a horizontal axis. The reported mean axes were approximately 91.7° and 1.3° relative to horizontal, respectively.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single e-vector has a 180° ambiguity: the same axis can represent opposite travel directions. Bees advertised both alternatives rather than a unique direction. The experiment links polarized flight input to the communicated direction while distinguishing an axis of possible headings from a fully disambiguated sun-referenced bearing.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Evangelista C, Kraft P, Dacke M, Labhart T, Srinivasan MV (2014). Honeybee navigation: critically examining the role of the polarization compass. Philosophical Transactions of the Royal Society B: Biological Sciences 369(1636): 20130037. https://doi.org/10.1098/rstb.2013.0037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Evangelista et al. (2014), Fig. 2a–c. Transverse polarization and vertical dance runs.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https://doi.org/10.1098/rstb.2013.0037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Evangelista et al. (2014), Fig. 3a–c. Axial polarization and horizontal dance runs.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https://doi.org/10.1098/rstb.2013.0037</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Evangelista and colleagues also changed the polarization axis halfway along the tunnel. The first 6 m and the second 6 m provided perpendicular e-vector orientations, although the physical tunnel itself remained straight.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source figure includes the authors’ stimulus arrangement and measured durations. The suggested two-leg geometry is an interpretation of the behavior, not a directly observed physical turn.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the two-segment journey, bees advertised diagonal directions consistent with interpreting a turn between the segments. Their mean waggle duration was shorter than after a tunnel with one uniform polarization axis. The authors related this reduced distance signal to an inferred two-leg displacement.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intervention alters the sensory compass instruction without inserting an actual corner. It supports combination of directional input with a distance estimate when generating the dance. The shorter waggle duration fits a journey whose two legs partly cancel in net displacement.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Evangelista C, Kraft P, Dacke M, Labhart T, Srinivasan MV (2014). Honeybee navigation: critically examining the role of the polarization compass. Philosophical Transactions of the Royal Society B: Biological Sciences 369(1636): 20130037. https://doi.org/10.1098/rstb.2013.0037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Evangelista et al. (2014), Fig. 8. Distance signals after switching polarization mid-route.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https://doi.org/10.1098/rstb.2013.0037</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Solar azimuth is the sun’s horizontal bearing; an ephemeris describes its changing position over the day. Dyer and Dickinson reared bees in an incubator and allowed them to fly outside only during the late afternoon.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Cloud cover removed direct celestial information during the test. Direction was inferred from dances relative to a known food route, not from an electrode measurement of a sun representation.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On a cloudy test day, these bees flew for the first time during morning and early afternoon. Their dances indicated a morning solar estimate approximately 180° from the evening azimuth they had previously experienced. Around local noon, they switched toward the familiar evening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bees therefore supplied an approximate morning reference without having directly experienced that portion of the sun’s course. The step-like pattern supports a general expectation of daily solar movement refined by experience. Experience at one time of day therefore seeds an expectation about the rest of the sun's course.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Dyer FC, Dickinson JA (1994). Development of sun compensation by honeybees: how partially experienced bees estimate the sun's course. Proceedings of the National Academy of Sciences 91(10): 4471-4474. https://doi.org/10.1073/pnas.91.10.4471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Dyer &amp; Dickinson (1994), Fig. 2A. Solar estimates after afternoon-only experience.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https://doi.org/10.1073/pnas.91.10.4471</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Dyer and Dickinson compared experience-restricted bees with bees that had previously flown throughout the day. Both groups were tested under a cloudy sky, so current direct sight of the sun could not explain the difference in their dance orientations.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actual daily course was known independently from astronomical position. Shared cloud cover controls the availability of immediate celestial cues across the two experience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Fully experienced bees’ solar estimates followed the continuously changing local sun course more closely. Bees with afternoon-only experience instead used the coarse morning–afternoon pattern. The comparison separates a broad expectation about solar movement from its more precise local calibration.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sun’s horizontal bearing changes at a variable rate with time, latitude and season; a universal constant angular-rate correction is insufficient. Experience improves the temporal reference used for navigation. Fully experienced bees therefore calibrate the local solar course across the day, while afternoon-only bees retain the coarse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Dyer FC, Dickinson JA (1994). Development of sun compensation by honeybees: how partially experienced bees estimate the sun's course. Proceedings of the National Academy of Sciences 91(10): 4471-4474. https://doi.org/10.1073/pnas.91.10.4471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Dyer &amp; Dickinson (1994), Fig. 2B. Experienced bees track the sun under cloud cover.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https://doi.org/10.1073/pnas.91.10.4471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circadian clock is an internal timing system with an approximately daily cycle. Cheeseman and colleagues used 2% isoflurane anesthesia to perturb this timing system and tested subsequent sun-compass homing.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comparison was between long and short anesthesia, rather than between treatment and an unhandled animal alone. Vanishing bearing samples initial orientation and does not establish eventual homing success.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the Southern Hemisphere, bees trained to a feeder 100 m from the hive were transported 6 km into unfamiliar terrain. Six-hour anesthesia produced an approximately 87° anticlockwise shift in vanishing bearing relative to a 30-min anesthetic control. A vanishing bearing is the direction at which a departing bee leaves the observer’s view.</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time error predicts a directional error because solar bearing depends on time of day. The anticlockwise shift after six-hour anesthesia fits a clock that was delayed, since the compass bearing is computed from the time of day.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Cheeseman JF, Winnebeck EC, Millar CD, Kirkland LS, Sleigh J, Goodwin M, Pawley MDM, Bloch G, Lehmann K, Menzel R, Warman GR (2012). General anesthesia alters time perception by phase shifting the circadian clock. Proceedings of the National Academy of Sciences 109(18): 7061-7066. https://doi.org/10.1073/pnas.1201734109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Cheeseman et al. (2012), Fig. 1. Anesthesia shifts Southern Hemisphere bearings.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https://doi.org/10.1073/pnas.1201734109</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Cheeseman and colleagues repeated the navigation test in the Northern Hemisphere using harmonic radar. Bees trained to a feeder 300 m from the hive were displaced 500 m before release, allowing the initial homeward vector flight to be separated from later correction.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compass error tied to solar movement can reverse sign across hemispheres. A fixed lateral motor bias would not predict that reversal.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Six-hour anesthesia shifted the initial vector approximately 58° clockwise relative to the 30-min control. Unanesthetized catch-and-release bees provided another handling comparison. The direction of the error was opposite to the Southern Hemisphere result, as expected from the different solar course.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hemisphere comparison links the behavioral error to sun-compass timing rather than to a fixed tendency to turn left or right after treatment. The sun moves in opposite rotational senses in the two hemispheres, so a delayed clock produces opposite errors. The measured trajectory documents an altered initial compass instruction.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Cheeseman JF, Winnebeck EC, Millar CD, Kirkland LS, Sleigh J, Goodwin M, Pawley MDM, Bloch G, Lehmann K, Menzel R, Warman GR (2012). General anesthesia alters time perception by phase shifting the circadian clock. Proceedings of the National Academy of Sciences 109(18): 7061-7066. https://doi.org/10.1073/pnas.1201734109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Cheeseman et al. (2012), Fig. 2A,B. Northern Hemisphere tracks after clock disruption.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https://doi.org/10.1073/pnas.1201734109</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Cheeseman and colleagues measured hive activity under constant dim light, removing ordinary day–night transitions as the immediate cause of a shifted rhythm. Daytime six-hour anesthesia delayed daily activity and altered rhythmic gene expression in sampled bee brains.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Cryptochrome and period expression were sampled across the daily cycle rather than at a single post-treatment time. A phase shift changes when the rhythm peaks, not simply whether a gene is expressed.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reported phase delays were 4.9 h for mammalian-type cryptochrome messenger RNA and 4.3 h for period messenger RNA. Messenger RNA is the transcript used to produce a gene’s protein. The sampled hive’s activity phase shifted by 5.3 h, while clock expression remained broadly constitutive.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Six-hour anesthesia during subjective night did not produce the same delay. This time-dependent effect supports disturbance of the circadian oscillator rather than a literal six-hour pause in all behavior. Anesthesia therefore shifts the phase of the clock when it is given in the daytime, and the change in gene expression parallels the change in hive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Cheeseman JF, Winnebeck EC, Millar CD, Kirkland LS, Sleigh J, Goodwin M, Pawley MDM, Bloch G, Lehmann K, Menzel R, Warman GR (2012). General anesthesia alters time perception by phase shifting the circadian clock. Proceedings of the National Academy of Sciences 109(18): 7061-7066. https://doi.org/10.1073/pnas.1201734109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Cheeseman et al. (2012), Fig. 4A–D. Activity rhythms and clock-gene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https://doi.org/10.1073/pnas.1201734109</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Zeller and colleagues injected fluorescent tracers into the dorsal rim of the honeybee eye and labeled surrounding neuropil. Neuropil is tissue containing interwoven neuronal branches and synapses. The medulla is a visual-processing region within the optic lobe.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Afferents are neurons carrying input into a processing region. Tracer transport identifies projection geometry, while synapsin staining supplies a reference for the surrounding synaptic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Dorsal-rim input reached a distinct dorsal-medulla compartment called the MEDRA. Complementary injections into other pathway regions and synapsin labeling distinguished this compartment from neighboring medulla. The published micrographs preserve anatomical orientation and micrometer scale bars.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tracing identifies an entry pathway for polarization-associated visual input. Sakura's regional-occlusion experiment showed that the dorsal rim is needed for e-vector learning, and the tracing locates where its input terminates in the medulla.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 M, Okada R, Aonuma H (2012). Evidence for instantaneous e-vector detection in the honeybee using an associative learning paradigm. Proceedings of the Royal Society B: Biological Sciences 279(1728): 535-542. https://doi.org/10.1098/rspb.2011.0929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1A–F. Dorsal-rim input reaches dorsal medulla.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0" name="Google Shape;430;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Zeller and colleagues traced transmedulla neurons, cells whose branches cross the medulla from the dorsal-rim-associated input compartment toward more medial brain regions. Dye injections from different locations provided complementary views of their branching pattern.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anterior optic tubercle is divided into compartments. The lower-unit complex is associated with this traced pathway, so the term does not refer to every tubercle neuron indiscriminately.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neurons arborized in the MEDRA and extended through a defined medulla layer. Their medial projections reached the lower-unit complex of the anterior optic tubercle, a visual-processing center outside the optic lobe. Fine terminal morphology distinguished plausible input and output portions of the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ordered projection provides an anatomical route from specialized eye input toward central compass circuitry. The tubercle is the next processing center along the route, and from there the pathway continues to the bulbs and the central body.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2A–F. Transmedulla neuron branches and medial projections.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3A–D. Projections to the lower anterior optic tubercle.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Pigment-dispersing factor, or PDF, is a neuropeptide associated with circadian signaling in insects. Zeller and colleagues combined PDF immunostaining with tracer labeling of transmedulla neurons to ask where potential timing input could meet the honeybee sky-compass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Immunoreactivity means that an antibody recognizes a target in the preparation. It supports the presence of the labeled substance, but a nearby labeled bouton is not equivalent to a confirmed connection.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PDF-positive fibers occupied the same medulla layer as parts of the traced neurons. At higher magnification, labeled puncta lay in close proximity along their passage through the medulla. The two labels did not colocalize, and PDF labeling was not found within the MEDRA itself.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identifies neighboring neuronal populations and a candidate site for modulation. PDF is associated with circadian signaling, so fibers running along the transmedulla neurons place a clock-related peptide beside the compass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5A–C. PDF-positive fibers lie beside transmedulla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Zeller and colleagues combined transmedulla tracer labeling with antibodies against serotonin, a monoamine signaling molecule, and GABA, gamma-aminobutyric acid. GABA commonly contributes inhibitory signaling, but its action at a particular connection requires receptor and physiological evidence.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Different distributions imply different possible access to the traced pathway. Assigning an excitatory or inhibitory effect solely from proximity would go beyond the experiment.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Serotonin-positive puncta overlapped the dorsal portion of the relevant medulla layer but not the MEDRA. GABA-positive fibers lay near transmedulla branches throughout their length, including the MEDRA. In both preparations, tracer and transmitter labels marked different populations rather than the same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spatial relationships support candidate modulatory and local processing interactions. Serotonin lay beside the dorsal part of the layer and GABA along the whole length of the branches, so the two transmitters occupy different positions relative to the same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6A–C. Serotonin-positive fibers and transmedulla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Zeller et al. (2015), Fig. 7A–C. GABA-positive fibers near compass-pathway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https://doi.org/10.1371/journal.pone.0143244</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3" name="Google Shape;473;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Held and colleagues traced the honeybee sky-compass network using dye injections, neuropil labeling and single-cell preparations. TuLAL1 neurons project from the anterior optic tubercle toward paired synaptic regions called the lateral and medial bulbs.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pathway nomenclature names the projection classes used by the authors. The original article’s anatomical drawing is included unchanged; no circuit has been newly drawn for this deck.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second class, TL neurons, connects these bulbs with the lower division of the central body, part of the central complex. The labeled branches establish two parallel anatomical routes from tubercle outputs toward central-brain circuitry associated with directional processing.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bulbs provide a defined interface rather than an undifferentiated relay. The study identifies the neurons and terminal organization of this interface, which connects the tubercle to the lower division of the central body.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Held M, Berz A, Hensgen R, Muenz TS, Scholl C, Rössler W, Homberg U, Pfeiffer K (2016). Microglomerular Synaptic Complexes in the Sky-Compass Network of the Honeybee Connect Parallel Pathways from the Anterior Optic Tubercle to the Central Complex. Frontiers in Behavioral Neuroscience 10: 186. https://doi.org/10.3389/fnbeh.2016.00186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Held et al. (2016), Fig. 1A–F. AOTU–bulb–central-body projection anatomy.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https://doi.org/10.3389/fnbeh.2016.00186</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microglomerulus is a compact synaptic complex in which a large presynaptic terminal contacts several smaller postsynaptic processes. Held and colleagues stained honeybee bulb tissue for synapsin, associated with presynaptic machinery, and filamentous actin, prominent in postsynaptic regions.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Synapsin and actin are markers, not themselves a transmitter identity. Their different distributions help separate terminal compartments before synaptic membrane structure is examined.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Confocal images revealed separated microglomerular complexes in the lateral and medial bulbs. Traced TuLAL1 terminals occupied the presynaptic cores, while postsynaptic processes from TL neurons contacted them. Complementary labeling linked cell projections to the local terminal organization.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stains identify an anatomical arrangement for distributing tubercle signals among downstream neurons. Because one large terminal contacts several smaller processes, a single tubercle input can reach several downstream TL neurons at once.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Held M, Berz A, Hensgen R, Muenz TS, Scholl C, Rössler W, Homberg U, Pfeiffer K (2016). Microglomerular Synaptic Complexes in the Sky-Compass Network of the Honeybee Connect Parallel Pathways from the Anterior Optic Tubercle to the Central Complex. Frontiers in Behavioral Neuroscience 10: 186. https://doi.org/10.3389/fnbeh.2016.00186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Held et al. (2016), Fig. 2A–C. Synapsin and actin identify bulb microglomeruli.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https://doi.org/10.3389/fnbeh.2016.00186</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Held and colleagues used transmission electron microscopy to examine honeybee bulb complexes at membrane resolution. Large TuLAL1 terminals contained vesicles and multiple presynaptic specializations facing smaller profiles. Vesicles are membrane-bound structures that store releasable signaling molecules.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Dyadic and tetradic count the postsynaptic profiles at a single specialization. They do not imply that the entire presynaptic neuron has only two or four targets.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authors identified dyadic and tetradic contacts, where one presynaptic specialization faced two or four postsynaptic profiles. GABA immunostaining associated downstream TL neurons with an inhibitory transmitter phenotype. These observations constrain connectivity more directly than a light-microscopy overlap.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Synaptic morphology establishes physical contacts, and transmitter staining supports a candidate sign of downstream signaling. A dyadic or tetradic contact allows one presynaptic specialization address two or four downstream profiles at once, which fits the divergence of tubercle signals.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Held M, Berz A, Hensgen R, Muenz TS, Scholl C, Rössler W, Homberg U, Pfeiffer K (2016). Microglomerular Synaptic Complexes in the Sky-Compass Network of the Honeybee Connect Parallel Pathways from the Anterior Optic Tubercle to the Central Complex. Frontiers in Behavioral Neuroscience 10: 186. https://doi.org/10.3389/fnbeh.2016.00186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Held et al. (2016), Fig. 7A,B. Dyadic and tetradic synapses in bulb complexes.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https://doi.org/10.3389/fnbeh.2016.00186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Held et al. (2016), Fig. 5A–C. GABA-positive tangential-neuron terminals.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https://doi.org/10.3389/fnbeh.2016.00186</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Greggers and colleagues recorded electric fields around dancing bees and measured antennal movements during controlled electrical stimulation. Charged bodies can exert forces on nearby charged structures; detecting such a force does not require a dedicated electric-field receptor.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moving flagellum can stimulate the same mechanical sensory apparatus through different physical causes. The published anatomical panel locates the organ and the afferent route into the brain.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isolated wing oscillating at 40 Hz, 2 mm from the head, evoked larger flagellar movements when charge was preserved rather than discharged. Laser Doppler measurements quantified these movements. Johnston’s organ, a mechanosensory organ in the antennal pedicel, responded to field-induced movement. The flagellum is the distal antennal segment, and the pedicel is its supporting joint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resulting sequence is an electric force, antennal displacement and activation of movement-sensitive sensory neurons. This supports a mechanical route for field detection. Detection of the field therefore depends on movement of the antenna, which sensory neurons in Johnston's organ then register.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Greggers U, Koch G, Schmidt V, Dürr A, Floriou-Servou A, Piepenbrock D, Göpfert MC, Menzel R (2013). Reception and learning of electric fields in bees. Proceedings of the Royal Society B: Biological Sciences 280(1759): 20130528. https://doi.org/10.1098/rspb.2013.0528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Kumaraswamy A, Ai H, Kai K, Ikeno H, Wachtler T (2019). Adaptations during Maturation in an Identified Honeybee Interneuron Responsive to Waggle Dance Vibration Signals. eNeuro 6(5): ENEURO.0454-18.2019. https://doi.org/10.1523/eneuro.0454-18.2019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Greggers et al. (2013), Fig. 3a,b and Fig. 4. Field-induced flagellar motion and Johnston-organ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https://doi.org/10.1098/rspb.2013.0528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Kumaraswamy et al. (2019), Fig. 1a–c. Antennal input, mechanosensory neuropils and DL-Int-1.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https://doi.org/10.1523/eneuro.0454-18.2019</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9" name="Google Shape;529;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Greggers and colleagues paired an electric-field stimulus with sucrose and tested the conditioned proboscis extension response. Uncharged material or an inactive stimulus source served as the unrewarded comparison. Bees learned both constant fields and modulated stimulation at 60 Hz.</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Treating bees after conditioning separates sensory access at test from initial acquisition. Surface coating and joint restriction are different interventions and should not be treated as identical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learning, removing antennae eliminated the learned field response. Wax treatments that restricted antennal joints strongly reduced it; coating surfaces while retaining movement produced a less marked reduction. Learned responses to electric cues were also retained after 24 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intervention pattern supports a contribution from antennal mechanoreception, including receptors associated with both joints. Learned electric-field responses lasted 24 h, so the field is a cue that bees can store and retrieve.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Greggers U, Koch G, Schmidt V, Dürr A, Floriou-Servou A, Piepenbrock D, Göpfert MC, Menzel R (2013). Reception and learning of electric fields in bees. Proceedings of the Royal Society B: Biological Sciences 280(1759): 20130528. https://doi.org/10.1098/rspb.2013.0528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Kumaraswamy A, Ai H, Kai K, Ikeno H, Wachtler T (2019). Adaptations during Maturation in an Identified Honeybee Interneuron Responsive to Waggle Dance Vibration Signals. eNeuro 6(5): ENEURO.0454-18.2019. https://doi.org/10.1523/eneuro.0454-18.2019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Greggers et al. (2013), Fig. 7a–c. Associative learning after antennal interventions.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https://doi.org/10.1098/rspb.2013.0528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Kumaraswamy et al. (2019), Fig. 1a–c. Antennal input, mechanosensory neuropils and DL-Int-1.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https://doi.org/10.1523/eneuro.0454-18.2019</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Ai and colleagues recorded intracellularly from identified honeybee interneurons while a mechanical stimulator vibrated the antennal flagellum. DL-Int-1 branches in the dorsal lobe and related mechanosensory tissue. Dye filling and anti-GABA staining associated this cell type with a GABAergic phenotype.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Intracellular recording measures voltage changes and spikes in the same identified neuron. Suppression of this GABA-positive cell is different from evidence that its output inhibits a specific downstream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stimulus carrier was 265 Hz, within the wing-vibration range relevant to waggle dancing. Pulse trains with durations up to 16 ms and intervals up to 33 ms suppressed DL-Int-1 firing below its spontaneous level. Longer 100 ms intervals allowed intermittent spikes during the train.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response distinguishes closely spaced vibration pulses from more widely spaced events. Short intervals suppressed firing and 100 ms intervals let spikes through, which makes DL-Int-1 a temporal filter.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Ai H, Kai K, Kumaraswamy A, Ikeno H, Wachtler T (2017). Interneurons in the Honeybee Primary Auditory Center Responding to Waggle Dance-Like Vibration Pulses. The Journal of Neuroscience 37(44): 10624-10635. https://doi.org/10.1523/jneurosci.0044-17.2017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Ai et al. (2017), Fig. 3A–D. DL-Int-1 responses to pulse duration and interval.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https://doi.org/10.1523/jneurosci.0044-17.2017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Ai et al. (2017), Fig. 2A–E. DL-Int-1 morphology and GABA immunoreactivity.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https://doi.org/10.1523/jneurosci.0044-17.2017</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9" name="Google Shape;559;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Ai and colleagues found a different response in DL-Int-2, another identified interneuron in the primary mechanosensory processing region. Its soma did not coincide with the anti-GABA labeling observed for DL-Int-1; this negative label does not by itself identify its transmitter.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stimulus envelope and the carrier are different quantities. A 265 Hz vibration inside repeated pulses is not equivalent to a 265 Hz rate of whole waggle runs.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a 265 Hz carrier, trains with 16 ms pulses and 33 ms intervals evoked an initial excitation followed by maintained excitation. In contrast, DL-Int-1 was suppressed during comparable short-interval stimulation. Tonic activity is sustained activity during a stimulus, whereas phasic activity is concentrated near a change such as onset.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contrasting responses could allow pulse-train duration to influence downstream signaling. DL-Int-1 is suppressed and DL-Int-2 is excited by comparable short-interval trains, so pulse-train duration is represented by two opposite response patterns.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Ai H, Kai K, Kumaraswamy A, Ikeno H, Wachtler T (2017). Interneurons in the Honeybee Primary Auditory Center Responding to Waggle Dance-Like Vibration Pulses. The Journal of Neuroscience 37(44): 10624-10635. https://doi.org/10.1523/jneurosci.0044-17.2017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Ai et al. (2017), Fig. 4A,B. DL-Int-2 excitation during vibration pulse trains.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https://doi.org/10.1523/jneurosci.0044-17.2017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Ai et al. (2017), Fig. 2F–J. DL-Int-2 morphology and transmitter-label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https://doi.org/10.1523/jneurosci.0044-17.2017</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 name="Google Shape;574;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Kumaraswamy and colleagues compared DL-Int-1 in newly emerged workers aged 1–3 days with foragers older than 10 days. The preparation combined intracellular recording with dye-filled morphology, allowing cell identity to be retained across the age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Young bees had been maintained in cages, while foragers had natural behavioral experience. That group difference limits any claim that age alone or dance experience alone caused the response changes.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Gross arborization extent was similar between groups, but branch density differed in selected regions. Foragers’ responses showed a stronger contrast between spontaneous activity and vibration-evoked inhibition, giving the stimulus a more distinct temporal signature. The original reconstructions and response distributions document different levels of analysis.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Maturation can change signal processing without replacing a neuron’s overall projection pattern. Branch density differences in selected regions accompany the sharper contrast of the forager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Kumaraswamy A, Ai H, Kai K, Ikeno H, Wachtler T (2019). Adaptations during Maturation in an Identified Honeybee Interneuron Responsive to Waggle Dance Vibration Signals. eNeuro 6(5): ENEURO.0454-18.2019. https://doi.org/10.1523/eneuro.0454-18.2019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Kumaraswamy et al. (2019), Fig. 5a–d. Neuronal response distributions in young bees and foragers.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https://doi.org/10.1523/eneuro.0454-18.2019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Kumaraswamy et al. (2019), Fig. 3a,b. Reconstructed DL-Int-1 arborizations during maturation.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https://doi.org/10.1523/eneuro.0454-18.2019</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9" name="Google Shape;589;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Dong and colleagues created colonies of newly emerged workers with no experienced dancers and compared them with mixed-age colonies. Individually marked bees first danced for a feeder 150 m away; the same bees were tested again 20 days later.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Directional divergence measures variation among waggle runs, not necessarily a systematic bias in the average advertised compass bearing. Those two kinds of error have different consequences for followers.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Bees that could not follow experienced dancers before their first dance produced larger waggle-angle divergence and more disordered movements. Their directional precision improved by the later test. First dances in mixed-age colonies were already more precise, separating early social exposure from the act of merely performing a dance.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supports social contributions to dance development alongside an inherited behavioral pattern. Following experienced dancers before the first dance improves the precision of the waggle angle, while naive bees still produce a dance with the basic structure.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Dong S, Lin T, Nieh JC, Tan K (2023). Social signal learning of the waggle dance in honey bees. Science 379(6636): 1015-1018. https://doi.org/10.1126/science.ade1702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Dong et al. (2023), Fig. 1B. Directional divergence before and after dance experience.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https://doi.org/10.1126/science.ade1702</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2" name="Google Shape;602;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 Dong and colleagues’ 150 m feeder preparation, naive first dancers produced longer waggle runs and more waggles per run than first dancers from mixed-age colonies. The altered timing advertised a greater distance despite the common food location.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feeder remained at the same distance for the group comparison. An improved return flight and a persistently long dance signal cannot be collapsed into one general measure of experience.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Twenty days later, the previously naive bees still produced the elevated distance signal. Their return-flight times had improved, and their directional precision had recovered, but the distance difference remained. The persistence separates distance calibration from changes that become more normal with later foraging experience.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Social experience therefore influences different components of the dance differently. Social experience therefore influences different components of the dance differently. Early exposure to experienced dancers calibrates the distance signal in a way that subsequent foraging does not replace.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Dong S, Lin T, Nieh JC, Tan K (2023). Social signal learning of the waggle dance in honey bees. Science 379(6636): 1015-1018. https://doi.org/10.1126/science.ade1702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Dong et al. (2023), Fig. 2. Dance distance signals and return flights over time.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https://doi.org/10.1126/science.ade1702</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 name="Google Shape;615;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Wang and colleagues tracked dance followers released either at the hive or at displaced sites within an explored landscape. The recruits had never visited the advertised food source. Harmonic radar sampled flight positions every 3 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virtual endpoint is a predicted destination from an origin-dependent instruction, not a second feeder presented to the bee. The real and virtual alternatives distinguish later source-directed search from continuing the displaced vector.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groups first flew approximately the communicated vector. During later search, displaced recruits directed more behavior toward the real feeder location than toward the virtual endpoint obtained by executing that vector from the wrong origin. Search could therefore incorporate landscape knowledge acquired before the recruitment event.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authors interpreted this behavior as inference of source location using map-like spatial knowledge. The initial vector flight and the subsequent search are separate stages, with landscape knowledge entering during the search.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Wang Z, Chen X, Becker F, Greggers U, Walter S, Werner M, Gallistel CR, Menzel R (2023). Honey bees infer source location from the dances of returning foragers. Proceedings of the National Academy of Sciences 120(12): e2213068120. https://doi.org/10.1073/pnas.2213068120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Wang et al. (2023), Fig. 4. Search distributions relative to real and virtual feeders.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https://doi.org/10.1073/pnas.2213068120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Wang et al. (2023), Fig. 1A–C. Experimental landscape and radar trajectories.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https://doi.org/10.1073/pnas.2213068120</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Dance vectors. Waggle-run angle specifies direction relative to the sun; duration specifies a visually calibrated distance from the hive. Vector flight and terminal source search are distinct.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Visual odometry. Optic flow changes dance duration and recruit search distance. Tunnel texture and natural terrain prevent a universal conversion from duration to physical meters.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Time compensation. Bees refine the local solar course through experience. Circadian phase disruption causes sun-compass errors whose direction depends on hemisphere.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Compass pathways. Ultraviolet-sensitive dorsal-rim input reaches the medulla, optic tubercle, bulbs and central body. Tracing establishes anatomy; candidate timing contacts require functional tests.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Dance-signal processing. Antennal movement activates mechanosensory pathways. Identified interneurons filter vibration pulse trains, but their proposed inhibitory connections and distance-decoding role are not fully established.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Experience and search. Early social experience affects dance precision and lasting distance calibration. Familiar landscape knowledge can influence later search without replacing the initial dance vector.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von Frisch K, Lindauer M (1954). Himmel und Erde in Konkurrenz bei der Orientierung der Bienen. Die Naturwissenschaften 41(11): 245-253. https://doi.org/10.1007/bf00634944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Srinivasan MV, Zhang S, Altwein M, Tautz J (2000). Honeybee Navigation: Nature and Calibration of the "Odometer". Science 287(5454): 851-853. https://doi.org/10.1126/science.287.5454.851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Esch HE, Zhang S, Srinivasan MV, Tautz J (2001). Honeybee dances communicate distances measured by optic flow. Nature 411(6837): 581-583. https://doi.org/10.1038/35079072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Riley JR, Greggers U, Smith AD, Reynolds DR, Menzel R (2005). The flight paths of honeybees recruited by the waggle dance. Nature 435(7039): 205-207. https://doi.org/10.1038/nature03526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Dong S, Lin T, Nieh JC, Tan K (2023). Social signal learning of the waggle dance in honey bees. Science 379(6636): 1015-1018. https://doi.org/10.1126/science.ade1702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Cheeseman JF, Winnebeck EC, Millar CD, Kirkland LS, Sleigh J, Goodwin M, Pawley MDM, Bloch G, Lehmann K, Menzel R, Warman GR (2012). General anesthesia alters time perception by phase shifting the circadian clock. Proceedings of the National Academy of Sciences 109(18): 7061-7066. https://doi.org/10.1073/pnas.1201734109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Wang Z, Chen X, Becker F, Greggers U, Walter S, Werner M, Gallistel CR, Menzel R (2023). Honey bees infer source location from the dances of returning foragers. Proceedings of the National Academy of Sciences 120(12): e2213068120. https://doi.org/10.1073/pnas.2213068120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Greggers U, Koch G, Schmidt V, Dürr A, Floriou-Servou A, Piepenbrock D, Göpfert MC, Menzel R (2013). Reception and learning of electric fields in bees. Proceedings of the Royal Society B: Biological Sciences 280(1759): 20130528. https://doi.org/10.1098/rspb.2013.0528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Kumaraswamy A, Ai H, Kai K, Ikeno H, Wachtler T (2019). Adaptations during Maturation in an Identified Honeybee Interneuron Responsive to Waggle Dance Vibration Signals. eNeuro 6(5): ENEURO.0454-18.2019. https://doi.org/10.1523/eneuro.0454-18.2019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Held M, Berz A, Hensgen R, Muenz TS, Scholl C, Rössler W, Homberg U, Pfeiffer K (2016). Microglomerular Synaptic Complexes in the Sky-Compass Network of the Honeybee Connect Parallel Pathways from the Anterior Optic Tubercle to the Central Complex. Frontiers in Behavioral Neuroscience 10: 186. https://doi.org/10.3389/fnbeh.2016.00186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 M, Okada R, Aonuma H (2012). Evidence for instantaneous e-vector detection in the honeybee using an associative learning paradigm. Proceedings of the Royal Society B: Biological Sciences 279(1728): 535-542. https://doi.org/10.1098/rspb.2011.0929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Evangelista C, Kraft P, Dacke M, Labhart T, Srinivasan MV (2014). Honeybee navigation: critically examining the role of the polarization compass. Philosophical Transactions of the Royal Society B: Biological Sciences 369(1636): 20130037. https://doi.org/10.1098/rstb.2013.0037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Kraft P, Evangelista C, Dacke M, Labhart T, Srinivasan MV (2011). Honeybee navigation: following routes using polarized-light cues. Philosophical Transactions of the Royal Society B: Biological Sciences 366(1565): 703-708. https://doi.org/10.1098/rstb.2010.0203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Dyer FC, Dickinson JA (1994). Development of sun compensation by honeybees: how partially experienced bees estimate the sun's course. Proceedings of the National Academy of Sciences 91(10): 4471-4474. https://doi.org/10.1073/pnas.91.10.4471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Tautz J, Zhang S, Spaethe J, Brockmann A, Si A, Srinivasan M (2004). Honeybee Odometry: Performance in Varying Natural Terrain. PLoS Biology 2(7): e211. https://doi.org/10.1371/journal.pbio.0020211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Zeller M, Held M, Bender J, Berz A, Heinloth T, Hellfritz T, Pfeiffer K (2015). Transmedulla Neurons in the Sky Compass Network of the Honeybee (Apis mellifera) Are a Possible Site of Circadian Input. PLOS ONE 10(12): e0143244. https://doi.org/10.1371/journal.pone.0143244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Ai H, Kai K, Kumaraswamy A, Ikeno H, Wachtler T (2017). Interneurons in the Honeybee Primary Auditory Center Responding to Waggle Dance-Like Vibration Pulses. The Journal of Neuroscience 37(44): 10624-10635. https://doi.org/10.1523/jneurosci.0044-17.2017</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Recording from one cell connects a response to an identified neuron.</a:t>
            </a:r>
          </a:p>
          <a:p>
            <a:r>
              <a:rPr lang="en-US" sz="1200"/>
              <a:t>• Method.</a:t>
            </a:r>
          </a:p>
          <a:p>
            <a:r>
              <a:rPr lang="en-US" sz="1200"/>
              <a:t>– A fine electrode enters a single neuron.</a:t>
            </a:r>
          </a:p>
          <a:p>
            <a:r>
              <a:rPr lang="en-US" sz="1200"/>
              <a:t>– Membrane potential and spikes are measured during stimulation.</a:t>
            </a:r>
          </a:p>
          <a:p>
            <a:r>
              <a:rPr lang="en-US" sz="1200"/>
              <a:t>• Identification.</a:t>
            </a:r>
          </a:p>
          <a:p>
            <a:r>
              <a:rPr lang="en-US" sz="1200"/>
              <a:t>– The cell is filled with dye during recording.</a:t>
            </a:r>
          </a:p>
          <a:p>
            <a:r>
              <a:rPr lang="en-US" sz="1200"/>
              <a:t>– Its branches match it with a known morphology.</a:t>
            </a:r>
          </a:p>
          <a:p>
            <a:r>
              <a:rPr lang="en-US" sz="1200"/>
              <a:t>• Stimulus.</a:t>
            </a:r>
          </a:p>
          <a:p>
            <a:r>
              <a:rPr lang="en-US" sz="1200"/>
              <a:t>– A mechanical stimulator vibrated the antennal flagellum.</a:t>
            </a:r>
          </a:p>
          <a:p>
            <a:r>
              <a:rPr lang="en-US" sz="1200"/>
              <a:t>– The carrier was 265 hertz, within the wing-vibration range of waggle dancing.</a:t>
            </a:r>
          </a:p>
          <a:p>
            <a:r>
              <a:rPr lang="en-US" sz="1200"/>
              <a:t>• Neuron.</a:t>
            </a:r>
          </a:p>
          <a:p>
            <a:r>
              <a:rPr lang="en-US" sz="1200"/>
              <a:t>– DL-Int-1 branches in the dorsal lobe.</a:t>
            </a:r>
          </a:p>
          <a:p>
            <a:r>
              <a:rPr lang="en-US" sz="1200"/>
              <a:t>– Anti-GABA staining associated it with a GABAergic phenotype.</a:t>
            </a:r>
          </a:p>
          <a:p>
            <a:r>
              <a:rPr lang="en-US" sz="1200"/>
              <a:t>• Result.</a:t>
            </a:r>
          </a:p>
          <a:p>
            <a:r>
              <a:rPr lang="en-US" sz="1200"/>
              <a:t>– Pulse trains with durations up to 16 milliseconds and intervals up to 33 milliseconds suppressed firing.</a:t>
            </a:r>
          </a:p>
          <a:p>
            <a:r>
              <a:rPr lang="en-US" sz="1200"/>
              <a:t>– Intervals of 100 milliseconds allowed intermittent spikes.</a:t>
            </a:r>
          </a:p>
          <a:p>
            <a:r>
              <a:rPr lang="en-US" sz="1200"/>
              <a:t>• Meaning.</a:t>
            </a:r>
          </a:p>
          <a:p>
            <a:r>
              <a:rPr lang="en-US" sz="1200"/>
              <a:t>– The cell filters vibration pulses by their spacing.</a:t>
            </a:r>
          </a:p>
          <a:p>
            <a:r>
              <a:rPr lang="en-US" sz="1200"/>
              <a:t>• Why dye filling.</a:t>
            </a:r>
          </a:p>
          <a:p>
            <a:r>
              <a:rPr lang="en-US" sz="1200"/>
              <a:t>– The recorded cell can be identified afterward from its branching pattern.</a:t>
            </a:r>
          </a:p>
          <a:p>
            <a:r>
              <a:rPr lang="en-US" sz="1200"/>
              <a:t>– Anti-GABA staining then assigns it a transmitter phenotype.</a:t>
            </a:r>
          </a:p>
          <a:p>
            <a:r>
              <a:rPr lang="en-US" sz="1200"/>
              <a:t>• Pulse spacing.</a:t>
            </a:r>
          </a:p>
          <a:p>
            <a:r>
              <a:rPr lang="en-US" sz="1200"/>
              <a:t>– Closely spaced pulses suppress firing.</a:t>
            </a:r>
          </a:p>
          <a:p>
            <a:r>
              <a:rPr lang="en-US" sz="1200"/>
              <a:t>– Widely spaced pulses allow spikes to return.</a:t>
            </a:r>
          </a:p>
          <a:p>
            <a:r>
              <a:rPr lang="en-US" sz="1200"/>
              <a:t>• Context.</a:t>
            </a:r>
          </a:p>
          <a:p>
            <a:r>
              <a:rPr lang="en-US" sz="1200"/>
              <a:t>– Wing vibration during the waggle run produces pulse trains at the carrier frequency.</a:t>
            </a:r>
          </a:p>
          <a:p>
            <a:r>
              <a:rPr lang="en-US" sz="1200"/>
              <a:t/>
            </a:r>
          </a:p>
          <a:p>
            <a:r>
              <a:rPr lang="en-US" sz="1200"/>
              <a:t>References:</a:t>
            </a:r>
          </a:p>
          <a:p>
            <a:r>
              <a:rPr lang="en-US" sz="1200"/>
              <a:t>Ai H, Kai K, Kumaraswamy A, Ikeno H, Wachtler T (2017). Interneurons in the Honeybee Primary Auditory Center Responding to Waggle Dance-Like Vibration Pulses. The Journal of Neuroscience 37(44): 10624-10635. https://doi.org/10.1523/jneurosci.0044-17.2017</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antenna can act as a mechanical sensor for electric fields.</a:t>
            </a:r>
          </a:p>
          <a:p>
            <a:r>
              <a:rPr lang="en-US" sz="1200"/>
              <a:t>• Organ.</a:t>
            </a:r>
          </a:p>
          <a:p>
            <a:r>
              <a:rPr lang="en-US" sz="1200"/>
              <a:t>– Johnston's organ is a mechanosensory organ in the antennal pedicel.</a:t>
            </a:r>
          </a:p>
          <a:p>
            <a:r>
              <a:rPr lang="en-US" sz="1200"/>
              <a:t>– It responds to movement of the flagellum.</a:t>
            </a:r>
          </a:p>
          <a:p>
            <a:r>
              <a:rPr lang="en-US" sz="1200"/>
              <a:t>• Anatomy.</a:t>
            </a:r>
          </a:p>
          <a:p>
            <a:r>
              <a:rPr lang="en-US" sz="1200"/>
              <a:t>– The flagellum is the distal antennal segment.</a:t>
            </a:r>
          </a:p>
          <a:p>
            <a:r>
              <a:rPr lang="en-US" sz="1200"/>
              <a:t>– The pedicel is its supporting joint region.</a:t>
            </a:r>
          </a:p>
          <a:p>
            <a:r>
              <a:rPr lang="en-US" sz="1200"/>
              <a:t>• Stimulus.</a:t>
            </a:r>
          </a:p>
          <a:p>
            <a:r>
              <a:rPr lang="en-US" sz="1200"/>
              <a:t>– An isolated wing oscillated at 40 hertz, 2 millimeters from the head.</a:t>
            </a:r>
          </a:p>
          <a:p>
            <a:r>
              <a:rPr lang="en-US" sz="1200"/>
              <a:t>• Result.</a:t>
            </a:r>
          </a:p>
          <a:p>
            <a:r>
              <a:rPr lang="en-US" sz="1200"/>
              <a:t>– Flagellar movements were larger when charge was preserved than when it was discharged.</a:t>
            </a:r>
          </a:p>
          <a:p>
            <a:r>
              <a:rPr lang="en-US" sz="1200"/>
              <a:t>• Measurement.</a:t>
            </a:r>
          </a:p>
          <a:p>
            <a:r>
              <a:rPr lang="en-US" sz="1200"/>
              <a:t>– Laser Doppler measurements quantified the movements.</a:t>
            </a:r>
          </a:p>
          <a:p>
            <a:r>
              <a:rPr lang="en-US" sz="1200"/>
              <a:t>– Johnston's organ responded to the field-induced movement.</a:t>
            </a:r>
          </a:p>
          <a:p>
            <a:r>
              <a:rPr lang="en-US" sz="1200"/>
              <a:t>• Principle.</a:t>
            </a:r>
          </a:p>
          <a:p>
            <a:r>
              <a:rPr lang="en-US" sz="1200"/>
              <a:t>– Charged bodies exert forces on nearby charged structures.</a:t>
            </a:r>
          </a:p>
          <a:p>
            <a:r>
              <a:rPr lang="en-US" sz="1200"/>
              <a:t>– Detection does not require a dedicated electric-field receptor.</a:t>
            </a:r>
          </a:p>
          <a:p>
            <a:r>
              <a:rPr lang="en-US" sz="1200"/>
              <a:t>• Why Johnston's organ.</a:t>
            </a:r>
          </a:p>
          <a:p>
            <a:r>
              <a:rPr lang="en-US" sz="1200"/>
              <a:t>– It is positioned at the joint that moves when the flagellum is displaced.</a:t>
            </a:r>
          </a:p>
          <a:p>
            <a:r>
              <a:rPr lang="en-US" sz="1200"/>
              <a:t>– Its neurons therefore register the movement induced by the field.</a:t>
            </a:r>
          </a:p>
          <a:p>
            <a:r>
              <a:rPr lang="en-US" sz="1200"/>
              <a:t>• Sequence.</a:t>
            </a:r>
          </a:p>
          <a:p>
            <a:r>
              <a:rPr lang="en-US" sz="1200"/>
              <a:t>– Electric force acts on the charged antenna.</a:t>
            </a:r>
          </a:p>
          <a:p>
            <a:r>
              <a:rPr lang="en-US" sz="1200"/>
              <a:t>– The flagellum is displaced and Johnston's organ neurons respond.</a:t>
            </a:r>
          </a:p>
          <a:p>
            <a:r>
              <a:rPr lang="en-US" sz="1200"/>
              <a:t>• Context.</a:t>
            </a:r>
          </a:p>
          <a:p>
            <a:r>
              <a:rPr lang="en-US" sz="1200"/>
              <a:t>– Bees dance in a dark crowded hive, where such fields surround the dancer.</a:t>
            </a:r>
          </a:p>
          <a:p>
            <a:r>
              <a:rPr lang="en-US" sz="1200"/>
              <a:t/>
            </a:r>
          </a:p>
          <a:p>
            <a:r>
              <a:rPr lang="en-US" sz="1200"/>
              <a:t>References:</a:t>
            </a:r>
          </a:p>
          <a:p>
            <a:r>
              <a:rPr lang="en-US" sz="1200"/>
              <a:t>Greggers U, Koch G, Schmidt V, Dürr A, Floriou-Servou A, Piepenbrock D, Göpfert MC, Menzel R (2013). Reception and learning of electric fields in bees. Proceedings of the Royal Society B: Biological Sciences 280(1759): 20130528. https://doi.org/10.1098/rspb.2013.0528</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bulbs are built from repeated compact synaptic units.</a:t>
            </a:r>
          </a:p>
          <a:p>
            <a:r>
              <a:rPr lang="en-US" sz="1200"/>
              <a:t>• Definition.</a:t>
            </a:r>
          </a:p>
          <a:p>
            <a:r>
              <a:rPr lang="en-US" sz="1200"/>
              <a:t>– A microglomerulus is a compact synaptic complex.</a:t>
            </a:r>
          </a:p>
          <a:p>
            <a:r>
              <a:rPr lang="en-US" sz="1200"/>
              <a:t>– A large presynaptic terminal contacts several smaller postsynaptic processes.</a:t>
            </a:r>
          </a:p>
          <a:p>
            <a:r>
              <a:rPr lang="en-US" sz="1200"/>
              <a:t>• Stains.</a:t>
            </a:r>
          </a:p>
          <a:p>
            <a:r>
              <a:rPr lang="en-US" sz="1200"/>
              <a:t>– Synapsin is associated with presynaptic machinery.</a:t>
            </a:r>
          </a:p>
          <a:p>
            <a:r>
              <a:rPr lang="en-US" sz="1200"/>
              <a:t>– Filamentous actin is prominent in postsynaptic regions.</a:t>
            </a:r>
          </a:p>
          <a:p>
            <a:r>
              <a:rPr lang="en-US" sz="1200"/>
              <a:t>• Location.</a:t>
            </a:r>
          </a:p>
          <a:p>
            <a:r>
              <a:rPr lang="en-US" sz="1200"/>
              <a:t>– Separated complexes appeared in the lateral and medial bulbs.</a:t>
            </a:r>
          </a:p>
          <a:p>
            <a:r>
              <a:rPr lang="en-US" sz="1200"/>
              <a:t>– The bulbs are paired synaptic regions.</a:t>
            </a:r>
          </a:p>
          <a:p>
            <a:r>
              <a:rPr lang="en-US" sz="1200"/>
              <a:t>• Cells.</a:t>
            </a:r>
          </a:p>
          <a:p>
            <a:r>
              <a:rPr lang="en-US" sz="1200"/>
              <a:t>– Traced TuLAL1 terminals occupied the presynaptic cores.</a:t>
            </a:r>
          </a:p>
          <a:p>
            <a:r>
              <a:rPr lang="en-US" sz="1200"/>
              <a:t>– Postsynaptic processes from TL neurons contacted them.</a:t>
            </a:r>
          </a:p>
          <a:p>
            <a:r>
              <a:rPr lang="en-US" sz="1200"/>
              <a:t>• Function of the arrangement.</a:t>
            </a:r>
          </a:p>
          <a:p>
            <a:r>
              <a:rPr lang="en-US" sz="1200"/>
              <a:t>– One large terminal reaching several processes distributes a signal among downstream neurons.</a:t>
            </a:r>
          </a:p>
          <a:p>
            <a:r>
              <a:rPr lang="en-US" sz="1200"/>
              <a:t>• Resolution.</a:t>
            </a:r>
          </a:p>
          <a:p>
            <a:r>
              <a:rPr lang="en-US" sz="1200"/>
              <a:t>– Confocal proximity cannot resolve every membrane contact.</a:t>
            </a:r>
          </a:p>
          <a:p>
            <a:r>
              <a:rPr lang="en-US" sz="1200"/>
              <a:t>– The authors therefore also used electron microscopy.</a:t>
            </a:r>
          </a:p>
          <a:p>
            <a:r>
              <a:rPr lang="en-US" sz="1200"/>
              <a:t>• Why two stains.</a:t>
            </a:r>
          </a:p>
          <a:p>
            <a:r>
              <a:rPr lang="en-US" sz="1200"/>
              <a:t>– Labeling both sides of a synapse outlines each complex.</a:t>
            </a:r>
          </a:p>
          <a:p>
            <a:r>
              <a:rPr lang="en-US" sz="1200"/>
              <a:t>– The traced terminals can then be assigned to the presynaptic cores.</a:t>
            </a:r>
          </a:p>
          <a:p>
            <a:r>
              <a:rPr lang="en-US" sz="1200"/>
              <a:t>• Anatomy of the network.</a:t>
            </a:r>
          </a:p>
          <a:p>
            <a:r>
              <a:rPr lang="en-US" sz="1200"/>
              <a:t>– TuLAL1 neurons project from the anterior optic tubercle to the bulbs.</a:t>
            </a:r>
          </a:p>
          <a:p>
            <a:r>
              <a:rPr lang="en-US" sz="1200"/>
              <a:t>– TL neurons connect the bulbs with the lower division of the central body.</a:t>
            </a:r>
          </a:p>
          <a:p>
            <a:r>
              <a:rPr lang="en-US" sz="1200"/>
              <a:t>• Parallel processing.</a:t>
            </a:r>
          </a:p>
          <a:p>
            <a:r>
              <a:rPr lang="en-US" sz="1200"/>
              <a:t>– One input reaching several targets is the anatomical basis for parallel channels.</a:t>
            </a:r>
          </a:p>
          <a:p>
            <a:r>
              <a:rPr lang="en-US" sz="1200"/>
              <a:t/>
            </a:r>
          </a:p>
          <a:p>
            <a:r>
              <a:rPr lang="en-US" sz="1200"/>
              <a:t>References:</a:t>
            </a:r>
          </a:p>
          <a:p>
            <a:r>
              <a:rPr lang="en-US" sz="1200"/>
              <a:t>Held M, Berz A, Hensgen R, Muenz TS, Scholl C, Rössler W, Homberg U, Pfeiffer K (2016). Microglomerular Synaptic Complexes in the Sky-Compass Network of the Honeybee Connect Parallel Pathways from the Anterior Optic Tubercle to the Central Complex. Frontiers in Behavioral Neuroscience 10: 186. https://doi.org/10.3389/fnbeh.2016.00186</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circadian marker is placed next to the compass pathway.</a:t>
            </a:r>
          </a:p>
          <a:p>
            <a:r>
              <a:rPr lang="en-US" sz="1200"/>
              <a:t>• Definition.</a:t>
            </a:r>
          </a:p>
          <a:p>
            <a:r>
              <a:rPr lang="en-US" sz="1200"/>
              <a:t>– Pigment-dispersing factor, or PDF, is a neuropeptide associated with circadian signaling in insects.</a:t>
            </a:r>
          </a:p>
          <a:p>
            <a:r>
              <a:rPr lang="en-US" sz="1200"/>
              <a:t>– A neuropeptide is released by neurons.</a:t>
            </a:r>
          </a:p>
          <a:p>
            <a:r>
              <a:rPr lang="en-US" sz="1200"/>
              <a:t>• Question.</a:t>
            </a:r>
          </a:p>
          <a:p>
            <a:r>
              <a:rPr lang="en-US" sz="1200"/>
              <a:t>– Where could timing input meet the sky-compass pathway?</a:t>
            </a:r>
          </a:p>
          <a:p>
            <a:r>
              <a:rPr lang="en-US" sz="1200"/>
              <a:t>• Method.</a:t>
            </a:r>
          </a:p>
          <a:p>
            <a:r>
              <a:rPr lang="en-US" sz="1200"/>
              <a:t>– PDF immunostaining was combined with tracer labeling of transmedulla neurons.</a:t>
            </a:r>
          </a:p>
          <a:p>
            <a:r>
              <a:rPr lang="en-US" sz="1200"/>
              <a:t>• Result.</a:t>
            </a:r>
          </a:p>
          <a:p>
            <a:r>
              <a:rPr lang="en-US" sz="1200"/>
              <a:t>– PDF-positive fibers occupied the same medulla layer as parts of the traced neurons.</a:t>
            </a:r>
          </a:p>
          <a:p>
            <a:r>
              <a:rPr lang="en-US" sz="1200"/>
              <a:t>– Labeled puncta lay in close proximity along their passage.</a:t>
            </a:r>
          </a:p>
          <a:p>
            <a:r>
              <a:rPr lang="en-US" sz="1200"/>
              <a:t>• Separate populations.</a:t>
            </a:r>
          </a:p>
          <a:p>
            <a:r>
              <a:rPr lang="en-US" sz="1200"/>
              <a:t>– The two labels did not colocalize.</a:t>
            </a:r>
          </a:p>
          <a:p>
            <a:r>
              <a:rPr lang="en-US" sz="1200"/>
              <a:t>– PDF labeling was not found within the MEDRA itself.</a:t>
            </a:r>
          </a:p>
          <a:p>
            <a:r>
              <a:rPr lang="en-US" sz="1200"/>
              <a:t>• Meaning.</a:t>
            </a:r>
          </a:p>
          <a:p>
            <a:r>
              <a:rPr lang="en-US" sz="1200"/>
              <a:t>– The contact region is a candidate site for modulation of the compass pathway by timing information.</a:t>
            </a:r>
          </a:p>
          <a:p>
            <a:r>
              <a:rPr lang="en-US" sz="1200"/>
              <a:t>– Time-of-day correction is the proposed role.</a:t>
            </a:r>
          </a:p>
          <a:p>
            <a:r>
              <a:rPr lang="en-US" sz="1200"/>
              <a:t>• Why antibodies.</a:t>
            </a:r>
          </a:p>
          <a:p>
            <a:r>
              <a:rPr lang="en-US" sz="1200"/>
              <a:t>– Antibodies against PDF mark the fibers that contain the peptide.</a:t>
            </a:r>
          </a:p>
          <a:p>
            <a:r>
              <a:rPr lang="en-US" sz="1200"/>
              <a:t>– Combining this label with tracers shows whether the fibers lie near the traced cells.</a:t>
            </a:r>
          </a:p>
          <a:p>
            <a:r>
              <a:rPr lang="en-US" sz="1200"/>
              <a:t>• Interpretation.</a:t>
            </a:r>
          </a:p>
          <a:p>
            <a:r>
              <a:rPr lang="en-US" sz="1200"/>
              <a:t>– Close proximity marks a place where release could occur.</a:t>
            </a:r>
          </a:p>
          <a:p>
            <a:r>
              <a:rPr lang="en-US" sz="1200"/>
              <a:t>– Release and receptor expression need separate evidence.</a:t>
            </a:r>
          </a:p>
          <a:p>
            <a:r>
              <a:rPr lang="en-US" sz="1200"/>
              <a:t/>
            </a:r>
          </a:p>
          <a:p>
            <a:r>
              <a:rPr lang="en-US" sz="1200"/>
              <a:t>References:</a:t>
            </a:r>
          </a:p>
          <a:p>
            <a:r>
              <a:rPr lang="en-US" sz="1200"/>
              <a:t>Zeller M, Held M, Bender J, Berz A, Heinloth T, Hellfritz T, Pfeiffer K (2015). Transmedulla Neurons in the Sky Compass Network of the Honeybee (Apis mellifera) Are a Possible Site of Circadian Input. PLOS ONE 10(12): e0143244. https://doi.org/10.1371/journal.pone.0143244</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tracer makes the wiring of a pathway visible in tissue.</a:t>
            </a:r>
          </a:p>
          <a:p>
            <a:r>
              <a:rPr lang="en-US" sz="1200"/>
              <a:t>• Method.</a:t>
            </a:r>
          </a:p>
          <a:p>
            <a:r>
              <a:rPr lang="en-US" sz="1200"/>
              <a:t>– A fluorescent dye is injected into a region of tissue.</a:t>
            </a:r>
          </a:p>
          <a:p>
            <a:r>
              <a:rPr lang="en-US" sz="1200"/>
              <a:t>– Neurons take it up and carry it along their branches.</a:t>
            </a:r>
          </a:p>
          <a:p>
            <a:r>
              <a:rPr lang="en-US" sz="1200"/>
              <a:t>• Neuropil.</a:t>
            </a:r>
          </a:p>
          <a:p>
            <a:r>
              <a:rPr lang="en-US" sz="1200"/>
              <a:t>– Neuropil is tissue containing interwoven neuronal branches and synapses.</a:t>
            </a:r>
          </a:p>
          <a:p>
            <a:r>
              <a:rPr lang="en-US" sz="1200"/>
              <a:t>– The medulla is a visual-processing region within the optic lobe.</a:t>
            </a:r>
          </a:p>
          <a:p>
            <a:r>
              <a:rPr lang="en-US" sz="1200"/>
              <a:t>• Injection site.</a:t>
            </a:r>
          </a:p>
          <a:p>
            <a:r>
              <a:rPr lang="en-US" sz="1200"/>
              <a:t>– Zeller and colleagues injected tracers into the dorsal rim of the honeybee eye.</a:t>
            </a:r>
          </a:p>
          <a:p>
            <a:r>
              <a:rPr lang="en-US" sz="1200"/>
              <a:t>• Result.</a:t>
            </a:r>
          </a:p>
          <a:p>
            <a:r>
              <a:rPr lang="en-US" sz="1200"/>
              <a:t>– Dorsal-rim input reached a distinct dorsal-medulla compartment called the MEDRA.</a:t>
            </a:r>
          </a:p>
          <a:p>
            <a:r>
              <a:rPr lang="en-US" sz="1200"/>
              <a:t>– Synapsin labeling distinguished it from neighboring medulla.</a:t>
            </a:r>
          </a:p>
          <a:p>
            <a:r>
              <a:rPr lang="en-US" sz="1200"/>
              <a:t>• Link to behavior.</a:t>
            </a:r>
          </a:p>
          <a:p>
            <a:r>
              <a:rPr lang="en-US" sz="1200"/>
              <a:t>– Sakura's occlusion experiment showed that the dorsal rim is needed for e-vector learning.</a:t>
            </a:r>
          </a:p>
          <a:p>
            <a:r>
              <a:rPr lang="en-US" sz="1200"/>
              <a:t>– The tracing shows where the input terminates.</a:t>
            </a:r>
          </a:p>
          <a:p>
            <a:r>
              <a:rPr lang="en-US" sz="1200"/>
              <a:t>• Micrographs.</a:t>
            </a:r>
          </a:p>
          <a:p>
            <a:r>
              <a:rPr lang="en-US" sz="1200"/>
              <a:t>– The published images retain anatomical orientation and micrometer scale bars.</a:t>
            </a:r>
          </a:p>
          <a:p>
            <a:r>
              <a:rPr lang="en-US" sz="1200"/>
              <a:t>• Why trace the input.</a:t>
            </a:r>
          </a:p>
          <a:p>
            <a:r>
              <a:rPr lang="en-US" sz="1200"/>
              <a:t>– Knowing where fibers terminate identifies the next stage of a pathway.</a:t>
            </a:r>
          </a:p>
          <a:p>
            <a:r>
              <a:rPr lang="en-US" sz="1200"/>
              <a:t>– The MEDRA is the dorsal-medulla compartment that receives the dorsal-rim input.</a:t>
            </a:r>
          </a:p>
          <a:p>
            <a:r>
              <a:rPr lang="en-US" sz="1200"/>
              <a:t>• Fluorescence.</a:t>
            </a:r>
          </a:p>
          <a:p>
            <a:r>
              <a:rPr lang="en-US" sz="1200"/>
              <a:t>– The dye is imaged in the tissue by fluorescence microscopy.</a:t>
            </a:r>
          </a:p>
          <a:p>
            <a:r>
              <a:rPr lang="en-US" sz="1200"/>
              <a:t>– The injection site and the terminal field can then be compared.</a:t>
            </a:r>
          </a:p>
          <a:p>
            <a:r>
              <a:rPr lang="en-US" sz="1200"/>
              <a:t/>
            </a:r>
          </a:p>
          <a:p>
            <a:r>
              <a:rPr lang="en-US" sz="1200"/>
              <a:t>References:</a:t>
            </a:r>
          </a:p>
          <a:p>
            <a:r>
              <a:rPr lang="en-US" sz="1200"/>
              <a:t>Zeller M, Held M, Bender J, Berz A, Heinloth T, Hellfritz T, Pfeiffer K (2015). Transmedulla Neurons in the Sky Compass Network of the Honeybee (Apis mellifera) Are a Possible Site of Circadian Input. PLOS ONE 10(12): e0143244. https://doi.org/10.1371/journal.pone.0143244</a:t>
            </a:r>
          </a:p>
          <a:p>
            <a:r>
              <a:rPr lang="en-US" sz="1200"/>
              <a:t>Sakura M, Okada R, Aonuma H (2012). Evidence for instantaneous e-vector detection in the honeybee using an associative learning paradigm. Proceedings of the Royal Society B: Biological Sciences 279(1728): 535-542. https://doi.org/10.1098/rspb.2011.0929</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direction in which a bee disappears reports its first compass decision.</a:t>
            </a:r>
          </a:p>
          <a:p>
            <a:r>
              <a:rPr lang="en-US" sz="1200"/>
              <a:t>• Definition.</a:t>
            </a:r>
          </a:p>
          <a:p>
            <a:r>
              <a:rPr lang="en-US" sz="1200"/>
              <a:t>– A vanishing bearing is the direction at which a departing bee leaves the observer's view.</a:t>
            </a:r>
          </a:p>
          <a:p>
            <a:r>
              <a:rPr lang="en-US" sz="1200"/>
              <a:t>• Why it is useful.</a:t>
            </a:r>
          </a:p>
          <a:p>
            <a:r>
              <a:rPr lang="en-US" sz="1200"/>
              <a:t>– It records the initial heading chosen after release.</a:t>
            </a:r>
          </a:p>
          <a:p>
            <a:r>
              <a:rPr lang="en-US" sz="1200"/>
              <a:t>– The bee has not yet corrected its course with landmarks.</a:t>
            </a:r>
          </a:p>
          <a:p>
            <a:r>
              <a:rPr lang="en-US" sz="1200"/>
              <a:t>• Training.</a:t>
            </a:r>
          </a:p>
          <a:p>
            <a:r>
              <a:rPr lang="en-US" sz="1200"/>
              <a:t>– Bees were trained to a feeder 100 meters from the hive.</a:t>
            </a:r>
          </a:p>
          <a:p>
            <a:r>
              <a:rPr lang="en-US" sz="1200"/>
              <a:t>– The experiment was done in the Southern Hemisphere.</a:t>
            </a:r>
          </a:p>
          <a:p>
            <a:r>
              <a:rPr lang="en-US" sz="1200"/>
              <a:t>• Displacement.</a:t>
            </a:r>
          </a:p>
          <a:p>
            <a:r>
              <a:rPr lang="en-US" sz="1200"/>
              <a:t>– Bees were transported 6 kilometers into unfamiliar terrain.</a:t>
            </a:r>
          </a:p>
          <a:p>
            <a:r>
              <a:rPr lang="en-US" sz="1200"/>
              <a:t>– Known landmarks were unavailable.</a:t>
            </a:r>
          </a:p>
          <a:p>
            <a:r>
              <a:rPr lang="en-US" sz="1200"/>
              <a:t>• Treatment.</a:t>
            </a:r>
          </a:p>
          <a:p>
            <a:r>
              <a:rPr lang="en-US" sz="1200"/>
              <a:t>– Six-hour anesthesia with 2 percent isoflurane was compared with a 30-minute control.</a:t>
            </a:r>
          </a:p>
          <a:p>
            <a:r>
              <a:rPr lang="en-US" sz="1200"/>
              <a:t>– The shift was about 87 degrees anticlockwise.</a:t>
            </a:r>
          </a:p>
          <a:p>
            <a:r>
              <a:rPr lang="en-US" sz="1200"/>
              <a:t>• Meaning.</a:t>
            </a:r>
          </a:p>
          <a:p>
            <a:r>
              <a:rPr lang="en-US" sz="1200"/>
              <a:t>– Solar bearing depends on time of day.</a:t>
            </a:r>
          </a:p>
          <a:p>
            <a:r>
              <a:rPr lang="en-US" sz="1200"/>
              <a:t>– A disturbed clock therefore predicts a directional error.</a:t>
            </a:r>
          </a:p>
          <a:p>
            <a:r>
              <a:rPr lang="en-US" sz="1200"/>
              <a:t>• Why unfamiliar terrain.</a:t>
            </a:r>
          </a:p>
          <a:p>
            <a:r>
              <a:rPr lang="en-US" sz="1200"/>
              <a:t>– Landmarks cannot guide the first part of the flight.</a:t>
            </a:r>
          </a:p>
          <a:p>
            <a:r>
              <a:rPr lang="en-US" sz="1200"/>
              <a:t>– The heading reflects the sun compass and the internal clock.</a:t>
            </a:r>
          </a:p>
          <a:p>
            <a:r>
              <a:rPr lang="en-US" sz="1200"/>
              <a:t>• Control.</a:t>
            </a:r>
          </a:p>
          <a:p>
            <a:r>
              <a:rPr lang="en-US" sz="1200"/>
              <a:t>– A 30-minute anesthetic served as the comparison.</a:t>
            </a:r>
          </a:p>
          <a:p>
            <a:r>
              <a:rPr lang="en-US" sz="1200"/>
              <a:t>– The difference between the two groups is the long timing disturbance.</a:t>
            </a:r>
          </a:p>
          <a:p>
            <a:r>
              <a:rPr lang="en-US" sz="1200"/>
              <a:t/>
            </a:r>
          </a:p>
          <a:p>
            <a:r>
              <a:rPr lang="en-US" sz="1200"/>
              <a:t>References:</a:t>
            </a:r>
          </a:p>
          <a:p>
            <a:r>
              <a:rPr lang="en-US" sz="1200"/>
              <a:t>Cheeseman JF, Winnebeck EC, Millar CD, Kirkland LS, Sleigh J, Goodwin M, Pawley MDM, Bloch G, Lehmann K, Menzel R, Warman GR (2012). General anesthesia alters time perception by phase shifting the circadian clock. Proceedings of the National Academy of Sciences 109(18): 7061-7066. https://doi.org/10.1073/pnas.1201734109</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sun compass needs knowledge of how the sun moves.</a:t>
            </a:r>
          </a:p>
          <a:p>
            <a:r>
              <a:rPr lang="en-US" sz="1200"/>
              <a:t>• Definitions.</a:t>
            </a:r>
          </a:p>
          <a:p>
            <a:r>
              <a:rPr lang="en-US" sz="1200"/>
              <a:t>– Solar azimuth is the horizontal bearing of the sun.</a:t>
            </a:r>
          </a:p>
          <a:p>
            <a:r>
              <a:rPr lang="en-US" sz="1200"/>
              <a:t>– An ephemeris describes the changing position over the day.</a:t>
            </a:r>
          </a:p>
          <a:p>
            <a:r>
              <a:rPr lang="en-US" sz="1200"/>
              <a:t>• Compensation.</a:t>
            </a:r>
          </a:p>
          <a:p>
            <a:r>
              <a:rPr lang="en-US" sz="1200"/>
              <a:t>– A bee using the sun as a compass must correct for the time of day.</a:t>
            </a:r>
          </a:p>
          <a:p>
            <a:r>
              <a:rPr lang="en-US" sz="1200"/>
              <a:t>– Otherwise its geographical direction would drift.</a:t>
            </a:r>
          </a:p>
          <a:p>
            <a:r>
              <a:rPr lang="en-US" sz="1200"/>
              <a:t>• Rearing.</a:t>
            </a:r>
          </a:p>
          <a:p>
            <a:r>
              <a:rPr lang="en-US" sz="1200"/>
              <a:t>– Bees were reared in an incubator.</a:t>
            </a:r>
          </a:p>
          <a:p>
            <a:r>
              <a:rPr lang="en-US" sz="1200"/>
              <a:t>– They were allowed to fly outside only in the late afternoon.</a:t>
            </a:r>
          </a:p>
          <a:p>
            <a:r>
              <a:rPr lang="en-US" sz="1200"/>
              <a:t>• Test.</a:t>
            </a:r>
          </a:p>
          <a:p>
            <a:r>
              <a:rPr lang="en-US" sz="1200"/>
              <a:t>– The test day was cloudy.</a:t>
            </a:r>
          </a:p>
          <a:p>
            <a:r>
              <a:rPr lang="en-US" sz="1200"/>
              <a:t>– The bees flew for the first time in the morning and early afternoon.</a:t>
            </a:r>
          </a:p>
          <a:p>
            <a:r>
              <a:rPr lang="en-US" sz="1200"/>
              <a:t>• Result.</a:t>
            </a:r>
          </a:p>
          <a:p>
            <a:r>
              <a:rPr lang="en-US" sz="1200"/>
              <a:t>– Dances indicated a morning estimate about 180 degrees from the evening azimuth.</a:t>
            </a:r>
          </a:p>
          <a:p>
            <a:r>
              <a:rPr lang="en-US" sz="1200"/>
              <a:t>– Around local noon the bees switched toward the familiar evening direction.</a:t>
            </a:r>
          </a:p>
          <a:p>
            <a:r>
              <a:rPr lang="en-US" sz="1200"/>
              <a:t>• Meaning.</a:t>
            </a:r>
          </a:p>
          <a:p>
            <a:r>
              <a:rPr lang="en-US" sz="1200"/>
              <a:t>– Bees hold a general expectation of daily solar movement.</a:t>
            </a:r>
          </a:p>
          <a:p>
            <a:r>
              <a:rPr lang="en-US" sz="1200"/>
              <a:t>– Full-day experience refines it.</a:t>
            </a:r>
          </a:p>
          <a:p>
            <a:r>
              <a:rPr lang="en-US" sz="1200"/>
              <a:t>• Why the cloudy day.</a:t>
            </a:r>
          </a:p>
          <a:p>
            <a:r>
              <a:rPr lang="en-US" sz="1200"/>
              <a:t>– The sun was not visible, so the dances reflect the bees' estimate of its position.</a:t>
            </a:r>
          </a:p>
          <a:p>
            <a:r>
              <a:rPr lang="en-US" sz="1200"/>
              <a:t>– The estimate came from experience and not from direct sight of the sun.</a:t>
            </a:r>
          </a:p>
          <a:p>
            <a:r>
              <a:rPr lang="en-US" sz="1200"/>
              <a:t/>
            </a:r>
          </a:p>
          <a:p>
            <a:r>
              <a:rPr lang="en-US" sz="1200"/>
              <a:t>References:</a:t>
            </a:r>
          </a:p>
          <a:p>
            <a:r>
              <a:rPr lang="en-US" sz="1200"/>
              <a:t>Dyer FC, Dickinson JA (1994). Development of sun compensation by honeybees: how partially experienced bees estimate the sun's course. Proceedings of the National Academy of Sciences 91(10): 4471-4474. https://doi.org/10.1073/pnas.91.10.4471</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Polarized light provides an axis, and an axis has two ends.</a:t>
            </a:r>
          </a:p>
          <a:p>
            <a:r>
              <a:rPr lang="en-US" sz="1200"/>
              <a:t>• Definition.</a:t>
            </a:r>
          </a:p>
          <a:p>
            <a:r>
              <a:rPr lang="en-US" sz="1200"/>
              <a:t>– The e-vector is the preferred orientation of the electric-field oscillation.</a:t>
            </a:r>
          </a:p>
          <a:p>
            <a:r>
              <a:rPr lang="en-US" sz="1200"/>
              <a:t>– It defines an axis and not a direction.</a:t>
            </a:r>
          </a:p>
          <a:p>
            <a:r>
              <a:rPr lang="en-US" sz="1200"/>
              <a:t>• Ambiguity.</a:t>
            </a:r>
          </a:p>
          <a:p>
            <a:r>
              <a:rPr lang="en-US" sz="1200"/>
              <a:t>– The same axis can represent two opposite travel directions.</a:t>
            </a:r>
          </a:p>
          <a:p>
            <a:r>
              <a:rPr lang="en-US" sz="1200"/>
              <a:t>– They differ by 180 degrees.</a:t>
            </a:r>
          </a:p>
          <a:p>
            <a:r>
              <a:rPr lang="en-US" sz="1200"/>
              <a:t>• Tunnel.</a:t>
            </a:r>
          </a:p>
          <a:p>
            <a:r>
              <a:rPr lang="en-US" sz="1200"/>
              <a:t>– The tunnel was 12 meters long and textured.</a:t>
            </a:r>
          </a:p>
          <a:p>
            <a:r>
              <a:rPr lang="en-US" sz="1200"/>
              <a:t>– Ultraviolet-transmitting polarizers and a diffuser covered it.</a:t>
            </a:r>
          </a:p>
          <a:p>
            <a:r>
              <a:rPr lang="en-US" sz="1200"/>
              <a:t>• Cue.</a:t>
            </a:r>
          </a:p>
          <a:p>
            <a:r>
              <a:rPr lang="en-US" sz="1200"/>
              <a:t>– The diffuser removed the direct view of the sun and overhead landmarks.</a:t>
            </a:r>
          </a:p>
          <a:p>
            <a:r>
              <a:rPr lang="en-US" sz="1200"/>
              <a:t>– The artificial polarization pattern was the celestial cue.</a:t>
            </a:r>
          </a:p>
          <a:p>
            <a:r>
              <a:rPr lang="en-US" sz="1200"/>
              <a:t>• Result.</a:t>
            </a:r>
          </a:p>
          <a:p>
            <a:r>
              <a:rPr lang="en-US" sz="1200"/>
              <a:t>– Transverse polarization gave waggle runs along a vertical axis.</a:t>
            </a:r>
          </a:p>
          <a:p>
            <a:r>
              <a:rPr lang="en-US" sz="1200"/>
              <a:t>– Axial polarization gave runs along a horizontal axis.</a:t>
            </a:r>
          </a:p>
          <a:p>
            <a:r>
              <a:rPr lang="en-US" sz="1200"/>
              <a:t>• Mean axes.</a:t>
            </a:r>
          </a:p>
          <a:p>
            <a:r>
              <a:rPr lang="en-US" sz="1200"/>
              <a:t>– The mean axes were about 91.7 and 1.3 degrees relative to horizontal.</a:t>
            </a:r>
          </a:p>
          <a:p>
            <a:r>
              <a:rPr lang="en-US" sz="1200"/>
              <a:t>• Meaning.</a:t>
            </a:r>
          </a:p>
          <a:p>
            <a:r>
              <a:rPr lang="en-US" sz="1200"/>
              <a:t>– Bees advertised both alternatives, so polarization supplies an axis of possible headings.</a:t>
            </a:r>
          </a:p>
          <a:p>
            <a:r>
              <a:rPr lang="en-US" sz="1200"/>
              <a:t>• Why both alternatives.</a:t>
            </a:r>
          </a:p>
          <a:p>
            <a:r>
              <a:rPr lang="en-US" sz="1200"/>
              <a:t>– A bee that reads an axis cannot tell the two ends apart without another cue.</a:t>
            </a:r>
          </a:p>
          <a:p>
            <a:r>
              <a:rPr lang="en-US" sz="1200"/>
              <a:t>– Dances along the axis therefore include both opposite headings.</a:t>
            </a:r>
          </a:p>
          <a:p>
            <a:r>
              <a:rPr lang="en-US" sz="1200"/>
              <a:t/>
            </a:r>
          </a:p>
          <a:p>
            <a:r>
              <a:rPr lang="en-US" sz="1200"/>
              <a:t>References:</a:t>
            </a:r>
          </a:p>
          <a:p>
            <a:r>
              <a:rPr lang="en-US" sz="1200"/>
              <a:t>Evangelista C, Kraft P, Dacke M, Labhart T, Srinivasan MV (2014). Honeybee navigation: critically examining the role of the polarization compass. Philosophical Transactions of the Royal Society B: Biological Sciences 369(1636): 20130037. https://doi.org/10.1098/rstb.2013.0037</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simple reflex gives access to what a restrained bee has learned.</a:t>
            </a:r>
          </a:p>
          <a:p>
            <a:r>
              <a:rPr lang="en-US" sz="1200"/>
              <a:t>• Response.</a:t>
            </a:r>
          </a:p>
          <a:p>
            <a:r>
              <a:rPr lang="en-US" sz="1200"/>
              <a:t>– The proboscis extension response is extension of the feeding mouthparts.</a:t>
            </a:r>
          </a:p>
          <a:p>
            <a:r>
              <a:rPr lang="en-US" sz="1200"/>
              <a:t>– It occurs when the bee expects sucrose.</a:t>
            </a:r>
          </a:p>
          <a:p>
            <a:r>
              <a:rPr lang="en-US" sz="1200"/>
              <a:t>• Association.</a:t>
            </a:r>
          </a:p>
          <a:p>
            <a:r>
              <a:rPr lang="en-US" sz="1200"/>
              <a:t>– After pairing a stimulus with sugar, extension to the stimulus reads out the association.</a:t>
            </a:r>
          </a:p>
          <a:p>
            <a:r>
              <a:rPr lang="en-US" sz="1200"/>
              <a:t>• Design.</a:t>
            </a:r>
          </a:p>
          <a:p>
            <a:r>
              <a:rPr lang="en-US" sz="1200"/>
              <a:t>– One e-vector direction was paired with sucrose.</a:t>
            </a:r>
          </a:p>
          <a:p>
            <a:r>
              <a:rPr lang="en-US" sz="1200"/>
              <a:t>– The perpendicular direction was not rewarded.</a:t>
            </a:r>
          </a:p>
          <a:p>
            <a:r>
              <a:rPr lang="en-US" sz="1200"/>
              <a:t>• Stimulus.</a:t>
            </a:r>
          </a:p>
          <a:p>
            <a:r>
              <a:rPr lang="en-US" sz="1200"/>
              <a:t>– The polarized light was presented from above.</a:t>
            </a:r>
          </a:p>
          <a:p>
            <a:r>
              <a:rPr lang="en-US" sz="1200"/>
              <a:t>– Ultraviolet light was used during conditioning.</a:t>
            </a:r>
          </a:p>
          <a:p>
            <a:r>
              <a:rPr lang="en-US" sz="1200"/>
              <a:t>• Result.</a:t>
            </a:r>
          </a:p>
          <a:p>
            <a:r>
              <a:rPr lang="en-US" sz="1200"/>
              <a:t>– Responses increased to the rewarded direction.</a:t>
            </a:r>
          </a:p>
          <a:p>
            <a:r>
              <a:rPr lang="en-US" sz="1200"/>
              <a:t>– They remained low to the other direction.</a:t>
            </a:r>
          </a:p>
          <a:p>
            <a:r>
              <a:rPr lang="en-US" sz="1200"/>
              <a:t>• Head-fixed bees.</a:t>
            </a:r>
          </a:p>
          <a:p>
            <a:r>
              <a:rPr lang="en-US" sz="1200"/>
              <a:t>– Bees with the head fixed could also learn.</a:t>
            </a:r>
          </a:p>
          <a:p>
            <a:r>
              <a:rPr lang="en-US" sz="1200"/>
              <a:t>– This supports detection without repeated active head scanning.</a:t>
            </a:r>
          </a:p>
          <a:p>
            <a:r>
              <a:rPr lang="en-US" sz="1200"/>
              <a:t>• Meaning.</a:t>
            </a:r>
          </a:p>
          <a:p>
            <a:r>
              <a:rPr lang="en-US" sz="1200"/>
              <a:t>– The test measures discrimination of polarization orientation without a navigational journey.</a:t>
            </a:r>
          </a:p>
          <a:p>
            <a:r>
              <a:rPr lang="en-US" sz="1200"/>
              <a:t>• Why this readout.</a:t>
            </a:r>
          </a:p>
          <a:p>
            <a:r>
              <a:rPr lang="en-US" sz="1200"/>
              <a:t>– Restrained bees cannot fly a route.</a:t>
            </a:r>
          </a:p>
          <a:p>
            <a:r>
              <a:rPr lang="en-US" sz="1200"/>
              <a:t>– Extension of the mouthparts provides a clear response to score in each trial.</a:t>
            </a:r>
          </a:p>
          <a:p>
            <a:r>
              <a:rPr lang="en-US" sz="1200"/>
              <a:t>• Detection.</a:t>
            </a:r>
          </a:p>
          <a:p>
            <a:r>
              <a:rPr lang="en-US" sz="1200"/>
              <a:t>– The e-vector is the orientation of the electric field oscillation of the light.</a:t>
            </a:r>
          </a:p>
          <a:p>
            <a:r>
              <a:rPr lang="en-US" sz="1200"/>
              <a:t>– Bees learned to discriminate two orientations presented from above.</a:t>
            </a:r>
          </a:p>
          <a:p>
            <a:r>
              <a:rPr lang="en-US" sz="1200"/>
              <a:t/>
            </a:r>
          </a:p>
          <a:p>
            <a:r>
              <a:rPr lang="en-US" sz="1200"/>
              <a:t>References:</a:t>
            </a:r>
          </a:p>
          <a:p>
            <a:r>
              <a:rPr lang="en-US" sz="1200"/>
              <a:t>Sakura M, Okada R, Aonuma H (2012). Evidence for instantaneous e-vector detection in the honeybee using an associative learning paradigm. Proceedings of the Royal Society B: Biological Sciences 279(1728): 535-542. https://doi.org/10.1098/rspb.2011.0929</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calibration gives the dance duration a physical meaning in meters.</a:t>
            </a:r>
          </a:p>
          <a:p>
            <a:r>
              <a:rPr lang="en-US" sz="1200"/>
              <a:t>• Definition.</a:t>
            </a:r>
          </a:p>
          <a:p>
            <a:r>
              <a:rPr lang="en-US" sz="1200"/>
              <a:t>– A calibration relates a measured signal to a known quantity under specified conditions.</a:t>
            </a:r>
          </a:p>
          <a:p>
            <a:r>
              <a:rPr lang="en-US" sz="1200"/>
              <a:t>• Outdoor series.</a:t>
            </a:r>
          </a:p>
          <a:p>
            <a:r>
              <a:rPr lang="en-US" sz="1200"/>
              <a:t>– Feeders were moved between 60 and 350 meters from the hive.</a:t>
            </a:r>
          </a:p>
          <a:p>
            <a:r>
              <a:rPr lang="en-US" sz="1200"/>
              <a:t>– The duration of each waggle phase was measured on return.</a:t>
            </a:r>
          </a:p>
          <a:p>
            <a:r>
              <a:rPr lang="en-US" sz="1200"/>
              <a:t>• Result.</a:t>
            </a:r>
          </a:p>
          <a:p>
            <a:r>
              <a:rPr lang="en-US" sz="1200"/>
              <a:t>– Mean waggle duration increased approximately linearly with feeder distance.</a:t>
            </a:r>
          </a:p>
          <a:p>
            <a:r>
              <a:rPr lang="en-US" sz="1200"/>
              <a:t>– The increase was 1.88 milliseconds per meter.</a:t>
            </a:r>
          </a:p>
          <a:p>
            <a:r>
              <a:rPr lang="en-US" sz="1200"/>
              <a:t>• Independence.</a:t>
            </a:r>
          </a:p>
          <a:p>
            <a:r>
              <a:rPr lang="en-US" sz="1200"/>
              <a:t>– The calibration was measured independently of the tunnel manipulation.</a:t>
            </a:r>
          </a:p>
          <a:p>
            <a:r>
              <a:rPr lang="en-US" sz="1200"/>
              <a:t>– It therefore serves as a neutral reference.</a:t>
            </a:r>
          </a:p>
          <a:p>
            <a:r>
              <a:rPr lang="en-US" sz="1200"/>
              <a:t>• Application.</a:t>
            </a:r>
          </a:p>
          <a:p>
            <a:r>
              <a:rPr lang="en-US" sz="1200"/>
              <a:t>– Each tunnel dance can be translated into an equivalent outdoor distance.</a:t>
            </a:r>
          </a:p>
          <a:p>
            <a:r>
              <a:rPr lang="en-US" sz="1200"/>
              <a:t>– A 41 meter journey with 6 meters in the tunnel corresponded to about 230 meters.</a:t>
            </a:r>
          </a:p>
          <a:p>
            <a:r>
              <a:rPr lang="en-US" sz="1200"/>
              <a:t>• Meaning.</a:t>
            </a:r>
          </a:p>
          <a:p>
            <a:r>
              <a:rPr lang="en-US" sz="1200"/>
              <a:t>– The calibration is the ruler against which the visual inflation of distance is measured.</a:t>
            </a:r>
          </a:p>
          <a:p>
            <a:r>
              <a:rPr lang="en-US" sz="1200"/>
              <a:t>• Why a straight line.</a:t>
            </a:r>
          </a:p>
          <a:p>
            <a:r>
              <a:rPr lang="en-US" sz="1200"/>
              <a:t>– A linear relation makes the conversion simple.</a:t>
            </a:r>
          </a:p>
          <a:p>
            <a:r>
              <a:rPr lang="en-US" sz="1200"/>
              <a:t>– Each meter of outdoor travel adds a fixed amount of waggle duration over the tested range.</a:t>
            </a:r>
          </a:p>
          <a:p>
            <a:r>
              <a:rPr lang="en-US" sz="1200"/>
              <a:t/>
            </a:r>
          </a:p>
          <a:p>
            <a:r>
              <a:rPr lang="en-US" sz="1200"/>
              <a:t>References:</a:t>
            </a:r>
          </a:p>
          <a:p>
            <a:r>
              <a:rPr lang="en-US" sz="1200"/>
              <a:t>Srinivasan MV, Zhang S, Altwein M, Tautz J (2000). Honeybee Navigation: Nature and Calibration of the "Odometer". Science 287(5454): 851-853. https://doi.org/10.1126/science.287.5454.851</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Distance in the dance is read from what the eyes experience during flight.</a:t>
            </a:r>
          </a:p>
          <a:p>
            <a:r>
              <a:rPr lang="en-US" sz="1200"/>
              <a:t>• Definition.</a:t>
            </a:r>
          </a:p>
          <a:p>
            <a:r>
              <a:rPr lang="en-US" sz="1200"/>
              <a:t>– A visual odometer estimates distance traveled from optic flow.</a:t>
            </a:r>
          </a:p>
          <a:p>
            <a:r>
              <a:rPr lang="en-US" sz="1200"/>
              <a:t>– Optic flow is the movement of images across the retina.</a:t>
            </a:r>
          </a:p>
          <a:p>
            <a:r>
              <a:rPr lang="en-US" sz="1200"/>
              <a:t>• Near and far.</a:t>
            </a:r>
          </a:p>
          <a:p>
            <a:r>
              <a:rPr lang="en-US" sz="1200"/>
              <a:t>– Nearby surfaces produce more angular image displacement than distant ones.</a:t>
            </a:r>
          </a:p>
          <a:p>
            <a:r>
              <a:rPr lang="en-US" sz="1200"/>
              <a:t>– The same travel therefore gives more flow in a narrow space.</a:t>
            </a:r>
          </a:p>
          <a:p>
            <a:r>
              <a:rPr lang="en-US" sz="1200"/>
              <a:t>• Tunnel.</a:t>
            </a:r>
          </a:p>
          <a:p>
            <a:r>
              <a:rPr lang="en-US" sz="1200"/>
              <a:t>– The tunnel was 6.4 meters long, 11 centimeters wide and 20 centimeters high.</a:t>
            </a:r>
          </a:p>
          <a:p>
            <a:r>
              <a:rPr lang="en-US" sz="1200"/>
              <a:t>– A mesh ceiling allowed a view of the sky.</a:t>
            </a:r>
          </a:p>
          <a:p>
            <a:r>
              <a:rPr lang="en-US" sz="1200"/>
              <a:t>• Texture.</a:t>
            </a:r>
          </a:p>
          <a:p>
            <a:r>
              <a:rPr lang="en-US" sz="1200"/>
              <a:t>– Random black-and-white texture covered the walls and floor.</a:t>
            </a:r>
          </a:p>
          <a:p>
            <a:r>
              <a:rPr lang="en-US" sz="1200"/>
              <a:t>– The feeder was 6 meters into the tunnel.</a:t>
            </a:r>
          </a:p>
          <a:p>
            <a:r>
              <a:rPr lang="en-US" sz="1200"/>
              <a:t>• Result.</a:t>
            </a:r>
          </a:p>
          <a:p>
            <a:r>
              <a:rPr lang="en-US" sz="1200"/>
              <a:t>– Returning bees produced waggle dances after this short passage.</a:t>
            </a:r>
          </a:p>
          <a:p>
            <a:r>
              <a:rPr lang="en-US" sz="1200"/>
              <a:t>– A short outdoor journey normally elicits round dances.</a:t>
            </a:r>
          </a:p>
          <a:p>
            <a:r>
              <a:rPr lang="en-US" sz="1200"/>
              <a:t>• Alternative.</a:t>
            </a:r>
          </a:p>
          <a:p>
            <a:r>
              <a:rPr lang="en-US" sz="1200"/>
              <a:t>– An energy-based measure predicts the same signal for the same physical distance.</a:t>
            </a:r>
          </a:p>
          <a:p>
            <a:r>
              <a:rPr lang="en-US" sz="1200"/>
              <a:t>– The dance followed visual motion instead.</a:t>
            </a:r>
          </a:p>
          <a:p>
            <a:r>
              <a:rPr lang="en-US" sz="1200"/>
              <a:t>• Why a narrow tunnel.</a:t>
            </a:r>
          </a:p>
          <a:p>
            <a:r>
              <a:rPr lang="en-US" sz="1200"/>
              <a:t>– Close walls increase image motion without requiring a long physical flight.</a:t>
            </a:r>
          </a:p>
          <a:p>
            <a:r>
              <a:rPr lang="en-US" sz="1200"/>
              <a:t>– The preparation separates physical distance from visual motion.</a:t>
            </a:r>
          </a:p>
          <a:p>
            <a:r>
              <a:rPr lang="en-US" sz="1200"/>
              <a:t/>
            </a:r>
          </a:p>
          <a:p>
            <a:r>
              <a:rPr lang="en-US" sz="1200"/>
              <a:t>References:</a:t>
            </a:r>
          </a:p>
          <a:p>
            <a:r>
              <a:rPr lang="en-US" sz="1200"/>
              <a:t>Srinivasan MV, Zhang S, Altwein M, Tautz J (2000). Honeybee Navigation: Nature and Calibration of the "Odometer". Science 287(5454): 851-853. https://doi.org/10.1126/science.287.5454.851</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bee in wind moves through the air and over the ground at the same time.</a:t>
            </a:r>
          </a:p>
          <a:p>
            <a:r>
              <a:rPr lang="en-US" sz="1200"/>
              <a:t>• Definitions.</a:t>
            </a:r>
          </a:p>
          <a:p>
            <a:r>
              <a:rPr lang="en-US" sz="1200"/>
              <a:t>– Ground speed is speed relative to the earth below.</a:t>
            </a:r>
          </a:p>
          <a:p>
            <a:r>
              <a:rPr lang="en-US" sz="1200"/>
              <a:t>– Air speed is speed relative to the air that carries the bee.</a:t>
            </a:r>
          </a:p>
          <a:p>
            <a:r>
              <a:rPr lang="en-US" sz="1200"/>
              <a:t>• Crosswind.</a:t>
            </a:r>
          </a:p>
          <a:p>
            <a:r>
              <a:rPr lang="en-US" sz="1200"/>
              <a:t>– A crosswind makes the two quantities differ.</a:t>
            </a:r>
          </a:p>
          <a:p>
            <a:r>
              <a:rPr lang="en-US" sz="1200"/>
              <a:t>– The body can point in a direction different from the direction of travel.</a:t>
            </a:r>
          </a:p>
          <a:p>
            <a:r>
              <a:rPr lang="en-US" sz="1200"/>
              <a:t>• Measurement.</a:t>
            </a:r>
          </a:p>
          <a:p>
            <a:r>
              <a:rPr lang="en-US" sz="1200"/>
              <a:t>– Flight tracks were measured together with wind velocity.</a:t>
            </a:r>
          </a:p>
          <a:p>
            <a:r>
              <a:rPr lang="en-US" sz="1200"/>
              <a:t>– This separates movement over the ground from movement through the air.</a:t>
            </a:r>
          </a:p>
          <a:p>
            <a:r>
              <a:rPr lang="en-US" sz="1200"/>
              <a:t>• Example flight.</a:t>
            </a:r>
          </a:p>
          <a:p>
            <a:r>
              <a:rPr lang="en-US" sz="1200"/>
              <a:t>– Ground speed was 6.8 meters per second.</a:t>
            </a:r>
          </a:p>
          <a:p>
            <a:r>
              <a:rPr lang="en-US" sz="1200"/>
              <a:t>– A 3.3 meters per second wind acted from a different direction.</a:t>
            </a:r>
          </a:p>
          <a:p>
            <a:r>
              <a:rPr lang="en-US" sz="1200"/>
              <a:t>• Air velocity.</a:t>
            </a:r>
          </a:p>
          <a:p>
            <a:r>
              <a:rPr lang="en-US" sz="1200"/>
              <a:t>– The reconstructed air velocity was 5.2 meters per second.</a:t>
            </a:r>
          </a:p>
          <a:p>
            <a:r>
              <a:rPr lang="en-US" sz="1200"/>
              <a:t>– The air heading differed from the ground track by approximately 28 degrees.</a:t>
            </a:r>
          </a:p>
          <a:p>
            <a:r>
              <a:rPr lang="en-US" sz="1200"/>
              <a:t>• Meaning.</a:t>
            </a:r>
          </a:p>
          <a:p>
            <a:r>
              <a:rPr lang="en-US" sz="1200"/>
              <a:t>– Holding the eastward ground track requires pointing partly into the wind.</a:t>
            </a:r>
          </a:p>
          <a:p>
            <a:r>
              <a:rPr lang="en-US" sz="1200"/>
              <a:t>– The bee counteracts drift to follow the instruction.</a:t>
            </a:r>
          </a:p>
          <a:p>
            <a:r>
              <a:rPr lang="en-US" sz="1200"/>
              <a:t>• Why separate the two speeds.</a:t>
            </a:r>
          </a:p>
          <a:p>
            <a:r>
              <a:rPr lang="en-US" sz="1200"/>
              <a:t>– A track measured over the ground combines the effect of the bee and the effect of the wind.</a:t>
            </a:r>
          </a:p>
          <a:p>
            <a:r>
              <a:rPr lang="en-US" sz="1200"/>
              <a:t>– Subtracting the wind gives the air velocity produced by the bee.</a:t>
            </a:r>
          </a:p>
          <a:p>
            <a:r>
              <a:rPr lang="en-US" sz="1200"/>
              <a:t/>
            </a:r>
          </a:p>
          <a:p>
            <a:r>
              <a:rPr lang="en-US" sz="1200"/>
              <a:t>References:</a:t>
            </a:r>
          </a:p>
          <a:p>
            <a:r>
              <a:rPr lang="en-US" sz="1200"/>
              <a:t>Riley JR, Greggers U, Smith AD, Reynolds DR, Menzel R (2005). The flight paths of honeybees recruited by the waggle dance. Nature 435(7039): 205-207. https://doi.org/10.1038/nature03526</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radar record turns an invisible flight into a measurable path.</a:t>
            </a:r>
          </a:p>
          <a:p>
            <a:r>
              <a:rPr lang="en-US" sz="1200"/>
              <a:t>• Method.</a:t>
            </a:r>
          </a:p>
          <a:p>
            <a:r>
              <a:rPr lang="en-US" sz="1200"/>
              <a:t>– Harmonic radar detects a small transponder carried by the bee.</a:t>
            </a:r>
          </a:p>
          <a:p>
            <a:r>
              <a:rPr lang="en-US" sz="1200"/>
              <a:t>– The radar reports the position of the animal over time.</a:t>
            </a:r>
          </a:p>
          <a:p>
            <a:r>
              <a:rPr lang="en-US" sz="1200"/>
              <a:t>• Advantage.</a:t>
            </a:r>
          </a:p>
          <a:p>
            <a:r>
              <a:rPr lang="en-US" sz="1200"/>
              <a:t>– The bee can be followed outside the observation hive over long distances.</a:t>
            </a:r>
          </a:p>
          <a:p>
            <a:r>
              <a:rPr lang="en-US" sz="1200"/>
              <a:t>– No observer has to keep the bee in sight.</a:t>
            </a:r>
          </a:p>
          <a:p>
            <a:r>
              <a:rPr lang="en-US" sz="1200"/>
              <a:t>• Experiment.</a:t>
            </a:r>
          </a:p>
          <a:p>
            <a:r>
              <a:rPr lang="en-US" sz="1200"/>
              <a:t>– Recruits had followed dances advertising an unscented feeder 200 meters east of the hive.</a:t>
            </a:r>
          </a:p>
          <a:p>
            <a:r>
              <a:rPr lang="en-US" sz="1200"/>
              <a:t>– They had not visited the feeder before.</a:t>
            </a:r>
          </a:p>
          <a:p>
            <a:r>
              <a:rPr lang="en-US" sz="1200"/>
              <a:t>• Sampling.</a:t>
            </a:r>
          </a:p>
          <a:p>
            <a:r>
              <a:rPr lang="en-US" sz="1200"/>
              <a:t>– Positions were acquired every 3 seconds.</a:t>
            </a:r>
          </a:p>
          <a:p>
            <a:r>
              <a:rPr lang="en-US" sz="1200"/>
              <a:t>– This separates directed travel from the more tortuous path of searching.</a:t>
            </a:r>
          </a:p>
          <a:p>
            <a:r>
              <a:rPr lang="en-US" sz="1200"/>
              <a:t>• Result.</a:t>
            </a:r>
          </a:p>
          <a:p>
            <a:r>
              <a:rPr lang="en-US" sz="1200"/>
              <a:t>– Recruits released at the hive generally flew an initially straight, eastward route.</a:t>
            </a:r>
          </a:p>
          <a:p>
            <a:r>
              <a:rPr lang="en-US" sz="1200"/>
              <a:t>– Their straight sections averaged 206 meters before searching began.</a:t>
            </a:r>
          </a:p>
          <a:p>
            <a:r>
              <a:rPr lang="en-US" sz="1200"/>
              <a:t>• Meaning.</a:t>
            </a:r>
          </a:p>
          <a:p>
            <a:r>
              <a:rPr lang="en-US" sz="1200"/>
              <a:t>– The trajectory gives the direction and length of the vector flight.</a:t>
            </a:r>
          </a:p>
          <a:p>
            <a:r>
              <a:rPr lang="en-US" sz="1200"/>
              <a:t>– It also marks the point at which the bee begins to search.</a:t>
            </a:r>
          </a:p>
          <a:p>
            <a:r>
              <a:rPr lang="en-US" sz="1200"/>
              <a:t>• Why radar.</a:t>
            </a:r>
          </a:p>
          <a:p>
            <a:r>
              <a:rPr lang="en-US" sz="1200"/>
              <a:t>– Following a flying bee by eye over hundreds of meters is not practical.</a:t>
            </a:r>
          </a:p>
          <a:p>
            <a:r>
              <a:rPr lang="en-US" sz="1200"/>
              <a:t>– A transponder allows its path to be reconstructed from the radar positions.</a:t>
            </a:r>
          </a:p>
          <a:p>
            <a:r>
              <a:rPr lang="en-US" sz="1200"/>
              <a:t/>
            </a:r>
          </a:p>
          <a:p>
            <a:r>
              <a:rPr lang="en-US" sz="1200"/>
              <a:t>References:</a:t>
            </a:r>
          </a:p>
          <a:p>
            <a:r>
              <a:rPr lang="en-US" sz="1200"/>
              <a:t>Riley JR, Greggers U, Smith AD, Reynolds DR, Menzel R (2005). The flight paths of honeybees recruited by the waggle dance. Nature 435(7039): 205-207. https://doi.org/10.1038/nature03526</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dance packages two pieces of information into a single movement pattern.</a:t>
            </a:r>
          </a:p>
          <a:p>
            <a:r>
              <a:rPr lang="en-US" sz="1200"/>
              <a:t>• Definition.</a:t>
            </a:r>
          </a:p>
          <a:p>
            <a:r>
              <a:rPr lang="en-US" sz="1200"/>
              <a:t>– A vector specifies a direction and a distance from an origin.</a:t>
            </a:r>
          </a:p>
          <a:p>
            <a:r>
              <a:rPr lang="en-US" sz="1200"/>
              <a:t>– In the dance the origin is the hive.</a:t>
            </a:r>
          </a:p>
          <a:p>
            <a:r>
              <a:rPr lang="en-US" sz="1200"/>
              <a:t>• Direction.</a:t>
            </a:r>
          </a:p>
          <a:p>
            <a:r>
              <a:rPr lang="en-US" sz="1200"/>
              <a:t>– The angle of the waggle run on a vertical comb encodes the direction of the food relative to the sun.</a:t>
            </a:r>
          </a:p>
          <a:p>
            <a:r>
              <a:rPr lang="en-US" sz="1200"/>
              <a:t>– Gravity provides the reference inside the dark hive.</a:t>
            </a:r>
          </a:p>
          <a:p>
            <a:r>
              <a:rPr lang="en-US" sz="1200"/>
              <a:t>• Distance.</a:t>
            </a:r>
          </a:p>
          <a:p>
            <a:r>
              <a:rPr lang="en-US" sz="1200"/>
              <a:t>– The duration of the waggle run encodes how far the food is from the hive.</a:t>
            </a:r>
          </a:p>
          <a:p>
            <a:r>
              <a:rPr lang="en-US" sz="1200"/>
              <a:t>• Experiment.</a:t>
            </a:r>
          </a:p>
          <a:p>
            <a:r>
              <a:rPr lang="en-US" sz="1200"/>
              <a:t>– Individually marked bees visited a feeder 150 meters away.</a:t>
            </a:r>
          </a:p>
          <a:p>
            <a:r>
              <a:rPr lang="en-US" sz="1200"/>
              <a:t>– The dances were filmed.</a:t>
            </a:r>
          </a:p>
          <a:p>
            <a:r>
              <a:rPr lang="en-US" sz="1200"/>
              <a:t>• Followers.</a:t>
            </a:r>
          </a:p>
          <a:p>
            <a:r>
              <a:rPr lang="en-US" sz="1200"/>
              <a:t>– Attending bees followed the dancer at close range.</a:t>
            </a:r>
          </a:p>
          <a:p>
            <a:r>
              <a:rPr lang="en-US" sz="1200"/>
              <a:t>– They obtain the vector from this contact.</a:t>
            </a:r>
          </a:p>
          <a:p>
            <a:r>
              <a:rPr lang="en-US" sz="1200"/>
              <a:t>• Structure of the dance.</a:t>
            </a:r>
          </a:p>
          <a:p>
            <a:r>
              <a:rPr lang="en-US" sz="1200"/>
              <a:t>– A straight abdominal-wagging run alternates with return loops.</a:t>
            </a:r>
          </a:p>
          <a:p>
            <a:r>
              <a:rPr lang="en-US" sz="1200"/>
              <a:t>– The waggle run carries the vector.</a:t>
            </a:r>
          </a:p>
          <a:p>
            <a:r>
              <a:rPr lang="en-US" sz="1200"/>
              <a:t>• Meaning.</a:t>
            </a:r>
          </a:p>
          <a:p>
            <a:r>
              <a:rPr lang="en-US" sz="1200"/>
              <a:t>– The signal concerns a location outside the hive and not just the position of the dancer.</a:t>
            </a:r>
          </a:p>
          <a:p>
            <a:r>
              <a:rPr lang="en-US" sz="1200"/>
              <a:t>• Why a vector.</a:t>
            </a:r>
          </a:p>
          <a:p>
            <a:r>
              <a:rPr lang="en-US" sz="1200"/>
              <a:t>– Direction and distance together fix a destination from a known starting point.</a:t>
            </a:r>
          </a:p>
          <a:p>
            <a:r>
              <a:rPr lang="en-US" sz="1200"/>
              <a:t>– The hive serves as that starting point for every dance.</a:t>
            </a:r>
          </a:p>
          <a:p>
            <a:r>
              <a:rPr lang="en-US" sz="1200"/>
              <a:t/>
            </a:r>
          </a:p>
          <a:p>
            <a:r>
              <a:rPr lang="en-US" sz="1200"/>
              <a:t>References:</a:t>
            </a:r>
          </a:p>
          <a:p>
            <a:r>
              <a:rPr lang="en-US" sz="1200"/>
              <a:t>Dong S, Lin T, Nieh JC, Tan K (2023). Social signal learning of the waggle dance in honey bees. Science 379(6636): 1015-1018. https://doi.org/10.1126/science.ade1702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0.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7.png"/><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2.png"/><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8.png"/><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5.png"/><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3.png"/><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9.png"/><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 Id="rId3" Type="http://schemas.openxmlformats.org/officeDocument/2006/relationships/image" Target="../media/image31.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22.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27.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D9D2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51C75"/>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B3747"/>
              </a:buClr>
              <a:buSzPts val="1200"/>
              <a:buFont typeface="Arial"/>
              <a:buNone/>
            </a:pPr>
            <a:r>
              <a:rPr b="0" i="0" lang="en-US" sz="1200">
                <a:solidFill>
                  <a:srgbClr val="351C75"/>
                </a:solidFill>
                <a:latin typeface="Arial"/>
                <a:ea typeface="Arial"/>
                <a:cs typeface="Arial"/>
                <a:sym typeface="Arial"/>
              </a:rPr>
              <a:t>NEUR 411 · NEUROETHOLOGY · FALL 2026</a:t>
            </a:r>
            <a:endParaRPr sz="1800">
              <a:solidFill>
                <a:srgbClr val="351C75"/>
              </a:solidFill>
              <a:latin typeface="Calibri"/>
              <a:ea typeface="Calibri"/>
              <a:cs typeface="Calibri"/>
              <a:sym typeface="Calibri"/>
            </a:endParaRPr>
          </a:p>
        </p:txBody>
      </p:sp>
      <p:sp>
        <p:nvSpPr>
          <p:cNvPr id="21" name="Google Shape;21;p1"/>
          <p:cNvSpPr/>
          <p:nvPr/>
        </p:nvSpPr>
        <p:spPr>
          <a:xfrm>
            <a:off x="685800" y="1782961"/>
            <a:ext cx="4743450" cy="4547039"/>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B3747"/>
              </a:buClr>
              <a:buSzPts val="1800"/>
              <a:buFont typeface="Arial"/>
              <a:buNone/>
            </a:pPr>
            <a:r>
              <a:rPr b="0" i="0" lang="en-US" sz="1800">
                <a:solidFill>
                  <a:srgbClr val="351C75"/>
                </a:solidFill>
                <a:latin typeface="Arial"/>
                <a:ea typeface="Arial"/>
                <a:cs typeface="Arial"/>
                <a:sym typeface="Arial"/>
              </a:rPr>
              <a:t>Lecture 29</a:t>
            </a:r>
            <a:endParaRPr sz="1800">
              <a:solidFill>
                <a:srgbClr val="351C75"/>
              </a:solidFill>
              <a:latin typeface="Calibri"/>
              <a:ea typeface="Calibri"/>
              <a:cs typeface="Calibri"/>
              <a:sym typeface="Calibri"/>
            </a:endParaRPr>
          </a:p>
          <a:p>
            <a:pPr indent="0" lvl="0" marL="0" marR="0" rtl="0" algn="l">
              <a:lnSpc>
                <a:spcPct val="108000"/>
              </a:lnSpc>
              <a:spcAft>
                <a:spcPts val="1200"/>
              </a:spcAft>
              <a:buClr>
                <a:srgbClr val="3B4149"/>
              </a:buClr>
              <a:buSzPts val="2500"/>
              <a:buFont typeface="Arial"/>
              <a:buNone/>
            </a:pPr>
            <a:r>
              <a:rPr b="1" i="0" lang="en-US" sz="2500">
                <a:solidFill>
                  <a:schemeClr val="dk1"/>
                </a:solidFill>
                <a:latin typeface="Arial"/>
                <a:ea typeface="Arial"/>
                <a:cs typeface="Arial"/>
                <a:sym typeface="Arial"/>
              </a:rPr>
              <a:t>Navigation II: honeybee waggle dance and sun-compass navigation (von Frisch)</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8B3747"/>
              </a:buClr>
              <a:buSzPts val="1600"/>
              <a:buFont typeface="Arial"/>
              <a:buNone/>
            </a:pPr>
            <a:r>
              <a:rPr b="0" i="0" lang="en-US" sz="1600">
                <a:solidFill>
                  <a:srgbClr val="351C75"/>
                </a:solidFill>
                <a:latin typeface="Arial"/>
                <a:ea typeface="Arial"/>
                <a:cs typeface="Arial"/>
                <a:sym typeface="Arial"/>
              </a:rPr>
              <a:t>Monday, November 2, 2026</a:t>
            </a:r>
            <a:endParaRPr sz="1800">
              <a:solidFill>
                <a:srgbClr val="351C75"/>
              </a:solidFill>
              <a:latin typeface="Calibri"/>
              <a:ea typeface="Calibri"/>
              <a:cs typeface="Calibri"/>
              <a:sym typeface="Calibri"/>
            </a:endParaRPr>
          </a:p>
          <a:p>
            <a:pPr indent="0" lvl="0" marL="0" marR="0" rtl="0" algn="l">
              <a:lnSpc>
                <a:spcPct val="108000"/>
              </a:lnSpc>
              <a:spcAft>
                <a:spcPts val="1200"/>
              </a:spcAft>
              <a:buClr>
                <a:srgbClr val="8B3747"/>
              </a:buClr>
              <a:buSzPts val="1200"/>
              <a:buFont typeface="Arial"/>
              <a:buNone/>
            </a:pPr>
            <a:r>
              <a:rPr b="0" i="0" lang="en-US" sz="1200">
                <a:solidFill>
                  <a:srgbClr val="351C75"/>
                </a:solidFill>
                <a:latin typeface="Arial"/>
                <a:ea typeface="Arial"/>
                <a:cs typeface="Arial"/>
                <a:sym typeface="Arial"/>
              </a:rPr>
              <a:t>Jordan Lopez, Ph.D.</a:t>
            </a:r>
            <a:endParaRPr sz="1800">
              <a:solidFill>
                <a:srgbClr val="351C75"/>
              </a:solidFill>
              <a:latin typeface="Calibri"/>
              <a:ea typeface="Calibri"/>
              <a:cs typeface="Calibri"/>
              <a:sym typeface="Calibri"/>
            </a:endParaRPr>
          </a:p>
          <a:p>
            <a:pPr indent="0" lvl="0" marL="0" marR="0" rtl="0" algn="l">
              <a:lnSpc>
                <a:spcPct val="108000"/>
              </a:lnSpc>
              <a:spcAft>
                <a:spcPts val="0"/>
              </a:spcAft>
              <a:buClr>
                <a:srgbClr val="8B3747"/>
              </a:buClr>
              <a:buSzPts val="1200"/>
              <a:buFont typeface="Arial"/>
              <a:buNone/>
            </a:pPr>
            <a:r>
              <a:rPr b="0" i="0" lang="en-US" sz="1200">
                <a:solidFill>
                  <a:srgbClr val="351C75"/>
                </a:solidFill>
                <a:latin typeface="Arial"/>
                <a:ea typeface="Arial"/>
                <a:cs typeface="Arial"/>
                <a:sym typeface="Arial"/>
              </a:rPr>
              <a:t>Professor of Neurobiology &amp; Biomedical Engineering</a:t>
            </a:r>
            <a:endParaRPr sz="1800">
              <a:solidFill>
                <a:srgbClr val="351C75"/>
              </a:solidFill>
              <a:latin typeface="Calibri"/>
              <a:ea typeface="Calibri"/>
              <a:cs typeface="Calibri"/>
              <a:sym typeface="Calibri"/>
            </a:endParaRPr>
          </a:p>
        </p:txBody>
      </p:sp>
      <p:pic>
        <p:nvPicPr>
          <p:cNvPr id="26" name="Google Shape;26;p1" title="Screenshot 2026-10-08 at 3.30.21 PM.png"/>
          <p:cNvPicPr preferRelativeResize="0"/>
          <p:nvPr/>
        </p:nvPicPr>
        <p:blipFill>
          <a:blip r:embed="rId3">
            <a:alphaModFix/>
          </a:blip>
          <a:stretch>
            <a:fillRect/>
          </a:stretch>
        </p:blipFill>
        <p:spPr>
          <a:xfrm>
            <a:off x="6840375" y="1225548"/>
            <a:ext cx="4626300" cy="3852451"/>
          </a:xfrm>
          <a:prstGeom prst="rect">
            <a:avLst/>
          </a:prstGeom>
          <a:noFill/>
          <a:ln>
            <a:noFill/>
          </a:ln>
        </p:spPr>
      </p:pic>
      <p:sp>
        <p:nvSpPr>
          <p:cNvPr id="27" name="Google Shape;27;p1"/>
          <p:cNvSpPr txBox="1"/>
          <p:nvPr/>
        </p:nvSpPr>
        <p:spPr>
          <a:xfrm>
            <a:off x="6840375" y="5265125"/>
            <a:ext cx="4626300" cy="504900"/>
          </a:xfrm>
          <a:prstGeom prst="rect">
            <a:avLst/>
          </a:prstGeom>
          <a:noFill/>
          <a:ln>
            <a:noFill/>
          </a:ln>
        </p:spPr>
        <p:txBody>
          <a:bodyPr anchorCtr="0" anchor="t" bIns="91425" lIns="91425" spcFirstLastPara="1" rIns="91425" wrap="square" tIns="91425">
            <a:spAutoFit/>
          </a:bodyPr>
          <a:lstStyle/>
          <a:p>
            <a:pPr indent="0" lvl="0" marL="0" rtl="0" algn="l">
              <a:lnSpc>
                <a:spcPct val="108000"/>
              </a:lnSpc>
              <a:spcBef>
                <a:spcPts val="0"/>
              </a:spcBef>
              <a:spcAft>
                <a:spcPts val="0"/>
              </a:spcAft>
              <a:buNone/>
            </a:pPr>
            <a:r>
              <a:rPr lang="en-US" sz="1000">
                <a:solidFill>
                  <a:srgbClr val="606B76"/>
                </a:solidFill>
              </a:rPr>
              <a:t>Photo: Honeybee (</a:t>
            </a:r>
            <a:r>
              <a:rPr i="1" lang="en-US" sz="1000">
                <a:solidFill>
                  <a:srgbClr val="606B76"/>
                </a:solidFill>
              </a:rPr>
              <a:t>Apis mellifera</a:t>
            </a:r>
            <a:r>
              <a:rPr lang="en-US" sz="1000">
                <a:solidFill>
                  <a:srgbClr val="606B76"/>
                </a:solidFill>
              </a:rPr>
              <a:t>), the classic species for waggle-dance and sun-compass navigation studies.</a:t>
            </a:r>
            <a:endParaRPr sz="1300">
              <a:solidFill>
                <a:srgbClr val="606B7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waggle run encodes a resource vector</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Foragers of </a:t>
            </a:r>
            <a:r>
              <a:rPr b="0" i="1" lang="en-US" sz="1600">
                <a:solidFill>
                  <a:srgbClr val="252B32"/>
                </a:solidFill>
                <a:latin typeface="Arial"/>
                <a:ea typeface="Arial"/>
                <a:cs typeface="Arial"/>
                <a:sym typeface="Arial"/>
              </a:rPr>
              <a:t>Apis mellifera</a:t>
            </a:r>
            <a:r>
              <a:rPr b="0" i="0" lang="en-US" sz="1600">
                <a:solidFill>
                  <a:srgbClr val="252B32"/>
                </a:solidFill>
                <a:latin typeface="Arial"/>
                <a:ea typeface="Arial"/>
                <a:cs typeface="Arial"/>
                <a:sym typeface="Arial"/>
              </a:rPr>
              <a:t> communicate a resource location through the </a:t>
            </a:r>
            <a:r>
              <a:rPr b="1" i="0" lang="en-US" sz="1600">
                <a:solidFill>
                  <a:srgbClr val="3F5063"/>
                </a:solidFill>
                <a:latin typeface="Arial"/>
                <a:ea typeface="Arial"/>
                <a:cs typeface="Arial"/>
                <a:sym typeface="Arial"/>
              </a:rPr>
              <a:t>waggle dance</a:t>
            </a:r>
            <a:r>
              <a:rPr b="0" i="0" lang="en-US" sz="1600">
                <a:solidFill>
                  <a:srgbClr val="252B32"/>
                </a:solidFill>
                <a:latin typeface="Arial"/>
                <a:ea typeface="Arial"/>
                <a:cs typeface="Arial"/>
                <a:sym typeface="Arial"/>
              </a:rPr>
              <a:t>, repeated movements on the comb that contain a straight abdominal-wagging run and alternating return loops. A </a:t>
            </a:r>
            <a:r>
              <a:rPr b="1" i="0" lang="en-US" sz="1600">
                <a:solidFill>
                  <a:srgbClr val="3F5063"/>
                </a:solidFill>
                <a:latin typeface="Arial"/>
                <a:ea typeface="Arial"/>
                <a:cs typeface="Arial"/>
                <a:sym typeface="Arial"/>
              </a:rPr>
              <a:t>vector</a:t>
            </a:r>
            <a:r>
              <a:rPr b="0" i="0" lang="en-US" sz="1600">
                <a:solidFill>
                  <a:srgbClr val="252B32"/>
                </a:solidFill>
                <a:latin typeface="Arial"/>
                <a:ea typeface="Arial"/>
                <a:cs typeface="Arial"/>
                <a:sym typeface="Arial"/>
              </a:rPr>
              <a:t> specifies a direction and a distance from an origin; here the origin is the hive.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Dong and colleagues filmed individually marked bees visiting a feeder 150 m away. The angle of the waggle run on a vertical comb encoded the food direction relative to the sun, while its duration encoded distance. Attending bees followed the dancer at close range.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signal concerns a location outside the hive, rather than merely the dancer’s immediate position. The run angle gives the direction relative to the sun and the run duration gives the distance, so one dance specifies a complete vector from the hive.</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7948812" y="1280071"/>
            <a:ext cx="2185887" cy="4297561"/>
          </a:xfrm>
          <a:prstGeom prst="rect">
            <a:avLst/>
          </a:prstGeom>
          <a:noFill/>
          <a:ln>
            <a:noFill/>
          </a:ln>
        </p:spPr>
      </p:pic>
      <p:sp>
        <p:nvSpPr>
          <p:cNvPr id="37" name="Google Shape;37;p2"/>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Dong et al. (2023), Fig. 1A. Waggle-run angle, return loops and following bees.</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Dong et al. (2023)</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Gravity supplies the reference inside the dark hive</a:t>
            </a:r>
            <a:endParaRPr sz="1800">
              <a:solidFill>
                <a:schemeClr val="dk1"/>
              </a:solidFill>
              <a:latin typeface="Calibri"/>
              <a:ea typeface="Calibri"/>
              <a:cs typeface="Calibri"/>
              <a:sym typeface="Calibri"/>
            </a:endParaRPr>
          </a:p>
        </p:txBody>
      </p:sp>
      <p:sp>
        <p:nvSpPr>
          <p:cNvPr id="46" name="Google Shape;46;p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A dancer on a vertical comb uses the upward direction as the reference for the sun. The waggle-run angle relative to vertical represents the resource direction relative to the sun outside. This transformation allows direction to be communicated where the sun itself is unavailable.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Dong and colleagues recorded dance angles on the crowded, uneven comb surface. They measured divergence among repeated waggle runs rather than assuming that every run conveyed an identical angle. Bees without experienced dancers produced larger directional divergence in their first dances.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Directional encoding therefore has both a reference system and a motor-precision component. A follower must translate the comb-relative angle into a flight direction using celestial information. Gravity supplies the vertical reference that stands in for the sun inside the dark hive.</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7948812" y="1280071"/>
            <a:ext cx="2185887" cy="4297561"/>
          </a:xfrm>
          <a:prstGeom prst="rect">
            <a:avLst/>
          </a:prstGeom>
          <a:noFill/>
          <a:ln>
            <a:noFill/>
          </a:ln>
        </p:spPr>
      </p:pic>
      <p:sp>
        <p:nvSpPr>
          <p:cNvPr id="50" name="Google Shape;50;p3"/>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Dong et al. (2023), Fig. 1A. Waggle-run angle, return loops and following bees.</a:t>
            </a:r>
            <a:endParaRPr sz="1800">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Dong et al. (2023)</a:t>
            </a:r>
            <a:endParaRPr sz="1800">
              <a:solidFill>
                <a:schemeClr val="dk1"/>
              </a:solidFill>
              <a:latin typeface="Calibri"/>
              <a:ea typeface="Calibri"/>
              <a:cs typeface="Calibri"/>
              <a:sym typeface="Calibri"/>
            </a:endParaRPr>
          </a:p>
        </p:txBody>
      </p:sp>
      <p:sp>
        <p:nvSpPr>
          <p:cNvPr id="53" name="Google Shape;53;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familiar compass bearing survives hive relocation</a:t>
            </a:r>
            <a:endParaRPr sz="1800">
              <a:solidFill>
                <a:schemeClr val="dk1"/>
              </a:solidFill>
              <a:latin typeface="Calibri"/>
              <a:ea typeface="Calibri"/>
              <a:cs typeface="Calibri"/>
              <a:sym typeface="Calibri"/>
            </a:endParaRPr>
          </a:p>
        </p:txBody>
      </p:sp>
      <p:sp>
        <p:nvSpPr>
          <p:cNvPr id="59" name="Google Shape;59;p4"/>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Von Frisch and Lindauer trained marked foragers to a feeding location and then moved the hive into an unfamiliar landscape. In their 1952 displacement experiment, the training feeder was 180 m away in a direction 30° north of west. The bees had learned this route during the afternoon.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The following morning, equally familiar scented food dishes were available in four directions in the new landscape. Arriving bees were captured immediately, preventing successful visitors from returning and recruiting nestmates. Searches favored the previously trained compass direction despite the changed terrestrial surroundings.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The result supports compensation for the sun’s movement between afternoon training and morning flight. The learned bearing was therefore maintained across the shift in the sun's position and the change of landscape.</a:t>
            </a:r>
            <a:endParaRPr sz="1800">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3">
            <a:alphaModFix/>
          </a:blip>
          <a:srcRect b="0" l="0" r="0" t="0"/>
          <a:stretch/>
        </p:blipFill>
        <p:spPr>
          <a:xfrm>
            <a:off x="6458438" y="1280071"/>
            <a:ext cx="5166336" cy="2812256"/>
          </a:xfrm>
          <a:prstGeom prst="rect">
            <a:avLst/>
          </a:prstGeom>
          <a:noFill/>
          <a:ln>
            <a:noFill/>
          </a:ln>
        </p:spPr>
      </p:pic>
      <p:sp>
        <p:nvSpPr>
          <p:cNvPr id="63" name="Google Shape;63;p4"/>
          <p:cNvSpPr/>
          <p:nvPr/>
        </p:nvSpPr>
        <p:spPr>
          <a:xfrm>
            <a:off x="6458396" y="4183856"/>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von Frisch &amp; Lindauer (1954), Fig. 1a,b. Training and unfamiliar release landscapes.</a:t>
            </a:r>
            <a:endParaRPr sz="1800">
              <a:solidFill>
                <a:schemeClr val="dk1"/>
              </a:solidFill>
              <a:latin typeface="Calibri"/>
              <a:ea typeface="Calibri"/>
              <a:cs typeface="Calibri"/>
              <a:sym typeface="Calibri"/>
            </a:endParaRPr>
          </a:p>
        </p:txBody>
      </p:sp>
      <p:sp>
        <p:nvSpPr>
          <p:cNvPr id="64" name="Google Shape;64;p4"/>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von Frisch &amp; Lindauer (1954)</a:t>
            </a:r>
            <a:endParaRPr sz="1800">
              <a:solidFill>
                <a:schemeClr val="dk1"/>
              </a:solidFill>
              <a:latin typeface="Calibri"/>
              <a:ea typeface="Calibri"/>
              <a:cs typeface="Calibri"/>
              <a:sym typeface="Calibri"/>
            </a:endParaRPr>
          </a:p>
        </p:txBody>
      </p:sp>
      <p:sp>
        <p:nvSpPr>
          <p:cNvPr id="66" name="Google Shape;66;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Recruits initially fly the direction advertised in dances</a:t>
            </a:r>
            <a:endParaRPr sz="1800">
              <a:solidFill>
                <a:schemeClr val="dk1"/>
              </a:solidFill>
              <a:latin typeface="Calibri"/>
              <a:ea typeface="Calibri"/>
              <a:cs typeface="Calibri"/>
              <a:sym typeface="Calibri"/>
            </a:endParaRPr>
          </a:p>
        </p:txBody>
      </p:sp>
      <p:sp>
        <p:nvSpPr>
          <p:cNvPr id="72" name="Google Shape;72;p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Riley and colleagues tracked bees that had followed dances advertising an unscented feeder 200 m east of the hive. A </a:t>
            </a:r>
            <a:r>
              <a:rPr b="1" i="0" lang="en-US" sz="1600">
                <a:solidFill>
                  <a:srgbClr val="3F5063"/>
                </a:solidFill>
                <a:latin typeface="Arial"/>
                <a:ea typeface="Arial"/>
                <a:cs typeface="Arial"/>
                <a:sym typeface="Arial"/>
              </a:rPr>
              <a:t>harmonic radar</a:t>
            </a:r>
            <a:r>
              <a:rPr b="0" i="0" lang="en-US" sz="1600">
                <a:solidFill>
                  <a:srgbClr val="252B32"/>
                </a:solidFill>
                <a:latin typeface="Arial"/>
                <a:ea typeface="Arial"/>
                <a:cs typeface="Arial"/>
                <a:sym typeface="Arial"/>
              </a:rPr>
              <a:t> detects a small transponder carried by the bee, allowing a trajectory to be measured outside the observation hive.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Recruits released at the hive generally flew an initially straight, eastward route. Their straight-flight sections averaged 206 m before searching began. Radar positions were acquired every 3 s, permitting a separation between directed travel and more tortuous search behavior.</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recruits had not previously visited the advertised feeder. The unscented feeding site and the experimental wind direction reduced the possibility of direct odor guidance from the destination. The straight eastward flight reflects a flight vector acquired from the dance.</a:t>
            </a:r>
            <a:endParaRPr sz="1800">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3">
            <a:alphaModFix/>
          </a:blip>
          <a:srcRect b="0" l="0" r="0" t="0"/>
          <a:stretch/>
        </p:blipFill>
        <p:spPr>
          <a:xfrm>
            <a:off x="6458509" y="1280071"/>
            <a:ext cx="5166194" cy="3256062"/>
          </a:xfrm>
          <a:prstGeom prst="rect">
            <a:avLst/>
          </a:prstGeom>
          <a:noFill/>
          <a:ln>
            <a:noFill/>
          </a:ln>
        </p:spPr>
      </p:pic>
      <p:sp>
        <p:nvSpPr>
          <p:cNvPr id="76" name="Google Shape;76;p5"/>
          <p:cNvSpPr/>
          <p:nvPr/>
        </p:nvSpPr>
        <p:spPr>
          <a:xfrm>
            <a:off x="6458396" y="4627662"/>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Riley et al. (2005), Fig. 1. Tracks from hive and displaced release points.</a:t>
            </a:r>
            <a:endParaRPr sz="1800">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Riley et al. (2005)</a:t>
            </a:r>
            <a:endParaRPr sz="1800">
              <a:solidFill>
                <a:schemeClr val="dk1"/>
              </a:solidFill>
              <a:latin typeface="Calibri"/>
              <a:ea typeface="Calibri"/>
              <a:cs typeface="Calibri"/>
              <a:sym typeface="Calibri"/>
            </a:endParaRPr>
          </a:p>
        </p:txBody>
      </p:sp>
      <p:sp>
        <p:nvSpPr>
          <p:cNvPr id="79" name="Google Shape;79;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Displaced recruits retain a hive-centered flight vector</a:t>
            </a:r>
            <a:endParaRPr sz="1800">
              <a:solidFill>
                <a:schemeClr val="dk1"/>
              </a:solidFill>
              <a:latin typeface="Calibri"/>
              <a:ea typeface="Calibri"/>
              <a:cs typeface="Calibri"/>
              <a:sym typeface="Calibri"/>
            </a:endParaRPr>
          </a:p>
        </p:txBody>
      </p:sp>
      <p:sp>
        <p:nvSpPr>
          <p:cNvPr id="85" name="Google Shape;85;p6"/>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Riley and colleagues captured dance followers at the hive and released them 200–250 m southwest of it. This manipulation preserved the communicated instruction but changed the point from which the recruit began its flight. The real feeder was no longer 200 m east of the release point.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Displaced bees nevertheless began with an eastward straight flight, averaging 188 m before search. They did not immediately choose the new bearing from the release point toward the actual feeder. The flight instruction therefore retained its direction and approximate distance after displacement.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An origin-dependent vector is useful from its specified origin but leads to a different endpoint when executed elsewhere. This result separates a decoded movement instruction from immediate correction to a world location. Bees execute the vector as a movement instruction from the hive and not as a bearing to a place on a map.</a:t>
            </a:r>
            <a:endParaRPr sz="1800">
              <a:solidFill>
                <a:schemeClr val="dk1"/>
              </a:solidFill>
              <a:latin typeface="Calibri"/>
              <a:ea typeface="Calibri"/>
              <a:cs typeface="Calibri"/>
              <a:sym typeface="Calibri"/>
            </a:endParaRPr>
          </a:p>
        </p:txBody>
      </p:sp>
      <p:pic>
        <p:nvPicPr>
          <p:cNvPr id="88" name="Google Shape;88;p6"/>
          <p:cNvPicPr preferRelativeResize="0"/>
          <p:nvPr/>
        </p:nvPicPr>
        <p:blipFill rotWithShape="1">
          <a:blip r:embed="rId3">
            <a:alphaModFix/>
          </a:blip>
          <a:srcRect b="0" l="0" r="0" t="0"/>
          <a:stretch/>
        </p:blipFill>
        <p:spPr>
          <a:xfrm>
            <a:off x="6458509" y="1280071"/>
            <a:ext cx="5166194" cy="3256062"/>
          </a:xfrm>
          <a:prstGeom prst="rect">
            <a:avLst/>
          </a:prstGeom>
          <a:noFill/>
          <a:ln>
            <a:noFill/>
          </a:ln>
        </p:spPr>
      </p:pic>
      <p:sp>
        <p:nvSpPr>
          <p:cNvPr id="89" name="Google Shape;89;p6"/>
          <p:cNvSpPr/>
          <p:nvPr/>
        </p:nvSpPr>
        <p:spPr>
          <a:xfrm>
            <a:off x="6458396" y="4627662"/>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Riley et al. (2005), Fig. 1. Tracks from hive and displaced release points.</a:t>
            </a:r>
            <a:endParaRPr sz="1800">
              <a:solidFill>
                <a:schemeClr val="dk1"/>
              </a:solidFill>
              <a:latin typeface="Calibri"/>
              <a:ea typeface="Calibri"/>
              <a:cs typeface="Calibri"/>
              <a:sym typeface="Calibri"/>
            </a:endParaRPr>
          </a:p>
        </p:txBody>
      </p:sp>
      <p:sp>
        <p:nvSpPr>
          <p:cNvPr id="90" name="Google Shape;90;p6"/>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Riley et al. (2005)</a:t>
            </a:r>
            <a:endParaRPr sz="1800">
              <a:solidFill>
                <a:schemeClr val="dk1"/>
              </a:solidFill>
              <a:latin typeface="Calibri"/>
              <a:ea typeface="Calibri"/>
              <a:cs typeface="Calibri"/>
              <a:sym typeface="Calibri"/>
            </a:endParaRPr>
          </a:p>
        </p:txBody>
      </p:sp>
      <p:sp>
        <p:nvSpPr>
          <p:cNvPr id="92" name="Google Shape;92;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The dance narrows search without pinpointing the feeder</a:t>
            </a:r>
            <a:endParaRPr sz="1800">
              <a:solidFill>
                <a:schemeClr val="dk1"/>
              </a:solidFill>
              <a:latin typeface="Calibri"/>
              <a:ea typeface="Calibri"/>
              <a:cs typeface="Calibri"/>
              <a:sym typeface="Calibri"/>
            </a:endParaRPr>
          </a:p>
        </p:txBody>
      </p:sp>
      <p:sp>
        <p:nvSpPr>
          <p:cNvPr id="98" name="Google Shape;98;p7"/>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The straight flights of hive-released recruits ended near the advertised feeder on average, but individual endpoints differed by tens of meters. Riley and colleagues then tracked looping searches, some lasting up to 20 min and extending as far as 200 m from the feeding site.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Only two tracked recruits found the unscented feeder. A mean endpoint close to the food location therefore did not imply reliable arrival by every bee. Directional variation increased near the end of the vector flight as directed travel gave way to search.</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Dance information supplies an approximate search area. The straight flight brings recruits into the region of the feeder, and the looping search that follows covers the remaining area.</a:t>
            </a:r>
            <a:endParaRPr sz="1800">
              <a:solidFill>
                <a:schemeClr val="dk1"/>
              </a:solidFill>
              <a:latin typeface="Calibri"/>
              <a:ea typeface="Calibri"/>
              <a:cs typeface="Calibri"/>
              <a:sym typeface="Calibri"/>
            </a:endParaRPr>
          </a:p>
        </p:txBody>
      </p:sp>
      <p:pic>
        <p:nvPicPr>
          <p:cNvPr id="101" name="Google Shape;101;p7"/>
          <p:cNvPicPr preferRelativeResize="0"/>
          <p:nvPr/>
        </p:nvPicPr>
        <p:blipFill rotWithShape="1">
          <a:blip r:embed="rId3">
            <a:alphaModFix/>
          </a:blip>
          <a:srcRect b="0" l="0" r="0" t="0"/>
          <a:stretch/>
        </p:blipFill>
        <p:spPr>
          <a:xfrm>
            <a:off x="7505578" y="1280071"/>
            <a:ext cx="3072205" cy="4297561"/>
          </a:xfrm>
          <a:prstGeom prst="rect">
            <a:avLst/>
          </a:prstGeom>
          <a:noFill/>
          <a:ln>
            <a:noFill/>
          </a:ln>
        </p:spPr>
      </p:pic>
      <p:sp>
        <p:nvSpPr>
          <p:cNvPr id="102" name="Google Shape;102;p7"/>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Riley et al. (2005), Fig. 2a,b. Direction changes during initial vector flights.</a:t>
            </a:r>
            <a:endParaRPr sz="1800">
              <a:solidFill>
                <a:schemeClr val="dk1"/>
              </a:solidFill>
              <a:latin typeface="Calibri"/>
              <a:ea typeface="Calibri"/>
              <a:cs typeface="Calibri"/>
              <a:sym typeface="Calibri"/>
            </a:endParaRPr>
          </a:p>
        </p:txBody>
      </p:sp>
      <p:sp>
        <p:nvSpPr>
          <p:cNvPr id="103" name="Google Shape;103;p7"/>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Riley et al. (2005)</a:t>
            </a:r>
            <a:endParaRPr sz="1800">
              <a:solidFill>
                <a:schemeClr val="dk1"/>
              </a:solidFill>
              <a:latin typeface="Calibri"/>
              <a:ea typeface="Calibri"/>
              <a:cs typeface="Calibri"/>
              <a:sym typeface="Calibri"/>
            </a:endParaRPr>
          </a:p>
        </p:txBody>
      </p:sp>
      <p:sp>
        <p:nvSpPr>
          <p:cNvPr id="105" name="Google Shape;105;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Recruits compensate for drift during crosswind flight</a:t>
            </a:r>
            <a:endParaRPr sz="1800">
              <a:solidFill>
                <a:schemeClr val="dk1"/>
              </a:solidFill>
              <a:latin typeface="Calibri"/>
              <a:ea typeface="Calibri"/>
              <a:cs typeface="Calibri"/>
              <a:sym typeface="Calibri"/>
            </a:endParaRPr>
          </a:p>
        </p:txBody>
      </p:sp>
      <p:sp>
        <p:nvSpPr>
          <p:cNvPr id="111" name="Google Shape;111;p8"/>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Riley and colleagues measured flight tracks together with wind velocity to distinguish movement over the ground from movement through the air. A bee exposed to a crosswind must direct its body partly into the wind if it is to maintain the advertised ground track.</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In one recorded flight, ground speed was 6.8 m/s while a 3.3 m/s wind acted from a different direction. The reconstructed air velocity was 5.2 m/s. The bee’s air heading differed from its ground-track direction by approximately 28°, counteracting wind drift.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resulting displacement followed the eastward instruction rather than the uncorrected wind-displaced heading. This establishes active compensation during recruitment flight. Maintaining the ground track requires the bee to sense its drift and adjust its heading against the wind.</a:t>
            </a:r>
            <a:endParaRPr sz="1800">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3">
            <a:alphaModFix/>
          </a:blip>
          <a:srcRect b="0" l="0" r="0" t="0"/>
          <a:stretch/>
        </p:blipFill>
        <p:spPr>
          <a:xfrm>
            <a:off x="7366759" y="1280071"/>
            <a:ext cx="3349992" cy="4297561"/>
          </a:xfrm>
          <a:prstGeom prst="rect">
            <a:avLst/>
          </a:prstGeom>
          <a:noFill/>
          <a:ln>
            <a:noFill/>
          </a:ln>
        </p:spPr>
      </p:pic>
      <p:sp>
        <p:nvSpPr>
          <p:cNvPr id="115" name="Google Shape;115;p8"/>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Riley et al. (2005), Fig. 3a,b. Crosswind compensation during a recruit flight.</a:t>
            </a:r>
            <a:endParaRPr sz="1800">
              <a:solidFill>
                <a:schemeClr val="dk1"/>
              </a:solidFill>
              <a:latin typeface="Calibri"/>
              <a:ea typeface="Calibri"/>
              <a:cs typeface="Calibri"/>
              <a:sym typeface="Calibri"/>
            </a:endParaRPr>
          </a:p>
        </p:txBody>
      </p:sp>
      <p:sp>
        <p:nvSpPr>
          <p:cNvPr id="116" name="Google Shape;116;p8"/>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Riley et al. (2005)</a:t>
            </a:r>
            <a:endParaRPr sz="1800">
              <a:solidFill>
                <a:schemeClr val="dk1"/>
              </a:solidFill>
              <a:latin typeface="Calibri"/>
              <a:ea typeface="Calibri"/>
              <a:cs typeface="Calibri"/>
              <a:sym typeface="Calibri"/>
            </a:endParaRPr>
          </a:p>
        </p:txBody>
      </p:sp>
      <p:sp>
        <p:nvSpPr>
          <p:cNvPr id="118" name="Google Shape;118;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 name="Shape 122"/>
        <p:cNvGrpSpPr/>
        <p:nvPr/>
      </p:nvGrpSpPr>
      <p:grpSpPr>
        <a:xfrm>
          <a:off x="0" y="0"/>
          <a:ext cx="0" cy="0"/>
          <a:chOff x="0" y="0"/>
          <a:chExt cx="0" cy="0"/>
        </a:xfrm>
      </p:grpSpPr>
      <p:sp>
        <p:nvSpPr>
          <p:cNvPr id="123" name="Google Shape;123;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narrow tunnel magnifies retinal image motion</a:t>
            </a:r>
            <a:endParaRPr sz="1800">
              <a:solidFill>
                <a:schemeClr val="dk1"/>
              </a:solidFill>
              <a:latin typeface="Calibri"/>
              <a:ea typeface="Calibri"/>
              <a:cs typeface="Calibri"/>
              <a:sym typeface="Calibri"/>
            </a:endParaRPr>
          </a:p>
        </p:txBody>
      </p:sp>
      <p:sp>
        <p:nvSpPr>
          <p:cNvPr id="124" name="Google Shape;124;p9"/>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3F5063"/>
              </a:buClr>
              <a:buSzPts val="1600"/>
              <a:buFont typeface="Arial"/>
              <a:buNone/>
            </a:pPr>
            <a:r>
              <a:rPr b="1" i="0" lang="en-US" sz="1600">
                <a:solidFill>
                  <a:srgbClr val="3F5063"/>
                </a:solidFill>
                <a:latin typeface="Arial"/>
                <a:ea typeface="Arial"/>
                <a:cs typeface="Arial"/>
                <a:sym typeface="Arial"/>
              </a:rPr>
              <a:t>Optic flow</a:t>
            </a:r>
            <a:r>
              <a:rPr b="0" i="0" lang="en-US" sz="1600">
                <a:solidFill>
                  <a:srgbClr val="252B32"/>
                </a:solidFill>
                <a:latin typeface="Arial"/>
                <a:ea typeface="Arial"/>
                <a:cs typeface="Arial"/>
                <a:sym typeface="Arial"/>
              </a:rPr>
              <a:t> is the movement of environmental images across the retina during self-motion. Nearby surfaces produce more angular image displacement than distant surfaces for the same translational travel. A narrow textured tunnel therefore increases optic flow without requiring a long physical flight.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Srinivasan and colleagues trained honeybees through a tunnel 6.4 m long, 11 cm wide and 20 cm high. Random black-and-white texture covered the walls and floor; a mesh ceiling allowed a view of the sky. The feeder was positioned 6 m into the tunnel.</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Returning bees produced waggle dances after this short passage even when an equally short outdoor journey normally elicited round dances. The preparation separates physical distance from visual motion experienced en route. It supports a visual odometer, a mechanism estimating distance traveled, rather than an exclusively energy-based distance measure.</a:t>
            </a:r>
            <a:endParaRPr sz="1800">
              <a:solidFill>
                <a:schemeClr val="dk1"/>
              </a:solidFill>
              <a:latin typeface="Calibri"/>
              <a:ea typeface="Calibri"/>
              <a:cs typeface="Calibri"/>
              <a:sym typeface="Calibri"/>
            </a:endParaRPr>
          </a:p>
        </p:txBody>
      </p:sp>
      <p:pic>
        <p:nvPicPr>
          <p:cNvPr id="127" name="Google Shape;127;p9"/>
          <p:cNvPicPr preferRelativeResize="0"/>
          <p:nvPr/>
        </p:nvPicPr>
        <p:blipFill rotWithShape="1">
          <a:blip r:embed="rId3">
            <a:alphaModFix/>
          </a:blip>
          <a:srcRect b="0" l="0" r="0" t="0"/>
          <a:stretch/>
        </p:blipFill>
        <p:spPr>
          <a:xfrm>
            <a:off x="7221065" y="1280071"/>
            <a:ext cx="3641530" cy="4297561"/>
          </a:xfrm>
          <a:prstGeom prst="rect">
            <a:avLst/>
          </a:prstGeom>
          <a:noFill/>
          <a:ln>
            <a:noFill/>
          </a:ln>
        </p:spPr>
      </p:pic>
      <p:sp>
        <p:nvSpPr>
          <p:cNvPr id="128" name="Google Shape;128;p9"/>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Srinivasan et al. (2000), Fig. 1A,B. Tunnel geometry and texture-dependent dances.</a:t>
            </a:r>
            <a:endParaRPr sz="1800">
              <a:solidFill>
                <a:schemeClr val="dk1"/>
              </a:solidFill>
              <a:latin typeface="Calibri"/>
              <a:ea typeface="Calibri"/>
              <a:cs typeface="Calibri"/>
              <a:sym typeface="Calibri"/>
            </a:endParaRPr>
          </a:p>
        </p:txBody>
      </p:sp>
      <p:sp>
        <p:nvSpPr>
          <p:cNvPr id="129" name="Google Shape;129;p9"/>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Srinivasan et al. (2000)</a:t>
            </a:r>
            <a:endParaRPr sz="1800">
              <a:solidFill>
                <a:schemeClr val="dk1"/>
              </a:solidFill>
              <a:latin typeface="Calibri"/>
              <a:ea typeface="Calibri"/>
              <a:cs typeface="Calibri"/>
              <a:sym typeface="Calibri"/>
            </a:endParaRPr>
          </a:p>
        </p:txBody>
      </p:sp>
      <p:sp>
        <p:nvSpPr>
          <p:cNvPr id="131" name="Google Shape;131;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Axial stripes remove the tunnel’s distance inflation</a:t>
            </a:r>
            <a:endParaRPr sz="1800">
              <a:solidFill>
                <a:schemeClr val="dk1"/>
              </a:solidFill>
              <a:latin typeface="Calibri"/>
              <a:ea typeface="Calibri"/>
              <a:cs typeface="Calibri"/>
              <a:sym typeface="Calibri"/>
            </a:endParaRPr>
          </a:p>
        </p:txBody>
      </p:sp>
      <p:sp>
        <p:nvSpPr>
          <p:cNvPr id="137" name="Google Shape;137;p10"/>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Srinivasan and colleagues kept the feeder at the same physical location while replacing random tunnel texture with stripes parallel to flight. </a:t>
            </a:r>
            <a:r>
              <a:rPr b="1" i="0" lang="en-US" sz="1600">
                <a:solidFill>
                  <a:srgbClr val="3F5063"/>
                </a:solidFill>
                <a:latin typeface="Arial"/>
                <a:ea typeface="Arial"/>
                <a:cs typeface="Arial"/>
                <a:sym typeface="Arial"/>
              </a:rPr>
              <a:t>Axial stripes</a:t>
            </a:r>
            <a:r>
              <a:rPr b="0" i="0" lang="en-US" sz="1600">
                <a:solidFill>
                  <a:srgbClr val="252B32"/>
                </a:solidFill>
                <a:latin typeface="Arial"/>
                <a:ea typeface="Arial"/>
                <a:cs typeface="Arial"/>
                <a:sym typeface="Arial"/>
              </a:rPr>
              <a:t> change little along the flight axis, reducing the visual motion normally generated by forward travel.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A 35 m outdoor journey followed by 6 m through random texture produced waggle dances in 90% of recorded dances. With axial stripes at the same total distance of 41 m, 86.7% of dances were round dances. Without the tunnel, a feeder at 35 m elicited predominantly round dances.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two 41 m preparations had the same physical journey length but different dance types. The texture control identifies optic flow as the relevant variable, and the visual motion experienced en route sets the duration of the waggle phase.</a:t>
            </a:r>
            <a:endParaRPr sz="1800">
              <a:solidFill>
                <a:schemeClr val="dk1"/>
              </a:solidFill>
              <a:latin typeface="Calibri"/>
              <a:ea typeface="Calibri"/>
              <a:cs typeface="Calibri"/>
              <a:sym typeface="Calibri"/>
            </a:endParaRPr>
          </a:p>
        </p:txBody>
      </p:sp>
      <p:pic>
        <p:nvPicPr>
          <p:cNvPr id="140" name="Google Shape;140;p10"/>
          <p:cNvPicPr preferRelativeResize="0"/>
          <p:nvPr/>
        </p:nvPicPr>
        <p:blipFill rotWithShape="1">
          <a:blip r:embed="rId3">
            <a:alphaModFix/>
          </a:blip>
          <a:srcRect b="0" l="0" r="0" t="0"/>
          <a:stretch/>
        </p:blipFill>
        <p:spPr>
          <a:xfrm>
            <a:off x="7221065" y="1280071"/>
            <a:ext cx="3641530" cy="4297561"/>
          </a:xfrm>
          <a:prstGeom prst="rect">
            <a:avLst/>
          </a:prstGeom>
          <a:noFill/>
          <a:ln>
            <a:noFill/>
          </a:ln>
        </p:spPr>
      </p:pic>
      <p:sp>
        <p:nvSpPr>
          <p:cNvPr id="141" name="Google Shape;141;p10"/>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Srinivasan et al. (2000), Fig. 1A,B. Tunnel geometry and texture-dependent dances.</a:t>
            </a:r>
            <a:endParaRPr sz="1800">
              <a:solidFill>
                <a:schemeClr val="dk1"/>
              </a:solidFill>
              <a:latin typeface="Calibri"/>
              <a:ea typeface="Calibri"/>
              <a:cs typeface="Calibri"/>
              <a:sym typeface="Calibri"/>
            </a:endParaRPr>
          </a:p>
        </p:txBody>
      </p:sp>
      <p:sp>
        <p:nvSpPr>
          <p:cNvPr id="142" name="Google Shape;142;p10"/>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Srinivasan et al. (2000)</a:t>
            </a:r>
            <a:endParaRPr sz="1800">
              <a:solidFill>
                <a:schemeClr val="dk1"/>
              </a:solidFill>
              <a:latin typeface="Calibri"/>
              <a:ea typeface="Calibri"/>
              <a:cs typeface="Calibri"/>
              <a:sym typeface="Calibri"/>
            </a:endParaRPr>
          </a:p>
        </p:txBody>
      </p:sp>
      <p:sp>
        <p:nvSpPr>
          <p:cNvPr id="144" name="Google Shape;144;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Outdoor dances calibrate the duration–distance relation</a:t>
            </a:r>
            <a:endParaRPr sz="1800">
              <a:solidFill>
                <a:schemeClr val="dk1"/>
              </a:solidFill>
              <a:latin typeface="Calibri"/>
              <a:ea typeface="Calibri"/>
              <a:cs typeface="Calibri"/>
              <a:sym typeface="Calibri"/>
            </a:endParaRPr>
          </a:p>
        </p:txBody>
      </p:sp>
      <p:sp>
        <p:nvSpPr>
          <p:cNvPr id="150" name="Google Shape;150;p11"/>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Srinivasan and colleagues moved outdoor feeders between 60 and 350 m and measured the duration of each waggle phase on return to the hive. Over this range, mean waggle duration increased approximately linearly with feeder distance.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The reported calibration increased by 1.88 ms of waggle duration per meter of outdoor travel. It provided a reference for interpreting the unusually long dances produced after textured-tunnel flights. The calibration was measured independently of the tunnel manipulation.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A calibration relates a measured signal to a known quantity under specified conditions. Tunnel dances can then be expressed as the outdoor distance that would produce the same waggle duration.</a:t>
            </a:r>
            <a:endParaRPr sz="1800">
              <a:solidFill>
                <a:schemeClr val="dk1"/>
              </a:solidFill>
              <a:latin typeface="Calibri"/>
              <a:ea typeface="Calibri"/>
              <a:cs typeface="Calibri"/>
              <a:sym typeface="Calibri"/>
            </a:endParaRPr>
          </a:p>
        </p:txBody>
      </p:sp>
      <p:pic>
        <p:nvPicPr>
          <p:cNvPr id="153" name="Google Shape;153;p11"/>
          <p:cNvPicPr preferRelativeResize="0"/>
          <p:nvPr/>
        </p:nvPicPr>
        <p:blipFill rotWithShape="1">
          <a:blip r:embed="rId3">
            <a:alphaModFix/>
          </a:blip>
          <a:srcRect b="0" l="0" r="0" t="0"/>
          <a:stretch/>
        </p:blipFill>
        <p:spPr>
          <a:xfrm>
            <a:off x="6458400" y="1280071"/>
            <a:ext cx="5166413" cy="3720554"/>
          </a:xfrm>
          <a:prstGeom prst="rect">
            <a:avLst/>
          </a:prstGeom>
          <a:noFill/>
          <a:ln>
            <a:noFill/>
          </a:ln>
        </p:spPr>
      </p:pic>
      <p:sp>
        <p:nvSpPr>
          <p:cNvPr id="154" name="Google Shape;154;p11"/>
          <p:cNvSpPr/>
          <p:nvPr/>
        </p:nvSpPr>
        <p:spPr>
          <a:xfrm>
            <a:off x="6458396" y="5092154"/>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Srinivasan et al. (2000), Fig. 2. Outdoor distance calibration of waggle duration.</a:t>
            </a:r>
            <a:endParaRPr sz="1800">
              <a:solidFill>
                <a:schemeClr val="dk1"/>
              </a:solidFill>
              <a:latin typeface="Calibri"/>
              <a:ea typeface="Calibri"/>
              <a:cs typeface="Calibri"/>
              <a:sym typeface="Calibri"/>
            </a:endParaRPr>
          </a:p>
        </p:txBody>
      </p:sp>
      <p:sp>
        <p:nvSpPr>
          <p:cNvPr id="155" name="Google Shape;155;p11"/>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Srinivasan et al. (2000)</a:t>
            </a:r>
            <a:endParaRPr sz="1800">
              <a:solidFill>
                <a:schemeClr val="dk1"/>
              </a:solidFill>
              <a:latin typeface="Calibri"/>
              <a:ea typeface="Calibri"/>
              <a:cs typeface="Calibri"/>
              <a:sym typeface="Calibri"/>
            </a:endParaRPr>
          </a:p>
        </p:txBody>
      </p:sp>
      <p:sp>
        <p:nvSpPr>
          <p:cNvPr id="157" name="Google Shape;157;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Six tunnel meters can signal a much longer journey</a:t>
            </a:r>
            <a:endParaRPr sz="1800">
              <a:solidFill>
                <a:schemeClr val="dk1"/>
              </a:solidFill>
              <a:latin typeface="Calibri"/>
              <a:ea typeface="Calibri"/>
              <a:cs typeface="Calibri"/>
              <a:sym typeface="Calibri"/>
            </a:endParaRPr>
          </a:p>
        </p:txBody>
      </p:sp>
      <p:sp>
        <p:nvSpPr>
          <p:cNvPr id="163" name="Google Shape;163;p12"/>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Srinivasan and colleagues used the outdoor calibration to interpret dances following textured-tunnel passages. A 41 m journey containing 6 m inside the tunnel produced a mean waggle duration of 528.8 ms, corresponding to approximately 230 m in the outdoor calibration.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A second arrangement placed the tunnel nearer the hive, producing only 12 m of total travel. Its mean duration was 441.2 ms, corresponding to approximately 184 m outdoors. Both preparations generated a disproportionately large distance signal despite their different outdoor approach lengths.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close textured surfaces amplified the visually measured journey. The comparison rejects a simple account in which waggle duration reports physical meters independently of visual surroundings. Strong image motion from the nearby walls explains why only 12 m of travel could signal about 184 m outdoors.</a:t>
            </a:r>
            <a:endParaRPr sz="1800">
              <a:solidFill>
                <a:schemeClr val="dk1"/>
              </a:solidFill>
              <a:latin typeface="Calibri"/>
              <a:ea typeface="Calibri"/>
              <a:cs typeface="Calibri"/>
              <a:sym typeface="Calibri"/>
            </a:endParaRPr>
          </a:p>
        </p:txBody>
      </p:sp>
      <p:pic>
        <p:nvPicPr>
          <p:cNvPr id="166" name="Google Shape;166;p12"/>
          <p:cNvPicPr preferRelativeResize="0"/>
          <p:nvPr/>
        </p:nvPicPr>
        <p:blipFill rotWithShape="1">
          <a:blip r:embed="rId3">
            <a:alphaModFix/>
          </a:blip>
          <a:srcRect b="0" l="0" r="0" t="0"/>
          <a:stretch/>
        </p:blipFill>
        <p:spPr>
          <a:xfrm>
            <a:off x="6458400" y="1280071"/>
            <a:ext cx="5166413" cy="3720554"/>
          </a:xfrm>
          <a:prstGeom prst="rect">
            <a:avLst/>
          </a:prstGeom>
          <a:noFill/>
          <a:ln>
            <a:noFill/>
          </a:ln>
        </p:spPr>
      </p:pic>
      <p:sp>
        <p:nvSpPr>
          <p:cNvPr id="167" name="Google Shape;167;p12"/>
          <p:cNvSpPr/>
          <p:nvPr/>
        </p:nvSpPr>
        <p:spPr>
          <a:xfrm>
            <a:off x="6458396" y="5092154"/>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Srinivasan et al. (2000), Fig. 2. Outdoor distance calibration of waggle duration.</a:t>
            </a:r>
            <a:endParaRPr sz="1800">
              <a:solidFill>
                <a:schemeClr val="dk1"/>
              </a:solidFill>
              <a:latin typeface="Calibri"/>
              <a:ea typeface="Calibri"/>
              <a:cs typeface="Calibri"/>
              <a:sym typeface="Calibri"/>
            </a:endParaRPr>
          </a:p>
        </p:txBody>
      </p:sp>
      <p:sp>
        <p:nvSpPr>
          <p:cNvPr id="168" name="Google Shape;168;p12"/>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Srinivasan et al. (2000)</a:t>
            </a:r>
            <a:endParaRPr sz="1800">
              <a:solidFill>
                <a:schemeClr val="dk1"/>
              </a:solidFill>
              <a:latin typeface="Calibri"/>
              <a:ea typeface="Calibri"/>
              <a:cs typeface="Calibri"/>
              <a:sym typeface="Calibri"/>
            </a:endParaRPr>
          </a:p>
        </p:txBody>
      </p:sp>
      <p:sp>
        <p:nvSpPr>
          <p:cNvPr id="170" name="Google Shape;170;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3"/>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Followers search at the distance encoded by tunnel dances</a:t>
            </a:r>
            <a:endParaRPr sz="1800">
              <a:solidFill>
                <a:schemeClr val="dk1"/>
              </a:solidFill>
              <a:latin typeface="Calibri"/>
              <a:ea typeface="Calibri"/>
              <a:cs typeface="Calibri"/>
              <a:sym typeface="Calibri"/>
            </a:endParaRPr>
          </a:p>
        </p:txBody>
      </p:sp>
      <p:sp>
        <p:nvSpPr>
          <p:cNvPr id="176" name="Google Shape;176;p1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Esch and colleagues trained dancers to fly 3 m outdoors and then through an 8 m textured tunnel toward the south. Although the actual feeder was only 11 m from the hive, returning bees produced waggle runs averaging 358 ms.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The local outdoor calibration associated this duration with approximately 72 m. Newly recruited bees searched predominantly at a control station 70 m south of the hive rather than at the tunnel feeder. Control stations offered neither food reward nor an added scent.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For the first 30 min, the tunnel was closed: dancers did not advertise the tunnel journey and recruits did not arrive at the stations. Opening it initiated dancing and subsequent recruitment. Followers therefore searched at the distance advertised by the visually inflated dance and not at the physical location of the feeder.</a:t>
            </a:r>
            <a:endParaRPr sz="1800">
              <a:solidFill>
                <a:schemeClr val="dk1"/>
              </a:solidFill>
              <a:latin typeface="Calibri"/>
              <a:ea typeface="Calibri"/>
              <a:cs typeface="Calibri"/>
              <a:sym typeface="Calibri"/>
            </a:endParaRPr>
          </a:p>
        </p:txBody>
      </p:sp>
      <p:pic>
        <p:nvPicPr>
          <p:cNvPr id="179" name="Google Shape;179;p13"/>
          <p:cNvPicPr preferRelativeResize="0"/>
          <p:nvPr/>
        </p:nvPicPr>
        <p:blipFill rotWithShape="1">
          <a:blip r:embed="rId3">
            <a:alphaModFix/>
          </a:blip>
          <a:srcRect b="0" l="0" r="0" t="0"/>
          <a:stretch/>
        </p:blipFill>
        <p:spPr>
          <a:xfrm>
            <a:off x="7772126" y="1280071"/>
            <a:ext cx="2539109" cy="4297561"/>
          </a:xfrm>
          <a:prstGeom prst="rect">
            <a:avLst/>
          </a:prstGeom>
          <a:noFill/>
          <a:ln>
            <a:noFill/>
          </a:ln>
        </p:spPr>
      </p:pic>
      <p:sp>
        <p:nvSpPr>
          <p:cNvPr id="180" name="Google Shape;180;p13"/>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Esch et al. (2001), Fig. 2a–c. Recruit searches after tunnel-distance dances.</a:t>
            </a:r>
            <a:endParaRPr sz="1800">
              <a:solidFill>
                <a:schemeClr val="dk1"/>
              </a:solidFill>
              <a:latin typeface="Calibri"/>
              <a:ea typeface="Calibri"/>
              <a:cs typeface="Calibri"/>
              <a:sym typeface="Calibri"/>
            </a:endParaRPr>
          </a:p>
        </p:txBody>
      </p:sp>
      <p:sp>
        <p:nvSpPr>
          <p:cNvPr id="181" name="Google Shape;181;p13"/>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Esch et al. (2001)</a:t>
            </a:r>
            <a:endParaRPr sz="1800">
              <a:solidFill>
                <a:schemeClr val="dk1"/>
              </a:solidFill>
              <a:latin typeface="Calibri"/>
              <a:ea typeface="Calibri"/>
              <a:cs typeface="Calibri"/>
              <a:sym typeface="Calibri"/>
            </a:endParaRPr>
          </a:p>
        </p:txBody>
      </p:sp>
      <p:sp>
        <p:nvSpPr>
          <p:cNvPr id="183" name="Google Shape;183;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Outdoor calibration differs between flight routes</a:t>
            </a:r>
            <a:endParaRPr sz="1800">
              <a:solidFill>
                <a:schemeClr val="dk1"/>
              </a:solidFill>
              <a:latin typeface="Calibri"/>
              <a:ea typeface="Calibri"/>
              <a:cs typeface="Calibri"/>
              <a:sym typeface="Calibri"/>
            </a:endParaRPr>
          </a:p>
        </p:txBody>
      </p:sp>
      <p:sp>
        <p:nvSpPr>
          <p:cNvPr id="189" name="Google Shape;189;p14"/>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Esch and colleagues measured outdoor dance durations separately for southern and northwestern routes. A given waggle duration corresponded to different physical distances on the two routes, even though both involved ordinary outdoor flight.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For example, 270 ms corresponded to about 52 m using the southern relation but about 157 m using the northwestern relation. The northwestern landscape generated less distance signal per physical meter than the southern landscape. A single route-independent conversion would therefore misread the dance.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relevant quantity is accumulated visual motion shaped by the route. Terrain and viewing geometry can change the relation between optic flow and physical distance. A given waggle duration therefore corresponds to a distance only after the visual conditions of the route are taken into account.</a:t>
            </a:r>
            <a:endParaRPr sz="1800">
              <a:solidFill>
                <a:schemeClr val="dk1"/>
              </a:solidFill>
              <a:latin typeface="Calibri"/>
              <a:ea typeface="Calibri"/>
              <a:cs typeface="Calibri"/>
              <a:sym typeface="Calibri"/>
            </a:endParaRPr>
          </a:p>
        </p:txBody>
      </p:sp>
      <p:pic>
        <p:nvPicPr>
          <p:cNvPr id="192" name="Google Shape;192;p14"/>
          <p:cNvPicPr preferRelativeResize="0"/>
          <p:nvPr/>
        </p:nvPicPr>
        <p:blipFill rotWithShape="1">
          <a:blip r:embed="rId3">
            <a:alphaModFix/>
          </a:blip>
          <a:srcRect b="0" l="0" r="0" t="0"/>
          <a:stretch/>
        </p:blipFill>
        <p:spPr>
          <a:xfrm>
            <a:off x="6458497" y="1280071"/>
            <a:ext cx="5166218" cy="2921050"/>
          </a:xfrm>
          <a:prstGeom prst="rect">
            <a:avLst/>
          </a:prstGeom>
          <a:noFill/>
          <a:ln>
            <a:noFill/>
          </a:ln>
        </p:spPr>
      </p:pic>
      <p:sp>
        <p:nvSpPr>
          <p:cNvPr id="193" name="Google Shape;193;p14"/>
          <p:cNvSpPr/>
          <p:nvPr/>
        </p:nvSpPr>
        <p:spPr>
          <a:xfrm>
            <a:off x="6458396" y="429265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Esch et al. (2001), Fig. 1. Outdoor calibration of dance duration.</a:t>
            </a:r>
            <a:endParaRPr sz="1800">
              <a:solidFill>
                <a:schemeClr val="dk1"/>
              </a:solidFill>
              <a:latin typeface="Calibri"/>
              <a:ea typeface="Calibri"/>
              <a:cs typeface="Calibri"/>
              <a:sym typeface="Calibri"/>
            </a:endParaRPr>
          </a:p>
        </p:txBody>
      </p:sp>
      <p:sp>
        <p:nvSpPr>
          <p:cNvPr id="194" name="Google Shape;194;p14"/>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Esch et al. (2001)</a:t>
            </a:r>
            <a:endParaRPr sz="1800">
              <a:solidFill>
                <a:schemeClr val="dk1"/>
              </a:solidFill>
              <a:latin typeface="Calibri"/>
              <a:ea typeface="Calibri"/>
              <a:cs typeface="Calibri"/>
              <a:sym typeface="Calibri"/>
            </a:endParaRPr>
          </a:p>
        </p:txBody>
      </p:sp>
      <p:sp>
        <p:nvSpPr>
          <p:cNvPr id="196" name="Google Shape;196;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Northwestern recruits use their route’s visual calibration</a:t>
            </a:r>
            <a:endParaRPr sz="1800">
              <a:solidFill>
                <a:schemeClr val="dk1"/>
              </a:solidFill>
              <a:latin typeface="Calibri"/>
              <a:ea typeface="Calibri"/>
              <a:cs typeface="Calibri"/>
              <a:sym typeface="Calibri"/>
            </a:endParaRPr>
          </a:p>
        </p:txBody>
      </p:sp>
      <p:sp>
        <p:nvSpPr>
          <p:cNvPr id="202" name="Google Shape;202;p1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Esch and colleagues repeated the tunnel recruitment test with a northwestern approach: 3 m outdoors followed by 6 m through the tunnel. The actual feeder was 9 m away, and returning dancers produced waggle runs averaging 270 ms.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Recruit searches peaked near 140 m along the northwestern route. The northwestern outdoor calibration predicted approximately 157 m, whereas applying the southern calibration would predict only about 52 m. Recruits therefore searched where a route-appropriate visual-distance interpretation placed the destination.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Stations were unrewarded, and closing the tunnel before each experiment prevented the relevant dances and recruitment. The result connects dance decoding with followers’ own visual navigation. Recruits applied the visual calibration of their own route when they converted the dance into a search distance.</a:t>
            </a:r>
            <a:endParaRPr sz="1800">
              <a:solidFill>
                <a:schemeClr val="dk1"/>
              </a:solidFill>
              <a:latin typeface="Calibri"/>
              <a:ea typeface="Calibri"/>
              <a:cs typeface="Calibri"/>
              <a:sym typeface="Calibri"/>
            </a:endParaRPr>
          </a:p>
        </p:txBody>
      </p:sp>
      <p:pic>
        <p:nvPicPr>
          <p:cNvPr id="205" name="Google Shape;205;p15"/>
          <p:cNvPicPr preferRelativeResize="0"/>
          <p:nvPr/>
        </p:nvPicPr>
        <p:blipFill rotWithShape="1">
          <a:blip r:embed="rId3">
            <a:alphaModFix/>
          </a:blip>
          <a:srcRect b="0" l="0" r="0" t="0"/>
          <a:stretch/>
        </p:blipFill>
        <p:spPr>
          <a:xfrm>
            <a:off x="7772126" y="1280071"/>
            <a:ext cx="2539109" cy="4297561"/>
          </a:xfrm>
          <a:prstGeom prst="rect">
            <a:avLst/>
          </a:prstGeom>
          <a:noFill/>
          <a:ln>
            <a:noFill/>
          </a:ln>
        </p:spPr>
      </p:pic>
      <p:sp>
        <p:nvSpPr>
          <p:cNvPr id="206" name="Google Shape;206;p15"/>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Esch et al. (2001), Fig. 2a–c. Recruit searches after tunnel-distance dances.</a:t>
            </a:r>
            <a:endParaRPr sz="1800">
              <a:solidFill>
                <a:schemeClr val="dk1"/>
              </a:solidFill>
              <a:latin typeface="Calibri"/>
              <a:ea typeface="Calibri"/>
              <a:cs typeface="Calibri"/>
              <a:sym typeface="Calibri"/>
            </a:endParaRPr>
          </a:p>
        </p:txBody>
      </p:sp>
      <p:sp>
        <p:nvSpPr>
          <p:cNvPr id="207" name="Google Shape;207;p15"/>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Esch et al. (2001)</a:t>
            </a:r>
            <a:endParaRPr sz="1800">
              <a:solidFill>
                <a:schemeClr val="dk1"/>
              </a:solidFill>
              <a:latin typeface="Calibri"/>
              <a:ea typeface="Calibri"/>
              <a:cs typeface="Calibri"/>
              <a:sym typeface="Calibri"/>
            </a:endParaRPr>
          </a:p>
        </p:txBody>
      </p:sp>
      <p:sp>
        <p:nvSpPr>
          <p:cNvPr id="209" name="Google Shape;209;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Natural water crossings alter the distance signal</a:t>
            </a:r>
            <a:endParaRPr sz="1800">
              <a:solidFill>
                <a:schemeClr val="dk1"/>
              </a:solidFill>
              <a:latin typeface="Calibri"/>
              <a:ea typeface="Calibri"/>
              <a:cs typeface="Calibri"/>
              <a:sym typeface="Calibri"/>
            </a:endParaRPr>
          </a:p>
        </p:txBody>
      </p:sp>
      <p:sp>
        <p:nvSpPr>
          <p:cNvPr id="215" name="Google Shape;215;p16"/>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Tautz and colleagues moved feeders along two routes, each 580 m long. One route crossed land, water and then an island; the other remained over land. Marked foragers were trained to follow the moving food source, including a feeder carried by boat.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For each position, returning dances were filmed and waggle-run duration measured. The experiment tested whether the tunnel-defined visual odometer also depended on natural terrain. Both routes increased physical distance without the artificial proximity of tunnel walls.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Water-crossing bees continued to signal increasing distance, but the rate of increase differed across route segments. Recruits were scarce while the feeder was over water and reappeared on the island. Recruitment success and distance encoding are related but distinct outcomes, and the habitat change can affect both.</a:t>
            </a:r>
            <a:endParaRPr sz="1800">
              <a:solidFill>
                <a:schemeClr val="dk1"/>
              </a:solidFill>
              <a:latin typeface="Calibri"/>
              <a:ea typeface="Calibri"/>
              <a:cs typeface="Calibri"/>
              <a:sym typeface="Calibri"/>
            </a:endParaRPr>
          </a:p>
        </p:txBody>
      </p:sp>
      <p:pic>
        <p:nvPicPr>
          <p:cNvPr id="218" name="Google Shape;218;p16"/>
          <p:cNvPicPr preferRelativeResize="0"/>
          <p:nvPr/>
        </p:nvPicPr>
        <p:blipFill rotWithShape="1">
          <a:blip r:embed="rId3">
            <a:alphaModFix/>
          </a:blip>
          <a:srcRect b="0" l="0" r="0" t="0"/>
          <a:stretch/>
        </p:blipFill>
        <p:spPr>
          <a:xfrm>
            <a:off x="6881273" y="1280071"/>
            <a:ext cx="4320666" cy="4297561"/>
          </a:xfrm>
          <a:prstGeom prst="rect">
            <a:avLst/>
          </a:prstGeom>
          <a:noFill/>
          <a:ln>
            <a:noFill/>
          </a:ln>
        </p:spPr>
      </p:pic>
      <p:sp>
        <p:nvSpPr>
          <p:cNvPr id="219" name="Google Shape;219;p16"/>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Tautz et al. (2004), Fig. 1. Land, water and island routes.</a:t>
            </a:r>
            <a:endParaRPr sz="1800">
              <a:solidFill>
                <a:schemeClr val="dk1"/>
              </a:solidFill>
              <a:latin typeface="Calibri"/>
              <a:ea typeface="Calibri"/>
              <a:cs typeface="Calibri"/>
              <a:sym typeface="Calibri"/>
            </a:endParaRPr>
          </a:p>
        </p:txBody>
      </p:sp>
      <p:sp>
        <p:nvSpPr>
          <p:cNvPr id="220" name="Google Shape;220;p16"/>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Tautz et al. (2004)</a:t>
            </a:r>
            <a:endParaRPr sz="1800">
              <a:solidFill>
                <a:schemeClr val="dk1"/>
              </a:solidFill>
              <a:latin typeface="Calibri"/>
              <a:ea typeface="Calibri"/>
              <a:cs typeface="Calibri"/>
              <a:sym typeface="Calibri"/>
            </a:endParaRPr>
          </a:p>
        </p:txBody>
      </p:sp>
      <p:sp>
        <p:nvSpPr>
          <p:cNvPr id="222" name="Google Shape;222;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Waggle duration accumulates more slowly over water</a:t>
            </a:r>
            <a:endParaRPr sz="1800">
              <a:solidFill>
                <a:schemeClr val="dk1"/>
              </a:solidFill>
              <a:latin typeface="Calibri"/>
              <a:ea typeface="Calibri"/>
              <a:cs typeface="Calibri"/>
              <a:sym typeface="Calibri"/>
            </a:endParaRPr>
          </a:p>
        </p:txBody>
      </p:sp>
      <p:sp>
        <p:nvSpPr>
          <p:cNvPr id="228" name="Google Shape;228;p17"/>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On the land–water–island route, Tautz and colleagues measured a waggle-duration increase of 1.970 ms/m over the first land segment, 0.546 ms/m over water and 2.243 ms/m over the island. Equal increments of physical travel therefore contributed unequally to the dance signal.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Segment-specific relations captured the change more closely than a single constant slope across the whole route. An all-land comparison route lacked the water-associated flattening, so the control separated a specific terrain transition from a general dependence on increasing feeder distance.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A visual odometer accumulates less effective image motion over water. The low contrast of the surface yields less image motion per meter, so the waggle duration rises more slowly across the water segment and then resumes its faster rate over land.</a:t>
            </a:r>
            <a:endParaRPr sz="1800">
              <a:solidFill>
                <a:schemeClr val="dk1"/>
              </a:solidFill>
              <a:latin typeface="Calibri"/>
              <a:ea typeface="Calibri"/>
              <a:cs typeface="Calibri"/>
              <a:sym typeface="Calibri"/>
            </a:endParaRPr>
          </a:p>
        </p:txBody>
      </p:sp>
      <p:pic>
        <p:nvPicPr>
          <p:cNvPr id="231" name="Google Shape;231;p17"/>
          <p:cNvPicPr preferRelativeResize="0"/>
          <p:nvPr/>
        </p:nvPicPr>
        <p:blipFill rotWithShape="1">
          <a:blip r:embed="rId3">
            <a:alphaModFix/>
          </a:blip>
          <a:srcRect b="0" l="0" r="0" t="0"/>
          <a:stretch/>
        </p:blipFill>
        <p:spPr>
          <a:xfrm>
            <a:off x="7512145" y="1280071"/>
            <a:ext cx="3059071" cy="4297561"/>
          </a:xfrm>
          <a:prstGeom prst="rect">
            <a:avLst/>
          </a:prstGeom>
          <a:noFill/>
          <a:ln>
            <a:noFill/>
          </a:ln>
        </p:spPr>
      </p:pic>
      <p:sp>
        <p:nvSpPr>
          <p:cNvPr id="232" name="Google Shape;232;p17"/>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Tautz et al. (2004), Fig. 2A,B. Distance coding changes over water.</a:t>
            </a:r>
            <a:endParaRPr sz="1800">
              <a:solidFill>
                <a:schemeClr val="dk1"/>
              </a:solidFill>
              <a:latin typeface="Calibri"/>
              <a:ea typeface="Calibri"/>
              <a:cs typeface="Calibri"/>
              <a:sym typeface="Calibri"/>
            </a:endParaRPr>
          </a:p>
        </p:txBody>
      </p:sp>
      <p:sp>
        <p:nvSpPr>
          <p:cNvPr id="233" name="Google Shape;233;p17"/>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Tautz et al. (2004)</a:t>
            </a:r>
            <a:endParaRPr sz="1800">
              <a:solidFill>
                <a:schemeClr val="dk1"/>
              </a:solidFill>
              <a:latin typeface="Calibri"/>
              <a:ea typeface="Calibri"/>
              <a:cs typeface="Calibri"/>
              <a:sym typeface="Calibri"/>
            </a:endParaRPr>
          </a:p>
        </p:txBody>
      </p:sp>
      <p:sp>
        <p:nvSpPr>
          <p:cNvPr id="235" name="Google Shape;235;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Image contrast constrains natural visual odometry</a:t>
            </a:r>
            <a:endParaRPr sz="1800">
              <a:solidFill>
                <a:schemeClr val="dk1"/>
              </a:solidFill>
              <a:latin typeface="Calibri"/>
              <a:ea typeface="Calibri"/>
              <a:cs typeface="Calibri"/>
              <a:sym typeface="Calibri"/>
            </a:endParaRPr>
          </a:p>
        </p:txBody>
      </p:sp>
      <p:sp>
        <p:nvSpPr>
          <p:cNvPr id="241" name="Google Shape;241;p18"/>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3F5063"/>
              </a:buClr>
              <a:buSzPts val="1500"/>
              <a:buFont typeface="Arial"/>
              <a:buNone/>
            </a:pPr>
            <a:r>
              <a:rPr b="1" i="0" lang="en-US" sz="1500">
                <a:solidFill>
                  <a:srgbClr val="3F5063"/>
                </a:solidFill>
                <a:latin typeface="Arial"/>
                <a:ea typeface="Arial"/>
                <a:cs typeface="Arial"/>
                <a:sym typeface="Arial"/>
              </a:rPr>
              <a:t>Visual contrast</a:t>
            </a:r>
            <a:r>
              <a:rPr b="0" i="0" lang="en-US" sz="1500">
                <a:solidFill>
                  <a:srgbClr val="252B32"/>
                </a:solidFill>
                <a:latin typeface="Arial"/>
                <a:ea typeface="Arial"/>
                <a:cs typeface="Arial"/>
                <a:sym typeface="Arial"/>
              </a:rPr>
              <a:t> measures differences in image intensity that make spatial structure detectable. Tautz and colleagues photographed land and water scenes along the experimental routes and analyzed intensity variation in defined image windows.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Mean contrast was greater over land than over water. The low-contrast water segment coincided with slower accumulation of waggle duration, whereas the terrestrial segments supported larger increases. The original scene photographs retain the investigators’ measurement windows.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Contrast provides a plausible connection between natural image structure and effective optic flow. The controlled tunnel-texture experiments supply a separate intervention on visual motion, and the field measurements establish ecological dependence under ordinary foraging conditions.</a:t>
            </a:r>
            <a:endParaRPr sz="1800">
              <a:solidFill>
                <a:schemeClr val="dk1"/>
              </a:solidFill>
              <a:latin typeface="Calibri"/>
              <a:ea typeface="Calibri"/>
              <a:cs typeface="Calibri"/>
              <a:sym typeface="Calibri"/>
            </a:endParaRPr>
          </a:p>
        </p:txBody>
      </p:sp>
      <p:pic>
        <p:nvPicPr>
          <p:cNvPr id="244" name="Google Shape;244;p18"/>
          <p:cNvPicPr preferRelativeResize="0"/>
          <p:nvPr/>
        </p:nvPicPr>
        <p:blipFill rotWithShape="1">
          <a:blip r:embed="rId3">
            <a:alphaModFix/>
          </a:blip>
          <a:srcRect b="0" l="0" r="0" t="0"/>
          <a:stretch/>
        </p:blipFill>
        <p:spPr>
          <a:xfrm>
            <a:off x="8322932" y="1280071"/>
            <a:ext cx="1437646" cy="2148780"/>
          </a:xfrm>
          <a:prstGeom prst="rect">
            <a:avLst/>
          </a:prstGeom>
          <a:noFill/>
          <a:ln>
            <a:noFill/>
          </a:ln>
        </p:spPr>
      </p:pic>
      <p:sp>
        <p:nvSpPr>
          <p:cNvPr id="245" name="Google Shape;245;p18"/>
          <p:cNvSpPr/>
          <p:nvPr/>
        </p:nvSpPr>
        <p:spPr>
          <a:xfrm>
            <a:off x="6458396" y="352038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Tautz et al. (2004), Fig. 4. Scenes used to compare land and water contrast.</a:t>
            </a:r>
            <a:endParaRPr sz="1800">
              <a:solidFill>
                <a:schemeClr val="dk1"/>
              </a:solidFill>
              <a:latin typeface="Calibri"/>
              <a:ea typeface="Calibri"/>
              <a:cs typeface="Calibri"/>
              <a:sym typeface="Calibri"/>
            </a:endParaRPr>
          </a:p>
        </p:txBody>
      </p:sp>
      <p:pic>
        <p:nvPicPr>
          <p:cNvPr id="246" name="Google Shape;246;p18"/>
          <p:cNvPicPr preferRelativeResize="0"/>
          <p:nvPr/>
        </p:nvPicPr>
        <p:blipFill rotWithShape="1">
          <a:blip r:embed="rId4">
            <a:alphaModFix/>
          </a:blip>
          <a:srcRect b="0" l="0" r="0" t="0"/>
          <a:stretch/>
        </p:blipFill>
        <p:spPr>
          <a:xfrm>
            <a:off x="7712190" y="3977580"/>
            <a:ext cx="2658982" cy="1782961"/>
          </a:xfrm>
          <a:prstGeom prst="rect">
            <a:avLst/>
          </a:prstGeom>
          <a:noFill/>
          <a:ln>
            <a:noFill/>
          </a:ln>
        </p:spPr>
      </p:pic>
      <p:sp>
        <p:nvSpPr>
          <p:cNvPr id="247" name="Google Shape;247;p18"/>
          <p:cNvSpPr/>
          <p:nvPr/>
        </p:nvSpPr>
        <p:spPr>
          <a:xfrm>
            <a:off x="6458396" y="583376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Tautz et al. (2004), Fig. 5. Natural terrestrial route and image-analysis windows.</a:t>
            </a:r>
            <a:endParaRPr sz="1800">
              <a:solidFill>
                <a:schemeClr val="dk1"/>
              </a:solidFill>
              <a:latin typeface="Calibri"/>
              <a:ea typeface="Calibri"/>
              <a:cs typeface="Calibri"/>
              <a:sym typeface="Calibri"/>
            </a:endParaRPr>
          </a:p>
        </p:txBody>
      </p:sp>
      <p:sp>
        <p:nvSpPr>
          <p:cNvPr id="248" name="Google Shape;248;p18"/>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Tautz et al. (2004); Srinivasan et al. (2000)</a:t>
            </a:r>
            <a:endParaRPr sz="1800">
              <a:solidFill>
                <a:schemeClr val="dk1"/>
              </a:solidFill>
              <a:latin typeface="Calibri"/>
              <a:ea typeface="Calibri"/>
              <a:cs typeface="Calibri"/>
              <a:sym typeface="Calibri"/>
            </a:endParaRPr>
          </a:p>
        </p:txBody>
      </p:sp>
      <p:sp>
        <p:nvSpPr>
          <p:cNvPr id="250" name="Google Shape;250;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Bees can learn the orientation of polarized light</a:t>
            </a:r>
            <a:endParaRPr sz="1800">
              <a:solidFill>
                <a:schemeClr val="dk1"/>
              </a:solidFill>
              <a:latin typeface="Calibri"/>
              <a:ea typeface="Calibri"/>
              <a:cs typeface="Calibri"/>
              <a:sym typeface="Calibri"/>
            </a:endParaRPr>
          </a:p>
        </p:txBody>
      </p:sp>
      <p:sp>
        <p:nvSpPr>
          <p:cNvPr id="256" name="Google Shape;256;p19"/>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3F5063"/>
              </a:buClr>
              <a:buSzPts val="1500"/>
              <a:buFont typeface="Arial"/>
              <a:buNone/>
            </a:pPr>
            <a:r>
              <a:rPr b="1" i="0" lang="en-US" sz="1500">
                <a:solidFill>
                  <a:srgbClr val="3F5063"/>
                </a:solidFill>
                <a:latin typeface="Arial"/>
                <a:ea typeface="Arial"/>
                <a:cs typeface="Arial"/>
                <a:sym typeface="Arial"/>
              </a:rPr>
              <a:t>Polarized light</a:t>
            </a:r>
            <a:r>
              <a:rPr b="0" i="0" lang="en-US" sz="1500">
                <a:solidFill>
                  <a:srgbClr val="252B32"/>
                </a:solidFill>
                <a:latin typeface="Arial"/>
                <a:ea typeface="Arial"/>
                <a:cs typeface="Arial"/>
                <a:sym typeface="Arial"/>
              </a:rPr>
              <a:t> has a preferred orientation of its electric-field oscillation, called the </a:t>
            </a:r>
            <a:r>
              <a:rPr b="1" i="0" lang="en-US" sz="1500">
                <a:solidFill>
                  <a:srgbClr val="3F5063"/>
                </a:solidFill>
                <a:latin typeface="Arial"/>
                <a:ea typeface="Arial"/>
                <a:cs typeface="Arial"/>
                <a:sym typeface="Arial"/>
              </a:rPr>
              <a:t>e-vector</a:t>
            </a:r>
            <a:r>
              <a:rPr b="0" i="0" lang="en-US" sz="1500">
                <a:solidFill>
                  <a:srgbClr val="252B32"/>
                </a:solidFill>
                <a:latin typeface="Arial"/>
                <a:ea typeface="Arial"/>
                <a:cs typeface="Arial"/>
                <a:sym typeface="Arial"/>
              </a:rPr>
              <a:t>. Sakura and colleagues tested whether restrained honeybees could discriminate two e-vector directions presented from above without having to complete a navigational journey.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One direction was paired with sucrose; the perpendicular direction was not rewarded. The </a:t>
            </a:r>
            <a:r>
              <a:rPr b="1" i="0" lang="en-US" sz="1500">
                <a:solidFill>
                  <a:srgbClr val="3F5063"/>
                </a:solidFill>
                <a:latin typeface="Arial"/>
                <a:ea typeface="Arial"/>
                <a:cs typeface="Arial"/>
                <a:sym typeface="Arial"/>
              </a:rPr>
              <a:t>proboscis extension response</a:t>
            </a:r>
            <a:r>
              <a:rPr b="0" i="0" lang="en-US" sz="1500">
                <a:solidFill>
                  <a:srgbClr val="252B32"/>
                </a:solidFill>
                <a:latin typeface="Arial"/>
                <a:ea typeface="Arial"/>
                <a:cs typeface="Arial"/>
                <a:sym typeface="Arial"/>
              </a:rPr>
              <a:t>, extension of the feeding mouthparts, supplied a behavioral readout of association. During ultraviolet-light conditioning, responses increased to the rewarded direction while remaining low to the other.</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The test establishes learned discrimination of polarization orientation independently of free-flight steering. Head-fixed bees could also learn, supporting detection without repeated active head scanning. Detection of the e-vector alone is sufficient for the association, so the sensory input to a polarization compass can be studied without a journey.</a:t>
            </a:r>
            <a:endParaRPr sz="1800">
              <a:solidFill>
                <a:schemeClr val="dk1"/>
              </a:solidFill>
              <a:latin typeface="Calibri"/>
              <a:ea typeface="Calibri"/>
              <a:cs typeface="Calibri"/>
              <a:sym typeface="Calibri"/>
            </a:endParaRPr>
          </a:p>
        </p:txBody>
      </p:sp>
      <p:pic>
        <p:nvPicPr>
          <p:cNvPr id="259" name="Google Shape;259;p19"/>
          <p:cNvPicPr preferRelativeResize="0"/>
          <p:nvPr/>
        </p:nvPicPr>
        <p:blipFill rotWithShape="1">
          <a:blip r:embed="rId3">
            <a:alphaModFix/>
          </a:blip>
          <a:srcRect b="0" l="0" r="0" t="0"/>
          <a:stretch/>
        </p:blipFill>
        <p:spPr>
          <a:xfrm>
            <a:off x="6458420" y="1280071"/>
            <a:ext cx="3520483" cy="2177504"/>
          </a:xfrm>
          <a:prstGeom prst="rect">
            <a:avLst/>
          </a:prstGeom>
          <a:noFill/>
          <a:ln>
            <a:noFill/>
          </a:ln>
        </p:spPr>
      </p:pic>
      <p:sp>
        <p:nvSpPr>
          <p:cNvPr id="260" name="Google Shape;260;p19"/>
          <p:cNvSpPr/>
          <p:nvPr/>
        </p:nvSpPr>
        <p:spPr>
          <a:xfrm>
            <a:off x="6458396" y="3549104"/>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Sakura et al. (2012), Fig. 1. Rewarded and unrewarded polarization directions.</a:t>
            </a:r>
            <a:endParaRPr sz="1800">
              <a:solidFill>
                <a:schemeClr val="dk1"/>
              </a:solidFill>
              <a:latin typeface="Calibri"/>
              <a:ea typeface="Calibri"/>
              <a:cs typeface="Calibri"/>
              <a:sym typeface="Calibri"/>
            </a:endParaRPr>
          </a:p>
        </p:txBody>
      </p:sp>
      <p:pic>
        <p:nvPicPr>
          <p:cNvPr id="261" name="Google Shape;261;p19"/>
          <p:cNvPicPr preferRelativeResize="0"/>
          <p:nvPr/>
        </p:nvPicPr>
        <p:blipFill rotWithShape="1">
          <a:blip r:embed="rId4">
            <a:alphaModFix/>
          </a:blip>
          <a:srcRect b="0" l="0" r="0" t="0"/>
          <a:stretch/>
        </p:blipFill>
        <p:spPr>
          <a:xfrm>
            <a:off x="10161836" y="2148796"/>
            <a:ext cx="1462980" cy="1396571"/>
          </a:xfrm>
          <a:prstGeom prst="rect">
            <a:avLst/>
          </a:prstGeom>
          <a:noFill/>
          <a:ln>
            <a:noFill/>
          </a:ln>
        </p:spPr>
      </p:pic>
      <p:sp>
        <p:nvSpPr>
          <p:cNvPr id="262" name="Google Shape;262;p19"/>
          <p:cNvSpPr/>
          <p:nvPr/>
        </p:nvSpPr>
        <p:spPr>
          <a:xfrm>
            <a:off x="10161836" y="3618607"/>
            <a:ext cx="1482030" cy="41121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1A–F. Dorsal-rim input reaches dorsal medulla.</a:t>
            </a:r>
            <a:endParaRPr sz="1800">
              <a:solidFill>
                <a:schemeClr val="dk1"/>
              </a:solidFill>
              <a:latin typeface="Calibri"/>
              <a:ea typeface="Calibri"/>
              <a:cs typeface="Calibri"/>
              <a:sym typeface="Calibri"/>
            </a:endParaRPr>
          </a:p>
        </p:txBody>
      </p:sp>
      <p:sp>
        <p:nvSpPr>
          <p:cNvPr id="263" name="Google Shape;263;p19"/>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Sakura et al. (2012)</a:t>
            </a:r>
            <a:endParaRPr sz="1800">
              <a:solidFill>
                <a:schemeClr val="dk1"/>
              </a:solidFill>
              <a:latin typeface="Calibri"/>
              <a:ea typeface="Calibri"/>
              <a:cs typeface="Calibri"/>
              <a:sym typeface="Calibri"/>
            </a:endParaRPr>
          </a:p>
        </p:txBody>
      </p:sp>
      <p:sp>
        <p:nvSpPr>
          <p:cNvPr id="265" name="Google Shape;265;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Polarization learning depends on ultraviolet stimulation</a:t>
            </a:r>
            <a:endParaRPr sz="1800">
              <a:solidFill>
                <a:schemeClr val="dk1"/>
              </a:solidFill>
              <a:latin typeface="Calibri"/>
              <a:ea typeface="Calibri"/>
              <a:cs typeface="Calibri"/>
              <a:sym typeface="Calibri"/>
            </a:endParaRPr>
          </a:p>
        </p:txBody>
      </p:sp>
      <p:sp>
        <p:nvSpPr>
          <p:cNvPr id="271" name="Google Shape;271;p20"/>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Sakura and colleagues repeated polarization conditioning with ultraviolet light near 350 nm, blue light near 442 nm and green light near 546 nm. Each preparation used a rewarded e-vector and a perpendicular unrewarded e-vector.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Bees acquired the discrimination under ultraviolet stimulation but did not acquire it under the tested blue or green conditions. The wavelength comparison controlled the form of the associative task while changing the available spectral input. Ordinary responsiveness to sucrose was assessed separately.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result is consistent with ultraviolet-sensitive polarization input rather than a wavelength-independent task solution. Ultraviolet stimulation is therefore the spectral input that supports polarization discrimination in this task.</a:t>
            </a:r>
            <a:endParaRPr sz="1800">
              <a:solidFill>
                <a:schemeClr val="dk1"/>
              </a:solidFill>
              <a:latin typeface="Calibri"/>
              <a:ea typeface="Calibri"/>
              <a:cs typeface="Calibri"/>
              <a:sym typeface="Calibri"/>
            </a:endParaRPr>
          </a:p>
        </p:txBody>
      </p:sp>
      <p:pic>
        <p:nvPicPr>
          <p:cNvPr id="274" name="Google Shape;274;p20"/>
          <p:cNvPicPr preferRelativeResize="0"/>
          <p:nvPr/>
        </p:nvPicPr>
        <p:blipFill rotWithShape="1">
          <a:blip r:embed="rId3">
            <a:alphaModFix/>
          </a:blip>
          <a:srcRect b="0" l="0" r="0" t="0"/>
          <a:stretch/>
        </p:blipFill>
        <p:spPr>
          <a:xfrm>
            <a:off x="7073535" y="1280071"/>
            <a:ext cx="2290401" cy="4297561"/>
          </a:xfrm>
          <a:prstGeom prst="rect">
            <a:avLst/>
          </a:prstGeom>
          <a:noFill/>
          <a:ln>
            <a:noFill/>
          </a:ln>
        </p:spPr>
      </p:pic>
      <p:sp>
        <p:nvSpPr>
          <p:cNvPr id="275" name="Google Shape;275;p20"/>
          <p:cNvSpPr/>
          <p:nvPr/>
        </p:nvSpPr>
        <p:spPr>
          <a:xfrm>
            <a:off x="6458396" y="5669161"/>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Sakura et al. (2012), Fig. 3a–c. Learning with ultraviolet, blue and green light.</a:t>
            </a:r>
            <a:endParaRPr sz="1800">
              <a:solidFill>
                <a:schemeClr val="dk1"/>
              </a:solidFill>
              <a:latin typeface="Calibri"/>
              <a:ea typeface="Calibri"/>
              <a:cs typeface="Calibri"/>
              <a:sym typeface="Calibri"/>
            </a:endParaRPr>
          </a:p>
        </p:txBody>
      </p:sp>
      <p:pic>
        <p:nvPicPr>
          <p:cNvPr id="276" name="Google Shape;276;p20"/>
          <p:cNvPicPr preferRelativeResize="0"/>
          <p:nvPr/>
        </p:nvPicPr>
        <p:blipFill rotWithShape="1">
          <a:blip r:embed="rId4">
            <a:alphaModFix/>
          </a:blip>
          <a:srcRect b="0" l="0" r="0" t="0"/>
          <a:stretch/>
        </p:blipFill>
        <p:spPr>
          <a:xfrm>
            <a:off x="10161836" y="2148796"/>
            <a:ext cx="1462980" cy="1396571"/>
          </a:xfrm>
          <a:prstGeom prst="rect">
            <a:avLst/>
          </a:prstGeom>
          <a:noFill/>
          <a:ln>
            <a:noFill/>
          </a:ln>
        </p:spPr>
      </p:pic>
      <p:sp>
        <p:nvSpPr>
          <p:cNvPr id="277" name="Google Shape;277;p20"/>
          <p:cNvSpPr/>
          <p:nvPr/>
        </p:nvSpPr>
        <p:spPr>
          <a:xfrm>
            <a:off x="10161836" y="3618607"/>
            <a:ext cx="1482030" cy="41121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1A–F. Dorsal-rim input reaches dorsal medulla.</a:t>
            </a:r>
            <a:endParaRPr sz="1800">
              <a:solidFill>
                <a:schemeClr val="dk1"/>
              </a:solidFill>
              <a:latin typeface="Calibri"/>
              <a:ea typeface="Calibri"/>
              <a:cs typeface="Calibri"/>
              <a:sym typeface="Calibri"/>
            </a:endParaRPr>
          </a:p>
        </p:txBody>
      </p:sp>
      <p:sp>
        <p:nvSpPr>
          <p:cNvPr id="278" name="Google Shape;278;p20"/>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Sakura et al. (2012)</a:t>
            </a:r>
            <a:endParaRPr sz="1800">
              <a:solidFill>
                <a:schemeClr val="dk1"/>
              </a:solidFill>
              <a:latin typeface="Calibri"/>
              <a:ea typeface="Calibri"/>
              <a:cs typeface="Calibri"/>
              <a:sym typeface="Calibri"/>
            </a:endParaRPr>
          </a:p>
        </p:txBody>
      </p:sp>
      <p:sp>
        <p:nvSpPr>
          <p:cNvPr id="280" name="Google Shape;280;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Occluding the dorsal rim removes e-vector learning</a:t>
            </a:r>
            <a:endParaRPr sz="1800">
              <a:solidFill>
                <a:schemeClr val="dk1"/>
              </a:solidFill>
              <a:latin typeface="Calibri"/>
              <a:ea typeface="Calibri"/>
              <a:cs typeface="Calibri"/>
              <a:sym typeface="Calibri"/>
            </a:endParaRPr>
          </a:p>
        </p:txBody>
      </p:sp>
      <p:sp>
        <p:nvSpPr>
          <p:cNvPr id="286" name="Google Shape;286;p21"/>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The </a:t>
            </a:r>
            <a:r>
              <a:rPr b="1" i="0" lang="en-US" sz="1600">
                <a:solidFill>
                  <a:srgbClr val="3F5063"/>
                </a:solidFill>
                <a:latin typeface="Arial"/>
                <a:ea typeface="Arial"/>
                <a:cs typeface="Arial"/>
                <a:sym typeface="Arial"/>
              </a:rPr>
              <a:t>dorsal rim area</a:t>
            </a:r>
            <a:r>
              <a:rPr b="0" i="0" lang="en-US" sz="1600">
                <a:solidFill>
                  <a:srgbClr val="252B32"/>
                </a:solidFill>
                <a:latin typeface="Arial"/>
                <a:ea typeface="Arial"/>
                <a:cs typeface="Arial"/>
                <a:sym typeface="Arial"/>
              </a:rPr>
              <a:t> is a specialized region near the upper edge of the compound eye associated with skylight polarization detection. Sakura and colleagues painted either this region or the rest of the eye before ultraviolet polarization conditioning.</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Bees with the dorsal rim covered did not learn the rewarded e-vector. Bees with the extradorsal-rim region covered retained discrimination, despite having much of the eye occluded. This complementary control links the behavioral effect to the specialized region rather than simply to reduced exposed eye area.</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experiment supports a necessary dorsal-rim contribution under these conditions. Zeller and colleagues traced input from this region into a specialized dorsal-medulla compartment. Together the occlusion and tracing results place the dorsal rim and the dorsal-medulla compartment on the sensory pathway for skylight polarization.</a:t>
            </a:r>
            <a:endParaRPr sz="1800">
              <a:solidFill>
                <a:schemeClr val="dk1"/>
              </a:solidFill>
              <a:latin typeface="Calibri"/>
              <a:ea typeface="Calibri"/>
              <a:cs typeface="Calibri"/>
              <a:sym typeface="Calibri"/>
            </a:endParaRPr>
          </a:p>
        </p:txBody>
      </p:sp>
      <p:pic>
        <p:nvPicPr>
          <p:cNvPr id="289" name="Google Shape;289;p21"/>
          <p:cNvPicPr preferRelativeResize="0"/>
          <p:nvPr/>
        </p:nvPicPr>
        <p:blipFill rotWithShape="1">
          <a:blip r:embed="rId3">
            <a:alphaModFix/>
          </a:blip>
          <a:srcRect b="0" l="0" r="0" t="0"/>
          <a:stretch/>
        </p:blipFill>
        <p:spPr>
          <a:xfrm>
            <a:off x="6458496" y="1280071"/>
            <a:ext cx="3520330" cy="4232970"/>
          </a:xfrm>
          <a:prstGeom prst="rect">
            <a:avLst/>
          </a:prstGeom>
          <a:noFill/>
          <a:ln>
            <a:noFill/>
          </a:ln>
        </p:spPr>
      </p:pic>
      <p:sp>
        <p:nvSpPr>
          <p:cNvPr id="290" name="Google Shape;290;p21"/>
          <p:cNvSpPr/>
          <p:nvPr/>
        </p:nvSpPr>
        <p:spPr>
          <a:xfrm>
            <a:off x="6458396" y="5604570"/>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Sakura et al. (2012), Fig. 2a,b. Dorsal-rim occlusion and extradorsal-rim controls.</a:t>
            </a:r>
            <a:endParaRPr sz="1800">
              <a:solidFill>
                <a:schemeClr val="dk1"/>
              </a:solidFill>
              <a:latin typeface="Calibri"/>
              <a:ea typeface="Calibri"/>
              <a:cs typeface="Calibri"/>
              <a:sym typeface="Calibri"/>
            </a:endParaRPr>
          </a:p>
        </p:txBody>
      </p:sp>
      <p:pic>
        <p:nvPicPr>
          <p:cNvPr id="291" name="Google Shape;291;p21"/>
          <p:cNvPicPr preferRelativeResize="0"/>
          <p:nvPr/>
        </p:nvPicPr>
        <p:blipFill rotWithShape="1">
          <a:blip r:embed="rId4">
            <a:alphaModFix/>
          </a:blip>
          <a:srcRect b="0" l="0" r="0" t="0"/>
          <a:stretch/>
        </p:blipFill>
        <p:spPr>
          <a:xfrm>
            <a:off x="10161836" y="2148796"/>
            <a:ext cx="1462980" cy="1396571"/>
          </a:xfrm>
          <a:prstGeom prst="rect">
            <a:avLst/>
          </a:prstGeom>
          <a:noFill/>
          <a:ln>
            <a:noFill/>
          </a:ln>
        </p:spPr>
      </p:pic>
      <p:sp>
        <p:nvSpPr>
          <p:cNvPr id="292" name="Google Shape;292;p21"/>
          <p:cNvSpPr/>
          <p:nvPr/>
        </p:nvSpPr>
        <p:spPr>
          <a:xfrm>
            <a:off x="10161836" y="3618607"/>
            <a:ext cx="1482030" cy="41121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1A–F. Dorsal-rim input reaches dorsal medulla.</a:t>
            </a:r>
            <a:endParaRPr sz="1800">
              <a:solidFill>
                <a:schemeClr val="dk1"/>
              </a:solidFill>
              <a:latin typeface="Calibri"/>
              <a:ea typeface="Calibri"/>
              <a:cs typeface="Calibri"/>
              <a:sym typeface="Calibri"/>
            </a:endParaRPr>
          </a:p>
        </p:txBody>
      </p:sp>
      <p:sp>
        <p:nvSpPr>
          <p:cNvPr id="293" name="Google Shape;293;p21"/>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Sakura et al. (2012); Zeller et al. (2015)</a:t>
            </a:r>
            <a:endParaRPr sz="1800">
              <a:solidFill>
                <a:schemeClr val="dk1"/>
              </a:solidFill>
              <a:latin typeface="Calibri"/>
              <a:ea typeface="Calibri"/>
              <a:cs typeface="Calibri"/>
              <a:sym typeface="Calibri"/>
            </a:endParaRPr>
          </a:p>
        </p:txBody>
      </p:sp>
      <p:sp>
        <p:nvSpPr>
          <p:cNvPr id="295" name="Google Shape;295;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Polarized illumination can label a learned flight route</a:t>
            </a:r>
            <a:endParaRPr sz="1800">
              <a:solidFill>
                <a:schemeClr val="dk1"/>
              </a:solidFill>
              <a:latin typeface="Calibri"/>
              <a:ea typeface="Calibri"/>
              <a:cs typeface="Calibri"/>
              <a:sym typeface="Calibri"/>
            </a:endParaRPr>
          </a:p>
        </p:txBody>
      </p:sp>
      <p:sp>
        <p:nvSpPr>
          <p:cNvPr id="301" name="Google Shape;301;p22"/>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Kraft and colleagues trained bees in a four-tunnel maze with one entrance and three possible exits. Each tunnel was 125 cm long, 11 cm wide and 18 cm high. Polarizing filters above the tunnels specified illumination parallel or perpendicular to the flight axis.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The rewarded exit carried the same relative polarization orientation as the entrance. Incorrect exits offered no reward; during tests, choices were measured without reward. A diffuser prevented a direct view of the sun and obscured overhead landmarks.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preparation asks whether a bee can associate a route with a particular relationship between body axis and e-vector. The angle between the body axis and the e-vector is enough to solve the task. Moving the illumination among exits separates polarization from a learned preference for turning or going straight.</a:t>
            </a:r>
            <a:endParaRPr sz="1800">
              <a:solidFill>
                <a:schemeClr val="dk1"/>
              </a:solidFill>
              <a:latin typeface="Calibri"/>
              <a:ea typeface="Calibri"/>
              <a:cs typeface="Calibri"/>
              <a:sym typeface="Calibri"/>
            </a:endParaRPr>
          </a:p>
        </p:txBody>
      </p:sp>
      <p:pic>
        <p:nvPicPr>
          <p:cNvPr id="304" name="Google Shape;304;p22"/>
          <p:cNvPicPr preferRelativeResize="0"/>
          <p:nvPr/>
        </p:nvPicPr>
        <p:blipFill rotWithShape="1">
          <a:blip r:embed="rId3">
            <a:alphaModFix/>
          </a:blip>
          <a:srcRect b="0" l="0" r="0" t="0"/>
          <a:stretch/>
        </p:blipFill>
        <p:spPr>
          <a:xfrm>
            <a:off x="6458555" y="1280071"/>
            <a:ext cx="5166102" cy="2132112"/>
          </a:xfrm>
          <a:prstGeom prst="rect">
            <a:avLst/>
          </a:prstGeom>
          <a:noFill/>
          <a:ln>
            <a:noFill/>
          </a:ln>
        </p:spPr>
      </p:pic>
      <p:sp>
        <p:nvSpPr>
          <p:cNvPr id="305" name="Google Shape;305;p22"/>
          <p:cNvSpPr/>
          <p:nvPr/>
        </p:nvSpPr>
        <p:spPr>
          <a:xfrm>
            <a:off x="6458396" y="3503712"/>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Kraft et al. (2011), Fig. 1. Four-tunnel polarized-light maze.</a:t>
            </a:r>
            <a:endParaRPr sz="1800">
              <a:solidFill>
                <a:schemeClr val="dk1"/>
              </a:solidFill>
              <a:latin typeface="Calibri"/>
              <a:ea typeface="Calibri"/>
              <a:cs typeface="Calibri"/>
              <a:sym typeface="Calibri"/>
            </a:endParaRPr>
          </a:p>
        </p:txBody>
      </p:sp>
      <p:sp>
        <p:nvSpPr>
          <p:cNvPr id="306" name="Google Shape;306;p22"/>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Kraft et al. (2011)</a:t>
            </a:r>
            <a:endParaRPr sz="1800">
              <a:solidFill>
                <a:schemeClr val="dk1"/>
              </a:solidFill>
              <a:latin typeface="Calibri"/>
              <a:ea typeface="Calibri"/>
              <a:cs typeface="Calibri"/>
              <a:sym typeface="Calibri"/>
            </a:endParaRPr>
          </a:p>
        </p:txBody>
      </p:sp>
      <p:sp>
        <p:nvSpPr>
          <p:cNvPr id="308" name="Google Shape;308;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 name="Shape 312"/>
        <p:cNvGrpSpPr/>
        <p:nvPr/>
      </p:nvGrpSpPr>
      <p:grpSpPr>
        <a:xfrm>
          <a:off x="0" y="0"/>
          <a:ext cx="0" cy="0"/>
          <a:chOff x="0" y="0"/>
          <a:chExt cx="0" cy="0"/>
        </a:xfrm>
      </p:grpSpPr>
      <p:sp>
        <p:nvSpPr>
          <p:cNvPr id="313" name="Google Shape;313;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Route choices combine polarization with learned turns</a:t>
            </a:r>
            <a:endParaRPr sz="1800">
              <a:solidFill>
                <a:schemeClr val="dk1"/>
              </a:solidFill>
              <a:latin typeface="Calibri"/>
              <a:ea typeface="Calibri"/>
              <a:cs typeface="Calibri"/>
              <a:sym typeface="Calibri"/>
            </a:endParaRPr>
          </a:p>
        </p:txBody>
      </p:sp>
      <p:sp>
        <p:nvSpPr>
          <p:cNvPr id="314" name="Google Shape;314;p2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In Kraft and colleagues’ straight-ahead training condition, bees chose the rewarded tunnel on 67% of tests with the original illumination arrangement. Moving the rewarded polarization to the left exit raised left choices from 15% to 28%, but straight-ahead choices remained at 51%.</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In the right-turn training condition, bees chose the rewarded right exit on 74% of tests. When its polarization was moved to the straight-ahead exit, straight-ahead choices reached 56%. Three exits gave a random-choice level of approximately 33%.</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cue relocation changed behavior, but it did not erase the learned route preference uniformly across training conditions. Polarization and motor-route memory can both influence choice. The learned polarization cue is relative to the flight axis, and it combines with the turn made at the exit.</a:t>
            </a:r>
            <a:endParaRPr sz="1800">
              <a:solidFill>
                <a:schemeClr val="dk1"/>
              </a:solidFill>
              <a:latin typeface="Calibri"/>
              <a:ea typeface="Calibri"/>
              <a:cs typeface="Calibri"/>
              <a:sym typeface="Calibri"/>
            </a:endParaRPr>
          </a:p>
        </p:txBody>
      </p:sp>
      <p:pic>
        <p:nvPicPr>
          <p:cNvPr id="317" name="Google Shape;317;p23"/>
          <p:cNvPicPr preferRelativeResize="0"/>
          <p:nvPr/>
        </p:nvPicPr>
        <p:blipFill rotWithShape="1">
          <a:blip r:embed="rId3">
            <a:alphaModFix/>
          </a:blip>
          <a:srcRect b="0" l="0" r="0" t="0"/>
          <a:stretch/>
        </p:blipFill>
        <p:spPr>
          <a:xfrm>
            <a:off x="6458525" y="1280071"/>
            <a:ext cx="5166162" cy="2813745"/>
          </a:xfrm>
          <a:prstGeom prst="rect">
            <a:avLst/>
          </a:prstGeom>
          <a:noFill/>
          <a:ln>
            <a:noFill/>
          </a:ln>
        </p:spPr>
      </p:pic>
      <p:sp>
        <p:nvSpPr>
          <p:cNvPr id="318" name="Google Shape;318;p23"/>
          <p:cNvSpPr/>
          <p:nvPr/>
        </p:nvSpPr>
        <p:spPr>
          <a:xfrm>
            <a:off x="6458396" y="418534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Kraft et al. (2011), Fig. 3a,b. Choices after relocating the rewarded polarization.</a:t>
            </a:r>
            <a:endParaRPr sz="1800">
              <a:solidFill>
                <a:schemeClr val="dk1"/>
              </a:solidFill>
              <a:latin typeface="Calibri"/>
              <a:ea typeface="Calibri"/>
              <a:cs typeface="Calibri"/>
              <a:sym typeface="Calibri"/>
            </a:endParaRPr>
          </a:p>
        </p:txBody>
      </p:sp>
      <p:sp>
        <p:nvSpPr>
          <p:cNvPr id="319" name="Google Shape;319;p23"/>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Kraft et al. (2011)</a:t>
            </a:r>
            <a:endParaRPr sz="1800">
              <a:solidFill>
                <a:schemeClr val="dk1"/>
              </a:solidFill>
              <a:latin typeface="Calibri"/>
              <a:ea typeface="Calibri"/>
              <a:cs typeface="Calibri"/>
              <a:sym typeface="Calibri"/>
            </a:endParaRPr>
          </a:p>
        </p:txBody>
      </p:sp>
      <p:sp>
        <p:nvSpPr>
          <p:cNvPr id="321" name="Google Shape;321;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Polarization orientation changes the direction danced</a:t>
            </a:r>
            <a:endParaRPr sz="1800">
              <a:solidFill>
                <a:schemeClr val="dk1"/>
              </a:solidFill>
              <a:latin typeface="Calibri"/>
              <a:ea typeface="Calibri"/>
              <a:cs typeface="Calibri"/>
              <a:sym typeface="Calibri"/>
            </a:endParaRPr>
          </a:p>
        </p:txBody>
      </p:sp>
      <p:sp>
        <p:nvSpPr>
          <p:cNvPr id="327" name="Google Shape;327;p24"/>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Evangelista and colleagues trained bees through a 12 m textured tunnel covered by ultraviolet-transmitting polarizers and a diffuser. The diffuser removed a direct view of the sun and overhead landmarks, leaving the artificial polarization pattern as the celestial cue.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With transverse polarization, waggle runs clustered along a vertical axis on the comb. With axial polarization, they clustered along a horizontal axis. The reported mean axes were approximately 91.7° and 1.3° relative to horizontal, respectively.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A single e-vector has a 180° ambiguity: the same axis can represent opposite travel directions. Bees advertised both alternatives rather than a unique direction. The experiment links polarized flight input to the communicated direction while distinguishing an axis of possible headings from a fully disambiguated sun-referenced bearing.</a:t>
            </a:r>
            <a:endParaRPr sz="1800">
              <a:solidFill>
                <a:schemeClr val="dk1"/>
              </a:solidFill>
              <a:latin typeface="Calibri"/>
              <a:ea typeface="Calibri"/>
              <a:cs typeface="Calibri"/>
              <a:sym typeface="Calibri"/>
            </a:endParaRPr>
          </a:p>
        </p:txBody>
      </p:sp>
      <p:pic>
        <p:nvPicPr>
          <p:cNvPr id="330" name="Google Shape;330;p24"/>
          <p:cNvPicPr preferRelativeResize="0"/>
          <p:nvPr/>
        </p:nvPicPr>
        <p:blipFill rotWithShape="1">
          <a:blip r:embed="rId3">
            <a:alphaModFix/>
          </a:blip>
          <a:srcRect b="0" l="0" r="0" t="0"/>
          <a:stretch/>
        </p:blipFill>
        <p:spPr>
          <a:xfrm>
            <a:off x="8256592" y="1280071"/>
            <a:ext cx="1570178" cy="2148780"/>
          </a:xfrm>
          <a:prstGeom prst="rect">
            <a:avLst/>
          </a:prstGeom>
          <a:noFill/>
          <a:ln>
            <a:noFill/>
          </a:ln>
        </p:spPr>
      </p:pic>
      <p:sp>
        <p:nvSpPr>
          <p:cNvPr id="331" name="Google Shape;331;p24"/>
          <p:cNvSpPr/>
          <p:nvPr/>
        </p:nvSpPr>
        <p:spPr>
          <a:xfrm>
            <a:off x="6458396" y="352038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Evangelista et al. (2014), Fig. 2a–c. Transverse polarization and vertical dance runs.</a:t>
            </a:r>
            <a:endParaRPr sz="1800">
              <a:solidFill>
                <a:schemeClr val="dk1"/>
              </a:solidFill>
              <a:latin typeface="Calibri"/>
              <a:ea typeface="Calibri"/>
              <a:cs typeface="Calibri"/>
              <a:sym typeface="Calibri"/>
            </a:endParaRPr>
          </a:p>
        </p:txBody>
      </p:sp>
      <p:pic>
        <p:nvPicPr>
          <p:cNvPr id="332" name="Google Shape;332;p24"/>
          <p:cNvPicPr preferRelativeResize="0"/>
          <p:nvPr/>
        </p:nvPicPr>
        <p:blipFill rotWithShape="1">
          <a:blip r:embed="rId4">
            <a:alphaModFix/>
          </a:blip>
          <a:srcRect b="0" l="0" r="0" t="0"/>
          <a:stretch/>
        </p:blipFill>
        <p:spPr>
          <a:xfrm>
            <a:off x="8432506" y="3977580"/>
            <a:ext cx="1218497" cy="1782961"/>
          </a:xfrm>
          <a:prstGeom prst="rect">
            <a:avLst/>
          </a:prstGeom>
          <a:noFill/>
          <a:ln>
            <a:noFill/>
          </a:ln>
        </p:spPr>
      </p:pic>
      <p:sp>
        <p:nvSpPr>
          <p:cNvPr id="333" name="Google Shape;333;p24"/>
          <p:cNvSpPr/>
          <p:nvPr/>
        </p:nvSpPr>
        <p:spPr>
          <a:xfrm>
            <a:off x="6458396" y="583376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Evangelista et al. (2014), Fig. 3a–c. Axial polarization and horizontal dance runs.</a:t>
            </a:r>
            <a:endParaRPr sz="1800">
              <a:solidFill>
                <a:schemeClr val="dk1"/>
              </a:solidFill>
              <a:latin typeface="Calibri"/>
              <a:ea typeface="Calibri"/>
              <a:cs typeface="Calibri"/>
              <a:sym typeface="Calibri"/>
            </a:endParaRPr>
          </a:p>
        </p:txBody>
      </p:sp>
      <p:sp>
        <p:nvSpPr>
          <p:cNvPr id="334" name="Google Shape;334;p24"/>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Evangelista et al. (2014)</a:t>
            </a:r>
            <a:endParaRPr sz="1800">
              <a:solidFill>
                <a:schemeClr val="dk1"/>
              </a:solidFill>
              <a:latin typeface="Calibri"/>
              <a:ea typeface="Calibri"/>
              <a:cs typeface="Calibri"/>
              <a:sym typeface="Calibri"/>
            </a:endParaRPr>
          </a:p>
        </p:txBody>
      </p:sp>
      <p:sp>
        <p:nvSpPr>
          <p:cNvPr id="336" name="Google Shape;336;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polarization switch changes the communicated journey</a:t>
            </a:r>
            <a:endParaRPr sz="1800">
              <a:solidFill>
                <a:schemeClr val="dk1"/>
              </a:solidFill>
              <a:latin typeface="Calibri"/>
              <a:ea typeface="Calibri"/>
              <a:cs typeface="Calibri"/>
              <a:sym typeface="Calibri"/>
            </a:endParaRPr>
          </a:p>
        </p:txBody>
      </p:sp>
      <p:sp>
        <p:nvSpPr>
          <p:cNvPr id="342" name="Google Shape;342;p2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Evangelista and colleagues also changed the polarization axis halfway along the tunnel. The first 6 m and the second 6 m provided perpendicular e-vector orientations, although the physical tunnel itself remained straight.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After the two-segment journey, bees advertised diagonal directions consistent with interpreting a turn between the segments. Their mean waggle duration was shorter than after a tunnel with one uniform polarization axis. The authors related this reduced distance signal to an inferred two-leg displacement.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intervention alters the sensory compass instruction without inserting an actual corner. It supports combination of directional input with a distance estimate when generating the dance. The shorter waggle duration fits a journey whose two legs partly cancel in net displacement.</a:t>
            </a:r>
            <a:endParaRPr sz="1800">
              <a:solidFill>
                <a:schemeClr val="dk1"/>
              </a:solidFill>
              <a:latin typeface="Calibri"/>
              <a:ea typeface="Calibri"/>
              <a:cs typeface="Calibri"/>
              <a:sym typeface="Calibri"/>
            </a:endParaRPr>
          </a:p>
        </p:txBody>
      </p:sp>
      <p:pic>
        <p:nvPicPr>
          <p:cNvPr id="345" name="Google Shape;345;p25"/>
          <p:cNvPicPr preferRelativeResize="0"/>
          <p:nvPr/>
        </p:nvPicPr>
        <p:blipFill rotWithShape="1">
          <a:blip r:embed="rId3">
            <a:alphaModFix/>
          </a:blip>
          <a:srcRect b="0" l="0" r="0" t="0"/>
          <a:stretch/>
        </p:blipFill>
        <p:spPr>
          <a:xfrm>
            <a:off x="6458442" y="1280071"/>
            <a:ext cx="5166328" cy="3647480"/>
          </a:xfrm>
          <a:prstGeom prst="rect">
            <a:avLst/>
          </a:prstGeom>
          <a:noFill/>
          <a:ln>
            <a:noFill/>
          </a:ln>
        </p:spPr>
      </p:pic>
      <p:sp>
        <p:nvSpPr>
          <p:cNvPr id="346" name="Google Shape;346;p25"/>
          <p:cNvSpPr/>
          <p:nvPr/>
        </p:nvSpPr>
        <p:spPr>
          <a:xfrm>
            <a:off x="6458396" y="501908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Evangelista et al. (2014), Fig. 8. Distance signals after switching polarization mid-route.</a:t>
            </a:r>
            <a:endParaRPr sz="1800">
              <a:solidFill>
                <a:schemeClr val="dk1"/>
              </a:solidFill>
              <a:latin typeface="Calibri"/>
              <a:ea typeface="Calibri"/>
              <a:cs typeface="Calibri"/>
              <a:sym typeface="Calibri"/>
            </a:endParaRPr>
          </a:p>
        </p:txBody>
      </p:sp>
      <p:sp>
        <p:nvSpPr>
          <p:cNvPr id="347" name="Google Shape;347;p25"/>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Evangelista et al. (2014)</a:t>
            </a:r>
            <a:endParaRPr sz="1800">
              <a:solidFill>
                <a:schemeClr val="dk1"/>
              </a:solidFill>
              <a:latin typeface="Calibri"/>
              <a:ea typeface="Calibri"/>
              <a:cs typeface="Calibri"/>
              <a:sym typeface="Calibri"/>
            </a:endParaRPr>
          </a:p>
        </p:txBody>
      </p:sp>
      <p:sp>
        <p:nvSpPr>
          <p:cNvPr id="349" name="Google Shape;349;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Partial solar experience supports a coarse compass</a:t>
            </a:r>
            <a:endParaRPr sz="1800">
              <a:solidFill>
                <a:schemeClr val="dk1"/>
              </a:solidFill>
              <a:latin typeface="Calibri"/>
              <a:ea typeface="Calibri"/>
              <a:cs typeface="Calibri"/>
              <a:sym typeface="Calibri"/>
            </a:endParaRPr>
          </a:p>
        </p:txBody>
      </p:sp>
      <p:sp>
        <p:nvSpPr>
          <p:cNvPr id="355" name="Google Shape;355;p26"/>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3F5063"/>
              </a:buClr>
              <a:buSzPts val="1600"/>
              <a:buFont typeface="Arial"/>
              <a:buNone/>
            </a:pPr>
            <a:r>
              <a:rPr b="1" i="0" lang="en-US" sz="1600">
                <a:solidFill>
                  <a:srgbClr val="3F5063"/>
                </a:solidFill>
                <a:latin typeface="Arial"/>
                <a:ea typeface="Arial"/>
                <a:cs typeface="Arial"/>
                <a:sym typeface="Arial"/>
              </a:rPr>
              <a:t>Solar azimuth</a:t>
            </a:r>
            <a:r>
              <a:rPr b="0" i="0" lang="en-US" sz="1600">
                <a:solidFill>
                  <a:srgbClr val="252B32"/>
                </a:solidFill>
                <a:latin typeface="Arial"/>
                <a:ea typeface="Arial"/>
                <a:cs typeface="Arial"/>
                <a:sym typeface="Arial"/>
              </a:rPr>
              <a:t> is the sun’s horizontal bearing; an </a:t>
            </a:r>
            <a:r>
              <a:rPr b="1" i="0" lang="en-US" sz="1600">
                <a:solidFill>
                  <a:srgbClr val="3F5063"/>
                </a:solidFill>
                <a:latin typeface="Arial"/>
                <a:ea typeface="Arial"/>
                <a:cs typeface="Arial"/>
                <a:sym typeface="Arial"/>
              </a:rPr>
              <a:t>ephemeris</a:t>
            </a:r>
            <a:r>
              <a:rPr b="0" i="0" lang="en-US" sz="1600">
                <a:solidFill>
                  <a:srgbClr val="252B32"/>
                </a:solidFill>
                <a:latin typeface="Arial"/>
                <a:ea typeface="Arial"/>
                <a:cs typeface="Arial"/>
                <a:sym typeface="Arial"/>
              </a:rPr>
              <a:t> describes its changing position over the day. Dyer and Dickinson reared bees in an incubator and allowed them to fly outside only during the late afternoon.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On a cloudy test day, these bees flew for the first time during morning and early afternoon. Their dances indicated a morning solar estimate approximately 180° from the evening azimuth they had previously experienced. Around local noon, they switched toward the familiar evening direction.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bees therefore supplied an approximate morning reference without having directly experienced that portion of the sun’s course. The step-like pattern supports a general expectation of daily solar movement refined by experience. Experience at one time of day therefore seeds an expectation about the rest of the sun's course.</a:t>
            </a:r>
            <a:endParaRPr sz="1800">
              <a:solidFill>
                <a:schemeClr val="dk1"/>
              </a:solidFill>
              <a:latin typeface="Calibri"/>
              <a:ea typeface="Calibri"/>
              <a:cs typeface="Calibri"/>
              <a:sym typeface="Calibri"/>
            </a:endParaRPr>
          </a:p>
        </p:txBody>
      </p:sp>
      <p:pic>
        <p:nvPicPr>
          <p:cNvPr id="358" name="Google Shape;358;p26"/>
          <p:cNvPicPr preferRelativeResize="0"/>
          <p:nvPr/>
        </p:nvPicPr>
        <p:blipFill rotWithShape="1">
          <a:blip r:embed="rId3">
            <a:alphaModFix/>
          </a:blip>
          <a:srcRect b="0" l="0" r="0" t="0"/>
          <a:stretch/>
        </p:blipFill>
        <p:spPr>
          <a:xfrm>
            <a:off x="6532888" y="1280071"/>
            <a:ext cx="5017735" cy="4297561"/>
          </a:xfrm>
          <a:prstGeom prst="rect">
            <a:avLst/>
          </a:prstGeom>
          <a:noFill/>
          <a:ln>
            <a:noFill/>
          </a:ln>
        </p:spPr>
      </p:pic>
      <p:sp>
        <p:nvSpPr>
          <p:cNvPr id="359" name="Google Shape;359;p26"/>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Dyer &amp; Dickinson (1994), Fig. 2A. Solar estimates after afternoon-only experience.</a:t>
            </a:r>
            <a:endParaRPr sz="1800">
              <a:solidFill>
                <a:schemeClr val="dk1"/>
              </a:solidFill>
              <a:latin typeface="Calibri"/>
              <a:ea typeface="Calibri"/>
              <a:cs typeface="Calibri"/>
              <a:sym typeface="Calibri"/>
            </a:endParaRPr>
          </a:p>
        </p:txBody>
      </p:sp>
      <p:sp>
        <p:nvSpPr>
          <p:cNvPr id="360" name="Google Shape;360;p26"/>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Dyer &amp; Dickinson (1994)</a:t>
            </a:r>
            <a:endParaRPr sz="1800">
              <a:solidFill>
                <a:schemeClr val="dk1"/>
              </a:solidFill>
              <a:latin typeface="Calibri"/>
              <a:ea typeface="Calibri"/>
              <a:cs typeface="Calibri"/>
              <a:sym typeface="Calibri"/>
            </a:endParaRPr>
          </a:p>
        </p:txBody>
      </p:sp>
      <p:sp>
        <p:nvSpPr>
          <p:cNvPr id="362" name="Google Shape;362;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6" name="Shape 366"/>
        <p:cNvGrpSpPr/>
        <p:nvPr/>
      </p:nvGrpSpPr>
      <p:grpSpPr>
        <a:xfrm>
          <a:off x="0" y="0"/>
          <a:ext cx="0" cy="0"/>
          <a:chOff x="0" y="0"/>
          <a:chExt cx="0" cy="0"/>
        </a:xfrm>
      </p:grpSpPr>
      <p:sp>
        <p:nvSpPr>
          <p:cNvPr id="367" name="Google Shape;367;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Full-day experience refines the learned solar course</a:t>
            </a:r>
            <a:endParaRPr sz="1800">
              <a:solidFill>
                <a:schemeClr val="dk1"/>
              </a:solidFill>
              <a:latin typeface="Calibri"/>
              <a:ea typeface="Calibri"/>
              <a:cs typeface="Calibri"/>
              <a:sym typeface="Calibri"/>
            </a:endParaRPr>
          </a:p>
        </p:txBody>
      </p:sp>
      <p:sp>
        <p:nvSpPr>
          <p:cNvPr id="368" name="Google Shape;368;p27"/>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Dyer and Dickinson compared experience-restricted bees with bees that had previously flown throughout the day. Both groups were tested under a cloudy sky, so current direct sight of the sun could not explain the difference in their dance orientations.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Fully experienced bees’ solar estimates followed the continuously changing local sun course more closely. Bees with afternoon-only experience instead used the coarse morning–afternoon pattern. The comparison separates a broad expectation about solar movement from its more precise local calibration.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sun’s horizontal bearing changes at a variable rate with time, latitude and season; a universal constant angular-rate correction is insufficient. Experience improves the temporal reference used for navigation. Fully experienced bees therefore calibrate the local solar course across the day, while afternoon-only bees retain the coarse pattern.</a:t>
            </a:r>
            <a:endParaRPr sz="1800">
              <a:solidFill>
                <a:schemeClr val="dk1"/>
              </a:solidFill>
              <a:latin typeface="Calibri"/>
              <a:ea typeface="Calibri"/>
              <a:cs typeface="Calibri"/>
              <a:sym typeface="Calibri"/>
            </a:endParaRPr>
          </a:p>
        </p:txBody>
      </p:sp>
      <p:pic>
        <p:nvPicPr>
          <p:cNvPr id="371" name="Google Shape;371;p27"/>
          <p:cNvPicPr preferRelativeResize="0"/>
          <p:nvPr/>
        </p:nvPicPr>
        <p:blipFill rotWithShape="1">
          <a:blip r:embed="rId3">
            <a:alphaModFix/>
          </a:blip>
          <a:srcRect b="0" l="0" r="0" t="0"/>
          <a:stretch/>
        </p:blipFill>
        <p:spPr>
          <a:xfrm>
            <a:off x="6488592" y="1280071"/>
            <a:ext cx="5106327" cy="4297561"/>
          </a:xfrm>
          <a:prstGeom prst="rect">
            <a:avLst/>
          </a:prstGeom>
          <a:noFill/>
          <a:ln>
            <a:noFill/>
          </a:ln>
        </p:spPr>
      </p:pic>
      <p:sp>
        <p:nvSpPr>
          <p:cNvPr id="372" name="Google Shape;372;p27"/>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Dyer &amp; Dickinson (1994), Fig. 2B. Experienced bees track the sun under cloud cover.</a:t>
            </a:r>
            <a:endParaRPr sz="1800">
              <a:solidFill>
                <a:schemeClr val="dk1"/>
              </a:solidFill>
              <a:latin typeface="Calibri"/>
              <a:ea typeface="Calibri"/>
              <a:cs typeface="Calibri"/>
              <a:sym typeface="Calibri"/>
            </a:endParaRPr>
          </a:p>
        </p:txBody>
      </p:sp>
      <p:sp>
        <p:nvSpPr>
          <p:cNvPr id="373" name="Google Shape;373;p27"/>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Dyer &amp; Dickinson (1994)</a:t>
            </a:r>
            <a:endParaRPr sz="1800">
              <a:solidFill>
                <a:schemeClr val="dk1"/>
              </a:solidFill>
              <a:latin typeface="Calibri"/>
              <a:ea typeface="Calibri"/>
              <a:cs typeface="Calibri"/>
              <a:sym typeface="Calibri"/>
            </a:endParaRPr>
          </a:p>
        </p:txBody>
      </p:sp>
      <p:sp>
        <p:nvSpPr>
          <p:cNvPr id="375" name="Google Shape;375;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9" name="Shape 379"/>
        <p:cNvGrpSpPr/>
        <p:nvPr/>
      </p:nvGrpSpPr>
      <p:grpSpPr>
        <a:xfrm>
          <a:off x="0" y="0"/>
          <a:ext cx="0" cy="0"/>
          <a:chOff x="0" y="0"/>
          <a:chExt cx="0" cy="0"/>
        </a:xfrm>
      </p:grpSpPr>
      <p:sp>
        <p:nvSpPr>
          <p:cNvPr id="380" name="Google Shape;380;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Clock disruption shifts sun-compass flight bearings</a:t>
            </a:r>
            <a:endParaRPr sz="1800">
              <a:solidFill>
                <a:schemeClr val="dk1"/>
              </a:solidFill>
              <a:latin typeface="Calibri"/>
              <a:ea typeface="Calibri"/>
              <a:cs typeface="Calibri"/>
              <a:sym typeface="Calibri"/>
            </a:endParaRPr>
          </a:p>
        </p:txBody>
      </p:sp>
      <p:sp>
        <p:nvSpPr>
          <p:cNvPr id="381" name="Google Shape;381;p28"/>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A </a:t>
            </a:r>
            <a:r>
              <a:rPr b="1" i="0" lang="en-US" sz="1600">
                <a:solidFill>
                  <a:srgbClr val="3F5063"/>
                </a:solidFill>
                <a:latin typeface="Arial"/>
                <a:ea typeface="Arial"/>
                <a:cs typeface="Arial"/>
                <a:sym typeface="Arial"/>
              </a:rPr>
              <a:t>circadian clock</a:t>
            </a:r>
            <a:r>
              <a:rPr b="0" i="0" lang="en-US" sz="1600">
                <a:solidFill>
                  <a:srgbClr val="252B32"/>
                </a:solidFill>
                <a:latin typeface="Arial"/>
                <a:ea typeface="Arial"/>
                <a:cs typeface="Arial"/>
                <a:sym typeface="Arial"/>
              </a:rPr>
              <a:t> is an internal timing system with an approximately daily cycle. Cheeseman and colleagues used 2% isoflurane anesthesia to perturb this timing system and tested subsequent sun-compass homing.</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In the Southern Hemisphere, bees trained to a feeder 100 m from the hive were transported 6 km into unfamiliar terrain. Six-hour anesthesia produced an approximately 87° anticlockwise shift in vanishing bearing relative to a 30-min anesthetic control. A vanishing bearing is the direction at which a departing bee leaves the observer’s view.</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A time error predicts a directional error because solar bearing depends on time of day. The anticlockwise shift after six-hour anesthesia fits a clock that was delayed, since the compass bearing is computed from the time of day.</a:t>
            </a:r>
            <a:endParaRPr sz="1800">
              <a:solidFill>
                <a:schemeClr val="dk1"/>
              </a:solidFill>
              <a:latin typeface="Calibri"/>
              <a:ea typeface="Calibri"/>
              <a:cs typeface="Calibri"/>
              <a:sym typeface="Calibri"/>
            </a:endParaRPr>
          </a:p>
        </p:txBody>
      </p:sp>
      <p:pic>
        <p:nvPicPr>
          <p:cNvPr id="384" name="Google Shape;384;p28"/>
          <p:cNvPicPr preferRelativeResize="0"/>
          <p:nvPr/>
        </p:nvPicPr>
        <p:blipFill rotWithShape="1">
          <a:blip r:embed="rId3">
            <a:alphaModFix/>
          </a:blip>
          <a:srcRect b="0" l="0" r="0" t="0"/>
          <a:stretch/>
        </p:blipFill>
        <p:spPr>
          <a:xfrm>
            <a:off x="6458477" y="1280071"/>
            <a:ext cx="5166259" cy="3878312"/>
          </a:xfrm>
          <a:prstGeom prst="rect">
            <a:avLst/>
          </a:prstGeom>
          <a:noFill/>
          <a:ln>
            <a:noFill/>
          </a:ln>
        </p:spPr>
      </p:pic>
      <p:sp>
        <p:nvSpPr>
          <p:cNvPr id="385" name="Google Shape;385;p28"/>
          <p:cNvSpPr/>
          <p:nvPr/>
        </p:nvSpPr>
        <p:spPr>
          <a:xfrm>
            <a:off x="6458396" y="5249912"/>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Cheeseman et al. (2012), Fig. 1. Anesthesia shifts Southern Hemisphere bearings.</a:t>
            </a:r>
            <a:endParaRPr sz="1800">
              <a:solidFill>
                <a:schemeClr val="dk1"/>
              </a:solidFill>
              <a:latin typeface="Calibri"/>
              <a:ea typeface="Calibri"/>
              <a:cs typeface="Calibri"/>
              <a:sym typeface="Calibri"/>
            </a:endParaRPr>
          </a:p>
        </p:txBody>
      </p:sp>
      <p:sp>
        <p:nvSpPr>
          <p:cNvPr id="386" name="Google Shape;386;p28"/>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Cheeseman et al. (2012)</a:t>
            </a:r>
            <a:endParaRPr sz="1800">
              <a:solidFill>
                <a:schemeClr val="dk1"/>
              </a:solidFill>
              <a:latin typeface="Calibri"/>
              <a:ea typeface="Calibri"/>
              <a:cs typeface="Calibri"/>
              <a:sym typeface="Calibri"/>
            </a:endParaRPr>
          </a:p>
        </p:txBody>
      </p:sp>
      <p:sp>
        <p:nvSpPr>
          <p:cNvPr id="388" name="Google Shape;388;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2" name="Shape 392"/>
        <p:cNvGrpSpPr/>
        <p:nvPr/>
      </p:nvGrpSpPr>
      <p:grpSpPr>
        <a:xfrm>
          <a:off x="0" y="0"/>
          <a:ext cx="0" cy="0"/>
          <a:chOff x="0" y="0"/>
          <a:chExt cx="0" cy="0"/>
        </a:xfrm>
      </p:grpSpPr>
      <p:sp>
        <p:nvSpPr>
          <p:cNvPr id="393" name="Google Shape;393;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The opposite hemisphere reverses the directional error</a:t>
            </a:r>
            <a:endParaRPr sz="1800">
              <a:solidFill>
                <a:schemeClr val="dk1"/>
              </a:solidFill>
              <a:latin typeface="Calibri"/>
              <a:ea typeface="Calibri"/>
              <a:cs typeface="Calibri"/>
              <a:sym typeface="Calibri"/>
            </a:endParaRPr>
          </a:p>
        </p:txBody>
      </p:sp>
      <p:sp>
        <p:nvSpPr>
          <p:cNvPr id="394" name="Google Shape;394;p29"/>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Cheeseman and colleagues repeated the navigation test in the Northern Hemisphere using harmonic radar. Bees trained to a feeder 300 m from the hive were displaced 500 m before release, allowing the initial homeward vector flight to be separated from later correction.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Six-hour anesthesia shifted the initial vector approximately 58° clockwise relative to the 30-min control. Unanesthetized catch-and-release bees provided another handling comparison. The direction of the error was opposite to the Southern Hemisphere result, as expected from the different solar course.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hemisphere comparison links the behavioral error to sun-compass timing rather than to a fixed tendency to turn left or right after treatment. The sun moves in opposite rotational senses in the two hemispheres, so a delayed clock produces opposite errors. The measured trajectory documents an altered initial compass instruction.</a:t>
            </a:r>
            <a:endParaRPr sz="1800">
              <a:solidFill>
                <a:schemeClr val="dk1"/>
              </a:solidFill>
              <a:latin typeface="Calibri"/>
              <a:ea typeface="Calibri"/>
              <a:cs typeface="Calibri"/>
              <a:sym typeface="Calibri"/>
            </a:endParaRPr>
          </a:p>
        </p:txBody>
      </p:sp>
      <p:pic>
        <p:nvPicPr>
          <p:cNvPr id="397" name="Google Shape;397;p29"/>
          <p:cNvPicPr preferRelativeResize="0"/>
          <p:nvPr/>
        </p:nvPicPr>
        <p:blipFill rotWithShape="1">
          <a:blip r:embed="rId3">
            <a:alphaModFix/>
          </a:blip>
          <a:srcRect b="0" l="0" r="0" t="0"/>
          <a:stretch/>
        </p:blipFill>
        <p:spPr>
          <a:xfrm>
            <a:off x="6458480" y="1280071"/>
            <a:ext cx="5166252" cy="2928640"/>
          </a:xfrm>
          <a:prstGeom prst="rect">
            <a:avLst/>
          </a:prstGeom>
          <a:noFill/>
          <a:ln>
            <a:noFill/>
          </a:ln>
        </p:spPr>
      </p:pic>
      <p:sp>
        <p:nvSpPr>
          <p:cNvPr id="398" name="Google Shape;398;p29"/>
          <p:cNvSpPr/>
          <p:nvPr/>
        </p:nvSpPr>
        <p:spPr>
          <a:xfrm>
            <a:off x="6458396" y="430024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Cheeseman et al. (2012), Fig. 2A,B. Northern Hemisphere tracks after clock disruption.</a:t>
            </a:r>
            <a:endParaRPr sz="1800">
              <a:solidFill>
                <a:schemeClr val="dk1"/>
              </a:solidFill>
              <a:latin typeface="Calibri"/>
              <a:ea typeface="Calibri"/>
              <a:cs typeface="Calibri"/>
              <a:sym typeface="Calibri"/>
            </a:endParaRPr>
          </a:p>
        </p:txBody>
      </p:sp>
      <p:sp>
        <p:nvSpPr>
          <p:cNvPr id="399" name="Google Shape;399;p29"/>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Cheeseman et al. (2012)</a:t>
            </a:r>
            <a:endParaRPr sz="1800">
              <a:solidFill>
                <a:schemeClr val="dk1"/>
              </a:solidFill>
              <a:latin typeface="Calibri"/>
              <a:ea typeface="Calibri"/>
              <a:cs typeface="Calibri"/>
              <a:sym typeface="Calibri"/>
            </a:endParaRPr>
          </a:p>
        </p:txBody>
      </p:sp>
      <p:sp>
        <p:nvSpPr>
          <p:cNvPr id="401" name="Google Shape;401;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sp>
        <p:nvSpPr>
          <p:cNvPr id="406" name="Google Shape;406;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Anesthesia changes molecular-clock phase</a:t>
            </a:r>
            <a:endParaRPr sz="1800">
              <a:solidFill>
                <a:schemeClr val="dk1"/>
              </a:solidFill>
              <a:latin typeface="Calibri"/>
              <a:ea typeface="Calibri"/>
              <a:cs typeface="Calibri"/>
              <a:sym typeface="Calibri"/>
            </a:endParaRPr>
          </a:p>
        </p:txBody>
      </p:sp>
      <p:sp>
        <p:nvSpPr>
          <p:cNvPr id="407" name="Google Shape;407;p30"/>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Cheeseman and colleagues measured hive activity under constant dim light, removing ordinary day–night transitions as the immediate cause of a shifted rhythm. Daytime six-hour anesthesia delayed daily activity and altered rhythmic gene expression in sampled bee brains.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The reported phase delays were 4.9 h for mammalian-type </a:t>
            </a:r>
            <a:r>
              <a:rPr b="1" i="0" lang="en-US" sz="1600">
                <a:solidFill>
                  <a:srgbClr val="3F5063"/>
                </a:solidFill>
                <a:latin typeface="Arial"/>
                <a:ea typeface="Arial"/>
                <a:cs typeface="Arial"/>
                <a:sym typeface="Arial"/>
              </a:rPr>
              <a:t>cryptochrome</a:t>
            </a:r>
            <a:r>
              <a:rPr b="0" i="0" lang="en-US" sz="1600">
                <a:solidFill>
                  <a:srgbClr val="252B32"/>
                </a:solidFill>
                <a:latin typeface="Arial"/>
                <a:ea typeface="Arial"/>
                <a:cs typeface="Arial"/>
                <a:sym typeface="Arial"/>
              </a:rPr>
              <a:t> messenger RNA and 4.3 h for </a:t>
            </a:r>
            <a:r>
              <a:rPr b="1" i="0" lang="en-US" sz="1600">
                <a:solidFill>
                  <a:srgbClr val="3F5063"/>
                </a:solidFill>
                <a:latin typeface="Arial"/>
                <a:ea typeface="Arial"/>
                <a:cs typeface="Arial"/>
                <a:sym typeface="Arial"/>
              </a:rPr>
              <a:t>period</a:t>
            </a:r>
            <a:r>
              <a:rPr b="0" i="0" lang="en-US" sz="1600">
                <a:solidFill>
                  <a:srgbClr val="252B32"/>
                </a:solidFill>
                <a:latin typeface="Arial"/>
                <a:ea typeface="Arial"/>
                <a:cs typeface="Arial"/>
                <a:sym typeface="Arial"/>
              </a:rPr>
              <a:t> messenger RNA. Messenger RNA is the transcript used to produce a gene’s protein. The sampled hive’s activity phase shifted by 5.3 h, while </a:t>
            </a:r>
            <a:r>
              <a:rPr b="1" i="0" lang="en-US" sz="1600">
                <a:solidFill>
                  <a:srgbClr val="3F5063"/>
                </a:solidFill>
                <a:latin typeface="Arial"/>
                <a:ea typeface="Arial"/>
                <a:cs typeface="Arial"/>
                <a:sym typeface="Arial"/>
              </a:rPr>
              <a:t>clock</a:t>
            </a:r>
            <a:r>
              <a:rPr b="0" i="0" lang="en-US" sz="1600">
                <a:solidFill>
                  <a:srgbClr val="252B32"/>
                </a:solidFill>
                <a:latin typeface="Arial"/>
                <a:ea typeface="Arial"/>
                <a:cs typeface="Arial"/>
                <a:sym typeface="Arial"/>
              </a:rPr>
              <a:t> expression remained broadly constitutive.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Six-hour anesthesia during subjective night did not produce the same delay. This time-dependent effect supports disturbance of the circadian oscillator rather than a literal six-hour pause in all behavior. Anesthesia therefore shifts the phase of the clock when it is given in the daytime, and the change in gene expression parallels the change in hive activity.</a:t>
            </a:r>
            <a:endParaRPr sz="1800">
              <a:solidFill>
                <a:schemeClr val="dk1"/>
              </a:solidFill>
              <a:latin typeface="Calibri"/>
              <a:ea typeface="Calibri"/>
              <a:cs typeface="Calibri"/>
              <a:sym typeface="Calibri"/>
            </a:endParaRPr>
          </a:p>
        </p:txBody>
      </p:sp>
      <p:pic>
        <p:nvPicPr>
          <p:cNvPr id="410" name="Google Shape;410;p30"/>
          <p:cNvPicPr preferRelativeResize="0"/>
          <p:nvPr/>
        </p:nvPicPr>
        <p:blipFill rotWithShape="1">
          <a:blip r:embed="rId3">
            <a:alphaModFix/>
          </a:blip>
          <a:srcRect b="0" l="0" r="0" t="0"/>
          <a:stretch/>
        </p:blipFill>
        <p:spPr>
          <a:xfrm>
            <a:off x="7441183" y="1280071"/>
            <a:ext cx="3201294" cy="4297561"/>
          </a:xfrm>
          <a:prstGeom prst="rect">
            <a:avLst/>
          </a:prstGeom>
          <a:noFill/>
          <a:ln>
            <a:noFill/>
          </a:ln>
        </p:spPr>
      </p:pic>
      <p:sp>
        <p:nvSpPr>
          <p:cNvPr id="411" name="Google Shape;411;p30"/>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Cheeseman et al. (2012), Fig. 4A–D. Activity rhythms and clock-gene expression.</a:t>
            </a:r>
            <a:endParaRPr sz="1800">
              <a:solidFill>
                <a:schemeClr val="dk1"/>
              </a:solidFill>
              <a:latin typeface="Calibri"/>
              <a:ea typeface="Calibri"/>
              <a:cs typeface="Calibri"/>
              <a:sym typeface="Calibri"/>
            </a:endParaRPr>
          </a:p>
        </p:txBody>
      </p:sp>
      <p:sp>
        <p:nvSpPr>
          <p:cNvPr id="412" name="Google Shape;412;p30"/>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Cheeseman et al. (2012)</a:t>
            </a:r>
            <a:endParaRPr sz="1800">
              <a:solidFill>
                <a:schemeClr val="dk1"/>
              </a:solidFill>
              <a:latin typeface="Calibri"/>
              <a:ea typeface="Calibri"/>
              <a:cs typeface="Calibri"/>
              <a:sym typeface="Calibri"/>
            </a:endParaRPr>
          </a:p>
        </p:txBody>
      </p:sp>
      <p:sp>
        <p:nvSpPr>
          <p:cNvPr id="414" name="Google Shape;414;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8" name="Shape 418"/>
        <p:cNvGrpSpPr/>
        <p:nvPr/>
      </p:nvGrpSpPr>
      <p:grpSpPr>
        <a:xfrm>
          <a:off x="0" y="0"/>
          <a:ext cx="0" cy="0"/>
          <a:chOff x="0" y="0"/>
          <a:chExt cx="0" cy="0"/>
        </a:xfrm>
      </p:grpSpPr>
      <p:sp>
        <p:nvSpPr>
          <p:cNvPr id="419" name="Google Shape;419;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Dorsal-rim afferents reach a specialized medulla region</a:t>
            </a:r>
            <a:endParaRPr sz="1800">
              <a:solidFill>
                <a:schemeClr val="dk1"/>
              </a:solidFill>
              <a:latin typeface="Calibri"/>
              <a:ea typeface="Calibri"/>
              <a:cs typeface="Calibri"/>
              <a:sym typeface="Calibri"/>
            </a:endParaRPr>
          </a:p>
        </p:txBody>
      </p:sp>
      <p:sp>
        <p:nvSpPr>
          <p:cNvPr id="420" name="Google Shape;420;p31"/>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Zeller and colleagues injected fluorescent tracers into the dorsal rim of the honeybee eye and labeled surrounding neuropil. </a:t>
            </a:r>
            <a:r>
              <a:rPr b="1" i="0" lang="en-US" sz="1600">
                <a:solidFill>
                  <a:srgbClr val="3F5063"/>
                </a:solidFill>
                <a:latin typeface="Arial"/>
                <a:ea typeface="Arial"/>
                <a:cs typeface="Arial"/>
                <a:sym typeface="Arial"/>
              </a:rPr>
              <a:t>Neuropil</a:t>
            </a:r>
            <a:r>
              <a:rPr b="0" i="0" lang="en-US" sz="1600">
                <a:solidFill>
                  <a:srgbClr val="252B32"/>
                </a:solidFill>
                <a:latin typeface="Arial"/>
                <a:ea typeface="Arial"/>
                <a:cs typeface="Arial"/>
                <a:sym typeface="Arial"/>
              </a:rPr>
              <a:t> is tissue containing interwoven neuronal branches and synapses. The medulla is a visual-processing region within the optic lobe.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Dorsal-rim input reached a distinct dorsal-medulla compartment called the </a:t>
            </a:r>
            <a:r>
              <a:rPr b="1" i="0" lang="en-US" sz="1600">
                <a:solidFill>
                  <a:srgbClr val="3F5063"/>
                </a:solidFill>
                <a:latin typeface="Arial"/>
                <a:ea typeface="Arial"/>
                <a:cs typeface="Arial"/>
                <a:sym typeface="Arial"/>
              </a:rPr>
              <a:t>MEDRA</a:t>
            </a:r>
            <a:r>
              <a:rPr b="0" i="0" lang="en-US" sz="1600">
                <a:solidFill>
                  <a:srgbClr val="252B32"/>
                </a:solidFill>
                <a:latin typeface="Arial"/>
                <a:ea typeface="Arial"/>
                <a:cs typeface="Arial"/>
                <a:sym typeface="Arial"/>
              </a:rPr>
              <a:t>. Complementary injections into other pathway regions and synapsin labeling distinguished this compartment from neighboring medulla. The published micrographs preserve anatomical orientation and micrometer scale bars.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This tracing identifies an entry pathway for polarization-associated visual input. Sakura's regional-occlusion experiment showed that the dorsal rim is needed for e-vector learning, and the tracing locates where its input terminates in the medulla.</a:t>
            </a:r>
            <a:endParaRPr sz="1800">
              <a:solidFill>
                <a:schemeClr val="dk1"/>
              </a:solidFill>
              <a:latin typeface="Calibri"/>
              <a:ea typeface="Calibri"/>
              <a:cs typeface="Calibri"/>
              <a:sym typeface="Calibri"/>
            </a:endParaRPr>
          </a:p>
        </p:txBody>
      </p:sp>
      <p:pic>
        <p:nvPicPr>
          <p:cNvPr id="423" name="Google Shape;423;p31"/>
          <p:cNvPicPr preferRelativeResize="0"/>
          <p:nvPr/>
        </p:nvPicPr>
        <p:blipFill rotWithShape="1">
          <a:blip r:embed="rId3">
            <a:alphaModFix/>
          </a:blip>
          <a:srcRect b="0" l="0" r="0" t="0"/>
          <a:stretch/>
        </p:blipFill>
        <p:spPr>
          <a:xfrm>
            <a:off x="6790797" y="1280071"/>
            <a:ext cx="4501916" cy="4297561"/>
          </a:xfrm>
          <a:prstGeom prst="rect">
            <a:avLst/>
          </a:prstGeom>
          <a:noFill/>
          <a:ln>
            <a:noFill/>
          </a:ln>
        </p:spPr>
      </p:pic>
      <p:sp>
        <p:nvSpPr>
          <p:cNvPr id="424" name="Google Shape;424;p31"/>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1A–F. Dorsal-rim input reaches dorsal medulla.</a:t>
            </a:r>
            <a:endParaRPr sz="1800">
              <a:solidFill>
                <a:schemeClr val="dk1"/>
              </a:solidFill>
              <a:latin typeface="Calibri"/>
              <a:ea typeface="Calibri"/>
              <a:cs typeface="Calibri"/>
              <a:sym typeface="Calibri"/>
            </a:endParaRPr>
          </a:p>
        </p:txBody>
      </p:sp>
      <p:sp>
        <p:nvSpPr>
          <p:cNvPr id="425" name="Google Shape;425;p31"/>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Zeller et al. (2015); Sakura et al. (2012)</a:t>
            </a:r>
            <a:endParaRPr sz="1800">
              <a:solidFill>
                <a:schemeClr val="dk1"/>
              </a:solidFill>
              <a:latin typeface="Calibri"/>
              <a:ea typeface="Calibri"/>
              <a:cs typeface="Calibri"/>
              <a:sym typeface="Calibri"/>
            </a:endParaRPr>
          </a:p>
        </p:txBody>
      </p:sp>
      <p:sp>
        <p:nvSpPr>
          <p:cNvPr id="427" name="Google Shape;427;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Transmedulla neurons relay dorsal visual input medially</a:t>
            </a:r>
            <a:endParaRPr sz="1800">
              <a:solidFill>
                <a:schemeClr val="dk1"/>
              </a:solidFill>
              <a:latin typeface="Calibri"/>
              <a:ea typeface="Calibri"/>
              <a:cs typeface="Calibri"/>
              <a:sym typeface="Calibri"/>
            </a:endParaRPr>
          </a:p>
        </p:txBody>
      </p:sp>
      <p:sp>
        <p:nvSpPr>
          <p:cNvPr id="433" name="Google Shape;433;p32"/>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Zeller and colleagues traced </a:t>
            </a:r>
            <a:r>
              <a:rPr b="1" i="0" lang="en-US" sz="1500">
                <a:solidFill>
                  <a:srgbClr val="3F5063"/>
                </a:solidFill>
                <a:latin typeface="Arial"/>
                <a:ea typeface="Arial"/>
                <a:cs typeface="Arial"/>
                <a:sym typeface="Arial"/>
              </a:rPr>
              <a:t>transmedulla neurons</a:t>
            </a:r>
            <a:r>
              <a:rPr b="0" i="0" lang="en-US" sz="1500">
                <a:solidFill>
                  <a:srgbClr val="252B32"/>
                </a:solidFill>
                <a:latin typeface="Arial"/>
                <a:ea typeface="Arial"/>
                <a:cs typeface="Arial"/>
                <a:sym typeface="Arial"/>
              </a:rPr>
              <a:t>, cells whose branches cross the medulla from the dorsal-rim-associated input compartment toward more medial brain regions. Dye injections from different locations provided complementary views of their branching pattern.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These neurons arborized in the MEDRA and extended through a defined medulla layer. Their medial projections reached the lower-unit complex of the </a:t>
            </a:r>
            <a:r>
              <a:rPr b="1" i="0" lang="en-US" sz="1500">
                <a:solidFill>
                  <a:srgbClr val="3F5063"/>
                </a:solidFill>
                <a:latin typeface="Arial"/>
                <a:ea typeface="Arial"/>
                <a:cs typeface="Arial"/>
                <a:sym typeface="Arial"/>
              </a:rPr>
              <a:t>anterior optic tubercle</a:t>
            </a:r>
            <a:r>
              <a:rPr b="0" i="0" lang="en-US" sz="1500">
                <a:solidFill>
                  <a:srgbClr val="252B32"/>
                </a:solidFill>
                <a:latin typeface="Arial"/>
                <a:ea typeface="Arial"/>
                <a:cs typeface="Arial"/>
                <a:sym typeface="Arial"/>
              </a:rPr>
              <a:t>, a visual-processing center outside the optic lobe. Fine terminal morphology distinguished plausible input and output portions of the pathway.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The ordered projection provides an anatomical route from specialized eye input toward central compass circuitry. The tubercle is the next processing center along the route, and from there the pathway continues to the bulbs and the central body.</a:t>
            </a:r>
            <a:endParaRPr sz="1800">
              <a:solidFill>
                <a:schemeClr val="dk1"/>
              </a:solidFill>
              <a:latin typeface="Calibri"/>
              <a:ea typeface="Calibri"/>
              <a:cs typeface="Calibri"/>
              <a:sym typeface="Calibri"/>
            </a:endParaRPr>
          </a:p>
        </p:txBody>
      </p:sp>
      <p:pic>
        <p:nvPicPr>
          <p:cNvPr id="436" name="Google Shape;436;p32"/>
          <p:cNvPicPr preferRelativeResize="0"/>
          <p:nvPr/>
        </p:nvPicPr>
        <p:blipFill rotWithShape="1">
          <a:blip r:embed="rId3">
            <a:alphaModFix/>
          </a:blip>
          <a:srcRect b="0" l="0" r="0" t="0"/>
          <a:stretch/>
        </p:blipFill>
        <p:spPr>
          <a:xfrm>
            <a:off x="7770063" y="1280071"/>
            <a:ext cx="2543384" cy="2148780"/>
          </a:xfrm>
          <a:prstGeom prst="rect">
            <a:avLst/>
          </a:prstGeom>
          <a:noFill/>
          <a:ln>
            <a:noFill/>
          </a:ln>
        </p:spPr>
      </p:pic>
      <p:sp>
        <p:nvSpPr>
          <p:cNvPr id="437" name="Google Shape;437;p32"/>
          <p:cNvSpPr/>
          <p:nvPr/>
        </p:nvSpPr>
        <p:spPr>
          <a:xfrm>
            <a:off x="6458396" y="352038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2A–F. Transmedulla neuron branches and medial projections.</a:t>
            </a:r>
            <a:endParaRPr sz="1800">
              <a:solidFill>
                <a:schemeClr val="dk1"/>
              </a:solidFill>
              <a:latin typeface="Calibri"/>
              <a:ea typeface="Calibri"/>
              <a:cs typeface="Calibri"/>
              <a:sym typeface="Calibri"/>
            </a:endParaRPr>
          </a:p>
        </p:txBody>
      </p:sp>
      <p:pic>
        <p:nvPicPr>
          <p:cNvPr id="438" name="Google Shape;438;p32"/>
          <p:cNvPicPr preferRelativeResize="0"/>
          <p:nvPr/>
        </p:nvPicPr>
        <p:blipFill rotWithShape="1">
          <a:blip r:embed="rId4">
            <a:alphaModFix/>
          </a:blip>
          <a:srcRect b="0" l="0" r="0" t="0"/>
          <a:stretch/>
        </p:blipFill>
        <p:spPr>
          <a:xfrm>
            <a:off x="7989169" y="3977580"/>
            <a:ext cx="2105320" cy="1782961"/>
          </a:xfrm>
          <a:prstGeom prst="rect">
            <a:avLst/>
          </a:prstGeom>
          <a:noFill/>
          <a:ln>
            <a:noFill/>
          </a:ln>
        </p:spPr>
      </p:pic>
      <p:sp>
        <p:nvSpPr>
          <p:cNvPr id="439" name="Google Shape;439;p32"/>
          <p:cNvSpPr/>
          <p:nvPr/>
        </p:nvSpPr>
        <p:spPr>
          <a:xfrm>
            <a:off x="6458396" y="583376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3A–D. Projections to the lower anterior optic tubercle.</a:t>
            </a:r>
            <a:endParaRPr sz="1800">
              <a:solidFill>
                <a:schemeClr val="dk1"/>
              </a:solidFill>
              <a:latin typeface="Calibri"/>
              <a:ea typeface="Calibri"/>
              <a:cs typeface="Calibri"/>
              <a:sym typeface="Calibri"/>
            </a:endParaRPr>
          </a:p>
        </p:txBody>
      </p:sp>
      <p:sp>
        <p:nvSpPr>
          <p:cNvPr id="440" name="Google Shape;440;p32"/>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Zeller et al. (2015)</a:t>
            </a:r>
            <a:endParaRPr sz="1800">
              <a:solidFill>
                <a:schemeClr val="dk1"/>
              </a:solidFill>
              <a:latin typeface="Calibri"/>
              <a:ea typeface="Calibri"/>
              <a:cs typeface="Calibri"/>
              <a:sym typeface="Calibri"/>
            </a:endParaRPr>
          </a:p>
        </p:txBody>
      </p:sp>
      <p:sp>
        <p:nvSpPr>
          <p:cNvPr id="442" name="Google Shape;442;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PDF-positive fibers are candidate timing inputs</a:t>
            </a:r>
            <a:endParaRPr sz="1800">
              <a:solidFill>
                <a:schemeClr val="dk1"/>
              </a:solidFill>
              <a:latin typeface="Calibri"/>
              <a:ea typeface="Calibri"/>
              <a:cs typeface="Calibri"/>
              <a:sym typeface="Calibri"/>
            </a:endParaRPr>
          </a:p>
        </p:txBody>
      </p:sp>
      <p:sp>
        <p:nvSpPr>
          <p:cNvPr id="448" name="Google Shape;448;p3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3F5063"/>
              </a:buClr>
              <a:buSzPts val="1600"/>
              <a:buFont typeface="Arial"/>
              <a:buNone/>
            </a:pPr>
            <a:r>
              <a:rPr b="1" i="0" lang="en-US" sz="1600">
                <a:solidFill>
                  <a:srgbClr val="3F5063"/>
                </a:solidFill>
                <a:latin typeface="Arial"/>
                <a:ea typeface="Arial"/>
                <a:cs typeface="Arial"/>
                <a:sym typeface="Arial"/>
              </a:rPr>
              <a:t>Pigment-dispersing factor</a:t>
            </a:r>
            <a:r>
              <a:rPr b="0" i="0" lang="en-US" sz="1600">
                <a:solidFill>
                  <a:srgbClr val="252B32"/>
                </a:solidFill>
                <a:latin typeface="Arial"/>
                <a:ea typeface="Arial"/>
                <a:cs typeface="Arial"/>
                <a:sym typeface="Arial"/>
              </a:rPr>
              <a:t>, or </a:t>
            </a:r>
            <a:r>
              <a:rPr b="1" i="0" lang="en-US" sz="1600">
                <a:solidFill>
                  <a:srgbClr val="3F5063"/>
                </a:solidFill>
                <a:latin typeface="Arial"/>
                <a:ea typeface="Arial"/>
                <a:cs typeface="Arial"/>
                <a:sym typeface="Arial"/>
              </a:rPr>
              <a:t>PDF</a:t>
            </a:r>
            <a:r>
              <a:rPr b="0" i="0" lang="en-US" sz="1600">
                <a:solidFill>
                  <a:srgbClr val="252B32"/>
                </a:solidFill>
                <a:latin typeface="Arial"/>
                <a:ea typeface="Arial"/>
                <a:cs typeface="Arial"/>
                <a:sym typeface="Arial"/>
              </a:rPr>
              <a:t>, is a neuropeptide associated with circadian signaling in insects. Zeller and colleagues combined PDF immunostaining with tracer labeling of transmedulla neurons to ask where potential timing input could meet the honeybee sky-compass pathway.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PDF-positive fibers occupied the same medulla layer as parts of the traced neurons. At higher magnification, labeled puncta lay in close proximity along their passage through the medulla. The two labels did not colocalize, and PDF labeling was not found within the MEDRA itself.</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result identifies neighboring neuronal populations and a candidate site for modulation. PDF is associated with circadian signaling, so fibers running along the transmedulla neurons place a clock-related peptide beside the compass pathway.</a:t>
            </a:r>
            <a:endParaRPr sz="1800">
              <a:solidFill>
                <a:schemeClr val="dk1"/>
              </a:solidFill>
              <a:latin typeface="Calibri"/>
              <a:ea typeface="Calibri"/>
              <a:cs typeface="Calibri"/>
              <a:sym typeface="Calibri"/>
            </a:endParaRPr>
          </a:p>
        </p:txBody>
      </p:sp>
      <p:pic>
        <p:nvPicPr>
          <p:cNvPr id="451" name="Google Shape;451;p33"/>
          <p:cNvPicPr preferRelativeResize="0"/>
          <p:nvPr/>
        </p:nvPicPr>
        <p:blipFill rotWithShape="1">
          <a:blip r:embed="rId3">
            <a:alphaModFix/>
          </a:blip>
          <a:srcRect b="0" l="0" r="0" t="0"/>
          <a:stretch/>
        </p:blipFill>
        <p:spPr>
          <a:xfrm>
            <a:off x="6458603" y="1280071"/>
            <a:ext cx="5166006" cy="2355503"/>
          </a:xfrm>
          <a:prstGeom prst="rect">
            <a:avLst/>
          </a:prstGeom>
          <a:noFill/>
          <a:ln>
            <a:noFill/>
          </a:ln>
        </p:spPr>
      </p:pic>
      <p:sp>
        <p:nvSpPr>
          <p:cNvPr id="452" name="Google Shape;452;p33"/>
          <p:cNvSpPr/>
          <p:nvPr/>
        </p:nvSpPr>
        <p:spPr>
          <a:xfrm>
            <a:off x="6458396" y="3727103"/>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5A–C. PDF-positive fibers lie beside transmedulla neurons.</a:t>
            </a:r>
            <a:endParaRPr sz="1800">
              <a:solidFill>
                <a:schemeClr val="dk1"/>
              </a:solidFill>
              <a:latin typeface="Calibri"/>
              <a:ea typeface="Calibri"/>
              <a:cs typeface="Calibri"/>
              <a:sym typeface="Calibri"/>
            </a:endParaRPr>
          </a:p>
        </p:txBody>
      </p:sp>
      <p:sp>
        <p:nvSpPr>
          <p:cNvPr id="453" name="Google Shape;453;p33"/>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Zeller et al. (2015)</a:t>
            </a:r>
            <a:endParaRPr sz="1800">
              <a:solidFill>
                <a:schemeClr val="dk1"/>
              </a:solidFill>
              <a:latin typeface="Calibri"/>
              <a:ea typeface="Calibri"/>
              <a:cs typeface="Calibri"/>
              <a:sym typeface="Calibri"/>
            </a:endParaRPr>
          </a:p>
        </p:txBody>
      </p:sp>
      <p:sp>
        <p:nvSpPr>
          <p:cNvPr id="455" name="Google Shape;455;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9" name="Shape 459"/>
        <p:cNvGrpSpPr/>
        <p:nvPr/>
      </p:nvGrpSpPr>
      <p:grpSpPr>
        <a:xfrm>
          <a:off x="0" y="0"/>
          <a:ext cx="0" cy="0"/>
          <a:chOff x="0" y="0"/>
          <a:chExt cx="0" cy="0"/>
        </a:xfrm>
      </p:grpSpPr>
      <p:sp>
        <p:nvSpPr>
          <p:cNvPr id="460" name="Google Shape;460;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Serotonin and GABA lie near compass-pathway branches</a:t>
            </a:r>
            <a:endParaRPr sz="1800">
              <a:solidFill>
                <a:schemeClr val="dk1"/>
              </a:solidFill>
              <a:latin typeface="Calibri"/>
              <a:ea typeface="Calibri"/>
              <a:cs typeface="Calibri"/>
              <a:sym typeface="Calibri"/>
            </a:endParaRPr>
          </a:p>
        </p:txBody>
      </p:sp>
      <p:sp>
        <p:nvSpPr>
          <p:cNvPr id="461" name="Google Shape;461;p34"/>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Zeller and colleagues combined transmedulla tracer labeling with antibodies against </a:t>
            </a:r>
            <a:r>
              <a:rPr b="1" i="0" lang="en-US" sz="1500">
                <a:solidFill>
                  <a:srgbClr val="3F5063"/>
                </a:solidFill>
                <a:latin typeface="Arial"/>
                <a:ea typeface="Arial"/>
                <a:cs typeface="Arial"/>
                <a:sym typeface="Arial"/>
              </a:rPr>
              <a:t>serotonin</a:t>
            </a:r>
            <a:r>
              <a:rPr b="0" i="0" lang="en-US" sz="1500">
                <a:solidFill>
                  <a:srgbClr val="252B32"/>
                </a:solidFill>
                <a:latin typeface="Arial"/>
                <a:ea typeface="Arial"/>
                <a:cs typeface="Arial"/>
                <a:sym typeface="Arial"/>
              </a:rPr>
              <a:t>, a monoamine signaling molecule, and </a:t>
            </a:r>
            <a:r>
              <a:rPr b="1" i="0" lang="en-US" sz="1500">
                <a:solidFill>
                  <a:srgbClr val="3F5063"/>
                </a:solidFill>
                <a:latin typeface="Arial"/>
                <a:ea typeface="Arial"/>
                <a:cs typeface="Arial"/>
                <a:sym typeface="Arial"/>
              </a:rPr>
              <a:t>GABA</a:t>
            </a:r>
            <a:r>
              <a:rPr b="0" i="0" lang="en-US" sz="1500">
                <a:solidFill>
                  <a:srgbClr val="252B32"/>
                </a:solidFill>
                <a:latin typeface="Arial"/>
                <a:ea typeface="Arial"/>
                <a:cs typeface="Arial"/>
                <a:sym typeface="Arial"/>
              </a:rPr>
              <a:t>, gamma-aminobutyric acid. GABA commonly contributes inhibitory signaling, but its action at a particular connection requires receptor and physiological evidence.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Serotonin-positive puncta overlapped the dorsal portion of the relevant medulla layer but not the MEDRA. GABA-positive fibers lay near transmedulla branches throughout their length, including the MEDRA. In both preparations, tracer and transmitter labels marked different populations rather than the same cells.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These spatial relationships support candidate modulatory and local processing interactions. Serotonin lay beside the dorsal part of the layer and GABA along the whole length of the branches, so the two transmitters occupy different positions relative to the same neurons.</a:t>
            </a:r>
            <a:endParaRPr sz="1800">
              <a:solidFill>
                <a:schemeClr val="dk1"/>
              </a:solidFill>
              <a:latin typeface="Calibri"/>
              <a:ea typeface="Calibri"/>
              <a:cs typeface="Calibri"/>
              <a:sym typeface="Calibri"/>
            </a:endParaRPr>
          </a:p>
        </p:txBody>
      </p:sp>
      <p:pic>
        <p:nvPicPr>
          <p:cNvPr id="464" name="Google Shape;464;p34"/>
          <p:cNvPicPr preferRelativeResize="0"/>
          <p:nvPr/>
        </p:nvPicPr>
        <p:blipFill rotWithShape="1">
          <a:blip r:embed="rId3">
            <a:alphaModFix/>
          </a:blip>
          <a:srcRect b="0" l="0" r="0" t="0"/>
          <a:stretch/>
        </p:blipFill>
        <p:spPr>
          <a:xfrm>
            <a:off x="6692422" y="1280071"/>
            <a:ext cx="4698667" cy="2148780"/>
          </a:xfrm>
          <a:prstGeom prst="rect">
            <a:avLst/>
          </a:prstGeom>
          <a:noFill/>
          <a:ln>
            <a:noFill/>
          </a:ln>
        </p:spPr>
      </p:pic>
      <p:sp>
        <p:nvSpPr>
          <p:cNvPr id="465" name="Google Shape;465;p34"/>
          <p:cNvSpPr/>
          <p:nvPr/>
        </p:nvSpPr>
        <p:spPr>
          <a:xfrm>
            <a:off x="6458396" y="352038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6A–C. Serotonin-positive fibers and transmedulla neurons.</a:t>
            </a:r>
            <a:endParaRPr sz="1800">
              <a:solidFill>
                <a:schemeClr val="dk1"/>
              </a:solidFill>
              <a:latin typeface="Calibri"/>
              <a:ea typeface="Calibri"/>
              <a:cs typeface="Calibri"/>
              <a:sym typeface="Calibri"/>
            </a:endParaRPr>
          </a:p>
        </p:txBody>
      </p:sp>
      <p:pic>
        <p:nvPicPr>
          <p:cNvPr id="466" name="Google Shape;466;p34"/>
          <p:cNvPicPr preferRelativeResize="0"/>
          <p:nvPr/>
        </p:nvPicPr>
        <p:blipFill rotWithShape="1">
          <a:blip r:embed="rId4">
            <a:alphaModFix/>
          </a:blip>
          <a:srcRect b="0" l="0" r="0" t="0"/>
          <a:stretch/>
        </p:blipFill>
        <p:spPr>
          <a:xfrm>
            <a:off x="6884516" y="3977580"/>
            <a:ext cx="4314181" cy="1782961"/>
          </a:xfrm>
          <a:prstGeom prst="rect">
            <a:avLst/>
          </a:prstGeom>
          <a:noFill/>
          <a:ln>
            <a:noFill/>
          </a:ln>
        </p:spPr>
      </p:pic>
      <p:sp>
        <p:nvSpPr>
          <p:cNvPr id="467" name="Google Shape;467;p34"/>
          <p:cNvSpPr/>
          <p:nvPr/>
        </p:nvSpPr>
        <p:spPr>
          <a:xfrm>
            <a:off x="6458396" y="583376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7A–C. GABA-positive fibers near compass-pathway cells.</a:t>
            </a:r>
            <a:endParaRPr sz="1800">
              <a:solidFill>
                <a:schemeClr val="dk1"/>
              </a:solidFill>
              <a:latin typeface="Calibri"/>
              <a:ea typeface="Calibri"/>
              <a:cs typeface="Calibri"/>
              <a:sym typeface="Calibri"/>
            </a:endParaRPr>
          </a:p>
        </p:txBody>
      </p:sp>
      <p:sp>
        <p:nvSpPr>
          <p:cNvPr id="468" name="Google Shape;468;p34"/>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Zeller et al. (2015)</a:t>
            </a:r>
            <a:endParaRPr sz="1800">
              <a:solidFill>
                <a:schemeClr val="dk1"/>
              </a:solidFill>
              <a:latin typeface="Calibri"/>
              <a:ea typeface="Calibri"/>
              <a:cs typeface="Calibri"/>
              <a:sym typeface="Calibri"/>
            </a:endParaRPr>
          </a:p>
        </p:txBody>
      </p:sp>
      <p:sp>
        <p:nvSpPr>
          <p:cNvPr id="470" name="Google Shape;470;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4" name="Shape 474"/>
        <p:cNvGrpSpPr/>
        <p:nvPr/>
      </p:nvGrpSpPr>
      <p:grpSpPr>
        <a:xfrm>
          <a:off x="0" y="0"/>
          <a:ext cx="0" cy="0"/>
          <a:chOff x="0" y="0"/>
          <a:chExt cx="0" cy="0"/>
        </a:xfrm>
      </p:grpSpPr>
      <p:sp>
        <p:nvSpPr>
          <p:cNvPr id="475" name="Google Shape;475;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Tubercle outputs reach bulbs and the central body</a:t>
            </a:r>
            <a:endParaRPr sz="1800">
              <a:solidFill>
                <a:schemeClr val="dk1"/>
              </a:solidFill>
              <a:latin typeface="Calibri"/>
              <a:ea typeface="Calibri"/>
              <a:cs typeface="Calibri"/>
              <a:sym typeface="Calibri"/>
            </a:endParaRPr>
          </a:p>
        </p:txBody>
      </p:sp>
      <p:sp>
        <p:nvSpPr>
          <p:cNvPr id="476" name="Google Shape;476;p3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Held and colleagues traced the honeybee sky-compass network using dye injections, neuropil labeling and single-cell preparations. </a:t>
            </a:r>
            <a:r>
              <a:rPr b="1" i="0" lang="en-US" sz="1600">
                <a:solidFill>
                  <a:srgbClr val="3F5063"/>
                </a:solidFill>
                <a:latin typeface="Arial"/>
                <a:ea typeface="Arial"/>
                <a:cs typeface="Arial"/>
                <a:sym typeface="Arial"/>
              </a:rPr>
              <a:t>TuLAL1 neurons</a:t>
            </a:r>
            <a:r>
              <a:rPr b="0" i="0" lang="en-US" sz="1600">
                <a:solidFill>
                  <a:srgbClr val="252B32"/>
                </a:solidFill>
                <a:latin typeface="Arial"/>
                <a:ea typeface="Arial"/>
                <a:cs typeface="Arial"/>
                <a:sym typeface="Arial"/>
              </a:rPr>
              <a:t> project from the anterior optic tubercle toward paired synaptic regions called the lateral and medial </a:t>
            </a:r>
            <a:r>
              <a:rPr b="1" i="0" lang="en-US" sz="1600">
                <a:solidFill>
                  <a:srgbClr val="3F5063"/>
                </a:solidFill>
                <a:latin typeface="Arial"/>
                <a:ea typeface="Arial"/>
                <a:cs typeface="Arial"/>
                <a:sym typeface="Arial"/>
              </a:rPr>
              <a:t>bulbs</a:t>
            </a:r>
            <a:r>
              <a:rPr b="0" i="0" lang="en-US" sz="1600">
                <a:solidFill>
                  <a:srgbClr val="252B32"/>
                </a:solidFill>
                <a:latin typeface="Arial"/>
                <a:ea typeface="Arial"/>
                <a:cs typeface="Arial"/>
                <a:sym typeface="Arial"/>
              </a:rPr>
              <a: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A second class, </a:t>
            </a:r>
            <a:r>
              <a:rPr b="1" i="0" lang="en-US" sz="1600">
                <a:solidFill>
                  <a:srgbClr val="3F5063"/>
                </a:solidFill>
                <a:latin typeface="Arial"/>
                <a:ea typeface="Arial"/>
                <a:cs typeface="Arial"/>
                <a:sym typeface="Arial"/>
              </a:rPr>
              <a:t>TL neurons</a:t>
            </a:r>
            <a:r>
              <a:rPr b="0" i="0" lang="en-US" sz="1600">
                <a:solidFill>
                  <a:srgbClr val="252B32"/>
                </a:solidFill>
                <a:latin typeface="Arial"/>
                <a:ea typeface="Arial"/>
                <a:cs typeface="Arial"/>
                <a:sym typeface="Arial"/>
              </a:rPr>
              <a:t>, connects these bulbs with the lower division of the </a:t>
            </a:r>
            <a:r>
              <a:rPr b="1" i="0" lang="en-US" sz="1600">
                <a:solidFill>
                  <a:srgbClr val="3F5063"/>
                </a:solidFill>
                <a:latin typeface="Arial"/>
                <a:ea typeface="Arial"/>
                <a:cs typeface="Arial"/>
                <a:sym typeface="Arial"/>
              </a:rPr>
              <a:t>central body</a:t>
            </a:r>
            <a:r>
              <a:rPr b="0" i="0" lang="en-US" sz="1600">
                <a:solidFill>
                  <a:srgbClr val="252B32"/>
                </a:solidFill>
                <a:latin typeface="Arial"/>
                <a:ea typeface="Arial"/>
                <a:cs typeface="Arial"/>
                <a:sym typeface="Arial"/>
              </a:rPr>
              <a:t>, part of the central complex. The labeled branches establish two parallel anatomical routes from tubercle outputs toward central-brain circuitry associated with directional processing.</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bulbs provide a defined interface rather than an undifferentiated relay. The study identifies the neurons and terminal organization of this interface, which connects the tubercle to the lower division of the central body.</a:t>
            </a:r>
            <a:endParaRPr sz="1800">
              <a:solidFill>
                <a:schemeClr val="dk1"/>
              </a:solidFill>
              <a:latin typeface="Calibri"/>
              <a:ea typeface="Calibri"/>
              <a:cs typeface="Calibri"/>
              <a:sym typeface="Calibri"/>
            </a:endParaRPr>
          </a:p>
        </p:txBody>
      </p:sp>
      <p:pic>
        <p:nvPicPr>
          <p:cNvPr id="479" name="Google Shape;479;p35"/>
          <p:cNvPicPr preferRelativeResize="0"/>
          <p:nvPr/>
        </p:nvPicPr>
        <p:blipFill rotWithShape="1">
          <a:blip r:embed="rId3">
            <a:alphaModFix/>
          </a:blip>
          <a:srcRect b="0" l="0" r="0" t="0"/>
          <a:stretch/>
        </p:blipFill>
        <p:spPr>
          <a:xfrm>
            <a:off x="7655042" y="1280071"/>
            <a:ext cx="2773426" cy="4297561"/>
          </a:xfrm>
          <a:prstGeom prst="rect">
            <a:avLst/>
          </a:prstGeom>
          <a:noFill/>
          <a:ln>
            <a:noFill/>
          </a:ln>
        </p:spPr>
      </p:pic>
      <p:sp>
        <p:nvSpPr>
          <p:cNvPr id="480" name="Google Shape;480;p35"/>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Held et al. (2016), Fig. 1A–F. AOTU–bulb–central-body projection anatomy.</a:t>
            </a:r>
            <a:endParaRPr sz="1800">
              <a:solidFill>
                <a:schemeClr val="dk1"/>
              </a:solidFill>
              <a:latin typeface="Calibri"/>
              <a:ea typeface="Calibri"/>
              <a:cs typeface="Calibri"/>
              <a:sym typeface="Calibri"/>
            </a:endParaRPr>
          </a:p>
        </p:txBody>
      </p:sp>
      <p:sp>
        <p:nvSpPr>
          <p:cNvPr id="481" name="Google Shape;481;p35"/>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Held et al. (2016)</a:t>
            </a:r>
            <a:endParaRPr sz="1800">
              <a:solidFill>
                <a:schemeClr val="dk1"/>
              </a:solidFill>
              <a:latin typeface="Calibri"/>
              <a:ea typeface="Calibri"/>
              <a:cs typeface="Calibri"/>
              <a:sym typeface="Calibri"/>
            </a:endParaRPr>
          </a:p>
        </p:txBody>
      </p:sp>
      <p:sp>
        <p:nvSpPr>
          <p:cNvPr id="483" name="Google Shape;483;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7" name="Shape 487"/>
        <p:cNvGrpSpPr/>
        <p:nvPr/>
      </p:nvGrpSpPr>
      <p:grpSpPr>
        <a:xfrm>
          <a:off x="0" y="0"/>
          <a:ext cx="0" cy="0"/>
          <a:chOff x="0" y="0"/>
          <a:chExt cx="0" cy="0"/>
        </a:xfrm>
      </p:grpSpPr>
      <p:sp>
        <p:nvSpPr>
          <p:cNvPr id="488" name="Google Shape;488;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Bulb microglomeruli organize convergent synaptic tissue</a:t>
            </a:r>
            <a:endParaRPr sz="1800">
              <a:solidFill>
                <a:schemeClr val="dk1"/>
              </a:solidFill>
              <a:latin typeface="Calibri"/>
              <a:ea typeface="Calibri"/>
              <a:cs typeface="Calibri"/>
              <a:sym typeface="Calibri"/>
            </a:endParaRPr>
          </a:p>
        </p:txBody>
      </p:sp>
      <p:sp>
        <p:nvSpPr>
          <p:cNvPr id="489" name="Google Shape;489;p36"/>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A </a:t>
            </a:r>
            <a:r>
              <a:rPr b="1" i="0" lang="en-US" sz="1500">
                <a:solidFill>
                  <a:srgbClr val="3F5063"/>
                </a:solidFill>
                <a:latin typeface="Arial"/>
                <a:ea typeface="Arial"/>
                <a:cs typeface="Arial"/>
                <a:sym typeface="Arial"/>
              </a:rPr>
              <a:t>microglomerulus</a:t>
            </a:r>
            <a:r>
              <a:rPr b="0" i="0" lang="en-US" sz="1500">
                <a:solidFill>
                  <a:srgbClr val="252B32"/>
                </a:solidFill>
                <a:latin typeface="Arial"/>
                <a:ea typeface="Arial"/>
                <a:cs typeface="Arial"/>
                <a:sym typeface="Arial"/>
              </a:rPr>
              <a:t> is a compact synaptic complex in which a large presynaptic terminal contacts several smaller postsynaptic processes. Held and colleagues stained honeybee bulb tissue for </a:t>
            </a:r>
            <a:r>
              <a:rPr b="1" i="0" lang="en-US" sz="1500">
                <a:solidFill>
                  <a:srgbClr val="3F5063"/>
                </a:solidFill>
                <a:latin typeface="Arial"/>
                <a:ea typeface="Arial"/>
                <a:cs typeface="Arial"/>
                <a:sym typeface="Arial"/>
              </a:rPr>
              <a:t>synapsin</a:t>
            </a:r>
            <a:r>
              <a:rPr b="0" i="0" lang="en-US" sz="1500">
                <a:solidFill>
                  <a:srgbClr val="252B32"/>
                </a:solidFill>
                <a:latin typeface="Arial"/>
                <a:ea typeface="Arial"/>
                <a:cs typeface="Arial"/>
                <a:sym typeface="Arial"/>
              </a:rPr>
              <a:t>, associated with presynaptic machinery, and filamentous actin, prominent in postsynaptic regions.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Confocal images revealed separated microglomerular complexes in the lateral and medial bulbs. Traced TuLAL1 terminals occupied the presynaptic cores, while postsynaptic processes from TL neurons contacted them. Complementary labeling linked cell projections to the local terminal organization.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The stains identify an anatomical arrangement for distributing tubercle signals among downstream neurons. Because one large terminal contacts several smaller processes, a single tubercle input can reach several downstream TL neurons at once.</a:t>
            </a:r>
            <a:endParaRPr sz="1800">
              <a:solidFill>
                <a:schemeClr val="dk1"/>
              </a:solidFill>
              <a:latin typeface="Calibri"/>
              <a:ea typeface="Calibri"/>
              <a:cs typeface="Calibri"/>
              <a:sym typeface="Calibri"/>
            </a:endParaRPr>
          </a:p>
        </p:txBody>
      </p:sp>
      <p:pic>
        <p:nvPicPr>
          <p:cNvPr id="492" name="Google Shape;492;p36"/>
          <p:cNvPicPr preferRelativeResize="0"/>
          <p:nvPr/>
        </p:nvPicPr>
        <p:blipFill rotWithShape="1">
          <a:blip r:embed="rId3">
            <a:alphaModFix/>
          </a:blip>
          <a:srcRect b="0" l="0" r="0" t="0"/>
          <a:stretch/>
        </p:blipFill>
        <p:spPr>
          <a:xfrm>
            <a:off x="6458453" y="1280071"/>
            <a:ext cx="5166306" cy="3925937"/>
          </a:xfrm>
          <a:prstGeom prst="rect">
            <a:avLst/>
          </a:prstGeom>
          <a:noFill/>
          <a:ln>
            <a:noFill/>
          </a:ln>
        </p:spPr>
      </p:pic>
      <p:sp>
        <p:nvSpPr>
          <p:cNvPr id="493" name="Google Shape;493;p36"/>
          <p:cNvSpPr/>
          <p:nvPr/>
        </p:nvSpPr>
        <p:spPr>
          <a:xfrm>
            <a:off x="6458396" y="5297537"/>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Held et al. (2016), Fig. 2A–C. Synapsin and actin identify bulb microglomeruli.</a:t>
            </a:r>
            <a:endParaRPr sz="1800">
              <a:solidFill>
                <a:schemeClr val="dk1"/>
              </a:solidFill>
              <a:latin typeface="Calibri"/>
              <a:ea typeface="Calibri"/>
              <a:cs typeface="Calibri"/>
              <a:sym typeface="Calibri"/>
            </a:endParaRPr>
          </a:p>
        </p:txBody>
      </p:sp>
      <p:sp>
        <p:nvSpPr>
          <p:cNvPr id="494" name="Google Shape;494;p36"/>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Held et al. (2016)</a:t>
            </a:r>
            <a:endParaRPr sz="1800">
              <a:solidFill>
                <a:schemeClr val="dk1"/>
              </a:solidFill>
              <a:latin typeface="Calibri"/>
              <a:ea typeface="Calibri"/>
              <a:cs typeface="Calibri"/>
              <a:sym typeface="Calibri"/>
            </a:endParaRPr>
          </a:p>
        </p:txBody>
      </p:sp>
      <p:sp>
        <p:nvSpPr>
          <p:cNvPr id="496" name="Google Shape;496;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0" name="Shape 500"/>
        <p:cNvGrpSpPr/>
        <p:nvPr/>
      </p:nvGrpSpPr>
      <p:grpSpPr>
        <a:xfrm>
          <a:off x="0" y="0"/>
          <a:ext cx="0" cy="0"/>
          <a:chOff x="0" y="0"/>
          <a:chExt cx="0" cy="0"/>
        </a:xfrm>
      </p:grpSpPr>
      <p:sp>
        <p:nvSpPr>
          <p:cNvPr id="501" name="Google Shape;501;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Electron microscopy resolves bulb synaptic contacts</a:t>
            </a:r>
            <a:endParaRPr sz="1800">
              <a:solidFill>
                <a:schemeClr val="dk1"/>
              </a:solidFill>
              <a:latin typeface="Calibri"/>
              <a:ea typeface="Calibri"/>
              <a:cs typeface="Calibri"/>
              <a:sym typeface="Calibri"/>
            </a:endParaRPr>
          </a:p>
        </p:txBody>
      </p:sp>
      <p:sp>
        <p:nvSpPr>
          <p:cNvPr id="502" name="Google Shape;502;p37"/>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Held and colleagues used transmission electron microscopy to examine honeybee bulb complexes at membrane resolution. Large TuLAL1 terminals contained vesicles and multiple presynaptic specializations facing smaller profiles. </a:t>
            </a:r>
            <a:r>
              <a:rPr b="1" i="0" lang="en-US" sz="1500">
                <a:solidFill>
                  <a:srgbClr val="3F5063"/>
                </a:solidFill>
                <a:latin typeface="Arial"/>
                <a:ea typeface="Arial"/>
                <a:cs typeface="Arial"/>
                <a:sym typeface="Arial"/>
              </a:rPr>
              <a:t>Vesicles</a:t>
            </a:r>
            <a:r>
              <a:rPr b="0" i="0" lang="en-US" sz="1500">
                <a:solidFill>
                  <a:srgbClr val="252B32"/>
                </a:solidFill>
                <a:latin typeface="Arial"/>
                <a:ea typeface="Arial"/>
                <a:cs typeface="Arial"/>
                <a:sym typeface="Arial"/>
              </a:rPr>
              <a:t> are membrane-bound structures that store releasable signaling molecules.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The authors identified </a:t>
            </a:r>
            <a:r>
              <a:rPr b="1" i="0" lang="en-US" sz="1500">
                <a:solidFill>
                  <a:srgbClr val="3F5063"/>
                </a:solidFill>
                <a:latin typeface="Arial"/>
                <a:ea typeface="Arial"/>
                <a:cs typeface="Arial"/>
                <a:sym typeface="Arial"/>
              </a:rPr>
              <a:t>dyadic</a:t>
            </a:r>
            <a:r>
              <a:rPr b="0" i="0" lang="en-US" sz="1500">
                <a:solidFill>
                  <a:srgbClr val="252B32"/>
                </a:solidFill>
                <a:latin typeface="Arial"/>
                <a:ea typeface="Arial"/>
                <a:cs typeface="Arial"/>
                <a:sym typeface="Arial"/>
              </a:rPr>
              <a:t> and </a:t>
            </a:r>
            <a:r>
              <a:rPr b="1" i="0" lang="en-US" sz="1500">
                <a:solidFill>
                  <a:srgbClr val="3F5063"/>
                </a:solidFill>
                <a:latin typeface="Arial"/>
                <a:ea typeface="Arial"/>
                <a:cs typeface="Arial"/>
                <a:sym typeface="Arial"/>
              </a:rPr>
              <a:t>tetradic</a:t>
            </a:r>
            <a:r>
              <a:rPr b="0" i="0" lang="en-US" sz="1500">
                <a:solidFill>
                  <a:srgbClr val="252B32"/>
                </a:solidFill>
                <a:latin typeface="Arial"/>
                <a:ea typeface="Arial"/>
                <a:cs typeface="Arial"/>
                <a:sym typeface="Arial"/>
              </a:rPr>
              <a:t> contacts, where one presynaptic specialization faced two or four postsynaptic profiles. GABA immunostaining associated downstream TL neurons with an inhibitory transmitter phenotype. These observations constrain connectivity more directly than a light-microscopy overlap.</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Synaptic morphology establishes physical contacts, and transmitter staining supports a candidate sign of downstream signaling. A dyadic or tetradic contact allows one presynaptic specialization address two or four downstream profiles at once, which fits the divergence of tubercle signals.</a:t>
            </a:r>
            <a:endParaRPr sz="1800">
              <a:solidFill>
                <a:schemeClr val="dk1"/>
              </a:solidFill>
              <a:latin typeface="Calibri"/>
              <a:ea typeface="Calibri"/>
              <a:cs typeface="Calibri"/>
              <a:sym typeface="Calibri"/>
            </a:endParaRPr>
          </a:p>
        </p:txBody>
      </p:sp>
      <p:pic>
        <p:nvPicPr>
          <p:cNvPr id="505" name="Google Shape;505;p37"/>
          <p:cNvPicPr preferRelativeResize="0"/>
          <p:nvPr/>
        </p:nvPicPr>
        <p:blipFill rotWithShape="1">
          <a:blip r:embed="rId3">
            <a:alphaModFix/>
          </a:blip>
          <a:srcRect b="0" l="0" r="0" t="0"/>
          <a:stretch/>
        </p:blipFill>
        <p:spPr>
          <a:xfrm>
            <a:off x="6846689" y="1280072"/>
            <a:ext cx="2743944" cy="4297558"/>
          </a:xfrm>
          <a:prstGeom prst="rect">
            <a:avLst/>
          </a:prstGeom>
          <a:noFill/>
          <a:ln>
            <a:noFill/>
          </a:ln>
        </p:spPr>
      </p:pic>
      <p:sp>
        <p:nvSpPr>
          <p:cNvPr id="506" name="Google Shape;506;p37"/>
          <p:cNvSpPr/>
          <p:nvPr/>
        </p:nvSpPr>
        <p:spPr>
          <a:xfrm>
            <a:off x="6458396" y="5669161"/>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Held et al. (2016), Fig. 7A,B. Dyadic and tetradic synapses in bulb complexes.</a:t>
            </a:r>
            <a:endParaRPr sz="1800">
              <a:solidFill>
                <a:schemeClr val="dk1"/>
              </a:solidFill>
              <a:latin typeface="Calibri"/>
              <a:ea typeface="Calibri"/>
              <a:cs typeface="Calibri"/>
              <a:sym typeface="Calibri"/>
            </a:endParaRPr>
          </a:p>
        </p:txBody>
      </p:sp>
      <p:pic>
        <p:nvPicPr>
          <p:cNvPr id="507" name="Google Shape;507;p37"/>
          <p:cNvPicPr preferRelativeResize="0"/>
          <p:nvPr/>
        </p:nvPicPr>
        <p:blipFill rotWithShape="1">
          <a:blip r:embed="rId4">
            <a:alphaModFix/>
          </a:blip>
          <a:srcRect b="0" l="0" r="0" t="0"/>
          <a:stretch/>
        </p:blipFill>
        <p:spPr>
          <a:xfrm>
            <a:off x="10161836" y="2148797"/>
            <a:ext cx="1462980" cy="1891572"/>
          </a:xfrm>
          <a:prstGeom prst="rect">
            <a:avLst/>
          </a:prstGeom>
          <a:noFill/>
          <a:ln>
            <a:noFill/>
          </a:ln>
        </p:spPr>
      </p:pic>
      <p:sp>
        <p:nvSpPr>
          <p:cNvPr id="508" name="Google Shape;508;p37"/>
          <p:cNvSpPr/>
          <p:nvPr/>
        </p:nvSpPr>
        <p:spPr>
          <a:xfrm>
            <a:off x="10161836" y="4113609"/>
            <a:ext cx="148203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Held et al. (2016), Fig. 5A–C. GABA-positive tangential-neuron terminals.</a:t>
            </a:r>
            <a:endParaRPr sz="1800">
              <a:solidFill>
                <a:schemeClr val="dk1"/>
              </a:solidFill>
              <a:latin typeface="Calibri"/>
              <a:ea typeface="Calibri"/>
              <a:cs typeface="Calibri"/>
              <a:sym typeface="Calibri"/>
            </a:endParaRPr>
          </a:p>
        </p:txBody>
      </p:sp>
      <p:sp>
        <p:nvSpPr>
          <p:cNvPr id="509" name="Google Shape;509;p37"/>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Held et al. (2016)</a:t>
            </a:r>
            <a:endParaRPr sz="1800">
              <a:solidFill>
                <a:schemeClr val="dk1"/>
              </a:solidFill>
              <a:latin typeface="Calibri"/>
              <a:ea typeface="Calibri"/>
              <a:cs typeface="Calibri"/>
              <a:sym typeface="Calibri"/>
            </a:endParaRPr>
          </a:p>
        </p:txBody>
      </p:sp>
      <p:sp>
        <p:nvSpPr>
          <p:cNvPr id="511" name="Google Shape;511;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Electric fields can mechanically deflect bee antennae</a:t>
            </a:r>
            <a:endParaRPr sz="1800">
              <a:solidFill>
                <a:schemeClr val="dk1"/>
              </a:solidFill>
              <a:latin typeface="Calibri"/>
              <a:ea typeface="Calibri"/>
              <a:cs typeface="Calibri"/>
              <a:sym typeface="Calibri"/>
            </a:endParaRPr>
          </a:p>
        </p:txBody>
      </p:sp>
      <p:sp>
        <p:nvSpPr>
          <p:cNvPr id="517" name="Google Shape;517;p38"/>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400"/>
              <a:buFont typeface="Arial"/>
              <a:buNone/>
            </a:pPr>
            <a:r>
              <a:rPr b="0" i="0" lang="en-US" sz="1400">
                <a:solidFill>
                  <a:srgbClr val="252B32"/>
                </a:solidFill>
                <a:latin typeface="Arial"/>
                <a:ea typeface="Arial"/>
                <a:cs typeface="Arial"/>
                <a:sym typeface="Arial"/>
              </a:rPr>
              <a:t>Greggers and colleagues recorded electric fields around dancing bees and measured antennal movements during controlled electrical stimulation. Charged bodies exert forces on nearby charged structures, so a force can move an antenna even without a dedicated electric-field receptor.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400"/>
              <a:buFont typeface="Arial"/>
              <a:buNone/>
            </a:pPr>
            <a:r>
              <a:rPr b="0" i="0" lang="en-US" sz="1400">
                <a:solidFill>
                  <a:srgbClr val="252B32"/>
                </a:solidFill>
                <a:latin typeface="Arial"/>
                <a:ea typeface="Arial"/>
                <a:cs typeface="Arial"/>
                <a:sym typeface="Arial"/>
              </a:rPr>
              <a:t>An isolated wing oscillating at 40 Hz, 2 mm from the head, evoked larger flagellar movements when its charge was preserved than when it was discharged. Laser Doppler measurements quantified these movements. </a:t>
            </a:r>
            <a:r>
              <a:rPr b="1" i="0" lang="en-US" sz="1400">
                <a:solidFill>
                  <a:srgbClr val="3F5063"/>
                </a:solidFill>
                <a:latin typeface="Arial"/>
                <a:ea typeface="Arial"/>
                <a:cs typeface="Arial"/>
                <a:sym typeface="Arial"/>
              </a:rPr>
              <a:t>Johnston's organ</a:t>
            </a:r>
            <a:r>
              <a:rPr b="0" i="0" lang="en-US" sz="1400">
                <a:solidFill>
                  <a:srgbClr val="252B32"/>
                </a:solidFill>
                <a:latin typeface="Arial"/>
                <a:ea typeface="Arial"/>
                <a:cs typeface="Arial"/>
                <a:sym typeface="Arial"/>
              </a:rPr>
              <a:t>, a mechanosensory organ in the antennal pedicel, responded to the field-induced movement.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400"/>
              <a:buFont typeface="Arial"/>
              <a:buNone/>
            </a:pPr>
            <a:r>
              <a:rPr b="0" i="0" lang="en-US" sz="1400">
                <a:solidFill>
                  <a:srgbClr val="252B32"/>
                </a:solidFill>
                <a:latin typeface="Arial"/>
                <a:ea typeface="Arial"/>
                <a:cs typeface="Arial"/>
                <a:sym typeface="Arial"/>
              </a:rPr>
              <a:t>The resulting sequence is an electric force, then antennal displacement, then activation of movement-sensitive sensory neurons. This sequence is a </a:t>
            </a:r>
            <a:r>
              <a:rPr b="1" i="0" lang="en-US" sz="1400">
                <a:solidFill>
                  <a:srgbClr val="3F5063"/>
                </a:solidFill>
                <a:latin typeface="Arial"/>
                <a:ea typeface="Arial"/>
                <a:cs typeface="Arial"/>
                <a:sym typeface="Arial"/>
              </a:rPr>
              <a:t>mechanical route</a:t>
            </a:r>
            <a:r>
              <a:rPr b="0" i="0" lang="en-US" sz="1400">
                <a:solidFill>
                  <a:srgbClr val="252B32"/>
                </a:solidFill>
                <a:latin typeface="Arial"/>
                <a:ea typeface="Arial"/>
                <a:cs typeface="Arial"/>
                <a:sym typeface="Arial"/>
              </a:rPr>
              <a:t> for field detection, in which the antenna converts the force into a movement that Johnston's organ registers.</a:t>
            </a:r>
            <a:endParaRPr sz="1800">
              <a:solidFill>
                <a:schemeClr val="dk1"/>
              </a:solidFill>
              <a:latin typeface="Calibri"/>
              <a:ea typeface="Calibri"/>
              <a:cs typeface="Calibri"/>
              <a:sym typeface="Calibri"/>
            </a:endParaRPr>
          </a:p>
        </p:txBody>
      </p:sp>
      <p:pic>
        <p:nvPicPr>
          <p:cNvPr id="520" name="Google Shape;520;p38"/>
          <p:cNvPicPr preferRelativeResize="0"/>
          <p:nvPr/>
        </p:nvPicPr>
        <p:blipFill rotWithShape="1">
          <a:blip r:embed="rId3">
            <a:alphaModFix/>
          </a:blip>
          <a:srcRect b="0" l="0" r="0" t="0"/>
          <a:stretch/>
        </p:blipFill>
        <p:spPr>
          <a:xfrm>
            <a:off x="6458555" y="1280071"/>
            <a:ext cx="5166102" cy="1733252"/>
          </a:xfrm>
          <a:prstGeom prst="rect">
            <a:avLst/>
          </a:prstGeom>
          <a:noFill/>
          <a:ln>
            <a:noFill/>
          </a:ln>
        </p:spPr>
      </p:pic>
      <p:sp>
        <p:nvSpPr>
          <p:cNvPr id="521" name="Google Shape;521;p38"/>
          <p:cNvSpPr/>
          <p:nvPr/>
        </p:nvSpPr>
        <p:spPr>
          <a:xfrm>
            <a:off x="6458396" y="3104852"/>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Greggers et al. (2013), Fig. 3a,b and Fig. 4. Field-induced flagellar motion and Johnston-organ activity.</a:t>
            </a:r>
            <a:endParaRPr sz="1800">
              <a:solidFill>
                <a:schemeClr val="dk1"/>
              </a:solidFill>
              <a:latin typeface="Calibri"/>
              <a:ea typeface="Calibri"/>
              <a:cs typeface="Calibri"/>
              <a:sym typeface="Calibri"/>
            </a:endParaRPr>
          </a:p>
        </p:txBody>
      </p:sp>
      <p:pic>
        <p:nvPicPr>
          <p:cNvPr id="522" name="Google Shape;522;p38"/>
          <p:cNvPicPr preferRelativeResize="0"/>
          <p:nvPr/>
        </p:nvPicPr>
        <p:blipFill rotWithShape="1">
          <a:blip r:embed="rId4">
            <a:alphaModFix/>
          </a:blip>
          <a:srcRect b="0" l="0" r="0" t="0"/>
          <a:stretch/>
        </p:blipFill>
        <p:spPr>
          <a:xfrm>
            <a:off x="8422802" y="3977580"/>
            <a:ext cx="1237758" cy="1782961"/>
          </a:xfrm>
          <a:prstGeom prst="rect">
            <a:avLst/>
          </a:prstGeom>
          <a:noFill/>
          <a:ln>
            <a:noFill/>
          </a:ln>
        </p:spPr>
      </p:pic>
      <p:sp>
        <p:nvSpPr>
          <p:cNvPr id="523" name="Google Shape;523;p38"/>
          <p:cNvSpPr/>
          <p:nvPr/>
        </p:nvSpPr>
        <p:spPr>
          <a:xfrm>
            <a:off x="6458396" y="5833765"/>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Kumaraswamy et al. (2019), Fig. 1a–c. Antennal input, mechanosensory neuropils and DL-Int-1.</a:t>
            </a:r>
            <a:endParaRPr sz="1800">
              <a:solidFill>
                <a:schemeClr val="dk1"/>
              </a:solidFill>
              <a:latin typeface="Calibri"/>
              <a:ea typeface="Calibri"/>
              <a:cs typeface="Calibri"/>
              <a:sym typeface="Calibri"/>
            </a:endParaRPr>
          </a:p>
        </p:txBody>
      </p:sp>
      <p:sp>
        <p:nvSpPr>
          <p:cNvPr id="524" name="Google Shape;524;p38"/>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Greggers et al. (2013)</a:t>
            </a:r>
            <a:endParaRPr sz="1800">
              <a:solidFill>
                <a:schemeClr val="dk1"/>
              </a:solidFill>
              <a:latin typeface="Calibri"/>
              <a:ea typeface="Calibri"/>
              <a:cs typeface="Calibri"/>
              <a:sym typeface="Calibri"/>
            </a:endParaRPr>
          </a:p>
        </p:txBody>
      </p:sp>
      <p:sp>
        <p:nvSpPr>
          <p:cNvPr id="526" name="Google Shape;526;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0" name="Shape 530"/>
        <p:cNvGrpSpPr/>
        <p:nvPr/>
      </p:nvGrpSpPr>
      <p:grpSpPr>
        <a:xfrm>
          <a:off x="0" y="0"/>
          <a:ext cx="0" cy="0"/>
          <a:chOff x="0" y="0"/>
          <a:chExt cx="0" cy="0"/>
        </a:xfrm>
      </p:grpSpPr>
      <p:sp>
        <p:nvSpPr>
          <p:cNvPr id="531" name="Google Shape;531;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Antennal interventions reduce learned field responses</a:t>
            </a:r>
            <a:endParaRPr sz="1800">
              <a:solidFill>
                <a:schemeClr val="dk1"/>
              </a:solidFill>
              <a:latin typeface="Calibri"/>
              <a:ea typeface="Calibri"/>
              <a:cs typeface="Calibri"/>
              <a:sym typeface="Calibri"/>
            </a:endParaRPr>
          </a:p>
        </p:txBody>
      </p:sp>
      <p:sp>
        <p:nvSpPr>
          <p:cNvPr id="532" name="Google Shape;532;p39"/>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Greggers and colleagues paired an electric-field stimulus with sucrose and tested the conditioned proboscis extension response. Uncharged material or an inactive stimulus source served as the unrewarded comparison. Bees learned both constant fields and modulated stimulation at 60 Hz.</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After learning, removing antennae eliminated the learned field response. Wax treatments that restricted antennal joints strongly reduced it; coating surfaces while retaining movement produced a less marked reduction. Learned responses to electric cues were also retained after 24 h.</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The intervention pattern supports a contribution from antennal mechanoreception, including receptors associated with both joints. Learned electric-field responses lasted 24 h, so the field is a cue that bees can store and retrieve.</a:t>
            </a:r>
            <a:endParaRPr sz="1800">
              <a:solidFill>
                <a:schemeClr val="dk1"/>
              </a:solidFill>
              <a:latin typeface="Calibri"/>
              <a:ea typeface="Calibri"/>
              <a:cs typeface="Calibri"/>
              <a:sym typeface="Calibri"/>
            </a:endParaRPr>
          </a:p>
        </p:txBody>
      </p:sp>
      <p:pic>
        <p:nvPicPr>
          <p:cNvPr id="535" name="Google Shape;535;p39"/>
          <p:cNvPicPr preferRelativeResize="0"/>
          <p:nvPr/>
        </p:nvPicPr>
        <p:blipFill rotWithShape="1">
          <a:blip r:embed="rId3">
            <a:alphaModFix/>
          </a:blip>
          <a:srcRect b="0" l="0" r="0" t="0"/>
          <a:stretch/>
        </p:blipFill>
        <p:spPr>
          <a:xfrm>
            <a:off x="7194225" y="1280071"/>
            <a:ext cx="2048872" cy="4297561"/>
          </a:xfrm>
          <a:prstGeom prst="rect">
            <a:avLst/>
          </a:prstGeom>
          <a:noFill/>
          <a:ln>
            <a:noFill/>
          </a:ln>
        </p:spPr>
      </p:pic>
      <p:sp>
        <p:nvSpPr>
          <p:cNvPr id="536" name="Google Shape;536;p39"/>
          <p:cNvSpPr/>
          <p:nvPr/>
        </p:nvSpPr>
        <p:spPr>
          <a:xfrm>
            <a:off x="6458396" y="5669161"/>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Greggers et al. (2013), Fig. 7a–c. Associative learning after antennal interventions.</a:t>
            </a:r>
            <a:endParaRPr sz="1800">
              <a:solidFill>
                <a:schemeClr val="dk1"/>
              </a:solidFill>
              <a:latin typeface="Calibri"/>
              <a:ea typeface="Calibri"/>
              <a:cs typeface="Calibri"/>
              <a:sym typeface="Calibri"/>
            </a:endParaRPr>
          </a:p>
        </p:txBody>
      </p:sp>
      <p:pic>
        <p:nvPicPr>
          <p:cNvPr id="537" name="Google Shape;537;p39"/>
          <p:cNvPicPr preferRelativeResize="0"/>
          <p:nvPr/>
        </p:nvPicPr>
        <p:blipFill rotWithShape="1">
          <a:blip r:embed="rId4">
            <a:alphaModFix/>
          </a:blip>
          <a:srcRect b="0" l="0" r="0" t="0"/>
          <a:stretch/>
        </p:blipFill>
        <p:spPr>
          <a:xfrm>
            <a:off x="10161836" y="2148789"/>
            <a:ext cx="1462980" cy="2107389"/>
          </a:xfrm>
          <a:prstGeom prst="rect">
            <a:avLst/>
          </a:prstGeom>
          <a:noFill/>
          <a:ln>
            <a:noFill/>
          </a:ln>
        </p:spPr>
      </p:pic>
      <p:sp>
        <p:nvSpPr>
          <p:cNvPr id="538" name="Google Shape;538;p39"/>
          <p:cNvSpPr/>
          <p:nvPr/>
        </p:nvSpPr>
        <p:spPr>
          <a:xfrm>
            <a:off x="10161836" y="4329410"/>
            <a:ext cx="1482030"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Kumaraswamy et al. (2019), Fig. 1a–c. Antennal input, mechanosensory neuropils and DL-Int-1.</a:t>
            </a:r>
            <a:endParaRPr sz="1800">
              <a:solidFill>
                <a:schemeClr val="dk1"/>
              </a:solidFill>
              <a:latin typeface="Calibri"/>
              <a:ea typeface="Calibri"/>
              <a:cs typeface="Calibri"/>
              <a:sym typeface="Calibri"/>
            </a:endParaRPr>
          </a:p>
        </p:txBody>
      </p:sp>
      <p:sp>
        <p:nvSpPr>
          <p:cNvPr id="539" name="Google Shape;539;p39"/>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Greggers et al. (2013)</a:t>
            </a:r>
            <a:endParaRPr sz="1800">
              <a:solidFill>
                <a:schemeClr val="dk1"/>
              </a:solidFill>
              <a:latin typeface="Calibri"/>
              <a:ea typeface="Calibri"/>
              <a:cs typeface="Calibri"/>
              <a:sym typeface="Calibri"/>
            </a:endParaRPr>
          </a:p>
        </p:txBody>
      </p:sp>
      <p:sp>
        <p:nvSpPr>
          <p:cNvPr id="541" name="Google Shape;541;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5" name="Shape 545"/>
        <p:cNvGrpSpPr/>
        <p:nvPr/>
      </p:nvGrpSpPr>
      <p:grpSpPr>
        <a:xfrm>
          <a:off x="0" y="0"/>
          <a:ext cx="0" cy="0"/>
          <a:chOff x="0" y="0"/>
          <a:chExt cx="0" cy="0"/>
        </a:xfrm>
      </p:grpSpPr>
      <p:sp>
        <p:nvSpPr>
          <p:cNvPr id="546" name="Google Shape;546;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DL-Int-1 is GABA-positive and inhibited by pulse trains</a:t>
            </a:r>
            <a:endParaRPr sz="1800">
              <a:solidFill>
                <a:schemeClr val="dk1"/>
              </a:solidFill>
              <a:latin typeface="Calibri"/>
              <a:ea typeface="Calibri"/>
              <a:cs typeface="Calibri"/>
              <a:sym typeface="Calibri"/>
            </a:endParaRPr>
          </a:p>
        </p:txBody>
      </p:sp>
      <p:sp>
        <p:nvSpPr>
          <p:cNvPr id="547" name="Google Shape;547;p40"/>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Ai and colleagues recorded intracellularly from identified honeybee interneurons while a mechanical stimulator vibrated the antennal flagellum. </a:t>
            </a:r>
            <a:r>
              <a:rPr b="1" i="0" lang="en-US" sz="1500">
                <a:solidFill>
                  <a:srgbClr val="3F5063"/>
                </a:solidFill>
                <a:latin typeface="Arial"/>
                <a:ea typeface="Arial"/>
                <a:cs typeface="Arial"/>
                <a:sym typeface="Arial"/>
              </a:rPr>
              <a:t>DL-Int-1</a:t>
            </a:r>
            <a:r>
              <a:rPr b="0" i="0" lang="en-US" sz="1500">
                <a:solidFill>
                  <a:srgbClr val="252B32"/>
                </a:solidFill>
                <a:latin typeface="Arial"/>
                <a:ea typeface="Arial"/>
                <a:cs typeface="Arial"/>
                <a:sym typeface="Arial"/>
              </a:rPr>
              <a:t> branches in the dorsal lobe and related mechanosensory tissue. Dye filling and anti-GABA staining associated this cell type with a GABAergic phenotype.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The stimulus carrier was 265 Hz, within the wing-vibration range relevant to waggle dancing. Pulse trains with durations up to 16 ms and intervals up to 33 ms suppressed DL-Int-1 firing below its spontaneous level. Longer 100 ms intervals allowed intermittent spikes during the train.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This response distinguishes closely spaced vibration pulses from more widely spaced events. Short intervals suppressed firing and 100 ms intervals let spikes through, which makes DL-Int-1 a temporal filter.</a:t>
            </a:r>
            <a:endParaRPr sz="1800">
              <a:solidFill>
                <a:schemeClr val="dk1"/>
              </a:solidFill>
              <a:latin typeface="Calibri"/>
              <a:ea typeface="Calibri"/>
              <a:cs typeface="Calibri"/>
              <a:sym typeface="Calibri"/>
            </a:endParaRPr>
          </a:p>
        </p:txBody>
      </p:sp>
      <p:pic>
        <p:nvPicPr>
          <p:cNvPr id="550" name="Google Shape;550;p40"/>
          <p:cNvPicPr preferRelativeResize="0"/>
          <p:nvPr/>
        </p:nvPicPr>
        <p:blipFill rotWithShape="1">
          <a:blip r:embed="rId3">
            <a:alphaModFix/>
          </a:blip>
          <a:srcRect b="0" l="0" r="0" t="0"/>
          <a:stretch/>
        </p:blipFill>
        <p:spPr>
          <a:xfrm>
            <a:off x="6458499" y="1280071"/>
            <a:ext cx="3520323" cy="2764482"/>
          </a:xfrm>
          <a:prstGeom prst="rect">
            <a:avLst/>
          </a:prstGeom>
          <a:noFill/>
          <a:ln>
            <a:noFill/>
          </a:ln>
        </p:spPr>
      </p:pic>
      <p:sp>
        <p:nvSpPr>
          <p:cNvPr id="551" name="Google Shape;551;p40"/>
          <p:cNvSpPr/>
          <p:nvPr/>
        </p:nvSpPr>
        <p:spPr>
          <a:xfrm>
            <a:off x="6458396" y="4136082"/>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Ai et al. (2017), Fig. 3A–D. DL-Int-1 responses to pulse duration and interval.</a:t>
            </a:r>
            <a:endParaRPr sz="1800">
              <a:solidFill>
                <a:schemeClr val="dk1"/>
              </a:solidFill>
              <a:latin typeface="Calibri"/>
              <a:ea typeface="Calibri"/>
              <a:cs typeface="Calibri"/>
              <a:sym typeface="Calibri"/>
            </a:endParaRPr>
          </a:p>
        </p:txBody>
      </p:sp>
      <p:pic>
        <p:nvPicPr>
          <p:cNvPr id="552" name="Google Shape;552;p40"/>
          <p:cNvPicPr preferRelativeResize="0"/>
          <p:nvPr/>
        </p:nvPicPr>
        <p:blipFill rotWithShape="1">
          <a:blip r:embed="rId4">
            <a:alphaModFix/>
          </a:blip>
          <a:srcRect b="0" l="0" r="0" t="0"/>
          <a:stretch/>
        </p:blipFill>
        <p:spPr>
          <a:xfrm>
            <a:off x="10161836" y="2148780"/>
            <a:ext cx="1462980" cy="877788"/>
          </a:xfrm>
          <a:prstGeom prst="rect">
            <a:avLst/>
          </a:prstGeom>
          <a:noFill/>
          <a:ln>
            <a:noFill/>
          </a:ln>
        </p:spPr>
      </p:pic>
      <p:sp>
        <p:nvSpPr>
          <p:cNvPr id="553" name="Google Shape;553;p40"/>
          <p:cNvSpPr/>
          <p:nvPr/>
        </p:nvSpPr>
        <p:spPr>
          <a:xfrm>
            <a:off x="10161836" y="3099792"/>
            <a:ext cx="148203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Ai et al. (2017), Fig. 2A–E. DL-Int-1 morphology and GABA immunoreactivity.</a:t>
            </a:r>
            <a:endParaRPr sz="1800">
              <a:solidFill>
                <a:schemeClr val="dk1"/>
              </a:solidFill>
              <a:latin typeface="Calibri"/>
              <a:ea typeface="Calibri"/>
              <a:cs typeface="Calibri"/>
              <a:sym typeface="Calibri"/>
            </a:endParaRPr>
          </a:p>
        </p:txBody>
      </p:sp>
      <p:sp>
        <p:nvSpPr>
          <p:cNvPr id="554" name="Google Shape;554;p40"/>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Ai et al. (2017)</a:t>
            </a:r>
            <a:endParaRPr sz="1800">
              <a:solidFill>
                <a:schemeClr val="dk1"/>
              </a:solidFill>
              <a:latin typeface="Calibri"/>
              <a:ea typeface="Calibri"/>
              <a:cs typeface="Calibri"/>
              <a:sym typeface="Calibri"/>
            </a:endParaRPr>
          </a:p>
        </p:txBody>
      </p:sp>
      <p:sp>
        <p:nvSpPr>
          <p:cNvPr id="556" name="Google Shape;556;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0" name="Shape 560"/>
        <p:cNvGrpSpPr/>
        <p:nvPr/>
      </p:nvGrpSpPr>
      <p:grpSpPr>
        <a:xfrm>
          <a:off x="0" y="0"/>
          <a:ext cx="0" cy="0"/>
          <a:chOff x="0" y="0"/>
          <a:chExt cx="0" cy="0"/>
        </a:xfrm>
      </p:grpSpPr>
      <p:sp>
        <p:nvSpPr>
          <p:cNvPr id="561" name="Google Shape;561;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DL-Int-2 remains excited during dance-like vibration</a:t>
            </a:r>
            <a:endParaRPr sz="1800">
              <a:solidFill>
                <a:schemeClr val="dk1"/>
              </a:solidFill>
              <a:latin typeface="Calibri"/>
              <a:ea typeface="Calibri"/>
              <a:cs typeface="Calibri"/>
              <a:sym typeface="Calibri"/>
            </a:endParaRPr>
          </a:p>
        </p:txBody>
      </p:sp>
      <p:sp>
        <p:nvSpPr>
          <p:cNvPr id="562" name="Google Shape;562;p41"/>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Ai and colleagues found a different response in </a:t>
            </a:r>
            <a:r>
              <a:rPr b="1" i="0" lang="en-US" sz="1500">
                <a:solidFill>
                  <a:srgbClr val="3F5063"/>
                </a:solidFill>
                <a:latin typeface="Arial"/>
                <a:ea typeface="Arial"/>
                <a:cs typeface="Arial"/>
                <a:sym typeface="Arial"/>
              </a:rPr>
              <a:t>DL-Int-2</a:t>
            </a:r>
            <a:r>
              <a:rPr b="0" i="0" lang="en-US" sz="1500">
                <a:solidFill>
                  <a:srgbClr val="252B32"/>
                </a:solidFill>
                <a:latin typeface="Arial"/>
                <a:ea typeface="Arial"/>
                <a:cs typeface="Arial"/>
                <a:sym typeface="Arial"/>
              </a:rPr>
              <a:t>, another identified interneuron in the primary mechanosensory processing region. Its soma did not coincide with the anti-GABA labeling observed for DL-Int-1; this negative label does not by itself identify its transmitter.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At a 265 Hz carrier, trains with 16 ms pulses and 33 ms intervals evoked an initial excitation followed by maintained excitation. In contrast, DL-Int-1 was suppressed during comparable short-interval stimulation. </a:t>
            </a:r>
            <a:r>
              <a:rPr b="1" i="0" lang="en-US" sz="1500">
                <a:solidFill>
                  <a:srgbClr val="3F5063"/>
                </a:solidFill>
                <a:latin typeface="Arial"/>
                <a:ea typeface="Arial"/>
                <a:cs typeface="Arial"/>
                <a:sym typeface="Arial"/>
              </a:rPr>
              <a:t>Tonic</a:t>
            </a:r>
            <a:r>
              <a:rPr b="0" i="0" lang="en-US" sz="1500">
                <a:solidFill>
                  <a:srgbClr val="252B32"/>
                </a:solidFill>
                <a:latin typeface="Arial"/>
                <a:ea typeface="Arial"/>
                <a:cs typeface="Arial"/>
                <a:sym typeface="Arial"/>
              </a:rPr>
              <a:t> activity is sustained activity during a stimulus, whereas </a:t>
            </a:r>
            <a:r>
              <a:rPr b="1" i="0" lang="en-US" sz="1500">
                <a:solidFill>
                  <a:srgbClr val="3F5063"/>
                </a:solidFill>
                <a:latin typeface="Arial"/>
                <a:ea typeface="Arial"/>
                <a:cs typeface="Arial"/>
                <a:sym typeface="Arial"/>
              </a:rPr>
              <a:t>phasic</a:t>
            </a:r>
            <a:r>
              <a:rPr b="0" i="0" lang="en-US" sz="1500">
                <a:solidFill>
                  <a:srgbClr val="252B32"/>
                </a:solidFill>
                <a:latin typeface="Arial"/>
                <a:ea typeface="Arial"/>
                <a:cs typeface="Arial"/>
                <a:sym typeface="Arial"/>
              </a:rPr>
              <a:t> activity is concentrated near a change such as onset.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The contrasting responses could allow pulse-train duration to influence downstream signaling. DL-Int-1 is suppressed and DL-Int-2 is excited by comparable short-interval trains, so pulse-train duration is represented by two opposite response patterns.</a:t>
            </a:r>
            <a:endParaRPr sz="1800">
              <a:solidFill>
                <a:schemeClr val="dk1"/>
              </a:solidFill>
              <a:latin typeface="Calibri"/>
              <a:ea typeface="Calibri"/>
              <a:cs typeface="Calibri"/>
              <a:sym typeface="Calibri"/>
            </a:endParaRPr>
          </a:p>
        </p:txBody>
      </p:sp>
      <p:pic>
        <p:nvPicPr>
          <p:cNvPr id="565" name="Google Shape;565;p41"/>
          <p:cNvPicPr preferRelativeResize="0"/>
          <p:nvPr/>
        </p:nvPicPr>
        <p:blipFill rotWithShape="1">
          <a:blip r:embed="rId3">
            <a:alphaModFix/>
          </a:blip>
          <a:srcRect b="0" l="0" r="0" t="0"/>
          <a:stretch/>
        </p:blipFill>
        <p:spPr>
          <a:xfrm>
            <a:off x="6458461" y="1280071"/>
            <a:ext cx="3520401" cy="3967609"/>
          </a:xfrm>
          <a:prstGeom prst="rect">
            <a:avLst/>
          </a:prstGeom>
          <a:noFill/>
          <a:ln>
            <a:noFill/>
          </a:ln>
        </p:spPr>
      </p:pic>
      <p:sp>
        <p:nvSpPr>
          <p:cNvPr id="566" name="Google Shape;566;p41"/>
          <p:cNvSpPr/>
          <p:nvPr/>
        </p:nvSpPr>
        <p:spPr>
          <a:xfrm>
            <a:off x="6458396" y="5339209"/>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Ai et al. (2017), Fig. 4A,B. DL-Int-2 excitation during vibration pulse trains.</a:t>
            </a:r>
            <a:endParaRPr sz="1800">
              <a:solidFill>
                <a:schemeClr val="dk1"/>
              </a:solidFill>
              <a:latin typeface="Calibri"/>
              <a:ea typeface="Calibri"/>
              <a:cs typeface="Calibri"/>
              <a:sym typeface="Calibri"/>
            </a:endParaRPr>
          </a:p>
        </p:txBody>
      </p:sp>
      <p:pic>
        <p:nvPicPr>
          <p:cNvPr id="567" name="Google Shape;567;p41"/>
          <p:cNvPicPr preferRelativeResize="0"/>
          <p:nvPr/>
        </p:nvPicPr>
        <p:blipFill rotWithShape="1">
          <a:blip r:embed="rId4">
            <a:alphaModFix/>
          </a:blip>
          <a:srcRect b="0" l="0" r="0" t="0"/>
          <a:stretch/>
        </p:blipFill>
        <p:spPr>
          <a:xfrm>
            <a:off x="10161842" y="2148780"/>
            <a:ext cx="1462967" cy="751136"/>
          </a:xfrm>
          <a:prstGeom prst="rect">
            <a:avLst/>
          </a:prstGeom>
          <a:noFill/>
          <a:ln>
            <a:noFill/>
          </a:ln>
        </p:spPr>
      </p:pic>
      <p:sp>
        <p:nvSpPr>
          <p:cNvPr id="568" name="Google Shape;568;p41"/>
          <p:cNvSpPr/>
          <p:nvPr/>
        </p:nvSpPr>
        <p:spPr>
          <a:xfrm>
            <a:off x="10161836" y="2972991"/>
            <a:ext cx="148203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Ai et al. (2017), Fig. 2F–J. DL-Int-2 morphology and transmitter-label controls.</a:t>
            </a:r>
            <a:endParaRPr sz="1800">
              <a:solidFill>
                <a:schemeClr val="dk1"/>
              </a:solidFill>
              <a:latin typeface="Calibri"/>
              <a:ea typeface="Calibri"/>
              <a:cs typeface="Calibri"/>
              <a:sym typeface="Calibri"/>
            </a:endParaRPr>
          </a:p>
        </p:txBody>
      </p:sp>
      <p:sp>
        <p:nvSpPr>
          <p:cNvPr id="569" name="Google Shape;569;p41"/>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Ai et al. (2017)</a:t>
            </a:r>
            <a:endParaRPr sz="1800">
              <a:solidFill>
                <a:schemeClr val="dk1"/>
              </a:solidFill>
              <a:latin typeface="Calibri"/>
              <a:ea typeface="Calibri"/>
              <a:cs typeface="Calibri"/>
              <a:sym typeface="Calibri"/>
            </a:endParaRPr>
          </a:p>
        </p:txBody>
      </p:sp>
      <p:sp>
        <p:nvSpPr>
          <p:cNvPr id="571" name="Google Shape;571;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5" name="Shape 575"/>
        <p:cNvGrpSpPr/>
        <p:nvPr/>
      </p:nvGrpSpPr>
      <p:grpSpPr>
        <a:xfrm>
          <a:off x="0" y="0"/>
          <a:ext cx="0" cy="0"/>
          <a:chOff x="0" y="0"/>
          <a:chExt cx="0" cy="0"/>
        </a:xfrm>
      </p:grpSpPr>
      <p:sp>
        <p:nvSpPr>
          <p:cNvPr id="576" name="Google Shape;576;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Mechanosensory responses change as workers mature</a:t>
            </a:r>
            <a:endParaRPr sz="1800">
              <a:solidFill>
                <a:schemeClr val="dk1"/>
              </a:solidFill>
              <a:latin typeface="Calibri"/>
              <a:ea typeface="Calibri"/>
              <a:cs typeface="Calibri"/>
              <a:sym typeface="Calibri"/>
            </a:endParaRPr>
          </a:p>
        </p:txBody>
      </p:sp>
      <p:sp>
        <p:nvSpPr>
          <p:cNvPr id="577" name="Google Shape;577;p42"/>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Kumaraswamy and colleagues compared DL-Int-1 in newly emerged workers aged 1–3 days with foragers older than 10 days. The preparation combined intracellular recording with dye-filled morphology, allowing cell identity to be retained across the age comparison.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Gross arborization extent was similar between groups, but branch density differed in selected regions. Foragers’ responses showed a stronger contrast between spontaneous activity and vibration-evoked inhibition, giving the stimulus a more distinct temporal signature. The original reconstructions and response distributions document different levels of analysis.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Maturation can change signal processing without replacing a neuron’s overall projection pattern. Branch density differences in selected regions accompany the sharper contrast of the forager response.</a:t>
            </a:r>
            <a:endParaRPr sz="1800">
              <a:solidFill>
                <a:schemeClr val="dk1"/>
              </a:solidFill>
              <a:latin typeface="Calibri"/>
              <a:ea typeface="Calibri"/>
              <a:cs typeface="Calibri"/>
              <a:sym typeface="Calibri"/>
            </a:endParaRPr>
          </a:p>
        </p:txBody>
      </p:sp>
      <p:pic>
        <p:nvPicPr>
          <p:cNvPr id="580" name="Google Shape;580;p42"/>
          <p:cNvPicPr preferRelativeResize="0"/>
          <p:nvPr/>
        </p:nvPicPr>
        <p:blipFill rotWithShape="1">
          <a:blip r:embed="rId3">
            <a:alphaModFix/>
          </a:blip>
          <a:srcRect b="0" l="0" r="0" t="0"/>
          <a:stretch/>
        </p:blipFill>
        <p:spPr>
          <a:xfrm>
            <a:off x="6458458" y="1280071"/>
            <a:ext cx="3520406" cy="2928045"/>
          </a:xfrm>
          <a:prstGeom prst="rect">
            <a:avLst/>
          </a:prstGeom>
          <a:noFill/>
          <a:ln>
            <a:noFill/>
          </a:ln>
        </p:spPr>
      </p:pic>
      <p:sp>
        <p:nvSpPr>
          <p:cNvPr id="581" name="Google Shape;581;p42"/>
          <p:cNvSpPr/>
          <p:nvPr/>
        </p:nvSpPr>
        <p:spPr>
          <a:xfrm>
            <a:off x="6458396" y="4299645"/>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Kumaraswamy et al. (2019), Fig. 5a–d. Neuronal response distributions in young bees and foragers.</a:t>
            </a:r>
            <a:endParaRPr sz="1800">
              <a:solidFill>
                <a:schemeClr val="dk1"/>
              </a:solidFill>
              <a:latin typeface="Calibri"/>
              <a:ea typeface="Calibri"/>
              <a:cs typeface="Calibri"/>
              <a:sym typeface="Calibri"/>
            </a:endParaRPr>
          </a:p>
        </p:txBody>
      </p:sp>
      <p:pic>
        <p:nvPicPr>
          <p:cNvPr id="582" name="Google Shape;582;p42"/>
          <p:cNvPicPr preferRelativeResize="0"/>
          <p:nvPr/>
        </p:nvPicPr>
        <p:blipFill rotWithShape="1">
          <a:blip r:embed="rId4">
            <a:alphaModFix/>
          </a:blip>
          <a:srcRect b="0" l="0" r="0" t="0"/>
          <a:stretch/>
        </p:blipFill>
        <p:spPr>
          <a:xfrm>
            <a:off x="10161837" y="2148780"/>
            <a:ext cx="1462978" cy="1007418"/>
          </a:xfrm>
          <a:prstGeom prst="rect">
            <a:avLst/>
          </a:prstGeom>
          <a:noFill/>
          <a:ln>
            <a:noFill/>
          </a:ln>
        </p:spPr>
      </p:pic>
      <p:sp>
        <p:nvSpPr>
          <p:cNvPr id="583" name="Google Shape;583;p42"/>
          <p:cNvSpPr/>
          <p:nvPr/>
        </p:nvSpPr>
        <p:spPr>
          <a:xfrm>
            <a:off x="10161836" y="3229421"/>
            <a:ext cx="1482030"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Kumaraswamy et al. (2019), Fig. 3a,b. Reconstructed DL-Int-1 arborizations during maturation.</a:t>
            </a:r>
            <a:endParaRPr sz="1800">
              <a:solidFill>
                <a:schemeClr val="dk1"/>
              </a:solidFill>
              <a:latin typeface="Calibri"/>
              <a:ea typeface="Calibri"/>
              <a:cs typeface="Calibri"/>
              <a:sym typeface="Calibri"/>
            </a:endParaRPr>
          </a:p>
        </p:txBody>
      </p:sp>
      <p:sp>
        <p:nvSpPr>
          <p:cNvPr id="584" name="Google Shape;584;p42"/>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Kumaraswamy et al. (2019)</a:t>
            </a:r>
            <a:endParaRPr sz="1800">
              <a:solidFill>
                <a:schemeClr val="dk1"/>
              </a:solidFill>
              <a:latin typeface="Calibri"/>
              <a:ea typeface="Calibri"/>
              <a:cs typeface="Calibri"/>
              <a:sym typeface="Calibri"/>
            </a:endParaRPr>
          </a:p>
        </p:txBody>
      </p:sp>
      <p:sp>
        <p:nvSpPr>
          <p:cNvPr id="586" name="Google Shape;586;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0" name="Shape 590"/>
        <p:cNvGrpSpPr/>
        <p:nvPr/>
      </p:nvGrpSpPr>
      <p:grpSpPr>
        <a:xfrm>
          <a:off x="0" y="0"/>
          <a:ext cx="0" cy="0"/>
          <a:chOff x="0" y="0"/>
          <a:chExt cx="0" cy="0"/>
        </a:xfrm>
      </p:grpSpPr>
      <p:sp>
        <p:nvSpPr>
          <p:cNvPr id="591" name="Google Shape;591;p43"/>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Experienced dancers improve novices’ directional precision</a:t>
            </a:r>
            <a:endParaRPr sz="1800">
              <a:solidFill>
                <a:schemeClr val="dk1"/>
              </a:solidFill>
              <a:latin typeface="Calibri"/>
              <a:ea typeface="Calibri"/>
              <a:cs typeface="Calibri"/>
              <a:sym typeface="Calibri"/>
            </a:endParaRPr>
          </a:p>
        </p:txBody>
      </p:sp>
      <p:sp>
        <p:nvSpPr>
          <p:cNvPr id="592" name="Google Shape;592;p4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Dong and colleagues created colonies of newly emerged workers with no experienced dancers and compared them with mixed-age colonies. Individually marked bees first danced for a feeder 150 m away; the same bees were tested again 20 days later.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Bees that could not follow experienced dancers before their first dance produced larger waggle-angle divergence and more disordered movements. Their directional precision improved by the later test. First dances in mixed-age colonies were already more precise, separating early social exposure from the act of merely performing a dance.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result supports social contributions to dance development alongside an inherited behavioral pattern. Following experienced dancers before the first dance improves the precision of the waggle angle, while naive bees still produce a dance with the basic structure.</a:t>
            </a:r>
            <a:endParaRPr sz="1800">
              <a:solidFill>
                <a:schemeClr val="dk1"/>
              </a:solidFill>
              <a:latin typeface="Calibri"/>
              <a:ea typeface="Calibri"/>
              <a:cs typeface="Calibri"/>
              <a:sym typeface="Calibri"/>
            </a:endParaRPr>
          </a:p>
        </p:txBody>
      </p:sp>
      <p:pic>
        <p:nvPicPr>
          <p:cNvPr id="595" name="Google Shape;595;p43"/>
          <p:cNvPicPr preferRelativeResize="0"/>
          <p:nvPr/>
        </p:nvPicPr>
        <p:blipFill rotWithShape="1">
          <a:blip r:embed="rId3">
            <a:alphaModFix/>
          </a:blip>
          <a:srcRect b="0" l="0" r="0" t="0"/>
          <a:stretch/>
        </p:blipFill>
        <p:spPr>
          <a:xfrm>
            <a:off x="6932955" y="1280071"/>
            <a:ext cx="4217749" cy="4297561"/>
          </a:xfrm>
          <a:prstGeom prst="rect">
            <a:avLst/>
          </a:prstGeom>
          <a:noFill/>
          <a:ln>
            <a:noFill/>
          </a:ln>
        </p:spPr>
      </p:pic>
      <p:sp>
        <p:nvSpPr>
          <p:cNvPr id="596" name="Google Shape;596;p43"/>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Dong et al. (2023), Fig. 1B. Directional divergence before and after dance experience.</a:t>
            </a:r>
            <a:endParaRPr sz="1800">
              <a:solidFill>
                <a:schemeClr val="dk1"/>
              </a:solidFill>
              <a:latin typeface="Calibri"/>
              <a:ea typeface="Calibri"/>
              <a:cs typeface="Calibri"/>
              <a:sym typeface="Calibri"/>
            </a:endParaRPr>
          </a:p>
        </p:txBody>
      </p:sp>
      <p:sp>
        <p:nvSpPr>
          <p:cNvPr id="597" name="Google Shape;597;p43"/>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Dong et al. (2023)</a:t>
            </a:r>
            <a:endParaRPr sz="1800">
              <a:solidFill>
                <a:schemeClr val="dk1"/>
              </a:solidFill>
              <a:latin typeface="Calibri"/>
              <a:ea typeface="Calibri"/>
              <a:cs typeface="Calibri"/>
              <a:sym typeface="Calibri"/>
            </a:endParaRPr>
          </a:p>
        </p:txBody>
      </p:sp>
      <p:sp>
        <p:nvSpPr>
          <p:cNvPr id="599" name="Google Shape;599;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3" name="Shape 603"/>
        <p:cNvGrpSpPr/>
        <p:nvPr/>
      </p:nvGrpSpPr>
      <p:grpSpPr>
        <a:xfrm>
          <a:off x="0" y="0"/>
          <a:ext cx="0" cy="0"/>
          <a:chOff x="0" y="0"/>
          <a:chExt cx="0" cy="0"/>
        </a:xfrm>
      </p:grpSpPr>
      <p:sp>
        <p:nvSpPr>
          <p:cNvPr id="604" name="Google Shape;604;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Early social experience leaves a lasting distance bias</a:t>
            </a:r>
            <a:endParaRPr sz="1800">
              <a:solidFill>
                <a:schemeClr val="dk1"/>
              </a:solidFill>
              <a:latin typeface="Calibri"/>
              <a:ea typeface="Calibri"/>
              <a:cs typeface="Calibri"/>
              <a:sym typeface="Calibri"/>
            </a:endParaRPr>
          </a:p>
        </p:txBody>
      </p:sp>
      <p:sp>
        <p:nvSpPr>
          <p:cNvPr id="605" name="Google Shape;605;p44"/>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In Dong and colleagues’ 150 m feeder preparation, naive first dancers produced longer waggle runs and more waggles per run than first dancers from mixed-age colonies. The altered timing advertised a greater distance despite the common food location.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Twenty days later, the previously naive bees still produced the elevated distance signal. Their return-flight times had improved, and their directional precision had recovered, but the distance difference remained. The persistence separates distance calibration from changes that become more normal with later foraging experience.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Social experience therefore influences different components of the dance differently. Social experience therefore influences different components of the dance differently. Early exposure to experienced dancers calibrates the distance signal in a way that subsequent foraging does not replace.</a:t>
            </a:r>
            <a:endParaRPr sz="1800">
              <a:solidFill>
                <a:schemeClr val="dk1"/>
              </a:solidFill>
              <a:latin typeface="Calibri"/>
              <a:ea typeface="Calibri"/>
              <a:cs typeface="Calibri"/>
              <a:sym typeface="Calibri"/>
            </a:endParaRPr>
          </a:p>
        </p:txBody>
      </p:sp>
      <p:pic>
        <p:nvPicPr>
          <p:cNvPr id="608" name="Google Shape;608;p44"/>
          <p:cNvPicPr preferRelativeResize="0"/>
          <p:nvPr/>
        </p:nvPicPr>
        <p:blipFill rotWithShape="1">
          <a:blip r:embed="rId3">
            <a:alphaModFix/>
          </a:blip>
          <a:srcRect b="0" l="0" r="0" t="0"/>
          <a:stretch/>
        </p:blipFill>
        <p:spPr>
          <a:xfrm>
            <a:off x="8267263" y="1280071"/>
            <a:ext cx="1548836" cy="4297561"/>
          </a:xfrm>
          <a:prstGeom prst="rect">
            <a:avLst/>
          </a:prstGeom>
          <a:noFill/>
          <a:ln>
            <a:noFill/>
          </a:ln>
        </p:spPr>
      </p:pic>
      <p:sp>
        <p:nvSpPr>
          <p:cNvPr id="609" name="Google Shape;609;p44"/>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Dong et al. (2023), Fig. 2. Dance distance signals and return flights over time.</a:t>
            </a:r>
            <a:endParaRPr sz="1800">
              <a:solidFill>
                <a:schemeClr val="dk1"/>
              </a:solidFill>
              <a:latin typeface="Calibri"/>
              <a:ea typeface="Calibri"/>
              <a:cs typeface="Calibri"/>
              <a:sym typeface="Calibri"/>
            </a:endParaRPr>
          </a:p>
        </p:txBody>
      </p:sp>
      <p:sp>
        <p:nvSpPr>
          <p:cNvPr id="610" name="Google Shape;610;p44"/>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Dong et al. (2023)</a:t>
            </a:r>
            <a:endParaRPr sz="1800">
              <a:solidFill>
                <a:schemeClr val="dk1"/>
              </a:solidFill>
              <a:latin typeface="Calibri"/>
              <a:ea typeface="Calibri"/>
              <a:cs typeface="Calibri"/>
              <a:sym typeface="Calibri"/>
            </a:endParaRPr>
          </a:p>
        </p:txBody>
      </p:sp>
      <p:sp>
        <p:nvSpPr>
          <p:cNvPr id="612" name="Google Shape;612;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p45"/>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Landscape knowledge can modify the recruit’s later search</a:t>
            </a:r>
            <a:endParaRPr sz="1800">
              <a:solidFill>
                <a:schemeClr val="dk1"/>
              </a:solidFill>
              <a:latin typeface="Calibri"/>
              <a:ea typeface="Calibri"/>
              <a:cs typeface="Calibri"/>
              <a:sym typeface="Calibri"/>
            </a:endParaRPr>
          </a:p>
        </p:txBody>
      </p:sp>
      <p:sp>
        <p:nvSpPr>
          <p:cNvPr id="618" name="Google Shape;618;p4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Wang and colleagues tracked dance followers released either at the hive or at displaced sites within an explored landscape. The recruits had never visited the advertised food source. Harmonic radar sampled flight positions every 3 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Both groups first flew approximately the communicated vector. During later search, displaced recruits directed more behavior toward the real feeder location than toward the virtual endpoint obtained by executing that vector from the wrong origin. Search could therefore incorporate landscape knowledge acquired before the recruitment event.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The authors interpreted this behavior as inference of source location using map-like spatial knowledge. The initial vector flight and the subsequent search are separate stages, with landscape knowledge entering during the search.</a:t>
            </a:r>
            <a:endParaRPr sz="1800">
              <a:solidFill>
                <a:schemeClr val="dk1"/>
              </a:solidFill>
              <a:latin typeface="Calibri"/>
              <a:ea typeface="Calibri"/>
              <a:cs typeface="Calibri"/>
              <a:sym typeface="Calibri"/>
            </a:endParaRPr>
          </a:p>
        </p:txBody>
      </p:sp>
      <p:pic>
        <p:nvPicPr>
          <p:cNvPr id="621" name="Google Shape;621;p45"/>
          <p:cNvPicPr preferRelativeResize="0"/>
          <p:nvPr/>
        </p:nvPicPr>
        <p:blipFill rotWithShape="1">
          <a:blip r:embed="rId3">
            <a:alphaModFix/>
          </a:blip>
          <a:srcRect b="0" l="0" r="0" t="0"/>
          <a:stretch/>
        </p:blipFill>
        <p:spPr>
          <a:xfrm>
            <a:off x="7159414" y="1280071"/>
            <a:ext cx="2118643" cy="4297561"/>
          </a:xfrm>
          <a:prstGeom prst="rect">
            <a:avLst/>
          </a:prstGeom>
          <a:noFill/>
          <a:ln>
            <a:noFill/>
          </a:ln>
        </p:spPr>
      </p:pic>
      <p:sp>
        <p:nvSpPr>
          <p:cNvPr id="622" name="Google Shape;622;p45"/>
          <p:cNvSpPr/>
          <p:nvPr/>
        </p:nvSpPr>
        <p:spPr>
          <a:xfrm>
            <a:off x="6458396" y="5669161"/>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Wang et al. (2023), Fig. 4. Search distributions relative to real and virtual feeders.</a:t>
            </a:r>
            <a:endParaRPr sz="1800">
              <a:solidFill>
                <a:schemeClr val="dk1"/>
              </a:solidFill>
              <a:latin typeface="Calibri"/>
              <a:ea typeface="Calibri"/>
              <a:cs typeface="Calibri"/>
              <a:sym typeface="Calibri"/>
            </a:endParaRPr>
          </a:p>
        </p:txBody>
      </p:sp>
      <p:pic>
        <p:nvPicPr>
          <p:cNvPr id="623" name="Google Shape;623;p45"/>
          <p:cNvPicPr preferRelativeResize="0"/>
          <p:nvPr/>
        </p:nvPicPr>
        <p:blipFill rotWithShape="1">
          <a:blip r:embed="rId4">
            <a:alphaModFix/>
          </a:blip>
          <a:srcRect b="0" l="0" r="0" t="0"/>
          <a:stretch/>
        </p:blipFill>
        <p:spPr>
          <a:xfrm>
            <a:off x="10161986" y="2148780"/>
            <a:ext cx="1462680" cy="399008"/>
          </a:xfrm>
          <a:prstGeom prst="rect">
            <a:avLst/>
          </a:prstGeom>
          <a:noFill/>
          <a:ln>
            <a:noFill/>
          </a:ln>
        </p:spPr>
      </p:pic>
      <p:sp>
        <p:nvSpPr>
          <p:cNvPr id="624" name="Google Shape;624;p45"/>
          <p:cNvSpPr/>
          <p:nvPr/>
        </p:nvSpPr>
        <p:spPr>
          <a:xfrm>
            <a:off x="10161836" y="2621012"/>
            <a:ext cx="148203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Wang et al. (2023), Fig. 1A–C. Experimental landscape and radar trajectories.</a:t>
            </a:r>
            <a:endParaRPr sz="1800">
              <a:solidFill>
                <a:schemeClr val="dk1"/>
              </a:solidFill>
              <a:latin typeface="Calibri"/>
              <a:ea typeface="Calibri"/>
              <a:cs typeface="Calibri"/>
              <a:sym typeface="Calibri"/>
            </a:endParaRPr>
          </a:p>
        </p:txBody>
      </p:sp>
      <p:sp>
        <p:nvSpPr>
          <p:cNvPr id="625" name="Google Shape;625;p45"/>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Wang et al. (2023); Riley et al. (2005)</a:t>
            </a:r>
            <a:endParaRPr sz="1800">
              <a:solidFill>
                <a:schemeClr val="dk1"/>
              </a:solidFill>
              <a:latin typeface="Calibri"/>
              <a:ea typeface="Calibri"/>
              <a:cs typeface="Calibri"/>
              <a:sym typeface="Calibri"/>
            </a:endParaRPr>
          </a:p>
        </p:txBody>
      </p:sp>
      <p:sp>
        <p:nvSpPr>
          <p:cNvPr id="627" name="Google Shape;627;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33" name="Google Shape;633;p46"/>
          <p:cNvSpPr/>
          <p:nvPr/>
        </p:nvSpPr>
        <p:spPr>
          <a:xfrm>
            <a:off x="566886" y="1234380"/>
            <a:ext cx="5391894" cy="1478161"/>
          </a:xfrm>
          <a:prstGeom prst="rect">
            <a:avLst/>
          </a:prstGeom>
          <a:solidFill>
            <a:srgbClr val="F5F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46"/>
          <p:cNvSpPr/>
          <p:nvPr/>
        </p:nvSpPr>
        <p:spPr>
          <a:xfrm>
            <a:off x="749796" y="13716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500"/>
              <a:buFont typeface="Arial"/>
              <a:buNone/>
            </a:pPr>
            <a:r>
              <a:rPr b="1" i="0" lang="en-US" sz="1500">
                <a:solidFill>
                  <a:srgbClr val="3F5063"/>
                </a:solidFill>
                <a:latin typeface="Arial"/>
                <a:ea typeface="Arial"/>
                <a:cs typeface="Arial"/>
                <a:sym typeface="Arial"/>
              </a:rPr>
              <a:t>Dance vectors</a:t>
            </a:r>
            <a:r>
              <a:rPr b="0" i="0" lang="en-US" sz="1500">
                <a:solidFill>
                  <a:srgbClr val="252B32"/>
                </a:solidFill>
                <a:latin typeface="Arial"/>
                <a:ea typeface="Arial"/>
                <a:cs typeface="Arial"/>
                <a:sym typeface="Arial"/>
              </a:rPr>
              <a:t> Waggle-run angle specifies direction relative to the sun; duration specifies a visually calibrated distance from the hive. Vector flight and terminal source search are distinct.</a:t>
            </a:r>
            <a:endParaRPr sz="1800">
              <a:solidFill>
                <a:schemeClr val="dk1"/>
              </a:solidFill>
              <a:latin typeface="Calibri"/>
              <a:ea typeface="Calibri"/>
              <a:cs typeface="Calibri"/>
              <a:sym typeface="Calibri"/>
            </a:endParaRPr>
          </a:p>
        </p:txBody>
      </p:sp>
      <p:sp>
        <p:nvSpPr>
          <p:cNvPr id="635" name="Google Shape;635;p46"/>
          <p:cNvSpPr/>
          <p:nvPr/>
        </p:nvSpPr>
        <p:spPr>
          <a:xfrm>
            <a:off x="6233071" y="1234380"/>
            <a:ext cx="5391894" cy="1478161"/>
          </a:xfrm>
          <a:prstGeom prst="rect">
            <a:avLst/>
          </a:prstGeom>
          <a:solidFill>
            <a:srgbClr val="F5F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46"/>
          <p:cNvSpPr/>
          <p:nvPr/>
        </p:nvSpPr>
        <p:spPr>
          <a:xfrm>
            <a:off x="6415980"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600"/>
              <a:buFont typeface="Arial"/>
              <a:buNone/>
            </a:pPr>
            <a:r>
              <a:rPr b="1" i="0" lang="en-US" sz="1600">
                <a:solidFill>
                  <a:srgbClr val="3F5063"/>
                </a:solidFill>
                <a:latin typeface="Arial"/>
                <a:ea typeface="Arial"/>
                <a:cs typeface="Arial"/>
                <a:sym typeface="Arial"/>
              </a:rPr>
              <a:t>Visual odometry</a:t>
            </a:r>
            <a:r>
              <a:rPr b="0" i="0" lang="en-US" sz="1600">
                <a:solidFill>
                  <a:srgbClr val="252B32"/>
                </a:solidFill>
                <a:latin typeface="Arial"/>
                <a:ea typeface="Arial"/>
                <a:cs typeface="Arial"/>
                <a:sym typeface="Arial"/>
              </a:rPr>
              <a:t> Optic flow changes dance duration and recruit search distance. Tunnel texture and natural terrain prevent a universal conversion from duration to physical meters.</a:t>
            </a:r>
            <a:endParaRPr sz="1800">
              <a:solidFill>
                <a:schemeClr val="dk1"/>
              </a:solidFill>
              <a:latin typeface="Calibri"/>
              <a:ea typeface="Calibri"/>
              <a:cs typeface="Calibri"/>
              <a:sym typeface="Calibri"/>
            </a:endParaRPr>
          </a:p>
        </p:txBody>
      </p:sp>
      <p:sp>
        <p:nvSpPr>
          <p:cNvPr id="637" name="Google Shape;637;p46"/>
          <p:cNvSpPr/>
          <p:nvPr/>
        </p:nvSpPr>
        <p:spPr>
          <a:xfrm>
            <a:off x="566886" y="2986980"/>
            <a:ext cx="5391894" cy="1478161"/>
          </a:xfrm>
          <a:prstGeom prst="rect">
            <a:avLst/>
          </a:prstGeom>
          <a:solidFill>
            <a:srgbClr val="F5F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46"/>
          <p:cNvSpPr/>
          <p:nvPr/>
        </p:nvSpPr>
        <p:spPr>
          <a:xfrm>
            <a:off x="749796"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600"/>
              <a:buFont typeface="Arial"/>
              <a:buNone/>
            </a:pPr>
            <a:r>
              <a:rPr b="1" i="0" lang="en-US" sz="1600">
                <a:solidFill>
                  <a:srgbClr val="3F5063"/>
                </a:solidFill>
                <a:latin typeface="Arial"/>
                <a:ea typeface="Arial"/>
                <a:cs typeface="Arial"/>
                <a:sym typeface="Arial"/>
              </a:rPr>
              <a:t>Time compensation</a:t>
            </a:r>
            <a:r>
              <a:rPr b="0" i="0" lang="en-US" sz="1600">
                <a:solidFill>
                  <a:srgbClr val="252B32"/>
                </a:solidFill>
                <a:latin typeface="Arial"/>
                <a:ea typeface="Arial"/>
                <a:cs typeface="Arial"/>
                <a:sym typeface="Arial"/>
              </a:rPr>
              <a:t> Bees refine the local solar course through experience. Circadian phase disruption causes sun-compass errors whose direction depends on hemisphere.</a:t>
            </a:r>
            <a:endParaRPr sz="1800">
              <a:solidFill>
                <a:schemeClr val="dk1"/>
              </a:solidFill>
              <a:latin typeface="Calibri"/>
              <a:ea typeface="Calibri"/>
              <a:cs typeface="Calibri"/>
              <a:sym typeface="Calibri"/>
            </a:endParaRPr>
          </a:p>
        </p:txBody>
      </p:sp>
      <p:sp>
        <p:nvSpPr>
          <p:cNvPr id="639" name="Google Shape;639;p46"/>
          <p:cNvSpPr/>
          <p:nvPr/>
        </p:nvSpPr>
        <p:spPr>
          <a:xfrm>
            <a:off x="6233071" y="2986980"/>
            <a:ext cx="5391894" cy="1478161"/>
          </a:xfrm>
          <a:prstGeom prst="rect">
            <a:avLst/>
          </a:prstGeom>
          <a:solidFill>
            <a:srgbClr val="F5F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46"/>
          <p:cNvSpPr/>
          <p:nvPr/>
        </p:nvSpPr>
        <p:spPr>
          <a:xfrm>
            <a:off x="6415980" y="31242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500"/>
              <a:buFont typeface="Arial"/>
              <a:buNone/>
            </a:pPr>
            <a:r>
              <a:rPr b="1" i="0" lang="en-US" sz="1500">
                <a:solidFill>
                  <a:srgbClr val="3F5063"/>
                </a:solidFill>
                <a:latin typeface="Arial"/>
                <a:ea typeface="Arial"/>
                <a:cs typeface="Arial"/>
                <a:sym typeface="Arial"/>
              </a:rPr>
              <a:t>Compass pathways</a:t>
            </a:r>
            <a:r>
              <a:rPr b="0" i="0" lang="en-US" sz="1500">
                <a:solidFill>
                  <a:srgbClr val="252B32"/>
                </a:solidFill>
                <a:latin typeface="Arial"/>
                <a:ea typeface="Arial"/>
                <a:cs typeface="Arial"/>
                <a:sym typeface="Arial"/>
              </a:rPr>
              <a:t> Ultraviolet-sensitive dorsal-rim input reaches the medulla, optic tubercle, bulbs and central body. Tracing establishes anatomy; candidate timing contacts require functional tests.</a:t>
            </a:r>
            <a:endParaRPr sz="1800">
              <a:solidFill>
                <a:schemeClr val="dk1"/>
              </a:solidFill>
              <a:latin typeface="Calibri"/>
              <a:ea typeface="Calibri"/>
              <a:cs typeface="Calibri"/>
              <a:sym typeface="Calibri"/>
            </a:endParaRPr>
          </a:p>
        </p:txBody>
      </p:sp>
      <p:sp>
        <p:nvSpPr>
          <p:cNvPr id="641" name="Google Shape;641;p46"/>
          <p:cNvSpPr/>
          <p:nvPr/>
        </p:nvSpPr>
        <p:spPr>
          <a:xfrm>
            <a:off x="566886" y="4739580"/>
            <a:ext cx="5391894" cy="1478161"/>
          </a:xfrm>
          <a:prstGeom prst="rect">
            <a:avLst/>
          </a:prstGeom>
          <a:solidFill>
            <a:srgbClr val="F5F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46"/>
          <p:cNvSpPr/>
          <p:nvPr/>
        </p:nvSpPr>
        <p:spPr>
          <a:xfrm>
            <a:off x="749796" y="48768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500"/>
              <a:buFont typeface="Arial"/>
              <a:buNone/>
            </a:pPr>
            <a:r>
              <a:rPr b="1" i="0" lang="en-US" sz="1500">
                <a:solidFill>
                  <a:srgbClr val="3F5063"/>
                </a:solidFill>
                <a:latin typeface="Arial"/>
                <a:ea typeface="Arial"/>
                <a:cs typeface="Arial"/>
                <a:sym typeface="Arial"/>
              </a:rPr>
              <a:t>Dance-signal processing</a:t>
            </a:r>
            <a:r>
              <a:rPr b="0" i="0" lang="en-US" sz="1500">
                <a:solidFill>
                  <a:srgbClr val="252B32"/>
                </a:solidFill>
                <a:latin typeface="Arial"/>
                <a:ea typeface="Arial"/>
                <a:cs typeface="Arial"/>
                <a:sym typeface="Arial"/>
              </a:rPr>
              <a:t> Antennal movement activates mechanosensory pathways. Identified interneurons filter vibration pulse trains, but their proposed inhibitory connections and distance-decoding role are not fully established.</a:t>
            </a:r>
            <a:endParaRPr sz="1800">
              <a:solidFill>
                <a:schemeClr val="dk1"/>
              </a:solidFill>
              <a:latin typeface="Calibri"/>
              <a:ea typeface="Calibri"/>
              <a:cs typeface="Calibri"/>
              <a:sym typeface="Calibri"/>
            </a:endParaRPr>
          </a:p>
        </p:txBody>
      </p:sp>
      <p:sp>
        <p:nvSpPr>
          <p:cNvPr id="643" name="Google Shape;643;p46"/>
          <p:cNvSpPr/>
          <p:nvPr/>
        </p:nvSpPr>
        <p:spPr>
          <a:xfrm>
            <a:off x="6233071" y="4739580"/>
            <a:ext cx="5391894" cy="1478161"/>
          </a:xfrm>
          <a:prstGeom prst="rect">
            <a:avLst/>
          </a:prstGeom>
          <a:solidFill>
            <a:srgbClr val="F5F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46"/>
          <p:cNvSpPr/>
          <p:nvPr/>
        </p:nvSpPr>
        <p:spPr>
          <a:xfrm>
            <a:off x="6415980" y="48768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1500"/>
              <a:buFont typeface="Arial"/>
              <a:buNone/>
            </a:pPr>
            <a:r>
              <a:rPr b="1" i="0" lang="en-US" sz="1500">
                <a:solidFill>
                  <a:srgbClr val="3F5063"/>
                </a:solidFill>
                <a:latin typeface="Arial"/>
                <a:ea typeface="Arial"/>
                <a:cs typeface="Arial"/>
                <a:sym typeface="Arial"/>
              </a:rPr>
              <a:t>Experience and search</a:t>
            </a:r>
            <a:r>
              <a:rPr b="0" i="0" lang="en-US" sz="1500">
                <a:solidFill>
                  <a:srgbClr val="252B32"/>
                </a:solidFill>
                <a:latin typeface="Arial"/>
                <a:ea typeface="Arial"/>
                <a:cs typeface="Arial"/>
                <a:sym typeface="Arial"/>
              </a:rPr>
              <a:t> Early social experience affects dance precision and lasting distance calibration. Familiar landscape knowledge can influence later search without replacing the initial dance vector.</a:t>
            </a:r>
            <a:endParaRPr sz="1800">
              <a:solidFill>
                <a:schemeClr val="dk1"/>
              </a:solidFill>
              <a:latin typeface="Calibri"/>
              <a:ea typeface="Calibri"/>
              <a:cs typeface="Calibri"/>
              <a:sym typeface="Calibri"/>
            </a:endParaRPr>
          </a:p>
        </p:txBody>
      </p:sp>
      <p:sp>
        <p:nvSpPr>
          <p:cNvPr id="645" name="Google Shape;645;p46"/>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Riley et al. (2005); Dong et al. (2023); Srinivasan et al. (2000); Zeller et al. (2015)</a:t>
            </a:r>
            <a:endParaRPr sz="1800">
              <a:solidFill>
                <a:schemeClr val="dk1"/>
              </a:solidFill>
              <a:latin typeface="Calibri"/>
              <a:ea typeface="Calibri"/>
              <a:cs typeface="Calibri"/>
              <a:sym typeface="Calibri"/>
            </a:endParaRPr>
          </a:p>
        </p:txBody>
      </p:sp>
      <p:sp>
        <p:nvSpPr>
          <p:cNvPr id="647" name="Google Shape;647;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46" name="Google Shape;546;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Intracellular recording follows one identified neuron</a:t>
            </a:r>
            <a:endParaRPr sz="1800">
              <a:solidFill>
                <a:schemeClr val="dk1"/>
              </a:solidFill>
              <a:latin typeface="Calibri"/>
              <a:ea typeface="Calibri"/>
              <a:cs typeface="Calibri"/>
              <a:sym typeface="Calibri"/>
            </a:endParaRPr>
          </a:p>
        </p:txBody>
      </p:sp>
      <p:sp>
        <p:nvSpPr>
          <p:cNvPr id="547" name="Google Shape;547;p40"/>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500"/>
              <a:buFont typeface="Arial"/>
              <a:buNone/>
            </a:pPr>
            <a:r>
              <a:rPr b="1" i="0" lang="en-US" sz="1500">
                <a:solidFill>
                  <a:srgbClr val="3F5063"/>
                </a:solidFill>
                <a:latin typeface="Arial"/>
                <a:ea typeface="Arial"/>
                <a:cs typeface="Arial"/>
                <a:sym typeface="Arial"/>
              </a:rPr>
              <a:t>Intracellular recording</a:t>
            </a:r>
            <a:r>
              <a:rPr b="0" i="0" lang="en-US" sz="1500">
                <a:solidFill>
                  <a:srgbClr val="252B32"/>
                </a:solidFill>
                <a:latin typeface="Arial"/>
                <a:ea typeface="Arial"/>
                <a:cs typeface="Arial"/>
                <a:sym typeface="Arial"/>
              </a:rPr>
              <a:t> places a fine electrode inside a single neuron, so its membrane potential and spikes can be measured during stimulation. Filling the cell with dye during recording reveals its branches and allows the identified neuron to be matched with its morphology.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Ai and colleagues recorded from identified honeybee interneurons while a mechanical stimulator vibrated the antennal flagellum at a 265 Hz carrier. DL-Int-1 branches in the dorsal lobe, and anti-GABA staining associated it with a GABAergic phenotype. Pulse trains with durations up to 16 ms and intervals up to 33 ms suppressed its firing below the spontaneous level.</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Intervals of 100 ms allowed intermittent spikes during the train. The recording identifies a temporal filter for vibration pulses, and the dye fill ties that filter to one identified cell type. The carrier lies within the wing-vibration range relevant to waggle dancing.</a:t>
            </a:r>
            <a:endParaRPr sz="1800">
              <a:solidFill>
                <a:schemeClr val="dk1"/>
              </a:solidFill>
              <a:latin typeface="Calibri"/>
              <a:ea typeface="Calibri"/>
              <a:cs typeface="Calibri"/>
              <a:sym typeface="Calibri"/>
            </a:endParaRPr>
          </a:p>
        </p:txBody>
      </p:sp>
      <p:pic>
        <p:nvPicPr>
          <p:cNvPr id="550" name="Google Shape;550;p40"/>
          <p:cNvPicPr preferRelativeResize="0"/>
          <p:nvPr/>
        </p:nvPicPr>
        <p:blipFill rotWithShape="1">
          <a:blip r:embed="rId2">
            <a:alphaModFix/>
          </a:blip>
          <a:srcRect b="0" l="0" r="0" t="0"/>
          <a:stretch/>
        </p:blipFill>
        <p:spPr>
          <a:xfrm>
            <a:off x="6458499" y="1280071"/>
            <a:ext cx="3520323" cy="2764482"/>
          </a:xfrm>
          <a:prstGeom prst="rect">
            <a:avLst/>
          </a:prstGeom>
          <a:noFill/>
          <a:ln>
            <a:noFill/>
          </a:ln>
        </p:spPr>
      </p:pic>
      <p:sp>
        <p:nvSpPr>
          <p:cNvPr id="551" name="Google Shape;551;p40"/>
          <p:cNvSpPr/>
          <p:nvPr/>
        </p:nvSpPr>
        <p:spPr>
          <a:xfrm>
            <a:off x="6458396" y="4136082"/>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Ai et al. (2017), Fig. 3A–D. DL-Int-1 responses to pulse duration and interval.</a:t>
            </a:r>
            <a:endParaRPr sz="1800">
              <a:solidFill>
                <a:schemeClr val="dk1"/>
              </a:solidFill>
              <a:latin typeface="Calibri"/>
              <a:ea typeface="Calibri"/>
              <a:cs typeface="Calibri"/>
              <a:sym typeface="Calibri"/>
            </a:endParaRPr>
          </a:p>
        </p:txBody>
      </p:sp>
      <p:pic>
        <p:nvPicPr>
          <p:cNvPr id="552" name="Google Shape;552;p40"/>
          <p:cNvPicPr preferRelativeResize="0"/>
          <p:nvPr/>
        </p:nvPicPr>
        <p:blipFill rotWithShape="1">
          <a:blip r:embed="rId3">
            <a:alphaModFix/>
          </a:blip>
          <a:srcRect b="0" l="0" r="0" t="0"/>
          <a:stretch/>
        </p:blipFill>
        <p:spPr>
          <a:xfrm>
            <a:off x="10161836" y="2148780"/>
            <a:ext cx="1462980" cy="877788"/>
          </a:xfrm>
          <a:prstGeom prst="rect">
            <a:avLst/>
          </a:prstGeom>
          <a:noFill/>
          <a:ln>
            <a:noFill/>
          </a:ln>
        </p:spPr>
      </p:pic>
      <p:sp>
        <p:nvSpPr>
          <p:cNvPr id="553" name="Google Shape;553;p40"/>
          <p:cNvSpPr/>
          <p:nvPr/>
        </p:nvSpPr>
        <p:spPr>
          <a:xfrm>
            <a:off x="10161836" y="3099792"/>
            <a:ext cx="148203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Ai et al. (2017), Fig. 2A–E. DL-Int-1 morphology and GABA immunoreactivity.</a:t>
            </a:r>
            <a:endParaRPr sz="1800">
              <a:solidFill>
                <a:schemeClr val="dk1"/>
              </a:solidFill>
              <a:latin typeface="Calibri"/>
              <a:ea typeface="Calibri"/>
              <a:cs typeface="Calibri"/>
              <a:sym typeface="Calibri"/>
            </a:endParaRPr>
          </a:p>
        </p:txBody>
      </p:sp>
      <p:sp>
        <p:nvSpPr>
          <p:cNvPr id="554" name="Google Shape;554;p40"/>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Ai et al. (2017)</a:t>
            </a:r>
            <a:endParaRPr sz="1800">
              <a:solidFill>
                <a:schemeClr val="dk1"/>
              </a:solidFill>
              <a:latin typeface="Calibri"/>
              <a:ea typeface="Calibri"/>
              <a:cs typeface="Calibri"/>
              <a:sym typeface="Calibri"/>
            </a:endParaRPr>
          </a:p>
        </p:txBody>
      </p:sp>
      <p:sp>
        <p:nvSpPr>
          <p:cNvPr id="556" name="Google Shape;556;p4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40a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16" name="Google Shape;516;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Johnston's organ senses antennal movement</a:t>
            </a:r>
            <a:endParaRPr sz="1800">
              <a:solidFill>
                <a:schemeClr val="dk1"/>
              </a:solidFill>
              <a:latin typeface="Calibri"/>
              <a:ea typeface="Calibri"/>
              <a:cs typeface="Calibri"/>
              <a:sym typeface="Calibri"/>
            </a:endParaRPr>
          </a:p>
        </p:txBody>
      </p:sp>
      <p:sp>
        <p:nvSpPr>
          <p:cNvPr id="517" name="Google Shape;517;p38"/>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400"/>
              <a:buFont typeface="Arial"/>
              <a:buNone/>
            </a:pPr>
            <a:r>
              <a:rPr b="1" i="0" lang="en-US" sz="1400">
                <a:solidFill>
                  <a:srgbClr val="3F5063"/>
                </a:solidFill>
                <a:latin typeface="Arial"/>
                <a:ea typeface="Arial"/>
                <a:cs typeface="Arial"/>
                <a:sym typeface="Arial"/>
              </a:rPr>
              <a:t>Johnston's organ</a:t>
            </a:r>
            <a:r>
              <a:rPr b="0" i="0" lang="en-US" sz="1400">
                <a:solidFill>
                  <a:srgbClr val="252B32"/>
                </a:solidFill>
                <a:latin typeface="Arial"/>
                <a:ea typeface="Arial"/>
                <a:cs typeface="Arial"/>
                <a:sym typeface="Arial"/>
              </a:rPr>
              <a:t> is a mechanosensory organ in the antennal pedicel that responds to movement of the flagellum. The flagellum is the distal antennal segment, and the pedicel is its supporting joint region, so displacement of the flagellum is registered by sensory neurons in the organ.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400"/>
              <a:buFont typeface="Arial"/>
              <a:buNone/>
            </a:pPr>
            <a:r>
              <a:rPr b="0" i="0" lang="en-US" sz="1400">
                <a:solidFill>
                  <a:srgbClr val="252B32"/>
                </a:solidFill>
                <a:latin typeface="Arial"/>
                <a:ea typeface="Arial"/>
                <a:cs typeface="Arial"/>
                <a:sym typeface="Arial"/>
              </a:rPr>
              <a:t>Greggers and colleagues recorded electric fields around dancing bees. An isolated wing oscillating at 40 Hz, 2 mm from the head, evoked larger flagellar movements when charge was preserved rather than discharged. Laser Doppler measurements quantified these movements, and Johnston's organ responded to the field-induced movement.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400"/>
              <a:buFont typeface="Arial"/>
              <a:buNone/>
            </a:pPr>
            <a:r>
              <a:rPr b="0" i="0" lang="en-US" sz="1400">
                <a:solidFill>
                  <a:srgbClr val="252B32"/>
                </a:solidFill>
                <a:latin typeface="Arial"/>
                <a:ea typeface="Arial"/>
                <a:cs typeface="Arial"/>
                <a:sym typeface="Arial"/>
              </a:rPr>
              <a:t>The sequence runs from an electric force on the charged antenna to antennal displacement and then to activation of movement-sensitive sensory neurons. Charged bodies can exert forces on nearby charged structures, so a dedicated electric-field receptor is not required for this route of detection.</a:t>
            </a:r>
            <a:endParaRPr sz="1800">
              <a:solidFill>
                <a:schemeClr val="dk1"/>
              </a:solidFill>
              <a:latin typeface="Calibri"/>
              <a:ea typeface="Calibri"/>
              <a:cs typeface="Calibri"/>
              <a:sym typeface="Calibri"/>
            </a:endParaRPr>
          </a:p>
        </p:txBody>
      </p:sp>
      <p:pic>
        <p:nvPicPr>
          <p:cNvPr id="520" name="Google Shape;520;p38"/>
          <p:cNvPicPr preferRelativeResize="0"/>
          <p:nvPr/>
        </p:nvPicPr>
        <p:blipFill rotWithShape="1">
          <a:blip r:embed="rId2">
            <a:alphaModFix/>
          </a:blip>
          <a:srcRect b="0" l="0" r="0" t="0"/>
          <a:stretch/>
        </p:blipFill>
        <p:spPr>
          <a:xfrm>
            <a:off x="6458555" y="1280071"/>
            <a:ext cx="5166102" cy="1733252"/>
          </a:xfrm>
          <a:prstGeom prst="rect">
            <a:avLst/>
          </a:prstGeom>
          <a:noFill/>
          <a:ln>
            <a:noFill/>
          </a:ln>
        </p:spPr>
      </p:pic>
      <p:sp>
        <p:nvSpPr>
          <p:cNvPr id="521" name="Google Shape;521;p38"/>
          <p:cNvSpPr/>
          <p:nvPr/>
        </p:nvSpPr>
        <p:spPr>
          <a:xfrm>
            <a:off x="6458396" y="3104852"/>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Greggers et al. (2013), Fig. 3a,b and Fig. 4. Field-induced flagellar motion and Johnston-organ activity.</a:t>
            </a:r>
            <a:endParaRPr sz="1800">
              <a:solidFill>
                <a:schemeClr val="dk1"/>
              </a:solidFill>
              <a:latin typeface="Calibri"/>
              <a:ea typeface="Calibri"/>
              <a:cs typeface="Calibri"/>
              <a:sym typeface="Calibri"/>
            </a:endParaRPr>
          </a:p>
        </p:txBody>
      </p:sp>
      <p:pic>
        <p:nvPicPr>
          <p:cNvPr id="522" name="Google Shape;522;p38"/>
          <p:cNvPicPr preferRelativeResize="0"/>
          <p:nvPr/>
        </p:nvPicPr>
        <p:blipFill rotWithShape="1">
          <a:blip r:embed="rId3">
            <a:alphaModFix/>
          </a:blip>
          <a:srcRect b="0" l="0" r="0" t="0"/>
          <a:stretch/>
        </p:blipFill>
        <p:spPr>
          <a:xfrm>
            <a:off x="8422802" y="3977580"/>
            <a:ext cx="1237758" cy="1782961"/>
          </a:xfrm>
          <a:prstGeom prst="rect">
            <a:avLst/>
          </a:prstGeom>
          <a:noFill/>
          <a:ln>
            <a:noFill/>
          </a:ln>
        </p:spPr>
      </p:pic>
      <p:sp>
        <p:nvSpPr>
          <p:cNvPr id="523" name="Google Shape;523;p38"/>
          <p:cNvSpPr/>
          <p:nvPr/>
        </p:nvSpPr>
        <p:spPr>
          <a:xfrm>
            <a:off x="6458396" y="5833765"/>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Kumaraswamy et al. (2019), Fig. 1a–c. Antennal input, mechanosensory neuropils and DL-Int-1.</a:t>
            </a:r>
            <a:endParaRPr sz="1800">
              <a:solidFill>
                <a:schemeClr val="dk1"/>
              </a:solidFill>
              <a:latin typeface="Calibri"/>
              <a:ea typeface="Calibri"/>
              <a:cs typeface="Calibri"/>
              <a:sym typeface="Calibri"/>
            </a:endParaRPr>
          </a:p>
        </p:txBody>
      </p:sp>
      <p:sp>
        <p:nvSpPr>
          <p:cNvPr id="524" name="Google Shape;524;p38"/>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Greggers et al. (2013)</a:t>
            </a:r>
            <a:endParaRPr sz="1800">
              <a:solidFill>
                <a:schemeClr val="dk1"/>
              </a:solidFill>
              <a:latin typeface="Calibri"/>
              <a:ea typeface="Calibri"/>
              <a:cs typeface="Calibri"/>
              <a:sym typeface="Calibri"/>
            </a:endParaRPr>
          </a:p>
        </p:txBody>
      </p:sp>
      <p:sp>
        <p:nvSpPr>
          <p:cNvPr id="526" name="Google Shape;526;p38"/>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38a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88" name="Google Shape;488;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microglomerulus is a compact synaptic complex</a:t>
            </a:r>
            <a:endParaRPr sz="1800">
              <a:solidFill>
                <a:schemeClr val="dk1"/>
              </a:solidFill>
              <a:latin typeface="Calibri"/>
              <a:ea typeface="Calibri"/>
              <a:cs typeface="Calibri"/>
              <a:sym typeface="Calibri"/>
            </a:endParaRPr>
          </a:p>
        </p:txBody>
      </p:sp>
      <p:sp>
        <p:nvSpPr>
          <p:cNvPr id="489" name="Google Shape;489;p36"/>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A </a:t>
            </a:r>
            <a:r>
              <a:rPr b="1" i="0" lang="en-US" sz="1500">
                <a:solidFill>
                  <a:srgbClr val="3F5063"/>
                </a:solidFill>
                <a:latin typeface="Arial"/>
                <a:ea typeface="Arial"/>
                <a:cs typeface="Arial"/>
                <a:sym typeface="Arial"/>
              </a:rPr>
              <a:t>microglomerulus</a:t>
            </a:r>
            <a:r>
              <a:rPr b="0" i="0" lang="en-US" sz="1500">
                <a:solidFill>
                  <a:srgbClr val="252B32"/>
                </a:solidFill>
                <a:latin typeface="Arial"/>
                <a:ea typeface="Arial"/>
                <a:cs typeface="Arial"/>
                <a:sym typeface="Arial"/>
              </a:rPr>
              <a:t> is a compact synaptic complex in which a large presynaptic terminal contacts several smaller postsynaptic processes. Synapsin marks presynaptic machinery and filamentous actin is prominent in postsynaptic regions, so the two stains outline the core and the surrounding contacts.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Held and colleagues stained honeybee bulb tissue and imaged it by confocal microscopy. Separated microglomerular complexes appeared in the lateral and medial bulbs, which are paired synaptic regions in the sky-compass network. Traced TuLAL1 terminals occupied the presynaptic cores, and postsynaptic processes from TL neurons contacted them.</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One large terminal that contacts several smaller processes can distribute a tubercle signal among downstream neurons. The complexes are therefore a measured anatomical substrate for parallel processing in the sky-compass pathway, and electron microscopy resolves the membrane contacts within these complexes.</a:t>
            </a:r>
            <a:endParaRPr sz="1800">
              <a:solidFill>
                <a:schemeClr val="dk1"/>
              </a:solidFill>
              <a:latin typeface="Calibri"/>
              <a:ea typeface="Calibri"/>
              <a:cs typeface="Calibri"/>
              <a:sym typeface="Calibri"/>
            </a:endParaRPr>
          </a:p>
        </p:txBody>
      </p:sp>
      <p:pic>
        <p:nvPicPr>
          <p:cNvPr id="492" name="Google Shape;492;p36"/>
          <p:cNvPicPr preferRelativeResize="0"/>
          <p:nvPr/>
        </p:nvPicPr>
        <p:blipFill rotWithShape="1">
          <a:blip r:embed="rId2">
            <a:alphaModFix/>
          </a:blip>
          <a:srcRect b="0" l="0" r="0" t="0"/>
          <a:stretch/>
        </p:blipFill>
        <p:spPr>
          <a:xfrm>
            <a:off x="6458453" y="1280071"/>
            <a:ext cx="5166306" cy="3925937"/>
          </a:xfrm>
          <a:prstGeom prst="rect">
            <a:avLst/>
          </a:prstGeom>
          <a:noFill/>
          <a:ln>
            <a:noFill/>
          </a:ln>
        </p:spPr>
      </p:pic>
      <p:sp>
        <p:nvSpPr>
          <p:cNvPr id="493" name="Google Shape;493;p36"/>
          <p:cNvSpPr/>
          <p:nvPr/>
        </p:nvSpPr>
        <p:spPr>
          <a:xfrm>
            <a:off x="6458396" y="5297537"/>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Held et al. (2016), Fig. 2A–C. Synapsin and actin identify bulb microglomeruli.</a:t>
            </a:r>
            <a:endParaRPr sz="1800">
              <a:solidFill>
                <a:schemeClr val="dk1"/>
              </a:solidFill>
              <a:latin typeface="Calibri"/>
              <a:ea typeface="Calibri"/>
              <a:cs typeface="Calibri"/>
              <a:sym typeface="Calibri"/>
            </a:endParaRPr>
          </a:p>
        </p:txBody>
      </p:sp>
      <p:sp>
        <p:nvSpPr>
          <p:cNvPr id="494" name="Google Shape;494;p36"/>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Held et al. (2016)</a:t>
            </a:r>
            <a:endParaRPr sz="1800">
              <a:solidFill>
                <a:schemeClr val="dk1"/>
              </a:solidFill>
              <a:latin typeface="Calibri"/>
              <a:ea typeface="Calibri"/>
              <a:cs typeface="Calibri"/>
              <a:sym typeface="Calibri"/>
            </a:endParaRPr>
          </a:p>
        </p:txBody>
      </p:sp>
      <p:sp>
        <p:nvSpPr>
          <p:cNvPr id="496" name="Google Shape;496;p3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36a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47" name="Google Shape;447;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PDF is a neuropeptide of circadian signaling</a:t>
            </a:r>
            <a:endParaRPr sz="1800">
              <a:solidFill>
                <a:schemeClr val="dk1"/>
              </a:solidFill>
              <a:latin typeface="Calibri"/>
              <a:ea typeface="Calibri"/>
              <a:cs typeface="Calibri"/>
              <a:sym typeface="Calibri"/>
            </a:endParaRPr>
          </a:p>
        </p:txBody>
      </p:sp>
      <p:sp>
        <p:nvSpPr>
          <p:cNvPr id="448" name="Google Shape;448;p3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3F5063"/>
              </a:buClr>
              <a:buSzPts val="1600"/>
              <a:buFont typeface="Arial"/>
              <a:buNone/>
            </a:pPr>
            <a:r>
              <a:rPr b="1" i="0" lang="en-US" sz="1600">
                <a:solidFill>
                  <a:srgbClr val="3F5063"/>
                </a:solidFill>
                <a:latin typeface="Arial"/>
                <a:ea typeface="Arial"/>
                <a:cs typeface="Arial"/>
                <a:sym typeface="Arial"/>
              </a:rPr>
              <a:t>Pigment-dispersing factor</a:t>
            </a:r>
            <a:r>
              <a:rPr b="0" i="0" lang="en-US" sz="1600">
                <a:solidFill>
                  <a:srgbClr val="252B32"/>
                </a:solidFill>
                <a:latin typeface="Arial"/>
                <a:ea typeface="Arial"/>
                <a:cs typeface="Arial"/>
                <a:sym typeface="Arial"/>
              </a:rPr>
              <a:t>, or PDF, is a neuropeptide associated with circadian signaling in insects. A neuropeptide is a short chain of amino acids released by neurons, and antibodies against it reveal which fibers could carry timing information.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Zeller and colleagues combined PDF immunostaining with tracer labeling of transmedulla neurons. PDF-positive fibers occupied the same medulla layer as parts of the traced neurons, and labeled puncta lay in close proximity along their passage. The two labels did not colocalize, and PDF labeling was not found within the MEDRA itself.</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result identifies neighboring neuronal populations, one carrying polarized-light input and one with a circadian marker. The contact region is a candidate site where timing information could modulate the sky-compass pathway, and circadian compass correction is the proposed role of this site.</a:t>
            </a:r>
            <a:endParaRPr sz="1800">
              <a:solidFill>
                <a:schemeClr val="dk1"/>
              </a:solidFill>
              <a:latin typeface="Calibri"/>
              <a:ea typeface="Calibri"/>
              <a:cs typeface="Calibri"/>
              <a:sym typeface="Calibri"/>
            </a:endParaRPr>
          </a:p>
        </p:txBody>
      </p:sp>
      <p:pic>
        <p:nvPicPr>
          <p:cNvPr id="451" name="Google Shape;451;p33"/>
          <p:cNvPicPr preferRelativeResize="0"/>
          <p:nvPr/>
        </p:nvPicPr>
        <p:blipFill rotWithShape="1">
          <a:blip r:embed="rId2">
            <a:alphaModFix/>
          </a:blip>
          <a:srcRect b="0" l="0" r="0" t="0"/>
          <a:stretch/>
        </p:blipFill>
        <p:spPr>
          <a:xfrm>
            <a:off x="6458603" y="1280071"/>
            <a:ext cx="5166006" cy="2355503"/>
          </a:xfrm>
          <a:prstGeom prst="rect">
            <a:avLst/>
          </a:prstGeom>
          <a:noFill/>
          <a:ln>
            <a:noFill/>
          </a:ln>
        </p:spPr>
      </p:pic>
      <p:sp>
        <p:nvSpPr>
          <p:cNvPr id="452" name="Google Shape;452;p33"/>
          <p:cNvSpPr/>
          <p:nvPr/>
        </p:nvSpPr>
        <p:spPr>
          <a:xfrm>
            <a:off x="6458396" y="3727103"/>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5A–C. PDF-positive fibers lie beside transmedulla neurons.</a:t>
            </a:r>
            <a:endParaRPr sz="1800">
              <a:solidFill>
                <a:schemeClr val="dk1"/>
              </a:solidFill>
              <a:latin typeface="Calibri"/>
              <a:ea typeface="Calibri"/>
              <a:cs typeface="Calibri"/>
              <a:sym typeface="Calibri"/>
            </a:endParaRPr>
          </a:p>
        </p:txBody>
      </p:sp>
      <p:sp>
        <p:nvSpPr>
          <p:cNvPr id="453" name="Google Shape;453;p33"/>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Zeller et al. (2015)</a:t>
            </a:r>
            <a:endParaRPr sz="1800">
              <a:solidFill>
                <a:schemeClr val="dk1"/>
              </a:solidFill>
              <a:latin typeface="Calibri"/>
              <a:ea typeface="Calibri"/>
              <a:cs typeface="Calibri"/>
              <a:sym typeface="Calibri"/>
            </a:endParaRPr>
          </a:p>
        </p:txBody>
      </p:sp>
      <p:sp>
        <p:nvSpPr>
          <p:cNvPr id="455" name="Google Shape;455;p3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33a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19" name="Google Shape;419;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tracer labels the path of neuronal branches</a:t>
            </a:r>
            <a:endParaRPr sz="1800">
              <a:solidFill>
                <a:schemeClr val="dk1"/>
              </a:solidFill>
              <a:latin typeface="Calibri"/>
              <a:ea typeface="Calibri"/>
              <a:cs typeface="Calibri"/>
              <a:sym typeface="Calibri"/>
            </a:endParaRPr>
          </a:p>
        </p:txBody>
      </p:sp>
      <p:sp>
        <p:nvSpPr>
          <p:cNvPr id="420" name="Google Shape;420;p31"/>
          <p:cNvSpPr/>
          <p:nvPr/>
        </p:nvSpPr>
        <p:spPr>
          <a:xfrm>
            <a:off x="566886" y="1234380"/>
            <a:ext cx="5544741" cy="5352288"/>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A </a:t>
            </a:r>
            <a:r>
              <a:rPr b="1" i="0" lang="en-US" sz="1600">
                <a:solidFill>
                  <a:srgbClr val="3F5063"/>
                </a:solidFill>
                <a:latin typeface="Arial"/>
                <a:ea typeface="Arial"/>
                <a:cs typeface="Arial"/>
                <a:sym typeface="Arial"/>
              </a:rPr>
              <a:t>tracer</a:t>
            </a:r>
            <a:r>
              <a:rPr b="0" i="0" lang="en-US" sz="1600">
                <a:solidFill>
                  <a:srgbClr val="252B32"/>
                </a:solidFill>
                <a:latin typeface="Arial"/>
                <a:ea typeface="Arial"/>
                <a:cs typeface="Arial"/>
                <a:sym typeface="Arial"/>
              </a:rPr>
              <a:t> is a fluorescent dye injected into a region of tissue, where it is taken up by neurons and carried along their branches. The labeled processes reveal where fibers that enter the injection site terminate in the brain, and neuropil is the tissue of interwoven branches and synapses that they reveal.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Zeller and colleagues injected fluorescent tracers into the dorsal rim of the honeybee eye. Input from the rim reached a distinct dorsal-medulla compartment called the MEDRA. Synapsin labeling and injections into other pathway regions distinguished this compartment from neighboring medulla, a visual-processing region within the optic lobe.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tracing identifies an entry pathway for polarization-associated visual input. Sakura's regional-occlusion experiment addresses a different link, the necessity of the dorsal rim for e-vector learning, so the two results converge on the same sensory pathway. The published micrographs retain anatomical orientation and micrometer scale bars.</a:t>
            </a:r>
            <a:endParaRPr sz="1800">
              <a:solidFill>
                <a:schemeClr val="dk1"/>
              </a:solidFill>
              <a:latin typeface="Calibri"/>
              <a:ea typeface="Calibri"/>
              <a:cs typeface="Calibri"/>
              <a:sym typeface="Calibri"/>
            </a:endParaRPr>
          </a:p>
        </p:txBody>
      </p:sp>
      <p:pic>
        <p:nvPicPr>
          <p:cNvPr id="423" name="Google Shape;423;p31"/>
          <p:cNvPicPr preferRelativeResize="0"/>
          <p:nvPr/>
        </p:nvPicPr>
        <p:blipFill rotWithShape="1">
          <a:blip r:embed="rId2">
            <a:alphaModFix/>
          </a:blip>
          <a:srcRect b="0" l="0" r="0" t="0"/>
          <a:stretch/>
        </p:blipFill>
        <p:spPr>
          <a:xfrm>
            <a:off x="6790797" y="1280071"/>
            <a:ext cx="4501916" cy="4297561"/>
          </a:xfrm>
          <a:prstGeom prst="rect">
            <a:avLst/>
          </a:prstGeom>
          <a:noFill/>
          <a:ln>
            <a:noFill/>
          </a:ln>
        </p:spPr>
      </p:pic>
      <p:sp>
        <p:nvSpPr>
          <p:cNvPr id="424" name="Google Shape;424;p31"/>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1A–F. Dorsal-rim input reaches dorsal medulla.</a:t>
            </a:r>
            <a:endParaRPr sz="1800">
              <a:solidFill>
                <a:schemeClr val="dk1"/>
              </a:solidFill>
              <a:latin typeface="Calibri"/>
              <a:ea typeface="Calibri"/>
              <a:cs typeface="Calibri"/>
              <a:sym typeface="Calibri"/>
            </a:endParaRPr>
          </a:p>
        </p:txBody>
      </p:sp>
      <p:sp>
        <p:nvSpPr>
          <p:cNvPr id="425" name="Google Shape;425;p31"/>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Zeller et al. (2015); Sakura et al. (2012)</a:t>
            </a:r>
            <a:endParaRPr sz="1800">
              <a:solidFill>
                <a:schemeClr val="dk1"/>
              </a:solidFill>
              <a:latin typeface="Calibri"/>
              <a:ea typeface="Calibri"/>
              <a:cs typeface="Calibri"/>
              <a:sym typeface="Calibri"/>
            </a:endParaRPr>
          </a:p>
        </p:txBody>
      </p:sp>
      <p:sp>
        <p:nvSpPr>
          <p:cNvPr id="427" name="Google Shape;427;p31"/>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31a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80" name="Google Shape;380;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vanishing bearing marks the initial heading</a:t>
            </a:r>
            <a:endParaRPr sz="1800">
              <a:solidFill>
                <a:schemeClr val="dk1"/>
              </a:solidFill>
              <a:latin typeface="Calibri"/>
              <a:ea typeface="Calibri"/>
              <a:cs typeface="Calibri"/>
              <a:sym typeface="Calibri"/>
            </a:endParaRPr>
          </a:p>
        </p:txBody>
      </p:sp>
      <p:sp>
        <p:nvSpPr>
          <p:cNvPr id="381" name="Google Shape;381;p28"/>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A </a:t>
            </a:r>
            <a:r>
              <a:rPr b="1" i="0" lang="en-US" sz="1600">
                <a:solidFill>
                  <a:srgbClr val="3F5063"/>
                </a:solidFill>
                <a:latin typeface="Arial"/>
                <a:ea typeface="Arial"/>
                <a:cs typeface="Arial"/>
                <a:sym typeface="Arial"/>
              </a:rPr>
              <a:t>vanishing bearing</a:t>
            </a:r>
            <a:r>
              <a:rPr b="0" i="0" lang="en-US" sz="1600">
                <a:solidFill>
                  <a:srgbClr val="252B32"/>
                </a:solidFill>
                <a:latin typeface="Arial"/>
                <a:ea typeface="Arial"/>
                <a:cs typeface="Arial"/>
                <a:sym typeface="Arial"/>
              </a:rPr>
              <a:t> is the direction at which a departing bee leaves the observer's view. It records the initial heading chosen after release, before the bee can correct its course with landmarks, so it reports the compass instruction used for the first part of the flight.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Cheeseman and colleagues trained bees to a feeder 100 m from the hive in the Southern Hemisphere and transported them 6 km into unfamiliar terrain. Six-hour anesthesia with 2% isoflurane produced an approximately 87° anticlockwise shift in vanishing bearing relative to a 30-min anesthetic control.</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Solar bearing depends on time of day, so a disturbed internal clock predicts a directional error. The shifted vanishing bearing after extended anesthesia fits a delayed timing system acting on the sun compass, and unfamiliar terrain prevents the use of known landmarks for the first heading.</a:t>
            </a:r>
            <a:endParaRPr sz="1800">
              <a:solidFill>
                <a:schemeClr val="dk1"/>
              </a:solidFill>
              <a:latin typeface="Calibri"/>
              <a:ea typeface="Calibri"/>
              <a:cs typeface="Calibri"/>
              <a:sym typeface="Calibri"/>
            </a:endParaRPr>
          </a:p>
        </p:txBody>
      </p:sp>
      <p:pic>
        <p:nvPicPr>
          <p:cNvPr id="384" name="Google Shape;384;p28"/>
          <p:cNvPicPr preferRelativeResize="0"/>
          <p:nvPr/>
        </p:nvPicPr>
        <p:blipFill rotWithShape="1">
          <a:blip r:embed="rId2">
            <a:alphaModFix/>
          </a:blip>
          <a:srcRect b="0" l="0" r="0" t="0"/>
          <a:stretch/>
        </p:blipFill>
        <p:spPr>
          <a:xfrm>
            <a:off x="6458477" y="1280071"/>
            <a:ext cx="5166259" cy="3878312"/>
          </a:xfrm>
          <a:prstGeom prst="rect">
            <a:avLst/>
          </a:prstGeom>
          <a:noFill/>
          <a:ln>
            <a:noFill/>
          </a:ln>
        </p:spPr>
      </p:pic>
      <p:sp>
        <p:nvSpPr>
          <p:cNvPr id="385" name="Google Shape;385;p28"/>
          <p:cNvSpPr/>
          <p:nvPr/>
        </p:nvSpPr>
        <p:spPr>
          <a:xfrm>
            <a:off x="6458396" y="5249912"/>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Cheeseman et al. (2012), Fig. 1. Anesthesia shifts Southern Hemisphere bearings.</a:t>
            </a:r>
            <a:endParaRPr sz="1800">
              <a:solidFill>
                <a:schemeClr val="dk1"/>
              </a:solidFill>
              <a:latin typeface="Calibri"/>
              <a:ea typeface="Calibri"/>
              <a:cs typeface="Calibri"/>
              <a:sym typeface="Calibri"/>
            </a:endParaRPr>
          </a:p>
        </p:txBody>
      </p:sp>
      <p:sp>
        <p:nvSpPr>
          <p:cNvPr id="386" name="Google Shape;386;p28"/>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Cheeseman et al. (2012)</a:t>
            </a:r>
            <a:endParaRPr sz="1800">
              <a:solidFill>
                <a:schemeClr val="dk1"/>
              </a:solidFill>
              <a:latin typeface="Calibri"/>
              <a:ea typeface="Calibri"/>
              <a:cs typeface="Calibri"/>
              <a:sym typeface="Calibri"/>
            </a:endParaRPr>
          </a:p>
        </p:txBody>
      </p:sp>
      <p:sp>
        <p:nvSpPr>
          <p:cNvPr id="388" name="Google Shape;388;p28"/>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28a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54" name="Google Shape;354;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Solar azimuth changes through the day</a:t>
            </a:r>
            <a:endParaRPr sz="1800">
              <a:solidFill>
                <a:schemeClr val="dk1"/>
              </a:solidFill>
              <a:latin typeface="Calibri"/>
              <a:ea typeface="Calibri"/>
              <a:cs typeface="Calibri"/>
              <a:sym typeface="Calibri"/>
            </a:endParaRPr>
          </a:p>
        </p:txBody>
      </p:sp>
      <p:sp>
        <p:nvSpPr>
          <p:cNvPr id="355" name="Google Shape;355;p26"/>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3F5063"/>
              </a:buClr>
              <a:buSzPts val="1600"/>
              <a:buFont typeface="Arial"/>
              <a:buNone/>
            </a:pPr>
            <a:r>
              <a:rPr b="1" i="0" lang="en-US" sz="1600">
                <a:solidFill>
                  <a:srgbClr val="3F5063"/>
                </a:solidFill>
                <a:latin typeface="Arial"/>
                <a:ea typeface="Arial"/>
                <a:cs typeface="Arial"/>
                <a:sym typeface="Arial"/>
              </a:rPr>
              <a:t>Solar azimuth</a:t>
            </a:r>
            <a:r>
              <a:rPr b="0" i="0" lang="en-US" sz="1600">
                <a:solidFill>
                  <a:srgbClr val="252B32"/>
                </a:solidFill>
                <a:latin typeface="Arial"/>
                <a:ea typeface="Arial"/>
                <a:cs typeface="Arial"/>
                <a:sym typeface="Arial"/>
              </a:rPr>
              <a:t> is the horizontal bearing of the sun, and an ephemeris describes how this position changes over the day. A bee that uses the sun as a compass must therefore compensate for the time of day to keep a constant geographical direction.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Dyer and Dickinson reared bees in an incubator and allowed them to fly outside only during the late afternoon. On a cloudy test day these bees flew for the first time in the morning and early afternoon. Their dances indicated a morning solar estimate approximately 180° from the evening azimuth they had experienced.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Around local noon the bees switched toward the familiar evening direction. The step-like pattern indicates a general expectation of daily solar movement that can be applied to times of day the bees never experienced directly, and full-day experience refines this course into a more precise local estimate.</a:t>
            </a:r>
            <a:endParaRPr sz="1800">
              <a:solidFill>
                <a:schemeClr val="dk1"/>
              </a:solidFill>
              <a:latin typeface="Calibri"/>
              <a:ea typeface="Calibri"/>
              <a:cs typeface="Calibri"/>
              <a:sym typeface="Calibri"/>
            </a:endParaRPr>
          </a:p>
        </p:txBody>
      </p:sp>
      <p:pic>
        <p:nvPicPr>
          <p:cNvPr id="358" name="Google Shape;358;p26"/>
          <p:cNvPicPr preferRelativeResize="0"/>
          <p:nvPr/>
        </p:nvPicPr>
        <p:blipFill rotWithShape="1">
          <a:blip r:embed="rId2">
            <a:alphaModFix/>
          </a:blip>
          <a:srcRect b="0" l="0" r="0" t="0"/>
          <a:stretch/>
        </p:blipFill>
        <p:spPr>
          <a:xfrm>
            <a:off x="6532888" y="1280071"/>
            <a:ext cx="5017735" cy="4297561"/>
          </a:xfrm>
          <a:prstGeom prst="rect">
            <a:avLst/>
          </a:prstGeom>
          <a:noFill/>
          <a:ln>
            <a:noFill/>
          </a:ln>
        </p:spPr>
      </p:pic>
      <p:sp>
        <p:nvSpPr>
          <p:cNvPr id="359" name="Google Shape;359;p26"/>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Dyer &amp; Dickinson (1994), Fig. 2A. Solar estimates after afternoon-only experience.</a:t>
            </a:r>
            <a:endParaRPr sz="1800">
              <a:solidFill>
                <a:schemeClr val="dk1"/>
              </a:solidFill>
              <a:latin typeface="Calibri"/>
              <a:ea typeface="Calibri"/>
              <a:cs typeface="Calibri"/>
              <a:sym typeface="Calibri"/>
            </a:endParaRPr>
          </a:p>
        </p:txBody>
      </p:sp>
      <p:sp>
        <p:nvSpPr>
          <p:cNvPr id="360" name="Google Shape;360;p26"/>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Dyer &amp; Dickinson (1994)</a:t>
            </a:r>
            <a:endParaRPr sz="1800">
              <a:solidFill>
                <a:schemeClr val="dk1"/>
              </a:solidFill>
              <a:latin typeface="Calibri"/>
              <a:ea typeface="Calibri"/>
              <a:cs typeface="Calibri"/>
              <a:sym typeface="Calibri"/>
            </a:endParaRPr>
          </a:p>
        </p:txBody>
      </p:sp>
      <p:sp>
        <p:nvSpPr>
          <p:cNvPr id="362" name="Google Shape;362;p2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26a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26" name="Google Shape;326;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single e-vector is ambiguous by 180°</a:t>
            </a:r>
            <a:endParaRPr sz="1800">
              <a:solidFill>
                <a:schemeClr val="dk1"/>
              </a:solidFill>
              <a:latin typeface="Calibri"/>
              <a:ea typeface="Calibri"/>
              <a:cs typeface="Calibri"/>
              <a:sym typeface="Calibri"/>
            </a:endParaRPr>
          </a:p>
        </p:txBody>
      </p:sp>
      <p:sp>
        <p:nvSpPr>
          <p:cNvPr id="327" name="Google Shape;327;p24"/>
          <p:cNvSpPr/>
          <p:nvPr/>
        </p:nvSpPr>
        <p:spPr>
          <a:xfrm>
            <a:off x="566886" y="1234380"/>
            <a:ext cx="5544741" cy="5099913"/>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550">
                <a:solidFill>
                  <a:srgbClr val="252B32"/>
                </a:solidFill>
                <a:latin typeface="Arial"/>
                <a:ea typeface="Arial"/>
                <a:cs typeface="Arial"/>
                <a:sym typeface="Arial"/>
              </a:rPr>
              <a:t>The </a:t>
            </a:r>
            <a:r>
              <a:rPr b="1" i="0" lang="en-US" sz="1550">
                <a:solidFill>
                  <a:srgbClr val="3F5063"/>
                </a:solidFill>
                <a:latin typeface="Arial"/>
                <a:ea typeface="Arial"/>
                <a:cs typeface="Arial"/>
                <a:sym typeface="Arial"/>
              </a:rPr>
              <a:t>e-vector</a:t>
            </a:r>
            <a:r>
              <a:rPr b="0" i="0" lang="en-US" sz="1550">
                <a:solidFill>
                  <a:srgbClr val="252B32"/>
                </a:solidFill>
                <a:latin typeface="Arial"/>
                <a:ea typeface="Arial"/>
                <a:cs typeface="Arial"/>
                <a:sym typeface="Arial"/>
              </a:rPr>
              <a:t> is the preferred orientation of the electric-field oscillation of polarized light. A single e-vector defines an axis and not a direction, so the same axis can represent two opposite travel directions that differ by 180°. A sun-referenced bearing, in contrast, specifies a unique direction.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550">
                <a:solidFill>
                  <a:srgbClr val="252B32"/>
                </a:solidFill>
                <a:latin typeface="Arial"/>
                <a:ea typeface="Arial"/>
                <a:cs typeface="Arial"/>
                <a:sym typeface="Arial"/>
              </a:rPr>
              <a:t>Evangelista and colleagues trained bees through a 12 m textured tunnel covered by ultraviolet-transmitting polarizers and a diffuser. With transverse polarization, waggle runs clustered along a vertical axis on the comb, and with axial polarization along a horizontal axis. The mean axes were approximately 91.7° and 1.3° relative to horizontal.</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550">
                <a:solidFill>
                  <a:srgbClr val="252B32"/>
                </a:solidFill>
                <a:latin typeface="Arial"/>
                <a:ea typeface="Arial"/>
                <a:cs typeface="Arial"/>
                <a:sym typeface="Arial"/>
              </a:rPr>
              <a:t>Bees advertised both alternatives along each axis and not a unique direction. The diffuser removed the direct view of the sun, so the artificial polarization pattern was the celestial cue, and the dance links polarized flight input to the communicated direction while preserving the axis of possible headings.</a:t>
            </a:r>
            <a:endParaRPr sz="1800">
              <a:solidFill>
                <a:schemeClr val="dk1"/>
              </a:solidFill>
              <a:latin typeface="Calibri"/>
              <a:ea typeface="Calibri"/>
              <a:cs typeface="Calibri"/>
              <a:sym typeface="Calibri"/>
            </a:endParaRPr>
          </a:p>
        </p:txBody>
      </p:sp>
      <p:pic>
        <p:nvPicPr>
          <p:cNvPr id="330" name="Google Shape;330;p24"/>
          <p:cNvPicPr preferRelativeResize="0"/>
          <p:nvPr/>
        </p:nvPicPr>
        <p:blipFill rotWithShape="1">
          <a:blip r:embed="rId2">
            <a:alphaModFix/>
          </a:blip>
          <a:srcRect b="0" l="0" r="0" t="0"/>
          <a:stretch/>
        </p:blipFill>
        <p:spPr>
          <a:xfrm>
            <a:off x="8256592" y="1280071"/>
            <a:ext cx="1570178" cy="2148780"/>
          </a:xfrm>
          <a:prstGeom prst="rect">
            <a:avLst/>
          </a:prstGeom>
          <a:noFill/>
          <a:ln>
            <a:noFill/>
          </a:ln>
        </p:spPr>
      </p:pic>
      <p:sp>
        <p:nvSpPr>
          <p:cNvPr id="331" name="Google Shape;331;p24"/>
          <p:cNvSpPr/>
          <p:nvPr/>
        </p:nvSpPr>
        <p:spPr>
          <a:xfrm>
            <a:off x="6458396" y="352038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Evangelista et al. (2014), Fig. 2a–c. Transverse polarization and vertical dance runs.</a:t>
            </a:r>
            <a:endParaRPr sz="1800">
              <a:solidFill>
                <a:schemeClr val="dk1"/>
              </a:solidFill>
              <a:latin typeface="Calibri"/>
              <a:ea typeface="Calibri"/>
              <a:cs typeface="Calibri"/>
              <a:sym typeface="Calibri"/>
            </a:endParaRPr>
          </a:p>
        </p:txBody>
      </p:sp>
      <p:pic>
        <p:nvPicPr>
          <p:cNvPr id="332" name="Google Shape;332;p24"/>
          <p:cNvPicPr preferRelativeResize="0"/>
          <p:nvPr/>
        </p:nvPicPr>
        <p:blipFill rotWithShape="1">
          <a:blip r:embed="rId3">
            <a:alphaModFix/>
          </a:blip>
          <a:srcRect b="0" l="0" r="0" t="0"/>
          <a:stretch/>
        </p:blipFill>
        <p:spPr>
          <a:xfrm>
            <a:off x="8432506" y="3977580"/>
            <a:ext cx="1218497" cy="1782961"/>
          </a:xfrm>
          <a:prstGeom prst="rect">
            <a:avLst/>
          </a:prstGeom>
          <a:noFill/>
          <a:ln>
            <a:noFill/>
          </a:ln>
        </p:spPr>
      </p:pic>
      <p:sp>
        <p:nvSpPr>
          <p:cNvPr id="333" name="Google Shape;333;p24"/>
          <p:cNvSpPr/>
          <p:nvPr/>
        </p:nvSpPr>
        <p:spPr>
          <a:xfrm>
            <a:off x="6458396" y="583376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Evangelista et al. (2014), Fig. 3a–c. Axial polarization and horizontal dance runs.</a:t>
            </a:r>
            <a:endParaRPr sz="1800">
              <a:solidFill>
                <a:schemeClr val="dk1"/>
              </a:solidFill>
              <a:latin typeface="Calibri"/>
              <a:ea typeface="Calibri"/>
              <a:cs typeface="Calibri"/>
              <a:sym typeface="Calibri"/>
            </a:endParaRPr>
          </a:p>
        </p:txBody>
      </p:sp>
      <p:sp>
        <p:nvSpPr>
          <p:cNvPr id="334" name="Google Shape;334;p24"/>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Evangelista et al. (2014)</a:t>
            </a:r>
            <a:endParaRPr sz="1800">
              <a:solidFill>
                <a:schemeClr val="dk1"/>
              </a:solidFill>
              <a:latin typeface="Calibri"/>
              <a:ea typeface="Calibri"/>
              <a:cs typeface="Calibri"/>
              <a:sym typeface="Calibri"/>
            </a:endParaRPr>
          </a:p>
        </p:txBody>
      </p:sp>
      <p:sp>
        <p:nvSpPr>
          <p:cNvPr id="336" name="Google Shape;336;p2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24a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55" name="Google Shape;255;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The proboscis extension response reads out learning</a:t>
            </a:r>
            <a:endParaRPr sz="1800">
              <a:solidFill>
                <a:schemeClr val="dk1"/>
              </a:solidFill>
              <a:latin typeface="Calibri"/>
              <a:ea typeface="Calibri"/>
              <a:cs typeface="Calibri"/>
              <a:sym typeface="Calibri"/>
            </a:endParaRPr>
          </a:p>
        </p:txBody>
      </p:sp>
      <p:sp>
        <p:nvSpPr>
          <p:cNvPr id="256" name="Google Shape;256;p19"/>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3F5063"/>
              </a:buClr>
              <a:buSzPts val="1500"/>
              <a:buFont typeface="Arial"/>
              <a:buNone/>
            </a:pPr>
            <a:r>
              <a:rPr b="0" i="0" lang="en-US" sz="1500">
                <a:solidFill>
                  <a:srgbClr val="252B32"/>
                </a:solidFill>
                <a:latin typeface="Arial"/>
                <a:ea typeface="Arial"/>
                <a:cs typeface="Arial"/>
                <a:sym typeface="Arial"/>
              </a:rPr>
              <a:t>The </a:t>
            </a:r>
            <a:r>
              <a:rPr b="1" i="0" lang="en-US" sz="1500">
                <a:solidFill>
                  <a:srgbClr val="3F5063"/>
                </a:solidFill>
                <a:latin typeface="Arial"/>
                <a:ea typeface="Arial"/>
                <a:cs typeface="Arial"/>
                <a:sym typeface="Arial"/>
              </a:rPr>
              <a:t>proboscis extension response</a:t>
            </a:r>
            <a:r>
              <a:rPr b="0" i="0" lang="en-US" sz="1500">
                <a:solidFill>
                  <a:srgbClr val="252B32"/>
                </a:solidFill>
                <a:latin typeface="Arial"/>
                <a:ea typeface="Arial"/>
                <a:cs typeface="Arial"/>
                <a:sym typeface="Arial"/>
              </a:rPr>
              <a:t> is the extension of the feeding mouthparts when a bee expects sucrose. After a stimulus has been paired with sugar, extension to that stimulus provides a behavioral readout of association in a restrained animal, which can be scored without free flight.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500"/>
              <a:buFont typeface="Arial"/>
              <a:buNone/>
            </a:pPr>
            <a:r>
              <a:rPr b="0" i="0" lang="en-US" sz="1500">
                <a:solidFill>
                  <a:srgbClr val="252B32"/>
                </a:solidFill>
                <a:latin typeface="Arial"/>
                <a:ea typeface="Arial"/>
                <a:cs typeface="Arial"/>
                <a:sym typeface="Arial"/>
              </a:rPr>
              <a:t>Sakura and colleagues paired one e-vector direction with sucrose and presented the perpendicular direction without reward. The light came from above. During ultraviolet-light conditioning, responses increased to the rewarded direction while remaining low to the other, and head-fixed bees could also learn the discrimination.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500"/>
              <a:buFont typeface="Arial"/>
              <a:buNone/>
            </a:pPr>
            <a:r>
              <a:rPr b="0" i="0" lang="en-US" sz="1500">
                <a:solidFill>
                  <a:srgbClr val="252B32"/>
                </a:solidFill>
                <a:latin typeface="Arial"/>
                <a:ea typeface="Arial"/>
                <a:cs typeface="Arial"/>
                <a:sym typeface="Arial"/>
              </a:rPr>
              <a:t>Extension to the rewarded direction and not to the perpendicular direction indicates that the bee discriminates the two orientations of polarized light. The test therefore measures detection of the e-vector independently of any navigational journey, and responsiveness to sucrose itself was assessed separately.</a:t>
            </a:r>
            <a:endParaRPr sz="1800">
              <a:solidFill>
                <a:schemeClr val="dk1"/>
              </a:solidFill>
              <a:latin typeface="Calibri"/>
              <a:ea typeface="Calibri"/>
              <a:cs typeface="Calibri"/>
              <a:sym typeface="Calibri"/>
            </a:endParaRPr>
          </a:p>
        </p:txBody>
      </p:sp>
      <p:pic>
        <p:nvPicPr>
          <p:cNvPr id="259" name="Google Shape;259;p19"/>
          <p:cNvPicPr preferRelativeResize="0"/>
          <p:nvPr/>
        </p:nvPicPr>
        <p:blipFill rotWithShape="1">
          <a:blip r:embed="rId2">
            <a:alphaModFix/>
          </a:blip>
          <a:srcRect b="0" l="0" r="0" t="0"/>
          <a:stretch/>
        </p:blipFill>
        <p:spPr>
          <a:xfrm>
            <a:off x="6458420" y="1280071"/>
            <a:ext cx="3520483" cy="2177504"/>
          </a:xfrm>
          <a:prstGeom prst="rect">
            <a:avLst/>
          </a:prstGeom>
          <a:noFill/>
          <a:ln>
            <a:noFill/>
          </a:ln>
        </p:spPr>
      </p:pic>
      <p:sp>
        <p:nvSpPr>
          <p:cNvPr id="260" name="Google Shape;260;p19"/>
          <p:cNvSpPr/>
          <p:nvPr/>
        </p:nvSpPr>
        <p:spPr>
          <a:xfrm>
            <a:off x="6458396" y="3549104"/>
            <a:ext cx="35395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Sakura et al. (2012), Fig. 1. Rewarded and unrewarded polarization directions.</a:t>
            </a:r>
            <a:endParaRPr sz="1800">
              <a:solidFill>
                <a:schemeClr val="dk1"/>
              </a:solidFill>
              <a:latin typeface="Calibri"/>
              <a:ea typeface="Calibri"/>
              <a:cs typeface="Calibri"/>
              <a:sym typeface="Calibri"/>
            </a:endParaRPr>
          </a:p>
        </p:txBody>
      </p:sp>
      <p:pic>
        <p:nvPicPr>
          <p:cNvPr id="261" name="Google Shape;261;p19"/>
          <p:cNvPicPr preferRelativeResize="0"/>
          <p:nvPr/>
        </p:nvPicPr>
        <p:blipFill rotWithShape="1">
          <a:blip r:embed="rId3">
            <a:alphaModFix/>
          </a:blip>
          <a:srcRect b="0" l="0" r="0" t="0"/>
          <a:stretch/>
        </p:blipFill>
        <p:spPr>
          <a:xfrm>
            <a:off x="10161836" y="2148796"/>
            <a:ext cx="1462980" cy="1396571"/>
          </a:xfrm>
          <a:prstGeom prst="rect">
            <a:avLst/>
          </a:prstGeom>
          <a:noFill/>
          <a:ln>
            <a:noFill/>
          </a:ln>
        </p:spPr>
      </p:pic>
      <p:sp>
        <p:nvSpPr>
          <p:cNvPr id="262" name="Google Shape;262;p19"/>
          <p:cNvSpPr/>
          <p:nvPr/>
        </p:nvSpPr>
        <p:spPr>
          <a:xfrm>
            <a:off x="10161836" y="3618607"/>
            <a:ext cx="1482030" cy="41121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Zeller et al. (2015), Fig. 1A–F. Dorsal-rim input reaches dorsal medulla.</a:t>
            </a:r>
            <a:endParaRPr sz="1800">
              <a:solidFill>
                <a:schemeClr val="dk1"/>
              </a:solidFill>
              <a:latin typeface="Calibri"/>
              <a:ea typeface="Calibri"/>
              <a:cs typeface="Calibri"/>
              <a:sym typeface="Calibri"/>
            </a:endParaRPr>
          </a:p>
        </p:txBody>
      </p:sp>
      <p:sp>
        <p:nvSpPr>
          <p:cNvPr id="263" name="Google Shape;263;p19"/>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Sakura et al. (2012)</a:t>
            </a:r>
            <a:endParaRPr sz="1800">
              <a:solidFill>
                <a:schemeClr val="dk1"/>
              </a:solidFill>
              <a:latin typeface="Calibri"/>
              <a:ea typeface="Calibri"/>
              <a:cs typeface="Calibri"/>
              <a:sym typeface="Calibri"/>
            </a:endParaRPr>
          </a:p>
        </p:txBody>
      </p:sp>
      <p:sp>
        <p:nvSpPr>
          <p:cNvPr id="265" name="Google Shape;265;p19"/>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19a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49" name="Google Shape;149;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calibration converts waggle duration to distance</a:t>
            </a:r>
            <a:endParaRPr sz="1800">
              <a:solidFill>
                <a:schemeClr val="dk1"/>
              </a:solidFill>
              <a:latin typeface="Calibri"/>
              <a:ea typeface="Calibri"/>
              <a:cs typeface="Calibri"/>
              <a:sym typeface="Calibri"/>
            </a:endParaRPr>
          </a:p>
        </p:txBody>
      </p:sp>
      <p:sp>
        <p:nvSpPr>
          <p:cNvPr id="150" name="Google Shape;150;p11"/>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A </a:t>
            </a:r>
            <a:r>
              <a:rPr b="1" i="0" lang="en-US" sz="1600">
                <a:solidFill>
                  <a:srgbClr val="3F5063"/>
                </a:solidFill>
                <a:latin typeface="Arial"/>
                <a:ea typeface="Arial"/>
                <a:cs typeface="Arial"/>
                <a:sym typeface="Arial"/>
              </a:rPr>
              <a:t>calibration</a:t>
            </a:r>
            <a:r>
              <a:rPr b="0" i="0" lang="en-US" sz="1600">
                <a:solidFill>
                  <a:srgbClr val="252B32"/>
                </a:solidFill>
                <a:latin typeface="Arial"/>
                <a:ea typeface="Arial"/>
                <a:cs typeface="Arial"/>
                <a:sym typeface="Arial"/>
              </a:rPr>
              <a:t> relates a measured signal to a known quantity under specified conditions. For the waggle dance, the calibration relates the duration of the waggle phase to the distance of a feeder at known outdoor positions, and it provides the reference for reading other dances.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Srinivasan and colleagues moved outdoor feeders between 60 and 350 m and measured each waggle phase on return to the hive. Mean waggle duration increased approximately linearly with feeder distance, by 1.88 ms for each meter of outdoor travel. The calibration was measured independently of the tunnel manipulation.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Tunnel dances can then be expressed as the outdoor distance that would produce the same waggle duration. The 41 m journey with 6 m inside the tunnel, for example, corresponded to approximately 230 m in this calibration, and a single calibration line serves as the ruler for all tunnel dances.</a:t>
            </a:r>
            <a:endParaRPr sz="1800">
              <a:solidFill>
                <a:schemeClr val="dk1"/>
              </a:solidFill>
              <a:latin typeface="Calibri"/>
              <a:ea typeface="Calibri"/>
              <a:cs typeface="Calibri"/>
              <a:sym typeface="Calibri"/>
            </a:endParaRPr>
          </a:p>
        </p:txBody>
      </p:sp>
      <p:pic>
        <p:nvPicPr>
          <p:cNvPr id="153" name="Google Shape;153;p11"/>
          <p:cNvPicPr preferRelativeResize="0"/>
          <p:nvPr/>
        </p:nvPicPr>
        <p:blipFill rotWithShape="1">
          <a:blip r:embed="rId2">
            <a:alphaModFix/>
          </a:blip>
          <a:srcRect b="0" l="0" r="0" t="0"/>
          <a:stretch/>
        </p:blipFill>
        <p:spPr>
          <a:xfrm>
            <a:off x="6458400" y="1280071"/>
            <a:ext cx="5166413" cy="3720554"/>
          </a:xfrm>
          <a:prstGeom prst="rect">
            <a:avLst/>
          </a:prstGeom>
          <a:noFill/>
          <a:ln>
            <a:noFill/>
          </a:ln>
        </p:spPr>
      </p:pic>
      <p:sp>
        <p:nvSpPr>
          <p:cNvPr id="154" name="Google Shape;154;p11"/>
          <p:cNvSpPr/>
          <p:nvPr/>
        </p:nvSpPr>
        <p:spPr>
          <a:xfrm>
            <a:off x="6458396" y="5092154"/>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Srinivasan et al. (2000), Fig. 2. Outdoor distance calibration of waggle duration.</a:t>
            </a:r>
            <a:endParaRPr sz="1800">
              <a:solidFill>
                <a:schemeClr val="dk1"/>
              </a:solidFill>
              <a:latin typeface="Calibri"/>
              <a:ea typeface="Calibri"/>
              <a:cs typeface="Calibri"/>
              <a:sym typeface="Calibri"/>
            </a:endParaRPr>
          </a:p>
        </p:txBody>
      </p:sp>
      <p:sp>
        <p:nvSpPr>
          <p:cNvPr id="155" name="Google Shape;155;p11"/>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Srinivasan et al. (2000)</a:t>
            </a:r>
            <a:endParaRPr sz="1800">
              <a:solidFill>
                <a:schemeClr val="dk1"/>
              </a:solidFill>
              <a:latin typeface="Calibri"/>
              <a:ea typeface="Calibri"/>
              <a:cs typeface="Calibri"/>
              <a:sym typeface="Calibri"/>
            </a:endParaRPr>
          </a:p>
        </p:txBody>
      </p:sp>
      <p:sp>
        <p:nvSpPr>
          <p:cNvPr id="157" name="Google Shape;157;p11"/>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11a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3" name="Google Shape;123;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visual odometer measures distance by image motion</a:t>
            </a:r>
            <a:endParaRPr sz="1800">
              <a:solidFill>
                <a:schemeClr val="dk1"/>
              </a:solidFill>
              <a:latin typeface="Calibri"/>
              <a:ea typeface="Calibri"/>
              <a:cs typeface="Calibri"/>
              <a:sym typeface="Calibri"/>
            </a:endParaRPr>
          </a:p>
        </p:txBody>
      </p:sp>
      <p:sp>
        <p:nvSpPr>
          <p:cNvPr id="124" name="Google Shape;124;p9"/>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3F5063"/>
              </a:buClr>
              <a:buSzPts val="1600"/>
              <a:buFont typeface="Arial"/>
              <a:buNone/>
            </a:pPr>
            <a:r>
              <a:rPr b="0" i="0" lang="en-US" sz="1600">
                <a:solidFill>
                  <a:srgbClr val="252B32"/>
                </a:solidFill>
                <a:latin typeface="Arial"/>
                <a:ea typeface="Arial"/>
                <a:cs typeface="Arial"/>
                <a:sym typeface="Arial"/>
              </a:rPr>
              <a:t>A </a:t>
            </a:r>
            <a:r>
              <a:rPr b="1" i="0" lang="en-US" sz="1600">
                <a:solidFill>
                  <a:srgbClr val="3F5063"/>
                </a:solidFill>
                <a:latin typeface="Arial"/>
                <a:ea typeface="Arial"/>
                <a:cs typeface="Arial"/>
                <a:sym typeface="Arial"/>
              </a:rPr>
              <a:t>visual odometer</a:t>
            </a:r>
            <a:r>
              <a:rPr b="0" i="0" lang="en-US" sz="1600">
                <a:solidFill>
                  <a:srgbClr val="252B32"/>
                </a:solidFill>
                <a:latin typeface="Arial"/>
                <a:ea typeface="Arial"/>
                <a:cs typeface="Arial"/>
                <a:sym typeface="Arial"/>
              </a:rPr>
              <a:t> is a mechanism that estimates distance traveled from the optic flow generated during flight. Optic flow is the movement of environmental images across the retina, and nearby surfaces produce more angular image displacement than distant surfaces for the same distance traveled.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Srinivasan and colleagues trained bees through a tunnel 6.4 m long, 11 cm wide and 20 cm high. Random black-and-white texture covered the walls and floor, and the feeder was 6 m into the tunnel. Returning bees produced waggle dances, although an equally short outdoor journey normally elicits round dances.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An energy-based measure would predict the same signal for the same physical distance. Because the close textured walls raised the image motion, the dance reported a much longer distance than the 6 m flown, which fits a measure based on optic flow.</a:t>
            </a:r>
            <a:endParaRPr sz="1800">
              <a:solidFill>
                <a:schemeClr val="dk1"/>
              </a:solidFill>
              <a:latin typeface="Calibri"/>
              <a:ea typeface="Calibri"/>
              <a:cs typeface="Calibri"/>
              <a:sym typeface="Calibri"/>
            </a:endParaRPr>
          </a:p>
        </p:txBody>
      </p:sp>
      <p:pic>
        <p:nvPicPr>
          <p:cNvPr id="127" name="Google Shape;127;p9"/>
          <p:cNvPicPr preferRelativeResize="0"/>
          <p:nvPr/>
        </p:nvPicPr>
        <p:blipFill rotWithShape="1">
          <a:blip r:embed="rId2">
            <a:alphaModFix/>
          </a:blip>
          <a:srcRect b="0" l="0" r="0" t="0"/>
          <a:stretch/>
        </p:blipFill>
        <p:spPr>
          <a:xfrm>
            <a:off x="7221065" y="1280071"/>
            <a:ext cx="3641530" cy="4297561"/>
          </a:xfrm>
          <a:prstGeom prst="rect">
            <a:avLst/>
          </a:prstGeom>
          <a:noFill/>
          <a:ln>
            <a:noFill/>
          </a:ln>
        </p:spPr>
      </p:pic>
      <p:sp>
        <p:nvSpPr>
          <p:cNvPr id="128" name="Google Shape;128;p9"/>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Srinivasan et al. (2000), Fig. 1A,B. Tunnel geometry and texture-dependent dances.</a:t>
            </a:r>
            <a:endParaRPr sz="1800">
              <a:solidFill>
                <a:schemeClr val="dk1"/>
              </a:solidFill>
              <a:latin typeface="Calibri"/>
              <a:ea typeface="Calibri"/>
              <a:cs typeface="Calibri"/>
              <a:sym typeface="Calibri"/>
            </a:endParaRPr>
          </a:p>
        </p:txBody>
      </p:sp>
      <p:sp>
        <p:nvSpPr>
          <p:cNvPr id="129" name="Google Shape;129;p9"/>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Srinivasan et al. (2000)</a:t>
            </a:r>
            <a:endParaRPr sz="1800">
              <a:solidFill>
                <a:schemeClr val="dk1"/>
              </a:solidFill>
              <a:latin typeface="Calibri"/>
              <a:ea typeface="Calibri"/>
              <a:cs typeface="Calibri"/>
              <a:sym typeface="Calibri"/>
            </a:endParaRPr>
          </a:p>
        </p:txBody>
      </p:sp>
      <p:sp>
        <p:nvSpPr>
          <p:cNvPr id="131" name="Google Shape;131;p9"/>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09a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10" name="Google Shape;110;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Ground speed and air speed are different quantities</a:t>
            </a:r>
            <a:endParaRPr sz="1800">
              <a:solidFill>
                <a:schemeClr val="dk1"/>
              </a:solidFill>
              <a:latin typeface="Calibri"/>
              <a:ea typeface="Calibri"/>
              <a:cs typeface="Calibri"/>
              <a:sym typeface="Calibri"/>
            </a:endParaRPr>
          </a:p>
        </p:txBody>
      </p:sp>
      <p:sp>
        <p:nvSpPr>
          <p:cNvPr id="111" name="Google Shape;111;p8"/>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1" i="0" lang="en-US" sz="1600">
                <a:solidFill>
                  <a:srgbClr val="3F5063"/>
                </a:solidFill>
                <a:latin typeface="Arial"/>
                <a:ea typeface="Arial"/>
                <a:cs typeface="Arial"/>
                <a:sym typeface="Arial"/>
              </a:rPr>
              <a:t>Ground speed</a:t>
            </a:r>
            <a:r>
              <a:rPr b="0" i="0" lang="en-US" sz="1600">
                <a:solidFill>
                  <a:srgbClr val="252B32"/>
                </a:solidFill>
                <a:latin typeface="Arial"/>
                <a:ea typeface="Arial"/>
                <a:cs typeface="Arial"/>
                <a:sym typeface="Arial"/>
              </a:rPr>
              <a:t> is the speed of a bee relative to the earth below, whereas air speed is its speed relative to the air that carries it. A crosswind makes the two differ, so the direction the body points can differ from the direction the bee actually travels.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Riley and colleagues measured flight tracks together with wind velocity. In one recorded flight, ground speed was 6.8 m/s while a 3.3 m/s wind acted from a different direction, and the reconstructed air velocity was 5.2 m/s. The air heading differed from the ground-track direction by approximately 28°.</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difference between heading and track is the correction for drift. A bee that holds the advertised eastward ground track must point partly into the wind, so the recorded displacement follows the dance instruction and not the wind-displaced heading.</a:t>
            </a:r>
            <a:endParaRPr sz="1800">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2">
            <a:alphaModFix/>
          </a:blip>
          <a:srcRect b="0" l="0" r="0" t="0"/>
          <a:stretch/>
        </p:blipFill>
        <p:spPr>
          <a:xfrm>
            <a:off x="7366759" y="1280071"/>
            <a:ext cx="3349992" cy="4297561"/>
          </a:xfrm>
          <a:prstGeom prst="rect">
            <a:avLst/>
          </a:prstGeom>
          <a:noFill/>
          <a:ln>
            <a:noFill/>
          </a:ln>
        </p:spPr>
      </p:pic>
      <p:sp>
        <p:nvSpPr>
          <p:cNvPr id="115" name="Google Shape;115;p8"/>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Riley et al. (2005), Fig. 3a,b. Crosswind compensation during a recruit flight.</a:t>
            </a:r>
            <a:endParaRPr sz="1800">
              <a:solidFill>
                <a:schemeClr val="dk1"/>
              </a:solidFill>
              <a:latin typeface="Calibri"/>
              <a:ea typeface="Calibri"/>
              <a:cs typeface="Calibri"/>
              <a:sym typeface="Calibri"/>
            </a:endParaRPr>
          </a:p>
        </p:txBody>
      </p:sp>
      <p:sp>
        <p:nvSpPr>
          <p:cNvPr id="116" name="Google Shape;116;p8"/>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Riley et al. (2005)</a:t>
            </a:r>
            <a:endParaRPr sz="1800">
              <a:solidFill>
                <a:schemeClr val="dk1"/>
              </a:solidFill>
              <a:latin typeface="Calibri"/>
              <a:ea typeface="Calibri"/>
              <a:cs typeface="Calibri"/>
              <a:sym typeface="Calibri"/>
            </a:endParaRPr>
          </a:p>
        </p:txBody>
      </p:sp>
      <p:sp>
        <p:nvSpPr>
          <p:cNvPr id="118" name="Google Shape;118;p8"/>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08a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1" name="Google Shape;71;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Harmonic radar tracks a bee carrying a transponder</a:t>
            </a:r>
            <a:endParaRPr sz="1800">
              <a:solidFill>
                <a:schemeClr val="dk1"/>
              </a:solidFill>
              <a:latin typeface="Calibri"/>
              <a:ea typeface="Calibri"/>
              <a:cs typeface="Calibri"/>
              <a:sym typeface="Calibri"/>
            </a:endParaRPr>
          </a:p>
        </p:txBody>
      </p:sp>
      <p:sp>
        <p:nvSpPr>
          <p:cNvPr id="72" name="Google Shape;72;p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1" i="0" lang="en-US" sz="1600">
                <a:solidFill>
                  <a:srgbClr val="3F5063"/>
                </a:solidFill>
                <a:latin typeface="Arial"/>
                <a:ea typeface="Arial"/>
                <a:cs typeface="Arial"/>
                <a:sym typeface="Arial"/>
              </a:rPr>
              <a:t>Harmonic radar</a:t>
            </a:r>
            <a:r>
              <a:rPr b="0" i="0" lang="en-US" sz="1600">
                <a:solidFill>
                  <a:srgbClr val="252B32"/>
                </a:solidFill>
                <a:latin typeface="Arial"/>
                <a:ea typeface="Arial"/>
                <a:cs typeface="Arial"/>
                <a:sym typeface="Arial"/>
              </a:rPr>
              <a:t> detects a small transponder carried by a bee and returns the position of the animal over time. It allows a flight to be measured outside the observation hive, over distances of hundreds of meters, without following the bee by eye.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Riley and colleagues tracked recruits that had followed dances advertising an unscented feeder 200 m east of the hive. Radar positions were acquired every 3 s. Recruits released at the hive generally flew an initially straight, eastward route, and their straight sections averaged 206 m before searching began.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Sampling every 3 s separates directed travel from the more tortuous path of a bee that is searching. The trajectory therefore gives the direction and length of the vector flight and the point at which the bee switches from directed flight to search.</a:t>
            </a:r>
            <a:endParaRPr sz="1800">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2">
            <a:alphaModFix/>
          </a:blip>
          <a:srcRect b="0" l="0" r="0" t="0"/>
          <a:stretch/>
        </p:blipFill>
        <p:spPr>
          <a:xfrm>
            <a:off x="6458509" y="1280071"/>
            <a:ext cx="5166194" cy="3256062"/>
          </a:xfrm>
          <a:prstGeom prst="rect">
            <a:avLst/>
          </a:prstGeom>
          <a:noFill/>
          <a:ln>
            <a:noFill/>
          </a:ln>
        </p:spPr>
      </p:pic>
      <p:sp>
        <p:nvSpPr>
          <p:cNvPr id="76" name="Google Shape;76;p5"/>
          <p:cNvSpPr/>
          <p:nvPr/>
        </p:nvSpPr>
        <p:spPr>
          <a:xfrm>
            <a:off x="6458396" y="4627662"/>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Riley et al. (2005), Fig. 1. Tracks from hive and displaced release points.</a:t>
            </a:r>
            <a:endParaRPr sz="1800">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Riley et al. (2005)</a:t>
            </a:r>
            <a:endParaRPr sz="1800">
              <a:solidFill>
                <a:schemeClr val="dk1"/>
              </a:solidFill>
              <a:latin typeface="Calibri"/>
              <a:ea typeface="Calibri"/>
              <a:cs typeface="Calibri"/>
              <a:sym typeface="Calibri"/>
            </a:endParaRPr>
          </a:p>
        </p:txBody>
      </p:sp>
      <p:sp>
        <p:nvSpPr>
          <p:cNvPr id="79" name="Google Shape;79;p5"/>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05a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F5063"/>
              </a:buClr>
              <a:buSzPts val="3000"/>
              <a:buFont typeface="Arial"/>
              <a:buNone/>
            </a:pPr>
            <a:r>
              <a:rPr b="1" i="0" lang="en-US" sz="3000">
                <a:solidFill>
                  <a:srgbClr val="3F5063"/>
                </a:solidFill>
                <a:latin typeface="Arial"/>
                <a:ea typeface="Arial"/>
                <a:cs typeface="Arial"/>
                <a:sym typeface="Arial"/>
              </a:rPr>
              <a:t>A vector specifies a direction and a distance</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A </a:t>
            </a:r>
            <a:r>
              <a:rPr b="1" i="0" lang="en-US" sz="1600">
                <a:solidFill>
                  <a:srgbClr val="3F5063"/>
                </a:solidFill>
                <a:latin typeface="Arial"/>
                <a:ea typeface="Arial"/>
                <a:cs typeface="Arial"/>
                <a:sym typeface="Arial"/>
              </a:rPr>
              <a:t>vector</a:t>
            </a:r>
            <a:r>
              <a:rPr b="0" i="0" lang="en-US" sz="1600">
                <a:solidFill>
                  <a:srgbClr val="252B32"/>
                </a:solidFill>
                <a:latin typeface="Arial"/>
                <a:ea typeface="Arial"/>
                <a:cs typeface="Arial"/>
                <a:sym typeface="Arial"/>
              </a:rPr>
              <a:t> specifies a direction and a distance from an origin. In the waggle dance the origin is the hive, the direction is given relative to the sun, and the distance is given by how long the waggle run lasts. Followers use both quantities to plan a flight.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B32"/>
              </a:buClr>
              <a:buSzPts val="1600"/>
              <a:buFont typeface="Arial"/>
              <a:buNone/>
            </a:pPr>
            <a:r>
              <a:rPr b="0" i="0" lang="en-US" sz="1600">
                <a:solidFill>
                  <a:srgbClr val="252B32"/>
                </a:solidFill>
                <a:latin typeface="Arial"/>
                <a:ea typeface="Arial"/>
                <a:cs typeface="Arial"/>
                <a:sym typeface="Arial"/>
              </a:rPr>
              <a:t>Dong and colleagues filmed individually marked bees that visited a feeder 150 m away. The angle of the waggle run on a vertical comb encoded the direction of the food relative to the sun, and the duration of the run encoded distance. Attending bees followed the dancer at close range.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B32"/>
              </a:buClr>
              <a:buSzPts val="1600"/>
              <a:buFont typeface="Arial"/>
              <a:buNone/>
            </a:pPr>
            <a:r>
              <a:rPr b="0" i="0" lang="en-US" sz="1600">
                <a:solidFill>
                  <a:srgbClr val="252B32"/>
                </a:solidFill>
                <a:latin typeface="Arial"/>
                <a:ea typeface="Arial"/>
                <a:cs typeface="Arial"/>
                <a:sym typeface="Arial"/>
              </a:rPr>
              <a:t>The dance therefore communicates a location outside the hive and not merely the position of the dancer. Direction and distance are carried by two separate features of the same movement, a straight abdominal-wagging run followed by alternating return loops, so each can be measured independently.</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2">
            <a:alphaModFix/>
          </a:blip>
          <a:srcRect b="0" l="0" r="0" t="0"/>
          <a:stretch/>
        </p:blipFill>
        <p:spPr>
          <a:xfrm>
            <a:off x="7948812" y="1280071"/>
            <a:ext cx="2185887" cy="4297561"/>
          </a:xfrm>
          <a:prstGeom prst="rect">
            <a:avLst/>
          </a:prstGeom>
          <a:noFill/>
          <a:ln>
            <a:noFill/>
          </a:ln>
        </p:spPr>
      </p:pic>
      <p:sp>
        <p:nvSpPr>
          <p:cNvPr id="37" name="Google Shape;37;p2"/>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1000"/>
              <a:buFont typeface="Arial"/>
              <a:buNone/>
            </a:pPr>
            <a:r>
              <a:rPr b="0" i="0" lang="en-US" sz="1000">
                <a:solidFill>
                  <a:srgbClr val="606B76"/>
                </a:solidFill>
                <a:latin typeface="Arial"/>
                <a:ea typeface="Arial"/>
                <a:cs typeface="Arial"/>
                <a:sym typeface="Arial"/>
              </a:rPr>
              <a:t>Dong et al. (2023), Fig. 1A. Waggle-run angle, return loops and following bees.</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D6D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Dong et al. (2023)</a:t>
            </a:r>
            <a:endParaRPr sz="1800">
              <a:solidFill>
                <a:schemeClr val="dk1"/>
              </a:solidFill>
              <a:latin typeface="Calibri"/>
              <a:ea typeface="Calibri"/>
              <a:cs typeface="Calibri"/>
              <a:sym typeface="Calibri"/>
            </a:endParaRPr>
          </a:p>
        </p:txBody>
      </p:sp>
      <p:sp>
        <p:nvSpPr>
          <p:cNvPr id="40" name="Google Shape;40;p2"/>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06B76"/>
              </a:buClr>
              <a:buSzPts val="900"/>
              <a:buFont typeface="Arial"/>
              <a:buNone/>
            </a:pPr>
            <a:r>
              <a:rPr b="0" i="0" lang="en-US" sz="900">
                <a:solidFill>
                  <a:srgbClr val="606B76"/>
                </a:solidFill>
                <a:latin typeface="Arial"/>
                <a:ea typeface="Arial"/>
                <a:cs typeface="Arial"/>
                <a:sym typeface="Arial"/>
              </a:rPr>
              <a:t>02a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2026-10-08T22:26:11.889Z</dcterms:created>
  <dc:creator>Presenton</dc:creator>
</cp:coreProperties>
</file>