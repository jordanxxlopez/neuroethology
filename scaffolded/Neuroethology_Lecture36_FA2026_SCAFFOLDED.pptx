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315" r:id="rId65"/>
    <p:sldId id="259" r:id="rId8"/>
    <p:sldId id="260" r:id="rId9"/>
    <p:sldId id="261" r:id="rId10"/>
    <p:sldId id="314" r:id="rId64"/>
    <p:sldId id="262" r:id="rId11"/>
    <p:sldId id="263" r:id="rId12"/>
    <p:sldId id="264" r:id="rId13"/>
    <p:sldId id="313" r:id="rId63"/>
    <p:sldId id="265" r:id="rId14"/>
    <p:sldId id="266" r:id="rId15"/>
    <p:sldId id="267" r:id="rId16"/>
    <p:sldId id="312" r:id="rId62"/>
    <p:sldId id="268" r:id="rId17"/>
    <p:sldId id="269" r:id="rId18"/>
    <p:sldId id="270" r:id="rId19"/>
    <p:sldId id="311" r:id="rId61"/>
    <p:sldId id="271" r:id="rId20"/>
    <p:sldId id="272" r:id="rId21"/>
    <p:sldId id="273" r:id="rId22"/>
    <p:sldId id="310" r:id="rId60"/>
    <p:sldId id="274" r:id="rId23"/>
    <p:sldId id="275" r:id="rId24"/>
    <p:sldId id="276" r:id="rId25"/>
    <p:sldId id="309" r:id="rId59"/>
    <p:sldId id="277" r:id="rId26"/>
    <p:sldId id="278" r:id="rId27"/>
    <p:sldId id="279" r:id="rId28"/>
    <p:sldId id="308" r:id="rId58"/>
    <p:sldId id="280" r:id="rId29"/>
    <p:sldId id="281" r:id="rId30"/>
    <p:sldId id="282" r:id="rId31"/>
    <p:sldId id="307" r:id="rId57"/>
    <p:sldId id="283" r:id="rId32"/>
    <p:sldId id="284" r:id="rId33"/>
    <p:sldId id="285" r:id="rId34"/>
    <p:sldId id="306" r:id="rId56"/>
    <p:sldId id="286" r:id="rId35"/>
    <p:sldId id="287" r:id="rId36"/>
    <p:sldId id="288" r:id="rId37"/>
    <p:sldId id="305" r:id="rId55"/>
    <p:sldId id="289" r:id="rId38"/>
    <p:sldId id="290" r:id="rId39"/>
    <p:sldId id="291" r:id="rId40"/>
    <p:sldId id="304" r:id="rId54"/>
    <p:sldId id="292" r:id="rId41"/>
    <p:sldId id="293" r:id="rId42"/>
    <p:sldId id="294" r:id="rId43"/>
    <p:sldId id="303" r:id="rId53"/>
    <p:sldId id="295" r:id="rId44"/>
    <p:sldId id="296" r:id="rId45"/>
    <p:sldId id="297" r:id="rId46"/>
    <p:sldId id="302" r:id="rId52"/>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MN38jGafKOQOWQOquEXlfAaP3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Simple learning circuits: Aplysia gill-withdrawal habituation and sensitization (Kandel)</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Aplysia californica provides identifiable sensory and motor neurons connecting tactile stimulation to defensive withdrawal. Habituation and sensitization permit behavioral, synaptic, and molecular interventions in related preparations.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animal photograph is credited to Jeff Young, CC BY 4.0. https://www.inaturalist.org/photos/746343526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Castellucci V; Pinsker H; Kupfermann I; Kandel ER (1970). Neuronal Mechanisms of Habituation and Dishabituation of the Gill-Withdrawal Reflex in Aplysia. Science, 167(3926): 1745-1748. https://doi.org/10.1126/science.167.3926.1745</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Aplysia californica is a marine gastropod whose siphon carries water out of the mantle cavity, the chamber containing its respiratory gill. Touching the siphon or adjacent mantle shelf evokes contraction of the gill, siphon, and mantle shelf. Withdrawal reduces the exposure of these delicate structures to a disturbing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Pinsker and colleagues restrained animals with the gill exposed and delivered controlled seawater jets. A photocell measured gill movement from light scattered by the tissue. Stimulus duration was usually 800 ms, and stronger jets produced larger contractions with additional, delayed response components.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allowed stimulus intensity and response amplitude to be measured separately. Exposing and restraining the animal changes its normal sensory context, so the measured contraction is an experimentally accessible component of defense rather than a complete account of freely behaving avoidance.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Habituation is a decrease in responsiveness caused by repeated presentation of a stimulus. Pinsker and colleagues repeatedly stimulated the same siphon receptive region while holding the seawater-jet stimulus constant. The gill contracted progressively less even though the stimulus continued to reach the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Across stimulus intervals ranging from seconds to several minutes, responses commonly approached about 25% of the initial amplitude. Longer spacing slowed the decrement. The relation between repetition and response therefore depended on the temporal history of stimulation, rather than simply on elapsed time in the apparatus.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smaller movement alone cannot locate the change in the nervous system. Sensory adaptation, weaker central transmission, altered motor-neuron activity, or muscle fatigue could all reduce contraction. Controlled stimulation established the behavioral phenomenon; intracellular recordings were needed to distinguish these possible mechanisms.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2(A–B). Withdrawal habituation, dishabituation, and recovery after 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Spontaneous recovery is the return of responsiveness after stimulation stops. In the gill-withdrawal experiments, a previously effective stimulus again produced a substantial contraction after a rest period. The recovered response could then decrease during another series of identical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Recovery was not a single fixed-duration process. Pinsker and colleagues described a rapid component over approximately 10–20 min that accounted for about 75–85% of recovery, followed by a slower component. Some responses recovered fully within 10 min, whereas others remained incompletely recovered after 122 min.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animal therefore retained the capacity to contract its gill after habituation. Recovery weakens an explanation based on irreversible injury or permanent motor failure, but it does not by itself distinguish sensory adaptation from reversible synaptic or network changes. Behavioral recovery and synaptic recovery must be measured in their respective preparations.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2(A–B). Withdrawal habituation, dishabituation, and recovery after 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Dishabituation is an increase in a previously habituated response after another, stronger stimulus. Pinsker and colleagues first reduced gill withdrawal with repeated siphon stimulation, then applied a strong tactile stimulus elsewhere on the animal. Subsequent presentations of the original test stimulus again evoked larger contractions.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increase lasted for several minutes and could exceed the original response level. Sensitization, an increased responsiveness following a strong or noxious stimulus, can therefore be superimposed on the response that was reduced during habituation. Restoration of movement does not necessarily mean that every underlying depressive process has been reversed.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Using the same siphon test stimulus before and after the strong stimulus separated the test input from the modulatory event. The result requires a process capable of increasing defensive responsiveness across inputs; its cellular location remained unresolved by the behavioral measurement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3(A–B). Repeated-stimulation decrement and recovery of gill withdrawal.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Castellucci and colleagues isolated the abdominal ganglion, a cluster of neuronal cell bodies, while preserving a siphon nerve and its attached receptive skin. A sensory neuron detects stimulation of that skin, whereas a motor neuron drives contraction of a peripheral target. Large, identifiable cells permitted repeated intracellular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Brief mechanical or electrical skin stimuli produced an excitatory postsynaptic potential, or EPSP, in an identified gill motor neuron, usually L7. An EPSP is a membrane depolarization that brings a neuron closer to the voltage threshold for firing an action potential. Repeated stimulation reduced this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retained a defined input pathway while removing much of the animal. Matching neural changes to gill-withdrawal behavior therefore required comparison with more intact preparations. Identifying a sensory–motor connection established an accessible circuit element, rather than proving that the entire reflex was monosynaptic.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 Pinsker H; Kupfermann I; Kandel ER (1970). Neuronal Mechanisms of Habituation and Dishabituation of the Gill-Withdrawal Reflex in Aplysia. Science, 167(3926): 1745-1748. https://doi.org/10.1126/science.167.3926.1745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et al. (1970), Fig. 1(A–B). Receptive skin, isolated ganglion, and motor-cell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monosynaptic connection links a presynaptic neuron directly to a postsynaptic neuron without an intervening interneuron. Castellucci and colleagues used brief skin stimuli and elevated divalent-ion concentrations to suppress much of the polysynaptic activity while recording elementary EPSPs in a gill motor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EPSPs had a short, stable latency and decreased during repeated stimulation. Their decrement persisted when the motor neuron was hyperpolarized to reduce spontaneous inhibitory potentials. Direct connective stimulation also produced decrement, reducing the likelihood that only adaptation of the stimulated skin explained the result.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placed an important change within central excitatory transmission. They did not yet identify the molecular release machinery or exclude plasticity at other connections. A propagated sensory action potential and a reduced postsynaptic response can coexist because the effectiveness of transmission at their synapse has changed.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 Pinsker H; Kupfermann I; Kandel ER (1970). Neuronal Mechanisms of Habituation and Dishabituation of the Gill-Withdrawal Reflex in Aplysia. Science, 167(3926): 1745-1748. https://doi.org/10.1126/science.167.3926.1745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et al. (1970), Fig. 2(A–D). Elementary EPSP decrement, recovery, and connective-induced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Antonov and colleagues combined intracellular recordings with siphon-movement measurements in a reduced preparation. LFS motor neurons were identified output cells for siphon withdrawal, and LE sensory neurons supplied tactile input. Artificially stimulating one LFS neuron allowed its contribution to movement to be compared with withdrawal evoked by siphon touch.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single LFS neuron's contribution increased with its firing rate. Comparisons of movement, complex postsynaptic potentials, and individual sensory–motor EPSPs suggested that the LE-to-LFS monosynaptic pathway mediated approximately one-third of the measured reflex response. Other circuit and peripheral mechanisms supplied the remaining contribution.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estimate applies to siphon flaring in this preparation, not to every component of gill or siphon withdrawal. Directly activating the motor cell bypassed sensory processing, providing a control for changes downstream of sensory input while also restricting which circuit mechanisms could be assessed.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Antonov I; Kandel ER; Hawkins RD (1999). The Contribution of Facilitation of Monosynaptic PSPs to Dishabituation and Sensitization of the Aplysia Siphon Withdrawal Reflex. The Journal of Neuroscience, 19(23): 10438-10450.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4(A–B). Motor-cell firing compared with siphon withdrawal.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1(A–B). Siphon, ganglia, and behavioral training protocols.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Antonov and colleagues recorded siphon withdrawal, LFS motor-neuron firing, LE sensory-neuron firing, and synaptic potentials during behavioral training. Habituation used repeated siphon taps, whereas dishabituation added tail shock after habituation. Sensitization was tested by applying shock without the same prior habituation history.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Withdrawal, motor-cell firing, complex postsynaptic potentials, and monosynaptic sensory–motor potentials generally changed in parallel. Facilitation occurred for sensory neurons whose receptive fields included the test location and for sensory neurons activated from other locations. The shock's modulatory action was therefore broader than the originally tapped sensory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Parallel changes connect synaptic physiology to an observable defensive response, but do not make one synapse the sole memory site. The siphon preparation also lacked some transient inhibition described in gill preparations, so apparent differences between dishabituation and sensitization depended partly on which reflex component was measured.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Antonov I; Kandel ER; Hawkins RD (1999). The Contribution of Facilitation of Monosynaptic PSPs to Dishabituation and Sensitization of the Aplysia Siphon Withdrawal Reflex. The Journal of Neuroscience, 19(23): 10438-10450.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6(A–C). Withdrawal, motor activity, and sensory activity during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1(A–B). Siphon, ganglia, and behavioral training protocols.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Castellucci and Kandel analyzed sensory–motor transmission under conditions of low transmitter release. A quantum is the postsynaptic effect associated with a unit of transmitter release, usually interpreted as one vesicle's contents. Low calcium and high magnesium increased transmission failures and made small successful responses easier to resolve.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repeatedly evoked sensory spikes and recorded motor-neuron EPSPs. The amplitudes fluctuated between failures and small responses, while the overall response became smaller during depression. Comparing successive periods of transmission distinguished a reduction in released quanta from a reduction in the motor neuron's response to an individual quantum.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approach provided a functional estimate of release, not direct visualization of vesicle fusion. Its interpretation depends on resolving unitary responses and on the assumptions used to describe release statistics. The experimentally altered ionic environment also differs from transmission in an intact, normally perfused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VF; Kandel ER (1974). A Quantal Analysis of the Synaptic Depression Underlying Habituation of the Gill-Withdrawal Reflex in Aplysia. Proceedings of the National Academy of Sciences, 71(12): 5004-5008. https://doi.org/10.1073/pnas.71.12.5004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&amp; Kandel (1974), Fig. 2. Small successful EPSPs and failures during depression.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https://doi.org/10.1073/pnas.71.12.5004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During synaptic depression, Castellucci and Kandel found a decrease in quantal content, the average number of transmitter quanta released per sensory impulse. The size of the estimated unitary postsynaptic response remained approximately unchanged. Less transmitter therefore reached the motor neuron even when the sensory neuron was still stimulated.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Averaged successful EPSPs retained a similar time course during depression, while failures became more common. An unchanged quantum size argued against a major loss of postsynaptic receptor sensitivity in this short-term preparation. It placed the dominant measured change on the presynaptic side of the sensory–motor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presynaptic result does not specify whether vesicles are depleted, release probability falls, or release sites become unavailable. Those alternatives can produce similar reductions in mean transmission. Quantal analysis identified which side of the synapse changed most strongly under the tested conditions, rather than a complete molecular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VF; Kandel ER (1974). A Quantal Analysis of the Synaptic Depression Underlying Habituation of the Gill-Withdrawal Reflex in Aplysia. Proceedings of the National Academy of Sciences, 71(12): 5004-5008. https://doi.org/10.1073/pnas.71.12.5004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&amp; Kandel (1974), Fig. 3(E1–2). Averaged successful EPSPs retain similar waveforms during depression.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https://doi.org/10.1073/pnas.71.12.5004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Homosynaptic depression is reduced transmission caused by activity in the same synaptic pathway. Gover and colleagues compared strong and weak sensory–motor connections while evoking sensory action potentials at 15 s intervals. Strong and weak connections differed in their initial transmission and paired-pulse behavior but depressed at similar rates.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Paired-pulse ratio compares the postsynaptic responses to two closely spaced presynaptic spikes. Applying 2 mM 4-aminopyridine, a potassium-channel blocker, broadened sensory spikes and increased calcium-dependent release. This manipulation changed initial transmission and paired-pulse behavior without producing the depression expected from a simple relationship between greater release and faster depletion.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observations supported stimulus-dependent silencing of functional release sites. They did not directly image a release-site switch or identify its molecular substrate. Vesicle availability can still influence transmission, but vesicle depletion alone did not explain these depression kinetics.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Gover TD; Jiang XY; Abrams TW (2002). Persistent, Exocytosis-Independent Silencing of Release Sites Underlies Homosynaptic Depression at Sensory Synapses inAplysia. The Journal of Neuroscience, 22(5): 1942-1955. https://doi.org/10.1523/jneurosci.22-05-01942.2002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Gover et al. (2002), Fig. 2(A–D). Empirical depression and paired-pulse responses at strong and weak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https://doi.org/10.1523/jneurosci.22-05-01942.2002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Gover and colleagues induced homosynaptic depression with repeated sensory-neuron stimulation, then left the connection unstimulated for 40 min. Subsequent EPSPs remained depressed rather than returning automatically to their original amplitude. A comparison with a shorter rest interval separated persistent depression from immediate stimulation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Motor-neuron responsiveness and sensory-cell stimulation remained measurable. Together with the release-manipulation experiments, the persistence favored an activity-triggered change in functional release-site availability over a simple exhausted pool that rapidly refills at rest. The proposed switch remained a mechanistic interpretation of electrophysiological data.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prolonged synaptic depression does not contradict the behavioral recovery reported in intact animals: stimulus history, ionic conditions, measured connections, and network contributions differed. A recovery time measured for a whole defensive movement cannot be assigned to every sensory–motor synapse without testing that connection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Gover TD; Jiang XY; Abrams TW (2002). Persistent, Exocytosis-Independent Silencing of Release Sites Underlies Homosynaptic Depression at Sensory Synapses inAplysia. The Journal of Neuroscience, 22(5): 1942-1955. https://doi.org/10.1523/jneurosci.22-05-01942.2002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Gover et al. (2002), Fig. 13(A–B). Persistence of depression after 40 min or 100 s of 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https://doi.org/10.1523/jneurosci.22-05-01942.2002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Carew and colleagues tested long-term habituation, a reduction in responsiveness retained beyond the immediate training session. Unrestrained animals received ten siphon-stimulation trials per day over four days. Withdrawal duration was timed by an observer who did not know the animal's training group.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Trained animals responded less than control animals when tested after 24 h and one week. Reduced responsiveness remained detectable after three weeks, although some recovery had occurred. Gill-withdrawal tests in a restrained preparation also found retention, extending the behavioral result beyond the visually accessible siphon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controlled for handling and testing history, but long-lasting behavioral change did not identify its cellular substrate. Training-related retention could involve persistent synaptic efficacy, altered connectivity, or changes elsewhere in the circuit. The weeks-long effect established that a simple withdrawal system supports enduring nonassociative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Carew TJ; Pinsker HM; Kandel ER (1972). Long-Term Habituation of a Defensive Withdrawal Reflex in Aplysia. Science, 175(4020): 451-454. https://doi.org/10.1126/science.175.4020.451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Carew et al. (1972), Fig. 1(A–C). Training and retention of withdrawal habituation over three weeks.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https://doi.org/10.1126/science.175.4020.451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Carew and colleagues compared forty habituation trials given in one day with the same total distributed over four days. The massed condition concentrated experience, whereas the spaced condition separated daily sessions. Matching the total number of trials isolated their temporal distribution as an experimental variable.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schedules produced substantial decrement during training. Spaced training yielded stronger retention after 24 h and one week than massed training. The final response during a training session therefore did not uniquely predict how much of the change would persist across days.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outcome was withdrawal behavior, not protein synthesis or synapse number. These experiments establish a spacing effect in the defensive reflex but do not identify the molecular events responsible for it. Later cellular protocols could compare temporal patterns while directly testing requirements for lasting synaptic modification.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Carew TJ; Pinsker HM; Kandel ER (1972). Long-Term Habituation of a Defensive Withdrawal Reflex in Aplysia. Science, 175(4020): 451-454. https://doi.org/10.1126/science.175.4020.451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Carew et al. (1972), Fig. 2(A–B). Matched trial totals with spaced versus massed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https://doi.org/10.1126/science.175.4020.451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Bailey and Chen filled identified sensory neurons with horseradish peroxidase, an enzyme used to reveal their processes, and reconstructed the labeled arbors after behavioral training. A varicosity is an axonal swelling that can contain presynaptic release machinery. Counting these swellings compared anatomical connectivity across trained and control animals.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neurons in the habituation comparison averaged 1,291 varicosities, whereas neurons from long-term habituated animals averaged 836. In the sensitization comparison, the corresponding averages were 1,320 and 2,697. The anatomical changes therefore had opposite directions for persistent response decrement and persistent response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are counts of labeled structures, not direct measurements of transmitter release at every swelling. Training and anatomy were associated, but the counting experiment alone did not establish that each changed varicosity caused a particular remembered response or that all memory information resided in the counted structures.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Bailey CH; Chen M (1988a). Long-term memory in Aplysia modulates the total number of varicosities of single identified sensory neurons. Proceedings of the National Academy of Sciences, 85(7): 2373-2377. https://doi.org/10.1073/pnas.85.7.2373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Bailey &amp; Chen (1988a), Fig. 2. Reconstructed sensory-neuron arbors in sensitized animals and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https://doi.org/10.1073/pnas.85.7.2373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Frost and colleagues trained intact animals for long-term sensitization, then recorded identified sensory–motor connections in isolated abdominal ganglia. Sensitization increases defensive responsiveness after strong stimulation without requiring a predictive relation between two stimuli. The test asked whether a persistent behavioral change was accompanied by stronger central transmission.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Monosynaptic EPSPs onto the gill motor neuron L7 were larger in trained animals than in controls. Baseline motor-cell membrane properties were examined to distinguish increased synaptic input from a generalized increase in postsynaptic resistance. The recorded connection could therefore retain a consequence of prior behavioral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linked whole-animal training to persistent sensory–motor enhancement, but did not exclude changes in interneurons, other motor cells, or peripheral targets. Isolating the ganglion also removed ongoing behavioral context. Long-term sensitization recruited an identified synapse without reducing the entire memory to that single connection.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Frost WN; Castellucci VF; Hawkins RD; Kandel ER (1985). Monosynaptic connections made by the sensory neurons of the gill- and siphon-withdrawal reflex in Aplysia participate in the storage of long-term memory for sensitization. Proceedings of the National Academy of Sciences, 82(23): 8266-8269. https://doi.org/10.1073/pnas.82.23.8266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Frost et al. (1985), Fig. 2(A–B). Sensory–motor EPSPs after long-term sensitization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https://doi.org/10.1073/pnas.82.23.8266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Brunelli and colleagues compared serotonin, dopamine, and octopamine at the sensory-neuron connection onto a gill motor neuron. Serotonin, also called 5-hydroxytryptamine or 5-HT, is a neuromodulator: it changes how an existing pathway responds rather than simply conveying the tactile test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neurons were stimulated fifteen times at 10 s intervals to depress their EPSPs. Serotonin applied during a 2.5 min rest increased the subsequent synaptic responses. In the published comparison, 2 μM and 100 μM serotonin produced facilitation, whereas matched periods of rest without serotonin did not produce the same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antagonist, cinanserin, reversibly reduced facilitation evoked by connective stimulation while leaving repeated-stimulation depression intact. These pharmacological results supported a serotonergic contribution, but antagonist effects alone did not identify a receptor subtype or establish that every sensitizing pathway uses serotonin exclusively.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Brunelli et al. (1976), Fig. 1(A–B). Serotonin facilitates EPSPs; cinanserin reduces connective-induced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https://doi.org/10.1126/science.186870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Cyclic AMP, or cAMP, is an intracellular second messenger that links receptor activation to downstream cellular responses. Brunelli and colleagues applied a membrane-permeant cAMP analog and injected cAMP directly into sensory-neuron cell bodies. Both manipulations enhanced EPSPs evoked in their postsynaptic motor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Controls included rest alone, comparable current injection, cyclic GMP, and 5′-AMP. These alternatives did not reproduce the cAMP effect. Injected cAMP enhanced transmission without changing the amplitude or duration of the action potential recorded at the sensory cell body, separating synaptic efficacy from that particular spike measurement.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supported cAMP as a mediator of facilitation, but did not specify every downstream target. An unchanged somatic spike also cannot exclude altered spike propagation or calcium entry at distant terminals. Compartment-specific signaling requires measurements or interventions at the relevant subcellular sites.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Brunelli et al. (1976), Fig. 2(B). Intracellular cAMP enhances transmission relative to injection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https://doi.org/10.1126/science.186870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Protein kinase A, or PKA, transfers phosphate groups onto target proteins when activated by cAMP. Its regulatory subunits restrain catalytic subunits; cAMP binding relieves this restraint. Liu and colleagues distinguished type I and type II PKA through their different regulatory subunits and cellular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A-kinase anchoring proteins, or AKAPs, localize type II PKA by binding its RII regulatory subunit. The Ht31 peptide disrupts this interaction. Ht31 reduced serotonin-induced short-term and long-term facilitation, whereas an inactive control peptide did not produce the same impairment.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made subcellular localization part of the mechanism: kinase activity must be available near appropriate targets. Disrupting an anchoring interaction does not identify every phosphorylated target or exclude other kinases. The experiments established a requirement for localized PKA signaling in this sensorimotor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Liu et al. (2004), Fig. 1(A–C). PKA anchoring disruption and short- versus long-term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https://doi.org/10.1523/jneurosci.4331-03.2004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Liu and colleagues compared PKA regulatory subunits in cell bodies, neurites, and synaptosomes, isolated terminal-enriched particles from nervous tissue. Type I PKA was predominantly soluble, whereas type II PKA was enriched in neuronal processes and associated with prominent anchoring proteins near nerve endings.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Repeated serotonin treatment increased RII protein in synaptosome preparations at 24 h. Immunostaining also detected increased RII in sensory neurons. These measurements connected prolonged facilitation to altered amounts and localization of a signaling protein rather than merely to a transient elevation of cAMP.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terminal-enriched fraction is not a pure population of individually identified learning synapses. Localization supports access to presynaptic targets but does not prove a particular phosphorylation event caused release enhancement. The complementary roles assigned to nuclear type I and synaptic type II PKA remained an interpretation integrating biochemical and physiological results.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Liu et al. (2004), Fig. 5(A–D). RII protein levels in terminal fractions and sensory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https://doi.org/10.1523/jneurosci.4331-03.2004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Liu and colleagues tested whether increased RII expression was necessary for long-term facilitation rather than only associated with it. Antisense oligonucleotides are short nucleic-acid sequences designed to bind a target RNA and reduce its expression. They were injected into sensory neurons before repeated serotonin treatment.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RII antisense reduced the serotonin-induced increase in RII protein and impaired facilitation measured 24 h later. Control injections and manipulations of the other regulatory-subunit class helped distinguish target-dependent effects from a nonspecific consequence of intracellular injection. Electrophysiological and protein measurements were obtained in parallel.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intervention linked a specific expression change to enduring transmission enhancement. It did not imply that all lasting facilitation is produced by RII alone: transcription, translation, anchoring, and other signaling pathways still interact. Knockdown establishes a requirement under the tested protocol, not the sufficiency of a complete memory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Liu et al. (2004), Fig. 7(A–D). RII antisense impairs expression and long-term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https://doi.org/10.1523/jneurosci.4331-03.2004</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Dale and Kandel compared sensory-neuron-evoked currents with motor-neuron responses to applied L-glutamate, an amino-acid neurotransmitter. Voltage-clamp recordings held the motor cell at controlled membrane potentials while measuring synaptic current. This separated voltage dependence from changes in the motor neuron's firing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Evoked transmission and glutamate responses shared important voltage-dependent and pharmacological properties. Magnesium suppressed a component at negative voltages, consistent with a channel block relieved by depolarization. The authors concluded that glutamate was a likely fast excitatory transmitter, while acknowledging differences between applied agonist responses and naturally released transmitter.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Ionotropic receptors directly control membrane ion channels when transmitter binds. Their current depolarizes the motor cell and can recruit spikes that activate withdrawal muscles. Similar pharmacology supports transmitter identity but is not equivalent to directly measuring the chemical contents of every sensory-neuron vesicle.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Dale N; Kandel ER (1993). L-glutamate may be the fast excitatory transmitter of Aplysia sensory neurons. Proceedings of the National Academy of Sciences, 90(15): 7163-7167. https://doi.org/10.1073/pnas.90.15.7163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Dale &amp; Kandel (1993), Fig. 2(A–C). Voltage-dependent currents evoked by sensory spikes and applied glutamate.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https://doi.org/10.1073/pnas.90.15.7163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 and colleagues tested cultured sensory–motor synapses while introducing BAPTA, a fast calcium-binding buffer, into the motor neuron. Intracellular calcium can regulate signaling without itself being the extracellular transmitter. Targeting the postsynaptic cell tested whether facilitation required a change beyond the sensory terminal.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10 min application of 10 μM serotonin enhanced control EPSPs. Buffering postsynaptic calcium reduced the facilitation, particularly after serotonin was removed. Matched motor-cell injections and test-alone conditions distinguished the calcium manipulation from recording-related changes and from the baseline effects of repeated testing.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established a postsynaptic calcium requirement in this preparation. It did not erase the presynaptic evidence from quantal analysis or cAMP interventions: a single connection can change on both sides. Culture conditions and stimulus duration also differ from the original intact gill-withdrawal experiments.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1(A–B). Postsynaptic calcium buffering reduces serotonin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endoplasmic reticulum stores calcium that can be released into the cytoplasm through regulated channels. Li and colleagues injected heparin into motor neurons to interfere with inositol trisphosphate receptors, or IP3 receptors, one class of intracellular calcium-release channel. They then measured serotonin-dependent EPSP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Postsynaptic heparin reduced facilitation relative to control conditions. Complementary experiments used other store-related interventions, including manipulation of ryanodine receptors. These channels regulate intracellular calcium availability, distinct from the voltage-gated calcium entry that triggers transmitter release at sensory terminals.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Pharmacological interference supports dependence on calcium stores, but inhibitors can have additional effects and do not quantify the calcium signal at every synapse. The evidence is strongest when cellular targeting, time course, baseline transmission, and independent interventions converge. It supports a postsynaptic signaling contribution rather than identifying one exclusive route from serotonin to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2(A–B). Postsynaptic IP3-receptor intervention and EPSPs.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Exocytosis is fusion of an intracellular membrane compartment with the cell surface. Li and colleagues injected botulinum toxin B into motor neurons to interfere with this process. Testing the postsynaptic cell distinguished membrane trafficking there from transmitter-vesicle fusion in the sensory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During and after a 10 min serotonin exposure, control synapses showed enhanced EPSPs. Postsynaptic toxin disrupted the lasting component after serotonin offset. Additional recordings in ganglia distinguished AMPA-type and NMDA-type glutamate-receptor contributions; the later enhancement preferentially involved the AMPA-mediated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combined results supported calcium-dependent insertion or regulation of postsynaptic AMPA receptors. The toxin intervention did not directly count individual inserted receptors, and receptor-specific currents do not establish every trafficking step. Presynaptic release enhancement and postsynaptic receptor regulation can cooperate while having different onset and persistence.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5(A–B). Postsynaptic botulinum toxin affects persistent EPSP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 and colleagues extended postsynaptic interventions from culture to a reduced siphon-withdrawal preparation. Repeated siphon taps produced habituation, followed by tail shock and further siphon tests. Identified motor neurons were injected with botulinum toxin B before the behavioral sequence.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preparations increased siphon withdrawal after shock, whereas postsynaptic toxin impaired this dishabituation. Recording motor activity alongside movement connected a cell-targeted intervention to a measured behavioral change. Test-alone and vehicle-related comparisons helped distinguish the intervention from stimulation history and the injection procedure.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behavioral result supported a functional contribution from postsynaptic exocytosis in siphon motor cells. It did not prove that the same trafficking requirement accounts for every gill response or every sensitization protocol. A reduced reflex preparation permits causal access to identified neurons while omitting parts of the intact animal's network and sensory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Antonov I; Kandel ER; Hawkins RD (1999). The Contribution of Facilitation of Monosynaptic PSPs to Dishabituation and Sensitization of the Aplysia Siphon Withdrawal Reflex. The Journal of Neuroscience, 19(23): 10438-10450.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9(A–D). Reduced withdrawal preparation and motor-cell intervention during dishabituation.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1(A–B). Siphon, ganglia, and behavioral training protocols.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Montarolo and colleagues cultured identified sensory neurons with the gill motor neuron L7. A single serotonin application produced short-term EPSP enhancement, whereas five 5 min applications distributed over approximately 1.5 h produced long-term facilitation, a persistent increase in synaptic transmission measured after the training stimulus ended.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24 h, repeated treatment increased connection strength by approximately 71%, whereas a single application did not leave the same persistent enhancement. Controls received equivalent recording and perfusion procedures without the repeated serotonin sequence. The same sensory–motor pair could be reexamined after the delay.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cellular analog reproduced temporal features of sensitization but did not measure withdrawal behavior. The contrast between one and repeated applications established that stimulus history can recruit lasting synaptic change. It did not by itself identify which macromolecules or cellular compartments preserve that enhancement.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Montarolo et al. (1986), Fig. 1(A–C). Repeated serotonin and macromolecular-synthesis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https://doi.org/10.1126/science.3775383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Montarolo and colleagues applied inhibitors during repeated serotonin treatment to distinguish immediate facilitation from its persistence. Translation makes protein from RNA, whereas transcription makes RNA from a DNA template. Anisomycin and emetine interfered with translation; actinomycin D and α-amanitin interfered with transcription.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inhibitors prevented the enhancement normally retained at 24 h while allowing short-term facilitation during serotonin exposure. Drug-alone cultures, baseline connections, and reapplication tests helped distinguish a selective impairment of persistence from generalized failure of synaptic transmission. The immediate and delayed responses therefore had different macromolecular requirements.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Preserved short-term facilitation made simple neuronal death or complete transmission blockade inadequate explanations. Nevertheless, synthesis inhibitors affect many cellular products and cannot identify the individual proteins required. The experiment established synthesis dependence during induction rather than a unique molecular storage substrate.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Montarolo et al. (1986), Fig. 2(A–C). Short-term facilitation persists during synthesis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https://doi.org/10.1126/science.3775383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Montarolo and colleagues varied when anisomycin was present relative to repeated serotonin. A 3 h exposure during and immediately after induction blocked long-term facilitation, whereas comparable inhibition beginning much earlier or several hours later did not produce the same loss of the 24 h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Biochemical measurements confirmed strong suppression of protein synthesis during drug exposure and recovery after washout. These controls connected the intervention timing to its cellular action. Long-term facilitation therefore depended on new synthesis within a restricted induction period rather than continuously on the same inhibitor-sensitive process throughout the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critical window is compatible with production of proteins that initiate or stabilize persistent change. It does not reveal their identities, turnover rates, or locations. Separate experiments are required to distinguish transcription-dependent somatic production from translation near individual synaptic terminals.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Montarolo et al. (1986), Fig. 4(A–C). Timing of synthesis inhibition relative to long-term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https://doi.org/10.1126/science.3775383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Bailey and Chen combined labeling of sensory neurons with labeling of the identified gill motor neuron L7. Electron microscopy resolved labeled sensory terminals contacting labeled motor-cell processes. Comparing trained and control animals therefore examined a more specific relationship than counting all varicosities in a sensory arbor.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Long-term sensitization increased the number of presynaptic contacts onto L7. The morphological change did not involve a corresponding increase in the size of every presynaptic swelling or every active zone, the specialized membrane region supporting transmitter release. More contacts provided one anatomical route to stronger total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labeled contact is not a simultaneous physiological measurement of its release probability. The study associated lasting behavioral sensitization with structural connectivity at an identified output cell, but did not establish that contact addition alone explains the full memory or excludes functional changes at retained synapses.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Bailey CH; Chen M (1988b). Long-term sensitization in Aplysia increases the number of presynaptic contacts onto the identified gill motor neuron L7. Proceedings of the National Academy of Sciences, 85(23): 9356-9359. https://doi.org/10.1073/pnas.85.23.9356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Bailey &amp; Chen (1988b), Fig. 1(A–C). Electron micrographs of labeled contacts onto gill motor-cell processes.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https://doi.org/10.1073/pnas.85.23.9356</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Synapsin is a protein associated with synaptic vesicles and their organization. Hart and colleagues treated sensory neurons with repeated serotonin and measured synapsin RNA, protein, and immunostaining. Immunostaining uses antibodies to reveal a protein's distribution within a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Synapsin levels increased after treatment, with enhanced staining in sensory-neuron varicosities at 2 h and 24 h. The intervening time course was not a simple monotonic rise. Measurements in isolated cultured neurons and nervous tissue connected an expression response to presynaptic structures that participate in transmitter release.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Increased staining alone does not establish that the protein is necessary for facilitation, nor does it directly report vesicle fusion. Quantification required comparison with similarly processed controls and consistent imaging conditions. Synapsin became a candidate effector linking serotonin-dependent gene regulation to persistent changes in synaptic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2(A–B). Synapsin immunostaining in sensory-neuron varicosities.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CREB1, the cAMP response element-binding protein, is a transcription factor that regulates gene expression by binding DNA. A promoter is a DNA region that controls transcription of a gene. Hart and colleagues identified a cAMP response element in the Aplysia synapsin promoter.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promoter-driven fluorescent reporter increased expression after serotonin treatment. Chromatin immunoprecipitation, which isolates DNA associated with a selected protein, found increased CREB1 association with the synapsin promoter. These complementary measurements connected a regulatory DNA sequence, transcription-factor binding, and enhanced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reporter tests promoter regulation outside the full native genomic setting, while DNA binding does not by itself prove that CREB1 is the only required regulator. Together, the assays support a route from serotonin-dependent signaling to synapsin production without assigning every transcriptional response in long-term facilitation to a single gene.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4(A–B). Serotonin increases synapsin-promoter-driven reporter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DNA is packaged with histones, proteins whose chemical modifications influence access to regulatory regions. Hart and colleagues examined the synapsin promoter after serotonin treatment using antibodies that recognized CREB1, acetylated histones, and histone deacetylase 5. Acetylation adds an acetyl group to a protein.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Serotonin increased acetylation of histones H3 and H4 near the promoter and reduced association of histone deacetylase 5, an enzyme that removes acetyl groups. Increased CREB1 binding occurred in the same regulatory region. The combination was consistent with greater transcriptional accessibility and the measured increase in synapsin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assays measured molecular association in collected tissue, rather than transcription at every individual synapse. Correlated chromatin changes do not determine which modification initiates the response or whether each is independently necessary. The evidence connects gene regulation to facilitation while preserving those causal limits.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5(A–B). CREB binding and histone-related assays at the synapsin promoter.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RNA interference uses complementary small RNA molecules to reduce expression of a target RNA. Hart and colleagues injected sensory neurons with synapsin-targeting small interfering RNA, or siRNA, and compared them with neurons receiving control siRNA. Serotonin training and EPSP measurements were then performed in sensory–motor cocultures.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Targeting synapsin blocked the serotonin-induced increase in its protein and impaired facilitation measured 24 h later. Basal synapsin and short-term synaptic responses were examined separately. The intervention therefore connected the induced expression change to the lasting physiological outcome rather than relying solely on correlated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knockdown can have unintended effects, so matched control RNA and baseline measures constrain interpretation. The result identifies synapsin regulation as necessary under this protocol, not as the entire memory mechanism. Vesicle organization, receptor signaling, transcription, and synaptic structure remain interacting components of persistent enhancement.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7(A–B). Synapsin siRNA impairs the 24 h facilitation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Lee and colleagues examined ApCPEB4, an RNA-binding translation regulator in Aplysia kurodai, a related sea-hare species. They introduced fluorescent reporters linked to its 3′ untranslated region, an RNA segment that can regulate expression without encoding the protein sequence. Severed neurites separated local responses from continued delivery by the cell body.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Serotonin increased reporter expression in isolated neuronal processes. Translation-related interventions and controls distinguished this increase from a requirement for new transcription. The result supported a local pool of RNA capable of responding to modulatory signaling after separation from the nucleus.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Reporter fluorescence is an expression readout, not a direct measurement of every newly translated molecule at a synapse. Severing a process also changes its physiology. The assay established local regulatory capability and helped distinguish translational control from cell-wide transcriptional responses involved in longer-lasting facilitation.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https://doi.org/10.1186/s13041-016-0271-x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Lee et al. (2016), Fig. 2(a–c). Local reporter responses in sensory-neuron processes.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https://doi.org/10.1186/s13041-016-0271-x</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Lee and colleagues reduced ApCPEB4 expression with target-specific double-stranded RNA and recorded cultured sensory–motor EPSPs. Five serotonin pulses normally induced facilitation measured 24 h later. ApCPEB4 knockdown blocked this enhancement, whereas control RNA and knockdown of the previously characterized ApCPEB did not produce the same early effect.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Overexpressing ApCPEB4 lowered the threshold for persistent enhancement: one serotonin pulse could support a response that normally required repeated treatment. Fluorescent labeling and expression measurements accompanied the recordings, linking the intervention to the intended protein in the cultured sensory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Initiation of a persistent response and its later maintenance are different experimental questions. ApCPEB4 lacks the prion-like domain of ApCPEB, and the two proteins bind different RNA targets. The findings support distinct translation-regulatory roles rather than a universal requirement for one CPEB mechanism at every time point.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https://doi.org/10.1186/s13041-016-0271-x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Lee et al. (2016), Fig. 4(a–d). ApCPEB4 knockdown and overexpression alter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https://doi.org/10.1186/s13041-016-0271-x</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Lee and colleagues tested whether ApCPEB4 could be phosphorylated by PKA and whether that modification affected facilitation. Phosphorylation adds a phosphate group and can change a protein's activity or interactions. Biochemical assays and neuronal expression experiments addressed different parts of this proposed signaling relationship.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PKA phosphorylated ApCPEB4; replacing threonine at position 294 with alanine prevented phosphorylation there and interfered with long-term facilitation. Pharmacological comparisons distinguished the PKA-sensitive effect from the tested ERK- and protein-kinase-C-related interventions. This connected a translation-regulatory protein to a kinase already implicated in serotonin-dependent synaptic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biochemical substrate relationship does not prove every phosphorylation event occurs at the same terminal during behavior. Mutations can also alter properties beyond phosphorylation. The combined evidence supports a PKA-to-ApCPEB4 contribution in the cultured connection, with its behavioral deployment requiring additional direct tests.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https://doi.org/10.1186/s13041-016-0271-x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Lee et al. (2016), Fig. 5(a–c). Phosphorylation assays and mutated ApCPEB4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https://doi.org/10.1186/s13041-016-0271-x</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Kassabov and colleagues identified ApNT, an Aplysia neurotrophin, and ApTrk, its receptor tyrosine kinase. A neurotrophin is a secreted signaling protein that regulates neuronal growth or function. Alternative RNA processing generated ApNT isoforms with different protein-processing and secretion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Tagged isoforms were expressed in sensory–motor cultures and compared by biochemical assays and fluorescence microscopy. Their distributions differed between cell bodies, neurites, and secretion-related compartments. The labeling connected molecular processing to subcellular localization rather than assuming that all neurotrophin forms reach the same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Tagged overexpression may alter trafficking, and spatial overlap is not direct proof of receptor activation. Functional assays were therefore needed alongside localization. The study established an invertebrate neurotrophin pathway while distinguishing precursor processing, delivery, and physiological action as experimentally separable steps.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Kassabov SR; Choi YB; Karl KA; Vishwasrao HD; Bailey CH; Kandel ER (2013). A Single Aplysia Neurotrophin Mediates Synaptic Facilitation via Differentially Processed Isoforms. Cell Reports, 3(4): 1213-1227. https://doi.org/10.1016/j.celrep.2013.03.008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Kassabov et al. (2013), Fig. 4(A–E). ApNT isoform processing and localization in cultured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https://doi.org/10.1016/j.celrep.2013.03.008</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Kassabov and colleagues manipulated ApNT–ApTrk signaling in cultured sensory–motor connections. A dominant-negative receptor is an altered receptor designed to interfere with signaling by the normal receptor. Expressing dominant-negative ApTrk impaired serotonin-induced long-term facilitation while sparing the tested short-term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Increasing ApNT expression enhanced synaptic strength and increased sensory-neuron varicosities. Confocal images collected over time linked the structural measurements to labeled neuronal processes. Functional EPSPs and growth were measured separately, rather than treating fluorescent structure as a substitute for transmission.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Overexpression establishes what elevated signaling can produce, whereas receptor interference tests a requirement under the training protocol. Neither intervention proves that neurotrophin signaling stores all details of a withdrawal memory. The results identify a growth-related contribution that interacts with serotonin, kinase activity, and gene-expression mechanisms.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Kassabov SR; Choi YB; Karl KA; Vishwasrao HD; Bailey CH; Kandel ER (2013). A Single Aplysia Neurotrophin Mediates Synaptic Facilitation via Differentially Processed Isoforms. Cell Reports, 3(4): 1213-1227. https://doi.org/10.1016/j.celrep.2013.03.008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Kassabov et al. (2013), Fig. 6(A–D). ApNT-dependent enhancement and growth of neuronal varicosities.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https://doi.org/10.1016/j.celrep.2013.03.008</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Zhou and colleagues injected CREB1-targeting siRNA into sensory neurons and waited 72 h before applying repeated serotonin. The standard protocol used five 5 min pulses of 50 μM serotonin, with EPSPs compared before treatment and 24 h afterward. Control siRNA and vehicle treatment separated target reduction from injection and stimulation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CREB1 reduction impaired long-term facilitation. In the reported comparison, control-RNA synapses reached approximately 184% of their pretest amplitude, whereas CREB1-siRNA synapses reached approximately 121%. Basal transmission and the effect of vehicle were assessed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outcome connects availability of a transcription factor to persistent synaptic enhancement. Partial reduction of a regulator does not remove every signaling pathway or prove that CREB1 alone is sufficient. A molecular impairment can constrain the effect of an otherwise effective training pattern without completely abolishing neuronal responsiveness.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Zhou L; Zhang Y; Liu RY; Smolen P; Cleary LJ; Byrne JH (2015). Rescue of Impaired Long-Term Facilitation at Sensorimotor Synapses ofAplysiafollowing siRNA Knockdown of CREB1. The Journal of Neuroscience, 35(4): 1617-1626. https://doi.org/10.1523/jneurosci.3330-14.2015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Zhou et al. (2015), Fig. 1(A–B). Recorded EPSPs after CREB1 knockdown or control RNA.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https://doi.org/10.1523/jneurosci.3330-14.2015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Zhou and colleagues tested a modified serotonin schedule selected using a previously developed signaling model. The critical evidence was the subsequent EPSP recording in real sensory–motor cultures, not the model prediction itself. The modified schedule partially restored facilitation after CREB1 knockdown.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Rolipram inhibits a cAMP phosphodiesterase, an enzyme that breaks down cAMP. At 0.2 μM, rolipram increased the effectiveness of the modified protocol. Comparisons included standard training, modified training, vehicle, control RNA, and target RNA, separating temporal-pattern effects from the pharmacological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Rescue was partial and preparation-specific. Increasing the duration or availability of cAMP signaling can compensate for part of a molecular deficit, but does not establish a universal treatment for memory impairment. The empirical rescue does not validate every simulated intermediate or identify the intracellular trajectory in each recorded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Zhou L; Zhang Y; Liu RY; Smolen P; Cleary LJ; Byrne JH (2015). Rescue of Impaired Long-Term Facilitation at Sensorimotor Synapses ofAplysiafollowing siRNA Knockdown of CREB1. The Journal of Neuroscience, 35(4): 1617-1626. https://doi.org/10.1523/jneurosci.3330-14.2015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Zhou et al. (2015), Fig. 6(A–B). Empirical EPSPs after rescue training and rolipram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https://doi.org/10.1523/jneurosci.3330-14.2015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Chen and colleagues repeatedly imaged labeled sensory–motor cultures before serotonin training and at 24 h and 48 h afterward. Reconsolidation is the process by which reactivated memory can require renewed stabilization. Reactivation followed by protein-synthesis inhibition reduced the extra varicosities associated with earlier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Tracking individual structures revealed loss of both original and newly formed varicosities rather than selective removal of only the serotonin-induced structures. Untrained cultures also exhibited structural turnover. The final number of swellings therefore did not uniquely identify which individual contacts had carried the earlier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imaging challenges a simple one-to-one correspondence between permanent synapses and stored information. It does not establish an alternative storage substrate or prove that synapses are irrelevant. Structural expression, physiological transmission, and behavioral memory must be tested independently before concluding that a treatment has erased memory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3(A–C). Repeated imaging of sensory–motor cocultures and changing varicosities.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2" name="Google Shape;63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Chen and colleagues measured siphon-withdrawal duration after long-term sensitization training, pharmacological disruption, and later partial retraining. A latent memory is a retained consequence of experience that is not evident in the current behavioral response but can influence subsequent performance.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a kinase-related intervention reduced the expressed sensitization, three additional training bouts reinstated a long-lasting response. The same abbreviated training was insufficient in previously untrained controls. The difference supported a persistent consequence of the earlier experience despite apparent loss of its normal behavioral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intervention's specificity and possible savings mechanisms constrain what can be inferred about storage. Recovery after retraining does not directly locate the retained information or prove that all of the original memory survived unchanged. It separates failure to express sensitization from definitive elimination of every training-dependent cellular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8(A–B). Withdrawal sensitization after disruption and abbreviated retraining.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Pearce and colleagues tested sensitization while varying protein-synthesis and DNA methyltransferase inhibition. DNA methyltransferases add methyl groups to DNA and can influence gene regulation. Training, drug timing, retention tests, and abbreviated retraining distinguished initial consolidation, later expression, and persistence.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Blocking protein synthesis shortly after training allowed later partial training to recover sensitization, whereas blocking synthesis during training did not. Inhibiting DNA methyltransferase after consolidation reduced the retained response and prevented its recovery by the same abbreviated training. Retention was assessed over days rather than during the initial shock sequence.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interventions support different requirements across memory phases, but broad drug actions do not specify individual genomic targets or neurons. They also do not prove that methylated DNA encodes the complete behavioral memory. Cellular release, postsynaptic regulation, structural growth, and gene regulation contribute at different levels of this experimentally tractable learning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Pearce K; Cai D; Roberts AC; Glanzman DL (2017). Role of protein synthesis and DNA methylation in the consolidation and maintenance of long-term memory in Aplysia. eLife, 6: e18299. https://doi.org/10.7554/elife.18299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Pearce et al. (2017), Fig. 7(A–B). Consolidated sensitization and delayed methyltransferase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https://doi.org/10.7554/elife.18299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Behavioral distinctions. Habituation decreases repeated-stimulus responsiveness; sensitization increases responsiveness after strong stimulation; dishabituation restores a habituated response without proving that all depression has reversed.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Presynaptic depression. Short-term habituation reduces transmitter quanta released per sensory impulse; an unchanged unitary postsynaptic response argues against receptor desensitization in the tested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Modulatory signaling. Serotonin, cAMP, and localized PKA signaling facilitate sensory–motor transmission; release enhancement and postsynaptic calcium-dependent regulation can contribute together.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Persistence requires additional mechanisms. Repeated stimulation recruits lasting facilitation with a restricted requirement for transcription and translation; spacing and synthesis timing affect retention independently of immediate response strength.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Functional and structural plasticity. Long-term training changes sensory-neuron varicosities and contacts; CREB, synapsin, local translation, and neurotrophin signaling contribute under defined protocols without any one accounting for the entire memory.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Expression is not storage by itself. Lost withdrawal enhancement or synaptic growth does not prove complete memory erasure; retraining, cellular interventions, and appropriate controls distinguish latent experience from current performance.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VF; Kandel ER (1974). A Quantal Analysis of the Synaptic Depression Underlying Habituation of the Gill-Withdrawal Reflex in Aplysia. Proceedings of the National Academy of Sciences, 71(12): 5004-5008. https://doi.org/10.1073/pnas.71.12.5004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Gover TD; Jiang XY; Abrams TW (2002). Persistent, Exocytosis-Independent Silencing of Release Sites Underlies Homosynaptic Depression at Sensory Synapses inAplysia. The Journal of Neuroscience, 22(5): 1942-1955. https://doi.org/10.1523/jneurosci.22-05-01942.2002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Carew TJ; Pinsker HM; Kandel ER (1972). Long-Term Habituation of a Defensive Withdrawal Reflex in Aplysia. Science, 175(4020): 451-454. https://doi.org/10.1126/science.175.4020.451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Pearce K; Cai D; Roberts AC; Glanzman DL (2017). Role of protein synthesis and DNA methylation in the consolidation and maintenance of long-term memory in Aplysia. eLife, 6: e18299. https://doi.org/10.7554/elife.18299</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CREB1 knockdown weakens day-long enhancement.</a:t>
            </a:r>
          </a:p>
          <a:p>
            <a:r>
              <a:rPr lang="en-US" sz="1200"/>
              <a:t>• Injection.</a:t>
            </a:r>
          </a:p>
          <a:p>
            <a:r>
              <a:rPr lang="en-US" sz="1200"/>
              <a:t>– CREB1 siRNA was injected into sensory neurons.</a:t>
            </a:r>
          </a:p>
          <a:p>
            <a:r>
              <a:rPr lang="en-US" sz="1200"/>
              <a:t>– Repeated serotonin followed 72 h later.</a:t>
            </a:r>
          </a:p>
          <a:p>
            <a:r>
              <a:rPr lang="en-US" sz="1200"/>
              <a:t>• Protocol.</a:t>
            </a:r>
          </a:p>
          <a:p>
            <a:r>
              <a:rPr lang="en-US" sz="1200"/>
              <a:t>– Five 5 min pulses of 50 μM serotonin were applied.</a:t>
            </a:r>
          </a:p>
          <a:p>
            <a:r>
              <a:rPr lang="en-US" sz="1200"/>
              <a:t>– EPSPs were recorded at 24 h.</a:t>
            </a:r>
          </a:p>
          <a:p>
            <a:r>
              <a:rPr lang="en-US" sz="1200"/>
              <a:t>• Controls.</a:t>
            </a:r>
          </a:p>
          <a:p>
            <a:r>
              <a:rPr lang="en-US" sz="1200"/>
              <a:t>– Control siRNA and vehicle groups ran in parallel.</a:t>
            </a:r>
          </a:p>
          <a:p>
            <a:r>
              <a:rPr lang="en-US" sz="1200"/>
              <a:t>– Injection effects were controlled.</a:t>
            </a:r>
          </a:p>
          <a:p>
            <a:r>
              <a:rPr lang="en-US" sz="1200"/>
              <a:t>• Meaning.</a:t>
            </a:r>
          </a:p>
          <a:p>
            <a:r>
              <a:rPr lang="en-US" sz="1200"/>
              <a:t>– A transcription factor supports persistent enhancement.</a:t>
            </a:r>
          </a:p>
          <a:p>
            <a:r>
              <a:rPr lang="en-US" sz="1200"/>
              <a:t>– Partial loss weakens the effect.</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Zhou L; Zhang Y; Liu RY; Smolen P; Cleary LJ; Byrne JH (2015). Rescue of Impaired Long-Term Facilitation at Sensorimotor Synapses ofAplysiafollowing siRNA Knockdown of CREB1. The Journal of Neuroscience, 35(4): 1617-1626. https://doi.org/10.1523/jneurosci.3330-14.2015</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ApNT isoforms reach different compartments.</a:t>
            </a:r>
          </a:p>
          <a:p>
            <a:r>
              <a:rPr lang="en-US" sz="1200"/>
              <a:t>• Neurotrophin.</a:t>
            </a:r>
          </a:p>
          <a:p>
            <a:r>
              <a:rPr lang="en-US" sz="1200"/>
              <a:t>– ApNT is a secreted signaling protein.</a:t>
            </a:r>
          </a:p>
          <a:p>
            <a:r>
              <a:rPr lang="en-US" sz="1200"/>
              <a:t>– ApTrk is its receptor.</a:t>
            </a:r>
          </a:p>
          <a:p>
            <a:r>
              <a:rPr lang="en-US" sz="1200"/>
              <a:t>• Isoforms.</a:t>
            </a:r>
          </a:p>
          <a:p>
            <a:r>
              <a:rPr lang="en-US" sz="1200"/>
              <a:t>– Alternative RNA processing generates the isoforms.</a:t>
            </a:r>
          </a:p>
          <a:p>
            <a:r>
              <a:rPr lang="en-US" sz="1200"/>
              <a:t>– They differ in processing and secretion.</a:t>
            </a:r>
          </a:p>
          <a:p>
            <a:r>
              <a:rPr lang="en-US" sz="1200"/>
              <a:t>• Localization.</a:t>
            </a:r>
          </a:p>
          <a:p>
            <a:r>
              <a:rPr lang="en-US" sz="1200"/>
              <a:t>– Distributions differ across compartments.</a:t>
            </a:r>
          </a:p>
          <a:p>
            <a:r>
              <a:rPr lang="en-US" sz="1200"/>
              <a:t>– Labeling ties processing to location.</a:t>
            </a:r>
          </a:p>
          <a:p>
            <a:r>
              <a:rPr lang="en-US" sz="1200"/>
              <a:t>• Meaning.</a:t>
            </a:r>
          </a:p>
          <a:p>
            <a:r>
              <a:rPr lang="en-US" sz="1200"/>
              <a:t>– Each isoform reaches its own targets.</a:t>
            </a:r>
          </a:p>
          <a:p>
            <a:r>
              <a:rPr lang="en-US" sz="1200"/>
              <a:t>– Receptor activation is measured directly.</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Kassabov SR; Choi YB; Karl KA; Vishwasrao HD; Bailey CH; Kandel ER (2013). A Single Aplysia Neurotrophin Mediates Synaptic Facilitation via Differentially Processed Isoforms. Cell Reports, 3(4): 1213-1227. https://doi.org/10.1016/j.celrep.2013.03.008</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Isolated neurites translate reporter RNA in response to serotonin.</a:t>
            </a:r>
          </a:p>
          <a:p>
            <a:r>
              <a:rPr lang="en-US" sz="1200"/>
              <a:t>• Reporter.</a:t>
            </a:r>
          </a:p>
          <a:p>
            <a:r>
              <a:rPr lang="en-US" sz="1200"/>
              <a:t>– ApCPEB4 3′ untranslated region was linked to a reporter.</a:t>
            </a:r>
          </a:p>
          <a:p>
            <a:r>
              <a:rPr lang="en-US" sz="1200"/>
              <a:t>– Expression was tracked in neurites.</a:t>
            </a:r>
          </a:p>
          <a:p>
            <a:r>
              <a:rPr lang="en-US" sz="1200"/>
              <a:t>• Severing.</a:t>
            </a:r>
          </a:p>
          <a:p>
            <a:r>
              <a:rPr lang="en-US" sz="1200"/>
              <a:t>– Severed neurites were recorded apart from the cell body.</a:t>
            </a:r>
          </a:p>
          <a:p>
            <a:r>
              <a:rPr lang="en-US" sz="1200"/>
              <a:t>– Local responses were measured.</a:t>
            </a:r>
          </a:p>
          <a:p>
            <a:r>
              <a:rPr lang="en-US" sz="1200"/>
              <a:t>• Controls.</a:t>
            </a:r>
          </a:p>
          <a:p>
            <a:r>
              <a:rPr lang="en-US" sz="1200"/>
              <a:t>– Translation-related controls were used.</a:t>
            </a:r>
          </a:p>
          <a:p>
            <a:r>
              <a:rPr lang="en-US" sz="1200"/>
              <a:t>– Transcription was ruled out.</a:t>
            </a:r>
          </a:p>
          <a:p>
            <a:r>
              <a:rPr lang="en-US" sz="1200"/>
              <a:t>• Meaning.</a:t>
            </a:r>
          </a:p>
          <a:p>
            <a:r>
              <a:rPr lang="en-US" sz="1200"/>
              <a:t>– Local translation responds to serotonin.</a:t>
            </a:r>
          </a:p>
          <a:p>
            <a:r>
              <a:rPr lang="en-US" sz="1200"/>
              <a:t>– It adds a control point for facilitation.</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Lee SH; Shim J; Cheong YH; Choi SL; Jun YW; Lee SH; Chae YS; Han JH; Lee YS; Lee JA; Lim CS; Si K; Kassabov S; Antonov I; Kandel ER; Kaang BK; Jang DJ (2016). ApCPEB4, a non-prion domain containing homolog of ApCPEB, is involved in the initiation of long-term facilitation. Molecular Brain, 9(1): 91. https://doi.org/10.1186/s13041-016-0271-x</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CREB1 binds the synapsin promoter after serotonin.</a:t>
            </a:r>
          </a:p>
          <a:p>
            <a:r>
              <a:rPr lang="en-US" sz="1200"/>
              <a:t>• CREB1.</a:t>
            </a:r>
          </a:p>
          <a:p>
            <a:r>
              <a:rPr lang="en-US" sz="1200"/>
              <a:t>– CREB1 regulates gene expression by binding DNA.</a:t>
            </a:r>
          </a:p>
          <a:p>
            <a:r>
              <a:rPr lang="en-US" sz="1200"/>
              <a:t>– A promoter controls transcription of a gene.</a:t>
            </a:r>
          </a:p>
          <a:p>
            <a:r>
              <a:rPr lang="en-US" sz="1200"/>
              <a:t>• Reporter.</a:t>
            </a:r>
          </a:p>
          <a:p>
            <a:r>
              <a:rPr lang="en-US" sz="1200"/>
              <a:t>– A fluorescent reporter rose after serotonin.</a:t>
            </a:r>
          </a:p>
          <a:p>
            <a:r>
              <a:rPr lang="en-US" sz="1200"/>
              <a:t>– The promoter drives the reporter.</a:t>
            </a:r>
          </a:p>
          <a:p>
            <a:r>
              <a:rPr lang="en-US" sz="1200"/>
              <a:t>• Binding.</a:t>
            </a:r>
          </a:p>
          <a:p>
            <a:r>
              <a:rPr lang="en-US" sz="1200"/>
              <a:t>– Chromatin immunoprecipitation found more CREB1.</a:t>
            </a:r>
          </a:p>
          <a:p>
            <a:r>
              <a:rPr lang="en-US" sz="1200"/>
              <a:t>– The synapsin promoter was bound more.</a:t>
            </a:r>
          </a:p>
          <a:p>
            <a:r>
              <a:rPr lang="en-US" sz="1200"/>
              <a:t>• Meaning.</a:t>
            </a:r>
          </a:p>
          <a:p>
            <a:r>
              <a:rPr lang="en-US" sz="1200"/>
              <a:t>– A route links serotonin to synapsin production.</a:t>
            </a:r>
          </a:p>
          <a:p>
            <a:r>
              <a:rPr lang="en-US" sz="1200"/>
              <a:t>– Other target genes have their own routes.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Hart AK; Fioravante D; Liu RY; Phares GA; Cleary LJ; Byrne JH (2011). Serotonin-Mediated Synapsin Expression Is Necessary for Long-Term Facilitation of theAplysiaSensorimotor Synapse. The Journal of Neuroscience, 31(50): 18401-18411. https://doi.org/10.1523/jneurosci.2816-11.2011</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Protein synthesis is required within a restricted window.</a:t>
            </a:r>
          </a:p>
          <a:p>
            <a:r>
              <a:rPr lang="en-US" sz="1200"/>
              <a:t>• Timing.</a:t>
            </a:r>
          </a:p>
          <a:p>
            <a:r>
              <a:rPr lang="en-US" sz="1200"/>
              <a:t>– Anisomycin was applied at different times.</a:t>
            </a:r>
          </a:p>
          <a:p>
            <a:r>
              <a:rPr lang="en-US" sz="1200"/>
              <a:t>– Only induction exposure blocked persistence.</a:t>
            </a:r>
          </a:p>
          <a:p>
            <a:r>
              <a:rPr lang="en-US" sz="1200"/>
              <a:t>• Biochemistry.</a:t>
            </a:r>
          </a:p>
          <a:p>
            <a:r>
              <a:rPr lang="en-US" sz="1200"/>
              <a:t>– Protein synthesis was strongly suppressed.</a:t>
            </a:r>
          </a:p>
          <a:p>
            <a:r>
              <a:rPr lang="en-US" sz="1200"/>
              <a:t>– Recovery followed washout.</a:t>
            </a:r>
          </a:p>
          <a:p>
            <a:r>
              <a:rPr lang="en-US" sz="1200"/>
              <a:t>• Window.</a:t>
            </a:r>
          </a:p>
          <a:p>
            <a:r>
              <a:rPr lang="en-US" sz="1200"/>
              <a:t>– Long-term facilitation depends on a restricted period.</a:t>
            </a:r>
          </a:p>
          <a:p>
            <a:r>
              <a:rPr lang="en-US" sz="1200"/>
              <a:t>– Synthesis is needed during induction.</a:t>
            </a:r>
          </a:p>
          <a:p>
            <a:r>
              <a:rPr lang="en-US" sz="1200"/>
              <a:t>• Meaning.</a:t>
            </a:r>
          </a:p>
          <a:p>
            <a:r>
              <a:rPr lang="en-US" sz="1200"/>
              <a:t>– Persistent change needs newly made proteins.</a:t>
            </a:r>
          </a:p>
          <a:p>
            <a:r>
              <a:rPr lang="en-US" sz="1200"/>
              <a:t>– Their identities come next.</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Montarolo PG; Goelet P; Castellucci VF; Morgan J; Kandel ER; Schacher S (1986). A Critical Period for Macromolecular Synthesis in Long-Term Heterosynaptic Facilitation in Aplysia. Science, 234(4781): 1249-1254. https://doi.org/10.1126/science.3775383</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motor-cell toxin blocks dishabituation.</a:t>
            </a:r>
          </a:p>
          <a:p>
            <a:r>
              <a:rPr lang="en-US" sz="1200"/>
              <a:t>• Toxin.</a:t>
            </a:r>
          </a:p>
          <a:p>
            <a:r>
              <a:rPr lang="en-US" sz="1200"/>
              <a:t>– Botulinum toxin B was injected into motor neurons.</a:t>
            </a:r>
          </a:p>
          <a:p>
            <a:r>
              <a:rPr lang="en-US" sz="1200"/>
              <a:t>– Injection preceded the behavioral sequence.</a:t>
            </a:r>
          </a:p>
          <a:p>
            <a:r>
              <a:rPr lang="en-US" sz="1200"/>
              <a:t>• Sequence.</a:t>
            </a:r>
          </a:p>
          <a:p>
            <a:r>
              <a:rPr lang="en-US" sz="1200"/>
              <a:t>– Taps, shock and further tests were applied.</a:t>
            </a:r>
          </a:p>
          <a:p>
            <a:r>
              <a:rPr lang="en-US" sz="1200"/>
              <a:t>– The sequence was the same for all groups.</a:t>
            </a:r>
          </a:p>
          <a:p>
            <a:r>
              <a:rPr lang="en-US" sz="1200"/>
              <a:t>• Controls.</a:t>
            </a:r>
          </a:p>
          <a:p>
            <a:r>
              <a:rPr lang="en-US" sz="1200"/>
              <a:t>– Control preparations increased withdrawal after shock.</a:t>
            </a:r>
          </a:p>
          <a:p>
            <a:r>
              <a:rPr lang="en-US" sz="1200"/>
              <a:t>– Toxin blocked that increase.</a:t>
            </a:r>
          </a:p>
          <a:p>
            <a:r>
              <a:rPr lang="en-US" sz="1200"/>
              <a:t>• Meaning.</a:t>
            </a:r>
          </a:p>
          <a:p>
            <a:r>
              <a:rPr lang="en-US" sz="1200"/>
              <a:t>– Postsynaptic exocytosis contributes to behavior.</a:t>
            </a:r>
          </a:p>
          <a:p>
            <a:r>
              <a:rPr lang="en-US" sz="1200"/>
              <a:t>– The same cells serve other responses.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Postsynaptic calcium is needed for facilitation.</a:t>
            </a:r>
          </a:p>
          <a:p>
            <a:r>
              <a:rPr lang="en-US" sz="1200"/>
              <a:t>• Buffer.</a:t>
            </a:r>
          </a:p>
          <a:p>
            <a:r>
              <a:rPr lang="en-US" sz="1200"/>
              <a:t>– BAPTA was introduced into the motor neuron.</a:t>
            </a:r>
          </a:p>
          <a:p>
            <a:r>
              <a:rPr lang="en-US" sz="1200"/>
              <a:t>– The sensory terminal was left intact.</a:t>
            </a:r>
          </a:p>
          <a:p>
            <a:r>
              <a:rPr lang="en-US" sz="1200"/>
              <a:t>• Serotonin.</a:t>
            </a:r>
          </a:p>
          <a:p>
            <a:r>
              <a:rPr lang="en-US" sz="1200"/>
              <a:t>– A ten-minute application enhanced EPSPs.</a:t>
            </a:r>
          </a:p>
          <a:p>
            <a:r>
              <a:rPr lang="en-US" sz="1200"/>
              <a:t>– Buffering reduced the enhancement.</a:t>
            </a:r>
          </a:p>
          <a:p>
            <a:r>
              <a:rPr lang="en-US" sz="1200"/>
              <a:t>• Controls.</a:t>
            </a:r>
          </a:p>
          <a:p>
            <a:r>
              <a:rPr lang="en-US" sz="1200"/>
              <a:t>– Motor-cell injections without the buffer were run.</a:t>
            </a:r>
          </a:p>
          <a:p>
            <a:r>
              <a:rPr lang="en-US" sz="1200"/>
              <a:t>– The effect was assigned to the buffer.</a:t>
            </a:r>
          </a:p>
          <a:p>
            <a:r>
              <a:rPr lang="en-US" sz="1200"/>
              <a:t>• Meaning.</a:t>
            </a:r>
          </a:p>
          <a:p>
            <a:r>
              <a:rPr lang="en-US" sz="1200"/>
              <a:t>– Facilitation requires a postsynaptic change.</a:t>
            </a:r>
          </a:p>
          <a:p>
            <a:r>
              <a:rPr lang="en-US" sz="1200"/>
              <a:t>– Presynaptic and postsynaptic results combine.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Type 2 PKA sits near nerve endings.</a:t>
            </a:r>
          </a:p>
          <a:p>
            <a:r>
              <a:rPr lang="en-US" sz="1200"/>
              <a:t>• Subunits.</a:t>
            </a:r>
          </a:p>
          <a:p>
            <a:r>
              <a:rPr lang="en-US" sz="1200"/>
              <a:t>– Type 1 and type 2 PKA differ in location.</a:t>
            </a:r>
          </a:p>
          <a:p>
            <a:r>
              <a:rPr lang="en-US" sz="1200"/>
              <a:t>– Type 2 is enriched in processes.</a:t>
            </a:r>
          </a:p>
          <a:p>
            <a:r>
              <a:rPr lang="en-US" sz="1200"/>
              <a:t>• RII.</a:t>
            </a:r>
          </a:p>
          <a:p>
            <a:r>
              <a:rPr lang="en-US" sz="1200"/>
              <a:t>– Repeated serotonin raised RII protein at 24 h.</a:t>
            </a:r>
          </a:p>
          <a:p>
            <a:r>
              <a:rPr lang="en-US" sz="1200"/>
              <a:t>– Sensory neurons showed more RII.</a:t>
            </a:r>
          </a:p>
          <a:p>
            <a:r>
              <a:rPr lang="en-US" sz="1200"/>
              <a:t>• Fraction.</a:t>
            </a:r>
          </a:p>
          <a:p>
            <a:r>
              <a:rPr lang="en-US" sz="1200"/>
              <a:t>– Synaptosomes are terminal-enriched particles.</a:t>
            </a:r>
          </a:p>
          <a:p>
            <a:r>
              <a:rPr lang="en-US" sz="1200"/>
              <a:t>– They report averages across terminals.</a:t>
            </a:r>
          </a:p>
          <a:p>
            <a:r>
              <a:rPr lang="en-US" sz="1200"/>
              <a:t>• Meaning.</a:t>
            </a:r>
          </a:p>
          <a:p>
            <a:r>
              <a:rPr lang="en-US" sz="1200"/>
              <a:t>– Protein amount and place both change.</a:t>
            </a:r>
          </a:p>
          <a:p>
            <a:r>
              <a:rPr lang="en-US" sz="1200"/>
              <a:t>– Nuclear and synaptic pools have distinct roles.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Liu J; Hu JY; Schacher S; Schwartz JH (2004). The Two Regulatory Subunits ofAplysiacAMP-Dependent Protein Kinase Mediate Distinct Functions in Producing Synaptic Plasticity. The Journal of Neuroscience, 24(10): 2465-2474. https://doi.org/10.1523/jneurosci.4331-03.2004</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Serotonin facilitates a depressed connection.</a:t>
            </a:r>
          </a:p>
          <a:p>
            <a:r>
              <a:rPr lang="en-US" sz="1200"/>
              <a:t>• Drugs.</a:t>
            </a:r>
          </a:p>
          <a:p>
            <a:r>
              <a:rPr lang="en-US" sz="1200"/>
              <a:t>– Serotonin, dopamine and octopamine were tested.</a:t>
            </a:r>
          </a:p>
          <a:p>
            <a:r>
              <a:rPr lang="en-US" sz="1200"/>
              <a:t>– Each acts on the same connection.</a:t>
            </a:r>
          </a:p>
          <a:p>
            <a:r>
              <a:rPr lang="en-US" sz="1200"/>
              <a:t>• Depression.</a:t>
            </a:r>
          </a:p>
          <a:p>
            <a:r>
              <a:rPr lang="en-US" sz="1200"/>
              <a:t>– Repeated stimulation depressed the EPSPs.</a:t>
            </a:r>
          </a:p>
          <a:p>
            <a:r>
              <a:rPr lang="en-US" sz="1200"/>
              <a:t>– Serotonin was applied during a rest period.</a:t>
            </a:r>
          </a:p>
          <a:p>
            <a:r>
              <a:rPr lang="en-US" sz="1200"/>
              <a:t>• Facilitation.</a:t>
            </a:r>
          </a:p>
          <a:p>
            <a:r>
              <a:rPr lang="en-US" sz="1200"/>
              <a:t>– Serotonin increased the subsequent responses.</a:t>
            </a:r>
          </a:p>
          <a:p>
            <a:r>
              <a:rPr lang="en-US" sz="1200"/>
              <a:t>– Rest without serotonin did not.</a:t>
            </a:r>
          </a:p>
          <a:p>
            <a:r>
              <a:rPr lang="en-US" sz="1200"/>
              <a:t>• Antagonist.</a:t>
            </a:r>
          </a:p>
          <a:p>
            <a:r>
              <a:rPr lang="en-US" sz="1200"/>
              <a:t>– Cinanserin reduced connective-induced facilitation.</a:t>
            </a:r>
          </a:p>
          <a:p>
            <a:r>
              <a:rPr lang="en-US" sz="1200"/>
              <a:t>– Depression stayed intact.</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Brunelli M; Castellucci V; Kandel ER (1976). Synaptic Facilitation and Behavioral Sensitization in Aplysia : Possible Role of Serotonin and Cyclic AMP. Science, 194(4270): 1178-1181. https://doi.org/10.1126/science.186870</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Spacing trials across days improves retention.</a:t>
            </a:r>
          </a:p>
          <a:p>
            <a:r>
              <a:rPr lang="en-US" sz="1200"/>
              <a:t>• Schedules.</a:t>
            </a:r>
          </a:p>
          <a:p>
            <a:r>
              <a:rPr lang="en-US" sz="1200"/>
              <a:t>– Massed training occurred in one day.</a:t>
            </a:r>
          </a:p>
          <a:p>
            <a:r>
              <a:rPr lang="en-US" sz="1200"/>
              <a:t>– Spaced training spanned four days.</a:t>
            </a:r>
          </a:p>
          <a:p>
            <a:r>
              <a:rPr lang="en-US" sz="1200"/>
              <a:t>• Training.</a:t>
            </a:r>
          </a:p>
          <a:p>
            <a:r>
              <a:rPr lang="en-US" sz="1200"/>
              <a:t>– Both schedules produced large decrements.</a:t>
            </a:r>
          </a:p>
          <a:p>
            <a:r>
              <a:rPr lang="en-US" sz="1200"/>
              <a:t>– The within-session response is a weak guide.</a:t>
            </a:r>
          </a:p>
          <a:p>
            <a:r>
              <a:rPr lang="en-US" sz="1200"/>
              <a:t>• Retention.</a:t>
            </a:r>
          </a:p>
          <a:p>
            <a:r>
              <a:rPr lang="en-US" sz="1200"/>
              <a:t>– Spaced training retained more after 24 h and one week.</a:t>
            </a:r>
          </a:p>
          <a:p>
            <a:r>
              <a:rPr lang="en-US" sz="1200"/>
              <a:t>– The difference persisted.</a:t>
            </a:r>
          </a:p>
          <a:p>
            <a:r>
              <a:rPr lang="en-US" sz="1200"/>
              <a:t>• Meaning.</a:t>
            </a:r>
          </a:p>
          <a:p>
            <a:r>
              <a:rPr lang="en-US" sz="1200"/>
              <a:t>– Temporal distribution shapes what is retained.</a:t>
            </a:r>
          </a:p>
          <a:p>
            <a:r>
              <a:rPr lang="en-US" sz="1200"/>
              <a:t>– Molecular events are examined next.</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Carew TJ; Pinsker HM; Kandel ER (1972). Long-Term Habituation of a Defensive Withdrawal Reflex in Aplysia. Science, 175(4020): 451-454. https://doi.org/10.1126/science.175.4020.451</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Depression rate is similar across connection strengths.</a:t>
            </a:r>
          </a:p>
          <a:p>
            <a:r>
              <a:rPr lang="en-US" sz="1200"/>
              <a:t>• Connections.</a:t>
            </a:r>
          </a:p>
          <a:p>
            <a:r>
              <a:rPr lang="en-US" sz="1200"/>
              <a:t>– Strong and weak connections were recorded.</a:t>
            </a:r>
          </a:p>
          <a:p>
            <a:r>
              <a:rPr lang="en-US" sz="1200"/>
              <a:t>– Initial transmission differed between them.</a:t>
            </a:r>
          </a:p>
          <a:p>
            <a:r>
              <a:rPr lang="en-US" sz="1200"/>
              <a:t>• Paired pulses.</a:t>
            </a:r>
          </a:p>
          <a:p>
            <a:r>
              <a:rPr lang="en-US" sz="1200"/>
              <a:t>– Paired-pulse behavior differed between the groups.</a:t>
            </a:r>
          </a:p>
          <a:p>
            <a:r>
              <a:rPr lang="en-US" sz="1200"/>
              <a:t>– Depression rates were similar.</a:t>
            </a:r>
          </a:p>
          <a:p>
            <a:r>
              <a:rPr lang="en-US" sz="1200"/>
              <a:t>• Manipulation.</a:t>
            </a:r>
          </a:p>
          <a:p>
            <a:r>
              <a:rPr lang="en-US" sz="1200"/>
              <a:t>– 4-aminopyridine broadened sensory spikes.</a:t>
            </a:r>
          </a:p>
          <a:p>
            <a:r>
              <a:rPr lang="en-US" sz="1200"/>
              <a:t>– Calcium-dependent release increased.</a:t>
            </a:r>
          </a:p>
          <a:p>
            <a:r>
              <a:rPr lang="en-US" sz="1200"/>
              <a:t>• Meaning.</a:t>
            </a:r>
          </a:p>
          <a:p>
            <a:r>
              <a:rPr lang="en-US" sz="1200"/>
              <a:t>– Activity drives release-site silencing.</a:t>
            </a:r>
          </a:p>
          <a:p>
            <a:r>
              <a:rPr lang="en-US" sz="1200"/>
              <a:t>– Initial strength does not set the rate.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Gover TD; Jiang XY; Abrams TW (2002). Persistent, Exocytosis-Independent Silencing of Release Sites Underlies Homosynaptic Depression at Sensory Synapses inAplysia. The Journal of Neuroscience, 22(5): 1942-1955. https://doi.org/10.1523/jneurosci.22-05-01942.2002</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Shock spreads its effect across sensory inputs.</a:t>
            </a:r>
          </a:p>
          <a:p>
            <a:r>
              <a:rPr lang="en-US" sz="1200"/>
              <a:t>• Protocols.</a:t>
            </a:r>
          </a:p>
          <a:p>
            <a:r>
              <a:rPr lang="en-US" sz="1200"/>
              <a:t>– Habituation, dishabituation and sensitization were recorded.</a:t>
            </a:r>
          </a:p>
          <a:p>
            <a:r>
              <a:rPr lang="en-US" sz="1200"/>
              <a:t>– Shock was added at different points.</a:t>
            </a:r>
          </a:p>
          <a:p>
            <a:r>
              <a:rPr lang="en-US" sz="1200"/>
              <a:t>• Facilitation.</a:t>
            </a:r>
          </a:p>
          <a:p>
            <a:r>
              <a:rPr lang="en-US" sz="1200"/>
              <a:t>– Sensory neurons from other locations were facilitated.</a:t>
            </a:r>
          </a:p>
          <a:p>
            <a:r>
              <a:rPr lang="en-US" sz="1200"/>
              <a:t>– Shock acted beyond the tapped input.</a:t>
            </a:r>
          </a:p>
          <a:p>
            <a:r>
              <a:rPr lang="en-US" sz="1200"/>
              <a:t>• Spread.</a:t>
            </a:r>
          </a:p>
          <a:p>
            <a:r>
              <a:rPr lang="en-US" sz="1200"/>
              <a:t>– The change is distributed across several connections.</a:t>
            </a:r>
          </a:p>
          <a:p>
            <a:r>
              <a:rPr lang="en-US" sz="1200"/>
              <a:t>– Each site shows its own change.</a:t>
            </a:r>
          </a:p>
          <a:p>
            <a:r>
              <a:rPr lang="en-US" sz="1200"/>
              <a:t>• Meaning.</a:t>
            </a:r>
          </a:p>
          <a:p>
            <a:r>
              <a:rPr lang="en-US" sz="1200"/>
              <a:t>– Several synapses carry the modulatory action.</a:t>
            </a:r>
          </a:p>
          <a:p>
            <a:r>
              <a:rPr lang="en-US" sz="1200"/>
              <a:t>– Motor and sensory measures track the spread.</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Antonov I; Kandel ER; Hawkins RD (1999). The Contribution of Facilitation of Monosynaptic PSPs to Dishabituation and Sensitization of the Aplysia Siphon Withdrawal Reflex. The Journal of Neuroscience, 19(23): 10438-10450. https://doi.org/10.1523/jneurosci.19-23-10438.1999</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An identified motor neuron receives skin input.</a:t>
            </a:r>
          </a:p>
          <a:p>
            <a:r>
              <a:rPr lang="en-US" sz="1200"/>
              <a:t>• Input.</a:t>
            </a:r>
          </a:p>
          <a:p>
            <a:r>
              <a:rPr lang="en-US" sz="1200"/>
              <a:t>– Skin stimuli produce a depolarization.</a:t>
            </a:r>
          </a:p>
          <a:p>
            <a:r>
              <a:rPr lang="en-US" sz="1200"/>
              <a:t>– The response links touch to contraction.</a:t>
            </a:r>
          </a:p>
          <a:p>
            <a:r>
              <a:rPr lang="en-US" sz="1200"/>
              <a:t>• Recording.</a:t>
            </a:r>
          </a:p>
          <a:p>
            <a:r>
              <a:rPr lang="en-US" sz="1200"/>
              <a:t>– The same identified cell is recorded repeatedly.</a:t>
            </a:r>
          </a:p>
          <a:p>
            <a:r>
              <a:rPr lang="en-US" sz="1200"/>
              <a:t>– Each trial follows the one before.</a:t>
            </a:r>
          </a:p>
          <a:p>
            <a:r>
              <a:rPr lang="en-US" sz="1200"/>
              <a:t>• Decrement.</a:t>
            </a:r>
          </a:p>
          <a:p>
            <a:r>
              <a:rPr lang="en-US" sz="1200"/>
              <a:t>– Repeated stimulation reduced the response.</a:t>
            </a:r>
          </a:p>
          <a:p>
            <a:r>
              <a:rPr lang="en-US" sz="1200"/>
              <a:t>– The reduction accumulated across the session.</a:t>
            </a:r>
          </a:p>
          <a:p>
            <a:r>
              <a:rPr lang="en-US" sz="1200"/>
              <a:t>• Meaning.</a:t>
            </a:r>
          </a:p>
          <a:p>
            <a:r>
              <a:rPr lang="en-US" sz="1200"/>
              <a:t>– One defined synapse is measured directly.</a:t>
            </a:r>
          </a:p>
          <a:p>
            <a:r>
              <a:rPr lang="en-US" sz="1200"/>
              <a:t>– Its size allows repeated recordings.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Castellucci V; Pinsker H; Kupfermann I; Kandel ER (1970). Neuronal Mechanisms of Habituation and Dishabituation of the Gill-Withdrawal Reflex in Aplysia. Science, 167(3926): 1745-1748. https://doi.org/10.1126/science.167.3926.1745</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Stimulus spacing sets the size of the decrement.</a:t>
            </a:r>
          </a:p>
          <a:p>
            <a:r>
              <a:rPr lang="en-US" sz="1200"/>
              <a:t>• Spacing.</a:t>
            </a:r>
          </a:p>
          <a:p>
            <a:r>
              <a:rPr lang="en-US" sz="1200"/>
              <a:t>– The interval between siphon stimuli was varied.</a:t>
            </a:r>
          </a:p>
          <a:p>
            <a:r>
              <a:rPr lang="en-US" sz="1200"/>
              <a:t>– The stimulus strength was held constant.</a:t>
            </a:r>
          </a:p>
          <a:p>
            <a:r>
              <a:rPr lang="en-US" sz="1200"/>
              <a:t>• Decrement.</a:t>
            </a:r>
          </a:p>
          <a:p>
            <a:r>
              <a:rPr lang="en-US" sz="1200"/>
              <a:t>– Shorter intervals produced a faster decline.</a:t>
            </a:r>
          </a:p>
          <a:p>
            <a:r>
              <a:rPr lang="en-US" sz="1200"/>
              <a:t>– Longer intervals slowed it.</a:t>
            </a:r>
          </a:p>
          <a:p>
            <a:r>
              <a:rPr lang="en-US" sz="1200"/>
              <a:t>• Baseline.</a:t>
            </a:r>
          </a:p>
          <a:p>
            <a:r>
              <a:rPr lang="en-US" sz="1200"/>
              <a:t>– Each series starts from the same first response.</a:t>
            </a:r>
          </a:p>
          <a:p>
            <a:r>
              <a:rPr lang="en-US" sz="1200"/>
              <a:t>– The reference is the same animal.</a:t>
            </a:r>
          </a:p>
          <a:p>
            <a:r>
              <a:rPr lang="en-US" sz="1200"/>
              <a:t>• Meaning.</a:t>
            </a:r>
          </a:p>
          <a:p>
            <a:r>
              <a:rPr lang="en-US" sz="1200"/>
              <a:t>– Temporal history shapes the decrement.</a:t>
            </a:r>
          </a:p>
          <a:p>
            <a:r>
              <a:rPr lang="en-US" sz="1200"/>
              <a:t>– The pattern of repetition is recorded.</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measurement stays with the same animals, ganglia or cells.</a:t>
            </a:r>
          </a:p>
          <a:p>
            <a:r>
              <a:rPr lang="en-US" sz="1200"/>
              <a:t>• Interpretation.</a:t>
            </a:r>
          </a:p>
          <a:p>
            <a:r>
              <a:rPr lang="en-US" sz="1200"/>
              <a:t>– Each result is read within the preparation and protocol that produced it.</a:t>
            </a:r>
          </a:p>
          <a:p>
            <a:r>
              <a:rPr lang="en-US" sz="1200"/>
              <a:t>– The claim covers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Pinsker H; Kupfermann I; Castellucci V; Kandel E (1970). Habituation and Dishabituation of the Gill-Withdrawal Reflex in Aplysia. Science, 167(3926): 1740-1742. https://doi.org/10.1126/science.167.3926.1740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6.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7.pn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0.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9.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7.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7.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9.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7.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7.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3.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DE5E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7575D"/>
              </a:buClr>
              <a:buSzPts val="1200"/>
              <a:buFont typeface="Arial"/>
              <a:buNone/>
            </a:pPr>
            <a:r>
              <a:rPr b="0" i="0" lang="en-US" sz="1200">
                <a:solidFill>
                  <a:srgbClr val="77575D"/>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436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7575D"/>
              </a:buClr>
              <a:buSzPts val="1800"/>
              <a:buFont typeface="Arial"/>
              <a:buNone/>
            </a:pPr>
            <a:r>
              <a:rPr b="0" i="0" lang="en-US" sz="1500">
                <a:solidFill>
                  <a:srgbClr val="77575D"/>
                </a:solidFill>
                <a:latin typeface="Arial"/>
                <a:ea typeface="Arial"/>
                <a:cs typeface="Arial"/>
                <a:sym typeface="Arial"/>
              </a:rPr>
              <a:t>Lecture 36</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60353B"/>
              </a:buClr>
              <a:buSzPts val="2500"/>
              <a:buFont typeface="Arial"/>
              <a:buNone/>
            </a:pPr>
            <a:r>
              <a:rPr b="1" i="0" lang="en-US" sz="1500">
                <a:solidFill>
                  <a:srgbClr val="60353B"/>
                </a:solidFill>
                <a:latin typeface="Arial"/>
                <a:ea typeface="Arial"/>
                <a:cs typeface="Arial"/>
                <a:sym typeface="Arial"/>
              </a:rPr>
              <a:t>Simple learning circuits: Aplysia gill-withdrawal habituation and sensitization (Kandel)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77575D"/>
              </a:buClr>
              <a:buSzPts val="1600"/>
              <a:buFont typeface="Arial"/>
              <a:buNone/>
            </a:pPr>
            <a:r>
              <a:rPr b="0" i="0" lang="en-US" sz="1500">
                <a:solidFill>
                  <a:srgbClr val="77575D"/>
                </a:solidFill>
                <a:latin typeface="Arial"/>
                <a:ea typeface="Arial"/>
                <a:cs typeface="Arial"/>
                <a:sym typeface="Arial"/>
              </a:rPr>
              <a:t>Friday, November 20, 2026</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77575D"/>
              </a:buClr>
              <a:buSzPts val="1200"/>
              <a:buFont typeface="Arial"/>
              <a:buNone/>
            </a:pPr>
            <a:r>
              <a:rPr b="0" i="0" lang="en-US" sz="1500">
                <a:solidFill>
                  <a:srgbClr val="77575D"/>
                </a:solidFill>
                <a:latin typeface="Arial"/>
                <a:ea typeface="Arial"/>
                <a:cs typeface="Arial"/>
                <a:sym typeface="Arial"/>
              </a:rPr>
              <a:t>Jordan Lopez, Ph.D.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77575D"/>
              </a:buClr>
              <a:buSzPts val="1200"/>
              <a:buFont typeface="Arial"/>
              <a:buNone/>
            </a:pPr>
            <a:r>
              <a:rPr b="0" i="0" lang="en-US" sz="1500">
                <a:solidFill>
                  <a:srgbClr val="77575D"/>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7292299" y="822871"/>
            <a:ext cx="3703253" cy="4937671"/>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Photo: Aplysia californica, the California sea hare.</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Siphon touch recruits a defensive withdrawal</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600"/>
              <a:buFont typeface="Arial"/>
              <a:buNone/>
            </a:pPr>
            <a:r>
              <a:rPr b="0" i="1" lang="en-US" sz="1500">
                <a:solidFill>
                  <a:srgbClr val="000000"/>
                </a:solidFill>
                <a:latin typeface="Arial"/>
                <a:ea typeface="Arial"/>
                <a:cs typeface="Arial"/>
                <a:sym typeface="Arial"/>
              </a:rPr>
              <a:t>Aplysia californica</a:t>
            </a:r>
            <a:r>
              <a:rPr b="0" i="0" lang="en-US" sz="1500">
                <a:solidFill>
                  <a:srgbClr val="000000"/>
                </a:solidFill>
                <a:latin typeface="Arial"/>
                <a:ea typeface="Arial"/>
                <a:cs typeface="Arial"/>
                <a:sym typeface="Arial"/>
              </a:rPr>
              <a:t> is a marine gastropod whose siphon carries water out of the mantle cavity, the chamber that holds its respiratory gill. Touching the siphon or the adjacent mantle shelf evokes contraction of the gill, siphon and mantle shelf. </a:t>
            </a:r>
            <a:r>
              <a:rPr b="1" i="0" lang="en-US" sz="1500">
                <a:solidFill>
                  <a:srgbClr val="4D2A2F"/>
                </a:solidFill>
                <a:latin typeface="Arial"/>
                <a:ea typeface="Arial"/>
                <a:cs typeface="Arial"/>
                <a:sym typeface="Arial"/>
              </a:rPr>
              <a:t>Withdrawal</a:t>
            </a:r>
            <a:r>
              <a:rPr b="0" i="0" lang="en-US" sz="1500">
                <a:solidFill>
                  <a:srgbClr val="000000"/>
                </a:solidFill>
                <a:latin typeface="Arial"/>
                <a:ea typeface="Arial"/>
                <a:cs typeface="Arial"/>
                <a:sym typeface="Arial"/>
              </a:rPr>
              <a:t> shields these delicate structures from the disturbing stimulus, which is the defensive function of the reflex.</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600"/>
              <a:buFont typeface="Arial"/>
              <a:buNone/>
            </a:pPr>
            <a:r>
              <a:rPr b="0" i="0" lang="en-US" sz="1500">
                <a:solidFill>
                  <a:srgbClr val="000000"/>
                </a:solidFill>
                <a:latin typeface="Arial"/>
                <a:ea typeface="Arial"/>
                <a:cs typeface="Arial"/>
                <a:sym typeface="Arial"/>
              </a:rPr>
              <a:t>Pinsker and colleagues held animals with the gill exposed and delivered seawater jets through a nozzle. A photocell read gill movement from light scattered by the tissue. Jets lasted about 800 ms, and stronger jets produced larger contractions followed by additional delayed components.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600"/>
              <a:buFont typeface="Arial"/>
              <a:buNone/>
            </a:pPr>
            <a:r>
              <a:rPr b="0" i="0" lang="en-US" sz="1500">
                <a:solidFill>
                  <a:srgbClr val="000000"/>
                </a:solidFill>
                <a:latin typeface="Arial"/>
                <a:ea typeface="Arial"/>
                <a:cs typeface="Arial"/>
                <a:sym typeface="Arial"/>
              </a:rPr>
              <a:t>Stimulus intensity and response amplitude can be measured separately in this preparation. Because the jet strength sets the size of the contraction, the same animal can be tested across a range of intensities.</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504434" y="1280071"/>
            <a:ext cx="5120333" cy="2154138"/>
          </a:xfrm>
          <a:prstGeom prst="rect">
            <a:avLst/>
          </a:prstGeom>
          <a:noFill/>
          <a:ln>
            <a:noFill/>
          </a:ln>
        </p:spPr>
      </p:pic>
      <p:sp>
        <p:nvSpPr>
          <p:cNvPr id="37" name="Google Shape;37;p2"/>
          <p:cNvSpPr/>
          <p:nvPr/>
        </p:nvSpPr>
        <p:spPr>
          <a:xfrm>
            <a:off x="6504236" y="35257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Repeated harmless stimulation reduces withdrawal</a:t>
            </a:r>
            <a:endParaRPr sz="1800">
              <a:solidFill>
                <a:schemeClr val="dk1"/>
              </a:solidFill>
              <a:latin typeface="Calibri"/>
              <a:ea typeface="Calibri"/>
              <a:cs typeface="Calibri"/>
              <a:sym typeface="Calibri"/>
            </a:endParaRPr>
          </a:p>
        </p:txBody>
      </p:sp>
      <p:sp>
        <p:nvSpPr>
          <p:cNvPr id="46" name="Google Shape;46;p3"/>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400"/>
              <a:buFont typeface="Arial"/>
              <a:buNone/>
            </a:pPr>
            <a:r>
              <a:rPr b="1" i="0" lang="en-US" sz="1500">
                <a:solidFill>
                  <a:srgbClr val="4D2A2F"/>
                </a:solidFill>
                <a:latin typeface="Arial"/>
                <a:ea typeface="Arial"/>
                <a:cs typeface="Arial"/>
                <a:sym typeface="Arial"/>
              </a:rPr>
              <a:t>Habituation</a:t>
            </a:r>
            <a:r>
              <a:rPr b="0" i="0" lang="en-US" sz="1500">
                <a:solidFill>
                  <a:srgbClr val="000000"/>
                </a:solidFill>
                <a:latin typeface="Arial"/>
                <a:ea typeface="Arial"/>
                <a:cs typeface="Arial"/>
                <a:sym typeface="Arial"/>
              </a:rPr>
              <a:t> is a decrease in responsiveness caused by repeated presentation of a stimulus. Pinsker and colleagues stimulated the same siphon receptive region again and again with the same jet. The gill contracted less on each trial, even though the jet kept reaching the animal at full strength.</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Responses fell toward roughly 25% of the first amplitude when stimuli arrived at intervals ranging from seconds to several minutes. Longer intervals slowed the decline. The number of stimuli needed for a given decrement therefore depends on how the trials are spaced in time.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A smaller contraction alone can arise from sensory adaptation, weaker central transmission, altered motor-neuron firing or muscle fatigue. Intracellular recordings in the same preparation sort these sites.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1710203" y="1280071"/>
            <a:ext cx="3199915" cy="3017490"/>
          </a:xfrm>
          <a:prstGeom prst="rect">
            <a:avLst/>
          </a:prstGeom>
          <a:noFill/>
          <a:ln>
            <a:noFill/>
          </a:ln>
        </p:spPr>
      </p:pic>
      <p:sp>
        <p:nvSpPr>
          <p:cNvPr id="50" name="Google Shape;50;p3"/>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2(A–B). Withdrawal habituation, dishabituation, and recovery after rest.</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52" name="Google Shape;52;p3"/>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53" name="Google Shape;53;p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55" name="Google Shape;55;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Rest allows withdrawal responsiveness to recover</a:t>
            </a:r>
            <a:endParaRPr sz="1800">
              <a:solidFill>
                <a:schemeClr val="dk1"/>
              </a:solidFill>
              <a:latin typeface="Calibri"/>
              <a:ea typeface="Calibri"/>
              <a:cs typeface="Calibri"/>
              <a:sym typeface="Calibri"/>
            </a:endParaRPr>
          </a:p>
        </p:txBody>
      </p:sp>
      <p:sp>
        <p:nvSpPr>
          <p:cNvPr id="61" name="Google Shape;61;p4"/>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500"/>
              <a:buFont typeface="Arial"/>
              <a:buNone/>
            </a:pPr>
            <a:r>
              <a:rPr b="1" i="0" lang="en-US" sz="1500">
                <a:solidFill>
                  <a:srgbClr val="4D2A2F"/>
                </a:solidFill>
                <a:latin typeface="Arial"/>
                <a:ea typeface="Arial"/>
                <a:cs typeface="Arial"/>
                <a:sym typeface="Arial"/>
              </a:rPr>
              <a:t>Spontaneous recovery</a:t>
            </a:r>
            <a:r>
              <a:rPr b="0" i="0" lang="en-US" sz="1500">
                <a:solidFill>
                  <a:srgbClr val="000000"/>
                </a:solidFill>
                <a:latin typeface="Arial"/>
                <a:ea typeface="Arial"/>
                <a:cs typeface="Arial"/>
                <a:sym typeface="Arial"/>
              </a:rPr>
              <a:t> is the return of responsiveness after stimulation stops. In the gill-withdrawal experiments, a previously effective stimulus again produced a substantial contraction after a rest. A recovered response can decline again during a new series of identical stimuli.</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Recovery had two phases. Pinsker and colleagues described a rapid component over about 10–20 min that accounted for roughly 75–85% of the recovery, followed by a slower component. Some animals recovered fully within 10 min, while others were still incompletely recovered at 122 min.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The animal keeps the capacity to contract its gill throughout habituation. Recovery of this kind points to a reversible change rather than to injury or to failure of the muscles, so the decrement lies in the control of the response.</a:t>
            </a:r>
            <a:endParaRPr sz="180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3">
            <a:alphaModFix/>
          </a:blip>
          <a:srcRect b="0" l="0" r="0" t="0"/>
          <a:stretch/>
        </p:blipFill>
        <p:spPr>
          <a:xfrm>
            <a:off x="7281733" y="1280071"/>
            <a:ext cx="3199915" cy="3017490"/>
          </a:xfrm>
          <a:prstGeom prst="rect">
            <a:avLst/>
          </a:prstGeom>
          <a:noFill/>
          <a:ln>
            <a:noFill/>
          </a:ln>
        </p:spPr>
      </p:pic>
      <p:sp>
        <p:nvSpPr>
          <p:cNvPr id="65" name="Google Shape;65;p4"/>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2(A–B). Withdrawal habituation, dishabituation, and recovery after rest.</a:t>
            </a:r>
            <a:endParaRPr sz="1800">
              <a:solidFill>
                <a:schemeClr val="dk1"/>
              </a:solidFill>
              <a:latin typeface="Calibri"/>
              <a:ea typeface="Calibri"/>
              <a:cs typeface="Calibri"/>
              <a:sym typeface="Calibri"/>
            </a:endParaRPr>
          </a:p>
        </p:txBody>
      </p:sp>
      <p:pic>
        <p:nvPicPr>
          <p:cNvPr id="66" name="Google Shape;66;p4"/>
          <p:cNvPicPr preferRelativeResize="0"/>
          <p:nvPr/>
        </p:nvPicPr>
        <p:blipFill rotWithShape="1">
          <a:blip r:embed="rId4">
            <a:alphaModFix/>
          </a:blip>
          <a:srcRect b="0" l="0" r="0" t="0"/>
          <a:stretch/>
        </p:blipFill>
        <p:spPr>
          <a:xfrm>
            <a:off x="7794873" y="4846294"/>
            <a:ext cx="2173486" cy="914392"/>
          </a:xfrm>
          <a:prstGeom prst="rect">
            <a:avLst/>
          </a:prstGeom>
          <a:noFill/>
          <a:ln>
            <a:noFill/>
          </a:ln>
        </p:spPr>
      </p:pic>
      <p:sp>
        <p:nvSpPr>
          <p:cNvPr id="67" name="Google Shape;67;p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68" name="Google Shape;68;p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70" name="Google Shape;70;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A strong stimulus restores a habituated response</a:t>
            </a:r>
            <a:endParaRPr sz="1800">
              <a:solidFill>
                <a:schemeClr val="dk1"/>
              </a:solidFill>
              <a:latin typeface="Calibri"/>
              <a:ea typeface="Calibri"/>
              <a:cs typeface="Calibri"/>
              <a:sym typeface="Calibri"/>
            </a:endParaRPr>
          </a:p>
        </p:txBody>
      </p:sp>
      <p:sp>
        <p:nvSpPr>
          <p:cNvPr id="76" name="Google Shape;76;p5"/>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500"/>
              <a:buFont typeface="Arial"/>
              <a:buNone/>
            </a:pPr>
            <a:r>
              <a:rPr b="1" i="0" lang="en-US" sz="1500">
                <a:solidFill>
                  <a:srgbClr val="4D2A2F"/>
                </a:solidFill>
                <a:latin typeface="Arial"/>
                <a:ea typeface="Arial"/>
                <a:cs typeface="Arial"/>
                <a:sym typeface="Arial"/>
              </a:rPr>
              <a:t>Dishabituation</a:t>
            </a:r>
            <a:r>
              <a:rPr b="0" i="0" lang="en-US" sz="1500">
                <a:solidFill>
                  <a:srgbClr val="000000"/>
                </a:solidFill>
                <a:latin typeface="Arial"/>
                <a:ea typeface="Arial"/>
                <a:cs typeface="Arial"/>
                <a:sym typeface="Arial"/>
              </a:rPr>
              <a:t> is an increase in a previously habituated response after a different, stronger stimulus. Pinsker and colleagues first reduced gill withdrawal with repeated siphon stimulation, then applied a strong tactile stimulus to another part of the body. The original test stimulus then evoked larger contractions again.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The increase lasted several minutes and could exceed the original response level. </a:t>
            </a:r>
            <a:r>
              <a:rPr b="1" i="0" lang="en-US" sz="1500">
                <a:solidFill>
                  <a:srgbClr val="4D2A2F"/>
                </a:solidFill>
                <a:latin typeface="Arial"/>
                <a:ea typeface="Arial"/>
                <a:cs typeface="Arial"/>
                <a:sym typeface="Arial"/>
              </a:rPr>
              <a:t>Sensitization</a:t>
            </a:r>
            <a:r>
              <a:rPr b="0" i="0" lang="en-US" sz="1500">
                <a:solidFill>
                  <a:srgbClr val="000000"/>
                </a:solidFill>
                <a:latin typeface="Arial"/>
                <a:ea typeface="Arial"/>
                <a:cs typeface="Arial"/>
                <a:sym typeface="Arial"/>
              </a:rPr>
              <a:t> is an increased responsiveness that follows a strong or noxious stimulus, so it can be superimposed on the response that habituation reduced. The restored movement shows that the depressed response is reversible.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The same siphon test stimulus was used before and after the strong stimulus, so the test input stayed constant while the modulatory event changed. The result requires a process that raises defensive responsiveness across several inputs at once.</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3">
            <a:alphaModFix/>
          </a:blip>
          <a:srcRect b="0" l="0" r="0" t="0"/>
          <a:stretch/>
        </p:blipFill>
        <p:spPr>
          <a:xfrm>
            <a:off x="611733" y="1280071"/>
            <a:ext cx="5396855" cy="3017490"/>
          </a:xfrm>
          <a:prstGeom prst="rect">
            <a:avLst/>
          </a:prstGeom>
          <a:noFill/>
          <a:ln>
            <a:noFill/>
          </a:ln>
        </p:spPr>
      </p:pic>
      <p:sp>
        <p:nvSpPr>
          <p:cNvPr id="80" name="Google Shape;80;p5"/>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3(A–B). Repeated-stimulation decrement and recovery of gill withdrawal.</a:t>
            </a:r>
            <a:endParaRPr sz="1800">
              <a:solidFill>
                <a:schemeClr val="dk1"/>
              </a:solidFill>
              <a:latin typeface="Calibri"/>
              <a:ea typeface="Calibri"/>
              <a:cs typeface="Calibri"/>
              <a:sym typeface="Calibri"/>
            </a:endParaRPr>
          </a:p>
        </p:txBody>
      </p:sp>
      <p:pic>
        <p:nvPicPr>
          <p:cNvPr id="81" name="Google Shape;81;p5"/>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82" name="Google Shape;82;p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83" name="Google Shape;83;p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85" name="Google Shape;85;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Identified neurons connect siphon input to gill output</a:t>
            </a:r>
            <a:endParaRPr sz="1800">
              <a:solidFill>
                <a:schemeClr val="dk1"/>
              </a:solidFill>
              <a:latin typeface="Calibri"/>
              <a:ea typeface="Calibri"/>
              <a:cs typeface="Calibri"/>
              <a:sym typeface="Calibri"/>
            </a:endParaRPr>
          </a:p>
        </p:txBody>
      </p:sp>
      <p:sp>
        <p:nvSpPr>
          <p:cNvPr id="91" name="Google Shape;91;p6"/>
          <p:cNvSpPr/>
          <p:nvPr/>
        </p:nvSpPr>
        <p:spPr>
          <a:xfrm>
            <a:off x="566886" y="1234380"/>
            <a:ext cx="5224760" cy="1324966"/>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400">
                <a:solidFill>
                  <a:srgbClr val="000000"/>
                </a:solidFill>
                <a:latin typeface="Arial"/>
                <a:ea typeface="Arial"/>
                <a:cs typeface="Arial"/>
                <a:sym typeface="Arial"/>
              </a:rPr>
              <a:t>Castellucci and colleagues isolated the abdominal ganglion, a cluster of neuronal cell bodies, and kept a siphon nerve and its attached receptive skin. A </a:t>
            </a:r>
            <a:r>
              <a:rPr b="1" i="0" lang="en-US" sz="1400">
                <a:solidFill>
                  <a:srgbClr val="4D2A2F"/>
                </a:solidFill>
                <a:latin typeface="Arial"/>
                <a:ea typeface="Arial"/>
                <a:cs typeface="Arial"/>
                <a:sym typeface="Arial"/>
              </a:rPr>
              <a:t>sensory neuron</a:t>
            </a:r>
            <a:r>
              <a:rPr b="0" i="0" lang="en-US" sz="1400">
                <a:solidFill>
                  <a:srgbClr val="000000"/>
                </a:solidFill>
                <a:latin typeface="Arial"/>
                <a:ea typeface="Arial"/>
                <a:cs typeface="Arial"/>
                <a:sym typeface="Arial"/>
              </a:rPr>
              <a:t> detects stimulation of that skin, and a </a:t>
            </a:r>
            <a:r>
              <a:rPr b="1" i="0" lang="en-US" sz="1400">
                <a:solidFill>
                  <a:srgbClr val="4D2A2F"/>
                </a:solidFill>
                <a:latin typeface="Arial"/>
                <a:ea typeface="Arial"/>
                <a:cs typeface="Arial"/>
                <a:sym typeface="Arial"/>
              </a:rPr>
              <a:t>motor neuron</a:t>
            </a:r>
            <a:r>
              <a:rPr b="0" i="0" lang="en-US" sz="1400">
                <a:solidFill>
                  <a:srgbClr val="000000"/>
                </a:solidFill>
                <a:latin typeface="Arial"/>
                <a:ea typeface="Arial"/>
                <a:cs typeface="Arial"/>
                <a:sym typeface="Arial"/>
              </a:rPr>
              <a:t> drives contraction of a peripheral muscle. The large identified cells in this ganglion allowed repeated intracellular recordings.</a:t>
            </a:r>
            <a:endParaRPr sz="1800">
              <a:solidFill>
                <a:schemeClr val="dk1"/>
              </a:solidFill>
              <a:latin typeface="Calibri"/>
              <a:ea typeface="Calibri"/>
              <a:cs typeface="Calibri"/>
              <a:sym typeface="Calibri"/>
            </a:endParaRPr>
          </a:p>
        </p:txBody>
      </p:sp>
      <p:pic>
        <p:nvPicPr>
          <p:cNvPr id="94" name="Google Shape;94;p6"/>
          <p:cNvPicPr preferRelativeResize="0"/>
          <p:nvPr/>
        </p:nvPicPr>
        <p:blipFill rotWithShape="1">
          <a:blip r:embed="rId3">
            <a:alphaModFix/>
          </a:blip>
          <a:srcRect b="0" l="0" r="0" t="0"/>
          <a:stretch/>
        </p:blipFill>
        <p:spPr>
          <a:xfrm>
            <a:off x="7810649" y="1280111"/>
            <a:ext cx="2141786" cy="3017410"/>
          </a:xfrm>
          <a:prstGeom prst="rect">
            <a:avLst/>
          </a:prstGeom>
          <a:noFill/>
          <a:ln>
            <a:noFill/>
          </a:ln>
        </p:spPr>
      </p:pic>
      <p:sp>
        <p:nvSpPr>
          <p:cNvPr id="95" name="Google Shape;95;p6"/>
          <p:cNvSpPr/>
          <p:nvPr/>
        </p:nvSpPr>
        <p:spPr>
          <a:xfrm>
            <a:off x="6138416" y="2711746"/>
            <a:ext cx="550545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Brief mechanical or electrical skin stimuli produced an excitatory postsynaptic potential, or EPSP, in an identified gill motor neuron, usually L7. An EPSP is a membrane depolarization that moves a neuron toward the threshold for an action potential. Repeated stimulation reduced this response from one trial to the next.</a:t>
            </a:r>
            <a:endParaRPr sz="1800">
              <a:solidFill>
                <a:schemeClr val="dk1"/>
              </a:solidFill>
              <a:latin typeface="Calibri"/>
              <a:ea typeface="Calibri"/>
              <a:cs typeface="Calibri"/>
              <a:sym typeface="Calibri"/>
            </a:endParaRPr>
          </a:p>
        </p:txBody>
      </p:sp>
      <p:sp>
        <p:nvSpPr>
          <p:cNvPr id="95" name="Google Shape;95;p6"/>
          <p:cNvSpPr/>
          <p:nvPr/>
        </p:nvSpPr>
        <p:spPr>
          <a:xfrm>
            <a:off x="6138416" y="3968284"/>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The isolated ganglion contains a defined sensory–motor pathway, so the connection can be recorded directly. Relating these neural changes to the behavior of the whole animal requires recordings from more intact preparations.</a:t>
            </a:r>
            <a:endParaRPr sz="1800">
              <a:solidFill>
                <a:schemeClr val="dk1"/>
              </a:solidFill>
              <a:latin typeface="Calibri"/>
              <a:ea typeface="Calibri"/>
              <a:cs typeface="Calibri"/>
              <a:sym typeface="Calibri"/>
            </a:endParaRPr>
          </a:p>
        </p:txBody>
      </p:sp>
      <p:pic>
        <p:nvPicPr>
          <p:cNvPr id="96" name="Google Shape;96;p6"/>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97" name="Google Shape;97;p6"/>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98" name="Google Shape;98;p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et al. (1970); Chen et al. (2014)</a:t>
            </a:r>
            <a:endParaRPr sz="1800">
              <a:solidFill>
                <a:schemeClr val="dk1"/>
              </a:solidFill>
              <a:latin typeface="Calibri"/>
              <a:ea typeface="Calibri"/>
              <a:cs typeface="Calibri"/>
              <a:sym typeface="Calibri"/>
            </a:endParaRPr>
          </a:p>
        </p:txBody>
      </p:sp>
      <p:sp>
        <p:nvSpPr>
          <p:cNvPr id="100" name="Google Shape;100;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Synaptic efficacy can fall while spikes still arrive</a:t>
            </a:r>
            <a:endParaRPr sz="1800">
              <a:solidFill>
                <a:schemeClr val="dk1"/>
              </a:solidFill>
              <a:latin typeface="Calibri"/>
              <a:ea typeface="Calibri"/>
              <a:cs typeface="Calibri"/>
              <a:sym typeface="Calibri"/>
            </a:endParaRPr>
          </a:p>
        </p:txBody>
      </p:sp>
      <p:sp>
        <p:nvSpPr>
          <p:cNvPr id="106" name="Google Shape;106;p7"/>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 </a:t>
            </a:r>
            <a:r>
              <a:rPr b="1" i="0" lang="en-US" sz="1500">
                <a:solidFill>
                  <a:srgbClr val="4D2A2F"/>
                </a:solidFill>
                <a:latin typeface="Arial"/>
                <a:ea typeface="Arial"/>
                <a:cs typeface="Arial"/>
                <a:sym typeface="Arial"/>
              </a:rPr>
              <a:t>monosynaptic connection</a:t>
            </a:r>
            <a:r>
              <a:rPr b="0" i="0" lang="en-US" sz="1500">
                <a:solidFill>
                  <a:srgbClr val="000000"/>
                </a:solidFill>
                <a:latin typeface="Arial"/>
                <a:ea typeface="Arial"/>
                <a:cs typeface="Arial"/>
                <a:sym typeface="Arial"/>
              </a:rPr>
              <a:t> links a presynaptic neuron directly to a postsynaptic neuron through one synapse. Castellucci and colleagues raised the concentration of divalent ions to suppress most polysynaptic activity, then recorded elementary EPSPs in a gill motor neuron.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The EPSPs had a short, stable latency, and their amplitude fell during repeated stimulation. The decrement persisted when the motor neuron was hyperpolarized to reduce spontaneous inhibitory potentials. Direct stimulation of the connective also produced the decrement, which places the change in the connection rather than in the stimulated skin.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The change therefore occurs within central excitatory transmission at this synapse. A sensory action potential can still arrive at full size while the postsynaptic response is smaller, because the effectiveness of transmission has changed.</a:t>
            </a:r>
            <a:endParaRPr sz="1800">
              <a:solidFill>
                <a:schemeClr val="dk1"/>
              </a:solidFill>
              <a:latin typeface="Calibri"/>
              <a:ea typeface="Calibri"/>
              <a:cs typeface="Calibri"/>
              <a:sym typeface="Calibri"/>
            </a:endParaRPr>
          </a:p>
        </p:txBody>
      </p:sp>
      <p:pic>
        <p:nvPicPr>
          <p:cNvPr id="109" name="Google Shape;109;p7"/>
          <p:cNvPicPr preferRelativeResize="0"/>
          <p:nvPr/>
        </p:nvPicPr>
        <p:blipFill rotWithShape="1">
          <a:blip r:embed="rId3">
            <a:alphaModFix/>
          </a:blip>
          <a:srcRect b="0" l="0" r="0" t="0"/>
          <a:stretch/>
        </p:blipFill>
        <p:spPr>
          <a:xfrm>
            <a:off x="567033" y="1280071"/>
            <a:ext cx="5486107" cy="2466975"/>
          </a:xfrm>
          <a:prstGeom prst="rect">
            <a:avLst/>
          </a:prstGeom>
          <a:noFill/>
          <a:ln>
            <a:noFill/>
          </a:ln>
        </p:spPr>
      </p:pic>
      <p:sp>
        <p:nvSpPr>
          <p:cNvPr id="110" name="Google Shape;110;p7"/>
          <p:cNvSpPr/>
          <p:nvPr/>
        </p:nvSpPr>
        <p:spPr>
          <a:xfrm>
            <a:off x="566886" y="383857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Castellucci et al. (1970), Fig. 2(A–D). Elementary EPSP decrement, recovery, and connective-induced facilitation.</a:t>
            </a:r>
            <a:endParaRPr sz="1800">
              <a:solidFill>
                <a:schemeClr val="dk1"/>
              </a:solidFill>
              <a:latin typeface="Calibri"/>
              <a:ea typeface="Calibri"/>
              <a:cs typeface="Calibri"/>
              <a:sym typeface="Calibri"/>
            </a:endParaRPr>
          </a:p>
        </p:txBody>
      </p:sp>
      <p:pic>
        <p:nvPicPr>
          <p:cNvPr id="111" name="Google Shape;111;p7"/>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112" name="Google Shape;112;p7"/>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13" name="Google Shape;113;p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et al. (1970); Chen et al. (2014)</a:t>
            </a:r>
            <a:endParaRPr sz="1800">
              <a:solidFill>
                <a:schemeClr val="dk1"/>
              </a:solidFill>
              <a:latin typeface="Calibri"/>
              <a:ea typeface="Calibri"/>
              <a:cs typeface="Calibri"/>
              <a:sym typeface="Calibri"/>
            </a:endParaRPr>
          </a:p>
        </p:txBody>
      </p:sp>
      <p:sp>
        <p:nvSpPr>
          <p:cNvPr id="115" name="Google Shape;11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Motor-neuron firing explains only part of withdrawal</a:t>
            </a:r>
            <a:endParaRPr sz="1800">
              <a:solidFill>
                <a:schemeClr val="dk1"/>
              </a:solidFill>
              <a:latin typeface="Calibri"/>
              <a:ea typeface="Calibri"/>
              <a:cs typeface="Calibri"/>
              <a:sym typeface="Calibri"/>
            </a:endParaRPr>
          </a:p>
        </p:txBody>
      </p:sp>
      <p:sp>
        <p:nvSpPr>
          <p:cNvPr id="121" name="Google Shape;121;p8"/>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Antonov and colleagues combined intracellular recordings with siphon-movement measurements in a reduced preparation. </a:t>
            </a:r>
            <a:r>
              <a:rPr b="1" i="0" lang="en-US" sz="1500">
                <a:solidFill>
                  <a:srgbClr val="4D2A2F"/>
                </a:solidFill>
                <a:latin typeface="Arial"/>
                <a:ea typeface="Arial"/>
                <a:cs typeface="Arial"/>
                <a:sym typeface="Arial"/>
              </a:rPr>
              <a:t>LFS motor neurons</a:t>
            </a:r>
            <a:r>
              <a:rPr b="0" i="0" lang="en-US" sz="1500">
                <a:solidFill>
                  <a:srgbClr val="000000"/>
                </a:solidFill>
                <a:latin typeface="Arial"/>
                <a:ea typeface="Arial"/>
                <a:cs typeface="Arial"/>
                <a:sym typeface="Arial"/>
              </a:rPr>
              <a:t> are identified output cells for siphon withdrawal, and </a:t>
            </a:r>
            <a:r>
              <a:rPr b="1" i="0" lang="en-US" sz="1500">
                <a:solidFill>
                  <a:srgbClr val="4D2A2F"/>
                </a:solidFill>
                <a:latin typeface="Arial"/>
                <a:ea typeface="Arial"/>
                <a:cs typeface="Arial"/>
                <a:sym typeface="Arial"/>
              </a:rPr>
              <a:t>LE sensory neurons</a:t>
            </a:r>
            <a:r>
              <a:rPr b="0" i="0" lang="en-US" sz="1500">
                <a:solidFill>
                  <a:srgbClr val="000000"/>
                </a:solidFill>
                <a:latin typeface="Arial"/>
                <a:ea typeface="Arial"/>
                <a:cs typeface="Arial"/>
                <a:sym typeface="Arial"/>
              </a:rPr>
              <a:t> supply tactile input. Stimulating one LFS neuron artificially made it possible to compare its contribution with the withdrawal evoked by touch.</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The contribution of a single LFS neuron grew with its firing rate. Measurements of movement, complex postsynaptic potentials and individual sensory–motor EPSPs indicate that the LE-to-LFS monosynaptic pathway mediates about one-third of the measured reflex. Other circuit and peripheral mechanisms supply the rest.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Activating the motor cell directly skips sensory processing, so downstream changes can be isolated from changes at the sensory input. The one-third estimate describes siphon flaring in this preparation.</a:t>
            </a:r>
            <a:endParaRPr sz="1800">
              <a:solidFill>
                <a:schemeClr val="dk1"/>
              </a:solidFill>
              <a:latin typeface="Calibri"/>
              <a:ea typeface="Calibri"/>
              <a:cs typeface="Calibri"/>
              <a:sym typeface="Calibri"/>
            </a:endParaRPr>
          </a:p>
        </p:txBody>
      </p:sp>
      <p:pic>
        <p:nvPicPr>
          <p:cNvPr id="124" name="Google Shape;124;p8"/>
          <p:cNvPicPr preferRelativeResize="0"/>
          <p:nvPr/>
        </p:nvPicPr>
        <p:blipFill rotWithShape="1">
          <a:blip r:embed="rId3">
            <a:alphaModFix/>
          </a:blip>
          <a:srcRect b="0" l="0" r="0" t="0"/>
          <a:stretch/>
        </p:blipFill>
        <p:spPr>
          <a:xfrm>
            <a:off x="7578477" y="1280101"/>
            <a:ext cx="2606278" cy="3017429"/>
          </a:xfrm>
          <a:prstGeom prst="rect">
            <a:avLst/>
          </a:prstGeom>
          <a:noFill/>
          <a:ln>
            <a:noFill/>
          </a:ln>
        </p:spPr>
      </p:pic>
      <p:sp>
        <p:nvSpPr>
          <p:cNvPr id="125" name="Google Shape;125;p8"/>
          <p:cNvSpPr/>
          <p:nvPr/>
        </p:nvSpPr>
        <p:spPr>
          <a:xfrm>
            <a:off x="613841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4(A–B). Motor-cell firing compared with siphon withdrawal.</a:t>
            </a:r>
            <a:endParaRPr sz="1800">
              <a:solidFill>
                <a:schemeClr val="dk1"/>
              </a:solidFill>
              <a:latin typeface="Calibri"/>
              <a:ea typeface="Calibri"/>
              <a:cs typeface="Calibri"/>
              <a:sym typeface="Calibri"/>
            </a:endParaRPr>
          </a:p>
        </p:txBody>
      </p:sp>
      <p:pic>
        <p:nvPicPr>
          <p:cNvPr id="126" name="Google Shape;126;p8"/>
          <p:cNvPicPr preferRelativeResize="0"/>
          <p:nvPr/>
        </p:nvPicPr>
        <p:blipFill rotWithShape="1">
          <a:blip r:embed="rId4">
            <a:alphaModFix/>
          </a:blip>
          <a:srcRect b="0" l="0" r="0" t="0"/>
          <a:stretch/>
        </p:blipFill>
        <p:spPr>
          <a:xfrm>
            <a:off x="8564910" y="4846367"/>
            <a:ext cx="633413" cy="914246"/>
          </a:xfrm>
          <a:prstGeom prst="rect">
            <a:avLst/>
          </a:prstGeom>
          <a:noFill/>
          <a:ln>
            <a:noFill/>
          </a:ln>
        </p:spPr>
      </p:pic>
      <p:sp>
        <p:nvSpPr>
          <p:cNvPr id="127" name="Google Shape;127;p8"/>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128" name="Google Shape;128;p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Antonov et al. (1999)</a:t>
            </a:r>
            <a:endParaRPr sz="1800">
              <a:solidFill>
                <a:schemeClr val="dk1"/>
              </a:solidFill>
              <a:latin typeface="Calibri"/>
              <a:ea typeface="Calibri"/>
              <a:cs typeface="Calibri"/>
              <a:sym typeface="Calibri"/>
            </a:endParaRPr>
          </a:p>
        </p:txBody>
      </p:sp>
      <p:sp>
        <p:nvSpPr>
          <p:cNvPr id="130" name="Google Shape;130;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Behavior and neural responses change together</a:t>
            </a:r>
            <a:endParaRPr sz="1800">
              <a:solidFill>
                <a:schemeClr val="dk1"/>
              </a:solidFill>
              <a:latin typeface="Calibri"/>
              <a:ea typeface="Calibri"/>
              <a:cs typeface="Calibri"/>
              <a:sym typeface="Calibri"/>
            </a:endParaRPr>
          </a:p>
        </p:txBody>
      </p:sp>
      <p:sp>
        <p:nvSpPr>
          <p:cNvPr id="136" name="Google Shape;136;p9"/>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Antonov and colleagues recorded siphon withdrawal, LFS motor-neuron firing, LE sensory-neuron firing and synaptic potentials during behavioral training. Habituation used repeated siphon taps, dishabituation added tail shock after habituation, and sensitization used shock alone.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Withdrawal, motor-cell firing, complex postsynaptic potentials and monosynaptic sensory–motor potentials usually changed together. Facilitation appeared in sensory neurons whose receptive fields covered the test site and in sensory neurons activated from elsewhere on the body. Shock therefore acts on more inputs than the one tapped during habituation.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The change is spread across many connections, so its synaptic basis appears at several sites. Transient inhibition in the siphon preparation is absent from the gill preparation, which means the apparent difference between dishabituation and sensitization depends on the reflex component measured.</a:t>
            </a:r>
            <a:endParaRPr sz="1800">
              <a:solidFill>
                <a:schemeClr val="dk1"/>
              </a:solidFill>
              <a:latin typeface="Calibri"/>
              <a:ea typeface="Calibri"/>
              <a:cs typeface="Calibri"/>
              <a:sym typeface="Calibri"/>
            </a:endParaRPr>
          </a:p>
        </p:txBody>
      </p:sp>
      <p:pic>
        <p:nvPicPr>
          <p:cNvPr id="139" name="Google Shape;139;p9"/>
          <p:cNvPicPr preferRelativeResize="0"/>
          <p:nvPr/>
        </p:nvPicPr>
        <p:blipFill rotWithShape="1">
          <a:blip r:embed="rId3">
            <a:alphaModFix/>
          </a:blip>
          <a:srcRect b="0" l="0" r="0" t="0"/>
          <a:stretch/>
        </p:blipFill>
        <p:spPr>
          <a:xfrm>
            <a:off x="2152799" y="1280078"/>
            <a:ext cx="2314575" cy="3017476"/>
          </a:xfrm>
          <a:prstGeom prst="rect">
            <a:avLst/>
          </a:prstGeom>
          <a:noFill/>
          <a:ln>
            <a:noFill/>
          </a:ln>
        </p:spPr>
      </p:pic>
      <p:sp>
        <p:nvSpPr>
          <p:cNvPr id="140" name="Google Shape;140;p9"/>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6(A–C). Withdrawal, motor activity, and sensory activity during training.</a:t>
            </a:r>
            <a:endParaRPr sz="1800">
              <a:solidFill>
                <a:schemeClr val="dk1"/>
              </a:solidFill>
              <a:latin typeface="Calibri"/>
              <a:ea typeface="Calibri"/>
              <a:cs typeface="Calibri"/>
              <a:sym typeface="Calibri"/>
            </a:endParaRPr>
          </a:p>
        </p:txBody>
      </p:sp>
      <p:pic>
        <p:nvPicPr>
          <p:cNvPr id="141" name="Google Shape;141;p9"/>
          <p:cNvPicPr preferRelativeResize="0"/>
          <p:nvPr/>
        </p:nvPicPr>
        <p:blipFill rotWithShape="1">
          <a:blip r:embed="rId4">
            <a:alphaModFix/>
          </a:blip>
          <a:srcRect b="0" l="0" r="0" t="0"/>
          <a:stretch/>
        </p:blipFill>
        <p:spPr>
          <a:xfrm>
            <a:off x="2993380" y="4846367"/>
            <a:ext cx="633413" cy="914246"/>
          </a:xfrm>
          <a:prstGeom prst="rect">
            <a:avLst/>
          </a:prstGeom>
          <a:noFill/>
          <a:ln>
            <a:noFill/>
          </a:ln>
        </p:spPr>
      </p:pic>
      <p:sp>
        <p:nvSpPr>
          <p:cNvPr id="142" name="Google Shape;142;p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143" name="Google Shape;143;p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Antonov et al. (1999)</a:t>
            </a:r>
            <a:endParaRPr sz="1800">
              <a:solidFill>
                <a:schemeClr val="dk1"/>
              </a:solidFill>
              <a:latin typeface="Calibri"/>
              <a:ea typeface="Calibri"/>
              <a:cs typeface="Calibri"/>
              <a:sym typeface="Calibri"/>
            </a:endParaRPr>
          </a:p>
        </p:txBody>
      </p:sp>
      <p:sp>
        <p:nvSpPr>
          <p:cNvPr id="145" name="Google Shape;14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Quantal analysis separates release from responsiveness</a:t>
            </a:r>
            <a:endParaRPr sz="1800">
              <a:solidFill>
                <a:schemeClr val="dk1"/>
              </a:solidFill>
              <a:latin typeface="Calibri"/>
              <a:ea typeface="Calibri"/>
              <a:cs typeface="Calibri"/>
              <a:sym typeface="Calibri"/>
            </a:endParaRPr>
          </a:p>
        </p:txBody>
      </p:sp>
      <p:sp>
        <p:nvSpPr>
          <p:cNvPr id="151" name="Google Shape;151;p10"/>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Castellucci and Kandel analyzed sensory–motor transmission when transmitter release was low. A </a:t>
            </a:r>
            <a:r>
              <a:rPr b="1" i="0" lang="en-US" sz="1400">
                <a:solidFill>
                  <a:srgbClr val="4D2A2F"/>
                </a:solidFill>
                <a:latin typeface="Arial"/>
                <a:ea typeface="Arial"/>
                <a:cs typeface="Arial"/>
                <a:sym typeface="Arial"/>
              </a:rPr>
              <a:t>quantum</a:t>
            </a:r>
            <a:r>
              <a:rPr b="0" i="0" lang="en-US" sz="1400">
                <a:solidFill>
                  <a:srgbClr val="000000"/>
                </a:solidFill>
                <a:latin typeface="Arial"/>
                <a:ea typeface="Arial"/>
                <a:cs typeface="Arial"/>
                <a:sym typeface="Arial"/>
              </a:rPr>
              <a:t> is the postsynaptic effect of one unit of transmitter release, usually interpreted as the contents of one vesicle. Low calcium and high magnesium increased transmission failures and made small successful responses easier to resolve.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They evoked sensory spikes repeatedly and recorded motor-neuron EPSPs. The amplitudes alternated between failures and small responses, while the overall response shrank during depression. Successive periods of transmission showed whether fewer quanta were released or whether the motor neuron responded less to each quantum.</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This approach gives a functional estimate of release, not a direct view of vesicle fusion. The estimate rests on resolving single-quantum responses and on the statistical model of release, and the altered ionic bath changes the conditions relative to an intact animal.</a:t>
            </a:r>
            <a:endParaRPr sz="1800">
              <a:solidFill>
                <a:schemeClr val="dk1"/>
              </a:solidFill>
              <a:latin typeface="Calibri"/>
              <a:ea typeface="Calibri"/>
              <a:cs typeface="Calibri"/>
              <a:sym typeface="Calibri"/>
            </a:endParaRPr>
          </a:p>
        </p:txBody>
      </p:sp>
      <p:pic>
        <p:nvPicPr>
          <p:cNvPr id="154" name="Google Shape;154;p10"/>
          <p:cNvPicPr preferRelativeResize="0"/>
          <p:nvPr/>
        </p:nvPicPr>
        <p:blipFill rotWithShape="1">
          <a:blip r:embed="rId3">
            <a:alphaModFix/>
          </a:blip>
          <a:srcRect b="0" l="0" r="0" t="0"/>
          <a:stretch/>
        </p:blipFill>
        <p:spPr>
          <a:xfrm>
            <a:off x="6996312" y="1280071"/>
            <a:ext cx="3770608" cy="3017490"/>
          </a:xfrm>
          <a:prstGeom prst="rect">
            <a:avLst/>
          </a:prstGeom>
          <a:noFill/>
          <a:ln>
            <a:noFill/>
          </a:ln>
        </p:spPr>
      </p:pic>
      <p:sp>
        <p:nvSpPr>
          <p:cNvPr id="155" name="Google Shape;155;p10"/>
          <p:cNvSpPr/>
          <p:nvPr/>
        </p:nvSpPr>
        <p:spPr>
          <a:xfrm>
            <a:off x="613841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Castellucci &amp; Kandel (1974), Fig. 2. Small successful EPSPs and failures during depression.</a:t>
            </a:r>
            <a:endParaRPr sz="1800">
              <a:solidFill>
                <a:schemeClr val="dk1"/>
              </a:solidFill>
              <a:latin typeface="Calibri"/>
              <a:ea typeface="Calibri"/>
              <a:cs typeface="Calibri"/>
              <a:sym typeface="Calibri"/>
            </a:endParaRPr>
          </a:p>
        </p:txBody>
      </p:sp>
      <p:pic>
        <p:nvPicPr>
          <p:cNvPr id="156" name="Google Shape;156;p10"/>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157" name="Google Shape;157;p10"/>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58" name="Google Shape;158;p1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&amp; Kandel (1974); Chen et al. (2014)</a:t>
            </a:r>
            <a:endParaRPr sz="1800">
              <a:solidFill>
                <a:schemeClr val="dk1"/>
              </a:solidFill>
              <a:latin typeface="Calibri"/>
              <a:ea typeface="Calibri"/>
              <a:cs typeface="Calibri"/>
              <a:sym typeface="Calibri"/>
            </a:endParaRPr>
          </a:p>
        </p:txBody>
      </p:sp>
      <p:sp>
        <p:nvSpPr>
          <p:cNvPr id="160" name="Google Shape;160;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Habituation reduces the number of released quanta</a:t>
            </a:r>
            <a:endParaRPr sz="1800">
              <a:solidFill>
                <a:schemeClr val="dk1"/>
              </a:solidFill>
              <a:latin typeface="Calibri"/>
              <a:ea typeface="Calibri"/>
              <a:cs typeface="Calibri"/>
              <a:sym typeface="Calibri"/>
            </a:endParaRPr>
          </a:p>
        </p:txBody>
      </p:sp>
      <p:sp>
        <p:nvSpPr>
          <p:cNvPr id="166" name="Google Shape;166;p11"/>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During synaptic depression, Castellucci and Kandel found a decrease in </a:t>
            </a:r>
            <a:r>
              <a:rPr b="1" i="0" lang="en-US" sz="1500">
                <a:solidFill>
                  <a:srgbClr val="4D2A2F"/>
                </a:solidFill>
                <a:latin typeface="Arial"/>
                <a:ea typeface="Arial"/>
                <a:cs typeface="Arial"/>
                <a:sym typeface="Arial"/>
              </a:rPr>
              <a:t>quantal content</a:t>
            </a:r>
            <a:r>
              <a:rPr b="0" i="0" lang="en-US" sz="1500">
                <a:solidFill>
                  <a:srgbClr val="000000"/>
                </a:solidFill>
                <a:latin typeface="Arial"/>
                <a:ea typeface="Arial"/>
                <a:cs typeface="Arial"/>
                <a:sym typeface="Arial"/>
              </a:rPr>
              <a:t>, the average number of transmitter quanta released per sensory impulse. The estimated size of one quantum stayed nearly constant. Less transmitter reached the motor neuron even while the sensory neuron was being stimulated.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Averaged successful EPSPs kept a similar time course during depression, while failures became more common. A constant quantum size points to a presynaptic change in this short-term preparation, not to a large loss of postsynaptic receptor sensitivity. The main measured change sits on the presynaptic side of the synapse.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Fewer released quanta can arise from vesicle depletion, a lower release probability or fewer available release sites. Quantal analysis identifies the side of the synapse that changes most strongly under these conditions, and the specific mechanism is identified by separate experiments.</a:t>
            </a:r>
            <a:endParaRPr sz="1800">
              <a:solidFill>
                <a:schemeClr val="dk1"/>
              </a:solidFill>
              <a:latin typeface="Calibri"/>
              <a:ea typeface="Calibri"/>
              <a:cs typeface="Calibri"/>
              <a:sym typeface="Calibri"/>
            </a:endParaRPr>
          </a:p>
        </p:txBody>
      </p:sp>
      <p:pic>
        <p:nvPicPr>
          <p:cNvPr id="169" name="Google Shape;169;p11"/>
          <p:cNvPicPr preferRelativeResize="0"/>
          <p:nvPr/>
        </p:nvPicPr>
        <p:blipFill rotWithShape="1">
          <a:blip r:embed="rId3">
            <a:alphaModFix/>
          </a:blip>
          <a:srcRect b="0" l="0" r="0" t="0"/>
          <a:stretch/>
        </p:blipFill>
        <p:spPr>
          <a:xfrm>
            <a:off x="566903" y="1280071"/>
            <a:ext cx="5486367" cy="2710309"/>
          </a:xfrm>
          <a:prstGeom prst="rect">
            <a:avLst/>
          </a:prstGeom>
          <a:noFill/>
          <a:ln>
            <a:noFill/>
          </a:ln>
        </p:spPr>
      </p:pic>
      <p:sp>
        <p:nvSpPr>
          <p:cNvPr id="170" name="Google Shape;170;p11"/>
          <p:cNvSpPr/>
          <p:nvPr/>
        </p:nvSpPr>
        <p:spPr>
          <a:xfrm>
            <a:off x="566886" y="4081909"/>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Castellucci &amp; Kandel (1974), Fig. 3(E1–2). Averaged successful EPSPs retain similar waveforms during depression.</a:t>
            </a:r>
            <a:endParaRPr sz="1800">
              <a:solidFill>
                <a:schemeClr val="dk1"/>
              </a:solidFill>
              <a:latin typeface="Calibri"/>
              <a:ea typeface="Calibri"/>
              <a:cs typeface="Calibri"/>
              <a:sym typeface="Calibri"/>
            </a:endParaRPr>
          </a:p>
        </p:txBody>
      </p:sp>
      <p:pic>
        <p:nvPicPr>
          <p:cNvPr id="171" name="Google Shape;171;p11"/>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172" name="Google Shape;172;p11"/>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73" name="Google Shape;173;p1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&amp; Kandel (1974); Chen et al. (2014)</a:t>
            </a:r>
            <a:endParaRPr sz="1800">
              <a:solidFill>
                <a:schemeClr val="dk1"/>
              </a:solidFill>
              <a:latin typeface="Calibri"/>
              <a:ea typeface="Calibri"/>
              <a:cs typeface="Calibri"/>
              <a:sym typeface="Calibri"/>
            </a:endParaRPr>
          </a:p>
        </p:txBody>
      </p:sp>
      <p:sp>
        <p:nvSpPr>
          <p:cNvPr id="175" name="Google Shape;175;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Depression does not follow a simple depletion rule</a:t>
            </a:r>
            <a:endParaRPr sz="1800">
              <a:solidFill>
                <a:schemeClr val="dk1"/>
              </a:solidFill>
              <a:latin typeface="Calibri"/>
              <a:ea typeface="Calibri"/>
              <a:cs typeface="Calibri"/>
              <a:sym typeface="Calibri"/>
            </a:endParaRPr>
          </a:p>
        </p:txBody>
      </p:sp>
      <p:sp>
        <p:nvSpPr>
          <p:cNvPr id="181" name="Google Shape;181;p12"/>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400"/>
              <a:buFont typeface="Arial"/>
              <a:buNone/>
            </a:pPr>
            <a:r>
              <a:rPr b="1" i="0" lang="en-US" sz="1400">
                <a:solidFill>
                  <a:srgbClr val="4D2A2F"/>
                </a:solidFill>
                <a:latin typeface="Arial"/>
                <a:ea typeface="Arial"/>
                <a:cs typeface="Arial"/>
                <a:sym typeface="Arial"/>
              </a:rPr>
              <a:t>Homosynaptic depression</a:t>
            </a:r>
            <a:r>
              <a:rPr b="0" i="0" lang="en-US" sz="1400">
                <a:solidFill>
                  <a:srgbClr val="000000"/>
                </a:solidFill>
                <a:latin typeface="Arial"/>
                <a:ea typeface="Arial"/>
                <a:cs typeface="Arial"/>
                <a:sym typeface="Arial"/>
              </a:rPr>
              <a:t> is reduced transmission caused by activity in the same synaptic pathway. Gover and colleagues evoked sensory action potentials at 15 s intervals in strong and weak sensory–motor connections. The two kinds of connection differed in their initial transmission and in their paired-pulse behavior, yet they depressed at similar rates.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400">
                <a:solidFill>
                  <a:srgbClr val="000000"/>
                </a:solidFill>
                <a:latin typeface="Arial"/>
                <a:ea typeface="Arial"/>
                <a:cs typeface="Arial"/>
                <a:sym typeface="Arial"/>
              </a:rPr>
              <a:t>The </a:t>
            </a:r>
            <a:r>
              <a:rPr b="1" i="0" lang="en-US" sz="1400">
                <a:solidFill>
                  <a:srgbClr val="4D2A2F"/>
                </a:solidFill>
                <a:latin typeface="Arial"/>
                <a:ea typeface="Arial"/>
                <a:cs typeface="Arial"/>
                <a:sym typeface="Arial"/>
              </a:rPr>
              <a:t>paired-pulse ratio</a:t>
            </a:r>
            <a:r>
              <a:rPr b="0" i="0" lang="en-US" sz="1400">
                <a:solidFill>
                  <a:srgbClr val="000000"/>
                </a:solidFill>
                <a:latin typeface="Arial"/>
                <a:ea typeface="Arial"/>
                <a:cs typeface="Arial"/>
                <a:sym typeface="Arial"/>
              </a:rPr>
              <a:t> compares the postsynaptic responses to two closely spaced presynaptic spikes. Applying 2 mM 4-aminopyridine, a potassium-channel blocker, broadened sensory spikes and increased calcium-dependent release. This change shifted initial transmission and paired-pulse behavior, but depression was not faster as a simple depletion account would predict.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400">
                <a:solidFill>
                  <a:srgbClr val="000000"/>
                </a:solidFill>
                <a:latin typeface="Arial"/>
                <a:ea typeface="Arial"/>
                <a:cs typeface="Arial"/>
                <a:sym typeface="Arial"/>
              </a:rPr>
              <a:t>Depression follows its own time course, independent of the initial strength of a connection. Activity appears to silence functional release sites in a stimulus-dependent way, and the measured kinetics are the evidence for that account.</a:t>
            </a:r>
            <a:endParaRPr sz="1800">
              <a:solidFill>
                <a:schemeClr val="dk1"/>
              </a:solidFill>
              <a:latin typeface="Calibri"/>
              <a:ea typeface="Calibri"/>
              <a:cs typeface="Calibri"/>
              <a:sym typeface="Calibri"/>
            </a:endParaRPr>
          </a:p>
        </p:txBody>
      </p:sp>
      <p:pic>
        <p:nvPicPr>
          <p:cNvPr id="184" name="Google Shape;184;p12"/>
          <p:cNvPicPr preferRelativeResize="0"/>
          <p:nvPr/>
        </p:nvPicPr>
        <p:blipFill rotWithShape="1">
          <a:blip r:embed="rId3">
            <a:alphaModFix/>
          </a:blip>
          <a:srcRect b="0" l="0" r="0" t="0"/>
          <a:stretch/>
        </p:blipFill>
        <p:spPr>
          <a:xfrm>
            <a:off x="6958616" y="1280071"/>
            <a:ext cx="3846149" cy="3017490"/>
          </a:xfrm>
          <a:prstGeom prst="rect">
            <a:avLst/>
          </a:prstGeom>
          <a:noFill/>
          <a:ln>
            <a:noFill/>
          </a:ln>
        </p:spPr>
      </p:pic>
      <p:sp>
        <p:nvSpPr>
          <p:cNvPr id="185" name="Google Shape;185;p12"/>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Gover et al. (2002), Fig. 2(A–D). Empirical depression and paired-pulse responses at strong and weak connections.</a:t>
            </a:r>
            <a:endParaRPr sz="1800">
              <a:solidFill>
                <a:schemeClr val="dk1"/>
              </a:solidFill>
              <a:latin typeface="Calibri"/>
              <a:ea typeface="Calibri"/>
              <a:cs typeface="Calibri"/>
              <a:sym typeface="Calibri"/>
            </a:endParaRPr>
          </a:p>
        </p:txBody>
      </p:sp>
      <p:pic>
        <p:nvPicPr>
          <p:cNvPr id="186" name="Google Shape;186;p12"/>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187" name="Google Shape;187;p12"/>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88" name="Google Shape;188;p1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Gover et al. (2002); Chen et al. (2014)</a:t>
            </a:r>
            <a:endParaRPr sz="1800">
              <a:solidFill>
                <a:schemeClr val="dk1"/>
              </a:solidFill>
              <a:latin typeface="Calibri"/>
              <a:ea typeface="Calibri"/>
              <a:cs typeface="Calibri"/>
              <a:sym typeface="Calibri"/>
            </a:endParaRPr>
          </a:p>
        </p:txBody>
      </p:sp>
      <p:sp>
        <p:nvSpPr>
          <p:cNvPr id="190" name="Google Shape;190;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Depressed release can persist through a long rest</a:t>
            </a:r>
            <a:endParaRPr sz="1800">
              <a:solidFill>
                <a:schemeClr val="dk1"/>
              </a:solidFill>
              <a:latin typeface="Calibri"/>
              <a:ea typeface="Calibri"/>
              <a:cs typeface="Calibri"/>
              <a:sym typeface="Calibri"/>
            </a:endParaRPr>
          </a:p>
        </p:txBody>
      </p:sp>
      <p:sp>
        <p:nvSpPr>
          <p:cNvPr id="196" name="Google Shape;196;p13"/>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Gover and colleagues induced homosynaptic depression with repeated sensory-neuron stimulation, then left the connection unstimulated for 40 min. Subsequent EPSPs stayed depressed instead of returning to their original amplitude. A shorter rest interval produced recovery of a different size, which marks the depression as persistent rather than immediate.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Motor-neuron responsiveness and sensory-cell stimulation stayed measurable throughout the rest. With the release-manipulation results, the persistence favors a change in the availability of functional release sites over a simple exhausted pool that refills quickly at rest.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Recovery in intact animals takes place over a different time course, because stimulus history, ionic conditions and network contributions all differ from the isolated connection. The 40 min persistence is a property of this synapse under these conditions.</a:t>
            </a:r>
            <a:endParaRPr sz="1800">
              <a:solidFill>
                <a:schemeClr val="dk1"/>
              </a:solidFill>
              <a:latin typeface="Calibri"/>
              <a:ea typeface="Calibri"/>
              <a:cs typeface="Calibri"/>
              <a:sym typeface="Calibri"/>
            </a:endParaRPr>
          </a:p>
        </p:txBody>
      </p:sp>
      <p:pic>
        <p:nvPicPr>
          <p:cNvPr id="199" name="Google Shape;199;p13"/>
          <p:cNvPicPr preferRelativeResize="0"/>
          <p:nvPr/>
        </p:nvPicPr>
        <p:blipFill rotWithShape="1">
          <a:blip r:embed="rId3">
            <a:alphaModFix/>
          </a:blip>
          <a:srcRect b="0" l="0" r="0" t="0"/>
          <a:stretch/>
        </p:blipFill>
        <p:spPr>
          <a:xfrm>
            <a:off x="567053" y="1280071"/>
            <a:ext cx="5486066" cy="2461617"/>
          </a:xfrm>
          <a:prstGeom prst="rect">
            <a:avLst/>
          </a:prstGeom>
          <a:noFill/>
          <a:ln>
            <a:noFill/>
          </a:ln>
        </p:spPr>
      </p:pic>
      <p:sp>
        <p:nvSpPr>
          <p:cNvPr id="200" name="Google Shape;200;p13"/>
          <p:cNvSpPr/>
          <p:nvPr/>
        </p:nvSpPr>
        <p:spPr>
          <a:xfrm>
            <a:off x="566886" y="3833217"/>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Gover et al. (2002), Fig. 13(A–B). Persistence of depression after 40 min or 100 s of rest.</a:t>
            </a:r>
            <a:endParaRPr sz="1800">
              <a:solidFill>
                <a:schemeClr val="dk1"/>
              </a:solidFill>
              <a:latin typeface="Calibri"/>
              <a:ea typeface="Calibri"/>
              <a:cs typeface="Calibri"/>
              <a:sym typeface="Calibri"/>
            </a:endParaRPr>
          </a:p>
        </p:txBody>
      </p:sp>
      <p:pic>
        <p:nvPicPr>
          <p:cNvPr id="201" name="Google Shape;201;p13"/>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202" name="Google Shape;202;p13"/>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03" name="Google Shape;203;p1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Gover et al. (2002); Chen et al. (2014)</a:t>
            </a:r>
            <a:endParaRPr sz="1800">
              <a:solidFill>
                <a:schemeClr val="dk1"/>
              </a:solidFill>
              <a:latin typeface="Calibri"/>
              <a:ea typeface="Calibri"/>
              <a:cs typeface="Calibri"/>
              <a:sym typeface="Calibri"/>
            </a:endParaRPr>
          </a:p>
        </p:txBody>
      </p:sp>
      <p:sp>
        <p:nvSpPr>
          <p:cNvPr id="205" name="Google Shape;205;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Habituation can be retained for weeks</a:t>
            </a:r>
            <a:endParaRPr sz="1800">
              <a:solidFill>
                <a:schemeClr val="dk1"/>
              </a:solidFill>
              <a:latin typeface="Calibri"/>
              <a:ea typeface="Calibri"/>
              <a:cs typeface="Calibri"/>
              <a:sym typeface="Calibri"/>
            </a:endParaRPr>
          </a:p>
        </p:txBody>
      </p:sp>
      <p:sp>
        <p:nvSpPr>
          <p:cNvPr id="211" name="Google Shape;211;p14"/>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1" i="0" lang="en-US" sz="1500">
                <a:solidFill>
                  <a:srgbClr val="4D2A2F"/>
                </a:solidFill>
                <a:latin typeface="Arial"/>
                <a:ea typeface="Arial"/>
                <a:cs typeface="Arial"/>
                <a:sym typeface="Arial"/>
              </a:rPr>
              <a:t>Long-term habituation</a:t>
            </a:r>
            <a:r>
              <a:rPr b="0" i="0" lang="en-US" sz="1500">
                <a:solidFill>
                  <a:srgbClr val="000000"/>
                </a:solidFill>
                <a:latin typeface="Arial"/>
                <a:ea typeface="Arial"/>
                <a:cs typeface="Arial"/>
                <a:sym typeface="Arial"/>
              </a:rPr>
              <a:t> is a reduction in responsiveness that is retained beyond the training session. Carew and colleagues trained unrestrained animals with ten siphon-stimulation trials per day for four days. An observer timed withdrawal duration without knowing each animal's training group.</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Trained animals responded less than controls when tested after 24 h and after one week. Reduced responsiveness was still detectable after three weeks, although some recovery had occurred. Gill-withdrawal tests in a restrained preparation also showed retention, so the effect extends to the gill component as well.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Retention lasting weeks indicates that a simple withdrawal system supports enduring nonassociative learning. The retained change could rest on persistent synaptic efficacy, on altered connectivity or on changes elsewhere in the circuit.</a:t>
            </a:r>
            <a:endParaRPr sz="1800">
              <a:solidFill>
                <a:schemeClr val="dk1"/>
              </a:solidFill>
              <a:latin typeface="Calibri"/>
              <a:ea typeface="Calibri"/>
              <a:cs typeface="Calibri"/>
              <a:sym typeface="Calibri"/>
            </a:endParaRPr>
          </a:p>
        </p:txBody>
      </p:sp>
      <p:pic>
        <p:nvPicPr>
          <p:cNvPr id="214" name="Google Shape;214;p14"/>
          <p:cNvPicPr preferRelativeResize="0"/>
          <p:nvPr/>
        </p:nvPicPr>
        <p:blipFill rotWithShape="1">
          <a:blip r:embed="rId3">
            <a:alphaModFix/>
          </a:blip>
          <a:srcRect b="0" l="0" r="0" t="0"/>
          <a:stretch/>
        </p:blipFill>
        <p:spPr>
          <a:xfrm>
            <a:off x="7457661" y="1280071"/>
            <a:ext cx="2848059" cy="3017490"/>
          </a:xfrm>
          <a:prstGeom prst="rect">
            <a:avLst/>
          </a:prstGeom>
          <a:noFill/>
          <a:ln>
            <a:noFill/>
          </a:ln>
        </p:spPr>
      </p:pic>
      <p:sp>
        <p:nvSpPr>
          <p:cNvPr id="215" name="Google Shape;215;p14"/>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Carew et al. (1972), Fig. 1(A–C). Training and retention of withdrawal habituation over three weeks.</a:t>
            </a:r>
            <a:endParaRPr sz="1800">
              <a:solidFill>
                <a:schemeClr val="dk1"/>
              </a:solidFill>
              <a:latin typeface="Calibri"/>
              <a:ea typeface="Calibri"/>
              <a:cs typeface="Calibri"/>
              <a:sym typeface="Calibri"/>
            </a:endParaRPr>
          </a:p>
        </p:txBody>
      </p:sp>
      <p:pic>
        <p:nvPicPr>
          <p:cNvPr id="216" name="Google Shape;216;p14"/>
          <p:cNvPicPr preferRelativeResize="0"/>
          <p:nvPr/>
        </p:nvPicPr>
        <p:blipFill rotWithShape="1">
          <a:blip r:embed="rId4">
            <a:alphaModFix/>
          </a:blip>
          <a:srcRect b="0" l="0" r="0" t="0"/>
          <a:stretch/>
        </p:blipFill>
        <p:spPr>
          <a:xfrm>
            <a:off x="7794873" y="4846294"/>
            <a:ext cx="2173486" cy="914392"/>
          </a:xfrm>
          <a:prstGeom prst="rect">
            <a:avLst/>
          </a:prstGeom>
          <a:noFill/>
          <a:ln>
            <a:noFill/>
          </a:ln>
        </p:spPr>
      </p:pic>
      <p:sp>
        <p:nvSpPr>
          <p:cNvPr id="217" name="Google Shape;217;p1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218" name="Google Shape;218;p1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Carew et al. (1972); Pinsker et al. (1970)</a:t>
            </a:r>
            <a:endParaRPr sz="1800">
              <a:solidFill>
                <a:schemeClr val="dk1"/>
              </a:solidFill>
              <a:latin typeface="Calibri"/>
              <a:ea typeface="Calibri"/>
              <a:cs typeface="Calibri"/>
              <a:sym typeface="Calibri"/>
            </a:endParaRPr>
          </a:p>
        </p:txBody>
      </p:sp>
      <p:sp>
        <p:nvSpPr>
          <p:cNvPr id="220" name="Google Shape;22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Training spacing changes habituation retention</a:t>
            </a:r>
            <a:endParaRPr sz="1800">
              <a:solidFill>
                <a:schemeClr val="dk1"/>
              </a:solidFill>
              <a:latin typeface="Calibri"/>
              <a:ea typeface="Calibri"/>
              <a:cs typeface="Calibri"/>
              <a:sym typeface="Calibri"/>
            </a:endParaRPr>
          </a:p>
        </p:txBody>
      </p:sp>
      <p:sp>
        <p:nvSpPr>
          <p:cNvPr id="226" name="Google Shape;226;p15"/>
          <p:cNvSpPr/>
          <p:nvPr/>
        </p:nvSpPr>
        <p:spPr>
          <a:xfrm>
            <a:off x="6419255" y="1371600"/>
            <a:ext cx="5224760" cy="4778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Carew and colleagues gave forty habituation trials in one day to one group and the same total spread over four days to another. The </a:t>
            </a:r>
            <a:r>
              <a:rPr b="1" i="0" lang="en-US" sz="1500">
                <a:solidFill>
                  <a:srgbClr val="4D2A2F"/>
                </a:solidFill>
                <a:latin typeface="Arial"/>
                <a:ea typeface="Arial"/>
                <a:cs typeface="Arial"/>
                <a:sym typeface="Arial"/>
              </a:rPr>
              <a:t>massed</a:t>
            </a:r>
            <a:r>
              <a:rPr b="0" i="0" lang="en-US" sz="1500">
                <a:solidFill>
                  <a:srgbClr val="000000"/>
                </a:solidFill>
                <a:latin typeface="Arial"/>
                <a:ea typeface="Arial"/>
                <a:cs typeface="Arial"/>
                <a:sym typeface="Arial"/>
              </a:rPr>
              <a:t> schedule concentrated the experience in one session, and the </a:t>
            </a:r>
            <a:r>
              <a:rPr b="1" i="0" lang="en-US" sz="1500">
                <a:solidFill>
                  <a:srgbClr val="4D2A2F"/>
                </a:solidFill>
                <a:latin typeface="Arial"/>
                <a:ea typeface="Arial"/>
                <a:cs typeface="Arial"/>
                <a:sym typeface="Arial"/>
              </a:rPr>
              <a:t>spaced</a:t>
            </a:r>
            <a:r>
              <a:rPr b="0" i="0" lang="en-US" sz="1500">
                <a:solidFill>
                  <a:srgbClr val="000000"/>
                </a:solidFill>
                <a:latin typeface="Arial"/>
                <a:ea typeface="Arial"/>
                <a:cs typeface="Arial"/>
                <a:sym typeface="Arial"/>
              </a:rPr>
              <a:t> schedule separated the sessions by day.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Both schedules produced substantial decrement during training. Spaced training yielded stronger retention after 24 h and after one week than massed training. The response within a single session therefore predicts little about how much of the change persists across days.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measured outcome is withdrawal behavior, not protein synthesis or synapse number. Spacing effects of this kind lead to later experiments that test the molecular events under different temporal patterns.</a:t>
            </a:r>
            <a:endParaRPr sz="1800">
              <a:solidFill>
                <a:schemeClr val="dk1"/>
              </a:solidFill>
              <a:latin typeface="Calibri"/>
              <a:ea typeface="Calibri"/>
              <a:cs typeface="Calibri"/>
              <a:sym typeface="Calibri"/>
            </a:endParaRPr>
          </a:p>
        </p:txBody>
      </p:sp>
      <p:pic>
        <p:nvPicPr>
          <p:cNvPr id="229" name="Google Shape;229;p15"/>
          <p:cNvPicPr preferRelativeResize="0"/>
          <p:nvPr/>
        </p:nvPicPr>
        <p:blipFill rotWithShape="1">
          <a:blip r:embed="rId3">
            <a:alphaModFix/>
          </a:blip>
          <a:srcRect b="0" l="0" r="0" t="0"/>
          <a:stretch/>
        </p:blipFill>
        <p:spPr>
          <a:xfrm>
            <a:off x="2397038" y="1280071"/>
            <a:ext cx="1826096" cy="3017490"/>
          </a:xfrm>
          <a:prstGeom prst="rect">
            <a:avLst/>
          </a:prstGeom>
          <a:noFill/>
          <a:ln>
            <a:noFill/>
          </a:ln>
        </p:spPr>
      </p:pic>
      <p:pic>
        <p:nvPicPr>
          <p:cNvPr id="231" name="Google Shape;231;p15"/>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232" name="Google Shape;232;p1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233" name="Google Shape;233;p1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Carew et al. (1972); Pinsker et al. (1970)</a:t>
            </a:r>
            <a:endParaRPr sz="1800">
              <a:solidFill>
                <a:schemeClr val="dk1"/>
              </a:solidFill>
              <a:latin typeface="Calibri"/>
              <a:ea typeface="Calibri"/>
              <a:cs typeface="Calibri"/>
              <a:sym typeface="Calibri"/>
            </a:endParaRPr>
          </a:p>
        </p:txBody>
      </p:sp>
      <p:sp>
        <p:nvSpPr>
          <p:cNvPr id="235" name="Google Shape;23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Long-term training changes sensory-neuron arbors</a:t>
            </a:r>
            <a:endParaRPr sz="1800">
              <a:solidFill>
                <a:schemeClr val="dk1"/>
              </a:solidFill>
              <a:latin typeface="Calibri"/>
              <a:ea typeface="Calibri"/>
              <a:cs typeface="Calibri"/>
              <a:sym typeface="Calibri"/>
            </a:endParaRPr>
          </a:p>
        </p:txBody>
      </p:sp>
      <p:sp>
        <p:nvSpPr>
          <p:cNvPr id="241" name="Google Shape;241;p16"/>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Bailey and Chen filled identified sensory neurons with horseradish peroxidase, an enzyme that reveals cell processes, and reconstructed the labeled arbors after behavioral training. A </a:t>
            </a:r>
            <a:r>
              <a:rPr b="1" i="0" lang="en-US" sz="1500">
                <a:solidFill>
                  <a:srgbClr val="4D2A2F"/>
                </a:solidFill>
                <a:latin typeface="Arial"/>
                <a:ea typeface="Arial"/>
                <a:cs typeface="Arial"/>
                <a:sym typeface="Arial"/>
              </a:rPr>
              <a:t>varicosity</a:t>
            </a:r>
            <a:r>
              <a:rPr b="0" i="0" lang="en-US" sz="1500">
                <a:solidFill>
                  <a:srgbClr val="000000"/>
                </a:solidFill>
                <a:latin typeface="Arial"/>
                <a:ea typeface="Arial"/>
                <a:cs typeface="Arial"/>
                <a:sym typeface="Arial"/>
              </a:rPr>
              <a:t> is an axonal swelling that can contain presynaptic release machinery. Counting varicosities gave a measure of connectivity in trained and control animals.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Control neurons in the habituation experiment averaged 1,291 varicosities, whereas neurons from long-term habituated animals averaged 836. In the sensitization experiment the averages were 1,320 for controls and 2,697 for sensitized animals. Persistent decrement and persistent enhancement therefore produce changes in opposite directions.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The counts describe labeled structures in the arbor rather than transmitter release at each swelling. A changed varicosity count accompanies the remembered response, and the individual swellings that carry the change are identified separately.</a:t>
            </a:r>
            <a:endParaRPr sz="1800">
              <a:solidFill>
                <a:schemeClr val="dk1"/>
              </a:solidFill>
              <a:latin typeface="Calibri"/>
              <a:ea typeface="Calibri"/>
              <a:cs typeface="Calibri"/>
              <a:sym typeface="Calibri"/>
            </a:endParaRPr>
          </a:p>
        </p:txBody>
      </p:sp>
      <p:pic>
        <p:nvPicPr>
          <p:cNvPr id="244" name="Google Shape;244;p16"/>
          <p:cNvPicPr preferRelativeResize="0"/>
          <p:nvPr/>
        </p:nvPicPr>
        <p:blipFill rotWithShape="1">
          <a:blip r:embed="rId3">
            <a:alphaModFix/>
          </a:blip>
          <a:srcRect b="0" l="0" r="0" t="0"/>
          <a:stretch/>
        </p:blipFill>
        <p:spPr>
          <a:xfrm>
            <a:off x="6504290" y="1280071"/>
            <a:ext cx="5120621" cy="4260503"/>
          </a:xfrm>
          <a:prstGeom prst="rect">
            <a:avLst/>
          </a:prstGeom>
          <a:noFill/>
          <a:ln>
            <a:noFill/>
          </a:ln>
        </p:spPr>
      </p:pic>
      <p:sp>
        <p:nvSpPr>
          <p:cNvPr id="245" name="Google Shape;245;p16"/>
          <p:cNvSpPr/>
          <p:nvPr/>
        </p:nvSpPr>
        <p:spPr>
          <a:xfrm>
            <a:off x="6504236" y="5632103"/>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Bailey &amp; Chen (1988a), Fig. 2. Reconstructed sensory-neuron arbors in sensitized animals and controls.</a:t>
            </a:r>
            <a:endParaRPr sz="1800">
              <a:solidFill>
                <a:schemeClr val="dk1"/>
              </a:solidFill>
              <a:latin typeface="Calibri"/>
              <a:ea typeface="Calibri"/>
              <a:cs typeface="Calibri"/>
              <a:sym typeface="Calibri"/>
            </a:endParaRPr>
          </a:p>
        </p:txBody>
      </p:sp>
      <p:sp>
        <p:nvSpPr>
          <p:cNvPr id="246" name="Google Shape;246;p1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Bailey &amp; Chen (1988a)</a:t>
            </a:r>
            <a:endParaRPr sz="1800">
              <a:solidFill>
                <a:schemeClr val="dk1"/>
              </a:solidFill>
              <a:latin typeface="Calibri"/>
              <a:ea typeface="Calibri"/>
              <a:cs typeface="Calibri"/>
              <a:sym typeface="Calibri"/>
            </a:endParaRPr>
          </a:p>
        </p:txBody>
      </p:sp>
      <p:sp>
        <p:nvSpPr>
          <p:cNvPr id="248" name="Google Shape;248;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Long-term sensitization strengthens identified synapses</a:t>
            </a:r>
            <a:endParaRPr sz="1800">
              <a:solidFill>
                <a:schemeClr val="dk1"/>
              </a:solidFill>
              <a:latin typeface="Calibri"/>
              <a:ea typeface="Calibri"/>
              <a:cs typeface="Calibri"/>
              <a:sym typeface="Calibri"/>
            </a:endParaRPr>
          </a:p>
        </p:txBody>
      </p:sp>
      <p:sp>
        <p:nvSpPr>
          <p:cNvPr id="254" name="Google Shape;254;p17"/>
          <p:cNvSpPr/>
          <p:nvPr/>
        </p:nvSpPr>
        <p:spPr>
          <a:xfrm>
            <a:off x="6419255" y="1371600"/>
            <a:ext cx="5224760" cy="4778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400"/>
              <a:buFont typeface="Arial"/>
              <a:buNone/>
            </a:pPr>
            <a:r>
              <a:rPr b="0" i="0" lang="en-US" sz="1500">
                <a:solidFill>
                  <a:srgbClr val="000000"/>
                </a:solidFill>
                <a:latin typeface="Arial"/>
                <a:ea typeface="Arial"/>
                <a:cs typeface="Arial"/>
                <a:sym typeface="Arial"/>
              </a:rPr>
              <a:t>Frost and colleagues trained intact animals for long-term sensitization, then recorded identified sensory–motor connections in isolated abdominal ganglia. Sensitization increases defensive responsiveness after strong stimulation, without requiring a predictive relation between two stimuli.</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400"/>
              <a:buFont typeface="Arial"/>
              <a:buNone/>
            </a:pPr>
            <a:r>
              <a:rPr b="0" i="0" lang="en-US" sz="1500">
                <a:solidFill>
                  <a:srgbClr val="000000"/>
                </a:solidFill>
                <a:latin typeface="Arial"/>
                <a:ea typeface="Arial"/>
                <a:cs typeface="Arial"/>
                <a:sym typeface="Arial"/>
              </a:rPr>
              <a:t>Monosynaptic EPSPs onto the gill motor neuron L7 were larger in trained animals than in controls. Baseline motor-cell membrane properties were measured as well, which distinguishes increased synaptic input from a general rise in postsynaptic resistance. The recorded connection therefore keeps a trace of the earlier behavioral experience.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400"/>
              <a:buFont typeface="Arial"/>
              <a:buNone/>
            </a:pPr>
            <a:r>
              <a:rPr b="0" i="0" lang="en-US" sz="1500">
                <a:solidFill>
                  <a:srgbClr val="000000"/>
                </a:solidFill>
                <a:latin typeface="Arial"/>
                <a:ea typeface="Arial"/>
                <a:cs typeface="Arial"/>
                <a:sym typeface="Arial"/>
              </a:rPr>
              <a:t>The ganglion preparation removes the ongoing behavioral context, while the enhanced synapse persists in it. Interneurons, other motor cells and peripheral targets could carry further parts of the sensitization.</a:t>
            </a:r>
            <a:endParaRPr sz="1800">
              <a:solidFill>
                <a:schemeClr val="dk1"/>
              </a:solidFill>
              <a:latin typeface="Calibri"/>
              <a:ea typeface="Calibri"/>
              <a:cs typeface="Calibri"/>
              <a:sym typeface="Calibri"/>
            </a:endParaRPr>
          </a:p>
        </p:txBody>
      </p:sp>
      <p:pic>
        <p:nvPicPr>
          <p:cNvPr id="257" name="Google Shape;257;p17"/>
          <p:cNvPicPr preferRelativeResize="0"/>
          <p:nvPr/>
        </p:nvPicPr>
        <p:blipFill rotWithShape="1">
          <a:blip r:embed="rId3">
            <a:alphaModFix/>
          </a:blip>
          <a:srcRect b="0" l="0" r="0" t="0"/>
          <a:stretch/>
        </p:blipFill>
        <p:spPr>
          <a:xfrm>
            <a:off x="2263087" y="1280071"/>
            <a:ext cx="2093998" cy="3017490"/>
          </a:xfrm>
          <a:prstGeom prst="rect">
            <a:avLst/>
          </a:prstGeom>
          <a:noFill/>
          <a:ln>
            <a:noFill/>
          </a:ln>
        </p:spPr>
      </p:pic>
      <p:pic>
        <p:nvPicPr>
          <p:cNvPr id="259" name="Google Shape;259;p17"/>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260" name="Google Shape;260;p17"/>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61" name="Google Shape;261;p1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Frost et al. (1985); Chen et al. (2014)</a:t>
            </a:r>
            <a:endParaRPr sz="1800">
              <a:solidFill>
                <a:schemeClr val="dk1"/>
              </a:solidFill>
              <a:latin typeface="Calibri"/>
              <a:ea typeface="Calibri"/>
              <a:cs typeface="Calibri"/>
              <a:sym typeface="Calibri"/>
            </a:endParaRPr>
          </a:p>
        </p:txBody>
      </p:sp>
      <p:sp>
        <p:nvSpPr>
          <p:cNvPr id="263" name="Google Shape;263;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8"/>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Serotonin facilitates depressed sensory–motor transmission</a:t>
            </a:r>
            <a:endParaRPr sz="1800">
              <a:solidFill>
                <a:schemeClr val="dk1"/>
              </a:solidFill>
              <a:latin typeface="Calibri"/>
              <a:ea typeface="Calibri"/>
              <a:cs typeface="Calibri"/>
              <a:sym typeface="Calibri"/>
            </a:endParaRPr>
          </a:p>
        </p:txBody>
      </p:sp>
      <p:sp>
        <p:nvSpPr>
          <p:cNvPr id="269" name="Google Shape;269;p18"/>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Brunelli and colleagues compared serotonin, dopamine and octopamine at the sensory-neuron connection onto a gill motor neuron. </a:t>
            </a:r>
            <a:r>
              <a:rPr b="1" i="0" lang="en-US" sz="1500">
                <a:solidFill>
                  <a:srgbClr val="4D2A2F"/>
                </a:solidFill>
                <a:latin typeface="Arial"/>
                <a:ea typeface="Arial"/>
                <a:cs typeface="Arial"/>
                <a:sym typeface="Arial"/>
              </a:rPr>
              <a:t>Serotonin</a:t>
            </a:r>
            <a:r>
              <a:rPr b="0" i="0" lang="en-US" sz="1500">
                <a:solidFill>
                  <a:srgbClr val="000000"/>
                </a:solidFill>
                <a:latin typeface="Arial"/>
                <a:ea typeface="Arial"/>
                <a:cs typeface="Arial"/>
                <a:sym typeface="Arial"/>
              </a:rPr>
              <a:t>, also called 5-hydroxytryptamine or 5-HT, is a neuromodulator that changes how an existing pathway responds, rather than conveying the tactile test stimulus itself.</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Sensory neurons were stimulated fifteen times at 10 s intervals to depress their EPSPs. Serotonin applied during a 2.5 min rest increased the synaptic responses that followed. In the published results, 2 μM and 100 μM serotonin both produced facilitation, while rest periods without serotonin produced no such enhancement.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The antagonist cinanserin reversibly reduced the facilitation evoked by connective stimulation, and the depression produced by repeated stimulation was unchanged. This pattern identifies a serotonergic route to facilitation that is separate from the depression itself.</a:t>
            </a:r>
            <a:endParaRPr sz="1800">
              <a:solidFill>
                <a:schemeClr val="dk1"/>
              </a:solidFill>
              <a:latin typeface="Calibri"/>
              <a:ea typeface="Calibri"/>
              <a:cs typeface="Calibri"/>
              <a:sym typeface="Calibri"/>
            </a:endParaRPr>
          </a:p>
        </p:txBody>
      </p:sp>
      <p:pic>
        <p:nvPicPr>
          <p:cNvPr id="272" name="Google Shape;272;p18"/>
          <p:cNvPicPr preferRelativeResize="0"/>
          <p:nvPr/>
        </p:nvPicPr>
        <p:blipFill rotWithShape="1">
          <a:blip r:embed="rId3">
            <a:alphaModFix/>
          </a:blip>
          <a:srcRect b="0" l="0" r="0" t="0"/>
          <a:stretch/>
        </p:blipFill>
        <p:spPr>
          <a:xfrm>
            <a:off x="6138545" y="1280071"/>
            <a:ext cx="5486141" cy="2573536"/>
          </a:xfrm>
          <a:prstGeom prst="rect">
            <a:avLst/>
          </a:prstGeom>
          <a:noFill/>
          <a:ln>
            <a:noFill/>
          </a:ln>
        </p:spPr>
      </p:pic>
      <p:sp>
        <p:nvSpPr>
          <p:cNvPr id="273" name="Google Shape;273;p18"/>
          <p:cNvSpPr/>
          <p:nvPr/>
        </p:nvSpPr>
        <p:spPr>
          <a:xfrm>
            <a:off x="6138416" y="3945136"/>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Brunelli et al. (1976), Fig. 1(A–B). Serotonin facilitates EPSPs; cinanserin reduces connective-induced facilitation.</a:t>
            </a:r>
            <a:endParaRPr sz="1800">
              <a:solidFill>
                <a:schemeClr val="dk1"/>
              </a:solidFill>
              <a:latin typeface="Calibri"/>
              <a:ea typeface="Calibri"/>
              <a:cs typeface="Calibri"/>
              <a:sym typeface="Calibri"/>
            </a:endParaRPr>
          </a:p>
        </p:txBody>
      </p:sp>
      <p:pic>
        <p:nvPicPr>
          <p:cNvPr id="274" name="Google Shape;274;p18"/>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275" name="Google Shape;275;p18"/>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76" name="Google Shape;276;p1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Brunelli et al. (1976); Chen et al. (2014)</a:t>
            </a:r>
            <a:endParaRPr sz="1800">
              <a:solidFill>
                <a:schemeClr val="dk1"/>
              </a:solidFill>
              <a:latin typeface="Calibri"/>
              <a:ea typeface="Calibri"/>
              <a:cs typeface="Calibri"/>
              <a:sym typeface="Calibri"/>
            </a:endParaRPr>
          </a:p>
        </p:txBody>
      </p:sp>
      <p:sp>
        <p:nvSpPr>
          <p:cNvPr id="278" name="Google Shape;278;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Intracellular cyclic AMP can enhance transmitter release</a:t>
            </a:r>
            <a:endParaRPr sz="1800">
              <a:solidFill>
                <a:schemeClr val="dk1"/>
              </a:solidFill>
              <a:latin typeface="Calibri"/>
              <a:ea typeface="Calibri"/>
              <a:cs typeface="Calibri"/>
              <a:sym typeface="Calibri"/>
            </a:endParaRPr>
          </a:p>
        </p:txBody>
      </p:sp>
      <p:sp>
        <p:nvSpPr>
          <p:cNvPr id="284" name="Google Shape;284;p19"/>
          <p:cNvSpPr/>
          <p:nvPr/>
        </p:nvSpPr>
        <p:spPr>
          <a:xfrm>
            <a:off x="6419255" y="1371600"/>
            <a:ext cx="5224760" cy="4778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D2A2F"/>
              </a:buClr>
              <a:buSzPts val="1400"/>
              <a:buFont typeface="Arial"/>
              <a:buNone/>
            </a:pPr>
            <a:r>
              <a:rPr b="1" i="0" lang="en-US" sz="1500">
                <a:solidFill>
                  <a:srgbClr val="4D2A2F"/>
                </a:solidFill>
                <a:latin typeface="Arial"/>
                <a:ea typeface="Arial"/>
                <a:cs typeface="Arial"/>
                <a:sym typeface="Arial"/>
              </a:rPr>
              <a:t>Cyclic AMP</a:t>
            </a:r>
            <a:r>
              <a:rPr b="0" i="0" lang="en-US" sz="1500">
                <a:solidFill>
                  <a:srgbClr val="000000"/>
                </a:solidFill>
                <a:latin typeface="Arial"/>
                <a:ea typeface="Arial"/>
                <a:cs typeface="Arial"/>
                <a:sym typeface="Arial"/>
              </a:rPr>
              <a:t>, or cAMP, is an intracellular second messenger that links receptor activation to downstream responses. Brunelli and colleagues applied a membrane-permeant cAMP analog and injected cAMP directly into sensory-neuron cell bodies. Both treatments enhanced the EPSPs recorded in the postsynaptic motor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D2A2F"/>
              </a:buClr>
              <a:buSzPts val="1400"/>
              <a:buFont typeface="Arial"/>
              <a:buNone/>
            </a:pPr>
            <a:r>
              <a:rPr b="0" i="0" lang="en-US" sz="1500">
                <a:solidFill>
                  <a:srgbClr val="000000"/>
                </a:solidFill>
                <a:latin typeface="Arial"/>
                <a:ea typeface="Arial"/>
                <a:cs typeface="Arial"/>
                <a:sym typeface="Arial"/>
              </a:rPr>
              <a:t>Rest alone, comparable current injection, cyclic GMP and 5′-AMP each failed to reproduce the cAMP enhancement. Injected cAMP increased transmission without changing the amplitude or duration of the action potential recorded at the sensory cell body. Synaptic efficacy therefore changed while the spike at the cell body stayed the same.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D2A2F"/>
              </a:buClr>
              <a:buSzPts val="1400"/>
              <a:buFont typeface="Arial"/>
              <a:buNone/>
            </a:pPr>
            <a:r>
              <a:rPr b="0" i="0" lang="en-US" sz="1500">
                <a:solidFill>
                  <a:srgbClr val="000000"/>
                </a:solidFill>
                <a:latin typeface="Arial"/>
                <a:ea typeface="Arial"/>
                <a:cs typeface="Arial"/>
                <a:sym typeface="Arial"/>
              </a:rPr>
              <a:t>Spike propagation and calcium entry at distant terminals could still change with cAMP. Those possibilities are tested by recordings at the terminals themselves, which identify the compartment where cAMP acts.</a:t>
            </a:r>
            <a:endParaRPr sz="1800">
              <a:solidFill>
                <a:schemeClr val="dk1"/>
              </a:solidFill>
              <a:latin typeface="Calibri"/>
              <a:ea typeface="Calibri"/>
              <a:cs typeface="Calibri"/>
              <a:sym typeface="Calibri"/>
            </a:endParaRPr>
          </a:p>
        </p:txBody>
      </p:sp>
      <p:pic>
        <p:nvPicPr>
          <p:cNvPr id="287" name="Google Shape;287;p19"/>
          <p:cNvPicPr preferRelativeResize="0"/>
          <p:nvPr/>
        </p:nvPicPr>
        <p:blipFill rotWithShape="1">
          <a:blip r:embed="rId3">
            <a:alphaModFix/>
          </a:blip>
          <a:srcRect b="0" l="0" r="0" t="0"/>
          <a:stretch/>
        </p:blipFill>
        <p:spPr>
          <a:xfrm>
            <a:off x="2308328" y="1280071"/>
            <a:ext cx="2003516" cy="3017490"/>
          </a:xfrm>
          <a:prstGeom prst="rect">
            <a:avLst/>
          </a:prstGeom>
          <a:noFill/>
          <a:ln>
            <a:noFill/>
          </a:ln>
        </p:spPr>
      </p:pic>
      <p:pic>
        <p:nvPicPr>
          <p:cNvPr id="289" name="Google Shape;289;p19"/>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290" name="Google Shape;290;p19"/>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91" name="Google Shape;291;p1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Brunelli et al. (1976); Chen et al. (2014)</a:t>
            </a:r>
            <a:endParaRPr sz="1800">
              <a:solidFill>
                <a:schemeClr val="dk1"/>
              </a:solidFill>
              <a:latin typeface="Calibri"/>
              <a:ea typeface="Calibri"/>
              <a:cs typeface="Calibri"/>
              <a:sym typeface="Calibri"/>
            </a:endParaRPr>
          </a:p>
        </p:txBody>
      </p:sp>
      <p:sp>
        <p:nvSpPr>
          <p:cNvPr id="293" name="Google Shape;293;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PKA anchoring is required for serotonin facilitation</a:t>
            </a:r>
            <a:endParaRPr sz="1800">
              <a:solidFill>
                <a:schemeClr val="dk1"/>
              </a:solidFill>
              <a:latin typeface="Calibri"/>
              <a:ea typeface="Calibri"/>
              <a:cs typeface="Calibri"/>
              <a:sym typeface="Calibri"/>
            </a:endParaRPr>
          </a:p>
        </p:txBody>
      </p:sp>
      <p:sp>
        <p:nvSpPr>
          <p:cNvPr id="299" name="Google Shape;299;p20"/>
          <p:cNvSpPr/>
          <p:nvPr/>
        </p:nvSpPr>
        <p:spPr>
          <a:xfrm>
            <a:off x="566886" y="1234380"/>
            <a:ext cx="5224760" cy="1324966"/>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500"/>
              <a:buFont typeface="Arial"/>
              <a:buNone/>
            </a:pPr>
            <a:r>
              <a:rPr b="1" i="0" lang="en-US" sz="1400">
                <a:solidFill>
                  <a:srgbClr val="4D2A2F"/>
                </a:solidFill>
                <a:latin typeface="Arial"/>
                <a:ea typeface="Arial"/>
                <a:cs typeface="Arial"/>
                <a:sym typeface="Arial"/>
              </a:rPr>
              <a:t>Protein kinase A</a:t>
            </a:r>
            <a:r>
              <a:rPr b="0" i="0" lang="en-US" sz="1400">
                <a:solidFill>
                  <a:srgbClr val="000000"/>
                </a:solidFill>
                <a:latin typeface="Arial"/>
                <a:ea typeface="Arial"/>
                <a:cs typeface="Arial"/>
                <a:sym typeface="Arial"/>
              </a:rPr>
              <a:t>, or PKA, transfers phosphate groups onto target proteins when cAMP activates it. Its regulatory subunits hold the catalytic subunits in check, and cAMP binding releases that inhibition. Liu and colleagues distinguished type 1 and type 2 PKA by their regulatory subunits and their cellular distributions.</a:t>
            </a:r>
            <a:endParaRPr sz="1800">
              <a:solidFill>
                <a:schemeClr val="dk1"/>
              </a:solidFill>
              <a:latin typeface="Calibri"/>
              <a:ea typeface="Calibri"/>
              <a:cs typeface="Calibri"/>
              <a:sym typeface="Calibri"/>
            </a:endParaRPr>
          </a:p>
        </p:txBody>
      </p:sp>
      <p:pic>
        <p:nvPicPr>
          <p:cNvPr id="302" name="Google Shape;302;p20"/>
          <p:cNvPicPr preferRelativeResize="0"/>
          <p:nvPr/>
        </p:nvPicPr>
        <p:blipFill rotWithShape="1">
          <a:blip r:embed="rId3">
            <a:alphaModFix/>
          </a:blip>
          <a:srcRect b="0" l="0" r="0" t="0"/>
          <a:stretch/>
        </p:blipFill>
        <p:spPr>
          <a:xfrm>
            <a:off x="7850684" y="1280091"/>
            <a:ext cx="2062014" cy="3017449"/>
          </a:xfrm>
          <a:prstGeom prst="rect">
            <a:avLst/>
          </a:prstGeom>
          <a:noFill/>
          <a:ln>
            <a:noFill/>
          </a:ln>
        </p:spPr>
      </p:pic>
      <p:sp>
        <p:nvSpPr>
          <p:cNvPr id="303" name="Google Shape;303;p20"/>
          <p:cNvSpPr/>
          <p:nvPr/>
        </p:nvSpPr>
        <p:spPr>
          <a:xfrm>
            <a:off x="6138416" y="2711746"/>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1" i="0" lang="en-US" sz="1400">
                <a:solidFill>
                  <a:srgbClr val="4D2A2F"/>
                </a:solidFill>
                <a:latin typeface="Arial"/>
                <a:ea typeface="Arial"/>
                <a:cs typeface="Arial"/>
                <a:sym typeface="Arial"/>
              </a:rPr>
              <a:t>A-kinase anchoring proteins</a:t>
            </a:r>
            <a:r>
              <a:rPr b="0" i="0" lang="en-US" sz="1400">
                <a:solidFill>
                  <a:srgbClr val="000000"/>
                </a:solidFill>
                <a:latin typeface="Arial"/>
                <a:ea typeface="Arial"/>
                <a:cs typeface="Arial"/>
                <a:sym typeface="Arial"/>
              </a:rPr>
              <a:t>, or AKAPs, hold type 2 PKA in place by binding its RII regulatory subunit. The Ht31 peptide blocks this binding. Ht31 reduced serotonin-induced short-term and long-term facilitation, whereas an inactive control peptide did not.</a:t>
            </a:r>
            <a:endParaRPr sz="1800">
              <a:solidFill>
                <a:schemeClr val="dk1"/>
              </a:solidFill>
              <a:latin typeface="Calibri"/>
              <a:ea typeface="Calibri"/>
              <a:cs typeface="Calibri"/>
              <a:sym typeface="Calibri"/>
            </a:endParaRPr>
          </a:p>
        </p:txBody>
      </p:sp>
      <p:sp>
        <p:nvSpPr>
          <p:cNvPr id="303" name="Google Shape;303;p20"/>
          <p:cNvSpPr/>
          <p:nvPr/>
        </p:nvSpPr>
        <p:spPr>
          <a:xfrm>
            <a:off x="6138416" y="3747456"/>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Kinase activity must be available near the right targets, so the location of PKA is part of the mechanism. The Ht31 result shows that localized PKA signaling is needed for facilitation in this sensorimotor preparation.</a:t>
            </a:r>
            <a:endParaRPr sz="1800">
              <a:solidFill>
                <a:schemeClr val="dk1"/>
              </a:solidFill>
              <a:latin typeface="Calibri"/>
              <a:ea typeface="Calibri"/>
              <a:cs typeface="Calibri"/>
              <a:sym typeface="Calibri"/>
            </a:endParaRPr>
          </a:p>
        </p:txBody>
      </p:sp>
      <p:pic>
        <p:nvPicPr>
          <p:cNvPr id="304" name="Google Shape;304;p20"/>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305" name="Google Shape;305;p20"/>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06" name="Google Shape;306;p2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Liu et al. (2004); Chen et al. (2014)</a:t>
            </a:r>
            <a:endParaRPr sz="1800">
              <a:solidFill>
                <a:schemeClr val="dk1"/>
              </a:solidFill>
              <a:latin typeface="Calibri"/>
              <a:ea typeface="Calibri"/>
              <a:cs typeface="Calibri"/>
              <a:sym typeface="Calibri"/>
            </a:endParaRPr>
          </a:p>
        </p:txBody>
      </p:sp>
      <p:sp>
        <p:nvSpPr>
          <p:cNvPr id="308" name="Google Shape;308;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PKA subunits occupy different neuronal compartments</a:t>
            </a:r>
            <a:endParaRPr sz="1800">
              <a:solidFill>
                <a:schemeClr val="dk1"/>
              </a:solidFill>
              <a:latin typeface="Calibri"/>
              <a:ea typeface="Calibri"/>
              <a:cs typeface="Calibri"/>
              <a:sym typeface="Calibri"/>
            </a:endParaRPr>
          </a:p>
        </p:txBody>
      </p:sp>
      <p:sp>
        <p:nvSpPr>
          <p:cNvPr id="314" name="Google Shape;314;p21"/>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Liu and colleagues compared PKA regulatory subunits in cell bodies, neurites and synaptosomes, which are terminal-enriched particles isolated from nervous tissue. Type 1 PKA was mostly soluble, whereas type 2 PKA was enriched in neuronal processes and associated with anchoring proteins near nerve endings.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Repeated serotonin treatment increased RII protein in synaptosome preparations at 24 h. Immunostaining also detected more RII in sensory neurons. Prolonged facilitation is therefore tied to a change in the amount and location of a signaling protein, not only to a short rise in cAMP.</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Each synaptosome preparation contains many terminals, so the measured increase is an average across them. The nuclear type 1 and synaptic type 2 PKA pools were assigned complementary roles from the biochemical and physiological data together.</a:t>
            </a:r>
            <a:endParaRPr sz="1800">
              <a:solidFill>
                <a:schemeClr val="dk1"/>
              </a:solidFill>
              <a:latin typeface="Calibri"/>
              <a:ea typeface="Calibri"/>
              <a:cs typeface="Calibri"/>
              <a:sym typeface="Calibri"/>
            </a:endParaRPr>
          </a:p>
        </p:txBody>
      </p:sp>
      <p:pic>
        <p:nvPicPr>
          <p:cNvPr id="317" name="Google Shape;317;p21"/>
          <p:cNvPicPr preferRelativeResize="0"/>
          <p:nvPr/>
        </p:nvPicPr>
        <p:blipFill rotWithShape="1">
          <a:blip r:embed="rId3">
            <a:alphaModFix/>
          </a:blip>
          <a:srcRect b="0" l="0" r="0" t="0"/>
          <a:stretch/>
        </p:blipFill>
        <p:spPr>
          <a:xfrm>
            <a:off x="1404098" y="1280071"/>
            <a:ext cx="3446157" cy="4297561"/>
          </a:xfrm>
          <a:prstGeom prst="rect">
            <a:avLst/>
          </a:prstGeom>
          <a:noFill/>
          <a:ln>
            <a:noFill/>
          </a:ln>
        </p:spPr>
      </p:pic>
      <p:sp>
        <p:nvSpPr>
          <p:cNvPr id="318" name="Google Shape;318;p21"/>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Liu et al. (2004), Fig. 5(A–D). RII protein levels in terminal fractions and sensory neurons.</a:t>
            </a:r>
            <a:endParaRPr sz="1800">
              <a:solidFill>
                <a:schemeClr val="dk1"/>
              </a:solidFill>
              <a:latin typeface="Calibri"/>
              <a:ea typeface="Calibri"/>
              <a:cs typeface="Calibri"/>
              <a:sym typeface="Calibri"/>
            </a:endParaRPr>
          </a:p>
        </p:txBody>
      </p:sp>
      <p:sp>
        <p:nvSpPr>
          <p:cNvPr id="319" name="Google Shape;319;p2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Liu et al. (2004)</a:t>
            </a:r>
            <a:endParaRPr sz="1800">
              <a:solidFill>
                <a:schemeClr val="dk1"/>
              </a:solidFill>
              <a:latin typeface="Calibri"/>
              <a:ea typeface="Calibri"/>
              <a:cs typeface="Calibri"/>
              <a:sym typeface="Calibri"/>
            </a:endParaRPr>
          </a:p>
        </p:txBody>
      </p:sp>
      <p:sp>
        <p:nvSpPr>
          <p:cNvPr id="321" name="Google Shape;321;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New RII expression contributes to lasting facilitation</a:t>
            </a:r>
            <a:endParaRPr sz="1800">
              <a:solidFill>
                <a:schemeClr val="dk1"/>
              </a:solidFill>
              <a:latin typeface="Calibri"/>
              <a:ea typeface="Calibri"/>
              <a:cs typeface="Calibri"/>
              <a:sym typeface="Calibri"/>
            </a:endParaRPr>
          </a:p>
        </p:txBody>
      </p:sp>
      <p:sp>
        <p:nvSpPr>
          <p:cNvPr id="327" name="Google Shape;327;p22"/>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Liu and colleagues asked whether increased RII expression is required for long-term facilitation or only accompanies it. </a:t>
            </a:r>
            <a:r>
              <a:rPr b="1" i="0" lang="en-US" sz="1500">
                <a:solidFill>
                  <a:srgbClr val="4D2A2F"/>
                </a:solidFill>
                <a:latin typeface="Arial"/>
                <a:ea typeface="Arial"/>
                <a:cs typeface="Arial"/>
                <a:sym typeface="Arial"/>
              </a:rPr>
              <a:t>Antisense oligonucleotides</a:t>
            </a:r>
            <a:r>
              <a:rPr b="0" i="0" lang="en-US" sz="1500">
                <a:solidFill>
                  <a:srgbClr val="000000"/>
                </a:solidFill>
                <a:latin typeface="Arial"/>
                <a:ea typeface="Arial"/>
                <a:cs typeface="Arial"/>
                <a:sym typeface="Arial"/>
              </a:rPr>
              <a:t> are short nucleic-acid sequences designed to bind a target RNA and reduce its expression. They were injected into sensory neurons before repeated serotonin treatment.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RII antisense reduced the serotonin-induced rise in RII protein and impaired facilitation measured 24 h later. Control injections and manipulations of the other regulatory-subunit class showed that the effect depends on the RII target rather than on injection itself. Electrophysiology and protein measurements were taken from the same cells.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Transcription, translation, anchoring and other signaling pathways act alongside RII in this protocol. Knocking down RII therefore shows that RII is required for this form of facilitation, and the rest of the mechanism is built around that requirement.</a:t>
            </a:r>
            <a:endParaRPr sz="1800">
              <a:solidFill>
                <a:schemeClr val="dk1"/>
              </a:solidFill>
              <a:latin typeface="Calibri"/>
              <a:ea typeface="Calibri"/>
              <a:cs typeface="Calibri"/>
              <a:sym typeface="Calibri"/>
            </a:endParaRPr>
          </a:p>
        </p:txBody>
      </p:sp>
      <p:pic>
        <p:nvPicPr>
          <p:cNvPr id="330" name="Google Shape;330;p22"/>
          <p:cNvPicPr preferRelativeResize="0"/>
          <p:nvPr/>
        </p:nvPicPr>
        <p:blipFill rotWithShape="1">
          <a:blip r:embed="rId3">
            <a:alphaModFix/>
          </a:blip>
          <a:srcRect b="0" l="0" r="0" t="0"/>
          <a:stretch/>
        </p:blipFill>
        <p:spPr>
          <a:xfrm>
            <a:off x="7319864" y="1280071"/>
            <a:ext cx="3489473" cy="4297561"/>
          </a:xfrm>
          <a:prstGeom prst="rect">
            <a:avLst/>
          </a:prstGeom>
          <a:noFill/>
          <a:ln>
            <a:noFill/>
          </a:ln>
        </p:spPr>
      </p:pic>
      <p:sp>
        <p:nvSpPr>
          <p:cNvPr id="331" name="Google Shape;331;p22"/>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Liu et al. (2004), Fig. 7(A–D). RII antisense impairs expression and long-term facilitation.</a:t>
            </a:r>
            <a:endParaRPr sz="1800">
              <a:solidFill>
                <a:schemeClr val="dk1"/>
              </a:solidFill>
              <a:latin typeface="Calibri"/>
              <a:ea typeface="Calibri"/>
              <a:cs typeface="Calibri"/>
              <a:sym typeface="Calibri"/>
            </a:endParaRPr>
          </a:p>
        </p:txBody>
      </p:sp>
      <p:sp>
        <p:nvSpPr>
          <p:cNvPr id="332" name="Google Shape;332;p2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Liu et al. (2004)</a:t>
            </a:r>
            <a:endParaRPr sz="1800">
              <a:solidFill>
                <a:schemeClr val="dk1"/>
              </a:solidFill>
              <a:latin typeface="Calibri"/>
              <a:ea typeface="Calibri"/>
              <a:cs typeface="Calibri"/>
              <a:sym typeface="Calibri"/>
            </a:endParaRPr>
          </a:p>
        </p:txBody>
      </p:sp>
      <p:sp>
        <p:nvSpPr>
          <p:cNvPr id="334" name="Google Shape;334;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Glutamate can reproduce the fast excitatory input</a:t>
            </a:r>
            <a:endParaRPr sz="1800">
              <a:solidFill>
                <a:schemeClr val="dk1"/>
              </a:solidFill>
              <a:latin typeface="Calibri"/>
              <a:ea typeface="Calibri"/>
              <a:cs typeface="Calibri"/>
              <a:sym typeface="Calibri"/>
            </a:endParaRPr>
          </a:p>
        </p:txBody>
      </p:sp>
      <p:sp>
        <p:nvSpPr>
          <p:cNvPr id="340" name="Google Shape;340;p23"/>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Dale and Kandel compared sensory-neuron-evoked currents with motor-neuron responses to applied L-glutamate, an amino-acid neurotransmitter. Voltage-clamp recordings held the motor cell at set membrane potentials and measured synaptic current, which isolates voltage dependence from changes in the firing threshold.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Evoked transmission and glutamate responses shared voltage-dependent and pharmacological properties. Magnesium suppressed a component at negative voltages, which fits a channel block relieved by depolarization. The authors judged glutamate a likely fast excitatory transmitter, and they noted that applied agonist responses differ from naturally released transmitter.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1" i="0" lang="en-US" sz="1400">
                <a:solidFill>
                  <a:srgbClr val="4D2A2F"/>
                </a:solidFill>
                <a:latin typeface="Arial"/>
                <a:ea typeface="Arial"/>
                <a:cs typeface="Arial"/>
                <a:sym typeface="Arial"/>
              </a:rPr>
              <a:t>Ionotropic receptors</a:t>
            </a:r>
            <a:r>
              <a:rPr b="0" i="0" lang="en-US" sz="1400">
                <a:solidFill>
                  <a:srgbClr val="000000"/>
                </a:solidFill>
                <a:latin typeface="Arial"/>
                <a:ea typeface="Arial"/>
                <a:cs typeface="Arial"/>
                <a:sym typeface="Arial"/>
              </a:rPr>
              <a:t> open an ion channel directly when a transmitter binds. The resulting current depolarizes the motor cell and can recruit spikes that drive withdrawal muscles. Matching pharmacology supports glutamate as the transmitter, and the vesicle contents themselves are measured by other methods.</a:t>
            </a:r>
            <a:endParaRPr sz="1800">
              <a:solidFill>
                <a:schemeClr val="dk1"/>
              </a:solidFill>
              <a:latin typeface="Calibri"/>
              <a:ea typeface="Calibri"/>
              <a:cs typeface="Calibri"/>
              <a:sym typeface="Calibri"/>
            </a:endParaRPr>
          </a:p>
        </p:txBody>
      </p:sp>
      <p:pic>
        <p:nvPicPr>
          <p:cNvPr id="343" name="Google Shape;343;p23"/>
          <p:cNvPicPr preferRelativeResize="0"/>
          <p:nvPr/>
        </p:nvPicPr>
        <p:blipFill rotWithShape="1">
          <a:blip r:embed="rId3">
            <a:alphaModFix/>
          </a:blip>
          <a:srcRect b="0" l="0" r="0" t="0"/>
          <a:stretch/>
        </p:blipFill>
        <p:spPr>
          <a:xfrm>
            <a:off x="1861393" y="1280087"/>
            <a:ext cx="2897386" cy="3017458"/>
          </a:xfrm>
          <a:prstGeom prst="rect">
            <a:avLst/>
          </a:prstGeom>
          <a:noFill/>
          <a:ln>
            <a:noFill/>
          </a:ln>
        </p:spPr>
      </p:pic>
      <p:sp>
        <p:nvSpPr>
          <p:cNvPr id="344" name="Google Shape;344;p23"/>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Dale &amp; Kandel (1993), Fig. 2(A–C). Voltage-dependent currents evoked by sensory spikes and applied glutamate.</a:t>
            </a:r>
            <a:endParaRPr sz="1800">
              <a:solidFill>
                <a:schemeClr val="dk1"/>
              </a:solidFill>
              <a:latin typeface="Calibri"/>
              <a:ea typeface="Calibri"/>
              <a:cs typeface="Calibri"/>
              <a:sym typeface="Calibri"/>
            </a:endParaRPr>
          </a:p>
        </p:txBody>
      </p:sp>
      <p:pic>
        <p:nvPicPr>
          <p:cNvPr id="345" name="Google Shape;345;p23"/>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346" name="Google Shape;346;p23"/>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47" name="Google Shape;347;p2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Dale &amp; Kandel (1993); Chen et al. (2014)</a:t>
            </a:r>
            <a:endParaRPr sz="1800">
              <a:solidFill>
                <a:schemeClr val="dk1"/>
              </a:solidFill>
              <a:latin typeface="Calibri"/>
              <a:ea typeface="Calibri"/>
              <a:cs typeface="Calibri"/>
              <a:sym typeface="Calibri"/>
            </a:endParaRPr>
          </a:p>
        </p:txBody>
      </p:sp>
      <p:sp>
        <p:nvSpPr>
          <p:cNvPr id="349" name="Google Shape;349;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Postsynaptic calcium contributes to facilitation</a:t>
            </a:r>
            <a:endParaRPr sz="1800">
              <a:solidFill>
                <a:schemeClr val="dk1"/>
              </a:solidFill>
              <a:latin typeface="Calibri"/>
              <a:ea typeface="Calibri"/>
              <a:cs typeface="Calibri"/>
              <a:sym typeface="Calibri"/>
            </a:endParaRPr>
          </a:p>
        </p:txBody>
      </p:sp>
      <p:sp>
        <p:nvSpPr>
          <p:cNvPr id="355" name="Google Shape;355;p24"/>
          <p:cNvSpPr/>
          <p:nvPr/>
        </p:nvSpPr>
        <p:spPr>
          <a:xfrm>
            <a:off x="566886" y="1234380"/>
            <a:ext cx="5224760" cy="1324966"/>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Li and colleagues tested cultured sensory–motor synapses while introducing </a:t>
            </a:r>
            <a:r>
              <a:rPr b="1" i="0" lang="en-US" sz="1400">
                <a:solidFill>
                  <a:srgbClr val="4D2A2F"/>
                </a:solidFill>
                <a:latin typeface="Arial"/>
                <a:ea typeface="Arial"/>
                <a:cs typeface="Arial"/>
                <a:sym typeface="Arial"/>
              </a:rPr>
              <a:t>BAPTA</a:t>
            </a:r>
            <a:r>
              <a:rPr b="0" i="0" lang="en-US" sz="1400">
                <a:solidFill>
                  <a:srgbClr val="000000"/>
                </a:solidFill>
                <a:latin typeface="Arial"/>
                <a:ea typeface="Arial"/>
                <a:cs typeface="Arial"/>
                <a:sym typeface="Arial"/>
              </a:rPr>
              <a:t>, a fast calcium buffer, into the motor neuron. Intracellular calcium regulates signaling inside a cell without being the extracellular transmitter. Introducing the buffer into the postsynaptic cell tests whether facilitation needs a change beyond the sensory terminal.</a:t>
            </a:r>
            <a:endParaRPr sz="1800">
              <a:solidFill>
                <a:schemeClr val="dk1"/>
              </a:solidFill>
              <a:latin typeface="Calibri"/>
              <a:ea typeface="Calibri"/>
              <a:cs typeface="Calibri"/>
              <a:sym typeface="Calibri"/>
            </a:endParaRPr>
          </a:p>
        </p:txBody>
      </p:sp>
      <p:pic>
        <p:nvPicPr>
          <p:cNvPr id="358" name="Google Shape;358;p24"/>
          <p:cNvPicPr preferRelativeResize="0"/>
          <p:nvPr/>
        </p:nvPicPr>
        <p:blipFill rotWithShape="1">
          <a:blip r:embed="rId3">
            <a:alphaModFix/>
          </a:blip>
          <a:srcRect b="0" l="0" r="0" t="0"/>
          <a:stretch/>
        </p:blipFill>
        <p:spPr>
          <a:xfrm>
            <a:off x="7907540" y="1280071"/>
            <a:ext cx="1948301" cy="3017490"/>
          </a:xfrm>
          <a:prstGeom prst="rect">
            <a:avLst/>
          </a:prstGeom>
          <a:noFill/>
          <a:ln>
            <a:noFill/>
          </a:ln>
        </p:spPr>
      </p:pic>
      <p:sp>
        <p:nvSpPr>
          <p:cNvPr id="359" name="Google Shape;359;p24"/>
          <p:cNvSpPr/>
          <p:nvPr/>
        </p:nvSpPr>
        <p:spPr>
          <a:xfrm>
            <a:off x="6138416" y="2711746"/>
            <a:ext cx="5505450" cy="132496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A ten-minute application of 10 μM serotonin enhanced control EPSPs. Buffering postsynaptic calcium reduced the facilitation, most clearly after serotonin was removed. Motor-cell injections without the buffer and test-only conditions showed that the effect arises from the calcium buffer rather than from recording or repeated testing.</a:t>
            </a:r>
            <a:endParaRPr sz="1800">
              <a:solidFill>
                <a:schemeClr val="dk1"/>
              </a:solidFill>
              <a:latin typeface="Calibri"/>
              <a:ea typeface="Calibri"/>
              <a:cs typeface="Calibri"/>
              <a:sym typeface="Calibri"/>
            </a:endParaRPr>
          </a:p>
        </p:txBody>
      </p:sp>
      <p:sp>
        <p:nvSpPr>
          <p:cNvPr id="359" name="Google Shape;359;p24"/>
          <p:cNvSpPr/>
          <p:nvPr/>
        </p:nvSpPr>
        <p:spPr>
          <a:xfrm>
            <a:off x="6138416" y="4189112"/>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Facilitation therefore needs a postsynaptic calcium signal in this preparation. The quantal and cAMP results from the sensory side remain valid, and a single connection can change on both sides at once.</a:t>
            </a:r>
            <a:endParaRPr sz="1800">
              <a:solidFill>
                <a:schemeClr val="dk1"/>
              </a:solidFill>
              <a:latin typeface="Calibri"/>
              <a:ea typeface="Calibri"/>
              <a:cs typeface="Calibri"/>
              <a:sym typeface="Calibri"/>
            </a:endParaRPr>
          </a:p>
        </p:txBody>
      </p:sp>
      <p:pic>
        <p:nvPicPr>
          <p:cNvPr id="360" name="Google Shape;360;p24"/>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361" name="Google Shape;361;p2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62" name="Google Shape;362;p2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Chen et al. (2014)</a:t>
            </a:r>
            <a:endParaRPr sz="1800">
              <a:solidFill>
                <a:schemeClr val="dk1"/>
              </a:solidFill>
              <a:latin typeface="Calibri"/>
              <a:ea typeface="Calibri"/>
              <a:cs typeface="Calibri"/>
              <a:sym typeface="Calibri"/>
            </a:endParaRPr>
          </a:p>
        </p:txBody>
      </p:sp>
      <p:sp>
        <p:nvSpPr>
          <p:cNvPr id="364" name="Google Shape;364;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Internal calcium stores support synaptic enhancement</a:t>
            </a:r>
            <a:endParaRPr sz="1800">
              <a:solidFill>
                <a:schemeClr val="dk1"/>
              </a:solidFill>
              <a:latin typeface="Calibri"/>
              <a:ea typeface="Calibri"/>
              <a:cs typeface="Calibri"/>
              <a:sym typeface="Calibri"/>
            </a:endParaRPr>
          </a:p>
        </p:txBody>
      </p:sp>
      <p:sp>
        <p:nvSpPr>
          <p:cNvPr id="370" name="Google Shape;370;p25"/>
          <p:cNvSpPr/>
          <p:nvPr/>
        </p:nvSpPr>
        <p:spPr>
          <a:xfrm>
            <a:off x="6419255" y="1371600"/>
            <a:ext cx="5224760" cy="4778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400"/>
              <a:buFont typeface="Arial"/>
              <a:buNone/>
            </a:pPr>
            <a:r>
              <a:rPr b="0" i="0" lang="en-US" sz="1500">
                <a:solidFill>
                  <a:srgbClr val="000000"/>
                </a:solidFill>
                <a:latin typeface="Arial"/>
                <a:ea typeface="Arial"/>
                <a:cs typeface="Arial"/>
                <a:sym typeface="Arial"/>
              </a:rPr>
              <a:t>The </a:t>
            </a:r>
            <a:r>
              <a:rPr b="1" i="0" lang="en-US" sz="1500">
                <a:solidFill>
                  <a:srgbClr val="4D2A2F"/>
                </a:solidFill>
                <a:latin typeface="Arial"/>
                <a:ea typeface="Arial"/>
                <a:cs typeface="Arial"/>
                <a:sym typeface="Arial"/>
              </a:rPr>
              <a:t>endoplasmic reticulum</a:t>
            </a:r>
            <a:r>
              <a:rPr b="0" i="0" lang="en-US" sz="1500">
                <a:solidFill>
                  <a:srgbClr val="000000"/>
                </a:solidFill>
                <a:latin typeface="Arial"/>
                <a:ea typeface="Arial"/>
                <a:cs typeface="Arial"/>
                <a:sym typeface="Arial"/>
              </a:rPr>
              <a:t> stores calcium that can be released into the cytoplasm through regulated channels. Li and colleagues injected heparin into motor neurons to block </a:t>
            </a:r>
            <a:r>
              <a:rPr b="1" i="0" lang="en-US" sz="1500">
                <a:solidFill>
                  <a:srgbClr val="4D2A2F"/>
                </a:solidFill>
                <a:latin typeface="Arial"/>
                <a:ea typeface="Arial"/>
                <a:cs typeface="Arial"/>
                <a:sym typeface="Arial"/>
              </a:rPr>
              <a:t>inositol trisphosphate receptors</a:t>
            </a:r>
            <a:r>
              <a:rPr b="0" i="0" lang="en-US" sz="1500">
                <a:solidFill>
                  <a:srgbClr val="000000"/>
                </a:solidFill>
                <a:latin typeface="Arial"/>
                <a:ea typeface="Arial"/>
                <a:cs typeface="Arial"/>
                <a:sym typeface="Arial"/>
              </a:rPr>
              <a:t>, or IP3 receptors, one class of intracellular calcium-release channel. They then measured serotonin-dependent EPSP enhancement.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400"/>
              <a:buFont typeface="Arial"/>
              <a:buNone/>
            </a:pPr>
            <a:r>
              <a:rPr b="0" i="0" lang="en-US" sz="1500">
                <a:solidFill>
                  <a:srgbClr val="000000"/>
                </a:solidFill>
                <a:latin typeface="Arial"/>
                <a:ea typeface="Arial"/>
                <a:cs typeface="Arial"/>
                <a:sym typeface="Arial"/>
              </a:rPr>
              <a:t>Postsynaptic heparin reduced facilitation below the control level. Other store-related manipulations, including changes to ryanodine receptors, gave the same result. These channels control the intracellular calcium available to the cell, which is distinct from the voltage-gated calcium entry that triggers release at sensory terminals.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400"/>
              <a:buFont typeface="Arial"/>
              <a:buNone/>
            </a:pPr>
            <a:r>
              <a:rPr b="0" i="0" lang="en-US" sz="1500">
                <a:solidFill>
                  <a:srgbClr val="000000"/>
                </a:solidFill>
                <a:latin typeface="Arial"/>
                <a:ea typeface="Arial"/>
                <a:cs typeface="Arial"/>
                <a:sym typeface="Arial"/>
              </a:rPr>
              <a:t>Several independent interventions converge on the same calcium-store pathway, with each one timed to the same serotonin exposure. The postsynaptic route from serotonin to enhanced transmission runs through these stores.</a:t>
            </a:r>
            <a:endParaRPr sz="1800">
              <a:solidFill>
                <a:schemeClr val="dk1"/>
              </a:solidFill>
              <a:latin typeface="Calibri"/>
              <a:ea typeface="Calibri"/>
              <a:cs typeface="Calibri"/>
              <a:sym typeface="Calibri"/>
            </a:endParaRPr>
          </a:p>
        </p:txBody>
      </p:sp>
      <p:pic>
        <p:nvPicPr>
          <p:cNvPr id="373" name="Google Shape;373;p25"/>
          <p:cNvPicPr preferRelativeResize="0"/>
          <p:nvPr/>
        </p:nvPicPr>
        <p:blipFill rotWithShape="1">
          <a:blip r:embed="rId3">
            <a:alphaModFix/>
          </a:blip>
          <a:srcRect b="0" l="0" r="0" t="0"/>
          <a:stretch/>
        </p:blipFill>
        <p:spPr>
          <a:xfrm>
            <a:off x="2277422" y="1280071"/>
            <a:ext cx="2065478" cy="3017490"/>
          </a:xfrm>
          <a:prstGeom prst="rect">
            <a:avLst/>
          </a:prstGeom>
          <a:noFill/>
          <a:ln>
            <a:noFill/>
          </a:ln>
        </p:spPr>
      </p:pic>
      <p:pic>
        <p:nvPicPr>
          <p:cNvPr id="375" name="Google Shape;375;p25"/>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376" name="Google Shape;376;p2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77" name="Google Shape;377;p2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Chen et al. (2014)</a:t>
            </a:r>
            <a:endParaRPr sz="1800">
              <a:solidFill>
                <a:schemeClr val="dk1"/>
              </a:solidFill>
              <a:latin typeface="Calibri"/>
              <a:ea typeface="Calibri"/>
              <a:cs typeface="Calibri"/>
              <a:sym typeface="Calibri"/>
            </a:endParaRPr>
          </a:p>
        </p:txBody>
      </p:sp>
      <p:sp>
        <p:nvSpPr>
          <p:cNvPr id="379" name="Google Shape;379;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Postsynaptic exocytosis supports sustained facilitation</a:t>
            </a:r>
            <a:endParaRPr sz="1800">
              <a:solidFill>
                <a:schemeClr val="dk1"/>
              </a:solidFill>
              <a:latin typeface="Calibri"/>
              <a:ea typeface="Calibri"/>
              <a:cs typeface="Calibri"/>
              <a:sym typeface="Calibri"/>
            </a:endParaRPr>
          </a:p>
        </p:txBody>
      </p:sp>
      <p:sp>
        <p:nvSpPr>
          <p:cNvPr id="385" name="Google Shape;385;p26"/>
          <p:cNvSpPr/>
          <p:nvPr/>
        </p:nvSpPr>
        <p:spPr>
          <a:xfrm>
            <a:off x="566886" y="1234380"/>
            <a:ext cx="5224760" cy="1324966"/>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400"/>
              <a:buFont typeface="Arial"/>
              <a:buNone/>
            </a:pPr>
            <a:r>
              <a:rPr b="1" i="0" lang="en-US" sz="1400">
                <a:solidFill>
                  <a:srgbClr val="4D2A2F"/>
                </a:solidFill>
                <a:latin typeface="Arial"/>
                <a:ea typeface="Arial"/>
                <a:cs typeface="Arial"/>
                <a:sym typeface="Arial"/>
              </a:rPr>
              <a:t>Exocytosis</a:t>
            </a:r>
            <a:r>
              <a:rPr b="0" i="0" lang="en-US" sz="1400">
                <a:solidFill>
                  <a:srgbClr val="000000"/>
                </a:solidFill>
                <a:latin typeface="Arial"/>
                <a:ea typeface="Arial"/>
                <a:cs typeface="Arial"/>
                <a:sym typeface="Arial"/>
              </a:rPr>
              <a:t> is the fusion of an intracellular membrane compartment with the cell surface. Li and colleagues injected botulinum toxin B into motor neurons to block this process. Blocking exocytosis in the postsynaptic cell targets membrane trafficking there, not transmitter-vesicle fusion in the sensory neuron.</a:t>
            </a:r>
            <a:endParaRPr sz="1800">
              <a:solidFill>
                <a:schemeClr val="dk1"/>
              </a:solidFill>
              <a:latin typeface="Calibri"/>
              <a:ea typeface="Calibri"/>
              <a:cs typeface="Calibri"/>
              <a:sym typeface="Calibri"/>
            </a:endParaRPr>
          </a:p>
        </p:txBody>
      </p:sp>
      <p:pic>
        <p:nvPicPr>
          <p:cNvPr id="388" name="Google Shape;388;p26"/>
          <p:cNvPicPr preferRelativeResize="0"/>
          <p:nvPr/>
        </p:nvPicPr>
        <p:blipFill rotWithShape="1">
          <a:blip r:embed="rId3">
            <a:alphaModFix/>
          </a:blip>
          <a:srcRect b="0" l="0" r="0" t="0"/>
          <a:stretch/>
        </p:blipFill>
        <p:spPr>
          <a:xfrm>
            <a:off x="7777907" y="1280119"/>
            <a:ext cx="2207568" cy="3017393"/>
          </a:xfrm>
          <a:prstGeom prst="rect">
            <a:avLst/>
          </a:prstGeom>
          <a:noFill/>
          <a:ln>
            <a:noFill/>
          </a:ln>
        </p:spPr>
      </p:pic>
      <p:sp>
        <p:nvSpPr>
          <p:cNvPr id="389" name="Google Shape;389;p26"/>
          <p:cNvSpPr/>
          <p:nvPr/>
        </p:nvSpPr>
        <p:spPr>
          <a:xfrm>
            <a:off x="6138416" y="2711746"/>
            <a:ext cx="5505450" cy="132496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During and after a 10 min serotonin exposure, control synapses showed enhanced EPSPs. Postsynaptic toxin disrupted the lasting component after serotonin was removed. Recordings in the ganglia separated AMPA-type and NMDA-type glutamate-receptor contributions, and the later enhancement involved the AMPA-mediated response.</a:t>
            </a:r>
            <a:endParaRPr sz="1800">
              <a:solidFill>
                <a:schemeClr val="dk1"/>
              </a:solidFill>
              <a:latin typeface="Calibri"/>
              <a:ea typeface="Calibri"/>
              <a:cs typeface="Calibri"/>
              <a:sym typeface="Calibri"/>
            </a:endParaRPr>
          </a:p>
        </p:txBody>
      </p:sp>
      <p:sp>
        <p:nvSpPr>
          <p:cNvPr id="389" name="Google Shape;389;p26"/>
          <p:cNvSpPr/>
          <p:nvPr/>
        </p:nvSpPr>
        <p:spPr>
          <a:xfrm>
            <a:off x="6138416" y="4189112"/>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Calcium-dependent insertion or regulation of postsynaptic AMPA receptors fits these results. Presynaptic release enhancement and postsynaptic receptor regulation can work together, and they differ in onset and persistence.</a:t>
            </a:r>
            <a:endParaRPr sz="1800">
              <a:solidFill>
                <a:schemeClr val="dk1"/>
              </a:solidFill>
              <a:latin typeface="Calibri"/>
              <a:ea typeface="Calibri"/>
              <a:cs typeface="Calibri"/>
              <a:sym typeface="Calibri"/>
            </a:endParaRPr>
          </a:p>
        </p:txBody>
      </p:sp>
      <p:pic>
        <p:nvPicPr>
          <p:cNvPr id="390" name="Google Shape;390;p26"/>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391" name="Google Shape;391;p26"/>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92" name="Google Shape;392;p2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Chen et al. (2014)</a:t>
            </a:r>
            <a:endParaRPr sz="1800">
              <a:solidFill>
                <a:schemeClr val="dk1"/>
              </a:solidFill>
              <a:latin typeface="Calibri"/>
              <a:ea typeface="Calibri"/>
              <a:cs typeface="Calibri"/>
              <a:sym typeface="Calibri"/>
            </a:endParaRPr>
          </a:p>
        </p:txBody>
      </p:sp>
      <p:sp>
        <p:nvSpPr>
          <p:cNvPr id="394" name="Google Shape;394;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Motor-cell intervention can block dishabituation</a:t>
            </a:r>
            <a:endParaRPr sz="1800">
              <a:solidFill>
                <a:schemeClr val="dk1"/>
              </a:solidFill>
              <a:latin typeface="Calibri"/>
              <a:ea typeface="Calibri"/>
              <a:cs typeface="Calibri"/>
              <a:sym typeface="Calibri"/>
            </a:endParaRPr>
          </a:p>
        </p:txBody>
      </p:sp>
      <p:sp>
        <p:nvSpPr>
          <p:cNvPr id="400" name="Google Shape;400;p27"/>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Li and colleagues moved the postsynaptic toxin experiment from culture into a reduced siphon-withdrawal preparation. Repeated siphon taps produced habituation, followed by tail shock and further siphon tests. Identified motor neurons were injected with botulinum toxin B before the behavioral sequence.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Control preparations increased siphon withdrawal after shock, whereas postsynaptic toxin blocked this dishabituation. Motor activity recorded alongside the movement linked the cell-targeted treatment to a measured behavioral change. Vehicle injections and test-only sequences produced no block.</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Postsynaptic exocytosis in the siphon motor cells contributes to the behavior. The same requirement is tested in other gill responses and in sensitization protocols, and the intact network around these cells is part of the same account.</a:t>
            </a:r>
            <a:endParaRPr sz="1800">
              <a:solidFill>
                <a:schemeClr val="dk1"/>
              </a:solidFill>
              <a:latin typeface="Calibri"/>
              <a:ea typeface="Calibri"/>
              <a:cs typeface="Calibri"/>
              <a:sym typeface="Calibri"/>
            </a:endParaRPr>
          </a:p>
        </p:txBody>
      </p:sp>
      <p:pic>
        <p:nvPicPr>
          <p:cNvPr id="403" name="Google Shape;403;p27"/>
          <p:cNvPicPr preferRelativeResize="0"/>
          <p:nvPr/>
        </p:nvPicPr>
        <p:blipFill rotWithShape="1">
          <a:blip r:embed="rId3">
            <a:alphaModFix/>
          </a:blip>
          <a:srcRect b="0" l="0" r="0" t="0"/>
          <a:stretch/>
        </p:blipFill>
        <p:spPr>
          <a:xfrm>
            <a:off x="1555700" y="1280072"/>
            <a:ext cx="3508921" cy="3017488"/>
          </a:xfrm>
          <a:prstGeom prst="rect">
            <a:avLst/>
          </a:prstGeom>
          <a:noFill/>
          <a:ln>
            <a:noFill/>
          </a:ln>
        </p:spPr>
      </p:pic>
      <p:sp>
        <p:nvSpPr>
          <p:cNvPr id="404" name="Google Shape;404;p27"/>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 et al. (2005), Fig. 9(A–D). Reduced withdrawal preparation and motor-cell intervention during dishabituation.</a:t>
            </a:r>
            <a:endParaRPr sz="1800">
              <a:solidFill>
                <a:schemeClr val="dk1"/>
              </a:solidFill>
              <a:latin typeface="Calibri"/>
              <a:ea typeface="Calibri"/>
              <a:cs typeface="Calibri"/>
              <a:sym typeface="Calibri"/>
            </a:endParaRPr>
          </a:p>
        </p:txBody>
      </p:sp>
      <p:pic>
        <p:nvPicPr>
          <p:cNvPr id="405" name="Google Shape;405;p27"/>
          <p:cNvPicPr preferRelativeResize="0"/>
          <p:nvPr/>
        </p:nvPicPr>
        <p:blipFill rotWithShape="1">
          <a:blip r:embed="rId4">
            <a:alphaModFix/>
          </a:blip>
          <a:srcRect b="0" l="0" r="0" t="0"/>
          <a:stretch/>
        </p:blipFill>
        <p:spPr>
          <a:xfrm>
            <a:off x="2993380" y="4846367"/>
            <a:ext cx="633413" cy="914246"/>
          </a:xfrm>
          <a:prstGeom prst="rect">
            <a:avLst/>
          </a:prstGeom>
          <a:noFill/>
          <a:ln>
            <a:noFill/>
          </a:ln>
        </p:spPr>
      </p:pic>
      <p:sp>
        <p:nvSpPr>
          <p:cNvPr id="406" name="Google Shape;406;p27"/>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407" name="Google Shape;407;p2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Antonov et al. (1999)</a:t>
            </a:r>
            <a:endParaRPr sz="1800">
              <a:solidFill>
                <a:schemeClr val="dk1"/>
              </a:solidFill>
              <a:latin typeface="Calibri"/>
              <a:ea typeface="Calibri"/>
              <a:cs typeface="Calibri"/>
              <a:sym typeface="Calibri"/>
            </a:endParaRPr>
          </a:p>
        </p:txBody>
      </p:sp>
      <p:sp>
        <p:nvSpPr>
          <p:cNvPr id="409" name="Google Shape;409;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Repeated serotonin induces day-long facilitation</a:t>
            </a:r>
            <a:endParaRPr sz="1800">
              <a:solidFill>
                <a:schemeClr val="dk1"/>
              </a:solidFill>
              <a:latin typeface="Calibri"/>
              <a:ea typeface="Calibri"/>
              <a:cs typeface="Calibri"/>
              <a:sym typeface="Calibri"/>
            </a:endParaRPr>
          </a:p>
        </p:txBody>
      </p:sp>
      <p:sp>
        <p:nvSpPr>
          <p:cNvPr id="415" name="Google Shape;415;p28"/>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Montarolo and colleagues cultured identified sensory neurons with the gill motor neuron L7. A single serotonin application produced short-term EPSP enhancement. Five 5 min applications spread over about 1.5 h produced </a:t>
            </a:r>
            <a:r>
              <a:rPr b="1" i="0" lang="en-US" sz="1500">
                <a:solidFill>
                  <a:srgbClr val="4D2A2F"/>
                </a:solidFill>
                <a:latin typeface="Arial"/>
                <a:ea typeface="Arial"/>
                <a:cs typeface="Arial"/>
                <a:sym typeface="Arial"/>
              </a:rPr>
              <a:t>long-term facilitation</a:t>
            </a:r>
            <a:r>
              <a:rPr b="0" i="0" lang="en-US" sz="1500">
                <a:solidFill>
                  <a:srgbClr val="000000"/>
                </a:solidFill>
                <a:latin typeface="Arial"/>
                <a:ea typeface="Arial"/>
                <a:cs typeface="Arial"/>
                <a:sym typeface="Arial"/>
              </a:rPr>
              <a:t>, a persistent increase in transmission that was still present after the training ended.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At 24 h, repeated treatment increased connection strength by about 71%, while a single application left no comparable enhancement. Controls received the same recording and perfusion procedures without the repeated serotonin sequence. The same sensory–motor pair was retested after the delay.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The cellular result reproduces the timing of sensitization, and withdrawal behavior is a separate measure. One application and repeated applications produce different outcomes, so stimulus history is what drives the lasting change at this synapse.</a:t>
            </a:r>
            <a:endParaRPr sz="1800">
              <a:solidFill>
                <a:schemeClr val="dk1"/>
              </a:solidFill>
              <a:latin typeface="Calibri"/>
              <a:ea typeface="Calibri"/>
              <a:cs typeface="Calibri"/>
              <a:sym typeface="Calibri"/>
            </a:endParaRPr>
          </a:p>
        </p:txBody>
      </p:sp>
      <p:pic>
        <p:nvPicPr>
          <p:cNvPr id="418" name="Google Shape;418;p28"/>
          <p:cNvPicPr preferRelativeResize="0"/>
          <p:nvPr/>
        </p:nvPicPr>
        <p:blipFill rotWithShape="1">
          <a:blip r:embed="rId3">
            <a:alphaModFix/>
          </a:blip>
          <a:srcRect b="0" l="0" r="0" t="0"/>
          <a:stretch/>
        </p:blipFill>
        <p:spPr>
          <a:xfrm>
            <a:off x="6776188" y="1280071"/>
            <a:ext cx="4211005" cy="3017490"/>
          </a:xfrm>
          <a:prstGeom prst="rect">
            <a:avLst/>
          </a:prstGeom>
          <a:noFill/>
          <a:ln>
            <a:noFill/>
          </a:ln>
        </p:spPr>
      </p:pic>
      <p:sp>
        <p:nvSpPr>
          <p:cNvPr id="419" name="Google Shape;419;p28"/>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Montarolo et al. (1986), Fig. 1(A–C). Repeated serotonin and macromolecular-synthesis interventions.</a:t>
            </a:r>
            <a:endParaRPr sz="1800">
              <a:solidFill>
                <a:schemeClr val="dk1"/>
              </a:solidFill>
              <a:latin typeface="Calibri"/>
              <a:ea typeface="Calibri"/>
              <a:cs typeface="Calibri"/>
              <a:sym typeface="Calibri"/>
            </a:endParaRPr>
          </a:p>
        </p:txBody>
      </p:sp>
      <p:pic>
        <p:nvPicPr>
          <p:cNvPr id="420" name="Google Shape;420;p28"/>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421" name="Google Shape;421;p28"/>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422" name="Google Shape;422;p2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Montarolo et al. (1986); Chen et al. (2014)</a:t>
            </a:r>
            <a:endParaRPr sz="1800">
              <a:solidFill>
                <a:schemeClr val="dk1"/>
              </a:solidFill>
              <a:latin typeface="Calibri"/>
              <a:ea typeface="Calibri"/>
              <a:cs typeface="Calibri"/>
              <a:sym typeface="Calibri"/>
            </a:endParaRPr>
          </a:p>
        </p:txBody>
      </p:sp>
      <p:sp>
        <p:nvSpPr>
          <p:cNvPr id="424" name="Google Shape;424;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Lasting facilitation requires new macromolecules</a:t>
            </a:r>
            <a:endParaRPr sz="1800">
              <a:solidFill>
                <a:schemeClr val="dk1"/>
              </a:solidFill>
              <a:latin typeface="Calibri"/>
              <a:ea typeface="Calibri"/>
              <a:cs typeface="Calibri"/>
              <a:sym typeface="Calibri"/>
            </a:endParaRPr>
          </a:p>
        </p:txBody>
      </p:sp>
      <p:sp>
        <p:nvSpPr>
          <p:cNvPr id="430" name="Google Shape;430;p29"/>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Montarolo and colleagues added inhibitors during repeated serotonin treatment to separate immediate facilitation from its persistence. </a:t>
            </a:r>
            <a:r>
              <a:rPr b="1" i="0" lang="en-US" sz="1500">
                <a:solidFill>
                  <a:srgbClr val="4D2A2F"/>
                </a:solidFill>
                <a:latin typeface="Arial"/>
                <a:ea typeface="Arial"/>
                <a:cs typeface="Arial"/>
                <a:sym typeface="Arial"/>
              </a:rPr>
              <a:t>Translation</a:t>
            </a:r>
            <a:r>
              <a:rPr b="0" i="0" lang="en-US" sz="1500">
                <a:solidFill>
                  <a:srgbClr val="000000"/>
                </a:solidFill>
                <a:latin typeface="Arial"/>
                <a:ea typeface="Arial"/>
                <a:cs typeface="Arial"/>
                <a:sym typeface="Arial"/>
              </a:rPr>
              <a:t> makes protein from RNA, whereas </a:t>
            </a:r>
            <a:r>
              <a:rPr b="1" i="0" lang="en-US" sz="1500">
                <a:solidFill>
                  <a:srgbClr val="4D2A2F"/>
                </a:solidFill>
                <a:latin typeface="Arial"/>
                <a:ea typeface="Arial"/>
                <a:cs typeface="Arial"/>
                <a:sym typeface="Arial"/>
              </a:rPr>
              <a:t>transcription</a:t>
            </a:r>
            <a:r>
              <a:rPr b="0" i="0" lang="en-US" sz="1500">
                <a:solidFill>
                  <a:srgbClr val="000000"/>
                </a:solidFill>
                <a:latin typeface="Arial"/>
                <a:ea typeface="Arial"/>
                <a:cs typeface="Arial"/>
                <a:sym typeface="Arial"/>
              </a:rPr>
              <a:t> makes RNA from a DNA template. Anisomycin and emetine block translation, and actinomycin D and α-amanitin block transcription.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The inhibitors prevented the enhancement that is normally retained at 24 h, while short-term facilitation during serotonin exposure remained. Cultures treated with the drugs alone and reapplication tests showed a selective loss of persistence, not a general failure of synaptic transmission. Immediate and delayed responses therefore need different macromolecules.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Preserved short-term facilitation points to something other than neuronal death or a complete block of transmission. Because the synthesis inhibitors act on many products, the experiment identifies synthesis during induction, and the particular proteins involved are identified separately.</a:t>
            </a:r>
            <a:endParaRPr sz="1800">
              <a:solidFill>
                <a:schemeClr val="dk1"/>
              </a:solidFill>
              <a:latin typeface="Calibri"/>
              <a:ea typeface="Calibri"/>
              <a:cs typeface="Calibri"/>
              <a:sym typeface="Calibri"/>
            </a:endParaRPr>
          </a:p>
        </p:txBody>
      </p:sp>
      <p:pic>
        <p:nvPicPr>
          <p:cNvPr id="433" name="Google Shape;433;p29"/>
          <p:cNvPicPr preferRelativeResize="0"/>
          <p:nvPr/>
        </p:nvPicPr>
        <p:blipFill rotWithShape="1">
          <a:blip r:embed="rId3">
            <a:alphaModFix/>
          </a:blip>
          <a:srcRect b="0" l="0" r="0" t="0"/>
          <a:stretch/>
        </p:blipFill>
        <p:spPr>
          <a:xfrm>
            <a:off x="566886" y="1280076"/>
            <a:ext cx="5486400" cy="2849005"/>
          </a:xfrm>
          <a:prstGeom prst="rect">
            <a:avLst/>
          </a:prstGeom>
          <a:noFill/>
          <a:ln>
            <a:noFill/>
          </a:ln>
        </p:spPr>
      </p:pic>
      <p:sp>
        <p:nvSpPr>
          <p:cNvPr id="434" name="Google Shape;434;p29"/>
          <p:cNvSpPr/>
          <p:nvPr/>
        </p:nvSpPr>
        <p:spPr>
          <a:xfrm>
            <a:off x="566886" y="4220617"/>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Montarolo et al. (1986), Fig. 2(A–C). Short-term facilitation persists during synthesis inhibition.</a:t>
            </a:r>
            <a:endParaRPr sz="1800">
              <a:solidFill>
                <a:schemeClr val="dk1"/>
              </a:solidFill>
              <a:latin typeface="Calibri"/>
              <a:ea typeface="Calibri"/>
              <a:cs typeface="Calibri"/>
              <a:sym typeface="Calibri"/>
            </a:endParaRPr>
          </a:p>
        </p:txBody>
      </p:sp>
      <p:pic>
        <p:nvPicPr>
          <p:cNvPr id="435" name="Google Shape;435;p29"/>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436" name="Google Shape;436;p29"/>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437" name="Google Shape;437;p2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Montarolo et al. (1986); Chen et al. (2014)</a:t>
            </a:r>
            <a:endParaRPr sz="1800">
              <a:solidFill>
                <a:schemeClr val="dk1"/>
              </a:solidFill>
              <a:latin typeface="Calibri"/>
              <a:ea typeface="Calibri"/>
              <a:cs typeface="Calibri"/>
              <a:sym typeface="Calibri"/>
            </a:endParaRPr>
          </a:p>
        </p:txBody>
      </p:sp>
      <p:sp>
        <p:nvSpPr>
          <p:cNvPr id="439" name="Google Shape;439;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The synthesis requirement has a limited time window</a:t>
            </a:r>
            <a:endParaRPr sz="1800">
              <a:solidFill>
                <a:schemeClr val="dk1"/>
              </a:solidFill>
              <a:latin typeface="Calibri"/>
              <a:ea typeface="Calibri"/>
              <a:cs typeface="Calibri"/>
              <a:sym typeface="Calibri"/>
            </a:endParaRPr>
          </a:p>
        </p:txBody>
      </p:sp>
      <p:sp>
        <p:nvSpPr>
          <p:cNvPr id="445" name="Google Shape;445;p30"/>
          <p:cNvSpPr/>
          <p:nvPr/>
        </p:nvSpPr>
        <p:spPr>
          <a:xfrm>
            <a:off x="566886" y="1234380"/>
            <a:ext cx="522476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400">
                <a:solidFill>
                  <a:srgbClr val="000000"/>
                </a:solidFill>
                <a:latin typeface="Arial"/>
                <a:ea typeface="Arial"/>
                <a:cs typeface="Arial"/>
                <a:sym typeface="Arial"/>
              </a:rPr>
              <a:t>Montarolo and colleagues changed when anisomycin was present relative to repeated serotonin. A three-hour exposure during and immediately after induction blocked long-term facilitation. Inhibition that began much earlier, or several hours later, left the 24 h enhancement intact.</a:t>
            </a:r>
            <a:endParaRPr sz="1800">
              <a:solidFill>
                <a:schemeClr val="dk1"/>
              </a:solidFill>
              <a:latin typeface="Calibri"/>
              <a:ea typeface="Calibri"/>
              <a:cs typeface="Calibri"/>
              <a:sym typeface="Calibri"/>
            </a:endParaRPr>
          </a:p>
        </p:txBody>
      </p:sp>
      <p:pic>
        <p:nvPicPr>
          <p:cNvPr id="448" name="Google Shape;448;p30"/>
          <p:cNvPicPr preferRelativeResize="0"/>
          <p:nvPr/>
        </p:nvPicPr>
        <p:blipFill rotWithShape="1">
          <a:blip r:embed="rId3">
            <a:alphaModFix/>
          </a:blip>
          <a:srcRect b="0" l="0" r="0" t="0"/>
          <a:stretch/>
        </p:blipFill>
        <p:spPr>
          <a:xfrm>
            <a:off x="8077944" y="1280082"/>
            <a:ext cx="1607641" cy="3017468"/>
          </a:xfrm>
          <a:prstGeom prst="rect">
            <a:avLst/>
          </a:prstGeom>
          <a:noFill/>
          <a:ln>
            <a:noFill/>
          </a:ln>
        </p:spPr>
      </p:pic>
      <p:sp>
        <p:nvSpPr>
          <p:cNvPr id="449" name="Google Shape;449;p30"/>
          <p:cNvSpPr/>
          <p:nvPr/>
        </p:nvSpPr>
        <p:spPr>
          <a:xfrm>
            <a:off x="6138416" y="2490918"/>
            <a:ext cx="550545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Biochemical measurements showed strong suppression of protein synthesis during drug exposure and recovery after washout. The timing of the drug therefore lines up with its effect on the cell. Long-term facilitation depends on new synthesis during a restricted induction period.</a:t>
            </a:r>
            <a:endParaRPr sz="1800">
              <a:solidFill>
                <a:schemeClr val="dk1"/>
              </a:solidFill>
              <a:latin typeface="Calibri"/>
              <a:ea typeface="Calibri"/>
              <a:cs typeface="Calibri"/>
              <a:sym typeface="Calibri"/>
            </a:endParaRPr>
          </a:p>
        </p:txBody>
      </p:sp>
      <p:sp>
        <p:nvSpPr>
          <p:cNvPr id="449" name="Google Shape;449;p30"/>
          <p:cNvSpPr/>
          <p:nvPr/>
        </p:nvSpPr>
        <p:spPr>
          <a:xfrm>
            <a:off x="6138416" y="3747456"/>
            <a:ext cx="550545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A </a:t>
            </a:r>
            <a:r>
              <a:rPr b="1" i="0" lang="en-US" sz="1400">
                <a:solidFill>
                  <a:srgbClr val="4D2A2F"/>
                </a:solidFill>
                <a:latin typeface="Arial"/>
                <a:ea typeface="Arial"/>
                <a:cs typeface="Arial"/>
                <a:sym typeface="Arial"/>
              </a:rPr>
              <a:t>critical window</a:t>
            </a:r>
            <a:r>
              <a:rPr b="0" i="0" lang="en-US" sz="1400">
                <a:solidFill>
                  <a:srgbClr val="000000"/>
                </a:solidFill>
                <a:latin typeface="Arial"/>
                <a:ea typeface="Arial"/>
                <a:cs typeface="Arial"/>
                <a:sym typeface="Arial"/>
              </a:rPr>
              <a:t> fits the production of proteins that start or stabilize persistent change. The identities, turnover rates and locations of these proteins are measured by separate experiments, which distinguish somatic transcription from translation near terminals.</a:t>
            </a:r>
            <a:endParaRPr sz="1800">
              <a:solidFill>
                <a:schemeClr val="dk1"/>
              </a:solidFill>
              <a:latin typeface="Calibri"/>
              <a:ea typeface="Calibri"/>
              <a:cs typeface="Calibri"/>
              <a:sym typeface="Calibri"/>
            </a:endParaRPr>
          </a:p>
        </p:txBody>
      </p:sp>
      <p:pic>
        <p:nvPicPr>
          <p:cNvPr id="450" name="Google Shape;450;p30"/>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451" name="Google Shape;451;p30"/>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452" name="Google Shape;452;p3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Montarolo et al. (1986); Chen et al. (2014)</a:t>
            </a:r>
            <a:endParaRPr sz="1800">
              <a:solidFill>
                <a:schemeClr val="dk1"/>
              </a:solidFill>
              <a:latin typeface="Calibri"/>
              <a:ea typeface="Calibri"/>
              <a:cs typeface="Calibri"/>
              <a:sym typeface="Calibri"/>
            </a:endParaRPr>
          </a:p>
        </p:txBody>
      </p:sp>
      <p:sp>
        <p:nvSpPr>
          <p:cNvPr id="454" name="Google Shape;45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Sensitization increases contacts onto the gill motor cell</a:t>
            </a:r>
            <a:endParaRPr sz="1800">
              <a:solidFill>
                <a:schemeClr val="dk1"/>
              </a:solidFill>
              <a:latin typeface="Calibri"/>
              <a:ea typeface="Calibri"/>
              <a:cs typeface="Calibri"/>
              <a:sym typeface="Calibri"/>
            </a:endParaRPr>
          </a:p>
        </p:txBody>
      </p:sp>
      <p:sp>
        <p:nvSpPr>
          <p:cNvPr id="460" name="Google Shape;460;p31"/>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Bailey and Chen labeled the identified gill motor neuron L7 and the sensory neurons that contact it, then examined the junctions with electron microscopy. Electron micrographs resolved labeled sensory terminals contacting labeled motor-cell processes. Trained and control animals were examined under the same conditions.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Long-term sensitization increased the number of presynaptic contacts onto L7. The change came with a corresponding increase in the size of presynaptic swellings and in active zones, the specialized membrane regions that support release. More contacts provide one anatomical route to stronger total input.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 labeled contact is a structural measure, and its release probability is measured physiologically in the same preparation. The contact addition is linked to the sensitization of the behavior at an identified output cell.</a:t>
            </a:r>
            <a:endParaRPr sz="1800">
              <a:solidFill>
                <a:schemeClr val="dk1"/>
              </a:solidFill>
              <a:latin typeface="Calibri"/>
              <a:ea typeface="Calibri"/>
              <a:cs typeface="Calibri"/>
              <a:sym typeface="Calibri"/>
            </a:endParaRPr>
          </a:p>
        </p:txBody>
      </p:sp>
      <p:pic>
        <p:nvPicPr>
          <p:cNvPr id="463" name="Google Shape;463;p31"/>
          <p:cNvPicPr preferRelativeResize="0"/>
          <p:nvPr/>
        </p:nvPicPr>
        <p:blipFill rotWithShape="1">
          <a:blip r:embed="rId3">
            <a:alphaModFix/>
          </a:blip>
          <a:srcRect b="0" l="0" r="0" t="0"/>
          <a:stretch/>
        </p:blipFill>
        <p:spPr>
          <a:xfrm>
            <a:off x="2302854" y="1280071"/>
            <a:ext cx="1648794" cy="4297561"/>
          </a:xfrm>
          <a:prstGeom prst="rect">
            <a:avLst/>
          </a:prstGeom>
          <a:noFill/>
          <a:ln>
            <a:noFill/>
          </a:ln>
        </p:spPr>
      </p:pic>
      <p:sp>
        <p:nvSpPr>
          <p:cNvPr id="464" name="Google Shape;464;p31"/>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Bailey &amp; Chen (1988b), Fig. 1(A–C). Electron micrographs of labeled contacts onto gill motor-cell processes.</a:t>
            </a:r>
            <a:endParaRPr sz="1800">
              <a:solidFill>
                <a:schemeClr val="dk1"/>
              </a:solidFill>
              <a:latin typeface="Calibri"/>
              <a:ea typeface="Calibri"/>
              <a:cs typeface="Calibri"/>
              <a:sym typeface="Calibri"/>
            </a:endParaRPr>
          </a:p>
        </p:txBody>
      </p:sp>
      <p:sp>
        <p:nvSpPr>
          <p:cNvPr id="465" name="Google Shape;465;p3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Bailey &amp; Chen (1988b)</a:t>
            </a:r>
            <a:endParaRPr sz="1800">
              <a:solidFill>
                <a:schemeClr val="dk1"/>
              </a:solidFill>
              <a:latin typeface="Calibri"/>
              <a:ea typeface="Calibri"/>
              <a:cs typeface="Calibri"/>
              <a:sym typeface="Calibri"/>
            </a:endParaRPr>
          </a:p>
        </p:txBody>
      </p:sp>
      <p:sp>
        <p:nvSpPr>
          <p:cNvPr id="467" name="Google Shape;467;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Serotonin increases synapsin near release sites</a:t>
            </a:r>
            <a:endParaRPr sz="1800">
              <a:solidFill>
                <a:schemeClr val="dk1"/>
              </a:solidFill>
              <a:latin typeface="Calibri"/>
              <a:ea typeface="Calibri"/>
              <a:cs typeface="Calibri"/>
              <a:sym typeface="Calibri"/>
            </a:endParaRPr>
          </a:p>
        </p:txBody>
      </p:sp>
      <p:sp>
        <p:nvSpPr>
          <p:cNvPr id="473" name="Google Shape;473;p32"/>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500"/>
              <a:buFont typeface="Arial"/>
              <a:buNone/>
            </a:pPr>
            <a:r>
              <a:rPr b="1" i="0" lang="en-US" sz="1500">
                <a:solidFill>
                  <a:srgbClr val="4D2A2F"/>
                </a:solidFill>
                <a:latin typeface="Arial"/>
                <a:ea typeface="Arial"/>
                <a:cs typeface="Arial"/>
                <a:sym typeface="Arial"/>
              </a:rPr>
              <a:t>Synapsin</a:t>
            </a:r>
            <a:r>
              <a:rPr b="0" i="0" lang="en-US" sz="1500">
                <a:solidFill>
                  <a:srgbClr val="000000"/>
                </a:solidFill>
                <a:latin typeface="Arial"/>
                <a:ea typeface="Arial"/>
                <a:cs typeface="Arial"/>
                <a:sym typeface="Arial"/>
              </a:rPr>
              <a:t> is a protein associated with synaptic vesicles and their organization. Hart and colleagues treated sensory neurons with repeated serotonin and measured synapsin RNA, protein and immunostaining. </a:t>
            </a:r>
            <a:r>
              <a:rPr b="1" i="0" lang="en-US" sz="1500">
                <a:solidFill>
                  <a:srgbClr val="4D2A2F"/>
                </a:solidFill>
                <a:latin typeface="Arial"/>
                <a:ea typeface="Arial"/>
                <a:cs typeface="Arial"/>
                <a:sym typeface="Arial"/>
              </a:rPr>
              <a:t>Immunostaining</a:t>
            </a:r>
            <a:r>
              <a:rPr b="0" i="0" lang="en-US" sz="1500">
                <a:solidFill>
                  <a:srgbClr val="000000"/>
                </a:solidFill>
                <a:latin typeface="Arial"/>
                <a:ea typeface="Arial"/>
                <a:cs typeface="Arial"/>
                <a:sym typeface="Arial"/>
              </a:rPr>
              <a:t> uses antibodies to show where a protein sits within a cell.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Synapsin levels rose after treatment, with brighter staining in sensory-neuron varicosities at 2 h and at 24 h. The time course rose in steps rather than in a steady climb. Measurements in cultured neurons and in nervous tissue placed the rise in presynaptic structures that take part in release.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Synapsin is a candidate effector that links serotonin-dependent gene regulation to persistent changes in synaptic function. Its requirement is tested by knocking it down in the same cultures.</a:t>
            </a:r>
            <a:endParaRPr sz="1800">
              <a:solidFill>
                <a:schemeClr val="dk1"/>
              </a:solidFill>
              <a:latin typeface="Calibri"/>
              <a:ea typeface="Calibri"/>
              <a:cs typeface="Calibri"/>
              <a:sym typeface="Calibri"/>
            </a:endParaRPr>
          </a:p>
        </p:txBody>
      </p:sp>
      <p:pic>
        <p:nvPicPr>
          <p:cNvPr id="476" name="Google Shape;476;p32"/>
          <p:cNvPicPr preferRelativeResize="0"/>
          <p:nvPr/>
        </p:nvPicPr>
        <p:blipFill rotWithShape="1">
          <a:blip r:embed="rId3">
            <a:alphaModFix/>
          </a:blip>
          <a:srcRect b="0" l="0" r="0" t="0"/>
          <a:stretch/>
        </p:blipFill>
        <p:spPr>
          <a:xfrm>
            <a:off x="7854255" y="1280091"/>
            <a:ext cx="2420541" cy="4297521"/>
          </a:xfrm>
          <a:prstGeom prst="rect">
            <a:avLst/>
          </a:prstGeom>
          <a:noFill/>
          <a:ln>
            <a:noFill/>
          </a:ln>
        </p:spPr>
      </p:pic>
      <p:sp>
        <p:nvSpPr>
          <p:cNvPr id="477" name="Google Shape;477;p32"/>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2(A–B). Synapsin immunostaining in sensory-neuron varicosities.</a:t>
            </a:r>
            <a:endParaRPr sz="1800">
              <a:solidFill>
                <a:schemeClr val="dk1"/>
              </a:solidFill>
              <a:latin typeface="Calibri"/>
              <a:ea typeface="Calibri"/>
              <a:cs typeface="Calibri"/>
              <a:sym typeface="Calibri"/>
            </a:endParaRPr>
          </a:p>
        </p:txBody>
      </p:sp>
      <p:sp>
        <p:nvSpPr>
          <p:cNvPr id="478" name="Google Shape;478;p3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a:t>
            </a:r>
            <a:endParaRPr sz="1800">
              <a:solidFill>
                <a:schemeClr val="dk1"/>
              </a:solidFill>
              <a:latin typeface="Calibri"/>
              <a:ea typeface="Calibri"/>
              <a:cs typeface="Calibri"/>
              <a:sym typeface="Calibri"/>
            </a:endParaRPr>
          </a:p>
        </p:txBody>
      </p:sp>
      <p:sp>
        <p:nvSpPr>
          <p:cNvPr id="480" name="Google Shape;480;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485" name="Google Shape;485;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CREB couples serotonin signaling to synapsin expression</a:t>
            </a:r>
            <a:endParaRPr sz="1800">
              <a:solidFill>
                <a:schemeClr val="dk1"/>
              </a:solidFill>
              <a:latin typeface="Calibri"/>
              <a:ea typeface="Calibri"/>
              <a:cs typeface="Calibri"/>
              <a:sym typeface="Calibri"/>
            </a:endParaRPr>
          </a:p>
        </p:txBody>
      </p:sp>
      <p:sp>
        <p:nvSpPr>
          <p:cNvPr id="486" name="Google Shape;486;p33"/>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500"/>
              <a:buFont typeface="Arial"/>
              <a:buNone/>
            </a:pPr>
            <a:r>
              <a:rPr b="1" i="0" lang="en-US" sz="1500">
                <a:solidFill>
                  <a:srgbClr val="4D2A2F"/>
                </a:solidFill>
                <a:latin typeface="Arial"/>
                <a:ea typeface="Arial"/>
                <a:cs typeface="Arial"/>
                <a:sym typeface="Arial"/>
              </a:rPr>
              <a:t>CREB1</a:t>
            </a:r>
            <a:r>
              <a:rPr b="0" i="0" lang="en-US" sz="1500">
                <a:solidFill>
                  <a:srgbClr val="000000"/>
                </a:solidFill>
                <a:latin typeface="Arial"/>
                <a:ea typeface="Arial"/>
                <a:cs typeface="Arial"/>
                <a:sym typeface="Arial"/>
              </a:rPr>
              <a:t>, the cAMP response element-binding protein, is a transcription factor that regulates gene expression by binding DNA. A </a:t>
            </a:r>
            <a:r>
              <a:rPr b="1" i="0" lang="en-US" sz="1500">
                <a:solidFill>
                  <a:srgbClr val="4D2A2F"/>
                </a:solidFill>
                <a:latin typeface="Arial"/>
                <a:ea typeface="Arial"/>
                <a:cs typeface="Arial"/>
                <a:sym typeface="Arial"/>
              </a:rPr>
              <a:t>promoter</a:t>
            </a:r>
            <a:r>
              <a:rPr b="0" i="0" lang="en-US" sz="1500">
                <a:solidFill>
                  <a:srgbClr val="000000"/>
                </a:solidFill>
                <a:latin typeface="Arial"/>
                <a:ea typeface="Arial"/>
                <a:cs typeface="Arial"/>
                <a:sym typeface="Arial"/>
              </a:rPr>
              <a:t> is a DNA region that controls transcription of a gene. Hart and colleagues identified a cAMP response element in the </a:t>
            </a:r>
            <a:r>
              <a:rPr b="0" i="1" lang="en-US" sz="1500">
                <a:solidFill>
                  <a:srgbClr val="000000"/>
                </a:solidFill>
                <a:latin typeface="Arial"/>
                <a:ea typeface="Arial"/>
                <a:cs typeface="Arial"/>
                <a:sym typeface="Arial"/>
              </a:rPr>
              <a:t>Aplysia</a:t>
            </a:r>
            <a:r>
              <a:rPr b="0" i="0" lang="en-US" sz="1500">
                <a:solidFill>
                  <a:srgbClr val="000000"/>
                </a:solidFill>
                <a:latin typeface="Arial"/>
                <a:ea typeface="Arial"/>
                <a:cs typeface="Arial"/>
                <a:sym typeface="Arial"/>
              </a:rPr>
              <a:t> synapsin promoter, a site that CREB1 can bind.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A promoter-driven fluorescent reporter increased expression after serotonin treatment. Chromatin immunoprecipitation, which pulls down DNA bound to a chosen protein, found more CREB1 bound to the synapsin promoter. These measurements connect the regulatory sequence, transcription-factor binding and expression level in one chain.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Serotonin-dependent signaling therefore reaches synapsin production through CREB1 binding at this promoter. Other transcriptional responses of long-term facilitation are assigned to their own target genes.</a:t>
            </a:r>
            <a:endParaRPr sz="1800">
              <a:solidFill>
                <a:schemeClr val="dk1"/>
              </a:solidFill>
              <a:latin typeface="Calibri"/>
              <a:ea typeface="Calibri"/>
              <a:cs typeface="Calibri"/>
              <a:sym typeface="Calibri"/>
            </a:endParaRPr>
          </a:p>
        </p:txBody>
      </p:sp>
      <p:pic>
        <p:nvPicPr>
          <p:cNvPr id="489" name="Google Shape;489;p33"/>
          <p:cNvPicPr preferRelativeResize="0"/>
          <p:nvPr/>
        </p:nvPicPr>
        <p:blipFill rotWithShape="1">
          <a:blip r:embed="rId3">
            <a:alphaModFix/>
          </a:blip>
          <a:srcRect b="0" l="0" r="0" t="0"/>
          <a:stretch/>
        </p:blipFill>
        <p:spPr>
          <a:xfrm>
            <a:off x="566939" y="1280071"/>
            <a:ext cx="5120625" cy="4294138"/>
          </a:xfrm>
          <a:prstGeom prst="rect">
            <a:avLst/>
          </a:prstGeom>
          <a:noFill/>
          <a:ln>
            <a:noFill/>
          </a:ln>
        </p:spPr>
      </p:pic>
      <p:sp>
        <p:nvSpPr>
          <p:cNvPr id="490" name="Google Shape;490;p33"/>
          <p:cNvSpPr/>
          <p:nvPr/>
        </p:nvSpPr>
        <p:spPr>
          <a:xfrm>
            <a:off x="566886" y="56657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4(A–B). Serotonin increases synapsin-promoter-driven reporter expression.</a:t>
            </a:r>
            <a:endParaRPr sz="1800">
              <a:solidFill>
                <a:schemeClr val="dk1"/>
              </a:solidFill>
              <a:latin typeface="Calibri"/>
              <a:ea typeface="Calibri"/>
              <a:cs typeface="Calibri"/>
              <a:sym typeface="Calibri"/>
            </a:endParaRPr>
          </a:p>
        </p:txBody>
      </p:sp>
      <p:sp>
        <p:nvSpPr>
          <p:cNvPr id="491" name="Google Shape;491;p3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a:t>
            </a:r>
            <a:endParaRPr sz="1800">
              <a:solidFill>
                <a:schemeClr val="dk1"/>
              </a:solidFill>
              <a:latin typeface="Calibri"/>
              <a:ea typeface="Calibri"/>
              <a:cs typeface="Calibri"/>
              <a:sym typeface="Calibri"/>
            </a:endParaRPr>
          </a:p>
        </p:txBody>
      </p:sp>
      <p:sp>
        <p:nvSpPr>
          <p:cNvPr id="493" name="Google Shape;493;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34"/>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Histone regulation accompanies transcriptional activation</a:t>
            </a:r>
            <a:endParaRPr sz="1800">
              <a:solidFill>
                <a:schemeClr val="dk1"/>
              </a:solidFill>
              <a:latin typeface="Calibri"/>
              <a:ea typeface="Calibri"/>
              <a:cs typeface="Calibri"/>
              <a:sym typeface="Calibri"/>
            </a:endParaRPr>
          </a:p>
        </p:txBody>
      </p:sp>
      <p:sp>
        <p:nvSpPr>
          <p:cNvPr id="499" name="Google Shape;499;p34"/>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1" i="0" lang="en-US" sz="1500">
                <a:solidFill>
                  <a:srgbClr val="4D2A2F"/>
                </a:solidFill>
                <a:latin typeface="Arial"/>
                <a:ea typeface="Arial"/>
                <a:cs typeface="Arial"/>
                <a:sym typeface="Arial"/>
              </a:rPr>
              <a:t>Histones</a:t>
            </a:r>
            <a:r>
              <a:rPr b="0" i="0" lang="en-US" sz="1500">
                <a:solidFill>
                  <a:srgbClr val="000000"/>
                </a:solidFill>
                <a:latin typeface="Arial"/>
                <a:ea typeface="Arial"/>
                <a:cs typeface="Arial"/>
                <a:sym typeface="Arial"/>
              </a:rPr>
              <a:t> are proteins around which DNA is packaged, and their chemical modifications influence access to regulatory regions. Hart and colleagues examined the synapsin promoter after serotonin treatment with antibodies against CREB1, acetylated histones and histone deacetylase 5. </a:t>
            </a:r>
            <a:r>
              <a:rPr b="1" i="0" lang="en-US" sz="1500">
                <a:solidFill>
                  <a:srgbClr val="4D2A2F"/>
                </a:solidFill>
                <a:latin typeface="Arial"/>
                <a:ea typeface="Arial"/>
                <a:cs typeface="Arial"/>
                <a:sym typeface="Arial"/>
              </a:rPr>
              <a:t>Acetylation</a:t>
            </a:r>
            <a:r>
              <a:rPr b="0" i="0" lang="en-US" sz="1500">
                <a:solidFill>
                  <a:srgbClr val="000000"/>
                </a:solidFill>
                <a:latin typeface="Arial"/>
                <a:ea typeface="Arial"/>
                <a:cs typeface="Arial"/>
                <a:sym typeface="Arial"/>
              </a:rPr>
              <a:t> adds an acetyl group to a protein.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Serotonin increased acetylation of histones H3 and H4 near the promoter and reduced the binding of histone deacetylase 5, an enzyme that removes acetyl groups. CREB1 binding rose in the same region. This pattern favors greater transcriptional access and matches the measured increase in synapsin expression.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The chromatin changes appear alongside the CREB1 binding in the same region of the promoter. The first modification in this sequence is identified by timing experiments.</a:t>
            </a:r>
            <a:endParaRPr sz="1800">
              <a:solidFill>
                <a:schemeClr val="dk1"/>
              </a:solidFill>
              <a:latin typeface="Calibri"/>
              <a:ea typeface="Calibri"/>
              <a:cs typeface="Calibri"/>
              <a:sym typeface="Calibri"/>
            </a:endParaRPr>
          </a:p>
        </p:txBody>
      </p:sp>
      <p:pic>
        <p:nvPicPr>
          <p:cNvPr id="502" name="Google Shape;502;p34"/>
          <p:cNvPicPr preferRelativeResize="0"/>
          <p:nvPr/>
        </p:nvPicPr>
        <p:blipFill rotWithShape="1">
          <a:blip r:embed="rId3">
            <a:alphaModFix/>
          </a:blip>
          <a:srcRect b="0" l="0" r="0" t="0"/>
          <a:stretch/>
        </p:blipFill>
        <p:spPr>
          <a:xfrm>
            <a:off x="6959974" y="1280071"/>
            <a:ext cx="4209103" cy="4297561"/>
          </a:xfrm>
          <a:prstGeom prst="rect">
            <a:avLst/>
          </a:prstGeom>
          <a:noFill/>
          <a:ln>
            <a:noFill/>
          </a:ln>
        </p:spPr>
      </p:pic>
      <p:sp>
        <p:nvSpPr>
          <p:cNvPr id="503" name="Google Shape;503;p34"/>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5(A–B). CREB binding and histone-related assays at the synapsin promoter.</a:t>
            </a:r>
            <a:endParaRPr sz="1800">
              <a:solidFill>
                <a:schemeClr val="dk1"/>
              </a:solidFill>
              <a:latin typeface="Calibri"/>
              <a:ea typeface="Calibri"/>
              <a:cs typeface="Calibri"/>
              <a:sym typeface="Calibri"/>
            </a:endParaRPr>
          </a:p>
        </p:txBody>
      </p:sp>
      <p:sp>
        <p:nvSpPr>
          <p:cNvPr id="504" name="Google Shape;504;p3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a:t>
            </a:r>
            <a:endParaRPr sz="1800">
              <a:solidFill>
                <a:schemeClr val="dk1"/>
              </a:solidFill>
              <a:latin typeface="Calibri"/>
              <a:ea typeface="Calibri"/>
              <a:cs typeface="Calibri"/>
              <a:sym typeface="Calibri"/>
            </a:endParaRPr>
          </a:p>
        </p:txBody>
      </p:sp>
      <p:sp>
        <p:nvSpPr>
          <p:cNvPr id="506" name="Google Shape;506;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Synapsin knockdown impairs long-term facilitation</a:t>
            </a:r>
            <a:endParaRPr sz="1800">
              <a:solidFill>
                <a:schemeClr val="dk1"/>
              </a:solidFill>
              <a:latin typeface="Calibri"/>
              <a:ea typeface="Calibri"/>
              <a:cs typeface="Calibri"/>
              <a:sym typeface="Calibri"/>
            </a:endParaRPr>
          </a:p>
        </p:txBody>
      </p:sp>
      <p:sp>
        <p:nvSpPr>
          <p:cNvPr id="512" name="Google Shape;512;p35"/>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400"/>
              <a:buFont typeface="Arial"/>
              <a:buNone/>
            </a:pPr>
            <a:r>
              <a:rPr b="1" i="0" lang="en-US" sz="1500">
                <a:solidFill>
                  <a:srgbClr val="4D2A2F"/>
                </a:solidFill>
                <a:latin typeface="Arial"/>
                <a:ea typeface="Arial"/>
                <a:cs typeface="Arial"/>
                <a:sym typeface="Arial"/>
              </a:rPr>
              <a:t>RNA interference</a:t>
            </a:r>
            <a:r>
              <a:rPr b="0" i="0" lang="en-US" sz="1500">
                <a:solidFill>
                  <a:srgbClr val="000000"/>
                </a:solidFill>
                <a:latin typeface="Arial"/>
                <a:ea typeface="Arial"/>
                <a:cs typeface="Arial"/>
                <a:sym typeface="Arial"/>
              </a:rPr>
              <a:t> uses complementary small RNA molecules to reduce expression of a target RNA. Hart and colleagues injected sensory neurons with synapsin-targeting small interfering RNA, or siRNA, and with control siRNA. Serotonin training and EPSP recordings were then carried out in the sensory–motor cocultures.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Targeting synapsin blocked the serotonin-induced rise in its protein and impaired facilitation measured 24 h later. Basal synapsin levels and short-term synaptic responses were measured separately. The knockdown therefore links the induced expression change to the lasting physiological outcome.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Synapsin is required for facilitation under this protocol, and it is one component of persistent enhancement. Vesicle organization, receptor signaling, transcription and synaptic structure interact with it.</a:t>
            </a:r>
            <a:endParaRPr sz="1800">
              <a:solidFill>
                <a:schemeClr val="dk1"/>
              </a:solidFill>
              <a:latin typeface="Calibri"/>
              <a:ea typeface="Calibri"/>
              <a:cs typeface="Calibri"/>
              <a:sym typeface="Calibri"/>
            </a:endParaRPr>
          </a:p>
        </p:txBody>
      </p:sp>
      <p:pic>
        <p:nvPicPr>
          <p:cNvPr id="515" name="Google Shape;515;p35"/>
          <p:cNvPicPr preferRelativeResize="0"/>
          <p:nvPr/>
        </p:nvPicPr>
        <p:blipFill rotWithShape="1">
          <a:blip r:embed="rId3">
            <a:alphaModFix/>
          </a:blip>
          <a:srcRect b="0" l="0" r="0" t="0"/>
          <a:stretch/>
        </p:blipFill>
        <p:spPr>
          <a:xfrm>
            <a:off x="1531300" y="1280071"/>
            <a:ext cx="3557572" cy="3017490"/>
          </a:xfrm>
          <a:prstGeom prst="rect">
            <a:avLst/>
          </a:prstGeom>
          <a:noFill/>
          <a:ln>
            <a:noFill/>
          </a:ln>
        </p:spPr>
      </p:pic>
      <p:sp>
        <p:nvSpPr>
          <p:cNvPr id="516" name="Google Shape;516;p35"/>
          <p:cNvSpPr/>
          <p:nvPr/>
        </p:nvSpPr>
        <p:spPr>
          <a:xfrm>
            <a:off x="56688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7(A–B). Synapsin siRNA impairs the 24 h facilitation response.</a:t>
            </a:r>
            <a:endParaRPr sz="1800">
              <a:solidFill>
                <a:schemeClr val="dk1"/>
              </a:solidFill>
              <a:latin typeface="Calibri"/>
              <a:ea typeface="Calibri"/>
              <a:cs typeface="Calibri"/>
              <a:sym typeface="Calibri"/>
            </a:endParaRPr>
          </a:p>
        </p:txBody>
      </p:sp>
      <p:pic>
        <p:nvPicPr>
          <p:cNvPr id="517" name="Google Shape;517;p35"/>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518" name="Google Shape;518;p3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519" name="Google Shape;519;p3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 Chen et al. (2014)</a:t>
            </a:r>
            <a:endParaRPr sz="1800">
              <a:solidFill>
                <a:schemeClr val="dk1"/>
              </a:solidFill>
              <a:latin typeface="Calibri"/>
              <a:ea typeface="Calibri"/>
              <a:cs typeface="Calibri"/>
              <a:sym typeface="Calibri"/>
            </a:endParaRPr>
          </a:p>
        </p:txBody>
      </p:sp>
      <p:sp>
        <p:nvSpPr>
          <p:cNvPr id="521" name="Google Shape;521;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Local protein expression can change without a cell body</a:t>
            </a:r>
            <a:endParaRPr sz="1800">
              <a:solidFill>
                <a:schemeClr val="dk1"/>
              </a:solidFill>
              <a:latin typeface="Calibri"/>
              <a:ea typeface="Calibri"/>
              <a:cs typeface="Calibri"/>
              <a:sym typeface="Calibri"/>
            </a:endParaRPr>
          </a:p>
        </p:txBody>
      </p:sp>
      <p:sp>
        <p:nvSpPr>
          <p:cNvPr id="527" name="Google Shape;527;p36"/>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Lee and colleagues examined </a:t>
            </a:r>
            <a:r>
              <a:rPr b="1" i="0" lang="en-US" sz="1500">
                <a:solidFill>
                  <a:srgbClr val="4D2A2F"/>
                </a:solidFill>
                <a:latin typeface="Arial"/>
                <a:ea typeface="Arial"/>
                <a:cs typeface="Arial"/>
                <a:sym typeface="Arial"/>
              </a:rPr>
              <a:t>ApCPEB4</a:t>
            </a:r>
            <a:r>
              <a:rPr b="0" i="0" lang="en-US" sz="1500">
                <a:solidFill>
                  <a:srgbClr val="000000"/>
                </a:solidFill>
                <a:latin typeface="Arial"/>
                <a:ea typeface="Arial"/>
                <a:cs typeface="Arial"/>
                <a:sym typeface="Arial"/>
              </a:rPr>
              <a:t>, an RNA-binding translation regulator in </a:t>
            </a:r>
            <a:r>
              <a:rPr b="0" i="1" lang="en-US" sz="1500">
                <a:solidFill>
                  <a:srgbClr val="000000"/>
                </a:solidFill>
                <a:latin typeface="Arial"/>
                <a:ea typeface="Arial"/>
                <a:cs typeface="Arial"/>
                <a:sym typeface="Arial"/>
              </a:rPr>
              <a:t>Aplysia kurodai</a:t>
            </a:r>
            <a:r>
              <a:rPr b="0" i="0" lang="en-US" sz="1500">
                <a:solidFill>
                  <a:srgbClr val="000000"/>
                </a:solidFill>
                <a:latin typeface="Arial"/>
                <a:ea typeface="Arial"/>
                <a:cs typeface="Arial"/>
                <a:sym typeface="Arial"/>
              </a:rPr>
              <a:t>, a related sea-hare species. They attached fluorescent reporters to its 3′ untranslated region, an RNA segment that controls expression without encoding protein sequence.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Severed neurites allowed local responses to be separated from delivery by the cell body. Serotonin increased reporter expression in these isolated processes. Translation-related controls separated this increase from a requirement for new transcription.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Isolated processes hold a local pool of RNA that responds to modulatory signaling without the nucleus. Local translation therefore adds a control point for facilitation alongside transcription.</a:t>
            </a:r>
            <a:endParaRPr sz="1800">
              <a:solidFill>
                <a:schemeClr val="dk1"/>
              </a:solidFill>
              <a:latin typeface="Calibri"/>
              <a:ea typeface="Calibri"/>
              <a:cs typeface="Calibri"/>
              <a:sym typeface="Calibri"/>
            </a:endParaRPr>
          </a:p>
        </p:txBody>
      </p:sp>
      <p:pic>
        <p:nvPicPr>
          <p:cNvPr id="530" name="Google Shape;530;p36"/>
          <p:cNvPicPr preferRelativeResize="0"/>
          <p:nvPr/>
        </p:nvPicPr>
        <p:blipFill rotWithShape="1">
          <a:blip r:embed="rId3">
            <a:alphaModFix/>
          </a:blip>
          <a:srcRect b="0" l="0" r="0" t="0"/>
          <a:stretch/>
        </p:blipFill>
        <p:spPr>
          <a:xfrm>
            <a:off x="6504338" y="1280071"/>
            <a:ext cx="5120524" cy="3446711"/>
          </a:xfrm>
          <a:prstGeom prst="rect">
            <a:avLst/>
          </a:prstGeom>
          <a:noFill/>
          <a:ln>
            <a:noFill/>
          </a:ln>
        </p:spPr>
      </p:pic>
      <p:sp>
        <p:nvSpPr>
          <p:cNvPr id="531" name="Google Shape;531;p36"/>
          <p:cNvSpPr/>
          <p:nvPr/>
        </p:nvSpPr>
        <p:spPr>
          <a:xfrm>
            <a:off x="6504236" y="481831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Lee et al. (2016), Fig. 2(a–c). Local reporter responses in sensory-neuron processes.</a:t>
            </a:r>
            <a:endParaRPr sz="1800">
              <a:solidFill>
                <a:schemeClr val="dk1"/>
              </a:solidFill>
              <a:latin typeface="Calibri"/>
              <a:ea typeface="Calibri"/>
              <a:cs typeface="Calibri"/>
              <a:sym typeface="Calibri"/>
            </a:endParaRPr>
          </a:p>
        </p:txBody>
      </p:sp>
      <p:sp>
        <p:nvSpPr>
          <p:cNvPr id="532" name="Google Shape;532;p3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Lee et al. (2016)</a:t>
            </a:r>
            <a:endParaRPr sz="1800">
              <a:solidFill>
                <a:schemeClr val="dk1"/>
              </a:solidFill>
              <a:latin typeface="Calibri"/>
              <a:ea typeface="Calibri"/>
              <a:cs typeface="Calibri"/>
              <a:sym typeface="Calibri"/>
            </a:endParaRPr>
          </a:p>
        </p:txBody>
      </p:sp>
      <p:sp>
        <p:nvSpPr>
          <p:cNvPr id="534" name="Google Shape;534;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ApCPEB4 is required for initiation of facilitation</a:t>
            </a:r>
            <a:endParaRPr sz="1800">
              <a:solidFill>
                <a:schemeClr val="dk1"/>
              </a:solidFill>
              <a:latin typeface="Calibri"/>
              <a:ea typeface="Calibri"/>
              <a:cs typeface="Calibri"/>
              <a:sym typeface="Calibri"/>
            </a:endParaRPr>
          </a:p>
        </p:txBody>
      </p:sp>
      <p:sp>
        <p:nvSpPr>
          <p:cNvPr id="540" name="Google Shape;540;p37"/>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Lee and colleagues reduced ApCPEB4 expression with target-specific double-stranded RNA and recorded EPSPs in cultured sensory–motor pairs. Five serotonin pulses normally induced facilitation measured 24 h later. ApCPEB4 knockdown blocked this enhancement, while control RNA and knockdown of the earlier-described ApCPEB did not.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Overexpressing ApCPEB4 lowered the threshold for persistent enhancement, so one serotonin pulse supported a response that normally required repeated treatment. Fluorescent labeling and expression measurements were taken alongside the recordings, tying the intervention to the intended protein.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ApCPEB4 lacks the prion-like domain of ApCPEB and binds different RNA targets. Its role in starting persistent change is distinct from the maintenance role of ApCPEB.</a:t>
            </a:r>
            <a:endParaRPr sz="1800">
              <a:solidFill>
                <a:schemeClr val="dk1"/>
              </a:solidFill>
              <a:latin typeface="Calibri"/>
              <a:ea typeface="Calibri"/>
              <a:cs typeface="Calibri"/>
              <a:sym typeface="Calibri"/>
            </a:endParaRPr>
          </a:p>
        </p:txBody>
      </p:sp>
      <p:pic>
        <p:nvPicPr>
          <p:cNvPr id="543" name="Google Shape;543;p37"/>
          <p:cNvPicPr preferRelativeResize="0"/>
          <p:nvPr/>
        </p:nvPicPr>
        <p:blipFill rotWithShape="1">
          <a:blip r:embed="rId3">
            <a:alphaModFix/>
          </a:blip>
          <a:srcRect b="0" l="0" r="0" t="0"/>
          <a:stretch/>
        </p:blipFill>
        <p:spPr>
          <a:xfrm>
            <a:off x="566998" y="1280071"/>
            <a:ext cx="5120506" cy="3620095"/>
          </a:xfrm>
          <a:prstGeom prst="rect">
            <a:avLst/>
          </a:prstGeom>
          <a:noFill/>
          <a:ln>
            <a:noFill/>
          </a:ln>
        </p:spPr>
      </p:pic>
      <p:sp>
        <p:nvSpPr>
          <p:cNvPr id="544" name="Google Shape;544;p37"/>
          <p:cNvSpPr/>
          <p:nvPr/>
        </p:nvSpPr>
        <p:spPr>
          <a:xfrm>
            <a:off x="566886" y="4991695"/>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Lee et al. (2016), Fig. 4(a–d). ApCPEB4 knockdown and overexpression alter facilitation.</a:t>
            </a:r>
            <a:endParaRPr sz="1800">
              <a:solidFill>
                <a:schemeClr val="dk1"/>
              </a:solidFill>
              <a:latin typeface="Calibri"/>
              <a:ea typeface="Calibri"/>
              <a:cs typeface="Calibri"/>
              <a:sym typeface="Calibri"/>
            </a:endParaRPr>
          </a:p>
        </p:txBody>
      </p:sp>
      <p:sp>
        <p:nvSpPr>
          <p:cNvPr id="545" name="Google Shape;545;p3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Lee et al. (2016)</a:t>
            </a:r>
            <a:endParaRPr sz="1800">
              <a:solidFill>
                <a:schemeClr val="dk1"/>
              </a:solidFill>
              <a:latin typeface="Calibri"/>
              <a:ea typeface="Calibri"/>
              <a:cs typeface="Calibri"/>
              <a:sym typeface="Calibri"/>
            </a:endParaRPr>
          </a:p>
        </p:txBody>
      </p:sp>
      <p:sp>
        <p:nvSpPr>
          <p:cNvPr id="547" name="Google Shape;547;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PKA phosphorylation contributes to ApCPEB4 function</a:t>
            </a:r>
            <a:endParaRPr sz="1800">
              <a:solidFill>
                <a:schemeClr val="dk1"/>
              </a:solidFill>
              <a:latin typeface="Calibri"/>
              <a:ea typeface="Calibri"/>
              <a:cs typeface="Calibri"/>
              <a:sym typeface="Calibri"/>
            </a:endParaRPr>
          </a:p>
        </p:txBody>
      </p:sp>
      <p:sp>
        <p:nvSpPr>
          <p:cNvPr id="553" name="Google Shape;553;p38"/>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Lee and colleagues asked whether PKA can phosphorylate ApCPEB4 and whether that change affects facilitation. </a:t>
            </a:r>
            <a:r>
              <a:rPr b="1" i="0" lang="en-US" sz="1500">
                <a:solidFill>
                  <a:srgbClr val="4D2A2F"/>
                </a:solidFill>
                <a:latin typeface="Arial"/>
                <a:ea typeface="Arial"/>
                <a:cs typeface="Arial"/>
                <a:sym typeface="Arial"/>
              </a:rPr>
              <a:t>Phosphorylation</a:t>
            </a:r>
            <a:r>
              <a:rPr b="0" i="0" lang="en-US" sz="1500">
                <a:solidFill>
                  <a:srgbClr val="000000"/>
                </a:solidFill>
                <a:latin typeface="Arial"/>
                <a:ea typeface="Arial"/>
                <a:cs typeface="Arial"/>
                <a:sym typeface="Arial"/>
              </a:rPr>
              <a:t> adds a phosphate group and can change a protein's activity or its partners. Biochemical assays and neuronal expression experiments addressed the two parts of this signaling link.</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PKA phosphorylated ApCPEB4. Replacing threonine at position 294 with alanine prevented phosphorylation there and interfered with long-term facilitation. Pharmacological treatments that targeted ERK and protein kinase C had different effects from the PKA-sensitive one, which ties a translation-regulatory protein to a kinase already implicated in serotonin-dependent enhancement.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The mutant protein changes more than its phosphorylation site, so it is compared with the wild-type protein in the same cultures. The PKA-to-ApCPEB4 link is shown in the cultured connection.</a:t>
            </a:r>
            <a:endParaRPr sz="1800">
              <a:solidFill>
                <a:schemeClr val="dk1"/>
              </a:solidFill>
              <a:latin typeface="Calibri"/>
              <a:ea typeface="Calibri"/>
              <a:cs typeface="Calibri"/>
              <a:sym typeface="Calibri"/>
            </a:endParaRPr>
          </a:p>
        </p:txBody>
      </p:sp>
      <p:pic>
        <p:nvPicPr>
          <p:cNvPr id="556" name="Google Shape;556;p38"/>
          <p:cNvPicPr preferRelativeResize="0"/>
          <p:nvPr/>
        </p:nvPicPr>
        <p:blipFill rotWithShape="1">
          <a:blip r:embed="rId3">
            <a:alphaModFix/>
          </a:blip>
          <a:srcRect b="0" l="0" r="0" t="0"/>
          <a:stretch/>
        </p:blipFill>
        <p:spPr>
          <a:xfrm>
            <a:off x="6504331" y="1280071"/>
            <a:ext cx="5120538" cy="2335560"/>
          </a:xfrm>
          <a:prstGeom prst="rect">
            <a:avLst/>
          </a:prstGeom>
          <a:noFill/>
          <a:ln>
            <a:noFill/>
          </a:ln>
        </p:spPr>
      </p:pic>
      <p:sp>
        <p:nvSpPr>
          <p:cNvPr id="557" name="Google Shape;557;p38"/>
          <p:cNvSpPr/>
          <p:nvPr/>
        </p:nvSpPr>
        <p:spPr>
          <a:xfrm>
            <a:off x="6504236" y="3707160"/>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Lee et al. (2016), Fig. 5(a–c). Phosphorylation assays and mutated ApCPEB4 intervention.</a:t>
            </a:r>
            <a:endParaRPr sz="1800">
              <a:solidFill>
                <a:schemeClr val="dk1"/>
              </a:solidFill>
              <a:latin typeface="Calibri"/>
              <a:ea typeface="Calibri"/>
              <a:cs typeface="Calibri"/>
              <a:sym typeface="Calibri"/>
            </a:endParaRPr>
          </a:p>
        </p:txBody>
      </p:sp>
      <p:sp>
        <p:nvSpPr>
          <p:cNvPr id="558" name="Google Shape;558;p3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Lee et al. (2016)</a:t>
            </a:r>
            <a:endParaRPr sz="1800">
              <a:solidFill>
                <a:schemeClr val="dk1"/>
              </a:solidFill>
              <a:latin typeface="Calibri"/>
              <a:ea typeface="Calibri"/>
              <a:cs typeface="Calibri"/>
              <a:sym typeface="Calibri"/>
            </a:endParaRPr>
          </a:p>
        </p:txBody>
      </p:sp>
      <p:sp>
        <p:nvSpPr>
          <p:cNvPr id="560" name="Google Shape;560;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4" name="Shape 564"/>
        <p:cNvGrpSpPr/>
        <p:nvPr/>
      </p:nvGrpSpPr>
      <p:grpSpPr>
        <a:xfrm>
          <a:off x="0" y="0"/>
          <a:ext cx="0" cy="0"/>
          <a:chOff x="0" y="0"/>
          <a:chExt cx="0" cy="0"/>
        </a:xfrm>
      </p:grpSpPr>
      <p:sp>
        <p:nvSpPr>
          <p:cNvPr id="565" name="Google Shape;565;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Neurotrophin isoforms differ in neuronal trafficking</a:t>
            </a:r>
            <a:endParaRPr sz="1800">
              <a:solidFill>
                <a:schemeClr val="dk1"/>
              </a:solidFill>
              <a:latin typeface="Calibri"/>
              <a:ea typeface="Calibri"/>
              <a:cs typeface="Calibri"/>
              <a:sym typeface="Calibri"/>
            </a:endParaRPr>
          </a:p>
        </p:txBody>
      </p:sp>
      <p:sp>
        <p:nvSpPr>
          <p:cNvPr id="566" name="Google Shape;566;p39"/>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Kassabov and colleagues identified </a:t>
            </a:r>
            <a:r>
              <a:rPr b="1" i="0" lang="en-US" sz="1500">
                <a:solidFill>
                  <a:srgbClr val="4D2A2F"/>
                </a:solidFill>
                <a:latin typeface="Arial"/>
                <a:ea typeface="Arial"/>
                <a:cs typeface="Arial"/>
                <a:sym typeface="Arial"/>
              </a:rPr>
              <a:t>ApNT</a:t>
            </a:r>
            <a:r>
              <a:rPr b="0" i="0" lang="en-US" sz="1500">
                <a:solidFill>
                  <a:srgbClr val="000000"/>
                </a:solidFill>
                <a:latin typeface="Arial"/>
                <a:ea typeface="Arial"/>
                <a:cs typeface="Arial"/>
                <a:sym typeface="Arial"/>
              </a:rPr>
              <a:t>, an Aplysia neurotrophin, and </a:t>
            </a:r>
            <a:r>
              <a:rPr b="1" i="0" lang="en-US" sz="1500">
                <a:solidFill>
                  <a:srgbClr val="4D2A2F"/>
                </a:solidFill>
                <a:latin typeface="Arial"/>
                <a:ea typeface="Arial"/>
                <a:cs typeface="Arial"/>
                <a:sym typeface="Arial"/>
              </a:rPr>
              <a:t>ApTrk</a:t>
            </a:r>
            <a:r>
              <a:rPr b="0" i="0" lang="en-US" sz="1500">
                <a:solidFill>
                  <a:srgbClr val="000000"/>
                </a:solidFill>
                <a:latin typeface="Arial"/>
                <a:ea typeface="Arial"/>
                <a:cs typeface="Arial"/>
                <a:sym typeface="Arial"/>
              </a:rPr>
              <a:t>, its receptor tyrosine kinase. A </a:t>
            </a:r>
            <a:r>
              <a:rPr b="1" i="0" lang="en-US" sz="1500">
                <a:solidFill>
                  <a:srgbClr val="4D2A2F"/>
                </a:solidFill>
                <a:latin typeface="Arial"/>
                <a:ea typeface="Arial"/>
                <a:cs typeface="Arial"/>
                <a:sym typeface="Arial"/>
              </a:rPr>
              <a:t>neurotrophin</a:t>
            </a:r>
            <a:r>
              <a:rPr b="0" i="0" lang="en-US" sz="1500">
                <a:solidFill>
                  <a:srgbClr val="000000"/>
                </a:solidFill>
                <a:latin typeface="Arial"/>
                <a:ea typeface="Arial"/>
                <a:cs typeface="Arial"/>
                <a:sym typeface="Arial"/>
              </a:rPr>
              <a:t> is a secreted signaling protein that regulates neuronal growth or function. Alternative RNA processing produced ApNT isoforms with different processing and secretion properties.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Tagged isoforms were expressed in sensory–motor cultures and examined with biochemical assays and fluorescence microscopy. Their distributions differed between cell bodies, neurites and secretion-related compartments. The labeling connects each isoform's processing to where it sits in the cell.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The ApNT isoform with the stronger secretion profile reaches the ApTrk receptor on distant neurites. Receptor activation in those neurites is then tested with functional assays.</a:t>
            </a:r>
            <a:endParaRPr sz="1800">
              <a:solidFill>
                <a:schemeClr val="dk1"/>
              </a:solidFill>
              <a:latin typeface="Calibri"/>
              <a:ea typeface="Calibri"/>
              <a:cs typeface="Calibri"/>
              <a:sym typeface="Calibri"/>
            </a:endParaRPr>
          </a:p>
        </p:txBody>
      </p:sp>
      <p:pic>
        <p:nvPicPr>
          <p:cNvPr id="569" name="Google Shape;569;p39"/>
          <p:cNvPicPr preferRelativeResize="0"/>
          <p:nvPr/>
        </p:nvPicPr>
        <p:blipFill rotWithShape="1">
          <a:blip r:embed="rId3">
            <a:alphaModFix/>
          </a:blip>
          <a:srcRect b="0" l="0" r="0" t="0"/>
          <a:stretch/>
        </p:blipFill>
        <p:spPr>
          <a:xfrm>
            <a:off x="1405165" y="1280071"/>
            <a:ext cx="3444172" cy="4297561"/>
          </a:xfrm>
          <a:prstGeom prst="rect">
            <a:avLst/>
          </a:prstGeom>
          <a:noFill/>
          <a:ln>
            <a:noFill/>
          </a:ln>
        </p:spPr>
      </p:pic>
      <p:sp>
        <p:nvSpPr>
          <p:cNvPr id="570" name="Google Shape;570;p39"/>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Kassabov et al. (2013), Fig. 4(A–E). ApNT isoform processing and localization in cultured neurons.</a:t>
            </a:r>
            <a:endParaRPr sz="1800">
              <a:solidFill>
                <a:schemeClr val="dk1"/>
              </a:solidFill>
              <a:latin typeface="Calibri"/>
              <a:ea typeface="Calibri"/>
              <a:cs typeface="Calibri"/>
              <a:sym typeface="Calibri"/>
            </a:endParaRPr>
          </a:p>
        </p:txBody>
      </p:sp>
      <p:sp>
        <p:nvSpPr>
          <p:cNvPr id="571" name="Google Shape;571;p3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Kassabov et al. (2013)</a:t>
            </a:r>
            <a:endParaRPr sz="1800">
              <a:solidFill>
                <a:schemeClr val="dk1"/>
              </a:solidFill>
              <a:latin typeface="Calibri"/>
              <a:ea typeface="Calibri"/>
              <a:cs typeface="Calibri"/>
              <a:sym typeface="Calibri"/>
            </a:endParaRPr>
          </a:p>
        </p:txBody>
      </p:sp>
      <p:sp>
        <p:nvSpPr>
          <p:cNvPr id="573" name="Google Shape;573;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ApNT signaling promotes synaptic strength and growth</a:t>
            </a:r>
            <a:endParaRPr sz="1800">
              <a:solidFill>
                <a:schemeClr val="dk1"/>
              </a:solidFill>
              <a:latin typeface="Calibri"/>
              <a:ea typeface="Calibri"/>
              <a:cs typeface="Calibri"/>
              <a:sym typeface="Calibri"/>
            </a:endParaRPr>
          </a:p>
        </p:txBody>
      </p:sp>
      <p:sp>
        <p:nvSpPr>
          <p:cNvPr id="579" name="Google Shape;579;p40"/>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Kassabov and colleagues manipulated ApNT–ApTrk signaling in cultured sensory–motor connections. A </a:t>
            </a:r>
            <a:r>
              <a:rPr b="1" i="0" lang="en-US" sz="1500">
                <a:solidFill>
                  <a:srgbClr val="4D2A2F"/>
                </a:solidFill>
                <a:latin typeface="Arial"/>
                <a:ea typeface="Arial"/>
                <a:cs typeface="Arial"/>
                <a:sym typeface="Arial"/>
              </a:rPr>
              <a:t>dominant-negative receptor</a:t>
            </a:r>
            <a:r>
              <a:rPr b="0" i="0" lang="en-US" sz="1500">
                <a:solidFill>
                  <a:srgbClr val="000000"/>
                </a:solidFill>
                <a:latin typeface="Arial"/>
                <a:ea typeface="Arial"/>
                <a:cs typeface="Arial"/>
                <a:sym typeface="Arial"/>
              </a:rPr>
              <a:t> is an altered receptor that interferes with signaling by the normal receptor. Expressing dominant-negative ApTrk impaired serotonin-induced long-term facilitation and left short-term enhancement intact.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Raising ApNT expression increased synaptic strength and increased the number of sensory-neuron varicosities. Confocal images taken over time tracked the structural changes in labeled neuronal processes. Functional EPSPs and growth were measured separately from one another.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Overexpression shows what raised signaling can produce, and receptor interference shows what the training protocol requires. Together these results place a growth-related contribution alongside serotonin, kinase activity and gene-expression mechanisms.</a:t>
            </a:r>
            <a:endParaRPr sz="1800">
              <a:solidFill>
                <a:schemeClr val="dk1"/>
              </a:solidFill>
              <a:latin typeface="Calibri"/>
              <a:ea typeface="Calibri"/>
              <a:cs typeface="Calibri"/>
              <a:sym typeface="Calibri"/>
            </a:endParaRPr>
          </a:p>
        </p:txBody>
      </p:sp>
      <p:pic>
        <p:nvPicPr>
          <p:cNvPr id="582" name="Google Shape;582;p40"/>
          <p:cNvPicPr preferRelativeResize="0"/>
          <p:nvPr/>
        </p:nvPicPr>
        <p:blipFill rotWithShape="1">
          <a:blip r:embed="rId3">
            <a:alphaModFix/>
          </a:blip>
          <a:srcRect b="0" l="0" r="0" t="0"/>
          <a:stretch/>
        </p:blipFill>
        <p:spPr>
          <a:xfrm>
            <a:off x="6881286" y="1280071"/>
            <a:ext cx="4366629" cy="4297561"/>
          </a:xfrm>
          <a:prstGeom prst="rect">
            <a:avLst/>
          </a:prstGeom>
          <a:noFill/>
          <a:ln>
            <a:noFill/>
          </a:ln>
        </p:spPr>
      </p:pic>
      <p:sp>
        <p:nvSpPr>
          <p:cNvPr id="583" name="Google Shape;583;p40"/>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Kassabov et al. (2013), Fig. 6(A–D). ApNT-dependent enhancement and growth of neuronal varicosities.</a:t>
            </a:r>
            <a:endParaRPr sz="1800">
              <a:solidFill>
                <a:schemeClr val="dk1"/>
              </a:solidFill>
              <a:latin typeface="Calibri"/>
              <a:ea typeface="Calibri"/>
              <a:cs typeface="Calibri"/>
              <a:sym typeface="Calibri"/>
            </a:endParaRPr>
          </a:p>
        </p:txBody>
      </p:sp>
      <p:sp>
        <p:nvSpPr>
          <p:cNvPr id="584" name="Google Shape;584;p4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Kassabov et al. (2013)</a:t>
            </a:r>
            <a:endParaRPr sz="1800">
              <a:solidFill>
                <a:schemeClr val="dk1"/>
              </a:solidFill>
              <a:latin typeface="Calibri"/>
              <a:ea typeface="Calibri"/>
              <a:cs typeface="Calibri"/>
              <a:sym typeface="Calibri"/>
            </a:endParaRPr>
          </a:p>
        </p:txBody>
      </p:sp>
      <p:sp>
        <p:nvSpPr>
          <p:cNvPr id="586" name="Google Shape;58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0" name="Shape 590"/>
        <p:cNvGrpSpPr/>
        <p:nvPr/>
      </p:nvGrpSpPr>
      <p:grpSpPr>
        <a:xfrm>
          <a:off x="0" y="0"/>
          <a:ext cx="0" cy="0"/>
          <a:chOff x="0" y="0"/>
          <a:chExt cx="0" cy="0"/>
        </a:xfrm>
      </p:grpSpPr>
      <p:sp>
        <p:nvSpPr>
          <p:cNvPr id="591" name="Google Shape;591;p41"/>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CREB1 reduction weakens day-long synaptic enhancement</a:t>
            </a:r>
            <a:endParaRPr sz="1800">
              <a:solidFill>
                <a:schemeClr val="dk1"/>
              </a:solidFill>
              <a:latin typeface="Calibri"/>
              <a:ea typeface="Calibri"/>
              <a:cs typeface="Calibri"/>
              <a:sym typeface="Calibri"/>
            </a:endParaRPr>
          </a:p>
        </p:txBody>
      </p:sp>
      <p:sp>
        <p:nvSpPr>
          <p:cNvPr id="592" name="Google Shape;592;p41"/>
          <p:cNvSpPr/>
          <p:nvPr/>
        </p:nvSpPr>
        <p:spPr>
          <a:xfrm>
            <a:off x="6419255" y="1371600"/>
            <a:ext cx="5224760" cy="4778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Zhou and colleagues injected CREB1-targeting siRNA into sensory neurons and waited 72 h before applying repeated serotonin. The standard protocol used five 5 min pulses of 50 μM serotonin, and EPSPs were recorded before treatment and at 24 h afterward. Control siRNA and vehicle groups were run in parallel.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CREB1 knockdown impaired long-term facilitation. In the reported comparison, control-RNA synapses reached about 184% of their pretest amplitude, whereas CREB1-siRNA synapses reached about 121%. Basal transmission was measured separately in each group.</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transcription factor is therefore needed for persistent synaptic enhancement under this protocol. CREB1 works alongside other regulators, and partial loss of it weakens an otherwise effective training pattern.</a:t>
            </a:r>
            <a:endParaRPr sz="1800">
              <a:solidFill>
                <a:schemeClr val="dk1"/>
              </a:solidFill>
              <a:latin typeface="Calibri"/>
              <a:ea typeface="Calibri"/>
              <a:cs typeface="Calibri"/>
              <a:sym typeface="Calibri"/>
            </a:endParaRPr>
          </a:p>
        </p:txBody>
      </p:sp>
      <p:pic>
        <p:nvPicPr>
          <p:cNvPr id="595" name="Google Shape;595;p41"/>
          <p:cNvPicPr preferRelativeResize="0"/>
          <p:nvPr/>
        </p:nvPicPr>
        <p:blipFill rotWithShape="1">
          <a:blip r:embed="rId3">
            <a:alphaModFix/>
          </a:blip>
          <a:srcRect b="0" l="0" r="0" t="0"/>
          <a:stretch/>
        </p:blipFill>
        <p:spPr>
          <a:xfrm>
            <a:off x="2414290" y="1280092"/>
            <a:ext cx="1791444" cy="3017447"/>
          </a:xfrm>
          <a:prstGeom prst="rect">
            <a:avLst/>
          </a:prstGeom>
          <a:noFill/>
          <a:ln>
            <a:noFill/>
          </a:ln>
        </p:spPr>
      </p:pic>
      <p:pic>
        <p:nvPicPr>
          <p:cNvPr id="597" name="Google Shape;597;p41"/>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598" name="Google Shape;598;p41"/>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599" name="Google Shape;599;p4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Zhou et al. (2015); Chen et al. (2014)</a:t>
            </a:r>
            <a:endParaRPr sz="1800">
              <a:solidFill>
                <a:schemeClr val="dk1"/>
              </a:solidFill>
              <a:latin typeface="Calibri"/>
              <a:ea typeface="Calibri"/>
              <a:cs typeface="Calibri"/>
              <a:sym typeface="Calibri"/>
            </a:endParaRPr>
          </a:p>
        </p:txBody>
      </p:sp>
      <p:sp>
        <p:nvSpPr>
          <p:cNvPr id="601" name="Google Shape;60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Training and cAMP regulation can rescue impairment</a:t>
            </a:r>
            <a:endParaRPr sz="1800">
              <a:solidFill>
                <a:schemeClr val="dk1"/>
              </a:solidFill>
              <a:latin typeface="Calibri"/>
              <a:ea typeface="Calibri"/>
              <a:cs typeface="Calibri"/>
              <a:sym typeface="Calibri"/>
            </a:endParaRPr>
          </a:p>
        </p:txBody>
      </p:sp>
      <p:sp>
        <p:nvSpPr>
          <p:cNvPr id="607" name="Google Shape;607;p42"/>
          <p:cNvSpPr/>
          <p:nvPr/>
        </p:nvSpPr>
        <p:spPr>
          <a:xfrm>
            <a:off x="566886" y="1234380"/>
            <a:ext cx="522476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Zhou and colleagues tested a modified serotonin schedule chosen with a signaling model developed earlier. The recorded EPSPs in sensory–motor cultures are the test, and the model's prediction is secondary. The modified schedule partially restored facilitation after CREB1 knockdown.</a:t>
            </a:r>
            <a:endParaRPr sz="1800">
              <a:solidFill>
                <a:schemeClr val="dk1"/>
              </a:solidFill>
              <a:latin typeface="Calibri"/>
              <a:ea typeface="Calibri"/>
              <a:cs typeface="Calibri"/>
              <a:sym typeface="Calibri"/>
            </a:endParaRPr>
          </a:p>
        </p:txBody>
      </p:sp>
      <p:pic>
        <p:nvPicPr>
          <p:cNvPr id="610" name="Google Shape;610;p42"/>
          <p:cNvPicPr preferRelativeResize="0"/>
          <p:nvPr/>
        </p:nvPicPr>
        <p:blipFill rotWithShape="1">
          <a:blip r:embed="rId3">
            <a:alphaModFix/>
          </a:blip>
          <a:srcRect b="0" l="0" r="0" t="0"/>
          <a:stretch/>
        </p:blipFill>
        <p:spPr>
          <a:xfrm>
            <a:off x="7984778" y="1280131"/>
            <a:ext cx="1793825" cy="3017370"/>
          </a:xfrm>
          <a:prstGeom prst="rect">
            <a:avLst/>
          </a:prstGeom>
          <a:noFill/>
          <a:ln>
            <a:noFill/>
          </a:ln>
        </p:spPr>
      </p:pic>
      <p:sp>
        <p:nvSpPr>
          <p:cNvPr id="611" name="Google Shape;611;p42"/>
          <p:cNvSpPr/>
          <p:nvPr/>
        </p:nvSpPr>
        <p:spPr>
          <a:xfrm>
            <a:off x="6138416" y="2490918"/>
            <a:ext cx="550545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1" i="0" lang="en-US" sz="1400">
                <a:solidFill>
                  <a:srgbClr val="4D2A2F"/>
                </a:solidFill>
                <a:latin typeface="Arial"/>
                <a:ea typeface="Arial"/>
                <a:cs typeface="Arial"/>
                <a:sym typeface="Arial"/>
              </a:rPr>
              <a:t>Rolipram</a:t>
            </a:r>
            <a:r>
              <a:rPr b="0" i="0" lang="en-US" sz="1400">
                <a:solidFill>
                  <a:srgbClr val="000000"/>
                </a:solidFill>
                <a:latin typeface="Arial"/>
                <a:ea typeface="Arial"/>
                <a:cs typeface="Arial"/>
                <a:sym typeface="Arial"/>
              </a:rPr>
              <a:t> inhibits a cAMP phosphodiesterase, the enzyme that breaks cAMP down. At 0.2 μM, rolipram increased the effect of the modified protocol. Standard training, modified training, vehicle, control RNA and target RNA groups were recorded, so the temporal pattern and the drug can each be assessed.</a:t>
            </a:r>
            <a:endParaRPr sz="1800">
              <a:solidFill>
                <a:schemeClr val="dk1"/>
              </a:solidFill>
              <a:latin typeface="Calibri"/>
              <a:ea typeface="Calibri"/>
              <a:cs typeface="Calibri"/>
              <a:sym typeface="Calibri"/>
            </a:endParaRPr>
          </a:p>
        </p:txBody>
      </p:sp>
      <p:sp>
        <p:nvSpPr>
          <p:cNvPr id="611" name="Google Shape;611;p42"/>
          <p:cNvSpPr/>
          <p:nvPr/>
        </p:nvSpPr>
        <p:spPr>
          <a:xfrm>
            <a:off x="6138416" y="3747456"/>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Rescue was partial, and its size depends on the preparation. Raising cAMP signaling compensates for part of a molecular deficit, and the same recordings identify the neurons in which it occurs.</a:t>
            </a:r>
            <a:endParaRPr sz="1800">
              <a:solidFill>
                <a:schemeClr val="dk1"/>
              </a:solidFill>
              <a:latin typeface="Calibri"/>
              <a:ea typeface="Calibri"/>
              <a:cs typeface="Calibri"/>
              <a:sym typeface="Calibri"/>
            </a:endParaRPr>
          </a:p>
        </p:txBody>
      </p:sp>
      <p:pic>
        <p:nvPicPr>
          <p:cNvPr id="612" name="Google Shape;612;p42"/>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613" name="Google Shape;613;p42"/>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614" name="Google Shape;614;p4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Zhou et al. (2015); Chen et al. (2014)</a:t>
            </a:r>
            <a:endParaRPr sz="1800">
              <a:solidFill>
                <a:schemeClr val="dk1"/>
              </a:solidFill>
              <a:latin typeface="Calibri"/>
              <a:ea typeface="Calibri"/>
              <a:cs typeface="Calibri"/>
              <a:sym typeface="Calibri"/>
            </a:endParaRPr>
          </a:p>
        </p:txBody>
      </p:sp>
      <p:sp>
        <p:nvSpPr>
          <p:cNvPr id="616" name="Google Shape;61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Loss of synaptic growth does not prove memory erasure</a:t>
            </a:r>
            <a:endParaRPr sz="1800">
              <a:solidFill>
                <a:schemeClr val="dk1"/>
              </a:solidFill>
              <a:latin typeface="Calibri"/>
              <a:ea typeface="Calibri"/>
              <a:cs typeface="Calibri"/>
              <a:sym typeface="Calibri"/>
            </a:endParaRPr>
          </a:p>
        </p:txBody>
      </p:sp>
      <p:sp>
        <p:nvSpPr>
          <p:cNvPr id="622" name="Google Shape;622;p43"/>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Chen and colleagues imaged labeled sensory–motor cultures repeatedly, before serotonin training and again at 24 h and 48 h afterward. </a:t>
            </a:r>
            <a:r>
              <a:rPr b="1" i="0" lang="en-US" sz="1500">
                <a:solidFill>
                  <a:srgbClr val="4D2A2F"/>
                </a:solidFill>
                <a:latin typeface="Arial"/>
                <a:ea typeface="Arial"/>
                <a:cs typeface="Arial"/>
                <a:sym typeface="Arial"/>
              </a:rPr>
              <a:t>Reconsolidation</a:t>
            </a:r>
            <a:r>
              <a:rPr b="0" i="0" lang="en-US" sz="1500">
                <a:solidFill>
                  <a:srgbClr val="000000"/>
                </a:solidFill>
                <a:latin typeface="Arial"/>
                <a:ea typeface="Arial"/>
                <a:cs typeface="Arial"/>
                <a:sym typeface="Arial"/>
              </a:rPr>
              <a:t> is the process by which a reactivated memory needs renewed stabilization. Reactivation followed by protein-synthesis inhibition reduced the extra varicosities that the earlier training had added.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Following individual structures showed loss of both the original and the newly formed varicosities, not just the serotonin-induced ones. Untrained cultures also showed structural turnover. The final number of swellings therefore reflects turnover in addition to the training effect.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Permanent synapses and stored information are linked through contacts that can be followed one by one. Structural change, physiological transmission and behavioral memory are measured separately before a memory is said to be altered.</a:t>
            </a:r>
            <a:endParaRPr sz="1800">
              <a:solidFill>
                <a:schemeClr val="dk1"/>
              </a:solidFill>
              <a:latin typeface="Calibri"/>
              <a:ea typeface="Calibri"/>
              <a:cs typeface="Calibri"/>
              <a:sym typeface="Calibri"/>
            </a:endParaRPr>
          </a:p>
        </p:txBody>
      </p:sp>
      <p:pic>
        <p:nvPicPr>
          <p:cNvPr id="625" name="Google Shape;625;p43"/>
          <p:cNvPicPr preferRelativeResize="0"/>
          <p:nvPr/>
        </p:nvPicPr>
        <p:blipFill rotWithShape="1">
          <a:blip r:embed="rId3">
            <a:alphaModFix/>
          </a:blip>
          <a:srcRect b="0" l="0" r="0" t="0"/>
          <a:stretch/>
        </p:blipFill>
        <p:spPr>
          <a:xfrm>
            <a:off x="567005" y="1280071"/>
            <a:ext cx="5120492" cy="3951684"/>
          </a:xfrm>
          <a:prstGeom prst="rect">
            <a:avLst/>
          </a:prstGeom>
          <a:noFill/>
          <a:ln>
            <a:noFill/>
          </a:ln>
        </p:spPr>
      </p:pic>
      <p:sp>
        <p:nvSpPr>
          <p:cNvPr id="626" name="Google Shape;626;p43"/>
          <p:cNvSpPr/>
          <p:nvPr/>
        </p:nvSpPr>
        <p:spPr>
          <a:xfrm>
            <a:off x="566886" y="5323284"/>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3(A–C). Repeated imaging of sensory–motor cocultures and changing varicosities.</a:t>
            </a:r>
            <a:endParaRPr sz="1800">
              <a:solidFill>
                <a:schemeClr val="dk1"/>
              </a:solidFill>
              <a:latin typeface="Calibri"/>
              <a:ea typeface="Calibri"/>
              <a:cs typeface="Calibri"/>
              <a:sym typeface="Calibri"/>
            </a:endParaRPr>
          </a:p>
        </p:txBody>
      </p:sp>
      <p:sp>
        <p:nvSpPr>
          <p:cNvPr id="627" name="Google Shape;627;p4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Chen et al. (2014)</a:t>
            </a:r>
            <a:endParaRPr sz="1800">
              <a:solidFill>
                <a:schemeClr val="dk1"/>
              </a:solidFill>
              <a:latin typeface="Calibri"/>
              <a:ea typeface="Calibri"/>
              <a:cs typeface="Calibri"/>
              <a:sym typeface="Calibri"/>
            </a:endParaRPr>
          </a:p>
        </p:txBody>
      </p:sp>
      <p:sp>
        <p:nvSpPr>
          <p:cNvPr id="629" name="Google Shape;62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3" name="Shape 633"/>
        <p:cNvGrpSpPr/>
        <p:nvPr/>
      </p:nvGrpSpPr>
      <p:grpSpPr>
        <a:xfrm>
          <a:off x="0" y="0"/>
          <a:ext cx="0" cy="0"/>
          <a:chOff x="0" y="0"/>
          <a:chExt cx="0" cy="0"/>
        </a:xfrm>
      </p:grpSpPr>
      <p:sp>
        <p:nvSpPr>
          <p:cNvPr id="634" name="Google Shape;63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Partial training can reveal latent sensitization</a:t>
            </a:r>
            <a:endParaRPr sz="1800">
              <a:solidFill>
                <a:schemeClr val="dk1"/>
              </a:solidFill>
              <a:latin typeface="Calibri"/>
              <a:ea typeface="Calibri"/>
              <a:cs typeface="Calibri"/>
              <a:sym typeface="Calibri"/>
            </a:endParaRPr>
          </a:p>
        </p:txBody>
      </p:sp>
      <p:sp>
        <p:nvSpPr>
          <p:cNvPr id="635" name="Google Shape;635;p44"/>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Chen and colleagues measured siphon-withdrawal duration after long-term sensitization training, pharmacological disruption and later partial retraining. A </a:t>
            </a:r>
            <a:r>
              <a:rPr b="1" i="0" lang="en-US" sz="1500">
                <a:solidFill>
                  <a:srgbClr val="4D2A2F"/>
                </a:solidFill>
                <a:latin typeface="Arial"/>
                <a:ea typeface="Arial"/>
                <a:cs typeface="Arial"/>
                <a:sym typeface="Arial"/>
              </a:rPr>
              <a:t>latent memory</a:t>
            </a:r>
            <a:r>
              <a:rPr b="0" i="0" lang="en-US" sz="1500">
                <a:solidFill>
                  <a:srgbClr val="000000"/>
                </a:solidFill>
                <a:latin typeface="Arial"/>
                <a:ea typeface="Arial"/>
                <a:cs typeface="Arial"/>
                <a:sym typeface="Arial"/>
              </a:rPr>
              <a:t> is a retained consequence of experience that is not evident in the current response but can still shape later performance.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After a kinase-related intervention reduced the expressed sensitization, three additional training bouts restored a long-lasting response. The same short training had no effect in untrained controls. The difference shows a persistent consequence of the earlier experience that survives the loss of its normal expression.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Recovery after retraining points to a retained trace of the original training. The retraining response separates a failure to express sensitization from full elimination of the training-dependent change.</a:t>
            </a:r>
            <a:endParaRPr sz="1800">
              <a:solidFill>
                <a:schemeClr val="dk1"/>
              </a:solidFill>
              <a:latin typeface="Calibri"/>
              <a:ea typeface="Calibri"/>
              <a:cs typeface="Calibri"/>
              <a:sym typeface="Calibri"/>
            </a:endParaRPr>
          </a:p>
        </p:txBody>
      </p:sp>
      <p:pic>
        <p:nvPicPr>
          <p:cNvPr id="638" name="Google Shape;638;p44"/>
          <p:cNvPicPr preferRelativeResize="0"/>
          <p:nvPr/>
        </p:nvPicPr>
        <p:blipFill rotWithShape="1">
          <a:blip r:embed="rId3">
            <a:alphaModFix/>
          </a:blip>
          <a:srcRect b="0" l="0" r="0" t="0"/>
          <a:stretch/>
        </p:blipFill>
        <p:spPr>
          <a:xfrm>
            <a:off x="6378365" y="1280071"/>
            <a:ext cx="5006652" cy="3017490"/>
          </a:xfrm>
          <a:prstGeom prst="rect">
            <a:avLst/>
          </a:prstGeom>
          <a:noFill/>
          <a:ln>
            <a:noFill/>
          </a:ln>
        </p:spPr>
      </p:pic>
      <p:sp>
        <p:nvSpPr>
          <p:cNvPr id="639" name="Google Shape;639;p44"/>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8(A–B). Withdrawal sensitization after disruption and abbreviated retraining.</a:t>
            </a:r>
            <a:endParaRPr sz="1800">
              <a:solidFill>
                <a:schemeClr val="dk1"/>
              </a:solidFill>
              <a:latin typeface="Calibri"/>
              <a:ea typeface="Calibri"/>
              <a:cs typeface="Calibri"/>
              <a:sym typeface="Calibri"/>
            </a:endParaRPr>
          </a:p>
        </p:txBody>
      </p:sp>
      <p:pic>
        <p:nvPicPr>
          <p:cNvPr id="640" name="Google Shape;640;p44"/>
          <p:cNvPicPr preferRelativeResize="0"/>
          <p:nvPr/>
        </p:nvPicPr>
        <p:blipFill rotWithShape="1">
          <a:blip r:embed="rId4">
            <a:alphaModFix/>
          </a:blip>
          <a:srcRect b="0" l="0" r="0" t="0"/>
          <a:stretch/>
        </p:blipFill>
        <p:spPr>
          <a:xfrm>
            <a:off x="7794873" y="4846294"/>
            <a:ext cx="2173486" cy="914392"/>
          </a:xfrm>
          <a:prstGeom prst="rect">
            <a:avLst/>
          </a:prstGeom>
          <a:noFill/>
          <a:ln>
            <a:noFill/>
          </a:ln>
        </p:spPr>
      </p:pic>
      <p:sp>
        <p:nvSpPr>
          <p:cNvPr id="641" name="Google Shape;641;p4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642" name="Google Shape;642;p4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Chen et al. (2014); Pinsker et al. (1970)</a:t>
            </a:r>
            <a:endParaRPr sz="1800">
              <a:solidFill>
                <a:schemeClr val="dk1"/>
              </a:solidFill>
              <a:latin typeface="Calibri"/>
              <a:ea typeface="Calibri"/>
              <a:cs typeface="Calibri"/>
              <a:sym typeface="Calibri"/>
            </a:endParaRPr>
          </a:p>
        </p:txBody>
      </p:sp>
      <p:sp>
        <p:nvSpPr>
          <p:cNvPr id="644" name="Google Shape;644;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8" name="Shape 648"/>
        <p:cNvGrpSpPr/>
        <p:nvPr/>
      </p:nvGrpSpPr>
      <p:grpSpPr>
        <a:xfrm>
          <a:off x="0" y="0"/>
          <a:ext cx="0" cy="0"/>
          <a:chOff x="0" y="0"/>
          <a:chExt cx="0" cy="0"/>
        </a:xfrm>
      </p:grpSpPr>
      <p:sp>
        <p:nvSpPr>
          <p:cNvPr id="649" name="Google Shape;649;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DNA methylation affects distinct memory phases</a:t>
            </a:r>
            <a:endParaRPr sz="1800">
              <a:solidFill>
                <a:schemeClr val="dk1"/>
              </a:solidFill>
              <a:latin typeface="Calibri"/>
              <a:ea typeface="Calibri"/>
              <a:cs typeface="Calibri"/>
              <a:sym typeface="Calibri"/>
            </a:endParaRPr>
          </a:p>
        </p:txBody>
      </p:sp>
      <p:sp>
        <p:nvSpPr>
          <p:cNvPr id="650" name="Google Shape;650;p45"/>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Pearce and colleagues tested sensitization while varying protein-synthesis and DNA methyltransferase inhibition. </a:t>
            </a:r>
            <a:r>
              <a:rPr b="1" i="0" lang="en-US" sz="1500">
                <a:solidFill>
                  <a:srgbClr val="4D2A2F"/>
                </a:solidFill>
                <a:latin typeface="Arial"/>
                <a:ea typeface="Arial"/>
                <a:cs typeface="Arial"/>
                <a:sym typeface="Arial"/>
              </a:rPr>
              <a:t>DNA methyltransferases</a:t>
            </a:r>
            <a:r>
              <a:rPr b="0" i="0" lang="en-US" sz="1500">
                <a:solidFill>
                  <a:srgbClr val="000000"/>
                </a:solidFill>
                <a:latin typeface="Arial"/>
                <a:ea typeface="Arial"/>
                <a:cs typeface="Arial"/>
                <a:sym typeface="Arial"/>
              </a:rPr>
              <a:t> add methyl groups to DNA and influence gene regulation. Training, drug timing, retention tests and abbreviated retraining separated initial consolidation, later expression and persistence.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Blocking protein synthesis shortly after training allowed later partial training to recover sensitization, whereas blocking synthesis during training did not. Inhibiting DNA methyltransferase after consolidation reduced the retained response and blocked its recovery by the same short training. Retention was tested over days, not during the initial shock sequence.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Different memory phases depend on different molecular steps. Cellular release, postsynaptic regulation, structural growth and gene regulation each contribute at a different level of this learning system.</a:t>
            </a:r>
            <a:endParaRPr sz="1800">
              <a:solidFill>
                <a:schemeClr val="dk1"/>
              </a:solidFill>
              <a:latin typeface="Calibri"/>
              <a:ea typeface="Calibri"/>
              <a:cs typeface="Calibri"/>
              <a:sym typeface="Calibri"/>
            </a:endParaRPr>
          </a:p>
        </p:txBody>
      </p:sp>
      <p:pic>
        <p:nvPicPr>
          <p:cNvPr id="653" name="Google Shape;653;p45"/>
          <p:cNvPicPr preferRelativeResize="0"/>
          <p:nvPr/>
        </p:nvPicPr>
        <p:blipFill rotWithShape="1">
          <a:blip r:embed="rId3">
            <a:alphaModFix/>
          </a:blip>
          <a:srcRect b="0" l="0" r="0" t="0"/>
          <a:stretch/>
        </p:blipFill>
        <p:spPr>
          <a:xfrm>
            <a:off x="1434624" y="1280071"/>
            <a:ext cx="3751073" cy="3017490"/>
          </a:xfrm>
          <a:prstGeom prst="rect">
            <a:avLst/>
          </a:prstGeom>
          <a:noFill/>
          <a:ln>
            <a:noFill/>
          </a:ln>
        </p:spPr>
      </p:pic>
      <p:sp>
        <p:nvSpPr>
          <p:cNvPr id="654" name="Google Shape;654;p45"/>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Pearce et al. (2017), Fig. 7(A–B). Consolidated sensitization and delayed methyltransferase inhibition.</a:t>
            </a:r>
            <a:endParaRPr sz="1800">
              <a:solidFill>
                <a:schemeClr val="dk1"/>
              </a:solidFill>
              <a:latin typeface="Calibri"/>
              <a:ea typeface="Calibri"/>
              <a:cs typeface="Calibri"/>
              <a:sym typeface="Calibri"/>
            </a:endParaRPr>
          </a:p>
        </p:txBody>
      </p:sp>
      <p:pic>
        <p:nvPicPr>
          <p:cNvPr id="655" name="Google Shape;655;p45"/>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656" name="Google Shape;656;p4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657" name="Google Shape;657;p4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Pearce et al. (2017); Pinsker et al. (1970)</a:t>
            </a:r>
            <a:endParaRPr sz="1800">
              <a:solidFill>
                <a:schemeClr val="dk1"/>
              </a:solidFill>
              <a:latin typeface="Calibri"/>
              <a:ea typeface="Calibri"/>
              <a:cs typeface="Calibri"/>
              <a:sym typeface="Calibri"/>
            </a:endParaRPr>
          </a:p>
        </p:txBody>
      </p:sp>
      <p:sp>
        <p:nvSpPr>
          <p:cNvPr id="659" name="Google Shape;659;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3" name="Shape 663"/>
        <p:cNvGrpSpPr/>
        <p:nvPr/>
      </p:nvGrpSpPr>
      <p:grpSpPr>
        <a:xfrm>
          <a:off x="0" y="0"/>
          <a:ext cx="0" cy="0"/>
          <a:chOff x="0" y="0"/>
          <a:chExt cx="0" cy="0"/>
        </a:xfrm>
      </p:grpSpPr>
      <p:sp>
        <p:nvSpPr>
          <p:cNvPr id="664" name="Google Shape;664;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65" name="Google Shape;665;p46"/>
          <p:cNvSpPr/>
          <p:nvPr/>
        </p:nvSpPr>
        <p:spPr>
          <a:xfrm>
            <a:off x="566886" y="12343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749796" y="13716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Behavioral distinctions</a:t>
            </a:r>
            <a:r>
              <a:rPr b="0" i="0" lang="en-US" sz="1500">
                <a:solidFill>
                  <a:srgbClr val="000000"/>
                </a:solidFill>
                <a:latin typeface="Arial"/>
                <a:ea typeface="Arial"/>
                <a:cs typeface="Arial"/>
                <a:sym typeface="Arial"/>
              </a:rPr>
              <a:t> Habituation decreases repeated-stimulus responsiveness; sensitization increases responsiveness after strong stimulation; dishabituation restores a habituated response without proving that all depression has reversed.</a:t>
            </a:r>
            <a:endParaRPr sz="1800">
              <a:solidFill>
                <a:schemeClr val="dk1"/>
              </a:solidFill>
              <a:latin typeface="Calibri"/>
              <a:ea typeface="Calibri"/>
              <a:cs typeface="Calibri"/>
              <a:sym typeface="Calibri"/>
            </a:endParaRPr>
          </a:p>
        </p:txBody>
      </p:sp>
      <p:sp>
        <p:nvSpPr>
          <p:cNvPr id="667" name="Google Shape;667;p46"/>
          <p:cNvSpPr/>
          <p:nvPr/>
        </p:nvSpPr>
        <p:spPr>
          <a:xfrm>
            <a:off x="6233071" y="12343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46"/>
          <p:cNvSpPr/>
          <p:nvPr/>
        </p:nvSpPr>
        <p:spPr>
          <a:xfrm>
            <a:off x="6415980" y="13716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Presynaptic depression</a:t>
            </a:r>
            <a:r>
              <a:rPr b="0" i="0" lang="en-US" sz="1500">
                <a:solidFill>
                  <a:srgbClr val="000000"/>
                </a:solidFill>
                <a:latin typeface="Arial"/>
                <a:ea typeface="Arial"/>
                <a:cs typeface="Arial"/>
                <a:sym typeface="Arial"/>
              </a:rPr>
              <a:t> Short-term habituation reduces transmitter quanta released per sensory impulse; an unchanged unitary postsynaptic response argues against receptor desensitization in the tested preparation.</a:t>
            </a:r>
            <a:endParaRPr sz="1800">
              <a:solidFill>
                <a:schemeClr val="dk1"/>
              </a:solidFill>
              <a:latin typeface="Calibri"/>
              <a:ea typeface="Calibri"/>
              <a:cs typeface="Calibri"/>
              <a:sym typeface="Calibri"/>
            </a:endParaRPr>
          </a:p>
        </p:txBody>
      </p:sp>
      <p:sp>
        <p:nvSpPr>
          <p:cNvPr id="669" name="Google Shape;669;p46"/>
          <p:cNvSpPr/>
          <p:nvPr/>
        </p:nvSpPr>
        <p:spPr>
          <a:xfrm>
            <a:off x="566886" y="29869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46"/>
          <p:cNvSpPr/>
          <p:nvPr/>
        </p:nvSpPr>
        <p:spPr>
          <a:xfrm>
            <a:off x="749796"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Modulatory signaling</a:t>
            </a:r>
            <a:r>
              <a:rPr b="0" i="0" lang="en-US" sz="1500">
                <a:solidFill>
                  <a:srgbClr val="000000"/>
                </a:solidFill>
                <a:latin typeface="Arial"/>
                <a:ea typeface="Arial"/>
                <a:cs typeface="Arial"/>
                <a:sym typeface="Arial"/>
              </a:rPr>
              <a:t> Serotonin, cAMP, and localized PKA signaling facilitate sensory–motor transmission; release enhancement and postsynaptic calcium-dependent regulation can contribute together.</a:t>
            </a:r>
            <a:endParaRPr sz="1800">
              <a:solidFill>
                <a:schemeClr val="dk1"/>
              </a:solidFill>
              <a:latin typeface="Calibri"/>
              <a:ea typeface="Calibri"/>
              <a:cs typeface="Calibri"/>
              <a:sym typeface="Calibri"/>
            </a:endParaRPr>
          </a:p>
        </p:txBody>
      </p:sp>
      <p:sp>
        <p:nvSpPr>
          <p:cNvPr id="671" name="Google Shape;671;p46"/>
          <p:cNvSpPr/>
          <p:nvPr/>
        </p:nvSpPr>
        <p:spPr>
          <a:xfrm>
            <a:off x="6233071" y="29869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46"/>
          <p:cNvSpPr/>
          <p:nvPr/>
        </p:nvSpPr>
        <p:spPr>
          <a:xfrm>
            <a:off x="6415980" y="3124200"/>
            <a:ext cx="5045125"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Persistence requires additional mechanisms</a:t>
            </a:r>
            <a:r>
              <a:rPr b="0" i="0" lang="en-US" sz="1400">
                <a:solidFill>
                  <a:srgbClr val="000000"/>
                </a:solidFill>
                <a:latin typeface="Arial"/>
                <a:ea typeface="Arial"/>
                <a:cs typeface="Arial"/>
                <a:sym typeface="Arial"/>
              </a:rPr>
              <a:t> Repeated stimulation recruits lasting facilitation with a restricted requirement for transcription and translation; spacing and synthesis timing affect retention independently of immediate response strength.</a:t>
            </a:r>
            <a:endParaRPr sz="1800">
              <a:solidFill>
                <a:schemeClr val="dk1"/>
              </a:solidFill>
              <a:latin typeface="Calibri"/>
              <a:ea typeface="Calibri"/>
              <a:cs typeface="Calibri"/>
              <a:sym typeface="Calibri"/>
            </a:endParaRPr>
          </a:p>
        </p:txBody>
      </p:sp>
      <p:sp>
        <p:nvSpPr>
          <p:cNvPr id="673" name="Google Shape;673;p46"/>
          <p:cNvSpPr/>
          <p:nvPr/>
        </p:nvSpPr>
        <p:spPr>
          <a:xfrm>
            <a:off x="566886" y="47395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46"/>
          <p:cNvSpPr/>
          <p:nvPr/>
        </p:nvSpPr>
        <p:spPr>
          <a:xfrm>
            <a:off x="749796" y="4876800"/>
            <a:ext cx="5045125"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Functional and structural plasticity</a:t>
            </a:r>
            <a:r>
              <a:rPr b="0" i="0" lang="en-US" sz="1400">
                <a:solidFill>
                  <a:srgbClr val="000000"/>
                </a:solidFill>
                <a:latin typeface="Arial"/>
                <a:ea typeface="Arial"/>
                <a:cs typeface="Arial"/>
                <a:sym typeface="Arial"/>
              </a:rPr>
              <a:t> Long-term training changes sensory-neuron varicosities and contacts; CREB, synapsin, local translation, and neurotrophin signaling contribute under defined protocols without any one accounting for the entire memory.</a:t>
            </a:r>
            <a:endParaRPr sz="1800">
              <a:solidFill>
                <a:schemeClr val="dk1"/>
              </a:solidFill>
              <a:latin typeface="Calibri"/>
              <a:ea typeface="Calibri"/>
              <a:cs typeface="Calibri"/>
              <a:sym typeface="Calibri"/>
            </a:endParaRPr>
          </a:p>
        </p:txBody>
      </p:sp>
      <p:sp>
        <p:nvSpPr>
          <p:cNvPr id="675" name="Google Shape;675;p46"/>
          <p:cNvSpPr/>
          <p:nvPr/>
        </p:nvSpPr>
        <p:spPr>
          <a:xfrm>
            <a:off x="6233071" y="47395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46"/>
          <p:cNvSpPr/>
          <p:nvPr/>
        </p:nvSpPr>
        <p:spPr>
          <a:xfrm>
            <a:off x="6415980" y="48768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Expression is not storage by itself</a:t>
            </a:r>
            <a:r>
              <a:rPr b="0" i="0" lang="en-US" sz="1500">
                <a:solidFill>
                  <a:srgbClr val="000000"/>
                </a:solidFill>
                <a:latin typeface="Arial"/>
                <a:ea typeface="Arial"/>
                <a:cs typeface="Arial"/>
                <a:sym typeface="Arial"/>
              </a:rPr>
              <a:t> Lost withdrawal enhancement or synaptic growth does not prove complete memory erasure; retraining, cellular interventions, and appropriate controls distinguish latent experience from current performance.</a:t>
            </a:r>
            <a:endParaRPr sz="1800">
              <a:solidFill>
                <a:schemeClr val="dk1"/>
              </a:solidFill>
              <a:latin typeface="Calibri"/>
              <a:ea typeface="Calibri"/>
              <a:cs typeface="Calibri"/>
              <a:sym typeface="Calibri"/>
            </a:endParaRPr>
          </a:p>
        </p:txBody>
      </p:sp>
      <p:sp>
        <p:nvSpPr>
          <p:cNvPr id="677" name="Google Shape;677;p4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&amp; Kandel (1974); Brunelli et al. (1976); Montarolo et al. (1986)</a:t>
            </a:r>
            <a:endParaRPr sz="1800">
              <a:solidFill>
                <a:schemeClr val="dk1"/>
              </a:solidFill>
              <a:latin typeface="Calibri"/>
              <a:ea typeface="Calibri"/>
              <a:cs typeface="Calibri"/>
              <a:sym typeface="Calibri"/>
            </a:endParaRPr>
          </a:p>
        </p:txBody>
      </p:sp>
      <p:sp>
        <p:nvSpPr>
          <p:cNvPr id="679" name="Google Shape;679;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06" name="Google Shape;60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CREB1 knockdown weakens day-long enhancement</a:t>
            </a:r>
            <a:endParaRPr sz="1800">
              <a:solidFill>
                <a:schemeClr val="dk1"/>
              </a:solidFill>
              <a:latin typeface="Calibri"/>
              <a:ea typeface="Calibri"/>
              <a:cs typeface="Calibri"/>
              <a:sym typeface="Calibri"/>
            </a:endParaRPr>
          </a:p>
        </p:txBody>
      </p:sp>
      <p:sp>
        <p:nvSpPr>
          <p:cNvPr id="607" name="Google Shape;607;p42"/>
          <p:cNvSpPr/>
          <p:nvPr/>
        </p:nvSpPr>
        <p:spPr>
          <a:xfrm>
            <a:off x="566886" y="1234380"/>
            <a:ext cx="522476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Zhou and colleagues injected CREB1-targeting siRNA into sensory neurons and waited 72 h before applying repeated serotonin. The standard protocol used five 5 min pulses of 50 μM serotonin, and EPSPs were recorded before treatment and at 24 h afterward.</a:t>
            </a:r>
            <a:endParaRPr sz="1800">
              <a:solidFill>
                <a:schemeClr val="dk1"/>
              </a:solidFill>
              <a:latin typeface="Calibri"/>
              <a:ea typeface="Calibri"/>
              <a:cs typeface="Calibri"/>
              <a:sym typeface="Calibri"/>
            </a:endParaRPr>
          </a:p>
        </p:txBody>
      </p:sp>
      <p:pic>
        <p:nvPicPr>
          <p:cNvPr id="610" name="Google Shape;610;p42"/>
          <p:cNvPicPr preferRelativeResize="0"/>
          <p:nvPr/>
        </p:nvPicPr>
        <p:blipFill rotWithShape="1">
          <a:blip r:embed="rId2">
            <a:alphaModFix/>
          </a:blip>
          <a:srcRect b="0" l="0" r="0" t="0"/>
          <a:stretch/>
        </p:blipFill>
        <p:spPr>
          <a:xfrm>
            <a:off x="7984778" y="1280131"/>
            <a:ext cx="1793825" cy="3017370"/>
          </a:xfrm>
          <a:prstGeom prst="rect">
            <a:avLst/>
          </a:prstGeom>
          <a:noFill/>
          <a:ln>
            <a:noFill/>
          </a:ln>
        </p:spPr>
      </p:pic>
      <p:sp>
        <p:nvSpPr>
          <p:cNvPr id="611" name="Google Shape;611;p42"/>
          <p:cNvSpPr/>
          <p:nvPr/>
        </p:nvSpPr>
        <p:spPr>
          <a:xfrm>
            <a:off x="6138416" y="2490918"/>
            <a:ext cx="550545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Control siRNA and vehicle groups ran in parallel with the CREB1 knockdown. CREB1 knockdown impaired long-term facilitation. Control-RNA synapses reached about 184% of their pretest amplitude, whereas CREB1-siRNA synapses reached about 121%.</a:t>
            </a:r>
            <a:endParaRPr sz="1800">
              <a:solidFill>
                <a:schemeClr val="dk1"/>
              </a:solidFill>
              <a:latin typeface="Calibri"/>
              <a:ea typeface="Calibri"/>
              <a:cs typeface="Calibri"/>
              <a:sym typeface="Calibri"/>
            </a:endParaRPr>
          </a:p>
        </p:txBody>
      </p:sp>
      <p:sp>
        <p:nvSpPr>
          <p:cNvPr id="611" name="Google Shape;611;p42"/>
          <p:cNvSpPr/>
          <p:nvPr/>
        </p:nvSpPr>
        <p:spPr>
          <a:xfrm>
            <a:off x="6138416" y="3747456"/>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A transcription factor is therefore needed for persistent synaptic enhancement under this protocol. Partial loss of CREB1 weakens an otherwise effective training pattern while the neurons remain responsive.</a:t>
            </a:r>
            <a:endParaRPr sz="1800">
              <a:solidFill>
                <a:schemeClr val="dk1"/>
              </a:solidFill>
              <a:latin typeface="Calibri"/>
              <a:ea typeface="Calibri"/>
              <a:cs typeface="Calibri"/>
              <a:sym typeface="Calibri"/>
            </a:endParaRPr>
          </a:p>
        </p:txBody>
      </p:sp>
      <p:pic>
        <p:nvPicPr>
          <p:cNvPr id="612" name="Google Shape;612;p42"/>
          <p:cNvPicPr preferRelativeResize="0"/>
          <p:nvPr/>
        </p:nvPicPr>
        <p:blipFill rotWithShape="1">
          <a:blip r:embed="rId3">
            <a:alphaModFix/>
          </a:blip>
          <a:srcRect b="0" l="0" r="0" t="0"/>
          <a:stretch/>
        </p:blipFill>
        <p:spPr>
          <a:xfrm>
            <a:off x="6978850" y="4846290"/>
            <a:ext cx="3805681" cy="914400"/>
          </a:xfrm>
          <a:prstGeom prst="rect">
            <a:avLst/>
          </a:prstGeom>
          <a:noFill/>
          <a:ln>
            <a:noFill/>
          </a:ln>
        </p:spPr>
      </p:pic>
      <p:sp>
        <p:nvSpPr>
          <p:cNvPr id="613" name="Google Shape;613;p42"/>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614" name="Google Shape;614;p4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Zhou et al. (2015)</a:t>
            </a:r>
            <a:endParaRPr sz="1800">
              <a:solidFill>
                <a:schemeClr val="dk1"/>
              </a:solidFill>
              <a:latin typeface="Calibri"/>
              <a:ea typeface="Calibri"/>
              <a:cs typeface="Calibri"/>
              <a:sym typeface="Calibri"/>
            </a:endParaRPr>
          </a:p>
        </p:txBody>
      </p:sp>
      <p:sp>
        <p:nvSpPr>
          <p:cNvPr id="616" name="Google Shape;616;p4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42a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65" name="Google Shape;565;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Neurotrophin isoforms reach different compartments</a:t>
            </a:r>
            <a:endParaRPr sz="1800">
              <a:solidFill>
                <a:schemeClr val="dk1"/>
              </a:solidFill>
              <a:latin typeface="Calibri"/>
              <a:ea typeface="Calibri"/>
              <a:cs typeface="Calibri"/>
              <a:sym typeface="Calibri"/>
            </a:endParaRPr>
          </a:p>
        </p:txBody>
      </p:sp>
      <p:sp>
        <p:nvSpPr>
          <p:cNvPr id="566" name="Google Shape;566;p39"/>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Kassabov and colleagues identified </a:t>
            </a:r>
            <a:r>
              <a:rPr b="1" i="0" lang="en-US" sz="1500">
                <a:solidFill>
                  <a:srgbClr val="4D2A2F"/>
                </a:solidFill>
                <a:latin typeface="Arial"/>
                <a:ea typeface="Arial"/>
                <a:cs typeface="Arial"/>
                <a:sym typeface="Arial"/>
              </a:rPr>
              <a:t>ApNT</a:t>
            </a:r>
            <a:r>
              <a:rPr b="0" i="0" lang="en-US" sz="1500">
                <a:solidFill>
                  <a:srgbClr val="000000"/>
                </a:solidFill>
                <a:latin typeface="Arial"/>
                <a:ea typeface="Arial"/>
                <a:cs typeface="Arial"/>
                <a:sym typeface="Arial"/>
              </a:rPr>
              <a:t>, an Aplysia neurotrophin, and </a:t>
            </a:r>
            <a:r>
              <a:rPr b="1" i="0" lang="en-US" sz="1500">
                <a:solidFill>
                  <a:srgbClr val="4D2A2F"/>
                </a:solidFill>
                <a:latin typeface="Arial"/>
                <a:ea typeface="Arial"/>
                <a:cs typeface="Arial"/>
                <a:sym typeface="Arial"/>
              </a:rPr>
              <a:t>ApTrk</a:t>
            </a:r>
            <a:r>
              <a:rPr b="0" i="0" lang="en-US" sz="1500">
                <a:solidFill>
                  <a:srgbClr val="000000"/>
                </a:solidFill>
                <a:latin typeface="Arial"/>
                <a:ea typeface="Arial"/>
                <a:cs typeface="Arial"/>
                <a:sym typeface="Arial"/>
              </a:rPr>
              <a:t>, its receptor tyrosine kinase. A </a:t>
            </a:r>
            <a:r>
              <a:rPr b="1" i="0" lang="en-US" sz="1500">
                <a:solidFill>
                  <a:srgbClr val="4D2A2F"/>
                </a:solidFill>
                <a:latin typeface="Arial"/>
                <a:ea typeface="Arial"/>
                <a:cs typeface="Arial"/>
                <a:sym typeface="Arial"/>
              </a:rPr>
              <a:t>neurotrophin</a:t>
            </a:r>
            <a:r>
              <a:rPr b="0" i="0" lang="en-US" sz="1500">
                <a:solidFill>
                  <a:srgbClr val="000000"/>
                </a:solidFill>
                <a:latin typeface="Arial"/>
                <a:ea typeface="Arial"/>
                <a:cs typeface="Arial"/>
                <a:sym typeface="Arial"/>
              </a:rPr>
              <a:t> is a secreted signaling protein that regulates neuronal growth or function. Alternative RNA processing produced ApNT isoforms with different processing and secretion properties.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Tagged isoforms were expressed in sensory–motor cultures and examined with biochemical assays and fluorescence microscopy. Their distributions differed between cell bodies, neurites and secretion-related compartments. The labeling ties each isoform's processing to where it sits in the cell.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The ApNT isoform with the stronger secretion profile reaches the ApTrk receptor on distant neurites. Receptor activation in those neurites is measured with functional assays.</a:t>
            </a:r>
            <a:endParaRPr sz="1800">
              <a:solidFill>
                <a:schemeClr val="dk1"/>
              </a:solidFill>
              <a:latin typeface="Calibri"/>
              <a:ea typeface="Calibri"/>
              <a:cs typeface="Calibri"/>
              <a:sym typeface="Calibri"/>
            </a:endParaRPr>
          </a:p>
        </p:txBody>
      </p:sp>
      <p:pic>
        <p:nvPicPr>
          <p:cNvPr id="569" name="Google Shape;569;p39"/>
          <p:cNvPicPr preferRelativeResize="0"/>
          <p:nvPr/>
        </p:nvPicPr>
        <p:blipFill rotWithShape="1">
          <a:blip r:embed="rId2">
            <a:alphaModFix/>
          </a:blip>
          <a:srcRect b="0" l="0" r="0" t="0"/>
          <a:stretch/>
        </p:blipFill>
        <p:spPr>
          <a:xfrm>
            <a:off x="1405165" y="1280071"/>
            <a:ext cx="3444172" cy="4297561"/>
          </a:xfrm>
          <a:prstGeom prst="rect">
            <a:avLst/>
          </a:prstGeom>
          <a:noFill/>
          <a:ln>
            <a:noFill/>
          </a:ln>
        </p:spPr>
      </p:pic>
      <p:sp>
        <p:nvSpPr>
          <p:cNvPr id="570" name="Google Shape;570;p39"/>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Kassabov et al. (2013), Fig. 4(A–E). ApNT isoform processing and localization in cultured neurons.</a:t>
            </a:r>
            <a:endParaRPr sz="1800">
              <a:solidFill>
                <a:schemeClr val="dk1"/>
              </a:solidFill>
              <a:latin typeface="Calibri"/>
              <a:ea typeface="Calibri"/>
              <a:cs typeface="Calibri"/>
              <a:sym typeface="Calibri"/>
            </a:endParaRPr>
          </a:p>
        </p:txBody>
      </p:sp>
      <p:sp>
        <p:nvSpPr>
          <p:cNvPr id="571" name="Google Shape;571;p3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Kassabov et al. (2013)</a:t>
            </a:r>
            <a:endParaRPr sz="1800">
              <a:solidFill>
                <a:schemeClr val="dk1"/>
              </a:solidFill>
              <a:latin typeface="Calibri"/>
              <a:ea typeface="Calibri"/>
              <a:cs typeface="Calibri"/>
              <a:sym typeface="Calibri"/>
            </a:endParaRPr>
          </a:p>
        </p:txBody>
      </p:sp>
      <p:sp>
        <p:nvSpPr>
          <p:cNvPr id="573" name="Google Shape;573;p3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26" name="Google Shape;526;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Local translation responds to serotonin</a:t>
            </a:r>
            <a:endParaRPr sz="1800">
              <a:solidFill>
                <a:schemeClr val="dk1"/>
              </a:solidFill>
              <a:latin typeface="Calibri"/>
              <a:ea typeface="Calibri"/>
              <a:cs typeface="Calibri"/>
              <a:sym typeface="Calibri"/>
            </a:endParaRPr>
          </a:p>
        </p:txBody>
      </p:sp>
      <p:sp>
        <p:nvSpPr>
          <p:cNvPr id="527" name="Google Shape;527;p36"/>
          <p:cNvSpPr/>
          <p:nvPr/>
        </p:nvSpPr>
        <p:spPr>
          <a:xfrm>
            <a:off x="566886"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Lee and colleagues examined </a:t>
            </a:r>
            <a:r>
              <a:rPr b="1" i="0" lang="en-US" sz="1500">
                <a:solidFill>
                  <a:srgbClr val="4D2A2F"/>
                </a:solidFill>
                <a:latin typeface="Arial"/>
                <a:ea typeface="Arial"/>
                <a:cs typeface="Arial"/>
                <a:sym typeface="Arial"/>
              </a:rPr>
              <a:t>ApCPEB4</a:t>
            </a:r>
            <a:r>
              <a:rPr b="0" i="0" lang="en-US" sz="1500">
                <a:solidFill>
                  <a:srgbClr val="000000"/>
                </a:solidFill>
                <a:latin typeface="Arial"/>
                <a:ea typeface="Arial"/>
                <a:cs typeface="Arial"/>
                <a:sym typeface="Arial"/>
              </a:rPr>
              <a:t>, an RNA-binding translation regulator in </a:t>
            </a:r>
            <a:r>
              <a:rPr b="0" i="1" lang="en-US" sz="1500">
                <a:solidFill>
                  <a:srgbClr val="000000"/>
                </a:solidFill>
                <a:latin typeface="Arial"/>
                <a:ea typeface="Arial"/>
                <a:cs typeface="Arial"/>
                <a:sym typeface="Arial"/>
              </a:rPr>
              <a:t>Aplysia kurodai</a:t>
            </a:r>
            <a:r>
              <a:rPr b="0" i="0" lang="en-US" sz="1500">
                <a:solidFill>
                  <a:srgbClr val="000000"/>
                </a:solidFill>
                <a:latin typeface="Arial"/>
                <a:ea typeface="Arial"/>
                <a:cs typeface="Arial"/>
                <a:sym typeface="Arial"/>
              </a:rPr>
              <a:t>, a related sea-hare species. They attached fluorescent reporters to its 3′ untranslated region, an RNA segment that controls expression without encoding protein sequence.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Severed neurites allowed local responses to be recorded apart from delivery by the cell body. Serotonin increased reporter expression in these isolated processes. Translation-related controls showed that this increase does not require new transcription.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Isolated processes hold a local pool of RNA that responds to modulatory signaling without the nucleus. Local translation therefore adds a control point for facilitation alongside transcription.</a:t>
            </a:r>
            <a:endParaRPr sz="1800">
              <a:solidFill>
                <a:schemeClr val="dk1"/>
              </a:solidFill>
              <a:latin typeface="Calibri"/>
              <a:ea typeface="Calibri"/>
              <a:cs typeface="Calibri"/>
              <a:sym typeface="Calibri"/>
            </a:endParaRPr>
          </a:p>
        </p:txBody>
      </p:sp>
      <p:pic>
        <p:nvPicPr>
          <p:cNvPr id="530" name="Google Shape;530;p36"/>
          <p:cNvPicPr preferRelativeResize="0"/>
          <p:nvPr/>
        </p:nvPicPr>
        <p:blipFill rotWithShape="1">
          <a:blip r:embed="rId2">
            <a:alphaModFix/>
          </a:blip>
          <a:srcRect b="0" l="0" r="0" t="0"/>
          <a:stretch/>
        </p:blipFill>
        <p:spPr>
          <a:xfrm>
            <a:off x="6504338" y="1280071"/>
            <a:ext cx="5120524" cy="3446711"/>
          </a:xfrm>
          <a:prstGeom prst="rect">
            <a:avLst/>
          </a:prstGeom>
          <a:noFill/>
          <a:ln>
            <a:noFill/>
          </a:ln>
        </p:spPr>
      </p:pic>
      <p:sp>
        <p:nvSpPr>
          <p:cNvPr id="531" name="Google Shape;531;p36"/>
          <p:cNvSpPr/>
          <p:nvPr/>
        </p:nvSpPr>
        <p:spPr>
          <a:xfrm>
            <a:off x="6504236" y="481831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Lee et al. (2016), Fig. 2(a–c). Local reporter responses in sensory-neuron processes.</a:t>
            </a:r>
            <a:endParaRPr sz="1800">
              <a:solidFill>
                <a:schemeClr val="dk1"/>
              </a:solidFill>
              <a:latin typeface="Calibri"/>
              <a:ea typeface="Calibri"/>
              <a:cs typeface="Calibri"/>
              <a:sym typeface="Calibri"/>
            </a:endParaRPr>
          </a:p>
        </p:txBody>
      </p:sp>
      <p:sp>
        <p:nvSpPr>
          <p:cNvPr id="532" name="Google Shape;532;p3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Lee et al. (2016)</a:t>
            </a:r>
            <a:endParaRPr sz="1800">
              <a:solidFill>
                <a:schemeClr val="dk1"/>
              </a:solidFill>
              <a:latin typeface="Calibri"/>
              <a:ea typeface="Calibri"/>
              <a:cs typeface="Calibri"/>
              <a:sym typeface="Calibri"/>
            </a:endParaRPr>
          </a:p>
        </p:txBody>
      </p:sp>
      <p:sp>
        <p:nvSpPr>
          <p:cNvPr id="534" name="Google Shape;534;p3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85" name="Google Shape;485;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CREB1 binds the synapsin promoter</a:t>
            </a:r>
            <a:endParaRPr sz="1800">
              <a:solidFill>
                <a:schemeClr val="dk1"/>
              </a:solidFill>
              <a:latin typeface="Calibri"/>
              <a:ea typeface="Calibri"/>
              <a:cs typeface="Calibri"/>
              <a:sym typeface="Calibri"/>
            </a:endParaRPr>
          </a:p>
        </p:txBody>
      </p:sp>
      <p:sp>
        <p:nvSpPr>
          <p:cNvPr id="486" name="Google Shape;486;p33"/>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500"/>
              <a:buFont typeface="Arial"/>
              <a:buNone/>
            </a:pPr>
            <a:r>
              <a:rPr b="1" i="0" lang="en-US" sz="1500">
                <a:solidFill>
                  <a:srgbClr val="4D2A2F"/>
                </a:solidFill>
                <a:latin typeface="Arial"/>
                <a:ea typeface="Arial"/>
                <a:cs typeface="Arial"/>
                <a:sym typeface="Arial"/>
              </a:rPr>
              <a:t>CREB1</a:t>
            </a:r>
            <a:r>
              <a:rPr b="0" i="0" lang="en-US" sz="1500">
                <a:solidFill>
                  <a:srgbClr val="000000"/>
                </a:solidFill>
                <a:latin typeface="Arial"/>
                <a:ea typeface="Arial"/>
                <a:cs typeface="Arial"/>
                <a:sym typeface="Arial"/>
              </a:rPr>
              <a:t> is a transcription factor that regulates gene expression by binding DNA. A </a:t>
            </a:r>
            <a:r>
              <a:rPr b="1" i="0" lang="en-US" sz="1500">
                <a:solidFill>
                  <a:srgbClr val="4D2A2F"/>
                </a:solidFill>
                <a:latin typeface="Arial"/>
                <a:ea typeface="Arial"/>
                <a:cs typeface="Arial"/>
                <a:sym typeface="Arial"/>
              </a:rPr>
              <a:t>promoter</a:t>
            </a:r>
            <a:r>
              <a:rPr b="0" i="0" lang="en-US" sz="1500">
                <a:solidFill>
                  <a:srgbClr val="000000"/>
                </a:solidFill>
                <a:latin typeface="Arial"/>
                <a:ea typeface="Arial"/>
                <a:cs typeface="Arial"/>
                <a:sym typeface="Arial"/>
              </a:rPr>
              <a:t> is a DNA region that controls transcription of a gene. Hart and colleagues identified a cAMP response element in the </a:t>
            </a:r>
            <a:r>
              <a:rPr b="0" i="1" lang="en-US" sz="1500">
                <a:solidFill>
                  <a:srgbClr val="000000"/>
                </a:solidFill>
                <a:latin typeface="Arial"/>
                <a:ea typeface="Arial"/>
                <a:cs typeface="Arial"/>
                <a:sym typeface="Arial"/>
              </a:rPr>
              <a:t>Aplysia</a:t>
            </a:r>
            <a:r>
              <a:rPr b="0" i="0" lang="en-US" sz="1500">
                <a:solidFill>
                  <a:srgbClr val="000000"/>
                </a:solidFill>
                <a:latin typeface="Arial"/>
                <a:ea typeface="Arial"/>
                <a:cs typeface="Arial"/>
                <a:sym typeface="Arial"/>
              </a:rPr>
              <a:t> synapsin promoter, which is a site that CREB1 can bind.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A promoter-driven fluorescent reporter increased expression after serotonin treatment. Chromatin immunoprecipitation, which pulls down DNA bound to a chosen protein, found more CREB1 bound to the synapsin promoter. These measurements link the regulatory sequence, transcription-factor binding and expression level.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500"/>
              <a:buFont typeface="Arial"/>
              <a:buNone/>
            </a:pPr>
            <a:r>
              <a:rPr b="0" i="0" lang="en-US" sz="1500">
                <a:solidFill>
                  <a:srgbClr val="000000"/>
                </a:solidFill>
                <a:latin typeface="Arial"/>
                <a:ea typeface="Arial"/>
                <a:cs typeface="Arial"/>
                <a:sym typeface="Arial"/>
              </a:rPr>
              <a:t>Serotonin-dependent signaling reaches synapsin production through CREB1 binding at this promoter. Other transcriptional responses of long-term facilitation are assigned to their own target genes.</a:t>
            </a:r>
            <a:endParaRPr sz="1800">
              <a:solidFill>
                <a:schemeClr val="dk1"/>
              </a:solidFill>
              <a:latin typeface="Calibri"/>
              <a:ea typeface="Calibri"/>
              <a:cs typeface="Calibri"/>
              <a:sym typeface="Calibri"/>
            </a:endParaRPr>
          </a:p>
        </p:txBody>
      </p:sp>
      <p:pic>
        <p:nvPicPr>
          <p:cNvPr id="489" name="Google Shape;489;p33"/>
          <p:cNvPicPr preferRelativeResize="0"/>
          <p:nvPr/>
        </p:nvPicPr>
        <p:blipFill rotWithShape="1">
          <a:blip r:embed="rId2">
            <a:alphaModFix/>
          </a:blip>
          <a:srcRect b="0" l="0" r="0" t="0"/>
          <a:stretch/>
        </p:blipFill>
        <p:spPr>
          <a:xfrm>
            <a:off x="566939" y="1280071"/>
            <a:ext cx="5120625" cy="4294138"/>
          </a:xfrm>
          <a:prstGeom prst="rect">
            <a:avLst/>
          </a:prstGeom>
          <a:noFill/>
          <a:ln>
            <a:noFill/>
          </a:ln>
        </p:spPr>
      </p:pic>
      <p:sp>
        <p:nvSpPr>
          <p:cNvPr id="490" name="Google Shape;490;p33"/>
          <p:cNvSpPr/>
          <p:nvPr/>
        </p:nvSpPr>
        <p:spPr>
          <a:xfrm>
            <a:off x="566886" y="56657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4(A–B). Serotonin increases synapsin-promoter-driven reporter expression.</a:t>
            </a:r>
            <a:endParaRPr sz="1800">
              <a:solidFill>
                <a:schemeClr val="dk1"/>
              </a:solidFill>
              <a:latin typeface="Calibri"/>
              <a:ea typeface="Calibri"/>
              <a:cs typeface="Calibri"/>
              <a:sym typeface="Calibri"/>
            </a:endParaRPr>
          </a:p>
        </p:txBody>
      </p:sp>
      <p:sp>
        <p:nvSpPr>
          <p:cNvPr id="491" name="Google Shape;491;p3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a:t>
            </a:r>
            <a:endParaRPr sz="1800">
              <a:solidFill>
                <a:schemeClr val="dk1"/>
              </a:solidFill>
              <a:latin typeface="Calibri"/>
              <a:ea typeface="Calibri"/>
              <a:cs typeface="Calibri"/>
              <a:sym typeface="Calibri"/>
            </a:endParaRPr>
          </a:p>
        </p:txBody>
      </p:sp>
      <p:sp>
        <p:nvSpPr>
          <p:cNvPr id="493" name="Google Shape;493;p3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44" name="Google Shape;44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Synthesis is needed during a restricted window</a:t>
            </a:r>
            <a:endParaRPr sz="1800">
              <a:solidFill>
                <a:schemeClr val="dk1"/>
              </a:solidFill>
              <a:latin typeface="Calibri"/>
              <a:ea typeface="Calibri"/>
              <a:cs typeface="Calibri"/>
              <a:sym typeface="Calibri"/>
            </a:endParaRPr>
          </a:p>
        </p:txBody>
      </p:sp>
      <p:sp>
        <p:nvSpPr>
          <p:cNvPr id="445" name="Google Shape;445;p30"/>
          <p:cNvSpPr/>
          <p:nvPr/>
        </p:nvSpPr>
        <p:spPr>
          <a:xfrm>
            <a:off x="566886" y="1234380"/>
            <a:ext cx="522476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400">
                <a:solidFill>
                  <a:srgbClr val="000000"/>
                </a:solidFill>
                <a:latin typeface="Arial"/>
                <a:ea typeface="Arial"/>
                <a:cs typeface="Arial"/>
                <a:sym typeface="Arial"/>
              </a:rPr>
              <a:t>Montarolo and colleagues varied when anisomycin was present relative to repeated serotonin. A three-hour exposure during and immediately after induction blocked long-term facilitation. Inhibition that began much earlier, or several hours later, left the 24 h enhancement intact.</a:t>
            </a:r>
            <a:endParaRPr sz="1800">
              <a:solidFill>
                <a:schemeClr val="dk1"/>
              </a:solidFill>
              <a:latin typeface="Calibri"/>
              <a:ea typeface="Calibri"/>
              <a:cs typeface="Calibri"/>
              <a:sym typeface="Calibri"/>
            </a:endParaRPr>
          </a:p>
        </p:txBody>
      </p:sp>
      <p:pic>
        <p:nvPicPr>
          <p:cNvPr id="448" name="Google Shape;448;p30"/>
          <p:cNvPicPr preferRelativeResize="0"/>
          <p:nvPr/>
        </p:nvPicPr>
        <p:blipFill rotWithShape="1">
          <a:blip r:embed="rId2">
            <a:alphaModFix/>
          </a:blip>
          <a:srcRect b="0" l="0" r="0" t="0"/>
          <a:stretch/>
        </p:blipFill>
        <p:spPr>
          <a:xfrm>
            <a:off x="8077944" y="1280082"/>
            <a:ext cx="1607641" cy="3017468"/>
          </a:xfrm>
          <a:prstGeom prst="rect">
            <a:avLst/>
          </a:prstGeom>
          <a:noFill/>
          <a:ln>
            <a:noFill/>
          </a:ln>
        </p:spPr>
      </p:pic>
      <p:sp>
        <p:nvSpPr>
          <p:cNvPr id="449" name="Google Shape;449;p30"/>
          <p:cNvSpPr/>
          <p:nvPr/>
        </p:nvSpPr>
        <p:spPr>
          <a:xfrm>
            <a:off x="6138416" y="2490918"/>
            <a:ext cx="550545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Biochemical measurements showed strong suppression of protein synthesis during drug exposure and recovery after washout. The timing of the drug therefore lines up with its effect on the cell. Long-term facilitation depends on new synthesis during a restricted induction period.</a:t>
            </a:r>
            <a:endParaRPr sz="1800">
              <a:solidFill>
                <a:schemeClr val="dk1"/>
              </a:solidFill>
              <a:latin typeface="Calibri"/>
              <a:ea typeface="Calibri"/>
              <a:cs typeface="Calibri"/>
              <a:sym typeface="Calibri"/>
            </a:endParaRPr>
          </a:p>
        </p:txBody>
      </p:sp>
      <p:sp>
        <p:nvSpPr>
          <p:cNvPr id="449" name="Google Shape;449;p30"/>
          <p:cNvSpPr/>
          <p:nvPr/>
        </p:nvSpPr>
        <p:spPr>
          <a:xfrm>
            <a:off x="6138416" y="3747456"/>
            <a:ext cx="5505450" cy="6624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A critical window fits the production of proteins that start or stabilize persistent change. The identities, turnover rates and locations of these proteins are the next questions.</a:t>
            </a:r>
            <a:endParaRPr sz="1800">
              <a:solidFill>
                <a:schemeClr val="dk1"/>
              </a:solidFill>
              <a:latin typeface="Calibri"/>
              <a:ea typeface="Calibri"/>
              <a:cs typeface="Calibri"/>
              <a:sym typeface="Calibri"/>
            </a:endParaRPr>
          </a:p>
        </p:txBody>
      </p:sp>
      <p:pic>
        <p:nvPicPr>
          <p:cNvPr id="450" name="Google Shape;450;p30"/>
          <p:cNvPicPr preferRelativeResize="0"/>
          <p:nvPr/>
        </p:nvPicPr>
        <p:blipFill rotWithShape="1">
          <a:blip r:embed="rId3">
            <a:alphaModFix/>
          </a:blip>
          <a:srcRect b="0" l="0" r="0" t="0"/>
          <a:stretch/>
        </p:blipFill>
        <p:spPr>
          <a:xfrm>
            <a:off x="6978850" y="4846290"/>
            <a:ext cx="3805681" cy="914400"/>
          </a:xfrm>
          <a:prstGeom prst="rect">
            <a:avLst/>
          </a:prstGeom>
          <a:noFill/>
          <a:ln>
            <a:noFill/>
          </a:ln>
        </p:spPr>
      </p:pic>
      <p:sp>
        <p:nvSpPr>
          <p:cNvPr id="451" name="Google Shape;451;p30"/>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452" name="Google Shape;452;p3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Montarolo et al. (1986)</a:t>
            </a:r>
            <a:endParaRPr sz="1800">
              <a:solidFill>
                <a:schemeClr val="dk1"/>
              </a:solidFill>
              <a:latin typeface="Calibri"/>
              <a:ea typeface="Calibri"/>
              <a:cs typeface="Calibri"/>
              <a:sym typeface="Calibri"/>
            </a:endParaRPr>
          </a:p>
        </p:txBody>
      </p:sp>
      <p:sp>
        <p:nvSpPr>
          <p:cNvPr id="454" name="Google Shape;454;p3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99" name="Google Shape;399;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Motor-cell toxin blocks dishabituation</a:t>
            </a:r>
            <a:endParaRPr sz="1800">
              <a:solidFill>
                <a:schemeClr val="dk1"/>
              </a:solidFill>
              <a:latin typeface="Calibri"/>
              <a:ea typeface="Calibri"/>
              <a:cs typeface="Calibri"/>
              <a:sym typeface="Calibri"/>
            </a:endParaRPr>
          </a:p>
        </p:txBody>
      </p:sp>
      <p:sp>
        <p:nvSpPr>
          <p:cNvPr id="400" name="Google Shape;400;p27"/>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Li and colleagues moved the postsynaptic toxin experiment from culture into a reduced siphon-withdrawal preparation. Identified motor neurons were injected with botulinum toxin B before a sequence of siphon taps, tail shock and further siphon tests.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Control preparations increased siphon withdrawal after shock, whereas postsynaptic toxin blocked this dishabituation. Motor activity recorded alongside the movement linked the cell-targeted treatment to a measured behavioral change.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Postsynaptic exocytosis in the siphon motor cells contributes to the behavior. The same requirement carries over to other gill responses and to sensitization protocols, which share the same motor cells.</a:t>
            </a:r>
            <a:endParaRPr sz="1800">
              <a:solidFill>
                <a:schemeClr val="dk1"/>
              </a:solidFill>
              <a:latin typeface="Calibri"/>
              <a:ea typeface="Calibri"/>
              <a:cs typeface="Calibri"/>
              <a:sym typeface="Calibri"/>
            </a:endParaRPr>
          </a:p>
        </p:txBody>
      </p:sp>
      <p:pic>
        <p:nvPicPr>
          <p:cNvPr id="403" name="Google Shape;403;p27"/>
          <p:cNvPicPr preferRelativeResize="0"/>
          <p:nvPr/>
        </p:nvPicPr>
        <p:blipFill rotWithShape="1">
          <a:blip r:embed="rId2">
            <a:alphaModFix/>
          </a:blip>
          <a:srcRect b="0" l="0" r="0" t="0"/>
          <a:stretch/>
        </p:blipFill>
        <p:spPr>
          <a:xfrm>
            <a:off x="1555700" y="1280072"/>
            <a:ext cx="3508921" cy="3017488"/>
          </a:xfrm>
          <a:prstGeom prst="rect">
            <a:avLst/>
          </a:prstGeom>
          <a:noFill/>
          <a:ln>
            <a:noFill/>
          </a:ln>
        </p:spPr>
      </p:pic>
      <p:sp>
        <p:nvSpPr>
          <p:cNvPr id="404" name="Google Shape;404;p27"/>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 et al. (2005), Fig. 9(A–D). Reduced withdrawal preparation and motor-cell intervention during dishabituation.</a:t>
            </a:r>
            <a:endParaRPr sz="1800">
              <a:solidFill>
                <a:schemeClr val="dk1"/>
              </a:solidFill>
              <a:latin typeface="Calibri"/>
              <a:ea typeface="Calibri"/>
              <a:cs typeface="Calibri"/>
              <a:sym typeface="Calibri"/>
            </a:endParaRPr>
          </a:p>
        </p:txBody>
      </p:sp>
      <p:pic>
        <p:nvPicPr>
          <p:cNvPr id="405" name="Google Shape;405;p27"/>
          <p:cNvPicPr preferRelativeResize="0"/>
          <p:nvPr/>
        </p:nvPicPr>
        <p:blipFill rotWithShape="1">
          <a:blip r:embed="rId3">
            <a:alphaModFix/>
          </a:blip>
          <a:srcRect b="0" l="0" r="0" t="0"/>
          <a:stretch/>
        </p:blipFill>
        <p:spPr>
          <a:xfrm>
            <a:off x="2993380" y="4846367"/>
            <a:ext cx="633413" cy="914246"/>
          </a:xfrm>
          <a:prstGeom prst="rect">
            <a:avLst/>
          </a:prstGeom>
          <a:noFill/>
          <a:ln>
            <a:noFill/>
          </a:ln>
        </p:spPr>
      </p:pic>
      <p:sp>
        <p:nvSpPr>
          <p:cNvPr id="406" name="Google Shape;406;p27"/>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407" name="Google Shape;407;p2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a:t>
            </a:r>
            <a:endParaRPr sz="1800">
              <a:solidFill>
                <a:schemeClr val="dk1"/>
              </a:solidFill>
              <a:latin typeface="Calibri"/>
              <a:ea typeface="Calibri"/>
              <a:cs typeface="Calibri"/>
              <a:sym typeface="Calibri"/>
            </a:endParaRPr>
          </a:p>
        </p:txBody>
      </p:sp>
      <p:sp>
        <p:nvSpPr>
          <p:cNvPr id="409" name="Google Shape;409;p2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27a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54" name="Google Shape;354;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Postsynaptic calcium contributes to facilitation</a:t>
            </a:r>
            <a:endParaRPr sz="1800">
              <a:solidFill>
                <a:schemeClr val="dk1"/>
              </a:solidFill>
              <a:latin typeface="Calibri"/>
              <a:ea typeface="Calibri"/>
              <a:cs typeface="Calibri"/>
              <a:sym typeface="Calibri"/>
            </a:endParaRPr>
          </a:p>
        </p:txBody>
      </p:sp>
      <p:sp>
        <p:nvSpPr>
          <p:cNvPr id="355" name="Google Shape;355;p24"/>
          <p:cNvSpPr/>
          <p:nvPr/>
        </p:nvSpPr>
        <p:spPr>
          <a:xfrm>
            <a:off x="566886" y="1234380"/>
            <a:ext cx="5224760" cy="1324966"/>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400">
                <a:solidFill>
                  <a:srgbClr val="000000"/>
                </a:solidFill>
                <a:latin typeface="Arial"/>
                <a:ea typeface="Arial"/>
                <a:cs typeface="Arial"/>
                <a:sym typeface="Arial"/>
              </a:rPr>
              <a:t>Li and colleagues introduced BAPTA, a fast calcium buffer, into the motor neuron of cultured sensory–motor synapses. Intracellular calcium regulates signaling inside a cell without being the extracellular transmitter. The buffer therefore tests whether facilitation needs a change beyond the sensory terminal.</a:t>
            </a:r>
            <a:endParaRPr sz="1800">
              <a:solidFill>
                <a:schemeClr val="dk1"/>
              </a:solidFill>
              <a:latin typeface="Calibri"/>
              <a:ea typeface="Calibri"/>
              <a:cs typeface="Calibri"/>
              <a:sym typeface="Calibri"/>
            </a:endParaRPr>
          </a:p>
        </p:txBody>
      </p:sp>
      <p:pic>
        <p:nvPicPr>
          <p:cNvPr id="358" name="Google Shape;358;p24"/>
          <p:cNvPicPr preferRelativeResize="0"/>
          <p:nvPr/>
        </p:nvPicPr>
        <p:blipFill rotWithShape="1">
          <a:blip r:embed="rId2">
            <a:alphaModFix/>
          </a:blip>
          <a:srcRect b="0" l="0" r="0" t="0"/>
          <a:stretch/>
        </p:blipFill>
        <p:spPr>
          <a:xfrm>
            <a:off x="7907540" y="1280071"/>
            <a:ext cx="1948301" cy="3017490"/>
          </a:xfrm>
          <a:prstGeom prst="rect">
            <a:avLst/>
          </a:prstGeom>
          <a:noFill/>
          <a:ln>
            <a:noFill/>
          </a:ln>
        </p:spPr>
      </p:pic>
      <p:sp>
        <p:nvSpPr>
          <p:cNvPr id="359" name="Google Shape;359;p24"/>
          <p:cNvSpPr/>
          <p:nvPr/>
        </p:nvSpPr>
        <p:spPr>
          <a:xfrm>
            <a:off x="6138416" y="2711746"/>
            <a:ext cx="5505450" cy="110413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A ten-minute application of 10 μM serotonin enhanced control EPSPs. Buffering postsynaptic calcium reduced the facilitation, most clearly after serotonin was removed. Motor-cell injections without the buffer showed that the effect comes from the calcium buffer itself.</a:t>
            </a:r>
            <a:endParaRPr sz="1800">
              <a:solidFill>
                <a:schemeClr val="dk1"/>
              </a:solidFill>
              <a:latin typeface="Calibri"/>
              <a:ea typeface="Calibri"/>
              <a:cs typeface="Calibri"/>
              <a:sym typeface="Calibri"/>
            </a:endParaRPr>
          </a:p>
        </p:txBody>
      </p:sp>
      <p:sp>
        <p:nvSpPr>
          <p:cNvPr id="359" name="Google Shape;359;p24"/>
          <p:cNvSpPr/>
          <p:nvPr/>
        </p:nvSpPr>
        <p:spPr>
          <a:xfrm>
            <a:off x="6138416" y="3968284"/>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Facilitation therefore needs a postsynaptic calcium signal in this preparation. A single connection can change on both sides at once, so the presynaptic and postsynaptic results combine into one account.</a:t>
            </a:r>
            <a:endParaRPr sz="1800">
              <a:solidFill>
                <a:schemeClr val="dk1"/>
              </a:solidFill>
              <a:latin typeface="Calibri"/>
              <a:ea typeface="Calibri"/>
              <a:cs typeface="Calibri"/>
              <a:sym typeface="Calibri"/>
            </a:endParaRPr>
          </a:p>
        </p:txBody>
      </p:sp>
      <p:pic>
        <p:nvPicPr>
          <p:cNvPr id="360" name="Google Shape;360;p24"/>
          <p:cNvPicPr preferRelativeResize="0"/>
          <p:nvPr/>
        </p:nvPicPr>
        <p:blipFill rotWithShape="1">
          <a:blip r:embed="rId3">
            <a:alphaModFix/>
          </a:blip>
          <a:srcRect b="0" l="0" r="0" t="0"/>
          <a:stretch/>
        </p:blipFill>
        <p:spPr>
          <a:xfrm>
            <a:off x="6978850" y="4846290"/>
            <a:ext cx="3805681" cy="914400"/>
          </a:xfrm>
          <a:prstGeom prst="rect">
            <a:avLst/>
          </a:prstGeom>
          <a:noFill/>
          <a:ln>
            <a:noFill/>
          </a:ln>
        </p:spPr>
      </p:pic>
      <p:sp>
        <p:nvSpPr>
          <p:cNvPr id="361" name="Google Shape;361;p2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62" name="Google Shape;362;p2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a:t>
            </a:r>
            <a:endParaRPr sz="1800">
              <a:solidFill>
                <a:schemeClr val="dk1"/>
              </a:solidFill>
              <a:latin typeface="Calibri"/>
              <a:ea typeface="Calibri"/>
              <a:cs typeface="Calibri"/>
              <a:sym typeface="Calibri"/>
            </a:endParaRPr>
          </a:p>
        </p:txBody>
      </p:sp>
      <p:sp>
        <p:nvSpPr>
          <p:cNvPr id="364" name="Google Shape;364;p2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13" name="Google Shape;313;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Type 2 PKA concentrates near nerve endings</a:t>
            </a:r>
            <a:endParaRPr sz="1800">
              <a:solidFill>
                <a:schemeClr val="dk1"/>
              </a:solidFill>
              <a:latin typeface="Calibri"/>
              <a:ea typeface="Calibri"/>
              <a:cs typeface="Calibri"/>
              <a:sym typeface="Calibri"/>
            </a:endParaRPr>
          </a:p>
        </p:txBody>
      </p:sp>
      <p:sp>
        <p:nvSpPr>
          <p:cNvPr id="314" name="Google Shape;314;p21"/>
          <p:cNvSpPr/>
          <p:nvPr/>
        </p:nvSpPr>
        <p:spPr>
          <a:xfrm>
            <a:off x="6053435" y="1234380"/>
            <a:ext cx="559058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Liu and colleagues measured PKA regulatory subunits in cell bodies, neurites and synaptosomes, which are terminal-enriched particles isolated from nervous tissue. Type 1 PKA was mostly soluble, whereas type 2 PKA was enriched in neuronal processes and tied to anchoring proteins near nerve endings.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Repeated serotonin treatment increased RII protein in synaptosome preparations at 24 h. Immunostaining also detected more RII in sensory neurons. Prolonged facilitation is therefore linked to a change in the amount and location of a signaling protein, not only to a brief rise in cAMP.</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Each synaptosome preparation contains many terminals, so the measured increase is an average across them. Nuclear type 1 PKA and synaptic type 2 PKA carry complementary roles in this account.</a:t>
            </a:r>
            <a:endParaRPr sz="1800">
              <a:solidFill>
                <a:schemeClr val="dk1"/>
              </a:solidFill>
              <a:latin typeface="Calibri"/>
              <a:ea typeface="Calibri"/>
              <a:cs typeface="Calibri"/>
              <a:sym typeface="Calibri"/>
            </a:endParaRPr>
          </a:p>
        </p:txBody>
      </p:sp>
      <p:pic>
        <p:nvPicPr>
          <p:cNvPr id="317" name="Google Shape;317;p21"/>
          <p:cNvPicPr preferRelativeResize="0"/>
          <p:nvPr/>
        </p:nvPicPr>
        <p:blipFill rotWithShape="1">
          <a:blip r:embed="rId2">
            <a:alphaModFix/>
          </a:blip>
          <a:srcRect b="0" l="0" r="0" t="0"/>
          <a:stretch/>
        </p:blipFill>
        <p:spPr>
          <a:xfrm>
            <a:off x="1404098" y="1280071"/>
            <a:ext cx="3446157" cy="4297561"/>
          </a:xfrm>
          <a:prstGeom prst="rect">
            <a:avLst/>
          </a:prstGeom>
          <a:noFill/>
          <a:ln>
            <a:noFill/>
          </a:ln>
        </p:spPr>
      </p:pic>
      <p:sp>
        <p:nvSpPr>
          <p:cNvPr id="318" name="Google Shape;318;p21"/>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Liu et al. (2004), Fig. 5(A–D). RII protein levels in terminal fractions and sensory neurons.</a:t>
            </a:r>
            <a:endParaRPr sz="1800">
              <a:solidFill>
                <a:schemeClr val="dk1"/>
              </a:solidFill>
              <a:latin typeface="Calibri"/>
              <a:ea typeface="Calibri"/>
              <a:cs typeface="Calibri"/>
              <a:sym typeface="Calibri"/>
            </a:endParaRPr>
          </a:p>
        </p:txBody>
      </p:sp>
      <p:sp>
        <p:nvSpPr>
          <p:cNvPr id="319" name="Google Shape;319;p2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Liu et al. (2004)</a:t>
            </a:r>
            <a:endParaRPr sz="1800">
              <a:solidFill>
                <a:schemeClr val="dk1"/>
              </a:solidFill>
              <a:latin typeface="Calibri"/>
              <a:ea typeface="Calibri"/>
              <a:cs typeface="Calibri"/>
              <a:sym typeface="Calibri"/>
            </a:endParaRPr>
          </a:p>
        </p:txBody>
      </p:sp>
      <p:sp>
        <p:nvSpPr>
          <p:cNvPr id="321" name="Google Shape;321;p2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21a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68" name="Google Shape;268;p18"/>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Serotonin enhances EPSPs after depression</a:t>
            </a:r>
            <a:endParaRPr sz="1800">
              <a:solidFill>
                <a:schemeClr val="dk1"/>
              </a:solidFill>
              <a:latin typeface="Calibri"/>
              <a:ea typeface="Calibri"/>
              <a:cs typeface="Calibri"/>
              <a:sym typeface="Calibri"/>
            </a:endParaRPr>
          </a:p>
        </p:txBody>
      </p:sp>
      <p:sp>
        <p:nvSpPr>
          <p:cNvPr id="269" name="Google Shape;269;p18"/>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Brunelli and colleagues compared serotonin, dopamine and octopamine at the sensory-neuron connection onto a gill motor neuron. Serotonin changes how an existing pathway responds, so the same connection can be measured before and after each neuromodulator.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Sensory neurons were first depressed by repeated stimulation. Serotonin applied during a 2.5 min rest increased the subsequent synaptic responses. Rest periods without serotonin produced no such enhancement, so the drug accounts for the increase.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500"/>
              <a:buFont typeface="Arial"/>
              <a:buNone/>
            </a:pPr>
            <a:r>
              <a:rPr b="0" i="0" lang="en-US" sz="1500">
                <a:solidFill>
                  <a:srgbClr val="000000"/>
                </a:solidFill>
                <a:latin typeface="Arial"/>
                <a:ea typeface="Arial"/>
                <a:cs typeface="Arial"/>
                <a:sym typeface="Arial"/>
              </a:rPr>
              <a:t>The antagonist cinanserin reversibly reduced the facilitation evoked by connective stimulation, while the repeated-stimulation depression stayed intact. This pattern identifies a serotonergic route to facilitation that runs alongside the depression.</a:t>
            </a:r>
            <a:endParaRPr sz="1800">
              <a:solidFill>
                <a:schemeClr val="dk1"/>
              </a:solidFill>
              <a:latin typeface="Calibri"/>
              <a:ea typeface="Calibri"/>
              <a:cs typeface="Calibri"/>
              <a:sym typeface="Calibri"/>
            </a:endParaRPr>
          </a:p>
        </p:txBody>
      </p:sp>
      <p:pic>
        <p:nvPicPr>
          <p:cNvPr id="272" name="Google Shape;272;p18"/>
          <p:cNvPicPr preferRelativeResize="0"/>
          <p:nvPr/>
        </p:nvPicPr>
        <p:blipFill rotWithShape="1">
          <a:blip r:embed="rId2">
            <a:alphaModFix/>
          </a:blip>
          <a:srcRect b="0" l="0" r="0" t="0"/>
          <a:stretch/>
        </p:blipFill>
        <p:spPr>
          <a:xfrm>
            <a:off x="6138545" y="1280071"/>
            <a:ext cx="5486141" cy="2573536"/>
          </a:xfrm>
          <a:prstGeom prst="rect">
            <a:avLst/>
          </a:prstGeom>
          <a:noFill/>
          <a:ln>
            <a:noFill/>
          </a:ln>
        </p:spPr>
      </p:pic>
      <p:sp>
        <p:nvSpPr>
          <p:cNvPr id="273" name="Google Shape;273;p18"/>
          <p:cNvSpPr/>
          <p:nvPr/>
        </p:nvSpPr>
        <p:spPr>
          <a:xfrm>
            <a:off x="6138416" y="3945136"/>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Brunelli et al. (1976), Fig. 1(A–B). Serotonin facilitates EPSPs; cinanserin reduces connective-induced facilitation.</a:t>
            </a:r>
            <a:endParaRPr sz="1800">
              <a:solidFill>
                <a:schemeClr val="dk1"/>
              </a:solidFill>
              <a:latin typeface="Calibri"/>
              <a:ea typeface="Calibri"/>
              <a:cs typeface="Calibri"/>
              <a:sym typeface="Calibri"/>
            </a:endParaRPr>
          </a:p>
        </p:txBody>
      </p:sp>
      <p:pic>
        <p:nvPicPr>
          <p:cNvPr id="274" name="Google Shape;274;p18"/>
          <p:cNvPicPr preferRelativeResize="0"/>
          <p:nvPr/>
        </p:nvPicPr>
        <p:blipFill rotWithShape="1">
          <a:blip r:embed="rId3">
            <a:alphaModFix/>
          </a:blip>
          <a:srcRect b="0" l="0" r="0" t="0"/>
          <a:stretch/>
        </p:blipFill>
        <p:spPr>
          <a:xfrm>
            <a:off x="6978850" y="4846290"/>
            <a:ext cx="3805681" cy="914400"/>
          </a:xfrm>
          <a:prstGeom prst="rect">
            <a:avLst/>
          </a:prstGeom>
          <a:noFill/>
          <a:ln>
            <a:noFill/>
          </a:ln>
        </p:spPr>
      </p:pic>
      <p:sp>
        <p:nvSpPr>
          <p:cNvPr id="275" name="Google Shape;275;p18"/>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76" name="Google Shape;276;p1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Brunelli et al. (1976)</a:t>
            </a:r>
            <a:endParaRPr sz="1800">
              <a:solidFill>
                <a:schemeClr val="dk1"/>
              </a:solidFill>
              <a:latin typeface="Calibri"/>
              <a:ea typeface="Calibri"/>
              <a:cs typeface="Calibri"/>
              <a:sym typeface="Calibri"/>
            </a:endParaRPr>
          </a:p>
        </p:txBody>
      </p:sp>
      <p:sp>
        <p:nvSpPr>
          <p:cNvPr id="278" name="Google Shape;278;p1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25" name="Google Shape;22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Spaced training retains more than massed training</a:t>
            </a:r>
            <a:endParaRPr sz="1800">
              <a:solidFill>
                <a:schemeClr val="dk1"/>
              </a:solidFill>
              <a:latin typeface="Calibri"/>
              <a:ea typeface="Calibri"/>
              <a:cs typeface="Calibri"/>
              <a:sym typeface="Calibri"/>
            </a:endParaRPr>
          </a:p>
        </p:txBody>
      </p:sp>
      <p:sp>
        <p:nvSpPr>
          <p:cNvPr id="226" name="Google Shape;226;p15"/>
          <p:cNvSpPr/>
          <p:nvPr/>
        </p:nvSpPr>
        <p:spPr>
          <a:xfrm>
            <a:off x="6419255" y="1371600"/>
            <a:ext cx="5224760" cy="4778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Carew and colleagues gave forty habituation trials in one day to one group, and the same total spread over four days to another. The </a:t>
            </a:r>
            <a:r>
              <a:rPr b="1" i="0" lang="en-US" sz="1500">
                <a:solidFill>
                  <a:srgbClr val="4D2A2F"/>
                </a:solidFill>
                <a:latin typeface="Arial"/>
                <a:ea typeface="Arial"/>
                <a:cs typeface="Arial"/>
                <a:sym typeface="Arial"/>
              </a:rPr>
              <a:t>massed</a:t>
            </a:r>
            <a:r>
              <a:rPr b="0" i="0" lang="en-US" sz="1500">
                <a:solidFill>
                  <a:srgbClr val="000000"/>
                </a:solidFill>
                <a:latin typeface="Arial"/>
                <a:ea typeface="Arial"/>
                <a:cs typeface="Arial"/>
                <a:sym typeface="Arial"/>
              </a:rPr>
              <a:t> schedule concentrated the experience in one session, and the </a:t>
            </a:r>
            <a:r>
              <a:rPr b="1" i="0" lang="en-US" sz="1500">
                <a:solidFill>
                  <a:srgbClr val="4D2A2F"/>
                </a:solidFill>
                <a:latin typeface="Arial"/>
                <a:ea typeface="Arial"/>
                <a:cs typeface="Arial"/>
                <a:sym typeface="Arial"/>
              </a:rPr>
              <a:t>spaced</a:t>
            </a:r>
            <a:r>
              <a:rPr b="0" i="0" lang="en-US" sz="1500">
                <a:solidFill>
                  <a:srgbClr val="000000"/>
                </a:solidFill>
                <a:latin typeface="Arial"/>
                <a:ea typeface="Arial"/>
                <a:cs typeface="Arial"/>
                <a:sym typeface="Arial"/>
              </a:rPr>
              <a:t> schedule distributed it across days.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Both schedules produced substantial decrement during training. Spaced training yielded stronger retention after 24 h and after one week than massed training. The response within a single session predicts little about how much of the change lasts across days.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Retention was measured as withdrawal behavior, and it could be tested in a restrained preparation as well. Spacing effects of this kind set up the later experiments that examine the molecular events under different temporal patterns.</a:t>
            </a:r>
            <a:endParaRPr sz="1800">
              <a:solidFill>
                <a:schemeClr val="dk1"/>
              </a:solidFill>
              <a:latin typeface="Calibri"/>
              <a:ea typeface="Calibri"/>
              <a:cs typeface="Calibri"/>
              <a:sym typeface="Calibri"/>
            </a:endParaRPr>
          </a:p>
        </p:txBody>
      </p:sp>
      <p:pic>
        <p:nvPicPr>
          <p:cNvPr id="229" name="Google Shape;229;p15"/>
          <p:cNvPicPr preferRelativeResize="0"/>
          <p:nvPr/>
        </p:nvPicPr>
        <p:blipFill rotWithShape="1">
          <a:blip r:embed="rId2">
            <a:alphaModFix/>
          </a:blip>
          <a:srcRect b="0" l="0" r="0" t="0"/>
          <a:stretch/>
        </p:blipFill>
        <p:spPr>
          <a:xfrm>
            <a:off x="2397038" y="1280071"/>
            <a:ext cx="1826096" cy="3017490"/>
          </a:xfrm>
          <a:prstGeom prst="rect">
            <a:avLst/>
          </a:prstGeom>
          <a:noFill/>
          <a:ln>
            <a:noFill/>
          </a:ln>
        </p:spPr>
      </p:pic>
      <p:pic>
        <p:nvPicPr>
          <p:cNvPr id="231" name="Google Shape;231;p15"/>
          <p:cNvPicPr preferRelativeResize="0"/>
          <p:nvPr/>
        </p:nvPicPr>
        <p:blipFill rotWithShape="1">
          <a:blip r:embed="rId3">
            <a:alphaModFix/>
          </a:blip>
          <a:srcRect b="0" l="0" r="0" t="0"/>
          <a:stretch/>
        </p:blipFill>
        <p:spPr>
          <a:xfrm>
            <a:off x="2223343" y="4846294"/>
            <a:ext cx="2173486" cy="914392"/>
          </a:xfrm>
          <a:prstGeom prst="rect">
            <a:avLst/>
          </a:prstGeom>
          <a:noFill/>
          <a:ln>
            <a:noFill/>
          </a:ln>
        </p:spPr>
      </p:pic>
      <p:sp>
        <p:nvSpPr>
          <p:cNvPr id="232" name="Google Shape;232;p1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233" name="Google Shape;233;p1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Carew et al. (1972)</a:t>
            </a:r>
            <a:endParaRPr sz="1800">
              <a:solidFill>
                <a:schemeClr val="dk1"/>
              </a:solidFill>
              <a:latin typeface="Calibri"/>
              <a:ea typeface="Calibri"/>
              <a:cs typeface="Calibri"/>
              <a:sym typeface="Calibri"/>
            </a:endParaRPr>
          </a:p>
        </p:txBody>
      </p:sp>
      <p:sp>
        <p:nvSpPr>
          <p:cNvPr id="235" name="Google Shape;235;p1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0" name="Google Shape;180;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Strong and weak connections depress at similar rates</a:t>
            </a:r>
            <a:endParaRPr sz="1800">
              <a:solidFill>
                <a:schemeClr val="dk1"/>
              </a:solidFill>
              <a:latin typeface="Calibri"/>
              <a:ea typeface="Calibri"/>
              <a:cs typeface="Calibri"/>
              <a:sym typeface="Calibri"/>
            </a:endParaRPr>
          </a:p>
        </p:txBody>
      </p:sp>
      <p:sp>
        <p:nvSpPr>
          <p:cNvPr id="181" name="Google Shape;181;p12"/>
          <p:cNvSpPr/>
          <p:nvPr/>
        </p:nvSpPr>
        <p:spPr>
          <a:xfrm>
            <a:off x="566886"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Gover and colleagues evoked sensory action potentials at 15 s intervals in strong and weak sensory–motor connections. The two kinds of connection differed in their initial transmission and in their paired-pulse behavior, yet they depressed at similar rates.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Applying 4-aminopyridine broadened sensory spikes and increased calcium-dependent release. This change raised initial transmission while depression stayed the same speed, which is the opposite of what a simple depletion account would predict.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The observed depression kinetics therefore point to silencing of functional release sites in a stimulus-dependent way. Activity itself drives the silencing rather than the strength of the initial connection.</a:t>
            </a:r>
            <a:endParaRPr sz="1800">
              <a:solidFill>
                <a:schemeClr val="dk1"/>
              </a:solidFill>
              <a:latin typeface="Calibri"/>
              <a:ea typeface="Calibri"/>
              <a:cs typeface="Calibri"/>
              <a:sym typeface="Calibri"/>
            </a:endParaRPr>
          </a:p>
        </p:txBody>
      </p:sp>
      <p:pic>
        <p:nvPicPr>
          <p:cNvPr id="184" name="Google Shape;184;p12"/>
          <p:cNvPicPr preferRelativeResize="0"/>
          <p:nvPr/>
        </p:nvPicPr>
        <p:blipFill rotWithShape="1">
          <a:blip r:embed="rId2">
            <a:alphaModFix/>
          </a:blip>
          <a:srcRect b="0" l="0" r="0" t="0"/>
          <a:stretch/>
        </p:blipFill>
        <p:spPr>
          <a:xfrm>
            <a:off x="6958616" y="1280071"/>
            <a:ext cx="3846149" cy="3017490"/>
          </a:xfrm>
          <a:prstGeom prst="rect">
            <a:avLst/>
          </a:prstGeom>
          <a:noFill/>
          <a:ln>
            <a:noFill/>
          </a:ln>
        </p:spPr>
      </p:pic>
      <p:sp>
        <p:nvSpPr>
          <p:cNvPr id="185" name="Google Shape;185;p12"/>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Gover et al. (2002), Fig. 2(A–D). Empirical depression and paired-pulse responses at strong and weak connections.</a:t>
            </a:r>
            <a:endParaRPr sz="1800">
              <a:solidFill>
                <a:schemeClr val="dk1"/>
              </a:solidFill>
              <a:latin typeface="Calibri"/>
              <a:ea typeface="Calibri"/>
              <a:cs typeface="Calibri"/>
              <a:sym typeface="Calibri"/>
            </a:endParaRPr>
          </a:p>
        </p:txBody>
      </p:sp>
      <p:pic>
        <p:nvPicPr>
          <p:cNvPr id="186" name="Google Shape;186;p12"/>
          <p:cNvPicPr preferRelativeResize="0"/>
          <p:nvPr/>
        </p:nvPicPr>
        <p:blipFill rotWithShape="1">
          <a:blip r:embed="rId3">
            <a:alphaModFix/>
          </a:blip>
          <a:srcRect b="0" l="0" r="0" t="0"/>
          <a:stretch/>
        </p:blipFill>
        <p:spPr>
          <a:xfrm>
            <a:off x="6978850" y="4846290"/>
            <a:ext cx="3805681" cy="914400"/>
          </a:xfrm>
          <a:prstGeom prst="rect">
            <a:avLst/>
          </a:prstGeom>
          <a:noFill/>
          <a:ln>
            <a:noFill/>
          </a:ln>
        </p:spPr>
      </p:pic>
      <p:sp>
        <p:nvSpPr>
          <p:cNvPr id="187" name="Google Shape;187;p12"/>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88" name="Google Shape;188;p1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Gover et al. (2002)</a:t>
            </a:r>
            <a:endParaRPr sz="1800">
              <a:solidFill>
                <a:schemeClr val="dk1"/>
              </a:solidFill>
              <a:latin typeface="Calibri"/>
              <a:ea typeface="Calibri"/>
              <a:cs typeface="Calibri"/>
              <a:sym typeface="Calibri"/>
            </a:endParaRPr>
          </a:p>
        </p:txBody>
      </p:sp>
      <p:sp>
        <p:nvSpPr>
          <p:cNvPr id="190" name="Google Shape;190;p1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12a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35" name="Google Shape;135;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Shock acts on sensory inputs beyond the tapped one</a:t>
            </a:r>
            <a:endParaRPr sz="1800">
              <a:solidFill>
                <a:schemeClr val="dk1"/>
              </a:solidFill>
              <a:latin typeface="Calibri"/>
              <a:ea typeface="Calibri"/>
              <a:cs typeface="Calibri"/>
              <a:sym typeface="Calibri"/>
            </a:endParaRPr>
          </a:p>
        </p:txBody>
      </p:sp>
      <p:sp>
        <p:nvSpPr>
          <p:cNvPr id="136" name="Google Shape;136;p9"/>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Antonov and colleagues recorded behavior and neural activity together through a set of training protocols. Habituation used repeated siphon taps, dishabituation added tail shock after habituation, and sensitization used shock alone.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Facilitation appeared in sensory neurons whose receptive fields covered the test site and in sensory neurons activated from elsewhere on the body. The modulatory action of shock therefore reaches more inputs than the one that was tapped during habituation.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000000"/>
              </a:buClr>
              <a:buSzPts val="1400"/>
              <a:buFont typeface="Arial"/>
              <a:buNone/>
            </a:pPr>
            <a:r>
              <a:rPr b="0" i="0" lang="en-US" sz="1500">
                <a:solidFill>
                  <a:srgbClr val="000000"/>
                </a:solidFill>
                <a:latin typeface="Arial"/>
                <a:ea typeface="Arial"/>
                <a:cs typeface="Arial"/>
                <a:sym typeface="Arial"/>
              </a:rPr>
              <a:t>The change is spread across many connections, so its synaptic basis appears at several sites. Motor-cell firing, complex postsynaptic potentials and monosynaptic potentials each track this spread.</a:t>
            </a:r>
            <a:endParaRPr sz="1800">
              <a:solidFill>
                <a:schemeClr val="dk1"/>
              </a:solidFill>
              <a:latin typeface="Calibri"/>
              <a:ea typeface="Calibri"/>
              <a:cs typeface="Calibri"/>
              <a:sym typeface="Calibri"/>
            </a:endParaRPr>
          </a:p>
        </p:txBody>
      </p:sp>
      <p:pic>
        <p:nvPicPr>
          <p:cNvPr id="139" name="Google Shape;139;p9"/>
          <p:cNvPicPr preferRelativeResize="0"/>
          <p:nvPr/>
        </p:nvPicPr>
        <p:blipFill rotWithShape="1">
          <a:blip r:embed="rId2">
            <a:alphaModFix/>
          </a:blip>
          <a:srcRect b="0" l="0" r="0" t="0"/>
          <a:stretch/>
        </p:blipFill>
        <p:spPr>
          <a:xfrm>
            <a:off x="2152799" y="1280078"/>
            <a:ext cx="2314575" cy="3017476"/>
          </a:xfrm>
          <a:prstGeom prst="rect">
            <a:avLst/>
          </a:prstGeom>
          <a:noFill/>
          <a:ln>
            <a:noFill/>
          </a:ln>
        </p:spPr>
      </p:pic>
      <p:sp>
        <p:nvSpPr>
          <p:cNvPr id="140" name="Google Shape;140;p9"/>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6(A–C). Withdrawal, motor activity, and sensory activity during training.</a:t>
            </a:r>
            <a:endParaRPr sz="1800">
              <a:solidFill>
                <a:schemeClr val="dk1"/>
              </a:solidFill>
              <a:latin typeface="Calibri"/>
              <a:ea typeface="Calibri"/>
              <a:cs typeface="Calibri"/>
              <a:sym typeface="Calibri"/>
            </a:endParaRPr>
          </a:p>
        </p:txBody>
      </p:sp>
      <p:pic>
        <p:nvPicPr>
          <p:cNvPr id="141" name="Google Shape;141;p9"/>
          <p:cNvPicPr preferRelativeResize="0"/>
          <p:nvPr/>
        </p:nvPicPr>
        <p:blipFill rotWithShape="1">
          <a:blip r:embed="rId3">
            <a:alphaModFix/>
          </a:blip>
          <a:srcRect b="0" l="0" r="0" t="0"/>
          <a:stretch/>
        </p:blipFill>
        <p:spPr>
          <a:xfrm>
            <a:off x="2993380" y="4846367"/>
            <a:ext cx="633413" cy="914246"/>
          </a:xfrm>
          <a:prstGeom prst="rect">
            <a:avLst/>
          </a:prstGeom>
          <a:noFill/>
          <a:ln>
            <a:noFill/>
          </a:ln>
        </p:spPr>
      </p:pic>
      <p:sp>
        <p:nvSpPr>
          <p:cNvPr id="142" name="Google Shape;142;p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143" name="Google Shape;143;p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Antonov et al. (1999)</a:t>
            </a:r>
            <a:endParaRPr sz="1800">
              <a:solidFill>
                <a:schemeClr val="dk1"/>
              </a:solidFill>
              <a:latin typeface="Calibri"/>
              <a:ea typeface="Calibri"/>
              <a:cs typeface="Calibri"/>
              <a:sym typeface="Calibri"/>
            </a:endParaRPr>
          </a:p>
        </p:txBody>
      </p:sp>
      <p:sp>
        <p:nvSpPr>
          <p:cNvPr id="145" name="Google Shape;145;p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09a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0" name="Google Shape;90;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Skin stimuli evoke EPSPs in an identified motor neuron</a:t>
            </a:r>
            <a:endParaRPr sz="1800">
              <a:solidFill>
                <a:schemeClr val="dk1"/>
              </a:solidFill>
              <a:latin typeface="Calibri"/>
              <a:ea typeface="Calibri"/>
              <a:cs typeface="Calibri"/>
              <a:sym typeface="Calibri"/>
            </a:endParaRPr>
          </a:p>
        </p:txBody>
      </p:sp>
      <p:sp>
        <p:nvSpPr>
          <p:cNvPr id="91" name="Google Shape;91;p6"/>
          <p:cNvSpPr/>
          <p:nvPr/>
        </p:nvSpPr>
        <p:spPr>
          <a:xfrm>
            <a:off x="566886" y="1234380"/>
            <a:ext cx="522476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000000"/>
              </a:buClr>
              <a:buSzPts val="1500"/>
              <a:buFont typeface="Arial"/>
              <a:buNone/>
            </a:pPr>
            <a:r>
              <a:rPr b="0" i="0" lang="en-US" sz="1400">
                <a:solidFill>
                  <a:srgbClr val="000000"/>
                </a:solidFill>
                <a:latin typeface="Arial"/>
                <a:ea typeface="Arial"/>
                <a:cs typeface="Arial"/>
                <a:sym typeface="Arial"/>
              </a:rPr>
              <a:t>An identified gill motor neuron receives a direct excitatory input from the skin of the siphon. Brief stimuli to that skin depolarize the motor cell, and this depolarization is the first measurable link between touch and contraction.</a:t>
            </a:r>
            <a:endParaRPr sz="1800">
              <a:solidFill>
                <a:schemeClr val="dk1"/>
              </a:solidFill>
              <a:latin typeface="Calibri"/>
              <a:ea typeface="Calibri"/>
              <a:cs typeface="Calibri"/>
              <a:sym typeface="Calibri"/>
            </a:endParaRPr>
          </a:p>
        </p:txBody>
      </p:sp>
      <p:pic>
        <p:nvPicPr>
          <p:cNvPr id="94" name="Google Shape;94;p6"/>
          <p:cNvPicPr preferRelativeResize="0"/>
          <p:nvPr/>
        </p:nvPicPr>
        <p:blipFill rotWithShape="1">
          <a:blip r:embed="rId2">
            <a:alphaModFix/>
          </a:blip>
          <a:srcRect b="0" l="0" r="0" t="0"/>
          <a:stretch/>
        </p:blipFill>
        <p:spPr>
          <a:xfrm>
            <a:off x="7810649" y="1280111"/>
            <a:ext cx="2141786" cy="3017410"/>
          </a:xfrm>
          <a:prstGeom prst="rect">
            <a:avLst/>
          </a:prstGeom>
          <a:noFill/>
          <a:ln>
            <a:noFill/>
          </a:ln>
        </p:spPr>
      </p:pic>
      <p:sp>
        <p:nvSpPr>
          <p:cNvPr id="95" name="Google Shape;95;p6"/>
          <p:cNvSpPr/>
          <p:nvPr/>
        </p:nvSpPr>
        <p:spPr>
          <a:xfrm>
            <a:off x="6138416" y="2270090"/>
            <a:ext cx="5505450" cy="88331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Castellucci and colleagues recorded the response in the same cell on repeated trials. Repeated stimulation reduced the response, and the reduction accumulated from one trial to the next across each session.</a:t>
            </a:r>
            <a:endParaRPr sz="1800">
              <a:solidFill>
                <a:schemeClr val="dk1"/>
              </a:solidFill>
              <a:latin typeface="Calibri"/>
              <a:ea typeface="Calibri"/>
              <a:cs typeface="Calibri"/>
              <a:sym typeface="Calibri"/>
            </a:endParaRPr>
          </a:p>
        </p:txBody>
      </p:sp>
      <p:sp>
        <p:nvSpPr>
          <p:cNvPr id="95" name="Google Shape;95;p6"/>
          <p:cNvSpPr/>
          <p:nvPr/>
        </p:nvSpPr>
        <p:spPr>
          <a:xfrm>
            <a:off x="6138416" y="3305800"/>
            <a:ext cx="5505450" cy="6624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000"/>
              <a:buFont typeface="Arial"/>
              <a:buNone/>
            </a:pPr>
            <a:r>
              <a:rPr b="0" i="0" lang="en-US" sz="1400">
                <a:solidFill>
                  <a:srgbClr val="000000"/>
                </a:solidFill>
                <a:latin typeface="Arial"/>
                <a:ea typeface="Arial"/>
                <a:cs typeface="Arial"/>
                <a:sym typeface="Arial"/>
              </a:rPr>
              <a:t>Each EPSP in the identified cell can be traced to one defined synapse. The cell's large size makes it possible to record that synapse repeatedly over the whole session.</a:t>
            </a:r>
            <a:endParaRPr sz="1800">
              <a:solidFill>
                <a:schemeClr val="dk1"/>
              </a:solidFill>
              <a:latin typeface="Calibri"/>
              <a:ea typeface="Calibri"/>
              <a:cs typeface="Calibri"/>
              <a:sym typeface="Calibri"/>
            </a:endParaRPr>
          </a:p>
        </p:txBody>
      </p:sp>
      <p:pic>
        <p:nvPicPr>
          <p:cNvPr id="96" name="Google Shape;96;p6"/>
          <p:cNvPicPr preferRelativeResize="0"/>
          <p:nvPr/>
        </p:nvPicPr>
        <p:blipFill rotWithShape="1">
          <a:blip r:embed="rId3">
            <a:alphaModFix/>
          </a:blip>
          <a:srcRect b="0" l="0" r="0" t="0"/>
          <a:stretch/>
        </p:blipFill>
        <p:spPr>
          <a:xfrm>
            <a:off x="6978850" y="4846290"/>
            <a:ext cx="3805681" cy="914400"/>
          </a:xfrm>
          <a:prstGeom prst="rect">
            <a:avLst/>
          </a:prstGeom>
          <a:noFill/>
          <a:ln>
            <a:noFill/>
          </a:ln>
        </p:spPr>
      </p:pic>
      <p:sp>
        <p:nvSpPr>
          <p:cNvPr id="97" name="Google Shape;97;p6"/>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98" name="Google Shape;98;p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et al. (1970)</a:t>
            </a:r>
            <a:endParaRPr sz="1800">
              <a:solidFill>
                <a:schemeClr val="dk1"/>
              </a:solidFill>
              <a:latin typeface="Calibri"/>
              <a:ea typeface="Calibri"/>
              <a:cs typeface="Calibri"/>
              <a:sym typeface="Calibri"/>
            </a:endParaRPr>
          </a:p>
        </p:txBody>
      </p:sp>
      <p:sp>
        <p:nvSpPr>
          <p:cNvPr id="100" name="Google Shape;100;p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06a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Stimulus spacing sets the size of the decrement</a:t>
            </a:r>
            <a:endParaRPr sz="1800">
              <a:solidFill>
                <a:schemeClr val="dk1"/>
              </a:solidFill>
              <a:latin typeface="Calibri"/>
              <a:ea typeface="Calibri"/>
              <a:cs typeface="Calibri"/>
              <a:sym typeface="Calibri"/>
            </a:endParaRPr>
          </a:p>
        </p:txBody>
      </p:sp>
      <p:sp>
        <p:nvSpPr>
          <p:cNvPr id="46" name="Google Shape;46;p3"/>
          <p:cNvSpPr/>
          <p:nvPr/>
        </p:nvSpPr>
        <p:spPr>
          <a:xfrm>
            <a:off x="6419255" y="1234380"/>
            <a:ext cx="5224760" cy="491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The decrement in gill withdrawal depends on how the repeated siphon stimuli are spaced in time. Pinsker and colleagues held the seawater-jet stimulus constant and varied the interval between stimuli, so the spacing alone sets the pattern of repetition in each series.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Shorter intervals produced a faster decline in contraction, while longer intervals slowed it. Responses commonly fell toward about 25% of the initial amplitude across the range of intervals tested. Each series begins from the same first response in the same animal.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D2A2F"/>
              </a:buClr>
              <a:buSzPts val="1400"/>
              <a:buFont typeface="Arial"/>
              <a:buNone/>
            </a:pPr>
            <a:r>
              <a:rPr b="0" i="0" lang="en-US" sz="1500">
                <a:solidFill>
                  <a:srgbClr val="000000"/>
                </a:solidFill>
                <a:latin typeface="Arial"/>
                <a:ea typeface="Arial"/>
                <a:cs typeface="Arial"/>
                <a:sym typeface="Arial"/>
              </a:rPr>
              <a:t>Stimuli delivered at closer intervals leave less time for the response to recover between trials. Recovery between trials is therefore part of what determines how far responsiveness falls across a series.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2">
            <a:alphaModFix/>
          </a:blip>
          <a:srcRect b="0" l="0" r="0" t="0"/>
          <a:stretch/>
        </p:blipFill>
        <p:spPr>
          <a:xfrm>
            <a:off x="1710203" y="1280071"/>
            <a:ext cx="3199915" cy="3017490"/>
          </a:xfrm>
          <a:prstGeom prst="rect">
            <a:avLst/>
          </a:prstGeom>
          <a:noFill/>
          <a:ln>
            <a:noFill/>
          </a:ln>
        </p:spPr>
      </p:pic>
      <p:sp>
        <p:nvSpPr>
          <p:cNvPr id="50" name="Google Shape;50;p3"/>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2(A–B). Withdrawal habituation, dishabituation, and recovery after rest.</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3">
            <a:alphaModFix/>
          </a:blip>
          <a:srcRect b="0" l="0" r="0" t="0"/>
          <a:stretch/>
        </p:blipFill>
        <p:spPr>
          <a:xfrm>
            <a:off x="2223343" y="4846294"/>
            <a:ext cx="2173486" cy="914392"/>
          </a:xfrm>
          <a:prstGeom prst="rect">
            <a:avLst/>
          </a:prstGeom>
          <a:noFill/>
          <a:ln>
            <a:noFill/>
          </a:ln>
        </p:spPr>
      </p:pic>
      <p:sp>
        <p:nvSpPr>
          <p:cNvPr id="52" name="Google Shape;52;p3"/>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53" name="Google Shape;53;p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55" name="Google Shape;55;p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03a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2026-10-09T00:31:49.165Z</dcterms:created>
  <dc:creator>Presenton</dc:creator>
</cp:coreProperties>
</file>