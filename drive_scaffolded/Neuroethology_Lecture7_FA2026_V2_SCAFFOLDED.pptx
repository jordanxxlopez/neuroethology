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302" r:id="rId54"/>
    <p:sldId id="261" r:id="rId13"/>
    <p:sldId id="262" r:id="rId14"/>
    <p:sldId id="263" r:id="rId15"/>
    <p:sldId id="303" r:id="rId55"/>
    <p:sldId id="264" r:id="rId16"/>
    <p:sldId id="265" r:id="rId17"/>
    <p:sldId id="266" r:id="rId18"/>
    <p:sldId id="304" r:id="rId56"/>
    <p:sldId id="267" r:id="rId19"/>
    <p:sldId id="268" r:id="rId20"/>
    <p:sldId id="269" r:id="rId21"/>
    <p:sldId id="305" r:id="rId57"/>
    <p:sldId id="270" r:id="rId22"/>
    <p:sldId id="271" r:id="rId23"/>
    <p:sldId id="272" r:id="rId24"/>
    <p:sldId id="306" r:id="rId58"/>
    <p:sldId id="273" r:id="rId25"/>
    <p:sldId id="274" r:id="rId26"/>
    <p:sldId id="307" r:id="rId59"/>
    <p:sldId id="275" r:id="rId27"/>
    <p:sldId id="276" r:id="rId28"/>
    <p:sldId id="277" r:id="rId29"/>
    <p:sldId id="278" r:id="rId30"/>
    <p:sldId id="279" r:id="rId31"/>
    <p:sldId id="308" r:id="rId60"/>
    <p:sldId id="280" r:id="rId32"/>
    <p:sldId id="281" r:id="rId33"/>
    <p:sldId id="309" r:id="rId61"/>
    <p:sldId id="282" r:id="rId34"/>
    <p:sldId id="283" r:id="rId35"/>
    <p:sldId id="310" r:id="rId62"/>
    <p:sldId id="284" r:id="rId36"/>
    <p:sldId id="285" r:id="rId37"/>
    <p:sldId id="286" r:id="rId38"/>
    <p:sldId id="311" r:id="rId63"/>
    <p:sldId id="287" r:id="rId39"/>
    <p:sldId id="288" r:id="rId40"/>
    <p:sldId id="289" r:id="rId41"/>
    <p:sldId id="290" r:id="rId42"/>
    <p:sldId id="312" r:id="rId64"/>
    <p:sldId id="291" r:id="rId43"/>
    <p:sldId id="292" r:id="rId44"/>
    <p:sldId id="293" r:id="rId45"/>
    <p:sldId id="294" r:id="rId46"/>
    <p:sldId id="313" r:id="rId65"/>
    <p:sldId id="295" r:id="rId47"/>
    <p:sldId id="296" r:id="rId48"/>
    <p:sldId id="297" r:id="rId49"/>
    <p:sldId id="314" r:id="rId66"/>
    <p:sldId id="298" r:id="rId50"/>
    <p:sldId id="299" r:id="rId51"/>
    <p:sldId id="300" r:id="rId52"/>
    <p:sldId id="315" r:id="rId67"/>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Central pattern generators II: the lobster/crab stomatogastric ganglion (Marder &amp; Selverston)</a:t>
            </a:r>
          </a:p>
          <a:p>
            <a:r>
              <a:t>Lecture 7. NEUR 411 · NEUROETHOLOGY · FALL 2026. Wednesday, September 9, 2026.</a:t>
            </a:r>
          </a:p>
          <a:p/>
          <a:p>
            <a:r>
              <a:t>Image: Photo: Jonah crab (Cancer borealis). Courtesy NOAA Fisheries. Credit: National Oceanic and Atmospheric Administration, NOAA Fisheries. License: U.S. government photograph; NOAA Fisheries permits reuse of NOAA-created photos with credit (https://www.fisheries.noaa.gov/disclaimer).. Source: https://www.fisheries.noaa.gov/species/jonah-crab</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stomatogastric ganglion (STG) is a compact collection of neurons that controls movements of the crustacean foregut. In the Jonah crab, Cancer borealis, the gastric mill moves teeth used for chewing, whereas the pyloric system controls filtering. The two motor patterns operate on different timescales within the same ganglion.</a:t>
            </a:r>
          </a:p>
          <a:p>
            <a:r>
              <a:t>  – The gastric mill and pyloric systems are motor systems inside the foregut, rather than two names for the same set of muscles.</a:t>
            </a:r>
          </a:p>
          <a:p>
            <a:r>
              <a:t>• Powell and colleagues recorded identified motor nerves simultaneously in an isolated nervous system. The pyloric rhythm was approximately 1 Hz, while the slower gastric mill rhythm was approximately 0.1 Hz. A burst is a group of action potentials separated from the next group by a quieter interval.</a:t>
            </a:r>
          </a:p>
          <a:p>
            <a:r>
              <a:t>  – An action potential is a brief regenerative voltage change that travels along an axon; a nerve recording detects the spikes sent toward muscles.</a:t>
            </a:r>
          </a:p>
          <a:p>
            <a:r>
              <a:t>• The preparation retains central circuitry but removes normal food movement and most peripheral feedback. Its recordings identify coordinated motor commands; they do not measure tooth forces, particle transport or the amount of food swallowed.</a:t>
            </a:r>
          </a:p>
          <a:p>
            <a:r>
              <a:t>  – A central pattern generator produces rhythmic neural output without requiring a separate sensory trigger for every cycle.</a:t>
            </a:r>
          </a:p>
          <a:p/>
          <a:p>
            <a:r>
              <a:t>References:</a:t>
            </a:r>
          </a:p>
          <a:p>
            <a:r>
              <a:t>Powell D, Haddad SA, Gorur-Shandilya S, Marder E. (2021). Coupling between fast and slow oscillator circuits in Cancer borealis is temperature-compensated. eLife 10: e60454. https://doi.org/10.7554/elife.60454</a:t>
            </a:r>
          </a:p>
          <a:p>
            <a:r>
              <a:t>Garcia VJ, Daur N, Temporal S, Schulz DJ, Bucher D. (2015). Neuropeptide receptor transcript expression levels and magnitude of ionic current responses show cell type-specific differences in a small motor circuit. Journal of Neuroscience 35: 6786-6800. https://doi.org/10.1523/jneurosci.0171-15.2015</a:t>
            </a:r>
          </a:p>
          <a:p/>
          <a:p>
            <a:r>
              <a:t>Figure: Powell et al. (2021), Fig. 1(a–d). STG anatomy, gastric and pyloric recordings and circuit connections</a:t>
            </a:r>
          </a:p>
          <a:p>
            <a:r>
              <a:t>Figure source: https://doi.org/10.7554/elife.60454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Miller and Selverston isolated the stomatogastric nervous system of the spiny lobster, Panulirus interruptus. The STG remained connected to anterior ganglia through the stomatogastric nerve (stn). Electrodes on outgoing nerves detected the activity of motor neurons supplying the pyloric muscles.</a:t>
            </a:r>
          </a:p>
          <a:p>
            <a:r>
              <a:t>  – Isotonic means that the solution has an osmotic concentration suitable for the tissue; the local sucrose pool blocks conduction through the input nerve.</a:t>
            </a:r>
          </a:p>
          <a:p>
            <a:r>
              <a:t>• An isotonic sucrose solution around a short segment of the stn reversibly blocked impulse conduction. Comparing the same preparation before and during the block separated the local circuit from ongoing input supplied by other ganglia. The published control and blocked records use a 0.5 s timescale.</a:t>
            </a:r>
          </a:p>
          <a:p>
            <a:r>
              <a:t>  – The control is the same nervous system before its descending input is blocked, so differences are not comparisons between different animals.</a:t>
            </a:r>
          </a:p>
          <a:p>
            <a:r>
              <a:t>• Input blockade changed the pyloric motor pattern even though the local neurons and their connections remained present. Central rhythm generation therefore depends on circuit state as well as connectivity. A disconnected preparation cannot be treated as an unchanged copy of the intact animal.</a:t>
            </a:r>
          </a:p>
          <a:p>
            <a:r>
              <a:t>  – The experiment tests the contribution of input to the ganglion, without requiring the experimenter to remove each descending neuron individually.</a:t>
            </a:r>
          </a:p>
          <a:p/>
          <a:p>
            <a:r>
              <a:t>References:</a:t>
            </a:r>
          </a:p>
          <a:p>
            <a:r>
              <a:t>Miller JP, Selverston AI. (1982). Mechanisms underlying pattern generation in lobster stomatogastric ganglion as determined by selective inactivation of identified neurons. II. Oscillatory properties of pyloric neurons. Journal of Neurophysiology 48: 1378-1391. https://doi.org/10.1152/jn.1982.48.6.1378</a:t>
            </a:r>
          </a:p>
          <a:p/>
          <a:p>
            <a:r>
              <a:t>Figure: Miller &amp; Selverston (1982), Fig. 1. Dissected lobster nerves and motor activity with and without input</a:t>
            </a:r>
          </a:p>
          <a:p>
            <a:r>
              <a:t>Figure source: https://doi.org/10.1152/jn.1982.48.6.1378</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Stomatogastric neurons can be identified by the muscles their axons innervate and by the nerves carrying those axons. The lobster ganglion contains about 30 neurons. The pyloric dilator (PD) neurons, lateral pyloric (LP) neuron and pyloric (PY) neurons form recognizable classes within its pyloric motor system.</a:t>
            </a:r>
          </a:p>
          <a:p>
            <a:r>
              <a:t>  – A motor neuron sends its axon toward muscle; an interneuron communicates primarily with other neurons rather than directly innervating a muscle.</a:t>
            </a:r>
          </a:p>
          <a:p>
            <a:r>
              <a:t>• Hooper and Marder combined intracellular recordings from neuron cell bodies with extracellular recordings from the lateral and median ventricular nerves. Intracellular recording measures membrane voltage through an electrode inside a cell; extracellular recording detects spikes outside cells, including spikes traveling along axons.</a:t>
            </a:r>
          </a:p>
          <a:p>
            <a:r>
              <a:t>  – The nerve records distinguish motor units by their characteristic spike patterns and correspondence with an intracellular recording.</a:t>
            </a:r>
          </a:p>
          <a:p>
            <a:r>
              <a:t>• Matching a cell-body spike to a nerve spike establishes the recorded neuron’s output pathway. Its name identifies a motor role, but does not specify its intrinsic rhythm-generating ability, transmitter or response to a modulator. Those properties require separate physiological experiments.</a:t>
            </a:r>
          </a:p>
          <a:p>
            <a:r>
              <a:t>  – The count is species-dependent: the crab preparations studied by Rosenbaum and Marder contain 26–27 STG neurons, rather than the lobster count.</a:t>
            </a:r>
          </a:p>
          <a:p/>
          <a:p>
            <a:r>
              <a:t>References:</a:t>
            </a:r>
          </a:p>
          <a:p>
            <a:r>
              <a:t>Hooper SL, Marder E. (1987). Modulation of the lobster pyloric rhythm by the peptide proctolin. Journal of Neuroscience 7: 2097-2112. https://doi.org/10.1523/jneurosci.07-07-02097.1987</a:t>
            </a:r>
          </a:p>
          <a:p>
            <a:r>
              <a:t>Rosenbaum P, Marder E. (2018). Graded Transmission without Action Potentials Sustains Rhythmic Activity in Some But Not All Modulators That Activate the Same Current. Journal of Neuroscience 38: 8976-8988. https://doi.org/10.1523/jneurosci.2632-17.2018</a:t>
            </a:r>
          </a:p>
          <a:p/>
          <a:p>
            <a:r>
              <a:t>Figure: Hooper &amp; Marder (1987), Fig. 1. Lobster STG anatomy, identified recordings and pyloric connections</a:t>
            </a:r>
          </a:p>
          <a:p>
            <a:r>
              <a:t>Figure source: https://doi.org/10.1523/jneurosci.07-07-02097.1987</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crab pyloric rhythm is triphasic: three neuron groups burst in a repeating sequence. PD activity is followed by LP activity and then PY activity. These motor commands activate different foregut muscles, organizing filtering movements rather than a synchronous contraction of the entire pyloric region.</a:t>
            </a:r>
          </a:p>
          <a:p>
            <a:r>
              <a:t>  – The anterior burster, abbreviated AB, is an interneuron electrically coupled to the two PD motor neurons.</a:t>
            </a:r>
          </a:p>
          <a:p>
            <a:r>
              <a:t>• Gorur-Shandilya and colleagues recorded separate PD, LP and PY motor nerves together with the mixed lateral ventricular nerve. The dedicated nerves separated units that overlapped in the mixed recording. Under baseline conditions at 11°C, the three groups retained their characteristic order on a 1 s timescale.</a:t>
            </a:r>
          </a:p>
          <a:p>
            <a:r>
              <a:t>  – An electrical synapse allows current to pass between coupled cells; a chemical synapse uses transmitter released by one cell to affect another.</a:t>
            </a:r>
          </a:p>
          <a:p>
            <a:r>
              <a:t>• A mixed nerve signal can contain several identifiable neurons, but overlapping spikes become difficult to assign during irregular activity. Separate nerve recordings provide a control on unit identification. A regular sequence describes circuit output; it does not establish which neuron generates the rhythm.</a:t>
            </a:r>
          </a:p>
          <a:p>
            <a:r>
              <a:t>  – The dedicated pyloric dilator, lateral pyloric and pyloric nerves provide independent recordings of the motor groups.</a:t>
            </a:r>
          </a:p>
          <a:p/>
          <a:p>
            <a:r>
              <a:t>References:</a:t>
            </a:r>
          </a:p>
          <a:p>
            <a:r>
              <a:t>Gorur-Shandilya S, Cronin EM, Schneider AC, Haddad SA, Rosenbaum P, Bucher D, Nadim F, Marder E. (2022). Mapping circuit dynamics during function and dysfunction. eLife 11: e76579. https://doi.org/10.7554/elife.76579</a:t>
            </a:r>
          </a:p>
          <a:p/>
          <a:p>
            <a:r>
              <a:t>Figure: Gorur-Shandilya et al. (2022), Fig. 1(a). Identified motor nerves resolve the regular crab pyloric rhythm</a:t>
            </a:r>
          </a:p>
          <a:p>
            <a:r>
              <a:t>Figure source: https://doi.org/10.7554/elife.76579</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Eisen and Marder recorded the lobster anterior burster (AB) interneuron, a PD motor neuron and the LP motor neuron simultaneously. AB and PD underwent synchronous slow voltage oscillations, with spikes concentrated during their depolarized portions. Electrical coupling permits voltage changes in one cell to influence the other.</a:t>
            </a:r>
          </a:p>
          <a:p>
            <a:r>
              <a:t>  – The slow voltage wave is distinct from the individual action potentials riding on its depolarized portion.</a:t>
            </a:r>
          </a:p>
          <a:p>
            <a:r>
              <a:t>• LP spikes were followed by inhibitory voltage changes in both PD and AB. An inhibitory postsynaptic potential (IPSP) is a synaptically produced voltage response that reduces the likelihood of firing under the tested conditions. In AB, these responses were smaller and slower than those recorded in PD.</a:t>
            </a:r>
          </a:p>
          <a:p>
            <a:r>
              <a:t>  – Electrical current spreading from PD could account for an inhibitory response in AB even if LP releases no transmitter directly onto AB.</a:t>
            </a:r>
          </a:p>
          <a:p>
            <a:r>
              <a:t>• The detailed recordings used calibrations of 4 mV and 0.5 s. A spike-associated response in a coupled cell can arrive indirectly through another neuron. Temporal association alone therefore does not establish a direct chemical synapse from LP to AB.</a:t>
            </a:r>
          </a:p>
          <a:p>
            <a:r>
              <a:t>  – Selective deletion and independent current injection are needed to distinguish those alternative pathways.</a:t>
            </a:r>
          </a:p>
          <a:p/>
          <a:p>
            <a:r>
              <a:t>References:</a:t>
            </a:r>
          </a:p>
          <a:p>
            <a:r>
              <a:t>Eisen JS, Marder E. (1982). Mechanisms underlying pattern generation in lobster stomatogastric ganglion as determined by selective inactivation of identified neurons. III. Synaptic connections of electrically coupled pyloric neurons. Journal of Neurophysiology 48: 1392-1415. https://doi.org/10.1152/jn.1982.48.6.1392</a:t>
            </a:r>
          </a:p>
          <a:p>
            <a:r>
              <a:t>Hooper SL, Marder E. (1987). Modulation of the lobster pyloric rhythm by the peptide proctolin. Journal of Neuroscience 7: 2097-2112. https://doi.org/10.1523/jneurosci.07-07-02097.1987</a:t>
            </a:r>
          </a:p>
          <a:p/>
          <a:p>
            <a:r>
              <a:t>Figure: Eisen &amp; Marder (1982), Fig. 2(A–B). Synchronous AB–PD bursts and LP-evoked inhibitory potentials</a:t>
            </a:r>
          </a:p>
          <a:p>
            <a:r>
              <a:t>Figure source: https://doi.org/10.1152/jn.1982.48.6.1392</a:t>
            </a:r>
          </a:p>
          <a:p/>
          <a:p>
            <a:r>
              <a:t>Figure: Hooper &amp; Marder (1987), Fig. 1(right). Lobster pyloric circuit</a:t>
            </a:r>
          </a:p>
          <a:p>
            <a:r>
              <a:t>Figure source: https://doi.org/10.1523/jneurosci.07-07-02097.1987</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Miller and Selverston tested whether a neuron could oscillate after its known synaptic inputs were removed. Photoinactivation used an intracellularly injected dye and illumination to disable selected cells. A sucrose block simultaneously removed impulse-mediated input through the stomatogastric nerve.</a:t>
            </a:r>
          </a:p>
          <a:p>
            <a:r>
              <a:t>  – The dye was lucifer yellow; illumination made the filled cells inactive while recordings tracked the remaining network.</a:t>
            </a:r>
          </a:p>
          <a:p>
            <a:r>
              <a:t>• After PD, LP and ventricular dilator neurons were disabled, AB retained spontaneous slow oscillations. In the published before-and-after recordings, outgoing spikes from the deleted neurons disappeared while the intracellular AB oscillation remained. The voltage and time calibrations were 20 mV and 1 s.</a:t>
            </a:r>
          </a:p>
          <a:p>
            <a:r>
              <a:t>  – The absence of the other cells’ output spikes and synaptic potentials checked whether the isolation was effective.</a:t>
            </a:r>
          </a:p>
          <a:p>
            <a:r>
              <a:t>• An endogenous burster generates recurring depolarizations without the synaptic inputs tested in this isolation procedure. AB met that operational criterion. The experiment identifies a cell-level source of rhythmicity, while leaving the specific ionic mechanism of its oscillation unresolved.</a:t>
            </a:r>
          </a:p>
          <a:p>
            <a:r>
              <a:t>  – Endogenous bursting is a physiological property under specified conditions, rather than a conclusion drawn from a cell’s name or its circuit position.</a:t>
            </a:r>
          </a:p>
          <a:p/>
          <a:p>
            <a:r>
              <a:t>References:</a:t>
            </a:r>
          </a:p>
          <a:p>
            <a:r>
              <a:t>Miller JP, Selverston AI. (1982). Mechanisms underlying pattern generation in lobster stomatogastric ganglion as determined by selective inactivation of identified neurons. II. Oscillatory properties of pyloric neurons. Journal of Neurophysiology 48: 1378-1391. https://doi.org/10.1152/jn.1982.48.6.1378</a:t>
            </a:r>
          </a:p>
          <a:p>
            <a:r>
              <a:t>Hooper SL, Marder E. (1987). Modulation of the lobster pyloric rhythm by the peptide proctolin. Journal of Neuroscience 7: 2097-2112. https://doi.org/10.1523/jneurosci.07-07-02097.1987</a:t>
            </a:r>
          </a:p>
          <a:p/>
          <a:p>
            <a:r>
              <a:t>Figure: Miller &amp; Selverston (1982), Fig. 2(A–B). AB retains slow bursting after other inputs are removed</a:t>
            </a:r>
          </a:p>
          <a:p>
            <a:r>
              <a:t>Figure source: https://doi.org/10.1152/jn.1982.48.6.1378</a:t>
            </a:r>
          </a:p>
          <a:p/>
          <a:p>
            <a:r>
              <a:t>Figure: Hooper &amp; Marder (1987), Fig. 1(right). Lobster pyloric circuit</a:t>
            </a:r>
          </a:p>
          <a:p>
            <a:r>
              <a:t>Figure source: https://doi.org/10.1523/jneurosci.07-07-02097.1987</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two electrically coupled PD neurons did not behave like isolated AB. After AB and other relevant inputs were removed and the stn was blocked, PD fired tonically, meaning that spikes continued without the regularly separated slow depolarizing waves that define bursting.</a:t>
            </a:r>
          </a:p>
          <a:p>
            <a:r>
              <a:t>  – The surviving PD cells were recorded after the cells supplying their normal phasic input had been disabled.</a:t>
            </a:r>
          </a:p>
          <a:p>
            <a:r>
              <a:t>• Injecting depolarizing current increased tonic firing, but stimulation of the remaining input nerve recruited slow membrane oscillations. The published example used a 20 Hz stimulus train lasting 0.3 s. Oscillations outlasted the stimulus; across experiments they could continue for up to about a minute.</a:t>
            </a:r>
          </a:p>
          <a:p>
            <a:r>
              <a:t>  – A brief stimulation episode could change neuronal state for longer than the duration of the imposed spikes.</a:t>
            </a:r>
          </a:p>
          <a:p>
            <a:r>
              <a:t>• PD is therefore a conditional burster: an appropriate input state permits rhythm-generating properties that are absent in the isolated baseline state. The stimulation activated a collection of inputs, so the result does not identify one transmitter, receptor or channel as its sole cause.</a:t>
            </a:r>
          </a:p>
          <a:p>
            <a:r>
              <a:t>  – Tonic current injection and nerve stimulation are different interventions; similar depolarization does not guarantee the same cellular response.</a:t>
            </a:r>
          </a:p>
          <a:p/>
          <a:p>
            <a:r>
              <a:t>References:</a:t>
            </a:r>
          </a:p>
          <a:p>
            <a:r>
              <a:t>Miller JP, Selverston AI. (1982). Mechanisms underlying pattern generation in lobster stomatogastric ganglion as determined by selective inactivation of identified neurons. II. Oscillatory properties of pyloric neurons. Journal of Neurophysiology 48: 1378-1391. https://doi.org/10.1152/jn.1982.48.6.1378</a:t>
            </a:r>
          </a:p>
          <a:p>
            <a:r>
              <a:t>Hooper SL, Marder E. (1987). Modulation of the lobster pyloric rhythm by the peptide proctolin. Journal of Neuroscience 7: 2097-2112. https://doi.org/10.1523/jneurosci.07-07-02097.1987</a:t>
            </a:r>
          </a:p>
          <a:p/>
          <a:p>
            <a:r>
              <a:t>Figure: Miller &amp; Selverston (1982), Fig. 3(A–D). Isolated PD is tonic; nerve stimulation recruits bursting</a:t>
            </a:r>
          </a:p>
          <a:p>
            <a:r>
              <a:t>Figure source: https://doi.org/10.1152/jn.1982.48.6.1378</a:t>
            </a:r>
          </a:p>
          <a:p/>
          <a:p>
            <a:r>
              <a:t>Figure: Hooper &amp; Marder (1987), Fig. 1(right). Lobster pyloric circuit</a:t>
            </a:r>
          </a:p>
          <a:p>
            <a:r>
              <a:t>Figure source: https://doi.org/10.1523/jneurosci.07-07-02097.1987</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Conditional oscillation was not confined to PD. Miller and Selverston examined a reduced lobster network after disabling AB and the ventricular dilator neuron. PD, LP and a late-firing pyloric neuron remained available for intracellular recording and controlled membrane polarization.</a:t>
            </a:r>
          </a:p>
          <a:p>
            <a:r>
              <a:t>  – Hyperpolarization makes a membrane voltage more negative, and can suppress a neuron’s spike generation or bursting.</a:t>
            </a:r>
          </a:p>
          <a:p>
            <a:r>
              <a:t>• A 20 Hz input-nerve train lasting 0.5 s recruited voltage oscillations in the remaining neurons. Current injection suppressed selected cells to test whether an observed response required another cell’s activity. LP could express slow oscillations even when activity in the recorded PD and other pyloric cells was reduced.</a:t>
            </a:r>
          </a:p>
          <a:p>
            <a:r>
              <a:t>  – The surviving neurons were not assumed to be independent merely because they were recorded separately; imposed polarization tested the contribution of their interactions.</a:t>
            </a:r>
          </a:p>
          <a:p>
            <a:r>
              <a:t>• The ventricular dilator (VD) neuron is a pyloric motor neuron with conditional bursting in the study’s other isolation experiments. Oscillatory capacity thus belongs to several circuit members under appropriate input conditions; AB was distinctive in bursting spontaneously after the complete tested isolation.</a:t>
            </a:r>
          </a:p>
          <a:p>
            <a:r>
              <a:t>  – The isolation results separate spontaneous endogenous bursting from input-dependent expression of oscillatory properties.</a:t>
            </a:r>
          </a:p>
          <a:p/>
          <a:p>
            <a:r>
              <a:t>References:</a:t>
            </a:r>
          </a:p>
          <a:p>
            <a:r>
              <a:t>Miller JP, Selverston AI. (1982). Mechanisms underlying pattern generation in lobster stomatogastric ganglion as determined by selective inactivation of identified neurons. II. Oscillatory properties of pyloric neurons. Journal of Neurophysiology 48: 1378-1391. https://doi.org/10.1152/jn.1982.48.6.1378</a:t>
            </a:r>
          </a:p>
          <a:p>
            <a:r>
              <a:t>Hooper SL, Marder E. (1987). Modulation of the lobster pyloric rhythm by the peptide proctolin. Journal of Neuroscience 7: 2097-2112. https://doi.org/10.1523/jneurosci.07-07-02097.1987</a:t>
            </a:r>
          </a:p>
          <a:p/>
          <a:p>
            <a:r>
              <a:t>Figure: Miller &amp; Selverston (1982), Fig. 4(A–C). Nerve stimulation recruits conditional membrane oscillations</a:t>
            </a:r>
          </a:p>
          <a:p>
            <a:r>
              <a:t>Figure source: https://doi.org/10.1152/jn.1982.48.6.1378</a:t>
            </a:r>
          </a:p>
          <a:p/>
          <a:p>
            <a:r>
              <a:t>Figure: Hooper &amp; Marder (1987), Fig. 1(right). Lobster pyloric circuit</a:t>
            </a:r>
          </a:p>
          <a:p>
            <a:r>
              <a:t>Figure source: https://doi.org/10.1523/jneurosci.07-07-02097.1987</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After removal of the spontaneously bursting AB neuron and several other cells, a reduced PD–LP–VD network could remain nonrhythmic when descending input was blocked. Its retained neurons had inhibitory interactions, but those connections alone did not produce continuous coordinated bursting in that state.</a:t>
            </a:r>
          </a:p>
          <a:p>
            <a:r>
              <a:t>  – The experiment removed AB, the neuron that had passed the spontaneous isolation test, before assessing the remaining network.</a:t>
            </a:r>
          </a:p>
          <a:p>
            <a:r>
              <a:t>• A 50 Hz stimulus train lasting 1.4 s in the stomatogastric nerve initiated an episode of coordinated activity. Intracellular recordings at both fast and slow time bases distinguished individual membrane waves from the longer duration of the recruited episode.</a:t>
            </a:r>
          </a:p>
          <a:p>
            <a:r>
              <a:t>  – The slow recording resolves persistence after the stimulus; the fast recording resolves the relationships among individual voltage waves.</a:t>
            </a:r>
          </a:p>
          <a:p>
            <a:r>
              <a:t>• A circuit can contain the connections needed for coordinated output while lacking the active cellular state that expresses it. The recruited episode supports a contribution of conditional membrane oscillations to motor-pattern stability. It does not imply that this reduced network reproduces every muscle command of the intact pyloric system.</a:t>
            </a:r>
          </a:p>
          <a:p>
            <a:r>
              <a:t>  – A synaptic connection constrains interactions, but the activity generated by those interactions also depends on the membrane properties of the connected cells.</a:t>
            </a:r>
          </a:p>
          <a:p/>
          <a:p>
            <a:r>
              <a:t>References:</a:t>
            </a:r>
          </a:p>
          <a:p>
            <a:r>
              <a:t>Miller JP, Selverston AI. (1982). Mechanisms underlying pattern generation in lobster stomatogastric ganglion as determined by selective inactivation of identified neurons. II. Oscillatory properties of pyloric neurons. Journal of Neurophysiology 48: 1378-1391. https://doi.org/10.1152/jn.1982.48.6.1378</a:t>
            </a:r>
          </a:p>
          <a:p>
            <a:r>
              <a:t>Hooper SL, Marder E. (1987). Modulation of the lobster pyloric rhythm by the peptide proctolin. Journal of Neuroscience 7: 2097-2112. https://doi.org/10.1523/jneurosci.07-07-02097.1987</a:t>
            </a:r>
          </a:p>
          <a:p/>
          <a:p>
            <a:r>
              <a:t>Figure: Miller &amp; Selverston (1982), Fig. 5(A–B). Brief nerve stimulation recruits a reduced pyloric network</a:t>
            </a:r>
          </a:p>
          <a:p>
            <a:r>
              <a:t>Figure source: https://doi.org/10.1152/jn.1982.48.6.1378</a:t>
            </a:r>
          </a:p>
          <a:p/>
          <a:p>
            <a:r>
              <a:t>Figure: Hooper &amp; Marder (1987), Fig. 1(right). Lobster pyloric circuit</a:t>
            </a:r>
          </a:p>
          <a:p>
            <a:r>
              <a:t>Figure source: https://doi.org/10.1523/jneurosci.07-07-02097.1987</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Synchronous activity of AB and PD produces a compound IPSP in LP. Eisen and Marder separated the contributing pathways by photoinactivating either AB or both PD neurons. The comparison preserved recordings from LP and from the surviving member of the coupled pacemaker group.</a:t>
            </a:r>
          </a:p>
          <a:p>
            <a:r>
              <a:t>  – The pacemaker group consists of AB and its coupled PD neurons; their synchronous activity does not make their synapses identical.</a:t>
            </a:r>
          </a:p>
          <a:p>
            <a:r>
              <a:t>• With PD removed, AB bursts still inhibited LP. With AB removed, PD depolarizations also inhibited LP, but their responses had a different time course. The intact response therefore combined two chemical inhibitory outputs that were normally activated together by the electrically coupled cells.</a:t>
            </a:r>
          </a:p>
          <a:p>
            <a:r>
              <a:t>  – Deletion assigns a component of a compound response to the cell that actually supplies it.</a:t>
            </a:r>
          </a:p>
          <a:p>
            <a:r>
              <a:t>• LP-evoked IPSPs disappeared from AB when PD was removed. The same manipulation separated a direct AB-to-LP synapse from an indirect LP influence on AB through PD. Functional connectivity must distinguish transmitter release at a synapse from voltage propagation through an electrical connection.</a:t>
            </a:r>
          </a:p>
          <a:p>
            <a:r>
              <a:t>  – The loss of the LP response in AB after PD deletion is more discriminating than observing LP and AB activity at the same time.</a:t>
            </a:r>
          </a:p>
          <a:p/>
          <a:p>
            <a:r>
              <a:t>References:</a:t>
            </a:r>
          </a:p>
          <a:p>
            <a:r>
              <a:t>Eisen JS, Marder E. (1982). Mechanisms underlying pattern generation in lobster stomatogastric ganglion as determined by selective inactivation of identified neurons. III. Synaptic connections of electrically coupled pyloric neurons. Journal of Neurophysiology 48: 1392-1415. https://doi.org/10.1152/jn.1982.48.6.1392</a:t>
            </a:r>
          </a:p>
          <a:p>
            <a:r>
              <a:t>Hooper SL, Marder E. (1987). Modulation of the lobster pyloric rhythm by the peptide proctolin. Journal of Neuroscience 7: 2097-2112. https://doi.org/10.1523/jneurosci.07-07-02097.1987</a:t>
            </a:r>
          </a:p>
          <a:p/>
          <a:p>
            <a:r>
              <a:t>Figure: Eisen &amp; Marder (1982), Fig. 4. Selective deletion separates AB and PD synaptic outputs</a:t>
            </a:r>
          </a:p>
          <a:p>
            <a:r>
              <a:t>Figure source: https://doi.org/10.1152/jn.1982.48.6.1392</a:t>
            </a:r>
          </a:p>
          <a:p/>
          <a:p>
            <a:r>
              <a:t>Figure: Hooper &amp; Marder (1987), Fig. 1(right). Lobster pyloric circuit</a:t>
            </a:r>
          </a:p>
          <a:p>
            <a:r>
              <a:t>Figure source: https://doi.org/10.1523/jneurosci.07-07-02097.1987</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After PD deletion, AB-to-LP inhibition could be tested without the overlapping PD output. Eisen and Marder varied LP membrane voltage and altered ionic conditions while evoking AB activity. The isolated response reversed near −64 mV in the published control experiment.</a:t>
            </a:r>
          </a:p>
          <a:p>
            <a:r>
              <a:t>  – Changing the postsynaptic holding voltage separates the response’s driving force from the amount of transmitter released.</a:t>
            </a:r>
          </a:p>
          <a:p>
            <a:r>
              <a:t>• The reversal potential is the voltage at which a synaptic response changes sign. Doubling extracellular potassium did not shift the AB-evoked reversal appreciably. Increasing intracellular chloride shifted the response toward more positive voltages, implicating a substantial chloride contribution to its synaptic conductance.</a:t>
            </a:r>
          </a:p>
          <a:p>
            <a:r>
              <a:t>  – Increasing chloride inside LP changes the ionic gradient across its membrane, so a chloride-carrying response should reverse at a different voltage.</a:t>
            </a:r>
          </a:p>
          <a:p>
            <a:r>
              <a:t>• A conductance describes how readily a membrane pathway carries electrical current. Chloride-dependent inhibition can oppose firing even when its voltage effect becomes small near reversal. These ionic manipulations constrain the mechanism of the synapse; they do not identify a molecular receptor subunit.</a:t>
            </a:r>
          </a:p>
          <a:p>
            <a:r>
              <a:t>  – The isolated AB response differed from the potassium-sensitive inhibition supplied by PD, despite the normal synchrony of the two presynaptic neurons.</a:t>
            </a:r>
          </a:p>
          <a:p/>
          <a:p>
            <a:r>
              <a:t>References:</a:t>
            </a:r>
          </a:p>
          <a:p>
            <a:r>
              <a:t>Eisen JS, Marder E. (1982). Mechanisms underlying pattern generation in lobster stomatogastric ganglion as determined by selective inactivation of identified neurons. III. Synaptic connections of electrically coupled pyloric neurons. Journal of Neurophysiology 48: 1392-1415. https://doi.org/10.1152/jn.1982.48.6.1392</a:t>
            </a:r>
          </a:p>
          <a:p>
            <a:r>
              <a:t>Hooper SL, Marder E. (1987). Modulation of the lobster pyloric rhythm by the peptide proctolin. Journal of Neuroscience 7: 2097-2112. https://doi.org/10.1523/jneurosci.07-07-02097.1987</a:t>
            </a:r>
          </a:p>
          <a:p/>
          <a:p>
            <a:r>
              <a:t>Figure: Eisen &amp; Marder (1982), Fig. 5. Chloride loading changes the isolated AB-to-LP response</a:t>
            </a:r>
          </a:p>
          <a:p>
            <a:r>
              <a:t>Figure source: https://doi.org/10.1152/jn.1982.48.6.1392</a:t>
            </a:r>
          </a:p>
          <a:p/>
          <a:p>
            <a:r>
              <a:t>Figure: Hooper &amp; Marder (1987), Fig. 1(right). Lobster pyloric circuit</a:t>
            </a:r>
          </a:p>
          <a:p>
            <a:r>
              <a:t>Figure source: https://doi.org/10.1523/jneurosci.07-07-02097.1987</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Eisen and Marder isolated PD-to-LP transmission by disabling AB and VD, then depolarized PD with current pulses. LP was recorded at several membrane voltages to determine where the isolated inhibitory response changed sign. The control reversal in the published experiment was −86 mV.</a:t>
            </a:r>
          </a:p>
          <a:p>
            <a:r>
              <a:t>  – The current pulse reproduced presynaptic depolarization while allowing the experimenter to control when the PD response was evoked.</a:t>
            </a:r>
          </a:p>
          <a:p>
            <a:r>
              <a:t>• Doubling extracellular potassium shifted that reversal to approximately −65 mV. Chloride loading did not produce the corresponding shift found for AB-to-LP inhibition. The PD response therefore depended strongly on potassium permeability, whereas the synchronized AB response had a different ionic basis.</a:t>
            </a:r>
          </a:p>
          <a:p>
            <a:r>
              <a:t>  – External potassium was an experimental manipulation of driving force, rather than a test of the number of potassium channels in the neuron.</a:t>
            </a:r>
          </a:p>
          <a:p>
            <a:r>
              <a:t>• An ion’s concentration gradient and the postsynaptic voltage determine the direction of its contribution to synaptic current. Two inputs can both inhibit LP at its normal operating voltage while differing in reversal, kinetics and pharmacology. Their combined effect cannot be represented as two physiologically identical synapses.</a:t>
            </a:r>
          </a:p>
          <a:p>
            <a:r>
              <a:t>  – The measured ionic selectivity does not establish the identity of every channel protein involved in the synaptic response.</a:t>
            </a:r>
          </a:p>
          <a:p/>
          <a:p>
            <a:r>
              <a:t>References:</a:t>
            </a:r>
          </a:p>
          <a:p>
            <a:r>
              <a:t>Eisen JS, Marder E. (1982). Mechanisms underlying pattern generation in lobster stomatogastric ganglion as determined by selective inactivation of identified neurons. III. Synaptic connections of electrically coupled pyloric neurons. Journal of Neurophysiology 48: 1392-1415. https://doi.org/10.1152/jn.1982.48.6.1392</a:t>
            </a:r>
          </a:p>
          <a:p>
            <a:r>
              <a:t>Hooper SL, Marder E. (1987). Modulation of the lobster pyloric rhythm by the peptide proctolin. Journal of Neuroscience 7: 2097-2112. https://doi.org/10.1523/jneurosci.07-07-02097.1987</a:t>
            </a:r>
          </a:p>
          <a:p/>
          <a:p>
            <a:r>
              <a:t>Figure: Eisen &amp; Marder (1982), Fig. 6. External potassium shifts the isolated PD-to-LP reversal</a:t>
            </a:r>
          </a:p>
          <a:p>
            <a:r>
              <a:t>Figure source: https://doi.org/10.1152/jn.1982.48.6.1392</a:t>
            </a:r>
          </a:p>
          <a:p/>
          <a:p>
            <a:r>
              <a:t>Figure: Hooper &amp; Marder (1987), Fig. 1(right). Lobster pyloric circuit</a:t>
            </a:r>
          </a:p>
          <a:p>
            <a:r>
              <a:t>Figure source: https://doi.org/10.1523/jneurosci.07-07-02097.1987</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LP spike can produce a response in AB although chemical feedback directly targets PD. Eisen and Marder hyperpolarized AB or PD while recording all three cells. They tested whether the AB response followed AB voltage or the response generated in PD.</a:t>
            </a:r>
          </a:p>
          <a:p>
            <a:r>
              <a:t>  – The manipulation compared the two cells at similar negative voltages, but changed which cell was directly polarized.</a:t>
            </a:r>
          </a:p>
          <a:p>
            <a:r>
              <a:t>• Hyperpolarizing AB to approximately −72 mV did not reverse its LP-associated IPSP. Hyperpolarizing PD instead reversed the response in PD and the voltage response appearing in AB. The AB response therefore tracked a PD synaptic event carried through electrical coupling.</a:t>
            </a:r>
          </a:p>
          <a:p>
            <a:r>
              <a:t>  – If LP released transmitter directly onto AB, changing AB’s own membrane voltage should govern the local synaptic reversal.</a:t>
            </a:r>
          </a:p>
          <a:p>
            <a:r>
              <a:t>• Electrotonic spread is passive propagation of a voltage change through a connected electrical pathway. A neuron may receive such a propagated response without possessing the corresponding chemical synapse. A connection map based only on spike-correlated voltage changes can consequently assign the wrong presynaptic target.</a:t>
            </a:r>
          </a:p>
          <a:p>
            <a:r>
              <a:t>  – The results require a chemical LP-to-PD connection plus electrical propagation from PD into AB.</a:t>
            </a:r>
          </a:p>
          <a:p/>
          <a:p>
            <a:r>
              <a:t>References:</a:t>
            </a:r>
          </a:p>
          <a:p>
            <a:r>
              <a:t>Eisen JS, Marder E. (1982). Mechanisms underlying pattern generation in lobster stomatogastric ganglion as determined by selective inactivation of identified neurons. III. Synaptic connections of electrically coupled pyloric neurons. Journal of Neurophysiology 48: 1392-1415. https://doi.org/10.1152/jn.1982.48.6.1392</a:t>
            </a:r>
          </a:p>
          <a:p>
            <a:r>
              <a:t>Hooper SL, Marder E. (1987). Modulation of the lobster pyloric rhythm by the peptide proctolin. Journal of Neuroscience 7: 2097-2112. https://doi.org/10.1523/jneurosci.07-07-02097.1987</a:t>
            </a:r>
          </a:p>
          <a:p/>
          <a:p>
            <a:r>
              <a:t>Figure: Eisen &amp; Marder (1982), Fig. 9. LP-evoked potentials reverse together during PD polarization</a:t>
            </a:r>
          </a:p>
          <a:p>
            <a:r>
              <a:t>Figure source: https://doi.org/10.1152/jn.1982.48.6.1392</a:t>
            </a:r>
          </a:p>
          <a:p/>
          <a:p>
            <a:r>
              <a:t>Figure: Hooper &amp; Marder (1987), Fig. 1(right). Lobster pyloric circuit</a:t>
            </a:r>
          </a:p>
          <a:p>
            <a:r>
              <a:t>Figure source: https://doi.org/10.1523/jneurosci.07-07-02097.1987</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Marder tested transmitter identity at the lobster PD-to-muscle junction. Acetylcholine (ACh) is a small-molecule neurotransmitter; applying it locally to the dorsal dilator produced a depolarizing response. Stimulating the PD motor nerve produced an excitatory junctional potential, the muscle voltage response to neural transmitter release.</a:t>
            </a:r>
          </a:p>
          <a:p>
            <a:r>
              <a:t>  – Iontophoresis delivers a charged substance from a pipette with electrical current, allowing a localized test of the muscle’s response.</a:t>
            </a:r>
          </a:p>
          <a:p>
            <a:r>
              <a:t>  – The anatomical localization in Garcia and colleagues is from the crab; the transmitter and muscle experiments discussed here are from the spiny lobster.</a:t>
            </a:r>
          </a:p>
          <a:p>
            <a:r>
              <a:t>• Hexamethonium reversibly reduced both the nerve-evoked response and the response to applied ACh. Washout restored them toward their control amplitudes. Local ACh delivery and motor-nerve stimulation therefore interrogated a pharmacologically similar postsynaptic pathway in the same muscle system.</a:t>
            </a:r>
          </a:p>
          <a:p>
            <a:r>
              <a:t>  – The comparison included normal saline, antagonist exposure and saline wash, separating a reversible drug action from irreversible tissue failure.</a:t>
            </a:r>
          </a:p>
          <a:p>
            <a:r>
              <a:t>• A transmitter candidate is stronger when it reproduces the nerve response and shares its antagonist sensitivity. Drug sensitivity alone is insufficient because a compound may affect more than one receptor class. These experiments support cholinergic transmission without assigning a modern molecular receptor subtype.</a:t>
            </a:r>
          </a:p>
          <a:p>
            <a:r>
              <a:t>  – Excitation at the muscle does not mean that the same transmitter excites every neuron onto which PD releases it.</a:t>
            </a:r>
          </a:p>
          <a:p/>
          <a:p>
            <a:r>
              <a:t>References:</a:t>
            </a:r>
          </a:p>
          <a:p>
            <a:r>
              <a:t>Marder E. (1976). Cholinergic motor neurones in the stomatogastric system of the lobster. The Journal of Physiology 257: 63-86. https://doi.org/10.1113/jphysiol.1976.sp011356</a:t>
            </a:r>
          </a:p>
          <a:p>
            <a:r>
              <a:t>Garcia VJ, Daur N, Temporal S, Schulz DJ, Bucher D. (2015). Neuropeptide receptor transcript expression levels and magnitude of ionic current responses show cell type-specific differences in a small motor circuit. Journal of Neuroscience 35: 6786-6800. https://doi.org/10.1523/jneurosci.0171-15.2015</a:t>
            </a:r>
          </a:p>
          <a:p/>
          <a:p>
            <a:r>
              <a:t>Figure: Marder (1976), Fig. 2(A–B). Hexamethonium reversibly reduces nerve and ACh responses</a:t>
            </a:r>
          </a:p>
          <a:p>
            <a:r>
              <a:t>Figure source: https://doi.org/10.1113/jphysiol.1976.sp011356</a:t>
            </a:r>
          </a:p>
          <a:p/>
          <a:p>
            <a:r>
              <a:t>Figure: Garcia et al. (2015), Fig. 3(A). Crab foregut anatomy</a:t>
            </a:r>
          </a:p>
          <a:p>
            <a:r>
              <a:t>Figure source: https://doi.org/10.1523/jneurosci.0171-15.2015</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Marder compared the voltage dependence of applied ACh responses with the dorsal dilator’s nerve-evoked junctional responses. The muscle membrane was polarized to different voltages, and response amplitude was measured using intracellular and focal extracellular recording approaches.</a:t>
            </a:r>
          </a:p>
          <a:p>
            <a:r>
              <a:t>  – Focal extracellular recording placed the electrode near an active junction, while intracellular recording measured the muscle fiber’s membrane voltage.</a:t>
            </a:r>
          </a:p>
          <a:p>
            <a:r>
              <a:t>• The ACh response extrapolated to a reversal near −18 mV in the recorded experiment. Nerve-evoked responses reversed in a similar negative voltage range. A depolarization makes the membrane less negative; its amplitude declines as the muscle voltage approaches the response’s reversal potential.</a:t>
            </a:r>
          </a:p>
          <a:p>
            <a:r>
              <a:t>  – The reversal estimate summarizes an electrical property of the response; it is not the muscle’s resting voltage.</a:t>
            </a:r>
          </a:p>
          <a:p>
            <a:r>
              <a:t>• Similar reversal behavior supports a shared postsynaptic ionic mechanism for the applied transmitter and the neural response. Receptor desensitization and large response amplitudes could distort the extrapolation, so Marder used small responses and controlled application timing. The agreement strengthens transmitter identification without directly observing individual molecules released from PD.</a:t>
            </a:r>
          </a:p>
          <a:p>
            <a:r>
              <a:t>  – Desensitization is a reduction in responsiveness during repeated or sustained agonist exposure, and can make successive application tests misleading.</a:t>
            </a:r>
          </a:p>
          <a:p/>
          <a:p>
            <a:r>
              <a:t>References:</a:t>
            </a:r>
          </a:p>
          <a:p>
            <a:r>
              <a:t>Marder E. (1976). Cholinergic motor neurones in the stomatogastric system of the lobster. The Journal of Physiology 257: 63-86. https://doi.org/10.1113/jphysiol.1976.sp011356</a:t>
            </a:r>
          </a:p>
          <a:p>
            <a:r>
              <a:t>Garcia VJ, Daur N, Temporal S, Schulz DJ, Bucher D. (2015). Neuropeptide receptor transcript expression levels and magnitude of ionic current responses show cell type-specific differences in a small motor circuit. Journal of Neuroscience 35: 6786-6800. https://doi.org/10.1523/jneurosci.0171-15.2015</a:t>
            </a:r>
          </a:p>
          <a:p/>
          <a:p>
            <a:r>
              <a:t>Figure: Marder (1976), Fig. 7. Nerve-evoked and ACh responses reverse at similar voltages</a:t>
            </a:r>
          </a:p>
          <a:p>
            <a:r>
              <a:t>Figure source: https://doi.org/10.1113/jphysiol.1976.sp011356</a:t>
            </a:r>
          </a:p>
          <a:p/>
          <a:p>
            <a:r>
              <a:t>Figure: Garcia et al. (2015), Fig. 3(A). Crab foregut anatomy</a:t>
            </a:r>
          </a:p>
          <a:p>
            <a:r>
              <a:t>Figure source: https://doi.org/10.1523/jneurosci.0171-15.2015</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Marder screened muscles innervated by identified lobster motor-neuron classes with ACh and L-glutamate. Glutamate is another small-molecule transmitter. PD-innervated dilators and the VD-innervated muscle contracted in ACh, whereas the LP/PY region and inferior cardiac muscle responded to glutamate.</a:t>
            </a:r>
          </a:p>
          <a:p>
            <a:r>
              <a:t>  – Choline acetyltransferase is the enzyme that synthesizes acetylcholine, so its presence supplies biochemical evidence distinct from a muscle’s drug response.</a:t>
            </a:r>
          </a:p>
          <a:p>
            <a:r>
              <a:t>• An unresponsive bath application was checked against nerve-evoked contraction. In the LP/PY preparation, stimulation at 10 pulses/s for 2 s confirmed that the muscles were still viable. Choline acetyltransferase assays provided separate evidence for ACh synthesis in identified neuronal cell bodies.</a:t>
            </a:r>
          </a:p>
          <a:p>
            <a:r>
              <a:t>  – The inferior cardiac neuron is abbreviated IC; the name refers to a foregut motor neuron, rather than a neuron controlling the heart.</a:t>
            </a:r>
          </a:p>
          <a:p>
            <a:r>
              <a:t>• The combined evidence assigned ACh or glutamate as transmitter candidates for different motor classes. The strongest detailed physiological identification concerned PD; several other assignments remained putative. A candidate inferred from muscle sensitivity and synthesis should be distinguished from complete proof of its release and action at every central synapse.</a:t>
            </a:r>
          </a:p>
          <a:p>
            <a:r>
              <a:t>  – A peripheral muscle can be excited by a transmitter that mediates inhibition at another target, because postsynaptic receptor and ionic mechanisms differ.</a:t>
            </a:r>
          </a:p>
          <a:p/>
          <a:p>
            <a:r>
              <a:t>References:</a:t>
            </a:r>
          </a:p>
          <a:p>
            <a:r>
              <a:t>Marder E. (1976). Cholinergic motor neurones in the stomatogastric system of the lobster. The Journal of Physiology 257: 63-86. https://doi.org/10.1113/jphysiol.1976.sp011356</a:t>
            </a:r>
          </a:p>
          <a:p>
            <a:r>
              <a:t>Garcia VJ, Daur N, Temporal S, Schulz DJ, Bucher D. (2015). Neuropeptide receptor transcript expression levels and magnitude of ionic current responses show cell type-specific differences in a small motor circuit. Journal of Neuroscience 35: 6786-6800. https://doi.org/10.1523/jneurosci.0171-15.2015</a:t>
            </a:r>
          </a:p>
          <a:p/>
          <a:p>
            <a:r>
              <a:t>Figure: Marder (1976), Fig. 8(A–C). Dilator muscles contract in acetylcholine rather than glutamate</a:t>
            </a:r>
          </a:p>
          <a:p>
            <a:r>
              <a:t>Figure source: https://doi.org/10.1113/jphysiol.1976.sp011356</a:t>
            </a:r>
          </a:p>
          <a:p/>
          <a:p>
            <a:r>
              <a:t>Figure: Garcia et al. (2015), Fig. 3(A). Crab foregut anatomy</a:t>
            </a:r>
          </a:p>
          <a:p>
            <a:r>
              <a:t>Figure source: https://doi.org/10.1523/jneurosci.0171-15.2015</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crab pyloric neurons, chemical transmission has both spike-mediated and graded components. Graded transmission varies with the presynaptic membrane potential and does not require a full action potential. Rosenbaum and Marder tested it while tetrodotoxin, or TTX, blocked the voltage-gated sodium channels needed for spiking.</a:t>
            </a:r>
          </a:p>
          <a:p>
            <a:r>
              <a:t>  – Voltage-gated channels change their probability of opening when the membrane voltage changes; TTX selectively blocks a major sodium-dependent spike mechanism.</a:t>
            </a:r>
          </a:p>
          <a:p>
            <a:r>
              <a:t>• LP was depolarized from −60 mV to −20 mV for 500 ms while PD was held near −50 mV. PD developed an inhibitory response despite the absence of presynaptic spikes. Holding the postsynaptic voltage constant reduced differences in response amplitude caused merely by changing driving force.</a:t>
            </a:r>
          </a:p>
          <a:p>
            <a:r>
              <a:t>  – The presynaptic voltage step and the postsynaptic voltage control separate transmitter-release conditions from the voltage at which the response is measured.</a:t>
            </a:r>
          </a:p>
          <a:p>
            <a:r>
              <a:t>• The LP-to-PD pathway can therefore transmit a slow voltage signal through transmitter release. A motor circuit’s synaptic communication cannot be inferred exclusively from spike counts. This result concerns central synaptic potentials; it does not imply that a spike-free isolated circuit produces normal muscle contractions.</a:t>
            </a:r>
          </a:p>
          <a:p>
            <a:r>
              <a:t>  – An inhibitory graded response provides feedback to the pacemaker even when spikes have been experimentally removed.</a:t>
            </a:r>
          </a:p>
          <a:p/>
          <a:p>
            <a:r>
              <a:t>References:</a:t>
            </a:r>
          </a:p>
          <a:p>
            <a:r>
              <a:t>Rosenbaum P, Marder E. (2018). Graded Transmission without Action Potentials Sustains Rhythmic Activity in Some But Not All Modulators That Activate the Same Current. Journal of Neuroscience 38: 8976-8988. https://doi.org/10.1523/jneurosci.2632-17.2018</a:t>
            </a:r>
          </a:p>
          <a:p/>
          <a:p>
            <a:r>
              <a:t>Figure: Rosenbaum &amp; Marder (2018), Fig. 6(B). Presynaptic depolarization evokes graded inhibition without spikes</a:t>
            </a:r>
          </a:p>
          <a:p>
            <a:r>
              <a:t>Figure source: https://doi.org/10.1523/jneurosci.2632-17.2018</a:t>
            </a:r>
          </a:p>
          <a:p/>
          <a:p>
            <a:r>
              <a:t>Figure: Rosenbaum &amp; Marder (2018), Fig. 1(C). Pyloric circuit</a:t>
            </a:r>
          </a:p>
          <a:p>
            <a:r>
              <a:t>Figure source: https://doi.org/10.1523/jneurosci.2632-17.2018</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Rosenbaum and Marder first blocked descending input to the crab STG, then applied a modulator and finally added TTX. Oxotremorine is an agonist that activates muscarinic acetylcholine receptors. These receptors alter cellular state rather than supplying the brief muscle-junction response tested in the lobster experiments.</a:t>
            </a:r>
          </a:p>
          <a:p>
            <a:r>
              <a:t>  – An agonist is a substance that activates a receptor; muscarinic receptors are a class of acetylcholine receptor associated with slower modulation.</a:t>
            </a:r>
          </a:p>
          <a:p>
            <a:r>
              <a:t>• Oxotremorine at 10 μM increased the pyloric activity of the decentralized preparation. Addition of 0.1 μM TTX removed action potentials while PD and LP retained alternating slow membrane oscillations. Intracellular voltage records were essential because extracellular motor nerves no longer contained the usual spikes.</a:t>
            </a:r>
          </a:p>
          <a:p>
            <a:r>
              <a:t>  – Decentralization removes descending modulatory input, making the bath-applied compound the controlled source of the tested modulatory drive.</a:t>
            </a:r>
          </a:p>
          <a:p>
            <a:r>
              <a:t>• Slow voltage dynamics and graded inhibition can sustain central rhythmicity in this modulatory state. Persistence after sodium-channel blockade does not mean that spikes never contribute to the intact rhythm. Nor does it establish normal behavioral output, which requires commands to reach the muscles.</a:t>
            </a:r>
          </a:p>
          <a:p>
            <a:r>
              <a:t>  – The before-modulator, after-modulator and after-TTX sequence distinguishes restoration of a rhythm from its dependence on spiking.</a:t>
            </a:r>
          </a:p>
          <a:p/>
          <a:p>
            <a:r>
              <a:t>References:</a:t>
            </a:r>
          </a:p>
          <a:p>
            <a:r>
              <a:t>Rosenbaum P, Marder E. (2018). Graded Transmission without Action Potentials Sustains Rhythmic Activity in Some But Not All Modulators That Activate the Same Current. Journal of Neuroscience 38: 8976-8988. https://doi.org/10.1523/jneurosci.2632-17.2018</a:t>
            </a:r>
          </a:p>
          <a:p/>
          <a:p>
            <a:r>
              <a:t>Figure: Rosenbaum &amp; Marder (2018), Fig. 2(B). Oxotremorine sustains slow oscillations after spike blockade</a:t>
            </a:r>
          </a:p>
          <a:p>
            <a:r>
              <a:t>Figure source: https://doi.org/10.1523/jneurosci.2632-17.2018</a:t>
            </a:r>
          </a:p>
          <a:p/>
          <a:p>
            <a:r>
              <a:t>Figure: Rosenbaum &amp; Marder (2018), Fig. 1(C). Pyloric circuit</a:t>
            </a:r>
          </a:p>
          <a:p>
            <a:r>
              <a:t>Figure source: https://doi.org/10.1523/jneurosci.2632-17.2018</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Neuropeptides are short chains of amino acids released as chemical signals that can alter neuronal activity. Rosenbaum and Marder compared several peptides that activate the same modulator-activated inward current, IMI, a voltage-dependent current carried by nonspecific cation channels, in different subsets of crab pyloric neurons.</a:t>
            </a:r>
          </a:p>
          <a:p>
            <a:r>
              <a:t>  – An inward current carries net positive charge into the cell and can promote depolarization. Extracellular calcium blocks I_MI at strongly negative membrane voltages; relief of that block during depolarization can amplify slow voltage waves.</a:t>
            </a:r>
          </a:p>
          <a:p>
            <a:r>
              <a:t>• Proctolin, TNRNFLRFamide and crustacean cardioactive peptide, or CCAP, each at 1 μM, activated robust pyloric rhythms after decentralization. Adding TTX stopped the rhythms in the published examples. By contrast, oxotremorine and the tachykinin-related peptide CabTRP1a supported slow oscillations without spikes.</a:t>
            </a:r>
          </a:p>
          <a:p>
            <a:r>
              <a:t>  – CabTRP1a means Cancer borealis tachykinin-related peptide Ia; its name identifies the peptide rather than a distinct neuron.</a:t>
            </a:r>
          </a:p>
          <a:p>
            <a:r>
              <a:t>• Activation of a common inward current is not sufficient to predict whether a network can oscillate after spike blockade. Target-cell distributions, synaptic actions and other currents can differ among modulators. The experiment establishes state-dependent reliance on spikes, rather than one universal mechanism for all peptide-activated rhythms.</a:t>
            </a:r>
          </a:p>
          <a:p>
            <a:r>
              <a:t>  – Each compound was tested as a controlled bath application, so the comparison does not imply equal natural release patterns in the animal.</a:t>
            </a:r>
          </a:p>
          <a:p/>
          <a:p>
            <a:r>
              <a:t>References:</a:t>
            </a:r>
          </a:p>
          <a:p>
            <a:r>
              <a:t>Rosenbaum P, Marder E. (2018). Graded Transmission without Action Potentials Sustains Rhythmic Activity in Some But Not All Modulators That Activate the Same Current. Journal of Neuroscience 38: 8976-8988. https://doi.org/10.1523/jneurosci.2632-17.2018</a:t>
            </a:r>
          </a:p>
          <a:p/>
          <a:p>
            <a:r>
              <a:t>Figure: Rosenbaum &amp; Marder (2018), Fig. 3(A–C). Proctolin, FLRFamide and CCAP rhythms stop in TTX</a:t>
            </a:r>
          </a:p>
          <a:p>
            <a:r>
              <a:t>Figure source: https://doi.org/10.1523/jneurosci.2632-17.2018</a:t>
            </a:r>
          </a:p>
          <a:p/>
          <a:p>
            <a:r>
              <a:t>Figure: Rosenbaum &amp; Marder (2018), Fig. 1(C). Pyloric circuit</a:t>
            </a:r>
          </a:p>
          <a:p>
            <a:r>
              <a:t>Figure source: https://doi.org/10.1523/jneurosci.2632-17.2018</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AB–PD ensemble can be examined after feedback from glutamatergic follower neurons is blocked. Picrotoxin (PTX) blocks the relevant glutamatergic inhibitory synapses in this preparation. Rosenbaum and Marder combined PTX with TTX to separate pacemaker oscillation from spikes and major follower feedback.</a:t>
            </a:r>
          </a:p>
          <a:p>
            <a:r>
              <a:t>  – AB and PD remain electrically connected when follower chemical synapses are blocked, so the retained oscillator is an ensemble.</a:t>
            </a:r>
          </a:p>
          <a:p>
            <a:r>
              <a:t>• In oxotremorine or CabTRP1a, PD retained slow oscillations after both drugs were added. LP activity was greatly reduced, yet the remaining pacemaker wave continued. The intracellular records used 20 mV voltage calibration and 1–2 s time calibration.</a:t>
            </a:r>
          </a:p>
          <a:p>
            <a:r>
              <a:t>  – TTX prevents the usual sodium-dependent spikes, while PTX removes a different component: the inhibitory feedback carried by glutamatergic synapses.</a:t>
            </a:r>
          </a:p>
          <a:p>
            <a:r>
              <a:t>• The result localizes a rhythm-generating capability to the electrically coupled AB–PD group under these modulatory conditions. PTX is a pharmacological isolation procedure, not physical removal of every neuron. Persistence of the pacemaker does not specify which coupled member or which individual channel is sufficient on its own.</a:t>
            </a:r>
          </a:p>
          <a:p>
            <a:r>
              <a:t>  – The combination tests the dependence of the central voltage rhythm on two mechanisms without measuring the behavior of the whole crab.</a:t>
            </a:r>
          </a:p>
          <a:p/>
          <a:p>
            <a:r>
              <a:t>References:</a:t>
            </a:r>
          </a:p>
          <a:p>
            <a:r>
              <a:t>Rosenbaum P, Marder E. (2018). Graded Transmission without Action Potentials Sustains Rhythmic Activity in Some But Not All Modulators That Activate the Same Current. Journal of Neuroscience 38: 8976-8988. https://doi.org/10.1523/jneurosci.2632-17.2018</a:t>
            </a:r>
          </a:p>
          <a:p/>
          <a:p>
            <a:r>
              <a:t>Figure: Rosenbaum &amp; Marder (2018), Fig. 8(A–B). Isolated AB–PD oscillations persist in TTX with selected modulators</a:t>
            </a:r>
          </a:p>
          <a:p>
            <a:r>
              <a:t>Figure source: https://doi.org/10.1523/jneurosci.2632-17.2018</a:t>
            </a:r>
          </a:p>
          <a:p/>
          <a:p>
            <a:r>
              <a:t>Figure: Rosenbaum &amp; Marder (2018), Fig. 1(C). Pyloric circuit</a:t>
            </a:r>
          </a:p>
          <a:p>
            <a:r>
              <a:t>Figure source: https://doi.org/10.1523/jneurosci.2632-17.2018</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Cycle period is the interval between successive starts of a rhythm. Latency is the time from a reference event to a response, whereas phase expresses that delay as a fraction of the cycle. A fixed latency therefore does not automatically preserve phase when the cycle changes.</a:t>
            </a:r>
          </a:p>
          <a:p>
            <a:r>
              <a:t>  – The published conceptual alternatives distinguish constant delay from constant relative timing; the physiological records and measurements test where LP falls between those alternatives.</a:t>
            </a:r>
          </a:p>
          <a:p>
            <a:r>
              <a:t>• Martinez and colleagues voltage-clamped a crab PD neuron with a recorded waveform repeated at different periods. Voltage clamp holds a membrane to a commanded voltage by injecting the required current. LP followed the imposed rhythm, but its onset latency and normalized onset phase changed differently.</a:t>
            </a:r>
          </a:p>
          <a:p>
            <a:r>
              <a:t>  – The voltage command used a waveform recorded from PD, so the experiment preserved a realistic presynaptic voltage shape while changing its repetition rate.</a:t>
            </a:r>
          </a:p>
          <a:p>
            <a:r>
              <a:t>• The measured LP phase declined as period increased, rather than remaining perfectly constant. Imposed pacemaker waveforms separated the timing of inhibition from the free-running network’s normal adjustments. This preparation tests mechanisms of phase control, not a claim that natural pyloric phase is always invariant.</a:t>
            </a:r>
          </a:p>
          <a:p>
            <a:r>
              <a:t>  – The period range in the plotted experiment spans fractions of a second to around two seconds, with latency measured in seconds and phase expressed without units.</a:t>
            </a:r>
          </a:p>
          <a:p/>
          <a:p>
            <a:r>
              <a:t>References:</a:t>
            </a:r>
          </a:p>
          <a:p>
            <a:r>
              <a:t>Martinez D, Anwar H, Bose A, Bucher DM, Nadim F. (2019). Short-term synaptic dynamics control the activity phase of neurons in an oscillatory network. eLife 8: e46911. https://doi.org/10.7554/elife.46911</a:t>
            </a:r>
          </a:p>
          <a:p>
            <a:r>
              <a:t>Tang LS, Goeritz ML, Caplan JS, Taylor AL, Fisek M, Marder E. (2010). Precise temperature compensation of phase in a rhythmic motor pattern. PLoS Biology 8: e1000469. https://doi.org/10.1371/journal.pbio.1000469</a:t>
            </a:r>
          </a:p>
          <a:p/>
          <a:p>
            <a:r>
              <a:t>Figure: Martinez et al. (2019), Fig. 1(A–C). Published timing alternatives and recorded PD–LP latency and phase</a:t>
            </a:r>
          </a:p>
          <a:p>
            <a:r>
              <a:t>Figure source: https://doi.org/10.7554/elife.46911</a:t>
            </a:r>
          </a:p>
          <a:p/>
          <a:p>
            <a:r>
              <a:t>Figure: Tang et al. (2010), Fig. 2(B). Crab pyloric circuit</a:t>
            </a:r>
          </a:p>
          <a:p>
            <a:r>
              <a:t>Figure source: https://doi.org/10.1371/journal.pbio.1000469</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Martinez and colleagues recorded LP intracellularly while monitoring the crab lateral ventricular nerve. LP normally received alternating inhibition from the pacemaker and other pyloric neurons. Its recurring bursts depended on those inputs interacting with its own membrane properties.</a:t>
            </a:r>
          </a:p>
          <a:p>
            <a:r>
              <a:t>  – A follower neuron can generate spikes and rebound responses without generating a self-sustaining rhythm when its coordinating inhibition is removed.</a:t>
            </a:r>
          </a:p>
          <a:p>
            <a:r>
              <a:t>• Bath application of 10 μM picrotoxin blocked glutamatergic inhibition from AB and PY. LP’s organized slow bursting disappeared while activity from other pyloric neurons remained visible on the nerve. The published comparison used a 500 ms time calibration and a 10 mV intracellular voltage calibration.</a:t>
            </a:r>
          </a:p>
          <a:p>
            <a:r>
              <a:t>  – Picrotoxin blocks the relevant glutamatergic inhibitory pathways here; it should not be treated as a universal blocker of every chemical synapse.</a:t>
            </a:r>
          </a:p>
          <a:p>
            <a:r>
              <a:t>• Loss of LP rhythmicity after removal of particular inputs distinguishes a follower neuron from an autonomous oscillator in this condition. The remaining cholinergic PD synapse means that pharmacological isolation was incomplete. The experiment assigns a requirement to the blocked pathways, rather than proving that all synaptic inputs are interchangeable.</a:t>
            </a:r>
          </a:p>
          <a:p>
            <a:r>
              <a:t>  – The surviving nerve units help distinguish selective disruption of LP’s timing from a preparation-wide failure of neuronal activity.</a:t>
            </a:r>
          </a:p>
          <a:p/>
          <a:p>
            <a:r>
              <a:t>References:</a:t>
            </a:r>
          </a:p>
          <a:p>
            <a:r>
              <a:t>Martinez D, Anwar H, Bose A, Bucher DM, Nadim F. (2019). Short-term synaptic dynamics control the activity phase of neurons in an oscillatory network. eLife 8: e46911. https://doi.org/10.7554/elife.46911</a:t>
            </a:r>
          </a:p>
          <a:p>
            <a:r>
              <a:t>Tang LS, Goeritz ML, Caplan JS, Taylor AL, Fisek M, Marder E. (2010). Precise temperature compensation of phase in a rhythmic motor pattern. PLoS Biology 8: e1000469. https://doi.org/10.1371/journal.pbio.1000469</a:t>
            </a:r>
          </a:p>
          <a:p/>
          <a:p>
            <a:r>
              <a:t>Figure: Martinez et al. (2019), Fig. 2(A–B). Blocking glutamatergic input disrupts LP bursting</a:t>
            </a:r>
          </a:p>
          <a:p>
            <a:r>
              <a:t>Figure source: https://doi.org/10.7554/elife.46911</a:t>
            </a:r>
          </a:p>
          <a:p/>
          <a:p>
            <a:r>
              <a:t>Figure: Tang et al. (2010), Fig. 2(B). Crab pyloric circuit</a:t>
            </a:r>
          </a:p>
          <a:p>
            <a:r>
              <a:t>Figure source: https://doi.org/10.1371/journal.pbio.1000469</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Dynamic clamp injects an electrical current calculated from the recorded membrane voltage and a specified conductance. Martinez and colleagues used it to replace blocked input to a living LP neuron. The neuron’s own channels remained active while the experimenter controlled the inhibitory waveform.</a:t>
            </a:r>
          </a:p>
          <a:p>
            <a:r>
              <a:t>  – A conductance-based input changes current as the postsynaptic voltage changes, preserving a property that a fixed current pulse does not capture.</a:t>
            </a:r>
          </a:p>
          <a:p>
            <a:r>
              <a:t>• The physiological synaptic waveform was measured in voltage-clamped LP and aligned to pacemaker burst onset. Replaying a conductance based on that waveform recruited LP bursts. Increasing imposed conductance delayed LP onset, whereas lengthening the repetition period tended to move onset to an earlier fraction of the cycle.</a:t>
            </a:r>
          </a:p>
          <a:p>
            <a:r>
              <a:t>  – The publication includes measured synaptic currents, replayed responses and phase measurements; these are distinct parts of the causal test.</a:t>
            </a:r>
          </a:p>
          <a:p>
            <a:r>
              <a:t>• Opposing timing effects allow synaptic properties to compensate for changes in rhythm speed. The intervention tests the effect of a specified electrical input on a real neuron. It does not establish that the intact network naturally changes every waveform parameter in exactly the imposed manner.</a:t>
            </a:r>
          </a:p>
          <a:p>
            <a:r>
              <a:t>  – The amplitude of the synaptic conductance was measured in microsiemens, and the repetition period was measured in seconds.</a:t>
            </a:r>
          </a:p>
          <a:p/>
          <a:p>
            <a:r>
              <a:t>References:</a:t>
            </a:r>
          </a:p>
          <a:p>
            <a:r>
              <a:t>Martinez D, Anwar H, Bose A, Bucher DM, Nadim F. (2019). Short-term synaptic dynamics control the activity phase of neurons in an oscillatory network. eLife 8: e46911. https://doi.org/10.7554/elife.46911</a:t>
            </a:r>
          </a:p>
          <a:p>
            <a:r>
              <a:t>Tang LS, Goeritz ML, Caplan JS, Taylor AL, Fisek M, Marder E. (2010). Precise temperature compensation of phase in a rhythmic motor pattern. PLoS Biology 8: e1000469. https://doi.org/10.1371/journal.pbio.1000469</a:t>
            </a:r>
          </a:p>
          <a:p/>
          <a:p>
            <a:r>
              <a:t>Figure: Martinez et al. (2019), Fig. 3(A–F). Measured input, conductance replay and LP phase responses</a:t>
            </a:r>
          </a:p>
          <a:p>
            <a:r>
              <a:t>Figure source: https://doi.org/10.7554/elife.46911</a:t>
            </a:r>
          </a:p>
          <a:p/>
          <a:p>
            <a:r>
              <a:t>Figure: Tang et al. (2010), Fig. 2(B). Crab pyloric circuit</a:t>
            </a:r>
          </a:p>
          <a:p>
            <a:r>
              <a:t>Figure source: https://doi.org/10.1371/journal.pbio.1000469</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Duty cycle is the fraction of a complete cycle occupied by an event. The duration of inhibition can remain a similar fraction of the pyloric cycle even as the absolute period changes. That relationship alters when an LP neuron is released from inhibition.</a:t>
            </a:r>
          </a:p>
          <a:p>
            <a:r>
              <a:t>  – The reference event must be stated whenever a phase is reported, because onset-relative and offset-relative phases describe different delays.</a:t>
            </a:r>
          </a:p>
          <a:p>
            <a:r>
              <a:t>• Martinez and colleagues compared LP onset phase measured from the start of the imposed pacemaker burst with onset measured from its end. The same bursts produced different phase-versus-period relationships under the two reference definitions. Their dynamic-clamp experiments also varied inhibitory duration independently of other waveform features.</a:t>
            </a:r>
          </a:p>
          <a:p>
            <a:r>
              <a:t>  – The authors compared a fixed-duration condition of 300 ms with a fixed-duty-cycle condition occupying 0.3 of each cycle in their systematic waveform experiments.</a:t>
            </a:r>
          </a:p>
          <a:p>
            <a:r>
              <a:t>• Maintaining inhibitory duration proportional to period promoted phase maintenance more effectively than keeping duration fixed in milliseconds. The result concerns the timing of a controlled synaptic input. A stable motor phase can therefore emerge from coordinated input timing without requiring each neuron to retain a fixed absolute rebound latency.</a:t>
            </a:r>
          </a:p>
          <a:p>
            <a:r>
              <a:t>  – Coordinating synaptic duration with period changes the time available for recovery from inhibition and for subsequent depolarization.</a:t>
            </a:r>
          </a:p>
          <a:p/>
          <a:p>
            <a:r>
              <a:t>References:</a:t>
            </a:r>
          </a:p>
          <a:p>
            <a:r>
              <a:t>Martinez D, Anwar H, Bose A, Bucher DM, Nadim F. (2019). Short-term synaptic dynamics control the activity phase of neurons in an oscillatory network. eLife 8: e46911. https://doi.org/10.7554/elife.46911</a:t>
            </a:r>
          </a:p>
          <a:p>
            <a:r>
              <a:t>Tang LS, Goeritz ML, Caplan JS, Taylor AL, Fisek M, Marder E. (2010). Precise temperature compensation of phase in a rhythmic motor pattern. PLoS Biology 8: e1000469. https://doi.org/10.1371/journal.pbio.1000469</a:t>
            </a:r>
          </a:p>
          <a:p/>
          <a:p>
            <a:r>
              <a:t>Figure: Martinez et al. (2019), Fig. 4(A–B). LP phase depends on the timing reference and inhibitory duty cycle</a:t>
            </a:r>
          </a:p>
          <a:p>
            <a:r>
              <a:t>Figure source: https://doi.org/10.7554/elife.46911</a:t>
            </a:r>
          </a:p>
          <a:p/>
          <a:p>
            <a:r>
              <a:t>Figure: Tang et al. (2010), Fig. 2(B). Crab pyloric circuit</a:t>
            </a:r>
          </a:p>
          <a:p>
            <a:r>
              <a:t>Figure source: https://doi.org/10.1371/journal.pbio.1000469</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Martinez and colleagues varied the position of the peak within an imposed inhibitory conductance while keeping its period and amplitude controlled. A peak phase specifies when the conductance reaches its maximum within the active inhibitory interval. The waveform was delivered by dynamic clamp to a living LP neuron.</a:t>
            </a:r>
          </a:p>
          <a:p>
            <a:r>
              <a:t>  – Short-term synaptic depression is a transient reduction of a synapse’s efficacy during repeated activation, followed by recovery when activation is reduced.</a:t>
            </a:r>
          </a:p>
          <a:p>
            <a:r>
              <a:t>• Moving the peak later shifted the onset of LP firing to a later pyloric phase. The published recording examples used a 500 ms period and compared several peak positions. They separated a change in inhibitory timing from a change in the neuron’s identity or its natural synaptic wiring.</a:t>
            </a:r>
          </a:p>
          <a:p>
            <a:r>
              <a:t>  – The input shapes are experimental conductances specified by the authors, and the voltage responses are recordings from the biological LP neuron.</a:t>
            </a:r>
          </a:p>
          <a:p>
            <a:r>
              <a:t>• Amplitude, duration and peak position can jointly influence release from inhibition. The authors’ mathematical analysis proposes how short-term synaptic depression could coordinate these features as period changes. The imposed-waveform recordings directly establish timing sensitivity; the proposed natural coordination requires a separate mechanistic inference.</a:t>
            </a:r>
          </a:p>
          <a:p>
            <a:r>
              <a:t>  – The published inference about depression should be distinguished from an experiment that selectively blocks the molecular mechanism of depression in the intact circuit.</a:t>
            </a:r>
          </a:p>
          <a:p/>
          <a:p>
            <a:r>
              <a:t>References:</a:t>
            </a:r>
          </a:p>
          <a:p>
            <a:r>
              <a:t>Martinez D, Anwar H, Bose A, Bucher DM, Nadim F. (2019). Short-term synaptic dynamics control the activity phase of neurons in an oscillatory network. eLife 8: e46911. https://doi.org/10.7554/elife.46911</a:t>
            </a:r>
          </a:p>
          <a:p>
            <a:r>
              <a:t>Tang LS, Goeritz ML, Caplan JS, Taylor AL, Fisek M, Marder E. (2010). Precise temperature compensation of phase in a rhythmic motor pattern. PLoS Biology 8: e1000469. https://doi.org/10.1371/journal.pbio.1000469</a:t>
            </a:r>
          </a:p>
          <a:p/>
          <a:p>
            <a:r>
              <a:t>Figure: Martinez et al. (2019), Fig. 6(C1–C2). Later inhibitory peaks delay LP activity in dynamic clamp</a:t>
            </a:r>
          </a:p>
          <a:p>
            <a:r>
              <a:t>Figure source: https://doi.org/10.7554/elife.46911</a:t>
            </a:r>
          </a:p>
          <a:p/>
          <a:p>
            <a:r>
              <a:t>Figure: Tang et al. (2010), Fig. 2(B). Crab pyloric circuit</a:t>
            </a:r>
          </a:p>
          <a:p>
            <a:r>
              <a:t>Figure source: https://doi.org/10.1371/journal.pbio.1000469</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Proctolin is a five-amino-acid neuropeptide that modulates the lobster pyloric circuit. Hooper and Marder applied it to the isolated stomatogastric preparation after descending input was blocked. Intracellular recordings separated slow membrane oscillations from the spikes generated during each depolarized phase.</a:t>
            </a:r>
          </a:p>
          <a:p>
            <a:r>
              <a:t>  – A peptide can alter a circuit without replacing its established synaptic connections or supplying a new rhythmic command on every cycle.</a:t>
            </a:r>
          </a:p>
          <a:p>
            <a:r>
              <a:t>• At 1 μM proctolin, AB oscillation amplitude increased and follower-neuron activity changed. In isolated AB, progressively higher peptide concentrations recruited stronger activity. Saline wash between applications returned the neuron toward its baseline, providing a control for reversibility and persistent peptide effects.</a:t>
            </a:r>
          </a:p>
          <a:p>
            <a:r>
              <a:t>  – The isolated AB series included 0.1 nM, 10 nM and 1 μM applications, with at least 45 minutes of saline wash between tests.</a:t>
            </a:r>
          </a:p>
          <a:p>
            <a:r>
              <a:t>• The network response combined direct peptide actions on selected neurons with consequences propagated through their existing connections. Increased activity in a motor neuron did not by itself establish a direct receptor-mediated action on that cell. Isolation was required to distinguish a peptide target from a synaptic follower of another target.</a:t>
            </a:r>
          </a:p>
          <a:p>
            <a:r>
              <a:t>  – The concentration-dependent response identifies a physiological action of proctolin; these recordings alone do not identify its receptor’s molecular sequence.</a:t>
            </a:r>
          </a:p>
          <a:p/>
          <a:p>
            <a:r>
              <a:t>References:</a:t>
            </a:r>
          </a:p>
          <a:p>
            <a:r>
              <a:t>Hooper SL, Marder E. (1987). Modulation of the lobster pyloric rhythm by the peptide proctolin. Journal of Neuroscience 7: 2097-2112. https://doi.org/10.1523/jneurosci.07-07-02097.1987</a:t>
            </a:r>
          </a:p>
          <a:p/>
          <a:p>
            <a:r>
              <a:t>Figure: Hooper &amp; Marder (1987), Fig. 4. Proctolin changes AB oscillations and the activity of follower cells</a:t>
            </a:r>
          </a:p>
          <a:p>
            <a:r>
              <a:t>Figure source: https://doi.org/10.1523/jneurosci.07-07-02097.1987</a:t>
            </a:r>
          </a:p>
          <a:p/>
          <a:p>
            <a:r>
              <a:t>Figure: Hooper &amp; Marder (1987), Fig. 6. Proctolin excites the isolated AB neuron in a concentration-dependent manner</a:t>
            </a:r>
          </a:p>
          <a:p>
            <a:r>
              <a:t>Figure source: https://doi.org/10.1523/jneurosci.07-07-02097.1987</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Hooper and Marder isolated lobster PD neurons from their major synaptic inputs, then applied 1 μM proctolin. The PD cells continued tonic firing without the direct peptide response found in isolated AB. In the intact circuit, however, PD activity changed because PD remained electrically coupled to the peptide-responsive AB neuron.</a:t>
            </a:r>
          </a:p>
          <a:p>
            <a:r>
              <a:t>  – Electrical coupling provides a route by which an AB change affects PD even when isolated PD is insensitive to the tested proctolin application.</a:t>
            </a:r>
          </a:p>
          <a:p>
            <a:r>
              <a:t>• An isolated LP neuron responded differently depending on its membrane voltage. At approximately −58 mV, proctolin caused depolarization and spiking. At approximately −62 mV in the same neuron, that response was absent. Voltage-dependent expression of modulation can therefore obscure a response during a single baseline test.</a:t>
            </a:r>
          </a:p>
          <a:p>
            <a:r>
              <a:t>  – Two electrodes allowed the experimenter to record LP voltage while using injected current to set its starting membrane potential.</a:t>
            </a:r>
          </a:p>
          <a:p>
            <a:r>
              <a:t>• A modulator’s circuit effect depends on target-cell properties and the connections transmitting their effects. Failure to respond in one voltage state does not prove that a neuron lacks a relevant receptor. Conversely, changed activity in the connected circuit does not prove that the modulator acts directly on that motor neuron.</a:t>
            </a:r>
          </a:p>
          <a:p>
            <a:r>
              <a:t>  – The observed voltage dependence motivates tests over several membrane states; it does not establish a particular channel’s gating mechanism from these traces alone.</a:t>
            </a:r>
          </a:p>
          <a:p/>
          <a:p>
            <a:r>
              <a:t>References:</a:t>
            </a:r>
          </a:p>
          <a:p>
            <a:r>
              <a:t>Hooper SL, Marder E. (1987). Modulation of the lobster pyloric rhythm by the peptide proctolin. Journal of Neuroscience 7: 2097-2112. https://doi.org/10.1523/jneurosci.07-07-02097.1987</a:t>
            </a:r>
          </a:p>
          <a:p/>
          <a:p>
            <a:r>
              <a:t>Figure: Hooper &amp; Marder (1987), Fig. 7. Isolated PD neurons retain tonic activity in proctolin</a:t>
            </a:r>
          </a:p>
          <a:p>
            <a:r>
              <a:t>Figure source: https://doi.org/10.1523/jneurosci.07-07-02097.1987</a:t>
            </a:r>
          </a:p>
          <a:p/>
          <a:p>
            <a:r>
              <a:t>Figure: Hooper &amp; Marder (1987), Fig. 9. The isolated LP response depends on membrane voltage</a:t>
            </a:r>
          </a:p>
          <a:p>
            <a:r>
              <a:t>Figure source: https://doi.org/10.1523/jneurosci.07-07-02097.1987</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Garcia and colleagues identified a candidate CCAP receptor transcript in the crab nervous system. A transcript is an RNA copy of a gene used in protein production. The candidate sequence resembled known peptide receptors and predicted a receptor with seven membrane-spanning segments.</a:t>
            </a:r>
          </a:p>
          <a:p>
            <a:r>
              <a:t>  – The seven-segment topology and sequence similarity support a G-protein-coupled receptor candidate, rather than identifying a ligand-gated ion channel.</a:t>
            </a:r>
          </a:p>
          <a:p>
            <a:r>
              <a:t>• Single-cell quantitative PCR measured receptor RNA from individually identified neurons. PCR amplifies a selected nucleic-acid sequence so its abundance can be estimated. LP generally contained more receptor transcript than IC, while expression was low or undetectable in several other STG classes.</a:t>
            </a:r>
          </a:p>
          <a:p>
            <a:r>
              <a:t>  – A G protein participates in intracellular signaling after receptor activation; those signaling steps can alter a different membrane protein that carries current.</a:t>
            </a:r>
          </a:p>
          <a:p>
            <a:r>
              <a:t>• Transcript distribution broadly matched the cells in which CCAP activates IMI. VD was an exception: receptor RNA was present without a detected current response. RNA abundance does not measure membrane receptor protein or identify every downstream effect of activation.</a:t>
            </a:r>
          </a:p>
          <a:p>
            <a:r>
              <a:t>  – The transcript and physiological measurements are complementary, but the study did not equate each RNA molecule with one functional membrane receptor.</a:t>
            </a:r>
          </a:p>
          <a:p/>
          <a:p>
            <a:r>
              <a:t>References:</a:t>
            </a:r>
          </a:p>
          <a:p>
            <a:r>
              <a:t>Garcia VJ, Daur N, Temporal S, Schulz DJ, Bucher D. (2015). Neuropeptide receptor transcript expression levels and magnitude of ionic current responses show cell type-specific differences in a small motor circuit. Journal of Neuroscience 35: 6786-6800. https://doi.org/10.1523/jneurosci.0171-15.2015</a:t>
            </a:r>
          </a:p>
          <a:p>
            <a:r>
              <a:t>Powell D, Haddad SA, Gorur-Shandilya S, Marder E. (2021). Coupling between fast and slow oscillator circuits in Cancer borealis is temperature-compensated. eLife 10: e60454. https://doi.org/10.7554/elife.60454</a:t>
            </a:r>
          </a:p>
          <a:p/>
          <a:p>
            <a:r>
              <a:t>Figure: Garcia et al. (2015), Fig. 4. CCAP receptor transcript abundance differs across identified neurons</a:t>
            </a:r>
          </a:p>
          <a:p>
            <a:r>
              <a:t>Figure source: https://doi.org/10.1523/jneurosci.0171-15.2015</a:t>
            </a:r>
          </a:p>
          <a:p/>
          <a:p>
            <a:r>
              <a:t>Figure: Powell et al. (2021), Fig. 1(c). Crab STG circuit</a:t>
            </a:r>
          </a:p>
          <a:p>
            <a:r>
              <a:t>Figure source: https://doi.org/10.7554/elife.60454</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Garcia and colleagues voltage-clamped identified crab neurons while applying CCAP at controlled concentrations. They measured IMI, a voltage-dependent modulator-activated inward current, by subtracting control currents from currents measured in peptide. LP and IC differed in both response magnitude and concentration dependence.</a:t>
            </a:r>
          </a:p>
          <a:p>
            <a:r>
              <a:t>  – Saturation means that increasing the ligand no longer increases the measured response substantially under the tested conditions.</a:t>
            </a:r>
          </a:p>
          <a:p>
            <a:r>
              <a:t>• LP generated larger inward currents and responded more strongly at low concentrations than IC. Current measurements at −20 mV distinguished a cell’s concentration-response relationship from its spontaneous firing pattern. Increasing CCAP could saturate the response, so added peptide eventually produced little additional current.</a:t>
            </a:r>
          </a:p>
          <a:p>
            <a:r>
              <a:t>  – The current–voltage measurements retained the voltage dependence of the inward current, while the concentration series tested sensitivity to the ligand.</a:t>
            </a:r>
          </a:p>
          <a:p>
            <a:r>
              <a:t>• Both cells possessed the capacity for peptide-activated inward current, yet the same bath concentration did not produce equivalent activation. Receptor abundance and access to downstream channel mechanisms are possible contributors. The physiological comparison does not establish a one-to-one conversion between receptor transcript count and current amplitude.</a:t>
            </a:r>
          </a:p>
          <a:p>
            <a:r>
              <a:t>  – The source’s receptor RNA comparison and current comparison support cell-specific modulation without defining the complete molecular composition of the I_MI channel.</a:t>
            </a:r>
          </a:p>
          <a:p/>
          <a:p>
            <a:r>
              <a:t>References:</a:t>
            </a:r>
          </a:p>
          <a:p>
            <a:r>
              <a:t>Garcia VJ, Daur N, Temporal S, Schulz DJ, Bucher D. (2015). Neuropeptide receptor transcript expression levels and magnitude of ionic current responses show cell type-specific differences in a small motor circuit. Journal of Neuroscience 35: 6786-6800. https://doi.org/10.1523/jneurosci.0171-15.2015</a:t>
            </a:r>
          </a:p>
          <a:p>
            <a:r>
              <a:t>Powell D, Haddad SA, Gorur-Shandilya S, Marder E. (2021). Coupling between fast and slow oscillator circuits in Cancer borealis is temperature-compensated. eLife 10: e60454. https://doi.org/10.7554/elife.60454</a:t>
            </a:r>
          </a:p>
          <a:p/>
          <a:p>
            <a:r>
              <a:t>Figure: Garcia et al. (2015), Fig. 7(A–F). CCAP current amplitude and concentration dependence differ between LP and IC</a:t>
            </a:r>
          </a:p>
          <a:p>
            <a:r>
              <a:t>Figure source: https://doi.org/10.1523/jneurosci.0171-15.2015</a:t>
            </a:r>
          </a:p>
          <a:p/>
          <a:p>
            <a:r>
              <a:t>Figure: Powell et al. (2021), Fig. 1(c). Crab STG circuit</a:t>
            </a:r>
          </a:p>
          <a:p>
            <a:r>
              <a:t>Figure source: https://doi.org/10.7554/elife.60454</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crab VD neuron expressed candidate CCAP receptor RNA but lacked a detected CCAP-induced IMI response. Garcia and colleagues tested a different physiological endpoint: the graded inhibitory synapse from VD to the lateral gastric neuron, LG, a motor neuron participating in the gastric mill rhythm.</a:t>
            </a:r>
          </a:p>
          <a:p>
            <a:r>
              <a:t>  – The lateral gastric motor neuron is associated with the protraction component of the gastric mill rhythm, and receives input from neurons shared with other motor patterns.</a:t>
            </a:r>
          </a:p>
          <a:p>
            <a:r>
              <a:t>• VD voltage steps evoked postsynaptic current in voltage-clamped LG. Application of 100 nM CCAP strengthened this response, and washout returned it toward control. The comparison measured the same synapse under controlled presynaptic and postsynaptic voltages, rather than inferring synaptic strength from uncontrolled spike counts.</a:t>
            </a:r>
          </a:p>
          <a:p>
            <a:r>
              <a:t>  – The publication measured graded synaptic current across presynaptic voltage steps and during an imposed waveform, separating voltage-dependent release from natural circuit firing.</a:t>
            </a:r>
          </a:p>
          <a:p>
            <a:r>
              <a:t>• A peptide receptor can influence synaptic transmission even when one particular intrinsic current is absent. The VD result resolves an apparent mismatch between transcript expression and IMI response. It does not establish that receptor activation follows identical intracellular signaling steps in VD, LP and IC.</a:t>
            </a:r>
          </a:p>
          <a:p>
            <a:r>
              <a:t>  – A negative result for one current assay should not be treated as a negative result for every form of modulation in that cell.</a:t>
            </a:r>
          </a:p>
          <a:p/>
          <a:p>
            <a:r>
              <a:t>References:</a:t>
            </a:r>
          </a:p>
          <a:p>
            <a:r>
              <a:t>Garcia VJ, Daur N, Temporal S, Schulz DJ, Bucher D. (2015). Neuropeptide receptor transcript expression levels and magnitude of ionic current responses show cell type-specific differences in a small motor circuit. Journal of Neuroscience 35: 6786-6800. https://doi.org/10.1523/jneurosci.0171-15.2015</a:t>
            </a:r>
          </a:p>
          <a:p/>
          <a:p>
            <a:r>
              <a:t>Figure: Garcia et al. (2015), Fig. 5(A–F). CCAP strengthens graded transmission and changes short-term synaptic dynamics</a:t>
            </a:r>
          </a:p>
          <a:p>
            <a:r>
              <a:t>Figure source: https://doi.org/10.1523/jneurosci.0171-15.2015</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Excitability describes how readily a neuron generates action potentials in response to input. Schneider and colleagues isolated the crab LP neuron pharmacologically, then injected progressively larger depolarizing currents. The resulting firing-rate relationship was measured in control saline, proctolin, proctolin plus CCAP and wash.</a:t>
            </a:r>
          </a:p>
          <a:p>
            <a:r>
              <a:t>  – The firing-rate–current relationship measures spikes per second at a specified current in nanoamperes, making input and output explicit.</a:t>
            </a:r>
          </a:p>
          <a:p>
            <a:r>
              <a:t>• Proctolin shifted the relationship so LP began firing at lower injected current. Adding CCAP further altered its output. Comparisons across animals found that neuronal firing responses became more similar in modulators, even though the underlying measured intrinsic and synaptic currents remained variable.</a:t>
            </a:r>
          </a:p>
          <a:p>
            <a:r>
              <a:t>  – The test included 1 μM proctolin and 1 μM CCAP, with wash recordings used to assess the reversibility of modulation.</a:t>
            </a:r>
          </a:p>
          <a:p>
            <a:r>
              <a:t>• Interindividual variability means differences among animals of the same species. Neuromodulation can constrain that variability at the level of output without making every cellular parameter identical. The result concerns responses of isolated LP to controlled current, rather than all dimensions of the intact pyloric motor pattern.</a:t>
            </a:r>
          </a:p>
          <a:p>
            <a:r>
              <a:t>  – Similar activity can arise in neurons with different current magnitudes because output depends on the interaction of currents over the neuron’s operating voltage range.</a:t>
            </a:r>
          </a:p>
          <a:p/>
          <a:p>
            <a:r>
              <a:t>References:</a:t>
            </a:r>
          </a:p>
          <a:p>
            <a:r>
              <a:t>Schneider AC, Itani O, Bucher D, Nadim F. (2022). Neuromodulation Reduces Interindividual Variability of Neuronal Output. eNeuro 9: ENEURO.0166-22.2022. https://doi.org/10.1523/eneuro.0166-22.2022</a:t>
            </a:r>
          </a:p>
          <a:p>
            <a:r>
              <a:t>Tang LS, Goeritz ML, Caplan JS, Taylor AL, Fisek M, Marder E. (2010). Precise temperature compensation of phase in a rhythmic motor pattern. PLoS Biology 8: e1000469. https://doi.org/10.1371/journal.pbio.1000469</a:t>
            </a:r>
          </a:p>
          <a:p/>
          <a:p>
            <a:r>
              <a:t>Figure: Schneider et al. (2022), Fig. 3(A–F). Proctolin and CCAP change LP excitability and output variability</a:t>
            </a:r>
          </a:p>
          <a:p>
            <a:r>
              <a:t>Figure source: https://doi.org/10.1523/eneuro.0166-22.2022</a:t>
            </a:r>
          </a:p>
          <a:p/>
          <a:p>
            <a:r>
              <a:t>Figure: Tang et al. (2010), Fig. 2(B). Crab pyloric circuit</a:t>
            </a:r>
          </a:p>
          <a:p>
            <a:r>
              <a:t>Figure source: https://doi.org/10.1371/journal.pbio.1000469</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Postinhibitory rebound is renewed depolarization or firing after an inhibitory episode ends. Schneider and colleagues tested it in isolated crab LP neurons with a 5 s hyperpolarizing current pulse of −5 nA. Recording continued after release to measure the first spike and subsequent firing.</a:t>
            </a:r>
          </a:p>
          <a:p>
            <a:r>
              <a:t>  – The neuron’s voltage during inhibition changes the availability of voltage-dependent channels before the pulse ends.</a:t>
            </a:r>
          </a:p>
          <a:p>
            <a:r>
              <a:t>• Proctolin and proctolin plus CCAP shortened rebound latency and increased spike output relative to control saline. The recordings compared identical imposed inhibitory pulses across modulatory conditions. Across animals, several rebound-output differences became smaller in the peptide states.</a:t>
            </a:r>
          </a:p>
          <a:p>
            <a:r>
              <a:t>  – Rebound latency was measured from the end of the imposed inhibitory current to the first detected action potential, not from the beginning of the pulse.</a:t>
            </a:r>
          </a:p>
          <a:p>
            <a:r>
              <a:t>• The same neuron can therefore resume firing differently after the same inhibition when its modulatory state changes. Rebound is an interaction between prior voltage history and active membrane currents, rather than a fixed delay assigned to a cell type. The experiments do not isolate one current as the sole source of rebound.</a:t>
            </a:r>
          </a:p>
          <a:p>
            <a:r>
              <a:t>  – The wash condition checked the persistence of the altered response after peptide removal.</a:t>
            </a:r>
          </a:p>
          <a:p/>
          <a:p>
            <a:r>
              <a:t>References:</a:t>
            </a:r>
          </a:p>
          <a:p>
            <a:r>
              <a:t>Schneider AC, Itani O, Bucher D, Nadim F. (2022). Neuromodulation Reduces Interindividual Variability of Neuronal Output. eNeuro 9: ENEURO.0166-22.2022. https://doi.org/10.1523/eneuro.0166-22.2022</a:t>
            </a:r>
          </a:p>
          <a:p>
            <a:r>
              <a:t>Tang LS, Goeritz ML, Caplan JS, Taylor AL, Fisek M, Marder E. (2010). Precise temperature compensation of phase in a rhythmic motor pattern. PLoS Biology 8: e1000469. https://doi.org/10.1371/journal.pbio.1000469</a:t>
            </a:r>
          </a:p>
          <a:p/>
          <a:p>
            <a:r>
              <a:t>Figure: Schneider et al. (2022), Fig. 4(A–C). Modulators alter LP rebound latency and subsequent firing</a:t>
            </a:r>
          </a:p>
          <a:p>
            <a:r>
              <a:t>Figure source: https://doi.org/10.1523/eneuro.0166-22.2022</a:t>
            </a:r>
          </a:p>
          <a:p/>
          <a:p>
            <a:r>
              <a:t>Figure: Tang et al. (2010), Fig. 2(B). Crab pyloric circuit</a:t>
            </a:r>
          </a:p>
          <a:p>
            <a:r>
              <a:t>Figure source: https://doi.org/10.1371/journal.pbio.1000469</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crab gastric mill rhythm organizes chewing movements through alternating phases. LG participates in protraction, movement of the gastric teeth toward the chewing configuration, whereas other gastric motor neurons are associated with retraction, their return movement. The slower gastric rhythm interacts with the fast pyloric rhythm.</a:t>
            </a:r>
          </a:p>
          <a:p>
            <a:r>
              <a:t>  – LG and DG are gastric motor neurons, whereas Int1 is an interneuron within the central gastric circuit.</a:t>
            </a:r>
          </a:p>
          <a:p>
            <a:r>
              <a:t>• Powell and colleagues recorded activity from identified gastric and pyloric motor nerves. Gastric activity included alternating LG and dorsal gastric, or DG, bursts, while PD continued its faster rhythm. Intracellular recordings linked LG activity to the inhibitory gastric interneuron Int1, meaning interneuron 1.</a:t>
            </a:r>
          </a:p>
          <a:p>
            <a:r>
              <a:t>  – Reciprocal inhibition means that each partner supplies inhibition to the other; the active partner suppresses its antagonist during its burst.</a:t>
            </a:r>
          </a:p>
          <a:p>
            <a:r>
              <a:t>• LG and Int1 participate in a half-center, a reciprocally inhibitory arrangement in which activity in each member inhibits the other. That arrangement helps organize alternation but does not, by itself, establish sustained rhythm generation in every input state. Descending modulation supplies additional conditions for gastric activity.</a:t>
            </a:r>
          </a:p>
          <a:p>
            <a:r>
              <a:t>  – The slow rhythm operates near 0.1 Hz in the preparations discussed by Powell and colleagues, while the pyloric rhythm operates near 1 Hz.</a:t>
            </a:r>
          </a:p>
          <a:p/>
          <a:p>
            <a:r>
              <a:t>References:</a:t>
            </a:r>
          </a:p>
          <a:p>
            <a:r>
              <a:t>Powell D, Haddad SA, Gorur-Shandilya S, Marder E. (2021). Coupling between fast and slow oscillator circuits in Cancer borealis is temperature-compensated. eLife 10: e60454. https://doi.org/10.7554/elife.60454</a:t>
            </a:r>
          </a:p>
          <a:p/>
          <a:p>
            <a:r>
              <a:t>Figure: Powell et al. (2021), Fig. 1(a–d). Gastric and pyloric circuits and their recorded interaction</a:t>
            </a:r>
          </a:p>
          <a:p>
            <a:r>
              <a:t>Figure source: https://doi.org/10.7554/elife.60454</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Modulatory commissural neuron 1 (MCN1) is a descending projection neuron whose cell body lies in a commissural ganglion. Its axon reaches the crab STG through the input nerves. Städele and colleagues controlled this input by stimulating the identified pathway after disconnecting other anterior influences.</a:t>
            </a:r>
          </a:p>
          <a:p>
            <a:r>
              <a:t>  – A projection neuron sends an axon from one ganglion into another and can provide a modulatory state rather than a precisely timed command for every contraction.</a:t>
            </a:r>
          </a:p>
          <a:p>
            <a:r>
              <a:t>• MCN1 releases the peptide CabTRP Ia, which activates an inward current in LG, and also supplies electrical and other synaptic influences within the gastric circuit. LG and Int1 inhibit one another. Rhythmic alternation therefore depends on a combination of imposed modulatory drive, intrinsic membrane properties and reciprocal inhibition.</a:t>
            </a:r>
          </a:p>
          <a:p>
            <a:r>
              <a:t>  – LG inhibits MCN1 terminals during its active phase, so a constant axonal stimulus does not guarantee constant effective peptide influence throughout the gastric cycle.</a:t>
            </a:r>
          </a:p>
          <a:p>
            <a:r>
              <a:t>• At 10°C, continuous MCN1 stimulation at 6 Hz recruited recurring LG bursts in the published example. The stimulus itself was tonic, rather than patterned to match every LG burst. Slow gastric rhythmicity was thus generated by the responding circuit under sustained descending activation.</a:t>
            </a:r>
          </a:p>
          <a:p>
            <a:r>
              <a:t>  – The controlled stimulation establishes a defined gastric-rhythm state; naturally recruited gastric rhythms can receive additional descending and sensory inputs.</a:t>
            </a:r>
          </a:p>
          <a:p/>
          <a:p>
            <a:r>
              <a:t>References:</a:t>
            </a:r>
          </a:p>
          <a:p>
            <a:r>
              <a:t>Städele C, Heigele S, Stein W. (2015). Neuromodulation to the Rescue: Compensation of Temperature-Induced Breakdown of Rhythmic Motor Patterns via Extrinsic Neuromodulatory Input. PLoS Biology 13: e1002265. https://doi.org/10.1371/journal.pbio.1002265</a:t>
            </a:r>
          </a:p>
          <a:p/>
          <a:p>
            <a:r>
              <a:t>Figure: Städele et al. (2015), Fig. 2(A). Fixed 6 Hz MCN1 drive fails at 13°C and recovers after cooling</a:t>
            </a:r>
          </a:p>
          <a:p>
            <a:r>
              <a:t>Figure source: https://doi.org/10.1371/journal.pbio.1002265</a:t>
            </a:r>
          </a:p>
          <a:p/>
          <a:p>
            <a:r>
              <a:t>Figure: Städele et al. (2015), Fig. 1(A). Gastric circuit</a:t>
            </a:r>
          </a:p>
          <a:p>
            <a:r>
              <a:t>Figure source: https://doi.org/10.1371/journal.pbio.1002265</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Tang and colleagues tested the crab pyloric circuit over a temperature range relevant to an ectothermic animal. An ectotherm relies substantially on environmental conditions to determine body temperature. The isolated stomatogastric preparation was warmed gradually while outgoing motor activity was recorded.</a:t>
            </a:r>
          </a:p>
          <a:p>
            <a:r>
              <a:t>  – The nerve recordings measure central motor commands in a preparation with its normal anterior modulatory connections retained.</a:t>
            </a:r>
          </a:p>
          <a:p>
            <a:r>
              <a:t>• Between 7°C and 23°C, pyloric rhythm frequency increased about fourfold. PD, LP and PY retained the characteristic burst sequence while completing cycles more quickly. Comparisons during warming and cooling checked whether the relationship depended on the direction of temperature change.</a:t>
            </a:r>
          </a:p>
          <a:p>
            <a:r>
              <a:t>  – The recorded sequence persisted even though the absolute intervals separating successive bursts became shorter.</a:t>
            </a:r>
          </a:p>
          <a:p>
            <a:r>
              <a:t>• The reported frequency temperature coefficient, Q10, was approximately 2.3; Q10 describes the fold change associated with a 10°C increase. Temperature compensation need not mean a constant frequency. Different output properties can remain coordinated even when the entire motor pattern accelerates.</a:t>
            </a:r>
          </a:p>
          <a:p>
            <a:r>
              <a:t>  – The observed frequency increase should be distinguished from a mechanism that holds a circadian period constant across temperature.</a:t>
            </a:r>
          </a:p>
          <a:p/>
          <a:p>
            <a:r>
              <a:t>References:</a:t>
            </a:r>
          </a:p>
          <a:p>
            <a:r>
              <a:t>Tang LS, Goeritz ML, Caplan JS, Taylor AL, Fisek M, Marder E. (2010). Precise temperature compensation of phase in a rhythmic motor pattern. PLoS Biology 8: e1000469. https://doi.org/10.1371/journal.pbio.1000469</a:t>
            </a:r>
          </a:p>
          <a:p/>
          <a:p>
            <a:r>
              <a:t>Figure: Tang et al. (2010), Fig. 1(A–D). Frequency increases while pyloric phase remains stable</a:t>
            </a:r>
          </a:p>
          <a:p>
            <a:r>
              <a:t>Figure source: https://doi.org/10.1371/journal.pbio.1000469</a:t>
            </a:r>
          </a:p>
          <a:p/>
          <a:p>
            <a:r>
              <a:t>Figure: Tang et al. (2010), Fig. 2(B). Crab pyloric circuit</a:t>
            </a:r>
          </a:p>
          <a:p>
            <a:r>
              <a:t>Figure source: https://doi.org/10.1371/journal.pbio.1000469</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Tang and colleagues measured each motor burst relative to the start of the PD burst. The onset phase specifies when a burst begins within a cycle, and the offset phase specifies when it ends. These fractions distinguish relative coordination from absolute delays measured in seconds.</a:t>
            </a:r>
          </a:p>
          <a:p>
            <a:r>
              <a:t>  – The phase reference was the beginning of the PD burst, which is assigned the start of the pyloric cycle.</a:t>
            </a:r>
          </a:p>
          <a:p>
            <a:r>
              <a:t>• Across 7°C to 23°C, PD, LP and PY onset and offset phases remained nearly constant despite the increase in frequency. When intracellular voltage trajectories were scaled to cycle duration, their characteristic temporal relationships also remained similar across the tested temperatures.</a:t>
            </a:r>
          </a:p>
          <a:p>
            <a:r>
              <a:t>  – A shorter delay in seconds can occupy the same fraction of a shorter cycle, so unchanged phase and increased frequency are compatible observations.</a:t>
            </a:r>
          </a:p>
          <a:p>
            <a:r>
              <a:t>• The pyloric circuit therefore compensated the coordination of its motor output more closely than its speed. Stability of phase does not imply that every underlying conductance was temperature-invariant. The neuron’s membrane currents and synaptic input could change while their combined effect preserved the sequence.</a:t>
            </a:r>
          </a:p>
          <a:p>
            <a:r>
              <a:t>  – The intracellular trajectories were normalized by cycle duration; their alignment tests whether relative voltage timing persists as the cycles become faster.</a:t>
            </a:r>
          </a:p>
          <a:p/>
          <a:p>
            <a:r>
              <a:t>References:</a:t>
            </a:r>
          </a:p>
          <a:p>
            <a:r>
              <a:t>Tang LS, Goeritz ML, Caplan JS, Taylor AL, Fisek M, Marder E. (2010). Precise temperature compensation of phase in a rhythmic motor pattern. PLoS Biology 8: e1000469. https://doi.org/10.1371/journal.pbio.1000469</a:t>
            </a:r>
          </a:p>
          <a:p/>
          <a:p>
            <a:r>
              <a:t>Figure: Tang et al. (2010), Fig. 1(A–D). Frequency increases while pyloric phase remains stable</a:t>
            </a:r>
          </a:p>
          <a:p>
            <a:r>
              <a:t>Figure source: https://doi.org/10.1371/journal.pbio.1000469</a:t>
            </a:r>
          </a:p>
          <a:p/>
          <a:p>
            <a:r>
              <a:t>Figure: Tang et al. (2010), Fig. 2(B). Crab pyloric circuit</a:t>
            </a:r>
          </a:p>
          <a:p>
            <a:r>
              <a:t>Figure source: https://doi.org/10.1371/journal.pbio.1000469</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LP neuron contains the A-type potassium current, IA, which activates during depolarization and then declines. Activation increases channel opening; inactivation reduces channel availability despite continuing depolarization. This transient outward current can oppose the return to firing after inhibition.</a:t>
            </a:r>
          </a:p>
          <a:p>
            <a:r>
              <a:t>  – Potassium current is outward over the tested depolarized range, carrying a voltage influence that opposes excitation.</a:t>
            </a:r>
          </a:p>
          <a:p>
            <a:r>
              <a:t>• Tang and colleagues isolated IA with voltage-clamp protocols that separated it from other potassium currents. Depolarizing test steps from −40 mV to +30 mV elicited transient currents at temperatures from 7°C to 23°C. The published families of currents use 100 nA and 400 ms calibrations.</a:t>
            </a:r>
          </a:p>
          <a:p>
            <a:r>
              <a:t>  – Voltage clamp allows the current to be measured at controlled membrane voltages instead of inferring it from a changing burst waveform.</a:t>
            </a:r>
          </a:p>
          <a:p>
            <a:r>
              <a:t>• Warming increased current magnitude and accelerated its activation and inactivation. A change in amplitude alone therefore does not predict its effect on burst delay; a stronger transient current may also disappear sooner. The measurements identify temperature-sensitive current behavior without proving that IA alone maintains LP phase.</a:t>
            </a:r>
          </a:p>
          <a:p>
            <a:r>
              <a:t>  – The time course matters because the inhibition preceding LP firing changes which channels are available when excitation resumes.</a:t>
            </a:r>
          </a:p>
          <a:p/>
          <a:p>
            <a:r>
              <a:t>References:</a:t>
            </a:r>
          </a:p>
          <a:p>
            <a:r>
              <a:t>Tang LS, Goeritz ML, Caplan JS, Taylor AL, Fisek M, Marder E. (2010). Precise temperature compensation of phase in a rhythmic motor pattern. PLoS Biology 8: e1000469. https://doi.org/10.1371/journal.pbio.1000469</a:t>
            </a:r>
          </a:p>
          <a:p/>
          <a:p>
            <a:r>
              <a:t>Figure: Tang et al. (2010), Fig. 4(A). Transient potassium-current recordings at five temperatures</a:t>
            </a:r>
          </a:p>
          <a:p>
            <a:r>
              <a:t>Figure source: https://doi.org/10.1371/journal.pbio.1000469</a:t>
            </a:r>
          </a:p>
          <a:p/>
          <a:p>
            <a:r>
              <a:t>Figure: Tang et al. (2010), Fig. 2(B). Crab pyloric circuit</a:t>
            </a:r>
          </a:p>
          <a:p>
            <a:r>
              <a:t>Figure source: https://doi.org/10.1371/journal.pbio.1000469</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hyperpolarization-activated inward current, Ih, turns on as the membrane becomes more negative. It carries a depolarizing influence during and after inhibition, opposing the voltage effect of sustained inhibitory input. Its activation can therefore interact with the outward IA current in determining LP rebound.</a:t>
            </a:r>
          </a:p>
          <a:p>
            <a:r>
              <a:t>  – An inward current need not create an action potential immediately; it can alter how quickly a neuron approaches the voltage range where spikes begin.</a:t>
            </a:r>
          </a:p>
          <a:p>
            <a:r>
              <a:t>• Tang and colleagues applied hyperpolarizing voltage steps from a holding potential near −50 mV, with test potentials extending to −120 mV. The slowly developing inward current was recorded at several temperatures. The published recordings have a 15 nA current calibration and a 2 s time calibration.</a:t>
            </a:r>
          </a:p>
          <a:p>
            <a:r>
              <a:t>  – The current grows during a sustained hyperpolarizing step, unlike the transient decline of I_A during a depolarizing step.</a:t>
            </a:r>
          </a:p>
          <a:p>
            <a:r>
              <a:t>• Warming increased Ih conductance and accelerated its activation. Its temperature sensitivity differed from that of IA and synaptic inhibition. The observed phase stability must therefore arise from combined processes; it cannot be attributed to every current changing by the same amount or remaining unchanged.</a:t>
            </a:r>
          </a:p>
          <a:p>
            <a:r>
              <a:t>  – The experiment measures an electrical current and its temperature dependence, rather than directly counting the channel proteins in the membrane.</a:t>
            </a:r>
          </a:p>
          <a:p/>
          <a:p>
            <a:r>
              <a:t>References:</a:t>
            </a:r>
          </a:p>
          <a:p>
            <a:r>
              <a:t>Tang LS, Goeritz ML, Caplan JS, Taylor AL, Fisek M, Marder E. (2010). Precise temperature compensation of phase in a rhythmic motor pattern. PLoS Biology 8: e1000469. https://doi.org/10.1371/journal.pbio.1000469</a:t>
            </a:r>
          </a:p>
          <a:p/>
          <a:p>
            <a:r>
              <a:t>Figure: Tang et al. (2010), Fig. 5(A). Hyperpolarization-activated current recordings across temperature</a:t>
            </a:r>
          </a:p>
          <a:p>
            <a:r>
              <a:t>Figure source: https://doi.org/10.1371/journal.pbio.1000469</a:t>
            </a:r>
          </a:p>
          <a:p/>
          <a:p>
            <a:r>
              <a:t>Figure: Tang et al. (2010), Fig. 2(B). Crab pyloric circuit</a:t>
            </a:r>
          </a:p>
          <a:p>
            <a:r>
              <a:t>Figure source: https://doi.org/10.1371/journal.pbio.1000469</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Städele and colleagues held MCN1 stimulation constant near the minimum frequency that recruited a gastric mill rhythm at 10°C. They then warmed the crab STG to 13°C while recording LG. This isolated preparation lacked the anterior circuits that could naturally increase descending drive.</a:t>
            </a:r>
          </a:p>
          <a:p>
            <a:r>
              <a:t>  – The within-preparation return to 10°C is a recovery control, reducing the likelihood that the lost bursting simply reflected irreversible damage.</a:t>
            </a:r>
          </a:p>
          <a:p>
            <a:r>
              <a:t>• LG’s regular bursts disappeared at 13°C with the same MCN1 stimulation. Cooling back to 10°C restored them. The published example used a 6 Hz stimulus throughout, separating temperature-dependent circuit failure from an intentional reduction of input frequency.</a:t>
            </a:r>
          </a:p>
          <a:p>
            <a:r>
              <a:t>  – The term failure here refers to the absence of rhythmic LG bursting, even when some spikes or membrane activity remained.</a:t>
            </a:r>
          </a:p>
          <a:p>
            <a:r>
              <a:t>• The failure was conditional on the weak, fixed drive and the isolated preparation. It does not establish that a living crab loses chewing after every 3°C temperature increase. A different input strength or naturally changing descending activity can preserve the slow motor rhythm at the same temperature.</a:t>
            </a:r>
          </a:p>
          <a:p>
            <a:r>
              <a:t>  – Input state must accompany any temperature threshold: the authors could raise the permissive temperature range by increasing MCN1 stimulation.</a:t>
            </a:r>
          </a:p>
          <a:p/>
          <a:p>
            <a:r>
              <a:t>References:</a:t>
            </a:r>
          </a:p>
          <a:p>
            <a:r>
              <a:t>Städele C, Heigele S, Stein W. (2015). Neuromodulation to the Rescue: Compensation of Temperature-Induced Breakdown of Rhythmic Motor Patterns via Extrinsic Neuromodulatory Input. PLoS Biology 13: e1002265. https://doi.org/10.1371/journal.pbio.1002265</a:t>
            </a:r>
          </a:p>
          <a:p/>
          <a:p>
            <a:r>
              <a:t>Figure: Städele et al. (2015), Fig. 2(A). Fixed 6 Hz MCN1 drive fails at 13°C and recovers after cooling</a:t>
            </a:r>
          </a:p>
          <a:p>
            <a:r>
              <a:t>Figure source: https://doi.org/10.1371/journal.pbio.1002265</a:t>
            </a:r>
          </a:p>
          <a:p/>
          <a:p>
            <a:r>
              <a:t>Figure: Städele et al. (2015), Fig. 1(A). Gastric circuit</a:t>
            </a:r>
          </a:p>
          <a:p>
            <a:r>
              <a:t>Figure source: https://doi.org/10.1371/journal.pbio.1002265</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leak conductance is a membrane pathway that contributes current without the rapid voltage gating characteristic of spike-generating channels. Städele and colleagues found that warming reduced LG input resistance, so a given input current produced a smaller membrane-voltage change.</a:t>
            </a:r>
          </a:p>
          <a:p>
            <a:r>
              <a:t>  – Input resistance describes the voltage response to an injected current; a larger effective membrane conductance makes that response smaller.</a:t>
            </a:r>
          </a:p>
          <a:p>
            <a:r>
              <a:t>• Dynamic clamp added an effective leak to LG at 10°C during 7 Hz MCN1 stimulation, and bursting stopped. At 13°C, subtracting an effective leak restored recurring LG bursts while the MCN1 stimulus remained unchanged. Opposite interventions tested whether the conductance change was sufficient to alter circuit output.</a:t>
            </a:r>
          </a:p>
          <a:p>
            <a:r>
              <a:t>  – The dynamic clamp used the measured voltage to calculate an added or subtracted current continuously, while the biological circuit remained active.</a:t>
            </a:r>
          </a:p>
          <a:p>
            <a:r>
              <a:t>• Leak subtraction is an imposed electrical compensation, rather than direct removal of a channel protein. The causal result connects LG membrane responsiveness to gastric rhythmicity in this preparation. It does not establish that the animal compensates warming by physically closing exactly the channels represented in the clamp.</a:t>
            </a:r>
          </a:p>
          <a:p>
            <a:r>
              <a:t>  – The addition and subtraction tests are stronger evidence than observing a resistance change and a rhythm change at the same time.</a:t>
            </a:r>
          </a:p>
          <a:p/>
          <a:p>
            <a:r>
              <a:t>References:</a:t>
            </a:r>
          </a:p>
          <a:p>
            <a:r>
              <a:t>Städele C, Heigele S, Stein W. (2015). Neuromodulation to the Rescue: Compensation of Temperature-Induced Breakdown of Rhythmic Motor Patterns via Extrinsic Neuromodulatory Input. PLoS Biology 13: e1002265. https://doi.org/10.1371/journal.pbio.1002265</a:t>
            </a:r>
          </a:p>
          <a:p/>
          <a:p>
            <a:r>
              <a:t>Figure: Städele et al. (2015), Fig. 4(A–B). Added leak stops bursting; leak subtraction rescues it</a:t>
            </a:r>
          </a:p>
          <a:p>
            <a:r>
              <a:t>Figure source: https://doi.org/10.1371/journal.pbio.1002265</a:t>
            </a:r>
          </a:p>
          <a:p/>
          <a:p>
            <a:r>
              <a:t>Figure: Städele et al. (2015), Fig. 1(A). Gastric circuit</a:t>
            </a:r>
          </a:p>
          <a:p>
            <a:r>
              <a:t>Figure source: https://doi.org/10.1371/journal.pbio.1002265</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crab gastric mill rhythm persisted at 13°C in intact-animal recordings, despite failure of the isolated weakly driven preparation. Städele and colleagues tested whether descending MCN1 activity could supply compensatory input. They recorded MCN1 axonal activity from the commissural ganglion pathway during warming.</a:t>
            </a:r>
          </a:p>
          <a:p>
            <a:r>
              <a:t>  – The MCN1 recordings were made from the remaining nerve connected to its cell-body ganglion, so the measured firing was not inferred from LG output.</a:t>
            </a:r>
          </a:p>
          <a:p>
            <a:r>
              <a:t>• MCN1 firing increased with temperature. In the published example it rose from 2.31 Hz at 10°C to 3.63 Hz at 13°C. In a separate controlled stimulation test, increasing imposed MCN1 activity from 7 Hz to 9 Hz at 13°C restored LG bursting; returning to 7 Hz removed that rescue.</a:t>
            </a:r>
          </a:p>
          <a:p>
            <a:r>
              <a:t>  – The controlled rescue changed stimulation frequency while holding the elevated STG temperature fixed.</a:t>
            </a:r>
          </a:p>
          <a:p>
            <a:r>
              <a:t>• Descending drive can compensate a temperature-sensitive local circuit. The intact-animal comparison supports a role for naturally changing input but does not isolate MCN1 as the only compensatory pathway in vivo. Circuit robustness depends on the nervous-system components retained by the experimental preparation.</a:t>
            </a:r>
          </a:p>
          <a:p>
            <a:r>
              <a:t>  – The intact recordings and isolated stimulation experiments answer complementary questions: whether the rhythm survives in the animal, and whether stronger MCN1 drive can restore it in a defined circuit state.</a:t>
            </a:r>
          </a:p>
          <a:p/>
          <a:p>
            <a:r>
              <a:t>References:</a:t>
            </a:r>
          </a:p>
          <a:p>
            <a:r>
              <a:t>Städele C, Heigele S, Stein W. (2015). Neuromodulation to the Rescue: Compensation of Temperature-Induced Breakdown of Rhythmic Motor Patterns via Extrinsic Neuromodulatory Input. PLoS Biology 13: e1002265. https://doi.org/10.1371/journal.pbio.1002265</a:t>
            </a:r>
          </a:p>
          <a:p/>
          <a:p>
            <a:r>
              <a:t>Figure: Städele et al. (2015), Fig. 6(A–E). MCN1 activity increases with warming and stronger stimulation rescues LG</a:t>
            </a:r>
          </a:p>
          <a:p>
            <a:r>
              <a:t>Figure source: https://doi.org/10.1371/journal.pbio.1002265</a:t>
            </a:r>
          </a:p>
          <a:p/>
          <a:p>
            <a:r>
              <a:t>Figure: Städele et al. (2015), Fig. 1(A). Gastric circuit</a:t>
            </a:r>
          </a:p>
          <a:p>
            <a:r>
              <a:t>Figure source: https://doi.org/10.1371/journal.pbio.1002265</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Städele and colleagues applied 1 μM CabTRP Ia to the warmed crab STG. CabTRP Ia is a peptide cotransmitter of MCN1: cotransmission means that one neuron supplies more than one chemical signal. The peptide can strengthen the modulatory influence received by LG without increasing the imposed axonal stimulus frequency.</a:t>
            </a:r>
          </a:p>
          <a:p>
            <a:r>
              <a:t>  – The same neuron can release signals whose actions differ in time course and target, so bath application of one cotransmitter need not reproduce complete neuron stimulation.</a:t>
            </a:r>
          </a:p>
          <a:p>
            <a:r>
              <a:t>• At 13°C, 7 Hz MCN1 stimulation alone failed to sustain LG bursts in the published example. CabTRP Ia together with continuing stimulation restored rhythmic bursting. Peptide application without the accompanying stimulation did not fully recreate that recovered rhythm, and washout removed the rescue.</a:t>
            </a:r>
          </a:p>
          <a:p>
            <a:r>
              <a:t>  – The experiment included peptide alone, peptide with continued MCN1 stimulation and peptide washout while the elevated temperature was maintained.</a:t>
            </a:r>
          </a:p>
          <a:p>
            <a:r>
              <a:t>• The peptide and remaining MCN1 actions jointly maintained the effective drive needed for oscillation. Activation of IMI can counteract the temperature-associated loss of membrane responsiveness; the authors’ conductance model supports that explanation. The rescue recording itself does not identify every intervening signaling molecule or exclude additional MCN1 mechanisms.</a:t>
            </a:r>
          </a:p>
          <a:p>
            <a:r>
              <a:t>  – The mechanistic proposal is that additional inward current offsets the increased effective leak; molecular steps linking the peptide receptor to the channel were not resolved by this rescue experiment.</a:t>
            </a:r>
          </a:p>
          <a:p/>
          <a:p>
            <a:r>
              <a:t>References:</a:t>
            </a:r>
          </a:p>
          <a:p>
            <a:r>
              <a:t>Städele C, Heigele S, Stein W. (2015). Neuromodulation to the Rescue: Compensation of Temperature-Induced Breakdown of Rhythmic Motor Patterns via Extrinsic Neuromodulatory Input. PLoS Biology 13: e1002265. https://doi.org/10.1371/journal.pbio.1002265</a:t>
            </a:r>
          </a:p>
          <a:p/>
          <a:p>
            <a:r>
              <a:t>Figure: Städele et al. (2015), Fig. 7(A). CabTRP Ia with continuing MCN1 drive restores LG bursts at 13°C</a:t>
            </a:r>
          </a:p>
          <a:p>
            <a:r>
              <a:t>Figure source: https://doi.org/10.1371/journal.pbio.1002265</a:t>
            </a:r>
          </a:p>
          <a:p/>
          <a:p>
            <a:r>
              <a:t>Figure: Städele et al. (2015), Fig. 1(A). Gastric circuit</a:t>
            </a:r>
          </a:p>
          <a:p>
            <a:r>
              <a:t>Figure source: https://doi.org/10.1371/journal.pbio.1002265</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Integer coupling means that a slow rhythm’s cycle duration lies close to a whole-number multiple of a faster rhythm’s period. Powell and colleagues tested this relationship between crab gastric LG bursts and pyloric PD bursts while changing temperature from 7°C to 23°C.</a:t>
            </a:r>
          </a:p>
          <a:p>
            <a:r>
              <a:t>  – The cycle ratios in the published example are approximately ten and eleven, so integer coupling does not mean an invariant ten-to-one ratio.</a:t>
            </a:r>
          </a:p>
          <a:p>
            <a:r>
              <a:t>• Both rhythms accelerated, yet LG cycles remained close to integer numbers of PD cycles. In the published example, an LG cycle lasted 9.17 s with a mean PD period of 0.911 s at 7°C; at 23°C, the corresponding values were 3.44 s and 0.313 s. The integer number itself could change.</a:t>
            </a:r>
          </a:p>
          <a:p>
            <a:r>
              <a:t>  – AB inhibition of Int1 can create a brief reduction in inhibition of LG, contributing a pyloric-timed opportunity for LG burst initiation.</a:t>
            </a:r>
          </a:p>
          <a:p>
            <a:r>
              <a:t>• Coordination therefore persisted without holding either oscillator’s frequency constant. LG burst starts retained a preferred pyloric phase, whereas DG coupling was weaker. These are empirical timing relationships; they do not establish that every gastric rhythm produced by every descending input follows the same coupling rule.</a:t>
            </a:r>
          </a:p>
          <a:p>
            <a:r>
              <a:t>  – The strong contrast with the weakly driven 2015 preparation is consistent with different circuit and input states, rather than a universal temperature threshold for gastric rhythms.</a:t>
            </a:r>
          </a:p>
          <a:p/>
          <a:p>
            <a:r>
              <a:t>References:</a:t>
            </a:r>
          </a:p>
          <a:p>
            <a:r>
              <a:t>Powell D, Haddad SA, Gorur-Shandilya S, Marder E. (2021). Coupling between fast and slow oscillator circuits in Cancer borealis is temperature-compensated. eLife 10: e60454. https://doi.org/10.7554/elife.60454</a:t>
            </a:r>
          </a:p>
          <a:p/>
          <a:p>
            <a:r>
              <a:t>Figure: Powell et al. (2021), Fig. 5(a–c). Gastric periods remain near integer multiples of pyloric periods</a:t>
            </a:r>
          </a:p>
          <a:p>
            <a:r>
              <a:t>Figure source: https://doi.org/10.7554/elife.60454</a:t>
            </a:r>
          </a:p>
          <a:p/>
          <a:p>
            <a:r>
              <a:t>Figure: Powell et al. (2021), Fig. 1(c). Crab STG circuit</a:t>
            </a:r>
          </a:p>
          <a:p>
            <a:r>
              <a:t>Figure source: https://doi.org/10.7554/elife.60454</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More-Potdar and Golowasch followed crab pyloric preparations for many hours after decentralization, removal of descending modulatory input. They recorded the outgoing motor rhythm over time and tested its phase relationships at different temperatures. Immediate slowing was therefore distinguished from the later state of the same circuit.</a:t>
            </a:r>
          </a:p>
          <a:p>
            <a:r>
              <a:t>  – Homeostatic regulation is compensatory adjustment that tends to restore a functional property after perturbation; recovery of output does not imply restoration of the original parameter values.</a:t>
            </a:r>
          </a:p>
          <a:p>
            <a:r>
              <a:t>• In the published time course, the study reported frequency recovery to approximately 75% of control and phases to within about 10% of control after approximately 24 h. Temperature tests found recovery of several phase relationships across the tested range, with incomplete recovery for some measures over the broadest range.</a:t>
            </a:r>
          </a:p>
          <a:p>
            <a:r>
              <a:t>  – The study compared time-matched connected and decentralized preparations, reducing confusion between recovery and the ordinary passage of time in an isolated preparation.</a:t>
            </a:r>
          </a:p>
          <a:p>
            <a:r>
              <a:t>• Long-term recovery supports regulation of functional output after loss of modulation. The authors propose homeostatic changes in intrinsic and synaptic properties; the experiment does not identify one uniquely responsible channel change. Near-normal baseline rhythmicity and resilience to temperature are distinct properties that require separate measurements.</a:t>
            </a:r>
          </a:p>
          <a:p>
            <a:r>
              <a:t>  – Recovery of motor-nerve output does not establish normal feeding behavior in a crab after removal of its descending inputs.</a:t>
            </a:r>
          </a:p>
          <a:p/>
          <a:p>
            <a:r>
              <a:t>References:</a:t>
            </a:r>
          </a:p>
          <a:p>
            <a:r>
              <a:t>More-Potdar S, Golowasch J. (2023). Oscillatory network spontaneously recovers both activity and robustness after prolonged removal of neuromodulators. Frontiers in Cellular Neuroscience 17: 1280575. https://doi.org/10.3389/fncel.2023.1280575</a:t>
            </a:r>
          </a:p>
          <a:p/>
          <a:p>
            <a:r>
              <a:t>Figure: More-Potdar &amp; Golowasch (2023), Fig. 2(A–B). Frequency and phase recover over hours after decentralization</a:t>
            </a:r>
          </a:p>
          <a:p>
            <a:r>
              <a:t>Figure source: https://doi.org/10.3389/fncel.2023.1280575</a:t>
            </a:r>
          </a:p>
          <a:p/>
          <a:p>
            <a:r>
              <a:t>Figure: More-Potdar &amp; Golowasch (2023), Fig. 1(B). Pyloric circuit</a:t>
            </a:r>
          </a:p>
          <a:p>
            <a:r>
              <a:t>Figure source: https://doi.org/10.3389/fncel.2023.1280575</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References:</a:t>
            </a:r>
          </a:p>
          <a:p/>
          <a:p>
            <a:r>
              <a:t>Powell D, Haddad SA, Gorur-Shandilya S, Marder E. (2021). Coupling between fast and slow oscillator circuits in Cancer borealis is temperature-compensated. eLife 10: e60454. https://doi.org/10.7554/elife.60454</a:t>
            </a:r>
          </a:p>
          <a:p/>
          <a:p>
            <a:r>
              <a:t>Garcia VJ, Daur N, Temporal S, Schulz DJ, Bucher D. (2015). Neuropeptide receptor transcript expression levels and magnitude of ionic current responses show cell type-specific differences in a small motor circuit. Journal of Neuroscience 35: 6786-6800. https://doi.org/10.1523/jneurosci.0171-15.2015</a:t>
            </a:r>
          </a:p>
          <a:p/>
          <a:p>
            <a:r>
              <a:t>Miller JP, Selverston AI. (1982). Mechanisms underlying pattern generation in lobster stomatogastric ganglion as determined by selective inactivation of identified neurons. II. Oscillatory properties of pyloric neurons. Journal of Neurophysiology 48: 1378-1391. https://doi.org/10.1152/jn.1982.48.6.1378</a:t>
            </a:r>
          </a:p>
          <a:p/>
          <a:p>
            <a:r>
              <a:t>Hooper SL, Marder E. (1987). Modulation of the lobster pyloric rhythm by the peptide proctolin. Journal of Neuroscience 7: 2097-2112. https://doi.org/10.1523/jneurosci.07-07-02097.1987</a:t>
            </a:r>
          </a:p>
          <a:p/>
          <a:p>
            <a:r>
              <a:t>Rosenbaum P, Marder E. (2018). Graded Transmission without Action Potentials Sustains Rhythmic Activity in Some But Not All Modulators That Activate the Same Current. Journal of Neuroscience 38: 8976-8988. https://doi.org/10.1523/jneurosci.2632-17.2018</a:t>
            </a:r>
          </a:p>
          <a:p/>
          <a:p>
            <a:r>
              <a:t>Gorur-Shandilya S, Cronin EM, Schneider AC, Haddad SA, Rosenbaum P, Bucher D, Nadim F, Marder E. (2022). Mapping circuit dynamics during function and dysfunction. eLife 11: e76579. https://doi.org/10.7554/elife.76579</a:t>
            </a:r>
          </a:p>
          <a:p/>
          <a:p>
            <a:r>
              <a:t>Eisen JS, Marder E. (1982). Mechanisms underlying pattern generation in lobster stomatogastric ganglion as determined by selective inactivation of identified neurons. III. Synaptic connections of electrically coupled pyloric neurons. Journal of Neurophysiology 48: 1392-1415. https://doi.org/10.1152/jn.1982.48.6.1392</a:t>
            </a:r>
          </a:p>
          <a:p/>
          <a:p>
            <a:r>
              <a:t>Marder E. (1976). Cholinergic motor neurones in the stomatogastric system of the lobster. The Journal of Physiology 257: 63-86. https://doi.org/10.1113/jphysiol.1976.sp011356</a:t>
            </a:r>
          </a:p>
          <a:p/>
          <a:p>
            <a:r>
              <a:t>Martinez D, Anwar H, Bose A, Bucher DM, Nadim F. (2019). Short-term synaptic dynamics control the activity phase of neurons in an oscillatory network. eLife 8: e46911. https://doi.org/10.7554/elife.46911</a:t>
            </a:r>
          </a:p>
          <a:p/>
          <a:p>
            <a:r>
              <a:t>Tang LS, Goeritz ML, Caplan JS, Taylor AL, Fisek M, Marder E. (2010). Precise temperature compensation of phase in a rhythmic motor pattern. PLoS Biology 8: e1000469. https://doi.org/10.1371/journal.pbio.1000469</a:t>
            </a:r>
          </a:p>
          <a:p/>
          <a:p>
            <a:r>
              <a:t>Schneider AC, Itani O, Bucher D, Nadim F. (2022). Neuromodulation Reduces Interindividual Variability of Neuronal Output. eNeuro 9: ENEURO.0166-22.2022. https://doi.org/10.1523/eneuro.0166-22.2022</a:t>
            </a:r>
          </a:p>
          <a:p/>
          <a:p>
            <a:r>
              <a:t>Städele C, Heigele S, Stein W. (2015). Neuromodulation to the Rescue: Compensation of Temperature-Induced Breakdown of Rhythmic Motor Patterns via Extrinsic Neuromodulatory Input. PLoS Biology 13: e1002265. https://doi.org/10.1371/journal.pbio.1002265</a:t>
            </a:r>
          </a:p>
          <a:p/>
          <a:p>
            <a:r>
              <a:t>More-Potdar S, Golowasch J. (2023). Oscillatory network spontaneously recovers both activity and robustness after prolonged removal of neuromodulators. Frontiers in Cellular Neuroscience 17: 1280575. https://doi.org/10.3389/fncel.2023.1280575</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 Slide 5 shows the three groups bursting in order, and slide 4 names the cells. The order itself comes from inhibition and recovery, which the circuit connections on these slides make possible.</a:t>
            </a:r>
          </a:p>
          <a:p>
            <a:r>
              <a:rPr lang="en-US"/>
              <a:t>• The pacemaker burst silences both followers at once.</a:t>
            </a:r>
          </a:p>
          <a:p>
            <a:r>
              <a:rPr lang="en-US"/>
              <a:t>– Tang and colleagues describe LP and PY as firing on rebound from inhibition by the AB and PD neurons, so the pacemaker burst is a shared starting gun for both followers.</a:t>
            </a:r>
          </a:p>
          <a:p>
            <a:r>
              <a:rPr lang="en-US"/>
              <a:t>– That makes the end of pacemaker inhibition the reference point from which each follower's delay is measured.</a:t>
            </a:r>
          </a:p>
          <a:p>
            <a:r>
              <a:rPr lang="en-US"/>
              <a:t>• Different rebound speeds create the sequence.</a:t>
            </a:r>
          </a:p>
          <a:p>
            <a:r>
              <a:rPr lang="en-US"/>
              <a:t>– Martinez and colleagues report that PY and VD carry much higher levels of the A-type current than LP, and that this current has a larger effect on their post-inhibitory spiking.</a:t>
            </a:r>
          </a:p>
          <a:p>
            <a:r>
              <a:rPr lang="en-US"/>
              <a:t>– A larger outward A-current holds PY below threshold longer after inhibition ends, which is why LP fires in the middle of the cycle and PY last.</a:t>
            </a:r>
          </a:p>
          <a:p>
            <a:r>
              <a:rPr lang="en-US"/>
              <a:t>– Tang and colleagues add that PY activity terminates the LP burst, so the follower that starts last also ends the one before it.</a:t>
            </a:r>
          </a:p>
          <a:p>
            <a:r>
              <a:rPr lang="en-US"/>
              <a:t>• The sequence has a mechanical purpose.</a:t>
            </a:r>
          </a:p>
          <a:p>
            <a:r>
              <a:rPr lang="en-US"/>
              <a:t>– More-Potdar and Golowasch describe the pyloric muscles moving food through structures that trap particles by size, a peristaltic process that needs the correct contraction order.</a:t>
            </a:r>
          </a:p>
          <a:p>
            <a:r>
              <a:rPr lang="en-US"/>
              <a:t>– Slide 23 shows LP losing organized bursting when its glutamatergic inhibition is blocked, which is the cellular version of a muscle group falling out of sequence.</a:t>
            </a:r>
          </a:p>
          <a:p/>
          <a:p>
            <a:r>
              <a:rPr lang="en-US"/>
              <a:t>References:</a:t>
            </a:r>
          </a:p>
          <a:p>
            <a:r>
              <a:rPr lang="en-US"/>
              <a:t>Hooper SL, Marder E. (1987). Modulation of the lobster pyloric rhythm by the peptide proctolin. Journal of Neuroscience 7: 2097-2112. https://doi.org/10.1523/jneurosci.07-07-02097.1987</a:t>
            </a:r>
          </a:p>
          <a:p>
            <a:r>
              <a:rPr lang="en-US"/>
              <a:t>Tang LS, Goeritz ML, Caplan JS, Taylor AL, Fisek M, Marder E. (2010). Precise temperature compensation of phase in a rhythmic motor pattern. PLoS Biology 8: e1000469. https://doi.org/10.1371/journal.pbio.1000469</a:t>
            </a:r>
          </a:p>
          <a:p>
            <a:r>
              <a:rPr lang="en-US"/>
              <a:t>Martinez D, Anwar H, Bose A, Bucher DM, Nadim F. (2019). Short-term synaptic dynamics control the activity phase of neurons in an oscillatory network. eLife 8: e46911. https://doi.org/10.7554/elife.46911</a:t>
            </a:r>
          </a:p>
          <a:p>
            <a:r>
              <a:rPr lang="en-US"/>
              <a:t>More-Potdar S, Golowasch J. (2023). Oscillatory network spontaneously recovers both activity and robustness after prolonged removal of neuromodulators. Frontiers in Cellular Neuroscience 17: 1280575. https://doi.org/10.3389/fncel.2023.1280575</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 Slides 7 and 8 test AB and PD separately; the contrast between them, and the coupling on slide 6, explain how a group with one true oscillator behaves as a single pacemaker.</a:t>
            </a:r>
          </a:p>
          <a:p>
            <a:r>
              <a:rPr lang="en-US"/>
              <a:t>• Two kinds of bursting neuron.</a:t>
            </a:r>
          </a:p>
          <a:p>
            <a:r>
              <a:rPr lang="en-US"/>
              <a:t>– Miller and Selverston found that only AB continued to generate bursting pacemaker potentials when isolated, while the PD cells, previously thought to be endogenous bursters, fired tonically.</a:t>
            </a:r>
          </a:p>
          <a:p>
            <a:r>
              <a:rPr lang="en-US"/>
              <a:t>– Stimulating the stomatogastric nerve recruited the same kind of oscillation in PD, VD and LP, so the capacity was present but required an input to express it.</a:t>
            </a:r>
          </a:p>
          <a:p>
            <a:r>
              <a:rPr lang="en-US"/>
              <a:t>• Coupling hides the difference in the intact circuit.</a:t>
            </a:r>
          </a:p>
          <a:p>
            <a:r>
              <a:rPr lang="en-US"/>
              <a:t>– Eisen and Marder describe direct electrical coupling among AB, PD and VD, which allows slow voltage changes to pass between the cells.</a:t>
            </a:r>
          </a:p>
          <a:p>
            <a:r>
              <a:rPr lang="en-US"/>
              <a:t>– Since coupled cells fire together, recording them in the intact circuit cannot reveal which one generates the oscillation; photoinactivation of all partners was the only way to ask each cell alone.</a:t>
            </a:r>
          </a:p>
          <a:p>
            <a:r>
              <a:rPr lang="en-US"/>
              <a:t>• A latent pacemaker becomes useful after injury.</a:t>
            </a:r>
          </a:p>
          <a:p>
            <a:r>
              <a:rPr lang="en-US"/>
              <a:t>– More-Potdar and Golowasch point out that PD neurons may express pacemaker properties when the network is decentralized.</a:t>
            </a:r>
          </a:p>
          <a:p>
            <a:r>
              <a:rPr lang="en-US"/>
              <a:t>– They suggest that more effective pacemaker neurons could contribute to the recovery described on slide 45, where the rhythm returns without its modulatory inputs.</a:t>
            </a:r>
          </a:p>
          <a:p/>
          <a:p>
            <a:r>
              <a:rPr lang="en-US"/>
              <a:t>References:</a:t>
            </a:r>
          </a:p>
          <a:p>
            <a:r>
              <a:rPr lang="en-US"/>
              <a:t>Miller JP, Selverston AI. (1982). Mechanisms underlying pattern generation in lobster stomatogastric ganglion as determined by selective inactivation of identified neurons. II. Oscillatory properties of pyloric neurons. Journal of Neurophysiology 48: 1378-1391. https://doi.org/10.1152/jn.1982.48.6.1378</a:t>
            </a:r>
          </a:p>
          <a:p>
            <a:r>
              <a:rPr lang="en-US"/>
              <a:t>Eisen JS, Marder E. (1982). Mechanisms underlying pattern generation in lobster stomatogastric ganglion as determined by selective inactivation of identified neurons. III. Synaptic connections of electrically coupled pyloric neurons. Journal of Neurophysiology 48: 1392-1415. https://doi.org/10.1152/jn.1982.48.6.1392</a:t>
            </a:r>
          </a:p>
          <a:p>
            <a:r>
              <a:rPr lang="en-US"/>
              <a:t>More-Potdar S, Golowasch J. (2023). Oscillatory network spontaneously recovers both activity and robustness after prolonged removal of neuromodulators. Frontiers in Cellular Neuroscience 17: 1280575. https://doi.org/10.3389/fncel.2023.1280575</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 Slide 11 reports what photoinactivation revealed; the reason deletion was needed lies in the electrical coupling described on slide 6.</a:t>
            </a:r>
          </a:p>
          <a:p>
            <a:r>
              <a:rPr lang="en-US"/>
              <a:t>• Coupling defeats one-cell stimulation.</a:t>
            </a:r>
          </a:p>
          <a:p>
            <a:r>
              <a:rPr lang="en-US"/>
              <a:t>– A gap junction passes current in both directions, so depolarizing AB with an electrode also depolarizes PD, and the two then release transmitter together.</a:t>
            </a:r>
          </a:p>
          <a:p>
            <a:r>
              <a:rPr lang="en-US"/>
              <a:t>– Without deletion, a response in LP could not be assigned to either cell.</a:t>
            </a:r>
          </a:p>
          <a:p>
            <a:r>
              <a:rPr lang="en-US"/>
              <a:t>• Dye-sensitized photoinactivation removes one partner.</a:t>
            </a:r>
          </a:p>
          <a:p>
            <a:r>
              <a:rPr lang="en-US"/>
              <a:t>– Eisen and Marder used the Lucifer yellow method to kill either the single AB neuron or both PD neurons while recording the survivors.</a:t>
            </a:r>
          </a:p>
          <a:p>
            <a:r>
              <a:rPr lang="en-US"/>
              <a:t>– Slides 12 and 13 then measured each isolated component, which differed in time course, reversal potential, ion selectivity and pharmacology.</a:t>
            </a:r>
          </a:p>
          <a:p>
            <a:r>
              <a:rPr lang="en-US"/>
              <a:t>• Deletion also clarified the wiring of VD.</a:t>
            </a:r>
          </a:p>
          <a:p>
            <a:r>
              <a:rPr lang="en-US"/>
              <a:t>– Selective inactivation showed that the IPSP in VD is due solely to transmitter released by AB.</a:t>
            </a:r>
          </a:p>
          <a:p>
            <a:r>
              <a:rPr lang="en-US"/>
              <a:t>– Eisen and Marder suggest that coupling between nonidentical neurons offers a way to change synaptic characteristics within an otherwise fixed circuit.</a:t>
            </a:r>
          </a:p>
          <a:p/>
          <a:p>
            <a:r>
              <a:rPr lang="en-US"/>
              <a:t>References:</a:t>
            </a:r>
          </a:p>
          <a:p>
            <a:r>
              <a:rPr lang="en-US"/>
              <a:t>Eisen JS, Marder E. (1982). Mechanisms underlying pattern generation in lobster stomatogastric ganglion as determined by selective inactivation of identified neurons. III. Synaptic connections of electrically coupled pyloric neurons. Journal of Neurophysiology 48: 1392-1415. https://doi.org/10.1152/jn.1982.48.6.1392</a:t>
            </a:r>
          </a:p>
          <a:p>
            <a:r>
              <a:rPr lang="en-US"/>
              <a:t>Miller JP, Selverston AI. (1982). Mechanisms underlying pattern generation in lobster stomatogastric ganglion as determined by selective inactivation of identified neurons. II. Oscillatory properties of pyloric neurons. Journal of Neurophysiology 48: 1378-1391. https://doi.org/10.1152/jn.1982.48.6.1378</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 Slides 12 and 13 report two reversal potentials; comparing each with LP's working voltage explains why the two inputs act so differently.</a:t>
            </a:r>
          </a:p>
          <a:p>
            <a:r>
              <a:rPr lang="en-US"/>
              <a:t>• Reversal potential and driving force.</a:t>
            </a:r>
          </a:p>
          <a:p>
            <a:r>
              <a:rPr lang="en-US"/>
              <a:t>– At the reversal potential the inward and outward flows of the permeant ions balance, so an open conductance passes no net current.</a:t>
            </a:r>
          </a:p>
          <a:p>
            <a:r>
              <a:rPr lang="en-US"/>
              <a:t>– Moving the membrane further from reversal enlarges the current through the same open channels.</a:t>
            </a:r>
          </a:p>
          <a:p>
            <a:r>
              <a:rPr lang="en-US"/>
              <a:t>• Applying it to LP.</a:t>
            </a:r>
          </a:p>
          <a:p>
            <a:r>
              <a:rPr lang="en-US"/>
              <a:t>– Slide 28 shows isolated LP responding to proctolin at about −58 mV, which places it near firing threshold.</a:t>
            </a:r>
          </a:p>
          <a:p>
            <a:r>
              <a:rPr lang="en-US"/>
              <a:t>– From there the PD input has close to thirty millivolts of driving force, while the AB input has only a few, which is why the two components on slide 11 look so different in amplitude.</a:t>
            </a:r>
          </a:p>
          <a:p>
            <a:r>
              <a:rPr lang="en-US"/>
              <a:t>• Why the hyperpolarization matters.</a:t>
            </a:r>
          </a:p>
          <a:p>
            <a:r>
              <a:rPr lang="en-US"/>
              <a:t>– Tang and colleagues describe how a larger inhibitory current increases activation of the h current and favors removal of inactivation from the A-type current.</a:t>
            </a:r>
          </a:p>
          <a:p>
            <a:r>
              <a:rPr lang="en-US"/>
              <a:t>– Slides 38 and 39 describe those two currents, so the strength of PD's inhibition feeds directly into the timing of LP's following burst.</a:t>
            </a:r>
          </a:p>
          <a:p/>
          <a:p>
            <a:r>
              <a:rPr lang="en-US"/>
              <a:t>References:</a:t>
            </a:r>
          </a:p>
          <a:p>
            <a:r>
              <a:rPr lang="en-US"/>
              <a:t>Eisen JS, Marder E. (1982). Mechanisms underlying pattern generation in lobster stomatogastric ganglion as determined by selective inactivation of identified neurons. III. Synaptic connections of electrically coupled pyloric neurons. Journal of Neurophysiology 48: 1392-1415. https://doi.org/10.1152/jn.1982.48.6.1392</a:t>
            </a:r>
          </a:p>
          <a:p>
            <a:r>
              <a:rPr lang="en-US"/>
              <a:t>Hooper SL, Marder E. (1987). Modulation of the lobster pyloric rhythm by the peptide proctolin. Journal of Neuroscience 7: 2097-2112. https://doi.org/10.1523/jneurosci.07-07-02097.1987</a:t>
            </a:r>
          </a:p>
          <a:p>
            <a:r>
              <a:rPr lang="en-US"/>
              <a:t>Tang LS, Goeritz ML, Caplan JS, Taylor AL, Fisek M, Marder E. (2010). Precise temperature compensation of phase in a rhythmic motor pattern. PLoS Biology 8: e1000469. https://doi.org/10.1371/journal.pbio.1000469</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 Slides 15 to 17 identify ACh as PD's transmitter at muscle, and slide 13 describes PD's inhibition of LP; putting them together separates transmitter identity from postsynaptic action.</a:t>
            </a:r>
          </a:p>
          <a:p>
            <a:r>
              <a:rPr lang="en-US"/>
              <a:t>• Excitation at the muscle.</a:t>
            </a:r>
          </a:p>
          <a:p>
            <a:r>
              <a:rPr lang="en-US"/>
              <a:t>– Marder found that iontophoretic ACh and the nerve-evoked junctional potentials in the dorsal dilator share the same apparent reversal potential.</a:t>
            </a:r>
          </a:p>
          <a:p>
            <a:r>
              <a:rPr lang="en-US"/>
              <a:t>– A reversal well above rest means the receptor channel admits cations, which depolarizes the fiber.</a:t>
            </a:r>
          </a:p>
          <a:p>
            <a:r>
              <a:rPr lang="en-US"/>
              <a:t>• Inhibition in the ganglion.</a:t>
            </a:r>
          </a:p>
          <a:p>
            <a:r>
              <a:rPr lang="en-US"/>
              <a:t>– Tang and colleagues refer to the PD component of LP's synaptic current as cholinergic, with a reversal potential below that of the glutamatergic inputs from AB and PY.</a:t>
            </a:r>
          </a:p>
          <a:p>
            <a:r>
              <a:rPr lang="en-US"/>
              <a:t>– The potassium sensitivity on slide 13 identifies the ion carrying that inhibitory current.</a:t>
            </a:r>
          </a:p>
          <a:p>
            <a:r>
              <a:rPr lang="en-US"/>
              <a:t>• Consequences for pharmacology.</a:t>
            </a:r>
          </a:p>
          <a:p>
            <a:r>
              <a:rPr lang="en-US"/>
              <a:t>– Martinez and colleagues blocked AB and PY inputs to LP with picrotoxin, and slide 23 notes that the PD synapse remained.</a:t>
            </a:r>
          </a:p>
          <a:p>
            <a:r>
              <a:rPr lang="en-US"/>
              <a:t>– Choosing a blocker by receptor class, not by the name of the transmitter, is what allows one input to be kept while the others are removed.</a:t>
            </a:r>
          </a:p>
          <a:p/>
          <a:p>
            <a:r>
              <a:rPr lang="en-US"/>
              <a:t>References:</a:t>
            </a:r>
          </a:p>
          <a:p>
            <a:r>
              <a:rPr lang="en-US"/>
              <a:t>Marder E. (1976). Cholinergic motor neurones in the stomatogastric system of the lobster. The Journal of Physiology 257: 63-86. https://doi.org/10.1113/jphysiol.1976.sp011356</a:t>
            </a:r>
          </a:p>
          <a:p>
            <a:r>
              <a:rPr lang="en-US"/>
              <a:t>Eisen JS, Marder E. (1982). Mechanisms underlying pattern generation in lobster stomatogastric ganglion as determined by selective inactivation of identified neurons. III. Synaptic connections of electrically coupled pyloric neurons. Journal of Neurophysiology 48: 1392-1415. https://doi.org/10.1152/jn.1982.48.6.1392</a:t>
            </a:r>
          </a:p>
          <a:p>
            <a:r>
              <a:rPr lang="en-US"/>
              <a:t>Tang LS, Goeritz ML, Caplan JS, Taylor AL, Fisek M, Marder E. (2010). Precise temperature compensation of phase in a rhythmic motor pattern. PLoS Biology 8: e1000469. https://doi.org/10.1371/journal.pbio.1000469</a:t>
            </a:r>
          </a:p>
          <a:p>
            <a:r>
              <a:rPr lang="en-US"/>
              <a:t>Martinez D, Anwar H, Bose A, Bucher DM, Nadim F. (2019). Short-term synaptic dynamics control the activity phase of neurons in an oscillatory network. eLife 8: e46911. https://doi.org/10.7554/elife.46911</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 Slides 18 and 19 show inhibition and rhythm surviving TTX; the reason lies in how release depends on presynaptic voltage.</a:t>
            </a:r>
          </a:p>
          <a:p>
            <a:r>
              <a:rPr lang="en-US"/>
              <a:t>• Calcium links voltage to release.</a:t>
            </a:r>
          </a:p>
          <a:p>
            <a:r>
              <a:rPr lang="en-US"/>
              <a:t>– Depolarization opens voltage-gated calcium channels in the terminal, and the calcium that enters drives vesicle fusion.</a:t>
            </a:r>
          </a:p>
          <a:p>
            <a:r>
              <a:rPr lang="en-US"/>
              <a:t>– A spike opens many of these channels briefly, while a slow wave opens fewer for longer, so both routes lead to release.</a:t>
            </a:r>
          </a:p>
          <a:p>
            <a:r>
              <a:rPr lang="en-US"/>
              <a:t>• What TTX removes and what it leaves.</a:t>
            </a:r>
          </a:p>
          <a:p>
            <a:r>
              <a:rPr lang="en-US"/>
              <a:t>– Rosenbaum and Marder describe STG neurons releasing transmitter both as a graded function of presynaptic voltage that persists in TTX and in response to action potentials.</a:t>
            </a:r>
          </a:p>
          <a:p>
            <a:r>
              <a:rPr lang="en-US"/>
              <a:t>– Blocking sodium channels isolates the first route, which is why the slow alternation on slide 19 tests graded transmission directly.</a:t>
            </a:r>
          </a:p>
          <a:p>
            <a:r>
              <a:rPr lang="en-US"/>
              <a:t>• Timing travels in the waveform.</a:t>
            </a:r>
          </a:p>
          <a:p>
            <a:r>
              <a:rPr lang="en-US"/>
              <a:t>– Martinez and colleagues point out that postsynaptic responses depend on the trajectory of synaptic conductance, which presynaptic voltage trajectories shape.</a:t>
            </a:r>
          </a:p>
          <a:p>
            <a:r>
              <a:rPr lang="en-US"/>
              <a:t>– Slide 26 shows how sensitive LP is to the shape of that conductance, so the slow wave is a timing signal in its own right.</a:t>
            </a:r>
          </a:p>
          <a:p/>
          <a:p>
            <a:r>
              <a:rPr lang="en-US"/>
              <a:t>References:</a:t>
            </a:r>
          </a:p>
          <a:p>
            <a:r>
              <a:rPr lang="en-US"/>
              <a:t>Rosenbaum P, Marder E. (2018). Graded Transmission without Action Potentials Sustains Rhythmic Activity in Some But Not All Modulators That Activate the Same Current. Journal of Neuroscience 38: 8976-8988. https://doi.org/10.1523/jneurosci.2632-17.2018</a:t>
            </a:r>
          </a:p>
          <a:p>
            <a:r>
              <a:rPr lang="en-US"/>
              <a:t>Martinez D, Anwar H, Bose A, Bucher DM, Nadim F. (2019). Short-term synaptic dynamics control the activity phase of neurons in an oscillatory network. eLife 8: e46911. https://doi.org/10.7554/elife.46911</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 Slides 22, 24, 30, 38 and 41 use three different recording configurations; separating what each holds fixed explains what each experiment can conclude.</a:t>
            </a:r>
          </a:p>
          <a:p>
            <a:r>
              <a:rPr lang="en-US"/>
              <a:t>• Current clamp and voltage clamp.</a:t>
            </a:r>
          </a:p>
          <a:p>
            <a:r>
              <a:rPr lang="en-US"/>
              <a:t>– In current clamp the experimenter controls the input and reads the voltage, as in the rebound tests on slide 33.</a:t>
            </a:r>
          </a:p>
          <a:p>
            <a:r>
              <a:rPr lang="en-US"/>
              <a:t>– In voltage clamp the experimenter controls the voltage and reads the current, which is how the A-type and h currents on slides 38 and 39 were measured.</a:t>
            </a:r>
          </a:p>
          <a:p>
            <a:r>
              <a:rPr lang="en-US"/>
              <a:t>• Dynamic clamp as a hybrid.</a:t>
            </a:r>
          </a:p>
          <a:p>
            <a:r>
              <a:rPr lang="en-US"/>
              <a:t>– A conductance, unlike a fixed current, produces less current as the membrane approaches its reversal potential, so the injected signal behaves like a real synapse or leak.</a:t>
            </a:r>
          </a:p>
          <a:p>
            <a:r>
              <a:rPr lang="en-US"/>
              <a:t>– LP's own currents remain free to generate rebound, which is what makes the replayed inhibition on slide 24 a causal test.</a:t>
            </a:r>
          </a:p>
          <a:p>
            <a:r>
              <a:rPr lang="en-US"/>
              <a:t>• Matching method to question.</a:t>
            </a:r>
          </a:p>
          <a:p>
            <a:r>
              <a:rPr lang="en-US"/>
              <a:t>– Martinez and colleagues clamped PD to set the period, then measured LP's synaptic input in voltage clamp before replaying it in dynamic clamp.</a:t>
            </a:r>
          </a:p>
          <a:p>
            <a:r>
              <a:rPr lang="en-US"/>
              <a:t>– Städele and colleagues used the same hybrid method in LG, where a leak change alone was enough to stop or restore the gastric rhythm.</a:t>
            </a:r>
          </a:p>
          <a:p/>
          <a:p>
            <a:r>
              <a:rPr lang="en-US"/>
              <a:t>References:</a:t>
            </a:r>
          </a:p>
          <a:p>
            <a:r>
              <a:rPr lang="en-US"/>
              <a:t>Martinez D, Anwar H, Bose A, Bucher DM, Nadim F. (2019). Short-term synaptic dynamics control the activity phase of neurons in an oscillatory network. eLife 8: e46911. https://doi.org/10.7554/elife.46911</a:t>
            </a:r>
          </a:p>
          <a:p>
            <a:r>
              <a:rPr lang="en-US"/>
              <a:t>Garcia VJ, Daur N, Temporal S, Schulz DJ, Bucher D. (2015). Neuropeptide receptor transcript expression levels and magnitude of ionic current responses show cell type-specific differences in a small motor circuit. Journal of Neuroscience 35: 6786-6800. https://doi.org/10.1523/jneurosci.0171-15.2015</a:t>
            </a:r>
          </a:p>
          <a:p>
            <a:r>
              <a:rPr lang="en-US"/>
              <a:t>Städele C, Heigele S, Stein W. (2015). Neuromodulation to the Rescue: Compensation of Temperature-Induced Breakdown of Rhythmic Motor Patterns via Extrinsic Neuromodulatory Input. PLoS Biology 13: e1002265. https://doi.org/10.1371/journal.pbio.1002265</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 Slides 22 to 26 vary period, duration, strength and peak timing one at a time; together they explain what an input must do for LP's phase to stay fixed.</a:t>
            </a:r>
          </a:p>
          <a:p>
            <a:r>
              <a:rPr lang="en-US"/>
              <a:t>• Why fixed delays fail.</a:t>
            </a:r>
          </a:p>
          <a:p>
            <a:r>
              <a:rPr lang="en-US"/>
              <a:t>– Phase is the delay divided by the period, so a delay that stays the same in milliseconds becomes a smaller fraction of a longer cycle.</a:t>
            </a:r>
          </a:p>
          <a:p>
            <a:r>
              <a:rPr lang="en-US"/>
              <a:t>– Slide 22 shows LP falling between the two extremes when only the pacemaker period is changed.</a:t>
            </a:r>
          </a:p>
          <a:p>
            <a:r>
              <a:rPr lang="en-US"/>
              <a:t>• How the input compensates.</a:t>
            </a:r>
          </a:p>
          <a:p>
            <a:r>
              <a:rPr lang="en-US"/>
              <a:t>– Martinez and colleagues found that inputs with constant duty cycle preserved phase far better than inputs of constant duration, and that phase increased with both synaptic strength and peak phase.</a:t>
            </a:r>
          </a:p>
          <a:p>
            <a:r>
              <a:rPr lang="en-US"/>
              <a:t>– Short-term depression makes pyloric inhibition stronger at longer periods, so the circuit has a built-in way to strengthen inhibition as the rhythm slows.</a:t>
            </a:r>
          </a:p>
          <a:p>
            <a:r>
              <a:rPr lang="en-US"/>
              <a:t>• Temperature uses other rules.</a:t>
            </a:r>
          </a:p>
          <a:p>
            <a:r>
              <a:rPr lang="en-US"/>
              <a:t>– Martinez and colleagues contrast their constant-temperature results with temperature experiments, in which presynaptic voltage trajectories scaled with period and the synaptic peak phase did not depend on period.</a:t>
            </a:r>
          </a:p>
          <a:p>
            <a:r>
              <a:rPr lang="en-US"/>
              <a:t>– Slides 36 and 37 show phase constancy across a fourfold change in frequency, achieved through adjustments different from those that operate at one temperature.</a:t>
            </a:r>
          </a:p>
          <a:p/>
          <a:p>
            <a:r>
              <a:rPr lang="en-US"/>
              <a:t>References:</a:t>
            </a:r>
          </a:p>
          <a:p>
            <a:r>
              <a:rPr lang="en-US"/>
              <a:t>Martinez D, Anwar H, Bose A, Bucher DM, Nadim F. (2019). Short-term synaptic dynamics control the activity phase of neurons in an oscillatory network. eLife 8: e46911. https://doi.org/10.7554/elife.46911</a:t>
            </a:r>
          </a:p>
          <a:p>
            <a:r>
              <a:rPr lang="en-US"/>
              <a:t>Tang LS, Goeritz ML, Caplan JS, Taylor AL, Fisek M, Marder E. (2010). Precise temperature compensation of phase in a rhythmic motor pattern. PLoS Biology 8: e1000469. https://doi.org/10.1371/journal.pbio.1000469</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 Slides 27 and 28 identify proctolin's direct targets; following those effects through the circuit wiring explains how a few targets change the whole pattern.</a:t>
            </a:r>
          </a:p>
          <a:p>
            <a:r>
              <a:rPr lang="en-US"/>
              <a:t>• The pacemaker spreads the effect.</a:t>
            </a:r>
          </a:p>
          <a:p>
            <a:r>
              <a:rPr lang="en-US"/>
              <a:t>– Hooper and Marder found that pyloric cycle frequency increased with proctolin concentrations from about one nanomolar to one micromolar.</a:t>
            </a:r>
          </a:p>
          <a:p>
            <a:r>
              <a:rPr lang="en-US"/>
              <a:t>– The coupling described on slide 6 carries AB's stronger oscillation into PD, so the whole kernel speeds up together.</a:t>
            </a:r>
          </a:p>
          <a:p>
            <a:r>
              <a:rPr lang="en-US"/>
              <a:t>• Followers respond through connections.</a:t>
            </a:r>
          </a:p>
          <a:p>
            <a:r>
              <a:rPr lang="en-US"/>
              <a:t>– Isolated neurons other than AB, LP and PY were unaffected by proctolin, so changes in those cells within the circuit must arise from their synaptic inputs.</a:t>
            </a:r>
          </a:p>
          <a:p>
            <a:r>
              <a:rPr lang="en-US"/>
              <a:t>– Hooper and Marder deleted individual neurons from the circuit to connect the direct effects on isolated cells with the frequency and phase changes of the intact pattern.</a:t>
            </a:r>
          </a:p>
          <a:p>
            <a:r>
              <a:rPr lang="en-US"/>
              <a:t>• The pattern is reshaped.</a:t>
            </a:r>
          </a:p>
          <a:p>
            <a:r>
              <a:rPr lang="en-US"/>
              <a:t>– LP activity increased and VD activity decreased with rising concentration, so the relative contributions of the motor neurons change.</a:t>
            </a:r>
          </a:p>
          <a:p>
            <a:r>
              <a:rPr lang="en-US"/>
              <a:t>– Hooper and Marder conclude that the connectivity between directly affected and unaffected neurons shapes the network's response to the peptide.</a:t>
            </a:r>
          </a:p>
          <a:p/>
          <a:p>
            <a:r>
              <a:rPr lang="en-US"/>
              <a:t>References:</a:t>
            </a:r>
          </a:p>
          <a:p>
            <a:r>
              <a:rPr lang="en-US"/>
              <a:t>Hooper SL, Marder E. (1987). Modulation of the lobster pyloric rhythm by the peptide proctolin. Journal of Neuroscience 7: 2097-2112. https://doi.org/10.1523/jneurosci.07-07-02097.1987</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 Slides 29 to 32 describe receptor transcripts, current responses and peptide combinations separately; convergence onto one current links them.</a:t>
            </a:r>
          </a:p>
          <a:p>
            <a:r>
              <a:rPr lang="en-US"/>
              <a:t>• Metabotropic receptors and convergence.</a:t>
            </a:r>
          </a:p>
          <a:p>
            <a:r>
              <a:rPr lang="en-US"/>
              <a:t>– Garcia and colleagues identified the CCAP receptor candidate by its sequence similarity to G-protein-coupled receptors, and slide 20 names several peptides that all activate the same current.</a:t>
            </a:r>
          </a:p>
          <a:p>
            <a:r>
              <a:rPr lang="en-US"/>
              <a:t>– Schneider and colleagues describe the subcellular pathways of excitatory neuropeptide receptors in the STG converging downstream on that current.</a:t>
            </a:r>
          </a:p>
          <a:p>
            <a:r>
              <a:rPr lang="en-US"/>
              <a:t>• Occlusion as a test of a shared pool.</a:t>
            </a:r>
          </a:p>
          <a:p>
            <a:r>
              <a:rPr lang="en-US"/>
              <a:t>– Garcia and colleagues applied proctolin after saturating CCAP to ask whether any current remained for the second peptide to open.</a:t>
            </a:r>
          </a:p>
          <a:p>
            <a:r>
              <a:rPr lang="en-US"/>
              <a:t>– Full occlusion in LP and partial occlusion in IC fit LP's several-fold higher receptor transcript levels on slide 29.</a:t>
            </a:r>
          </a:p>
          <a:p>
            <a:r>
              <a:rPr lang="en-US"/>
              <a:t>• Limits on combined modulation.</a:t>
            </a:r>
          </a:p>
          <a:p>
            <a:r>
              <a:rPr lang="en-US"/>
              <a:t>– Schneider and colleagues found no additional reduction of variability when CCAP was added, and attribute it to near-saturating activation of the shared current.</a:t>
            </a:r>
          </a:p>
          <a:p>
            <a:r>
              <a:rPr lang="en-US"/>
              <a:t>– When two peptides draw on one pool, their combined effect cannot exceed the size of that pool.</a:t>
            </a:r>
          </a:p>
          <a:p/>
          <a:p>
            <a:r>
              <a:rPr lang="en-US"/>
              <a:t>References:</a:t>
            </a:r>
          </a:p>
          <a:p>
            <a:r>
              <a:rPr lang="en-US"/>
              <a:t>Garcia VJ, Daur N, Temporal S, Schulz DJ, Bucher D. (2015). Neuropeptide receptor transcript expression levels and magnitude of ionic current responses show cell type-specific differences in a small motor circuit. Journal of Neuroscience 35: 6786-6800. https://doi.org/10.1523/jneurosci.0171-15.2015</a:t>
            </a:r>
          </a:p>
          <a:p>
            <a:r>
              <a:rPr lang="en-US"/>
              <a:t>Schneider AC, Itani O, Bucher D, Nadim F. (2022). Neuromodulation Reduces Interindividual Variability of Neuronal Output. eNeuro 9: ENEURO.0166-22.2022. https://doi.org/10.1523/eneuro.0166-22.2022</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 Slide 35 shows tonic stimulation producing slow bursts; the feedback loops in the gastric circuit explain how a steady input becomes a rhythm about ten times slower than the pyloric one.</a:t>
            </a:r>
          </a:p>
          <a:p>
            <a:r>
              <a:rPr lang="en-US"/>
              <a:t>• LG switches off its own drive.</a:t>
            </a:r>
          </a:p>
          <a:p>
            <a:r>
              <a:rPr lang="en-US"/>
              <a:t>– Städele and colleagues list presynaptic inhibition of the MCN1 terminal among the mechanisms that shape the MCN1-elicited gastric rhythm, alongside CabTRP Ia release and electrical coupling.</a:t>
            </a:r>
          </a:p>
          <a:p>
            <a:r>
              <a:rPr lang="en-US"/>
              <a:t>– A burst that suppresses its own source of excitation is self-terminating, which hands the active phase to Int1.</a:t>
            </a:r>
          </a:p>
          <a:p>
            <a:r>
              <a:rPr lang="en-US"/>
              <a:t>• Excitation rebuilds and meets a pyloric window.</a:t>
            </a:r>
          </a:p>
          <a:p>
            <a:r>
              <a:rPr lang="en-US"/>
              <a:t>– Powell and colleagues describe slow excitation from MCN1 raising the peak disinhibition of LG over several cycles until LG crosses threshold in time with AB.</a:t>
            </a:r>
          </a:p>
          <a:p>
            <a:r>
              <a:rPr lang="en-US"/>
              <a:t>– Rhythmic AB inhibition of Int1 creates those windows, so the gastric burst starts on a pyloric beat.</a:t>
            </a:r>
          </a:p>
          <a:p>
            <a:r>
              <a:rPr lang="en-US"/>
              <a:t>• Slow rhythm and integer coupling follow.</a:t>
            </a:r>
          </a:p>
          <a:p>
            <a:r>
              <a:rPr lang="en-US"/>
              <a:t>– The approximately 0.1 hertz gastric rhythm and approximately 1 hertz pyloric rhythm on slide 2 give the ratio of about ten.</a:t>
            </a:r>
          </a:p>
          <a:p>
            <a:r>
              <a:rPr lang="en-US"/>
              <a:t>– Slide 44 shows the ratio staying near whole numbers during warming, which is expected if each LG burst must wait for an AB-timed window.</a:t>
            </a:r>
          </a:p>
          <a:p/>
          <a:p>
            <a:r>
              <a:rPr lang="en-US"/>
              <a:t>References:</a:t>
            </a:r>
          </a:p>
          <a:p>
            <a:r>
              <a:rPr lang="en-US"/>
              <a:t>Städele C, Heigele S, Stein W. (2015). Neuromodulation to the Rescue: Compensation of Temperature-Induced Breakdown of Rhythmic Motor Patterns via Extrinsic Neuromodulatory Input. PLoS Biology 13: e1002265. https://doi.org/10.1371/journal.pbio.1002265</a:t>
            </a:r>
          </a:p>
          <a:p>
            <a:r>
              <a:rPr lang="en-US"/>
              <a:t>Powell D, Haddad SA, Gorur-Shandilya S, Marder E. (2021). Coupling between fast and slow oscillator circuits in Cancer borealis is temperature-compensated. eLife 10: e60454. https://doi.org/10.7554/elife.60454</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 Slides 38 and 39 measure two currents separately; their opposing roles in rebound explain how LP's phase survives a fourfold change in speed.</a:t>
            </a:r>
          </a:p>
          <a:p>
            <a:r>
              <a:rPr lang="en-US"/>
              <a:t>• A push and a pull after inhibition.</a:t>
            </a:r>
          </a:p>
          <a:p>
            <a:r>
              <a:rPr lang="en-US"/>
              <a:t>– Tang and colleagues describe rebound firing after the AB and PD burst as enhanced by activation of the h current and delayed by activation of the A-type current.</a:t>
            </a:r>
          </a:p>
          <a:p>
            <a:r>
              <a:rPr lang="en-US"/>
              <a:t>– A larger inhibitory current increases activation of the first and removal of inactivation from the second.</a:t>
            </a:r>
          </a:p>
          <a:p>
            <a:r>
              <a:rPr lang="en-US"/>
              <a:t>• Similar temperature dependence keeps them in proportion.</a:t>
            </a:r>
          </a:p>
          <a:p>
            <a:r>
              <a:rPr lang="en-US"/>
              <a:t>– Q10 expresses how much a rate or amplitude changes over ten degrees, and the LP processes Tang and colleagues measured had Q10 values from about 1.8 to 4.</a:t>
            </a:r>
          </a:p>
          <a:p>
            <a:r>
              <a:rPr lang="en-US"/>
              <a:t>– Their models of LP held phase best when the currents contributing to phase had Q10 values close to that of the rhythm itself.</a:t>
            </a:r>
          </a:p>
          <a:p>
            <a:r>
              <a:rPr lang="en-US"/>
              <a:t>• Bursting itself is fragile.</a:t>
            </a:r>
          </a:p>
          <a:p>
            <a:r>
              <a:rPr lang="en-US"/>
              <a:t>– About 40% of the model bursting neurons failed to burst over the whole range or slowed down over part of it.</a:t>
            </a:r>
          </a:p>
          <a:p>
            <a:r>
              <a:rPr lang="en-US"/>
              <a:t>– Tang and colleagues argue that evolutionary pressure may restrict the temperature dependence of the processes contributing to compensation, even though channel numbers vary between animals.</a:t>
            </a:r>
          </a:p>
          <a:p/>
          <a:p>
            <a:r>
              <a:rPr lang="en-US"/>
              <a:t>References:</a:t>
            </a:r>
          </a:p>
          <a:p>
            <a:r>
              <a:rPr lang="en-US"/>
              <a:t>Tang LS, Goeritz ML, Caplan JS, Taylor AL, Fisek M, Marder E. (2010). Precise temperature compensation of phase in a rhythmic motor pattern. PLoS Biology 8: e1000469. https://doi.org/10.1371/journal.pbio.1000469</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 Slides 36 to 43 present the pyloric and gastric temperature studies in turn; comparing them shows two different strategies for the same problem.</a:t>
            </a:r>
          </a:p>
          <a:p>
            <a:r>
              <a:rPr lang="en-US"/>
              <a:t>• Pyloric compensation is intrinsic.</a:t>
            </a:r>
          </a:p>
          <a:p>
            <a:r>
              <a:rPr lang="en-US"/>
              <a:t>– Städele and colleagues warmed only the STG and found the pyloric rhythm continuing without obvious change even at 19 degrees.</a:t>
            </a:r>
          </a:p>
          <a:p>
            <a:r>
              <a:rPr lang="en-US"/>
              <a:t>– That result places the pyloric compensation described on slides 37 to 39 inside the ganglion rather than in its inputs.</a:t>
            </a:r>
          </a:p>
          <a:p>
            <a:r>
              <a:rPr lang="en-US"/>
              <a:t>• Gastric compensation is extrinsic.</a:t>
            </a:r>
          </a:p>
          <a:p>
            <a:r>
              <a:rPr lang="en-US"/>
              <a:t>– The leak increase on slide 41 is opposed by the peptide-activated current of slide 43, and that current depends on MCN1 activity.</a:t>
            </a:r>
          </a:p>
          <a:p>
            <a:r>
              <a:rPr lang="en-US"/>
              <a:t>– Städele and colleagues conclude that temperature compensation in the gastric circuit is highly dependent on extrinsic input.</a:t>
            </a:r>
          </a:p>
          <a:p>
            <a:r>
              <a:rPr lang="en-US"/>
              <a:t>• Why two strategies.</a:t>
            </a:r>
          </a:p>
          <a:p>
            <a:r>
              <a:rPr lang="en-US"/>
              <a:t>– The authors suggest intrinsic compensation suits networks that must run continuously, while episodic generators can use their descending innervation.</a:t>
            </a:r>
          </a:p>
          <a:p>
            <a:r>
              <a:rPr lang="en-US"/>
              <a:t>– Descending pathways integrate multiple sensory modalities, so compensation through them can be adjusted to behavioral conditions.</a:t>
            </a:r>
          </a:p>
          <a:p/>
          <a:p>
            <a:r>
              <a:rPr lang="en-US"/>
              <a:t>References:</a:t>
            </a:r>
          </a:p>
          <a:p>
            <a:r>
              <a:rPr lang="en-US"/>
              <a:t>Städele C, Heigele S, Stein W. (2015). Neuromodulation to the Rescue: Compensation of Temperature-Induced Breakdown of Rhythmic Motor Patterns via Extrinsic Neuromodulatory Input. PLoS Biology 13: e1002265. https://doi.org/10.1371/journal.pbio.1002265</a:t>
            </a:r>
          </a:p>
          <a:p>
            <a:r>
              <a:rPr lang="en-US"/>
              <a:t>Tang LS, Goeritz ML, Caplan JS, Taylor AL, Fisek M, Marder E. (2010). Precise temperature compensation of phase in a rhythmic motor pattern. PLoS Biology 8: e1000469. https://doi.org/10.1371/journal.pbio.1000469</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 Slide 45 reports recovery after decentralization; degeneracy explains how recovery can happen without returning every channel to its old level.</a:t>
            </a:r>
          </a:p>
          <a:p>
            <a:r>
              <a:rPr lang="en-US"/>
              <a:t>• Same output, different parts.</a:t>
            </a:r>
          </a:p>
          <a:p>
            <a:r>
              <a:rPr lang="en-US"/>
              <a:t>– Schneider and colleagues point out that in a neuron present as a single copy per animal, channel conductances and their mRNA levels can vary several-fold while activity stays similar.</a:t>
            </a:r>
          </a:p>
          <a:p>
            <a:r>
              <a:rPr lang="en-US"/>
              <a:t>– Tang and colleagues make the same point for current densities in identified pyloric neurons.</a:t>
            </a:r>
          </a:p>
          <a:p>
            <a:r>
              <a:rPr lang="en-US"/>
              <a:t>• Recovery through reorganization.</a:t>
            </a:r>
          </a:p>
          <a:p>
            <a:r>
              <a:rPr lang="en-US"/>
              <a:t>– More-Potdar and Golowasch propose that the whole conductance space of each neuron reorganizes after decentralization, producing the same activity from a different combination.</a:t>
            </a:r>
          </a:p>
          <a:p>
            <a:r>
              <a:rPr lang="en-US"/>
              <a:t>– They cite a decrease in PD's A-type current a day after decentralization, with recovery to control values only after about five days.</a:t>
            </a:r>
          </a:p>
          <a:p>
            <a:r>
              <a:rPr lang="en-US"/>
              <a:t>• Many conductances must move together.</a:t>
            </a:r>
          </a:p>
          <a:p>
            <a:r>
              <a:rPr lang="en-US"/>
              <a:t>– A reduced A-type current would be expected to phase-advance bursting, which matches the early change after decentralization.</a:t>
            </a:r>
          </a:p>
          <a:p>
            <a:r>
              <a:rPr lang="en-US"/>
              <a:t>– Since that current alone recovers too slowly to explain recovery at 24 hours, simultaneous changes in synaptic currents and other conductances are needed.</a:t>
            </a:r>
          </a:p>
          <a:p/>
          <a:p>
            <a:r>
              <a:rPr lang="en-US"/>
              <a:t>References:</a:t>
            </a:r>
          </a:p>
          <a:p>
            <a:r>
              <a:rPr lang="en-US"/>
              <a:t>More-Potdar S, Golowasch J. (2023). Oscillatory network spontaneously recovers both activity and robustness after prolonged removal of neuromodulators. Frontiers in Cellular Neuroscience 17: 1280575. https://doi.org/10.3389/fncel.2023.1280575</a:t>
            </a:r>
          </a:p>
          <a:p>
            <a:r>
              <a:rPr lang="en-US"/>
              <a:t>Schneider AC, Itani O, Bucher D, Nadim F. (2022). Neuromodulation Reduces Interindividual Variability of Neuronal Output. eNeuro 9: ENEURO.0166-22.2022. https://doi.org/10.1523/eneuro.0166-22.2022</a:t>
            </a:r>
          </a:p>
          <a:p>
            <a:r>
              <a:rPr lang="en-US"/>
              <a:t>Tang LS, Goeritz ML, Caplan JS, Taylor AL, Fisek M, Marder E. (2010). Precise temperature compensation of phase in a rhythmic motor pattern. PLoS Biology 8: e1000469. https://doi.org/10.1371/journal.pbio.1000469</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7.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7.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7.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7.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7.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7.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7.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7.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7.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17.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1.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1.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1.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6.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6.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26.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26.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6.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26.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26.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26.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26.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26.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26.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42.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42.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image" Target="../media/image42.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36.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12.png"/><Relationship Id="rId4" Type="http://schemas.openxmlformats.org/officeDocument/2006/relationships/image" Target="../media/image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1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18.png"/><Relationship Id="rId4" Type="http://schemas.openxmlformats.org/officeDocument/2006/relationships/image" Target="../media/image1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20.png"/><Relationship Id="rId4" Type="http://schemas.openxmlformats.org/officeDocument/2006/relationships/image" Target="../media/image2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2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29.png"/><Relationship Id="rId4" Type="http://schemas.openxmlformats.org/officeDocument/2006/relationships/image" Target="../media/image2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31.png"/><Relationship Id="rId4" Type="http://schemas.openxmlformats.org/officeDocument/2006/relationships/image" Target="../media/image3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3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41.png"/><Relationship Id="rId4" Type="http://schemas.openxmlformats.org/officeDocument/2006/relationships/image" Target="../media/image4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4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image" Target="../media/image4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 Id="rId3" Type="http://schemas.openxmlformats.org/officeDocument/2006/relationships/image" Target="../media/image50.png"/><Relationship Id="rId4" Type="http://schemas.openxmlformats.org/officeDocument/2006/relationships/image" Target="../media/image5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E7EAEE"/>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7E4357"/>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7E4357"/>
                </a:solidFill>
                <a:latin typeface="Arial"/>
              </a:rPr>
              <a:t>Lecture 7</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2400" b="1" i="0">
                <a:solidFill>
                  <a:srgbClr val="253441"/>
                </a:solidFill>
                <a:latin typeface="Arial"/>
              </a:rPr>
              <a:t>Central pattern generators II:</a:t>
            </a:r>
          </a:p>
          <a:p>
            <a:pPr algn="l">
              <a:lnSpc>
                <a:spcPct val="108000"/>
              </a:lnSpc>
              <a:spcAft>
                <a:spcPts val="0"/>
              </a:spcAft>
            </a:pPr>
            <a:r>
              <a:rPr sz="2400" b="1" i="0">
                <a:solidFill>
                  <a:srgbClr val="253441"/>
                </a:solidFill>
                <a:latin typeface="Arial"/>
              </a:rPr>
              <a:t>the lobster/crab stomatogastric ganglion (Marder &amp; Selverston)</a:t>
            </a:r>
          </a:p>
        </p:txBody>
      </p:sp>
      <p:sp>
        <p:nvSpPr>
          <p:cNvPr id="6" name="TextBox 5"/>
          <p:cNvSpPr txBox="1"/>
          <p:nvPr/>
        </p:nvSpPr>
        <p:spPr>
          <a:xfrm>
            <a:off x="685800" y="4516526"/>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7E4357"/>
                </a:solidFill>
                <a:latin typeface="Arial"/>
              </a:rPr>
              <a:t>Wednesday, September 9, 2026</a:t>
            </a:r>
          </a:p>
        </p:txBody>
      </p:sp>
      <p:sp>
        <p:nvSpPr>
          <p:cNvPr id="7" name="TextBox 6"/>
          <p:cNvSpPr txBox="1"/>
          <p:nvPr/>
        </p:nvSpPr>
        <p:spPr>
          <a:xfrm>
            <a:off x="685800" y="5394960"/>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7E4357"/>
                </a:solidFill>
                <a:latin typeface="Arial"/>
              </a:rPr>
              <a:t>Jordan Lopez, Ph.D.</a:t>
            </a:r>
          </a:p>
          <a:p>
            <a:pPr algn="l">
              <a:lnSpc>
                <a:spcPct val="108000"/>
              </a:lnSpc>
              <a:spcAft>
                <a:spcPts val="200"/>
              </a:spcAft>
            </a:pPr>
            <a:r>
              <a:rPr sz="1200" b="0" i="0">
                <a:solidFill>
                  <a:srgbClr val="7E4357"/>
                </a:solidFill>
                <a:latin typeface="Arial"/>
              </a:rPr>
              <a:t>Professor of Neurobiology &amp; Biomedical Engineering</a:t>
            </a:r>
          </a:p>
        </p:txBody>
      </p:sp>
      <p:pic>
        <p:nvPicPr>
          <p:cNvPr id="8" name="Picture 7" descr="jonah-crab-noaa.jpg"/>
          <p:cNvPicPr>
            <a:picLocks noChangeAspect="1"/>
          </p:cNvPicPr>
          <p:nvPr/>
        </p:nvPicPr>
        <p:blipFill>
          <a:blip r:embed="rId2"/>
          <a:stretch>
            <a:fillRect/>
          </a:stretch>
        </p:blipFill>
        <p:spPr>
          <a:xfrm>
            <a:off x="6553047" y="822960"/>
            <a:ext cx="5181447" cy="3454298"/>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Photo: Jonah crab (Cancer borealis). Courtesy NOAA Fisheries.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Two motor rhythms control processing in the foregut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52D35"/>
                </a:solidFill>
                <a:latin typeface="Arial"/>
              </a:rPr>
              <a:t>The </a:t>
            </a:r>
            <a:r>
              <a:rPr sz="1600" b="1" i="0">
                <a:solidFill>
                  <a:srgbClr val="7E4357"/>
                </a:solidFill>
                <a:latin typeface="Arial"/>
              </a:rPr>
              <a:t>stomatogastric ganglion (STG)</a:t>
            </a:r>
            <a:r>
              <a:rPr sz="1600" b="0" i="0">
                <a:solidFill>
                  <a:srgbClr val="252D35"/>
                </a:solidFill>
                <a:latin typeface="Arial"/>
              </a:rPr>
              <a:t> is a compact collection of neurons that controls movements of the crustacean foregut. In the Jonah crab, </a:t>
            </a:r>
            <a:r>
              <a:rPr sz="1600" b="0" i="1">
                <a:solidFill>
                  <a:srgbClr val="252D35"/>
                </a:solidFill>
                <a:latin typeface="Arial"/>
              </a:rPr>
              <a:t>Cancer borealis</a:t>
            </a:r>
            <a:r>
              <a:rPr sz="1600" b="0" i="0">
                <a:solidFill>
                  <a:srgbClr val="252D35"/>
                </a:solidFill>
                <a:latin typeface="Arial"/>
              </a:rPr>
              <a:t>, the gastric mill moves teeth used for chewing, whereas the pyloric system controls filtering. The two motor patterns operate on different timescales within the same ganglion.</a:t>
            </a:r>
          </a:p>
          <a:p>
            <a:pPr algn="l">
              <a:lnSpc>
                <a:spcPct val="108000"/>
              </a:lnSpc>
              <a:spcAft>
                <a:spcPts val="960"/>
              </a:spcAft>
            </a:pPr>
            <a:r>
              <a:rPr sz="1600" b="0" i="0">
                <a:solidFill>
                  <a:srgbClr val="252D35"/>
                </a:solidFill>
                <a:latin typeface="Arial"/>
              </a:rPr>
              <a:t>Powell and colleagues recorded identified motor nerves simultaneously in an isolated nervous system. The pyloric rhythm was approximately 1 Hz, while the slower gastric mill rhythm was approximately 0.1 Hz. A </a:t>
            </a:r>
            <a:r>
              <a:rPr sz="1600" b="1" i="0">
                <a:solidFill>
                  <a:srgbClr val="7E4357"/>
                </a:solidFill>
                <a:latin typeface="Arial"/>
              </a:rPr>
              <a:t>burst</a:t>
            </a:r>
            <a:r>
              <a:rPr sz="1600" b="0" i="0">
                <a:solidFill>
                  <a:srgbClr val="252D35"/>
                </a:solidFill>
                <a:latin typeface="Arial"/>
              </a:rPr>
              <a:t> is a group of action potentials separated from the next group by a quieter interval.</a:t>
            </a:r>
          </a:p>
          <a:p>
            <a:pPr algn="l">
              <a:lnSpc>
                <a:spcPct val="108000"/>
              </a:lnSpc>
              <a:spcAft>
                <a:spcPts val="960"/>
              </a:spcAft>
            </a:pPr>
            <a:r>
              <a:rPr sz="1600" b="0" i="0">
                <a:solidFill>
                  <a:srgbClr val="252D35"/>
                </a:solidFill>
                <a:latin typeface="Arial"/>
              </a:rPr>
              <a:t>Coordinating the two rhythms matters for feeding: the gastric mill chews food, and the pylorus then filters it and pumps particles toward the hindgut. Several STG neurons take part in both rhythms, so one small ganglion times both motor programs together.</a:t>
            </a:r>
          </a:p>
        </p:txBody>
      </p:sp>
      <p:pic>
        <p:nvPicPr>
          <p:cNvPr id="4" name="Picture 3" descr="S21_1b.png"/>
          <p:cNvPicPr>
            <a:picLocks noChangeAspect="1"/>
          </p:cNvPicPr>
          <p:nvPr/>
        </p:nvPicPr>
        <p:blipFill>
          <a:blip r:embed="rId2"/>
          <a:stretch>
            <a:fillRect/>
          </a:stretch>
        </p:blipFill>
        <p:spPr>
          <a:xfrm>
            <a:off x="6365101" y="1280160"/>
            <a:ext cx="5032930"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Powell et al. (2021), Fig. 1(a–d). STG anatomy, gastric and pyloric recordings and circuit connections</a:t>
            </a:r>
          </a:p>
        </p:txBody>
      </p:sp>
      <p:sp>
        <p:nvSpPr>
          <p:cNvPr id="6" name="Rectangle 5"/>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Powell et al. (2021); Garcia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Input removal changes an isolated pyloric rhythm</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52D35"/>
                </a:solidFill>
                <a:latin typeface="Arial"/>
              </a:rPr>
              <a:t>Miller and Selverston isolated the stomatogastric nervous system of the spiny lobster, </a:t>
            </a:r>
            <a:r>
              <a:rPr sz="1600" b="0" i="1">
                <a:solidFill>
                  <a:srgbClr val="252D35"/>
                </a:solidFill>
                <a:latin typeface="Arial"/>
              </a:rPr>
              <a:t>Panulirus interruptus</a:t>
            </a:r>
            <a:r>
              <a:rPr sz="1600" b="0" i="0">
                <a:solidFill>
                  <a:srgbClr val="252D35"/>
                </a:solidFill>
                <a:latin typeface="Arial"/>
              </a:rPr>
              <a:t>. The STG remained connected to anterior ganglia through the </a:t>
            </a:r>
            <a:r>
              <a:rPr sz="1600" b="1" i="0">
                <a:solidFill>
                  <a:srgbClr val="7E4357"/>
                </a:solidFill>
                <a:latin typeface="Arial"/>
              </a:rPr>
              <a:t>stomatogastric nerve (stn)</a:t>
            </a:r>
            <a:r>
              <a:rPr sz="1600" b="0" i="0">
                <a:solidFill>
                  <a:srgbClr val="252D35"/>
                </a:solidFill>
                <a:latin typeface="Arial"/>
              </a:rPr>
              <a:t>. Electrodes on outgoing nerves detected the activity of motor neurons supplying the pyloric muscles.</a:t>
            </a:r>
          </a:p>
          <a:p>
            <a:pPr algn="l">
              <a:lnSpc>
                <a:spcPct val="108000"/>
              </a:lnSpc>
              <a:spcAft>
                <a:spcPts val="960"/>
              </a:spcAft>
            </a:pPr>
            <a:r>
              <a:rPr sz="1600" b="0" i="0">
                <a:solidFill>
                  <a:srgbClr val="252D35"/>
                </a:solidFill>
                <a:latin typeface="Arial"/>
              </a:rPr>
              <a:t>An isotonic sucrose solution around a short segment of the stn reversibly blocked impulse conduction. Comparing the same preparation before and during the block separated the local circuit from ongoing input supplied by other ganglia. The published control and blocked records use a 0.5 s timescale.</a:t>
            </a:r>
          </a:p>
          <a:p>
            <a:pPr algn="l">
              <a:lnSpc>
                <a:spcPct val="108000"/>
              </a:lnSpc>
              <a:spcAft>
                <a:spcPts val="960"/>
              </a:spcAft>
            </a:pPr>
            <a:r>
              <a:rPr sz="1600" b="0" i="0">
                <a:solidFill>
                  <a:srgbClr val="252D35"/>
                </a:solidFill>
                <a:latin typeface="Arial"/>
              </a:rPr>
              <a:t>Ongoing input from anterior ganglia acts as a state-setting signal: stimulating the stn recruited bursting in PD, LP and VD, cells that fire tonically or not at all without it. The same identified neurons and synapses can therefore produce different motor patterns depending on which inputs reach the ganglion.</a:t>
            </a:r>
          </a:p>
        </p:txBody>
      </p:sp>
      <p:pic>
        <p:nvPicPr>
          <p:cNvPr id="4" name="Picture 3" descr="M82_1.png"/>
          <p:cNvPicPr>
            <a:picLocks noChangeAspect="1"/>
          </p:cNvPicPr>
          <p:nvPr/>
        </p:nvPicPr>
        <p:blipFill>
          <a:blip r:embed="rId2"/>
          <a:stretch>
            <a:fillRect/>
          </a:stretch>
        </p:blipFill>
        <p:spPr>
          <a:xfrm>
            <a:off x="6155338" y="1280160"/>
            <a:ext cx="5452458"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Miller &amp; Selverston (1982), Fig. 1. Dissected lobster nerves and motor activity with and without input</a:t>
            </a:r>
          </a:p>
        </p:txBody>
      </p:sp>
      <p:sp>
        <p:nvSpPr>
          <p:cNvPr id="6" name="Rectangle 5"/>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Miller &amp; Selverston (1982)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Identified motor neurons connect spikes to muscle output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52D35"/>
                </a:solidFill>
                <a:latin typeface="Arial"/>
              </a:rPr>
              <a:t>Stomatogastric neurons can be identified by the muscles their axons innervate and by the nerves carrying those axons. The lobster ganglion contains about 30 neurons. The </a:t>
            </a:r>
            <a:r>
              <a:rPr sz="1500" b="1" i="0">
                <a:solidFill>
                  <a:srgbClr val="7E4357"/>
                </a:solidFill>
                <a:latin typeface="Arial"/>
              </a:rPr>
              <a:t>pyloric dilator (PD)</a:t>
            </a:r>
            <a:r>
              <a:rPr sz="1500" b="0" i="0">
                <a:solidFill>
                  <a:srgbClr val="252D35"/>
                </a:solidFill>
                <a:latin typeface="Arial"/>
              </a:rPr>
              <a:t> neurons, </a:t>
            </a:r>
            <a:r>
              <a:rPr sz="1500" b="1" i="0">
                <a:solidFill>
                  <a:srgbClr val="7E4357"/>
                </a:solidFill>
                <a:latin typeface="Arial"/>
              </a:rPr>
              <a:t>lateral pyloric (LP)</a:t>
            </a:r>
            <a:r>
              <a:rPr sz="1500" b="0" i="0">
                <a:solidFill>
                  <a:srgbClr val="252D35"/>
                </a:solidFill>
                <a:latin typeface="Arial"/>
              </a:rPr>
              <a:t> neuron and </a:t>
            </a:r>
            <a:r>
              <a:rPr sz="1500" b="1" i="0">
                <a:solidFill>
                  <a:srgbClr val="7E4357"/>
                </a:solidFill>
                <a:latin typeface="Arial"/>
              </a:rPr>
              <a:t>pyloric (PY)</a:t>
            </a:r>
            <a:r>
              <a:rPr sz="1500" b="0" i="0">
                <a:solidFill>
                  <a:srgbClr val="252D35"/>
                </a:solidFill>
                <a:latin typeface="Arial"/>
              </a:rPr>
              <a:t> neurons form recognizable classes within its pyloric motor system.</a:t>
            </a:r>
          </a:p>
          <a:p>
            <a:pPr algn="l">
              <a:lnSpc>
                <a:spcPct val="108000"/>
              </a:lnSpc>
              <a:spcAft>
                <a:spcPts val="900"/>
              </a:spcAft>
            </a:pPr>
            <a:r>
              <a:rPr sz="1500" b="0" i="0">
                <a:solidFill>
                  <a:srgbClr val="252D35"/>
                </a:solidFill>
                <a:latin typeface="Arial"/>
              </a:rPr>
              <a:t>Hooper and Marder combined intracellular recordings from neuron cell bodies with extracellular recordings from the lateral and median ventricular nerves. </a:t>
            </a:r>
            <a:r>
              <a:rPr sz="1500" b="1" i="0">
                <a:solidFill>
                  <a:srgbClr val="7E4357"/>
                </a:solidFill>
                <a:latin typeface="Arial"/>
              </a:rPr>
              <a:t>Intracellular recording</a:t>
            </a:r>
            <a:r>
              <a:rPr sz="1500" b="0" i="0">
                <a:solidFill>
                  <a:srgbClr val="252D35"/>
                </a:solidFill>
                <a:latin typeface="Arial"/>
              </a:rPr>
              <a:t> measures membrane voltage through an electrode inside a cell; </a:t>
            </a:r>
            <a:r>
              <a:rPr sz="1500" b="1" i="0">
                <a:solidFill>
                  <a:srgbClr val="7E4357"/>
                </a:solidFill>
                <a:latin typeface="Arial"/>
              </a:rPr>
              <a:t>extracellular recording</a:t>
            </a:r>
            <a:r>
              <a:rPr sz="1500" b="0" i="0">
                <a:solidFill>
                  <a:srgbClr val="252D35"/>
                </a:solidFill>
                <a:latin typeface="Arial"/>
              </a:rPr>
              <a:t> detects spikes outside cells, including spikes traveling along axons.</a:t>
            </a:r>
          </a:p>
          <a:p>
            <a:pPr algn="l">
              <a:lnSpc>
                <a:spcPct val="108000"/>
              </a:lnSpc>
              <a:spcAft>
                <a:spcPts val="900"/>
              </a:spcAft>
            </a:pPr>
            <a:r>
              <a:rPr sz="1500" b="0" i="0">
                <a:solidFill>
                  <a:srgbClr val="252D35"/>
                </a:solidFill>
                <a:latin typeface="Arial"/>
              </a:rPr>
              <a:t>Matching a cell-body spike to a nerve spike establishes the recorded neuron’s output pathway. Identification makes each neuron a reproducible unit found in every animal, so drug and deletion results from different preparations combine cell by cell, as when proctolin was found to excite isolated AB, LP and PY.</a:t>
            </a:r>
          </a:p>
        </p:txBody>
      </p:sp>
      <p:pic>
        <p:nvPicPr>
          <p:cNvPr id="4" name="Picture 3" descr="H87_1.png"/>
          <p:cNvPicPr>
            <a:picLocks noChangeAspect="1"/>
          </p:cNvPicPr>
          <p:nvPr/>
        </p:nvPicPr>
        <p:blipFill>
          <a:blip r:embed="rId2"/>
          <a:stretch>
            <a:fillRect/>
          </a:stretch>
        </p:blipFill>
        <p:spPr>
          <a:xfrm>
            <a:off x="6138367" y="1280160"/>
            <a:ext cx="5486400" cy="3488823"/>
          </a:xfrm>
          <a:prstGeom prst="rect">
            <a:avLst/>
          </a:prstGeom>
        </p:spPr>
      </p:pic>
      <p:sp>
        <p:nvSpPr>
          <p:cNvPr id="5" name="Figure caption"/>
          <p:cNvSpPr txBox="1"/>
          <p:nvPr/>
        </p:nvSpPr>
        <p:spPr>
          <a:xfrm>
            <a:off x="6138367" y="4860423"/>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Hooper &amp; Marder (1987), Fig. 1. Lobster STG anatomy, identified recordings and pyloric connections</a:t>
            </a:r>
          </a:p>
        </p:txBody>
      </p:sp>
      <p:sp>
        <p:nvSpPr>
          <p:cNvPr id="6" name="Rectangle 5"/>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Hooper &amp; Marder (1987); Rosenbaum &amp; Marder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Crab pyloric output repeats in three ordered phases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52D35"/>
                </a:solidFill>
                <a:latin typeface="Arial"/>
              </a:rPr>
              <a:t>The crab pyloric rhythm is </a:t>
            </a:r>
            <a:r>
              <a:rPr sz="1500" b="1" i="0">
                <a:solidFill>
                  <a:srgbClr val="7E4357"/>
                </a:solidFill>
                <a:latin typeface="Arial"/>
              </a:rPr>
              <a:t>triphasic</a:t>
            </a:r>
            <a:r>
              <a:rPr sz="1500" b="0" i="0">
                <a:solidFill>
                  <a:srgbClr val="252D35"/>
                </a:solidFill>
                <a:latin typeface="Arial"/>
              </a:rPr>
              <a:t>: three neuron groups burst in a repeating sequence. PD activity is followed by LP activity and then PY activity. These motor commands activate different foregut muscles, organizing filtering movements rather than a synchronous contraction of the entire pyloric region.</a:t>
            </a:r>
          </a:p>
          <a:p>
            <a:pPr algn="l">
              <a:lnSpc>
                <a:spcPct val="108000"/>
              </a:lnSpc>
              <a:spcAft>
                <a:spcPts val="900"/>
              </a:spcAft>
            </a:pPr>
            <a:r>
              <a:rPr sz="1500" b="0" i="0">
                <a:solidFill>
                  <a:srgbClr val="252D35"/>
                </a:solidFill>
                <a:latin typeface="Arial"/>
              </a:rPr>
              <a:t>Gorur-Shandilya and colleagues recorded separate PD, LP and PY motor nerves together with the mixed lateral ventricular nerve. The dedicated nerves separated units that overlapped in the mixed recording. Under baseline conditions at 11°C, the three groups retained their characteristic order on a 1 s timescale.</a:t>
            </a:r>
          </a:p>
          <a:p>
            <a:pPr algn="l">
              <a:lnSpc>
                <a:spcPct val="108000"/>
              </a:lnSpc>
              <a:spcAft>
                <a:spcPts val="900"/>
              </a:spcAft>
            </a:pPr>
            <a:r>
              <a:rPr sz="1500" b="0" i="0">
                <a:solidFill>
                  <a:srgbClr val="252D35"/>
                </a:solidFill>
                <a:latin typeface="Arial"/>
              </a:rPr>
              <a:t>A mixed nerve signal can contain several identifiable neurons, but overlapping spikes become difficult to assign during irregular activity. Separate nerve recordings provide a control on unit identification. PY is the hardest case, since several PY copies fire nearly together and the LPG neuron also sends spikes along the pyloric nerve.</a:t>
            </a:r>
          </a:p>
        </p:txBody>
      </p:sp>
      <p:pic>
        <p:nvPicPr>
          <p:cNvPr id="4" name="Picture 3" descr="G22_1a.png"/>
          <p:cNvPicPr>
            <a:picLocks noChangeAspect="1"/>
          </p:cNvPicPr>
          <p:nvPr/>
        </p:nvPicPr>
        <p:blipFill>
          <a:blip r:embed="rId2"/>
          <a:stretch>
            <a:fillRect/>
          </a:stretch>
        </p:blipFill>
        <p:spPr>
          <a:xfrm>
            <a:off x="6138367" y="1280160"/>
            <a:ext cx="5486400" cy="1877372"/>
          </a:xfrm>
          <a:prstGeom prst="rect">
            <a:avLst/>
          </a:prstGeom>
        </p:spPr>
      </p:pic>
      <p:sp>
        <p:nvSpPr>
          <p:cNvPr id="5" name="Figure caption"/>
          <p:cNvSpPr txBox="1"/>
          <p:nvPr/>
        </p:nvSpPr>
        <p:spPr>
          <a:xfrm>
            <a:off x="6138367" y="32489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Gorur-Shandilya et al. (2022), Fig. 1(a). Identified motor nerves resolve the regular crab pyloric rhythm</a:t>
            </a:r>
          </a:p>
        </p:txBody>
      </p:sp>
      <p:sp>
        <p:nvSpPr>
          <p:cNvPr id="6" name="Rectangle 5"/>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Gorur-Shandilya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Electrical coupling synchronizes AB and PD activity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52D35"/>
                </a:solidFill>
                <a:latin typeface="Arial"/>
              </a:rPr>
              <a:t>Eisen and Marder recorded the lobster </a:t>
            </a:r>
            <a:r>
              <a:rPr sz="1600" b="1" i="0">
                <a:solidFill>
                  <a:srgbClr val="7E4357"/>
                </a:solidFill>
                <a:latin typeface="Arial"/>
              </a:rPr>
              <a:t>anterior burster (AB)</a:t>
            </a:r>
            <a:r>
              <a:rPr sz="1600" b="0" i="0">
                <a:solidFill>
                  <a:srgbClr val="252D35"/>
                </a:solidFill>
                <a:latin typeface="Arial"/>
              </a:rPr>
              <a:t> interneuron, a PD motor neuron and the LP motor neuron simultaneously. AB and PD underwent synchronous slow voltage oscillations, with spikes concentrated during their depolarized portions. Electrical coupling permits voltage changes in one cell to influence the other.</a:t>
            </a:r>
          </a:p>
          <a:p>
            <a:pPr algn="l">
              <a:lnSpc>
                <a:spcPct val="108000"/>
              </a:lnSpc>
              <a:spcAft>
                <a:spcPts val="960"/>
              </a:spcAft>
            </a:pPr>
            <a:r>
              <a:rPr sz="1600" b="0" i="0">
                <a:solidFill>
                  <a:srgbClr val="252D35"/>
                </a:solidFill>
                <a:latin typeface="Arial"/>
              </a:rPr>
              <a:t>LP spikes were followed by inhibitory voltage changes in both PD and AB. An </a:t>
            </a:r>
            <a:r>
              <a:rPr sz="1600" b="1" i="0">
                <a:solidFill>
                  <a:srgbClr val="7E4357"/>
                </a:solidFill>
                <a:latin typeface="Arial"/>
              </a:rPr>
              <a:t>inhibitory postsynaptic potential (IPSP)</a:t>
            </a:r>
            <a:r>
              <a:rPr sz="1600" b="0" i="0">
                <a:solidFill>
                  <a:srgbClr val="252D35"/>
                </a:solidFill>
                <a:latin typeface="Arial"/>
              </a:rPr>
              <a:t> is a synaptically produced voltage response that reduces the likelihood of firing under the tested conditions. In AB, these responses were smaller and slower than those recorded in PD.</a:t>
            </a:r>
          </a:p>
          <a:p>
            <a:pPr algn="l">
              <a:lnSpc>
                <a:spcPct val="108000"/>
              </a:lnSpc>
              <a:spcAft>
                <a:spcPts val="960"/>
              </a:spcAft>
            </a:pPr>
            <a:r>
              <a:rPr sz="1600" b="0" i="0">
                <a:solidFill>
                  <a:srgbClr val="252D35"/>
                </a:solidFill>
                <a:latin typeface="Arial"/>
              </a:rPr>
              <a:t>The detailed recordings used calibrations of 4 mV and 0.5 s. A spike-associated response in a coupled cell can arrive indirectly through another neuron. Through coupling, AB and PD answer LP feedback as one pacemaker group, though only one partner holds the synapse.</a:t>
            </a:r>
          </a:p>
        </p:txBody>
      </p:sp>
      <p:pic>
        <p:nvPicPr>
          <p:cNvPr id="4" name="Picture 3" descr="E82_2.png"/>
          <p:cNvPicPr>
            <a:picLocks noChangeAspect="1"/>
          </p:cNvPicPr>
          <p:nvPr/>
        </p:nvPicPr>
        <p:blipFill>
          <a:blip r:embed="rId2"/>
          <a:stretch>
            <a:fillRect/>
          </a:stretch>
        </p:blipFill>
        <p:spPr>
          <a:xfrm>
            <a:off x="6615032" y="1280160"/>
            <a:ext cx="2978590" cy="4297679"/>
          </a:xfrm>
          <a:prstGeom prst="rect">
            <a:avLst/>
          </a:prstGeom>
        </p:spPr>
      </p:pic>
      <p:sp>
        <p:nvSpPr>
          <p:cNvPr id="5" name="Figure caption"/>
          <p:cNvSpPr txBox="1"/>
          <p:nvPr/>
        </p:nvSpPr>
        <p:spPr>
          <a:xfrm>
            <a:off x="6138367" y="5669279"/>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Eisen &amp; Marder (1982), Fig. 2(A–B). Synchronous AB–PD bursts and LP-evoked inhibitory potentials</a:t>
            </a:r>
          </a:p>
        </p:txBody>
      </p:sp>
      <p:pic>
        <p:nvPicPr>
          <p:cNvPr id="6" name="Picture 5" descr="H87_net.png"/>
          <p:cNvPicPr>
            <a:picLocks noChangeAspect="1"/>
          </p:cNvPicPr>
          <p:nvPr/>
        </p:nvPicPr>
        <p:blipFill>
          <a:blip r:embed="rId3"/>
          <a:stretch>
            <a:fillRect/>
          </a:stretch>
        </p:blipFill>
        <p:spPr>
          <a:xfrm>
            <a:off x="10253167" y="2148840"/>
            <a:ext cx="1371600" cy="1902069"/>
          </a:xfrm>
          <a:prstGeom prst="rect">
            <a:avLst/>
          </a:prstGeom>
        </p:spPr>
      </p:pic>
      <p:sp>
        <p:nvSpPr>
          <p:cNvPr id="7" name="Figure caption"/>
          <p:cNvSpPr txBox="1"/>
          <p:nvPr/>
        </p:nvSpPr>
        <p:spPr>
          <a:xfrm>
            <a:off x="10253167" y="4124061"/>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Hooper &amp; Marder (1987), Fig. 1(right). Lobster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Eisen &amp; Marder (1982); Hooper &amp; Marder (1987)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An isolated AB neuron retains endogenous bursting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52D35"/>
                </a:solidFill>
                <a:latin typeface="Arial"/>
              </a:rPr>
              <a:t>Miller and Selverston tested whether a neuron could oscillate after its known synaptic inputs were removed. </a:t>
            </a:r>
            <a:r>
              <a:rPr sz="1500" b="1" i="0">
                <a:solidFill>
                  <a:srgbClr val="7E4357"/>
                </a:solidFill>
                <a:latin typeface="Arial"/>
              </a:rPr>
              <a:t>Photoinactivation</a:t>
            </a:r>
            <a:r>
              <a:rPr sz="1500" b="0" i="0">
                <a:solidFill>
                  <a:srgbClr val="252D35"/>
                </a:solidFill>
                <a:latin typeface="Arial"/>
              </a:rPr>
              <a:t> used an intracellularly injected dye and illumination to disable selected cells. A sucrose block simultaneously removed impulse-mediated input through the stomatogastric nerve.</a:t>
            </a:r>
          </a:p>
          <a:p>
            <a:pPr algn="l">
              <a:lnSpc>
                <a:spcPct val="108000"/>
              </a:lnSpc>
              <a:spcAft>
                <a:spcPts val="900"/>
              </a:spcAft>
            </a:pPr>
            <a:r>
              <a:rPr sz="1500" b="0" i="0">
                <a:solidFill>
                  <a:srgbClr val="252D35"/>
                </a:solidFill>
                <a:latin typeface="Arial"/>
              </a:rPr>
              <a:t>After PD, LP and ventricular dilator neurons were disabled, AB retained spontaneous slow oscillations. In the published before-and-after recordings, outgoing spikes from the deleted neurons disappeared while the intracellular AB oscillation remained. The voltage and time calibrations were 20 mV and 1 s.</a:t>
            </a:r>
          </a:p>
          <a:p>
            <a:pPr algn="l">
              <a:lnSpc>
                <a:spcPct val="108000"/>
              </a:lnSpc>
              <a:spcAft>
                <a:spcPts val="900"/>
              </a:spcAft>
            </a:pPr>
            <a:r>
              <a:rPr sz="1500" b="0" i="0">
                <a:solidFill>
                  <a:srgbClr val="252D35"/>
                </a:solidFill>
                <a:latin typeface="Arial"/>
              </a:rPr>
              <a:t>An endogenous burster generates recurring depolarizations without the synaptic inputs tested in this isolation procedure. AB met that operational criterion. As the only pyloric neuron that kept bursting in isolation, and the network’s only interganglionic interneuron, AB serves as the circuit’s primary timekeeper.</a:t>
            </a:r>
          </a:p>
        </p:txBody>
      </p:sp>
      <p:pic>
        <p:nvPicPr>
          <p:cNvPr id="4" name="Picture 3" descr="M82_2.png"/>
          <p:cNvPicPr>
            <a:picLocks noChangeAspect="1"/>
          </p:cNvPicPr>
          <p:nvPr/>
        </p:nvPicPr>
        <p:blipFill>
          <a:blip r:embed="rId2"/>
          <a:stretch>
            <a:fillRect/>
          </a:stretch>
        </p:blipFill>
        <p:spPr>
          <a:xfrm>
            <a:off x="6138367" y="1280160"/>
            <a:ext cx="3931920" cy="2173918"/>
          </a:xfrm>
          <a:prstGeom prst="rect">
            <a:avLst/>
          </a:prstGeom>
        </p:spPr>
      </p:pic>
      <p:sp>
        <p:nvSpPr>
          <p:cNvPr id="5" name="Figure caption"/>
          <p:cNvSpPr txBox="1"/>
          <p:nvPr/>
        </p:nvSpPr>
        <p:spPr>
          <a:xfrm>
            <a:off x="6138367" y="3545518"/>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Miller &amp; Selverston (1982), Fig. 2(A–B). AB retains slow bursting after other inputs are removed</a:t>
            </a:r>
          </a:p>
        </p:txBody>
      </p:sp>
      <p:pic>
        <p:nvPicPr>
          <p:cNvPr id="6" name="Picture 5" descr="H87_net.png"/>
          <p:cNvPicPr>
            <a:picLocks noChangeAspect="1"/>
          </p:cNvPicPr>
          <p:nvPr/>
        </p:nvPicPr>
        <p:blipFill>
          <a:blip r:embed="rId3"/>
          <a:stretch>
            <a:fillRect/>
          </a:stretch>
        </p:blipFill>
        <p:spPr>
          <a:xfrm>
            <a:off x="10253167" y="2148840"/>
            <a:ext cx="1371600" cy="1902069"/>
          </a:xfrm>
          <a:prstGeom prst="rect">
            <a:avLst/>
          </a:prstGeom>
        </p:spPr>
      </p:pic>
      <p:sp>
        <p:nvSpPr>
          <p:cNvPr id="7" name="Figure caption"/>
          <p:cNvSpPr txBox="1"/>
          <p:nvPr/>
        </p:nvSpPr>
        <p:spPr>
          <a:xfrm>
            <a:off x="10253167" y="4124061"/>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Hooper &amp; Marder (1987), Fig. 1(right). Lobster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Miller &amp; Selverston (1982); Hooper &amp; Marder (1987)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PD neurons become bursters when input recruits them</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52D35"/>
                </a:solidFill>
                <a:latin typeface="Arial"/>
              </a:rPr>
              <a:t>The two electrically coupled PD neurons did not behave like isolated AB. After AB and other relevant inputs were removed and the stn was blocked, PD fired </a:t>
            </a:r>
            <a:r>
              <a:rPr sz="1600" b="1" i="0">
                <a:solidFill>
                  <a:srgbClr val="7E4357"/>
                </a:solidFill>
                <a:latin typeface="Arial"/>
              </a:rPr>
              <a:t>tonically</a:t>
            </a:r>
            <a:r>
              <a:rPr sz="1600" b="0" i="0">
                <a:solidFill>
                  <a:srgbClr val="252D35"/>
                </a:solidFill>
                <a:latin typeface="Arial"/>
              </a:rPr>
              <a:t>, meaning that spikes continued without the regularly separated slow depolarizing waves that define bursting.</a:t>
            </a:r>
          </a:p>
          <a:p>
            <a:pPr algn="l">
              <a:lnSpc>
                <a:spcPct val="108000"/>
              </a:lnSpc>
              <a:spcAft>
                <a:spcPts val="960"/>
              </a:spcAft>
            </a:pPr>
            <a:r>
              <a:rPr sz="1600" b="0" i="0">
                <a:solidFill>
                  <a:srgbClr val="252D35"/>
                </a:solidFill>
                <a:latin typeface="Arial"/>
              </a:rPr>
              <a:t>Injecting depolarizing current increased tonic firing, but stimulation of the remaining input nerve recruited slow membrane oscillations. The published example used a 20 Hz stimulus train lasting 0.3 s. Oscillations outlasted the stimulus; across experiments they could continue for up to about a minute.</a:t>
            </a:r>
          </a:p>
          <a:p>
            <a:pPr algn="l">
              <a:lnSpc>
                <a:spcPct val="108000"/>
              </a:lnSpc>
              <a:spcAft>
                <a:spcPts val="960"/>
              </a:spcAft>
            </a:pPr>
            <a:r>
              <a:rPr sz="1600" b="0" i="0">
                <a:solidFill>
                  <a:srgbClr val="252D35"/>
                </a:solidFill>
                <a:latin typeface="Arial"/>
              </a:rPr>
              <a:t>PD is therefore a conditional burster: an appropriate input state permits rhythm-generating properties that are absent in the isolated baseline state. PD had earlier been classed as an endogenous burster; isolation from AB and descending input revealed that its bursting depends on those inputs.</a:t>
            </a:r>
          </a:p>
        </p:txBody>
      </p:sp>
      <p:pic>
        <p:nvPicPr>
          <p:cNvPr id="4" name="Picture 3" descr="M82_3.png"/>
          <p:cNvPicPr>
            <a:picLocks noChangeAspect="1"/>
          </p:cNvPicPr>
          <p:nvPr/>
        </p:nvPicPr>
        <p:blipFill>
          <a:blip r:embed="rId2"/>
          <a:stretch>
            <a:fillRect/>
          </a:stretch>
        </p:blipFill>
        <p:spPr>
          <a:xfrm>
            <a:off x="6138367" y="1280160"/>
            <a:ext cx="3931920" cy="3979396"/>
          </a:xfrm>
          <a:prstGeom prst="rect">
            <a:avLst/>
          </a:prstGeom>
        </p:spPr>
      </p:pic>
      <p:sp>
        <p:nvSpPr>
          <p:cNvPr id="5" name="Figure caption"/>
          <p:cNvSpPr txBox="1"/>
          <p:nvPr/>
        </p:nvSpPr>
        <p:spPr>
          <a:xfrm>
            <a:off x="6138367" y="5350996"/>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Miller &amp; Selverston (1982), Fig. 3(A–D). Isolated PD is tonic; nerve stimulation recruits bursting</a:t>
            </a:r>
          </a:p>
        </p:txBody>
      </p:sp>
      <p:pic>
        <p:nvPicPr>
          <p:cNvPr id="6" name="Picture 5" descr="H87_net.png"/>
          <p:cNvPicPr>
            <a:picLocks noChangeAspect="1"/>
          </p:cNvPicPr>
          <p:nvPr/>
        </p:nvPicPr>
        <p:blipFill>
          <a:blip r:embed="rId3"/>
          <a:stretch>
            <a:fillRect/>
          </a:stretch>
        </p:blipFill>
        <p:spPr>
          <a:xfrm>
            <a:off x="10253167" y="2148840"/>
            <a:ext cx="1371600" cy="1902069"/>
          </a:xfrm>
          <a:prstGeom prst="rect">
            <a:avLst/>
          </a:prstGeom>
        </p:spPr>
      </p:pic>
      <p:sp>
        <p:nvSpPr>
          <p:cNvPr id="7" name="Figure caption"/>
          <p:cNvSpPr txBox="1"/>
          <p:nvPr/>
        </p:nvSpPr>
        <p:spPr>
          <a:xfrm>
            <a:off x="10253167" y="4124061"/>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Hooper &amp; Marder (1987), Fig. 1(right). Lobster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Miller &amp; Selverston (1982); Hooper &amp; Marder (1987)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Input can recruit oscillations in follower neurons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52D35"/>
                </a:solidFill>
                <a:latin typeface="Arial"/>
              </a:rPr>
              <a:t>Conditional oscillation was not confined to PD. Miller and Selverston examined a reduced lobster network after disabling AB and the ventricular dilator neuron. PD, LP and a late-firing pyloric neuron remained available for intracellular recording and controlled membrane polarization.</a:t>
            </a:r>
          </a:p>
          <a:p>
            <a:pPr algn="l">
              <a:lnSpc>
                <a:spcPct val="108000"/>
              </a:lnSpc>
              <a:spcAft>
                <a:spcPts val="900"/>
              </a:spcAft>
            </a:pPr>
            <a:r>
              <a:rPr sz="1500" b="0" i="0">
                <a:solidFill>
                  <a:srgbClr val="252D35"/>
                </a:solidFill>
                <a:latin typeface="Arial"/>
              </a:rPr>
              <a:t>A 20 Hz input-nerve train lasting 0.5 s recruited voltage oscillations in the remaining neurons. Current injection suppressed selected cells to test whether an observed response required another cell’s activity. LP could express slow oscillations even when activity in the recorded PD and other pyloric cells was reduced.</a:t>
            </a:r>
          </a:p>
          <a:p>
            <a:pPr algn="l">
              <a:lnSpc>
                <a:spcPct val="108000"/>
              </a:lnSpc>
              <a:spcAft>
                <a:spcPts val="900"/>
              </a:spcAft>
            </a:pPr>
            <a:r>
              <a:rPr sz="1500" b="0" i="0">
                <a:solidFill>
                  <a:srgbClr val="252D35"/>
                </a:solidFill>
                <a:latin typeface="Arial"/>
              </a:rPr>
              <a:t>The </a:t>
            </a:r>
            <a:r>
              <a:rPr sz="1500" b="1" i="0">
                <a:solidFill>
                  <a:srgbClr val="7E4357"/>
                </a:solidFill>
                <a:latin typeface="Arial"/>
              </a:rPr>
              <a:t>ventricular dilator (VD)</a:t>
            </a:r>
            <a:r>
              <a:rPr sz="1500" b="0" i="0">
                <a:solidFill>
                  <a:srgbClr val="252D35"/>
                </a:solidFill>
                <a:latin typeface="Arial"/>
              </a:rPr>
              <a:t> neuron is a pyloric motor neuron with conditional bursting in the study’s other isolation experiments. Oscillatory capacity thus belongs to several circuit members under appropriate input conditions; AB was distinctive in bursting spontaneously after the complete tested isolation.</a:t>
            </a:r>
          </a:p>
        </p:txBody>
      </p:sp>
      <p:pic>
        <p:nvPicPr>
          <p:cNvPr id="4" name="Picture 3" descr="M82_4.png"/>
          <p:cNvPicPr>
            <a:picLocks noChangeAspect="1"/>
          </p:cNvPicPr>
          <p:nvPr/>
        </p:nvPicPr>
        <p:blipFill>
          <a:blip r:embed="rId2"/>
          <a:stretch>
            <a:fillRect/>
          </a:stretch>
        </p:blipFill>
        <p:spPr>
          <a:xfrm>
            <a:off x="6138367" y="1280160"/>
            <a:ext cx="3931920" cy="2000150"/>
          </a:xfrm>
          <a:prstGeom prst="rect">
            <a:avLst/>
          </a:prstGeom>
        </p:spPr>
      </p:pic>
      <p:sp>
        <p:nvSpPr>
          <p:cNvPr id="5" name="Figure caption"/>
          <p:cNvSpPr txBox="1"/>
          <p:nvPr/>
        </p:nvSpPr>
        <p:spPr>
          <a:xfrm>
            <a:off x="6138367" y="3371750"/>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Miller &amp; Selverston (1982), Fig. 4(A–C). Nerve stimulation recruits conditional membrane oscillations</a:t>
            </a:r>
          </a:p>
        </p:txBody>
      </p:sp>
      <p:pic>
        <p:nvPicPr>
          <p:cNvPr id="6" name="Picture 5" descr="H87_net.png"/>
          <p:cNvPicPr>
            <a:picLocks noChangeAspect="1"/>
          </p:cNvPicPr>
          <p:nvPr/>
        </p:nvPicPr>
        <p:blipFill>
          <a:blip r:embed="rId3"/>
          <a:stretch>
            <a:fillRect/>
          </a:stretch>
        </p:blipFill>
        <p:spPr>
          <a:xfrm>
            <a:off x="10253167" y="2148840"/>
            <a:ext cx="1371600" cy="1902069"/>
          </a:xfrm>
          <a:prstGeom prst="rect">
            <a:avLst/>
          </a:prstGeom>
        </p:spPr>
      </p:pic>
      <p:sp>
        <p:nvSpPr>
          <p:cNvPr id="7" name="Figure caption"/>
          <p:cNvSpPr txBox="1"/>
          <p:nvPr/>
        </p:nvSpPr>
        <p:spPr>
          <a:xfrm>
            <a:off x="10253167" y="4124061"/>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Hooper &amp; Marder (1987), Fig. 1(right). Lobster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Miller &amp; Selverston (1982); Hooper &amp; Marder (1987)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A brief input can recruit a reduced motor network</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52D35"/>
                </a:solidFill>
                <a:latin typeface="Arial"/>
              </a:rPr>
              <a:t>After removal of the spontaneously bursting AB neuron and several other cells, a reduced PD–LP–VD network could remain nonrhythmic when descending input was blocked. Its retained neurons had inhibitory interactions, but those connections alone did not produce continuous coordinated bursting in that state.</a:t>
            </a:r>
          </a:p>
          <a:p>
            <a:pPr algn="l">
              <a:lnSpc>
                <a:spcPct val="108000"/>
              </a:lnSpc>
              <a:spcAft>
                <a:spcPts val="900"/>
              </a:spcAft>
            </a:pPr>
            <a:r>
              <a:rPr sz="1500" b="0" i="0">
                <a:solidFill>
                  <a:srgbClr val="252D35"/>
                </a:solidFill>
                <a:latin typeface="Arial"/>
              </a:rPr>
              <a:t>A 50 Hz stimulus train lasting 1.4 s in the stomatogastric nerve initiated an episode of coordinated activity. Intracellular recordings at both fast and slow time bases distinguished individual membrane waves from the longer duration of the recruited episode.</a:t>
            </a:r>
          </a:p>
          <a:p>
            <a:pPr algn="l">
              <a:lnSpc>
                <a:spcPct val="108000"/>
              </a:lnSpc>
              <a:spcAft>
                <a:spcPts val="900"/>
              </a:spcAft>
            </a:pPr>
            <a:r>
              <a:rPr sz="1500" b="0" i="0">
                <a:solidFill>
                  <a:srgbClr val="252D35"/>
                </a:solidFill>
                <a:latin typeface="Arial"/>
              </a:rPr>
              <a:t>A circuit can contain the connections needed for coordinated output while lacking the active cellular state that expresses it. In the intact network, AB’s spontaneous oscillation sets each cycle, while input-recruited oscillations in PD, LP and VD help produce and stabilize the coordinated motor program.</a:t>
            </a:r>
          </a:p>
        </p:txBody>
      </p:sp>
      <p:pic>
        <p:nvPicPr>
          <p:cNvPr id="4" name="Picture 3" descr="M82_5.png"/>
          <p:cNvPicPr>
            <a:picLocks noChangeAspect="1"/>
          </p:cNvPicPr>
          <p:nvPr/>
        </p:nvPicPr>
        <p:blipFill>
          <a:blip r:embed="rId2"/>
          <a:stretch>
            <a:fillRect/>
          </a:stretch>
        </p:blipFill>
        <p:spPr>
          <a:xfrm>
            <a:off x="6138367" y="1280160"/>
            <a:ext cx="3931920" cy="2233972"/>
          </a:xfrm>
          <a:prstGeom prst="rect">
            <a:avLst/>
          </a:prstGeom>
        </p:spPr>
      </p:pic>
      <p:sp>
        <p:nvSpPr>
          <p:cNvPr id="5" name="Figure caption"/>
          <p:cNvSpPr txBox="1"/>
          <p:nvPr/>
        </p:nvSpPr>
        <p:spPr>
          <a:xfrm>
            <a:off x="6138367" y="3605572"/>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Miller &amp; Selverston (1982), Fig. 5(A–B). Brief nerve stimulation recruits a reduced pyloric network</a:t>
            </a:r>
          </a:p>
        </p:txBody>
      </p:sp>
      <p:pic>
        <p:nvPicPr>
          <p:cNvPr id="6" name="Picture 5" descr="H87_net.png"/>
          <p:cNvPicPr>
            <a:picLocks noChangeAspect="1"/>
          </p:cNvPicPr>
          <p:nvPr/>
        </p:nvPicPr>
        <p:blipFill>
          <a:blip r:embed="rId3"/>
          <a:stretch>
            <a:fillRect/>
          </a:stretch>
        </p:blipFill>
        <p:spPr>
          <a:xfrm>
            <a:off x="10253167" y="2148840"/>
            <a:ext cx="1371600" cy="1902069"/>
          </a:xfrm>
          <a:prstGeom prst="rect">
            <a:avLst/>
          </a:prstGeom>
        </p:spPr>
      </p:pic>
      <p:sp>
        <p:nvSpPr>
          <p:cNvPr id="7" name="Figure caption"/>
          <p:cNvSpPr txBox="1"/>
          <p:nvPr/>
        </p:nvSpPr>
        <p:spPr>
          <a:xfrm>
            <a:off x="10253167" y="4124061"/>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Hooper &amp; Marder (1987), Fig. 1(right). Lobster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Miller &amp; Selverston (1982); Hooper &amp; Marder (1987)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Selective deletion separates two inhibitory outputs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52D35"/>
                </a:solidFill>
                <a:latin typeface="Arial"/>
              </a:rPr>
              <a:t>Synchronous activity of AB and PD produces a compound IPSP in LP. Eisen and Marder separated the contributing pathways by photoinactivating either AB or both PD neurons. The comparison preserved recordings from LP and from the surviving member of the coupled pacemaker group.</a:t>
            </a:r>
          </a:p>
          <a:p>
            <a:pPr algn="l">
              <a:lnSpc>
                <a:spcPct val="108000"/>
              </a:lnSpc>
              <a:spcAft>
                <a:spcPts val="960"/>
              </a:spcAft>
            </a:pPr>
            <a:r>
              <a:rPr sz="1600" b="0" i="0">
                <a:solidFill>
                  <a:srgbClr val="252D35"/>
                </a:solidFill>
                <a:latin typeface="Arial"/>
              </a:rPr>
              <a:t>With PD removed, AB bursts still inhibited LP. With AB removed, PD depolarizations also inhibited LP, but their responses had a different time course. The intact response therefore combined two chemical inhibitory outputs that were normally activated together by the electrically coupled cells.</a:t>
            </a:r>
          </a:p>
          <a:p>
            <a:pPr algn="l">
              <a:lnSpc>
                <a:spcPct val="108000"/>
              </a:lnSpc>
              <a:spcAft>
                <a:spcPts val="960"/>
              </a:spcAft>
            </a:pPr>
            <a:r>
              <a:rPr sz="1600" b="0" i="0">
                <a:solidFill>
                  <a:srgbClr val="252D35"/>
                </a:solidFill>
                <a:latin typeface="Arial"/>
              </a:rPr>
              <a:t>LP-evoked IPSPs disappeared from AB when PD was removed. The same manipulation separated a direct AB-to-LP synapse from an indirect LP influence on AB through PD. Functional connectivity must distinguish transmitter release at a synapse from voltage propagation through an electrical connection.</a:t>
            </a:r>
          </a:p>
        </p:txBody>
      </p:sp>
      <p:pic>
        <p:nvPicPr>
          <p:cNvPr id="4" name="Picture 3" descr="E82_4.png"/>
          <p:cNvPicPr>
            <a:picLocks noChangeAspect="1"/>
          </p:cNvPicPr>
          <p:nvPr/>
        </p:nvPicPr>
        <p:blipFill>
          <a:blip r:embed="rId2"/>
          <a:stretch>
            <a:fillRect/>
          </a:stretch>
        </p:blipFill>
        <p:spPr>
          <a:xfrm>
            <a:off x="6138367" y="1280160"/>
            <a:ext cx="3931920" cy="3327815"/>
          </a:xfrm>
          <a:prstGeom prst="rect">
            <a:avLst/>
          </a:prstGeom>
        </p:spPr>
      </p:pic>
      <p:sp>
        <p:nvSpPr>
          <p:cNvPr id="5" name="Figure caption"/>
          <p:cNvSpPr txBox="1"/>
          <p:nvPr/>
        </p:nvSpPr>
        <p:spPr>
          <a:xfrm>
            <a:off x="6138367" y="4699415"/>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Eisen &amp; Marder (1982), Fig. 4. Selective deletion separates AB and PD synaptic outputs</a:t>
            </a:r>
          </a:p>
        </p:txBody>
      </p:sp>
      <p:pic>
        <p:nvPicPr>
          <p:cNvPr id="6" name="Picture 5" descr="H87_net.png"/>
          <p:cNvPicPr>
            <a:picLocks noChangeAspect="1"/>
          </p:cNvPicPr>
          <p:nvPr/>
        </p:nvPicPr>
        <p:blipFill>
          <a:blip r:embed="rId3"/>
          <a:stretch>
            <a:fillRect/>
          </a:stretch>
        </p:blipFill>
        <p:spPr>
          <a:xfrm>
            <a:off x="10253167" y="2148840"/>
            <a:ext cx="1371600" cy="1902069"/>
          </a:xfrm>
          <a:prstGeom prst="rect">
            <a:avLst/>
          </a:prstGeom>
        </p:spPr>
      </p:pic>
      <p:sp>
        <p:nvSpPr>
          <p:cNvPr id="7" name="Figure caption"/>
          <p:cNvSpPr txBox="1"/>
          <p:nvPr/>
        </p:nvSpPr>
        <p:spPr>
          <a:xfrm>
            <a:off x="10253167" y="4124061"/>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Hooper &amp; Marder (1987), Fig. 1(right). Lobster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Eisen &amp; Marder (1982); Hooper &amp; Marder (1987)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AB inhibition of LP depends strongly on chloride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52D35"/>
                </a:solidFill>
                <a:latin typeface="Arial"/>
              </a:rPr>
              <a:t>After PD deletion, AB-to-LP inhibition could be tested without the overlapping PD output. Eisen and Marder varied LP membrane voltage and altered ionic conditions while evoking AB activity. The isolated response reversed near −64 mV in the published control experiment.</a:t>
            </a:r>
          </a:p>
          <a:p>
            <a:pPr algn="l">
              <a:lnSpc>
                <a:spcPct val="108000"/>
              </a:lnSpc>
              <a:spcAft>
                <a:spcPts val="900"/>
              </a:spcAft>
            </a:pPr>
            <a:r>
              <a:rPr sz="1500" b="0" i="0">
                <a:solidFill>
                  <a:srgbClr val="252D35"/>
                </a:solidFill>
                <a:latin typeface="Arial"/>
              </a:rPr>
              <a:t>The </a:t>
            </a:r>
            <a:r>
              <a:rPr sz="1500" b="1" i="0">
                <a:solidFill>
                  <a:srgbClr val="7E4357"/>
                </a:solidFill>
                <a:latin typeface="Arial"/>
              </a:rPr>
              <a:t>reversal potential</a:t>
            </a:r>
            <a:r>
              <a:rPr sz="1500" b="0" i="0">
                <a:solidFill>
                  <a:srgbClr val="252D35"/>
                </a:solidFill>
                <a:latin typeface="Arial"/>
              </a:rPr>
              <a:t> is the voltage at which a synaptic response changes sign. Doubling extracellular potassium did not shift the AB-evoked reversal appreciably. Increasing intracellular chloride shifted the response toward more positive voltages, implicating a substantial chloride contribution to its synaptic conductance.</a:t>
            </a:r>
          </a:p>
          <a:p>
            <a:pPr algn="l">
              <a:lnSpc>
                <a:spcPct val="108000"/>
              </a:lnSpc>
              <a:spcAft>
                <a:spcPts val="900"/>
              </a:spcAft>
            </a:pPr>
            <a:r>
              <a:rPr sz="1500" b="0" i="0">
                <a:solidFill>
                  <a:srgbClr val="252D35"/>
                </a:solidFill>
                <a:latin typeface="Arial"/>
              </a:rPr>
              <a:t>A conductance describes how readily a membrane pathway carries electrical current. Chloride-dependent inhibition can oppose firing even when its voltage effect becomes small near reversal. The AB synapse is glutamatergic, so picrotoxin removes it while sparing the cholinergic PD synapse onto LP.</a:t>
            </a:r>
          </a:p>
        </p:txBody>
      </p:sp>
      <p:pic>
        <p:nvPicPr>
          <p:cNvPr id="4" name="Picture 3" descr="E82_5.png"/>
          <p:cNvPicPr>
            <a:picLocks noChangeAspect="1"/>
          </p:cNvPicPr>
          <p:nvPr/>
        </p:nvPicPr>
        <p:blipFill>
          <a:blip r:embed="rId2"/>
          <a:stretch>
            <a:fillRect/>
          </a:stretch>
        </p:blipFill>
        <p:spPr>
          <a:xfrm>
            <a:off x="6524610" y="1280160"/>
            <a:ext cx="3159433" cy="4297679"/>
          </a:xfrm>
          <a:prstGeom prst="rect">
            <a:avLst/>
          </a:prstGeom>
        </p:spPr>
      </p:pic>
      <p:sp>
        <p:nvSpPr>
          <p:cNvPr id="5" name="Figure caption"/>
          <p:cNvSpPr txBox="1"/>
          <p:nvPr/>
        </p:nvSpPr>
        <p:spPr>
          <a:xfrm>
            <a:off x="6138367" y="5669279"/>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Eisen &amp; Marder (1982), Fig. 5. Chloride loading changes the isolated AB-to-LP response</a:t>
            </a:r>
          </a:p>
        </p:txBody>
      </p:sp>
      <p:pic>
        <p:nvPicPr>
          <p:cNvPr id="6" name="Picture 5" descr="H87_net.png"/>
          <p:cNvPicPr>
            <a:picLocks noChangeAspect="1"/>
          </p:cNvPicPr>
          <p:nvPr/>
        </p:nvPicPr>
        <p:blipFill>
          <a:blip r:embed="rId3"/>
          <a:stretch>
            <a:fillRect/>
          </a:stretch>
        </p:blipFill>
        <p:spPr>
          <a:xfrm>
            <a:off x="10253167" y="2148840"/>
            <a:ext cx="1371600" cy="1902069"/>
          </a:xfrm>
          <a:prstGeom prst="rect">
            <a:avLst/>
          </a:prstGeom>
        </p:spPr>
      </p:pic>
      <p:sp>
        <p:nvSpPr>
          <p:cNvPr id="7" name="Figure caption"/>
          <p:cNvSpPr txBox="1"/>
          <p:nvPr/>
        </p:nvSpPr>
        <p:spPr>
          <a:xfrm>
            <a:off x="10253167" y="4124061"/>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Hooper &amp; Marder (1987), Fig. 1(right). Lobster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Eisen &amp; Marder (1982); Hooper &amp; Marder (1987)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PD inhibition of LP is sensitive to potassium</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52D35"/>
                </a:solidFill>
                <a:latin typeface="Arial"/>
              </a:rPr>
              <a:t>Eisen and Marder isolated PD-to-LP transmission by disabling AB and VD, then depolarized PD with current pulses. LP was recorded at several membrane voltages to determine where the isolated inhibitory response changed sign. The control reversal in the published experiment was −86 mV.</a:t>
            </a:r>
          </a:p>
          <a:p>
            <a:pPr algn="l">
              <a:lnSpc>
                <a:spcPct val="108000"/>
              </a:lnSpc>
              <a:spcAft>
                <a:spcPts val="900"/>
              </a:spcAft>
            </a:pPr>
            <a:r>
              <a:rPr sz="1500" b="0" i="0">
                <a:solidFill>
                  <a:srgbClr val="252D35"/>
                </a:solidFill>
                <a:latin typeface="Arial"/>
              </a:rPr>
              <a:t>Doubling extracellular potassium shifted that reversal to approximately −65 mV. Chloride loading did not produce the corresponding shift found for AB-to-LP inhibition. The PD response therefore depended strongly on potassium permeability, whereas the synchronized AB response had a different ionic basis.</a:t>
            </a:r>
          </a:p>
          <a:p>
            <a:pPr algn="l">
              <a:lnSpc>
                <a:spcPct val="108000"/>
              </a:lnSpc>
              <a:spcAft>
                <a:spcPts val="900"/>
              </a:spcAft>
            </a:pPr>
            <a:r>
              <a:rPr sz="1500" b="0" i="0">
                <a:solidFill>
                  <a:srgbClr val="252D35"/>
                </a:solidFill>
                <a:latin typeface="Arial"/>
              </a:rPr>
              <a:t>An ion’s concentration gradient and the postsynaptic voltage determine the direction of its contribution to synaptic current. In the crab, the cholinergic PD current reverses more negatively than the glutamatergic AB and PY currents, so near −80 mV these components of LP’s synaptic current can flow in opposite directions.</a:t>
            </a:r>
          </a:p>
        </p:txBody>
      </p:sp>
      <p:pic>
        <p:nvPicPr>
          <p:cNvPr id="4" name="Picture 3" descr="E82_6.png"/>
          <p:cNvPicPr>
            <a:picLocks noChangeAspect="1"/>
          </p:cNvPicPr>
          <p:nvPr/>
        </p:nvPicPr>
        <p:blipFill>
          <a:blip r:embed="rId2"/>
          <a:stretch>
            <a:fillRect/>
          </a:stretch>
        </p:blipFill>
        <p:spPr>
          <a:xfrm>
            <a:off x="6486460" y="1280160"/>
            <a:ext cx="3235732" cy="4297679"/>
          </a:xfrm>
          <a:prstGeom prst="rect">
            <a:avLst/>
          </a:prstGeom>
        </p:spPr>
      </p:pic>
      <p:sp>
        <p:nvSpPr>
          <p:cNvPr id="5" name="Figure caption"/>
          <p:cNvSpPr txBox="1"/>
          <p:nvPr/>
        </p:nvSpPr>
        <p:spPr>
          <a:xfrm>
            <a:off x="6138367" y="5669279"/>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Eisen &amp; Marder (1982), Fig. 6. External potassium shifts the isolated PD-to-LP reversal</a:t>
            </a:r>
          </a:p>
        </p:txBody>
      </p:sp>
      <p:pic>
        <p:nvPicPr>
          <p:cNvPr id="6" name="Picture 5" descr="H87_net.png"/>
          <p:cNvPicPr>
            <a:picLocks noChangeAspect="1"/>
          </p:cNvPicPr>
          <p:nvPr/>
        </p:nvPicPr>
        <p:blipFill>
          <a:blip r:embed="rId3"/>
          <a:stretch>
            <a:fillRect/>
          </a:stretch>
        </p:blipFill>
        <p:spPr>
          <a:xfrm>
            <a:off x="10253167" y="2148840"/>
            <a:ext cx="1371600" cy="1902069"/>
          </a:xfrm>
          <a:prstGeom prst="rect">
            <a:avLst/>
          </a:prstGeom>
        </p:spPr>
      </p:pic>
      <p:sp>
        <p:nvSpPr>
          <p:cNvPr id="7" name="Figure caption"/>
          <p:cNvSpPr txBox="1"/>
          <p:nvPr/>
        </p:nvSpPr>
        <p:spPr>
          <a:xfrm>
            <a:off x="10253167" y="4124061"/>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Hooper &amp; Marder (1987), Fig. 1(right). Lobster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Eisen &amp; Marder (1982); Hooper &amp; Marder (1987)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Electrical coupling can carry an indirect IPSP</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52D35"/>
                </a:solidFill>
                <a:latin typeface="Arial"/>
              </a:rPr>
              <a:t>An LP spike can produce a response in AB although chemical feedback directly targets PD. Eisen and Marder hyperpolarized AB or PD while recording all three cells. They tested whether the AB response followed AB voltage or the response generated in PD.</a:t>
            </a:r>
          </a:p>
          <a:p>
            <a:pPr algn="l">
              <a:lnSpc>
                <a:spcPct val="108000"/>
              </a:lnSpc>
              <a:spcAft>
                <a:spcPts val="960"/>
              </a:spcAft>
            </a:pPr>
            <a:r>
              <a:rPr sz="1600" b="0" i="0">
                <a:solidFill>
                  <a:srgbClr val="252D35"/>
                </a:solidFill>
                <a:latin typeface="Arial"/>
              </a:rPr>
              <a:t>Hyperpolarizing AB to approximately −72 mV did not reverse its LP-associated IPSP. Hyperpolarizing PD instead reversed the response in PD and the voltage response appearing in AB. The AB response therefore tracked a PD synaptic event carried through electrical coupling.</a:t>
            </a:r>
          </a:p>
          <a:p>
            <a:pPr algn="l">
              <a:lnSpc>
                <a:spcPct val="108000"/>
              </a:lnSpc>
              <a:spcAft>
                <a:spcPts val="960"/>
              </a:spcAft>
            </a:pPr>
            <a:r>
              <a:rPr sz="1600" b="0" i="0">
                <a:solidFill>
                  <a:srgbClr val="252D35"/>
                </a:solidFill>
                <a:latin typeface="Arial"/>
              </a:rPr>
              <a:t>Electrotonic spread is passive propagation of a voltage change through a connected electrical pathway. A spike-locked response can therefore originate at a coupled partner's chemical synapse: LP's IPSPs reach AB through PD, so feedback from LP acts on the whole AB–PD pacemaker group at once.</a:t>
            </a:r>
          </a:p>
        </p:txBody>
      </p:sp>
      <p:pic>
        <p:nvPicPr>
          <p:cNvPr id="4" name="Picture 3" descr="E82_9.png"/>
          <p:cNvPicPr>
            <a:picLocks noChangeAspect="1"/>
          </p:cNvPicPr>
          <p:nvPr/>
        </p:nvPicPr>
        <p:blipFill>
          <a:blip r:embed="rId2"/>
          <a:stretch>
            <a:fillRect/>
          </a:stretch>
        </p:blipFill>
        <p:spPr>
          <a:xfrm>
            <a:off x="6138367" y="1280160"/>
            <a:ext cx="3931920" cy="4022457"/>
          </a:xfrm>
          <a:prstGeom prst="rect">
            <a:avLst/>
          </a:prstGeom>
        </p:spPr>
      </p:pic>
      <p:sp>
        <p:nvSpPr>
          <p:cNvPr id="5" name="Figure caption"/>
          <p:cNvSpPr txBox="1"/>
          <p:nvPr/>
        </p:nvSpPr>
        <p:spPr>
          <a:xfrm>
            <a:off x="6138367" y="5394057"/>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Eisen &amp; Marder (1982), Fig. 9. LP-evoked potentials reverse together during PD polarization</a:t>
            </a:r>
          </a:p>
        </p:txBody>
      </p:sp>
      <p:pic>
        <p:nvPicPr>
          <p:cNvPr id="6" name="Picture 5" descr="H87_net.png"/>
          <p:cNvPicPr>
            <a:picLocks noChangeAspect="1"/>
          </p:cNvPicPr>
          <p:nvPr/>
        </p:nvPicPr>
        <p:blipFill>
          <a:blip r:embed="rId3"/>
          <a:stretch>
            <a:fillRect/>
          </a:stretch>
        </p:blipFill>
        <p:spPr>
          <a:xfrm>
            <a:off x="10253167" y="2148840"/>
            <a:ext cx="1371600" cy="1902069"/>
          </a:xfrm>
          <a:prstGeom prst="rect">
            <a:avLst/>
          </a:prstGeom>
        </p:spPr>
      </p:pic>
      <p:sp>
        <p:nvSpPr>
          <p:cNvPr id="7" name="Figure caption"/>
          <p:cNvSpPr txBox="1"/>
          <p:nvPr/>
        </p:nvSpPr>
        <p:spPr>
          <a:xfrm>
            <a:off x="10253167" y="4124061"/>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Hooper &amp; Marder (1987), Fig. 1(right). Lobster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Eisen &amp; Marder (1982); Hooper &amp; Marder (1987)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Acetylcholine excites the lobster dorsal dilator</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52D35"/>
                </a:solidFill>
                <a:latin typeface="Arial"/>
              </a:rPr>
              <a:t>Marder tested transmitter identity at the lobster PD-to-muscle junction. </a:t>
            </a:r>
            <a:r>
              <a:rPr sz="1500" b="1" i="0">
                <a:solidFill>
                  <a:srgbClr val="7E4357"/>
                </a:solidFill>
                <a:latin typeface="Arial"/>
              </a:rPr>
              <a:t>Acetylcholine (ACh)</a:t>
            </a:r>
            <a:r>
              <a:rPr sz="1500" b="0" i="0">
                <a:solidFill>
                  <a:srgbClr val="252D35"/>
                </a:solidFill>
                <a:latin typeface="Arial"/>
              </a:rPr>
              <a:t> is a small-molecule neurotransmitter; applying it locally to the dorsal dilator produced a depolarizing response. Stimulating the PD motor nerve produced an </a:t>
            </a:r>
            <a:r>
              <a:rPr sz="1500" b="1" i="0">
                <a:solidFill>
                  <a:srgbClr val="7E4357"/>
                </a:solidFill>
                <a:latin typeface="Arial"/>
              </a:rPr>
              <a:t>excitatory junctional potential</a:t>
            </a:r>
            <a:r>
              <a:rPr sz="1500" b="0" i="0">
                <a:solidFill>
                  <a:srgbClr val="252D35"/>
                </a:solidFill>
                <a:latin typeface="Arial"/>
              </a:rPr>
              <a:t>, the muscle voltage response to neural transmitter release.</a:t>
            </a:r>
          </a:p>
          <a:p>
            <a:pPr algn="l">
              <a:lnSpc>
                <a:spcPct val="108000"/>
              </a:lnSpc>
              <a:spcAft>
                <a:spcPts val="900"/>
              </a:spcAft>
            </a:pPr>
            <a:r>
              <a:rPr sz="1500" b="0" i="0">
                <a:solidFill>
                  <a:srgbClr val="252D35"/>
                </a:solidFill>
                <a:latin typeface="Arial"/>
              </a:rPr>
              <a:t>Hexamethonium reversibly reduced both the nerve-evoked response and the response to applied ACh. Washout restored them toward their control amplitudes. Local ACh delivery and motor-nerve stimulation therefore interrogated a pharmacologically similar postsynaptic pathway in the same muscle system.</a:t>
            </a:r>
          </a:p>
          <a:p>
            <a:pPr algn="l">
              <a:lnSpc>
                <a:spcPct val="108000"/>
              </a:lnSpc>
              <a:spcAft>
                <a:spcPts val="900"/>
              </a:spcAft>
            </a:pPr>
            <a:r>
              <a:rPr sz="1500" b="0" i="0">
                <a:solidFill>
                  <a:srgbClr val="252D35"/>
                </a:solidFill>
                <a:latin typeface="Arial"/>
              </a:rPr>
              <a:t>A transmitter candidate is stronger when it reproduces the nerve response and shares its antagonist sensitivity. Marder applied these criteria to all eleven types of excitatory motor neuron in the lobster STG, pairing each muscle’s transmitter sensitivity with enzyme assays on identified cell bodies.</a:t>
            </a:r>
          </a:p>
        </p:txBody>
      </p:sp>
      <p:pic>
        <p:nvPicPr>
          <p:cNvPr id="4" name="Picture 3" descr="M76_2.png"/>
          <p:cNvPicPr>
            <a:picLocks noChangeAspect="1"/>
          </p:cNvPicPr>
          <p:nvPr/>
        </p:nvPicPr>
        <p:blipFill>
          <a:blip r:embed="rId2"/>
          <a:stretch>
            <a:fillRect/>
          </a:stretch>
        </p:blipFill>
        <p:spPr>
          <a:xfrm>
            <a:off x="6138367" y="1280160"/>
            <a:ext cx="3931920" cy="3372457"/>
          </a:xfrm>
          <a:prstGeom prst="rect">
            <a:avLst/>
          </a:prstGeom>
        </p:spPr>
      </p:pic>
      <p:sp>
        <p:nvSpPr>
          <p:cNvPr id="5" name="Figure caption"/>
          <p:cNvSpPr txBox="1"/>
          <p:nvPr/>
        </p:nvSpPr>
        <p:spPr>
          <a:xfrm>
            <a:off x="6138367" y="4744057"/>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Marder (1976), Fig. 2(A–B). Hexamethonium reversibly reduces nerve and ACh responses</a:t>
            </a:r>
          </a:p>
        </p:txBody>
      </p:sp>
      <p:pic>
        <p:nvPicPr>
          <p:cNvPr id="6" name="Picture 5" descr="G15_3A.png"/>
          <p:cNvPicPr>
            <a:picLocks noChangeAspect="1"/>
          </p:cNvPicPr>
          <p:nvPr/>
        </p:nvPicPr>
        <p:blipFill>
          <a:blip r:embed="rId3"/>
          <a:stretch>
            <a:fillRect/>
          </a:stretch>
        </p:blipFill>
        <p:spPr>
          <a:xfrm>
            <a:off x="10253167" y="2148840"/>
            <a:ext cx="1371600" cy="1239252"/>
          </a:xfrm>
          <a:prstGeom prst="rect">
            <a:avLst/>
          </a:prstGeom>
        </p:spPr>
      </p:pic>
      <p:sp>
        <p:nvSpPr>
          <p:cNvPr id="7" name="Figure caption"/>
          <p:cNvSpPr txBox="1"/>
          <p:nvPr/>
        </p:nvSpPr>
        <p:spPr>
          <a:xfrm>
            <a:off x="10253167" y="3461244"/>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Garcia et al. (2015), Fig. 3(A). Crab foregut anatomy</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Marder (1976); Garcia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Nerve and ACh responses reverse at similar voltages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252D35"/>
                </a:solidFill>
                <a:latin typeface="Arial"/>
              </a:rPr>
              <a:t>Marder compared the voltage dependence of applied ACh responses with the dorsal dilator’s nerve-evoked junctional responses. The muscle membrane was polarized to different voltages, and response amplitude was measured using intracellular and focal extracellular recording approaches.</a:t>
            </a:r>
          </a:p>
          <a:p>
            <a:pPr algn="l">
              <a:lnSpc>
                <a:spcPct val="108000"/>
              </a:lnSpc>
              <a:spcAft>
                <a:spcPts val="840"/>
              </a:spcAft>
            </a:pPr>
            <a:r>
              <a:rPr sz="1400" b="0" i="0">
                <a:solidFill>
                  <a:srgbClr val="252D35"/>
                </a:solidFill>
                <a:latin typeface="Arial"/>
              </a:rPr>
              <a:t>The ACh response extrapolated to a reversal near −18 mV in the recorded experiment. Nerve-evoked responses reversed in a similar negative voltage range. A </a:t>
            </a:r>
            <a:r>
              <a:rPr sz="1400" b="1" i="0">
                <a:solidFill>
                  <a:srgbClr val="7E4357"/>
                </a:solidFill>
                <a:latin typeface="Arial"/>
              </a:rPr>
              <a:t>depolarization</a:t>
            </a:r>
            <a:r>
              <a:rPr sz="1400" b="0" i="0">
                <a:solidFill>
                  <a:srgbClr val="252D35"/>
                </a:solidFill>
                <a:latin typeface="Arial"/>
              </a:rPr>
              <a:t> makes the membrane less negative; its amplitude declines as the muscle voltage approaches the response’s reversal potential.</a:t>
            </a:r>
          </a:p>
          <a:p>
            <a:pPr algn="l">
              <a:lnSpc>
                <a:spcPct val="108000"/>
              </a:lnSpc>
              <a:spcAft>
                <a:spcPts val="840"/>
              </a:spcAft>
            </a:pPr>
            <a:r>
              <a:rPr sz="1400" b="0" i="0">
                <a:solidFill>
                  <a:srgbClr val="252D35"/>
                </a:solidFill>
                <a:latin typeface="Arial"/>
              </a:rPr>
              <a:t>Similar reversal behavior supports a shared postsynaptic ionic mechanism for the applied transmitter and the neural response. Receptor desensitization and large response amplitudes could distort the extrapolation, so Marder used small responses and controlled application timing. A reversal near −18 mV, far from potassium and chloride reversals, fits receptor channels passing several cations, which depolarize the muscle.</a:t>
            </a:r>
          </a:p>
        </p:txBody>
      </p:sp>
      <p:pic>
        <p:nvPicPr>
          <p:cNvPr id="4" name="Picture 3" descr="M76_7.png"/>
          <p:cNvPicPr>
            <a:picLocks noChangeAspect="1"/>
          </p:cNvPicPr>
          <p:nvPr/>
        </p:nvPicPr>
        <p:blipFill>
          <a:blip r:embed="rId2"/>
          <a:stretch>
            <a:fillRect/>
          </a:stretch>
        </p:blipFill>
        <p:spPr>
          <a:xfrm>
            <a:off x="6138367" y="1280160"/>
            <a:ext cx="3931920" cy="2651974"/>
          </a:xfrm>
          <a:prstGeom prst="rect">
            <a:avLst/>
          </a:prstGeom>
        </p:spPr>
      </p:pic>
      <p:sp>
        <p:nvSpPr>
          <p:cNvPr id="5" name="Figure caption"/>
          <p:cNvSpPr txBox="1"/>
          <p:nvPr/>
        </p:nvSpPr>
        <p:spPr>
          <a:xfrm>
            <a:off x="6138367" y="4023574"/>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Marder (1976), Fig. 7. Nerve-evoked and ACh responses reverse at similar voltages</a:t>
            </a:r>
          </a:p>
        </p:txBody>
      </p:sp>
      <p:pic>
        <p:nvPicPr>
          <p:cNvPr id="6" name="Picture 5" descr="G15_3A.png"/>
          <p:cNvPicPr>
            <a:picLocks noChangeAspect="1"/>
          </p:cNvPicPr>
          <p:nvPr/>
        </p:nvPicPr>
        <p:blipFill>
          <a:blip r:embed="rId3"/>
          <a:stretch>
            <a:fillRect/>
          </a:stretch>
        </p:blipFill>
        <p:spPr>
          <a:xfrm>
            <a:off x="10253167" y="2148840"/>
            <a:ext cx="1371600" cy="1239252"/>
          </a:xfrm>
          <a:prstGeom prst="rect">
            <a:avLst/>
          </a:prstGeom>
        </p:spPr>
      </p:pic>
      <p:sp>
        <p:nvSpPr>
          <p:cNvPr id="7" name="Figure caption"/>
          <p:cNvSpPr txBox="1"/>
          <p:nvPr/>
        </p:nvSpPr>
        <p:spPr>
          <a:xfrm>
            <a:off x="10253167" y="3461244"/>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Garcia et al. (2015), Fig. 3(A). Crab foregut anatomy</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Marder (1976); Garcia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Motor-neuron classes differ in transmitter evidence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52D35"/>
                </a:solidFill>
                <a:latin typeface="Arial"/>
              </a:rPr>
              <a:t>Marder screened muscles innervated by identified lobster motor-neuron classes with ACh and L-glutamate. </a:t>
            </a:r>
            <a:r>
              <a:rPr sz="1500" b="1" i="0">
                <a:solidFill>
                  <a:srgbClr val="7E4357"/>
                </a:solidFill>
                <a:latin typeface="Arial"/>
              </a:rPr>
              <a:t>Glutamate</a:t>
            </a:r>
            <a:r>
              <a:rPr sz="1500" b="0" i="0">
                <a:solidFill>
                  <a:srgbClr val="252D35"/>
                </a:solidFill>
                <a:latin typeface="Arial"/>
              </a:rPr>
              <a:t> is another small-molecule transmitter. PD-innervated dilators and the VD-innervated muscle contracted in ACh, whereas the LP/PY region and inferior cardiac muscle responded to glutamate.</a:t>
            </a:r>
          </a:p>
          <a:p>
            <a:pPr algn="l">
              <a:lnSpc>
                <a:spcPct val="108000"/>
              </a:lnSpc>
              <a:spcAft>
                <a:spcPts val="900"/>
              </a:spcAft>
            </a:pPr>
            <a:r>
              <a:rPr sz="1500" b="0" i="0">
                <a:solidFill>
                  <a:srgbClr val="252D35"/>
                </a:solidFill>
                <a:latin typeface="Arial"/>
              </a:rPr>
              <a:t>An unresponsive bath application was checked against nerve-evoked contraction. In the LP/PY preparation, stimulation at 10 pulses/s for 2 s confirmed that the muscles were still viable. Choline acetyltransferase assays provided separate evidence for ACh synthesis in identified neuronal cell bodies.</a:t>
            </a:r>
          </a:p>
          <a:p>
            <a:pPr algn="l">
              <a:lnSpc>
                <a:spcPct val="108000"/>
              </a:lnSpc>
              <a:spcAft>
                <a:spcPts val="900"/>
              </a:spcAft>
            </a:pPr>
            <a:r>
              <a:rPr sz="1500" b="0" i="0">
                <a:solidFill>
                  <a:srgbClr val="252D35"/>
                </a:solidFill>
                <a:latin typeface="Arial"/>
              </a:rPr>
              <a:t>The combined evidence assigned ACh or glutamate as transmitter candidates for different motor classes. VD, LPG, GM, MG, LG and DG were classed as putatively cholinergic, while LP, PY, IC and AM became glutamate candidates. The split predicts later pharmacology: picrotoxin blocks glutamatergic inhibition from PY while cholinergic PD output persists.</a:t>
            </a:r>
          </a:p>
        </p:txBody>
      </p:sp>
      <p:pic>
        <p:nvPicPr>
          <p:cNvPr id="4" name="Picture 3" descr="M76_8.png"/>
          <p:cNvPicPr>
            <a:picLocks noChangeAspect="1"/>
          </p:cNvPicPr>
          <p:nvPr/>
        </p:nvPicPr>
        <p:blipFill>
          <a:blip r:embed="rId2"/>
          <a:stretch>
            <a:fillRect/>
          </a:stretch>
        </p:blipFill>
        <p:spPr>
          <a:xfrm>
            <a:off x="6138367" y="1280160"/>
            <a:ext cx="3931920" cy="2915709"/>
          </a:xfrm>
          <a:prstGeom prst="rect">
            <a:avLst/>
          </a:prstGeom>
        </p:spPr>
      </p:pic>
      <p:sp>
        <p:nvSpPr>
          <p:cNvPr id="5" name="Figure caption"/>
          <p:cNvSpPr txBox="1"/>
          <p:nvPr/>
        </p:nvSpPr>
        <p:spPr>
          <a:xfrm>
            <a:off x="6138367" y="4287309"/>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Marder (1976), Fig. 8(A–C). Dilator muscles contract in acetylcholine rather than glutamate</a:t>
            </a:r>
          </a:p>
        </p:txBody>
      </p:sp>
      <p:pic>
        <p:nvPicPr>
          <p:cNvPr id="6" name="Picture 5" descr="G15_3A.png"/>
          <p:cNvPicPr>
            <a:picLocks noChangeAspect="1"/>
          </p:cNvPicPr>
          <p:nvPr/>
        </p:nvPicPr>
        <p:blipFill>
          <a:blip r:embed="rId3"/>
          <a:stretch>
            <a:fillRect/>
          </a:stretch>
        </p:blipFill>
        <p:spPr>
          <a:xfrm>
            <a:off x="10253167" y="2148840"/>
            <a:ext cx="1371600" cy="1239252"/>
          </a:xfrm>
          <a:prstGeom prst="rect">
            <a:avLst/>
          </a:prstGeom>
        </p:spPr>
      </p:pic>
      <p:sp>
        <p:nvSpPr>
          <p:cNvPr id="7" name="Figure caption"/>
          <p:cNvSpPr txBox="1"/>
          <p:nvPr/>
        </p:nvSpPr>
        <p:spPr>
          <a:xfrm>
            <a:off x="10253167" y="3461244"/>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Garcia et al. (2015), Fig. 3(A). Crab foregut anatomy</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Marder (1976); Garcia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Slow presynaptic depolarization can release transmitter</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52D35"/>
                </a:solidFill>
                <a:latin typeface="Arial"/>
              </a:rPr>
              <a:t>In crab pyloric neurons, chemical transmission has both spike-mediated and </a:t>
            </a:r>
            <a:r>
              <a:rPr sz="1500" b="1" i="0">
                <a:solidFill>
                  <a:srgbClr val="7E4357"/>
                </a:solidFill>
                <a:latin typeface="Arial"/>
              </a:rPr>
              <a:t>graded</a:t>
            </a:r>
            <a:r>
              <a:rPr sz="1500" b="0" i="0">
                <a:solidFill>
                  <a:srgbClr val="252D35"/>
                </a:solidFill>
                <a:latin typeface="Arial"/>
              </a:rPr>
              <a:t> components. Graded transmission varies with the presynaptic membrane potential and does not require a full action potential. Rosenbaum and Marder tested it while tetrodotoxin, or </a:t>
            </a:r>
            <a:r>
              <a:rPr sz="1500" b="1" i="0">
                <a:solidFill>
                  <a:srgbClr val="7E4357"/>
                </a:solidFill>
                <a:latin typeface="Arial"/>
              </a:rPr>
              <a:t>TTX</a:t>
            </a:r>
            <a:r>
              <a:rPr sz="1500" b="0" i="0">
                <a:solidFill>
                  <a:srgbClr val="252D35"/>
                </a:solidFill>
                <a:latin typeface="Arial"/>
              </a:rPr>
              <a:t>, blocked the voltage-gated sodium channels needed for spiking.</a:t>
            </a:r>
          </a:p>
          <a:p>
            <a:pPr algn="l">
              <a:lnSpc>
                <a:spcPct val="108000"/>
              </a:lnSpc>
              <a:spcAft>
                <a:spcPts val="900"/>
              </a:spcAft>
            </a:pPr>
            <a:r>
              <a:rPr sz="1500" b="0" i="0">
                <a:solidFill>
                  <a:srgbClr val="252D35"/>
                </a:solidFill>
                <a:latin typeface="Arial"/>
              </a:rPr>
              <a:t>LP was depolarized from −60 mV to −20 mV for 500 ms while PD was held near −50 mV. PD developed an inhibitory response despite the absence of presynaptic spikes. Holding the postsynaptic voltage constant reduced differences in response amplitude caused merely by changing driving force.</a:t>
            </a:r>
          </a:p>
          <a:p>
            <a:pPr algn="l">
              <a:lnSpc>
                <a:spcPct val="108000"/>
              </a:lnSpc>
              <a:spcAft>
                <a:spcPts val="900"/>
              </a:spcAft>
            </a:pPr>
            <a:r>
              <a:rPr sz="1500" b="0" i="0">
                <a:solidFill>
                  <a:srgbClr val="252D35"/>
                </a:solidFill>
                <a:latin typeface="Arial"/>
              </a:rPr>
              <a:t>The LP-to-PD pathway can therefore transmit a slow voltage signal through transmitter release. Pyloric neurons release transmitter in both modes, so the voltage trajectory of each slow wave, and not only the spikes riding on it, shapes the inhibition their targets receive.</a:t>
            </a:r>
          </a:p>
        </p:txBody>
      </p:sp>
      <p:pic>
        <p:nvPicPr>
          <p:cNvPr id="4" name="Picture 3" descr="D18_6B.png"/>
          <p:cNvPicPr>
            <a:picLocks noChangeAspect="1"/>
          </p:cNvPicPr>
          <p:nvPr/>
        </p:nvPicPr>
        <p:blipFill>
          <a:blip r:embed="rId2"/>
          <a:stretch>
            <a:fillRect/>
          </a:stretch>
        </p:blipFill>
        <p:spPr>
          <a:xfrm>
            <a:off x="6138367" y="1280160"/>
            <a:ext cx="3931920" cy="4210675"/>
          </a:xfrm>
          <a:prstGeom prst="rect">
            <a:avLst/>
          </a:prstGeom>
        </p:spPr>
      </p:pic>
      <p:sp>
        <p:nvSpPr>
          <p:cNvPr id="5" name="Figure caption"/>
          <p:cNvSpPr txBox="1"/>
          <p:nvPr/>
        </p:nvSpPr>
        <p:spPr>
          <a:xfrm>
            <a:off x="6138367" y="5582275"/>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Rosenbaum &amp; Marder (2018), Fig. 6(B). Presynaptic depolarization evokes graded inhibition without spikes</a:t>
            </a:r>
          </a:p>
        </p:txBody>
      </p:sp>
      <p:pic>
        <p:nvPicPr>
          <p:cNvPr id="6" name="Picture 5" descr="D18_net.png"/>
          <p:cNvPicPr>
            <a:picLocks noChangeAspect="1"/>
          </p:cNvPicPr>
          <p:nvPr/>
        </p:nvPicPr>
        <p:blipFill>
          <a:blip r:embed="rId3"/>
          <a:stretch>
            <a:fillRect/>
          </a:stretch>
        </p:blipFill>
        <p:spPr>
          <a:xfrm>
            <a:off x="10253167" y="2148840"/>
            <a:ext cx="1371600" cy="1762055"/>
          </a:xfrm>
          <a:prstGeom prst="rect">
            <a:avLst/>
          </a:prstGeom>
        </p:spPr>
      </p:pic>
      <p:sp>
        <p:nvSpPr>
          <p:cNvPr id="7" name="Figure caption"/>
          <p:cNvSpPr txBox="1"/>
          <p:nvPr/>
        </p:nvSpPr>
        <p:spPr>
          <a:xfrm>
            <a:off x="10253167" y="3984047"/>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Rosenbaum &amp; Marder (2018), Fig. 1(C).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Rosenbaum &amp; Marder (2018)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Muscarinic activation can sustain a spike-free rhythm</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52D35"/>
                </a:solidFill>
                <a:latin typeface="Arial"/>
              </a:rPr>
              <a:t>Rosenbaum and Marder first blocked descending input to the crab STG, then applied a modulator and finally added TTX. </a:t>
            </a:r>
            <a:r>
              <a:rPr sz="1500" b="1" i="0">
                <a:solidFill>
                  <a:srgbClr val="7E4357"/>
                </a:solidFill>
                <a:latin typeface="Arial"/>
              </a:rPr>
              <a:t>Oxotremorine</a:t>
            </a:r>
            <a:r>
              <a:rPr sz="1500" b="0" i="0">
                <a:solidFill>
                  <a:srgbClr val="252D35"/>
                </a:solidFill>
                <a:latin typeface="Arial"/>
              </a:rPr>
              <a:t> is an agonist that activates muscarinic acetylcholine receptors. These receptors alter cellular state rather than supplying the brief muscle-junction response tested in the lobster experiments.</a:t>
            </a:r>
          </a:p>
          <a:p>
            <a:pPr algn="l">
              <a:lnSpc>
                <a:spcPct val="108000"/>
              </a:lnSpc>
              <a:spcAft>
                <a:spcPts val="900"/>
              </a:spcAft>
            </a:pPr>
            <a:r>
              <a:rPr sz="1500" b="0" i="0">
                <a:solidFill>
                  <a:srgbClr val="252D35"/>
                </a:solidFill>
                <a:latin typeface="Arial"/>
              </a:rPr>
              <a:t>Oxotremorine at 10 μM increased the pyloric activity of the decentralized preparation. Addition of 0.1 μM TTX removed action potentials while PD and LP retained alternating slow membrane oscillations. Intracellular voltage records were essential because extracellular motor nerves no longer contained the usual spikes.</a:t>
            </a:r>
          </a:p>
          <a:p>
            <a:pPr algn="l">
              <a:lnSpc>
                <a:spcPct val="108000"/>
              </a:lnSpc>
              <a:spcAft>
                <a:spcPts val="900"/>
              </a:spcAft>
            </a:pPr>
            <a:r>
              <a:rPr sz="1500" b="0" i="0">
                <a:solidFill>
                  <a:srgbClr val="252D35"/>
                </a:solidFill>
                <a:latin typeface="Arial"/>
              </a:rPr>
              <a:t>Slow voltage dynamics and graded inhibition can sustain central rhythmicity in this modulatory state. In oxotremorine with TTX, intracellular waveforms resembled those of the intact rhythm and phase relationships among the neurons were conserved.</a:t>
            </a:r>
          </a:p>
        </p:txBody>
      </p:sp>
      <p:pic>
        <p:nvPicPr>
          <p:cNvPr id="4" name="Picture 3" descr="D18_2B.png"/>
          <p:cNvPicPr>
            <a:picLocks noChangeAspect="1"/>
          </p:cNvPicPr>
          <p:nvPr/>
        </p:nvPicPr>
        <p:blipFill>
          <a:blip r:embed="rId2"/>
          <a:stretch>
            <a:fillRect/>
          </a:stretch>
        </p:blipFill>
        <p:spPr>
          <a:xfrm>
            <a:off x="6138367" y="1280160"/>
            <a:ext cx="3931920" cy="871398"/>
          </a:xfrm>
          <a:prstGeom prst="rect">
            <a:avLst/>
          </a:prstGeom>
        </p:spPr>
      </p:pic>
      <p:sp>
        <p:nvSpPr>
          <p:cNvPr id="5" name="Figure caption"/>
          <p:cNvSpPr txBox="1"/>
          <p:nvPr/>
        </p:nvSpPr>
        <p:spPr>
          <a:xfrm>
            <a:off x="6138367" y="2242998"/>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Rosenbaum &amp; Marder (2018), Fig. 2(B). Oxotremorine sustains slow oscillations after spike blockade</a:t>
            </a:r>
          </a:p>
        </p:txBody>
      </p:sp>
      <p:pic>
        <p:nvPicPr>
          <p:cNvPr id="6" name="Picture 5" descr="D18_net.png"/>
          <p:cNvPicPr>
            <a:picLocks noChangeAspect="1"/>
          </p:cNvPicPr>
          <p:nvPr/>
        </p:nvPicPr>
        <p:blipFill>
          <a:blip r:embed="rId3"/>
          <a:stretch>
            <a:fillRect/>
          </a:stretch>
        </p:blipFill>
        <p:spPr>
          <a:xfrm>
            <a:off x="10253167" y="2148840"/>
            <a:ext cx="1371600" cy="1762055"/>
          </a:xfrm>
          <a:prstGeom prst="rect">
            <a:avLst/>
          </a:prstGeom>
        </p:spPr>
      </p:pic>
      <p:sp>
        <p:nvSpPr>
          <p:cNvPr id="7" name="Figure caption"/>
          <p:cNvSpPr txBox="1"/>
          <p:nvPr/>
        </p:nvSpPr>
        <p:spPr>
          <a:xfrm>
            <a:off x="10253167" y="3984047"/>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Rosenbaum &amp; Marder (2018), Fig. 1(C).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Rosenbaum &amp; Marder (2018)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Similar activating peptides differ in spike dependence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1" i="0">
                <a:solidFill>
                  <a:srgbClr val="7E4357"/>
                </a:solidFill>
                <a:latin typeface="Arial"/>
              </a:rPr>
              <a:t>Neuropeptides</a:t>
            </a:r>
            <a:r>
              <a:rPr sz="1400" b="0" i="0">
                <a:solidFill>
                  <a:srgbClr val="252D35"/>
                </a:solidFill>
                <a:latin typeface="Arial"/>
              </a:rPr>
              <a:t> are short chains of amino acids released as chemical signals that can alter neuronal activity. Rosenbaum and Marder compared several peptides that activate the same modulator-activated inward current, </a:t>
            </a:r>
            <a:r>
              <a:rPr sz="1400" b="1" i="0">
                <a:solidFill>
                  <a:srgbClr val="7E4357"/>
                </a:solidFill>
                <a:latin typeface="Arial"/>
              </a:rPr>
              <a:t>I_MI</a:t>
            </a:r>
            <a:r>
              <a:rPr sz="1400" b="0" i="0">
                <a:solidFill>
                  <a:srgbClr val="252D35"/>
                </a:solidFill>
                <a:latin typeface="Arial"/>
              </a:rPr>
              <a:t>, a voltage-dependent current carried by nonspecific cation channels, in different subsets of crab pyloric neurons.</a:t>
            </a:r>
          </a:p>
          <a:p>
            <a:pPr algn="l">
              <a:lnSpc>
                <a:spcPct val="108000"/>
              </a:lnSpc>
              <a:spcAft>
                <a:spcPts val="840"/>
              </a:spcAft>
            </a:pPr>
            <a:r>
              <a:rPr sz="1400" b="0" i="0">
                <a:solidFill>
                  <a:srgbClr val="252D35"/>
                </a:solidFill>
                <a:latin typeface="Arial"/>
              </a:rPr>
              <a:t>Proctolin, TNRNFLRFamide and crustacean cardioactive peptide, or </a:t>
            </a:r>
            <a:r>
              <a:rPr sz="1400" b="1" i="0">
                <a:solidFill>
                  <a:srgbClr val="7E4357"/>
                </a:solidFill>
                <a:latin typeface="Arial"/>
              </a:rPr>
              <a:t>CCAP</a:t>
            </a:r>
            <a:r>
              <a:rPr sz="1400" b="0" i="0">
                <a:solidFill>
                  <a:srgbClr val="252D35"/>
                </a:solidFill>
                <a:latin typeface="Arial"/>
              </a:rPr>
              <a:t>, each at 1 μM, activated robust pyloric rhythms after decentralization. Adding TTX stopped the rhythms in the published examples. By contrast, oxotremorine and the tachykinin-related peptide CabTRP1a supported slow oscillations without spikes.</a:t>
            </a:r>
          </a:p>
          <a:p>
            <a:pPr algn="l">
              <a:lnSpc>
                <a:spcPct val="108000"/>
              </a:lnSpc>
              <a:spcAft>
                <a:spcPts val="840"/>
              </a:spcAft>
            </a:pPr>
            <a:r>
              <a:rPr sz="1400" b="0" i="0">
                <a:solidFill>
                  <a:srgbClr val="252D35"/>
                </a:solidFill>
                <a:latin typeface="Arial"/>
              </a:rPr>
              <a:t>Modulators that converge on one inward current can still build different networks, since they differ in target cells, synaptic actions and the other currents they recruit. Red pigment concentrating hormone joins oxotremorine and CabTRP1a among spike-independent rhythms, so one converging current supports two distinct burst mechanisms.</a:t>
            </a:r>
          </a:p>
        </p:txBody>
      </p:sp>
      <p:pic>
        <p:nvPicPr>
          <p:cNvPr id="4" name="Picture 3" descr="D18_3.png"/>
          <p:cNvPicPr>
            <a:picLocks noChangeAspect="1"/>
          </p:cNvPicPr>
          <p:nvPr/>
        </p:nvPicPr>
        <p:blipFill>
          <a:blip r:embed="rId2"/>
          <a:stretch>
            <a:fillRect/>
          </a:stretch>
        </p:blipFill>
        <p:spPr>
          <a:xfrm>
            <a:off x="6138367" y="1280160"/>
            <a:ext cx="3931920" cy="2295391"/>
          </a:xfrm>
          <a:prstGeom prst="rect">
            <a:avLst/>
          </a:prstGeom>
        </p:spPr>
      </p:pic>
      <p:sp>
        <p:nvSpPr>
          <p:cNvPr id="5" name="Figure caption"/>
          <p:cNvSpPr txBox="1"/>
          <p:nvPr/>
        </p:nvSpPr>
        <p:spPr>
          <a:xfrm>
            <a:off x="6138367" y="3666991"/>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Rosenbaum &amp; Marder (2018), Fig. 3(A–C). Proctolin, FLRFamide and CCAP rhythms stop in TTX</a:t>
            </a:r>
          </a:p>
        </p:txBody>
      </p:sp>
      <p:pic>
        <p:nvPicPr>
          <p:cNvPr id="6" name="Picture 5" descr="D18_net.png"/>
          <p:cNvPicPr>
            <a:picLocks noChangeAspect="1"/>
          </p:cNvPicPr>
          <p:nvPr/>
        </p:nvPicPr>
        <p:blipFill>
          <a:blip r:embed="rId3"/>
          <a:stretch>
            <a:fillRect/>
          </a:stretch>
        </p:blipFill>
        <p:spPr>
          <a:xfrm>
            <a:off x="10253167" y="2148840"/>
            <a:ext cx="1371600" cy="1762055"/>
          </a:xfrm>
          <a:prstGeom prst="rect">
            <a:avLst/>
          </a:prstGeom>
        </p:spPr>
      </p:pic>
      <p:sp>
        <p:nvSpPr>
          <p:cNvPr id="7" name="Figure caption"/>
          <p:cNvSpPr txBox="1"/>
          <p:nvPr/>
        </p:nvSpPr>
        <p:spPr>
          <a:xfrm>
            <a:off x="10253167" y="3984047"/>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Rosenbaum &amp; Marder (2018), Fig. 1(C).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Rosenbaum &amp; Marder (2018)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The pacemaker can oscillate without follower feedback</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52D35"/>
                </a:solidFill>
                <a:latin typeface="Arial"/>
              </a:rPr>
              <a:t>The AB–PD ensemble can be examined after feedback from glutamatergic follower neurons is blocked. </a:t>
            </a:r>
            <a:r>
              <a:rPr sz="1500" b="1" i="0">
                <a:solidFill>
                  <a:srgbClr val="7E4357"/>
                </a:solidFill>
                <a:latin typeface="Arial"/>
              </a:rPr>
              <a:t>Picrotoxin (PTX)</a:t>
            </a:r>
            <a:r>
              <a:rPr sz="1500" b="0" i="0">
                <a:solidFill>
                  <a:srgbClr val="252D35"/>
                </a:solidFill>
                <a:latin typeface="Arial"/>
              </a:rPr>
              <a:t> blocks the relevant glutamatergic inhibitory synapses in this preparation. Rosenbaum and Marder combined PTX with TTX to separate pacemaker oscillation from spikes and major follower feedback.</a:t>
            </a:r>
          </a:p>
          <a:p>
            <a:pPr algn="l">
              <a:lnSpc>
                <a:spcPct val="108000"/>
              </a:lnSpc>
              <a:spcAft>
                <a:spcPts val="900"/>
              </a:spcAft>
            </a:pPr>
            <a:r>
              <a:rPr sz="1500" b="0" i="0">
                <a:solidFill>
                  <a:srgbClr val="252D35"/>
                </a:solidFill>
                <a:latin typeface="Arial"/>
              </a:rPr>
              <a:t>In oxotremorine or CabTRP1a, PD retained slow oscillations after both drugs were added. LP activity was greatly reduced, yet the remaining pacemaker wave continued. The intracellular records used 20 mV voltage calibration and 1–2 s time calibration.</a:t>
            </a:r>
          </a:p>
          <a:p>
            <a:pPr algn="l">
              <a:lnSpc>
                <a:spcPct val="108000"/>
              </a:lnSpc>
              <a:spcAft>
                <a:spcPts val="900"/>
              </a:spcAft>
            </a:pPr>
            <a:r>
              <a:rPr sz="1500" b="0" i="0">
                <a:solidFill>
                  <a:srgbClr val="252D35"/>
                </a:solidFill>
                <a:latin typeface="Arial"/>
              </a:rPr>
              <a:t>The result localizes a rhythm-generating capability to the electrically coupled AB–PD group under these modulatory conditions. This kernel primarily drove both spike-free rhythms. Cycle frequency held in oxotremorine with TTX but shifted in CabTRP1a with TTX, so the kernel’s speed without spikes depends on the modulator.</a:t>
            </a:r>
          </a:p>
        </p:txBody>
      </p:sp>
      <p:pic>
        <p:nvPicPr>
          <p:cNvPr id="4" name="Picture 3" descr="D18_8.png"/>
          <p:cNvPicPr>
            <a:picLocks noChangeAspect="1"/>
          </p:cNvPicPr>
          <p:nvPr/>
        </p:nvPicPr>
        <p:blipFill>
          <a:blip r:embed="rId2"/>
          <a:stretch>
            <a:fillRect/>
          </a:stretch>
        </p:blipFill>
        <p:spPr>
          <a:xfrm>
            <a:off x="6138367" y="1280160"/>
            <a:ext cx="3931920" cy="2989336"/>
          </a:xfrm>
          <a:prstGeom prst="rect">
            <a:avLst/>
          </a:prstGeom>
        </p:spPr>
      </p:pic>
      <p:sp>
        <p:nvSpPr>
          <p:cNvPr id="5" name="Figure caption"/>
          <p:cNvSpPr txBox="1"/>
          <p:nvPr/>
        </p:nvSpPr>
        <p:spPr>
          <a:xfrm>
            <a:off x="6138367" y="4360936"/>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Rosenbaum &amp; Marder (2018), Fig. 8(A–B). Isolated AB–PD oscillations persist in TTX with selected modulators</a:t>
            </a:r>
          </a:p>
        </p:txBody>
      </p:sp>
      <p:pic>
        <p:nvPicPr>
          <p:cNvPr id="6" name="Picture 5" descr="D18_net.png"/>
          <p:cNvPicPr>
            <a:picLocks noChangeAspect="1"/>
          </p:cNvPicPr>
          <p:nvPr/>
        </p:nvPicPr>
        <p:blipFill>
          <a:blip r:embed="rId3"/>
          <a:stretch>
            <a:fillRect/>
          </a:stretch>
        </p:blipFill>
        <p:spPr>
          <a:xfrm>
            <a:off x="10253167" y="2148840"/>
            <a:ext cx="1371600" cy="1762055"/>
          </a:xfrm>
          <a:prstGeom prst="rect">
            <a:avLst/>
          </a:prstGeom>
        </p:spPr>
      </p:pic>
      <p:sp>
        <p:nvSpPr>
          <p:cNvPr id="7" name="Figure caption"/>
          <p:cNvSpPr txBox="1"/>
          <p:nvPr/>
        </p:nvSpPr>
        <p:spPr>
          <a:xfrm>
            <a:off x="10253167" y="3984047"/>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Rosenbaum &amp; Marder (2018), Fig. 1(C).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Rosenbaum &amp; Marder (2018)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LP latency and phase change differently with period</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7E4357"/>
                </a:solidFill>
                <a:latin typeface="Arial"/>
              </a:rPr>
              <a:t>Cycle period</a:t>
            </a:r>
            <a:r>
              <a:rPr sz="1500" b="0" i="0">
                <a:solidFill>
                  <a:srgbClr val="252D35"/>
                </a:solidFill>
                <a:latin typeface="Arial"/>
              </a:rPr>
              <a:t> is the interval between successive starts of a rhythm. </a:t>
            </a:r>
            <a:r>
              <a:rPr sz="1500" b="1" i="0">
                <a:solidFill>
                  <a:srgbClr val="7E4357"/>
                </a:solidFill>
                <a:latin typeface="Arial"/>
              </a:rPr>
              <a:t>Latency</a:t>
            </a:r>
            <a:r>
              <a:rPr sz="1500" b="0" i="0">
                <a:solidFill>
                  <a:srgbClr val="252D35"/>
                </a:solidFill>
                <a:latin typeface="Arial"/>
              </a:rPr>
              <a:t> is the time from a reference event to a response, whereas </a:t>
            </a:r>
            <a:r>
              <a:rPr sz="1500" b="1" i="0">
                <a:solidFill>
                  <a:srgbClr val="7E4357"/>
                </a:solidFill>
                <a:latin typeface="Arial"/>
              </a:rPr>
              <a:t>phase</a:t>
            </a:r>
            <a:r>
              <a:rPr sz="1500" b="0" i="0">
                <a:solidFill>
                  <a:srgbClr val="252D35"/>
                </a:solidFill>
                <a:latin typeface="Arial"/>
              </a:rPr>
              <a:t> expresses that delay as a fraction of the cycle. A fixed latency therefore does not automatically preserve phase when the cycle changes.</a:t>
            </a:r>
          </a:p>
          <a:p>
            <a:pPr algn="l">
              <a:lnSpc>
                <a:spcPct val="108000"/>
              </a:lnSpc>
              <a:spcAft>
                <a:spcPts val="900"/>
              </a:spcAft>
            </a:pPr>
            <a:r>
              <a:rPr sz="1500" b="0" i="0">
                <a:solidFill>
                  <a:srgbClr val="252D35"/>
                </a:solidFill>
                <a:latin typeface="Arial"/>
              </a:rPr>
              <a:t>Martinez and colleagues voltage-clamped a crab PD neuron with a recorded waveform repeated at different periods. </a:t>
            </a:r>
            <a:r>
              <a:rPr sz="1500" b="1" i="0">
                <a:solidFill>
                  <a:srgbClr val="7E4357"/>
                </a:solidFill>
                <a:latin typeface="Arial"/>
              </a:rPr>
              <a:t>Voltage clamp</a:t>
            </a:r>
            <a:r>
              <a:rPr sz="1500" b="0" i="0">
                <a:solidFill>
                  <a:srgbClr val="252D35"/>
                </a:solidFill>
                <a:latin typeface="Arial"/>
              </a:rPr>
              <a:t> holds a membrane to a commanded voltage by injecting the required current. LP followed the imposed rhythm, but its onset latency and normalized onset phase changed differently.</a:t>
            </a:r>
          </a:p>
          <a:p>
            <a:pPr algn="l">
              <a:lnSpc>
                <a:spcPct val="108000"/>
              </a:lnSpc>
              <a:spcAft>
                <a:spcPts val="900"/>
              </a:spcAft>
            </a:pPr>
            <a:r>
              <a:rPr sz="1500" b="0" i="0">
                <a:solidFill>
                  <a:srgbClr val="252D35"/>
                </a:solidFill>
                <a:latin typeface="Arial"/>
              </a:rPr>
              <a:t>The measured LP phase declined as period increased, rather than remaining perfectly constant. LP lies between constant latency and constant phase whenever only the pacemaker is made faster or slower. Holding phase steady requires its inhibition to change with period, a property of short-term synaptic plasticity.</a:t>
            </a:r>
          </a:p>
        </p:txBody>
      </p:sp>
      <p:pic>
        <p:nvPicPr>
          <p:cNvPr id="4" name="Picture 3" descr="M19_1BC.png"/>
          <p:cNvPicPr>
            <a:picLocks noChangeAspect="1"/>
          </p:cNvPicPr>
          <p:nvPr/>
        </p:nvPicPr>
        <p:blipFill>
          <a:blip r:embed="rId2"/>
          <a:stretch>
            <a:fillRect/>
          </a:stretch>
        </p:blipFill>
        <p:spPr>
          <a:xfrm>
            <a:off x="6138367" y="1280160"/>
            <a:ext cx="3931920" cy="2236699"/>
          </a:xfrm>
          <a:prstGeom prst="rect">
            <a:avLst/>
          </a:prstGeom>
        </p:spPr>
      </p:pic>
      <p:sp>
        <p:nvSpPr>
          <p:cNvPr id="5" name="Figure caption"/>
          <p:cNvSpPr txBox="1"/>
          <p:nvPr/>
        </p:nvSpPr>
        <p:spPr>
          <a:xfrm>
            <a:off x="6138367" y="3608299"/>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Martinez et al. (2019), Fig. 1(A–C). Published timing alternatives and recorded PD–LP latency and phase</a:t>
            </a:r>
          </a:p>
        </p:txBody>
      </p:sp>
      <p:pic>
        <p:nvPicPr>
          <p:cNvPr id="6" name="Picture 5" descr="S10_net.png"/>
          <p:cNvPicPr>
            <a:picLocks noChangeAspect="1"/>
          </p:cNvPicPr>
          <p:nvPr/>
        </p:nvPicPr>
        <p:blipFill>
          <a:blip r:embed="rId3"/>
          <a:stretch>
            <a:fillRect/>
          </a:stretch>
        </p:blipFill>
        <p:spPr>
          <a:xfrm>
            <a:off x="10253167" y="2148840"/>
            <a:ext cx="1371600" cy="1918177"/>
          </a:xfrm>
          <a:prstGeom prst="rect">
            <a:avLst/>
          </a:prstGeom>
        </p:spPr>
      </p:pic>
      <p:sp>
        <p:nvSpPr>
          <p:cNvPr id="7" name="Figure caption"/>
          <p:cNvSpPr txBox="1"/>
          <p:nvPr/>
        </p:nvSpPr>
        <p:spPr>
          <a:xfrm>
            <a:off x="10253167" y="4140169"/>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Tang et al. (2010), Fig. 2(B). Crab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Martinez et al. (2019); Tang et al. (2010)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Glutamatergic input is required for normal LP bursts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52D35"/>
                </a:solidFill>
                <a:latin typeface="Arial"/>
              </a:rPr>
              <a:t>Martinez and colleagues recorded LP intracellularly while monitoring the crab lateral ventricular nerve. LP normally received alternating inhibition from the pacemaker and other pyloric neurons. Its recurring bursts depended on those inputs interacting with its own membrane properties.</a:t>
            </a:r>
          </a:p>
          <a:p>
            <a:pPr algn="l">
              <a:lnSpc>
                <a:spcPct val="108000"/>
              </a:lnSpc>
              <a:spcAft>
                <a:spcPts val="900"/>
              </a:spcAft>
            </a:pPr>
            <a:r>
              <a:rPr sz="1500" b="0" i="0">
                <a:solidFill>
                  <a:srgbClr val="252D35"/>
                </a:solidFill>
                <a:latin typeface="Arial"/>
              </a:rPr>
              <a:t>Bath application of 10 μM picrotoxin blocked glutamatergic inhibition from AB and PY. LP’s organized slow bursting disappeared while activity from other pyloric neurons remained visible on the nerve. The published comparison used a 500 ms time calibration and a 10 mV intracellular voltage calibration.</a:t>
            </a:r>
          </a:p>
          <a:p>
            <a:pPr algn="l">
              <a:lnSpc>
                <a:spcPct val="108000"/>
              </a:lnSpc>
              <a:spcAft>
                <a:spcPts val="900"/>
              </a:spcAft>
            </a:pPr>
            <a:r>
              <a:rPr sz="1500" b="0" i="0">
                <a:solidFill>
                  <a:srgbClr val="252D35"/>
                </a:solidFill>
                <a:latin typeface="Arial"/>
              </a:rPr>
              <a:t>Loss of LP rhythmicity after removal of particular inputs distinguishes a follower neuron from an autonomous oscillator in this condition. LP lacks intrinsic oscillatory properties: driven with noise current in picrotoxin, it burst irregularly, with burst timing set by the shape of the preceding input.</a:t>
            </a:r>
          </a:p>
        </p:txBody>
      </p:sp>
      <p:pic>
        <p:nvPicPr>
          <p:cNvPr id="4" name="Picture 3" descr="M19_2AB.png"/>
          <p:cNvPicPr>
            <a:picLocks noChangeAspect="1"/>
          </p:cNvPicPr>
          <p:nvPr/>
        </p:nvPicPr>
        <p:blipFill>
          <a:blip r:embed="rId2"/>
          <a:stretch>
            <a:fillRect/>
          </a:stretch>
        </p:blipFill>
        <p:spPr>
          <a:xfrm>
            <a:off x="6138367" y="1280160"/>
            <a:ext cx="3931920" cy="925543"/>
          </a:xfrm>
          <a:prstGeom prst="rect">
            <a:avLst/>
          </a:prstGeom>
        </p:spPr>
      </p:pic>
      <p:sp>
        <p:nvSpPr>
          <p:cNvPr id="5" name="Figure caption"/>
          <p:cNvSpPr txBox="1"/>
          <p:nvPr/>
        </p:nvSpPr>
        <p:spPr>
          <a:xfrm>
            <a:off x="6138367" y="2297143"/>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Martinez et al. (2019), Fig. 2(A–B). Blocking glutamatergic input disrupts LP bursting</a:t>
            </a:r>
          </a:p>
        </p:txBody>
      </p:sp>
      <p:pic>
        <p:nvPicPr>
          <p:cNvPr id="6" name="Picture 5" descr="S10_net.png"/>
          <p:cNvPicPr>
            <a:picLocks noChangeAspect="1"/>
          </p:cNvPicPr>
          <p:nvPr/>
        </p:nvPicPr>
        <p:blipFill>
          <a:blip r:embed="rId3"/>
          <a:stretch>
            <a:fillRect/>
          </a:stretch>
        </p:blipFill>
        <p:spPr>
          <a:xfrm>
            <a:off x="10253167" y="2148840"/>
            <a:ext cx="1371600" cy="1918177"/>
          </a:xfrm>
          <a:prstGeom prst="rect">
            <a:avLst/>
          </a:prstGeom>
        </p:spPr>
      </p:pic>
      <p:sp>
        <p:nvSpPr>
          <p:cNvPr id="7" name="Figure caption"/>
          <p:cNvSpPr txBox="1"/>
          <p:nvPr/>
        </p:nvSpPr>
        <p:spPr>
          <a:xfrm>
            <a:off x="10253167" y="4140169"/>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Tang et al. (2010), Fig. 2(B). Crab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Martinez et al. (2019); Tang et al. (2010)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Dynamic clamp tests the timing effect of inhibition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7E4357"/>
                </a:solidFill>
                <a:latin typeface="Arial"/>
              </a:rPr>
              <a:t>Dynamic clamp</a:t>
            </a:r>
            <a:r>
              <a:rPr sz="1500" b="0" i="0">
                <a:solidFill>
                  <a:srgbClr val="252D35"/>
                </a:solidFill>
                <a:latin typeface="Arial"/>
              </a:rPr>
              <a:t> injects an electrical current calculated from the recorded membrane voltage and a specified conductance. Martinez and colleagues used it to replace blocked input to a living LP neuron. The neuron’s own channels remained active while the experimenter controlled the inhibitory waveform.</a:t>
            </a:r>
          </a:p>
          <a:p>
            <a:pPr algn="l">
              <a:lnSpc>
                <a:spcPct val="108000"/>
              </a:lnSpc>
              <a:spcAft>
                <a:spcPts val="900"/>
              </a:spcAft>
            </a:pPr>
            <a:r>
              <a:rPr sz="1500" b="0" i="0">
                <a:solidFill>
                  <a:srgbClr val="252D35"/>
                </a:solidFill>
                <a:latin typeface="Arial"/>
              </a:rPr>
              <a:t>The physiological synaptic waveform was measured in voltage-clamped LP and aligned to pacemaker burst onset. Replaying a conductance based on that waveform recruited LP bursts. Increasing imposed conductance delayed LP onset, whereas lengthening the repetition period tended to move onset to an earlier fraction of the cycle.</a:t>
            </a:r>
          </a:p>
          <a:p>
            <a:pPr algn="l">
              <a:lnSpc>
                <a:spcPct val="108000"/>
              </a:lnSpc>
              <a:spcAft>
                <a:spcPts val="900"/>
              </a:spcAft>
            </a:pPr>
            <a:r>
              <a:rPr sz="1500" b="0" i="0">
                <a:solidFill>
                  <a:srgbClr val="252D35"/>
                </a:solidFill>
                <a:latin typeface="Arial"/>
              </a:rPr>
              <a:t>Opposing timing effects allow synaptic properties to compensate for changes in rhythm speed. Stronger inhibition deepened LP’s hyperpolarization considerably yet shifted its first spike only modestly, so strength fine-tunes LP onset.</a:t>
            </a:r>
          </a:p>
        </p:txBody>
      </p:sp>
      <p:pic>
        <p:nvPicPr>
          <p:cNvPr id="4" name="Picture 3" descr="M19_3BC.png"/>
          <p:cNvPicPr>
            <a:picLocks noChangeAspect="1"/>
          </p:cNvPicPr>
          <p:nvPr/>
        </p:nvPicPr>
        <p:blipFill>
          <a:blip r:embed="rId2"/>
          <a:stretch>
            <a:fillRect/>
          </a:stretch>
        </p:blipFill>
        <p:spPr>
          <a:xfrm>
            <a:off x="6138367" y="1280160"/>
            <a:ext cx="3931920" cy="3889451"/>
          </a:xfrm>
          <a:prstGeom prst="rect">
            <a:avLst/>
          </a:prstGeom>
        </p:spPr>
      </p:pic>
      <p:sp>
        <p:nvSpPr>
          <p:cNvPr id="5" name="Figure caption"/>
          <p:cNvSpPr txBox="1"/>
          <p:nvPr/>
        </p:nvSpPr>
        <p:spPr>
          <a:xfrm>
            <a:off x="6138367" y="5261051"/>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Martinez et al. (2019), Fig. 3(A–F). Measured input, conductance replay and LP phase responses</a:t>
            </a:r>
          </a:p>
        </p:txBody>
      </p:sp>
      <p:pic>
        <p:nvPicPr>
          <p:cNvPr id="6" name="Picture 5" descr="S10_net.png"/>
          <p:cNvPicPr>
            <a:picLocks noChangeAspect="1"/>
          </p:cNvPicPr>
          <p:nvPr/>
        </p:nvPicPr>
        <p:blipFill>
          <a:blip r:embed="rId3"/>
          <a:stretch>
            <a:fillRect/>
          </a:stretch>
        </p:blipFill>
        <p:spPr>
          <a:xfrm>
            <a:off x="10253167" y="2148840"/>
            <a:ext cx="1371600" cy="1918177"/>
          </a:xfrm>
          <a:prstGeom prst="rect">
            <a:avLst/>
          </a:prstGeom>
        </p:spPr>
      </p:pic>
      <p:sp>
        <p:nvSpPr>
          <p:cNvPr id="7" name="Figure caption"/>
          <p:cNvSpPr txBox="1"/>
          <p:nvPr/>
        </p:nvSpPr>
        <p:spPr>
          <a:xfrm>
            <a:off x="10253167" y="4140169"/>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Tang et al. (2010), Fig. 2(B). Crab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Martinez et al. (2019); Tang et al. (2010)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Inhibitory duty cycle contributes to phase control</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7E4357"/>
                </a:solidFill>
                <a:latin typeface="Arial"/>
              </a:rPr>
              <a:t>Duty cycle</a:t>
            </a:r>
            <a:r>
              <a:rPr sz="1500" b="0" i="0">
                <a:solidFill>
                  <a:srgbClr val="252D35"/>
                </a:solidFill>
                <a:latin typeface="Arial"/>
              </a:rPr>
              <a:t> is the fraction of a complete cycle occupied by an event. The duration of inhibition can remain a similar fraction of the pyloric cycle even as the absolute period changes. That relationship alters when an LP neuron is released from inhibition.</a:t>
            </a:r>
          </a:p>
          <a:p>
            <a:pPr algn="l">
              <a:lnSpc>
                <a:spcPct val="108000"/>
              </a:lnSpc>
              <a:spcAft>
                <a:spcPts val="900"/>
              </a:spcAft>
            </a:pPr>
            <a:r>
              <a:rPr sz="1500" b="0" i="0">
                <a:solidFill>
                  <a:srgbClr val="252D35"/>
                </a:solidFill>
                <a:latin typeface="Arial"/>
              </a:rPr>
              <a:t>Martinez and colleagues compared LP onset phase measured from the start of the imposed pacemaker burst with onset measured from its end. The same bursts produced different phase-versus-period relationships under the two reference definitions. Their dynamic-clamp experiments also varied inhibitory duration independently of other waveform features.</a:t>
            </a:r>
          </a:p>
          <a:p>
            <a:pPr algn="l">
              <a:lnSpc>
                <a:spcPct val="108000"/>
              </a:lnSpc>
              <a:spcAft>
                <a:spcPts val="900"/>
              </a:spcAft>
            </a:pPr>
            <a:r>
              <a:rPr sz="1500" b="0" i="0">
                <a:solidFill>
                  <a:srgbClr val="252D35"/>
                </a:solidFill>
                <a:latin typeface="Arial"/>
              </a:rPr>
              <a:t>Maintaining inhibitory duration proportional to period promoted phase maintenance more effectively than keeping duration fixed in milliseconds. With inhibition fixed at 0.3 of the cycle, LP never fired before phase 0.3. A stable motor phase can therefore emerge from coordinated input timing without requiring each neuron to retain a fixed absolute rebound latency.</a:t>
            </a:r>
          </a:p>
        </p:txBody>
      </p:sp>
      <p:pic>
        <p:nvPicPr>
          <p:cNvPr id="4" name="Picture 3" descr="M19_4.png"/>
          <p:cNvPicPr>
            <a:picLocks noChangeAspect="1"/>
          </p:cNvPicPr>
          <p:nvPr/>
        </p:nvPicPr>
        <p:blipFill>
          <a:blip r:embed="rId2"/>
          <a:stretch>
            <a:fillRect/>
          </a:stretch>
        </p:blipFill>
        <p:spPr>
          <a:xfrm>
            <a:off x="6679671" y="1280160"/>
            <a:ext cx="2849310" cy="4297679"/>
          </a:xfrm>
          <a:prstGeom prst="rect">
            <a:avLst/>
          </a:prstGeom>
        </p:spPr>
      </p:pic>
      <p:sp>
        <p:nvSpPr>
          <p:cNvPr id="5" name="Figure caption"/>
          <p:cNvSpPr txBox="1"/>
          <p:nvPr/>
        </p:nvSpPr>
        <p:spPr>
          <a:xfrm>
            <a:off x="6138367" y="5669279"/>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Martinez et al. (2019), Fig. 4(A–B). LP phase depends on the timing reference and inhibitory duty cycle</a:t>
            </a:r>
          </a:p>
        </p:txBody>
      </p:sp>
      <p:pic>
        <p:nvPicPr>
          <p:cNvPr id="6" name="Picture 5" descr="S10_net.png"/>
          <p:cNvPicPr>
            <a:picLocks noChangeAspect="1"/>
          </p:cNvPicPr>
          <p:nvPr/>
        </p:nvPicPr>
        <p:blipFill>
          <a:blip r:embed="rId3"/>
          <a:stretch>
            <a:fillRect/>
          </a:stretch>
        </p:blipFill>
        <p:spPr>
          <a:xfrm>
            <a:off x="10253167" y="2148840"/>
            <a:ext cx="1371600" cy="1918177"/>
          </a:xfrm>
          <a:prstGeom prst="rect">
            <a:avLst/>
          </a:prstGeom>
        </p:spPr>
      </p:pic>
      <p:sp>
        <p:nvSpPr>
          <p:cNvPr id="7" name="Figure caption"/>
          <p:cNvSpPr txBox="1"/>
          <p:nvPr/>
        </p:nvSpPr>
        <p:spPr>
          <a:xfrm>
            <a:off x="10253167" y="4140169"/>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Tang et al. (2010), Fig. 2(B). Crab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Martinez et al. (2019); Tang et al. (2010)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Later inhibitory peaks delay a follower’s activity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252D35"/>
                </a:solidFill>
                <a:latin typeface="Arial"/>
              </a:rPr>
              <a:t>Martinez and colleagues varied the position of the peak within an imposed inhibitory conductance while keeping its period and amplitude controlled. A </a:t>
            </a:r>
            <a:r>
              <a:rPr sz="1400" b="1" i="0">
                <a:solidFill>
                  <a:srgbClr val="7E4357"/>
                </a:solidFill>
                <a:latin typeface="Arial"/>
              </a:rPr>
              <a:t>peak phase</a:t>
            </a:r>
            <a:r>
              <a:rPr sz="1400" b="0" i="0">
                <a:solidFill>
                  <a:srgbClr val="252D35"/>
                </a:solidFill>
                <a:latin typeface="Arial"/>
              </a:rPr>
              <a:t> specifies when the conductance reaches its maximum within the active inhibitory interval. The waveform was delivered by dynamic clamp to a living LP neuron.</a:t>
            </a:r>
          </a:p>
          <a:p>
            <a:pPr algn="l">
              <a:lnSpc>
                <a:spcPct val="108000"/>
              </a:lnSpc>
              <a:spcAft>
                <a:spcPts val="840"/>
              </a:spcAft>
            </a:pPr>
            <a:r>
              <a:rPr sz="1400" b="0" i="0">
                <a:solidFill>
                  <a:srgbClr val="252D35"/>
                </a:solidFill>
                <a:latin typeface="Arial"/>
              </a:rPr>
              <a:t>Moving the peak later shifted the onset of LP firing to a later pyloric phase. The published recording examples used a 500 ms period and compared several peak positions. They separated a change in inhibitory timing from a change in the neuron’s identity or its natural synaptic wiring.</a:t>
            </a:r>
          </a:p>
          <a:p>
            <a:pPr algn="l">
              <a:lnSpc>
                <a:spcPct val="108000"/>
              </a:lnSpc>
              <a:spcAft>
                <a:spcPts val="840"/>
              </a:spcAft>
            </a:pPr>
            <a:r>
              <a:rPr sz="1400" b="0" i="0">
                <a:solidFill>
                  <a:srgbClr val="252D35"/>
                </a:solidFill>
                <a:latin typeface="Arial"/>
              </a:rPr>
              <a:t>Amplitude, duration and peak position can jointly influence release from inhibition. Raising amplitude and peak phase together delayed LP more than changing either alone, so increasing both with period extends the range of rhythm speeds over which LP keeps a constant phase. In the authors’ analysis, short-term depression produces such coordinated changes.</a:t>
            </a:r>
          </a:p>
        </p:txBody>
      </p:sp>
      <p:pic>
        <p:nvPicPr>
          <p:cNvPr id="4" name="Picture 3" descr="M19_6C.png"/>
          <p:cNvPicPr>
            <a:picLocks noChangeAspect="1"/>
          </p:cNvPicPr>
          <p:nvPr/>
        </p:nvPicPr>
        <p:blipFill>
          <a:blip r:embed="rId2"/>
          <a:stretch>
            <a:fillRect/>
          </a:stretch>
        </p:blipFill>
        <p:spPr>
          <a:xfrm>
            <a:off x="6138367" y="1280160"/>
            <a:ext cx="3931920" cy="2176598"/>
          </a:xfrm>
          <a:prstGeom prst="rect">
            <a:avLst/>
          </a:prstGeom>
        </p:spPr>
      </p:pic>
      <p:sp>
        <p:nvSpPr>
          <p:cNvPr id="5" name="Figure caption"/>
          <p:cNvSpPr txBox="1"/>
          <p:nvPr/>
        </p:nvSpPr>
        <p:spPr>
          <a:xfrm>
            <a:off x="6138367" y="3548198"/>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Martinez et al. (2019), Fig. 6(C1–C2). Later inhibitory peaks delay LP activity in dynamic clamp</a:t>
            </a:r>
          </a:p>
        </p:txBody>
      </p:sp>
      <p:pic>
        <p:nvPicPr>
          <p:cNvPr id="6" name="Picture 5" descr="S10_net.png"/>
          <p:cNvPicPr>
            <a:picLocks noChangeAspect="1"/>
          </p:cNvPicPr>
          <p:nvPr/>
        </p:nvPicPr>
        <p:blipFill>
          <a:blip r:embed="rId3"/>
          <a:stretch>
            <a:fillRect/>
          </a:stretch>
        </p:blipFill>
        <p:spPr>
          <a:xfrm>
            <a:off x="10253167" y="2148840"/>
            <a:ext cx="1371600" cy="1918177"/>
          </a:xfrm>
          <a:prstGeom prst="rect">
            <a:avLst/>
          </a:prstGeom>
        </p:spPr>
      </p:pic>
      <p:sp>
        <p:nvSpPr>
          <p:cNvPr id="7" name="Figure caption"/>
          <p:cNvSpPr txBox="1"/>
          <p:nvPr/>
        </p:nvSpPr>
        <p:spPr>
          <a:xfrm>
            <a:off x="10253167" y="4140169"/>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Tang et al. (2010), Fig. 2(B). Crab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Martinez et al. (2019); Tang et al. (2010)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Proctolin changes the lobster pacemaker’s oscillation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1" i="0">
                <a:solidFill>
                  <a:srgbClr val="7E4357"/>
                </a:solidFill>
                <a:latin typeface="Arial"/>
              </a:rPr>
              <a:t>Proctolin</a:t>
            </a:r>
            <a:r>
              <a:rPr sz="1400" b="0" i="0">
                <a:solidFill>
                  <a:srgbClr val="252D35"/>
                </a:solidFill>
                <a:latin typeface="Arial"/>
              </a:rPr>
              <a:t> is a five-amino-acid neuropeptide that modulates the lobster pyloric circuit. Hooper and Marder applied it to the isolated stomatogastric preparation after descending input was blocked. Intracellular recordings separated slow membrane oscillations from the spikes generated during each depolarized phase.</a:t>
            </a:r>
          </a:p>
          <a:p>
            <a:pPr algn="l">
              <a:lnSpc>
                <a:spcPct val="108000"/>
              </a:lnSpc>
              <a:spcAft>
                <a:spcPts val="840"/>
              </a:spcAft>
            </a:pPr>
            <a:r>
              <a:rPr sz="1400" b="0" i="0">
                <a:solidFill>
                  <a:srgbClr val="252D35"/>
                </a:solidFill>
                <a:latin typeface="Arial"/>
              </a:rPr>
              <a:t>At 1 μM proctolin, AB oscillation amplitude increased and follower-neuron activity changed. In isolated AB, progressively higher peptide concentrations recruited stronger activity. Saline wash between applications returned the neuron toward its baseline, providing a control for reversibility and persistent peptide effects.</a:t>
            </a:r>
          </a:p>
          <a:p>
            <a:pPr algn="l">
              <a:lnSpc>
                <a:spcPct val="108000"/>
              </a:lnSpc>
              <a:spcAft>
                <a:spcPts val="840"/>
              </a:spcAft>
            </a:pPr>
            <a:r>
              <a:rPr sz="1400" b="0" i="0">
                <a:solidFill>
                  <a:srgbClr val="252D35"/>
                </a:solidFill>
                <a:latin typeface="Arial"/>
              </a:rPr>
              <a:t>The network response combined direct peptide actions on selected neurons with consequences propagated through their existing connections. Isolated AB bursts grew in both amplitude and frequency, so the peptide’s action on the single pacemaker interneuron can account for the faster pyloric cycle in proctolin.</a:t>
            </a:r>
          </a:p>
        </p:txBody>
      </p:sp>
      <p:pic>
        <p:nvPicPr>
          <p:cNvPr id="4" name="Picture 3" descr="H87_4.png"/>
          <p:cNvPicPr>
            <a:picLocks noChangeAspect="1"/>
          </p:cNvPicPr>
          <p:nvPr/>
        </p:nvPicPr>
        <p:blipFill>
          <a:blip r:embed="rId2"/>
          <a:stretch>
            <a:fillRect/>
          </a:stretch>
        </p:blipFill>
        <p:spPr>
          <a:xfrm>
            <a:off x="6838895" y="1280160"/>
            <a:ext cx="4085344" cy="2148840"/>
          </a:xfrm>
          <a:prstGeom prst="rect">
            <a:avLst/>
          </a:prstGeom>
        </p:spPr>
      </p:pic>
      <p:sp>
        <p:nvSpPr>
          <p:cNvPr id="5" name="Figure caption"/>
          <p:cNvSpPr txBox="1"/>
          <p:nvPr/>
        </p:nvSpPr>
        <p:spPr>
          <a:xfrm>
            <a:off x="6138367" y="352044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Hooper &amp; Marder (1987), Fig. 4. Proctolin changes AB oscillations and the activity of follower cells</a:t>
            </a:r>
          </a:p>
        </p:txBody>
      </p:sp>
      <p:pic>
        <p:nvPicPr>
          <p:cNvPr id="6" name="Picture 5" descr="H87_6.png"/>
          <p:cNvPicPr>
            <a:picLocks noChangeAspect="1"/>
          </p:cNvPicPr>
          <p:nvPr/>
        </p:nvPicPr>
        <p:blipFill>
          <a:blip r:embed="rId3"/>
          <a:stretch>
            <a:fillRect/>
          </a:stretch>
        </p:blipFill>
        <p:spPr>
          <a:xfrm>
            <a:off x="7247763" y="3977640"/>
            <a:ext cx="3267607" cy="17830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Hooper &amp; Marder (1987), Fig. 6. Proctolin excites the isolated AB neuron in a concentration-dependent manner</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Hooper &amp; Marder (1987)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Direct peptide targets differ from affected motor cells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252D35"/>
                </a:solidFill>
                <a:latin typeface="Arial"/>
              </a:rPr>
              <a:t>Hooper and Marder isolated lobster PD neurons from their major synaptic inputs, then applied 1 μM proctolin. The PD cells continued tonic firing without the direct peptide response found in isolated AB. In the intact circuit, however, PD activity changed because PD remained electrically coupled to the peptide-responsive AB neuron.</a:t>
            </a:r>
          </a:p>
          <a:p>
            <a:pPr algn="l">
              <a:lnSpc>
                <a:spcPct val="108000"/>
              </a:lnSpc>
              <a:spcAft>
                <a:spcPts val="840"/>
              </a:spcAft>
            </a:pPr>
            <a:r>
              <a:rPr sz="1400" b="0" i="0">
                <a:solidFill>
                  <a:srgbClr val="252D35"/>
                </a:solidFill>
                <a:latin typeface="Arial"/>
              </a:rPr>
              <a:t>An isolated LP neuron responded differently depending on its membrane voltage. At approximately −58 mV, proctolin caused depolarization and spiking. At approximately −62 mV in the same neuron, that response was absent. Voltage-dependent expression of modulation can therefore obscure a response during a single baseline test.</a:t>
            </a:r>
          </a:p>
          <a:p>
            <a:pPr algn="l">
              <a:lnSpc>
                <a:spcPct val="108000"/>
              </a:lnSpc>
              <a:spcAft>
                <a:spcPts val="840"/>
              </a:spcAft>
            </a:pPr>
            <a:r>
              <a:rPr sz="1400" b="0" i="0">
                <a:solidFill>
                  <a:srgbClr val="252D35"/>
                </a:solidFill>
                <a:latin typeface="Arial"/>
              </a:rPr>
              <a:t>A modulator’s circuit effect depends on target-cell properties and the connections transmitting their effects. Proctolin excites LP only near threshold, so in the circuit it boosts LP mainly during the depolarized part of each cycle, when release from inhibition brings LP close to firing.</a:t>
            </a:r>
          </a:p>
        </p:txBody>
      </p:sp>
      <p:pic>
        <p:nvPicPr>
          <p:cNvPr id="4" name="Picture 3" descr="H87_7.png"/>
          <p:cNvPicPr>
            <a:picLocks noChangeAspect="1"/>
          </p:cNvPicPr>
          <p:nvPr/>
        </p:nvPicPr>
        <p:blipFill>
          <a:blip r:embed="rId2"/>
          <a:stretch>
            <a:fillRect/>
          </a:stretch>
        </p:blipFill>
        <p:spPr>
          <a:xfrm>
            <a:off x="7872103" y="1280160"/>
            <a:ext cx="2018926" cy="2148840"/>
          </a:xfrm>
          <a:prstGeom prst="rect">
            <a:avLst/>
          </a:prstGeom>
        </p:spPr>
      </p:pic>
      <p:sp>
        <p:nvSpPr>
          <p:cNvPr id="5" name="Figure caption"/>
          <p:cNvSpPr txBox="1"/>
          <p:nvPr/>
        </p:nvSpPr>
        <p:spPr>
          <a:xfrm>
            <a:off x="6138367" y="352044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Hooper &amp; Marder (1987), Fig. 7. Isolated PD neurons retain tonic activity in proctolin</a:t>
            </a:r>
          </a:p>
        </p:txBody>
      </p:sp>
      <p:pic>
        <p:nvPicPr>
          <p:cNvPr id="6" name="Picture 5" descr="H87_9.png"/>
          <p:cNvPicPr>
            <a:picLocks noChangeAspect="1"/>
          </p:cNvPicPr>
          <p:nvPr/>
        </p:nvPicPr>
        <p:blipFill>
          <a:blip r:embed="rId3"/>
          <a:stretch>
            <a:fillRect/>
          </a:stretch>
        </p:blipFill>
        <p:spPr>
          <a:xfrm>
            <a:off x="6677057" y="3977640"/>
            <a:ext cx="4409019" cy="17830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Hooper &amp; Marder (1987), Fig. 9. The isolated LP response depends on membrane voltage</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Hooper &amp; Marder (1987)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CCAP receptor transcripts differ among neuron classes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52D35"/>
                </a:solidFill>
                <a:latin typeface="Arial"/>
              </a:rPr>
              <a:t>Garcia and colleagues identified a candidate </a:t>
            </a:r>
            <a:r>
              <a:rPr sz="1600" b="1" i="0">
                <a:solidFill>
                  <a:srgbClr val="7E4357"/>
                </a:solidFill>
                <a:latin typeface="Arial"/>
              </a:rPr>
              <a:t>CCAP receptor</a:t>
            </a:r>
            <a:r>
              <a:rPr sz="1600" b="0" i="0">
                <a:solidFill>
                  <a:srgbClr val="252D35"/>
                </a:solidFill>
                <a:latin typeface="Arial"/>
              </a:rPr>
              <a:t> transcript in the crab nervous system. A </a:t>
            </a:r>
            <a:r>
              <a:rPr sz="1600" b="1" i="0">
                <a:solidFill>
                  <a:srgbClr val="7E4357"/>
                </a:solidFill>
                <a:latin typeface="Arial"/>
              </a:rPr>
              <a:t>transcript</a:t>
            </a:r>
            <a:r>
              <a:rPr sz="1600" b="0" i="0">
                <a:solidFill>
                  <a:srgbClr val="252D35"/>
                </a:solidFill>
                <a:latin typeface="Arial"/>
              </a:rPr>
              <a:t> is an RNA copy of a gene used in protein production. The candidate sequence resembled known peptide receptors and predicted a receptor with seven membrane-spanning segments.</a:t>
            </a:r>
          </a:p>
          <a:p>
            <a:pPr algn="l">
              <a:lnSpc>
                <a:spcPct val="108000"/>
              </a:lnSpc>
              <a:spcAft>
                <a:spcPts val="960"/>
              </a:spcAft>
            </a:pPr>
            <a:r>
              <a:rPr sz="1600" b="1" i="0">
                <a:solidFill>
                  <a:srgbClr val="7E4357"/>
                </a:solidFill>
                <a:latin typeface="Arial"/>
              </a:rPr>
              <a:t>Single-cell quantitative PCR</a:t>
            </a:r>
            <a:r>
              <a:rPr sz="1600" b="0" i="0">
                <a:solidFill>
                  <a:srgbClr val="252D35"/>
                </a:solidFill>
                <a:latin typeface="Arial"/>
              </a:rPr>
              <a:t> measured receptor RNA from individually identified neurons. PCR amplifies a selected nucleic-acid sequence so its abundance can be estimated. LP generally contained more receptor transcript than IC, while expression was low or undetectable in several other STG classes.</a:t>
            </a:r>
          </a:p>
          <a:p>
            <a:pPr algn="l">
              <a:lnSpc>
                <a:spcPct val="108000"/>
              </a:lnSpc>
              <a:spcAft>
                <a:spcPts val="960"/>
              </a:spcAft>
            </a:pPr>
            <a:r>
              <a:rPr sz="1600" b="0" i="0">
                <a:solidFill>
                  <a:srgbClr val="252D35"/>
                </a:solidFill>
                <a:latin typeface="Arial"/>
              </a:rPr>
              <a:t>Transcript distribution broadly matched the cells in which CCAP activates I_MI. VD was an exception: receptor RNA was present without a detected current response. In VD, CCAP instead strengthened graded synaptic transmission.</a:t>
            </a:r>
          </a:p>
        </p:txBody>
      </p:sp>
      <p:pic>
        <p:nvPicPr>
          <p:cNvPr id="4" name="Picture 3" descr="G15_4.png"/>
          <p:cNvPicPr>
            <a:picLocks noChangeAspect="1"/>
          </p:cNvPicPr>
          <p:nvPr/>
        </p:nvPicPr>
        <p:blipFill>
          <a:blip r:embed="rId2"/>
          <a:stretch>
            <a:fillRect/>
          </a:stretch>
        </p:blipFill>
        <p:spPr>
          <a:xfrm>
            <a:off x="6138367" y="1280160"/>
            <a:ext cx="3931920" cy="3815591"/>
          </a:xfrm>
          <a:prstGeom prst="rect">
            <a:avLst/>
          </a:prstGeom>
        </p:spPr>
      </p:pic>
      <p:sp>
        <p:nvSpPr>
          <p:cNvPr id="5" name="Figure caption"/>
          <p:cNvSpPr txBox="1"/>
          <p:nvPr/>
        </p:nvSpPr>
        <p:spPr>
          <a:xfrm>
            <a:off x="6138367" y="5187191"/>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Garcia et al. (2015), Fig. 4. CCAP receptor transcript abundance differs across identified neurons</a:t>
            </a:r>
          </a:p>
        </p:txBody>
      </p:sp>
      <p:pic>
        <p:nvPicPr>
          <p:cNvPr id="6" name="Picture 5" descr="S21_net.png"/>
          <p:cNvPicPr>
            <a:picLocks noChangeAspect="1"/>
          </p:cNvPicPr>
          <p:nvPr/>
        </p:nvPicPr>
        <p:blipFill>
          <a:blip r:embed="rId3"/>
          <a:stretch>
            <a:fillRect/>
          </a:stretch>
        </p:blipFill>
        <p:spPr>
          <a:xfrm>
            <a:off x="10253167" y="2148840"/>
            <a:ext cx="1371600" cy="881950"/>
          </a:xfrm>
          <a:prstGeom prst="rect">
            <a:avLst/>
          </a:prstGeom>
        </p:spPr>
      </p:pic>
      <p:sp>
        <p:nvSpPr>
          <p:cNvPr id="7" name="Figure caption"/>
          <p:cNvSpPr txBox="1"/>
          <p:nvPr/>
        </p:nvSpPr>
        <p:spPr>
          <a:xfrm>
            <a:off x="10253167" y="3103942"/>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Powell et al. (2021), Fig. 1(c). Crab STG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Garcia et al. (2015); Powell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The same peptide produces different current responses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252D35"/>
                </a:solidFill>
                <a:latin typeface="Arial"/>
              </a:rPr>
              <a:t>Garcia and colleagues voltage-clamped identified crab neurons while applying CCAP at controlled concentrations. They measured </a:t>
            </a:r>
            <a:r>
              <a:rPr sz="1400" b="1" i="0">
                <a:solidFill>
                  <a:srgbClr val="7E4357"/>
                </a:solidFill>
                <a:latin typeface="Arial"/>
              </a:rPr>
              <a:t>I_MI</a:t>
            </a:r>
            <a:r>
              <a:rPr sz="1400" b="0" i="0">
                <a:solidFill>
                  <a:srgbClr val="252D35"/>
                </a:solidFill>
                <a:latin typeface="Arial"/>
              </a:rPr>
              <a:t>, a voltage-dependent modulator-activated inward current, by subtracting control currents from currents measured in peptide. LP and IC differed in both response magnitude and concentration dependence.</a:t>
            </a:r>
          </a:p>
          <a:p>
            <a:pPr algn="l">
              <a:lnSpc>
                <a:spcPct val="108000"/>
              </a:lnSpc>
              <a:spcAft>
                <a:spcPts val="840"/>
              </a:spcAft>
            </a:pPr>
            <a:r>
              <a:rPr sz="1400" b="0" i="0">
                <a:solidFill>
                  <a:srgbClr val="252D35"/>
                </a:solidFill>
                <a:latin typeface="Arial"/>
              </a:rPr>
              <a:t>LP generated larger inward currents and responded more strongly at low concentrations than IC. Current measurements at −20 mV distinguished a cell’s concentration-response relationship from its spontaneous firing pattern. Increasing CCAP could saturate the response, so added peptide eventually produced little additional current.</a:t>
            </a:r>
          </a:p>
          <a:p>
            <a:pPr algn="l">
              <a:lnSpc>
                <a:spcPct val="108000"/>
              </a:lnSpc>
              <a:spcAft>
                <a:spcPts val="840"/>
              </a:spcAft>
            </a:pPr>
            <a:r>
              <a:rPr sz="1400" b="0" i="0">
                <a:solidFill>
                  <a:srgbClr val="252D35"/>
                </a:solidFill>
                <a:latin typeface="Arial"/>
              </a:rPr>
              <a:t>Both cells possessed the capacity for peptide-activated inward current, yet the same bath concentration did not produce equivalent activation. LP’s steeper, lower concentration-response curve means that a modest rise in a circulating peptide such as CCAP modulates LP strongly before IC responds much.</a:t>
            </a:r>
          </a:p>
        </p:txBody>
      </p:sp>
      <p:pic>
        <p:nvPicPr>
          <p:cNvPr id="4" name="Picture 3" descr="G15_7.png"/>
          <p:cNvPicPr>
            <a:picLocks noChangeAspect="1"/>
          </p:cNvPicPr>
          <p:nvPr/>
        </p:nvPicPr>
        <p:blipFill>
          <a:blip r:embed="rId2"/>
          <a:stretch>
            <a:fillRect/>
          </a:stretch>
        </p:blipFill>
        <p:spPr>
          <a:xfrm>
            <a:off x="6679277" y="1280160"/>
            <a:ext cx="2850099" cy="4297679"/>
          </a:xfrm>
          <a:prstGeom prst="rect">
            <a:avLst/>
          </a:prstGeom>
        </p:spPr>
      </p:pic>
      <p:sp>
        <p:nvSpPr>
          <p:cNvPr id="5" name="Figure caption"/>
          <p:cNvSpPr txBox="1"/>
          <p:nvPr/>
        </p:nvSpPr>
        <p:spPr>
          <a:xfrm>
            <a:off x="6138367" y="5669279"/>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Garcia et al. (2015), Fig. 7(A–F). CCAP current amplitude and concentration dependence differ between LP and IC</a:t>
            </a:r>
          </a:p>
        </p:txBody>
      </p:sp>
      <p:pic>
        <p:nvPicPr>
          <p:cNvPr id="6" name="Picture 5" descr="S21_net.png"/>
          <p:cNvPicPr>
            <a:picLocks noChangeAspect="1"/>
          </p:cNvPicPr>
          <p:nvPr/>
        </p:nvPicPr>
        <p:blipFill>
          <a:blip r:embed="rId3"/>
          <a:stretch>
            <a:fillRect/>
          </a:stretch>
        </p:blipFill>
        <p:spPr>
          <a:xfrm>
            <a:off x="10253167" y="2148840"/>
            <a:ext cx="1371600" cy="881950"/>
          </a:xfrm>
          <a:prstGeom prst="rect">
            <a:avLst/>
          </a:prstGeom>
        </p:spPr>
      </p:pic>
      <p:sp>
        <p:nvSpPr>
          <p:cNvPr id="7" name="Figure caption"/>
          <p:cNvSpPr txBox="1"/>
          <p:nvPr/>
        </p:nvSpPr>
        <p:spPr>
          <a:xfrm>
            <a:off x="10253167" y="3103942"/>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Powell et al. (2021), Fig. 1(c). Crab STG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Garcia et al. (2015); Powell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CCAP can modulate a synapse without activating I_MI</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52D35"/>
                </a:solidFill>
                <a:latin typeface="Arial"/>
              </a:rPr>
              <a:t>The crab VD neuron expressed candidate CCAP receptor RNA but lacked a detected CCAP-induced I_MI response. Garcia and colleagues tested a different physiological endpoint: the graded inhibitory synapse from VD to the lateral gastric neuron, </a:t>
            </a:r>
            <a:r>
              <a:rPr sz="1500" b="1" i="0">
                <a:solidFill>
                  <a:srgbClr val="7E4357"/>
                </a:solidFill>
                <a:latin typeface="Arial"/>
              </a:rPr>
              <a:t>LG</a:t>
            </a:r>
            <a:r>
              <a:rPr sz="1500" b="0" i="0">
                <a:solidFill>
                  <a:srgbClr val="252D35"/>
                </a:solidFill>
                <a:latin typeface="Arial"/>
              </a:rPr>
              <a:t>, a motor neuron participating in the gastric mill rhythm.</a:t>
            </a:r>
          </a:p>
          <a:p>
            <a:pPr algn="l">
              <a:lnSpc>
                <a:spcPct val="108000"/>
              </a:lnSpc>
              <a:spcAft>
                <a:spcPts val="900"/>
              </a:spcAft>
            </a:pPr>
            <a:r>
              <a:rPr sz="1500" b="0" i="0">
                <a:solidFill>
                  <a:srgbClr val="252D35"/>
                </a:solidFill>
                <a:latin typeface="Arial"/>
              </a:rPr>
              <a:t>VD voltage steps evoked postsynaptic current in voltage-clamped LG. Application of 100 nM CCAP strengthened this response, and washout returned it toward control. The comparison measured the same synapse under controlled presynaptic and postsynaptic voltages, rather than inferring synaptic strength from uncontrolled spike counts.</a:t>
            </a:r>
          </a:p>
          <a:p>
            <a:pPr algn="l">
              <a:lnSpc>
                <a:spcPct val="108000"/>
              </a:lnSpc>
              <a:spcAft>
                <a:spcPts val="900"/>
              </a:spcAft>
            </a:pPr>
            <a:r>
              <a:rPr sz="1500" b="0" i="0">
                <a:solidFill>
                  <a:srgbClr val="252D35"/>
                </a:solidFill>
                <a:latin typeface="Arial"/>
              </a:rPr>
              <a:t>A peptide receptor can influence synaptic transmission even when one particular intrinsic current is absent. The VD result resolves an apparent mismatch between transcript expression and I_MI response. CCAP can thus reach the gastric mill circuit through a pyloric neuron, since VD’s strengthened inhibition falls on LG.</a:t>
            </a:r>
          </a:p>
        </p:txBody>
      </p:sp>
      <p:pic>
        <p:nvPicPr>
          <p:cNvPr id="4" name="Picture 3" descr="G15_5.png"/>
          <p:cNvPicPr>
            <a:picLocks noChangeAspect="1"/>
          </p:cNvPicPr>
          <p:nvPr/>
        </p:nvPicPr>
        <p:blipFill>
          <a:blip r:embed="rId2"/>
          <a:stretch>
            <a:fillRect/>
          </a:stretch>
        </p:blipFill>
        <p:spPr>
          <a:xfrm>
            <a:off x="6613444" y="1280160"/>
            <a:ext cx="4536245"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Garcia et al. (2015), Fig. 5(A–F). CCAP strengthens graded transmission and changes short-term synaptic dynamics</a:t>
            </a:r>
          </a:p>
        </p:txBody>
      </p:sp>
      <p:sp>
        <p:nvSpPr>
          <p:cNvPr id="6" name="Rectangle 5"/>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Garcia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Modulators change excitability and reduce output variation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7E4357"/>
                </a:solidFill>
                <a:latin typeface="Arial"/>
              </a:rPr>
              <a:t>Excitability</a:t>
            </a:r>
            <a:r>
              <a:rPr sz="1500" b="0" i="0">
                <a:solidFill>
                  <a:srgbClr val="252D35"/>
                </a:solidFill>
                <a:latin typeface="Arial"/>
              </a:rPr>
              <a:t> describes how readily a neuron generates action potentials in response to input. Schneider and colleagues isolated the crab LP neuron pharmacologically, then injected progressively larger depolarizing currents. The resulting firing-rate relationship was measured in control saline, proctolin, proctolin plus CCAP and wash.</a:t>
            </a:r>
          </a:p>
          <a:p>
            <a:pPr algn="l">
              <a:lnSpc>
                <a:spcPct val="108000"/>
              </a:lnSpc>
              <a:spcAft>
                <a:spcPts val="900"/>
              </a:spcAft>
            </a:pPr>
            <a:r>
              <a:rPr sz="1500" b="0" i="0">
                <a:solidFill>
                  <a:srgbClr val="252D35"/>
                </a:solidFill>
                <a:latin typeface="Arial"/>
              </a:rPr>
              <a:t>Proctolin shifted the relationship so LP began firing at lower injected current. Adding CCAP further altered its output. Comparisons across animals found that neuronal firing responses became more similar in modulators, even though the underlying measured intrinsic and synaptic currents remained variable.</a:t>
            </a:r>
          </a:p>
          <a:p>
            <a:pPr algn="l">
              <a:lnSpc>
                <a:spcPct val="108000"/>
              </a:lnSpc>
              <a:spcAft>
                <a:spcPts val="900"/>
              </a:spcAft>
            </a:pPr>
            <a:r>
              <a:rPr sz="1500" b="0" i="0">
                <a:solidFill>
                  <a:srgbClr val="252D35"/>
                </a:solidFill>
                <a:latin typeface="Arial"/>
              </a:rPr>
              <a:t>Interindividual variability means differences among animals of the same species. Neuromodulation can constrain that variability at the level of output without making every cellular parameter identical. The peptide raises firing most in neurons that start with low excitability, and pushes all neurons toward a shared ceiling of maximal firing.</a:t>
            </a:r>
          </a:p>
        </p:txBody>
      </p:sp>
      <p:pic>
        <p:nvPicPr>
          <p:cNvPr id="4" name="Picture 3" descr="R22_3AC.png"/>
          <p:cNvPicPr>
            <a:picLocks noChangeAspect="1"/>
          </p:cNvPicPr>
          <p:nvPr/>
        </p:nvPicPr>
        <p:blipFill>
          <a:blip r:embed="rId2"/>
          <a:stretch>
            <a:fillRect/>
          </a:stretch>
        </p:blipFill>
        <p:spPr>
          <a:xfrm>
            <a:off x="6138367" y="1280160"/>
            <a:ext cx="3931920" cy="3375613"/>
          </a:xfrm>
          <a:prstGeom prst="rect">
            <a:avLst/>
          </a:prstGeom>
        </p:spPr>
      </p:pic>
      <p:sp>
        <p:nvSpPr>
          <p:cNvPr id="5" name="Figure caption"/>
          <p:cNvSpPr txBox="1"/>
          <p:nvPr/>
        </p:nvSpPr>
        <p:spPr>
          <a:xfrm>
            <a:off x="6138367" y="4747213"/>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Schneider et al. (2022), Fig. 3(A–F). Proctolin and CCAP change LP excitability and output variability</a:t>
            </a:r>
          </a:p>
        </p:txBody>
      </p:sp>
      <p:pic>
        <p:nvPicPr>
          <p:cNvPr id="6" name="Picture 5" descr="S10_net.png"/>
          <p:cNvPicPr>
            <a:picLocks noChangeAspect="1"/>
          </p:cNvPicPr>
          <p:nvPr/>
        </p:nvPicPr>
        <p:blipFill>
          <a:blip r:embed="rId3"/>
          <a:stretch>
            <a:fillRect/>
          </a:stretch>
        </p:blipFill>
        <p:spPr>
          <a:xfrm>
            <a:off x="10253167" y="2148840"/>
            <a:ext cx="1371600" cy="1918177"/>
          </a:xfrm>
          <a:prstGeom prst="rect">
            <a:avLst/>
          </a:prstGeom>
        </p:spPr>
      </p:pic>
      <p:sp>
        <p:nvSpPr>
          <p:cNvPr id="7" name="Figure caption"/>
          <p:cNvSpPr txBox="1"/>
          <p:nvPr/>
        </p:nvSpPr>
        <p:spPr>
          <a:xfrm>
            <a:off x="10253167" y="4140169"/>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Tang et al. (2010), Fig. 2(B). Crab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Schneider et al. (2022); Tang et al. (2010)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Peptide state changes rebound after inhibition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7E4357"/>
                </a:solidFill>
                <a:latin typeface="Arial"/>
              </a:rPr>
              <a:t>Postinhibitory rebound</a:t>
            </a:r>
            <a:r>
              <a:rPr sz="1600" b="0" i="0">
                <a:solidFill>
                  <a:srgbClr val="252D35"/>
                </a:solidFill>
                <a:latin typeface="Arial"/>
              </a:rPr>
              <a:t> is renewed depolarization or firing after an inhibitory episode ends. Schneider and colleagues tested it in isolated crab LP neurons with a 5 s hyperpolarizing current pulse of −5 nA. Recording continued after release to measure the first spike and subsequent firing.</a:t>
            </a:r>
          </a:p>
          <a:p>
            <a:pPr algn="l">
              <a:lnSpc>
                <a:spcPct val="108000"/>
              </a:lnSpc>
              <a:spcAft>
                <a:spcPts val="960"/>
              </a:spcAft>
            </a:pPr>
            <a:r>
              <a:rPr sz="1600" b="0" i="0">
                <a:solidFill>
                  <a:srgbClr val="252D35"/>
                </a:solidFill>
                <a:latin typeface="Arial"/>
              </a:rPr>
              <a:t>Proctolin and proctolin plus CCAP shortened rebound latency and increased spike output relative to control saline. The recordings compared identical imposed inhibitory pulses across modulatory conditions. Across animals, several rebound-output differences became smaller in the peptide states.</a:t>
            </a:r>
          </a:p>
          <a:p>
            <a:pPr algn="l">
              <a:lnSpc>
                <a:spcPct val="108000"/>
              </a:lnSpc>
              <a:spcAft>
                <a:spcPts val="960"/>
              </a:spcAft>
            </a:pPr>
            <a:r>
              <a:rPr sz="1600" b="0" i="0">
                <a:solidFill>
                  <a:srgbClr val="252D35"/>
                </a:solidFill>
                <a:latin typeface="Arial"/>
              </a:rPr>
              <a:t>The same neuron can therefore resume firing differently after the same inhibition when its modulatory state changes. Rebound is an interaction between prior voltage history and active membrane currents, rather than a fixed delay assigned to a cell type. Proctolin activates I_MI in LP, a regenerative inward current that speeds the return to threshold.</a:t>
            </a:r>
          </a:p>
        </p:txBody>
      </p:sp>
      <p:pic>
        <p:nvPicPr>
          <p:cNvPr id="4" name="Picture 3" descr="R22_4ABC.png"/>
          <p:cNvPicPr>
            <a:picLocks noChangeAspect="1"/>
          </p:cNvPicPr>
          <p:nvPr/>
        </p:nvPicPr>
        <p:blipFill>
          <a:blip r:embed="rId2"/>
          <a:stretch>
            <a:fillRect/>
          </a:stretch>
        </p:blipFill>
        <p:spPr>
          <a:xfrm>
            <a:off x="6138367" y="1280160"/>
            <a:ext cx="3931920" cy="2637305"/>
          </a:xfrm>
          <a:prstGeom prst="rect">
            <a:avLst/>
          </a:prstGeom>
        </p:spPr>
      </p:pic>
      <p:sp>
        <p:nvSpPr>
          <p:cNvPr id="5" name="Figure caption"/>
          <p:cNvSpPr txBox="1"/>
          <p:nvPr/>
        </p:nvSpPr>
        <p:spPr>
          <a:xfrm>
            <a:off x="6138367" y="4008905"/>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Schneider et al. (2022), Fig. 4(A–C). Modulators alter LP rebound latency and subsequent firing</a:t>
            </a:r>
          </a:p>
        </p:txBody>
      </p:sp>
      <p:pic>
        <p:nvPicPr>
          <p:cNvPr id="6" name="Picture 5" descr="S10_net.png"/>
          <p:cNvPicPr>
            <a:picLocks noChangeAspect="1"/>
          </p:cNvPicPr>
          <p:nvPr/>
        </p:nvPicPr>
        <p:blipFill>
          <a:blip r:embed="rId3"/>
          <a:stretch>
            <a:fillRect/>
          </a:stretch>
        </p:blipFill>
        <p:spPr>
          <a:xfrm>
            <a:off x="10253167" y="2148840"/>
            <a:ext cx="1371600" cy="1918177"/>
          </a:xfrm>
          <a:prstGeom prst="rect">
            <a:avLst/>
          </a:prstGeom>
        </p:spPr>
      </p:pic>
      <p:sp>
        <p:nvSpPr>
          <p:cNvPr id="7" name="Figure caption"/>
          <p:cNvSpPr txBox="1"/>
          <p:nvPr/>
        </p:nvSpPr>
        <p:spPr>
          <a:xfrm>
            <a:off x="10253167" y="4140169"/>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Tang et al. (2010), Fig. 2(B). Crab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Schneider et al. (2022); Tang et al. (2010)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Gastric mill activity alternates protraction and retraction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252D35"/>
                </a:solidFill>
                <a:latin typeface="Arial"/>
              </a:rPr>
              <a:t>The crab </a:t>
            </a:r>
            <a:r>
              <a:rPr sz="1400" b="1" i="0">
                <a:solidFill>
                  <a:srgbClr val="7E4357"/>
                </a:solidFill>
                <a:latin typeface="Arial"/>
              </a:rPr>
              <a:t>gastric mill rhythm</a:t>
            </a:r>
            <a:r>
              <a:rPr sz="1400" b="0" i="0">
                <a:solidFill>
                  <a:srgbClr val="252D35"/>
                </a:solidFill>
                <a:latin typeface="Arial"/>
              </a:rPr>
              <a:t> organizes chewing movements through alternating phases. LG participates in </a:t>
            </a:r>
            <a:r>
              <a:rPr sz="1400" b="1" i="0">
                <a:solidFill>
                  <a:srgbClr val="7E4357"/>
                </a:solidFill>
                <a:latin typeface="Arial"/>
              </a:rPr>
              <a:t>protraction</a:t>
            </a:r>
            <a:r>
              <a:rPr sz="1400" b="0" i="0">
                <a:solidFill>
                  <a:srgbClr val="252D35"/>
                </a:solidFill>
                <a:latin typeface="Arial"/>
              </a:rPr>
              <a:t>, movement of the gastric teeth toward the chewing configuration, whereas other gastric motor neurons are associated with </a:t>
            </a:r>
            <a:r>
              <a:rPr sz="1400" b="1" i="0">
                <a:solidFill>
                  <a:srgbClr val="7E4357"/>
                </a:solidFill>
                <a:latin typeface="Arial"/>
              </a:rPr>
              <a:t>retraction</a:t>
            </a:r>
            <a:r>
              <a:rPr sz="1400" b="0" i="0">
                <a:solidFill>
                  <a:srgbClr val="252D35"/>
                </a:solidFill>
                <a:latin typeface="Arial"/>
              </a:rPr>
              <a:t>, their return movement. The slower gastric rhythm interacts with the fast pyloric rhythm.</a:t>
            </a:r>
          </a:p>
          <a:p>
            <a:pPr algn="l">
              <a:lnSpc>
                <a:spcPct val="108000"/>
              </a:lnSpc>
              <a:spcAft>
                <a:spcPts val="840"/>
              </a:spcAft>
            </a:pPr>
            <a:r>
              <a:rPr sz="1400" b="0" i="0">
                <a:solidFill>
                  <a:srgbClr val="252D35"/>
                </a:solidFill>
                <a:latin typeface="Arial"/>
              </a:rPr>
              <a:t>Powell and colleagues recorded activity from identified gastric and pyloric motor nerves. Gastric activity included alternating LG and dorsal gastric, or </a:t>
            </a:r>
            <a:r>
              <a:rPr sz="1400" b="1" i="0">
                <a:solidFill>
                  <a:srgbClr val="7E4357"/>
                </a:solidFill>
                <a:latin typeface="Arial"/>
              </a:rPr>
              <a:t>DG</a:t>
            </a:r>
            <a:r>
              <a:rPr sz="1400" b="0" i="0">
                <a:solidFill>
                  <a:srgbClr val="252D35"/>
                </a:solidFill>
                <a:latin typeface="Arial"/>
              </a:rPr>
              <a:t>, bursts, while PD continued its faster rhythm. Intracellular recordings linked LG activity to the inhibitory gastric interneuron </a:t>
            </a:r>
            <a:r>
              <a:rPr sz="1400" b="1" i="0">
                <a:solidFill>
                  <a:srgbClr val="7E4357"/>
                </a:solidFill>
                <a:latin typeface="Arial"/>
              </a:rPr>
              <a:t>Int1</a:t>
            </a:r>
            <a:r>
              <a:rPr sz="1400" b="0" i="0">
                <a:solidFill>
                  <a:srgbClr val="252D35"/>
                </a:solidFill>
                <a:latin typeface="Arial"/>
              </a:rPr>
              <a:t>, meaning interneuron 1.</a:t>
            </a:r>
          </a:p>
          <a:p>
            <a:pPr algn="l">
              <a:lnSpc>
                <a:spcPct val="108000"/>
              </a:lnSpc>
              <a:spcAft>
                <a:spcPts val="840"/>
              </a:spcAft>
            </a:pPr>
            <a:r>
              <a:rPr sz="1400" b="0" i="0">
                <a:solidFill>
                  <a:srgbClr val="252D35"/>
                </a:solidFill>
                <a:latin typeface="Arial"/>
              </a:rPr>
              <a:t>LG and Int1 participate in a half-center, a reciprocally inhibitory arrangement in which activity in each member inhibits the other. MCN1 excites LG, Int1 and the pyloric pacemaker, so one projection neuron starts the gastric half-center while also modulating the pyloric rhythm to which it is coupled.</a:t>
            </a:r>
          </a:p>
        </p:txBody>
      </p:sp>
      <p:pic>
        <p:nvPicPr>
          <p:cNvPr id="4" name="Picture 3" descr="S21_1b.png"/>
          <p:cNvPicPr>
            <a:picLocks noChangeAspect="1"/>
          </p:cNvPicPr>
          <p:nvPr/>
        </p:nvPicPr>
        <p:blipFill>
          <a:blip r:embed="rId2"/>
          <a:stretch>
            <a:fillRect/>
          </a:stretch>
        </p:blipFill>
        <p:spPr>
          <a:xfrm>
            <a:off x="6365101" y="1280160"/>
            <a:ext cx="5032930"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Powell et al. (2021), Fig. 1(a–d). Gastric and pyloric circuits and their recorded interaction</a:t>
            </a:r>
          </a:p>
        </p:txBody>
      </p:sp>
      <p:sp>
        <p:nvSpPr>
          <p:cNvPr id="6" name="Rectangle 5"/>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Powell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Descending MCN1 input recruits the gastric half-center</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7E4357"/>
                </a:solidFill>
                <a:latin typeface="Arial"/>
              </a:rPr>
              <a:t>Modulatory commissural neuron 1 (MCN1)</a:t>
            </a:r>
            <a:r>
              <a:rPr sz="1500" b="0" i="0">
                <a:solidFill>
                  <a:srgbClr val="252D35"/>
                </a:solidFill>
                <a:latin typeface="Arial"/>
              </a:rPr>
              <a:t> is a descending projection neuron whose cell body lies in a commissural ganglion. Its axon reaches the crab STG through the input nerves. Städele and colleagues controlled this input by stimulating the identified pathway after disconnecting other anterior influences.</a:t>
            </a:r>
          </a:p>
          <a:p>
            <a:pPr algn="l">
              <a:lnSpc>
                <a:spcPct val="108000"/>
              </a:lnSpc>
              <a:spcAft>
                <a:spcPts val="900"/>
              </a:spcAft>
            </a:pPr>
            <a:r>
              <a:rPr sz="1500" b="0" i="0">
                <a:solidFill>
                  <a:srgbClr val="252D35"/>
                </a:solidFill>
                <a:latin typeface="Arial"/>
              </a:rPr>
              <a:t>MCN1 releases the peptide CabTRP Ia, which activates an inward current in LG, and also supplies electrical and other synaptic influences within the gastric circuit. LG and Int1 inhibit one another. Rhythmic alternation therefore depends on a combination of imposed modulatory drive, intrinsic membrane properties and reciprocal inhibition.</a:t>
            </a:r>
          </a:p>
          <a:p>
            <a:pPr algn="l">
              <a:lnSpc>
                <a:spcPct val="108000"/>
              </a:lnSpc>
              <a:spcAft>
                <a:spcPts val="900"/>
              </a:spcAft>
            </a:pPr>
            <a:r>
              <a:rPr sz="1500" b="0" i="0">
                <a:solidFill>
                  <a:srgbClr val="252D35"/>
                </a:solidFill>
                <a:latin typeface="Arial"/>
              </a:rPr>
              <a:t>At 10°C, continuous MCN1 stimulation at 6 Hz recruited recurring LG bursts in the published example. The stimulus itself was tonic, rather than patterned to match every LG burst. Slow gastric rhythmicity was thus generated by the responding circuit under sustained descending activation.</a:t>
            </a:r>
          </a:p>
        </p:txBody>
      </p:sp>
      <p:pic>
        <p:nvPicPr>
          <p:cNvPr id="4" name="Picture 3" descr="S15_2A.png"/>
          <p:cNvPicPr>
            <a:picLocks noChangeAspect="1"/>
          </p:cNvPicPr>
          <p:nvPr/>
        </p:nvPicPr>
        <p:blipFill>
          <a:blip r:embed="rId2"/>
          <a:stretch>
            <a:fillRect/>
          </a:stretch>
        </p:blipFill>
        <p:spPr>
          <a:xfrm>
            <a:off x="6823684" y="1280160"/>
            <a:ext cx="2561285" cy="4297679"/>
          </a:xfrm>
          <a:prstGeom prst="rect">
            <a:avLst/>
          </a:prstGeom>
        </p:spPr>
      </p:pic>
      <p:sp>
        <p:nvSpPr>
          <p:cNvPr id="5" name="Figure caption"/>
          <p:cNvSpPr txBox="1"/>
          <p:nvPr/>
        </p:nvSpPr>
        <p:spPr>
          <a:xfrm>
            <a:off x="6138367" y="5669279"/>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Städele et al. (2015), Fig. 2(A). Fixed 6 Hz MCN1 drive fails at 13°C and recovers after cooling</a:t>
            </a:r>
          </a:p>
        </p:txBody>
      </p:sp>
      <p:pic>
        <p:nvPicPr>
          <p:cNvPr id="6" name="Picture 5" descr="S15_net.png"/>
          <p:cNvPicPr>
            <a:picLocks noChangeAspect="1"/>
          </p:cNvPicPr>
          <p:nvPr/>
        </p:nvPicPr>
        <p:blipFill>
          <a:blip r:embed="rId3"/>
          <a:stretch>
            <a:fillRect/>
          </a:stretch>
        </p:blipFill>
        <p:spPr>
          <a:xfrm>
            <a:off x="10253167" y="2148840"/>
            <a:ext cx="1371600" cy="1670071"/>
          </a:xfrm>
          <a:prstGeom prst="rect">
            <a:avLst/>
          </a:prstGeom>
        </p:spPr>
      </p:pic>
      <p:sp>
        <p:nvSpPr>
          <p:cNvPr id="7" name="Figure caption"/>
          <p:cNvSpPr txBox="1"/>
          <p:nvPr/>
        </p:nvSpPr>
        <p:spPr>
          <a:xfrm>
            <a:off x="10253167" y="3892063"/>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Städele et al. (2015), Fig. 1(A). Gastric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Städele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Warming speeds the pyloric rhythm about fourfold</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52D35"/>
                </a:solidFill>
                <a:latin typeface="Arial"/>
              </a:rPr>
              <a:t>Tang and colleagues tested the crab pyloric circuit over a temperature range relevant to an ectothermic animal. An </a:t>
            </a:r>
            <a:r>
              <a:rPr sz="1600" b="1" i="0">
                <a:solidFill>
                  <a:srgbClr val="7E4357"/>
                </a:solidFill>
                <a:latin typeface="Arial"/>
              </a:rPr>
              <a:t>ectotherm</a:t>
            </a:r>
            <a:r>
              <a:rPr sz="1600" b="0" i="0">
                <a:solidFill>
                  <a:srgbClr val="252D35"/>
                </a:solidFill>
                <a:latin typeface="Arial"/>
              </a:rPr>
              <a:t> relies substantially on environmental conditions to determine body temperature. The isolated stomatogastric preparation was warmed gradually while outgoing motor activity was recorded.</a:t>
            </a:r>
          </a:p>
          <a:p>
            <a:pPr algn="l">
              <a:lnSpc>
                <a:spcPct val="108000"/>
              </a:lnSpc>
              <a:spcAft>
                <a:spcPts val="960"/>
              </a:spcAft>
            </a:pPr>
            <a:r>
              <a:rPr sz="1600" b="0" i="0">
                <a:solidFill>
                  <a:srgbClr val="252D35"/>
                </a:solidFill>
                <a:latin typeface="Arial"/>
              </a:rPr>
              <a:t>Between 7°C and 23°C, pyloric rhythm frequency increased about fourfold. PD, LP and PY retained the characteristic burst sequence while completing cycles more quickly. Comparisons during warming and cooling checked whether the relationship depended on the direction of temperature change.</a:t>
            </a:r>
          </a:p>
          <a:p>
            <a:pPr algn="l">
              <a:lnSpc>
                <a:spcPct val="108000"/>
              </a:lnSpc>
              <a:spcAft>
                <a:spcPts val="960"/>
              </a:spcAft>
            </a:pPr>
            <a:r>
              <a:rPr sz="1600" b="0" i="0">
                <a:solidFill>
                  <a:srgbClr val="252D35"/>
                </a:solidFill>
                <a:latin typeface="Arial"/>
              </a:rPr>
              <a:t>The reported frequency temperature coefficient, </a:t>
            </a:r>
            <a:r>
              <a:rPr sz="1600" b="1" i="0">
                <a:solidFill>
                  <a:srgbClr val="7E4357"/>
                </a:solidFill>
                <a:latin typeface="Arial"/>
              </a:rPr>
              <a:t>Q10</a:t>
            </a:r>
            <a:r>
              <a:rPr sz="1600" b="0" i="0">
                <a:solidFill>
                  <a:srgbClr val="252D35"/>
                </a:solidFill>
                <a:latin typeface="Arial"/>
              </a:rPr>
              <a:t>, was approximately 2.3; Q10 describes the fold change associated with a 10°C increase. Temperature compensation need not mean a constant frequency. Different output properties can remain coordinated even when the entire motor pattern accelerates.</a:t>
            </a:r>
          </a:p>
        </p:txBody>
      </p:sp>
      <p:pic>
        <p:nvPicPr>
          <p:cNvPr id="4" name="Picture 3" descr="S10_1C.png"/>
          <p:cNvPicPr>
            <a:picLocks noChangeAspect="1"/>
          </p:cNvPicPr>
          <p:nvPr/>
        </p:nvPicPr>
        <p:blipFill>
          <a:blip r:embed="rId2"/>
          <a:stretch>
            <a:fillRect/>
          </a:stretch>
        </p:blipFill>
        <p:spPr>
          <a:xfrm>
            <a:off x="6138367" y="1280160"/>
            <a:ext cx="3931920" cy="2141277"/>
          </a:xfrm>
          <a:prstGeom prst="rect">
            <a:avLst/>
          </a:prstGeom>
        </p:spPr>
      </p:pic>
      <p:sp>
        <p:nvSpPr>
          <p:cNvPr id="5" name="Figure caption"/>
          <p:cNvSpPr txBox="1"/>
          <p:nvPr/>
        </p:nvSpPr>
        <p:spPr>
          <a:xfrm>
            <a:off x="6138367" y="3512877"/>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Tang et al. (2010), Fig. 1(A–D). Frequency increases while pyloric phase remains stable</a:t>
            </a:r>
          </a:p>
        </p:txBody>
      </p:sp>
      <p:pic>
        <p:nvPicPr>
          <p:cNvPr id="6" name="Picture 5" descr="S10_net.png"/>
          <p:cNvPicPr>
            <a:picLocks noChangeAspect="1"/>
          </p:cNvPicPr>
          <p:nvPr/>
        </p:nvPicPr>
        <p:blipFill>
          <a:blip r:embed="rId3"/>
          <a:stretch>
            <a:fillRect/>
          </a:stretch>
        </p:blipFill>
        <p:spPr>
          <a:xfrm>
            <a:off x="10253167" y="2148840"/>
            <a:ext cx="1371600" cy="1918177"/>
          </a:xfrm>
          <a:prstGeom prst="rect">
            <a:avLst/>
          </a:prstGeom>
        </p:spPr>
      </p:pic>
      <p:sp>
        <p:nvSpPr>
          <p:cNvPr id="7" name="Figure caption"/>
          <p:cNvSpPr txBox="1"/>
          <p:nvPr/>
        </p:nvSpPr>
        <p:spPr>
          <a:xfrm>
            <a:off x="10253167" y="4140169"/>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Tang et al. (2010), Fig. 2(B). Crab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Tang et al. (2010)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Relative burst timing remains stable during warming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52D35"/>
                </a:solidFill>
                <a:latin typeface="Arial"/>
              </a:rPr>
              <a:t>Tang and colleagues measured each motor burst relative to the start of the PD burst. The </a:t>
            </a:r>
            <a:r>
              <a:rPr sz="1600" b="1" i="0">
                <a:solidFill>
                  <a:srgbClr val="7E4357"/>
                </a:solidFill>
                <a:latin typeface="Arial"/>
              </a:rPr>
              <a:t>onset phase</a:t>
            </a:r>
            <a:r>
              <a:rPr sz="1600" b="0" i="0">
                <a:solidFill>
                  <a:srgbClr val="252D35"/>
                </a:solidFill>
                <a:latin typeface="Arial"/>
              </a:rPr>
              <a:t> specifies when a burst begins within a cycle, and the </a:t>
            </a:r>
            <a:r>
              <a:rPr sz="1600" b="1" i="0">
                <a:solidFill>
                  <a:srgbClr val="7E4357"/>
                </a:solidFill>
                <a:latin typeface="Arial"/>
              </a:rPr>
              <a:t>offset phase</a:t>
            </a:r>
            <a:r>
              <a:rPr sz="1600" b="0" i="0">
                <a:solidFill>
                  <a:srgbClr val="252D35"/>
                </a:solidFill>
                <a:latin typeface="Arial"/>
              </a:rPr>
              <a:t> specifies when it ends. These fractions distinguish relative coordination from absolute delays measured in seconds.</a:t>
            </a:r>
          </a:p>
          <a:p>
            <a:pPr algn="l">
              <a:lnSpc>
                <a:spcPct val="108000"/>
              </a:lnSpc>
              <a:spcAft>
                <a:spcPts val="960"/>
              </a:spcAft>
            </a:pPr>
            <a:r>
              <a:rPr sz="1600" b="0" i="0">
                <a:solidFill>
                  <a:srgbClr val="252D35"/>
                </a:solidFill>
                <a:latin typeface="Arial"/>
              </a:rPr>
              <a:t>Across 7°C to 23°C, PD, LP and PY onset and offset phases remained nearly constant despite the increase in frequency. When intracellular voltage trajectories were scaled to cycle duration, their characteristic temporal relationships also remained similar across the tested temperatures.</a:t>
            </a:r>
          </a:p>
          <a:p>
            <a:pPr algn="l">
              <a:lnSpc>
                <a:spcPct val="108000"/>
              </a:lnSpc>
              <a:spcAft>
                <a:spcPts val="960"/>
              </a:spcAft>
            </a:pPr>
            <a:r>
              <a:rPr sz="1600" b="0" i="0">
                <a:solidFill>
                  <a:srgbClr val="252D35"/>
                </a:solidFill>
                <a:latin typeface="Arial"/>
              </a:rPr>
              <a:t>The pyloric circuit therefore compensated the coordination of its motor output more closely than its speed. Voltage trajectories stayed similar even as their underlying processes changed: the total IPSP in LP kept its amplitude while LP’s synaptic current and input conductance both grew with warming.</a:t>
            </a:r>
          </a:p>
        </p:txBody>
      </p:sp>
      <p:pic>
        <p:nvPicPr>
          <p:cNvPr id="4" name="Picture 3" descr="S10_1C.png"/>
          <p:cNvPicPr>
            <a:picLocks noChangeAspect="1"/>
          </p:cNvPicPr>
          <p:nvPr/>
        </p:nvPicPr>
        <p:blipFill>
          <a:blip r:embed="rId2"/>
          <a:stretch>
            <a:fillRect/>
          </a:stretch>
        </p:blipFill>
        <p:spPr>
          <a:xfrm>
            <a:off x="6138367" y="1280160"/>
            <a:ext cx="3931920" cy="2141277"/>
          </a:xfrm>
          <a:prstGeom prst="rect">
            <a:avLst/>
          </a:prstGeom>
        </p:spPr>
      </p:pic>
      <p:sp>
        <p:nvSpPr>
          <p:cNvPr id="5" name="Figure caption"/>
          <p:cNvSpPr txBox="1"/>
          <p:nvPr/>
        </p:nvSpPr>
        <p:spPr>
          <a:xfrm>
            <a:off x="6138367" y="3512877"/>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Tang et al. (2010), Fig. 1(A–D). Frequency increases while pyloric phase remains stable</a:t>
            </a:r>
          </a:p>
        </p:txBody>
      </p:sp>
      <p:pic>
        <p:nvPicPr>
          <p:cNvPr id="6" name="Picture 5" descr="S10_net.png"/>
          <p:cNvPicPr>
            <a:picLocks noChangeAspect="1"/>
          </p:cNvPicPr>
          <p:nvPr/>
        </p:nvPicPr>
        <p:blipFill>
          <a:blip r:embed="rId3"/>
          <a:stretch>
            <a:fillRect/>
          </a:stretch>
        </p:blipFill>
        <p:spPr>
          <a:xfrm>
            <a:off x="10253167" y="2148840"/>
            <a:ext cx="1371600" cy="1918177"/>
          </a:xfrm>
          <a:prstGeom prst="rect">
            <a:avLst/>
          </a:prstGeom>
        </p:spPr>
      </p:pic>
      <p:sp>
        <p:nvSpPr>
          <p:cNvPr id="7" name="Figure caption"/>
          <p:cNvSpPr txBox="1"/>
          <p:nvPr/>
        </p:nvSpPr>
        <p:spPr>
          <a:xfrm>
            <a:off x="10253167" y="4140169"/>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Tang et al. (2010), Fig. 2(B). Crab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Tang et al. (2010)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A transient potassium current opposes depolarization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52D35"/>
                </a:solidFill>
                <a:latin typeface="Arial"/>
              </a:rPr>
              <a:t>The LP neuron contains the </a:t>
            </a:r>
            <a:r>
              <a:rPr sz="1500" b="1" i="0">
                <a:solidFill>
                  <a:srgbClr val="7E4357"/>
                </a:solidFill>
                <a:latin typeface="Arial"/>
              </a:rPr>
              <a:t>A-type potassium current, I_A</a:t>
            </a:r>
            <a:r>
              <a:rPr sz="1500" b="0" i="0">
                <a:solidFill>
                  <a:srgbClr val="252D35"/>
                </a:solidFill>
                <a:latin typeface="Arial"/>
              </a:rPr>
              <a:t>, which activates during depolarization and then declines. Activation increases channel opening; </a:t>
            </a:r>
            <a:r>
              <a:rPr sz="1500" b="1" i="0">
                <a:solidFill>
                  <a:srgbClr val="7E4357"/>
                </a:solidFill>
                <a:latin typeface="Arial"/>
              </a:rPr>
              <a:t>inactivation</a:t>
            </a:r>
            <a:r>
              <a:rPr sz="1500" b="0" i="0">
                <a:solidFill>
                  <a:srgbClr val="252D35"/>
                </a:solidFill>
                <a:latin typeface="Arial"/>
              </a:rPr>
              <a:t> reduces channel availability despite continuing depolarization. This transient outward current can oppose the return to firing after inhibition.</a:t>
            </a:r>
          </a:p>
          <a:p>
            <a:pPr algn="l">
              <a:lnSpc>
                <a:spcPct val="108000"/>
              </a:lnSpc>
              <a:spcAft>
                <a:spcPts val="900"/>
              </a:spcAft>
            </a:pPr>
            <a:r>
              <a:rPr sz="1500" b="0" i="0">
                <a:solidFill>
                  <a:srgbClr val="252D35"/>
                </a:solidFill>
                <a:latin typeface="Arial"/>
              </a:rPr>
              <a:t>Tang and colleagues isolated I_A with voltage-clamp protocols that separated it from other potassium currents. Depolarizing test steps from −40 mV to +30 mV elicited transient currents at temperatures from 7°C to 23°C. The published families of currents use 100 nA and 400 ms calibrations.</a:t>
            </a:r>
          </a:p>
          <a:p>
            <a:pPr algn="l">
              <a:lnSpc>
                <a:spcPct val="108000"/>
              </a:lnSpc>
              <a:spcAft>
                <a:spcPts val="900"/>
              </a:spcAft>
            </a:pPr>
            <a:r>
              <a:rPr sz="1500" b="0" i="0">
                <a:solidFill>
                  <a:srgbClr val="252D35"/>
                </a:solidFill>
                <a:latin typeface="Arial"/>
              </a:rPr>
              <a:t>Warming increased current magnitude and accelerated its activation and inactivation; inactivation rate was the most temperature-sensitive process measured. A stronger transient current that also inactivates sooner can leave the delay to LP firing nearly unchanged.</a:t>
            </a:r>
          </a:p>
        </p:txBody>
      </p:sp>
      <p:pic>
        <p:nvPicPr>
          <p:cNvPr id="4" name="Picture 3" descr="S10_4A.png"/>
          <p:cNvPicPr>
            <a:picLocks noChangeAspect="1"/>
          </p:cNvPicPr>
          <p:nvPr/>
        </p:nvPicPr>
        <p:blipFill>
          <a:blip r:embed="rId2"/>
          <a:stretch>
            <a:fillRect/>
          </a:stretch>
        </p:blipFill>
        <p:spPr>
          <a:xfrm>
            <a:off x="6937550" y="1280160"/>
            <a:ext cx="2333554" cy="4297679"/>
          </a:xfrm>
          <a:prstGeom prst="rect">
            <a:avLst/>
          </a:prstGeom>
        </p:spPr>
      </p:pic>
      <p:sp>
        <p:nvSpPr>
          <p:cNvPr id="5" name="Figure caption"/>
          <p:cNvSpPr txBox="1"/>
          <p:nvPr/>
        </p:nvSpPr>
        <p:spPr>
          <a:xfrm>
            <a:off x="6138367" y="5669279"/>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Tang et al. (2010), Fig. 4(A). Transient potassium-current recordings at five temperatures</a:t>
            </a:r>
          </a:p>
        </p:txBody>
      </p:sp>
      <p:pic>
        <p:nvPicPr>
          <p:cNvPr id="6" name="Picture 5" descr="S10_net.png"/>
          <p:cNvPicPr>
            <a:picLocks noChangeAspect="1"/>
          </p:cNvPicPr>
          <p:nvPr/>
        </p:nvPicPr>
        <p:blipFill>
          <a:blip r:embed="rId3"/>
          <a:stretch>
            <a:fillRect/>
          </a:stretch>
        </p:blipFill>
        <p:spPr>
          <a:xfrm>
            <a:off x="10253167" y="2148840"/>
            <a:ext cx="1371600" cy="1918177"/>
          </a:xfrm>
          <a:prstGeom prst="rect">
            <a:avLst/>
          </a:prstGeom>
        </p:spPr>
      </p:pic>
      <p:sp>
        <p:nvSpPr>
          <p:cNvPr id="7" name="Figure caption"/>
          <p:cNvSpPr txBox="1"/>
          <p:nvPr/>
        </p:nvSpPr>
        <p:spPr>
          <a:xfrm>
            <a:off x="10253167" y="4140169"/>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Tang et al. (2010), Fig. 2(B). Crab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Tang et al. (2010)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Hyperpolarization recruits an opposing inward current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52D35"/>
                </a:solidFill>
                <a:latin typeface="Arial"/>
              </a:rPr>
              <a:t>The </a:t>
            </a:r>
            <a:r>
              <a:rPr sz="1500" b="1" i="0">
                <a:solidFill>
                  <a:srgbClr val="7E4357"/>
                </a:solidFill>
                <a:latin typeface="Arial"/>
              </a:rPr>
              <a:t>hyperpolarization-activated inward current, I_h</a:t>
            </a:r>
            <a:r>
              <a:rPr sz="1500" b="0" i="0">
                <a:solidFill>
                  <a:srgbClr val="252D35"/>
                </a:solidFill>
                <a:latin typeface="Arial"/>
              </a:rPr>
              <a:t>, turns on as the membrane becomes more negative. It carries a depolarizing influence during and after inhibition, opposing the voltage effect of sustained inhibitory input. Its activation can therefore interact with the outward I_A current in determining LP rebound.</a:t>
            </a:r>
          </a:p>
          <a:p>
            <a:pPr algn="l">
              <a:lnSpc>
                <a:spcPct val="108000"/>
              </a:lnSpc>
              <a:spcAft>
                <a:spcPts val="900"/>
              </a:spcAft>
            </a:pPr>
            <a:r>
              <a:rPr sz="1500" b="0" i="0">
                <a:solidFill>
                  <a:srgbClr val="252D35"/>
                </a:solidFill>
                <a:latin typeface="Arial"/>
              </a:rPr>
              <a:t>Tang and colleagues applied hyperpolarizing voltage steps from a holding potential near −50 mV, with test potentials extending to −120 mV. The slowly developing inward current was recorded at several temperatures. The published recordings have a 15 nA current calibration and a 2 s time calibration.</a:t>
            </a:r>
          </a:p>
          <a:p>
            <a:pPr algn="l">
              <a:lnSpc>
                <a:spcPct val="108000"/>
              </a:lnSpc>
              <a:spcAft>
                <a:spcPts val="900"/>
              </a:spcAft>
            </a:pPr>
            <a:r>
              <a:rPr sz="1500" b="0" i="0">
                <a:solidFill>
                  <a:srgbClr val="252D35"/>
                </a:solidFill>
                <a:latin typeface="Arial"/>
              </a:rPr>
              <a:t>Warming increased I_h conductance and accelerated its activation. Its temperature sensitivity differed from that of the A-type current and synaptic inhibition. In LP models given the measured temperature sensitivities of both currents, onset phase drifted less with warming than in models with temperature-insensitive currents.</a:t>
            </a:r>
          </a:p>
        </p:txBody>
      </p:sp>
      <p:pic>
        <p:nvPicPr>
          <p:cNvPr id="4" name="Picture 3" descr="S10_5A.png"/>
          <p:cNvPicPr>
            <a:picLocks noChangeAspect="1"/>
          </p:cNvPicPr>
          <p:nvPr/>
        </p:nvPicPr>
        <p:blipFill>
          <a:blip r:embed="rId2"/>
          <a:stretch>
            <a:fillRect/>
          </a:stretch>
        </p:blipFill>
        <p:spPr>
          <a:xfrm>
            <a:off x="6801582" y="1280160"/>
            <a:ext cx="2605490" cy="4297679"/>
          </a:xfrm>
          <a:prstGeom prst="rect">
            <a:avLst/>
          </a:prstGeom>
        </p:spPr>
      </p:pic>
      <p:sp>
        <p:nvSpPr>
          <p:cNvPr id="5" name="Figure caption"/>
          <p:cNvSpPr txBox="1"/>
          <p:nvPr/>
        </p:nvSpPr>
        <p:spPr>
          <a:xfrm>
            <a:off x="6138367" y="5669279"/>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Tang et al. (2010), Fig. 5(A). Hyperpolarization-activated current recordings across temperature</a:t>
            </a:r>
          </a:p>
        </p:txBody>
      </p:sp>
      <p:pic>
        <p:nvPicPr>
          <p:cNvPr id="6" name="Picture 5" descr="S10_net.png"/>
          <p:cNvPicPr>
            <a:picLocks noChangeAspect="1"/>
          </p:cNvPicPr>
          <p:nvPr/>
        </p:nvPicPr>
        <p:blipFill>
          <a:blip r:embed="rId3"/>
          <a:stretch>
            <a:fillRect/>
          </a:stretch>
        </p:blipFill>
        <p:spPr>
          <a:xfrm>
            <a:off x="10253167" y="2148840"/>
            <a:ext cx="1371600" cy="1918177"/>
          </a:xfrm>
          <a:prstGeom prst="rect">
            <a:avLst/>
          </a:prstGeom>
        </p:spPr>
      </p:pic>
      <p:sp>
        <p:nvSpPr>
          <p:cNvPr id="7" name="Figure caption"/>
          <p:cNvSpPr txBox="1"/>
          <p:nvPr/>
        </p:nvSpPr>
        <p:spPr>
          <a:xfrm>
            <a:off x="10253167" y="4140169"/>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Tang et al. (2010), Fig. 2(B). Crab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Tang et al. (2010)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A weakly driven gastric rhythm fails after modest warming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52D35"/>
                </a:solidFill>
                <a:latin typeface="Arial"/>
              </a:rPr>
              <a:t>Städele and colleagues held MCN1 stimulation constant near the minimum frequency that recruited a gastric mill rhythm at 10°C. They then warmed the crab STG to 13°C while recording LG. This isolated preparation lacked the anterior circuits that could naturally increase descending drive.</a:t>
            </a:r>
          </a:p>
          <a:p>
            <a:pPr algn="l">
              <a:lnSpc>
                <a:spcPct val="108000"/>
              </a:lnSpc>
              <a:spcAft>
                <a:spcPts val="960"/>
              </a:spcAft>
            </a:pPr>
            <a:r>
              <a:rPr sz="1600" b="0" i="0">
                <a:solidFill>
                  <a:srgbClr val="252D35"/>
                </a:solidFill>
                <a:latin typeface="Arial"/>
              </a:rPr>
              <a:t>LG’s regular bursts disappeared at 13°C with the same MCN1 stimulation. Cooling back to 10°C restored them. The published example used a 6 Hz stimulus throughout, separating temperature-dependent circuit failure from an intentional reduction of input frequency.</a:t>
            </a:r>
          </a:p>
          <a:p>
            <a:pPr algn="l">
              <a:lnSpc>
                <a:spcPct val="108000"/>
              </a:lnSpc>
              <a:spcAft>
                <a:spcPts val="960"/>
              </a:spcAft>
            </a:pPr>
            <a:r>
              <a:rPr sz="1600" b="0" i="0">
                <a:solidFill>
                  <a:srgbClr val="252D35"/>
                </a:solidFill>
                <a:latin typeface="Arial"/>
              </a:rPr>
              <a:t>The failure was graded: as temperature rose, LG fired fewer spikes per burst until bursting stopped near 12.7°C at threshold drive. Stronger MCN1 stimulation moved that limit to about 15.9°C, so the permissive temperature range scales with descending drive.</a:t>
            </a:r>
          </a:p>
        </p:txBody>
      </p:sp>
      <p:pic>
        <p:nvPicPr>
          <p:cNvPr id="4" name="Picture 3" descr="S15_2A.png"/>
          <p:cNvPicPr>
            <a:picLocks noChangeAspect="1"/>
          </p:cNvPicPr>
          <p:nvPr/>
        </p:nvPicPr>
        <p:blipFill>
          <a:blip r:embed="rId2"/>
          <a:stretch>
            <a:fillRect/>
          </a:stretch>
        </p:blipFill>
        <p:spPr>
          <a:xfrm>
            <a:off x="6823684" y="1280160"/>
            <a:ext cx="2561285" cy="4297679"/>
          </a:xfrm>
          <a:prstGeom prst="rect">
            <a:avLst/>
          </a:prstGeom>
        </p:spPr>
      </p:pic>
      <p:sp>
        <p:nvSpPr>
          <p:cNvPr id="5" name="Figure caption"/>
          <p:cNvSpPr txBox="1"/>
          <p:nvPr/>
        </p:nvSpPr>
        <p:spPr>
          <a:xfrm>
            <a:off x="6138367" y="5669279"/>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Städele et al. (2015), Fig. 2(A). Fixed 6 Hz MCN1 drive fails at 13°C and recovers after cooling</a:t>
            </a:r>
          </a:p>
        </p:txBody>
      </p:sp>
      <p:pic>
        <p:nvPicPr>
          <p:cNvPr id="6" name="Picture 5" descr="S15_net.png"/>
          <p:cNvPicPr>
            <a:picLocks noChangeAspect="1"/>
          </p:cNvPicPr>
          <p:nvPr/>
        </p:nvPicPr>
        <p:blipFill>
          <a:blip r:embed="rId3"/>
          <a:stretch>
            <a:fillRect/>
          </a:stretch>
        </p:blipFill>
        <p:spPr>
          <a:xfrm>
            <a:off x="10253167" y="2148840"/>
            <a:ext cx="1371600" cy="1670071"/>
          </a:xfrm>
          <a:prstGeom prst="rect">
            <a:avLst/>
          </a:prstGeom>
        </p:spPr>
      </p:pic>
      <p:sp>
        <p:nvSpPr>
          <p:cNvPr id="7" name="Figure caption"/>
          <p:cNvSpPr txBox="1"/>
          <p:nvPr/>
        </p:nvSpPr>
        <p:spPr>
          <a:xfrm>
            <a:off x="10253167" y="3892063"/>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Städele et al. (2015), Fig. 1(A). Gastric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Städele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Leak conductance can stop or restore gastric bursting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52D35"/>
                </a:solidFill>
                <a:latin typeface="Arial"/>
              </a:rPr>
              <a:t>A </a:t>
            </a:r>
            <a:r>
              <a:rPr sz="1500" b="1" i="0">
                <a:solidFill>
                  <a:srgbClr val="7E4357"/>
                </a:solidFill>
                <a:latin typeface="Arial"/>
              </a:rPr>
              <a:t>leak conductance</a:t>
            </a:r>
            <a:r>
              <a:rPr sz="1500" b="0" i="0">
                <a:solidFill>
                  <a:srgbClr val="252D35"/>
                </a:solidFill>
                <a:latin typeface="Arial"/>
              </a:rPr>
              <a:t> is a membrane pathway that contributes current without the rapid voltage gating characteristic of spike-generating channels. Städele and colleagues found that warming reduced LG input resistance, so a given input current produced a smaller membrane-voltage change.</a:t>
            </a:r>
          </a:p>
          <a:p>
            <a:pPr algn="l">
              <a:lnSpc>
                <a:spcPct val="108000"/>
              </a:lnSpc>
              <a:spcAft>
                <a:spcPts val="900"/>
              </a:spcAft>
            </a:pPr>
            <a:r>
              <a:rPr sz="1500" b="0" i="0">
                <a:solidFill>
                  <a:srgbClr val="252D35"/>
                </a:solidFill>
                <a:latin typeface="Arial"/>
              </a:rPr>
              <a:t>Dynamic clamp added an effective leak to LG at 10°C during 7 Hz MCN1 stimulation, and bursting stopped. At 13°C, subtracting an effective leak restored recurring LG bursts while the MCN1 stimulus remained unchanged. Opposite interventions tested whether the conductance change was sufficient to alter circuit output.</a:t>
            </a:r>
          </a:p>
          <a:p>
            <a:pPr algn="l">
              <a:lnSpc>
                <a:spcPct val="108000"/>
              </a:lnSpc>
              <a:spcAft>
                <a:spcPts val="900"/>
              </a:spcAft>
            </a:pPr>
            <a:r>
              <a:rPr sz="1500" b="0" i="0">
                <a:solidFill>
                  <a:srgbClr val="252D35"/>
                </a:solidFill>
                <a:latin typeface="Arial"/>
              </a:rPr>
              <a:t>Warming raised LG leak conductance by about half, shunting every input, including the electrical potential from MCN1. Hyperpolarizing LG at 10°C to its warm resting potential left the rhythm intact, so the added leak, rather than the small voltage shift, ended bursting.</a:t>
            </a:r>
          </a:p>
        </p:txBody>
      </p:sp>
      <p:pic>
        <p:nvPicPr>
          <p:cNvPr id="4" name="Picture 3" descr="S15_4AB.png"/>
          <p:cNvPicPr>
            <a:picLocks noChangeAspect="1"/>
          </p:cNvPicPr>
          <p:nvPr/>
        </p:nvPicPr>
        <p:blipFill>
          <a:blip r:embed="rId2"/>
          <a:stretch>
            <a:fillRect/>
          </a:stretch>
        </p:blipFill>
        <p:spPr>
          <a:xfrm>
            <a:off x="6138367" y="1280160"/>
            <a:ext cx="3931920" cy="953897"/>
          </a:xfrm>
          <a:prstGeom prst="rect">
            <a:avLst/>
          </a:prstGeom>
        </p:spPr>
      </p:pic>
      <p:sp>
        <p:nvSpPr>
          <p:cNvPr id="5" name="Figure caption"/>
          <p:cNvSpPr txBox="1"/>
          <p:nvPr/>
        </p:nvSpPr>
        <p:spPr>
          <a:xfrm>
            <a:off x="6138367" y="2325497"/>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Städele et al. (2015), Fig. 4(A–B). Added leak stops bursting; leak subtraction rescues it</a:t>
            </a:r>
          </a:p>
        </p:txBody>
      </p:sp>
      <p:pic>
        <p:nvPicPr>
          <p:cNvPr id="6" name="Picture 5" descr="S15_net.png"/>
          <p:cNvPicPr>
            <a:picLocks noChangeAspect="1"/>
          </p:cNvPicPr>
          <p:nvPr/>
        </p:nvPicPr>
        <p:blipFill>
          <a:blip r:embed="rId3"/>
          <a:stretch>
            <a:fillRect/>
          </a:stretch>
        </p:blipFill>
        <p:spPr>
          <a:xfrm>
            <a:off x="10253167" y="2148840"/>
            <a:ext cx="1371600" cy="1670071"/>
          </a:xfrm>
          <a:prstGeom prst="rect">
            <a:avLst/>
          </a:prstGeom>
        </p:spPr>
      </p:pic>
      <p:sp>
        <p:nvSpPr>
          <p:cNvPr id="7" name="Figure caption"/>
          <p:cNvSpPr txBox="1"/>
          <p:nvPr/>
        </p:nvSpPr>
        <p:spPr>
          <a:xfrm>
            <a:off x="10253167" y="3892063"/>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Städele et al. (2015), Fig. 1(A). Gastric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Städele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Stronger descending drive restores gastric output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52D35"/>
                </a:solidFill>
                <a:latin typeface="Arial"/>
              </a:rPr>
              <a:t>The crab gastric mill rhythm persisted at 13°C in intact-animal recordings, despite failure of the isolated weakly driven preparation. Städele and colleagues tested whether descending MCN1 activity could supply compensatory input. They recorded MCN1 axonal activity from the commissural ganglion pathway during warming.</a:t>
            </a:r>
          </a:p>
          <a:p>
            <a:pPr algn="l">
              <a:lnSpc>
                <a:spcPct val="108000"/>
              </a:lnSpc>
              <a:spcAft>
                <a:spcPts val="900"/>
              </a:spcAft>
            </a:pPr>
            <a:r>
              <a:rPr sz="1500" b="0" i="0">
                <a:solidFill>
                  <a:srgbClr val="252D35"/>
                </a:solidFill>
                <a:latin typeface="Arial"/>
              </a:rPr>
              <a:t>MCN1 firing increased with temperature. In the published example it rose from 2.31 Hz at 10°C to 3.63 Hz at 13°C. In a separate controlled stimulation test, increasing imposed MCN1 activity from 7 Hz to 9 Hz at 13°C restored LG bursting; returning to 7 Hz removed that rescue.</a:t>
            </a:r>
          </a:p>
          <a:p>
            <a:pPr algn="l">
              <a:lnSpc>
                <a:spcPct val="108000"/>
              </a:lnSpc>
              <a:spcAft>
                <a:spcPts val="900"/>
              </a:spcAft>
            </a:pPr>
            <a:r>
              <a:rPr sz="1500" b="0" i="0">
                <a:solidFill>
                  <a:srgbClr val="252D35"/>
                </a:solidFill>
                <a:latin typeface="Arial"/>
              </a:rPr>
              <a:t>Descending drive can compensate a temperature-sensitive local circuit. Raising MCN1 frequency by roughly half rescued LG bursting, close to the rise warming caused in spontaneous MCN1 firing, and threshold drive climbed by about 1 Hz per degree. MCN1’s own temperature sensitivity thus supplies extra drive.</a:t>
            </a:r>
          </a:p>
        </p:txBody>
      </p:sp>
      <p:pic>
        <p:nvPicPr>
          <p:cNvPr id="4" name="Picture 3" descr="S15_6.png"/>
          <p:cNvPicPr>
            <a:picLocks noChangeAspect="1"/>
          </p:cNvPicPr>
          <p:nvPr/>
        </p:nvPicPr>
        <p:blipFill>
          <a:blip r:embed="rId2"/>
          <a:stretch>
            <a:fillRect/>
          </a:stretch>
        </p:blipFill>
        <p:spPr>
          <a:xfrm>
            <a:off x="6750320" y="1280160"/>
            <a:ext cx="2708012" cy="4297679"/>
          </a:xfrm>
          <a:prstGeom prst="rect">
            <a:avLst/>
          </a:prstGeom>
        </p:spPr>
      </p:pic>
      <p:sp>
        <p:nvSpPr>
          <p:cNvPr id="5" name="Figure caption"/>
          <p:cNvSpPr txBox="1"/>
          <p:nvPr/>
        </p:nvSpPr>
        <p:spPr>
          <a:xfrm>
            <a:off x="6138367" y="5669279"/>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Städele et al. (2015), Fig. 6(A–E). MCN1 activity increases with warming and stronger stimulation rescues LG</a:t>
            </a:r>
          </a:p>
        </p:txBody>
      </p:sp>
      <p:pic>
        <p:nvPicPr>
          <p:cNvPr id="6" name="Picture 5" descr="S15_net.png"/>
          <p:cNvPicPr>
            <a:picLocks noChangeAspect="1"/>
          </p:cNvPicPr>
          <p:nvPr/>
        </p:nvPicPr>
        <p:blipFill>
          <a:blip r:embed="rId3"/>
          <a:stretch>
            <a:fillRect/>
          </a:stretch>
        </p:blipFill>
        <p:spPr>
          <a:xfrm>
            <a:off x="10253167" y="2148840"/>
            <a:ext cx="1371600" cy="1670071"/>
          </a:xfrm>
          <a:prstGeom prst="rect">
            <a:avLst/>
          </a:prstGeom>
        </p:spPr>
      </p:pic>
      <p:sp>
        <p:nvSpPr>
          <p:cNvPr id="7" name="Figure caption"/>
          <p:cNvSpPr txBox="1"/>
          <p:nvPr/>
        </p:nvSpPr>
        <p:spPr>
          <a:xfrm>
            <a:off x="10253167" y="3892063"/>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Städele et al. (2015), Fig. 1(A). Gastric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Städele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CabTRP Ia can rescue the rhythm with continuing input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252D35"/>
                </a:solidFill>
                <a:latin typeface="Arial"/>
              </a:rPr>
              <a:t>Städele and colleagues applied 1 μM CabTRP Ia to the warmed crab STG. CabTRP Ia is a peptide cotransmitter of MCN1: </a:t>
            </a:r>
            <a:r>
              <a:rPr sz="1400" b="1" i="0">
                <a:solidFill>
                  <a:srgbClr val="7E4357"/>
                </a:solidFill>
                <a:latin typeface="Arial"/>
              </a:rPr>
              <a:t>cotransmission</a:t>
            </a:r>
            <a:r>
              <a:rPr sz="1400" b="0" i="0">
                <a:solidFill>
                  <a:srgbClr val="252D35"/>
                </a:solidFill>
                <a:latin typeface="Arial"/>
              </a:rPr>
              <a:t> means that one neuron supplies more than one chemical signal. The peptide can strengthen the modulatory influence received by LG without increasing the imposed axonal stimulus frequency.</a:t>
            </a:r>
          </a:p>
          <a:p>
            <a:pPr algn="l">
              <a:lnSpc>
                <a:spcPct val="108000"/>
              </a:lnSpc>
              <a:spcAft>
                <a:spcPts val="840"/>
              </a:spcAft>
            </a:pPr>
            <a:r>
              <a:rPr sz="1400" b="0" i="0">
                <a:solidFill>
                  <a:srgbClr val="252D35"/>
                </a:solidFill>
                <a:latin typeface="Arial"/>
              </a:rPr>
              <a:t>At 13°C, 7 Hz MCN1 stimulation alone failed to sustain LG bursts in the published example. CabTRP Ia together with continuing stimulation restored rhythmic bursting. Peptide application without the accompanying stimulation did not fully recreate that recovered rhythm, and washout removed the rescue.</a:t>
            </a:r>
          </a:p>
          <a:p>
            <a:pPr algn="l">
              <a:lnSpc>
                <a:spcPct val="108000"/>
              </a:lnSpc>
              <a:spcAft>
                <a:spcPts val="840"/>
              </a:spcAft>
            </a:pPr>
            <a:r>
              <a:rPr sz="1400" b="0" i="0">
                <a:solidFill>
                  <a:srgbClr val="252D35"/>
                </a:solidFill>
                <a:latin typeface="Arial"/>
              </a:rPr>
              <a:t>The peptide and remaining MCN1 actions jointly maintained the effective drive needed for oscillation. Extracellular calcium blocks I_MI at hyperpolarized voltages, giving the current a negative-slope region that acts as a negative leak and cancels the warming increase in LG leak. In the authors’ model, larger leak always needed a proportionally larger modulator-activated current.</a:t>
            </a:r>
          </a:p>
        </p:txBody>
      </p:sp>
      <p:pic>
        <p:nvPicPr>
          <p:cNvPr id="4" name="Picture 3" descr="S15_7A.png"/>
          <p:cNvPicPr>
            <a:picLocks noChangeAspect="1"/>
          </p:cNvPicPr>
          <p:nvPr/>
        </p:nvPicPr>
        <p:blipFill>
          <a:blip r:embed="rId2"/>
          <a:stretch>
            <a:fillRect/>
          </a:stretch>
        </p:blipFill>
        <p:spPr>
          <a:xfrm>
            <a:off x="6967695" y="1280160"/>
            <a:ext cx="2273264" cy="4297679"/>
          </a:xfrm>
          <a:prstGeom prst="rect">
            <a:avLst/>
          </a:prstGeom>
        </p:spPr>
      </p:pic>
      <p:sp>
        <p:nvSpPr>
          <p:cNvPr id="5" name="Figure caption"/>
          <p:cNvSpPr txBox="1"/>
          <p:nvPr/>
        </p:nvSpPr>
        <p:spPr>
          <a:xfrm>
            <a:off x="6138367" y="5669279"/>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Städele et al. (2015), Fig. 7(A). CabTRP Ia with continuing MCN1 drive restores LG bursts at 13°C</a:t>
            </a:r>
          </a:p>
        </p:txBody>
      </p:sp>
      <p:pic>
        <p:nvPicPr>
          <p:cNvPr id="6" name="Picture 5" descr="S15_net.png"/>
          <p:cNvPicPr>
            <a:picLocks noChangeAspect="1"/>
          </p:cNvPicPr>
          <p:nvPr/>
        </p:nvPicPr>
        <p:blipFill>
          <a:blip r:embed="rId3"/>
          <a:stretch>
            <a:fillRect/>
          </a:stretch>
        </p:blipFill>
        <p:spPr>
          <a:xfrm>
            <a:off x="10253167" y="2148840"/>
            <a:ext cx="1371600" cy="1670071"/>
          </a:xfrm>
          <a:prstGeom prst="rect">
            <a:avLst/>
          </a:prstGeom>
        </p:spPr>
      </p:pic>
      <p:sp>
        <p:nvSpPr>
          <p:cNvPr id="7" name="Figure caption"/>
          <p:cNvSpPr txBox="1"/>
          <p:nvPr/>
        </p:nvSpPr>
        <p:spPr>
          <a:xfrm>
            <a:off x="10253167" y="3892063"/>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Städele et al. (2015), Fig. 1(A). Gastric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Städele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Fast and slow rhythms retain integer coupling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7E4357"/>
                </a:solidFill>
                <a:latin typeface="Arial"/>
              </a:rPr>
              <a:t>Integer coupling</a:t>
            </a:r>
            <a:r>
              <a:rPr sz="1600" b="0" i="0">
                <a:solidFill>
                  <a:srgbClr val="252D35"/>
                </a:solidFill>
                <a:latin typeface="Arial"/>
              </a:rPr>
              <a:t> means that a slow rhythm’s cycle duration lies close to a whole-number multiple of a faster rhythm’s period. Powell and colleagues tested this relationship between crab gastric LG bursts and pyloric PD bursts while changing temperature from 7°C to 23°C.</a:t>
            </a:r>
          </a:p>
          <a:p>
            <a:pPr algn="l">
              <a:lnSpc>
                <a:spcPct val="108000"/>
              </a:lnSpc>
              <a:spcAft>
                <a:spcPts val="960"/>
              </a:spcAft>
            </a:pPr>
            <a:r>
              <a:rPr sz="1600" b="0" i="0">
                <a:solidFill>
                  <a:srgbClr val="252D35"/>
                </a:solidFill>
                <a:latin typeface="Arial"/>
              </a:rPr>
              <a:t>Both rhythms accelerated, yet LG cycles remained close to integer numbers of PD cycles. In the published example, an LG cycle lasted 9.17 s with a mean PD period of 0.911 s at 7°C; at 23°C, the corresponding values were 3.44 s and 0.313 s. The integer number itself could change.</a:t>
            </a:r>
          </a:p>
          <a:p>
            <a:pPr algn="l">
              <a:lnSpc>
                <a:spcPct val="108000"/>
              </a:lnSpc>
              <a:spcAft>
                <a:spcPts val="960"/>
              </a:spcAft>
            </a:pPr>
            <a:r>
              <a:rPr sz="1600" b="0" i="0">
                <a:solidFill>
                  <a:srgbClr val="252D35"/>
                </a:solidFill>
                <a:latin typeface="Arial"/>
              </a:rPr>
              <a:t>Coordination therefore persisted without holding either oscillator’s frequency constant. LG burst starts retained a preferred pyloric phase, whereas DG coupling was weaker. Both rhythms sped up with a similar Q10 of about 2 in most preparations, keeping their cycle ratio near a whole number.</a:t>
            </a:r>
          </a:p>
        </p:txBody>
      </p:sp>
      <p:pic>
        <p:nvPicPr>
          <p:cNvPr id="4" name="Picture 3" descr="S21_5ab.png"/>
          <p:cNvPicPr>
            <a:picLocks noChangeAspect="1"/>
          </p:cNvPicPr>
          <p:nvPr/>
        </p:nvPicPr>
        <p:blipFill>
          <a:blip r:embed="rId2"/>
          <a:stretch>
            <a:fillRect/>
          </a:stretch>
        </p:blipFill>
        <p:spPr>
          <a:xfrm>
            <a:off x="6138367" y="1280160"/>
            <a:ext cx="3931920" cy="3153959"/>
          </a:xfrm>
          <a:prstGeom prst="rect">
            <a:avLst/>
          </a:prstGeom>
        </p:spPr>
      </p:pic>
      <p:sp>
        <p:nvSpPr>
          <p:cNvPr id="5" name="Figure caption"/>
          <p:cNvSpPr txBox="1"/>
          <p:nvPr/>
        </p:nvSpPr>
        <p:spPr>
          <a:xfrm>
            <a:off x="6138367" y="4525559"/>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Powell et al. (2021), Fig. 5(a–c). Gastric periods remain near integer multiples of pyloric periods</a:t>
            </a:r>
          </a:p>
        </p:txBody>
      </p:sp>
      <p:pic>
        <p:nvPicPr>
          <p:cNvPr id="6" name="Picture 5" descr="S21_net.png"/>
          <p:cNvPicPr>
            <a:picLocks noChangeAspect="1"/>
          </p:cNvPicPr>
          <p:nvPr/>
        </p:nvPicPr>
        <p:blipFill>
          <a:blip r:embed="rId3"/>
          <a:stretch>
            <a:fillRect/>
          </a:stretch>
        </p:blipFill>
        <p:spPr>
          <a:xfrm>
            <a:off x="10253167" y="2148840"/>
            <a:ext cx="1371600" cy="881950"/>
          </a:xfrm>
          <a:prstGeom prst="rect">
            <a:avLst/>
          </a:prstGeom>
        </p:spPr>
      </p:pic>
      <p:sp>
        <p:nvSpPr>
          <p:cNvPr id="7" name="Figure caption"/>
          <p:cNvSpPr txBox="1"/>
          <p:nvPr/>
        </p:nvSpPr>
        <p:spPr>
          <a:xfrm>
            <a:off x="10253167" y="3103942"/>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Powell et al. (2021), Fig. 1(c). Crab STG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Powell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Circuit activity can recover after input removal</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252D35"/>
                </a:solidFill>
                <a:latin typeface="Arial"/>
              </a:rPr>
              <a:t>More-Potdar and Golowasch followed crab pyloric preparations for many hours after </a:t>
            </a:r>
            <a:r>
              <a:rPr sz="1400" b="1" i="0">
                <a:solidFill>
                  <a:srgbClr val="7E4357"/>
                </a:solidFill>
                <a:latin typeface="Arial"/>
              </a:rPr>
              <a:t>decentralization</a:t>
            </a:r>
            <a:r>
              <a:rPr sz="1400" b="0" i="0">
                <a:solidFill>
                  <a:srgbClr val="252D35"/>
                </a:solidFill>
                <a:latin typeface="Arial"/>
              </a:rPr>
              <a:t>, removal of descending modulatory input. They recorded the outgoing motor rhythm over time and tested its phase relationships at different temperatures. Immediate slowing was therefore distinguished from the later state of the same circuit.</a:t>
            </a:r>
          </a:p>
          <a:p>
            <a:pPr algn="l">
              <a:lnSpc>
                <a:spcPct val="108000"/>
              </a:lnSpc>
              <a:spcAft>
                <a:spcPts val="840"/>
              </a:spcAft>
            </a:pPr>
            <a:r>
              <a:rPr sz="1400" b="0" i="0">
                <a:solidFill>
                  <a:srgbClr val="252D35"/>
                </a:solidFill>
                <a:latin typeface="Arial"/>
              </a:rPr>
              <a:t>In the published time course, the study reported frequency recovery to approximately 75% of control and phases to within about 10% of control after approximately 24 h. Temperature tests found recovery of several phase relationships across the tested range, with incomplete recovery for some measures over the broadest range.</a:t>
            </a:r>
          </a:p>
          <a:p>
            <a:pPr algn="l">
              <a:lnSpc>
                <a:spcPct val="108000"/>
              </a:lnSpc>
              <a:spcAft>
                <a:spcPts val="840"/>
              </a:spcAft>
            </a:pPr>
            <a:r>
              <a:rPr sz="1400" b="0" i="0">
                <a:solidFill>
                  <a:srgbClr val="252D35"/>
                </a:solidFill>
                <a:latin typeface="Arial"/>
              </a:rPr>
              <a:t>Long-term recovery supports regulation of functional output after loss of modulation. The recovered rhythm also regained robustness: across temperatures from 9°C to 30°C, its phases varied about as little as in preparations whose modulatory inputs remained connected.</a:t>
            </a:r>
          </a:p>
        </p:txBody>
      </p:sp>
      <p:pic>
        <p:nvPicPr>
          <p:cNvPr id="4" name="Picture 3" descr="H23_2AB.png"/>
          <p:cNvPicPr>
            <a:picLocks noChangeAspect="1"/>
          </p:cNvPicPr>
          <p:nvPr/>
        </p:nvPicPr>
        <p:blipFill>
          <a:blip r:embed="rId2"/>
          <a:stretch>
            <a:fillRect/>
          </a:stretch>
        </p:blipFill>
        <p:spPr>
          <a:xfrm>
            <a:off x="6499092" y="1280160"/>
            <a:ext cx="3210469" cy="4297679"/>
          </a:xfrm>
          <a:prstGeom prst="rect">
            <a:avLst/>
          </a:prstGeom>
        </p:spPr>
      </p:pic>
      <p:sp>
        <p:nvSpPr>
          <p:cNvPr id="5" name="Figure caption"/>
          <p:cNvSpPr txBox="1"/>
          <p:nvPr/>
        </p:nvSpPr>
        <p:spPr>
          <a:xfrm>
            <a:off x="6138367" y="5669279"/>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More-Potdar &amp; Golowasch (2023), Fig. 2(A–B). Frequency and phase recover over hours after decentralization</a:t>
            </a:r>
          </a:p>
        </p:txBody>
      </p:sp>
      <p:pic>
        <p:nvPicPr>
          <p:cNvPr id="6" name="Picture 5" descr="H23_net.png"/>
          <p:cNvPicPr>
            <a:picLocks noChangeAspect="1"/>
          </p:cNvPicPr>
          <p:nvPr/>
        </p:nvPicPr>
        <p:blipFill>
          <a:blip r:embed="rId3"/>
          <a:stretch>
            <a:fillRect/>
          </a:stretch>
        </p:blipFill>
        <p:spPr>
          <a:xfrm>
            <a:off x="10253167" y="2148840"/>
            <a:ext cx="1371600" cy="2165168"/>
          </a:xfrm>
          <a:prstGeom prst="rect">
            <a:avLst/>
          </a:prstGeom>
        </p:spPr>
      </p:pic>
      <p:sp>
        <p:nvSpPr>
          <p:cNvPr id="7" name="Figure caption"/>
          <p:cNvSpPr txBox="1"/>
          <p:nvPr/>
        </p:nvSpPr>
        <p:spPr>
          <a:xfrm>
            <a:off x="10253167" y="4387160"/>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More-Potdar &amp; Golowasch (2023), Fig. 1(B).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More-Potdar &amp; Golowasch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Key takeaways</a:t>
            </a:r>
          </a:p>
        </p:txBody>
      </p:sp>
      <p:sp>
        <p:nvSpPr>
          <p:cNvPr id="3" name="Rectangle 2"/>
          <p:cNvSpPr/>
          <p:nvPr/>
        </p:nvSpPr>
        <p:spPr>
          <a:xfrm>
            <a:off x="566928" y="1234440"/>
            <a:ext cx="5391759" cy="1478279"/>
          </a:xfrm>
          <a:prstGeom prst="rect">
            <a:avLst/>
          </a:prstGeom>
          <a:solidFill>
            <a:srgbClr val="F5EFF1"/>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7E4357"/>
                </a:solidFill>
                <a:latin typeface="Arial"/>
              </a:rPr>
              <a:t>Pacemaker and conditional bursters.</a:t>
            </a:r>
            <a:r>
              <a:rPr sz="1600" b="0" i="0">
                <a:solidFill>
                  <a:srgbClr val="252D35"/>
                </a:solidFill>
                <a:latin typeface="Arial"/>
              </a:rPr>
              <a:t> Isolated AB retains spontaneous bursting; PD and several followers can express oscillations when appropriate input recruits them.</a:t>
            </a:r>
          </a:p>
        </p:txBody>
      </p:sp>
      <p:sp>
        <p:nvSpPr>
          <p:cNvPr id="5" name="Rectangle 4"/>
          <p:cNvSpPr/>
          <p:nvPr/>
        </p:nvSpPr>
        <p:spPr>
          <a:xfrm>
            <a:off x="6233007" y="1234440"/>
            <a:ext cx="5391759" cy="1478279"/>
          </a:xfrm>
          <a:prstGeom prst="rect">
            <a:avLst/>
          </a:prstGeom>
          <a:solidFill>
            <a:srgbClr val="F5EFF1"/>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7E4357"/>
                </a:solidFill>
                <a:latin typeface="Arial"/>
              </a:rPr>
              <a:t>Electrical and chemical pathways.</a:t>
            </a:r>
            <a:r>
              <a:rPr sz="1600" b="0" i="0">
                <a:solidFill>
                  <a:srgbClr val="252D35"/>
                </a:solidFill>
                <a:latin typeface="Arial"/>
              </a:rPr>
              <a:t> AB and PD synchronize electrically but have different chemical outputs. An IPSP in a coupled cell can arrive indirectly through its partner.</a:t>
            </a:r>
          </a:p>
        </p:txBody>
      </p:sp>
      <p:sp>
        <p:nvSpPr>
          <p:cNvPr id="7" name="Rectangle 6"/>
          <p:cNvSpPr/>
          <p:nvPr/>
        </p:nvSpPr>
        <p:spPr>
          <a:xfrm>
            <a:off x="566928" y="2987040"/>
            <a:ext cx="5391759" cy="1478279"/>
          </a:xfrm>
          <a:prstGeom prst="rect">
            <a:avLst/>
          </a:prstGeom>
          <a:solidFill>
            <a:srgbClr val="F5EFF1"/>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7E4357"/>
                </a:solidFill>
                <a:latin typeface="Arial"/>
              </a:rPr>
              <a:t>Transmitter and target determine action.</a:t>
            </a:r>
            <a:r>
              <a:rPr sz="1500" b="0" i="0">
                <a:solidFill>
                  <a:srgbClr val="252D35"/>
                </a:solidFill>
                <a:latin typeface="Arial"/>
              </a:rPr>
              <a:t> ACh excites the lobster PD-innervated dilator muscle. Central inhibition depends on the postsynaptic ionic mechanism, not on transmitter identity alone.</a:t>
            </a:r>
          </a:p>
        </p:txBody>
      </p:sp>
      <p:sp>
        <p:nvSpPr>
          <p:cNvPr id="9" name="Rectangle 8"/>
          <p:cNvSpPr/>
          <p:nvPr/>
        </p:nvSpPr>
        <p:spPr>
          <a:xfrm>
            <a:off x="6233007" y="2987040"/>
            <a:ext cx="5391759" cy="1478279"/>
          </a:xfrm>
          <a:prstGeom prst="rect">
            <a:avLst/>
          </a:prstGeom>
          <a:solidFill>
            <a:srgbClr val="F5EFF1"/>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7E4357"/>
                </a:solidFill>
                <a:latin typeface="Arial"/>
              </a:rPr>
              <a:t>Phase depends on active synaptic timing.</a:t>
            </a:r>
            <a:r>
              <a:rPr sz="1500" b="0" i="0">
                <a:solidFill>
                  <a:srgbClr val="252D35"/>
                </a:solidFill>
                <a:latin typeface="Arial"/>
              </a:rPr>
              <a:t> Inhibition, its duration and peak timing, and the neuron’s membrane currents jointly determine follower burst onset. Graded release can function without spikes.</a:t>
            </a:r>
          </a:p>
        </p:txBody>
      </p:sp>
      <p:sp>
        <p:nvSpPr>
          <p:cNvPr id="11" name="Rectangle 10"/>
          <p:cNvSpPr/>
          <p:nvPr/>
        </p:nvSpPr>
        <p:spPr>
          <a:xfrm>
            <a:off x="566928" y="4739640"/>
            <a:ext cx="5391759" cy="1478279"/>
          </a:xfrm>
          <a:prstGeom prst="rect">
            <a:avLst/>
          </a:prstGeom>
          <a:solidFill>
            <a:srgbClr val="F5EFF1"/>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7E4357"/>
                </a:solidFill>
                <a:latin typeface="Arial"/>
              </a:rPr>
              <a:t>Modulation changes the operative mechanism.</a:t>
            </a:r>
            <a:r>
              <a:rPr sz="1500" b="0" i="0">
                <a:solidFill>
                  <a:srgbClr val="252D35"/>
                </a:solidFill>
                <a:latin typeface="Arial"/>
              </a:rPr>
              <a:t> Modulators differ in target neurons and synaptic actions. Activating the same inward current does not guarantee the same spike dependence or network output.</a:t>
            </a:r>
          </a:p>
        </p:txBody>
      </p:sp>
      <p:sp>
        <p:nvSpPr>
          <p:cNvPr id="13" name="Rectangle 12"/>
          <p:cNvSpPr/>
          <p:nvPr/>
        </p:nvSpPr>
        <p:spPr>
          <a:xfrm>
            <a:off x="6233007" y="4739640"/>
            <a:ext cx="5391759" cy="1478279"/>
          </a:xfrm>
          <a:prstGeom prst="rect">
            <a:avLst/>
          </a:prstGeom>
          <a:solidFill>
            <a:srgbClr val="F5EFF1"/>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7E4357"/>
                </a:solidFill>
                <a:latin typeface="Arial"/>
              </a:rPr>
              <a:t>Robustness depends on state and timescale.</a:t>
            </a:r>
            <a:r>
              <a:rPr sz="1500" b="0" i="0">
                <a:solidFill>
                  <a:srgbClr val="252D35"/>
                </a:solidFill>
                <a:latin typeface="Arial"/>
              </a:rPr>
              <a:t> Pyloric phase and gastric–pyloric coupling can survive warming. Descending drive can rescue weak gastric rhythms, and prolonged input loss can be followed by recovery.</a:t>
            </a:r>
          </a:p>
        </p:txBody>
      </p:sp>
      <p:sp>
        <p:nvSpPr>
          <p:cNvPr id="15" name="Rectangle 14"/>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Marder (1976); Miller &amp; Selverston (1982); Eisen &amp; Marder (1982); Tang et al. (2010); Städele et al. (2015); Rosenbaum &amp; Marder (2018); Powell et al. (2021)</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Rebound from shared inhibition sets the triphasic order</a:t>
            </a:r>
          </a:p>
        </p:txBody>
      </p:sp>
      <p:sp>
        <p:nvSpPr>
          <p:cNvPr id="3" name="Body"/>
          <p:cNvSpPr txBox="1"/>
          <p:nvPr/>
        </p:nvSpPr>
        <p:spPr>
          <a:xfrm>
            <a:off x="566928" y="1234440"/>
            <a:ext cx="5205679" cy="4425698"/>
          </a:xfrm>
          <a:prstGeom prst="rect">
            <a:avLst/>
          </a:prstGeom>
          <a:noFill/>
        </p:spPr>
        <p:txBody>
          <a:bodyPr wrap="square" lIns="0" rIns="0" tIns="0" bIns="0">
            <a:spAutoFit/>
          </a:bodyPr>
          <a:lstStyle/>
          <a:p>
            <a:pPr algn="l">
              <a:lnSpc>
                <a:spcPct val="108000"/>
              </a:lnSpc>
              <a:spcAft>
                <a:spcPts val="900"/>
              </a:spcAft>
            </a:pPr>
            <a:r>
              <a:rPr sz="1500" b="0" i="0">
                <a:solidFill>
                  <a:srgbClr val="252D35"/>
                </a:solidFill>
                <a:latin typeface="Arial"/>
              </a:rPr>
              <a:t>The </a:t>
            </a:r>
            <a:r>
              <a:rPr sz="1500" b="1" i="0">
                <a:solidFill>
                  <a:srgbClr val="7E4357"/>
                </a:solidFill>
                <a:latin typeface="Arial"/>
              </a:rPr>
              <a:t>AB</a:t>
            </a:r>
            <a:r>
              <a:rPr sz="1500" b="0" i="0">
                <a:solidFill>
                  <a:srgbClr val="252D35"/>
                </a:solidFill>
                <a:latin typeface="Arial"/>
              </a:rPr>
              <a:t> and </a:t>
            </a:r>
            <a:r>
              <a:rPr sz="1500" b="1" i="0">
                <a:solidFill>
                  <a:srgbClr val="7E4357"/>
                </a:solidFill>
                <a:latin typeface="Arial"/>
              </a:rPr>
              <a:t>PD</a:t>
            </a:r>
            <a:r>
              <a:rPr sz="1500" b="0" i="0">
                <a:solidFill>
                  <a:srgbClr val="252D35"/>
                </a:solidFill>
                <a:latin typeface="Arial"/>
              </a:rPr>
              <a:t> pacemaker group bursts at the start of every cycle and, while it fires, inhibits both LP and PY. Each follower therefore spends the pacemaker burst hyperpolarized, and its own burst can begin only after that inhibition fades.</a:t>
            </a:r>
          </a:p>
          <a:p>
            <a:pPr algn="l">
              <a:lnSpc>
                <a:spcPct val="108000"/>
              </a:lnSpc>
              <a:spcAft>
                <a:spcPts val="900"/>
              </a:spcAft>
            </a:pPr>
            <a:r>
              <a:rPr sz="1500" b="1" i="0">
                <a:solidFill>
                  <a:srgbClr val="7E4357"/>
                </a:solidFill>
                <a:latin typeface="Arial"/>
              </a:rPr>
              <a:t>Postinhibitory rebound</a:t>
            </a:r>
            <a:r>
              <a:rPr sz="1500" b="0" i="0">
                <a:solidFill>
                  <a:srgbClr val="252D35"/>
                </a:solidFill>
                <a:latin typeface="Arial"/>
              </a:rPr>
              <a:t> decides which follower fires second. PY carries a much larger A-type potassium current than LP, which slows its recovery, so LP reaches threshold first. Once PY begins firing, its glutamatergic inhibition ends the LP burst, and the PD, LP, PY sequence follows from who inhibits whom and how fast each cell recovers.</a:t>
            </a:r>
          </a:p>
          <a:p>
            <a:pPr algn="l">
              <a:lnSpc>
                <a:spcPct val="108000"/>
              </a:lnSpc>
              <a:spcAft>
                <a:spcPts val="900"/>
              </a:spcAft>
            </a:pPr>
            <a:r>
              <a:rPr sz="1500" b="0" i="0">
                <a:solidFill>
                  <a:srgbClr val="252D35"/>
                </a:solidFill>
                <a:latin typeface="Arial"/>
              </a:rPr>
              <a:t>The order serves the foregut. Pyloric muscles move food particles through a series of sieving structures, and this transport works only if the muscle groups contract in a fixed sequence at any rhythm speed. LP deprived of its rhythmic inhibition fires irregularly and loses its place in that sequence.</a:t>
            </a:r>
          </a:p>
        </p:txBody>
      </p:sp>
      <p:sp>
        <p:nvSpPr>
          <p:cNvPr id="4" name="Rectangle 5"/>
          <p:cNvSpPr/>
          <p:nvPr/>
        </p:nvSpPr>
        <p:spPr>
          <a:xfrm>
            <a:off x="566928" y="6382512"/>
            <a:ext cx="11057839" cy="9144"/>
          </a:xfrm>
          <a:prstGeom prst="rect">
            <a:avLst/>
          </a:prstGeom>
          <a:solidFill>
            <a:srgbClr val="D8DDE2"/>
          </a:solidFill>
          <a:ln>
            <a:noFill/>
          </a:ln>
          <a:effectLst/>
        </p:spPr>
        <p:txBody>
          <a:bodyPr rtlCol="0" anchor="ctr"/>
          <a:lstStyle/>
          <a:p>
            <a:pPr algn="ctr"/>
          </a:p>
        </p:txBody>
      </p:sp>
      <p:pic>
        <p:nvPicPr>
          <p:cNvPr id="5" name="Picture 3" descr="H87_1.png"/>
          <p:cNvPicPr>
            <a:picLocks noChangeAspect="1"/>
          </p:cNvPicPr>
          <p:nvPr/>
        </p:nvPicPr>
        <p:blipFill>
          <a:blip r:embed="rId3"/>
          <a:stretch>
            <a:fillRect/>
          </a:stretch>
        </p:blipFill>
        <p:spPr>
          <a:xfrm>
            <a:off x="6138367" y="1280160"/>
            <a:ext cx="5486400" cy="3488823"/>
          </a:xfrm>
          <a:prstGeom prst="rect">
            <a:avLst/>
          </a:prstGeom>
        </p:spPr>
      </p:pic>
      <p:sp>
        <p:nvSpPr>
          <p:cNvPr id="6" name="Figure caption"/>
          <p:cNvSpPr txBox="1"/>
          <p:nvPr/>
        </p:nvSpPr>
        <p:spPr>
          <a:xfrm>
            <a:off x="6138367" y="4860423"/>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Hooper &amp; Marder (1987), Fig. 1. Lobster STG anatomy, identified recordings and pyloric connections</a:t>
            </a: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Hooper &amp; Marder (1987); Tang et al. (2010); Martinez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05a</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AB and conditional PDs form one pacemaker kernel</a:t>
            </a:r>
          </a:p>
        </p:txBody>
      </p:sp>
      <p:sp>
        <p:nvSpPr>
          <p:cNvPr id="3" name="Body"/>
          <p:cNvSpPr txBox="1"/>
          <p:nvPr/>
        </p:nvSpPr>
        <p:spPr>
          <a:xfrm>
            <a:off x="566928" y="1234440"/>
            <a:ext cx="5205679" cy="4425698"/>
          </a:xfrm>
          <a:prstGeom prst="rect">
            <a:avLst/>
          </a:prstGeom>
          <a:noFill/>
        </p:spPr>
        <p:txBody>
          <a:bodyPr wrap="square" lIns="0" rIns="0" tIns="0" bIns="0">
            <a:spAutoFit/>
          </a:bodyPr>
          <a:lstStyle/>
          <a:p>
            <a:pPr algn="l">
              <a:lnSpc>
                <a:spcPct val="108000"/>
              </a:lnSpc>
              <a:spcAft>
                <a:spcPts val="900"/>
              </a:spcAft>
            </a:pPr>
            <a:r>
              <a:rPr sz="1500" b="0" i="0">
                <a:solidFill>
                  <a:srgbClr val="252D35"/>
                </a:solidFill>
                <a:latin typeface="Arial"/>
              </a:rPr>
              <a:t>An </a:t>
            </a:r>
            <a:r>
              <a:rPr sz="1500" b="1" i="0">
                <a:solidFill>
                  <a:srgbClr val="7E4357"/>
                </a:solidFill>
                <a:latin typeface="Arial"/>
              </a:rPr>
              <a:t>endogenous</a:t>
            </a:r>
            <a:r>
              <a:rPr sz="1500" b="0" i="0">
                <a:solidFill>
                  <a:srgbClr val="252D35"/>
                </a:solidFill>
                <a:latin typeface="Arial"/>
              </a:rPr>
              <a:t> burster carries a complete oscillation mechanism in its own membrane, so its rhythm survives the loss of every synaptic input. A </a:t>
            </a:r>
            <a:r>
              <a:rPr sz="1500" b="1" i="0">
                <a:solidFill>
                  <a:srgbClr val="7E4357"/>
                </a:solidFill>
                <a:latin typeface="Arial"/>
              </a:rPr>
              <a:t>conditional</a:t>
            </a:r>
            <a:r>
              <a:rPr sz="1500" b="0" i="0">
                <a:solidFill>
                  <a:srgbClr val="252D35"/>
                </a:solidFill>
                <a:latin typeface="Arial"/>
              </a:rPr>
              <a:t> burster holds the necessary currents in latent form; modulatory input must switch them on, and without that input the same cell fires tonically.</a:t>
            </a:r>
          </a:p>
          <a:p>
            <a:pPr algn="l">
              <a:lnSpc>
                <a:spcPct val="108000"/>
              </a:lnSpc>
              <a:spcAft>
                <a:spcPts val="900"/>
              </a:spcAft>
            </a:pPr>
            <a:r>
              <a:rPr sz="1500" b="0" i="0">
                <a:solidFill>
                  <a:srgbClr val="252D35"/>
                </a:solidFill>
                <a:latin typeface="Arial"/>
              </a:rPr>
              <a:t>Electrical coupling merges both types into one unit. AB's slow wave spreads into the two PD cells, and PD's recruited oscillations feed back into AB, so the kernel bursts as a group although only AB can oscillate alone. Inside the intact circuit all three fire in synchrony, which is why only complete isolation could expose the difference.</a:t>
            </a:r>
          </a:p>
          <a:p>
            <a:pPr algn="l">
              <a:lnSpc>
                <a:spcPct val="108000"/>
              </a:lnSpc>
              <a:spcAft>
                <a:spcPts val="900"/>
              </a:spcAft>
            </a:pPr>
            <a:r>
              <a:rPr sz="1500" b="0" i="0">
                <a:solidFill>
                  <a:srgbClr val="252D35"/>
                </a:solidFill>
                <a:latin typeface="Arial"/>
              </a:rPr>
              <a:t>The design provides a reserve. After descending input has been absent for many hours, PD neurons can express pacemaker properties of their own, adding effective oscillators to a network that normally relies on a single one.</a:t>
            </a:r>
          </a:p>
        </p:txBody>
      </p:sp>
      <p:sp>
        <p:nvSpPr>
          <p:cNvPr id="4"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pic>
        <p:nvPicPr>
          <p:cNvPr id="5" name="Picture 3" descr="M82_2.png"/>
          <p:cNvPicPr>
            <a:picLocks noChangeAspect="1"/>
          </p:cNvPicPr>
          <p:nvPr/>
        </p:nvPicPr>
        <p:blipFill>
          <a:blip r:embed="rId3"/>
          <a:stretch>
            <a:fillRect/>
          </a:stretch>
        </p:blipFill>
        <p:spPr>
          <a:xfrm>
            <a:off x="6138367" y="1280160"/>
            <a:ext cx="3931920" cy="2173918"/>
          </a:xfrm>
          <a:prstGeom prst="rect">
            <a:avLst/>
          </a:prstGeom>
        </p:spPr>
      </p:pic>
      <p:sp>
        <p:nvSpPr>
          <p:cNvPr id="6" name="Figure caption"/>
          <p:cNvSpPr txBox="1"/>
          <p:nvPr/>
        </p:nvSpPr>
        <p:spPr>
          <a:xfrm>
            <a:off x="6138367" y="3545518"/>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Miller &amp; Selverston (1982), Fig. 2(A–B). AB retains slow bursting after other inputs are removed</a:t>
            </a: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Miller &amp; Selverston (1982); Eisen &amp; Marder (1982); More-Potdar &amp; Golowasch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08a</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Deleting a coupled partner reveals chemical output</a:t>
            </a:r>
          </a:p>
        </p:txBody>
      </p:sp>
      <p:sp>
        <p:nvSpPr>
          <p:cNvPr id="3" name="Body"/>
          <p:cNvSpPr txBox="1"/>
          <p:nvPr/>
        </p:nvSpPr>
        <p:spPr>
          <a:xfrm>
            <a:off x="566928" y="1234440"/>
            <a:ext cx="5205679" cy="4720744"/>
          </a:xfrm>
          <a:prstGeom prst="rect">
            <a:avLst/>
          </a:prstGeom>
          <a:noFill/>
        </p:spPr>
        <p:txBody>
          <a:bodyPr wrap="square" lIns="0" rIns="0" tIns="0" bIns="0">
            <a:spAutoFit/>
          </a:bodyPr>
          <a:lstStyle/>
          <a:p>
            <a:pPr algn="l">
              <a:lnSpc>
                <a:spcPct val="108000"/>
              </a:lnSpc>
              <a:spcAft>
                <a:spcPts val="960"/>
              </a:spcAft>
            </a:pPr>
            <a:r>
              <a:rPr sz="1600" b="0" i="0">
                <a:solidFill>
                  <a:srgbClr val="252D35"/>
                </a:solidFill>
                <a:latin typeface="Arial"/>
              </a:rPr>
              <a:t>Current injected into AB leaks through gap junctions into PD, and current injected into PD leaks back. Stimulating either cell drives both, so inhibition recorded in LP mixes transmitter from the two partners.</a:t>
            </a:r>
          </a:p>
          <a:p>
            <a:pPr algn="l">
              <a:lnSpc>
                <a:spcPct val="108000"/>
              </a:lnSpc>
              <a:spcAft>
                <a:spcPts val="960"/>
              </a:spcAft>
            </a:pPr>
            <a:r>
              <a:rPr sz="1600" b="1" i="0">
                <a:solidFill>
                  <a:srgbClr val="7E4357"/>
                </a:solidFill>
                <a:latin typeface="Arial"/>
              </a:rPr>
              <a:t>Photoinactivation</a:t>
            </a:r>
            <a:r>
              <a:rPr sz="1600" b="0" i="0">
                <a:solidFill>
                  <a:srgbClr val="252D35"/>
                </a:solidFill>
                <a:latin typeface="Arial"/>
              </a:rPr>
              <a:t> breaks the pair: a neuron filled with Lucifer yellow dies when illuminated, while unfilled neighbors survive. With PD gone, every remaining inhibitory response in LP must come from AB, and the reverse deletion isolates PD's share of the compound response.</a:t>
            </a:r>
          </a:p>
          <a:p>
            <a:pPr algn="l">
              <a:lnSpc>
                <a:spcPct val="108000"/>
              </a:lnSpc>
              <a:spcAft>
                <a:spcPts val="960"/>
              </a:spcAft>
            </a:pPr>
            <a:r>
              <a:rPr sz="1600" b="0" i="0">
                <a:solidFill>
                  <a:srgbClr val="252D35"/>
                </a:solidFill>
                <a:latin typeface="Arial"/>
              </a:rPr>
              <a:t>The same deletions mapped connections beyond LP. Inhibition recorded in the VD motor neuron came solely from AB, and the coupling potentials among AB, PD and VD came from direct junctions linking all three. Coupling between nonidentical neurons thus allows one synchronous burst deliver several different inhibitory signals.</a:t>
            </a:r>
          </a:p>
        </p:txBody>
      </p:sp>
      <p:sp>
        <p:nvSpPr>
          <p:cNvPr id="4"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pic>
        <p:nvPicPr>
          <p:cNvPr id="5" name="Picture 3" descr="E82_4.png"/>
          <p:cNvPicPr>
            <a:picLocks noChangeAspect="1"/>
          </p:cNvPicPr>
          <p:nvPr/>
        </p:nvPicPr>
        <p:blipFill>
          <a:blip r:embed="rId3"/>
          <a:stretch>
            <a:fillRect/>
          </a:stretch>
        </p:blipFill>
        <p:spPr>
          <a:xfrm>
            <a:off x="6138367" y="1280160"/>
            <a:ext cx="3931920" cy="3327815"/>
          </a:xfrm>
          <a:prstGeom prst="rect">
            <a:avLst/>
          </a:prstGeom>
        </p:spPr>
      </p:pic>
      <p:sp>
        <p:nvSpPr>
          <p:cNvPr id="6" name="Figure caption"/>
          <p:cNvSpPr txBox="1"/>
          <p:nvPr/>
        </p:nvSpPr>
        <p:spPr>
          <a:xfrm>
            <a:off x="6138367" y="4699415"/>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Eisen &amp; Marder (1982), Fig. 4. Selective deletion separates AB and PD synaptic outputs</a:t>
            </a:r>
          </a:p>
        </p:txBody>
      </p:sp>
      <p:pic>
        <p:nvPicPr>
          <p:cNvPr id="7" name="Picture 5" descr="H87_net.png"/>
          <p:cNvPicPr>
            <a:picLocks noChangeAspect="1"/>
          </p:cNvPicPr>
          <p:nvPr/>
        </p:nvPicPr>
        <p:blipFill>
          <a:blip r:embed="rId4"/>
          <a:stretch>
            <a:fillRect/>
          </a:stretch>
        </p:blipFill>
        <p:spPr>
          <a:xfrm>
            <a:off x="10253167" y="2148840"/>
            <a:ext cx="1371600" cy="1902069"/>
          </a:xfrm>
          <a:prstGeom prst="rect">
            <a:avLst/>
          </a:prstGeom>
        </p:spPr>
      </p:pic>
      <p:sp>
        <p:nvSpPr>
          <p:cNvPr id="8" name="Figure caption"/>
          <p:cNvSpPr txBox="1"/>
          <p:nvPr/>
        </p:nvSpPr>
        <p:spPr>
          <a:xfrm>
            <a:off x="10253167" y="4124061"/>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Hooper &amp; Marder (1987), Fig. 1(right). Lobster pyloric circuit</a:t>
            </a: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Eisen &amp; Marder (1982); Miller &amp; Selverston (1982)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11a</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Driving force decides how strongly each synapse inhibits LP</a:t>
            </a:r>
          </a:p>
        </p:txBody>
      </p:sp>
      <p:sp>
        <p:nvSpPr>
          <p:cNvPr id="3" name="Body"/>
          <p:cNvSpPr txBox="1"/>
          <p:nvPr/>
        </p:nvSpPr>
        <p:spPr>
          <a:xfrm>
            <a:off x="566928" y="1234440"/>
            <a:ext cx="5205679" cy="4178809"/>
          </a:xfrm>
          <a:prstGeom prst="rect">
            <a:avLst/>
          </a:prstGeom>
          <a:noFill/>
        </p:spPr>
        <p:txBody>
          <a:bodyPr wrap="square" lIns="0" rIns="0" tIns="0" bIns="0">
            <a:spAutoFit/>
          </a:bodyPr>
          <a:lstStyle/>
          <a:p>
            <a:pPr algn="l">
              <a:lnSpc>
                <a:spcPct val="108000"/>
              </a:lnSpc>
              <a:spcAft>
                <a:spcPts val="900"/>
              </a:spcAft>
            </a:pPr>
            <a:r>
              <a:rPr sz="1500" b="0" i="0">
                <a:solidFill>
                  <a:srgbClr val="252D35"/>
                </a:solidFill>
                <a:latin typeface="Arial"/>
              </a:rPr>
              <a:t>Current flows through an open synaptic channel only when the membrane sits away from that synapse's reversal potential. The </a:t>
            </a:r>
            <a:r>
              <a:rPr sz="1500" b="1" i="0">
                <a:solidFill>
                  <a:srgbClr val="7E4357"/>
                </a:solidFill>
                <a:latin typeface="Arial"/>
              </a:rPr>
              <a:t>driving force</a:t>
            </a:r>
            <a:r>
              <a:rPr sz="1500" b="0" i="0">
                <a:solidFill>
                  <a:srgbClr val="252D35"/>
                </a:solidFill>
                <a:latin typeface="Arial"/>
              </a:rPr>
              <a:t>, the gap between membrane voltage and reversal, sets both the direction and the size of the current a given conductance passes.</a:t>
            </a:r>
          </a:p>
          <a:p>
            <a:pPr algn="l">
              <a:lnSpc>
                <a:spcPct val="108000"/>
              </a:lnSpc>
              <a:spcAft>
                <a:spcPts val="900"/>
              </a:spcAft>
            </a:pPr>
            <a:r>
              <a:rPr sz="1500" b="0" i="0">
                <a:solidFill>
                  <a:srgbClr val="252D35"/>
                </a:solidFill>
                <a:latin typeface="Arial"/>
              </a:rPr>
              <a:t>Near −58 mV, where isolated LP began firing in proctolin, the PD synapse, reversing near −86 mV, has a driving force of almost 30 mV and pulls LP strongly negative. The AB synapse, reversing near −64 mV, has only a few millivolts of driving force at the same voltage, so the two inputs differ in voltage impact even at similar conductance.</a:t>
            </a:r>
          </a:p>
          <a:p>
            <a:pPr algn="l">
              <a:lnSpc>
                <a:spcPct val="108000"/>
              </a:lnSpc>
              <a:spcAft>
                <a:spcPts val="900"/>
              </a:spcAft>
            </a:pPr>
            <a:r>
              <a:rPr sz="1500" b="0" i="0">
                <a:solidFill>
                  <a:srgbClr val="252D35"/>
                </a:solidFill>
                <a:latin typeface="Arial"/>
              </a:rPr>
              <a:t>Deep potassium-driven hyperpolarization from PD prepares LP's rebound. It activates the depolarizing h current and removes inactivation from the A-type potassium current, the two currents whose competition sets when LP fires again after the pacemaker burst.</a:t>
            </a:r>
          </a:p>
        </p:txBody>
      </p:sp>
      <p:sp>
        <p:nvSpPr>
          <p:cNvPr id="4"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pic>
        <p:nvPicPr>
          <p:cNvPr id="5" name="Picture 3" descr="E82_6.png"/>
          <p:cNvPicPr>
            <a:picLocks noChangeAspect="1"/>
          </p:cNvPicPr>
          <p:nvPr/>
        </p:nvPicPr>
        <p:blipFill>
          <a:blip r:embed="rId3"/>
          <a:stretch>
            <a:fillRect/>
          </a:stretch>
        </p:blipFill>
        <p:spPr>
          <a:xfrm>
            <a:off x="6486460" y="1280160"/>
            <a:ext cx="3235732" cy="4297679"/>
          </a:xfrm>
          <a:prstGeom prst="rect">
            <a:avLst/>
          </a:prstGeom>
        </p:spPr>
      </p:pic>
      <p:sp>
        <p:nvSpPr>
          <p:cNvPr id="6" name="Figure caption"/>
          <p:cNvSpPr txBox="1"/>
          <p:nvPr/>
        </p:nvSpPr>
        <p:spPr>
          <a:xfrm>
            <a:off x="6138367" y="5669279"/>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Eisen &amp; Marder (1982), Fig. 6. External potassium shifts the isolated PD-to-LP reversal</a:t>
            </a: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Eisen &amp; Marder (1982); Hooper &amp; Marder (1987); Tang et al. (2010)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14a</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PD's acetylcholine excites muscle but inhibits LP</a:t>
            </a:r>
          </a:p>
        </p:txBody>
      </p:sp>
      <p:sp>
        <p:nvSpPr>
          <p:cNvPr id="3" name="Body"/>
          <p:cNvSpPr txBox="1"/>
          <p:nvPr/>
        </p:nvSpPr>
        <p:spPr>
          <a:xfrm>
            <a:off x="566928" y="1234440"/>
            <a:ext cx="5205679" cy="3669795"/>
          </a:xfrm>
          <a:prstGeom prst="rect">
            <a:avLst/>
          </a:prstGeom>
          <a:noFill/>
        </p:spPr>
        <p:txBody>
          <a:bodyPr wrap="square" lIns="0" rIns="0" tIns="0" bIns="0">
            <a:spAutoFit/>
          </a:bodyPr>
          <a:lstStyle/>
          <a:p>
            <a:pPr algn="l">
              <a:lnSpc>
                <a:spcPct val="108000"/>
              </a:lnSpc>
              <a:spcAft>
                <a:spcPts val="840"/>
              </a:spcAft>
            </a:pPr>
            <a:r>
              <a:rPr sz="1400" b="0" i="0">
                <a:solidFill>
                  <a:srgbClr val="252D35"/>
                </a:solidFill>
                <a:latin typeface="Arial"/>
              </a:rPr>
              <a:t>A transmitter's effect depends on the receptor it binds and the ions that receptor passes. At the dorsal dilator, ACh opens channels whose reversal near −18 mV lies well above the muscle's resting voltage, so positive ions flow in, the fiber depolarizes and contraction follows.</a:t>
            </a:r>
          </a:p>
          <a:p>
            <a:pPr algn="l">
              <a:lnSpc>
                <a:spcPct val="108000"/>
              </a:lnSpc>
              <a:spcAft>
                <a:spcPts val="840"/>
              </a:spcAft>
            </a:pPr>
            <a:r>
              <a:rPr sz="1400" b="0" i="0">
                <a:solidFill>
                  <a:srgbClr val="252D35"/>
                </a:solidFill>
                <a:latin typeface="Arial"/>
              </a:rPr>
              <a:t>PD releases the same ACh onto LP, yet there it inhibits. Its synapse onto LP reverses near −86 mV and shifts when external potassium rises, the signature of a potassium-selective pathway, so opening it allows potassium to leave LP and moves the membrane away from threshold.</a:t>
            </a:r>
          </a:p>
          <a:p>
            <a:pPr algn="l">
              <a:lnSpc>
                <a:spcPct val="108000"/>
              </a:lnSpc>
              <a:spcAft>
                <a:spcPts val="840"/>
              </a:spcAft>
            </a:pPr>
            <a:r>
              <a:rPr sz="1400" b="0" i="0">
                <a:solidFill>
                  <a:srgbClr val="252D35"/>
                </a:solidFill>
                <a:latin typeface="Arial"/>
              </a:rPr>
              <a:t>Drug sensitivity therefore follows receptors rather than transmitters. Picrotoxin blocks the glutamatergic inhibition that AB and PY deliver to LP but leaves PD's cholinergic inhibition in place, so one drug removes two of LP's three inhibitory inputs while sparing the third.</a:t>
            </a:r>
          </a:p>
        </p:txBody>
      </p:sp>
      <p:sp>
        <p:nvSpPr>
          <p:cNvPr id="4"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pic>
        <p:nvPicPr>
          <p:cNvPr id="5" name="Picture 3" descr="M76_7.png"/>
          <p:cNvPicPr>
            <a:picLocks noChangeAspect="1"/>
          </p:cNvPicPr>
          <p:nvPr/>
        </p:nvPicPr>
        <p:blipFill>
          <a:blip r:embed="rId3"/>
          <a:stretch>
            <a:fillRect/>
          </a:stretch>
        </p:blipFill>
        <p:spPr>
          <a:xfrm>
            <a:off x="6138367" y="1280160"/>
            <a:ext cx="3931920" cy="2651974"/>
          </a:xfrm>
          <a:prstGeom prst="rect">
            <a:avLst/>
          </a:prstGeom>
        </p:spPr>
      </p:pic>
      <p:sp>
        <p:nvSpPr>
          <p:cNvPr id="6" name="Figure caption"/>
          <p:cNvSpPr txBox="1"/>
          <p:nvPr/>
        </p:nvSpPr>
        <p:spPr>
          <a:xfrm>
            <a:off x="6138367" y="4023574"/>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Marder (1976), Fig. 7. Nerve-evoked and ACh responses reverse at similar voltages</a:t>
            </a:r>
          </a:p>
        </p:txBody>
      </p:sp>
      <p:pic>
        <p:nvPicPr>
          <p:cNvPr id="7" name="Picture 5" descr="G15_3A.png"/>
          <p:cNvPicPr>
            <a:picLocks noChangeAspect="1"/>
          </p:cNvPicPr>
          <p:nvPr/>
        </p:nvPicPr>
        <p:blipFill>
          <a:blip r:embed="rId4"/>
          <a:stretch>
            <a:fillRect/>
          </a:stretch>
        </p:blipFill>
        <p:spPr>
          <a:xfrm>
            <a:off x="10253167" y="2148840"/>
            <a:ext cx="1371600" cy="1239252"/>
          </a:xfrm>
          <a:prstGeom prst="rect">
            <a:avLst/>
          </a:prstGeom>
        </p:spPr>
      </p:pic>
      <p:sp>
        <p:nvSpPr>
          <p:cNvPr id="8" name="Figure caption"/>
          <p:cNvSpPr txBox="1"/>
          <p:nvPr/>
        </p:nvSpPr>
        <p:spPr>
          <a:xfrm>
            <a:off x="10253167" y="3461244"/>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Garcia et al. (2015), Fig. 3(A). Crab foregut anatomy</a:t>
            </a: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Marder (1976); Eisen &amp; Marder (1982); Martinez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17a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Graded release carries slow-wave timing without spikes</a:t>
            </a:r>
          </a:p>
        </p:txBody>
      </p:sp>
      <p:sp>
        <p:nvSpPr>
          <p:cNvPr id="3" name="Body"/>
          <p:cNvSpPr txBox="1"/>
          <p:nvPr/>
        </p:nvSpPr>
        <p:spPr>
          <a:xfrm>
            <a:off x="566928" y="1234440"/>
            <a:ext cx="5205679" cy="4178809"/>
          </a:xfrm>
          <a:prstGeom prst="rect">
            <a:avLst/>
          </a:prstGeom>
          <a:noFill/>
        </p:spPr>
        <p:txBody>
          <a:bodyPr wrap="square" lIns="0" rIns="0" tIns="0" bIns="0">
            <a:spAutoFit/>
          </a:bodyPr>
          <a:lstStyle/>
          <a:p>
            <a:pPr algn="l">
              <a:lnSpc>
                <a:spcPct val="108000"/>
              </a:lnSpc>
              <a:spcAft>
                <a:spcPts val="900"/>
              </a:spcAft>
            </a:pPr>
            <a:r>
              <a:rPr sz="1500" b="0" i="0">
                <a:solidFill>
                  <a:srgbClr val="252D35"/>
                </a:solidFill>
                <a:latin typeface="Arial"/>
              </a:rPr>
              <a:t>Transmitter release is triggered by calcium entering the presynaptic terminal through voltage-gated calcium channels. In </a:t>
            </a:r>
            <a:r>
              <a:rPr sz="1500" b="1" i="0">
                <a:solidFill>
                  <a:srgbClr val="7E4357"/>
                </a:solidFill>
                <a:latin typeface="Arial"/>
              </a:rPr>
              <a:t>graded transmission</a:t>
            </a:r>
            <a:r>
              <a:rPr sz="1500" b="0" i="0">
                <a:solidFill>
                  <a:srgbClr val="252D35"/>
                </a:solidFill>
                <a:latin typeface="Arial"/>
              </a:rPr>
              <a:t>, a slow depolarization opens some of these channels without any spike, so release rises and falls continuously with presynaptic voltage.</a:t>
            </a:r>
          </a:p>
          <a:p>
            <a:pPr algn="l">
              <a:lnSpc>
                <a:spcPct val="108000"/>
              </a:lnSpc>
              <a:spcAft>
                <a:spcPts val="900"/>
              </a:spcAft>
            </a:pPr>
            <a:r>
              <a:rPr sz="1500" b="0" i="0">
                <a:solidFill>
                  <a:srgbClr val="252D35"/>
                </a:solidFill>
                <a:latin typeface="Arial"/>
              </a:rPr>
              <a:t>TTX blocks voltage-gated sodium channels but spares calcium channels. It therefore removes spikes and spike-triggered release while leaving the slow-wave route intact, and a rhythm that survives TTX must be generated and coordinated by slow membrane oscillations and the graded synapses they drive.</a:t>
            </a:r>
          </a:p>
          <a:p>
            <a:pPr algn="l">
              <a:lnSpc>
                <a:spcPct val="108000"/>
              </a:lnSpc>
              <a:spcAft>
                <a:spcPts val="900"/>
              </a:spcAft>
            </a:pPr>
            <a:r>
              <a:rPr sz="1500" b="0" i="0">
                <a:solidFill>
                  <a:srgbClr val="252D35"/>
                </a:solidFill>
                <a:latin typeface="Arial"/>
              </a:rPr>
              <a:t>Slow-wave coupling also carries timing in the intact rhythm. The conductance a follower receives tracks the whole voltage trajectory of its presynaptic partner, so the timing in each slow wave reaches the target even in cycles when the partner fires few spikes.</a:t>
            </a:r>
          </a:p>
        </p:txBody>
      </p:sp>
      <p:sp>
        <p:nvSpPr>
          <p:cNvPr id="4"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pic>
        <p:nvPicPr>
          <p:cNvPr id="5" name="Picture 3" descr="D18_6B.png"/>
          <p:cNvPicPr>
            <a:picLocks noChangeAspect="1"/>
          </p:cNvPicPr>
          <p:nvPr/>
        </p:nvPicPr>
        <p:blipFill>
          <a:blip r:embed="rId3"/>
          <a:stretch>
            <a:fillRect/>
          </a:stretch>
        </p:blipFill>
        <p:spPr>
          <a:xfrm>
            <a:off x="6138367" y="1280160"/>
            <a:ext cx="3931920" cy="4210675"/>
          </a:xfrm>
          <a:prstGeom prst="rect">
            <a:avLst/>
          </a:prstGeom>
        </p:spPr>
      </p:pic>
      <p:sp>
        <p:nvSpPr>
          <p:cNvPr id="6" name="Figure caption"/>
          <p:cNvSpPr txBox="1"/>
          <p:nvPr/>
        </p:nvSpPr>
        <p:spPr>
          <a:xfrm>
            <a:off x="6138367" y="5582275"/>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Rosenbaum &amp; Marder (2018), Fig. 6(B). Presynaptic depolarization evokes graded inhibition without spikes</a:t>
            </a:r>
          </a:p>
        </p:txBody>
      </p:sp>
      <p:pic>
        <p:nvPicPr>
          <p:cNvPr id="7" name="Picture 5" descr="D18_net.png"/>
          <p:cNvPicPr>
            <a:picLocks noChangeAspect="1"/>
          </p:cNvPicPr>
          <p:nvPr/>
        </p:nvPicPr>
        <p:blipFill>
          <a:blip r:embed="rId4"/>
          <a:stretch>
            <a:fillRect/>
          </a:stretch>
        </p:blipFill>
        <p:spPr>
          <a:xfrm>
            <a:off x="10253167" y="2148840"/>
            <a:ext cx="1371600" cy="1762055"/>
          </a:xfrm>
          <a:prstGeom prst="rect">
            <a:avLst/>
          </a:prstGeom>
        </p:spPr>
      </p:pic>
      <p:sp>
        <p:nvSpPr>
          <p:cNvPr id="8" name="Figure caption"/>
          <p:cNvSpPr txBox="1"/>
          <p:nvPr/>
        </p:nvSpPr>
        <p:spPr>
          <a:xfrm>
            <a:off x="10253167" y="3984047"/>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Rosenbaum &amp; Marder (2018), Fig. 1(C). Pyloric circuit</a:t>
            </a: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Rosenbaum &amp; Marder (2018); Martinez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19a</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Three clamp methods fix different variables to test causes</a:t>
            </a:r>
          </a:p>
        </p:txBody>
      </p:sp>
      <p:sp>
        <p:nvSpPr>
          <p:cNvPr id="3" name="Body"/>
          <p:cNvSpPr txBox="1"/>
          <p:nvPr/>
        </p:nvSpPr>
        <p:spPr>
          <a:xfrm>
            <a:off x="566928" y="1234440"/>
            <a:ext cx="5205679" cy="4672587"/>
          </a:xfrm>
          <a:prstGeom prst="rect">
            <a:avLst/>
          </a:prstGeom>
          <a:noFill/>
        </p:spPr>
        <p:txBody>
          <a:bodyPr wrap="square" lIns="0" rIns="0" tIns="0" bIns="0">
            <a:spAutoFit/>
          </a:bodyPr>
          <a:lstStyle/>
          <a:p>
            <a:pPr algn="l">
              <a:lnSpc>
                <a:spcPct val="108000"/>
              </a:lnSpc>
              <a:spcAft>
                <a:spcPts val="900"/>
              </a:spcAft>
            </a:pPr>
            <a:r>
              <a:rPr sz="1500" b="1" i="0">
                <a:solidFill>
                  <a:srgbClr val="7E4357"/>
                </a:solidFill>
                <a:latin typeface="Arial"/>
              </a:rPr>
              <a:t>Current clamp</a:t>
            </a:r>
            <a:r>
              <a:rPr sz="1500" b="0" i="0">
                <a:solidFill>
                  <a:srgbClr val="252D35"/>
                </a:solidFill>
                <a:latin typeface="Arial"/>
              </a:rPr>
              <a:t> injects a chosen current and leaves voltage free to change, so the neuron's own channels shape its response. </a:t>
            </a:r>
            <a:r>
              <a:rPr sz="1500" b="1" i="0">
                <a:solidFill>
                  <a:srgbClr val="7E4357"/>
                </a:solidFill>
                <a:latin typeface="Arial"/>
              </a:rPr>
              <a:t>Voltage clamp</a:t>
            </a:r>
            <a:r>
              <a:rPr sz="1500" b="0" i="0">
                <a:solidFill>
                  <a:srgbClr val="252D35"/>
                </a:solidFill>
                <a:latin typeface="Arial"/>
              </a:rPr>
              <a:t> forces the membrane to a commanded voltage and measures the current required, exposing channel and synaptic currents but preventing the cell from behaving freely.</a:t>
            </a:r>
          </a:p>
          <a:p>
            <a:pPr algn="l">
              <a:lnSpc>
                <a:spcPct val="108000"/>
              </a:lnSpc>
              <a:spcAft>
                <a:spcPts val="900"/>
              </a:spcAft>
            </a:pPr>
            <a:r>
              <a:rPr sz="1500" b="1" i="0">
                <a:solidFill>
                  <a:srgbClr val="7E4357"/>
                </a:solidFill>
                <a:latin typeface="Arial"/>
              </a:rPr>
              <a:t>Dynamic clamp</a:t>
            </a:r>
            <a:r>
              <a:rPr sz="1500" b="0" i="0">
                <a:solidFill>
                  <a:srgbClr val="252D35"/>
                </a:solidFill>
                <a:latin typeface="Arial"/>
              </a:rPr>
              <a:t> splits control between experimenter and neuron. The experimenter specifies a conductance waveform, the neuron supplies its moment-to-moment voltage, and the injected current results from both, so a defined synaptic or leak input can be tested against an intact set of membrane currents.</a:t>
            </a:r>
          </a:p>
          <a:p>
            <a:pPr algn="l">
              <a:lnSpc>
                <a:spcPct val="108000"/>
              </a:lnSpc>
              <a:spcAft>
                <a:spcPts val="900"/>
              </a:spcAft>
            </a:pPr>
            <a:r>
              <a:rPr sz="1500" b="0" i="0">
                <a:solidFill>
                  <a:srgbClr val="252D35"/>
                </a:solidFill>
                <a:latin typeface="Arial"/>
              </a:rPr>
              <a:t>The deck's experiments use each method for a different question. Clamping PD imposed a chosen pacemaker period on the whole network; clamping LP measured its real synaptic waveform and its peptide currents; dynamic clamp replayed altered waveforms in LP, and in LG it added or removed leak to stop or rescue bursting.</a:t>
            </a:r>
          </a:p>
        </p:txBody>
      </p:sp>
      <p:sp>
        <p:nvSpPr>
          <p:cNvPr id="4"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pic>
        <p:nvPicPr>
          <p:cNvPr id="5" name="Picture 3" descr="M19_3BC.png"/>
          <p:cNvPicPr>
            <a:picLocks noChangeAspect="1"/>
          </p:cNvPicPr>
          <p:nvPr/>
        </p:nvPicPr>
        <p:blipFill>
          <a:blip r:embed="rId3"/>
          <a:stretch>
            <a:fillRect/>
          </a:stretch>
        </p:blipFill>
        <p:spPr>
          <a:xfrm>
            <a:off x="6138367" y="1280160"/>
            <a:ext cx="3931920" cy="3889451"/>
          </a:xfrm>
          <a:prstGeom prst="rect">
            <a:avLst/>
          </a:prstGeom>
        </p:spPr>
      </p:pic>
      <p:sp>
        <p:nvSpPr>
          <p:cNvPr id="6" name="Figure caption"/>
          <p:cNvSpPr txBox="1"/>
          <p:nvPr/>
        </p:nvSpPr>
        <p:spPr>
          <a:xfrm>
            <a:off x="6138367" y="5261051"/>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Martinez et al. (2019), Fig. 3(A–F). Measured input, conductance replay and LP phase responses</a:t>
            </a: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Martinez et al. (2019); Garcia et al. (2015); Städele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24a</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Phase holds only when inhibition scales with the cycle</a:t>
            </a:r>
          </a:p>
        </p:txBody>
      </p:sp>
      <p:sp>
        <p:nvSpPr>
          <p:cNvPr id="3" name="Body"/>
          <p:cNvSpPr txBox="1"/>
          <p:nvPr/>
        </p:nvSpPr>
        <p:spPr>
          <a:xfrm>
            <a:off x="566928" y="1234440"/>
            <a:ext cx="5205679" cy="4425697"/>
          </a:xfrm>
          <a:prstGeom prst="rect">
            <a:avLst/>
          </a:prstGeom>
          <a:noFill/>
        </p:spPr>
        <p:txBody>
          <a:bodyPr wrap="square" lIns="0" rIns="0" tIns="0" bIns="0">
            <a:spAutoFit/>
          </a:bodyPr>
          <a:lstStyle/>
          <a:p>
            <a:pPr algn="l">
              <a:lnSpc>
                <a:spcPct val="108000"/>
              </a:lnSpc>
              <a:spcAft>
                <a:spcPts val="900"/>
              </a:spcAft>
            </a:pPr>
            <a:r>
              <a:rPr sz="1500" b="0" i="0">
                <a:solidFill>
                  <a:srgbClr val="252D35"/>
                </a:solidFill>
                <a:latin typeface="Arial"/>
              </a:rPr>
              <a:t>LP fires once the pacemaker's inhibition fades and its own rebound brings it to threshold. If inhibition and rebound took fixed times, a longer cycle would leave the delay unchanged and LP's phase would fall; phase stays constant only if the delay grows in proportion to the period.</a:t>
            </a:r>
          </a:p>
          <a:p>
            <a:pPr algn="l">
              <a:lnSpc>
                <a:spcPct val="108000"/>
              </a:lnSpc>
              <a:spcAft>
                <a:spcPts val="900"/>
              </a:spcAft>
            </a:pPr>
            <a:r>
              <a:rPr sz="1500" b="0" i="0">
                <a:solidFill>
                  <a:srgbClr val="252D35"/>
                </a:solidFill>
                <a:latin typeface="Arial"/>
              </a:rPr>
              <a:t>Three features of the input supply that growth. Inhibition occupying a constant fraction of the cycle stretches the silent period itself; a stronger synapse in slow rhythms deepens and prolongs suppression; and a later conductance peak keeps LP inhibited longer. Each delays LP more in slow cycles, offsetting the advance that period alone would cause.</a:t>
            </a:r>
          </a:p>
          <a:p>
            <a:pPr algn="l">
              <a:lnSpc>
                <a:spcPct val="108000"/>
              </a:lnSpc>
              <a:spcAft>
                <a:spcPts val="900"/>
              </a:spcAft>
            </a:pPr>
            <a:r>
              <a:rPr sz="1500" b="0" i="0">
                <a:solidFill>
                  <a:srgbClr val="252D35"/>
                </a:solidFill>
                <a:latin typeface="Arial"/>
              </a:rPr>
              <a:t>Warming changes period by a different route. As temperature rises, the pacemaker's voltage trajectory scales with the cycle and the peak of LP's synaptic current stays at a fixed fraction of the input, so temperature preserves phase through adjustments unlike those at a single temperature.</a:t>
            </a:r>
          </a:p>
        </p:txBody>
      </p:sp>
      <p:sp>
        <p:nvSpPr>
          <p:cNvPr id="4"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pic>
        <p:nvPicPr>
          <p:cNvPr id="5" name="Picture 3" descr="M19_4.png"/>
          <p:cNvPicPr>
            <a:picLocks noChangeAspect="1"/>
          </p:cNvPicPr>
          <p:nvPr/>
        </p:nvPicPr>
        <p:blipFill>
          <a:blip r:embed="rId3"/>
          <a:stretch>
            <a:fillRect/>
          </a:stretch>
        </p:blipFill>
        <p:spPr>
          <a:xfrm>
            <a:off x="6679671" y="1280160"/>
            <a:ext cx="2849310" cy="4297679"/>
          </a:xfrm>
          <a:prstGeom prst="rect">
            <a:avLst/>
          </a:prstGeom>
        </p:spPr>
      </p:pic>
      <p:sp>
        <p:nvSpPr>
          <p:cNvPr id="6" name="Figure caption"/>
          <p:cNvSpPr txBox="1"/>
          <p:nvPr/>
        </p:nvSpPr>
        <p:spPr>
          <a:xfrm>
            <a:off x="6138367" y="5669279"/>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Martinez et al. (2019), Fig. 4(A–B). LP phase depends on the timing reference and inhibitory duty cycle</a:t>
            </a:r>
          </a:p>
        </p:txBody>
      </p:sp>
      <p:pic>
        <p:nvPicPr>
          <p:cNvPr id="7" name="Picture 5" descr="S10_net.png"/>
          <p:cNvPicPr>
            <a:picLocks noChangeAspect="1"/>
          </p:cNvPicPr>
          <p:nvPr/>
        </p:nvPicPr>
        <p:blipFill>
          <a:blip r:embed="rId4"/>
          <a:stretch>
            <a:fillRect/>
          </a:stretch>
        </p:blipFill>
        <p:spPr>
          <a:xfrm>
            <a:off x="10253167" y="2148840"/>
            <a:ext cx="1371600" cy="1918177"/>
          </a:xfrm>
          <a:prstGeom prst="rect">
            <a:avLst/>
          </a:prstGeom>
        </p:spPr>
      </p:pic>
      <p:sp>
        <p:nvSpPr>
          <p:cNvPr id="8" name="Figure caption"/>
          <p:cNvSpPr txBox="1"/>
          <p:nvPr/>
        </p:nvSpPr>
        <p:spPr>
          <a:xfrm>
            <a:off x="10253167" y="4140169"/>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Tang et al. (2010), Fig. 2(B). Crab pyloric circuit</a:t>
            </a: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Martinez et al. (2019); Tang et al. (2010)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26a</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Proctolin reshapes the whole rhythm through a few targets</a:t>
            </a:r>
          </a:p>
        </p:txBody>
      </p:sp>
      <p:sp>
        <p:nvSpPr>
          <p:cNvPr id="3" name="Body"/>
          <p:cNvSpPr txBox="1"/>
          <p:nvPr/>
        </p:nvSpPr>
        <p:spPr>
          <a:xfrm>
            <a:off x="566928" y="1234440"/>
            <a:ext cx="5205679" cy="3669795"/>
          </a:xfrm>
          <a:prstGeom prst="rect">
            <a:avLst/>
          </a:prstGeom>
          <a:noFill/>
        </p:spPr>
        <p:txBody>
          <a:bodyPr wrap="square" lIns="0" rIns="0" tIns="0" bIns="0">
            <a:spAutoFit/>
          </a:bodyPr>
          <a:lstStyle/>
          <a:p>
            <a:pPr algn="l">
              <a:lnSpc>
                <a:spcPct val="108000"/>
              </a:lnSpc>
              <a:spcAft>
                <a:spcPts val="840"/>
              </a:spcAft>
            </a:pPr>
            <a:r>
              <a:rPr sz="1400" b="0" i="0">
                <a:solidFill>
                  <a:srgbClr val="252D35"/>
                </a:solidFill>
                <a:latin typeface="Arial"/>
              </a:rPr>
              <a:t>Proctolin acts directly on only a few pyloric neurons, yet the whole motor pattern changes. Electrical coupling relays its excitation of AB into the PD cells, so the entire pacemaker kernel bursts more strongly and more often, and every follower receives its inhibition on a faster schedule.</a:t>
            </a:r>
          </a:p>
          <a:p>
            <a:pPr algn="l">
              <a:lnSpc>
                <a:spcPct val="108000"/>
              </a:lnSpc>
              <a:spcAft>
                <a:spcPts val="840"/>
              </a:spcAft>
            </a:pPr>
            <a:r>
              <a:rPr sz="1400" b="0" i="0">
                <a:solidFill>
                  <a:srgbClr val="252D35"/>
                </a:solidFill>
                <a:latin typeface="Arial"/>
              </a:rPr>
              <a:t>Insensitive neurons change through their synapses. VD showed no response to proctolin when isolated, yet its activity fell as concentration rose in the intact circuit, and deleting identified neurons linked such indirect changes to the cells the peptide excites directly.</a:t>
            </a:r>
          </a:p>
          <a:p>
            <a:pPr algn="l">
              <a:lnSpc>
                <a:spcPct val="108000"/>
              </a:lnSpc>
              <a:spcAft>
                <a:spcPts val="840"/>
              </a:spcAft>
            </a:pPr>
            <a:r>
              <a:rPr sz="1400" b="0" i="0">
                <a:solidFill>
                  <a:srgbClr val="252D35"/>
                </a:solidFill>
                <a:latin typeface="Arial"/>
              </a:rPr>
              <a:t>Phase relations shift as well as frequency. LP gains activity while VD loses it, so the peptide redistributes firing among motor neurons and alters the balance of contraction among the muscles they drive, rather than simply running a fixed pattern faster.</a:t>
            </a:r>
          </a:p>
        </p:txBody>
      </p:sp>
      <p:sp>
        <p:nvSpPr>
          <p:cNvPr id="4"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pic>
        <p:nvPicPr>
          <p:cNvPr id="5" name="Picture 3" descr="H87_4.png"/>
          <p:cNvPicPr>
            <a:picLocks noChangeAspect="1"/>
          </p:cNvPicPr>
          <p:nvPr/>
        </p:nvPicPr>
        <p:blipFill>
          <a:blip r:embed="rId3"/>
          <a:stretch>
            <a:fillRect/>
          </a:stretch>
        </p:blipFill>
        <p:spPr>
          <a:xfrm>
            <a:off x="6838895" y="1280160"/>
            <a:ext cx="4085344" cy="2148840"/>
          </a:xfrm>
          <a:prstGeom prst="rect">
            <a:avLst/>
          </a:prstGeom>
        </p:spPr>
      </p:pic>
      <p:sp>
        <p:nvSpPr>
          <p:cNvPr id="6" name="Figure caption"/>
          <p:cNvSpPr txBox="1"/>
          <p:nvPr/>
        </p:nvSpPr>
        <p:spPr>
          <a:xfrm>
            <a:off x="6138367" y="352044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Hooper &amp; Marder (1987), Fig. 4. Proctolin changes AB oscillations and the activity of follower cells</a:t>
            </a:r>
          </a:p>
        </p:txBody>
      </p:sp>
      <p:pic>
        <p:nvPicPr>
          <p:cNvPr id="7" name="Picture 5" descr="H87_6.png"/>
          <p:cNvPicPr>
            <a:picLocks noChangeAspect="1"/>
          </p:cNvPicPr>
          <p:nvPr/>
        </p:nvPicPr>
        <p:blipFill>
          <a:blip r:embed="rId4"/>
          <a:stretch>
            <a:fillRect/>
          </a:stretch>
        </p:blipFill>
        <p:spPr>
          <a:xfrm>
            <a:off x="7247763" y="3977640"/>
            <a:ext cx="3267607" cy="1783079"/>
          </a:xfrm>
          <a:prstGeom prst="rect">
            <a:avLst/>
          </a:prstGeom>
        </p:spPr>
      </p:pic>
      <p:sp>
        <p:nvSpPr>
          <p:cNvPr id="8"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Hooper &amp; Marder (1987), Fig. 6. Proctolin excites the isolated AB neuron in a concentration-dependent manner</a:t>
            </a: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Hooper &amp; Marder (1987)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28a</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Convergent peptides share one current and can occlude</a:t>
            </a:r>
          </a:p>
        </p:txBody>
      </p:sp>
      <p:sp>
        <p:nvSpPr>
          <p:cNvPr id="3" name="Body"/>
          <p:cNvSpPr txBox="1"/>
          <p:nvPr/>
        </p:nvSpPr>
        <p:spPr>
          <a:xfrm>
            <a:off x="566928" y="1234440"/>
            <a:ext cx="5205679" cy="4178809"/>
          </a:xfrm>
          <a:prstGeom prst="rect">
            <a:avLst/>
          </a:prstGeom>
          <a:noFill/>
        </p:spPr>
        <p:txBody>
          <a:bodyPr wrap="square" lIns="0" rIns="0" tIns="0" bIns="0">
            <a:spAutoFit/>
          </a:bodyPr>
          <a:lstStyle/>
          <a:p>
            <a:pPr algn="l">
              <a:lnSpc>
                <a:spcPct val="108000"/>
              </a:lnSpc>
              <a:spcAft>
                <a:spcPts val="900"/>
              </a:spcAft>
            </a:pPr>
            <a:r>
              <a:rPr sz="1500" b="0" i="0">
                <a:solidFill>
                  <a:srgbClr val="252D35"/>
                </a:solidFill>
                <a:latin typeface="Arial"/>
              </a:rPr>
              <a:t>Peptide receptors such as the CCAP receptor are </a:t>
            </a:r>
            <a:r>
              <a:rPr sz="1500" b="1" i="0">
                <a:solidFill>
                  <a:srgbClr val="7E4357"/>
                </a:solidFill>
                <a:latin typeface="Arial"/>
              </a:rPr>
              <a:t>G-protein-coupled</a:t>
            </a:r>
            <a:r>
              <a:rPr sz="1500" b="0" i="0">
                <a:solidFill>
                  <a:srgbClr val="252D35"/>
                </a:solidFill>
                <a:latin typeface="Arial"/>
              </a:rPr>
              <a:t>: binding starts an intracellular signaling cascade instead of opening a channel directly. In STG neurons, cascades started by several different peptide receptors converge on a common population of channels carrying the modulator-activated inward current.</a:t>
            </a:r>
          </a:p>
          <a:p>
            <a:pPr algn="l">
              <a:lnSpc>
                <a:spcPct val="108000"/>
              </a:lnSpc>
              <a:spcAft>
                <a:spcPts val="900"/>
              </a:spcAft>
            </a:pPr>
            <a:r>
              <a:rPr sz="1500" b="0" i="0">
                <a:solidFill>
                  <a:srgbClr val="252D35"/>
                </a:solidFill>
                <a:latin typeface="Arial"/>
              </a:rPr>
              <a:t>Convergence produces </a:t>
            </a:r>
            <a:r>
              <a:rPr sz="1500" b="1" i="0">
                <a:solidFill>
                  <a:srgbClr val="7E4357"/>
                </a:solidFill>
                <a:latin typeface="Arial"/>
              </a:rPr>
              <a:t>occlusion</a:t>
            </a:r>
            <a:r>
              <a:rPr sz="1500" b="0" i="0">
                <a:solidFill>
                  <a:srgbClr val="252D35"/>
                </a:solidFill>
                <a:latin typeface="Arial"/>
              </a:rPr>
              <a:t>. Once saturating CCAP has opened every available channel of that current in LP, proctolin applied on top adds nothing more; in IC, by contrast, saturating CCAP opened only about two-thirds of the current, leaving room for proctolin to add the rest.</a:t>
            </a:r>
          </a:p>
          <a:p>
            <a:pPr algn="l">
              <a:lnSpc>
                <a:spcPct val="108000"/>
              </a:lnSpc>
              <a:spcAft>
                <a:spcPts val="900"/>
              </a:spcAft>
            </a:pPr>
            <a:r>
              <a:rPr sz="1500" b="0" i="0">
                <a:solidFill>
                  <a:srgbClr val="252D35"/>
                </a:solidFill>
                <a:latin typeface="Arial"/>
              </a:rPr>
              <a:t>Convergence also caps the benefit of combined modulators. In LP, adding CCAP to proctolin produced no further narrowing of output differences among animals, consistent with both peptides drawing on one shared current pool near saturation.</a:t>
            </a:r>
          </a:p>
        </p:txBody>
      </p:sp>
      <p:sp>
        <p:nvSpPr>
          <p:cNvPr id="4" name="Rectangle 5"/>
          <p:cNvSpPr/>
          <p:nvPr/>
        </p:nvSpPr>
        <p:spPr>
          <a:xfrm>
            <a:off x="566928" y="6382512"/>
            <a:ext cx="11057839" cy="9144"/>
          </a:xfrm>
          <a:prstGeom prst="rect">
            <a:avLst/>
          </a:prstGeom>
          <a:solidFill>
            <a:srgbClr val="D8DDE2"/>
          </a:solidFill>
          <a:ln>
            <a:noFill/>
          </a:ln>
          <a:effectLst/>
        </p:spPr>
        <p:txBody>
          <a:bodyPr rtlCol="0" anchor="ctr"/>
          <a:lstStyle/>
          <a:p>
            <a:pPr algn="ctr"/>
          </a:p>
        </p:txBody>
      </p:sp>
      <p:pic>
        <p:nvPicPr>
          <p:cNvPr id="5" name="Picture 3" descr="G15_5.png"/>
          <p:cNvPicPr>
            <a:picLocks noChangeAspect="1"/>
          </p:cNvPicPr>
          <p:nvPr/>
        </p:nvPicPr>
        <p:blipFill>
          <a:blip r:embed="rId3"/>
          <a:stretch>
            <a:fillRect/>
          </a:stretch>
        </p:blipFill>
        <p:spPr>
          <a:xfrm>
            <a:off x="6613444" y="1280160"/>
            <a:ext cx="4536245" cy="4297679"/>
          </a:xfrm>
          <a:prstGeom prst="rect">
            <a:avLst/>
          </a:prstGeom>
        </p:spPr>
      </p:pic>
      <p:sp>
        <p:nvSpPr>
          <p:cNvPr id="6"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Garcia et al. (2015), Fig. 5(A–F). CCAP strengthens graded transmission and changes short-term synaptic dynamics</a:t>
            </a: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Garcia et al. (2015); Schneider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31a</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Feedback turns tonic MCN1 drive into slow LG bursts</a:t>
            </a:r>
          </a:p>
        </p:txBody>
      </p:sp>
      <p:sp>
        <p:nvSpPr>
          <p:cNvPr id="3" name="Body"/>
          <p:cNvSpPr txBox="1"/>
          <p:nvPr/>
        </p:nvSpPr>
        <p:spPr>
          <a:xfrm>
            <a:off x="566928" y="1234440"/>
            <a:ext cx="5205679" cy="4178809"/>
          </a:xfrm>
          <a:prstGeom prst="rect">
            <a:avLst/>
          </a:prstGeom>
          <a:noFill/>
        </p:spPr>
        <p:txBody>
          <a:bodyPr wrap="square" lIns="0" rIns="0" tIns="0" bIns="0">
            <a:spAutoFit/>
          </a:bodyPr>
          <a:lstStyle/>
          <a:p>
            <a:pPr algn="l">
              <a:lnSpc>
                <a:spcPct val="108000"/>
              </a:lnSpc>
              <a:spcAft>
                <a:spcPts val="900"/>
              </a:spcAft>
            </a:pPr>
            <a:r>
              <a:rPr sz="1500" b="0" i="0">
                <a:solidFill>
                  <a:srgbClr val="252D35"/>
                </a:solidFill>
                <a:latin typeface="Arial"/>
              </a:rPr>
              <a:t>LG inhibits the MCN1 axon terminals in the STG while it bursts, cutting the peptide and electrical drive that brought it to threshold. With its excitation withdrawn, LG falls silent, and </a:t>
            </a:r>
            <a:r>
              <a:rPr sz="1500" b="1" i="0">
                <a:solidFill>
                  <a:srgbClr val="7E4357"/>
                </a:solidFill>
                <a:latin typeface="Arial"/>
              </a:rPr>
              <a:t>Int1</a:t>
            </a:r>
            <a:r>
              <a:rPr sz="1500" b="0" i="0">
                <a:solidFill>
                  <a:srgbClr val="252D35"/>
                </a:solidFill>
                <a:latin typeface="Arial"/>
              </a:rPr>
              <a:t>, released from LG's inhibition, takes over the active phase of the half-center.</a:t>
            </a:r>
          </a:p>
          <a:p>
            <a:pPr algn="l">
              <a:lnSpc>
                <a:spcPct val="108000"/>
              </a:lnSpc>
              <a:spcAft>
                <a:spcPts val="900"/>
              </a:spcAft>
            </a:pPr>
            <a:r>
              <a:rPr sz="1500" b="0" i="0">
                <a:solidFill>
                  <a:srgbClr val="252D35"/>
                </a:solidFill>
                <a:latin typeface="Arial"/>
              </a:rPr>
              <a:t>While LG is silent, the terminals recover and MCN1's slow excitation of LG builds again over several pyloric cycles. AB inhibits Int1 on every pyloric cycle, briefly easing Int1's hold on LG, and when the rising excitation meets one of these openings, LG crosses threshold and a new protraction burst begins.</a:t>
            </a:r>
          </a:p>
          <a:p>
            <a:pPr algn="l">
              <a:lnSpc>
                <a:spcPct val="108000"/>
              </a:lnSpc>
              <a:spcAft>
                <a:spcPts val="900"/>
              </a:spcAft>
            </a:pPr>
            <a:r>
              <a:rPr sz="1500" b="0" i="0">
                <a:solidFill>
                  <a:srgbClr val="252D35"/>
                </a:solidFill>
                <a:latin typeface="Arial"/>
              </a:rPr>
              <a:t>The slow period therefore comes from recovery and buildup processes spanning many pyloric cycles, not from the stimulus rate. A gastric cycle lasts roughly ten pyloric cycles, and each LG burst begins at a preferred pyloric phase set by AB's inhibition of Int1.</a:t>
            </a:r>
          </a:p>
        </p:txBody>
      </p:sp>
      <p:sp>
        <p:nvSpPr>
          <p:cNvPr id="4"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pic>
        <p:nvPicPr>
          <p:cNvPr id="5" name="Picture 3" descr="S15_2A.png"/>
          <p:cNvPicPr>
            <a:picLocks noChangeAspect="1"/>
          </p:cNvPicPr>
          <p:nvPr/>
        </p:nvPicPr>
        <p:blipFill>
          <a:blip r:embed="rId3"/>
          <a:stretch>
            <a:fillRect/>
          </a:stretch>
        </p:blipFill>
        <p:spPr>
          <a:xfrm>
            <a:off x="6823684" y="1280160"/>
            <a:ext cx="2561285" cy="4297679"/>
          </a:xfrm>
          <a:prstGeom prst="rect">
            <a:avLst/>
          </a:prstGeom>
        </p:spPr>
      </p:pic>
      <p:sp>
        <p:nvSpPr>
          <p:cNvPr id="6" name="Figure caption"/>
          <p:cNvSpPr txBox="1"/>
          <p:nvPr/>
        </p:nvSpPr>
        <p:spPr>
          <a:xfrm>
            <a:off x="6138367" y="5669279"/>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Städele et al. (2015), Fig. 2(A). Fixed 6 Hz MCN1 drive fails at 13°C and recovers after cooling</a:t>
            </a:r>
          </a:p>
        </p:txBody>
      </p:sp>
      <p:pic>
        <p:nvPicPr>
          <p:cNvPr id="7" name="Picture 5" descr="S15_net.png"/>
          <p:cNvPicPr>
            <a:picLocks noChangeAspect="1"/>
          </p:cNvPicPr>
          <p:nvPr/>
        </p:nvPicPr>
        <p:blipFill>
          <a:blip r:embed="rId4"/>
          <a:stretch>
            <a:fillRect/>
          </a:stretch>
        </p:blipFill>
        <p:spPr>
          <a:xfrm>
            <a:off x="10253167" y="2148840"/>
            <a:ext cx="1371600" cy="1670071"/>
          </a:xfrm>
          <a:prstGeom prst="rect">
            <a:avLst/>
          </a:prstGeom>
        </p:spPr>
      </p:pic>
      <p:sp>
        <p:nvSpPr>
          <p:cNvPr id="8" name="Figure caption"/>
          <p:cNvSpPr txBox="1"/>
          <p:nvPr/>
        </p:nvSpPr>
        <p:spPr>
          <a:xfrm>
            <a:off x="10253167" y="3892063"/>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Städele et al. (2015), Fig. 1(A). Gastric circuit</a:t>
            </a: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Städele et al. (2015); Powell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35a</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Matched Q10s keep LP's rebound on time</a:t>
            </a:r>
          </a:p>
        </p:txBody>
      </p:sp>
      <p:sp>
        <p:nvSpPr>
          <p:cNvPr id="3" name="Body"/>
          <p:cNvSpPr txBox="1"/>
          <p:nvPr/>
        </p:nvSpPr>
        <p:spPr>
          <a:xfrm>
            <a:off x="566928" y="1234440"/>
            <a:ext cx="5205679" cy="4672587"/>
          </a:xfrm>
          <a:prstGeom prst="rect">
            <a:avLst/>
          </a:prstGeom>
          <a:noFill/>
        </p:spPr>
        <p:txBody>
          <a:bodyPr wrap="square" lIns="0" rIns="0" tIns="0" bIns="0">
            <a:spAutoFit/>
          </a:bodyPr>
          <a:lstStyle/>
          <a:p>
            <a:pPr algn="l">
              <a:lnSpc>
                <a:spcPct val="108000"/>
              </a:lnSpc>
              <a:spcAft>
                <a:spcPts val="900"/>
              </a:spcAft>
            </a:pPr>
            <a:r>
              <a:rPr sz="1500" b="0" i="0">
                <a:solidFill>
                  <a:srgbClr val="252D35"/>
                </a:solidFill>
                <a:latin typeface="Arial"/>
              </a:rPr>
              <a:t>After the pacemaker's inhibition ends, two currents compete over LP's return to firing. The h current, opened by the preceding hyperpolarization, pushes LP toward threshold, while the A-type potassium current, freed from inactivation by the same hyperpolarization, opposes depolarization; their balance sets the rebound delay.</a:t>
            </a:r>
          </a:p>
          <a:p>
            <a:pPr algn="l">
              <a:lnSpc>
                <a:spcPct val="108000"/>
              </a:lnSpc>
              <a:spcAft>
                <a:spcPts val="900"/>
              </a:spcAft>
            </a:pPr>
            <a:r>
              <a:rPr sz="1500" b="0" i="0">
                <a:solidFill>
                  <a:srgbClr val="252D35"/>
                </a:solidFill>
                <a:latin typeface="Arial"/>
              </a:rPr>
              <a:t>Warming speeds every element: stronger inhibitory current, a larger and faster h current, and faster A-current activation and inactivation. These processes have Q10 values between about 1.8 and 4, so the push and the pull scale roughly together and LP's delay shortens along with the cycle.</a:t>
            </a:r>
          </a:p>
          <a:p>
            <a:pPr algn="l">
              <a:lnSpc>
                <a:spcPct val="108000"/>
              </a:lnSpc>
              <a:spcAft>
                <a:spcPts val="900"/>
              </a:spcAft>
            </a:pPr>
            <a:r>
              <a:rPr sz="1500" b="0" i="0">
                <a:solidFill>
                  <a:srgbClr val="252D35"/>
                </a:solidFill>
                <a:latin typeface="Arial"/>
              </a:rPr>
              <a:t>Such matching is demanding. Among 1,270 model bursting neurons tuned to burst at one temperature, only about 60% kept bursting with steadily rising frequency across the tested range, so a functional neuron needs matched temperature sensitivities as well as suitable channel amounts.</a:t>
            </a:r>
          </a:p>
        </p:txBody>
      </p:sp>
      <p:sp>
        <p:nvSpPr>
          <p:cNvPr id="4"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pic>
        <p:nvPicPr>
          <p:cNvPr id="5" name="Picture 3" descr="S10_5A.png"/>
          <p:cNvPicPr>
            <a:picLocks noChangeAspect="1"/>
          </p:cNvPicPr>
          <p:nvPr/>
        </p:nvPicPr>
        <p:blipFill>
          <a:blip r:embed="rId3"/>
          <a:stretch>
            <a:fillRect/>
          </a:stretch>
        </p:blipFill>
        <p:spPr>
          <a:xfrm>
            <a:off x="6801582" y="1280160"/>
            <a:ext cx="2605490" cy="4297679"/>
          </a:xfrm>
          <a:prstGeom prst="rect">
            <a:avLst/>
          </a:prstGeom>
        </p:spPr>
      </p:pic>
      <p:sp>
        <p:nvSpPr>
          <p:cNvPr id="6" name="Figure caption"/>
          <p:cNvSpPr txBox="1"/>
          <p:nvPr/>
        </p:nvSpPr>
        <p:spPr>
          <a:xfrm>
            <a:off x="6138367" y="5669279"/>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Tang et al. (2010), Fig. 5(A). Hyperpolarization-activated current recordings across temperature</a:t>
            </a: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Tang et al. (2010)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39a</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Pyloric and gastric circuits compensate warming differently</a:t>
            </a:r>
          </a:p>
        </p:txBody>
      </p:sp>
      <p:sp>
        <p:nvSpPr>
          <p:cNvPr id="3" name="Body"/>
          <p:cNvSpPr txBox="1"/>
          <p:nvPr/>
        </p:nvSpPr>
        <p:spPr>
          <a:xfrm>
            <a:off x="566928" y="1234440"/>
            <a:ext cx="5205679" cy="4425698"/>
          </a:xfrm>
          <a:prstGeom prst="rect">
            <a:avLst/>
          </a:prstGeom>
          <a:noFill/>
        </p:spPr>
        <p:txBody>
          <a:bodyPr wrap="square" lIns="0" rIns="0" tIns="0" bIns="0">
            <a:spAutoFit/>
          </a:bodyPr>
          <a:lstStyle/>
          <a:p>
            <a:pPr algn="l">
              <a:lnSpc>
                <a:spcPct val="108000"/>
              </a:lnSpc>
              <a:spcAft>
                <a:spcPts val="900"/>
              </a:spcAft>
            </a:pPr>
            <a:r>
              <a:rPr sz="1500" b="0" i="0">
                <a:solidFill>
                  <a:srgbClr val="252D35"/>
                </a:solidFill>
                <a:latin typeface="Arial"/>
              </a:rPr>
              <a:t>The pyloric and gastric circuits share one ganglion and similar currents, yet warming affects them differently. The pyloric rhythm keeps its pattern when only the STG is warmed and its descending inputs stay cool, so its compensation is built into the ganglion's own cells and synapses.</a:t>
            </a:r>
          </a:p>
          <a:p>
            <a:pPr algn="l">
              <a:lnSpc>
                <a:spcPct val="108000"/>
              </a:lnSpc>
              <a:spcAft>
                <a:spcPts val="900"/>
              </a:spcAft>
            </a:pPr>
            <a:r>
              <a:rPr sz="1500" b="0" i="0">
                <a:solidFill>
                  <a:srgbClr val="252D35"/>
                </a:solidFill>
                <a:latin typeface="Arial"/>
              </a:rPr>
              <a:t>The gastric circuit lacks an internal counterweight. Warming increases LG leak, and only the modulator-activated inward current supplied by MCN1 from outside the ganglion offsets it, so the gastric rhythm's temperature tolerance moves with the activity of its projection neurons.</a:t>
            </a:r>
          </a:p>
          <a:p>
            <a:pPr algn="l">
              <a:lnSpc>
                <a:spcPct val="108000"/>
              </a:lnSpc>
              <a:spcAft>
                <a:spcPts val="900"/>
              </a:spcAft>
            </a:pPr>
            <a:r>
              <a:rPr sz="1500" b="0" i="0">
                <a:solidFill>
                  <a:srgbClr val="252D35"/>
                </a:solidFill>
                <a:latin typeface="Arial"/>
              </a:rPr>
              <a:t>Each design suits its task. A continuously active filtering rhythm benefits from fixed intrinsic compensation, while the episodic chewing rhythm already depends on projection neurons that integrate several sensory modalities, letting warming compensation vary with sensory and feeding conditions.</a:t>
            </a:r>
          </a:p>
        </p:txBody>
      </p:sp>
      <p:sp>
        <p:nvSpPr>
          <p:cNvPr id="4"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pic>
        <p:nvPicPr>
          <p:cNvPr id="5" name="Picture 3" descr="S15_6.png"/>
          <p:cNvPicPr>
            <a:picLocks noChangeAspect="1"/>
          </p:cNvPicPr>
          <p:nvPr/>
        </p:nvPicPr>
        <p:blipFill>
          <a:blip r:embed="rId3"/>
          <a:stretch>
            <a:fillRect/>
          </a:stretch>
        </p:blipFill>
        <p:spPr>
          <a:xfrm>
            <a:off x="6750320" y="1280160"/>
            <a:ext cx="2708012" cy="4297679"/>
          </a:xfrm>
          <a:prstGeom prst="rect">
            <a:avLst/>
          </a:prstGeom>
        </p:spPr>
      </p:pic>
      <p:sp>
        <p:nvSpPr>
          <p:cNvPr id="6" name="Figure caption"/>
          <p:cNvSpPr txBox="1"/>
          <p:nvPr/>
        </p:nvSpPr>
        <p:spPr>
          <a:xfrm>
            <a:off x="6138367" y="5669279"/>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Städele et al. (2015), Fig. 6(A–E). MCN1 activity increases with warming and stronger stimulation rescues LG</a:t>
            </a: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Städele et al. (2015); Tang et al. (2010)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42a</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Different conductance sets rebuild one pyloric output</a:t>
            </a:r>
          </a:p>
        </p:txBody>
      </p:sp>
      <p:sp>
        <p:nvSpPr>
          <p:cNvPr id="3" name="Body"/>
          <p:cNvSpPr txBox="1"/>
          <p:nvPr/>
        </p:nvSpPr>
        <p:spPr>
          <a:xfrm>
            <a:off x="566928" y="1234440"/>
            <a:ext cx="5205679" cy="3669794"/>
          </a:xfrm>
          <a:prstGeom prst="rect">
            <a:avLst/>
          </a:prstGeom>
          <a:noFill/>
        </p:spPr>
        <p:txBody>
          <a:bodyPr wrap="square" lIns="0" rIns="0" tIns="0" bIns="0">
            <a:spAutoFit/>
          </a:bodyPr>
          <a:lstStyle/>
          <a:p>
            <a:pPr algn="l">
              <a:lnSpc>
                <a:spcPct val="108000"/>
              </a:lnSpc>
              <a:spcAft>
                <a:spcPts val="840"/>
              </a:spcAft>
            </a:pPr>
            <a:r>
              <a:rPr sz="1400" b="0" i="0">
                <a:solidFill>
                  <a:srgbClr val="252D35"/>
                </a:solidFill>
                <a:latin typeface="Arial"/>
              </a:rPr>
              <a:t>A circuit is </a:t>
            </a:r>
            <a:r>
              <a:rPr sz="1400" b="1" i="0">
                <a:solidFill>
                  <a:srgbClr val="7E4357"/>
                </a:solidFill>
                <a:latin typeface="Arial"/>
              </a:rPr>
              <a:t>degenerate</a:t>
            </a:r>
            <a:r>
              <a:rPr sz="1400" b="0" i="0">
                <a:solidFill>
                  <a:srgbClr val="252D35"/>
                </a:solidFill>
                <a:latin typeface="Arial"/>
              </a:rPr>
              <a:t> when many different combinations of conductances produce the same activity. Pyloric neurons fit this description: an identified cell can carry ion channel levels that differ several-fold between animals while its bursts and phases look alike.</a:t>
            </a:r>
          </a:p>
          <a:p>
            <a:pPr algn="l">
              <a:lnSpc>
                <a:spcPct val="108000"/>
              </a:lnSpc>
              <a:spcAft>
                <a:spcPts val="840"/>
              </a:spcAft>
            </a:pPr>
            <a:r>
              <a:rPr sz="1400" b="0" i="0">
                <a:solidFill>
                  <a:srgbClr val="252D35"/>
                </a:solidFill>
                <a:latin typeface="Arial"/>
              </a:rPr>
              <a:t>Degeneracy gives a decentralized circuit room to recover. Activity-dependent regulation can move each neuron's conductances to a new combination that restores output without restoring the original values; in PD, the A-type current falls within a day of decentralization and returns only after about five days.</a:t>
            </a:r>
          </a:p>
          <a:p>
            <a:pPr algn="l">
              <a:lnSpc>
                <a:spcPct val="108000"/>
              </a:lnSpc>
              <a:spcAft>
                <a:spcPts val="840"/>
              </a:spcAft>
            </a:pPr>
            <a:r>
              <a:rPr sz="1400" b="0" i="0">
                <a:solidFill>
                  <a:srgbClr val="252D35"/>
                </a:solidFill>
                <a:latin typeface="Arial"/>
              </a:rPr>
              <a:t>A lower A-type current alone would advance PD bursts, as seen soon after decentralization, so returning phases to near control requires several intrinsic and synaptic conductances to shift together into a new working combination.</a:t>
            </a:r>
          </a:p>
        </p:txBody>
      </p:sp>
      <p:sp>
        <p:nvSpPr>
          <p:cNvPr id="4"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pic>
        <p:nvPicPr>
          <p:cNvPr id="5" name="Picture 3" descr="H23_2AB.png"/>
          <p:cNvPicPr>
            <a:picLocks noChangeAspect="1"/>
          </p:cNvPicPr>
          <p:nvPr/>
        </p:nvPicPr>
        <p:blipFill>
          <a:blip r:embed="rId3"/>
          <a:stretch>
            <a:fillRect/>
          </a:stretch>
        </p:blipFill>
        <p:spPr>
          <a:xfrm>
            <a:off x="6499092" y="1280160"/>
            <a:ext cx="3210469" cy="4297679"/>
          </a:xfrm>
          <a:prstGeom prst="rect">
            <a:avLst/>
          </a:prstGeom>
        </p:spPr>
      </p:pic>
      <p:sp>
        <p:nvSpPr>
          <p:cNvPr id="6" name="Figure caption"/>
          <p:cNvSpPr txBox="1"/>
          <p:nvPr/>
        </p:nvSpPr>
        <p:spPr>
          <a:xfrm>
            <a:off x="6138367" y="5669279"/>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More-Potdar &amp; Golowasch (2023), Fig. 2(A–B). Frequency and phase recover over hours after decentralization</a:t>
            </a:r>
          </a:p>
        </p:txBody>
      </p:sp>
      <p:pic>
        <p:nvPicPr>
          <p:cNvPr id="7" name="Picture 5" descr="H23_net.png"/>
          <p:cNvPicPr>
            <a:picLocks noChangeAspect="1"/>
          </p:cNvPicPr>
          <p:nvPr/>
        </p:nvPicPr>
        <p:blipFill>
          <a:blip r:embed="rId4"/>
          <a:stretch>
            <a:fillRect/>
          </a:stretch>
        </p:blipFill>
        <p:spPr>
          <a:xfrm>
            <a:off x="10253167" y="2148840"/>
            <a:ext cx="1371600" cy="2165168"/>
          </a:xfrm>
          <a:prstGeom prst="rect">
            <a:avLst/>
          </a:prstGeom>
        </p:spPr>
      </p:pic>
      <p:sp>
        <p:nvSpPr>
          <p:cNvPr id="8" name="Figure caption"/>
          <p:cNvSpPr txBox="1"/>
          <p:nvPr/>
        </p:nvSpPr>
        <p:spPr>
          <a:xfrm>
            <a:off x="10253167" y="4387160"/>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More-Potdar &amp; Golowasch (2023), Fig. 1(B). Pyloric circuit</a:t>
            </a: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More-Potdar &amp; Golowasch (2023); Schneider et al. (2022); Tang et al. (2010)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45a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Central pattern generators II: the lobster/crab stomatogastric ganglion (Marder &amp; Selverston)</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