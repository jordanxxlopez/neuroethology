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slide+xml" PartName="/ppt/slides/slide6.xml"/>
  <Override ContentType="application/vnd.openxmlformats-officedocument.presentationml.notesSlide+xml" PartName="/ppt/notesSlides/notesSlide6.xml"/>
  <Override ContentType="application/vnd.openxmlformats-officedocument.presentationml.slide+xml" PartName="/ppt/slides/slide7.xml"/>
  <Override ContentType="application/vnd.openxmlformats-officedocument.presentationml.notesSlide+xml" PartName="/ppt/notesSlides/notesSlide7.xml"/>
  <Override ContentType="application/vnd.openxmlformats-officedocument.presentationml.slide+xml" PartName="/ppt/slides/slide8.xml"/>
  <Override ContentType="application/vnd.openxmlformats-officedocument.presentationml.notesSlide+xml" PartName="/ppt/notesSlides/notesSlide8.xml"/>
  <Override ContentType="application/vnd.openxmlformats-officedocument.presentationml.slide+xml" PartName="/ppt/slides/slide9.xml"/>
  <Override ContentType="application/vnd.openxmlformats-officedocument.presentationml.notesSlide+xml" PartName="/ppt/notesSlides/notesSlide9.xml"/>
  <Override ContentType="application/vnd.openxmlformats-officedocument.presentationml.slide+xml" PartName="/ppt/slides/slide10.xml"/>
  <Override ContentType="application/vnd.openxmlformats-officedocument.presentationml.notesSlide+xml" PartName="/ppt/notesSlides/notesSlide10.xml"/>
  <Override ContentType="application/vnd.openxmlformats-officedocument.presentationml.slide+xml" PartName="/ppt/slides/slide11.xml"/>
  <Override ContentType="application/vnd.openxmlformats-officedocument.presentationml.notesSlide+xml" PartName="/ppt/notesSlides/notesSlide11.xml"/>
  <Override ContentType="application/vnd.openxmlformats-officedocument.presentationml.slide+xml" PartName="/ppt/slides/slide12.xml"/>
  <Override ContentType="application/vnd.openxmlformats-officedocument.presentationml.notesSlide+xml" PartName="/ppt/notesSlides/notesSlide12.xml"/>
  <Override ContentType="application/vnd.openxmlformats-officedocument.presentationml.slide+xml" PartName="/ppt/slides/slide13.xml"/>
  <Override ContentType="application/vnd.openxmlformats-officedocument.presentationml.notesSlide+xml" PartName="/ppt/notesSlides/notesSlide13.xml"/>
  <Override ContentType="application/vnd.openxmlformats-officedocument.presentationml.slide+xml" PartName="/ppt/slides/slide14.xml"/>
  <Override ContentType="application/vnd.openxmlformats-officedocument.presentationml.notesSlide+xml" PartName="/ppt/notesSlides/notesSlide14.xml"/>
  <Override ContentType="application/vnd.openxmlformats-officedocument.presentationml.slide+xml" PartName="/ppt/slides/slide15.xml"/>
  <Override ContentType="application/vnd.openxmlformats-officedocument.presentationml.notesSlide+xml" PartName="/ppt/notesSlides/notesSlide15.xml"/>
  <Override ContentType="application/vnd.openxmlformats-officedocument.presentationml.slide+xml" PartName="/ppt/slides/slide16.xml"/>
  <Override ContentType="application/vnd.openxmlformats-officedocument.presentationml.notesSlide+xml" PartName="/ppt/notesSlides/notesSlide16.xml"/>
  <Override ContentType="application/vnd.openxmlformats-officedocument.presentationml.slide+xml" PartName="/ppt/slides/slide17.xml"/>
  <Override ContentType="application/vnd.openxmlformats-officedocument.presentationml.notesSlide+xml" PartName="/ppt/notesSlides/notesSlide17.xml"/>
  <Override ContentType="application/vnd.openxmlformats-officedocument.presentationml.slide+xml" PartName="/ppt/slides/slide18.xml"/>
  <Override ContentType="application/vnd.openxmlformats-officedocument.presentationml.notesSlide+xml" PartName="/ppt/notesSlides/notesSlide18.xml"/>
  <Override ContentType="application/vnd.openxmlformats-officedocument.presentationml.slide+xml" PartName="/ppt/slides/slide19.xml"/>
  <Override ContentType="application/vnd.openxmlformats-officedocument.presentationml.notesSlide+xml" PartName="/ppt/notesSlides/notesSlide19.xml"/>
  <Override ContentType="application/vnd.openxmlformats-officedocument.presentationml.slide+xml" PartName="/ppt/slides/slide20.xml"/>
  <Override ContentType="application/vnd.openxmlformats-officedocument.presentationml.notesSlide+xml" PartName="/ppt/notesSlides/notesSlide20.xml"/>
  <Override ContentType="application/vnd.openxmlformats-officedocument.presentationml.slide+xml" PartName="/ppt/slides/slide21.xml"/>
  <Override ContentType="application/vnd.openxmlformats-officedocument.presentationml.notesSlide+xml" PartName="/ppt/notesSlides/notesSlide21.xml"/>
  <Override ContentType="application/vnd.openxmlformats-officedocument.presentationml.slide+xml" PartName="/ppt/slides/slide22.xml"/>
  <Override ContentType="application/vnd.openxmlformats-officedocument.presentationml.notesSlide+xml" PartName="/ppt/notesSlides/notesSlide22.xml"/>
  <Override ContentType="application/vnd.openxmlformats-officedocument.presentationml.slide+xml" PartName="/ppt/slides/slide23.xml"/>
  <Override ContentType="application/vnd.openxmlformats-officedocument.presentationml.notesSlide+xml" PartName="/ppt/notesSlides/notesSlide23.xml"/>
  <Override ContentType="application/vnd.openxmlformats-officedocument.presentationml.slide+xml" PartName="/ppt/slides/slide24.xml"/>
  <Override ContentType="application/vnd.openxmlformats-officedocument.presentationml.notesSlide+xml" PartName="/ppt/notesSlides/notesSlide24.xml"/>
  <Override ContentType="application/vnd.openxmlformats-officedocument.presentationml.slide+xml" PartName="/ppt/slides/slide25.xml"/>
  <Override ContentType="application/vnd.openxmlformats-officedocument.presentationml.notesSlide+xml" PartName="/ppt/notesSlides/notesSlide25.xml"/>
  <Override ContentType="application/vnd.openxmlformats-officedocument.presentationml.slide+xml" PartName="/ppt/slides/slide26.xml"/>
  <Override ContentType="application/vnd.openxmlformats-officedocument.presentationml.notesSlide+xml" PartName="/ppt/notesSlides/notesSlide26.xml"/>
  <Override ContentType="application/vnd.openxmlformats-officedocument.presentationml.slide+xml" PartName="/ppt/slides/slide27.xml"/>
  <Override ContentType="application/vnd.openxmlformats-officedocument.presentationml.notesSlide+xml" PartName="/ppt/notesSlides/notesSlide27.xml"/>
  <Override ContentType="application/vnd.openxmlformats-officedocument.presentationml.slide+xml" PartName="/ppt/slides/slide28.xml"/>
  <Override ContentType="application/vnd.openxmlformats-officedocument.presentationml.notesSlide+xml" PartName="/ppt/notesSlides/notesSlide28.xml"/>
  <Override ContentType="application/vnd.openxmlformats-officedocument.presentationml.slide+xml" PartName="/ppt/slides/slide29.xml"/>
  <Override ContentType="application/vnd.openxmlformats-officedocument.presentationml.notesSlide+xml" PartName="/ppt/notesSlides/notesSlide29.xml"/>
  <Override ContentType="application/vnd.openxmlformats-officedocument.presentationml.slide+xml" PartName="/ppt/slides/slide30.xml"/>
  <Override ContentType="application/vnd.openxmlformats-officedocument.presentationml.notesSlide+xml" PartName="/ppt/notesSlides/notesSlide30.xml"/>
  <Override ContentType="application/vnd.openxmlformats-officedocument.presentationml.slide+xml" PartName="/ppt/slides/slide31.xml"/>
  <Override ContentType="application/vnd.openxmlformats-officedocument.presentationml.notesSlide+xml" PartName="/ppt/notesSlides/notesSlide31.xml"/>
  <Override ContentType="application/vnd.openxmlformats-officedocument.presentationml.slide+xml" PartName="/ppt/slides/slide32.xml"/>
  <Override ContentType="application/vnd.openxmlformats-officedocument.presentationml.notesSlide+xml" PartName="/ppt/notesSlides/notesSlide32.xml"/>
  <Override ContentType="application/vnd.openxmlformats-officedocument.presentationml.slide+xml" PartName="/ppt/slides/slide33.xml"/>
  <Override ContentType="application/vnd.openxmlformats-officedocument.presentationml.notesSlide+xml" PartName="/ppt/notesSlides/notesSlide33.xml"/>
  <Override ContentType="application/vnd.openxmlformats-officedocument.presentationml.slide+xml" PartName="/ppt/slides/slide34.xml"/>
  <Override ContentType="application/vnd.openxmlformats-officedocument.presentationml.notesSlide+xml" PartName="/ppt/notesSlides/notesSlide34.xml"/>
  <Override ContentType="application/vnd.openxmlformats-officedocument.presentationml.slide+xml" PartName="/ppt/slides/slide35.xml"/>
  <Override ContentType="application/vnd.openxmlformats-officedocument.presentationml.notesSlide+xml" PartName="/ppt/notesSlides/notesSlide35.xml"/>
  <Override ContentType="application/vnd.openxmlformats-officedocument.presentationml.slide+xml" PartName="/ppt/slides/slide36.xml"/>
  <Override ContentType="application/vnd.openxmlformats-officedocument.presentationml.notesSlide+xml" PartName="/ppt/notesSlides/notesSlide36.xml"/>
  <Override ContentType="application/vnd.openxmlformats-officedocument.presentationml.slide+xml" PartName="/ppt/slides/slide37.xml"/>
  <Override ContentType="application/vnd.openxmlformats-officedocument.presentationml.notesSlide+xml" PartName="/ppt/notesSlides/notesSlide37.xml"/>
  <Override ContentType="application/vnd.openxmlformats-officedocument.presentationml.slide+xml" PartName="/ppt/slides/slide38.xml"/>
  <Override ContentType="application/vnd.openxmlformats-officedocument.presentationml.notesSlide+xml" PartName="/ppt/notesSlides/notesSlide38.xml"/>
  <Override ContentType="application/vnd.openxmlformats-officedocument.presentationml.slide+xml" PartName="/ppt/slides/slide39.xml"/>
  <Override ContentType="application/vnd.openxmlformats-officedocument.presentationml.notesSlide+xml" PartName="/ppt/notesSlides/notesSlide39.xml"/>
  <Override ContentType="application/vnd.openxmlformats-officedocument.presentationml.slide+xml" PartName="/ppt/slides/slide40.xml"/>
  <Override ContentType="application/vnd.openxmlformats-officedocument.presentationml.notesSlide+xml" PartName="/ppt/notesSlides/notesSlide40.xml"/>
  <Override ContentType="application/vnd.openxmlformats-officedocument.presentationml.slide+xml" PartName="/ppt/slides/slide41.xml"/>
  <Override ContentType="application/vnd.openxmlformats-officedocument.presentationml.notesSlide+xml" PartName="/ppt/notesSlides/notesSlide41.xml"/>
  <Override ContentType="application/vnd.openxmlformats-officedocument.presentationml.slide+xml" PartName="/ppt/slides/slide42.xml"/>
  <Override ContentType="application/vnd.openxmlformats-officedocument.presentationml.notesSlide+xml" PartName="/ppt/notesSlides/notesSlide42.xml"/>
  <Override ContentType="application/vnd.openxmlformats-officedocument.presentationml.slide+xml" PartName="/ppt/slides/slide43.xml"/>
  <Override ContentType="application/vnd.openxmlformats-officedocument.presentationml.notesSlide+xml" PartName="/ppt/notesSlides/notesSlide43.xml"/>
  <Override ContentType="application/vnd.openxmlformats-officedocument.presentationml.slide+xml" PartName="/ppt/slides/slide44.xml"/>
  <Override ContentType="application/vnd.openxmlformats-officedocument.presentationml.notesSlide+xml" PartName="/ppt/notesSlides/notesSlide44.xml"/>
  <Override ContentType="application/vnd.openxmlformats-officedocument.presentationml.slide+xml" PartName="/ppt/slides/slide45.xml"/>
  <Override ContentType="application/vnd.openxmlformats-officedocument.presentationml.notesSlide+xml" PartName="/ppt/notesSlides/notesSlide45.xml"/>
  <Override ContentType="application/vnd.openxmlformats-officedocument.presentationml.slide+xml" PartName="/ppt/slides/slide46.xml"/>
  <Override ContentType="application/vnd.openxmlformats-officedocument.presentationml.notesSlide+xml" PartName="/ppt/notesSlides/notesSlide46.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2"/>
  </p:notesMasterIdLst>
  <p:sldIdLst>
    <p:sldId id="256" r:id="rId2"/>
    <p:sldId id="257" r:id="rId3"/>
    <p:sldId id="258" r:id="rId4"/>
    <p:sldId id="302" r:id="rId53"/>
    <p:sldId id="259" r:id="rId5"/>
    <p:sldId id="260" r:id="rId6"/>
    <p:sldId id="303" r:id="rId54"/>
    <p:sldId id="261" r:id="rId7"/>
    <p:sldId id="262" r:id="rId8"/>
    <p:sldId id="263" r:id="rId9"/>
    <p:sldId id="264" r:id="rId10"/>
    <p:sldId id="265" r:id="rId11"/>
    <p:sldId id="266" r:id="rId12"/>
    <p:sldId id="304" r:id="rId55"/>
    <p:sldId id="267" r:id="rId13"/>
    <p:sldId id="268" r:id="rId14"/>
    <p:sldId id="269" r:id="rId15"/>
    <p:sldId id="270" r:id="rId16"/>
    <p:sldId id="271" r:id="rId17"/>
    <p:sldId id="272" r:id="rId18"/>
    <p:sldId id="273" r:id="rId19"/>
    <p:sldId id="305" r:id="rId56"/>
    <p:sldId id="274" r:id="rId20"/>
    <p:sldId id="275" r:id="rId21"/>
    <p:sldId id="276" r:id="rId22"/>
    <p:sldId id="306" r:id="rId57"/>
    <p:sldId id="277" r:id="rId23"/>
    <p:sldId id="278" r:id="rId24"/>
    <p:sldId id="279" r:id="rId25"/>
    <p:sldId id="280" r:id="rId26"/>
    <p:sldId id="281" r:id="rId27"/>
    <p:sldId id="282" r:id="rId28"/>
    <p:sldId id="283" r:id="rId29"/>
    <p:sldId id="307" r:id="rId58"/>
    <p:sldId id="284" r:id="rId30"/>
    <p:sldId id="285" r:id="rId31"/>
    <p:sldId id="308" r:id="rId59"/>
    <p:sldId id="286" r:id="rId32"/>
    <p:sldId id="309" r:id="rId60"/>
    <p:sldId id="287" r:id="rId33"/>
    <p:sldId id="288" r:id="rId34"/>
    <p:sldId id="310" r:id="rId61"/>
    <p:sldId id="289" r:id="rId35"/>
    <p:sldId id="290" r:id="rId36"/>
    <p:sldId id="311" r:id="rId62"/>
    <p:sldId id="291" r:id="rId37"/>
    <p:sldId id="312" r:id="rId63"/>
    <p:sldId id="292" r:id="rId38"/>
    <p:sldId id="293" r:id="rId39"/>
    <p:sldId id="313" r:id="rId64"/>
    <p:sldId id="294" r:id="rId40"/>
    <p:sldId id="295" r:id="rId41"/>
    <p:sldId id="296" r:id="rId42"/>
    <p:sldId id="314" r:id="rId65"/>
    <p:sldId id="297" r:id="rId43"/>
    <p:sldId id="298" r:id="rId44"/>
    <p:sldId id="315" r:id="rId66"/>
    <p:sldId id="299" r:id="rId45"/>
    <p:sldId id="300" r:id="rId46"/>
    <p:sldId id="301" r:id="rId47"/>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notesMaster" Target="notesMasters/notesMaster1.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Crayfish tail-flip: lateral and medial giant fiber circuits (Wine &amp; Krasne)
Monday, August 31, 2026
Herberholz et al. (2011), Fig. 1(B). Juvenile Procambarus clarkii used in the imaging study.
Source: https://doi.org/10.3389/fnbeh.2011.00016
Full reference: J. Herberholz; S. H. Mishra; D. Uma; M. W. Germann; D. H. Edwards; K. Potter (2011). Non-invasive imaging of neuroanatomical structures and neural activation with high-resolution MRI. Frontiers in Behavioral Neuroscience 5:16. https://doi.org/10.3389/fnbeh.2011.00016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tail flip is a rapid abdominal flexion that propels a crayfish through water. Wine and Krasne studied Procambarus clarkii with chronically implanted electrodes and high-speed film. The lateral giant, or LG, and medial giant, or MG, are large interneurons that recruit different escape movements.
An abdominal tap commonly activated LG and produced forward pitching with upward displacement. An anterior stimulus commonly activated MG and produced a backward dart. The published movement sequences retain frames approximately 10 ms apart, allowing the two trajectories to be compared with recorded giant-fiber activity.
The response depends on which circuit is recruited, rather than abdominal flexion having one obligatory direction. These experiments connected neural signals with freely moving behavior; they did not identify every synapse contributing to each appendage movement.
An interneuron links other neurons within the nervous system. LG and MG are interneurons rather than the motor neurons whose axons directly leave the nervous system to innervate muscles.
References:
J. J. Wine; F. B. Krasne (1972). The Organization of Escape Behaviour in the Crayfish. Journal of Experimental Biology 56(1):1–18. https://doi.org/10.1242/jeb.56.1.1
Wine &amp; Krasne (1972), Fig. 5. Original tracings of filmed lateral- and medial-giant tail flips.
Figure source: https://doi.org/10.1242/jeb.56.1.1</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Wine and Krasne implanted pairs of 0.5 mm silver-ball electrodes near the nerve cord of crayfish 6–8 cm long. An extracellular recording measures voltage outside neurons and can detect passing action potentials. The animals subsequently moved freely while their escape responses were recorded.
Recordings from the anterior connectives and second abdominal segment separated descending MG activity from ascending LG activity. Spike polarity, relative amplitude, propagation direction, and escape trajectory provided converging identification criteria. Direct stimulation of visually identified giant fibers after behavioral testing checked the interpretation of the earlier records.
Giant spikes preceded major abdominal muscle potentials by about 2 ms. This timing supports a rapid neural-to-motor sequence, but an extracellular muscle potential is not itself the onset of body displacement. Ambiguous records were not treated as definitive evidence of pathway identity.
An action potential is a regenerative electrical signal propagated along a neuronal membrane. The implanted leads allowed the investigators to relate such signals to behavior without assuming that every tail flip used a giant neuron.
References:
J. J. Wine; F. B. Krasne (1972). The Organization of Escape Behaviour in the Crayfish. Journal of Experimental Biology 56(1):1–18. https://doi.org/10.1242/jeb.56.1.1
Wine &amp; Krasne (1972), Fig. 2. Simultaneous connective and abdominal recordings of giant-fiber activity.
Figure source: https://doi.org/10.1242/jeb.56.1.1</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phasic stimulus changes abruptly rather than remaining sustained or rising gradually. Wine and Krasne compared abdominal taps with pinches whose pressure rose over 0.5–1 s. Stimuli were separated by five minutes, and tap strength was adjusted to make overall response probability comparable to pinching.
The two stimulus types produced similar frequencies of tail flips, yet taps usually recruited giant activity whereas pinches usually did not. Freely moving crayfish could respond to very light taps. For LG responses, the median latency from mechanical contact to the first giant spike was 7 ms.
These findings associate giant recruitment with stimulus timing, rather than a simple requirement for damaging intensity. The latency graph compares giant spikes with first major muscle potentials for nongiant responses, so its response markers are related but not identical.
Latency means the elapsed time between a defined stimulus event and a defined response event. The paper used a microphone on the stimulating rod to mark contact; it did not measure neuronal latency from an inferred subjective perception.
References:
J. J. Wine; F. B. Krasne (1972). The Organization of Escape Behaviour in the Crayfish. Journal of Experimental Biology 56(1):1–18. https://doi.org/10.1242/jeb.56.1.1
Wine &amp; Krasne (1972), Fig. 4. Original distributions of giant-spike and nongiant muscle-response latency.
Figure source: https://doi.org/10.1242/jeb.56.1.1</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Nongiant escape is a tail flip produced without detected activity in either giant-fiber pathway. Wine and Krasne recorded sequences in which an anterior tap triggered an MG spike or an abdominal tap triggered an LG spike. Subsequent flexions generally occurred without corresponding giant spikes.
The implanted cord recordings retained both the large initial neural event and later muscle activity. In one sequence, swimming resumed after a 350 ms pause with a nongiant first flip. A sequence of similar-looking flexions therefore need not be a sequence of giant-mediated reflexes.
The giant circuits primarily initiated rapid escape in these observations, while nongiant circuits supported repeated swimming. Occasional giant activity during swimming could accompany a new collision or stimulus; the recordings do not establish absolute silence of giants during every possible swimming sequence.
The slower, larger voltage swings are muscle potentials. Distinguishing them from the narrow giant spikes prevents a motor recording from being mistaken for renewed giant-neuron firing.
References:
J. J. Wine; F. B. Krasne (1972). The Organization of Escape Behaviour in the Crayfish. Journal of Experimental Biology 56(1):1–18. https://doi.org/10.1242/jeb.56.1.1
Wine &amp; Krasne (1972), Fig. 3(A,B). Giant-mediated initial responses followed by nongiant swimming.
Figure source: https://doi.org/10.1242/jeb.56.1.1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truncated tail flip stops before completing full flexion or re-extension. Wine and Krasne filmed nongiant swimming and observed truncated movements, changes of direction, and flexions resembling either giant-mediated trajectory. Their published sequence contains tracings separated by about 10 ms.
Cord recordings associated most successive swimming flexions with nongiant activity. Nongiant responses to gradual stimulation had much longer latencies than giant-mediated responses, when a meaningful onset could be assigned. Some nongiant flips occurred without an immediately preceding abrupt stimulus.
This flexibility supports parallel motor-control pathways beyond the giants. The authors proposed that longer latency permits more sensory guidance, but their behavioral observations did not directly measure every guidance signal. Longer latency and variable trajectory do not establish conscious choice or eliminate the possibility of stereotyped components.
The paper uses spontaneous to describe a response without an obvious immediate change in the environment. That operational description does not establish absence of internal or previously sustained external causes.
References:
J. J. Wine; F. B. Krasne (1972). The Organization of Escape Behaviour in the Crayfish. Journal of Experimental Biology 56(1):1–18. https://doi.org/10.1242/jeb.56.1.1
Wine &amp; Krasne (1972), Fig. 6. Filmed truncated tail flip during a swimming sequence.
Figure source: https://doi.org/10.1242/jeb.56.1.1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transection severs a neural pathway to test whether signals crossing it are required for a response. Wine and Krasne cut the crayfish nerve cord at several levels and tested responses to taps, gradual caudal stimuli, and swimming. They spared nearby arteries during the operations.
Cuts below the suboesophageal ganglion complex abolished ordinary nongiant responses to gradual caudal stimulation and sustained swimming, while local giant-mediated responses to abdominal taps persisted. Cutting above that complex could leave nongiant responsiveness available. Some caudal nongiant responses returned after approximately a week following lower cuts.
The pattern supports an important initiating or facilitating contribution from anterior ganglia. Recovery and segmental responsiveness prevent a claim that all nongiant tail flips require one exclusive command site. Lesions identify pathway dependence but cannot alone distinguish initiation from tonic facilitation.
A ganglion is a concentration of neuronal cell bodies and neuropil. Neuropil contains the interwoven neuronal processes and synapses where much of the local circuit interaction occurs.
References:
J. J. Wine; F. B. Krasne (1972). The Organization of Escape Behaviour in the Crayfish. Journal of Experimental Biology 56(1):1–18. https://doi.org/10.1242/jeb.56.1.1
Wine &amp; Krasne (1972), Fig. 8. Published locations of nerve-cord transections.
Figure source: https://doi.org/10.1242/jeb.56.1.1</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paired MG neurons originate in the brain, cross the midline, and continue along the ventral nerve cord to the final abdominal ganglion. Decussation means crossing from one side of the nervous system to the other. Wine and Krasne related this anatomy to anterior receptive fields and descending recorded activity.
MG axons can reach approximately 200 μm in diameter in the connectives surrounding the oesophagus, tapering in the abdomen. Rostral taps and sufficiently rapid approaching visual objects activated MG in free animals. Gradual anterior stimuli more often recruited nongiant responses.
Anatomical position and propagation direction support the identification of an anterior escape pathway. They do not establish that every anterior sensory modality uses the same synapse. Modern antenna II recordings isolate one sensory route, whereas the intact-animal stimuli often contained several physical components.
A receptive field is the part of the sensory surface or stimulus space capable of affecting a neuron. The anatomical arrangement in the modern MG paper concerns antenna II inputs; additional sensory pathways are explicitly omitted from that source diagram.
References:
J. J. Wine; F. B. Krasne (1972). The Organization of Escape Behaviour in the Crayfish. Journal of Experimental Biology 56(1):1–18. https://doi.org/10.1242/jeb.56.1.1
M. E. Swierzbinski; J. Herberholz (2018). Effects of ethanol on sensory inputs to the medial giant interneurons of crayfish. Frontiers in Physiology 9:448. https://doi.org/10.3389/fphys.2018.00448
Wine &amp; Krasne (1972), Fig. 1. Receptive fields and giant-axon cross sections.
Figure source: https://doi.org/10.1242/jeb.56.1.1
Swierzbinski &amp; Herberholz (2018), Fig. 1(A). Published anatomical arrangement of antenna II input and the MG neuron.
Figure source: https://doi.org/10.3389/fphys.2018.00448</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paired LG pathways contain serial neuronal segments associated with abdominal ganglia. Their dorsal giant axons are connected to ventral cell bodies and dendritic branches receiving local sensory input. Electrical coupling across segmental and contralateral junctions coordinates activity within the escape pathway.
Wine and Krasne reported LG diameters up to about 200 μm in the abdomen, with smaller diameters anteriorly. Abdominal taps recruited ascending activity and an upward-pitching response. Herberholz and colleagues later imaged the LG dendrites and their afferent contacts in the terminal abdominal ganglion.
A posterior stimulus can therefore gain access to a distributed giant pathway through local synaptic inputs. The large axon is only one part of the circuit. Its diameter does not specify which sensory inputs reach threshold or which segmental motor connections generate the movement.
A dendrite is a neuronal process that receives and distributes synaptic input. The color micrograph is an original confocal image of LG dendritic contacts, rather than a newly drawn representation of the segmental pathway.
References:
J. J. Wine; F. B. Krasne (1972). The Organization of Escape Behaviour in the Crayfish. Journal of Experimental Biology 56(1):1–18. https://doi.org/10.1242/jeb.56.1.1
J. Herberholz; B. L. Antonsen; D. H. Edwards (2002). A lateral excitatory network in the escape circuit of crayfish. Journal of Neuroscience 22(20):9078–9085. https://doi.org/10.1523/JNEUROSCI.22-20-09078.2002
Wine &amp; Krasne (1972), Fig. 1. Giant-axon organization and posterior receptive fields.
Figure source: https://doi.org/10.1242/jeb.56.1.1
Herberholz et al. (2002), Fig. 2(B). LG dendritic contacts with primary afferents; original 10 μm scale.
Figure source: https://doi.org/10.1523/JNEUROSCI.22-20-09078.2002</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used magnetic resonance imaging, or MRI, to examine the nervous system without dissecting away the animal’s surrounding tissues. Juvenile crayfish were injected with manganese chloride, allowed to move, and then held motionless in narrow imaging tubes.
A three-dimensional acquisition at 78 μm resolution in each dimension resolved the ventral nerve cord and individual thoracic and abdominal ganglia. The sagittal section retains the animal’s curled abdomen and the cord’s course through it. Manganese increased contrast between tissues and exposed anatomical features poorly separated in conventional scans.
Repeated ganglia provide the anatomical setting for segmental giant and motor circuitry. The scan does not resolve every neuronal connection or identify active LG spikes. Anatomical visibility and activity measurement are separate properties of the imaging method.
Sagittal sections cut along the animal’s front-to-back axis. The reported scan lasted four hours and thirty-three minutes, so its spatial detail must not be confused with millisecond temporal resolution.
References:
J. Herberholz; S. H. Mishra; D. Uma; M. W. Germann; D. H. Edwards; K. Potter (2011). Non-invasive imaging of neuroanatomical structures and neural activation with high-resolution MRI. Frontiers in Behavioral Neuroscience 5:16. https://doi.org/10.3389/fnbeh.2011.00016
Herberholz et al. (2011), Fig. 2(D). Sagittal manganese-enhanced MRI of the ventral nerve cord.
Figure source: https://doi.org/10.3389/fnbeh.2011.00016</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pressure-injected LG with two fluorescent tracers. Large dextran-linked Texas Red remained predominantly within the injected neuron, whereas low-molecular-weight Neurobiotin could pass into electrically coupled cells. Fluorescent detection distinguished LG from its coupled partners.
The original confocal projection contains the major LG dendrite and primary afferent axons extending into the ganglionic nerves. Superposition of red and green signals produces yellow within the filled LG, while other coupled cells appear green. The figure retains its original 50 μm scale bar.
Dye coupling supports an intercellular pathway permeable to the tracer. It does not by itself measure synaptic current direction, conductance, or effectiveness at firing threshold. The investigators therefore combined the anatomy with paired electrical recordings rather than treating fluorescence as proof of every functional connection.
A primary afferent carries sensory information from a receptor toward the central nervous system. The published fluorescence colors are preserved exactly; they are labels of tracer distribution, not colors assigned to natural tissue.
References:
J. Herberholz; B. L. Antonsen; D. H. Edwards (2002). A lateral excitatory network in the escape circuit of crayfish. Journal of Neuroscience 22(20):9078–9085. https://doi.org/10.1523/JNEUROSCI.22-20-09078.2002
Herberholz et al. (2002), Fig. 2(A). LG and dye-coupled neurons in the terminal ganglion.
Figure source: https://doi.org/10.1523/JNEUROSCI.22-20-09078.2002</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terminal ganglion receives sensory axons from touch-sensitive hairs and stretch receptors of the tail fan. Herberholz and colleagues traced these inputs into distinct parts of the LG dendritic tree. Input from different nerves was spatially segregated rather than uniformly mixed across every branch.
High-resolution confocal images revealed thin, vine-like LG processes wrapping around afferent axons. The original panel retains a 10 μm scale bar. These contacts occur near distal endings of the major LG dendritic branches, where sensory input enters the command neuron.
The anatomical arrangement creates a local substrate for synaptic interaction between afferents and LG. Contact in a projection is not enough to identify each membrane junction or its molecular channel. Functional recordings and tracer passage provide additional evidence for electrical coupling at these sites.
Distal means farther along a dendritic branch from the main axon or cell body. Because a confocal projection combines optical sections, apparent overlap must be interpreted with attention to separation in the depth dimension.
References:
J. Herberholz; B. L. Antonsen; D. H. Edwards (2002). A lateral excitatory network in the escape circuit of crayfish. Journal of Neuroscience 22(20):9078–9085. https://doi.org/10.1523/JNEUROSCI.22-20-09078.2002
Herberholz et al. (2002), Fig. 2(B). Fine dendritic processes surrounding afferent axons.
Figure source: https://doi.org/10.1523/JNEUROSCI.22-20-09078.2002</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injected Neurobiotin into one primary afferent while filling LG separately with Texas Red. This preparation distinguished passage among sensory axons from tracer introduced directly into LG. The afferent labeling extended to neighboring sensory axons through central contacts.
Individual injected afferents were coupled to between one and twelve other afferents. Most labeled partners entered through the same sensory nerve, although some connections crossed between nerves. The enlarged published panel separates the afferent-coupling site from the nearby contact with LG.
The distribution supports a local sensory network capable of interaction before signals reach the command neuron. Dye passage alone does not establish that an unstimulated neighbor fires. The subsequent current-injection experiments tested whether this anatomical connectivity can transmit electrical excitation.
Lateral excitation means excitation spreading between neurons at a similar stage of processing. It differs from the common sensory arrangement of lateral inhibition, in which neighboring activity suppresses rather than recruits a response.
References:
J. Herberholz; B. L. Antonsen; D. H. Edwards (2002). A lateral excitatory network in the escape circuit of crayfish. Journal of Neuroscience 22(20):9078–9085. https://doi.org/10.1523/JNEUROSCI.22-20-09078.2002
Herberholz et al. (2002), Fig. 3(A,B). A filled afferent and its coupled neighbors beside LG.
Figure source: https://doi.org/10.1523/JNEUROSCI.22-20-09078.2002</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An excitatory postsynaptic potential, or EPSP, is a synaptic voltage change that promotes neuronal excitation. Herberholz and colleagues recorded a small, brief LG EPSP when an individual afferent fired after intracellular current injection. They also recorded simultaneously from pairs of afferent axons.
Depolarizing one afferent produced a smaller depolarization and corresponding EPSPs in its neighbor. Applying current to the other cell produced reciprocal effects. LG did not fire during these paired-afferent tests, excluding an LG spike as the required intermediary event.
The transfer of sustained voltage as well as spike-related signals supports electrical coupling among sensory terminals. These observations establish functional communication beyond dye passage. They do not identify the protein composition of the junctions or prove that every afferent pair has identical coupling strength.
Depolarization is a shift of membrane voltage in the positive direction relative to its resting value. An electrical synapse permits current flow through intercellular channels instead of requiring transmitter release at every signal transfer.
References:
J. Herberholz; B. L. Antonsen; D. H. Edwards (2002). A lateral excitatory network in the escape circuit of crayfish. Journal of Neuroscience 22(20):9078–9085. https://doi.org/10.1523/JNEUROSCI.22-20-09078.2002
Herberholz et al. (2002), Fig. 3(C,D). Afferent-to-LG transmission and interactions between sensory axons.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increased the strength of sensory-nerve shocks while recording a particular afferent and LG. Below the recorded afferent’s direct stimulation threshold, smaller shocks already evoked EPSPs in that cell. The source therefore distinguished direct axonal stimulation from recruitment through other neurons.
As shock strength increased, the afferent EPSP rose in discrete steps. A recruited spike appeared before the stronger shock that directly activated the recorded axon, and its appearance coincided with additional LG excitation. Direct activation shortened the latency of the recorded afferent spike.
The experiment supports sensory amplification through a lateral network: activated afferents can enlist additional inputs. It does not convert shock voltage into a calibrated natural touch intensity. Electrode position and individual axonal thresholds affect which afferents the shock recruits first.
Threshold is the stimulus or membrane condition at which a defined response first appears. A direct nerve-shock threshold differs from the threshold at which an afferent fires after receiving an EPSP from its neighbors.
References:
J. Herberholz; B. L. Antonsen; D. H. Edwards (2002). A lateral excitatory network in the escape circuit of crayfish. Journal of Neuroscience 22(20):9078–9085. https://doi.org/10.1523/JNEUROSCI.22-20-09078.2002
Herberholz et al. (2002), Fig. 4(A,B). Increasing nerve shocks recruit sensory EPSPs and afferent spikes.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held sensory stimulation constant while injecting current into LG. A sensory EPSP that normally remained below firing threshold in an afferent became suprathreshold when LG was depolarized. The imposed LG shift was approximately 10–20 mV at its initial segment.
The effect cannot be explained solely by adding voltage at the command neuron’s spike-generating membrane. It changed whether a presynaptic sensory axon fired. Current could spread from LG toward coupled afferent terminals, supplementing excitation arriving from neighboring sensory neurons.
This supports a feedback interaction between the developing LG response and recruitment of its own inputs. It does not establish the natural source of every equivalent depolarization in an intact animal. The causal manipulation was intracellular current injection in an exposed neural preparation.
Presynaptic and postsynaptic describe the conventional direction of information flow at a connection. Electrical junctions can also pass current opposite that direction, so the postsynaptic cell can influence neurons supplying its input.
References:
J. Herberholz; B. L. Antonsen; D. H. Edwards (2002). A lateral excitatory network in the escape circuit of crayfish. Journal of Neuroscience 22(20):9078–9085. https://doi.org/10.1523/JNEUROSCI.22-20-09078.2002
Herberholz et al. (2002), Fig. 5(A,B). Opposite effects of LG depolarization and hyperpolarization.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Hyperpolarization shifts membrane voltage in the negative direction relative to its resting level. Herberholz and colleagues injected hyperpolarizing current into LG while presenting the same sensory-nerve stimulus. A previously suprathreshold afferent EPSP then failed to evoke its recruited spike.
This opposite manipulation complements the depolarization test. The stimulus delivered to the nerve did not need to be weakened to reduce sensory recruitment. LG membrane state altered the excitatory interaction between sensory axons and the command neuron through the electrically coupled circuit.
The result supports a distributed control of escape excitability rather than a threshold determined only at the final command cell. It does not imply that every LG hyperpolarization has an identical behavioral consequence. Which afferents are near threshold and how strongly they are coupled remain relevant.
The figure includes both current polarities from the original publication. The comparison retains the same sensory preparation and tests the effect of changing LG voltage rather than changing the external stimulus.
References:
J. Herberholz; B. L. Antonsen; D. H. Edwards (2002). A lateral excitatory network in the escape circuit of crayfish. Journal of Neuroscience 22(20):9078–9085. https://doi.org/10.1523/JNEUROSCI.22-20-09078.2002
Herberholz et al. (2002), Fig. 5(B). Reduction of afferent recruitment during LG hyperpolarization.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first-order mechanosensory interneuron receives input from primary sensory afferents and can transmit excitation onward to LG. Herberholz and colleagues recorded interneuron A while altering LG voltage by current injection. They compared identical nerve stimuli at rest and during imposed voltage shifts.
LG depolarization made normally subthreshold interneuron responses generate spikes. Hyperpolarization could suppress a previously evoked spike. The interactions could arise through enhanced afferent recruitment and through current flowing directly from LG toward electrically coupled interneurons.
The sensory-to-command pathway therefore contains interconnected stages rather than a strictly one-way sequence. These results support feedback-sensitive recruitment but do not isolate the exact contribution of each route in every preparation. Both afferent-network excitation and direct electrical communication must be considered when explaining the recorded effect.
Interneuron A is an identified sensory interneuron with a known morphology and response pattern. Its recruitment adds the indirect afferent-to-interneuron-to-LG route to the direct afferent-to-LG route.
References:
J. Herberholz; B. L. Antonsen; D. H. Edwards (2002). A lateral excitatory network in the escape circuit of crayfish. Journal of Neuroscience 22(20):9078–9085. https://doi.org/10.1523/JNEUROSCI.22-20-09078.2002
Herberholz et al. (2002), Fig. 6(A,B). LG voltage shifts alter the firing of interneuron A.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voltage clamp holds a neuron near a commanded membrane voltage while recording the current required to maintain it. Herberholz and colleagues compared LG responses to the same nerve stimulus during current injection and under two-electrode voltage clamp. This separated changes in voltage from changes in synaptic input.
LG depolarization enlarged the later, interneuron-mediated EPSP component and could bring LG to spike threshold. Under voltage clamp, the corresponding excitatory synaptic current also increased. The added response therefore included recruitment of input rather than merely a shifted starting voltage.
The result supports amplification within the coupled network. It must be distinguished from the effect of depolarization on an already active individual rectifying junction, which can reduce that junction’s input. Aggregate network recruitment and unitary synaptic transfer are different experimental measurements.
The alpha component includes the direct afferent pathway; the beta component includes first-order interneuron input. The source uses these labels for compound LG responses, not for two different LG neurons.
References:
J. Herberholz; B. L. Antonsen; D. H. Edwards (2002). A lateral excitatory network in the escape circuit of crayfish. Journal of Neuroscience 22(20):9078–9085. https://doi.org/10.1523/JNEUROSCI.22-20-09078.2002
Herberholz et al. (2002), Fig. 7(A,B). LG voltage and synaptic-current responses during depolarization.
Figure source: https://doi.org/10.1523/JNEUROSCI.22-20-09078.2002
Herberholz et al. (2002), Fig. 2(B). LG dendritic contacts with primary afferents; original 10 μm scale.
Figure source: https://doi.org/10.1523/JNEUROSCI.22-20-09078.2002</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unitary synaptic response is the response associated with firing of a defined presynaptic neuron. Edwards and colleagues activated interneuron A while recording LG and imposed positive or negative shifts in LG voltage. This controlled presynaptic source differs from stimulating an entire sensory network.
Hyperpolarizing LG enlarged both the EPSP and measured excitatory synaptic current; depolarizing LG reduced them. At rest, the EPSP peaked within approximately 1 ms and decayed over the following 20 ms. The authors related these changes to voltage-sensitive electrical transmission.
The result supports a rectifying junction, whose conductance depends on the voltage difference across the connection. It does not contradict enhanced network recruitment during LG depolarization: one experiment measures a fixed unitary input, while the other allows additional afferents and interneurons to become active.
Conductance describes how readily current passes through a membrane or junction. A rectifying electrical synapse is not a fixed resistor: the relative voltages of its two cells influence the amount and direction of current.
References:
D. H. Edwards; W. J. Heitler; E. M. Leise; R. A. Fricke (1991). Postsynaptic modulation of rectifying electrical synaptic inputs to the LG escape command neuron in crayfish. Journal of Neuroscience 11(7):2117–2129. https://doi.org/10.1523/JNEUROSCI.11-07-02117.1991
J. Herberholz; B. L. Antonsen; D. H. Edwards (2002). A lateral excitatory network in the escape circuit of crayfish. Journal of Neuroscience 22(20):9078–9085. https://doi.org/10.1523/JNEUROSCI.22-20-09078.2002
Edwards et al. (1991), Fig. 3(A–D). Interneuron A transmission and voltage-dependent LG responses.
Figure source: https://doi.org/10.1523/JNEUROSCI.11-07-02117.1991
Herberholz et al. (2002), Fig. 2(B). LG dendritic contacts with primary afferents; original 10 μm scale.
Figure source: https://doi.org/10.1523/JNEUROSCI.22-20-09078.2002</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Orthodromic transmission follows the usual sensory-to-command direction, while antidromic transmission proceeds in the reverse direction. Edwards and colleagues recorded interneuron A while shifting LG voltage or evoking an LG action potential. They tested electrical communication in both directions across the same connection.
Steady hyperpolarization of LG spread into interneuron A, whereas steady LG depolarization transferred much less effectively. An LG spike produced an antidromic synaptic potential whose amplitude changed when the interneuron was depolarized or hyperpolarized. These observations support voltage-dependent coupling rather than absolute one-way isolation.
Rectification therefore biases transmission without preventing all reverse influence. The measured membrane effects do not identify the junctional channel proteins. Their interpretation concerns physiological properties of the connection and must remain separate from an untested molecular explanation of its asymmetry.
The paper controlled LG voltage with separate current-injection and recording electrodes. This reduces confusion between a true change in neuronal membrane potential and a voltage drop across the electrode itself.
References:
D. H. Edwards; W. J. Heitler; E. M. Leise; R. A. Fricke (1991). Postsynaptic modulation of rectifying electrical synaptic inputs to the LG escape command neuron in crayfish. Journal of Neuroscience 11(7):2117–2129. https://doi.org/10.1523/JNEUROSCI.11-07-02117.1991
J. Herberholz; B. L. Antonsen; D. H. Edwards (2002). A lateral excitatory network in the escape circuit of crayfish. Journal of Neuroscience 22(20):9078–9085. https://doi.org/10.1523/JNEUROSCI.22-20-09078.2002
Edwards et al. (1991), Fig. 4(A–C). Reverse transfer from LG to interneuron A.
Figure source: https://doi.org/10.1523/JNEUROSCI.11-07-02117.1991
Herberholz et al. (2002), Fig. 2(B). LG dendritic contacts with primary afferents; original 10 μm scale.
Figure source: https://doi.org/10.1523/JNEUROSCI.22-20-09078.2002</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Coincidence detection is preferential responsiveness to inputs arriving at nearly the same time. Edwards and colleagues stimulated two sensory nerves of the terminal ganglion in isolated juvenile crayfish preparations. Each nerve evoked a subthreshold LG EPSP, and paired shocks were presented with systematically varied delays.
Changing the relative delay from about 100 μs on one side of coincidence to about 100 μs on the other changed peak EPSP amplitude markedly. Across preparations, separating inputs by 0.1 ms reduced the normalized response relative to coincidence. The compound response was especially sensitive near zero relative delay.
The experiment establishes very precise timing sensitivity in sensory input to LG. It does not measure the timing of natural receptor spikes during every predator encounter. Nerve shocks synchronize recruited axons and provide a controlled test of the central integration mechanism.
The Greek μ in the original article denotes microseconds. One hundred microseconds is 0.1 ms, rather than the 100 ms that can appear in faulty text extraction from this PDF.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3(B). LG EPSP amplitude as a function of sensory-input delay.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Edwards and colleagues asked whether precise timing sensitivity required excitation through sensory interneurons. They isolated the early alpha component, dominated by direct afferent-to-LG electrical input, either by weakening the nerve stimuli or by blocking nicotinic transmission with mecamylamine.
Acetylcholine is the transmitter implicated at the afferent-to-interneuron chemical synapses; a nicotinic receptor is an acetylcholine-gated ion channel. Mecamylamine reduced this chemical route. Even after the indirect pathway was suppressed, the alpha response remained largest for coincident inputs and declined with increasing delay.
The result supports coincidence selectivity within the direct electrical pathway. It does not imply that chemical sensory synapses are irrelevant to escape in the intact animal. They normally contribute additional excitation, while the pharmacological comparison isolates a specific mechanism of temporal integration.
The source reports 50 μM mecamylamine in the pharmacological isolation test. That concentration blocks nicotinic transmission in this preparation; the experiment does not establish that every crayfish chemical synapse is cholinergic.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4(A–C). Timing sensitivity of full, alpha-only, and picrotoxin-treated responses.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Picrotoxin blocks the inhibitory channel mechanisms tested in these crayfish preparations. Edwards and colleagues applied 10 μM picrotoxin while comparing paired nerve inputs at different delays. They tested whether delayed inhibition could account for the very narrow coincidence peak.
Coincidence sensitivity remained and was sharper during picrotoxin treatment. Delays of 50 μs produced a measurable decrease from the coincident response, and larger delays exceeded that reduction. This timing is much shorter than the several milliseconds needed for the delayed feed-forward inhibition examined in separate experiments.
The result argues against that inhibitory pathway being necessary for the fastest selectivity. It does not eliminate inhibition’s contribution to later sensory filtering. The drug comparison distinguishes mechanisms acting on different timescales rather than establishing that the escape pathway lacks inhibitory synapses.
Feed-forward inhibition occurs when sensory excitation also recruits an inhibitory pathway to the target neuron. It can curtail later excitation even when the first fractions of a millisecond are filtered by electrical-junction properties.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4(C). Coincidence sensitivity during picrotoxin superfusion.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Edwards and colleagues proposed two interacting consequences of rectifying electrical input. An early LG depolarization reduces the voltage difference that would open a later junction. Junctions already opened by the first afferent volley can also conduct current away from the postsynaptic neuron as those afferents repolarize.
Their computational comparisons reproduced reduced summation for short input delays with voltage-sensitive junctions. The experimental nerve-pair data confirmed sharp coincidence sensitivity, including a decrease for 0.1 ms separation. Shunting means diverting current through an available conductance so that it contributes less to the desired voltage response.
The model supplies a mechanistic account consistent with the recordings, not a direct measurement of every individual gap-junction current in vivo. Its assumed channel kinetics must remain distinguishable from the physiological evidence for timing-dependent EPSP reduction.
Repolarization is the return of a depolarized membrane toward its resting voltage. An open electrical connection can change its current direction as the voltage difference reverses; rectification does not prevent this while the junction remains conductive.
References:
D. H. Edwards; S.-R. Yeh; F. B. Krasne (1998). Neuronal coincidence detection by voltage-sensitive electrical synapses. Proceedings of the National Academy of Sciences USA 95(12):7145–7150. https://doi.org/10.1073/pnas.95.12.7145
J. Herberholz; B. L. Antonsen; D. H. Edwards (2002). A lateral excitatory network in the escape circuit of crayfish. Journal of Neuroscience 22(20):9078–9085. https://doi.org/10.1523/JNEUROSCI.22-20-09078.2002
Edwards et al. (1998), Fig. 3(B). Measured timing sensitivity used to test the rectifying-junction account.
Figure source: https://doi.org/10.1073/pnas.95.12.7145
Herberholz et al. (2002), Fig. 2(B). LG dendritic contacts with primary afferents; original 10 μm scale.
Figure source: https://doi.org/10.1523/JNEUROSCI.22-20-09078.2002</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Postexcitatory inhibition, or PEI, is inhibition that follows the early excitation evoked by sensory input. Vu and colleagues recorded LG in isolated crayfish abdomens and stimulated sensory roots. They compared the compound response before and during picrotoxin application.
The alpha and initial beta peaks changed relatively little at the tested dose, while the later falling response was enlarged or prolonged. The effect emerged after the early excitatory components, consistent with delayed inhibitory action. The experimental preparation excluded movement by cutting motor roots.
This supports a sensory-evoked inhibitory process that limits later LG excitation. Drug-induced enlargement alone does not establish its exact cellular location, because disinhibition could also affect upstream sensory neurons. The study therefore tested responses to defined input and injected currents within LG itself.
The original paper reports the effective picrotoxin range as 7–10 μM. Inhibitory pharmacology is interpreted together with the current-injection controls, rather than using one altered waveform to assign a complete circuit.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2(A,B). Picrotoxin changes the late portion of a root-evoked LG response.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Vu and colleagues evoked a defined electrical EPSP by directly stimulating interneuron A. They compared this test response alone with the same response delivered during a sensory-root-evoked LG potential. The selected sensory root did not itself fire interneuron A in the tested ganglia.
The test EPSP was strongly reduced after the beta peak of the compound response. At an 8 ms delay from the root shock, its average reduction was approximately 47%. Because the experiment directly controlled the presynaptic test spike, failure to recruit that interneuron was not a sufficient explanation.
The result supports attenuation at or near the postsynaptic integration stage. It does not assign all attenuation to PEI: electrical-junction voltage dependence and presynaptic shunting can also reduce the test EPSP. Further pharmacological and conductance measurements separated these contributions.
The experiment avoids refractoriness of the test interneuron caused by the initial root stimulus. A refractory interval is a period after a spike when a neuron cannot fire again normally; here the test spike was separately evoked.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3(A,B). Reduction of an interneuron A test EPSP at different delays.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Vu and colleagues repeated the interneuron A test during picrotoxin exposure. The test spike was timed so its LG EPSP occurred 8 ms after a sensory-root stimulus. The control comparison retained the same type of defined presynaptic input and compound LG response.
Picrotoxin reduced the average attenuation from approximately 47% to approximately 18%. This pharmacological release supports a substantial inhibitory contribution to the reduction after the early excitatory peak. The tested drug concentration did not alter LG’s resting voltage or resting input resistance appreciably.
The remaining attenuation prevents attributing the whole effect to one inhibitory mechanism. Voltage-sensitive electrical transmission and other concurrent conductances can still reduce an EPSP. Partial, slow washout also limits a simple assumption that drug effects are immediately reversible under every recording condition.
An antagonist reduces the action of a receptor or channel-mediated process. Picrotoxin acts on inhibitory channel function in this experiment; attenuation remaining during its application requires an explanation beyond complete removal of one GABAergic component.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5(A,B). Test-EPSP attenuation before and during picrotoxin treatment.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Input resistance is the voltage response produced by an injected current, expressed relative to that current. A smaller response to the same current indicates that more current can escape through membrane conductance. Vu and colleagues measured this property during the sensory-evoked LG potential.
Current injected into one LG or its electrically coupled counterpart produced less voltage during the late response. Picrotoxin removed much of that reduction, particularly after the beta peak. The result supports an inhibitory conductance increase rather than simply withdrawal of an excitatory input.
GABA, gamma-aminobutyric acid, is the inhibitory transmitter implicated by the anatomy and pharmacology. GABA-associated chloride conductance can shunt excitation even when its reversal potential produces some depolarization. Thus the direction of a voltage change alone does not determine whether its net effect promotes firing.
A reversal potential is the membrane voltage at which the net current through a particular conductance changes direction. The study found the PEI reversal level more positive than rest but below spike threshold, consistent with depolarizing inhibition.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6(A,B). Reduced attenuation of injected-current responses during picrotoxin.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Vu and colleagues compared pairs of sensory-root shocks separated by 8 ms. The second shock was delivered either to the same root or to a different root in the same ganglion. These roots supply partly distinct dendritic regions, allowing a test of spatial specificity.
The second compound response was attenuated more strongly in the same-root condition. Both local PEI and reduced chemical sensory transmission could contribute. Cadmium-containing saline suppressed the chemical component, providing a control for attenuation caused by its fatigue rather than by inhibition alone.
The results support a partly localized dendritic inhibitory process, rather than uniform suppression of all LG input. They do not establish one identified inhibitory neuron for each receptor. The paper proposed alternative local arrangements of inhibitory neurons, which remain different from directly observed anatomical wiring.
Distal dendritic inhibition can suppress sensory input where it enters LG. Recurrent inhibition near the spike-generating region has a different spatial effect, so the two inhibitory processes should not be treated as identical.
References:
E. T. Vu; A. Berkowitz; F. B. Krasne (1997). Postexcitatory inhibition of the crayfish lateral giant neuron: a mechanism for sensory temporal filtering. Journal of Neuroscience 17(22):8867–8879. https://doi.org/10.1523/JNEUROSCI.17-22-08867.1997
J. Herberholz; B. L. Antonsen; D. H. Edwards (2002). A lateral excitatory network in the escape circuit of crayfish. Journal of Neuroscience 22(20):9078–9085. https://doi.org/10.1523/JNEUROSCI.22-20-09078.2002
Vu et al. (1997), Fig. 11(A–E). Comparison of repeated same-root and different-root stimuli.
Figure source: https://doi.org/10.1523/JNEUROSCI.17-22-08867.1997
Herberholz et al. (2002), Fig. 2(B). LG dendritic contacts with primary afferents; original 10 μm scale.
Figure source: https://doi.org/10.1523/JNEUROSCI.22-20-09078.2002</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The segmental giant, or SG, is a relay neuron through which giant-fiber activity excites many fast-flexor motor neurons. Fraser and Heitler filled SG with Lucifer Yellow and illuminated it to disrupt its function. This photoinactivation allowed them to test pathways normally obscured by the relay’s strong output.
As illumination continued, SG spikes broadened, developed long depolarized plateaus, and eventually failed. Giant-fiber stimulation no longer produced the normal strong fast-flexor response through the affected SG. Some residual input persisted, suggesting an additional connection rather than complete dependence on one relay.
Selective disruption supplies causal evidence about SG’s contribution. The evolving plateau can temporarily alter other electrically coupled cells, so intermediate stages are not equivalent to a clean instantaneous deletion. The study checked SG responsiveness before interpreting the residual motor input.
A motor neuron carries its axon out of the central nervous system toward an effector. SG has unusual motor-neuron-like anatomy but functions as an internal relay; the fast-flexor cells provide motor output to abdominal muscles.
References:
K. Fraser; W. J. Heitler (1991). Photoinactivation of the crayfish segmental giant neuron reveals a direct giant-fiber to fast-flexor connection with a chemical component. Journal of Neuroscience 11(1):59–71. https://doi.org/10.1523/JNEUROSCI.11-01-00059.1991
Fraser &amp; Heitler (1991), Fig. 1(A–C). Recordings before and during dye-mediated segmental-giant inactivation.
Figure source: https://doi.org/10.1523/JNEUROSCI.11-01-00059.1991</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Fraser and Heitler photoinactivated SG on both sides of an abdominal ganglion. Removing only one SG would leave a contralateral route capable of exciting the recorded fast-flexor motor neuron. Bilateral manipulation therefore controlled an important parallel pathway.
After both SGs failed, LG stimulation still evoked a smaller fast-flexor EPSP. Injected current into LG could also spread to the motor neuron, especially for hyperpolarizing current, supporting an electrical component. The remaining response had a much shorter route than the usual giant-fiber-to-SG-to-motor-neuron pathway.
The experiment supports direct input beyond the dominant relay route. It does not imply that this small pathway alone normally produces a full escape. The intact circuit combines direct motor-giant activation, SG-mediated recruitment, and additional fast-flexor input; selectively removing SG reveals only part of that organization.
The motor giant, MoG, is a specialized abdominal flexor motor neuron with a powerful electrical input from the giant fibers. It is distinct from SG and from the broader group of nongiant fast-flexor motor neurons.
References:
K. Fraser; W. J. Heitler (1991). Photoinactivation of the crayfish segmental giant neuron reveals a direct giant-fiber to fast-flexor connection with a chemical component. Journal of Neuroscience 11(1):59–71. https://doi.org/10.1523/JNEUROSCI.11-01-00059.1991
Fraser &amp; Heitler (1991), Fig. 2(A–C). Residual LG-to-fast-flexor responses after bilateral SG inactivation.
Figure source: https://doi.org/10.1523/JNEUROSCI.11-01-00059.1991</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Fraser and Heitler compared LG and MG responses in fast-flexor neurons after bilateral SG photoinactivation. Both giants normally recruit the relay, so intact recordings can obscure differences in their direct output. The experiment compared the pathways under the same relay-removal condition.
In anterior abdominal ganglia, LG retained appreciable direct excitatory input to fast-flexor neurons, whereas MG produced little or no comparable effect. The residual LG input declined toward posterior ganglia. These segmental differences parallel the distinct motor consequences of activating the two giant systems.
The result supports unequal output connectivity beneath the shared SG pathway. It does not reconstruct the circuit’s evolutionary history from physiology alone. The authors proposed an ancestral interpretation, but the measured evidence is the spatial distribution of residual synaptic effects in the manipulated living circuit.
A monosynaptic pathway crosses one synaptic connection; a disynaptic pathway crosses two. SG photoinactivation separates the dominant disynaptic relay contribution from a smaller direct connection, rather than proving that every remaining signal has one universal amplitude.
References:
K. Fraser; W. J. Heitler (1991). Photoinactivation of the crayfish segmental giant neuron reveals a direct giant-fiber to fast-flexor connection with a chemical component. Journal of Neuroscience 11(1):59–71. https://doi.org/10.1523/JNEUROSCI.11-01-00059.1991
Fraser &amp; Heitler (1991), Fig. 4(A,B). Comparisons of LG and MG input after SG removal.
Figure source: https://doi.org/10.1523/JNEUROSCI.11-01-00059.1991</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chemical synapse releases a transmitter that acts on receptors of another cell, rather than transferring current directly through a junction. Fraser and Heitler tested the residual LG-to-fast-flexor input with cadmium after removing SG. Cadmium interferes with calcium-dependent transmitter release but can also affect other cellular properties.
At millimolar cadmium concentrations, the residual fast-flexor EPSP decreased while the obligatory electrical giant-fiber-to-motor-giant spike transmission persisted. The authors also checked antidromic fast-flexor spikes, which were not comparably lost. These controls distinguish reduced chemical input from complete failure of axonal conduction.
The findings support a chemical component alongside electrical coupling. They do not identify the released transmitter or its receptor subtype. Cadmium’s effects on spike duration and other membrane currents also require control, so pharmacology alone is not a complete molecular identification.
The source tested cadmium at 2–2.5 mM in the relevant preparations. Calcium-dependent release is a mechanistic class; the paper does not establish which calcium-channel subtype provides the presynaptic calcium entry.
References:
K. Fraser; W. J. Heitler (1991). Photoinactivation of the crayfish segmental giant neuron reveals a direct giant-fiber to fast-flexor connection with a chemical component. Journal of Neuroscience 11(1):59–71. https://doi.org/10.1523/JNEUROSCI.11-01-00059.1991
Fraser &amp; Heitler (1991), Fig. 9(A,B). Residual LG-to-fast-flexor response during cadmium exposure.
Figure source: https://doi.org/10.1523/JNEUROSCI.11-01-00059.1991</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Fraser and Heitler cooled preparations with both SGs photoinactivated from approximately 20°C to approximately 7°C. Cooling changes spike shape and slows processes associated with chemical transmission. LG and a fast-flexor neuron were recorded together to relate the residual motor response to presynaptic activity.
At low temperature, an early EPSP component remained close to the LG spike, while a later component became more visibly separated. Adding cadmium removed the later component while leaving the early response. This combination supports distinct electrical and chemical contributions to the direct connection.
The inference rests on converging timing and pharmacological evidence, not on delay alone. Cooling affects several membrane processes and increased LG spike duration. The experiment does not establish that the cold response waveform occurs during ordinary escape in the freely behaving animal.
Temperature is an experimental manipulation here. The short-latency component is consistent with electrical transmission, while the longer-latency cadmium-sensitive component supports transmitter-mediated input; neither component is newly redrawn in the deck.
References:
K. Fraser; W. J. Heitler (1991). Photoinactivation of the crayfish segmental giant neuron reveals a direct giant-fiber to fast-flexor connection with a chemical component. Journal of Neuroscience 11(1):59–71. https://doi.org/10.1523/JNEUROSCI.11-01-00059.1991
Fraser &amp; Heitler (1991), Fig. 10(A–C). Residual motor EPSPs at 20°C, 7°C, and with cadmium.
Figure source: https://doi.org/10.1523/JNEUROSCI.11-01-00059.1991</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surgically exposed the crayfish brain and recorded MG while stimulating one antenna II nerve. An extracellular hook electrode monitored connective activity, and a sharp intracellular electrode measured MG voltage. This preparation isolated a defined anterior sensory route.
The authors quantified an early MG potential at 3 ms and a later potential at 6 ms after the stimulus artifact. Most single-nerve stimuli produced subthreshold potentials, even when their amplitude had saturated. The electrode stimulus was kept below the level that directly activated MG without synaptic transmission.
These recordings establish experimentally separable phases of MG input. The late potential contains interacting excitation and inhibition rather than an isolated pure inhibitory voltage. Failure to fire in the reduced preparation does not mean that the intact MG circuit cannot respond rapidly to anterior threats.
A stimulus artifact is the recorded electrical disturbance produced directly by the applied shock. The 3 ms and 6 ms measurements are delays from that artifact, not independent measurements of the first natural antenna movement.
References:
M. E. Swierzbinski; J. Herberholz (2018). Effects of ethanol on sensory inputs to the medial giant interneurons of crayfish. Frontiers in Physiology 9:448. https://doi.org/10.3389/fphys.2018.00448
Swierzbinski &amp; Herberholz (2018), Fig. 1(B). Antenna II-evoked connective activity and intracellular MG potentials.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A baseline control measures the preparation without the tested drug, allowing changes over time to be distinguished from treatment effects. Swierzbinski and Herberholz stimulated the antenna II nerve every 90 s while continuously superfusing the exposed MG preparation with normal crayfish saline.
After a ten-minute baseline, responses were followed for another 90 minutes. The early and late potentials fluctuated but did not undergo the major sustained increase seen with ethanol. The original published traces retain their color coding for successive recording times.
This control supports attributing the ethanol-associated enhancement to treatment rather than ordinary repeated stimulation alone. It does not prove that saline preparations are perfectly invariant or that each pharmacological condition has the same background drift. The comparison concerns the behavior of this reduced neural preparation over its recorded interval.
Superfusion continually replaces the solution bathing the tissue. The study kept flow at 5 ml per minute, making solution exchange a controlled part of the experiment rather than an unspecified exposure.
References:
M. E. Swierzbinski; J. Herberholz (2018). Effects of ethanol on sensory inputs to the medial giant interneurons of crayfish. Frontiers in Physiology 9:448. https://doi.org/10.3389/fphys.2018.00448
Swierzbinski &amp; Herberholz (2018), Fig. 2(B). Early and late MG potentials during repeated saline stimulation.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superfused MG preparations with 100 mM ethanol, the alcohol molecule tested here, after a saline baseline. Antenna II stimuli remained 90 s apart. Early and late MG potentials were measured separately to avoid treating the compound response as a single uniform signal.
The early potential rose to roughly one-and-a-half times its baseline amplitude during ethanol exposure. Enhancement remained after 60 minutes of saline washout. The late component varied and did not provide comparably strong evidence for a sustained enhancement.
The effect supports increased excitability of an anterior sensory pathway under this treatment. It does not identify a single ethanol-binding receptor or establish a behavioral escape rate in these pinned preparations. A larger subthreshold potential and an increased probability of natural escape are related hypotheses, not the same measurement.
The source reports an early response of approximately 157% of baseline after 60 minutes of ethanol and approximately 156% after 60 minutes of washout. These values describe normalized potential amplitude, not percentage of animals escaping.
References:
M. E. Swierzbinski; J. Herberholz (2018). Effects of ethanol on sensory inputs to the medial giant interneurons of crayfish. Frontiers in Physiology 9:448. https://doi.org/10.3389/fphys.2018.00448
Swierzbinski &amp; Herberholz (2018), Fig. 3. MG potential amplitudes before, during, and after ethanol exposure.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applied 25 μM picrotoxin to test inhibitory-channel contributions to MG input. An antagonist reduces a receptor-associated process; this drug interferes with inhibitory ion-channel function. The experiment compared early and late sensory potentials with their saline baseline.
The early MG potential increased during the 30-minute treatment. Changes of the later potential during application were more variable. Higher picrotoxin concentrations could produce repeated MG spikes arising late in the compound response, so the investigators used the lower dose for their main comparisons.
The findings support inhibitory regulation of the MG sensory pathway. They do not assign every drug effect directly to channels on MG: upstream sensory neurons can also be affected. The late suppression during washout further cautions against treating the drug response as a simple, immediately reversible removal of one synapse.
GABAergic means mediated by GABA. The paper interprets its pharmacology in that framework, but receptor subunit composition and the precise cellular locations of all affected receptors were not directly identified.
References:
M. E. Swierzbinski; J. Herberholz (2018). Effects of ethanol on sensory inputs to the medial giant interneurons of crayfish. Frontiers in Physiology 9:448. https://doi.org/10.3389/fphys.2018.00448
Swierzbinski &amp; Herberholz (2018), Fig. 4(B). Early and late MG potentials during picrotoxin and washout.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Muscimol is an agonist of ionotropic GABA receptors; an agonist activates a receptor-associated response. An ionotropic receptor directly gates an ion channel. Swierzbinski and Herberholz applied 25 μM muscimol for 30 minutes while repeatedly measuring antenna II-evoked MG potentials.
Potential amplitudes changed relatively little during treatment but declined during subsequent saline washout. The late potential reached approximately 32% of baseline after 60 minutes of washout. Separate measurements of MG input resistance changed only modestly during muscimol exposure, despite the later decline of sensory potentials.
The delayed response supports a more complex pharmacological interaction than immediate postsynaptic shunting alone. It does not establish the molecular origin of the persistent suppression. Direct receptor activation, upstream effects, and processes continuing after solution exchange must remain distinguishable from measured MG voltage changes.
The study measured input resistance with a second intracellular electrode and current steps from −40 to 40 nA. This tested MG membrane responsiveness, while the sensory potential also depended on the pathways supplying MG.
References:
M. E. Swierzbinski; J. Herberholz (2018). Effects of ethanol on sensory inputs to the medial giant interneurons of crayfish. Frontiers in Physiology 9:448. https://doi.org/10.3389/fphys.2018.00448
Swierzbinski &amp; Herberholz (2018), Fig. 4(C). MG potentials during muscimol exposure and saline washout.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Swierzbinski and Herberholz exposed MG preparations to muscimol before applying ethanol. The sequence included a saline baseline, 30 minutes of 25 μM muscimol, 30 minutes of 100 mM ethanol, and 60 minutes of saline washout. Early and late sensory potentials were measured throughout.
Unlike ethanol alone, ethanol following muscimol did not produce a clear additional enhancement relative to baseline. The large washout suppression observed after muscimol alone was also absent in this sequential condition. The treatment history therefore altered both apparent facilitation and delayed suppression.
These interactions support state-dependent pharmacological modulation of sensory input. They do not prove that ethanol acts at exactly the same receptor-binding site as muscimol. The measurements concern compound synaptic potentials, and several sites within the anterior pathway could contribute to the history-dependent response.
Comparing treatment sequences distinguishes interaction from a claim that two drugs merely add independent effects. The source did not identify a unique biochemical pathway sufficient to account for the observed interaction.
References:
M. E. Swierzbinski; J. Herberholz (2018). Effects of ethanol on sensory inputs to the medial giant interneurons of crayfish. Frontiers in Physiology 9:448. https://doi.org/10.3389/fphys.2018.00448
Swierzbinski &amp; Herberholz (2018), Fig. 5. MG responses to muscimol followed by ethanol.
Figure source: https://doi.org/10.3389/fphys.2018.00448
Swierzbinski &amp; Herberholz (2018), Fig. 1(A). Published anatomical arrangement of antenna II input and the MG neuron.
Figure source: https://doi.org/10.3389/fphys.2018.00448</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Manganese-enhanced MRI, or MEMRI, uses manganese ions to increase tissue contrast and mark activity-associated uptake. Manganese can enter depolarized cells through voltage-gated calcium channels. Such channels open in response to membrane voltage and normally provide a route for calcium entry.
Herberholz and colleagues injected 40 μl of 25 mM manganese chloride and stimulated the antenna II nerve at 4 Hz. T1-weighted brain images at 31 μm in-plane resolution contained greater uptake on the stimulated side, including the antenna II nerve and accessory-lobe region.
The result relates controlled sensory stimulation to regional manganese accumulation. It does not identify the firing of a particular MG neuron or resolve individual spikes. The marker accumulates over an extended stimulation period, so its biological timescale differs from the millisecond escape recordings.
The published sections retain 1 mm scale bars and the original directional arrows. Manganese entry is used as an activity-related marker; these scans do not identify a calcium-channel subtype or a synapse-specific tracer transfer rate.
References:
J. Herberholz; S. H. Mishra; D. Uma; M. W. Germann; D. H. Edwards; K. Potter (2011). Non-invasive imaging of neuroanatomical structures and neural activation with high-resolution MRI. Frontiers in Behavioral Neuroscience 5:16. https://doi.org/10.3389/fnbeh.2011.00016
Herberholz et al. (2011), Fig. 3(A,B). Axial brain sections after antenna II stimulation and manganese injection.
Figure source: https://doi.org/10.3389/fnbeh.2011.00016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compared stimulated and unstimulated animals receiving the same manganese dose. They examined both T1- and T2-weighted images, which emphasize different tissue-dependent magnetic relaxation properties. Regions of interest were held consistent across selected slices within each animal.
The stimulated animal’s T1-weighted images had greater intensity on the stimulated side, while the unstimulated control had more similar values across sides. T2-weighted images provided strong anatomical contrast but made the side difference less discrete. The comparison extended across a 400 μm axial region.
The control supports stimulation-associated uptake rather than assuming all visible contrast represents neural activity. It does not remove every potential anatomical or physiological source of between-animal variation. Imaging protocol, manganese exposure, anatomical position, and the regional comparison all affect what can be inferred.
T1 and T2 are different magnetic relaxation measures, not two neural pathways. An image with stronger overall contrast can be less informative about a subtle activity-associated difference between the two sides of the brain.
References:
J. Herberholz; S. H. Mishra; D. Uma; M. W. Germann; D. H. Edwards; K. Potter (2011). Non-invasive imaging of neuroanatomical structures and neural activation with high-resolution MRI. Frontiers in Behavioral Neuroscience 5:16. https://doi.org/10.3389/fnbeh.2011.00016
Herberholz et al. (2011), Fig. 4. Original stimulated and unstimulated brain-image stacks.
Figure source: https://doi.org/10.3389/fnbeh.2011.00016</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Herberholz and colleagues injected a modest manganese dose and stimulated the ventral nerve cord to elicit LG-mediated tail flips. The protocol used 60 shocks over 20 minutes, each evoking an escape response. Imaging followed the stimulation period rather than occurring during individual flips.
Manganese-enhanced sections resolved abdominal ganglia and associated nerve roots. Enlarged regions distinguished brighter ganglionic areas from surrounding tissue, with the published figures preserving 500 μm and 100 μm scale bars. The result extends activity-associated imaging beyond the anterior sensory preparation.
This provides a regional anatomical record associated with repeated escape-circuit activation. It does not establish which individual neuron accumulated the marker or which synapse transmitted each response. Intracellular electrophysiology supplies cellular timing and causal tests that this integrated imaging measurement cannot replace.
The injected dose was 10 μl of 50 mM manganese chloride. The investigators used a T1-weighted scan with 78 μm in-plane resolution for the cord overview and higher spatial detail in the enlarged ganglion acquisition.
References:
J. Herberholz; S. H. Mishra; D. Uma; M. W. Germann; D. H. Edwards; K. Potter (2011). Non-invasive imaging of neuroanatomical structures and neural activation with high-resolution MRI. Frontiers in Behavioral Neuroscience 5:16. https://doi.org/10.3389/fnbeh.2011.00016
Herberholz et al. (2011), Fig. 5(A–C). Cord, ganglion, and enlarged neuropil after repeated escape stimulation.
Figure source: https://doi.org/10.3389/fnbeh.2011.00016</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Teaching transcript:
Wine and Krasne connected abrupt stimulus location with the giant circuit recruited and the resulting movement. Posterior taps commonly evoked LG-mediated upward pitching; anterior stimuli commonly evoked MG-mediated backward escape. More gradual stimuli generally recruited slower, more variable nongiant responses.
Controlled nerve-pair recordings later established timing selectivity at 0.1 ms input separation, while relay photoinactivation exposed differing LG and MG motor outputs. These experiments address separate stages: sensory integration determines recruitment, and output connectivity determines the muscle pattern once a pathway is active.
Speed and flexibility therefore depend on interacting parallel pathways rather than on giant-axon diameter alone. The rapid giant response is not the only escape available, and the presence of a tail flip is not sufficient to identify its neural cause. Pathway-specific recording or manipulation is required.
A command neuron is a neuron whose activity can initiate a defined motor program in the studied circuit. This functional term does not imply that the cell alone evaluates every sensory input, controls all later swimming, or determines the animal’s behavior independently of state.
References:
J. J. Wine; F. B. Krasne (1972). The Organization of Escape Behaviour in the Crayfish. Journal of Experimental Biology 56(1):1–18. https://doi.org/10.1242/jeb.56.1.1
D. H. Edwards; S.-R. Yeh; F. B. Krasne (1998). Neuronal coincidence detection by voltage-sensitive electrical synapses. Proceedings of the National Academy of Sciences USA 95(12):7145–7150. https://doi.org/10.1073/pnas.95.12.7145
K. Fraser; W. J. Heitler (1991). Photoinactivation of the crayfish segmental giant neuron reveals a direct giant-fiber to fast-flexor connection with a chemical component. Journal of Neuroscience 11(1):59–71. https://doi.org/10.1523/JNEUROSCI.11-01-00059.1991
Wine &amp; Krasne (1972), Fig. 5. Distinct filmed LG and MG escape movements.
Figure source: https://doi.org/10.1242/jeb.56.1.1</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Stimulus timing and location. Abrupt posterior stimuli recruit LG-mediated upward pitching, while anterior stimuli can recruit MG-mediated backward escape; intensity alone does not determine the pathway.
Parallel escape systems. Nongiant circuits mediate slower, flexible responses and most successive swimming flips, so a tail flip does not by itself establish giant-neuron activity.
Electrical integration. Voltage-sensitive rectifying junctions support submillisecond coincidence selectivity, while lateral afferent coupling and reverse current from LG can recruit additional sensory input.
Delayed inhibition. Sensory-evoked GABAergic shunting curtails later LG excitation and is partly localized to dendritic input regions; inhibition can be depolarizing yet reduce firing.
Output connectivity. Motor-giant and segmental-giant pathways recruit abdominal flexion; removing SG exposes unequal residual LG and MG fast-flexor connections and a chemical component.
Mechanistic evidence. Defined inputs, voltage control, pharmacology, and selective relay disruption test different causal stages; proposed channel or evolutionary explanations must remain separate from measured effects.
References:
J. J. Wine; F. B. Krasne (1972). The Organization of Escape Behaviour in the Crayfish. Journal of Experimental Biology 56(1):1–18. https://doi.org/10.1242/jeb.56.1.1
D. H. Edwards; S.-R. Yeh; F. B. Krasne (1998). Neuronal coincidence detection by voltage-sensitive electrical synapses. Proceedings of the National Academy of Sciences USA 95(12):7145–7150. https://doi.org/10.1073/pnas.95.12.7145
E. T. Vu; A. Berkowitz; F. B. Krasne (1997). Postexcitatory inhibition of the crayfish lateral giant neuron: a mechanism for sensory temporal filtering. Journal of Neuroscience 17(22):8867–8879. https://doi.org/10.1523/JNEUROSCI.17-22-08867.1997
K. Fraser; W. J. Heitler (1991). Photoinactivation of the crayfish segmental giant neuron reveals a direct giant-fiber to fast-flexor connection with a chemical component. Journal of Neuroscience 11(1):59–71. https://doi.org/10.1523/JNEUROSCI.11-01-00059.1991
J. Herberholz; B. L. Antonsen; D. H. Edwards (2002). A lateral excitatory network in the escape circuit of crayfish. Journal of Neuroscience 22(20):9078–9085. https://doi.org/10.1523/JNEUROSCI.22-20-09078.2002
M. E. Swierzbinski; J. Herberholz (2018). Effects of ethanol on sensory inputs to the medial giant interneurons of crayfish. Frontiers in Physiology 9:448. https://doi.org/10.3389/fphys.2018.00448</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3 identifies LG and MG activity from implanted electrodes; the significance of identifying a single giant spike comes from the command-neuron concept, which the later cellular studies refine.</a:t>
            </a:r>
          </a:p>
          <a:p>
            <a:pPr lvl="0" marL="342900" indent="-228600">
              <a:buChar char="•"/>
            </a:pPr>
            <a:r>
              <a:rPr lang="en-US" dirty="0"/>
              <a:t>Necessity and sufficiency define a command neuron.</a:t>
            </a:r>
          </a:p>
          <a:p>
            <a:pPr lvl="1" marL="685800" indent="-228600">
              <a:buChar char="–"/>
            </a:pPr>
            <a:r>
              <a:rPr lang="en-US" dirty="0"/>
              <a:t>Herberholz and colleagues describe a single LG spike as necessary and sufficient to produce a highly stereotyped tail flip that thrusts the animal away from the source of stimulation.</a:t>
            </a:r>
          </a:p>
          <a:p>
            <a:pPr lvl="1" marL="685800" indent="-228600">
              <a:buChar char="–"/>
            </a:pPr>
            <a:r>
              <a:rPr lang="en-US" dirty="0"/>
              <a:t>That makes an extracellularly recorded giant spike, as on slide 3, a reliable marker of which escape pathway produced the movement.</a:t>
            </a:r>
          </a:p>
          <a:p>
            <a:pPr lvl="0" marL="342900" indent="-228600">
              <a:buChar char="•"/>
            </a:pPr>
            <a:r>
              <a:rPr lang="en-US" dirty="0"/>
              <a:t>The output side guarantees that one spike is enough.</a:t>
            </a:r>
          </a:p>
          <a:p>
            <a:pPr lvl="1" marL="685800" indent="-228600">
              <a:buChar char="–"/>
            </a:pPr>
            <a:r>
              <a:rPr lang="en-US" dirty="0"/>
              <a:t>Fraser and Heitler describe each giant fiber driving the motor giant through a monosynaptic electrical connection, while the remaining fast-flexor motor neurons receive most of their input through the segmental giant.</a:t>
            </a:r>
          </a:p>
          <a:p>
            <a:pPr lvl="1" marL="685800" indent="-228600">
              <a:buChar char="–"/>
            </a:pPr>
            <a:r>
              <a:rPr lang="en-US" dirty="0"/>
              <a:t>Electrical synapses transmit with almost no delay, consistent with the roughly two-millisecond interval between giant spikes and abdominal muscle potentials.</a:t>
            </a:r>
          </a:p>
          <a:p>
            <a:pPr lvl="0" marL="342900" indent="-228600">
              <a:buChar char="•"/>
            </a:pPr>
            <a:r>
              <a:rPr lang="en-US" dirty="0"/>
              <a:t>The input side spreads the decision across many cells.</a:t>
            </a:r>
          </a:p>
          <a:p>
            <a:pPr lvl="1" marL="685800" indent="-228600">
              <a:buChar char="–"/>
            </a:pPr>
            <a:r>
              <a:rPr lang="en-US" dirty="0"/>
              <a:t>Herberholz and colleagues conclude that the decision to escape depends on interactions between LG's dendritic potentials and the primary afferent terminals in a lateral excitatory network.</a:t>
            </a:r>
          </a:p>
          <a:p>
            <a:pPr lvl="1" marL="685800" indent="-228600">
              <a:buChar char="–"/>
            </a:pPr>
            <a:r>
              <a:rPr lang="en-US" dirty="0"/>
              <a:t>LG is therefore the point at which the decision becomes all-or-none, not the only place where it is computed.</a:t>
            </a:r>
          </a:p>
          <a:p>
            <a:pPr marL="0" indent="0" lvl="0">
              <a:buNone/>
            </a:pPr>
            <a:r>
              <a:rPr lang="en-US" dirty="0"/>
              <a:t/>
            </a:r>
          </a:p>
          <a:p>
            <a:pPr marL="0" indent="0" lvl="0">
              <a:buNone/>
            </a:pPr>
            <a:r>
              <a:rPr lang="en-US" dirty="0"/>
              <a:t>References:</a:t>
            </a:r>
          </a:p>
          <a:p>
            <a:pPr marL="0" indent="0" lvl="0">
              <a:buNone/>
            </a:pPr>
            <a:r>
              <a:rPr lang="en-US" dirty="0"/>
              <a:t>J. J. Wine; F. B. Krasne (1972). The Organization of Escape Behaviour in the Crayfish. Journal of Experimental Biology 56(1):1–18. https://doi.org/10.1242/jeb.56.1.1</a:t>
            </a:r>
          </a:p>
          <a:p>
            <a:pPr marL="0" indent="0" lvl="0">
              <a:buNone/>
            </a:pPr>
            <a:r>
              <a:rPr lang="en-US" dirty="0"/>
              <a:t>J. Herberholz; B. L. Antonsen; D. H. Edwards (2002). A lateral excitatory network in the escape circuit of crayfish. Journal of Neuroscience 22(20):9078–9085. https://doi.org/10.1523/JNEUROSCI.22-20-09078.2002</a:t>
            </a:r>
          </a:p>
          <a:p>
            <a:pPr marL="0" indent="0" lvl="0">
              <a:buNone/>
            </a:pPr>
            <a:r>
              <a:rPr lang="en-US" dirty="0"/>
              <a:t>K. Fraser; W. J. Heitler (1991). Photoinactivation of the crayfish segmental giant neuron reveals a direct giant-fiber to fast-flexor connection with a chemical component. Journal of Neuroscience 11(1):59–71. https://doi.org/10.1523/JNEUROSCI.11-01-00059.1991</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Slides 2 to 6 describe two families of tail flip with different speeds and different flexibility; the reason both exist is that speed and guidance cannot be maximized together.</a:t>
            </a:r>
          </a:p>
          <a:p>
            <a:pPr lvl="0" marL="342900" indent="-228600">
              <a:buChar char="•"/>
            </a:pPr>
            <a:r>
              <a:rPr lang="en-US" dirty="0"/>
              <a:t>Speed limits guidance.</a:t>
            </a:r>
          </a:p>
          <a:p>
            <a:pPr lvl="1" marL="685800" indent="-228600">
              <a:buChar char="–"/>
            </a:pPr>
            <a:r>
              <a:rPr lang="en-US" dirty="0"/>
              <a:t>A giant-mediated flip is triggered by one spike and runs its course in a fixed form, so there is no time for sensory information to adjust it.</a:t>
            </a:r>
          </a:p>
          <a:p>
            <a:pPr lvl="1" marL="685800" indent="-228600">
              <a:buChar char="–"/>
            </a:pPr>
            <a:r>
              <a:rPr lang="en-US" dirty="0"/>
              <a:t>Nongiant flips, with their longer latencies, can incorporate information about the surroundings, which is why they include truncated flips and changes of direction.</a:t>
            </a:r>
          </a:p>
          <a:p>
            <a:pPr lvl="0" marL="342900" indent="-228600">
              <a:buChar char="•"/>
            </a:pPr>
            <a:r>
              <a:rPr lang="en-US" dirty="0"/>
              <a:t>The choice has to be made fast.</a:t>
            </a:r>
          </a:p>
          <a:p>
            <a:pPr lvl="1" marL="685800" indent="-228600">
              <a:buChar char="–"/>
            </a:pPr>
            <a:r>
              <a:rPr lang="en-US" dirty="0"/>
              <a:t>Vu and colleagues frame the problem as a rapid assessment of whether to use the fast reflex system or the slower nongiant one.</a:t>
            </a:r>
          </a:p>
          <a:p>
            <a:pPr lvl="1" marL="685800" indent="-228600">
              <a:buChar char="–"/>
            </a:pPr>
            <a:r>
              <a:rPr lang="en-US" dirty="0"/>
              <a:t>Their answer is that only stimuli strong enough to fire LG before postexcitatory inhibition begins, within a few milliseconds, recruit the giant system.</a:t>
            </a:r>
          </a:p>
          <a:p>
            <a:pPr lvl="0" marL="342900" indent="-228600">
              <a:buChar char="•"/>
            </a:pPr>
            <a:r>
              <a:rPr lang="en-US" dirty="0"/>
              <a:t>The behavioral data fit this rule.</a:t>
            </a:r>
          </a:p>
          <a:p>
            <a:pPr lvl="1" marL="685800" indent="-228600">
              <a:buChar char="–"/>
            </a:pPr>
            <a:r>
              <a:rPr lang="en-US" dirty="0"/>
              <a:t>On slide 4, abrupt taps usually recruited giant activity while gradually rising pinches of similar effectiveness did not.</a:t>
            </a:r>
          </a:p>
          <a:p>
            <a:pPr lvl="1" marL="685800" indent="-228600">
              <a:buChar char="–"/>
            </a:pPr>
            <a:r>
              <a:rPr lang="en-US" dirty="0"/>
              <a:t>The cellular mechanisms that implement the rule appear later in the deck, in the coincidence detection and inhibition experiments.</a:t>
            </a:r>
          </a:p>
          <a:p>
            <a:pPr marL="0" indent="0" lvl="0">
              <a:buNone/>
            </a:pPr>
            <a:r>
              <a:rPr lang="en-US" dirty="0"/>
              <a:t/>
            </a:r>
          </a:p>
          <a:p>
            <a:pPr marL="0" indent="0" lvl="0">
              <a:buNone/>
            </a:pPr>
            <a:r>
              <a:rPr lang="en-US" dirty="0"/>
              <a:t>References:</a:t>
            </a:r>
          </a:p>
          <a:p>
            <a:pPr marL="0" indent="0" lvl="0">
              <a:buNone/>
            </a:pPr>
            <a:r>
              <a:rPr lang="en-US" dirty="0"/>
              <a:t>J. J. Wine; F. B. Krasne (1972). The Organization of Escape Behaviour in the Crayfish. Journal of Experimental Biology 56(1):1–18. https://doi.org/10.1242/jeb.56.1.1</a:t>
            </a:r>
          </a:p>
          <a:p>
            <a:pPr marL="0" indent="0" lvl="0">
              <a:buNone/>
            </a:pPr>
            <a:r>
              <a:rPr lang="en-US" dirty="0"/>
              <a:t>E. T. Vu; A. Berkowitz; F. B. Krasne (1997). Postexcitatory inhibition of the crayfish lateral giant neuron: a mechanism for sensory temporal filtering. Journal of Neuroscience 17(22):8867–8879. https://doi.org/10.1523/JNEUROSCI.17-22-08867.1997</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11 uses two tracers of different size to separate LG from its coupled partners; the logic depends on what a gap junction is.</a:t>
            </a:r>
          </a:p>
          <a:p>
            <a:pPr lvl="0" marL="342900" indent="-228600">
              <a:buChar char="•"/>
            </a:pPr>
            <a:r>
              <a:rPr lang="en-US" dirty="0"/>
              <a:t>Gap junctions are channels between cells.</a:t>
            </a:r>
          </a:p>
          <a:p>
            <a:pPr lvl="1" marL="685800" indent="-228600">
              <a:buChar char="–"/>
            </a:pPr>
            <a:r>
              <a:rPr lang="en-US" dirty="0"/>
              <a:t>Each junction aligns channels in the two membranes so that ions, and molecules below a size limit, pass directly from one cytoplasm to the other.</a:t>
            </a:r>
          </a:p>
          <a:p>
            <a:pPr lvl="1" marL="685800" indent="-228600">
              <a:buChar char="–"/>
            </a:pPr>
            <a:r>
              <a:rPr lang="en-US" dirty="0"/>
              <a:t>Since no transmitter must be released and bind receptors, the electrical signal crosses immediately.</a:t>
            </a:r>
          </a:p>
          <a:p>
            <a:pPr lvl="0" marL="342900" indent="-228600">
              <a:buChar char="•"/>
            </a:pPr>
            <a:r>
              <a:rPr lang="en-US" dirty="0"/>
              <a:t>Tracer size turns this into a labeling method.</a:t>
            </a:r>
          </a:p>
          <a:p>
            <a:pPr lvl="1" marL="685800" indent="-228600">
              <a:buChar char="–"/>
            </a:pPr>
            <a:r>
              <a:rPr lang="en-US" dirty="0"/>
              <a:t>A tracer small enough to pass the junctions spreads from the injected cell into every cell coupled to it.</a:t>
            </a:r>
          </a:p>
          <a:p>
            <a:pPr lvl="1" marL="685800" indent="-228600">
              <a:buChar char="–"/>
            </a:pPr>
            <a:r>
              <a:rPr lang="en-US" dirty="0"/>
              <a:t>A tracer too large to pass marks only the injected cell, so cells labeled by the small tracer alone are the coupled partners.</a:t>
            </a:r>
          </a:p>
          <a:p>
            <a:pPr lvl="0" marL="342900" indent="-228600">
              <a:buChar char="•"/>
            </a:pPr>
            <a:r>
              <a:rPr lang="en-US" dirty="0"/>
              <a:t>The escape circuit uses this coupling extensively.</a:t>
            </a:r>
          </a:p>
          <a:p>
            <a:pPr lvl="1" marL="685800" indent="-228600">
              <a:buChar char="–"/>
            </a:pPr>
            <a:r>
              <a:rPr lang="en-US" dirty="0"/>
              <a:t>Edwards and colleagues describe a massive convergence of mechanosensory inputs onto LG through electrical synapses from both afferents and interneurons.</a:t>
            </a:r>
          </a:p>
          <a:p>
            <a:pPr lvl="1" marL="685800" indent="-228600">
              <a:buChar char="–"/>
            </a:pPr>
            <a:r>
              <a:rPr lang="en-US" dirty="0"/>
              <a:t>Dye coupling establishes that the pathway exists; the paired recordings on slide 14 establish that it transmits electrical signals.</a:t>
            </a:r>
          </a:p>
          <a:p>
            <a:pPr marL="0" indent="0" lvl="0">
              <a:buNone/>
            </a:pPr>
            <a:r>
              <a:rPr lang="en-US" dirty="0"/>
              <a:t/>
            </a:r>
          </a:p>
          <a:p>
            <a:pPr marL="0" indent="0" lvl="0">
              <a:buNone/>
            </a:pPr>
            <a:r>
              <a:rPr lang="en-US" dirty="0"/>
              <a:t>References:</a:t>
            </a:r>
          </a:p>
          <a:p>
            <a:pPr marL="0" indent="0" lvl="0">
              <a:buNone/>
            </a:pPr>
            <a:r>
              <a:rPr lang="en-US" dirty="0"/>
              <a:t>J. Herberholz; B. L. Antonsen; D. H. Edwards (2002). A lateral excitatory network in the escape circuit of crayfish. Journal of Neuroscience 22(20):9078–9085. https://doi.org/10.1523/JNEUROSCI.22-20-09078.2002</a:t>
            </a:r>
          </a:p>
          <a:p>
            <a:pPr marL="0" indent="0" lvl="0">
              <a:buNone/>
            </a:pPr>
            <a:r>
              <a:rPr lang="en-US" dirty="0"/>
              <a:t>D. H. Edwards; W. J. Heitler; E. M. Leise; R. A. Fricke (1991). Postsynaptic modulation of rectifying electrical synaptic inputs to the LG escape command neuron in crayfish. Journal of Neuroscience 11(7):2117–2129. https://doi.org/10.1523/JNEUROSCI.11-07-02117.1991</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Slides 13 to 18 build up the lateral excitatory network one observation at a time; taken together, they describe a positive feedback loop.</a:t>
            </a:r>
          </a:p>
          <a:p>
            <a:pPr lvl="0" marL="342900" indent="-228600">
              <a:buChar char="•"/>
            </a:pPr>
            <a:r>
              <a:rPr lang="en-US" dirty="0"/>
              <a:t>Each element of the loop was measured separately.</a:t>
            </a:r>
          </a:p>
          <a:p>
            <a:pPr lvl="1" marL="685800" indent="-228600">
              <a:buChar char="–"/>
            </a:pPr>
            <a:r>
              <a:rPr lang="en-US" dirty="0"/>
              <a:t>Afferents are coupled to each other on slides 13 and 14, stronger shocks recruit afferents that were not directly stimulated on slide 15, and LG voltage changes the recruitment of afferents and interneurons on slides 16 to 18.</a:t>
            </a:r>
          </a:p>
          <a:p>
            <a:pPr lvl="1" marL="685800" indent="-228600">
              <a:buChar char="–"/>
            </a:pPr>
            <a:r>
              <a:rPr lang="en-US" dirty="0"/>
              <a:t>Combined, these mean that excitation in any part of the network increases excitation in the other parts.</a:t>
            </a:r>
          </a:p>
          <a:p>
            <a:pPr lvl="0" marL="342900" indent="-228600">
              <a:buChar char="•"/>
            </a:pPr>
            <a:r>
              <a:rPr lang="en-US" dirty="0"/>
              <a:t>Positive feedback produces a threshold.</a:t>
            </a:r>
          </a:p>
          <a:p>
            <a:pPr lvl="1" marL="685800" indent="-228600">
              <a:buChar char="–"/>
            </a:pPr>
            <a:r>
              <a:rPr lang="en-US" dirty="0"/>
              <a:t>With weak input, recruitment stays small and the loop does not take off.</a:t>
            </a:r>
          </a:p>
          <a:p>
            <a:pPr lvl="1" marL="685800" indent="-228600">
              <a:buChar char="–"/>
            </a:pPr>
            <a:r>
              <a:rPr lang="en-US" dirty="0"/>
              <a:t>Once input is strong enough to recruit additional afferents, the added input recruits still more, so the response grows disproportionately; the authors call this nonlinear amplification.</a:t>
            </a:r>
          </a:p>
          <a:p>
            <a:pPr lvl="0" marL="342900" indent="-228600">
              <a:buChar char="•"/>
            </a:pPr>
            <a:r>
              <a:rPr lang="en-US" dirty="0"/>
              <a:t>The network also links to the abruptness rule.</a:t>
            </a:r>
          </a:p>
          <a:p>
            <a:pPr lvl="1" marL="685800" indent="-228600">
              <a:buChar char="–"/>
            </a:pPr>
            <a:r>
              <a:rPr lang="en-US" dirty="0"/>
              <a:t>An abrupt stimulus that excites many afferents together is the one most likely to start this self-reinforcing recruitment.</a:t>
            </a:r>
          </a:p>
          <a:p>
            <a:pPr lvl="1" marL="685800" indent="-228600">
              <a:buChar char="–"/>
            </a:pPr>
            <a:r>
              <a:rPr lang="en-US" dirty="0"/>
              <a:t>Hyperpolarizing LG, by contrast, reduced the excitability of afferents and interneurons, showing that the loop can also be damped.</a:t>
            </a:r>
          </a:p>
          <a:p>
            <a:pPr marL="0" indent="0" lvl="0">
              <a:buNone/>
            </a:pPr>
            <a:r>
              <a:rPr lang="en-US" dirty="0"/>
              <a:t/>
            </a:r>
          </a:p>
          <a:p>
            <a:pPr marL="0" indent="0" lvl="0">
              <a:buNone/>
            </a:pPr>
            <a:r>
              <a:rPr lang="en-US" dirty="0"/>
              <a:t>References:</a:t>
            </a:r>
          </a:p>
          <a:p>
            <a:pPr marL="0" indent="0" lvl="0">
              <a:buNone/>
            </a:pPr>
            <a:r>
              <a:rPr lang="en-US" dirty="0"/>
              <a:t>J. Herberholz; B. L. Antonsen; D. H. Edwards (2002). A lateral excitatory network in the escape circuit of crayfish. Journal of Neuroscience 22(20):9078–9085. https://doi.org/10.1523/JNEUROSCI.22-20-09078.2002</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Slides 20 and 21 establish that the connection from interneuron A to LG depends on LG's voltage; the diode comparison makes the direction of that dependence intuitive.</a:t>
            </a:r>
          </a:p>
          <a:p>
            <a:pPr lvl="0" marL="342900" indent="-228600">
              <a:buChar char="•"/>
            </a:pPr>
            <a:r>
              <a:rPr lang="en-US" dirty="0"/>
              <a:t>Rectification follows the voltage difference.</a:t>
            </a:r>
          </a:p>
          <a:p>
            <a:pPr lvl="1" marL="685800" indent="-228600">
              <a:buChar char="–"/>
            </a:pPr>
            <a:r>
              <a:rPr lang="en-US" dirty="0"/>
              <a:t>The junction opens when the presynaptic side is depolarized relative to the postsynaptic side, so current flows from interneuron to LG during an input spike.</a:t>
            </a:r>
          </a:p>
          <a:p>
            <a:pPr lvl="1" marL="685800" indent="-228600">
              <a:buChar char="–"/>
            </a:pPr>
            <a:r>
              <a:rPr lang="en-US" dirty="0"/>
              <a:t>Hyperpolarizing LG enlarges the difference and the input; depolarizing LG shrinks it, which is the pattern recorded on slide 20.</a:t>
            </a:r>
          </a:p>
          <a:p>
            <a:pPr lvl="0" marL="342900" indent="-228600">
              <a:buChar char="•"/>
            </a:pPr>
            <a:r>
              <a:rPr lang="en-US" dirty="0"/>
              <a:t>Reverse bias has a functional consequence.</a:t>
            </a:r>
          </a:p>
          <a:p>
            <a:pPr lvl="1" marL="685800" indent="-228600">
              <a:buChar char="–"/>
            </a:pPr>
            <a:r>
              <a:rPr lang="en-US" dirty="0"/>
              <a:t>Edwards and colleagues describe postsynaptic depolarization produced by earlier inputs as reverse-biasing the rectifying input synapses and reducing their strength.</a:t>
            </a:r>
          </a:p>
          <a:p>
            <a:pPr lvl="1" marL="685800" indent="-228600">
              <a:buChar char="–"/>
            </a:pPr>
            <a:r>
              <a:rPr lang="en-US" dirty="0"/>
              <a:t>LG is therefore most sensitive to input that arrives while it is at rest, which favors novel, phasic stimuli over continuing ones.</a:t>
            </a:r>
          </a:p>
          <a:p>
            <a:pPr lvl="0" marL="342900" indent="-228600">
              <a:buChar char="•"/>
            </a:pPr>
            <a:r>
              <a:rPr lang="en-US" dirty="0"/>
              <a:t>Two results that look contradictory concern different measurements.</a:t>
            </a:r>
          </a:p>
          <a:p>
            <a:pPr lvl="1" marL="685800" indent="-228600">
              <a:buChar char="–"/>
            </a:pPr>
            <a:r>
              <a:rPr lang="en-US" dirty="0"/>
              <a:t>Depolarizing LG reduces a fixed unitary input on slide 20 yet increases total input through network recruitment on slide 19.</a:t>
            </a:r>
          </a:p>
          <a:p>
            <a:pPr lvl="1" marL="685800" indent="-228600">
              <a:buChar char="–"/>
            </a:pPr>
            <a:r>
              <a:rPr lang="en-US" dirty="0"/>
              <a:t>One measures a single connection, the other the number of active inputs, so both can hold at once.</a:t>
            </a:r>
          </a:p>
          <a:p>
            <a:pPr marL="0" indent="0" lvl="0">
              <a:buNone/>
            </a:pPr>
            <a:r>
              <a:rPr lang="en-US" dirty="0"/>
              <a:t/>
            </a:r>
          </a:p>
          <a:p>
            <a:pPr marL="0" indent="0" lvl="0">
              <a:buNone/>
            </a:pPr>
            <a:r>
              <a:rPr lang="en-US" dirty="0"/>
              <a:t>References:</a:t>
            </a:r>
          </a:p>
          <a:p>
            <a:pPr marL="0" indent="0" lvl="0">
              <a:buNone/>
            </a:pPr>
            <a:r>
              <a:rPr lang="en-US" dirty="0"/>
              <a:t>D. H. Edwards; W. J. Heitler; E. M. Leise; R. A. Fricke (1991). Postsynaptic modulation of rectifying electrical synaptic inputs to the LG escape command neuron in crayfish. Journal of Neuroscience 11(7):2117–2129. https://doi.org/10.1523/JNEUROSCI.11-07-02117.1991</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Slides 27 to 30 measure postexcitatory inhibition as reduced EPSPs, reduced input resistance and partial spatial specificity; the shunting mechanism ties these together.</a:t>
            </a:r>
          </a:p>
          <a:p>
            <a:pPr lvl="0" marL="342900" indent="-228600">
              <a:buChar char="•"/>
            </a:pPr>
            <a:r>
              <a:rPr lang="en-US" dirty="0"/>
              <a:t>Shunting is a conductance effect.</a:t>
            </a:r>
          </a:p>
          <a:p>
            <a:pPr lvl="1" marL="685800" indent="-228600">
              <a:buChar char="–"/>
            </a:pPr>
            <a:r>
              <a:rPr lang="en-US" dirty="0"/>
              <a:t>The size of a voltage change produced by a current depends on how easily current can leave the cell; opening extra channels allows it to leave more easily.</a:t>
            </a:r>
          </a:p>
          <a:p>
            <a:pPr lvl="1" marL="685800" indent="-228600">
              <a:buChar char="–"/>
            </a:pPr>
            <a:r>
              <a:rPr lang="en-US" dirty="0"/>
              <a:t>That is why Vu and colleagues measured input resistance on slide 29: a drop in resistance during the late response is the signature of opened channels, whatever their effect on resting voltage.</a:t>
            </a:r>
          </a:p>
          <a:p>
            <a:pPr lvl="0" marL="342900" indent="-228600">
              <a:buChar char="•"/>
            </a:pPr>
            <a:r>
              <a:rPr lang="en-US" dirty="0"/>
              <a:t>Location gives the inhibition specificity.</a:t>
            </a:r>
          </a:p>
          <a:p>
            <a:pPr lvl="1" marL="685800" indent="-228600">
              <a:buChar char="–"/>
            </a:pPr>
            <a:r>
              <a:rPr lang="en-US" dirty="0"/>
              <a:t>Vu and colleagues report that postexcitatory inhibition is directed to distal LG dendrites, allowing some location specificity within the sensory field of one hemisegment.</a:t>
            </a:r>
          </a:p>
          <a:p>
            <a:pPr lvl="1" marL="685800" indent="-228600">
              <a:buChar char="–"/>
            </a:pPr>
            <a:r>
              <a:rPr lang="en-US" dirty="0"/>
              <a:t>A shunt near one dendritic branch mainly affects input arriving on that branch, as the same-root versus different-root comparison on slide 30 suggests.</a:t>
            </a:r>
          </a:p>
          <a:p>
            <a:pPr lvl="0" marL="342900" indent="-228600">
              <a:buChar char="•"/>
            </a:pPr>
            <a:r>
              <a:rPr lang="en-US" dirty="0"/>
              <a:t>The timing of the shunt matters most for behavior.</a:t>
            </a:r>
          </a:p>
          <a:p>
            <a:pPr lvl="1" marL="685800" indent="-228600">
              <a:buChar char="–"/>
            </a:pPr>
            <a:r>
              <a:rPr lang="en-US" dirty="0"/>
              <a:t>Inhibition that begins a few milliseconds after stimulus onset leaves only a short window in which LG can reach threshold.</a:t>
            </a:r>
          </a:p>
          <a:p>
            <a:pPr lvl="1" marL="685800" indent="-228600">
              <a:buChar char="–"/>
            </a:pPr>
            <a:r>
              <a:rPr lang="en-US" dirty="0"/>
              <a:t>Only rapidly rising stimuli succeed within that window, which links this cellular mechanism to the abruptness rule for giant escape.</a:t>
            </a:r>
          </a:p>
          <a:p>
            <a:pPr marL="0" indent="0" lvl="0">
              <a:buNone/>
            </a:pPr>
            <a:r>
              <a:rPr lang="en-US" dirty="0"/>
              <a:t/>
            </a:r>
          </a:p>
          <a:p>
            <a:pPr marL="0" indent="0" lvl="0">
              <a:buNone/>
            </a:pPr>
            <a:r>
              <a:rPr lang="en-US" dirty="0"/>
              <a:t>References:</a:t>
            </a:r>
          </a:p>
          <a:p>
            <a:pPr marL="0" indent="0" lvl="0">
              <a:buNone/>
            </a:pPr>
            <a:r>
              <a:rPr lang="en-US" dirty="0"/>
              <a:t>E. T. Vu; A. Berkowitz; F. B. Krasne (1997). Postexcitatory inhibition of the crayfish lateral giant neuron: a mechanism for sensory temporal filtering. Journal of Neuroscience 17(22):8867–8879. https://doi.org/10.1523/JNEUROSCI.17-22-08867.1997</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4 established behaviorally that abrupt stimuli recruit the giants; slides 15 to 30 supply three cellular mechanisms, and together they explain the behavioral rule.</a:t>
            </a:r>
          </a:p>
          <a:p>
            <a:pPr lvl="0" marL="342900" indent="-228600">
              <a:buChar char="•"/>
            </a:pPr>
            <a:r>
              <a:rPr lang="en-US" dirty="0"/>
              <a:t>The first filter operates on the scale of microseconds.</a:t>
            </a:r>
          </a:p>
          <a:p>
            <a:pPr lvl="1" marL="685800" indent="-228600">
              <a:buChar char="–"/>
            </a:pPr>
            <a:r>
              <a:rPr lang="en-US" dirty="0"/>
              <a:t>Edwards and colleagues found that LG sums synchronous inputs but not inputs separated by only one hundred microseconds.</a:t>
            </a:r>
          </a:p>
          <a:p>
            <a:pPr lvl="1" marL="685800" indent="-228600">
              <a:buChar char="–"/>
            </a:pPr>
            <a:r>
              <a:rPr lang="en-US" dirty="0"/>
              <a:t>They state that this coincidence detection enables crayfish to produce reflex escape only to very abrupt mechanical stimuli.</a:t>
            </a:r>
          </a:p>
          <a:p>
            <a:pPr lvl="0" marL="342900" indent="-228600">
              <a:buChar char="•"/>
            </a:pPr>
            <a:r>
              <a:rPr lang="en-US" dirty="0"/>
              <a:t>The second filter amplifies what passes the first.</a:t>
            </a:r>
          </a:p>
          <a:p>
            <a:pPr lvl="1" marL="685800" indent="-228600">
              <a:buChar char="–"/>
            </a:pPr>
            <a:r>
              <a:rPr lang="en-US" dirty="0"/>
              <a:t>A synchronous volley that depolarizes afferent terminals and LG together recruits additional afferents through the lateral excitatory network.</a:t>
            </a:r>
          </a:p>
          <a:p>
            <a:pPr lvl="1" marL="685800" indent="-228600">
              <a:buChar char="–"/>
            </a:pPr>
            <a:r>
              <a:rPr lang="en-US" dirty="0"/>
              <a:t>Asynchronous input produces less depolarization at any moment and so recruits less.</a:t>
            </a:r>
          </a:p>
          <a:p>
            <a:pPr lvl="0" marL="342900" indent="-228600">
              <a:buChar char="•"/>
            </a:pPr>
            <a:r>
              <a:rPr lang="en-US" dirty="0"/>
              <a:t>The third filter sets a deadline.</a:t>
            </a:r>
          </a:p>
          <a:p>
            <a:pPr lvl="1" marL="685800" indent="-228600">
              <a:buChar char="–"/>
            </a:pPr>
            <a:r>
              <a:rPr lang="en-US" dirty="0"/>
              <a:t>Vu and colleagues found that only stimuli strong enough to fire LG before postexcitatory inhibition begins, within a few milliseconds of onset, trigger giant responses.</a:t>
            </a:r>
          </a:p>
          <a:p>
            <a:pPr lvl="1" marL="685800" indent="-228600">
              <a:buChar char="–"/>
            </a:pPr>
            <a:r>
              <a:rPr lang="en-US" dirty="0"/>
              <a:t>The three filters act on different timescales, from tenths of a millisecond to several milliseconds, but all favor the same kind of stimulus.</a:t>
            </a:r>
          </a:p>
          <a:p>
            <a:pPr marL="0" indent="0" lvl="0">
              <a:buNone/>
            </a:pPr>
            <a:r>
              <a:rPr lang="en-US" dirty="0"/>
              <a:t/>
            </a:r>
          </a:p>
          <a:p>
            <a:pPr marL="0" indent="0" lvl="0">
              <a:buNone/>
            </a:pPr>
            <a:r>
              <a:rPr lang="en-US" dirty="0"/>
              <a:t>References:</a:t>
            </a:r>
          </a:p>
          <a:p>
            <a:pPr marL="0" indent="0" lvl="0">
              <a:buNone/>
            </a:pPr>
            <a:r>
              <a:rPr lang="en-US" dirty="0"/>
              <a:t>J. J. Wine; F. B. Krasne (1972). The Organization of Escape Behaviour in the Crayfish. Journal of Experimental Biology 56(1):1–18. https://doi.org/10.1242/jeb.56.1.1</a:t>
            </a:r>
          </a:p>
          <a:p>
            <a:pPr marL="0" indent="0" lvl="0">
              <a:buNone/>
            </a:pPr>
            <a:r>
              <a:rPr lang="en-US" dirty="0"/>
              <a:t>D. H. Edwards; S.-R. Yeh; F. B. Krasne (1998). Neuronal coincidence detection by voltage-sensitive electrical synapses. Proceedings of the National Academy of Sciences USA 95(12):7145–7150. https://doi.org/10.1073/pnas.95.12.7145</a:t>
            </a:r>
          </a:p>
          <a:p>
            <a:pPr marL="0" indent="0" lvl="0">
              <a:buNone/>
            </a:pPr>
            <a:r>
              <a:rPr lang="en-US" dirty="0"/>
              <a:t>E. T. Vu; A. Berkowitz; F. B. Krasne (1997). Postexcitatory inhibition of the crayfish lateral giant neuron: a mechanism for sensory temporal filtering. Journal of Neuroscience 17(22):8867–8879. https://doi.org/10.1523/JNEUROSCI.17-22-08867.1997</a:t>
            </a:r>
          </a:p>
          <a:p>
            <a:pPr marL="0" indent="0" lvl="0">
              <a:buNone/>
            </a:pPr>
            <a:r>
              <a:rPr lang="en-US" dirty="0"/>
              <a:t>J. Herberholz; B. L. Antonsen; D. H. Edwards (2002). A lateral excitatory network in the escape circuit of crayfish. Journal of Neuroscience 22(20):9078–9085. https://doi.org/10.1523/JNEUROSCI.22-20-09078.2002</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31 describes the sequence of changes in SG during illumination; the photochemistry of the method explains both its selectivity and its stages.</a:t>
            </a:r>
          </a:p>
          <a:p>
            <a:pPr lvl="0" marL="342900" indent="-228600">
              <a:buChar char="•"/>
            </a:pPr>
            <a:r>
              <a:rPr lang="en-US" dirty="0"/>
              <a:t>Selectivity comes from the dye, not the light.</a:t>
            </a:r>
          </a:p>
          <a:p>
            <a:pPr lvl="1" marL="685800" indent="-228600">
              <a:buChar char="–"/>
            </a:pPr>
            <a:r>
              <a:rPr lang="en-US" dirty="0"/>
              <a:t>Every cell in the illuminated field receives light, but only the filled cell contains the dye that converts light into damaging reactive molecules.</a:t>
            </a:r>
          </a:p>
          <a:p>
            <a:pPr lvl="1" marL="685800" indent="-228600">
              <a:buChar char="–"/>
            </a:pPr>
            <a:r>
              <a:rPr lang="en-US" dirty="0"/>
              <a:t>This allows one identified neuron to be removed while its neighbors and the rest of the circuit remain functional.</a:t>
            </a:r>
          </a:p>
          <a:p>
            <a:pPr lvl="0" marL="342900" indent="-228600">
              <a:buChar char="•"/>
            </a:pPr>
            <a:r>
              <a:rPr lang="en-US" dirty="0"/>
              <a:t>The stages reflect accumulating damage.</a:t>
            </a:r>
          </a:p>
          <a:p>
            <a:pPr lvl="1" marL="685800" indent="-228600">
              <a:buChar char="–"/>
            </a:pPr>
            <a:r>
              <a:rPr lang="en-US" dirty="0"/>
              <a:t>Fraser and Heitler describe an initial broadening of the spike, a long-duration, massively depolarized plateau, loss of spike capability, a gradual fall in resting potential and eventual loss of responsiveness.</a:t>
            </a:r>
          </a:p>
          <a:p>
            <a:pPr lvl="1" marL="685800" indent="-228600">
              <a:buChar char="–"/>
            </a:pPr>
            <a:r>
              <a:rPr lang="en-US" dirty="0"/>
              <a:t>Only after the final stage can the remaining circuit be treated as lacking SG.</a:t>
            </a:r>
          </a:p>
          <a:p>
            <a:pPr lvl="0" marL="342900" indent="-228600">
              <a:buChar char="•"/>
            </a:pPr>
            <a:r>
              <a:rPr lang="en-US" dirty="0"/>
              <a:t>Selective removal differs from the lesions on slide 7.</a:t>
            </a:r>
          </a:p>
          <a:p>
            <a:pPr lvl="1" marL="685800" indent="-228600">
              <a:buChar char="–"/>
            </a:pPr>
            <a:r>
              <a:rPr lang="en-US" dirty="0"/>
              <a:t>Cutting the nerve cord removes every signal crossing the cut, so it tests pathway dependence without identifying a cell.</a:t>
            </a:r>
          </a:p>
          <a:p>
            <a:pPr lvl="1" marL="685800" indent="-228600">
              <a:buChar char="–"/>
            </a:pPr>
            <a:r>
              <a:rPr lang="en-US" dirty="0"/>
              <a:t>Photoinactivating one relay tests the contribution of that identified neuron, which is what exposed the direct giant-to-flexor connections on slides 32 and 33.</a:t>
            </a:r>
          </a:p>
          <a:p>
            <a:pPr marL="0" indent="0" lvl="0">
              <a:buNone/>
            </a:pPr>
            <a:r>
              <a:rPr lang="en-US" dirty="0"/>
              <a:t/>
            </a:r>
          </a:p>
          <a:p>
            <a:pPr marL="0" indent="0" lvl="0">
              <a:buNone/>
            </a:pPr>
            <a:r>
              <a:rPr lang="en-US" dirty="0"/>
              <a:t>References:</a:t>
            </a:r>
          </a:p>
          <a:p>
            <a:pPr marL="0" indent="0" lvl="0">
              <a:buNone/>
            </a:pPr>
            <a:r>
              <a:rPr lang="en-US" dirty="0"/>
              <a:t>K. Fraser; W. J. Heitler (1991). Photoinactivation of the crayfish segmental giant neuron reveals a direct giant-fiber to fast-flexor connection with a chemical component. Journal of Neuroscience 11(1):59–71. https://doi.org/10.1523/JNEUROSCI.11-01-00059.1991</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33 compares residual LG and MG outputs after SG removal; the general principle is that a strong pathway can mask weaker parallel ones until it is removed.</a:t>
            </a:r>
          </a:p>
          <a:p>
            <a:pPr lvl="0" marL="342900" indent="-228600">
              <a:buChar char="•"/>
            </a:pPr>
            <a:r>
              <a:rPr lang="en-US" dirty="0"/>
              <a:t>Masking is a common problem in circuit analysis.</a:t>
            </a:r>
          </a:p>
          <a:p>
            <a:pPr lvl="1" marL="685800" indent="-228600">
              <a:buChar char="–"/>
            </a:pPr>
            <a:r>
              <a:rPr lang="en-US" dirty="0"/>
              <a:t>When two pathways converge on the same target, the larger one can dominate the recorded response so completely that the smaller one is invisible.</a:t>
            </a:r>
          </a:p>
          <a:p>
            <a:pPr lvl="1" marL="685800" indent="-228600">
              <a:buChar char="–"/>
            </a:pPr>
            <a:r>
              <a:rPr lang="en-US" dirty="0"/>
              <a:t>Removing the dominant pathway, as photoinactivation of SG did, is a direct way to reveal the hidden contribution.</a:t>
            </a:r>
          </a:p>
          <a:p>
            <a:pPr lvl="0" marL="342900" indent="-228600">
              <a:buChar char="•"/>
            </a:pPr>
            <a:r>
              <a:rPr lang="en-US" dirty="0"/>
              <a:t>The unmasked pathways are unequal.</a:t>
            </a:r>
          </a:p>
          <a:p>
            <a:pPr lvl="1" marL="685800" indent="-228600">
              <a:buChar char="–"/>
            </a:pPr>
            <a:r>
              <a:rPr lang="en-US" dirty="0"/>
              <a:t>After both relays were gone, LG still excited fast flexors, more strongly toward the front of the abdomen than the rear, whereas MG barely did.</a:t>
            </a:r>
          </a:p>
          <a:p>
            <a:pPr lvl="1" marL="685800" indent="-228600">
              <a:buChar char="–"/>
            </a:pPr>
            <a:r>
              <a:rPr lang="en-US" dirty="0"/>
              <a:t>These differences match the distinct movements produced by the two giants, upward pitching for LG and backward darting for MG.</a:t>
            </a:r>
          </a:p>
          <a:p>
            <a:pPr lvl="0" marL="342900" indent="-228600">
              <a:buChar char="•"/>
            </a:pPr>
            <a:r>
              <a:rPr lang="en-US" dirty="0"/>
              <a:t>The evolutionary reading is a hypothesis.</a:t>
            </a:r>
          </a:p>
          <a:p>
            <a:pPr lvl="1" marL="685800" indent="-228600">
              <a:buChar char="–"/>
            </a:pPr>
            <a:r>
              <a:rPr lang="en-US" dirty="0"/>
              <a:t>Fraser and Heitler describe the differences as clues to a probable early form of the circuit.</a:t>
            </a:r>
          </a:p>
          <a:p>
            <a:pPr lvl="1" marL="685800" indent="-228600">
              <a:buChar char="–"/>
            </a:pPr>
            <a:r>
              <a:rPr lang="en-US" dirty="0"/>
              <a:t>Testing that idea would require evidence about ancestral circuits; the measured result is the present-day distribution of residual connections.</a:t>
            </a:r>
          </a:p>
          <a:p>
            <a:pPr marL="0" indent="0" lvl="0">
              <a:buNone/>
            </a:pPr>
            <a:r>
              <a:rPr lang="en-US" dirty="0"/>
              <a:t/>
            </a:r>
          </a:p>
          <a:p>
            <a:pPr marL="0" indent="0" lvl="0">
              <a:buNone/>
            </a:pPr>
            <a:r>
              <a:rPr lang="en-US" dirty="0"/>
              <a:t>References:</a:t>
            </a:r>
          </a:p>
          <a:p>
            <a:pPr marL="0" indent="0" lvl="0">
              <a:buNone/>
            </a:pPr>
            <a:r>
              <a:rPr lang="en-US" dirty="0"/>
              <a:t>K. Fraser; W. J. Heitler (1991). Photoinactivation of the crayfish segmental giant neuron reveals a direct giant-fiber to fast-flexor connection with a chemical component. Journal of Neuroscience 11(1):59–71. https://doi.org/10.1523/JNEUROSCI.11-01-00059.1991</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Slides 34 and 35 separate electrical and chemical components with cadmium and cooling; the steps involved in each type of transmission explain why these manipulations work.</a:t>
            </a:r>
          </a:p>
          <a:p>
            <a:pPr lvl="0" marL="342900" indent="-228600">
              <a:buChar char="•"/>
            </a:pPr>
            <a:r>
              <a:rPr lang="en-US" dirty="0"/>
              <a:t>Chemical transmission has many steps that take time.</a:t>
            </a:r>
          </a:p>
          <a:p>
            <a:pPr lvl="1" marL="685800" indent="-228600">
              <a:buChar char="–"/>
            </a:pPr>
            <a:r>
              <a:rPr lang="en-US" dirty="0"/>
              <a:t>A presynaptic spike must open calcium channels, calcium must trigger vesicle fusion, transmitter must diffuse across the cleft and bind receptors, and those receptors must open their channels.</a:t>
            </a:r>
          </a:p>
          <a:p>
            <a:pPr lvl="1" marL="685800" indent="-228600">
              <a:buChar char="–"/>
            </a:pPr>
            <a:r>
              <a:rPr lang="en-US" dirty="0"/>
              <a:t>Each step slows at lower temperature, so the total delay grows noticeably on cooling.</a:t>
            </a:r>
          </a:p>
          <a:p>
            <a:pPr lvl="0" marL="342900" indent="-228600">
              <a:buChar char="•"/>
            </a:pPr>
            <a:r>
              <a:rPr lang="en-US" dirty="0"/>
              <a:t>Electrical transmission is a direct current path.</a:t>
            </a:r>
          </a:p>
          <a:p>
            <a:pPr lvl="1" marL="685800" indent="-228600">
              <a:buChar char="–"/>
            </a:pPr>
            <a:r>
              <a:rPr lang="en-US" dirty="0"/>
              <a:t>Current spreads through gap-junction channels as soon as a voltage difference exists, so there is essentially no delay to lengthen.</a:t>
            </a:r>
          </a:p>
          <a:p>
            <a:pPr lvl="1" marL="685800" indent="-228600">
              <a:buChar char="–"/>
            </a:pPr>
            <a:r>
              <a:rPr lang="en-US" dirty="0"/>
              <a:t>On cooling, the electrical component therefore stays aligned with the presynaptic spike while the chemical component drifts later, as on slide 35.</a:t>
            </a:r>
          </a:p>
          <a:p>
            <a:pPr lvl="0" marL="342900" indent="-228600">
              <a:buChar char="•"/>
            </a:pPr>
            <a:r>
              <a:rPr lang="en-US" dirty="0"/>
              <a:t>Two independent signatures strengthen the conclusion.</a:t>
            </a:r>
          </a:p>
          <a:p>
            <a:pPr lvl="1" marL="685800" indent="-228600">
              <a:buChar char="–"/>
            </a:pPr>
            <a:r>
              <a:rPr lang="en-US" dirty="0"/>
              <a:t>Cadmium targets calcium entry, the first step of chemical release, so it removes chemical but not electrical transmission.</a:t>
            </a:r>
          </a:p>
          <a:p>
            <a:pPr lvl="1" marL="685800" indent="-228600">
              <a:buChar char="–"/>
            </a:pPr>
            <a:r>
              <a:rPr lang="en-US" dirty="0"/>
              <a:t>Fraser and Heitler describe their result as the first physiological evidence for chemical output from a crayfish giant fiber.</a:t>
            </a:r>
          </a:p>
          <a:p>
            <a:pPr marL="0" indent="0" lvl="0">
              <a:buNone/>
            </a:pPr>
            <a:r>
              <a:rPr lang="en-US" dirty="0"/>
              <a:t/>
            </a:r>
          </a:p>
          <a:p>
            <a:pPr marL="0" indent="0" lvl="0">
              <a:buNone/>
            </a:pPr>
            <a:r>
              <a:rPr lang="en-US" dirty="0"/>
              <a:t>References:</a:t>
            </a:r>
          </a:p>
          <a:p>
            <a:pPr marL="0" indent="0" lvl="0">
              <a:buNone/>
            </a:pPr>
            <a:r>
              <a:rPr lang="en-US" dirty="0"/>
              <a:t>K. Fraser; W. J. Heitler (1991). Photoinactivation of the crayfish segmental giant neuron reveals a direct giant-fiber to fast-flexor connection with a chemical component. Journal of Neuroscience 11(1):59–71. https://doi.org/10.1523/JNEUROSCI.11-01-00059.1991</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36 notes that most single antenna II stimuli left MG subthreshold; Swierzbinski and Herberholz place that observation in the context of how MG differs from LG.</a:t>
            </a:r>
          </a:p>
          <a:p>
            <a:pPr lvl="0" marL="342900" indent="-228600">
              <a:buChar char="•"/>
            </a:pPr>
            <a:r>
              <a:rPr lang="en-US" dirty="0"/>
              <a:t>MG needs combined input.</a:t>
            </a:r>
          </a:p>
          <a:p>
            <a:pPr lvl="1" marL="685800" indent="-228600">
              <a:buChar char="–"/>
            </a:pPr>
            <a:r>
              <a:rPr lang="en-US" dirty="0"/>
              <a:t>Previous work cited by the authors brought MG to threshold by combining antenna II input with input from the contralateral MG, or by adding serotonin.</a:t>
            </a:r>
          </a:p>
          <a:p>
            <a:pPr lvl="1" marL="685800" indent="-228600">
              <a:buChar char="–"/>
            </a:pPr>
            <a:r>
              <a:rPr lang="en-US" dirty="0"/>
              <a:t>Sensory nerve stimulation alone, which readily fires LG in comparable preparations, rarely fires MG.</a:t>
            </a:r>
          </a:p>
          <a:p>
            <a:pPr lvl="0" marL="342900" indent="-228600">
              <a:buChar char="•"/>
            </a:pPr>
            <a:r>
              <a:rPr lang="en-US" dirty="0"/>
              <a:t>MG serves more context-dependent behavior.</a:t>
            </a:r>
          </a:p>
          <a:p>
            <a:pPr lvl="1" marL="685800" indent="-228600">
              <a:buChar char="–"/>
            </a:pPr>
            <a:r>
              <a:rPr lang="en-US" dirty="0"/>
              <a:t>The authors chose MG for its greater complexity, including multimodal sensory integration and relevance to predator escape, aggression, decision-making and risk-taking.</a:t>
            </a:r>
          </a:p>
          <a:p>
            <a:pPr lvl="1" marL="685800" indent="-228600">
              <a:buChar char="–"/>
            </a:pPr>
            <a:r>
              <a:rPr lang="en-US" dirty="0"/>
              <a:t>In the free animals on slide 8, both a touch to the head and a fast-looming object could recruit MG.</a:t>
            </a:r>
          </a:p>
          <a:p>
            <a:pPr lvl="0" marL="342900" indent="-228600">
              <a:buChar char="•"/>
            </a:pPr>
            <a:r>
              <a:rPr lang="en-US" dirty="0"/>
              <a:t>The difference fits the different threats.</a:t>
            </a:r>
          </a:p>
          <a:p>
            <a:pPr lvl="1" marL="685800" indent="-228600">
              <a:buChar char="–"/>
            </a:pPr>
            <a:r>
              <a:rPr lang="en-US" dirty="0"/>
              <a:t>A sudden touch at the tail allows no time for evaluation, and LG fires readily.</a:t>
            </a:r>
          </a:p>
          <a:p>
            <a:pPr lvl="1" marL="685800" indent="-228600">
              <a:buChar char="–"/>
            </a:pPr>
            <a:r>
              <a:rPr lang="en-US" dirty="0"/>
              <a:t>An object in front can be assessed through several senses, and a stricter requirement for converging input would reduce unnecessary escapes; this functional reading is an interpretation, not a tested result.</a:t>
            </a:r>
          </a:p>
          <a:p>
            <a:pPr marL="0" indent="0" lvl="0">
              <a:buNone/>
            </a:pPr>
            <a:r>
              <a:rPr lang="en-US" dirty="0"/>
              <a:t/>
            </a:r>
          </a:p>
          <a:p>
            <a:pPr marL="0" indent="0" lvl="0">
              <a:buNone/>
            </a:pPr>
            <a:r>
              <a:rPr lang="en-US" dirty="0"/>
              <a:t>References:</a:t>
            </a:r>
          </a:p>
          <a:p>
            <a:pPr marL="0" indent="0" lvl="0">
              <a:buNone/>
            </a:pPr>
            <a:r>
              <a:rPr lang="en-US" dirty="0"/>
              <a:t>M. E. Swierzbinski; J. Herberholz (2018). Effects of ethanol on sensory inputs to the medial giant interneurons of crayfish. Frontiers in Physiology 9:448. https://doi.org/10.3389/fphys.2018.00448</a:t>
            </a:r>
          </a:p>
          <a:p>
            <a:pPr marL="0" indent="0" lvl="0">
              <a:buNone/>
            </a:pPr>
            <a:r>
              <a:rPr lang="en-US" dirty="0"/>
              <a:t>J. J. Wine; F. B. Krasne (1972). The Organization of Escape Behaviour in the Crayfish. Journal of Experimental Biology 56(1):1–18. https://doi.org/10.1242/jeb.56.1.1</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38 reports a larger early MG potential under ethanol; the behavioral pharmacology of alcohol described in the paper's introduction explains why an escape neuron is a good place to look for its early effects.</a:t>
            </a:r>
          </a:p>
          <a:p>
            <a:pPr lvl="0" marL="342900" indent="-228600">
              <a:buChar char="•"/>
            </a:pPr>
            <a:r>
              <a:rPr lang="en-US" dirty="0"/>
              <a:t>Alcohol's effects change over time.</a:t>
            </a:r>
          </a:p>
          <a:p>
            <a:pPr lvl="1" marL="685800" indent="-228600">
              <a:buChar char="–"/>
            </a:pPr>
            <a:r>
              <a:rPr lang="en-US" dirty="0"/>
              <a:t>Swierzbinski and Herberholz describe alcohol as producing initial hyperexcitability followed by motor incoordination and sedation, a pattern conserved across many invertebrates.</a:t>
            </a:r>
          </a:p>
          <a:p>
            <a:pPr lvl="1" marL="685800" indent="-228600">
              <a:buChar char="–"/>
            </a:pPr>
            <a:r>
              <a:rPr lang="en-US" dirty="0"/>
              <a:t>Lower doses produce disinhibition, while higher doses produce incoordination and reduced activity.</a:t>
            </a:r>
          </a:p>
          <a:p>
            <a:pPr lvl="0" marL="342900" indent="-228600">
              <a:buChar char="•"/>
            </a:pPr>
            <a:r>
              <a:rPr lang="en-US" dirty="0"/>
              <a:t>The escape circuit reflects the early phase.</a:t>
            </a:r>
          </a:p>
          <a:p>
            <a:pPr lvl="1" marL="685800" indent="-228600">
              <a:buChar char="–"/>
            </a:pPr>
            <a:r>
              <a:rPr lang="en-US" dirty="0"/>
              <a:t>Intoxicated crayfish showed increased activity, including spontaneous tail flips in the absence of threat, before activity declined.</a:t>
            </a:r>
          </a:p>
          <a:p>
            <a:pPr lvl="1" marL="685800" indent="-228600">
              <a:buChar char="–"/>
            </a:pPr>
            <a:r>
              <a:rPr lang="en-US" dirty="0"/>
              <a:t>A larger sensory potential in an escape neuron offers a cellular correlate of that heightened responsiveness.</a:t>
            </a:r>
          </a:p>
          <a:p>
            <a:pPr lvl="0" marL="342900" indent="-228600">
              <a:buChar char="•"/>
            </a:pPr>
            <a:r>
              <a:rPr lang="en-US" dirty="0"/>
              <a:t>Dose matters for interpretation.</a:t>
            </a:r>
          </a:p>
          <a:p>
            <a:pPr lvl="1" marL="685800" indent="-228600">
              <a:buChar char="–"/>
            </a:pPr>
            <a:r>
              <a:rPr lang="en-US" dirty="0"/>
              <a:t>The 100 mM concentration exceeds blood levels that impair humans; the authors point out that concentrations in the normal biological range are often insufficient to evoke neurophysiological responses in many preparations.</a:t>
            </a:r>
          </a:p>
          <a:p>
            <a:pPr lvl="1" marL="685800" indent="-228600">
              <a:buChar char="–"/>
            </a:pPr>
            <a:r>
              <a:rPr lang="en-US" dirty="0"/>
              <a:t>The saline control on slide 37 rules out simple drift as the source of the increase.</a:t>
            </a:r>
          </a:p>
          <a:p>
            <a:pPr marL="0" indent="0" lvl="0">
              <a:buNone/>
            </a:pPr>
            <a:r>
              <a:rPr lang="en-US" dirty="0"/>
              <a:t/>
            </a:r>
          </a:p>
          <a:p>
            <a:pPr marL="0" indent="0" lvl="0">
              <a:buNone/>
            </a:pPr>
            <a:r>
              <a:rPr lang="en-US" dirty="0"/>
              <a:t>References:</a:t>
            </a:r>
          </a:p>
          <a:p>
            <a:pPr marL="0" indent="0" lvl="0">
              <a:buNone/>
            </a:pPr>
            <a:r>
              <a:rPr lang="en-US" dirty="0"/>
              <a:t>M. E. Swierzbinski; J. Herberholz (2018). Effects of ethanol on sensory inputs to the medial giant interneurons of crayfish. Frontiers in Physiology 9:448. https://doi.org/10.3389/fphys.2018.00448</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 41 reports that ethanol given after muscimol behaved differently from ethanol alone; the design is an occlusion test, a standard way to ask whether two treatments share a mechanism.</a:t>
            </a:r>
          </a:p>
          <a:p>
            <a:pPr lvl="0" marL="342900" indent="-228600">
              <a:buChar char="•"/>
            </a:pPr>
            <a:r>
              <a:rPr lang="en-US" dirty="0"/>
              <a:t>Occlusion relies on saturation.</a:t>
            </a:r>
          </a:p>
          <a:p>
            <a:pPr lvl="1" marL="685800" indent="-228600">
              <a:buChar char="–"/>
            </a:pPr>
            <a:r>
              <a:rPr lang="en-US" dirty="0"/>
              <a:t>If a target is already strongly engaged by the first treatment, a second treatment acting on the same target has little room to produce further change.</a:t>
            </a:r>
          </a:p>
          <a:p>
            <a:pPr lvl="1" marL="685800" indent="-228600">
              <a:buChar char="–"/>
            </a:pPr>
            <a:r>
              <a:rPr lang="en-US" dirty="0"/>
              <a:t>If the second treatment acts elsewhere, its effect should appear on top of the first.</a:t>
            </a:r>
          </a:p>
          <a:p>
            <a:pPr lvl="0" marL="342900" indent="-228600">
              <a:buChar char="•"/>
            </a:pPr>
            <a:r>
              <a:rPr lang="en-US" dirty="0"/>
              <a:t>The GABA connection motivated the test.</a:t>
            </a:r>
          </a:p>
          <a:p>
            <a:pPr lvl="1" marL="685800" indent="-228600">
              <a:buChar char="–"/>
            </a:pPr>
            <a:r>
              <a:rPr lang="en-US" dirty="0"/>
              <a:t>Swierzbinski and Herberholz focused on the GABAergic system because interactions between alcohol and GABA receptors have been described in many animal systems.</a:t>
            </a:r>
          </a:p>
          <a:p>
            <a:pPr lvl="1" marL="685800" indent="-228600">
              <a:buChar char="–"/>
            </a:pPr>
            <a:r>
              <a:rPr lang="en-US" dirty="0"/>
              <a:t>Picrotoxin on slide 39 and muscimol on slide 40 probed inhibitory signaling in the MG pathway from opposite directions.</a:t>
            </a:r>
          </a:p>
          <a:p>
            <a:pPr lvl="0" marL="342900" indent="-228600">
              <a:buChar char="•"/>
            </a:pPr>
            <a:r>
              <a:rPr lang="en-US" dirty="0"/>
              <a:t>The interpretation has an alternative.</a:t>
            </a:r>
          </a:p>
          <a:p>
            <a:pPr lvl="1" marL="685800" indent="-228600">
              <a:buChar char="–"/>
            </a:pPr>
            <a:r>
              <a:rPr lang="en-US" dirty="0"/>
              <a:t>Muscimol alone produced a delayed suppression during washout, so the preparation that received ethanol was already changing.</a:t>
            </a:r>
          </a:p>
          <a:p>
            <a:pPr lvl="1" marL="685800" indent="-228600">
              <a:buChar char="–"/>
            </a:pPr>
            <a:r>
              <a:rPr lang="en-US" dirty="0"/>
              <a:t>A shared target and an altered baseline state predict the same missing enhancement, and the experiment cannot fully separate them.</a:t>
            </a:r>
          </a:p>
          <a:p>
            <a:pPr marL="0" indent="0" lvl="0">
              <a:buNone/>
            </a:pPr>
            <a:r>
              <a:rPr lang="en-US" dirty="0"/>
              <a:t/>
            </a:r>
          </a:p>
          <a:p>
            <a:pPr marL="0" indent="0" lvl="0">
              <a:buNone/>
            </a:pPr>
            <a:r>
              <a:rPr lang="en-US" dirty="0"/>
              <a:t>References:</a:t>
            </a:r>
          </a:p>
          <a:p>
            <a:pPr marL="0" indent="0" lvl="0">
              <a:buNone/>
            </a:pPr>
            <a:r>
              <a:rPr lang="en-US" dirty="0"/>
              <a:t>M. E. Swierzbinski; J. Herberholz (2018). Effects of ethanol on sensory inputs to the medial giant interneurons of crayfish. Frontiers in Physiology 9:448. https://doi.org/10.3389/fphys.2018.00448</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pPr lvl="0" marL="342900" indent="-228600">
              <a:buChar char="•"/>
            </a:pPr>
            <a:r>
              <a:rPr lang="en-US" dirty="0"/>
              <a:t>Slides 42 to 44 use manganese-enhanced imaging to mark regions engaged by stimulation; the physics and cell biology of manganese explain both what the images can show and their limits.</a:t>
            </a:r>
          </a:p>
          <a:p>
            <a:pPr lvl="0" marL="342900" indent="-228600">
              <a:buChar char="•"/>
            </a:pPr>
            <a:r>
              <a:rPr lang="en-US" dirty="0"/>
              <a:t>Manganese is a calcium analog.</a:t>
            </a:r>
          </a:p>
          <a:p>
            <a:pPr lvl="1" marL="685800" indent="-228600">
              <a:buChar char="–"/>
            </a:pPr>
            <a:r>
              <a:rPr lang="en-US" dirty="0"/>
              <a:t>Herberholz and colleagues describe manganese as a calcium analog that accumulates inside cells after passing through calcium channels opened by depolarization.</a:t>
            </a:r>
          </a:p>
          <a:p>
            <a:pPr lvl="1" marL="685800" indent="-228600">
              <a:buChar char="–"/>
            </a:pPr>
            <a:r>
              <a:rPr lang="en-US" dirty="0"/>
              <a:t>Cells that open these channels more often during stimulation therefore take up more manganese.</a:t>
            </a:r>
          </a:p>
          <a:p>
            <a:pPr lvl="0" marL="342900" indent="-228600">
              <a:buChar char="•"/>
            </a:pPr>
            <a:r>
              <a:rPr lang="en-US" dirty="0"/>
              <a:t>Contrast comes from a magnetic property.</a:t>
            </a:r>
          </a:p>
          <a:p>
            <a:pPr lvl="1" marL="685800" indent="-228600">
              <a:buChar char="–"/>
            </a:pPr>
            <a:r>
              <a:rPr lang="en-US" dirty="0"/>
              <a:t>Manganese is paramagnetic and shortens the T1 relaxation time of the tissue that absorbs it, producing a bright signal in T1-weighted images.</a:t>
            </a:r>
          </a:p>
          <a:p>
            <a:pPr lvl="1" marL="685800" indent="-228600">
              <a:buChar char="–"/>
            </a:pPr>
            <a:r>
              <a:rPr lang="en-US" dirty="0"/>
              <a:t>The T2-weighted images on slide 43 emphasize different tissue properties, which is why they showed anatomy clearly but the side difference less discretely.</a:t>
            </a:r>
          </a:p>
          <a:p>
            <a:pPr lvl="0" marL="342900" indent="-228600">
              <a:buChar char="•"/>
            </a:pPr>
            <a:r>
              <a:rPr lang="en-US" dirty="0"/>
              <a:t>Transport complicates interpretation.</a:t>
            </a:r>
          </a:p>
          <a:p>
            <a:pPr lvl="1" marL="685800" indent="-228600">
              <a:buChar char="–"/>
            </a:pPr>
            <a:r>
              <a:rPr lang="en-US" dirty="0"/>
              <a:t>Manganese entering active neurons is transported along axons and, more slowly, across synapses to the following neurons.</a:t>
            </a:r>
          </a:p>
          <a:p>
            <a:pPr lvl="1" marL="685800" indent="-228600">
              <a:buChar char="–"/>
            </a:pPr>
            <a:r>
              <a:rPr lang="en-US" dirty="0"/>
              <a:t>The authors point out that all active neurons take up manganese, so distinguishing the stimulated ensemble requires comparisons such as the unstimulated animal.</a:t>
            </a:r>
          </a:p>
          <a:p>
            <a:pPr marL="0" indent="0" lvl="0">
              <a:buNone/>
            </a:pPr>
            <a:r>
              <a:rPr lang="en-US" dirty="0"/>
              <a:t/>
            </a:r>
          </a:p>
          <a:p>
            <a:pPr marL="0" indent="0" lvl="0">
              <a:buNone/>
            </a:pPr>
            <a:r>
              <a:rPr lang="en-US" dirty="0"/>
              <a:t>References:</a:t>
            </a:r>
          </a:p>
          <a:p>
            <a:pPr marL="0" indent="0" lvl="0">
              <a:buNone/>
            </a:pPr>
            <a:r>
              <a:rPr lang="en-US" dirty="0"/>
              <a:t>J. Herberholz; S. H. Mishra; D. Uma; M. W. Germann; D. H. Edwards; K. Potter (2011). Non-invasive imaging of neuroanatomical structures and neural activation with high-resolution MRI. Frontiers in Behavioral Neuroscience 5:16. https://doi.org/10.3389/fnbeh.2011.00016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8.png"/><Relationship Id="rId3" Type="http://schemas.openxmlformats.org/officeDocument/2006/relationships/image" Target="../media/Presenton_Native_Image_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1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0.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0.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28.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4.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32.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2.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11.png"/><Relationship Id="rId3" Type="http://schemas.openxmlformats.org/officeDocument/2006/relationships/image" Target="../media/Presenton_Native_Image_48.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0.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1.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54.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55.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57.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59.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6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63.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9.png"/><Relationship Id="rId3" Type="http://schemas.openxmlformats.org/officeDocument/2006/relationships/image" Target="../media/Presenton_Native_Image_65.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7.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8.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69.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Presenton_Native_Image_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Presenton_Native_Image_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Presenton_Native_Image_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Presenton_Native_Image_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Presenton_Native_Image_1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Presenton_Native_Image_2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Presenton_Native_Image_4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Presenton_Native_Image_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Presenton_Native_Image_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Presenton_Native_Image_5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Presenton_Native_Image_5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Presenton_Native_Image_55.png"/><Relationship Id="rId4" Type="http://schemas.openxmlformats.org/officeDocument/2006/relationships/image" Target="../media/Presenton_Native_Image_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Presenton_Native_Image_5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Presenton_Native_Image_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Presenton_Native_Image_6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54" name="Shape 554"/>
          <p:cNvSpPr/>
          <p:nvPr/>
        </p:nvSpPr>
        <p:spPr>
          <a:xfrm>
            <a:off x="0" y="0"/>
            <a:ext cx="6096000" cy="6858000"/>
          </a:xfrm>
          <a:prstGeom prst="rect">
            <a:avLst/>
          </a:prstGeom>
          <a:solidFill>
            <a:srgbClr val="0B2A45"/>
          </a:solidFill>
        </p:spPr>
        <p:txBody>
          <a:bodyPr/>
          <a:lstStyle/>
          <a:p/>
        </p:txBody>
      </p:sp>
      <p:sp>
        <p:nvSpPr>
          <p:cNvPr id="555" name="Shape 555"/>
          <p:cNvSpPr/>
          <p:nvPr/>
        </p:nvSpPr>
        <p:spPr>
          <a:xfrm>
            <a:off x="571500" y="1900238"/>
            <a:ext cx="4972050" cy="257175"/>
          </a:xfrm>
          <a:prstGeom prst="rect">
            <a:avLst/>
          </a:prstGeom>
          <a:noFill/>
        </p:spPr>
        <p:txBody>
          <a:bodyPr anchor="t" wrap="square" tIns="0" bIns="0" lIns="0" rIns="0">
            <a:normAutofit/>
          </a:bodyPr>
          <a:lstStyle/>
          <a:p>
            <a:pPr algn="l">
              <a:lnSpc>
                <a:spcPts val="2025"/>
              </a:lnSpc>
              <a:buNone/>
            </a:pPr>
            <a:r>
              <a:rPr sz="1350" b="0" i="0">
                <a:solidFill>
                  <a:srgbClr val="9FC4DE"/>
                </a:solidFill>
                <a:latin typeface="Arial"/>
                <a:ea typeface="Arial"/>
              </a:rPr>
              <a:t>NEUR 411 · NEUROETHOLOGY · FALL 2026 · Lecture 4</a:t>
            </a:r>
            <a:endParaRPr lang="en-US"/>
          </a:p>
        </p:txBody>
      </p:sp>
      <p:sp>
        <p:nvSpPr>
          <p:cNvPr id="556" name="Shape 556"/>
          <p:cNvSpPr/>
          <p:nvPr/>
        </p:nvSpPr>
        <p:spPr>
          <a:xfrm>
            <a:off x="571500" y="2443163"/>
            <a:ext cx="4972050" cy="1371600"/>
          </a:xfrm>
          <a:prstGeom prst="rect">
            <a:avLst/>
          </a:prstGeom>
          <a:noFill/>
        </p:spPr>
        <p:txBody>
          <a:bodyPr anchor="t" wrap="square" tIns="0" bIns="0" lIns="0" rIns="0">
            <a:normAutofit/>
          </a:bodyPr>
          <a:lstStyle/>
          <a:p>
            <a:pPr algn="l">
              <a:lnSpc>
                <a:spcPts val="3600"/>
              </a:lnSpc>
              <a:buNone/>
            </a:pPr>
            <a:r>
              <a:rPr sz="3000" b="1" i="0">
                <a:solidFill>
                  <a:srgbClr val="FFFFFF"/>
                </a:solidFill>
                <a:latin typeface="Arial"/>
                <a:ea typeface="Arial"/>
              </a:rPr>
              <a:t xml:space="preserve">Crayfish tail-flip: lateral and medial giant fiber circuits (Wine </a:t>
            </a:r>
            <a:r>
              <a:rPr sz="3000" b="1" i="0">
                <a:solidFill>
                  <a:srgbClr val="FFFFFF"/>
                </a:solidFill>
                <a:latin typeface="Arial"/>
                <a:ea typeface="Arial"/>
              </a:rPr>
              <a:t>&amp;</a:t>
            </a:r>
            <a:r>
              <a:rPr sz="3000" b="1" i="0">
                <a:solidFill>
                  <a:srgbClr val="FFFFFF"/>
                </a:solidFill>
                <a:latin typeface="Arial"/>
                <a:ea typeface="Arial"/>
              </a:rPr>
              <a:t xml:space="preserve"> Krasne)</a:t>
            </a:r>
            <a:endParaRPr lang="en-US"/>
          </a:p>
        </p:txBody>
      </p:sp>
      <p:sp>
        <p:nvSpPr>
          <p:cNvPr id="557" name="Shape 557"/>
          <p:cNvSpPr/>
          <p:nvPr/>
        </p:nvSpPr>
        <p:spPr>
          <a:xfrm>
            <a:off x="571500" y="4157663"/>
            <a:ext cx="4972050" cy="314325"/>
          </a:xfrm>
          <a:prstGeom prst="rect">
            <a:avLst/>
          </a:prstGeom>
          <a:noFill/>
        </p:spPr>
        <p:txBody>
          <a:bodyPr anchor="t" wrap="square" tIns="0" bIns="0" lIns="0" rIns="0">
            <a:normAutofit/>
          </a:bodyPr>
          <a:lstStyle/>
          <a:p>
            <a:pPr algn="l">
              <a:lnSpc>
                <a:spcPts val="2475"/>
              </a:lnSpc>
              <a:buNone/>
            </a:pPr>
            <a:r>
              <a:rPr sz="1650" b="0" i="0">
                <a:solidFill>
                  <a:srgbClr val="9FC4DE"/>
                </a:solidFill>
                <a:latin typeface="Arial"/>
                <a:ea typeface="Arial"/>
              </a:rPr>
              <a:t>Monday, August 31, 2026</a:t>
            </a:r>
            <a:endParaRPr lang="en-US"/>
          </a:p>
        </p:txBody>
      </p:sp>
      <p:sp>
        <p:nvSpPr>
          <p:cNvPr id="558" name="Shape 558"/>
          <p:cNvSpPr/>
          <p:nvPr/>
        </p:nvSpPr>
        <p:spPr>
          <a:xfrm>
            <a:off x="571500" y="4700588"/>
            <a:ext cx="4972050" cy="257175"/>
          </a:xfrm>
          <a:prstGeom prst="rect">
            <a:avLst/>
          </a:prstGeom>
          <a:noFill/>
        </p:spPr>
        <p:txBody>
          <a:bodyPr anchor="t" wrap="square" tIns="0" bIns="0" lIns="0" rIns="0">
            <a:normAutofit/>
          </a:bodyPr>
          <a:lstStyle/>
          <a:p>
            <a:pPr algn="l">
              <a:lnSpc>
                <a:spcPts val="2025"/>
              </a:lnSpc>
              <a:buNone/>
            </a:pPr>
            <a:r>
              <a:rPr sz="1350" b="0" i="0">
                <a:solidFill>
                  <a:srgbClr val="FFFFFF"/>
                </a:solidFill>
                <a:latin typeface="Arial"/>
                <a:ea typeface="Arial"/>
              </a:rPr>
              <a:t>Jordan Lopez, Ph.D.</a:t>
            </a:r>
            <a:endParaRPr lang="en-US"/>
          </a:p>
        </p:txBody>
      </p:sp>
      <p:pic>
        <p:nvPicPr>
          <p:cNvPr id="188" name="Presenton Native Image 1" descr=""/>
          <p:cNvPicPr/>
          <p:nvPr/>
        </p:nvPicPr>
        <p:blipFill>
          <a:blip r:embed="rId2" cstate="none"/>
          <a:stretch>
            <a:fillRect/>
          </a:stretch>
        </p:blipFill>
        <p:spPr>
          <a:xfrm>
            <a:off x="6477000" y="1670062"/>
            <a:ext cx="5238750" cy="2813025"/>
          </a:xfrm>
          <a:prstGeom prst="rect">
            <a:avLst/>
          </a:prstGeom>
        </p:spPr>
      </p:pic>
      <p:sp>
        <p:nvSpPr>
          <p:cNvPr id="559" name="Shape 559"/>
          <p:cNvSpPr/>
          <p:nvPr/>
        </p:nvSpPr>
        <p:spPr>
          <a:xfrm>
            <a:off x="6477000" y="5810250"/>
            <a:ext cx="52578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1(B). Juvenile Procambarus clarkii used in the imaging study.</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60" name="Shape 56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Two giant pathways produce different escape trajectories</a:t>
            </a:r>
            <a:endParaRPr lang="en-US"/>
          </a:p>
        </p:txBody>
      </p:sp>
      <p:sp>
        <p:nvSpPr>
          <p:cNvPr id="561" name="Shape 561"/>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tail flip</a:t>
            </a:r>
            <a:r>
              <a:rPr sz="1500" b="0" i="0">
                <a:solidFill>
                  <a:srgbClr val="1C242C"/>
                </a:solidFill>
                <a:latin typeface="Arial"/>
                <a:ea typeface="Arial"/>
              </a:rPr>
              <a:t xml:space="preserve"> is a rapid abdominal flexion that propels a crayfish through water. Wine and Krasne studied </a:t>
            </a:r>
            <a:r>
              <a:rPr sz="1500" b="0" i="1">
                <a:solidFill>
                  <a:srgbClr val="1C242C"/>
                </a:solidFill>
                <a:latin typeface="Arial"/>
                <a:ea typeface="Arial"/>
              </a:rPr>
              <a:t>Procambarus clarkii</a:t>
            </a:r>
            <a:r>
              <a:rPr sz="1500" b="0" i="0">
                <a:solidFill>
                  <a:srgbClr val="1C242C"/>
                </a:solidFill>
                <a:latin typeface="Arial"/>
                <a:ea typeface="Arial"/>
              </a:rPr>
              <a:t xml:space="preserve"> with chronically implanted electrodes and high-speed film. The </a:t>
            </a:r>
            <a:r>
              <a:rPr sz="1500" b="1" i="0">
                <a:solidFill>
                  <a:srgbClr val="1C242C"/>
                </a:solidFill>
                <a:latin typeface="Arial"/>
                <a:ea typeface="Arial"/>
              </a:rPr>
              <a:t>lateral giant</a:t>
            </a:r>
            <a:r>
              <a:rPr sz="1500" b="0" i="0">
                <a:solidFill>
                  <a:srgbClr val="1C242C"/>
                </a:solidFill>
                <a:latin typeface="Arial"/>
                <a:ea typeface="Arial"/>
              </a:rPr>
              <a:t xml:space="preserve">, or LG, and </a:t>
            </a:r>
            <a:r>
              <a:rPr sz="1500" b="1" i="0">
                <a:solidFill>
                  <a:srgbClr val="1C242C"/>
                </a:solidFill>
                <a:latin typeface="Arial"/>
                <a:ea typeface="Arial"/>
              </a:rPr>
              <a:t>medial giant</a:t>
            </a:r>
            <a:r>
              <a:rPr sz="1500" b="0" i="0">
                <a:solidFill>
                  <a:srgbClr val="1C242C"/>
                </a:solidFill>
                <a:latin typeface="Arial"/>
                <a:ea typeface="Arial"/>
              </a:rPr>
              <a:t>, or MG, are large interneurons that recruit different escape movements.</a:t>
            </a:r>
            <a:endParaRPr lang="en-US"/>
          </a:p>
        </p:txBody>
      </p:sp>
      <p:sp>
        <p:nvSpPr>
          <p:cNvPr id="562" name="Shape 562"/>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 abdominal tap commonly activated LG and produced forward pitching with upward displacement. An anterior stimulus commonly activated MG and produced a backward dart. The published movement sequences retain frames approximately 10 ms apart, allowing the two trajectories to be compared with recorded giant-fiber activity.</a:t>
            </a:r>
            <a:endParaRPr lang="en-US"/>
          </a:p>
        </p:txBody>
      </p:sp>
      <p:sp>
        <p:nvSpPr>
          <p:cNvPr id="563" name="Shape 563"/>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response depends on which circuit is recruited, rather than abdominal flexion having one obligatory direction. These experiments connected neural signals with freely moving behavior; they did not identify every synapse contributing to each appendage movement.</a:t>
            </a:r>
            <a:endParaRPr lang="en-US"/>
          </a:p>
        </p:txBody>
      </p:sp>
      <p:pic>
        <p:nvPicPr>
          <p:cNvPr id="189" name="Presenton Native Image 2" descr=""/>
          <p:cNvPicPr/>
          <p:nvPr/>
        </p:nvPicPr>
        <p:blipFill>
          <a:blip r:embed="rId2" cstate="none"/>
          <a:stretch>
            <a:fillRect/>
          </a:stretch>
        </p:blipFill>
        <p:spPr>
          <a:xfrm>
            <a:off x="7736971" y="1055340"/>
            <a:ext cx="2795007" cy="4000500"/>
          </a:xfrm>
          <a:prstGeom prst="rect">
            <a:avLst/>
          </a:prstGeom>
        </p:spPr>
      </p:pic>
      <p:sp>
        <p:nvSpPr>
          <p:cNvPr id="564" name="Shape 56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5. Original tracings of filmed lateral- and medial-giant tail flips.</a:t>
            </a:r>
            <a:endParaRPr lang="en-US"/>
          </a:p>
        </p:txBody>
      </p:sp>
      <p:sp>
        <p:nvSpPr>
          <p:cNvPr id="565" name="Shape 565"/>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66" name="Shape 566"/>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67" name="Shape 56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Implanted recordings identify the active giant pathway</a:t>
            </a:r>
            <a:endParaRPr lang="en-US"/>
          </a:p>
        </p:txBody>
      </p:sp>
      <p:sp>
        <p:nvSpPr>
          <p:cNvPr id="568" name="Shape 568"/>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Wine and Krasne implanted pairs of 0.5 mm silver-ball electrodes near the nerve cord of crayfish 6–8 cm long. An </a:t>
            </a:r>
            <a:r>
              <a:rPr sz="1500" b="1" i="0">
                <a:solidFill>
                  <a:srgbClr val="1C242C"/>
                </a:solidFill>
                <a:latin typeface="Arial"/>
                <a:ea typeface="Arial"/>
              </a:rPr>
              <a:t>extracellular recording</a:t>
            </a:r>
            <a:r>
              <a:rPr sz="1500" b="0" i="0">
                <a:solidFill>
                  <a:srgbClr val="1C242C"/>
                </a:solidFill>
                <a:latin typeface="Arial"/>
                <a:ea typeface="Arial"/>
              </a:rPr>
              <a:t xml:space="preserve"> measures voltage outside neurons and can detect passing action potentials. The animals subsequently moved freely while their escape responses were recorded.</a:t>
            </a:r>
            <a:endParaRPr lang="en-US"/>
          </a:p>
        </p:txBody>
      </p:sp>
      <p:sp>
        <p:nvSpPr>
          <p:cNvPr id="569" name="Shape 569"/>
          <p:cNvSpPr/>
          <p:nvPr/>
        </p:nvSpPr>
        <p:spPr>
          <a:xfrm>
            <a:off x="457200" y="2455515"/>
            <a:ext cx="582930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Recordings from the anterior connectives and second abdominal segment separated descending MG activity from ascending LG activity. Spike polarity, relative amplitude, propagation direction, and escape trajectory provided converging identification criteria. Direct stimulation of visually identified giant fibers after behavioral testing checked the interpretation of the earlier records.</a:t>
            </a:r>
            <a:endParaRPr lang="en-US"/>
          </a:p>
        </p:txBody>
      </p:sp>
      <p:sp>
        <p:nvSpPr>
          <p:cNvPr id="570" name="Shape 570"/>
          <p:cNvSpPr/>
          <p:nvPr/>
        </p:nvSpPr>
        <p:spPr>
          <a:xfrm>
            <a:off x="457200" y="43700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Giant spikes preceded major abdominal muscle potentials by about 2 ms. This timing supports a rapid neural-to-motor sequence, but an extracellular muscle potential is not itself the onset of body displacement. Ambiguous records were not treated as definitive evidence of pathway identity.</a:t>
            </a:r>
            <a:endParaRPr lang="en-US"/>
          </a:p>
        </p:txBody>
      </p:sp>
      <p:pic>
        <p:nvPicPr>
          <p:cNvPr id="190" name="Presenton Native Image 3" descr=""/>
          <p:cNvPicPr/>
          <p:nvPr/>
        </p:nvPicPr>
        <p:blipFill>
          <a:blip r:embed="rId2" cstate="none"/>
          <a:stretch>
            <a:fillRect/>
          </a:stretch>
        </p:blipFill>
        <p:spPr>
          <a:xfrm>
            <a:off x="6610350" y="1337314"/>
            <a:ext cx="5048250" cy="3436553"/>
          </a:xfrm>
          <a:prstGeom prst="rect">
            <a:avLst/>
          </a:prstGeom>
        </p:spPr>
      </p:pic>
      <p:sp>
        <p:nvSpPr>
          <p:cNvPr id="571" name="Shape 57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2. Simultaneous connective and abdominal recordings of giant-fiber activity.</a:t>
            </a:r>
            <a:endParaRPr lang="en-US"/>
          </a:p>
        </p:txBody>
      </p:sp>
      <p:sp>
        <p:nvSpPr>
          <p:cNvPr id="572" name="Shape 572"/>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73" name="Shape 573"/>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74" name="Shape 57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Abruptness recruits giants more reliably than intensity</a:t>
            </a:r>
            <a:endParaRPr lang="en-US"/>
          </a:p>
        </p:txBody>
      </p:sp>
      <p:sp>
        <p:nvSpPr>
          <p:cNvPr id="575" name="Shape 575"/>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phasic stimulus</a:t>
            </a:r>
            <a:r>
              <a:rPr sz="1500" b="0" i="0">
                <a:solidFill>
                  <a:srgbClr val="1C242C"/>
                </a:solidFill>
                <a:latin typeface="Arial"/>
                <a:ea typeface="Arial"/>
              </a:rPr>
              <a:t xml:space="preserve"> changes abruptly rather than remaining sustained or rising gradually. Wine and Krasne compared abdominal taps with pinches whose pressure rose over 0.5–1 s. Stimuli were separated by five minutes, and tap strength was adjusted to make overall response probability comparable to pinching.</a:t>
            </a:r>
            <a:endParaRPr lang="en-US"/>
          </a:p>
        </p:txBody>
      </p:sp>
      <p:sp>
        <p:nvSpPr>
          <p:cNvPr id="576" name="Shape 576"/>
          <p:cNvSpPr/>
          <p:nvPr/>
        </p:nvSpPr>
        <p:spPr>
          <a:xfrm>
            <a:off x="457200" y="2712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two stimulus types produced similar frequencies of tail flips, yet taps usually recruited giant activity whereas pinches usually did not. Freely moving crayfish could respond to very light taps. For LG responses, the median latency from mechanical contact to the first giant spike was 7 ms.</a:t>
            </a:r>
            <a:endParaRPr lang="en-US"/>
          </a:p>
        </p:txBody>
      </p:sp>
      <p:sp>
        <p:nvSpPr>
          <p:cNvPr id="577" name="Shape 577"/>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These findings associate giant recruitment with stimulus timing, rather than a simple requirement for damaging intensity. The latency graph compares giant spikes with first major muscle potentials for nongiant responses, so its response markers are related but not identical.</a:t>
            </a:r>
            <a:endParaRPr lang="en-US"/>
          </a:p>
        </p:txBody>
      </p:sp>
      <p:pic>
        <p:nvPicPr>
          <p:cNvPr id="191" name="Presenton Native Image 4" descr=""/>
          <p:cNvPicPr/>
          <p:nvPr/>
        </p:nvPicPr>
        <p:blipFill>
          <a:blip r:embed="rId2" cstate="none"/>
          <a:stretch>
            <a:fillRect/>
          </a:stretch>
        </p:blipFill>
        <p:spPr>
          <a:xfrm>
            <a:off x="6610350" y="1334210"/>
            <a:ext cx="5048250" cy="3442760"/>
          </a:xfrm>
          <a:prstGeom prst="rect">
            <a:avLst/>
          </a:prstGeom>
        </p:spPr>
      </p:pic>
      <p:sp>
        <p:nvSpPr>
          <p:cNvPr id="578" name="Shape 578"/>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4. Original distributions of giant-spike and nongiant muscle-response latency.</a:t>
            </a:r>
            <a:endParaRPr lang="en-US"/>
          </a:p>
        </p:txBody>
      </p:sp>
      <p:sp>
        <p:nvSpPr>
          <p:cNvPr id="579" name="Shape 579"/>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80" name="Shape 580"/>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1" name="Shape 5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The initiating flip and later swimming use different paths</a:t>
            </a:r>
            <a:endParaRPr lang="en-US"/>
          </a:p>
        </p:txBody>
      </p:sp>
      <p:sp>
        <p:nvSpPr>
          <p:cNvPr id="582" name="Shape 582"/>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Nongiant escape</a:t>
            </a:r>
            <a:r>
              <a:rPr sz="1500" b="0" i="0">
                <a:solidFill>
                  <a:srgbClr val="1C242C"/>
                </a:solidFill>
                <a:latin typeface="Arial"/>
                <a:ea typeface="Arial"/>
              </a:rPr>
              <a:t xml:space="preserve"> is a tail flip produced without detected activity in either giant-fiber pathway. Wine and Krasne recorded sequences in which an anterior tap triggered an MG spike or an abdominal tap triggered an LG spike. Subsequent flexions generally occurred without corresponding giant spikes.</a:t>
            </a:r>
            <a:endParaRPr lang="en-US"/>
          </a:p>
        </p:txBody>
      </p:sp>
      <p:sp>
        <p:nvSpPr>
          <p:cNvPr id="583" name="Shape 583"/>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implanted cord recordings retained both the large initial neural event and later muscle activity. In one sequence, swimming resumed after a 350 ms pause with a nongiant first flip. A sequence of similar-looking flexions therefore need not be a sequence of giant-mediated reflexes.</a:t>
            </a:r>
            <a:endParaRPr lang="en-US"/>
          </a:p>
        </p:txBody>
      </p:sp>
      <p:sp>
        <p:nvSpPr>
          <p:cNvPr id="584" name="Shape 584"/>
          <p:cNvSpPr/>
          <p:nvPr/>
        </p:nvSpPr>
        <p:spPr>
          <a:xfrm>
            <a:off x="457200" y="3855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giant circuits primarily initiated rapid escape in these observations, while nongiant circuits supported repeated swimming. Occasional giant activity during swimming could accompany a new collision or stimulus; the recordings do not establish absolute silence of giants during every possible swimming sequence.</a:t>
            </a:r>
            <a:endParaRPr lang="en-US"/>
          </a:p>
        </p:txBody>
      </p:sp>
      <p:pic>
        <p:nvPicPr>
          <p:cNvPr id="192" name="Presenton Native Image 5" descr=""/>
          <p:cNvPicPr/>
          <p:nvPr/>
        </p:nvPicPr>
        <p:blipFill>
          <a:blip r:embed="rId2" cstate="none"/>
          <a:stretch>
            <a:fillRect/>
          </a:stretch>
        </p:blipFill>
        <p:spPr>
          <a:xfrm>
            <a:off x="6610350" y="1211396"/>
            <a:ext cx="5048250" cy="3688389"/>
          </a:xfrm>
          <a:prstGeom prst="rect">
            <a:avLst/>
          </a:prstGeom>
        </p:spPr>
      </p:pic>
      <p:sp>
        <p:nvSpPr>
          <p:cNvPr id="585" name="Shape 58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3(A,B). Giant-mediated initial responses followed by nongiant swimming.</a:t>
            </a:r>
            <a:endParaRPr lang="en-US"/>
          </a:p>
        </p:txBody>
      </p:sp>
      <p:sp>
        <p:nvSpPr>
          <p:cNvPr id="586" name="Shape 586"/>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87" name="Shape 58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5</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88" name="Shape 58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Nongiant swimming permits varied abdominal movements</a:t>
            </a:r>
            <a:endParaRPr lang="en-US"/>
          </a:p>
        </p:txBody>
      </p:sp>
      <p:sp>
        <p:nvSpPr>
          <p:cNvPr id="589" name="Shape 589"/>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truncated tail flip</a:t>
            </a:r>
            <a:r>
              <a:rPr sz="1500" b="0" i="0">
                <a:solidFill>
                  <a:srgbClr val="1C242C"/>
                </a:solidFill>
                <a:latin typeface="Arial"/>
                <a:ea typeface="Arial"/>
              </a:rPr>
              <a:t xml:space="preserve"> stops before completing full flexion or re-extension. Wine and Krasne filmed nongiant swimming and observed truncated movements, changes of direction, and flexions resembling either giant-mediated trajectory. Their published sequence contains tracings separated by about 10 ms.</a:t>
            </a:r>
            <a:endParaRPr lang="en-US"/>
          </a:p>
        </p:txBody>
      </p:sp>
      <p:sp>
        <p:nvSpPr>
          <p:cNvPr id="590" name="Shape 590"/>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Cord recordings associated most successive swimming flexions with nongiant activity. Nongiant responses to gradual stimulation had much longer latencies than giant-mediated responses, when a meaningful onset could be assigned. Some nongiant flips occurred without an immediately preceding abrupt stimulus.</a:t>
            </a:r>
            <a:endParaRPr lang="en-US"/>
          </a:p>
        </p:txBody>
      </p:sp>
      <p:sp>
        <p:nvSpPr>
          <p:cNvPr id="591" name="Shape 591"/>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flexibility supports parallel motor-control pathways beyond the giants. The authors proposed that longer latency permits more sensory guidance, but their behavioral observations did not directly measure every guidance signal. Longer latency and variable trajectory do not establish conscious choice or eliminate the possibility of stereotyped components.</a:t>
            </a:r>
            <a:endParaRPr lang="en-US"/>
          </a:p>
        </p:txBody>
      </p:sp>
      <p:pic>
        <p:nvPicPr>
          <p:cNvPr id="193" name="Presenton Native Image 6" descr=""/>
          <p:cNvPicPr/>
          <p:nvPr/>
        </p:nvPicPr>
        <p:blipFill>
          <a:blip r:embed="rId2" cstate="none"/>
          <a:stretch>
            <a:fillRect/>
          </a:stretch>
        </p:blipFill>
        <p:spPr>
          <a:xfrm>
            <a:off x="6610350" y="1919876"/>
            <a:ext cx="5048250" cy="2271429"/>
          </a:xfrm>
          <a:prstGeom prst="rect">
            <a:avLst/>
          </a:prstGeom>
        </p:spPr>
      </p:pic>
      <p:sp>
        <p:nvSpPr>
          <p:cNvPr id="592" name="Shape 59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6. Filmed truncated tail flip during a swimming sequence.</a:t>
            </a:r>
            <a:endParaRPr lang="en-US"/>
          </a:p>
        </p:txBody>
      </p:sp>
      <p:sp>
        <p:nvSpPr>
          <p:cNvPr id="593" name="Shape 593"/>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594" name="Shape 594"/>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6</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595" name="Shape 59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Cord lesions separate nongiant initiation from local escape</a:t>
            </a:r>
            <a:endParaRPr lang="en-US"/>
          </a:p>
        </p:txBody>
      </p:sp>
      <p:sp>
        <p:nvSpPr>
          <p:cNvPr id="596" name="Shape 596"/>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transection</a:t>
            </a:r>
            <a:r>
              <a:rPr sz="1500" b="0" i="0">
                <a:solidFill>
                  <a:srgbClr val="1C242C"/>
                </a:solidFill>
                <a:latin typeface="Arial"/>
                <a:ea typeface="Arial"/>
              </a:rPr>
              <a:t xml:space="preserve"> severs a neural pathway to test whether signals crossing it are required for a response. Wine and Krasne cut the crayfish nerve cord at several levels and tested responses to taps, gradual caudal stimuli, and swimming. They spared nearby arteries during the operations.</a:t>
            </a:r>
            <a:endParaRPr lang="en-US"/>
          </a:p>
        </p:txBody>
      </p:sp>
      <p:sp>
        <p:nvSpPr>
          <p:cNvPr id="597" name="Shape 597"/>
          <p:cNvSpPr/>
          <p:nvPr/>
        </p:nvSpPr>
        <p:spPr>
          <a:xfrm>
            <a:off x="457200" y="2455515"/>
            <a:ext cx="582930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Cuts below the suboesophageal ganglion complex abolished ordinary nongiant responses to gradual caudal stimulation and sustained swimming, while local giant-mediated responses to abdominal taps persisted. Cutting above that complex could leave nongiant responsiveness available. Some caudal nongiant responses returned after approximately a week following lower cuts.</a:t>
            </a:r>
            <a:endParaRPr lang="en-US"/>
          </a:p>
        </p:txBody>
      </p:sp>
      <p:sp>
        <p:nvSpPr>
          <p:cNvPr id="598" name="Shape 598"/>
          <p:cNvSpPr/>
          <p:nvPr/>
        </p:nvSpPr>
        <p:spPr>
          <a:xfrm>
            <a:off x="457200" y="43700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pattern supports an important initiating or facilitating contribution from anterior ganglia. Recovery and segmental responsiveness prevent a claim that all nongiant tail flips require one exclusive command site. Lesions identify pathway dependence but cannot alone distinguish initiation from tonic facilitation.</a:t>
            </a:r>
            <a:endParaRPr lang="en-US"/>
          </a:p>
        </p:txBody>
      </p:sp>
      <p:pic>
        <p:nvPicPr>
          <p:cNvPr id="194" name="Presenton Native Image 7" descr=""/>
          <p:cNvPicPr/>
          <p:nvPr/>
        </p:nvPicPr>
        <p:blipFill>
          <a:blip r:embed="rId2" cstate="none"/>
          <a:stretch>
            <a:fillRect/>
          </a:stretch>
        </p:blipFill>
        <p:spPr>
          <a:xfrm>
            <a:off x="6610350" y="2121278"/>
            <a:ext cx="5048250" cy="1868624"/>
          </a:xfrm>
          <a:prstGeom prst="rect">
            <a:avLst/>
          </a:prstGeom>
        </p:spPr>
      </p:pic>
      <p:sp>
        <p:nvSpPr>
          <p:cNvPr id="599" name="Shape 59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8. Published locations of nerve-cord transections.</a:t>
            </a:r>
            <a:endParaRPr lang="en-US"/>
          </a:p>
        </p:txBody>
      </p:sp>
      <p:sp>
        <p:nvSpPr>
          <p:cNvPr id="600" name="Shape 600"/>
          <p:cNvSpPr/>
          <p:nvPr/>
        </p:nvSpPr>
        <p:spPr>
          <a:xfrm>
            <a:off x="457200" y="6462713"/>
            <a:ext cx="125789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a:t>
            </a:r>
            <a:endParaRPr lang="en-US"/>
          </a:p>
        </p:txBody>
      </p:sp>
      <p:sp>
        <p:nvSpPr>
          <p:cNvPr id="601" name="Shape 601"/>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7</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02" name="Shape 60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Medial giants originate anteriorly and descend the cord</a:t>
            </a:r>
            <a:endParaRPr lang="en-US"/>
          </a:p>
        </p:txBody>
      </p:sp>
      <p:sp>
        <p:nvSpPr>
          <p:cNvPr id="603" name="Shape 603"/>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 paired MG neurons originate in the brain, cross the midline, and continue along the ventral nerve cord to the final abdominal ganglion. </a:t>
            </a:r>
            <a:r>
              <a:rPr sz="1500" b="1" i="0">
                <a:solidFill>
                  <a:srgbClr val="1C242C"/>
                </a:solidFill>
                <a:latin typeface="Arial"/>
                <a:ea typeface="Arial"/>
              </a:rPr>
              <a:t>Decussation</a:t>
            </a:r>
            <a:r>
              <a:rPr sz="1500" b="0" i="0">
                <a:solidFill>
                  <a:srgbClr val="1C242C"/>
                </a:solidFill>
                <a:latin typeface="Arial"/>
                <a:ea typeface="Arial"/>
              </a:rPr>
              <a:t xml:space="preserve"> means crossing from one side of the nervous system to the other. Wine and Krasne related this anatomy to anterior receptive fields and descending recorded activity.</a:t>
            </a:r>
            <a:endParaRPr lang="en-US"/>
          </a:p>
        </p:txBody>
      </p:sp>
      <p:sp>
        <p:nvSpPr>
          <p:cNvPr id="604" name="Shape 604"/>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MG axons can reach approximately 200 μm in diameter in the connectives surrounding the oesophagus, tapering in the abdomen. Rostral taps and sufficiently rapid approaching visual objects activated MG in free animals. Gradual anterior stimuli more often recruited nongiant responses.</a:t>
            </a:r>
            <a:endParaRPr lang="en-US"/>
          </a:p>
        </p:txBody>
      </p:sp>
      <p:sp>
        <p:nvSpPr>
          <p:cNvPr id="605" name="Shape 605"/>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Anatomical position and propagation direction support the identification of an anterior escape pathway. They do not establish that every anterior sensory modality uses the same synapse. Modern antenna II recordings isolate one sensory route, whereas the intact-animal stimuli often contained several physical components.</a:t>
            </a:r>
            <a:endParaRPr lang="en-US"/>
          </a:p>
        </p:txBody>
      </p:sp>
      <p:pic>
        <p:nvPicPr>
          <p:cNvPr id="195" name="Presenton Native Image 8" descr=""/>
          <p:cNvPicPr/>
          <p:nvPr/>
        </p:nvPicPr>
        <p:blipFill>
          <a:blip r:embed="rId2" cstate="none"/>
          <a:stretch>
            <a:fillRect/>
          </a:stretch>
        </p:blipFill>
        <p:spPr>
          <a:xfrm>
            <a:off x="7287995" y="1055340"/>
            <a:ext cx="3521510" cy="2190750"/>
          </a:xfrm>
          <a:prstGeom prst="rect">
            <a:avLst/>
          </a:prstGeom>
        </p:spPr>
      </p:pic>
      <p:sp>
        <p:nvSpPr>
          <p:cNvPr id="606" name="Shape 606"/>
          <p:cNvSpPr/>
          <p:nvPr/>
        </p:nvSpPr>
        <p:spPr>
          <a:xfrm>
            <a:off x="6362700" y="3322290"/>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Wine </a:t>
            </a:r>
            <a:r>
              <a:rPr sz="1050" b="0" i="0">
                <a:solidFill>
                  <a:srgbClr val="1C242C"/>
                </a:solidFill>
                <a:latin typeface="Arial"/>
                <a:ea typeface="Arial"/>
              </a:rPr>
              <a:t>&amp;</a:t>
            </a:r>
            <a:r>
              <a:rPr sz="1050" b="0" i="0">
                <a:solidFill>
                  <a:srgbClr val="1C242C"/>
                </a:solidFill>
                <a:latin typeface="Arial"/>
                <a:ea typeface="Arial"/>
              </a:rPr>
              <a:t xml:space="preserve"> Krasne (1972), Fig. 1. Receptive fields and giant-axon cross sections.</a:t>
            </a:r>
            <a:endParaRPr lang="en-US"/>
          </a:p>
        </p:txBody>
      </p:sp>
      <p:pic>
        <p:nvPicPr>
          <p:cNvPr id="196" name="Presenton Native Image 9" descr=""/>
          <p:cNvPicPr/>
          <p:nvPr/>
        </p:nvPicPr>
        <p:blipFill>
          <a:blip r:embed="rId3" cstate="none"/>
          <a:stretch>
            <a:fillRect/>
          </a:stretch>
        </p:blipFill>
        <p:spPr>
          <a:xfrm>
            <a:off x="8454966" y="3660428"/>
            <a:ext cx="1187568" cy="1752600"/>
          </a:xfrm>
          <a:prstGeom prst="rect">
            <a:avLst/>
          </a:prstGeom>
        </p:spPr>
      </p:pic>
      <p:sp>
        <p:nvSpPr>
          <p:cNvPr id="607" name="Shape 607"/>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608" name="Shape 608"/>
          <p:cNvSpPr/>
          <p:nvPr/>
        </p:nvSpPr>
        <p:spPr>
          <a:xfrm>
            <a:off x="457200" y="6462713"/>
            <a:ext cx="3237905"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609" name="Shape 609"/>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8</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0" name="Shape 6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Lateral giants combine segmental neurons and local inputs</a:t>
            </a:r>
            <a:endParaRPr lang="en-US"/>
          </a:p>
        </p:txBody>
      </p:sp>
      <p:sp>
        <p:nvSpPr>
          <p:cNvPr id="611" name="Shape 611"/>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paired LG pathways contain serial neuronal segments associated with abdominal ganglia. Their dorsal giant axons are connected to ventral cell bodies and dendritic branches receiving local sensory input. Electrical coupling across segmental and contralateral junctions coordinates activity within the escape pathway.</a:t>
            </a:r>
            <a:endParaRPr lang="en-US"/>
          </a:p>
        </p:txBody>
      </p:sp>
      <p:sp>
        <p:nvSpPr>
          <p:cNvPr id="612" name="Shape 612"/>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Wine and Krasne reported LG diameters up to about 200 μm in the abdomen, with smaller diameters anteriorly. Abdominal taps recruited ascending activity and an upward-pitching response. Herberholz and colleagues later imaged the LG dendrites and their afferent contacts in the terminal abdominal ganglion.</a:t>
            </a:r>
            <a:endParaRPr lang="en-US"/>
          </a:p>
        </p:txBody>
      </p:sp>
      <p:sp>
        <p:nvSpPr>
          <p:cNvPr id="613" name="Shape 613"/>
          <p:cNvSpPr/>
          <p:nvPr/>
        </p:nvSpPr>
        <p:spPr>
          <a:xfrm>
            <a:off x="457200" y="43700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posterior stimulus can therefore gain access to a distributed giant pathway through local synaptic inputs. The large axon is only one part of the circuit. Its diameter does not specify which sensory inputs reach threshold or which segmental motor connections generate the movement.</a:t>
            </a:r>
            <a:endParaRPr lang="en-US"/>
          </a:p>
        </p:txBody>
      </p:sp>
      <p:pic>
        <p:nvPicPr>
          <p:cNvPr id="197" name="Presenton Native Image 10" descr=""/>
          <p:cNvPicPr/>
          <p:nvPr/>
        </p:nvPicPr>
        <p:blipFill>
          <a:blip r:embed="rId2" cstate="none"/>
          <a:stretch>
            <a:fillRect/>
          </a:stretch>
        </p:blipFill>
        <p:spPr>
          <a:xfrm>
            <a:off x="6698525" y="1055340"/>
            <a:ext cx="4700451" cy="2924175"/>
          </a:xfrm>
          <a:prstGeom prst="rect">
            <a:avLst/>
          </a:prstGeom>
        </p:spPr>
      </p:pic>
      <p:sp>
        <p:nvSpPr>
          <p:cNvPr id="614" name="Shape 614"/>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Wine </a:t>
            </a:r>
            <a:r>
              <a:rPr sz="1050" b="0" i="0">
                <a:solidFill>
                  <a:srgbClr val="1C242C"/>
                </a:solidFill>
                <a:latin typeface="Arial"/>
                <a:ea typeface="Arial"/>
              </a:rPr>
              <a:t>&amp;</a:t>
            </a:r>
            <a:r>
              <a:rPr sz="1050" b="0" i="0">
                <a:solidFill>
                  <a:srgbClr val="1C242C"/>
                </a:solidFill>
                <a:latin typeface="Arial"/>
                <a:ea typeface="Arial"/>
              </a:rPr>
              <a:t xml:space="preserve"> Krasne (1972), Fig. 1. Giant-axon organization and posterior receptive fields.</a:t>
            </a:r>
            <a:endParaRPr lang="en-US"/>
          </a:p>
        </p:txBody>
      </p:sp>
      <p:pic>
        <p:nvPicPr>
          <p:cNvPr id="198" name="Presenton Native Image 11" descr=""/>
          <p:cNvPicPr/>
          <p:nvPr/>
        </p:nvPicPr>
        <p:blipFill>
          <a:blip r:embed="rId3" cstate="none"/>
          <a:stretch>
            <a:fillRect/>
          </a:stretch>
        </p:blipFill>
        <p:spPr>
          <a:xfrm>
            <a:off x="8568775" y="4393853"/>
            <a:ext cx="959949" cy="1019175"/>
          </a:xfrm>
          <a:prstGeom prst="rect">
            <a:avLst/>
          </a:prstGeom>
        </p:spPr>
      </p:pic>
      <p:sp>
        <p:nvSpPr>
          <p:cNvPr id="615" name="Shape 615"/>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16" name="Shape 616"/>
          <p:cNvSpPr/>
          <p:nvPr/>
        </p:nvSpPr>
        <p:spPr>
          <a:xfrm>
            <a:off x="457200" y="6462713"/>
            <a:ext cx="267801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Herberholz et al. (2002)</a:t>
            </a:r>
            <a:endParaRPr lang="en-US"/>
          </a:p>
        </p:txBody>
      </p:sp>
      <p:sp>
        <p:nvSpPr>
          <p:cNvPr id="617" name="Shape 617"/>
          <p:cNvSpPr/>
          <p:nvPr/>
        </p:nvSpPr>
        <p:spPr>
          <a:xfrm>
            <a:off x="11663958" y="6462713"/>
            <a:ext cx="8989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9</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18" name="Shape 6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The intact ventral cord contains repeated ganglia</a:t>
            </a:r>
            <a:endParaRPr lang="en-US"/>
          </a:p>
        </p:txBody>
      </p:sp>
      <p:sp>
        <p:nvSpPr>
          <p:cNvPr id="619" name="Shape 619"/>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Herberholz and colleagues used </a:t>
            </a:r>
            <a:r>
              <a:rPr sz="1500" b="1" i="0">
                <a:solidFill>
                  <a:srgbClr val="1C242C"/>
                </a:solidFill>
                <a:latin typeface="Arial"/>
                <a:ea typeface="Arial"/>
              </a:rPr>
              <a:t>magnetic resonance imaging</a:t>
            </a:r>
            <a:r>
              <a:rPr sz="1500" b="0" i="0">
                <a:solidFill>
                  <a:srgbClr val="1C242C"/>
                </a:solidFill>
                <a:latin typeface="Arial"/>
                <a:ea typeface="Arial"/>
              </a:rPr>
              <a:t>, or MRI, to examine the nervous system without dissecting away the animal’s surrounding tissues. Juvenile crayfish were injected with manganese chloride, allowed to move, and then held motionless in narrow imaging tubes.</a:t>
            </a:r>
            <a:endParaRPr lang="en-US"/>
          </a:p>
        </p:txBody>
      </p:sp>
      <p:sp>
        <p:nvSpPr>
          <p:cNvPr id="620" name="Shape 620"/>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three-dimensional acquisition at 78 μm resolution in each dimension resolved the ventral nerve cord and individual thoracic and abdominal ganglia. The sagittal section retains the animal’s curled abdomen and the cord’s course through it. Manganese increased contrast between tissues and exposed anatomical features poorly separated in conventional scans.</a:t>
            </a:r>
            <a:endParaRPr lang="en-US"/>
          </a:p>
        </p:txBody>
      </p:sp>
      <p:sp>
        <p:nvSpPr>
          <p:cNvPr id="621" name="Shape 621"/>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Repeated ganglia provide the anatomical setting for segmental giant and motor circuitry. The scan does not resolve every neuronal connection or identify active LG spikes. Anatomical visibility and activity measurement are separate properties of the imaging method.</a:t>
            </a:r>
            <a:endParaRPr lang="en-US"/>
          </a:p>
        </p:txBody>
      </p:sp>
      <p:pic>
        <p:nvPicPr>
          <p:cNvPr id="199" name="Presenton Native Image 12" descr=""/>
          <p:cNvPicPr/>
          <p:nvPr/>
        </p:nvPicPr>
        <p:blipFill>
          <a:blip r:embed="rId2" cstate="none"/>
          <a:stretch>
            <a:fillRect/>
          </a:stretch>
        </p:blipFill>
        <p:spPr>
          <a:xfrm>
            <a:off x="6610350" y="1982750"/>
            <a:ext cx="5048250" cy="2145680"/>
          </a:xfrm>
          <a:prstGeom prst="rect">
            <a:avLst/>
          </a:prstGeom>
        </p:spPr>
      </p:pic>
      <p:sp>
        <p:nvSpPr>
          <p:cNvPr id="622" name="Shape 622"/>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2(D). Sagittal manganese-enhanced MRI of the ventral nerve cord.</a:t>
            </a:r>
            <a:endParaRPr lang="en-US"/>
          </a:p>
        </p:txBody>
      </p:sp>
      <p:sp>
        <p:nvSpPr>
          <p:cNvPr id="623" name="Shape 623"/>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624" name="Shape 6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10</a:t>
            </a: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25"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Tracer size distinguishes the filled neuron from partners</a:t>
            </a:r>
            <a:endParaRPr lang="en-US"/>
          </a:p>
        </p:txBody>
      </p:sp>
      <p:sp>
        <p:nvSpPr>
          <p:cNvPr id="626" name="Shape 626"/>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Herberholz and colleagues pressure-injected LG with two fluorescent tracers. Large dextran-linked Texas Red remained predominantly within the injected neuron, whereas low-molecular-weight </a:t>
            </a:r>
            <a:r>
              <a:rPr sz="1500" b="1" i="0">
                <a:solidFill>
                  <a:srgbClr val="1C242C"/>
                </a:solidFill>
                <a:latin typeface="Arial"/>
                <a:ea typeface="Arial"/>
              </a:rPr>
              <a:t>Neurobiotin</a:t>
            </a:r>
            <a:r>
              <a:rPr sz="1500" b="0" i="0">
                <a:solidFill>
                  <a:srgbClr val="1C242C"/>
                </a:solidFill>
                <a:latin typeface="Arial"/>
                <a:ea typeface="Arial"/>
              </a:rPr>
              <a:t xml:space="preserve"> could pass into electrically coupled cells. Fluorescent detection distinguished LG from its coupled partners.</a:t>
            </a:r>
            <a:endParaRPr lang="en-US"/>
          </a:p>
        </p:txBody>
      </p:sp>
      <p:sp>
        <p:nvSpPr>
          <p:cNvPr id="627" name="Shape 627"/>
          <p:cNvSpPr/>
          <p:nvPr/>
        </p:nvSpPr>
        <p:spPr>
          <a:xfrm>
            <a:off x="457200" y="2712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original confocal projection contains the major LG dendrite and primary afferent axons extending into the ganglionic nerves. Superposition of red and green signals produces yellow within the filled LG, while other coupled cells appear green. The figure retains its original 50 μm scale bar.</a:t>
            </a:r>
            <a:endParaRPr lang="en-US"/>
          </a:p>
        </p:txBody>
      </p:sp>
      <p:sp>
        <p:nvSpPr>
          <p:cNvPr id="628" name="Shape 628"/>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Dye coupling</a:t>
            </a:r>
            <a:r>
              <a:rPr sz="1500" b="0" i="0">
                <a:solidFill>
                  <a:srgbClr val="1C242C"/>
                </a:solidFill>
                <a:latin typeface="Arial"/>
                <a:ea typeface="Arial"/>
              </a:rPr>
              <a:t xml:space="preserve"> supports an intercellular pathway permeable to the tracer. It does not by itself measure synaptic current direction, conductance, or effectiveness at firing threshold. The investigators therefore combined the anatomy with paired electrical recordings rather than treating fluorescence as proof of every functional connection.</a:t>
            </a:r>
            <a:endParaRPr lang="en-US"/>
          </a:p>
        </p:txBody>
      </p:sp>
      <p:pic>
        <p:nvPicPr>
          <p:cNvPr id="200" name="Presenton Native Image 13" descr=""/>
          <p:cNvPicPr/>
          <p:nvPr/>
        </p:nvPicPr>
        <p:blipFill>
          <a:blip r:embed="rId2" cstate="none"/>
          <a:stretch>
            <a:fillRect/>
          </a:stretch>
        </p:blipFill>
        <p:spPr>
          <a:xfrm>
            <a:off x="7202030" y="1055340"/>
            <a:ext cx="3864890" cy="4000500"/>
          </a:xfrm>
          <a:prstGeom prst="rect">
            <a:avLst/>
          </a:prstGeom>
        </p:spPr>
      </p:pic>
      <p:sp>
        <p:nvSpPr>
          <p:cNvPr id="629" name="Shape 62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2(A). LG and dye-coupled neurons in the terminal ganglion.</a:t>
            </a:r>
            <a:endParaRPr lang="en-US"/>
          </a:p>
        </p:txBody>
      </p:sp>
      <p:sp>
        <p:nvSpPr>
          <p:cNvPr id="630" name="Shape 630"/>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31" name="Shape 63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11</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2" name="Shape 63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Fine LG dendrites contact primary afferent terminals</a:t>
            </a:r>
            <a:endParaRPr lang="en-US"/>
          </a:p>
        </p:txBody>
      </p:sp>
      <p:sp>
        <p:nvSpPr>
          <p:cNvPr id="633" name="Shape 633"/>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terminal ganglion receives sensory axons from touch-sensitive hairs and stretch receptors of the tail fan. Herberholz and colleagues traced these inputs into distinct parts of the LG dendritic tree. Input from different nerves was spatially segregated rather than uniformly mixed across every branch.</a:t>
            </a:r>
            <a:endParaRPr lang="en-US"/>
          </a:p>
        </p:txBody>
      </p:sp>
      <p:sp>
        <p:nvSpPr>
          <p:cNvPr id="634" name="Shape 634"/>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High-resolution confocal images revealed thin, vine-like LG processes wrapping around afferent axons. The original panel retains a 10 μm scale bar. These contacts occur near distal endings of the major LG dendritic branches, where sensory input enters the command neuron.</a:t>
            </a:r>
            <a:endParaRPr lang="en-US"/>
          </a:p>
        </p:txBody>
      </p:sp>
      <p:sp>
        <p:nvSpPr>
          <p:cNvPr id="635" name="Shape 635"/>
          <p:cNvSpPr/>
          <p:nvPr/>
        </p:nvSpPr>
        <p:spPr>
          <a:xfrm>
            <a:off x="457200" y="3855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anatomical arrangement creates a local substrate for synaptic interaction between afferents and LG. Contact in a projection is not enough to identify each membrane junction or its molecular channel. Functional recordings and tracer passage provide additional evidence for electrical coupling at these sites.</a:t>
            </a:r>
            <a:endParaRPr lang="en-US"/>
          </a:p>
        </p:txBody>
      </p:sp>
      <p:pic>
        <p:nvPicPr>
          <p:cNvPr id="201" name="Presenton Native Image 14" descr=""/>
          <p:cNvPicPr/>
          <p:nvPr/>
        </p:nvPicPr>
        <p:blipFill>
          <a:blip r:embed="rId2" cstate="none"/>
          <a:stretch>
            <a:fillRect/>
          </a:stretch>
        </p:blipFill>
        <p:spPr>
          <a:xfrm>
            <a:off x="7250462" y="1055340"/>
            <a:ext cx="3768025" cy="4000500"/>
          </a:xfrm>
          <a:prstGeom prst="rect">
            <a:avLst/>
          </a:prstGeom>
        </p:spPr>
      </p:pic>
      <p:sp>
        <p:nvSpPr>
          <p:cNvPr id="636" name="Shape 63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2(B). Fine dendritic processes surrounding afferent axons.</a:t>
            </a:r>
            <a:endParaRPr lang="en-US"/>
          </a:p>
        </p:txBody>
      </p:sp>
      <p:sp>
        <p:nvSpPr>
          <p:cNvPr id="637" name="Shape 637"/>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38" name="Shape 63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12</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39" name="Shape 63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Neighboring afferents form a dye-coupled network</a:t>
            </a:r>
            <a:endParaRPr lang="en-US"/>
          </a:p>
        </p:txBody>
      </p:sp>
      <p:sp>
        <p:nvSpPr>
          <p:cNvPr id="640" name="Shape 640"/>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injected Neurobiotin into one primary afferent while filling LG separately with Texas Red. This preparation distinguished passage among sensory axons from tracer introduced directly into LG. The afferent labeling extended to neighboring sensory axons through central contacts.</a:t>
            </a:r>
            <a:endParaRPr lang="en-US"/>
          </a:p>
        </p:txBody>
      </p:sp>
      <p:sp>
        <p:nvSpPr>
          <p:cNvPr id="641" name="Shape 641"/>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Individual injected afferents were coupled to between one and twelve other afferents. Most labeled partners entered through the same sensory nerve, although some connections crossed between nerves. The enlarged published panel separates the afferent-coupling site from the nearby contact with LG.</a:t>
            </a:r>
            <a:endParaRPr lang="en-US"/>
          </a:p>
        </p:txBody>
      </p:sp>
      <p:sp>
        <p:nvSpPr>
          <p:cNvPr id="642" name="Shape 642"/>
          <p:cNvSpPr/>
          <p:nvPr/>
        </p:nvSpPr>
        <p:spPr>
          <a:xfrm>
            <a:off x="457200" y="3855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distribution supports a local sensory network capable of interaction before signals reach the command neuron. Dye passage alone does not establish that an unstimulated neighbor fires. The subsequent current-injection experiments tested whether this anatomical connectivity can transmit electrical excitation.</a:t>
            </a:r>
            <a:endParaRPr lang="en-US"/>
          </a:p>
        </p:txBody>
      </p:sp>
      <p:pic>
        <p:nvPicPr>
          <p:cNvPr id="202" name="Presenton Native Image 15" descr=""/>
          <p:cNvPicPr/>
          <p:nvPr/>
        </p:nvPicPr>
        <p:blipFill>
          <a:blip r:embed="rId2" cstate="none"/>
          <a:stretch>
            <a:fillRect/>
          </a:stretch>
        </p:blipFill>
        <p:spPr>
          <a:xfrm>
            <a:off x="6610350" y="1829246"/>
            <a:ext cx="5048250" cy="2452688"/>
          </a:xfrm>
          <a:prstGeom prst="rect">
            <a:avLst/>
          </a:prstGeom>
        </p:spPr>
      </p:pic>
      <p:sp>
        <p:nvSpPr>
          <p:cNvPr id="643" name="Shape 64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3(A,B). A filled afferent and its coupled neighbors beside LG.</a:t>
            </a:r>
            <a:endParaRPr lang="en-US"/>
          </a:p>
        </p:txBody>
      </p:sp>
      <p:sp>
        <p:nvSpPr>
          <p:cNvPr id="644" name="Shape 644"/>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45" name="Shape 64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13</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46" name="Shape 64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Paired recordings establish electrical afferent coupling</a:t>
            </a:r>
            <a:endParaRPr lang="en-US"/>
          </a:p>
        </p:txBody>
      </p:sp>
      <p:sp>
        <p:nvSpPr>
          <p:cNvPr id="647" name="Shape 647"/>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An </a:t>
            </a:r>
            <a:r>
              <a:rPr sz="1500" b="1" i="0">
                <a:solidFill>
                  <a:srgbClr val="1C242C"/>
                </a:solidFill>
                <a:latin typeface="Arial"/>
                <a:ea typeface="Arial"/>
              </a:rPr>
              <a:t>excitatory postsynaptic potential</a:t>
            </a:r>
            <a:r>
              <a:rPr sz="1500" b="0" i="0">
                <a:solidFill>
                  <a:srgbClr val="1C242C"/>
                </a:solidFill>
                <a:latin typeface="Arial"/>
                <a:ea typeface="Arial"/>
              </a:rPr>
              <a:t>, or EPSP, is a synaptic voltage change that promotes neuronal excitation. Herberholz and colleagues recorded a small, brief LG EPSP when an individual afferent fired after intracellular current injection. They also recorded simultaneously from pairs of afferent axons.</a:t>
            </a:r>
            <a:endParaRPr lang="en-US"/>
          </a:p>
        </p:txBody>
      </p:sp>
      <p:sp>
        <p:nvSpPr>
          <p:cNvPr id="648" name="Shape 648"/>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Depolarizing one afferent produced a smaller depolarization and corresponding EPSPs in its neighbor. Applying current to the other cell produced reciprocal effects. LG did not fire during these paired-afferent tests, excluding an LG spike as the required intermediary event.</a:t>
            </a:r>
            <a:endParaRPr lang="en-US"/>
          </a:p>
        </p:txBody>
      </p:sp>
      <p:sp>
        <p:nvSpPr>
          <p:cNvPr id="649" name="Shape 649"/>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transfer of sustained voltage as well as spike-related signals supports electrical coupling among sensory terminals. These observations establish functional communication beyond dye passage. They do not identify the protein composition of the junctions or prove that every afferent pair has identical coupling strength.</a:t>
            </a:r>
            <a:endParaRPr lang="en-US"/>
          </a:p>
        </p:txBody>
      </p:sp>
      <p:pic>
        <p:nvPicPr>
          <p:cNvPr id="203" name="Presenton Native Image 16" descr=""/>
          <p:cNvPicPr/>
          <p:nvPr/>
        </p:nvPicPr>
        <p:blipFill>
          <a:blip r:embed="rId3" cstate="none"/>
          <a:stretch>
            <a:fillRect/>
          </a:stretch>
        </p:blipFill>
        <p:spPr>
          <a:xfrm>
            <a:off x="6362700" y="1739752"/>
            <a:ext cx="5372100" cy="1555351"/>
          </a:xfrm>
          <a:prstGeom prst="rect">
            <a:avLst/>
          </a:prstGeom>
        </p:spPr>
      </p:pic>
      <p:sp>
        <p:nvSpPr>
          <p:cNvPr id="650" name="Shape 65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3(C,D). Afferent-to-LG transmission and interactions between sensory axons.</a:t>
            </a:r>
            <a:endParaRPr lang="en-US"/>
          </a:p>
        </p:txBody>
      </p:sp>
      <p:pic>
        <p:nvPicPr>
          <p:cNvPr id="204" name="Presenton Native Image 17" descr=""/>
          <p:cNvPicPr/>
          <p:nvPr/>
        </p:nvPicPr>
        <p:blipFill>
          <a:blip r:embed="rId2" cstate="none"/>
          <a:stretch>
            <a:fillRect/>
          </a:stretch>
        </p:blipFill>
        <p:spPr>
          <a:xfrm>
            <a:off x="8568775" y="4560540"/>
            <a:ext cx="959949" cy="1019175"/>
          </a:xfrm>
          <a:prstGeom prst="rect">
            <a:avLst/>
          </a:prstGeom>
        </p:spPr>
      </p:pic>
      <p:sp>
        <p:nvSpPr>
          <p:cNvPr id="651" name="Shape 651"/>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52" name="Shape 652"/>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53" name="Shape 65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14</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54" name="Shape 65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Sensory stimulation can recruit an unstimulated afferent</a:t>
            </a:r>
            <a:endParaRPr lang="en-US"/>
          </a:p>
        </p:txBody>
      </p:sp>
      <p:sp>
        <p:nvSpPr>
          <p:cNvPr id="655" name="Shape 65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increased the strength of sensory-nerve shocks while recording a particular afferent and LG. Below the recorded afferent’s direct stimulation threshold, smaller shocks already evoked EPSPs in that cell. The source therefore distinguished direct axonal stimulation from recruitment through other neurons.</a:t>
            </a:r>
            <a:endParaRPr lang="en-US"/>
          </a:p>
        </p:txBody>
      </p:sp>
      <p:sp>
        <p:nvSpPr>
          <p:cNvPr id="656" name="Shape 656"/>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As shock strength increased, the afferent EPSP rose in discrete steps. A recruited spike appeared before the stronger shock that directly activated the recorded axon, and its appearance coincided with additional LG excitation. Direct activation shortened the latency of the recorded afferent spike.</a:t>
            </a:r>
            <a:endParaRPr lang="en-US"/>
          </a:p>
        </p:txBody>
      </p:sp>
      <p:sp>
        <p:nvSpPr>
          <p:cNvPr id="657" name="Shape 657"/>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experiment supports sensory amplification through a lateral network: activated afferents can enlist additional inputs. It does not convert shock voltage into a calibrated natural touch intensity. Electrode position and individual axonal thresholds affect which afferents the shock recruits first.</a:t>
            </a:r>
            <a:endParaRPr lang="en-US"/>
          </a:p>
        </p:txBody>
      </p:sp>
      <p:pic>
        <p:nvPicPr>
          <p:cNvPr id="205" name="Presenton Native Image 18" descr=""/>
          <p:cNvPicPr/>
          <p:nvPr/>
        </p:nvPicPr>
        <p:blipFill>
          <a:blip r:embed="rId3" cstate="none"/>
          <a:stretch>
            <a:fillRect/>
          </a:stretch>
        </p:blipFill>
        <p:spPr>
          <a:xfrm>
            <a:off x="6362700" y="1116893"/>
            <a:ext cx="5372100" cy="2801070"/>
          </a:xfrm>
          <a:prstGeom prst="rect">
            <a:avLst/>
          </a:prstGeom>
        </p:spPr>
      </p:pic>
      <p:sp>
        <p:nvSpPr>
          <p:cNvPr id="658" name="Shape 65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4(A,B). Increasing nerve shocks recruit sensory EPSPs and afferent spikes.</a:t>
            </a:r>
            <a:endParaRPr lang="en-US"/>
          </a:p>
        </p:txBody>
      </p:sp>
      <p:pic>
        <p:nvPicPr>
          <p:cNvPr id="206" name="Presenton Native Image 19" descr=""/>
          <p:cNvPicPr/>
          <p:nvPr/>
        </p:nvPicPr>
        <p:blipFill>
          <a:blip r:embed="rId2" cstate="none"/>
          <a:stretch>
            <a:fillRect/>
          </a:stretch>
        </p:blipFill>
        <p:spPr>
          <a:xfrm>
            <a:off x="8568775" y="4560540"/>
            <a:ext cx="959949" cy="1019175"/>
          </a:xfrm>
          <a:prstGeom prst="rect">
            <a:avLst/>
          </a:prstGeom>
        </p:spPr>
      </p:pic>
      <p:sp>
        <p:nvSpPr>
          <p:cNvPr id="659" name="Shape 65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60" name="Shape 660"/>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61" name="Shape 66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15</a:t>
            </a: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62" name="Shape 66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depolarization enhances sensory-afferent recruitment</a:t>
            </a:r>
            <a:endParaRPr lang="en-US"/>
          </a:p>
        </p:txBody>
      </p:sp>
      <p:sp>
        <p:nvSpPr>
          <p:cNvPr id="663" name="Shape 663"/>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held sensory stimulation constant while injecting current into LG. A sensory EPSP that normally remained below firing threshold in an afferent became suprathreshold when LG was depolarized. The imposed LG shift was approximately 10–20 mV at its initial segment.</a:t>
            </a:r>
            <a:endParaRPr lang="en-US"/>
          </a:p>
        </p:txBody>
      </p:sp>
      <p:sp>
        <p:nvSpPr>
          <p:cNvPr id="664" name="Shape 664"/>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effect cannot be explained solely by adding voltage at the command neuron’s spike-generating membrane. It changed whether a presynaptic sensory axon fired. Current could spread from LG toward coupled afferent terminals, supplementing excitation arriving from neighboring sensory neurons.</a:t>
            </a:r>
            <a:endParaRPr lang="en-US"/>
          </a:p>
        </p:txBody>
      </p:sp>
      <p:sp>
        <p:nvSpPr>
          <p:cNvPr id="665" name="Shape 665"/>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supports a feedback interaction between the developing LG response and recruitment of its own inputs. It does not establish the natural source of every equivalent depolarization in an intact animal. The causal manipulation was intracellular current injection in an exposed neural preparation.</a:t>
            </a:r>
            <a:endParaRPr lang="en-US"/>
          </a:p>
        </p:txBody>
      </p:sp>
      <p:pic>
        <p:nvPicPr>
          <p:cNvPr id="207" name="Presenton Native Image 20" descr=""/>
          <p:cNvPicPr/>
          <p:nvPr/>
        </p:nvPicPr>
        <p:blipFill>
          <a:blip r:embed="rId3" cstate="none"/>
          <a:stretch>
            <a:fillRect/>
          </a:stretch>
        </p:blipFill>
        <p:spPr>
          <a:xfrm>
            <a:off x="6362700" y="1150481"/>
            <a:ext cx="5372100" cy="2733893"/>
          </a:xfrm>
          <a:prstGeom prst="rect">
            <a:avLst/>
          </a:prstGeom>
        </p:spPr>
      </p:pic>
      <p:sp>
        <p:nvSpPr>
          <p:cNvPr id="666" name="Shape 666"/>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5(A,B). Opposite effects of LG depolarization and hyperpolarization.</a:t>
            </a:r>
            <a:endParaRPr lang="en-US"/>
          </a:p>
        </p:txBody>
      </p:sp>
      <p:pic>
        <p:nvPicPr>
          <p:cNvPr id="208" name="Presenton Native Image 21" descr=""/>
          <p:cNvPicPr/>
          <p:nvPr/>
        </p:nvPicPr>
        <p:blipFill>
          <a:blip r:embed="rId2" cstate="none"/>
          <a:stretch>
            <a:fillRect/>
          </a:stretch>
        </p:blipFill>
        <p:spPr>
          <a:xfrm>
            <a:off x="8568775" y="4560540"/>
            <a:ext cx="959949" cy="1019175"/>
          </a:xfrm>
          <a:prstGeom prst="rect">
            <a:avLst/>
          </a:prstGeom>
        </p:spPr>
      </p:pic>
      <p:sp>
        <p:nvSpPr>
          <p:cNvPr id="667" name="Shape 667"/>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68" name="Shape 668"/>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69" name="Shape 66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16</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0" name="Shape 67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hyperpolarization suppresses recruited sensory spikes</a:t>
            </a:r>
            <a:endParaRPr lang="en-US"/>
          </a:p>
        </p:txBody>
      </p:sp>
      <p:sp>
        <p:nvSpPr>
          <p:cNvPr id="671" name="Shape 671"/>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Hyperpolarization</a:t>
            </a:r>
            <a:r>
              <a:rPr sz="1500" b="0" i="0">
                <a:solidFill>
                  <a:srgbClr val="1C242C"/>
                </a:solidFill>
                <a:latin typeface="Arial"/>
                <a:ea typeface="Arial"/>
              </a:rPr>
              <a:t xml:space="preserve"> shifts membrane voltage in the negative direction relative to its resting level. Herberholz and colleagues injected hyperpolarizing current into LG while presenting the same sensory-nerve stimulus. A previously suprathreshold afferent EPSP then failed to evoke its recruited spike.</a:t>
            </a:r>
            <a:endParaRPr lang="en-US"/>
          </a:p>
        </p:txBody>
      </p:sp>
      <p:sp>
        <p:nvSpPr>
          <p:cNvPr id="672" name="Shape 672"/>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opposite manipulation complements the depolarization test. The stimulus delivered to the nerve did not need to be weakened to reduce sensory recruitment. LG membrane state altered the excitatory interaction between sensory axons and the command neuron through the electrically coupled circuit.</a:t>
            </a:r>
            <a:endParaRPr lang="en-US"/>
          </a:p>
        </p:txBody>
      </p:sp>
      <p:sp>
        <p:nvSpPr>
          <p:cNvPr id="673" name="Shape 673"/>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a distributed control of escape excitability rather than a threshold determined only at the final command cell. It does not imply that every LG hyperpolarization has an identical behavioral consequence. Which afferents are near threshold and how strongly they are coupled remain relevant.</a:t>
            </a:r>
            <a:endParaRPr lang="en-US"/>
          </a:p>
        </p:txBody>
      </p:sp>
      <p:pic>
        <p:nvPicPr>
          <p:cNvPr id="209" name="Presenton Native Image 22" descr=""/>
          <p:cNvPicPr/>
          <p:nvPr/>
        </p:nvPicPr>
        <p:blipFill>
          <a:blip r:embed="rId3" cstate="none"/>
          <a:stretch>
            <a:fillRect/>
          </a:stretch>
        </p:blipFill>
        <p:spPr>
          <a:xfrm>
            <a:off x="6362700" y="1150481"/>
            <a:ext cx="5372100" cy="2733893"/>
          </a:xfrm>
          <a:prstGeom prst="rect">
            <a:avLst/>
          </a:prstGeom>
        </p:spPr>
      </p:pic>
      <p:sp>
        <p:nvSpPr>
          <p:cNvPr id="674" name="Shape 67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5(B). Reduction of afferent recruitment during LG hyperpolarization.</a:t>
            </a:r>
            <a:endParaRPr lang="en-US"/>
          </a:p>
        </p:txBody>
      </p:sp>
      <p:pic>
        <p:nvPicPr>
          <p:cNvPr id="210" name="Presenton Native Image 23" descr=""/>
          <p:cNvPicPr/>
          <p:nvPr/>
        </p:nvPicPr>
        <p:blipFill>
          <a:blip r:embed="rId2" cstate="none"/>
          <a:stretch>
            <a:fillRect/>
          </a:stretch>
        </p:blipFill>
        <p:spPr>
          <a:xfrm>
            <a:off x="8568775" y="4560540"/>
            <a:ext cx="959949" cy="1019175"/>
          </a:xfrm>
          <a:prstGeom prst="rect">
            <a:avLst/>
          </a:prstGeom>
        </p:spPr>
      </p:pic>
      <p:sp>
        <p:nvSpPr>
          <p:cNvPr id="675" name="Shape 675"/>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76" name="Shape 676"/>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77" name="Shape 67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17</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78" name="Shape 6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Command-neuron voltage also changes interneuron recruitment</a:t>
            </a:r>
            <a:endParaRPr lang="en-US"/>
          </a:p>
        </p:txBody>
      </p:sp>
      <p:sp>
        <p:nvSpPr>
          <p:cNvPr id="679" name="Shape 679"/>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first-order mechanosensory interneuron</a:t>
            </a:r>
            <a:r>
              <a:rPr sz="1500" b="0" i="0">
                <a:solidFill>
                  <a:srgbClr val="1C242C"/>
                </a:solidFill>
                <a:latin typeface="Arial"/>
                <a:ea typeface="Arial"/>
              </a:rPr>
              <a:t xml:space="preserve"> receives input from primary sensory afferents and can transmit excitation onward to LG. Herberholz and colleagues recorded interneuron A while altering LG voltage by current injection. They compared identical nerve stimuli at rest and during imposed voltage shifts.</a:t>
            </a:r>
            <a:endParaRPr lang="en-US"/>
          </a:p>
        </p:txBody>
      </p:sp>
      <p:sp>
        <p:nvSpPr>
          <p:cNvPr id="680" name="Shape 680"/>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LG depolarization made normally subthreshold interneuron responses generate spikes. Hyperpolarization could suppress a previously evoked spike. The interactions could arise through enhanced afferent recruitment and through current flowing directly from LG toward electrically coupled interneurons.</a:t>
            </a:r>
            <a:endParaRPr lang="en-US"/>
          </a:p>
        </p:txBody>
      </p:sp>
      <p:sp>
        <p:nvSpPr>
          <p:cNvPr id="681" name="Shape 681"/>
          <p:cNvSpPr/>
          <p:nvPr/>
        </p:nvSpPr>
        <p:spPr>
          <a:xfrm>
            <a:off x="457200" y="437004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sensory-to-command pathway therefore contains interconnected stages rather than a strictly one-way sequence. These results support feedback-sensitive recruitment but do not isolate the exact contribution of each route in every preparation. Both afferent-network excitation and direct electrical communication must be considered when explaining the recorded effect.</a:t>
            </a:r>
            <a:endParaRPr lang="en-US"/>
          </a:p>
        </p:txBody>
      </p:sp>
      <p:pic>
        <p:nvPicPr>
          <p:cNvPr id="211" name="Presenton Native Image 24" descr=""/>
          <p:cNvPicPr/>
          <p:nvPr/>
        </p:nvPicPr>
        <p:blipFill>
          <a:blip r:embed="rId3" cstate="none"/>
          <a:stretch>
            <a:fillRect/>
          </a:stretch>
        </p:blipFill>
        <p:spPr>
          <a:xfrm>
            <a:off x="6362700" y="1355985"/>
            <a:ext cx="5372100" cy="2322885"/>
          </a:xfrm>
          <a:prstGeom prst="rect">
            <a:avLst/>
          </a:prstGeom>
        </p:spPr>
      </p:pic>
      <p:sp>
        <p:nvSpPr>
          <p:cNvPr id="682" name="Shape 682"/>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6(A,B). LG voltage shifts alter the firing of interneuron A.</a:t>
            </a:r>
            <a:endParaRPr lang="en-US"/>
          </a:p>
        </p:txBody>
      </p:sp>
      <p:pic>
        <p:nvPicPr>
          <p:cNvPr id="212" name="Presenton Native Image 25" descr=""/>
          <p:cNvPicPr/>
          <p:nvPr/>
        </p:nvPicPr>
        <p:blipFill>
          <a:blip r:embed="rId2" cstate="none"/>
          <a:stretch>
            <a:fillRect/>
          </a:stretch>
        </p:blipFill>
        <p:spPr>
          <a:xfrm>
            <a:off x="8568775" y="4393853"/>
            <a:ext cx="959949" cy="1019175"/>
          </a:xfrm>
          <a:prstGeom prst="rect">
            <a:avLst/>
          </a:prstGeom>
        </p:spPr>
      </p:pic>
      <p:sp>
        <p:nvSpPr>
          <p:cNvPr id="683" name="Shape 683"/>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84" name="Shape 684"/>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85" name="Shape 68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18</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86" name="Shape 68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Voltage clamp separates added current from voltage bias</a:t>
            </a:r>
            <a:endParaRPr lang="en-US"/>
          </a:p>
        </p:txBody>
      </p:sp>
      <p:sp>
        <p:nvSpPr>
          <p:cNvPr id="687" name="Shape 687"/>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voltage clamp</a:t>
            </a:r>
            <a:r>
              <a:rPr sz="1500" b="0" i="0">
                <a:solidFill>
                  <a:srgbClr val="1C242C"/>
                </a:solidFill>
                <a:latin typeface="Arial"/>
                <a:ea typeface="Arial"/>
              </a:rPr>
              <a:t xml:space="preserve"> holds a neuron near a commanded membrane voltage while recording the current required to maintain it. Herberholz and colleagues compared LG responses to the same nerve stimulus during current injection and under two-electrode voltage clamp. This separated changes in voltage from changes in synaptic input.</a:t>
            </a:r>
            <a:endParaRPr lang="en-US"/>
          </a:p>
        </p:txBody>
      </p:sp>
      <p:sp>
        <p:nvSpPr>
          <p:cNvPr id="688" name="Shape 688"/>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LG depolarization enlarged the later, interneuron-mediated EPSP component and could bring LG to spike threshold. Under voltage clamp, the corresponding excitatory synaptic current also increased. The added response therefore included recruitment of input rather than merely a shifted starting voltage.</a:t>
            </a:r>
            <a:endParaRPr lang="en-US"/>
          </a:p>
        </p:txBody>
      </p:sp>
      <p:sp>
        <p:nvSpPr>
          <p:cNvPr id="689" name="Shape 689"/>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amplification within the coupled network. It must be distinguished from the effect of depolarization on an already active individual rectifying junction, which can reduce that junction’s input. Aggregate network recruitment and unitary synaptic transfer are different experimental measurements.</a:t>
            </a:r>
            <a:endParaRPr lang="en-US"/>
          </a:p>
        </p:txBody>
      </p:sp>
      <p:pic>
        <p:nvPicPr>
          <p:cNvPr id="213" name="Presenton Native Image 26" descr=""/>
          <p:cNvPicPr/>
          <p:nvPr/>
        </p:nvPicPr>
        <p:blipFill>
          <a:blip r:embed="rId3" cstate="none"/>
          <a:stretch>
            <a:fillRect/>
          </a:stretch>
        </p:blipFill>
        <p:spPr>
          <a:xfrm>
            <a:off x="6894386" y="1055340"/>
            <a:ext cx="4308728" cy="2924175"/>
          </a:xfrm>
          <a:prstGeom prst="rect">
            <a:avLst/>
          </a:prstGeom>
        </p:spPr>
      </p:pic>
      <p:sp>
        <p:nvSpPr>
          <p:cNvPr id="690" name="Shape 69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7(A,B). LG voltage and synaptic-current responses during depolarization.</a:t>
            </a:r>
            <a:endParaRPr lang="en-US"/>
          </a:p>
        </p:txBody>
      </p:sp>
      <p:pic>
        <p:nvPicPr>
          <p:cNvPr id="214" name="Presenton Native Image 27" descr=""/>
          <p:cNvPicPr/>
          <p:nvPr/>
        </p:nvPicPr>
        <p:blipFill>
          <a:blip r:embed="rId2" cstate="none"/>
          <a:stretch>
            <a:fillRect/>
          </a:stretch>
        </p:blipFill>
        <p:spPr>
          <a:xfrm>
            <a:off x="8568775" y="4560540"/>
            <a:ext cx="959949" cy="1019175"/>
          </a:xfrm>
          <a:prstGeom prst="rect">
            <a:avLst/>
          </a:prstGeom>
        </p:spPr>
      </p:pic>
      <p:sp>
        <p:nvSpPr>
          <p:cNvPr id="691" name="Shape 691"/>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692" name="Shape 692"/>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693" name="Shape 69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19</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694" name="Shape 69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Unitary electrical input depends on postsynaptic voltage</a:t>
            </a:r>
            <a:endParaRPr lang="en-US"/>
          </a:p>
        </p:txBody>
      </p:sp>
      <p:sp>
        <p:nvSpPr>
          <p:cNvPr id="695" name="Shape 69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unitary synaptic response</a:t>
            </a:r>
            <a:r>
              <a:rPr sz="1500" b="0" i="0">
                <a:solidFill>
                  <a:srgbClr val="1C242C"/>
                </a:solidFill>
                <a:latin typeface="Arial"/>
                <a:ea typeface="Arial"/>
              </a:rPr>
              <a:t xml:space="preserve"> is the response associated with firing of a defined presynaptic neuron. Edwards and colleagues activated interneuron A while recording LG and imposed positive or negative shifts in LG voltage. This controlled presynaptic source differs from stimulating an entire sensory network.</a:t>
            </a:r>
            <a:endParaRPr lang="en-US"/>
          </a:p>
        </p:txBody>
      </p:sp>
      <p:sp>
        <p:nvSpPr>
          <p:cNvPr id="696" name="Shape 696"/>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Hyperpolarizing LG enlarged both the EPSP and measured excitatory synaptic current; depolarizing LG reduced them. At rest, the EPSP peaked within approximately 1 ms and decayed over the following 20 ms. The authors related these changes to voltage-sensitive electrical transmission.</a:t>
            </a:r>
            <a:endParaRPr lang="en-US"/>
          </a:p>
        </p:txBody>
      </p:sp>
      <p:sp>
        <p:nvSpPr>
          <p:cNvPr id="697" name="Shape 697"/>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 result supports a </a:t>
            </a:r>
            <a:r>
              <a:rPr sz="1500" b="1" i="0">
                <a:solidFill>
                  <a:srgbClr val="1C242C"/>
                </a:solidFill>
                <a:latin typeface="Arial"/>
                <a:ea typeface="Arial"/>
              </a:rPr>
              <a:t>rectifying junction</a:t>
            </a:r>
            <a:r>
              <a:rPr sz="1500" b="0" i="0">
                <a:solidFill>
                  <a:srgbClr val="1C242C"/>
                </a:solidFill>
                <a:latin typeface="Arial"/>
                <a:ea typeface="Arial"/>
              </a:rPr>
              <a:t>, whose conductance depends on the voltage difference across the connection. It does not contradict enhanced network recruitment during LG depolarization: one experiment measures a fixed unitary input, while the other allows additional afferents and interneurons to become active.</a:t>
            </a:r>
            <a:endParaRPr lang="en-US"/>
          </a:p>
        </p:txBody>
      </p:sp>
      <p:pic>
        <p:nvPicPr>
          <p:cNvPr id="215" name="Presenton Native Image 28" descr=""/>
          <p:cNvPicPr/>
          <p:nvPr/>
        </p:nvPicPr>
        <p:blipFill>
          <a:blip r:embed="rId3" cstate="none"/>
          <a:stretch>
            <a:fillRect/>
          </a:stretch>
        </p:blipFill>
        <p:spPr>
          <a:xfrm>
            <a:off x="6480661" y="1055340"/>
            <a:ext cx="5136177" cy="2924175"/>
          </a:xfrm>
          <a:prstGeom prst="rect">
            <a:avLst/>
          </a:prstGeom>
        </p:spPr>
      </p:pic>
      <p:sp>
        <p:nvSpPr>
          <p:cNvPr id="698" name="Shape 69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(1991), Fig. 3(A–D). Interneuron A transmission and voltage-dependent LG responses.</a:t>
            </a:r>
            <a:endParaRPr lang="en-US"/>
          </a:p>
        </p:txBody>
      </p:sp>
      <p:pic>
        <p:nvPicPr>
          <p:cNvPr id="216" name="Presenton Native Image 29" descr=""/>
          <p:cNvPicPr/>
          <p:nvPr/>
        </p:nvPicPr>
        <p:blipFill>
          <a:blip r:embed="rId2" cstate="none"/>
          <a:stretch>
            <a:fillRect/>
          </a:stretch>
        </p:blipFill>
        <p:spPr>
          <a:xfrm>
            <a:off x="8568775" y="4560540"/>
            <a:ext cx="959949" cy="1019175"/>
          </a:xfrm>
          <a:prstGeom prst="rect">
            <a:avLst/>
          </a:prstGeom>
        </p:spPr>
      </p:pic>
      <p:sp>
        <p:nvSpPr>
          <p:cNvPr id="699" name="Shape 69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00" name="Shape 700"/>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(1991); Herberholz et al. (2002)</a:t>
            </a:r>
            <a:endParaRPr lang="en-US"/>
          </a:p>
        </p:txBody>
      </p:sp>
      <p:sp>
        <p:nvSpPr>
          <p:cNvPr id="701" name="Shape 70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02" name="Shape 70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Rectification permits selective reverse electrical transfer</a:t>
            </a:r>
            <a:endParaRPr lang="en-US"/>
          </a:p>
        </p:txBody>
      </p:sp>
      <p:sp>
        <p:nvSpPr>
          <p:cNvPr id="703" name="Shape 703"/>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Orthodromic</a:t>
            </a:r>
            <a:r>
              <a:rPr sz="1500" b="0" i="0">
                <a:solidFill>
                  <a:srgbClr val="1C242C"/>
                </a:solidFill>
                <a:latin typeface="Arial"/>
                <a:ea typeface="Arial"/>
              </a:rPr>
              <a:t xml:space="preserve"> transmission follows the usual sensory-to-command direction, while </a:t>
            </a:r>
            <a:r>
              <a:rPr sz="1500" b="1" i="0">
                <a:solidFill>
                  <a:srgbClr val="1C242C"/>
                </a:solidFill>
                <a:latin typeface="Arial"/>
                <a:ea typeface="Arial"/>
              </a:rPr>
              <a:t>antidromic</a:t>
            </a:r>
            <a:r>
              <a:rPr sz="1500" b="0" i="0">
                <a:solidFill>
                  <a:srgbClr val="1C242C"/>
                </a:solidFill>
                <a:latin typeface="Arial"/>
                <a:ea typeface="Arial"/>
              </a:rPr>
              <a:t xml:space="preserve"> transmission proceeds in the reverse direction. Edwards and colleagues recorded interneuron A while shifting LG voltage or evoking an LG action potential. They tested electrical communication in both directions across the same connection.</a:t>
            </a:r>
            <a:endParaRPr lang="en-US"/>
          </a:p>
        </p:txBody>
      </p:sp>
      <p:sp>
        <p:nvSpPr>
          <p:cNvPr id="704" name="Shape 704"/>
          <p:cNvSpPr/>
          <p:nvPr/>
        </p:nvSpPr>
        <p:spPr>
          <a:xfrm>
            <a:off x="457200" y="271269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Steady hyperpolarization of LG spread into interneuron A, whereas steady LG depolarization transferred much less effectively. An LG spike produced an antidromic synaptic potential whose amplitude changed when the interneuron was depolarized or hyperpolarized. These observations support voltage-dependent coupling rather than absolute one-way isolation.</a:t>
            </a:r>
            <a:endParaRPr lang="en-US"/>
          </a:p>
        </p:txBody>
      </p:sp>
      <p:sp>
        <p:nvSpPr>
          <p:cNvPr id="705" name="Shape 705"/>
          <p:cNvSpPr/>
          <p:nvPr/>
        </p:nvSpPr>
        <p:spPr>
          <a:xfrm>
            <a:off x="457200" y="46272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Rectification therefore biases transmission without preventing all reverse influence. The measured membrane effects do not identify the junctional channel proteins. Their interpretation concerns physiological properties of the connection and must remain separate from an untested molecular explanation of its asymmetry.</a:t>
            </a:r>
            <a:endParaRPr lang="en-US"/>
          </a:p>
        </p:txBody>
      </p:sp>
      <p:pic>
        <p:nvPicPr>
          <p:cNvPr id="217" name="Presenton Native Image 30" descr=""/>
          <p:cNvPicPr/>
          <p:nvPr/>
        </p:nvPicPr>
        <p:blipFill>
          <a:blip r:embed="rId3" cstate="none"/>
          <a:stretch>
            <a:fillRect/>
          </a:stretch>
        </p:blipFill>
        <p:spPr>
          <a:xfrm>
            <a:off x="7517167" y="1055340"/>
            <a:ext cx="3063167" cy="2924175"/>
          </a:xfrm>
          <a:prstGeom prst="rect">
            <a:avLst/>
          </a:prstGeom>
        </p:spPr>
      </p:pic>
      <p:sp>
        <p:nvSpPr>
          <p:cNvPr id="706" name="Shape 706"/>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(1991), Fig. 4(A–C). Reverse transfer from LG to interneuron A.</a:t>
            </a:r>
            <a:endParaRPr lang="en-US"/>
          </a:p>
        </p:txBody>
      </p:sp>
      <p:pic>
        <p:nvPicPr>
          <p:cNvPr id="218" name="Presenton Native Image 31" descr=""/>
          <p:cNvPicPr/>
          <p:nvPr/>
        </p:nvPicPr>
        <p:blipFill>
          <a:blip r:embed="rId2" cstate="none"/>
          <a:stretch>
            <a:fillRect/>
          </a:stretch>
        </p:blipFill>
        <p:spPr>
          <a:xfrm>
            <a:off x="8568775" y="4393853"/>
            <a:ext cx="959949" cy="1019175"/>
          </a:xfrm>
          <a:prstGeom prst="rect">
            <a:avLst/>
          </a:prstGeom>
        </p:spPr>
      </p:pic>
      <p:sp>
        <p:nvSpPr>
          <p:cNvPr id="707" name="Shape 707"/>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08" name="Shape 708"/>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(1991); Herberholz et al. (2002)</a:t>
            </a:r>
            <a:endParaRPr lang="en-US"/>
          </a:p>
        </p:txBody>
      </p:sp>
      <p:sp>
        <p:nvSpPr>
          <p:cNvPr id="709" name="Shape 70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21</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0" name="Shape 7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detects coincidence on a submillisecond scale</a:t>
            </a:r>
            <a:endParaRPr lang="en-US"/>
          </a:p>
        </p:txBody>
      </p:sp>
      <p:sp>
        <p:nvSpPr>
          <p:cNvPr id="711" name="Shape 711"/>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Coincidence detection</a:t>
            </a:r>
            <a:r>
              <a:rPr sz="1500" b="0" i="0">
                <a:solidFill>
                  <a:srgbClr val="1C242C"/>
                </a:solidFill>
                <a:latin typeface="Arial"/>
                <a:ea typeface="Arial"/>
              </a:rPr>
              <a:t xml:space="preserve"> is preferential responsiveness to inputs arriving at nearly the same time. Edwards and colleagues stimulated two sensory nerves of the terminal ganglion in isolated juvenile crayfish preparations. Each nerve evoked a subthreshold LG EPSP, and paired shocks were presented with systematically varied delays.</a:t>
            </a:r>
            <a:endParaRPr lang="en-US"/>
          </a:p>
        </p:txBody>
      </p:sp>
      <p:sp>
        <p:nvSpPr>
          <p:cNvPr id="712" name="Shape 712"/>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Changing the relative delay from about 100 μs on one side of coincidence to about 100 μs on the other changed peak EPSP amplitude markedly. Across preparations, separating inputs by 0.1 ms reduced the normalized response relative to coincidence. The compound response was especially sensitive near zero relative delay.</a:t>
            </a:r>
            <a:endParaRPr lang="en-US"/>
          </a:p>
        </p:txBody>
      </p:sp>
      <p:sp>
        <p:nvSpPr>
          <p:cNvPr id="713" name="Shape 713"/>
          <p:cNvSpPr/>
          <p:nvPr/>
        </p:nvSpPr>
        <p:spPr>
          <a:xfrm>
            <a:off x="457200" y="43700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experiment establishes very precise timing sensitivity in sensory input to LG. It does not measure the timing of natural receptor spikes during every predator encounter. Nerve shocks synchronize recruited axons and provide a controlled test of the central integration mechanism.</a:t>
            </a:r>
            <a:endParaRPr lang="en-US"/>
          </a:p>
        </p:txBody>
      </p:sp>
      <p:pic>
        <p:nvPicPr>
          <p:cNvPr id="219" name="Presenton Native Image 32" descr=""/>
          <p:cNvPicPr/>
          <p:nvPr/>
        </p:nvPicPr>
        <p:blipFill>
          <a:blip r:embed="rId3" cstate="none"/>
          <a:stretch>
            <a:fillRect/>
          </a:stretch>
        </p:blipFill>
        <p:spPr>
          <a:xfrm>
            <a:off x="7174944" y="1055340"/>
            <a:ext cx="3747612" cy="2924175"/>
          </a:xfrm>
          <a:prstGeom prst="rect">
            <a:avLst/>
          </a:prstGeom>
        </p:spPr>
      </p:pic>
      <p:sp>
        <p:nvSpPr>
          <p:cNvPr id="714" name="Shape 71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3(B). LG EPSP amplitude as a function of sensory-input delay.</a:t>
            </a:r>
            <a:endParaRPr lang="en-US"/>
          </a:p>
        </p:txBody>
      </p:sp>
      <p:pic>
        <p:nvPicPr>
          <p:cNvPr id="220" name="Presenton Native Image 33" descr=""/>
          <p:cNvPicPr/>
          <p:nvPr/>
        </p:nvPicPr>
        <p:blipFill>
          <a:blip r:embed="rId2" cstate="none"/>
          <a:stretch>
            <a:fillRect/>
          </a:stretch>
        </p:blipFill>
        <p:spPr>
          <a:xfrm>
            <a:off x="8568775" y="4560540"/>
            <a:ext cx="959949" cy="1019175"/>
          </a:xfrm>
          <a:prstGeom prst="rect">
            <a:avLst/>
          </a:prstGeom>
        </p:spPr>
      </p:pic>
      <p:sp>
        <p:nvSpPr>
          <p:cNvPr id="715" name="Shape 715"/>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16" name="Shape 716"/>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17" name="Shape 71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22</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18" name="Shape 71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The direct afferent pathway retains coincidence selectivity</a:t>
            </a:r>
            <a:endParaRPr lang="en-US"/>
          </a:p>
        </p:txBody>
      </p:sp>
      <p:sp>
        <p:nvSpPr>
          <p:cNvPr id="719" name="Shape 719"/>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Edwards and colleagues asked whether precise timing sensitivity required excitation through sensory interneurons. They isolated the early </a:t>
            </a:r>
            <a:r>
              <a:rPr sz="1500" b="1" i="0">
                <a:solidFill>
                  <a:srgbClr val="1C242C"/>
                </a:solidFill>
                <a:latin typeface="Arial"/>
                <a:ea typeface="Arial"/>
              </a:rPr>
              <a:t>alpha component</a:t>
            </a:r>
            <a:r>
              <a:rPr sz="1500" b="0" i="0">
                <a:solidFill>
                  <a:srgbClr val="1C242C"/>
                </a:solidFill>
                <a:latin typeface="Arial"/>
                <a:ea typeface="Arial"/>
              </a:rPr>
              <a:t>, dominated by direct afferent-to-LG electrical input, either by weakening the nerve stimuli or by blocking nicotinic transmission with mecamylamine.</a:t>
            </a:r>
            <a:endParaRPr lang="en-US"/>
          </a:p>
        </p:txBody>
      </p:sp>
      <p:sp>
        <p:nvSpPr>
          <p:cNvPr id="720" name="Shape 720"/>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Acetylcholine</a:t>
            </a:r>
            <a:r>
              <a:rPr sz="1500" b="0" i="0">
                <a:solidFill>
                  <a:srgbClr val="1C242C"/>
                </a:solidFill>
                <a:latin typeface="Arial"/>
                <a:ea typeface="Arial"/>
              </a:rPr>
              <a:t xml:space="preserve"> is the transmitter implicated at the afferent-to-interneuron chemical synapses; a </a:t>
            </a:r>
            <a:r>
              <a:rPr sz="1500" b="1" i="0">
                <a:solidFill>
                  <a:srgbClr val="1C242C"/>
                </a:solidFill>
                <a:latin typeface="Arial"/>
                <a:ea typeface="Arial"/>
              </a:rPr>
              <a:t>nicotinic receptor</a:t>
            </a:r>
            <a:r>
              <a:rPr sz="1500" b="0" i="0">
                <a:solidFill>
                  <a:srgbClr val="1C242C"/>
                </a:solidFill>
                <a:latin typeface="Arial"/>
                <a:ea typeface="Arial"/>
              </a:rPr>
              <a:t xml:space="preserve"> is an acetylcholine-gated ion channel. Mecamylamine reduced this chemical route. Even after the indirect pathway was suppressed, the alpha response remained largest for coincident inputs and declined with increasing delay.</a:t>
            </a:r>
            <a:endParaRPr lang="en-US"/>
          </a:p>
        </p:txBody>
      </p:sp>
      <p:sp>
        <p:nvSpPr>
          <p:cNvPr id="721" name="Shape 721"/>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coincidence selectivity within the direct electrical pathway. It does not imply that chemical sensory synapses are irrelevant to escape in the intact animal. They normally contribute additional excitation, while the pharmacological comparison isolates a specific mechanism of temporal integration.</a:t>
            </a:r>
            <a:endParaRPr lang="en-US"/>
          </a:p>
        </p:txBody>
      </p:sp>
      <p:pic>
        <p:nvPicPr>
          <p:cNvPr id="221" name="Presenton Native Image 34" descr=""/>
          <p:cNvPicPr/>
          <p:nvPr/>
        </p:nvPicPr>
        <p:blipFill>
          <a:blip r:embed="rId3" cstate="none"/>
          <a:stretch>
            <a:fillRect/>
          </a:stretch>
        </p:blipFill>
        <p:spPr>
          <a:xfrm>
            <a:off x="8062691" y="1055340"/>
            <a:ext cx="1972118" cy="2924175"/>
          </a:xfrm>
          <a:prstGeom prst="rect">
            <a:avLst/>
          </a:prstGeom>
        </p:spPr>
      </p:pic>
      <p:sp>
        <p:nvSpPr>
          <p:cNvPr id="722" name="Shape 722"/>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4(A–C). Timing sensitivity of full, alpha-only, and picrotoxin-treated responses.</a:t>
            </a:r>
            <a:endParaRPr lang="en-US"/>
          </a:p>
        </p:txBody>
      </p:sp>
      <p:pic>
        <p:nvPicPr>
          <p:cNvPr id="222" name="Presenton Native Image 35" descr=""/>
          <p:cNvPicPr/>
          <p:nvPr/>
        </p:nvPicPr>
        <p:blipFill>
          <a:blip r:embed="rId2" cstate="none"/>
          <a:stretch>
            <a:fillRect/>
          </a:stretch>
        </p:blipFill>
        <p:spPr>
          <a:xfrm>
            <a:off x="8568775" y="4560540"/>
            <a:ext cx="959949" cy="1019175"/>
          </a:xfrm>
          <a:prstGeom prst="rect">
            <a:avLst/>
          </a:prstGeom>
        </p:spPr>
      </p:pic>
      <p:sp>
        <p:nvSpPr>
          <p:cNvPr id="723" name="Shape 723"/>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24" name="Shape 724"/>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25" name="Shape 72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23</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26" name="Shape 72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Fast coincidence selectivity survives inhibition blockade</a:t>
            </a:r>
            <a:endParaRPr lang="en-US"/>
          </a:p>
        </p:txBody>
      </p:sp>
      <p:sp>
        <p:nvSpPr>
          <p:cNvPr id="727" name="Shape 727"/>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Picrotoxin</a:t>
            </a:r>
            <a:r>
              <a:rPr sz="1500" b="0" i="0">
                <a:solidFill>
                  <a:srgbClr val="1C242C"/>
                </a:solidFill>
                <a:latin typeface="Arial"/>
                <a:ea typeface="Arial"/>
              </a:rPr>
              <a:t xml:space="preserve"> blocks the inhibitory channel mechanisms tested in these crayfish preparations. Edwards and colleagues applied 10 μM picrotoxin while comparing paired nerve inputs at different delays. They tested whether delayed inhibition could account for the very narrow coincidence peak.</a:t>
            </a:r>
            <a:endParaRPr lang="en-US"/>
          </a:p>
        </p:txBody>
      </p:sp>
      <p:sp>
        <p:nvSpPr>
          <p:cNvPr id="728" name="Shape 728"/>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Coincidence sensitivity remained and was sharper during picrotoxin treatment. Delays of 50 μs produced a measurable decrease from the coincident response, and larger delays exceeded that reduction. This timing is much shorter than the several milliseconds needed for the delayed feed-forward inhibition examined in separate experiments.</a:t>
            </a:r>
            <a:endParaRPr lang="en-US"/>
          </a:p>
        </p:txBody>
      </p:sp>
      <p:sp>
        <p:nvSpPr>
          <p:cNvPr id="729" name="Shape 729"/>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argues against that inhibitory pathway being necessary for the fastest selectivity. It does not eliminate inhibition’s contribution to later sensory filtering. The drug comparison distinguishes mechanisms acting on different timescales rather than establishing that the escape pathway lacks inhibitory synapses.</a:t>
            </a:r>
            <a:endParaRPr lang="en-US"/>
          </a:p>
        </p:txBody>
      </p:sp>
      <p:pic>
        <p:nvPicPr>
          <p:cNvPr id="223" name="Presenton Native Image 36" descr=""/>
          <p:cNvPicPr/>
          <p:nvPr/>
        </p:nvPicPr>
        <p:blipFill>
          <a:blip r:embed="rId3" cstate="none"/>
          <a:stretch>
            <a:fillRect/>
          </a:stretch>
        </p:blipFill>
        <p:spPr>
          <a:xfrm>
            <a:off x="8062691" y="1055340"/>
            <a:ext cx="1972118" cy="2924175"/>
          </a:xfrm>
          <a:prstGeom prst="rect">
            <a:avLst/>
          </a:prstGeom>
        </p:spPr>
      </p:pic>
      <p:sp>
        <p:nvSpPr>
          <p:cNvPr id="730" name="Shape 730"/>
          <p:cNvSpPr/>
          <p:nvPr/>
        </p:nvSpPr>
        <p:spPr>
          <a:xfrm>
            <a:off x="6362700" y="4055715"/>
            <a:ext cx="5391150" cy="166688"/>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4(C). Coincidence sensitivity during picrotoxin superfusion.</a:t>
            </a:r>
            <a:endParaRPr lang="en-US"/>
          </a:p>
        </p:txBody>
      </p:sp>
      <p:pic>
        <p:nvPicPr>
          <p:cNvPr id="224" name="Presenton Native Image 37" descr=""/>
          <p:cNvPicPr/>
          <p:nvPr/>
        </p:nvPicPr>
        <p:blipFill>
          <a:blip r:embed="rId2" cstate="none"/>
          <a:stretch>
            <a:fillRect/>
          </a:stretch>
        </p:blipFill>
        <p:spPr>
          <a:xfrm>
            <a:off x="8568775" y="4393853"/>
            <a:ext cx="959949" cy="1019175"/>
          </a:xfrm>
          <a:prstGeom prst="rect">
            <a:avLst/>
          </a:prstGeom>
        </p:spPr>
      </p:pic>
      <p:sp>
        <p:nvSpPr>
          <p:cNvPr id="731" name="Shape 731"/>
          <p:cNvSpPr/>
          <p:nvPr/>
        </p:nvSpPr>
        <p:spPr>
          <a:xfrm>
            <a:off x="6362700" y="5489228"/>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32" name="Shape 732"/>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33" name="Shape 73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24</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34" name="Shape 73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Opened electrical junctions can reduce late excitation</a:t>
            </a:r>
            <a:endParaRPr lang="en-US"/>
          </a:p>
        </p:txBody>
      </p:sp>
      <p:sp>
        <p:nvSpPr>
          <p:cNvPr id="735" name="Shape 73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Edwards and colleagues proposed two interacting consequences of rectifying electrical input. An early LG depolarization reduces the voltage difference that would open a later junction. Junctions already opened by the first afferent volley can also conduct current away from the postsynaptic neuron as those afferents repolarize.</a:t>
            </a:r>
            <a:endParaRPr lang="en-US"/>
          </a:p>
        </p:txBody>
      </p:sp>
      <p:sp>
        <p:nvSpPr>
          <p:cNvPr id="736" name="Shape 736"/>
          <p:cNvSpPr/>
          <p:nvPr/>
        </p:nvSpPr>
        <p:spPr>
          <a:xfrm>
            <a:off x="457200" y="271269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Their computational comparisons reproduced reduced summation for short input delays with voltage-sensitive junctions. The experimental nerve-pair data confirmed sharp coincidence sensitivity, including a decrease for 0.1 ms separation. </a:t>
            </a:r>
            <a:r>
              <a:rPr sz="1500" b="1" i="0">
                <a:solidFill>
                  <a:srgbClr val="1C242C"/>
                </a:solidFill>
                <a:latin typeface="Arial"/>
                <a:ea typeface="Arial"/>
              </a:rPr>
              <a:t>Shunting</a:t>
            </a:r>
            <a:r>
              <a:rPr sz="1500" b="0" i="0">
                <a:solidFill>
                  <a:srgbClr val="1C242C"/>
                </a:solidFill>
                <a:latin typeface="Arial"/>
                <a:ea typeface="Arial"/>
              </a:rPr>
              <a:t xml:space="preserve"> means diverting current through an available conductance so that it contributes less to the desired voltage response.</a:t>
            </a:r>
            <a:endParaRPr lang="en-US"/>
          </a:p>
        </p:txBody>
      </p:sp>
      <p:sp>
        <p:nvSpPr>
          <p:cNvPr id="737" name="Shape 737"/>
          <p:cNvSpPr/>
          <p:nvPr/>
        </p:nvSpPr>
        <p:spPr>
          <a:xfrm>
            <a:off x="457200" y="462721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model supplies a mechanistic account consistent with the recordings, not a direct measurement of every individual gap-junction current in vivo. Its assumed channel kinetics must remain distinguishable from the physiological evidence for timing-dependent EPSP reduction.</a:t>
            </a:r>
            <a:endParaRPr lang="en-US"/>
          </a:p>
        </p:txBody>
      </p:sp>
      <p:pic>
        <p:nvPicPr>
          <p:cNvPr id="225" name="Presenton Native Image 38" descr=""/>
          <p:cNvPicPr/>
          <p:nvPr/>
        </p:nvPicPr>
        <p:blipFill>
          <a:blip r:embed="rId3" cstate="none"/>
          <a:stretch>
            <a:fillRect/>
          </a:stretch>
        </p:blipFill>
        <p:spPr>
          <a:xfrm>
            <a:off x="7174944" y="1055340"/>
            <a:ext cx="3747612" cy="2924175"/>
          </a:xfrm>
          <a:prstGeom prst="rect">
            <a:avLst/>
          </a:prstGeom>
        </p:spPr>
      </p:pic>
      <p:sp>
        <p:nvSpPr>
          <p:cNvPr id="738" name="Shape 73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3(B). Measured timing sensitivity used to test the rectifying-junction account.</a:t>
            </a:r>
            <a:endParaRPr lang="en-US"/>
          </a:p>
        </p:txBody>
      </p:sp>
      <p:pic>
        <p:nvPicPr>
          <p:cNvPr id="226" name="Presenton Native Image 39" descr=""/>
          <p:cNvPicPr/>
          <p:nvPr/>
        </p:nvPicPr>
        <p:blipFill>
          <a:blip r:embed="rId2" cstate="none"/>
          <a:stretch>
            <a:fillRect/>
          </a:stretch>
        </p:blipFill>
        <p:spPr>
          <a:xfrm>
            <a:off x="8568775" y="4560540"/>
            <a:ext cx="959949" cy="1019175"/>
          </a:xfrm>
          <a:prstGeom prst="rect">
            <a:avLst/>
          </a:prstGeom>
        </p:spPr>
      </p:pic>
      <p:sp>
        <p:nvSpPr>
          <p:cNvPr id="739" name="Shape 73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40" name="Shape 740"/>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(1998); Herberholz et al. (2002)</a:t>
            </a:r>
            <a:endParaRPr lang="en-US"/>
          </a:p>
        </p:txBody>
      </p:sp>
      <p:sp>
        <p:nvSpPr>
          <p:cNvPr id="741" name="Shape 74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25</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42" name="Shape 74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Sensory excitation is followed by delayed LG inhibition</a:t>
            </a:r>
            <a:endParaRPr lang="en-US"/>
          </a:p>
        </p:txBody>
      </p:sp>
      <p:sp>
        <p:nvSpPr>
          <p:cNvPr id="743" name="Shape 743"/>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Postexcitatory inhibition</a:t>
            </a:r>
            <a:r>
              <a:rPr sz="1500" b="0" i="0">
                <a:solidFill>
                  <a:srgbClr val="1C242C"/>
                </a:solidFill>
                <a:latin typeface="Arial"/>
                <a:ea typeface="Arial"/>
              </a:rPr>
              <a:t>, or PEI, is inhibition that follows the early excitation evoked by sensory input. Vu and colleagues recorded LG in isolated crayfish abdomens and stimulated sensory roots. They compared the compound response before and during picrotoxin application.</a:t>
            </a:r>
            <a:endParaRPr lang="en-US"/>
          </a:p>
        </p:txBody>
      </p:sp>
      <p:sp>
        <p:nvSpPr>
          <p:cNvPr id="744" name="Shape 744"/>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alpha and initial beta peaks changed relatively little at the tested dose, while the later falling response was enlarged or prolonged. The effect emerged after the early excitatory components, consistent with delayed inhibitory action. The experimental preparation excluded movement by cutting motor roots.</a:t>
            </a:r>
            <a:endParaRPr lang="en-US"/>
          </a:p>
        </p:txBody>
      </p:sp>
      <p:sp>
        <p:nvSpPr>
          <p:cNvPr id="745" name="Shape 745"/>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supports a sensory-evoked inhibitory process that limits later LG excitation. Drug-induced enlargement alone does not establish its exact cellular location, because disinhibition could also affect upstream sensory neurons. The study therefore tested responses to defined input and injected currents within LG itself.</a:t>
            </a:r>
            <a:endParaRPr lang="en-US"/>
          </a:p>
        </p:txBody>
      </p:sp>
      <p:pic>
        <p:nvPicPr>
          <p:cNvPr id="227" name="Presenton Native Image 40" descr=""/>
          <p:cNvPicPr/>
          <p:nvPr/>
        </p:nvPicPr>
        <p:blipFill>
          <a:blip r:embed="rId3" cstate="none"/>
          <a:stretch>
            <a:fillRect/>
          </a:stretch>
        </p:blipFill>
        <p:spPr>
          <a:xfrm>
            <a:off x="8166158" y="1055340"/>
            <a:ext cx="1765184" cy="2924175"/>
          </a:xfrm>
          <a:prstGeom prst="rect">
            <a:avLst/>
          </a:prstGeom>
        </p:spPr>
      </p:pic>
      <p:sp>
        <p:nvSpPr>
          <p:cNvPr id="746" name="Shape 746"/>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2(A,B). Picrotoxin changes the late portion of a root-evoked LG response.</a:t>
            </a:r>
            <a:endParaRPr lang="en-US"/>
          </a:p>
        </p:txBody>
      </p:sp>
      <p:pic>
        <p:nvPicPr>
          <p:cNvPr id="228" name="Presenton Native Image 41" descr=""/>
          <p:cNvPicPr/>
          <p:nvPr/>
        </p:nvPicPr>
        <p:blipFill>
          <a:blip r:embed="rId2" cstate="none"/>
          <a:stretch>
            <a:fillRect/>
          </a:stretch>
        </p:blipFill>
        <p:spPr>
          <a:xfrm>
            <a:off x="8568775" y="4560540"/>
            <a:ext cx="959949" cy="1019175"/>
          </a:xfrm>
          <a:prstGeom prst="rect">
            <a:avLst/>
          </a:prstGeom>
        </p:spPr>
      </p:pic>
      <p:sp>
        <p:nvSpPr>
          <p:cNvPr id="747" name="Shape 747"/>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48" name="Shape 748"/>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49" name="Shape 74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26</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0" name="Shape 75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 defined test EPSP is attenuated after sensory excitation</a:t>
            </a:r>
            <a:endParaRPr lang="en-US"/>
          </a:p>
        </p:txBody>
      </p:sp>
      <p:sp>
        <p:nvSpPr>
          <p:cNvPr id="751" name="Shape 751"/>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Vu and colleagues evoked a defined electrical EPSP by directly stimulating interneuron A. They compared this test response alone with the same response delivered during a sensory-root-evoked LG potential. The selected sensory root did not itself fire interneuron A in the tested ganglia.</a:t>
            </a:r>
            <a:endParaRPr lang="en-US"/>
          </a:p>
        </p:txBody>
      </p:sp>
      <p:sp>
        <p:nvSpPr>
          <p:cNvPr id="752" name="Shape 752"/>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test EPSP was strongly reduced after the beta peak of the compound response. At an 8 ms delay from the root shock, its average reduction was approximately 47%. Because the experiment directly controlled the presynaptic test spike, failure to recruit that interneuron was not a sufficient explanation.</a:t>
            </a:r>
            <a:endParaRPr lang="en-US"/>
          </a:p>
        </p:txBody>
      </p:sp>
      <p:sp>
        <p:nvSpPr>
          <p:cNvPr id="753" name="Shape 753"/>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attenuation at or near the postsynaptic integration stage. It does not assign all attenuation to PEI: electrical-junction voltage dependence and presynaptic shunting can also reduce the test EPSP. Further pharmacological and conductance measurements separated these contributions.</a:t>
            </a:r>
            <a:endParaRPr lang="en-US"/>
          </a:p>
        </p:txBody>
      </p:sp>
      <p:pic>
        <p:nvPicPr>
          <p:cNvPr id="229" name="Presenton Native Image 42" descr=""/>
          <p:cNvPicPr/>
          <p:nvPr/>
        </p:nvPicPr>
        <p:blipFill>
          <a:blip r:embed="rId3" cstate="none"/>
          <a:stretch>
            <a:fillRect/>
          </a:stretch>
        </p:blipFill>
        <p:spPr>
          <a:xfrm>
            <a:off x="6362700" y="1198471"/>
            <a:ext cx="5372100" cy="2637913"/>
          </a:xfrm>
          <a:prstGeom prst="rect">
            <a:avLst/>
          </a:prstGeom>
        </p:spPr>
      </p:pic>
      <p:sp>
        <p:nvSpPr>
          <p:cNvPr id="754" name="Shape 75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3(A,B). Reduction of an interneuron A test EPSP at different delays.</a:t>
            </a:r>
            <a:endParaRPr lang="en-US"/>
          </a:p>
        </p:txBody>
      </p:sp>
      <p:pic>
        <p:nvPicPr>
          <p:cNvPr id="230" name="Presenton Native Image 43" descr=""/>
          <p:cNvPicPr/>
          <p:nvPr/>
        </p:nvPicPr>
        <p:blipFill>
          <a:blip r:embed="rId2" cstate="none"/>
          <a:stretch>
            <a:fillRect/>
          </a:stretch>
        </p:blipFill>
        <p:spPr>
          <a:xfrm>
            <a:off x="8568775" y="4560540"/>
            <a:ext cx="959949" cy="1019175"/>
          </a:xfrm>
          <a:prstGeom prst="rect">
            <a:avLst/>
          </a:prstGeom>
        </p:spPr>
      </p:pic>
      <p:sp>
        <p:nvSpPr>
          <p:cNvPr id="755" name="Shape 755"/>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56" name="Shape 756"/>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57" name="Shape 757"/>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27</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58" name="Shape 75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Picrotoxin removes much of the delayed EPSP attenuation</a:t>
            </a:r>
            <a:endParaRPr lang="en-US"/>
          </a:p>
        </p:txBody>
      </p:sp>
      <p:sp>
        <p:nvSpPr>
          <p:cNvPr id="759" name="Shape 759"/>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Vu and colleagues repeated the interneuron A test during picrotoxin exposure. The test spike was timed so its LG EPSP occurred 8 ms after a sensory-root stimulus. The control comparison retained the same type of defined presynaptic input and compound LG response.</a:t>
            </a:r>
            <a:endParaRPr lang="en-US"/>
          </a:p>
        </p:txBody>
      </p:sp>
      <p:sp>
        <p:nvSpPr>
          <p:cNvPr id="760" name="Shape 760"/>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Picrotoxin reduced the average attenuation from approximately 47% to approximately 18%. This pharmacological release supports a substantial inhibitory contribution to the reduction after the early excitatory peak. The tested drug concentration did not alter LG’s resting voltage or resting input resistance appreciably.</a:t>
            </a:r>
            <a:endParaRPr lang="en-US"/>
          </a:p>
        </p:txBody>
      </p:sp>
      <p:sp>
        <p:nvSpPr>
          <p:cNvPr id="761" name="Shape 761"/>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remaining attenuation prevents attributing the whole effect to one inhibitory mechanism. Voltage-sensitive electrical transmission and other concurrent conductances can still reduce an EPSP. Partial, slow washout also limits a simple assumption that drug effects are immediately reversible under every recording condition.</a:t>
            </a:r>
            <a:endParaRPr lang="en-US"/>
          </a:p>
        </p:txBody>
      </p:sp>
      <p:pic>
        <p:nvPicPr>
          <p:cNvPr id="231" name="Presenton Native Image 44" descr=""/>
          <p:cNvPicPr/>
          <p:nvPr/>
        </p:nvPicPr>
        <p:blipFill>
          <a:blip r:embed="rId3" cstate="none"/>
          <a:stretch>
            <a:fillRect/>
          </a:stretch>
        </p:blipFill>
        <p:spPr>
          <a:xfrm>
            <a:off x="6362700" y="1067147"/>
            <a:ext cx="5372100" cy="2900561"/>
          </a:xfrm>
          <a:prstGeom prst="rect">
            <a:avLst/>
          </a:prstGeom>
        </p:spPr>
      </p:pic>
      <p:sp>
        <p:nvSpPr>
          <p:cNvPr id="762" name="Shape 762"/>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5(A,B). Test-EPSP attenuation before and during picrotoxin treatment.</a:t>
            </a:r>
            <a:endParaRPr lang="en-US"/>
          </a:p>
        </p:txBody>
      </p:sp>
      <p:pic>
        <p:nvPicPr>
          <p:cNvPr id="232" name="Presenton Native Image 45" descr=""/>
          <p:cNvPicPr/>
          <p:nvPr/>
        </p:nvPicPr>
        <p:blipFill>
          <a:blip r:embed="rId2" cstate="none"/>
          <a:stretch>
            <a:fillRect/>
          </a:stretch>
        </p:blipFill>
        <p:spPr>
          <a:xfrm>
            <a:off x="8568775" y="4560540"/>
            <a:ext cx="959949" cy="1019175"/>
          </a:xfrm>
          <a:prstGeom prst="rect">
            <a:avLst/>
          </a:prstGeom>
        </p:spPr>
      </p:pic>
      <p:sp>
        <p:nvSpPr>
          <p:cNvPr id="763" name="Shape 763"/>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64" name="Shape 764"/>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65" name="Shape 76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28</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66" name="Shape 76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Delayed inhibition increases a shunting conductance</a:t>
            </a:r>
            <a:endParaRPr lang="en-US"/>
          </a:p>
        </p:txBody>
      </p:sp>
      <p:sp>
        <p:nvSpPr>
          <p:cNvPr id="767" name="Shape 767"/>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Input resistance</a:t>
            </a:r>
            <a:r>
              <a:rPr sz="1500" b="0" i="0">
                <a:solidFill>
                  <a:srgbClr val="1C242C"/>
                </a:solidFill>
                <a:latin typeface="Arial"/>
                <a:ea typeface="Arial"/>
              </a:rPr>
              <a:t xml:space="preserve"> is the voltage response produced by an injected current, expressed relative to that current. A smaller response to the same current indicates that more current can escape through membrane conductance. Vu and colleagues measured this property during the sensory-evoked LG potential.</a:t>
            </a:r>
            <a:endParaRPr lang="en-US"/>
          </a:p>
        </p:txBody>
      </p:sp>
      <p:sp>
        <p:nvSpPr>
          <p:cNvPr id="768" name="Shape 768"/>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Current injected into one LG or its electrically coupled counterpart produced less voltage during the late response. Picrotoxin removed much of that reduction, particularly after the beta peak. The result supports an inhibitory conductance increase rather than simply withdrawal of an excitatory input.</a:t>
            </a:r>
            <a:endParaRPr lang="en-US"/>
          </a:p>
        </p:txBody>
      </p:sp>
      <p:sp>
        <p:nvSpPr>
          <p:cNvPr id="769" name="Shape 769"/>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GABA</a:t>
            </a:r>
            <a:r>
              <a:rPr sz="1500" b="0" i="0">
                <a:solidFill>
                  <a:srgbClr val="1C242C"/>
                </a:solidFill>
                <a:latin typeface="Arial"/>
                <a:ea typeface="Arial"/>
              </a:rPr>
              <a:t>, gamma-aminobutyric acid, is the inhibitory transmitter implicated by the anatomy and pharmacology. GABA-associated chloride conductance can shunt excitation even when its reversal potential produces some depolarization. Thus the direction of a voltage change alone does not determine whether its net effect promotes firing.</a:t>
            </a:r>
            <a:endParaRPr lang="en-US"/>
          </a:p>
        </p:txBody>
      </p:sp>
      <p:pic>
        <p:nvPicPr>
          <p:cNvPr id="233" name="Presenton Native Image 46" descr=""/>
          <p:cNvPicPr/>
          <p:nvPr/>
        </p:nvPicPr>
        <p:blipFill>
          <a:blip r:embed="rId3" cstate="none"/>
          <a:stretch>
            <a:fillRect/>
          </a:stretch>
        </p:blipFill>
        <p:spPr>
          <a:xfrm>
            <a:off x="6362700" y="1374283"/>
            <a:ext cx="5372100" cy="2286290"/>
          </a:xfrm>
          <a:prstGeom prst="rect">
            <a:avLst/>
          </a:prstGeom>
        </p:spPr>
      </p:pic>
      <p:sp>
        <p:nvSpPr>
          <p:cNvPr id="770" name="Shape 77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6(A,B). Reduced attenuation of injected-current responses during picrotoxin.</a:t>
            </a:r>
            <a:endParaRPr lang="en-US"/>
          </a:p>
        </p:txBody>
      </p:sp>
      <p:pic>
        <p:nvPicPr>
          <p:cNvPr id="234" name="Presenton Native Image 47" descr=""/>
          <p:cNvPicPr/>
          <p:nvPr/>
        </p:nvPicPr>
        <p:blipFill>
          <a:blip r:embed="rId2" cstate="none"/>
          <a:stretch>
            <a:fillRect/>
          </a:stretch>
        </p:blipFill>
        <p:spPr>
          <a:xfrm>
            <a:off x="8568775" y="4560540"/>
            <a:ext cx="959949" cy="1019175"/>
          </a:xfrm>
          <a:prstGeom prst="rect">
            <a:avLst/>
          </a:prstGeom>
        </p:spPr>
      </p:pic>
      <p:sp>
        <p:nvSpPr>
          <p:cNvPr id="771" name="Shape 771"/>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72" name="Shape 772"/>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73" name="Shape 773"/>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29</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74" name="Shape 77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Dendritic inhibition is partly specific to input location</a:t>
            </a:r>
            <a:endParaRPr lang="en-US"/>
          </a:p>
        </p:txBody>
      </p:sp>
      <p:sp>
        <p:nvSpPr>
          <p:cNvPr id="775" name="Shape 775"/>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Vu and colleagues compared pairs of sensory-root shocks separated by 8 ms. The second shock was delivered either to the same root or to a different root in the same ganglion. These roots supply partly distinct dendritic regions, allowing a test of spatial specificity.</a:t>
            </a:r>
            <a:endParaRPr lang="en-US"/>
          </a:p>
        </p:txBody>
      </p:sp>
      <p:sp>
        <p:nvSpPr>
          <p:cNvPr id="776" name="Shape 776"/>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second compound response was attenuated more strongly in the same-root condition. Both local PEI and reduced chemical sensory transmission could contribute. Cadmium-containing saline suppressed the chemical component, providing a control for attenuation caused by its fatigue rather than by inhibition alone.</a:t>
            </a:r>
            <a:endParaRPr lang="en-US"/>
          </a:p>
        </p:txBody>
      </p:sp>
      <p:sp>
        <p:nvSpPr>
          <p:cNvPr id="777" name="Shape 777"/>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results support a partly localized dendritic inhibitory process, rather than uniform suppression of all LG input. They do not establish one identified inhibitory neuron for each receptor. The paper proposed alternative local arrangements of inhibitory neurons, which remain different from directly observed anatomical wiring.</a:t>
            </a:r>
            <a:endParaRPr lang="en-US"/>
          </a:p>
        </p:txBody>
      </p:sp>
      <p:pic>
        <p:nvPicPr>
          <p:cNvPr id="235" name="Presenton Native Image 48" descr=""/>
          <p:cNvPicPr/>
          <p:nvPr/>
        </p:nvPicPr>
        <p:blipFill>
          <a:blip r:embed="rId3" cstate="none"/>
          <a:stretch>
            <a:fillRect/>
          </a:stretch>
        </p:blipFill>
        <p:spPr>
          <a:xfrm>
            <a:off x="7126707" y="1055340"/>
            <a:ext cx="3844087" cy="2924175"/>
          </a:xfrm>
          <a:prstGeom prst="rect">
            <a:avLst/>
          </a:prstGeom>
        </p:spPr>
      </p:pic>
      <p:sp>
        <p:nvSpPr>
          <p:cNvPr id="778" name="Shape 77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11(A–E). Comparison of repeated same-root and different-root stimuli.</a:t>
            </a:r>
            <a:endParaRPr lang="en-US"/>
          </a:p>
        </p:txBody>
      </p:sp>
      <p:pic>
        <p:nvPicPr>
          <p:cNvPr id="236" name="Presenton Native Image 49" descr=""/>
          <p:cNvPicPr/>
          <p:nvPr/>
        </p:nvPicPr>
        <p:blipFill>
          <a:blip r:embed="rId2" cstate="none"/>
          <a:stretch>
            <a:fillRect/>
          </a:stretch>
        </p:blipFill>
        <p:spPr>
          <a:xfrm>
            <a:off x="8568775" y="4560540"/>
            <a:ext cx="959949" cy="1019175"/>
          </a:xfrm>
          <a:prstGeom prst="rect">
            <a:avLst/>
          </a:prstGeom>
        </p:spPr>
      </p:pic>
      <p:sp>
        <p:nvSpPr>
          <p:cNvPr id="779" name="Shape 779"/>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2(B). LG dendritic contacts with primary afferents; original 10 μm scale.</a:t>
            </a:r>
            <a:endParaRPr lang="en-US"/>
          </a:p>
        </p:txBody>
      </p:sp>
      <p:sp>
        <p:nvSpPr>
          <p:cNvPr id="780" name="Shape 780"/>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 Herberholz et al. (2002)</a:t>
            </a:r>
            <a:endParaRPr lang="en-US"/>
          </a:p>
        </p:txBody>
      </p:sp>
      <p:sp>
        <p:nvSpPr>
          <p:cNvPr id="781" name="Shape 78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30</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2" name="Shape 78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Photoinactivation removes a segmental giant relay</a:t>
            </a:r>
            <a:endParaRPr lang="en-US"/>
          </a:p>
        </p:txBody>
      </p:sp>
      <p:sp>
        <p:nvSpPr>
          <p:cNvPr id="783" name="Shape 783"/>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The </a:t>
            </a:r>
            <a:r>
              <a:rPr sz="1500" b="1" i="0">
                <a:solidFill>
                  <a:srgbClr val="1C242C"/>
                </a:solidFill>
                <a:latin typeface="Arial"/>
                <a:ea typeface="Arial"/>
              </a:rPr>
              <a:t>segmental giant</a:t>
            </a:r>
            <a:r>
              <a:rPr sz="1500" b="0" i="0">
                <a:solidFill>
                  <a:srgbClr val="1C242C"/>
                </a:solidFill>
                <a:latin typeface="Arial"/>
                <a:ea typeface="Arial"/>
              </a:rPr>
              <a:t xml:space="preserve">, or SG, is a relay neuron through which giant-fiber activity excites many fast-flexor motor neurons. Fraser and Heitler filled SG with Lucifer Yellow and illuminated it to disrupt its function. This </a:t>
            </a:r>
            <a:r>
              <a:rPr sz="1500" b="1" i="0">
                <a:solidFill>
                  <a:srgbClr val="1C242C"/>
                </a:solidFill>
                <a:latin typeface="Arial"/>
                <a:ea typeface="Arial"/>
              </a:rPr>
              <a:t>photoinactivation</a:t>
            </a:r>
            <a:r>
              <a:rPr sz="1500" b="0" i="0">
                <a:solidFill>
                  <a:srgbClr val="1C242C"/>
                </a:solidFill>
                <a:latin typeface="Arial"/>
                <a:ea typeface="Arial"/>
              </a:rPr>
              <a:t xml:space="preserve"> allowed them to test pathways normally obscured by the relay’s strong output.</a:t>
            </a:r>
            <a:endParaRPr lang="en-US"/>
          </a:p>
        </p:txBody>
      </p:sp>
      <p:sp>
        <p:nvSpPr>
          <p:cNvPr id="784" name="Shape 784"/>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As illumination continued, SG spikes broadened, developed long depolarized plateaus, and eventually failed. Giant-fiber stimulation no longer produced the normal strong fast-flexor response through the affected SG. Some residual input persisted, suggesting an additional connection rather than complete dependence on one relay.</a:t>
            </a:r>
            <a:endParaRPr lang="en-US"/>
          </a:p>
        </p:txBody>
      </p:sp>
      <p:sp>
        <p:nvSpPr>
          <p:cNvPr id="785" name="Shape 785"/>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Selective disruption supplies causal evidence about SG’s contribution. The evolving plateau can temporarily alter other electrically coupled cells, so intermediate stages are not equivalent to a clean instantaneous deletion. The study checked SG responsiveness before interpreting the residual motor input.</a:t>
            </a:r>
            <a:endParaRPr lang="en-US"/>
          </a:p>
        </p:txBody>
      </p:sp>
      <p:pic>
        <p:nvPicPr>
          <p:cNvPr id="237" name="Presenton Native Image 50" descr=""/>
          <p:cNvPicPr/>
          <p:nvPr/>
        </p:nvPicPr>
        <p:blipFill>
          <a:blip r:embed="rId2" cstate="none"/>
          <a:stretch>
            <a:fillRect/>
          </a:stretch>
        </p:blipFill>
        <p:spPr>
          <a:xfrm>
            <a:off x="6610350" y="1201003"/>
            <a:ext cx="5048250" cy="3709175"/>
          </a:xfrm>
          <a:prstGeom prst="rect">
            <a:avLst/>
          </a:prstGeom>
        </p:spPr>
      </p:pic>
      <p:sp>
        <p:nvSpPr>
          <p:cNvPr id="786" name="Shape 78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1(A–C). Recordings before and during dye-mediated segmental-giant inactivation.</a:t>
            </a:r>
            <a:endParaRPr lang="en-US"/>
          </a:p>
        </p:txBody>
      </p:sp>
      <p:sp>
        <p:nvSpPr>
          <p:cNvPr id="787" name="Shape 787"/>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788" name="Shape 78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31</a:t>
            </a:r>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89" name="Shape 78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Bilateral relay removal exposes direct giant-fiber input</a:t>
            </a:r>
            <a:endParaRPr lang="en-US"/>
          </a:p>
        </p:txBody>
      </p:sp>
      <p:sp>
        <p:nvSpPr>
          <p:cNvPr id="790" name="Shape 790"/>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Fraser and Heitler photoinactivated SG on both sides of an abdominal ganglion. Removing only one SG would leave a contralateral route capable of exciting the recorded fast-flexor motor neuron. Bilateral manipulation therefore controlled an important parallel pathway.</a:t>
            </a:r>
            <a:endParaRPr lang="en-US"/>
          </a:p>
        </p:txBody>
      </p:sp>
      <p:sp>
        <p:nvSpPr>
          <p:cNvPr id="791" name="Shape 791"/>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After both SGs failed, LG stimulation still evoked a smaller fast-flexor EPSP. Injected current into LG could also spread to the motor neuron, especially for hyperpolarizing current, supporting an electrical component. The remaining response had a much shorter route than the usual giant-fiber-to-SG-to-motor-neuron pathway.</a:t>
            </a:r>
            <a:endParaRPr lang="en-US"/>
          </a:p>
        </p:txBody>
      </p:sp>
      <p:sp>
        <p:nvSpPr>
          <p:cNvPr id="792" name="Shape 792"/>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experiment supports direct input beyond the dominant relay route. It does not imply that this small pathway alone normally produces a full escape. The intact circuit combines direct motor-giant activation, SG-mediated recruitment, and additional fast-flexor input; selectively removing SG reveals only part of that organization.</a:t>
            </a:r>
            <a:endParaRPr lang="en-US"/>
          </a:p>
        </p:txBody>
      </p:sp>
      <p:pic>
        <p:nvPicPr>
          <p:cNvPr id="238" name="Presenton Native Image 51" descr=""/>
          <p:cNvPicPr/>
          <p:nvPr/>
        </p:nvPicPr>
        <p:blipFill>
          <a:blip r:embed="rId2" cstate="none"/>
          <a:stretch>
            <a:fillRect/>
          </a:stretch>
        </p:blipFill>
        <p:spPr>
          <a:xfrm>
            <a:off x="6610350" y="1714539"/>
            <a:ext cx="5048250" cy="2682102"/>
          </a:xfrm>
          <a:prstGeom prst="rect">
            <a:avLst/>
          </a:prstGeom>
        </p:spPr>
      </p:pic>
      <p:sp>
        <p:nvSpPr>
          <p:cNvPr id="793" name="Shape 79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2(A–C). Residual LG-to-fast-flexor responses after bilateral SG inactivation.</a:t>
            </a:r>
            <a:endParaRPr lang="en-US"/>
          </a:p>
        </p:txBody>
      </p:sp>
      <p:sp>
        <p:nvSpPr>
          <p:cNvPr id="794" name="Shape 794"/>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795" name="Shape 79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32</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796" name="Shape 7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LG and MG differ in their residual fast-flexor outputs</a:t>
            </a:r>
            <a:endParaRPr lang="en-US"/>
          </a:p>
        </p:txBody>
      </p:sp>
      <p:sp>
        <p:nvSpPr>
          <p:cNvPr id="797" name="Shape 797"/>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Fraser and Heitler compared LG and MG responses in fast-flexor neurons after bilateral SG photoinactivation. Both giants normally recruit the relay, so intact recordings can obscure differences in their direct output. The experiment compared the pathways under the same relay-removal condition.</a:t>
            </a:r>
            <a:endParaRPr lang="en-US"/>
          </a:p>
        </p:txBody>
      </p:sp>
      <p:sp>
        <p:nvSpPr>
          <p:cNvPr id="798" name="Shape 798"/>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In anterior abdominal ganglia, LG retained appreciable direct excitatory input to fast-flexor neurons, whereas MG produced little or no comparable effect. The residual LG input declined toward posterior ganglia. These segmental differences parallel the distinct motor consequences of activating the two giant systems.</a:t>
            </a:r>
            <a:endParaRPr lang="en-US"/>
          </a:p>
        </p:txBody>
      </p:sp>
      <p:sp>
        <p:nvSpPr>
          <p:cNvPr id="799" name="Shape 799"/>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supports unequal output connectivity beneath the shared SG pathway. It does not reconstruct the circuit’s evolutionary history from physiology alone. The authors proposed an ancestral interpretation, but the measured evidence is the spatial distribution of residual synaptic effects in the manipulated living circuit.</a:t>
            </a:r>
            <a:endParaRPr lang="en-US"/>
          </a:p>
        </p:txBody>
      </p:sp>
      <p:pic>
        <p:nvPicPr>
          <p:cNvPr id="239" name="Presenton Native Image 52" descr=""/>
          <p:cNvPicPr/>
          <p:nvPr/>
        </p:nvPicPr>
        <p:blipFill>
          <a:blip r:embed="rId2" cstate="none"/>
          <a:stretch>
            <a:fillRect/>
          </a:stretch>
        </p:blipFill>
        <p:spPr>
          <a:xfrm>
            <a:off x="6610350" y="1816297"/>
            <a:ext cx="5048250" cy="2478587"/>
          </a:xfrm>
          <a:prstGeom prst="rect">
            <a:avLst/>
          </a:prstGeom>
        </p:spPr>
      </p:pic>
      <p:sp>
        <p:nvSpPr>
          <p:cNvPr id="800" name="Shape 80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4(A,B). Comparisons of LG and MG input after SG removal.</a:t>
            </a:r>
            <a:endParaRPr lang="en-US"/>
          </a:p>
        </p:txBody>
      </p:sp>
      <p:sp>
        <p:nvSpPr>
          <p:cNvPr id="801" name="Shape 801"/>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02" name="Shape 80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33</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03" name="Shape 80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Cadmium separates chemical from electrical motor input</a:t>
            </a:r>
            <a:endParaRPr lang="en-US"/>
          </a:p>
        </p:txBody>
      </p:sp>
      <p:sp>
        <p:nvSpPr>
          <p:cNvPr id="804" name="Shape 804"/>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chemical synapse</a:t>
            </a:r>
            <a:r>
              <a:rPr sz="1500" b="0" i="0">
                <a:solidFill>
                  <a:srgbClr val="1C242C"/>
                </a:solidFill>
                <a:latin typeface="Arial"/>
                <a:ea typeface="Arial"/>
              </a:rPr>
              <a:t xml:space="preserve"> releases a transmitter that acts on receptors of another cell, rather than transferring current directly through a junction. Fraser and Heitler tested the residual LG-to-fast-flexor input with cadmium after removing SG. Cadmium interferes with calcium-dependent transmitter release but can also affect other cellular properties.</a:t>
            </a:r>
            <a:endParaRPr lang="en-US"/>
          </a:p>
        </p:txBody>
      </p:sp>
      <p:sp>
        <p:nvSpPr>
          <p:cNvPr id="805" name="Shape 805"/>
          <p:cNvSpPr/>
          <p:nvPr/>
        </p:nvSpPr>
        <p:spPr>
          <a:xfrm>
            <a:off x="457200" y="2712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At millimolar cadmium concentrations, the residual fast-flexor EPSP decreased while the obligatory electrical giant-fiber-to-motor-giant spike transmission persisted. The authors also checked antidromic fast-flexor spikes, which were not comparably lost. These controls distinguish reduced chemical input from complete failure of axonal conduction.</a:t>
            </a:r>
            <a:endParaRPr lang="en-US"/>
          </a:p>
        </p:txBody>
      </p:sp>
      <p:sp>
        <p:nvSpPr>
          <p:cNvPr id="806" name="Shape 806"/>
          <p:cNvSpPr/>
          <p:nvPr/>
        </p:nvSpPr>
        <p:spPr>
          <a:xfrm>
            <a:off x="457200" y="43700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findings support a chemical component alongside electrical coupling. They do not identify the released transmitter or its receptor subtype. Cadmium’s effects on spike duration and other membrane currents also require control, so pharmacology alone is not a complete molecular identification.</a:t>
            </a:r>
            <a:endParaRPr lang="en-US"/>
          </a:p>
        </p:txBody>
      </p:sp>
      <p:pic>
        <p:nvPicPr>
          <p:cNvPr id="240" name="Presenton Native Image 53" descr=""/>
          <p:cNvPicPr/>
          <p:nvPr/>
        </p:nvPicPr>
        <p:blipFill>
          <a:blip r:embed="rId2" cstate="none"/>
          <a:stretch>
            <a:fillRect/>
          </a:stretch>
        </p:blipFill>
        <p:spPr>
          <a:xfrm>
            <a:off x="6610350" y="1937639"/>
            <a:ext cx="5048250" cy="2235903"/>
          </a:xfrm>
          <a:prstGeom prst="rect">
            <a:avLst/>
          </a:prstGeom>
        </p:spPr>
      </p:pic>
      <p:sp>
        <p:nvSpPr>
          <p:cNvPr id="807" name="Shape 807"/>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9(A,B). Residual LG-to-fast-flexor response during cadmium exposure.</a:t>
            </a:r>
            <a:endParaRPr lang="en-US"/>
          </a:p>
        </p:txBody>
      </p:sp>
      <p:sp>
        <p:nvSpPr>
          <p:cNvPr id="808" name="Shape 808"/>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09" name="Shape 809"/>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34</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0" name="Shape 8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Cooling resolves components with different synaptic delays</a:t>
            </a:r>
            <a:endParaRPr lang="en-US"/>
          </a:p>
        </p:txBody>
      </p:sp>
      <p:sp>
        <p:nvSpPr>
          <p:cNvPr id="811" name="Shape 811"/>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Fraser and Heitler cooled preparations with both SGs photoinactivated from approximately 20°C to approximately 7°C. Cooling changes spike shape and slows processes associated with chemical transmission. LG and a fast-flexor neuron were recorded together to relate the residual motor response to presynaptic activity.</a:t>
            </a:r>
            <a:endParaRPr lang="en-US"/>
          </a:p>
        </p:txBody>
      </p:sp>
      <p:sp>
        <p:nvSpPr>
          <p:cNvPr id="812" name="Shape 812"/>
          <p:cNvSpPr/>
          <p:nvPr/>
        </p:nvSpPr>
        <p:spPr>
          <a:xfrm>
            <a:off x="457200" y="271269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At low temperature, an early EPSP component remained close to the LG spike, while a later component became more visibly separated. Adding cadmium removed the later component while leaving the early response. This combination supports distinct electrical and chemical contributions to the direct connection.</a:t>
            </a:r>
            <a:endParaRPr lang="en-US"/>
          </a:p>
        </p:txBody>
      </p:sp>
      <p:sp>
        <p:nvSpPr>
          <p:cNvPr id="813" name="Shape 813"/>
          <p:cNvSpPr/>
          <p:nvPr/>
        </p:nvSpPr>
        <p:spPr>
          <a:xfrm>
            <a:off x="457200" y="411286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inference rests on converging timing and pharmacological evidence, not on delay alone. Cooling affects several membrane processes and increased LG spike duration. The experiment does not establish that the cold response waveform occurs during ordinary escape in the freely behaving animal.</a:t>
            </a:r>
            <a:endParaRPr lang="en-US"/>
          </a:p>
        </p:txBody>
      </p:sp>
      <p:pic>
        <p:nvPicPr>
          <p:cNvPr id="241" name="Presenton Native Image 54" descr=""/>
          <p:cNvPicPr/>
          <p:nvPr/>
        </p:nvPicPr>
        <p:blipFill>
          <a:blip r:embed="rId2" cstate="none"/>
          <a:stretch>
            <a:fillRect/>
          </a:stretch>
        </p:blipFill>
        <p:spPr>
          <a:xfrm>
            <a:off x="6610350" y="1339856"/>
            <a:ext cx="5048250" cy="3431468"/>
          </a:xfrm>
          <a:prstGeom prst="rect">
            <a:avLst/>
          </a:prstGeom>
        </p:spPr>
      </p:pic>
      <p:sp>
        <p:nvSpPr>
          <p:cNvPr id="814" name="Shape 81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10(A–C). Residual motor EPSPs at 20°C, 7°C, and with cadmium.</a:t>
            </a:r>
            <a:endParaRPr lang="en-US"/>
          </a:p>
        </p:txBody>
      </p:sp>
      <p:sp>
        <p:nvSpPr>
          <p:cNvPr id="815" name="Shape 815"/>
          <p:cNvSpPr/>
          <p:nvPr/>
        </p:nvSpPr>
        <p:spPr>
          <a:xfrm>
            <a:off x="457200" y="6462713"/>
            <a:ext cx="1317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16" name="Shape 81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35</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17" name="Shape 8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Antenna stimulation isolates measurable MG input</a:t>
            </a:r>
            <a:endParaRPr lang="en-US"/>
          </a:p>
        </p:txBody>
      </p:sp>
      <p:sp>
        <p:nvSpPr>
          <p:cNvPr id="818" name="Shape 818"/>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Swierzbinski and Herberholz surgically exposed the crayfish brain and recorded MG while stimulating one antenna II nerve. An extracellular hook electrode monitored connective activity, and a sharp intracellular electrode measured MG voltage. This preparation isolated a defined anterior sensory route.</a:t>
            </a:r>
            <a:endParaRPr lang="en-US"/>
          </a:p>
        </p:txBody>
      </p:sp>
      <p:sp>
        <p:nvSpPr>
          <p:cNvPr id="819" name="Shape 819"/>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authors quantified an early MG potential at 3 ms and a later potential at 6 ms after the stimulus artifact. Most single-nerve stimuli produced subthreshold potentials, even when their amplitude had saturated. The electrode stimulus was kept below the level that directly activated MG without synaptic transmission.</a:t>
            </a:r>
            <a:endParaRPr lang="en-US"/>
          </a:p>
        </p:txBody>
      </p:sp>
      <p:sp>
        <p:nvSpPr>
          <p:cNvPr id="820" name="Shape 820"/>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These recordings establish experimentally separable phases of MG input. The late potential contains interacting excitation and inhibition rather than an isolated pure inhibitory voltage. Failure to fire in the reduced preparation does not mean that the intact MG circuit cannot respond rapidly to anterior threats.</a:t>
            </a:r>
            <a:endParaRPr lang="en-US"/>
          </a:p>
        </p:txBody>
      </p:sp>
      <p:pic>
        <p:nvPicPr>
          <p:cNvPr id="242" name="Presenton Native Image 55" descr=""/>
          <p:cNvPicPr/>
          <p:nvPr/>
        </p:nvPicPr>
        <p:blipFill>
          <a:blip r:embed="rId3" cstate="none"/>
          <a:stretch>
            <a:fillRect/>
          </a:stretch>
        </p:blipFill>
        <p:spPr>
          <a:xfrm>
            <a:off x="7915603" y="1055340"/>
            <a:ext cx="2266293" cy="2190750"/>
          </a:xfrm>
          <a:prstGeom prst="rect">
            <a:avLst/>
          </a:prstGeom>
        </p:spPr>
      </p:pic>
      <p:sp>
        <p:nvSpPr>
          <p:cNvPr id="821" name="Shape 821"/>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1(B). Antenna II-evoked connective activity and intracellular MG potentials.</a:t>
            </a:r>
            <a:endParaRPr lang="en-US"/>
          </a:p>
        </p:txBody>
      </p:sp>
      <p:pic>
        <p:nvPicPr>
          <p:cNvPr id="243" name="Presenton Native Image 56" descr=""/>
          <p:cNvPicPr/>
          <p:nvPr/>
        </p:nvPicPr>
        <p:blipFill>
          <a:blip r:embed="rId2" cstate="none"/>
          <a:stretch>
            <a:fillRect/>
          </a:stretch>
        </p:blipFill>
        <p:spPr>
          <a:xfrm>
            <a:off x="8454966" y="3827115"/>
            <a:ext cx="1187568" cy="1752600"/>
          </a:xfrm>
          <a:prstGeom prst="rect">
            <a:avLst/>
          </a:prstGeom>
        </p:spPr>
      </p:pic>
      <p:sp>
        <p:nvSpPr>
          <p:cNvPr id="822" name="Shape 822"/>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23" name="Shape 823"/>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24" name="Shape 82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36</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25" name="Shape 8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Repeated saline trials control for recording drift</a:t>
            </a:r>
            <a:endParaRPr lang="en-US"/>
          </a:p>
        </p:txBody>
      </p:sp>
      <p:sp>
        <p:nvSpPr>
          <p:cNvPr id="826" name="Shape 826"/>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A </a:t>
            </a:r>
            <a:r>
              <a:rPr sz="1500" b="1" i="0">
                <a:solidFill>
                  <a:srgbClr val="1C242C"/>
                </a:solidFill>
                <a:latin typeface="Arial"/>
                <a:ea typeface="Arial"/>
              </a:rPr>
              <a:t>baseline control</a:t>
            </a:r>
            <a:r>
              <a:rPr sz="1500" b="0" i="0">
                <a:solidFill>
                  <a:srgbClr val="1C242C"/>
                </a:solidFill>
                <a:latin typeface="Arial"/>
                <a:ea typeface="Arial"/>
              </a:rPr>
              <a:t xml:space="preserve"> measures the preparation without the tested drug, allowing changes over time to be distinguished from treatment effects. Swierzbinski and Herberholz stimulated the antenna II nerve every 90 s while continuously superfusing the exposed MG preparation with normal crayfish saline.</a:t>
            </a:r>
            <a:endParaRPr lang="en-US"/>
          </a:p>
        </p:txBody>
      </p:sp>
      <p:sp>
        <p:nvSpPr>
          <p:cNvPr id="827" name="Shape 827"/>
          <p:cNvSpPr/>
          <p:nvPr/>
        </p:nvSpPr>
        <p:spPr>
          <a:xfrm>
            <a:off x="457200" y="271269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After a ten-minute baseline, responses were followed for another 90 minutes. The early and late potentials fluctuated but did not undergo the major sustained increase seen with ethanol. The original published traces retain their color coding for successive recording times.</a:t>
            </a:r>
            <a:endParaRPr lang="en-US"/>
          </a:p>
        </p:txBody>
      </p:sp>
      <p:sp>
        <p:nvSpPr>
          <p:cNvPr id="828" name="Shape 828"/>
          <p:cNvSpPr/>
          <p:nvPr/>
        </p:nvSpPr>
        <p:spPr>
          <a:xfrm>
            <a:off x="457200" y="4112865"/>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control supports attributing the ethanol-associated enhancement to treatment rather than ordinary repeated stimulation alone. It does not prove that saline preparations are perfectly invariant or that each pharmacological condition has the same background drift. The comparison concerns the behavior of this reduced neural preparation over its recorded interval.</a:t>
            </a:r>
            <a:endParaRPr lang="en-US"/>
          </a:p>
        </p:txBody>
      </p:sp>
      <p:pic>
        <p:nvPicPr>
          <p:cNvPr id="244" name="Presenton Native Image 57" descr=""/>
          <p:cNvPicPr/>
          <p:nvPr/>
        </p:nvPicPr>
        <p:blipFill>
          <a:blip r:embed="rId3" cstate="none"/>
          <a:stretch>
            <a:fillRect/>
          </a:stretch>
        </p:blipFill>
        <p:spPr>
          <a:xfrm>
            <a:off x="7034868" y="1055340"/>
            <a:ext cx="4027764" cy="2190750"/>
          </a:xfrm>
          <a:prstGeom prst="rect">
            <a:avLst/>
          </a:prstGeom>
        </p:spPr>
      </p:pic>
      <p:sp>
        <p:nvSpPr>
          <p:cNvPr id="829" name="Shape 829"/>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2(B). Early and late MG potentials during repeated saline stimulation.</a:t>
            </a:r>
            <a:endParaRPr lang="en-US"/>
          </a:p>
        </p:txBody>
      </p:sp>
      <p:pic>
        <p:nvPicPr>
          <p:cNvPr id="245" name="Presenton Native Image 58" descr=""/>
          <p:cNvPicPr/>
          <p:nvPr/>
        </p:nvPicPr>
        <p:blipFill>
          <a:blip r:embed="rId2" cstate="none"/>
          <a:stretch>
            <a:fillRect/>
          </a:stretch>
        </p:blipFill>
        <p:spPr>
          <a:xfrm>
            <a:off x="8454966" y="3827115"/>
            <a:ext cx="1187568" cy="1752600"/>
          </a:xfrm>
          <a:prstGeom prst="rect">
            <a:avLst/>
          </a:prstGeom>
        </p:spPr>
      </p:pic>
      <p:sp>
        <p:nvSpPr>
          <p:cNvPr id="830" name="Shape 830"/>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31" name="Shape 831"/>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32" name="Shape 83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37</a:t>
            </a:r>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33"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Ethanol enhances the early MG sensory potential</a:t>
            </a:r>
            <a:endParaRPr lang="en-US"/>
          </a:p>
        </p:txBody>
      </p:sp>
      <p:sp>
        <p:nvSpPr>
          <p:cNvPr id="834" name="Shape 834"/>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Swierzbinski and Herberholz superfused MG preparations with 100 mM </a:t>
            </a:r>
            <a:r>
              <a:rPr sz="1500" b="1" i="0">
                <a:solidFill>
                  <a:srgbClr val="1C242C"/>
                </a:solidFill>
                <a:latin typeface="Arial"/>
                <a:ea typeface="Arial"/>
              </a:rPr>
              <a:t>ethanol</a:t>
            </a:r>
            <a:r>
              <a:rPr sz="1500" b="0" i="0">
                <a:solidFill>
                  <a:srgbClr val="1C242C"/>
                </a:solidFill>
                <a:latin typeface="Arial"/>
                <a:ea typeface="Arial"/>
              </a:rPr>
              <a:t>, the alcohol molecule tested here, after a saline baseline. Antenna II stimuli remained 90 s apart. Early and late MG potentials were measured separately to avoid treating the compound response as a single uniform signal.</a:t>
            </a:r>
            <a:endParaRPr lang="en-US"/>
          </a:p>
        </p:txBody>
      </p:sp>
      <p:sp>
        <p:nvSpPr>
          <p:cNvPr id="835" name="Shape 835"/>
          <p:cNvSpPr/>
          <p:nvPr/>
        </p:nvSpPr>
        <p:spPr>
          <a:xfrm>
            <a:off x="457200" y="245551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early potential rose to roughly one-and-a-half times its baseline amplitude during ethanol exposure. Enhancement remained after 60 minutes of saline washout. The late component varied and did not provide comparably strong evidence for a sustained enhancement.</a:t>
            </a:r>
            <a:endParaRPr lang="en-US"/>
          </a:p>
        </p:txBody>
      </p:sp>
      <p:sp>
        <p:nvSpPr>
          <p:cNvPr id="836" name="Shape 836"/>
          <p:cNvSpPr/>
          <p:nvPr/>
        </p:nvSpPr>
        <p:spPr>
          <a:xfrm>
            <a:off x="457200" y="3855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effect supports increased excitability of an anterior sensory pathway under this treatment. It does not identify a single ethanol-binding receptor or establish a behavioral escape rate in these pinned preparations. A larger subthreshold potential and an increased probability of natural escape are related hypotheses, not the same measurement.</a:t>
            </a:r>
            <a:endParaRPr lang="en-US"/>
          </a:p>
        </p:txBody>
      </p:sp>
      <p:pic>
        <p:nvPicPr>
          <p:cNvPr id="246" name="Presenton Native Image 59" descr=""/>
          <p:cNvPicPr/>
          <p:nvPr/>
        </p:nvPicPr>
        <p:blipFill>
          <a:blip r:embed="rId3" cstate="none"/>
          <a:stretch>
            <a:fillRect/>
          </a:stretch>
        </p:blipFill>
        <p:spPr>
          <a:xfrm>
            <a:off x="7303056" y="1055340"/>
            <a:ext cx="3491388" cy="2190750"/>
          </a:xfrm>
          <a:prstGeom prst="rect">
            <a:avLst/>
          </a:prstGeom>
        </p:spPr>
      </p:pic>
      <p:sp>
        <p:nvSpPr>
          <p:cNvPr id="837" name="Shape 837"/>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3. MG potential amplitudes before, during, and after ethanol exposure.</a:t>
            </a:r>
            <a:endParaRPr lang="en-US"/>
          </a:p>
        </p:txBody>
      </p:sp>
      <p:pic>
        <p:nvPicPr>
          <p:cNvPr id="247" name="Presenton Native Image 60" descr=""/>
          <p:cNvPicPr/>
          <p:nvPr/>
        </p:nvPicPr>
        <p:blipFill>
          <a:blip r:embed="rId2" cstate="none"/>
          <a:stretch>
            <a:fillRect/>
          </a:stretch>
        </p:blipFill>
        <p:spPr>
          <a:xfrm>
            <a:off x="8454966" y="3827115"/>
            <a:ext cx="1187568" cy="1752600"/>
          </a:xfrm>
          <a:prstGeom prst="rect">
            <a:avLst/>
          </a:prstGeom>
        </p:spPr>
      </p:pic>
      <p:sp>
        <p:nvSpPr>
          <p:cNvPr id="838" name="Shape 838"/>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39" name="Shape 839"/>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40" name="Shape 840"/>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38</a:t>
            </a:r>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1" name="Shape 84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Inhibitory-channel blockade changes MG sensory responses</a:t>
            </a:r>
            <a:endParaRPr lang="en-US"/>
          </a:p>
        </p:txBody>
      </p:sp>
      <p:sp>
        <p:nvSpPr>
          <p:cNvPr id="842" name="Shape 842"/>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 xml:space="preserve">Swierzbinski and Herberholz applied 25 μM picrotoxin to test inhibitory-channel contributions to MG input. An </a:t>
            </a:r>
            <a:r>
              <a:rPr sz="1500" b="1" i="0">
                <a:solidFill>
                  <a:srgbClr val="1C242C"/>
                </a:solidFill>
                <a:latin typeface="Arial"/>
                <a:ea typeface="Arial"/>
              </a:rPr>
              <a:t>antagonist</a:t>
            </a:r>
            <a:r>
              <a:rPr sz="1500" b="0" i="0">
                <a:solidFill>
                  <a:srgbClr val="1C242C"/>
                </a:solidFill>
                <a:latin typeface="Arial"/>
                <a:ea typeface="Arial"/>
              </a:rPr>
              <a:t xml:space="preserve"> reduces a receptor-associated process; this drug interferes with inhibitory ion-channel function. The experiment compared early and late sensory potentials with their saline baseline.</a:t>
            </a:r>
            <a:endParaRPr lang="en-US"/>
          </a:p>
        </p:txBody>
      </p:sp>
      <p:sp>
        <p:nvSpPr>
          <p:cNvPr id="843" name="Shape 843"/>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early MG potential increased during the 30-minute treatment. Changes of the later potential during application were more variable. Higher picrotoxin concentrations could produce repeated MG spikes arising late in the compound response, so the investigators used the lower dose for their main comparisons.</a:t>
            </a:r>
            <a:endParaRPr lang="en-US"/>
          </a:p>
        </p:txBody>
      </p:sp>
      <p:sp>
        <p:nvSpPr>
          <p:cNvPr id="844" name="Shape 844"/>
          <p:cNvSpPr/>
          <p:nvPr/>
        </p:nvSpPr>
        <p:spPr>
          <a:xfrm>
            <a:off x="457200" y="43700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findings support inhibitory regulation of the MG sensory pathway. They do not assign every drug effect directly to channels on MG: upstream sensory neurons can also be affected. The late suppression during washout further cautions against treating the drug response as a simple, immediately reversible removal of one synapse.</a:t>
            </a:r>
            <a:endParaRPr lang="en-US"/>
          </a:p>
        </p:txBody>
      </p:sp>
      <p:pic>
        <p:nvPicPr>
          <p:cNvPr id="248" name="Presenton Native Image 61" descr=""/>
          <p:cNvPicPr/>
          <p:nvPr/>
        </p:nvPicPr>
        <p:blipFill>
          <a:blip r:embed="rId3" cstate="none"/>
          <a:stretch>
            <a:fillRect/>
          </a:stretch>
        </p:blipFill>
        <p:spPr>
          <a:xfrm>
            <a:off x="7473701" y="1055340"/>
            <a:ext cx="3150098" cy="2190750"/>
          </a:xfrm>
          <a:prstGeom prst="rect">
            <a:avLst/>
          </a:prstGeom>
        </p:spPr>
      </p:pic>
      <p:sp>
        <p:nvSpPr>
          <p:cNvPr id="845" name="Shape 845"/>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4(B). Early and late MG potentials during picrotoxin and washout.</a:t>
            </a:r>
            <a:endParaRPr lang="en-US"/>
          </a:p>
        </p:txBody>
      </p:sp>
      <p:pic>
        <p:nvPicPr>
          <p:cNvPr id="249" name="Presenton Native Image 62" descr=""/>
          <p:cNvPicPr/>
          <p:nvPr/>
        </p:nvPicPr>
        <p:blipFill>
          <a:blip r:embed="rId2" cstate="none"/>
          <a:stretch>
            <a:fillRect/>
          </a:stretch>
        </p:blipFill>
        <p:spPr>
          <a:xfrm>
            <a:off x="8454966" y="3827115"/>
            <a:ext cx="1187568" cy="1752600"/>
          </a:xfrm>
          <a:prstGeom prst="rect">
            <a:avLst/>
          </a:prstGeom>
        </p:spPr>
      </p:pic>
      <p:sp>
        <p:nvSpPr>
          <p:cNvPr id="846" name="Shape 846"/>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47" name="Shape 847"/>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48" name="Shape 84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39</a:t>
            </a:r>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49" name="Shape 84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Muscimol produces delayed suppression during washout</a:t>
            </a:r>
            <a:endParaRPr lang="en-US"/>
          </a:p>
        </p:txBody>
      </p:sp>
      <p:sp>
        <p:nvSpPr>
          <p:cNvPr id="850" name="Shape 850"/>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Muscimol</a:t>
            </a:r>
            <a:r>
              <a:rPr sz="1500" b="0" i="0">
                <a:solidFill>
                  <a:srgbClr val="1C242C"/>
                </a:solidFill>
                <a:latin typeface="Arial"/>
                <a:ea typeface="Arial"/>
              </a:rPr>
              <a:t xml:space="preserve"> is an agonist of ionotropic GABA receptors; an agonist activates a receptor-associated response. An </a:t>
            </a:r>
            <a:r>
              <a:rPr sz="1500" b="1" i="0">
                <a:solidFill>
                  <a:srgbClr val="1C242C"/>
                </a:solidFill>
                <a:latin typeface="Arial"/>
                <a:ea typeface="Arial"/>
              </a:rPr>
              <a:t>ionotropic receptor</a:t>
            </a:r>
            <a:r>
              <a:rPr sz="1500" b="0" i="0">
                <a:solidFill>
                  <a:srgbClr val="1C242C"/>
                </a:solidFill>
                <a:latin typeface="Arial"/>
                <a:ea typeface="Arial"/>
              </a:rPr>
              <a:t xml:space="preserve"> directly gates an ion channel. Swierzbinski and Herberholz applied 25 μM muscimol for 30 minutes while repeatedly measuring antenna II-evoked MG potentials.</a:t>
            </a:r>
            <a:endParaRPr lang="en-US"/>
          </a:p>
        </p:txBody>
      </p:sp>
      <p:sp>
        <p:nvSpPr>
          <p:cNvPr id="851" name="Shape 851"/>
          <p:cNvSpPr/>
          <p:nvPr/>
        </p:nvSpPr>
        <p:spPr>
          <a:xfrm>
            <a:off x="457200" y="271269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Potential amplitudes changed relatively little during treatment but declined during subsequent saline washout. The late potential reached approximately 32% of baseline after 60 minutes of washout. Separate measurements of MG input resistance changed only modestly during muscimol exposure, despite the later decline of sensory potentials.</a:t>
            </a:r>
            <a:endParaRPr lang="en-US"/>
          </a:p>
        </p:txBody>
      </p:sp>
      <p:sp>
        <p:nvSpPr>
          <p:cNvPr id="852" name="Shape 852"/>
          <p:cNvSpPr/>
          <p:nvPr/>
        </p:nvSpPr>
        <p:spPr>
          <a:xfrm>
            <a:off x="457200" y="4370040"/>
            <a:ext cx="5581650" cy="18002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delayed response supports a more complex pharmacological interaction than immediate postsynaptic shunting alone. It does not establish the molecular origin of the persistent suppression. Direct receptor activation, upstream effects, and processes continuing after solution exchange must remain distinguishable from measured MG voltage changes.</a:t>
            </a:r>
            <a:endParaRPr lang="en-US"/>
          </a:p>
        </p:txBody>
      </p:sp>
      <p:pic>
        <p:nvPicPr>
          <p:cNvPr id="250" name="Presenton Native Image 63" descr=""/>
          <p:cNvPicPr/>
          <p:nvPr/>
        </p:nvPicPr>
        <p:blipFill>
          <a:blip r:embed="rId3" cstate="none"/>
          <a:stretch>
            <a:fillRect/>
          </a:stretch>
        </p:blipFill>
        <p:spPr>
          <a:xfrm>
            <a:off x="7413122" y="1055340"/>
            <a:ext cx="3271256" cy="2190750"/>
          </a:xfrm>
          <a:prstGeom prst="rect">
            <a:avLst/>
          </a:prstGeom>
        </p:spPr>
      </p:pic>
      <p:sp>
        <p:nvSpPr>
          <p:cNvPr id="853" name="Shape 853"/>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4(C). MG potentials during muscimol exposure and saline washout.</a:t>
            </a:r>
            <a:endParaRPr lang="en-US"/>
          </a:p>
        </p:txBody>
      </p:sp>
      <p:pic>
        <p:nvPicPr>
          <p:cNvPr id="251" name="Presenton Native Image 64" descr=""/>
          <p:cNvPicPr/>
          <p:nvPr/>
        </p:nvPicPr>
        <p:blipFill>
          <a:blip r:embed="rId2" cstate="none"/>
          <a:stretch>
            <a:fillRect/>
          </a:stretch>
        </p:blipFill>
        <p:spPr>
          <a:xfrm>
            <a:off x="8454966" y="3827115"/>
            <a:ext cx="1187568" cy="1752600"/>
          </a:xfrm>
          <a:prstGeom prst="rect">
            <a:avLst/>
          </a:prstGeom>
        </p:spPr>
      </p:pic>
      <p:sp>
        <p:nvSpPr>
          <p:cNvPr id="854" name="Shape 854"/>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55" name="Shape 855"/>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56" name="Shape 856"/>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40</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57" name="Shape 8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Drug order alters the apparent ethanol response</a:t>
            </a:r>
            <a:endParaRPr lang="en-US"/>
          </a:p>
        </p:txBody>
      </p:sp>
      <p:sp>
        <p:nvSpPr>
          <p:cNvPr id="858" name="Shape 858"/>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Swierzbinski and Herberholz exposed MG preparations to muscimol before applying ethanol. The sequence included a saline baseline, 30 minutes of 25 μM muscimol, 30 minutes of 100 mM ethanol, and 60 minutes of saline washout. Early and late sensory potentials were measured throughout.</a:t>
            </a:r>
            <a:endParaRPr lang="en-US"/>
          </a:p>
        </p:txBody>
      </p:sp>
      <p:sp>
        <p:nvSpPr>
          <p:cNvPr id="859" name="Shape 859"/>
          <p:cNvSpPr/>
          <p:nvPr/>
        </p:nvSpPr>
        <p:spPr>
          <a:xfrm>
            <a:off x="457200" y="24555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Unlike ethanol alone, ethanol following muscimol did not produce a clear additional enhancement relative to baseline. The large washout suppression observed after muscimol alone was also absent in this sequential condition. The treatment history therefore altered both apparent facilitation and delayed suppression.</a:t>
            </a:r>
            <a:endParaRPr lang="en-US"/>
          </a:p>
        </p:txBody>
      </p:sp>
      <p:sp>
        <p:nvSpPr>
          <p:cNvPr id="860" name="Shape 860"/>
          <p:cNvSpPr/>
          <p:nvPr/>
        </p:nvSpPr>
        <p:spPr>
          <a:xfrm>
            <a:off x="457200" y="411286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These interactions support state-dependent pharmacological modulation of sensory input. They do not prove that ethanol acts at exactly the same receptor-binding site as muscimol. The measurements concern compound synaptic potentials, and several sites within the anterior pathway could contribute to the history-dependent response.</a:t>
            </a:r>
            <a:endParaRPr lang="en-US"/>
          </a:p>
        </p:txBody>
      </p:sp>
      <p:pic>
        <p:nvPicPr>
          <p:cNvPr id="252" name="Presenton Native Image 65" descr=""/>
          <p:cNvPicPr/>
          <p:nvPr/>
        </p:nvPicPr>
        <p:blipFill>
          <a:blip r:embed="rId3" cstate="none"/>
          <a:stretch>
            <a:fillRect/>
          </a:stretch>
        </p:blipFill>
        <p:spPr>
          <a:xfrm>
            <a:off x="7457773" y="1055340"/>
            <a:ext cx="3181954" cy="2190750"/>
          </a:xfrm>
          <a:prstGeom prst="rect">
            <a:avLst/>
          </a:prstGeom>
        </p:spPr>
      </p:pic>
      <p:sp>
        <p:nvSpPr>
          <p:cNvPr id="861" name="Shape 861"/>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5. MG responses to muscimol followed by ethanol.</a:t>
            </a:r>
            <a:endParaRPr lang="en-US"/>
          </a:p>
        </p:txBody>
      </p:sp>
      <p:pic>
        <p:nvPicPr>
          <p:cNvPr id="253" name="Presenton Native Image 66" descr=""/>
          <p:cNvPicPr/>
          <p:nvPr/>
        </p:nvPicPr>
        <p:blipFill>
          <a:blip r:embed="rId2" cstate="none"/>
          <a:stretch>
            <a:fillRect/>
          </a:stretch>
        </p:blipFill>
        <p:spPr>
          <a:xfrm>
            <a:off x="8454966" y="3827115"/>
            <a:ext cx="1187568" cy="1752600"/>
          </a:xfrm>
          <a:prstGeom prst="rect">
            <a:avLst/>
          </a:prstGeom>
        </p:spPr>
      </p:pic>
      <p:sp>
        <p:nvSpPr>
          <p:cNvPr id="862" name="Shape 862"/>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863" name="Shape 863"/>
          <p:cNvSpPr/>
          <p:nvPr/>
        </p:nvSpPr>
        <p:spPr>
          <a:xfrm>
            <a:off x="457200" y="6462713"/>
            <a:ext cx="1933873"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Swierzbinski </a:t>
            </a:r>
            <a:r>
              <a:rPr sz="975" b="0" i="0">
                <a:solidFill>
                  <a:srgbClr val="56636F"/>
                </a:solidFill>
                <a:latin typeface="Arial"/>
                <a:ea typeface="Arial"/>
              </a:rPr>
              <a:t>&amp;</a:t>
            </a:r>
            <a:r>
              <a:rPr sz="975" b="0" i="0">
                <a:solidFill>
                  <a:srgbClr val="56636F"/>
                </a:solidFill>
                <a:latin typeface="Arial"/>
                <a:ea typeface="Arial"/>
              </a:rPr>
              <a:t xml:space="preserve"> Herberholz (2018)</a:t>
            </a:r>
            <a:endParaRPr lang="en-US"/>
          </a:p>
        </p:txBody>
      </p:sp>
      <p:sp>
        <p:nvSpPr>
          <p:cNvPr id="864" name="Shape 864"/>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41</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65" name="Shape 86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Manganese imaging links sensory stimulation to brain uptake</a:t>
            </a:r>
            <a:endParaRPr lang="en-US"/>
          </a:p>
        </p:txBody>
      </p:sp>
      <p:sp>
        <p:nvSpPr>
          <p:cNvPr id="866" name="Shape 866"/>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1" i="0">
                <a:solidFill>
                  <a:srgbClr val="1C242C"/>
                </a:solidFill>
                <a:latin typeface="Arial"/>
                <a:ea typeface="Arial"/>
              </a:rPr>
              <a:t>Manganese-enhanced MRI</a:t>
            </a:r>
            <a:r>
              <a:rPr sz="1500" b="0" i="0">
                <a:solidFill>
                  <a:srgbClr val="1C242C"/>
                </a:solidFill>
                <a:latin typeface="Arial"/>
                <a:ea typeface="Arial"/>
              </a:rPr>
              <a:t>, or MEMRI, uses manganese ions to increase tissue contrast and mark activity-associated uptake. Manganese can enter depolarized cells through voltage-gated calcium channels. Such channels open in response to membrane voltage and normally provide a route for calcium entry.</a:t>
            </a:r>
            <a:endParaRPr lang="en-US"/>
          </a:p>
        </p:txBody>
      </p:sp>
      <p:sp>
        <p:nvSpPr>
          <p:cNvPr id="867" name="Shape 867"/>
          <p:cNvSpPr/>
          <p:nvPr/>
        </p:nvSpPr>
        <p:spPr>
          <a:xfrm>
            <a:off x="457200" y="245551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injected 40 μl of 25 mM manganese chloride and stimulated the antenna II nerve at 4 Hz. T1-weighted brain images at 31 μm in-plane resolution contained greater uptake on the stimulated side, including the antenna II nerve and accessory-lobe region.</a:t>
            </a:r>
            <a:endParaRPr lang="en-US"/>
          </a:p>
        </p:txBody>
      </p:sp>
      <p:sp>
        <p:nvSpPr>
          <p:cNvPr id="868" name="Shape 868"/>
          <p:cNvSpPr/>
          <p:nvPr/>
        </p:nvSpPr>
        <p:spPr>
          <a:xfrm>
            <a:off x="457200" y="3855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result relates controlled sensory stimulation to regional manganese accumulation. It does not identify the firing of a particular MG neuron or resolve individual spikes. The marker accumulates over an extended stimulation period, so its biological timescale differs from the millisecond escape recordings.</a:t>
            </a:r>
            <a:endParaRPr lang="en-US"/>
          </a:p>
        </p:txBody>
      </p:sp>
      <p:pic>
        <p:nvPicPr>
          <p:cNvPr id="254" name="Presenton Native Image 67" descr=""/>
          <p:cNvPicPr/>
          <p:nvPr/>
        </p:nvPicPr>
        <p:blipFill>
          <a:blip r:embed="rId2" cstate="none"/>
          <a:stretch>
            <a:fillRect/>
          </a:stretch>
        </p:blipFill>
        <p:spPr>
          <a:xfrm>
            <a:off x="6610350" y="1768604"/>
            <a:ext cx="5048250" cy="2573973"/>
          </a:xfrm>
          <a:prstGeom prst="rect">
            <a:avLst/>
          </a:prstGeom>
        </p:spPr>
      </p:pic>
      <p:sp>
        <p:nvSpPr>
          <p:cNvPr id="869" name="Shape 86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3(A,B). Axial brain sections after antenna II stimulation and manganese injection.</a:t>
            </a:r>
            <a:endParaRPr lang="en-US"/>
          </a:p>
        </p:txBody>
      </p:sp>
      <p:sp>
        <p:nvSpPr>
          <p:cNvPr id="870" name="Shape 870"/>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871" name="Shape 87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42</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2" name="Shape 87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Unstimulated imaging controls constrain activity inference</a:t>
            </a:r>
            <a:endParaRPr lang="en-US"/>
          </a:p>
        </p:txBody>
      </p:sp>
      <p:sp>
        <p:nvSpPr>
          <p:cNvPr id="873" name="Shape 873"/>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compared stimulated and unstimulated animals receiving the same manganese dose. They examined both T1- and T2-weighted images, which emphasize different tissue-dependent magnetic relaxation properties. Regions of interest were held consistent across selected slices within each animal.</a:t>
            </a:r>
            <a:endParaRPr lang="en-US"/>
          </a:p>
        </p:txBody>
      </p:sp>
      <p:sp>
        <p:nvSpPr>
          <p:cNvPr id="874" name="Shape 874"/>
          <p:cNvSpPr/>
          <p:nvPr/>
        </p:nvSpPr>
        <p:spPr>
          <a:xfrm>
            <a:off x="457200" y="2712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stimulated animal’s T1-weighted images had greater intensity on the stimulated side, while the unstimulated control had more similar values across sides. T2-weighted images provided strong anatomical contrast but made the side difference less discrete. The comparison extended across a 400 μm axial region.</a:t>
            </a:r>
            <a:endParaRPr lang="en-US"/>
          </a:p>
        </p:txBody>
      </p:sp>
      <p:sp>
        <p:nvSpPr>
          <p:cNvPr id="875" name="Shape 875"/>
          <p:cNvSpPr/>
          <p:nvPr/>
        </p:nvSpPr>
        <p:spPr>
          <a:xfrm>
            <a:off x="457200" y="43700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control supports stimulation-associated uptake rather than assuming all visible contrast represents neural activity. It does not remove every potential anatomical or physiological source of between-animal variation. Imaging protocol, manganese exposure, anatomical position, and the regional comparison all affect what can be inferred.</a:t>
            </a:r>
            <a:endParaRPr lang="en-US"/>
          </a:p>
        </p:txBody>
      </p:sp>
      <p:pic>
        <p:nvPicPr>
          <p:cNvPr id="255" name="Presenton Native Image 68" descr=""/>
          <p:cNvPicPr/>
          <p:nvPr/>
        </p:nvPicPr>
        <p:blipFill>
          <a:blip r:embed="rId2" cstate="none"/>
          <a:stretch>
            <a:fillRect/>
          </a:stretch>
        </p:blipFill>
        <p:spPr>
          <a:xfrm>
            <a:off x="7495662" y="1055340"/>
            <a:ext cx="3277626" cy="4000500"/>
          </a:xfrm>
          <a:prstGeom prst="rect">
            <a:avLst/>
          </a:prstGeom>
        </p:spPr>
      </p:pic>
      <p:sp>
        <p:nvSpPr>
          <p:cNvPr id="876" name="Shape 87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4. Original stimulated and unstimulated brain-image stacks.</a:t>
            </a:r>
            <a:endParaRPr lang="en-US"/>
          </a:p>
        </p:txBody>
      </p:sp>
      <p:sp>
        <p:nvSpPr>
          <p:cNvPr id="877" name="Shape 877"/>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878" name="Shape 878"/>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43</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79" name="Shape 879"/>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Cord stimulation permits regional imaging of escape activity</a:t>
            </a:r>
            <a:endParaRPr lang="en-US"/>
          </a:p>
        </p:txBody>
      </p:sp>
      <p:sp>
        <p:nvSpPr>
          <p:cNvPr id="880" name="Shape 880"/>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injected a modest manganese dose and stimulated the ventral nerve cord to elicit LG-mediated tail flips. The protocol used 60 shocks over 20 minutes, each evoking an escape response. Imaging followed the stimulation period rather than occurring during individual flips.</a:t>
            </a:r>
            <a:endParaRPr lang="en-US"/>
          </a:p>
        </p:txBody>
      </p:sp>
      <p:sp>
        <p:nvSpPr>
          <p:cNvPr id="881" name="Shape 881"/>
          <p:cNvSpPr/>
          <p:nvPr/>
        </p:nvSpPr>
        <p:spPr>
          <a:xfrm>
            <a:off x="457200" y="245551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Manganese-enhanced sections resolved abdominal ganglia and associated nerve roots. Enlarged regions distinguished brighter ganglionic areas from surrounding tissue, with the published figures preserving 500 μm and 100 μm scale bars. The result extends activity-associated imaging beyond the anterior sensory preparation.</a:t>
            </a:r>
            <a:endParaRPr lang="en-US"/>
          </a:p>
        </p:txBody>
      </p:sp>
      <p:sp>
        <p:nvSpPr>
          <p:cNvPr id="882" name="Shape 882"/>
          <p:cNvSpPr/>
          <p:nvPr/>
        </p:nvSpPr>
        <p:spPr>
          <a:xfrm>
            <a:off x="457200" y="4112865"/>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provides a regional anatomical record associated with repeated escape-circuit activation. It does not establish which individual neuron accumulated the marker or which synapse transmitted each response. Intracellular electrophysiology supplies cellular timing and causal tests that this integrated imaging measurement cannot replace.</a:t>
            </a:r>
            <a:endParaRPr lang="en-US"/>
          </a:p>
        </p:txBody>
      </p:sp>
      <p:pic>
        <p:nvPicPr>
          <p:cNvPr id="256" name="Presenton Native Image 69" descr=""/>
          <p:cNvPicPr/>
          <p:nvPr/>
        </p:nvPicPr>
        <p:blipFill>
          <a:blip r:embed="rId2" cstate="none"/>
          <a:stretch>
            <a:fillRect/>
          </a:stretch>
        </p:blipFill>
        <p:spPr>
          <a:xfrm>
            <a:off x="7166705" y="1055340"/>
            <a:ext cx="3935539" cy="4000500"/>
          </a:xfrm>
          <a:prstGeom prst="rect">
            <a:avLst/>
          </a:prstGeom>
        </p:spPr>
      </p:pic>
      <p:sp>
        <p:nvSpPr>
          <p:cNvPr id="883" name="Shape 883"/>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5(A–C). Cord, ganglion, and enlarged neuropil after repeated escape stimulation.</a:t>
            </a:r>
            <a:endParaRPr lang="en-US"/>
          </a:p>
        </p:txBody>
      </p:sp>
      <p:sp>
        <p:nvSpPr>
          <p:cNvPr id="884" name="Shape 884"/>
          <p:cNvSpPr/>
          <p:nvPr/>
        </p:nvSpPr>
        <p:spPr>
          <a:xfrm>
            <a:off x="457200" y="6462713"/>
            <a:ext cx="137383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885" name="Shape 885"/>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44</a:t>
            </a:r>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86" name="Shape 88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Escape speed and flexibility arise from parallel circuits</a:t>
            </a:r>
            <a:endParaRPr lang="en-US"/>
          </a:p>
        </p:txBody>
      </p:sp>
      <p:sp>
        <p:nvSpPr>
          <p:cNvPr id="887" name="Shape 887"/>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Wine and Krasne connected abrupt stimulus location with the giant circuit recruited and the resulting movement. Posterior taps commonly evoked LG-mediated upward pitching; anterior stimuli commonly evoked MG-mediated backward escape. More gradual stimuli generally recruited slower, more variable nongiant responses.</a:t>
            </a:r>
            <a:endParaRPr lang="en-US"/>
          </a:p>
        </p:txBody>
      </p:sp>
      <p:sp>
        <p:nvSpPr>
          <p:cNvPr id="888" name="Shape 888"/>
          <p:cNvSpPr/>
          <p:nvPr/>
        </p:nvSpPr>
        <p:spPr>
          <a:xfrm>
            <a:off x="457200" y="271269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Controlled nerve-pair recordings later established timing selectivity at 0.1 ms input separation, while relay photoinactivation exposed differing LG and MG motor outputs. These experiments address separate stages: sensory integration determines recruitment, and output connectivity determines the muscle pattern once a pathway is active.</a:t>
            </a:r>
            <a:endParaRPr lang="en-US"/>
          </a:p>
        </p:txBody>
      </p:sp>
      <p:sp>
        <p:nvSpPr>
          <p:cNvPr id="889" name="Shape 889"/>
          <p:cNvSpPr/>
          <p:nvPr/>
        </p:nvSpPr>
        <p:spPr>
          <a:xfrm>
            <a:off x="457200" y="43700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Speed and flexibility therefore depend on interacting parallel pathways rather than on giant-axon diameter alone. The rapid giant response is not the only escape available, and the presence of a tail flip is not sufficient to identify its neural cause. Pathway-specific recording or manipulation is required.</a:t>
            </a:r>
            <a:endParaRPr lang="en-US"/>
          </a:p>
        </p:txBody>
      </p:sp>
      <p:pic>
        <p:nvPicPr>
          <p:cNvPr id="257" name="Presenton Native Image 70" descr=""/>
          <p:cNvPicPr/>
          <p:nvPr/>
        </p:nvPicPr>
        <p:blipFill>
          <a:blip r:embed="rId2" cstate="none"/>
          <a:stretch>
            <a:fillRect/>
          </a:stretch>
        </p:blipFill>
        <p:spPr>
          <a:xfrm>
            <a:off x="7736971" y="1055340"/>
            <a:ext cx="2795007" cy="4000500"/>
          </a:xfrm>
          <a:prstGeom prst="rect">
            <a:avLst/>
          </a:prstGeom>
        </p:spPr>
      </p:pic>
      <p:sp>
        <p:nvSpPr>
          <p:cNvPr id="890" name="Shape 89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5. Distinct filmed LG and MG escape movements.</a:t>
            </a:r>
            <a:endParaRPr lang="en-US"/>
          </a:p>
        </p:txBody>
      </p:sp>
      <p:sp>
        <p:nvSpPr>
          <p:cNvPr id="891" name="Shape 891"/>
          <p:cNvSpPr/>
          <p:nvPr/>
        </p:nvSpPr>
        <p:spPr>
          <a:xfrm>
            <a:off x="457200" y="6462713"/>
            <a:ext cx="3886498"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Edwards et al. (1998); 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892" name="Shape 892"/>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45</a:t>
            </a:r>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893" name="Shape 893"/>
          <p:cNvSpPr/>
          <p:nvPr/>
        </p:nvSpPr>
        <p:spPr>
          <a:xfrm>
            <a:off x="457200" y="457200"/>
            <a:ext cx="11296650" cy="514350"/>
          </a:xfrm>
          <a:prstGeom prst="rect">
            <a:avLst/>
          </a:prstGeom>
          <a:noFill/>
        </p:spPr>
        <p:txBody>
          <a:bodyPr anchor="t" wrap="square" tIns="0" bIns="0" lIns="0" rIns="0">
            <a:normAutofit/>
          </a:bodyPr>
          <a:lstStyle/>
          <a:p>
            <a:pPr algn="l">
              <a:lnSpc>
                <a:spcPts val="4050"/>
              </a:lnSpc>
              <a:buNone/>
            </a:pPr>
            <a:r>
              <a:rPr sz="2700" b="1" i="0">
                <a:solidFill>
                  <a:srgbClr val="0B4F7A"/>
                </a:solidFill>
                <a:latin typeface="Arial"/>
                <a:ea typeface="Arial"/>
              </a:rPr>
              <a:t>Key takeaways</a:t>
            </a:r>
            <a:endParaRPr lang="en-US"/>
          </a:p>
        </p:txBody>
      </p:sp>
      <p:sp>
        <p:nvSpPr>
          <p:cNvPr id="894" name="Shape 894"/>
          <p:cNvSpPr/>
          <p:nvPr/>
        </p:nvSpPr>
        <p:spPr>
          <a:xfrm>
            <a:off x="457200" y="12382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Stimulus timing and location.</a:t>
            </a:r>
            <a:r>
              <a:rPr sz="1500" b="0" i="0">
                <a:solidFill>
                  <a:srgbClr val="1C242C"/>
                </a:solidFill>
                <a:latin typeface="Arial"/>
                <a:ea typeface="Arial"/>
              </a:rPr>
              <a:t xml:space="preserve"> Abrupt posterior stimuli recruit LG-mediated upward pitching, while anterior stimuli can recruit MG-mediated backward escape; intensity alone does not determine the pathway.</a:t>
            </a:r>
            <a:endParaRPr lang="en-US"/>
          </a:p>
        </p:txBody>
      </p:sp>
      <p:sp>
        <p:nvSpPr>
          <p:cNvPr id="895" name="Shape 895"/>
          <p:cNvSpPr/>
          <p:nvPr/>
        </p:nvSpPr>
        <p:spPr>
          <a:xfrm>
            <a:off x="6191250" y="12382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Parallel escape systems.</a:t>
            </a:r>
            <a:r>
              <a:rPr sz="1500" b="0" i="0">
                <a:solidFill>
                  <a:srgbClr val="1C242C"/>
                </a:solidFill>
                <a:latin typeface="Arial"/>
                <a:ea typeface="Arial"/>
              </a:rPr>
              <a:t xml:space="preserve"> Nongiant circuits mediate slower, flexible responses and most successive swimming flips, so a tail flip does not by itself establish giant-neuron activity.</a:t>
            </a:r>
            <a:endParaRPr lang="en-US"/>
          </a:p>
        </p:txBody>
      </p:sp>
      <p:sp>
        <p:nvSpPr>
          <p:cNvPr id="896" name="Shape 896"/>
          <p:cNvSpPr/>
          <p:nvPr/>
        </p:nvSpPr>
        <p:spPr>
          <a:xfrm>
            <a:off x="457200" y="28765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Electrical integration.</a:t>
            </a:r>
            <a:r>
              <a:rPr sz="1500" b="0" i="0">
                <a:solidFill>
                  <a:srgbClr val="1C242C"/>
                </a:solidFill>
                <a:latin typeface="Arial"/>
                <a:ea typeface="Arial"/>
              </a:rPr>
              <a:t xml:space="preserve"> Voltage-sensitive rectifying junctions support submillisecond coincidence selectivity, while lateral afferent coupling and reverse current from LG can recruit additional sensory input.</a:t>
            </a:r>
            <a:endParaRPr lang="en-US"/>
          </a:p>
        </p:txBody>
      </p:sp>
      <p:sp>
        <p:nvSpPr>
          <p:cNvPr id="897" name="Shape 897"/>
          <p:cNvSpPr/>
          <p:nvPr/>
        </p:nvSpPr>
        <p:spPr>
          <a:xfrm>
            <a:off x="6191250" y="2876550"/>
            <a:ext cx="5562600" cy="1447800"/>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Delayed inhibition.</a:t>
            </a:r>
            <a:r>
              <a:rPr sz="1500" b="0" i="0">
                <a:solidFill>
                  <a:srgbClr val="1C242C"/>
                </a:solidFill>
                <a:latin typeface="Arial"/>
                <a:ea typeface="Arial"/>
              </a:rPr>
              <a:t xml:space="preserve"> Sensory-evoked GABAergic shunting curtails later LG excitation and is partly localized to dendritic input regions; inhibition can be depolarizing yet reduce firing.</a:t>
            </a:r>
            <a:endParaRPr lang="en-US"/>
          </a:p>
        </p:txBody>
      </p:sp>
      <p:sp>
        <p:nvSpPr>
          <p:cNvPr id="898" name="Shape 898"/>
          <p:cNvSpPr/>
          <p:nvPr/>
        </p:nvSpPr>
        <p:spPr>
          <a:xfrm>
            <a:off x="457200" y="4514850"/>
            <a:ext cx="5562600" cy="1704975"/>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Output connectivity.</a:t>
            </a:r>
            <a:r>
              <a:rPr sz="1500" b="0" i="0">
                <a:solidFill>
                  <a:srgbClr val="1C242C"/>
                </a:solidFill>
                <a:latin typeface="Arial"/>
                <a:ea typeface="Arial"/>
              </a:rPr>
              <a:t xml:space="preserve"> Motor-giant and segmental-giant pathways recruit abdominal flexion; removing SG exposes unequal residual LG and MG fast-flexor connections and a chemical component.</a:t>
            </a:r>
            <a:endParaRPr lang="en-US"/>
          </a:p>
        </p:txBody>
      </p:sp>
      <p:sp>
        <p:nvSpPr>
          <p:cNvPr id="899" name="Shape 899"/>
          <p:cNvSpPr/>
          <p:nvPr/>
        </p:nvSpPr>
        <p:spPr>
          <a:xfrm>
            <a:off x="6191250" y="4514850"/>
            <a:ext cx="5562600" cy="1704975"/>
          </a:xfrm>
          <a:prstGeom prst="rect">
            <a:avLst/>
          </a:prstGeom>
          <a:solidFill>
            <a:srgbClr val="EAF4FA"/>
          </a:solidFill>
        </p:spPr>
        <p:txBody>
          <a:bodyPr anchor="t" wrap="square" tIns="209550" bIns="209550" lIns="209550" rIns="209550">
            <a:normAutofit/>
          </a:bodyPr>
          <a:lstStyle/>
          <a:p>
            <a:pPr algn="l">
              <a:lnSpc>
                <a:spcPts val="2025"/>
              </a:lnSpc>
              <a:buNone/>
            </a:pPr>
            <a:r>
              <a:rPr sz="1500" b="1" i="0">
                <a:solidFill>
                  <a:srgbClr val="1C242C"/>
                </a:solidFill>
                <a:latin typeface="Arial"/>
                <a:ea typeface="Arial"/>
              </a:rPr>
              <a:t>Mechanistic evidence.</a:t>
            </a:r>
            <a:r>
              <a:rPr sz="1500" b="0" i="0">
                <a:solidFill>
                  <a:srgbClr val="1C242C"/>
                </a:solidFill>
                <a:latin typeface="Arial"/>
                <a:ea typeface="Arial"/>
              </a:rPr>
              <a:t xml:space="preserve"> Defined inputs, voltage control, pharmacology, and selective relay disruption test different causal stages; proposed channel or evolutionary explanations must remain separate from measured effects.</a:t>
            </a:r>
            <a:endParaRPr lang="en-US"/>
          </a:p>
        </p:txBody>
      </p:sp>
      <p:sp>
        <p:nvSpPr>
          <p:cNvPr id="900" name="Shape 900"/>
          <p:cNvSpPr/>
          <p:nvPr/>
        </p:nvSpPr>
        <p:spPr>
          <a:xfrm>
            <a:off x="457200" y="6462713"/>
            <a:ext cx="4804767"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 xml:space="preserve">Wine </a:t>
            </a:r>
            <a:r>
              <a:rPr sz="975" b="0" i="0">
                <a:solidFill>
                  <a:srgbClr val="56636F"/>
                </a:solidFill>
                <a:latin typeface="Arial"/>
                <a:ea typeface="Arial"/>
              </a:rPr>
              <a:t>&amp;</a:t>
            </a:r>
            <a:r>
              <a:rPr sz="975" b="0" i="0">
                <a:solidFill>
                  <a:srgbClr val="56636F"/>
                </a:solidFill>
                <a:latin typeface="Arial"/>
                <a:ea typeface="Arial"/>
              </a:rPr>
              <a:t xml:space="preserve"> Krasne (1972); Edwards et al. (1998); Vu et al. (1997); Fraser </a:t>
            </a:r>
            <a:r>
              <a:rPr sz="975" b="0" i="0">
                <a:solidFill>
                  <a:srgbClr val="56636F"/>
                </a:solidFill>
                <a:latin typeface="Arial"/>
                <a:ea typeface="Arial"/>
              </a:rPr>
              <a:t>&amp;</a:t>
            </a:r>
            <a:r>
              <a:rPr sz="975" b="0" i="0">
                <a:solidFill>
                  <a:srgbClr val="56636F"/>
                </a:solidFill>
                <a:latin typeface="Arial"/>
                <a:ea typeface="Arial"/>
              </a:rPr>
              <a:t xml:space="preserve"> Heitler (1991)</a:t>
            </a:r>
            <a:endParaRPr lang="en-US"/>
          </a:p>
        </p:txBody>
      </p:sp>
      <p:sp>
        <p:nvSpPr>
          <p:cNvPr id="901" name="Shape 901"/>
          <p:cNvSpPr/>
          <p:nvPr/>
        </p:nvSpPr>
        <p:spPr>
          <a:xfrm>
            <a:off x="11593116" y="6462713"/>
            <a:ext cx="16073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46</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56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A single LG spike is enough to command a tail flip</a:t>
            </a:r>
            <a:endParaRPr lang="en-US"/>
          </a:p>
        </p:txBody>
      </p:sp>
      <p:sp>
        <p:nvSpPr>
          <p:cNvPr id="3" name="Shape 568"/>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a:t>
            </a:r>
            <a:r>
              <a:rPr sz="1500" b="1" i="0">
                <a:solidFill>
                  <a:srgbClr val="1C242C"/>
                </a:solidFill>
                <a:latin typeface="Arial"/>
                <a:ea typeface="Arial"/>
              </a:rPr>
              <a:t>command neuron</a:t>
            </a:r>
            <a:r>
              <a:rPr sz="1500" b="0" i="0">
                <a:solidFill>
                  <a:srgbClr val="1C242C"/>
                </a:solidFill>
                <a:latin typeface="Arial"/>
                <a:ea typeface="Arial"/>
              </a:rPr>
              <a:t> is one whose activity is both necessary and sufficient for a particular behavior: blocking it prevents the act, and activating it alone produces the act. The lateral giant meets both tests for its tail flip, since a single LG spike is enough to produce the stereotyped flexion that throws the crayfish away from a stimulus at its rear.</a:t>
            </a:r>
            <a:endParaRPr lang="en-US"/>
          </a:p>
        </p:txBody>
      </p:sp>
      <p:sp>
        <p:nvSpPr>
          <p:cNvPr id="4" name="Shape 569"/>
          <p:cNvSpPr/>
          <p:nvPr/>
        </p:nvSpPr>
        <p:spPr>
          <a:xfrm>
            <a:off x="457200" y="300987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One spike suffices because the output is built for reliability. Each giant drives the motor giant through a direct electrical synapse and the segmental giant, which in turn excites the fast-flexor motor neurons, so one impulse reaches the abdominal flexor muscles of every segment within milliseconds.</a:t>
            </a:r>
            <a:endParaRPr lang="en-US"/>
          </a:p>
        </p:txBody>
      </p:sp>
      <p:sp>
        <p:nvSpPr>
          <p:cNvPr id="5" name="Shape 570"/>
          <p:cNvSpPr/>
          <p:nvPr/>
        </p:nvSpPr>
        <p:spPr>
          <a:xfrm>
            <a:off x="457200" y="470722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decision to fire is less centralized than the term suggests. Whether LG reaches threshold depends on sensory afferents, interneurons and their interactions with LG's own dendrites, so the command neuron is the final common point of a distributed decision.</a:t>
            </a:r>
            <a:endParaRPr lang="en-US"/>
          </a:p>
        </p:txBody>
      </p:sp>
      <p:pic>
        <p:nvPicPr>
          <p:cNvPr id="6" name="Presenton Native Image 3" descr=""/>
          <p:cNvPicPr/>
          <p:nvPr/>
        </p:nvPicPr>
        <p:blipFill>
          <a:blip r:embed="rId3" cstate="none"/>
          <a:stretch>
            <a:fillRect/>
          </a:stretch>
        </p:blipFill>
        <p:spPr>
          <a:xfrm>
            <a:off x="6610350" y="1337314"/>
            <a:ext cx="5048250" cy="3436553"/>
          </a:xfrm>
          <a:prstGeom prst="rect">
            <a:avLst/>
          </a:prstGeom>
        </p:spPr>
      </p:pic>
      <p:sp>
        <p:nvSpPr>
          <p:cNvPr id="7" name="Shape 571"/>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2. Simultaneous connective and abdominal recordings of giant-fiber activity.</a:t>
            </a:r>
            <a:endParaRPr lang="en-US"/>
          </a:p>
        </p:txBody>
      </p:sp>
      <p:sp>
        <p:nvSpPr>
          <p:cNvPr id="8" name="Shape 572"/>
          <p:cNvSpPr/>
          <p:nvPr/>
        </p:nvSpPr>
        <p:spPr>
          <a:xfrm>
            <a:off x="457200" y="6462713"/>
            <a:ext cx="4948682"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Wine &amp; Krasne (1972); Herberholz et al. (2002); Fraser &amp; Heitler (1991)</a:t>
            </a:r>
            <a:endParaRPr lang="en-US"/>
          </a:p>
        </p:txBody>
      </p:sp>
      <p:sp>
        <p:nvSpPr>
          <p:cNvPr id="9" name="Shape 573"/>
          <p:cNvSpPr/>
          <p:nvPr/>
        </p:nvSpPr>
        <p:spPr>
          <a:xfrm>
            <a:off x="11589766" y="6462713"/>
            <a:ext cx="16408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3a</a:t>
            </a: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581"/>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Giant circuits trade sensory guidance for speed</a:t>
            </a:r>
            <a:endParaRPr lang="en-US"/>
          </a:p>
        </p:txBody>
      </p:sp>
      <p:sp>
        <p:nvSpPr>
          <p:cNvPr id="3" name="Shape 582"/>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Giant-mediated tail flips start within milliseconds but follow a trajectory fixed by which giant fired, leaving little room for sensory guidance. Nongiant flips start later but can be steered, truncated or redirected, since the extra time allows sensory information to shape the movement.</a:t>
            </a:r>
            <a:endParaRPr lang="en-US"/>
          </a:p>
        </p:txBody>
      </p:sp>
      <p:sp>
        <p:nvSpPr>
          <p:cNvPr id="4" name="Shape 583"/>
          <p:cNvSpPr/>
          <p:nvPr/>
        </p:nvSpPr>
        <p:spPr>
          <a:xfrm>
            <a:off x="457200" y="275269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nervous system must therefore choose which system to use almost as soon as a stimulus begins. Vu and colleagues propose abruptness as the criterion: only stimuli that rise steeply enough to excite LG to threshold within a few milliseconds trigger the giant response, while slower stimuli fall to the nongiant system.</a:t>
            </a:r>
            <a:endParaRPr lang="en-US"/>
          </a:p>
        </p:txBody>
      </p:sp>
      <p:sp>
        <p:nvSpPr>
          <p:cNvPr id="5" name="Shape 584"/>
          <p:cNvSpPr/>
          <p:nvPr/>
        </p:nvSpPr>
        <p:spPr>
          <a:xfrm>
            <a:off x="457200" y="4450050"/>
            <a:ext cx="5829300" cy="77152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criterion plausibly matches the risk. An abrupt touch, such as a sudden strike, leaves no time for a guided response, whereas a slowly building stimulus allows the slower, more flexible escape.</a:t>
            </a:r>
            <a:endParaRPr lang="en-US"/>
          </a:p>
        </p:txBody>
      </p:sp>
      <p:pic>
        <p:nvPicPr>
          <p:cNvPr id="6" name="Presenton Native Image 5" descr=""/>
          <p:cNvPicPr/>
          <p:nvPr/>
        </p:nvPicPr>
        <p:blipFill>
          <a:blip r:embed="rId3" cstate="none"/>
          <a:stretch>
            <a:fillRect/>
          </a:stretch>
        </p:blipFill>
        <p:spPr>
          <a:xfrm>
            <a:off x="6610350" y="1211396"/>
            <a:ext cx="5048250" cy="3688389"/>
          </a:xfrm>
          <a:prstGeom prst="rect">
            <a:avLst/>
          </a:prstGeom>
        </p:spPr>
      </p:pic>
      <p:sp>
        <p:nvSpPr>
          <p:cNvPr id="7" name="Shape 585"/>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Wine </a:t>
            </a:r>
            <a:r>
              <a:rPr sz="1125" b="0" i="0">
                <a:solidFill>
                  <a:srgbClr val="1C242C"/>
                </a:solidFill>
                <a:latin typeface="Arial"/>
                <a:ea typeface="Arial"/>
              </a:rPr>
              <a:t>&amp;</a:t>
            </a:r>
            <a:r>
              <a:rPr sz="1125" b="0" i="0">
                <a:solidFill>
                  <a:srgbClr val="1C242C"/>
                </a:solidFill>
                <a:latin typeface="Arial"/>
                <a:ea typeface="Arial"/>
              </a:rPr>
              <a:t xml:space="preserve"> Krasne (1972), Fig. 3(A,B). Giant-mediated initial responses followed by nongiant swimming.</a:t>
            </a:r>
            <a:endParaRPr lang="en-US"/>
          </a:p>
        </p:txBody>
      </p:sp>
      <p:sp>
        <p:nvSpPr>
          <p:cNvPr id="8" name="Shape 586"/>
          <p:cNvSpPr/>
          <p:nvPr/>
        </p:nvSpPr>
        <p:spPr>
          <a:xfrm>
            <a:off x="457200" y="6462713"/>
            <a:ext cx="266039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Wine &amp; Krasne (1972); Vu et al. (1997)</a:t>
            </a:r>
            <a:endParaRPr lang="en-US"/>
          </a:p>
        </p:txBody>
      </p:sp>
      <p:sp>
        <p:nvSpPr>
          <p:cNvPr id="9" name="Shape 587"/>
          <p:cNvSpPr/>
          <p:nvPr/>
        </p:nvSpPr>
        <p:spPr>
          <a:xfrm>
            <a:off x="11589766" y="6462713"/>
            <a:ext cx="16408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5a</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625"/>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Gap junctions pass both current and small molecules</a:t>
            </a:r>
            <a:endParaRPr lang="en-US"/>
          </a:p>
        </p:txBody>
      </p:sp>
      <p:sp>
        <p:nvSpPr>
          <p:cNvPr id="3" name="Shape 626"/>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 </a:t>
            </a:r>
            <a:r>
              <a:rPr sz="1500" b="1" i="0">
                <a:solidFill>
                  <a:srgbClr val="1C242C"/>
                </a:solidFill>
                <a:latin typeface="Arial"/>
                <a:ea typeface="Arial"/>
              </a:rPr>
              <a:t>electrical synapse</a:t>
            </a:r>
            <a:r>
              <a:rPr sz="1500" b="0" i="0">
                <a:solidFill>
                  <a:srgbClr val="1C242C"/>
                </a:solidFill>
                <a:latin typeface="Arial"/>
                <a:ea typeface="Arial"/>
              </a:rPr>
              <a:t> is formed by gap junctions, clusters of channels that connect the cytoplasm of two neurons directly. Current flows through them without transmitter release, so a voltage change in one cell appears in the other with essentially no synaptic delay.</a:t>
            </a:r>
            <a:endParaRPr lang="en-US"/>
          </a:p>
        </p:txBody>
      </p:sp>
      <p:sp>
        <p:nvSpPr>
          <p:cNvPr id="4" name="Shape 627"/>
          <p:cNvSpPr/>
          <p:nvPr/>
        </p:nvSpPr>
        <p:spPr>
          <a:xfrm>
            <a:off x="457200" y="275269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same channels have pores wide enough for small molecules but not large ones. The two-tracer method exploits that size limit: small Neurobiotin crosses into coupled partners, while the large dextran conjugate stays in the injected cell, so labeled partners identify cells joined by open junctions.</a:t>
            </a:r>
            <a:endParaRPr lang="en-US"/>
          </a:p>
        </p:txBody>
      </p:sp>
      <p:sp>
        <p:nvSpPr>
          <p:cNvPr id="5" name="Shape 628"/>
          <p:cNvSpPr/>
          <p:nvPr/>
        </p:nvSpPr>
        <p:spPr>
          <a:xfrm>
            <a:off x="457200" y="4450050"/>
            <a:ext cx="582930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Electrical coupling suits an escape circuit. It is fast, it allows many inputs to combine onto LG with little delay, and coupled cells can recruit one another. Its voltage dependence adds a timing selectivity that a simple conductive link would lack.</a:t>
            </a:r>
            <a:endParaRPr lang="en-US"/>
          </a:p>
        </p:txBody>
      </p:sp>
      <p:pic>
        <p:nvPicPr>
          <p:cNvPr id="6" name="Presenton Native Image 13" descr=""/>
          <p:cNvPicPr/>
          <p:nvPr/>
        </p:nvPicPr>
        <p:blipFill>
          <a:blip r:embed="rId3" cstate="none"/>
          <a:stretch>
            <a:fillRect/>
          </a:stretch>
        </p:blipFill>
        <p:spPr>
          <a:xfrm>
            <a:off x="7202030" y="1055340"/>
            <a:ext cx="3864890" cy="4000500"/>
          </a:xfrm>
          <a:prstGeom prst="rect">
            <a:avLst/>
          </a:prstGeom>
        </p:spPr>
      </p:pic>
      <p:sp>
        <p:nvSpPr>
          <p:cNvPr id="7" name="Shape 62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(2002), Fig. 2(A). LG and dye-coupled neurons in the terminal ganglion.</a:t>
            </a:r>
            <a:endParaRPr lang="en-US"/>
          </a:p>
        </p:txBody>
      </p:sp>
      <p:sp>
        <p:nvSpPr>
          <p:cNvPr id="8" name="Shape 630"/>
          <p:cNvSpPr/>
          <p:nvPr/>
        </p:nvSpPr>
        <p:spPr>
          <a:xfrm>
            <a:off x="457200" y="6462713"/>
            <a:ext cx="32844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 Edwards et al. (1991)</a:t>
            </a:r>
            <a:endParaRPr lang="en-US"/>
          </a:p>
        </p:txBody>
      </p:sp>
      <p:sp>
        <p:nvSpPr>
          <p:cNvPr id="9" name="Shape 631"/>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11a</a:t>
            </a:r>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67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Lateral excitation makes LG recruitment self-reinforcing</a:t>
            </a:r>
            <a:endParaRPr lang="en-US"/>
          </a:p>
        </p:txBody>
      </p:sp>
      <p:sp>
        <p:nvSpPr>
          <p:cNvPr id="3" name="Shape 679"/>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afferent network works as </a:t>
            </a:r>
            <a:r>
              <a:rPr sz="1500" b="1" i="0">
                <a:solidFill>
                  <a:srgbClr val="1C242C"/>
                </a:solidFill>
                <a:latin typeface="Arial"/>
                <a:ea typeface="Arial"/>
              </a:rPr>
              <a:t>positive feedback</a:t>
            </a:r>
            <a:r>
              <a:rPr sz="1500" b="0" i="0">
                <a:solidFill>
                  <a:srgbClr val="1C242C"/>
                </a:solidFill>
                <a:latin typeface="Arial"/>
                <a:ea typeface="Arial"/>
              </a:rPr>
              <a:t>. A stimulated afferent excites coupled neighbors, recruited neighbors add input to LG and to interneurons, and LG depolarization spreads back to bring further afferents and interneurons to threshold. Each step increases the excitation that drives the following one.</a:t>
            </a:r>
            <a:endParaRPr lang="en-US"/>
          </a:p>
        </p:txBody>
      </p:sp>
      <p:sp>
        <p:nvSpPr>
          <p:cNvPr id="4" name="Shape 680"/>
          <p:cNvSpPr/>
          <p:nvPr/>
        </p:nvSpPr>
        <p:spPr>
          <a:xfrm>
            <a:off x="457200" y="300987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Herberholz and colleagues describe the result as nonlinear amplification: below a critical level of input little is recruited, but once recruitment starts it grows rapidly. The circuit can thereby convert a graded mechanical stimulus into a sharp threshold for escape.</a:t>
            </a:r>
            <a:endParaRPr lang="en-US"/>
          </a:p>
        </p:txBody>
      </p:sp>
      <p:sp>
        <p:nvSpPr>
          <p:cNvPr id="5" name="Shape 681"/>
          <p:cNvSpPr/>
          <p:nvPr/>
        </p:nvSpPr>
        <p:spPr>
          <a:xfrm>
            <a:off x="457200" y="470722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This moves part of the decision out of LG itself. Whether the crayfish escapes depends on interactions between LG's dendritic potentials and the afferent terminals, not only on summation within LG, which is why identical shocks gave different outcomes when LG voltage was shifted.</a:t>
            </a:r>
            <a:endParaRPr lang="en-US"/>
          </a:p>
        </p:txBody>
      </p:sp>
      <p:pic>
        <p:nvPicPr>
          <p:cNvPr id="6" name="Presenton Native Image 18" descr=""/>
          <p:cNvPicPr/>
          <p:nvPr/>
        </p:nvPicPr>
        <p:blipFill>
          <a:blip r:embed="rId3" cstate="none"/>
          <a:stretch>
            <a:fillRect/>
          </a:stretch>
        </p:blipFill>
        <p:spPr>
          <a:xfrm>
            <a:off x="6362700" y="1116893"/>
            <a:ext cx="5372100" cy="2801070"/>
          </a:xfrm>
          <a:prstGeom prst="rect">
            <a:avLst/>
          </a:prstGeom>
        </p:spPr>
      </p:pic>
      <p:sp>
        <p:nvSpPr>
          <p:cNvPr id="7" name="Shape 65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Herberholz et al. (2002), Fig. 4(A,B). Increasing nerve shocks recruit sensory EPSPs and afferent spikes.</a:t>
            </a:r>
            <a:endParaRPr lang="en-US"/>
          </a:p>
        </p:txBody>
      </p:sp>
      <p:sp>
        <p:nvSpPr>
          <p:cNvPr id="8" name="Shape 684"/>
          <p:cNvSpPr/>
          <p:nvPr/>
        </p:nvSpPr>
        <p:spPr>
          <a:xfrm>
            <a:off x="457200" y="6462713"/>
            <a:ext cx="1689608"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(2002)</a:t>
            </a:r>
            <a:endParaRPr lang="en-US"/>
          </a:p>
        </p:txBody>
      </p:sp>
      <p:sp>
        <p:nvSpPr>
          <p:cNvPr id="9" name="Shape 685"/>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18a</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69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Rectifying junctions weaken inputs after LG depolarizes</a:t>
            </a:r>
            <a:endParaRPr lang="en-US"/>
          </a:p>
        </p:txBody>
      </p:sp>
      <p:sp>
        <p:nvSpPr>
          <p:cNvPr id="3" name="Shape 695"/>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a:t>
            </a:r>
            <a:r>
              <a:rPr sz="1500" b="1" i="0">
                <a:solidFill>
                  <a:srgbClr val="1C242C"/>
                </a:solidFill>
                <a:latin typeface="Arial"/>
                <a:ea typeface="Arial"/>
              </a:rPr>
              <a:t>rectifying</a:t>
            </a:r>
            <a:r>
              <a:rPr sz="1500" b="0" i="0">
                <a:solidFill>
                  <a:srgbClr val="1C242C"/>
                </a:solidFill>
                <a:latin typeface="Arial"/>
                <a:ea typeface="Arial"/>
              </a:rPr>
              <a:t> electrical synapse passes current readily in one direction, from a presynaptic cell more depolarized than its target, and poorly in the other, much as an electrical diode does. It opens when the presynaptic side is depolarized relative to the postsynaptic side.</a:t>
            </a:r>
            <a:endParaRPr lang="en-US"/>
          </a:p>
        </p:txBody>
      </p:sp>
      <p:sp>
        <p:nvSpPr>
          <p:cNvPr id="4" name="Shape 696"/>
          <p:cNvSpPr/>
          <p:nvPr/>
        </p:nvSpPr>
        <p:spPr>
          <a:xfrm>
            <a:off x="457200" y="275269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Once earlier inputs depolarize LG, that difference shrinks, the junction is </a:t>
            </a:r>
            <a:r>
              <a:rPr sz="1500" b="1" i="0">
                <a:solidFill>
                  <a:srgbClr val="1C242C"/>
                </a:solidFill>
                <a:latin typeface="Arial"/>
                <a:ea typeface="Arial"/>
              </a:rPr>
              <a:t>reverse-biased</a:t>
            </a:r>
            <a:r>
              <a:rPr sz="1500" b="0" i="0">
                <a:solidFill>
                  <a:srgbClr val="1C242C"/>
                </a:solidFill>
                <a:latin typeface="Arial"/>
                <a:ea typeface="Arial"/>
              </a:rPr>
              <a:t>, and later inputs pass less current. Edwards and colleagues propose that this raises LG's relative sensitivity to novel, abrupt stimuli: a fresh volley reaching a resting LG is transmitted strongly, while input trailing an ongoing response is discounted.</a:t>
            </a:r>
            <a:endParaRPr lang="en-US"/>
          </a:p>
        </p:txBody>
      </p:sp>
      <p:sp>
        <p:nvSpPr>
          <p:cNvPr id="5" name="Shape 697"/>
          <p:cNvSpPr/>
          <p:nvPr/>
        </p:nvSpPr>
        <p:spPr>
          <a:xfrm>
            <a:off x="457200" y="470722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same property explains why reverse transfer is limited but not absent: hyperpolarizing LG drives current back into interneuron A more readily than depolarizing it does. Rectification shapes the circuit's timing preference without isolating its cells from one another.</a:t>
            </a:r>
            <a:endParaRPr lang="en-US"/>
          </a:p>
        </p:txBody>
      </p:sp>
      <p:pic>
        <p:nvPicPr>
          <p:cNvPr id="6" name="Presenton Native Image 28" descr=""/>
          <p:cNvPicPr/>
          <p:nvPr/>
        </p:nvPicPr>
        <p:blipFill>
          <a:blip r:embed="rId3" cstate="none"/>
          <a:stretch>
            <a:fillRect/>
          </a:stretch>
        </p:blipFill>
        <p:spPr>
          <a:xfrm>
            <a:off x="6480661" y="1055340"/>
            <a:ext cx="5136177" cy="2924175"/>
          </a:xfrm>
          <a:prstGeom prst="rect">
            <a:avLst/>
          </a:prstGeom>
        </p:spPr>
      </p:pic>
      <p:sp>
        <p:nvSpPr>
          <p:cNvPr id="7" name="Shape 698"/>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(1991), Fig. 3(A–D). Interneuron A transmission and voltage-dependent LG responses.</a:t>
            </a:r>
            <a:endParaRPr lang="en-US"/>
          </a:p>
        </p:txBody>
      </p:sp>
      <p:sp>
        <p:nvSpPr>
          <p:cNvPr id="8" name="Shape 700"/>
          <p:cNvSpPr/>
          <p:nvPr/>
        </p:nvSpPr>
        <p:spPr>
          <a:xfrm>
            <a:off x="457200" y="6462713"/>
            <a:ext cx="263857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Edwards et al. (1991)</a:t>
            </a:r>
            <a:endParaRPr lang="en-US"/>
          </a:p>
        </p:txBody>
      </p:sp>
      <p:sp>
        <p:nvSpPr>
          <p:cNvPr id="9" name="Shape 701"/>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21a</a:t>
            </a:r>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758"/>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Shunting inhibition opens a leak that excitation must fill</a:t>
            </a:r>
            <a:endParaRPr lang="en-US"/>
          </a:p>
        </p:txBody>
      </p:sp>
      <p:sp>
        <p:nvSpPr>
          <p:cNvPr id="3" name="Shape 759"/>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Chloride channels whose reversal potential lies near the resting voltage change the voltage little when they open. They raise membrane conductance, however, so excitatory current arriving at the same time leaks out through them and produces a smaller EPSP: the inhibition scales excitation down instead of subtracting a fixed amount.</a:t>
            </a:r>
            <a:endParaRPr lang="en-US"/>
          </a:p>
        </p:txBody>
      </p:sp>
      <p:sp>
        <p:nvSpPr>
          <p:cNvPr id="4" name="Shape 760"/>
          <p:cNvSpPr/>
          <p:nvPr/>
        </p:nvSpPr>
        <p:spPr>
          <a:xfrm>
            <a:off x="457200" y="300987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Shunting acts mainly near the open channels. Inhibition directed to LG's distal dendrites therefore suppresses input arriving on those branches more than input elsewhere, consistent with stronger attenuation for a repeated shock to the same root than to a different root.</a:t>
            </a:r>
            <a:endParaRPr lang="en-US"/>
          </a:p>
        </p:txBody>
      </p:sp>
      <p:sp>
        <p:nvSpPr>
          <p:cNvPr id="5" name="Shape 761"/>
          <p:cNvSpPr/>
          <p:nvPr/>
        </p:nvSpPr>
        <p:spPr>
          <a:xfrm>
            <a:off x="457200" y="4707225"/>
            <a:ext cx="558165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Arriving a few milliseconds after excitation, this inhibition closes a window. Excitation that reaches threshold before the shunt develops triggers the escape; excitation still building when it arrives is curtailed.</a:t>
            </a:r>
            <a:endParaRPr lang="en-US"/>
          </a:p>
        </p:txBody>
      </p:sp>
      <p:pic>
        <p:nvPicPr>
          <p:cNvPr id="6" name="Presenton Native Image 46" descr=""/>
          <p:cNvPicPr/>
          <p:nvPr/>
        </p:nvPicPr>
        <p:blipFill>
          <a:blip r:embed="rId3" cstate="none"/>
          <a:stretch>
            <a:fillRect/>
          </a:stretch>
        </p:blipFill>
        <p:spPr>
          <a:xfrm>
            <a:off x="6362700" y="1374283"/>
            <a:ext cx="5372100" cy="2286290"/>
          </a:xfrm>
          <a:prstGeom prst="rect">
            <a:avLst/>
          </a:prstGeom>
        </p:spPr>
      </p:pic>
      <p:sp>
        <p:nvSpPr>
          <p:cNvPr id="7" name="Shape 770"/>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Vu et al. (1997), Fig. 6(A,B). Reduced attenuation of injected-current responses during picrotoxin.</a:t>
            </a:r>
            <a:endParaRPr lang="en-US"/>
          </a:p>
        </p:txBody>
      </p:sp>
      <p:sp>
        <p:nvSpPr>
          <p:cNvPr id="8" name="Shape 764"/>
          <p:cNvSpPr/>
          <p:nvPr/>
        </p:nvSpPr>
        <p:spPr>
          <a:xfrm>
            <a:off x="457200" y="6462713"/>
            <a:ext cx="2292251"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Vu et al. (1997)</a:t>
            </a:r>
            <a:endParaRPr lang="en-US"/>
          </a:p>
        </p:txBody>
      </p:sp>
      <p:sp>
        <p:nvSpPr>
          <p:cNvPr id="9" name="Shape 765"/>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28a</a:t>
            </a:r>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774"/>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Three timing filters let only abrupt stimuli fire LG</a:t>
            </a:r>
            <a:endParaRPr lang="en-US"/>
          </a:p>
        </p:txBody>
      </p:sp>
      <p:sp>
        <p:nvSpPr>
          <p:cNvPr id="3" name="Shape 775"/>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Taps recruited the giants while slowly rising pinches of similar effectiveness did not, and three mechanisms account for this preference. Rectifying junctions sum synchronous afferent input strongly but reduce input arriving even 0.1 ms late, so only a volley in which many afferents fire together produces a large EPSP.</a:t>
            </a:r>
            <a:endParaRPr lang="en-US"/>
          </a:p>
        </p:txBody>
      </p:sp>
      <p:sp>
        <p:nvSpPr>
          <p:cNvPr id="4" name="Shape 776"/>
          <p:cNvSpPr/>
          <p:nvPr/>
        </p:nvSpPr>
        <p:spPr>
          <a:xfrm>
            <a:off x="457200" y="296986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Lateral excitation among afferents then amplifies a strong synchronous volley into rapid recruitment. Within a few milliseconds, postexcitatory inhibition shunts LG's dendrites, so a stimulus that has not driven LG to threshold by then loses its chance.</a:t>
            </a:r>
            <a:endParaRPr lang="en-US"/>
          </a:p>
        </p:txBody>
      </p:sp>
      <p:sp>
        <p:nvSpPr>
          <p:cNvPr id="5" name="Shape 777"/>
          <p:cNvSpPr/>
          <p:nvPr/>
        </p:nvSpPr>
        <p:spPr>
          <a:xfrm>
            <a:off x="457200" y="4627215"/>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 abrupt mechanical stimulus excites many hairs at once and passes all three filters; a gradual one recruits afferents over a longer time and fails them, leaving the response to the slower nongiant system. The abruptness rule seen in free animals thus follows from synaptic properties measured in isolated nerve cords.</a:t>
            </a:r>
            <a:endParaRPr lang="en-US"/>
          </a:p>
        </p:txBody>
      </p:sp>
      <p:pic>
        <p:nvPicPr>
          <p:cNvPr id="6" name="Presenton Native Image 32" descr=""/>
          <p:cNvPicPr/>
          <p:nvPr/>
        </p:nvPicPr>
        <p:blipFill>
          <a:blip r:embed="rId3" cstate="none"/>
          <a:stretch>
            <a:fillRect/>
          </a:stretch>
        </p:blipFill>
        <p:spPr>
          <a:xfrm>
            <a:off x="7174944" y="1055340"/>
            <a:ext cx="3747612" cy="2924175"/>
          </a:xfrm>
          <a:prstGeom prst="rect">
            <a:avLst/>
          </a:prstGeom>
        </p:spPr>
      </p:pic>
      <p:sp>
        <p:nvSpPr>
          <p:cNvPr id="7" name="Shape 714"/>
          <p:cNvSpPr/>
          <p:nvPr/>
        </p:nvSpPr>
        <p:spPr>
          <a:xfrm>
            <a:off x="6362700" y="40557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Edwards et al. (1998), Fig. 3(B). LG EPSP amplitude as a function of sensory-input delay.</a:t>
            </a:r>
            <a:endParaRPr lang="en-US"/>
          </a:p>
        </p:txBody>
      </p:sp>
      <p:sp>
        <p:nvSpPr>
          <p:cNvPr id="8" name="Shape 780"/>
          <p:cNvSpPr/>
          <p:nvPr/>
        </p:nvSpPr>
        <p:spPr>
          <a:xfrm>
            <a:off x="457200" y="6462713"/>
            <a:ext cx="605815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Wine &amp; Krasne (1972); Edwards et al. (1998); Herberholz et al. (2002); Vu et al. (1997)</a:t>
            </a:r>
            <a:endParaRPr lang="en-US"/>
          </a:p>
        </p:txBody>
      </p:sp>
      <p:sp>
        <p:nvSpPr>
          <p:cNvPr id="9" name="Shape 781"/>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30a</a:t>
            </a:r>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78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Light and a dye fill silence only the filled neuron</a:t>
            </a:r>
            <a:endParaRPr lang="en-US"/>
          </a:p>
        </p:txBody>
      </p:sp>
      <p:sp>
        <p:nvSpPr>
          <p:cNvPr id="3" name="Shape 783"/>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Photoinactivation relies on a dye injected into one identified neuron. Intense light excites the dye, which transfers energy to oxygen and produces reactive molecules that damage nearby membranes and proteins. Damage is confined to the filled cell, so neighbors in the same ganglion are spared although the whole region is illuminated.</a:t>
            </a:r>
            <a:endParaRPr lang="en-US"/>
          </a:p>
        </p:txBody>
      </p:sp>
      <p:sp>
        <p:nvSpPr>
          <p:cNvPr id="4" name="Shape 784"/>
          <p:cNvSpPr/>
          <p:nvPr/>
        </p:nvSpPr>
        <p:spPr>
          <a:xfrm>
            <a:off x="457200" y="3009870"/>
            <a:ext cx="582930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Progressive damage is consistent with the stages seen in SG. Spikes broaden as repolarization fails, the cell sits on a long depolarized plateau, and it finally loses electrical responsiveness as membrane function collapses.</a:t>
            </a:r>
            <a:endParaRPr lang="en-US"/>
          </a:p>
        </p:txBody>
      </p:sp>
      <p:sp>
        <p:nvSpPr>
          <p:cNvPr id="5" name="Shape 785"/>
          <p:cNvSpPr/>
          <p:nvPr/>
        </p:nvSpPr>
        <p:spPr>
          <a:xfrm>
            <a:off x="457200" y="445005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method answers a question that cutting a connective cannot: what remains when one identified relay neuron is removed from an otherwise intact circuit. Its limitation is the plateau stage, when a depolarized SG can still pass current to electrically coupled partners.</a:t>
            </a:r>
            <a:endParaRPr lang="en-US"/>
          </a:p>
        </p:txBody>
      </p:sp>
      <p:pic>
        <p:nvPicPr>
          <p:cNvPr id="6" name="Presenton Native Image 50" descr=""/>
          <p:cNvPicPr/>
          <p:nvPr/>
        </p:nvPicPr>
        <p:blipFill>
          <a:blip r:embed="rId3" cstate="none"/>
          <a:stretch>
            <a:fillRect/>
          </a:stretch>
        </p:blipFill>
        <p:spPr>
          <a:xfrm>
            <a:off x="6610350" y="1201003"/>
            <a:ext cx="5048250" cy="3709175"/>
          </a:xfrm>
          <a:prstGeom prst="rect">
            <a:avLst/>
          </a:prstGeom>
        </p:spPr>
      </p:pic>
      <p:sp>
        <p:nvSpPr>
          <p:cNvPr id="7" name="Shape 786"/>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1(A–C). Recordings before and during dye-mediated segmental-giant inactivation.</a:t>
            </a:r>
            <a:endParaRPr lang="en-US"/>
          </a:p>
        </p:txBody>
      </p:sp>
      <p:sp>
        <p:nvSpPr>
          <p:cNvPr id="8" name="Shape 787"/>
          <p:cNvSpPr/>
          <p:nvPr/>
        </p:nvSpPr>
        <p:spPr>
          <a:xfrm>
            <a:off x="457200" y="6462713"/>
            <a:ext cx="162026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Fraser &amp; Heitler (1991)</a:t>
            </a:r>
            <a:endParaRPr lang="en-US"/>
          </a:p>
        </p:txBody>
      </p:sp>
      <p:sp>
        <p:nvSpPr>
          <p:cNvPr id="9" name="Shape 788"/>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31a</a:t>
            </a:r>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796"/>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Removing a dominant pathway can unmask a hidden one</a:t>
            </a:r>
            <a:endParaRPr lang="en-US"/>
          </a:p>
        </p:txBody>
      </p:sp>
      <p:sp>
        <p:nvSpPr>
          <p:cNvPr id="3" name="Shape 797"/>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In the intact circuit both giants excite the fast-flexor motor neurons mainly through the shared segmental giant, so any direct connection from a giant to those motor neurons is hidden beneath a much larger relayed response. Removing SG on both sides strips away that shared route and exposes what lies beneath it.</a:t>
            </a:r>
            <a:endParaRPr lang="en-US"/>
          </a:p>
        </p:txBody>
      </p:sp>
      <p:sp>
        <p:nvSpPr>
          <p:cNvPr id="4" name="Shape 798"/>
          <p:cNvSpPr/>
          <p:nvPr/>
        </p:nvSpPr>
        <p:spPr>
          <a:xfrm>
            <a:off x="457200" y="275269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exposed connections differ: a direct LG input graded from anterior to posterior ganglia, and little MG input. Fraser and Heitler suggest that this direct pathway gives clues to an early evolutionary form of the circuit, onto which the shared relay was later added.</a:t>
            </a:r>
            <a:endParaRPr lang="en-US"/>
          </a:p>
        </p:txBody>
      </p:sp>
      <p:sp>
        <p:nvSpPr>
          <p:cNvPr id="5" name="Shape 799"/>
          <p:cNvSpPr/>
          <p:nvPr/>
        </p:nvSpPr>
        <p:spPr>
          <a:xfrm>
            <a:off x="457200" y="4450050"/>
            <a:ext cx="582930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Parallel direct and relayed outputs make the motor command robust. The relay recruits all fast flexors strongly, while the direct LG pathway, with its chemical component, provides an additional, differently timed contribution in anterior segments.</a:t>
            </a:r>
            <a:endParaRPr lang="en-US"/>
          </a:p>
        </p:txBody>
      </p:sp>
      <p:pic>
        <p:nvPicPr>
          <p:cNvPr id="6" name="Presenton Native Image 52" descr=""/>
          <p:cNvPicPr/>
          <p:nvPr/>
        </p:nvPicPr>
        <p:blipFill>
          <a:blip r:embed="rId3" cstate="none"/>
          <a:stretch>
            <a:fillRect/>
          </a:stretch>
        </p:blipFill>
        <p:spPr>
          <a:xfrm>
            <a:off x="6610350" y="1816297"/>
            <a:ext cx="5048250" cy="2478587"/>
          </a:xfrm>
          <a:prstGeom prst="rect">
            <a:avLst/>
          </a:prstGeom>
        </p:spPr>
      </p:pic>
      <p:sp>
        <p:nvSpPr>
          <p:cNvPr id="7" name="Shape 800"/>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4(A,B). Comparisons of LG and MG input after SG removal.</a:t>
            </a:r>
            <a:endParaRPr lang="en-US"/>
          </a:p>
        </p:txBody>
      </p:sp>
      <p:sp>
        <p:nvSpPr>
          <p:cNvPr id="8" name="Shape 801"/>
          <p:cNvSpPr/>
          <p:nvPr/>
        </p:nvSpPr>
        <p:spPr>
          <a:xfrm>
            <a:off x="457200" y="6462713"/>
            <a:ext cx="162026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Fraser &amp; Heitler (1991)</a:t>
            </a:r>
            <a:endParaRPr lang="en-US"/>
          </a:p>
        </p:txBody>
      </p:sp>
      <p:sp>
        <p:nvSpPr>
          <p:cNvPr id="9" name="Shape 802"/>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33a</a:t>
            </a:r>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810"/>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Chemical synapses slow more on cooling than electrical ones</a:t>
            </a:r>
            <a:endParaRPr lang="en-US"/>
          </a:p>
        </p:txBody>
      </p:sp>
      <p:sp>
        <p:nvSpPr>
          <p:cNvPr id="3" name="Shape 811"/>
          <p:cNvSpPr/>
          <p:nvPr/>
        </p:nvSpPr>
        <p:spPr>
          <a:xfrm>
            <a:off x="457200" y="105534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Chemical transmission involves sequential steps: calcium entry into the terminal, vesicle fusion, transmitter diffusion and receptor opening. Each step is a temperature-sensitive biochemical process, so cooling lengthens the delay of a chemical synapse considerably.</a:t>
            </a:r>
            <a:endParaRPr lang="en-US"/>
          </a:p>
        </p:txBody>
      </p:sp>
      <p:sp>
        <p:nvSpPr>
          <p:cNvPr id="4" name="Shape 812"/>
          <p:cNvSpPr/>
          <p:nvPr/>
        </p:nvSpPr>
        <p:spPr>
          <a:xfrm>
            <a:off x="457200" y="2752695"/>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Current through a gap junction needs no such steps and crosses with almost no delay at any temperature. Cooling therefore pulls the two components of a mixed connection apart in time, the electrical one staying locked to the presynaptic spike and the chemical one falling behind.</a:t>
            </a:r>
            <a:endParaRPr lang="en-US"/>
          </a:p>
        </p:txBody>
      </p:sp>
      <p:sp>
        <p:nvSpPr>
          <p:cNvPr id="5" name="Shape 813"/>
          <p:cNvSpPr/>
          <p:nvPr/>
        </p:nvSpPr>
        <p:spPr>
          <a:xfrm>
            <a:off x="457200" y="445005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Cadmium blocks the calcium channels that trigger release while leaving gap junctions conducting, which is why obligatory electrical giant-to-motor-giant transmission survived it. A component that both lags on cooling and disappears with cadmium carries both signatures of a chemical synapse.</a:t>
            </a:r>
            <a:endParaRPr lang="en-US"/>
          </a:p>
        </p:txBody>
      </p:sp>
      <p:pic>
        <p:nvPicPr>
          <p:cNvPr id="6" name="Presenton Native Image 54" descr=""/>
          <p:cNvPicPr/>
          <p:nvPr/>
        </p:nvPicPr>
        <p:blipFill>
          <a:blip r:embed="rId3" cstate="none"/>
          <a:stretch>
            <a:fillRect/>
          </a:stretch>
        </p:blipFill>
        <p:spPr>
          <a:xfrm>
            <a:off x="6610350" y="1339856"/>
            <a:ext cx="5048250" cy="3431468"/>
          </a:xfrm>
          <a:prstGeom prst="rect">
            <a:avLst/>
          </a:prstGeom>
        </p:spPr>
      </p:pic>
      <p:sp>
        <p:nvSpPr>
          <p:cNvPr id="7" name="Shape 814"/>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 xml:space="preserve">Fraser </a:t>
            </a:r>
            <a:r>
              <a:rPr sz="1125" b="0" i="0">
                <a:solidFill>
                  <a:srgbClr val="1C242C"/>
                </a:solidFill>
                <a:latin typeface="Arial"/>
                <a:ea typeface="Arial"/>
              </a:rPr>
              <a:t>&amp;</a:t>
            </a:r>
            <a:r>
              <a:rPr sz="1125" b="0" i="0">
                <a:solidFill>
                  <a:srgbClr val="1C242C"/>
                </a:solidFill>
                <a:latin typeface="Arial"/>
                <a:ea typeface="Arial"/>
              </a:rPr>
              <a:t xml:space="preserve"> Heitler (1991), Fig. 10(A–C). Residual motor EPSPs at 20°C, 7°C, and with cadmium.</a:t>
            </a:r>
            <a:endParaRPr lang="en-US"/>
          </a:p>
        </p:txBody>
      </p:sp>
      <p:sp>
        <p:nvSpPr>
          <p:cNvPr id="8" name="Shape 815"/>
          <p:cNvSpPr/>
          <p:nvPr/>
        </p:nvSpPr>
        <p:spPr>
          <a:xfrm>
            <a:off x="457200" y="6462713"/>
            <a:ext cx="162026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Fraser &amp; Heitler (1991)</a:t>
            </a:r>
            <a:endParaRPr lang="en-US"/>
          </a:p>
        </p:txBody>
      </p:sp>
      <p:sp>
        <p:nvSpPr>
          <p:cNvPr id="9" name="Shape 816"/>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35a</a:t>
            </a:r>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81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MG integrates several inputs before it commits to escape</a:t>
            </a:r>
            <a:endParaRPr lang="en-US"/>
          </a:p>
        </p:txBody>
      </p:sp>
      <p:sp>
        <p:nvSpPr>
          <p:cNvPr id="3" name="Shape 818"/>
          <p:cNvSpPr/>
          <p:nvPr/>
        </p:nvSpPr>
        <p:spPr>
          <a:xfrm>
            <a:off x="457200" y="1055340"/>
            <a:ext cx="558165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Unlike LG, MG rarely fires in a restrained preparation from sensory nerve stimulation alone. Swierzbinski and Herberholz report that MG reaches threshold when subthreshold antenna II input coincides with input from the contralateral MG, or when serotonin is added, so its firing depends on combinations of signals.</a:t>
            </a:r>
            <a:endParaRPr lang="en-US"/>
          </a:p>
        </p:txBody>
      </p:sp>
      <p:sp>
        <p:nvSpPr>
          <p:cNvPr id="4" name="Shape 819"/>
          <p:cNvSpPr/>
          <p:nvPr/>
        </p:nvSpPr>
        <p:spPr>
          <a:xfrm>
            <a:off x="457200" y="300987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MG also integrates several sensory modalities, including touch to the head and approaching visual objects, and it contributes to predator escape, aggression and risk-taking decisions. A neuron that weighs several sources suits a decision that depends on context, not on one stimulus.</a:t>
            </a:r>
            <a:endParaRPr lang="en-US"/>
          </a:p>
        </p:txBody>
      </p:sp>
      <p:sp>
        <p:nvSpPr>
          <p:cNvPr id="5" name="Shape 820"/>
          <p:cNvSpPr/>
          <p:nvPr/>
        </p:nvSpPr>
        <p:spPr>
          <a:xfrm>
            <a:off x="457200" y="4707225"/>
            <a:ext cx="558165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 threat ahead of the animal can often be seen before it arrives. A higher requirement for converging input plausibly allows MG to reserve its fast backward escape for threats that several cues confirm.</a:t>
            </a:r>
            <a:endParaRPr lang="en-US"/>
          </a:p>
        </p:txBody>
      </p:sp>
      <p:pic>
        <p:nvPicPr>
          <p:cNvPr id="6" name="Presenton Native Image 55" descr=""/>
          <p:cNvPicPr/>
          <p:nvPr/>
        </p:nvPicPr>
        <p:blipFill>
          <a:blip r:embed="rId3" cstate="none"/>
          <a:stretch>
            <a:fillRect/>
          </a:stretch>
        </p:blipFill>
        <p:spPr>
          <a:xfrm>
            <a:off x="7915603" y="1055340"/>
            <a:ext cx="2266293" cy="2190750"/>
          </a:xfrm>
          <a:prstGeom prst="rect">
            <a:avLst/>
          </a:prstGeom>
        </p:spPr>
      </p:pic>
      <p:sp>
        <p:nvSpPr>
          <p:cNvPr id="7" name="Shape 821"/>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1(B). Antenna II-evoked connective activity and intracellular MG potentials.</a:t>
            </a:r>
            <a:endParaRPr lang="en-US"/>
          </a:p>
        </p:txBody>
      </p:sp>
      <p:pic>
        <p:nvPicPr>
          <p:cNvPr id="8" name="Presenton Native Image 56" descr=""/>
          <p:cNvPicPr/>
          <p:nvPr/>
        </p:nvPicPr>
        <p:blipFill>
          <a:blip r:embed="rId4" cstate="none"/>
          <a:stretch>
            <a:fillRect/>
          </a:stretch>
        </p:blipFill>
        <p:spPr>
          <a:xfrm>
            <a:off x="8454966" y="3827115"/>
            <a:ext cx="1187568" cy="1752600"/>
          </a:xfrm>
          <a:prstGeom prst="rect">
            <a:avLst/>
          </a:prstGeom>
        </p:spPr>
      </p:pic>
      <p:sp>
        <p:nvSpPr>
          <p:cNvPr id="9" name="Shape 822"/>
          <p:cNvSpPr/>
          <p:nvPr/>
        </p:nvSpPr>
        <p:spPr>
          <a:xfrm>
            <a:off x="6362700" y="5655915"/>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1(A). Published anatomical arrangement of antenna II input and the MG neuron.</a:t>
            </a:r>
            <a:endParaRPr lang="en-US"/>
          </a:p>
        </p:txBody>
      </p:sp>
      <p:sp>
        <p:nvSpPr>
          <p:cNvPr id="10" name="Shape 823"/>
          <p:cNvSpPr/>
          <p:nvPr/>
        </p:nvSpPr>
        <p:spPr>
          <a:xfrm>
            <a:off x="457200" y="6462713"/>
            <a:ext cx="3769868"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Swierzbinski &amp; Herberholz (2018); Wine &amp; Krasne (1972)</a:t>
            </a:r>
            <a:endParaRPr lang="en-US"/>
          </a:p>
        </p:txBody>
      </p:sp>
      <p:sp>
        <p:nvSpPr>
          <p:cNvPr id="11" name="Shape 824"/>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36a</a:t>
            </a:r>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833"/>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Early ethanol effects disinhibit escape before sedation</a:t>
            </a:r>
            <a:endParaRPr lang="en-US"/>
          </a:p>
        </p:txBody>
      </p:sp>
      <p:sp>
        <p:nvSpPr>
          <p:cNvPr id="3" name="Shape 834"/>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Ethanol acts on several transmitter systems and produces biphasic effects in many animals: initial hyperexcitability and disinhibition, then incoordination and sedation. In crayfish placed in ethanol, early intoxication included spontaneous tail flips without any threat.</a:t>
            </a:r>
            <a:endParaRPr lang="en-US"/>
          </a:p>
        </p:txBody>
      </p:sp>
      <p:sp>
        <p:nvSpPr>
          <p:cNvPr id="4" name="Shape 835"/>
          <p:cNvSpPr/>
          <p:nvPr/>
        </p:nvSpPr>
        <p:spPr>
          <a:xfrm>
            <a:off x="457200" y="275269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An enhanced early MG potential fits that early phase, since a larger sensory potential brings the escape neuron closer to threshold. The concentration used, 100 mM, is well above the roughly 17 mM matching the United States legal driving limit, though within the range used in alcohol research.</a:t>
            </a:r>
            <a:endParaRPr lang="en-US"/>
          </a:p>
        </p:txBody>
      </p:sp>
      <p:sp>
        <p:nvSpPr>
          <p:cNvPr id="5" name="Shape 836"/>
          <p:cNvSpPr/>
          <p:nvPr/>
        </p:nvSpPr>
        <p:spPr>
          <a:xfrm>
            <a:off x="457200" y="4450050"/>
            <a:ext cx="558165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The enhancement outlasted an hour of saline washout. The authors suggest strong binding to postsynaptic receptors or sustained facilitation of the synapses producing the early potential; how ethanol raises the potential remains unknown.</a:t>
            </a:r>
            <a:endParaRPr lang="en-US"/>
          </a:p>
        </p:txBody>
      </p:sp>
      <p:pic>
        <p:nvPicPr>
          <p:cNvPr id="6" name="Presenton Native Image 59" descr=""/>
          <p:cNvPicPr/>
          <p:nvPr/>
        </p:nvPicPr>
        <p:blipFill>
          <a:blip r:embed="rId3" cstate="none"/>
          <a:stretch>
            <a:fillRect/>
          </a:stretch>
        </p:blipFill>
        <p:spPr>
          <a:xfrm>
            <a:off x="7303056" y="1055340"/>
            <a:ext cx="3491388" cy="2190750"/>
          </a:xfrm>
          <a:prstGeom prst="rect">
            <a:avLst/>
          </a:prstGeom>
        </p:spPr>
      </p:pic>
      <p:sp>
        <p:nvSpPr>
          <p:cNvPr id="7" name="Shape 837"/>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3. MG potential amplitudes before, during, and after ethanol exposure.</a:t>
            </a:r>
            <a:endParaRPr lang="en-US"/>
          </a:p>
        </p:txBody>
      </p:sp>
      <p:sp>
        <p:nvSpPr>
          <p:cNvPr id="8" name="Shape 839"/>
          <p:cNvSpPr/>
          <p:nvPr/>
        </p:nvSpPr>
        <p:spPr>
          <a:xfrm>
            <a:off x="457200" y="6462713"/>
            <a:ext cx="224434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Swierzbinski &amp; Herberholz (2018)</a:t>
            </a:r>
            <a:endParaRPr lang="en-US"/>
          </a:p>
        </p:txBody>
      </p:sp>
      <p:sp>
        <p:nvSpPr>
          <p:cNvPr id="9" name="Shape 840"/>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38a</a:t>
            </a:r>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857"/>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Pretreatment tests whether two drugs share a target</a:t>
            </a:r>
            <a:endParaRPr lang="en-US"/>
          </a:p>
        </p:txBody>
      </p:sp>
      <p:sp>
        <p:nvSpPr>
          <p:cNvPr id="3" name="Shape 858"/>
          <p:cNvSpPr/>
          <p:nvPr/>
        </p:nvSpPr>
        <p:spPr>
          <a:xfrm>
            <a:off x="457200" y="105534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If two treatments act through the same target, applying one first can </a:t>
            </a:r>
            <a:r>
              <a:rPr sz="1500" b="1" i="0">
                <a:solidFill>
                  <a:srgbClr val="1C242C"/>
                </a:solidFill>
                <a:latin typeface="Arial"/>
                <a:ea typeface="Arial"/>
              </a:rPr>
              <a:t>occlude</a:t>
            </a:r>
            <a:r>
              <a:rPr sz="1500" b="0" i="0">
                <a:solidFill>
                  <a:srgbClr val="1C242C"/>
                </a:solidFill>
                <a:latin typeface="Arial"/>
                <a:ea typeface="Arial"/>
              </a:rPr>
              <a:t> the other: the target is already occupied or altered, so the second adds little. If they act through different targets, their effects should combine. Giving ethanol after muscimol applies this logic to the MG pathway.</a:t>
            </a:r>
            <a:endParaRPr lang="en-US"/>
          </a:p>
        </p:txBody>
      </p:sp>
      <p:sp>
        <p:nvSpPr>
          <p:cNvPr id="4" name="Shape 859"/>
          <p:cNvSpPr/>
          <p:nvPr/>
        </p:nvSpPr>
        <p:spPr>
          <a:xfrm>
            <a:off x="457200" y="2752695"/>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Ethanol interacts with GABA receptors in many systems, and muscimol activates ionotropic GABA receptors directly. After muscimol, ethanol no longer produced its clear enhancement, consistent with the two treatments converging on GABA-related signaling in this pathway.</a:t>
            </a:r>
            <a:endParaRPr lang="en-US"/>
          </a:p>
        </p:txBody>
      </p:sp>
      <p:sp>
        <p:nvSpPr>
          <p:cNvPr id="5" name="Shape 860"/>
          <p:cNvSpPr/>
          <p:nvPr/>
        </p:nvSpPr>
        <p:spPr>
          <a:xfrm>
            <a:off x="457200" y="4450050"/>
            <a:ext cx="558165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Occlusion is consistent with a shared mechanism but does not prove it. Muscimol's own effects changed the state of the preparation, so ethanol acted from a different starting point than in the ethanol-alone experiment, and either explanation can produce a missing response.</a:t>
            </a:r>
            <a:endParaRPr lang="en-US"/>
          </a:p>
        </p:txBody>
      </p:sp>
      <p:pic>
        <p:nvPicPr>
          <p:cNvPr id="6" name="Presenton Native Image 65" descr=""/>
          <p:cNvPicPr/>
          <p:nvPr/>
        </p:nvPicPr>
        <p:blipFill>
          <a:blip r:embed="rId3" cstate="none"/>
          <a:stretch>
            <a:fillRect/>
          </a:stretch>
        </p:blipFill>
        <p:spPr>
          <a:xfrm>
            <a:off x="7457773" y="1055340"/>
            <a:ext cx="3181954" cy="2190750"/>
          </a:xfrm>
          <a:prstGeom prst="rect">
            <a:avLst/>
          </a:prstGeom>
        </p:spPr>
      </p:pic>
      <p:sp>
        <p:nvSpPr>
          <p:cNvPr id="7" name="Shape 861"/>
          <p:cNvSpPr/>
          <p:nvPr/>
        </p:nvSpPr>
        <p:spPr>
          <a:xfrm>
            <a:off x="6362700" y="3322290"/>
            <a:ext cx="5391150" cy="333375"/>
          </a:xfrm>
          <a:prstGeom prst="rect">
            <a:avLst/>
          </a:prstGeom>
          <a:noFill/>
        </p:spPr>
        <p:txBody>
          <a:bodyPr anchor="t" wrap="square" tIns="0" bIns="0" lIns="0" rIns="0">
            <a:normAutofit/>
          </a:bodyPr>
          <a:lstStyle/>
          <a:p>
            <a:pPr algn="l">
              <a:lnSpc>
                <a:spcPts val="1313"/>
              </a:lnSpc>
              <a:buNone/>
            </a:pPr>
            <a:r>
              <a:rPr sz="1050" b="0" i="0">
                <a:solidFill>
                  <a:srgbClr val="1C242C"/>
                </a:solidFill>
                <a:latin typeface="Arial"/>
                <a:ea typeface="Arial"/>
              </a:rPr>
              <a:t xml:space="preserve">Swierzbinski </a:t>
            </a:r>
            <a:r>
              <a:rPr sz="1050" b="0" i="0">
                <a:solidFill>
                  <a:srgbClr val="1C242C"/>
                </a:solidFill>
                <a:latin typeface="Arial"/>
                <a:ea typeface="Arial"/>
              </a:rPr>
              <a:t>&amp;</a:t>
            </a:r>
            <a:r>
              <a:rPr sz="1050" b="0" i="0">
                <a:solidFill>
                  <a:srgbClr val="1C242C"/>
                </a:solidFill>
                <a:latin typeface="Arial"/>
                <a:ea typeface="Arial"/>
              </a:rPr>
              <a:t xml:space="preserve"> Herberholz (2018), Fig. 5. MG responses to muscimol followed by ethanol.</a:t>
            </a:r>
            <a:endParaRPr lang="en-US"/>
          </a:p>
        </p:txBody>
      </p:sp>
      <p:sp>
        <p:nvSpPr>
          <p:cNvPr id="8" name="Shape 863"/>
          <p:cNvSpPr/>
          <p:nvPr/>
        </p:nvSpPr>
        <p:spPr>
          <a:xfrm>
            <a:off x="457200" y="6462713"/>
            <a:ext cx="2244344"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Swierzbinski &amp; Herberholz (2018)</a:t>
            </a:r>
            <a:endParaRPr lang="en-US"/>
          </a:p>
        </p:txBody>
      </p:sp>
      <p:sp>
        <p:nvSpPr>
          <p:cNvPr id="9" name="Shape 864"/>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41a</a:t>
            </a:r>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Shape 872"/>
          <p:cNvSpPr/>
          <p:nvPr/>
        </p:nvSpPr>
        <p:spPr>
          <a:xfrm>
            <a:off x="457200" y="457200"/>
            <a:ext cx="11296650" cy="350490"/>
          </a:xfrm>
          <a:prstGeom prst="rect">
            <a:avLst/>
          </a:prstGeom>
          <a:noFill/>
        </p:spPr>
        <p:txBody>
          <a:bodyPr anchor="t" wrap="square" tIns="0" bIns="0" lIns="0" rIns="0">
            <a:normAutofit/>
          </a:bodyPr>
          <a:lstStyle/>
          <a:p>
            <a:pPr algn="l">
              <a:lnSpc>
                <a:spcPts val="2760"/>
              </a:lnSpc>
              <a:buNone/>
            </a:pPr>
            <a:r>
              <a:rPr sz="2400" b="1" i="0">
                <a:solidFill>
                  <a:srgbClr val="0B4F7A"/>
                </a:solidFill>
                <a:latin typeface="Arial"/>
                <a:ea typeface="Arial"/>
              </a:rPr>
              <a:t>Manganese brightens images where calcium channels opened</a:t>
            </a:r>
            <a:endParaRPr lang="en-US"/>
          </a:p>
        </p:txBody>
      </p:sp>
      <p:sp>
        <p:nvSpPr>
          <p:cNvPr id="3" name="Shape 873"/>
          <p:cNvSpPr/>
          <p:nvPr/>
        </p:nvSpPr>
        <p:spPr>
          <a:xfrm>
            <a:off x="457200" y="1055340"/>
            <a:ext cx="5829300" cy="154305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Manganese ions resemble calcium closely enough to pass through the voltage-gated calcium channels that open when a neuron is depolarized, so active neurons take up more of them. Manganese is also carried along axons and slowly across synapses, and it clears slowly, so it accumulates where and downstream of where activity occurred.</a:t>
            </a:r>
            <a:endParaRPr lang="en-US"/>
          </a:p>
        </p:txBody>
      </p:sp>
      <p:sp>
        <p:nvSpPr>
          <p:cNvPr id="4" name="Shape 874"/>
          <p:cNvSpPr/>
          <p:nvPr/>
        </p:nvSpPr>
        <p:spPr>
          <a:xfrm>
            <a:off x="457200" y="3009870"/>
            <a:ext cx="5829300" cy="1028700"/>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Manganese shortens the T1 relaxation time of nearby water, which makes tissue containing it brighter in T1-weighted images. The image records how much manganese accumulated over the stimulation period, not the moment-to-moment firing of neurons.</a:t>
            </a:r>
            <a:endParaRPr lang="en-US"/>
          </a:p>
        </p:txBody>
      </p:sp>
      <p:sp>
        <p:nvSpPr>
          <p:cNvPr id="5" name="Shape 875"/>
          <p:cNvSpPr/>
          <p:nvPr/>
        </p:nvSpPr>
        <p:spPr>
          <a:xfrm>
            <a:off x="457200" y="4450050"/>
            <a:ext cx="5829300" cy="1285875"/>
          </a:xfrm>
          <a:prstGeom prst="rect">
            <a:avLst/>
          </a:prstGeom>
          <a:noFill/>
        </p:spPr>
        <p:txBody>
          <a:bodyPr anchor="t" wrap="square" tIns="0" bIns="0" lIns="0" rIns="0">
            <a:normAutofit/>
          </a:bodyPr>
          <a:lstStyle/>
          <a:p>
            <a:pPr algn="l">
              <a:lnSpc>
                <a:spcPts val="2025"/>
              </a:lnSpc>
              <a:buNone/>
            </a:pPr>
            <a:r>
              <a:rPr sz="1500" b="0" i="0">
                <a:solidFill>
                  <a:srgbClr val="1C242C"/>
                </a:solidFill>
                <a:latin typeface="Arial"/>
                <a:ea typeface="Arial"/>
              </a:rPr>
              <a:t>Accumulation favors regions active repeatedly, which is why the escape protocol delivered many shocks before imaging. Transport across synapses and uptake by every active neuron also mean that bright regions include cells beyond the stimulated pathway, which the unstimulated control helps to bound.</a:t>
            </a:r>
            <a:endParaRPr lang="en-US"/>
          </a:p>
        </p:txBody>
      </p:sp>
      <p:pic>
        <p:nvPicPr>
          <p:cNvPr id="6" name="Presenton Native Image 67" descr=""/>
          <p:cNvPicPr/>
          <p:nvPr/>
        </p:nvPicPr>
        <p:blipFill>
          <a:blip r:embed="rId3" cstate="none"/>
          <a:stretch>
            <a:fillRect/>
          </a:stretch>
        </p:blipFill>
        <p:spPr>
          <a:xfrm>
            <a:off x="6610350" y="1768604"/>
            <a:ext cx="5048250" cy="2573973"/>
          </a:xfrm>
          <a:prstGeom prst="rect">
            <a:avLst/>
          </a:prstGeom>
        </p:spPr>
      </p:pic>
      <p:sp>
        <p:nvSpPr>
          <p:cNvPr id="7" name="Shape 869"/>
          <p:cNvSpPr/>
          <p:nvPr/>
        </p:nvSpPr>
        <p:spPr>
          <a:xfrm>
            <a:off x="6610350" y="5170140"/>
            <a:ext cx="5067300" cy="371475"/>
          </a:xfrm>
          <a:prstGeom prst="rect">
            <a:avLst/>
          </a:prstGeom>
          <a:noFill/>
        </p:spPr>
        <p:txBody>
          <a:bodyPr anchor="t" wrap="square" tIns="0" bIns="0" lIns="0" rIns="0">
            <a:normAutofit/>
          </a:bodyPr>
          <a:lstStyle/>
          <a:p>
            <a:pPr algn="l">
              <a:lnSpc>
                <a:spcPts val="1463"/>
              </a:lnSpc>
              <a:buNone/>
            </a:pPr>
            <a:r>
              <a:rPr sz="1125" b="0" i="0">
                <a:solidFill>
                  <a:srgbClr val="1C242C"/>
                </a:solidFill>
                <a:latin typeface="Arial"/>
                <a:ea typeface="Arial"/>
              </a:rPr>
              <a:t>Herberholz et al. (2011), Fig. 3(A,B). Axial brain sections after antenna II stimulation and manganese injection.</a:t>
            </a:r>
            <a:endParaRPr lang="en-US"/>
          </a:p>
        </p:txBody>
      </p:sp>
      <p:sp>
        <p:nvSpPr>
          <p:cNvPr id="8" name="Shape 877"/>
          <p:cNvSpPr/>
          <p:nvPr/>
        </p:nvSpPr>
        <p:spPr>
          <a:xfrm>
            <a:off x="457200" y="6462713"/>
            <a:ext cx="1689608"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Herberholz et al. (2011)</a:t>
            </a:r>
            <a:endParaRPr lang="en-US"/>
          </a:p>
        </p:txBody>
      </p:sp>
      <p:sp>
        <p:nvSpPr>
          <p:cNvPr id="9" name="Shape 878"/>
          <p:cNvSpPr/>
          <p:nvPr/>
        </p:nvSpPr>
        <p:spPr>
          <a:xfrm>
            <a:off x="11520424" y="6462713"/>
            <a:ext cx="233426" cy="185738"/>
          </a:xfrm>
          <a:prstGeom prst="rect">
            <a:avLst/>
          </a:prstGeom>
          <a:noFill/>
        </p:spPr>
        <p:txBody>
          <a:bodyPr anchor="t" wrap="square" tIns="0" bIns="0" lIns="0" rIns="0">
            <a:normAutofit/>
          </a:bodyPr>
          <a:lstStyle/>
          <a:p>
            <a:pPr algn="l">
              <a:lnSpc>
                <a:spcPts val="1463"/>
              </a:lnSpc>
              <a:buNone/>
            </a:pPr>
            <a:r>
              <a:rPr sz="975" b="0" i="0">
                <a:solidFill>
                  <a:srgbClr val="56636F"/>
                </a:solidFill>
                <a:latin typeface="Arial"/>
                <a:ea typeface="Arial"/>
              </a:rPr>
              <a:t>43a</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Crayfish tail-flip: lateral and medial giant fiber circuits (Wine &amp; Krasne)</dc:title>
  <dc:subject>Generated by Presenton export-core</dc:subject>
  <dc:creator>Presenton</dc:creator>
  <cp:lastModifiedBy>Presenton</cp:lastModifiedBy>
  <dcterms:created xsi:type="dcterms:W3CDTF">2026-10-08T09:05:07.597Z</dcterms:created>
  <dcterms:modified xsi:type="dcterms:W3CDTF">2026-10-08T09:05:07.597Z</dcterms:modified>
</cp:coreProperties>
</file>