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5" roundtripDataSignature="AMtx7mhcTFgJG2suyH7BBDxapeeX8bFy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21" Type="http://schemas.openxmlformats.org/officeDocument/2006/relationships/slide" Target="slides/slide17.xml"/><Relationship Id="rId65"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Introduction to neuroethology: Tinbergen's four questions, proximate vs. ultimate causation</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Monday, August 24,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Barber et al. (2022), Fig. 2(A). Mittonia hampsoni, an ultrasound-producing moth; scale bar 1 cm.</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Source: https://doi.org/10.1073/pnas.2117485119</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Full reference: 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Neuroethology studies the nervous mechanisms of animal behavior in the context of the tasks animals perform. The solitary wasp Microbembex monodonta repeatedly returns with food to a nest whose entrance it has covered with sand. Cormons and Zeil investigated how the wasp locates that hidden entrance.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They placed transparent covers over nests to mask possible nonvisual cues while preserving the visible surroundings. Returning wasps attempted to dig over the entrance, even when a 5.9 × 5.9 cm tray sealed the local nest surface.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behavior therefore depends on information available before the entrance is uncovered. The manipulation supports visual guidance under the tested conditions; it does not identify the neurons that encode the goal or the circuit that commands digging.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behavior is an observable action. Its sensory determinants can be tested in an intact animal before the underlying neural implementation is known.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3. Apparatus for testing the cues used to locate a hidden nest.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1963, Tinbergen distinguished causation, the processes producing behavior; ontogeny, its development within an individual; survival value, its consequences for survival; and evolution, its history across lineages. These questions concern different evidence rather than competing labels for one explanation.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and colleagues recorded moth responses to bat-call playback and mapped ultrasound production onto a molecular phylogeny, a reconstruction of relationships using genetic evidence. Anti-bat sounds occurred in 52 of 252 tested genera, distributed across multiple branches.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playback establishes a response to a present stimulus, whereas the phylogeny addresses historical distribution. Neither measurement alone establishes how the behavior develops or how much it improves lifetime reproductive success. A comprehensive account requires additional experiments directed at those questions.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called for integration of the four questions. Mapping a measured response across related taxa supplies historical evidence without replacing experiments on the immediate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1. Phylogenetic distribution of moth ultrasound production.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Causation, or mechanism, concerns the events and processes that produce an action. Cormons and Zeil allowed returning wasps to encounter three cork landmarks around a hidden nest, then displaced the landmarks by 3.4–6.75 cm while the wasps were away.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Initial digging followed the shifted configuration rather than the unchanged physical burrow. Wasps subsequently corrected their search and entered the nest. Changing the available visual information therefore changed where digging began.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is a causal manipulation of a sensory cue. It does not establish a particular neural representation or explain the evolutionary advantage of navigation. The immediate location of the response and the long-term consequences of that response are different quantities.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cue is information an animal can use to guide behavior. The displacement test changes the cue while leaving the actual goal in place.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4(A). Digging locations after repeated landmark shifts.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Ontogeny is the development of an individual’s behavior and its underlying machinery. Fehér and colleagues studied male zebra finches, Taeniopygia guttata, deprived of adult male song during development, and compared their adult songs with songs from established colonies.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song-deprived birds produced prolonged or stuttered syllables and less regular song organization. Birds were kept in sound-isolated chambers from day 30 to day 120 after hatching, controlling access to the adult song models normally available during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manipulation identifies an effect of developmental experience, rather than an immediate response to hearing a song. Song still developed in the absence of normal tutoring, so the result does not support a simple division into wholly learned and wholly experience-independent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syllable is a recurring acoustic unit of song. Developmental deprivation changes the conditions under which those units are acquired and organized.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1(a–e). Songs of normally tutored and song-deprived zebra finches.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Survival value, often discussed as biological function, concerns how a behavior affects the animal’s survival and reproductive prospects. Barber and colleagues examined moth ultrasound evoked by bat sonar and measured its acoustic properties alongside tests of whether bats would consume the moths.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emissions were centered near 65 kHz, within the ultrasonic frequencies relevant to bat–moth encounters. Some moths were unpalatable; others were readily consumed. These differences constrain proposals that sounds warn predators of noxious prey or mimic such warnings.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Producing a sound in response to a predator cue does not by itself establish a survival benefit. Palatability and acoustic measurements support specific defensive hypotheses, but lifetime survival or reproductive success was not measured for every sound-producing lineage.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Ultrasound is sound above the frequency range normally audible to humans. Function must be assessed through consequences, not inferred merely from the circumstances in which a behavior occurs.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2(D). Moth acoustic response to playback of bat sonar.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Evolutionary history concerns the origin and modification of a trait across generations and lineages. Barber and colleagues placed measured moth responses on a phylogeny of Lepidoptera, the order containing moths and butterflies, and compared the distribution of sound production across related groups.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Anti-bat ultrasound was widespread rather than restricted to one familiar moth group. The authors inferred multiple origins and found preliminary evidence of sonar-jamming capability in at least six subfamilies, using acoustic duty cycle as a candidate indicator.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historical inference depends on the sampled species, the reconstructed relationships, and the definition of the trait. Similar defensive behavior need not indicate a single common origin, and an inferred origin of possible jamming is not a direct bat-capture experiment for every species.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lineage is a sequence of ancestral and descendant populations. Historical reconstruction uses measured traits and relationships among living taxa; it is not a direct observation of ancestral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1. Ultrasound production mapped across lepidopteran lineages.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4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Every acoustic defense in this deck begins with detection. A moth with no ear has no in-flight cue to trigger its click, which is why the high-duty-cycle group on slide 45 that lacks ears cannot deploy its sound against an approaching bat, even though the sound itself has the structure needed for jamming.</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Barber and colleagues place the origin of moth ears before their use against bats.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Hearing organs sit on many different body regions across the order; in hawkmoths the mouthparts carry the hearing organs, so the playback speaker was placed in front of hawkmoths instead of behind them.</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If ears first served general listening, their bat-detecting role is a later change of use. The present function then cannot be read back as the reason the organ arose, which is the distinction between slides 6 and 7 applied to a sense organ.</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65 kHz figure on slide 6 gains meaning once the bat is treated as a receiver.</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Bat hearing is most sensitive in roughly this band, so a click there is likely to be heard by the attacker.</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Matching the receiver's hearing is necessary for any of the proposed functions, so it does not decide between warning, mimicry and jamming.</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Touch-evoked clicking fits the way bats handle prey.</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Bats usually make first contact with a wing or the tail membrane and only then move the insect to the mouth, which leaves a short interval in which a sound could still change the outcome.</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authors stress that experiments pitting bats against touch-only clickers have not been done, so this function remains a proposal.</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Proximate explanations address how behavior is produced and how its machinery develops. Haesler and colleagues reduced expression of FoxP2, a transcription factor that regulates gene expression, in zebra finch Area X, a basal ganglia nucleus involved in song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Viral injections were made on day 23 after hatching, before tutor exposure beginning on day 30. Adult knockdown birds copied tutor songs less completely and less accurately than control birds. The intervention therefore connects a localized molecular manipulation during development to later vocal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explanation can be proximate even when its effects emerge weeks after the manipulation. The experiment establishes a requirement for normal FoxP2 levels under these conditions; it does not establish the evolutionary reason that song learning or FoxP2-dependent regulation arose.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nucleus is a defined group of neurons within the brain. Area X is a site of the manipulation, not a claim that one small region alone contains the complete mechanism of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1(A–E). Area X anatomy and the location of viral infection.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Ultimate explanations address the consequences and evolutionary history of behavior. Barber and colleagues compared acoustic signals from an Ecuadorian moth community and found five clusters of similar sounds, including clusters containing both palatable and unpalatable moths.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Mimicry is resemblance between signals associated with different organisms that can alter a receiver’s response. Acoustic similarity and palatability differences are consistent with some palatable moths resembling defended species, but similarity alone does not establish that bats mistake one for another.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Current defensive consequences and historical origins are distinct questions. A signal could acquire a new function after its origin, and several lineages could converge on similar signals. Behavioral tests of the predator and comparative reconstruction are needed to evaluate those possibilities.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Convergence is the independent evolution of similar traits. Resemblance across species can motivate a historical hypothesis without establishing the history by itself.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3. Acoustic clustering of moth sounds and corresponding taxa.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Tinbergen’s 1963 historical account connected ethology with the comparative work of Whitman (1898, 1919), Heinroth (1911), Huxley (1914, 1923), and Lorenz (1937). He emphasized description of naturally occurring behavior and the biological questions asked about it, rather than defining ethology exclusively as the study of innate acts.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and Zeil’s modern landmark experiments extend the approach associated with Tinbergen’s wasp studies: observe repeated nest returns, alter surrounding objects, and measure the resulting search. Their cork displacements of 3.4–6.75 cm shifted the initial digging position.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Natural observation and experimental intervention contribute different evidence. Description establishes the behavioral phenomenon and its context; manipulation tests candidate causes. Neither a historical label nor a convincing natural-history narrative is sufficient to identify the nervous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described a movement from description toward analysis while arguing that observation remained necessary. The 2023 paper explicitly relates its nest-location experiments to his earlier work.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4(A). Landmark displacement and the resulting search locations.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operational definition specifies how a concept is measured. Cormons and Zeil defined the location of search through visible digging attempts and recorded their positions relative to the actual burrow. The marks left in the sand provided spatial evidence of where the returning wasp searched.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the covering experiments, each condition was assessed through repeated digging positions rather than a judgment that the insect appeared confused. The published apparatus included centimeter-scale grids for relating those attempts to the hidden goal.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measurement describes search position, not perception or memory directly. Inferring a remembered visual goal requires the experimental shifts and masking controls as well as the observed action. An ethological description becomes analytically useful when the recorded variable is specified.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ethogram is a systematic description of an animal’s behavioral repertoire. A study can select a narrower action, such as digging, and define its measurable features without describing the entire repertoire.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2(R). Traces left by repeated digging attempts near a hidden nest.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landmark is a feature of the surroundings that provides positional information. Cormons and Zeil introduced cork stoppers 3.5 cm high around wasp nests and allowed the animals to return and leave before changing the configuration’s position.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Wasps initially dug where the nest should have been relative to the moved objects. They could later correct their search, often after flying around the misleading configuration for two to three minutes. The recorded sequence distinguished the first response from eventual successful entry.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Eventual success does not erase the initial effect of the manipulation. The landmarks influenced the search, but the correction indicates that the wasps had access to other information. A result measured only as success or failure would miss the cue conflict expressed early in the search.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true burrow remained fixed. The experiment therefore separated the position specified by the local landmarks from the actual position of the goal.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4(A). Sequential training, landmark shifts, and digging attempts.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5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cork experiment on slide 12 is easiest to explain with a concrete idea of what the wasp stores. The snapshot model that Cormons and Zeil build on treats the stored memory as a picture of the surroundings taken at the goal.</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homing rule is a move-and-compare process.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In the original version, the insect first turns to reduce errors in the bearing of each object and then moves toward objects that look smaller than stored and away from objects that look larger.</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Later versions drop the need to pick out separate objects and compare whole images, which matters in cluttered natural scenes where segmenting landmarks is difficult.</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key property is that image difference forms a smooth slope around the goal.</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Close to the nest, nearby objects dominate how the scene changes as the wasp moves, since their images sweep across the eye faster than distant ones; that gives local landmarks strong leverage on where the match is best.</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When the corks are displaced, the best local match moves with them, so the first dig on slide 12 lands at the shifted spot.</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Correction after two to three minutes of flying fits a whole-scene match.</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Only the corks moved, so the mismatch from distant features keeps pulling the search back toward the true burrow.</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paper also notes that wasps searching in front of their burrows tend to stop slightly short, which the authors read as a possible guard against overshooting the goal.</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visual panorama is the broader scene surrounding the animal. Cormons and Zeil combined a learned local landmark configuration with a 100 × 60 cm opaque barrier positioned 50 cm behind the nest, blocking much of the distant scene seen on approach.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Without the barrier, shifted landmarks could attract the wasps’ digging. With the barrier present, the insects failed to dig or hover at the configuration’s center even though the learned objects remained available and the wasps reached the nest vicinity.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response to a local cue therefore depended on the surrounding visual context. These behavioral results are consistent with scene-based localization, but they do not identify a neural image-matching algorithm or establish that every navigating insect weights its panorama in the same 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manipulation of context can change the use of a cue without removing that cue. Keeping the local configuration present makes that distinction experimentally meaningful.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5(A–B). Barrier geometry and the sequence of landmark manipulations.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reversal control tests whether restoring an earlier condition restores behavior. In Cormons and Zeil’s landmark–barrier experiment, wasps followed the shifted cube configuration before the distant view was blocked, but none followed it with the barrier present.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the barrier was removed, the returning wasps again localized the nest relative to the configuration. The published response counts changed from eight following the initial shift to none with the barrier and nine after removal; the remaining animal did not return for the last condition.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reversal limits explanations based solely on permanent loss of the learned landmarks or irreversible disturbance. It does not exclude every effect of the barrier, but it supports dependence on visual context rather than simple abandonment of nest-search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response category included digging or hovering at the expected location. Restoration was assessed in animals that returned; failure to return is not the same observation as returning and failing to localize.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5(C). Landmark-following responses before, during, and after masking.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5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Slides 12 to 14 present three results that together decide between two models of how insects combine near and far information. The sequential view holds that the distant panorama only brings the insect close and that nearby landmarks then guide the last few centimeters on their own.</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barrier result is the decisive one.</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Every barrier-tested wasp reached the nest area, so whatever brought it close was still working.</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cubes were visible, and the same wasps had followed them in the previous trial, yet none dug or hovered at the cube center; a stage-by-stage scheme cannot produce that combination.</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simultaneous account also explains the reversal on slide 14.</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Removing the barrier restored the stored scene, so the cubes again marked a place where the whole view matched, and nine of the returning wasps pinpointed the nest at once.</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Cormons and Zeil present this as support for an earlier proposal, made for a related digger wasp, that homing wasps use distant and local cues together.</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Field observations in the paper fit the same picture from the other direction.</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Rain that pockmarks the sand changes the local features but not the distant scene, and wasps then dig repeatedly over a wide area that the distant cues still define, eventually finding the burrow by trial and error.</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Distant cues alone narrow the search to a region; local cues within an intact scene narrow it to a point.</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masking control selectively reduces information that might otherwise explain a response. Cormons and Zeil covered nest entrances with combinations of plexiglass, paper, cloth, and frames, changing access to sand relief, odors, and possible acoustic or vibrational information.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Under conditions including 0.3 cm and 0.6 cm high covers, wasps still searched within a few centimeters of the true entrance. Removing access to several candidate local cues did not produce a corresponding loss of localization accuracy.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supports the sufficiency of available visual surroundings for the tested task. It does not mean that all nonvisual senses are irrelevant to wasp behavior or that the covers eliminated every conceivable signal perfectly. The conclusion remains tied to these nest-location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Sand relief refers to the small variations in surface shape around a nest. Covering those variations tests whether the animal needs the local surface itself rather than the visible broader surroundings.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6(A–B). Search distributions when local nonvisual cues were masked.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Sensory sufficiency concerns whether an available source of information can support a task when alternatives are reduced. Cormons and Zeil placed a transparent inverted tray over each hidden nest and pushed its walls into the sand to create an essentially airtight local seal.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tray was 5.9 × 5.9 cm and 3.4 cm high. Returning wasps attempted to dig over the entrance rather than along the tray edges, where access to an escaping odor or air movement would have been more plausible.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preserved search supports visually guided localization despite the altered local surface. It does not establish the internal format of the visual memory or exclude nonvisual information at longer distances during the preceding journey. Local goal localization and the entire homing route are different experimental targets.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transparency preserved access to the visual scene while the sealing manipulation changed physical access to the nest entrance. The control concerns the final local search.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3. Transparent tray sealing a nest while retaining its visible context.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5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5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Necessity and sufficiency are often confused, and the wasp experiments separate them cleanly. Slides 13 and 14 test necessity by taking part of the visual scene away; slides 15 and 16 test sufficiency by taking everything except vision away.</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Each design alone leaves a gap.</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A barrier result by itself would leave open whether smell or sand texture also contributes near the entrance.</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A masking result by itself would leave open whether vision is needed at all, since an animal could also succeed by some unmasked cue.</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tray experiment closes specific loopholes that earlier work had raised.</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Earlier authors had suggested that wasps feel the looser sand over the burrow, and the paper considers that a wasp might even detect changes in air flow or wing-beat echoes over the hollow burrow.</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Sealing the surface under a transparent tray removes all of these, so digging centered over the entrance cannot depend on them.</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functional proposal links the proximate result to the ultimate questions on slides 6 and 9.</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Burrow entrances in this species are closed and camouflaged, which already points to pressure from parasites and predators; an odor trail would undo that concealment.</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Like the moth mimicry proposal, this is an inference about consequences that would need its own test, for example measuring parasitism of nests marked by scent.</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level of analysis is the scale at which a mechanism is described, such as the intact animal, a circuit, a neuron, or a membrane. Cormons and Zeil measured the positions and spread of wasp digging attempts under several sensory masking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Search remained centered near the burrow, with characteristic errors of a few centimeters rather than complete loss of the goal. This establishes a behavioral relationship between available information and action while leaving the sensory representation unrecorded.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proposed visual-memory comparison is a candidate computational mechanism, not an identified population of neurons. Tinbergen argued that physiological and behavioral studies share causal questions across levels; evidence at one level still does not automatically establish the mechanism at another.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circuit is a connected network of neurons. Identifying one requires anatomical or physiological evidence beyond a behavioral result, even when the behavioral experiment is causal.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6(H). Spatial errors and search spread across masking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membrane potential is the electrical potential difference across a cell membrane. In their 1952 study, Hodgkin and Huxley described currents across squid nerve membrane as capacitive current plus ionic components carried principally by sodium and potassium.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Conductance specifies how readily current passes through a pathway for a given electrical driving force. Their equivalent circuit separated a membrane capacitance, sodium and potassium conductances, and a small leak component. Voltage-clamp measurements supplied the time-dependent conductances used in the analysis.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work explained electrical excitation through measurable membrane processes. Ion channels are membrane pathways through which ions can cross. The published circuit is a mathematical representation of aggregate membrane behavior; it is not a microscopy image or a determination of the molecular structure of individual channels.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Capacitance describes charge stored across the membrane. Ionic current and capacitive current are different contributions, and the equivalent circuit keeps those contributions explicit.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1. The authors’ equivalent circuit for membrane currents.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voltage clamp holds membrane voltage near an imposed value while measuring the current needed to maintain it. Hodgkin and Huxley compared recorded squid membrane currents with currents predicted from their separately characterized sodium, potassium, and leak conductances.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4°C, step changes in voltage produced characteristic current transients. The original figure places calculated traces beside recorded traces with current-density scales in µA/cm² and time in milliseconds, permitting comparison of magnitude and timing across voltage steps.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Agreement supports the adequacy of the combined conductance description for those records. The calculated curves are predictions of the published model, not additional experimental recordings. Their fit does not establish the physical identity of the molecular structures responsible for each conductance.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Current density is current per membrane area. Holding voltage under experimental control makes the time course of current measurable without the voltage being allowed to follow an unrestricted spike.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11. Calculated and recorded membrane currents during voltage clamp.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5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5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Slides 18 and 19 introduce the equivalent circuit and the clamp records; the reason the clamp was needed follows from the circuit itself. Capacitance and the ionic conductances are connected in parallel across the membrane, so any current that changes voltage also changes the state of the voltage-dependent conductances.</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Without the clamp, cause and effect are tangled.</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During a natural spike, sodium conductance changes because voltage changes, and voltage changes because sodium conductance changes; a recording captures only the combined result.</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With voltage held, the experimenter decides the voltage, and the conductances reveal how they respond to it over time.</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capacitive current is a brief transient at the start of each step.</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Charging the membrane to its new voltage takes a short pulse of current, after which capacitive current falls to zero while the voltage stays constant.</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Everything after that pulse in the clamp record is ionic current, which is what the comparisons on slide 19 use.</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Conductance follows from current once the driving force is known.</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At a fixed voltage the distance from each ion's equilibrium potential is constant, so a rising current means more open pathway, not a stronger push.</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This is the step that turns the clamp currents into the conductance curves shown on slides 20 to 22.</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Depolarization is a change that reduces the membrane’s resting electrical separation; repolarization returns it toward the resting state. Hodgkin and Huxley measured potassium conductance during a 25 mV depolarization and after voltage returned to rest.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21°C in choline seawater, conductance rose after a delay and then declined after repolarization. The rise and fall had different temporal forms, rather than behaving as an instantaneous resistance controlled only by the present voltage.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history dependence requires a description of the membrane’s evolving state. The authors used voltage-dependent rate processes to reproduce it. The recorded conductance establishes kinetics of the potassium-carrying system, but the fitted state variable was not a direct observation of molecular channel gates.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Choline replacement reduced the sodium contribution and aided separation of the ionic components. The measured timing constrains how a potassium conductance can contribute during excitation.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2(a–b). Potassium conductance during depolarization and repolarization.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5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5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conductance curves on slides 20 to 22 describe how open each pathway is, but the direction and size of the resulting current depend on the ion gradients. Sodium and potassium are distributed unequally across the axon membrane, and that asymmetry is the energy source the spike spends.</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Equilibrium potentials sit on opposite sides of rest.</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Sodium's equilibrium potential is strongly positive and potassium's is negative, so opening sodium pathways pushes voltage up and opening potassium pathways pulls it down.</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same conductance change can therefore have opposite effects on voltage depending on which ion it admits.</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Driving force changes during a spike.</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As the membrane depolarizes toward sodium's equilibrium potential, the push on sodium shrinks, while the push on potassium grows; this is one reason the peak of the spike stops short of the sodium equilibrium potential.</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Slide 18's equivalent circuit captures this by giving each conductance its own battery, the equilibrium potential of its ion.</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Choline substitution on slide 20 is an ion-replacement control.</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Choline keeps the external solution's ionic strength while removing the ion that carries the early inward current.</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Comparing currents with and without external sodium is what allowed the total current to be split into its sodium and potassium parts.</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Voltage dependence means that changing membrane potential changes the behavior of a membrane process. Hodgkin and Huxley compared potassium conductance during imposed depolarizations spanning 6 to 109 mV in one squid axon at approximately 6–7°C.</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Larger depolarizations produced larger conductance changes with different activation time courses. Experimental points were compared with curves calculated from a common kinetic description, rather than fitting each trace with an unrelated arbitrary shape.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agreement supports a state-dependent potassium process governed by voltage. It does not mean that these large voltage steps occur unchanged during natural behavior, or that potassium current alone explains an action potential. Sodium current and the changing membrane voltage must also be considered.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historical voltage convention in the paper differs from common modern plotting conventions. The imposed depolarization values should be interpreted using the original labels, which are retained in the crop.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3(A–L). Potassium conductance at different imposed depolarizations.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Inactivation is a decline in a conductance despite continued conditions that initially activated it. Hodgkin and Huxley estimated sodium conductance during maintained depolarization and found a rapid rise followed by a decline, unlike the sustained rise of potassium conductance.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records from a squid axon at approximately 6–7°C spanned depolarizations from 6 to 109 mV. The conductance transients changed systematically with voltage, and the calculated curves combined an activation process with a slower inactivation process.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distinction explains why a depolarizing sodium contribution can be brief even when voltage remains displaced. These are inferred kinetic processes of the sodium-carrying system, rather than measurements of protein structure. The experiment separates transient availability from simple dependence on voltage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Activation increases the ability of the sodium system to carry current. Inactivation reduces that availability over time, so the same voltage can be associated with different conductances after different histories.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6(A–L). Transient sodium conductance across depolarization levels.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action potential is a transient, regenerative change in membrane voltage. Hodgkin and Huxley combined measured ionic kinetics with membrane capacitance to calculate responses to brief stimuli, then compared those responses with squid membrane recordings.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6°C, initial depolarizations of 6 and 7 mV produced different calculated outcomes near threshold, while larger stimuli generated full spikes. Above threshold, different initiating stimuli converged on similar spike trajectories after differing delays.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connects small differences in initial state to a qualitatively different electrical response. It supports a regenerative mechanism involving sodium activation and subsequent opposing processes. It does not imply that every neuron has the same threshold or the same complement of ionic currents.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Regeneration means that a voltage change recruits processes that amplify that change. Delayed potassium activation and sodium inactivation subsequently limit the depolarizing phase.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12. Calculated and recorded responses to different brief stimuli.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5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p5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Slides 20, 22 and 23 give the three ingredients of excitation separately: a fast sodium activation, a slower sodium inactivation, and a delayed potassium activation. Threshold appears only when they are placed in competition.</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Positive feedback is the core of the rising phase.</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Each increment of depolarization recruits more sodium conductance, and each increment of sodium current produces more depolarization, so the process accelerates once started.</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same loop is what the voltage clamp prevents, which is why clamp records show smooth conductance curves instead of spikes.</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Threshold is a property of the balance, not a fixed number written into the membrane.</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Anything that increases outward current or reduces available sodium conductance raises the voltage needed to win the competition.</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That is why a partly recovered membrane on slide 25 needs a stronger stimulus: inactivated sodium pathways and lingering potassium conductance both favor the outward side.</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timing differences explain the shape of the spike.</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Sodium activation is fast enough to produce the rise before the slower processes catch up.</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Inactivation and potassium activation then turn the net current outward and bring the membrane back down, so the spike is brief even though no external signal ends it.</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Propagation is the spread of an electrical impulse along a nerve fibre. Hodgkin and Huxley extended their membrane description to include longitudinal current flowing between adjacent portions of the squid axon, allowing a local excitation to recruit the next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the illustrated propagated response at 18.5°C, the calculated waveform was compared with recorded spikes. Their parameter-based calculation gave a speed of 18.8 m/s, compared with an experimentally measured speed of 21.2 m/s in the fibre.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tests a prediction beyond fitting one stationary membrane trace. It supports the combination of ionic kinetics and electrical coupling for this preparation. The calculation remains an approximation, and it does not by itself specify how a sensory pathway transforms an impulse into a complete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local circuit current links neighboring membrane regions electrically. Propagation is therefore a spatial property of an excitable fibre as well as a temporal property of its membrane conductances.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15(a–d). Predicted and recorded propagated action potentials.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refractory period is the interval after an action potential during which another spike is impossible or requires a stronger stimulus. Hodgkin and Huxley compared responses to stimuli applied at different delays after an initial squid membrane spike.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6°C, early second stimuli produced little regenerative activity, whereas later stimuli produced progressively larger responses. Their calculated responses matched the broad recovery pattern in the recorded traces, including altered spike shape during partial recovery.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mechanism depends on residual potassium conductance and incomplete recovery of sodium availability. Refractoriness therefore reflects the membrane’s recent history rather than a fixed delay imposed by an external clock. The agreement is physiological evidence, not a direct measurement of each molecular channel’s state.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absolute refractory interval prevents another full spike. During relative refractoriness, a stronger stimulus can evoke a response while recovery remains incomplete.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20. Calculated and recorded responses to a second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5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5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Slides 24 and 25 present propagation and refractoriness as separate results, but each needs the other. Local circuit current flows symmetrically from an active region, so something other than the current itself must decide which way the impulse travels.</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refractory wake supplies the asymmetry.</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Membrane that has just fired has inactivated sodium pathways and open potassium pathways, the same two states that slide 25 links to weak second responses.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Fresh membrane ahead has neither, so it is the only place where the spreading current can cross threshold.</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An axon stimulated in the middle sends impulses both ways.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Nothing in the membrane is polarized from end to end; the direction comes entirely from where the impulse has already been.</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In the intact animal, impulses usually start at one end, such as a sensory ending or the initial segment of a neuron, so they travel in one direction.</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limit on firing rate shapes neural coding.</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Since every impulse in a fiber has nearly the same size, a stronger input can only be signaled by more impulses, closer together, up to the rate refractoriness allows.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Refractoriness therefore sets an upper limit on how much information a single fiber can carry per unit time.</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Vocal learning is modification of vocal output through experience with sounds. Fehér and colleagues separated young zebra finches from adult male song beginning early in development and compared the resulting isolate songs with the species-typical songs of established colonies.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Normally tutored songs contained repeated sequences of distinct syllables, called motifs. Isolate songs often contained prolonged or stuttered units and less regular temporal organization. The spectrograms retain a 200 ms time scale and a frequency range extending to 8 kHz.</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Deprivation changed the form of the adult output while leaving the capacity to produce song intact. The comparison identifies a developmental contribution of tutoring, not a claim that every acoustic feature must be copied from experience or that isolate birds lack neural organization.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spectrogram represents acoustic frequency over time. Tutor exposure provides a developmental input; it is not simply a stimulus that triggers an immediate song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1(a–e). Wild-type and isolate songs with original time and frequency scales.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behavioral phenotype is a measurable form of behavior. Fehér and colleagues characterized song at several timescales: spectral features over 10 ms, persistence of acoustic structure over 10–100 ms, and rhythm over 200–1,000 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Isolate songs had lower frequency modulation, longer persistence of similar acoustic structure, and less organized rhythm than wild-type songs. Frequency modulation is change in frequency through time; the duration of an acoustic state describes how long successive spectral patterns remain similar.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measures distinguish changes within syllables from changes in their larger temporal arrangement. A song can differ at one timescale without differing identically at another. Quantifying several features prevents a single subjective assessment of song quality from replacing the measured developmental phenotype.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used feature distributions rather than one preferred exemplar. Acoustic-state duration and rhythm are different summaries of temporal organization.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1(a–e). Frequency modulation, acoustic-state duration, and song rhythm.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Biased imitation is copying that systematically changes a feature rather than reproducing it without directional alteration. Fehér and colleagues paired juveniles with isolate tutors, keeping each pair in a sound-isolated chamber and checking that the adult tutor’s song remained stable.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tutor syllable averaging 367 ms was copied with an average duration of 243 ms. Across tutor–pupil comparisons, syllables shorter than about 230 ms were copied relatively faithfully, whereas unusually long syllables were shortened.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pupil therefore acquired material from the tutor while modifying its duration. The result is inconsistent with either exact copying or wholly independent song invention. It establishes a developmental copying bias, but it does not identify the neural rule that causes the shortening.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Stable adult tutors and controlled one-to-one exposure limit explanations in which the apparent copying bias results only from a changing tutor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2(g–j). Tutor–pupil spectrograms and the relationship of syllable durations.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Syllable abundance is the proportion of song occupied by a given syllable type. Fehér and colleagues compared isolate tutors whose songs were dominated by repetitive units with the songs acquired by juveniles exposed to those tutors.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When one syllable dominated the isolate song, its abundance in pupil song fell to approximately 20–30%. The pupils generally retained the tutor’s syllable material while reorganizing repetition into more structured motifs, rather than needing a normal adult song as their only possible template.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change separates acquisition of syllable identity from reproduction of its frequency of use. It supports constraints on how learned material is organized, but it does not establish that a fixed genetic sequence directly specifies each motif or that all social contexts produce identical learning biases.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identity of a learned sound and its abundance are distinct properties. A pupil can copy the former while altering the latter.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2(g–j). Tutor repetition and the more structured pupil song.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5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Slides 28 and 29 report how individual pupils altered their tutors' songs; the question they leave open is why such alterations add up across generations instead of cancelling out. The answer lies in the difference between error and bias.</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Unbiased error produces drift.</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If each pupil copied its tutor with random mistakes, pupils would scatter around their tutors, and over many generations a lineage could wander anywhere.</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authors point out that unbiased but inaccurate imitation would only have widened the spread of pupils around the line of perfect copying; instead the whole relationship was shifted.</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bias is targeted at atypical features.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Syllables shorter than about 230 ms on slide 28 were copied almost exactly, and that range overlaps the durations found in wild-type song.</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Only features outside the typical range were changed, and the changes always pointed back toward it.</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restoring-force picture explains the lineage results on slide 30.</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Large deviations are corrected strongly, small ones weakly, so the largest change comes in the first generation and later generations change less, which matches the reported trajectories.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same property would hold song cultures within species-typical limits in nature, where copying errors arise in every generation.</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tutoring generation is one step in which a learner acquires song and later serves as the model for another learner. Fehér and colleagues established lineages from isolate founders, allowing pupils to become tutors when they reached adulthood at roughly 120–140 days.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Song moved toward the wild-type distribution over three to four learning generations. The accumulating changes included shorter sustained acoustic states and more typical spectral and rhythmic organization, even though each learner began with the altered song of the preceding tutor.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is transmission of a behavioral phenotype through learning, not evidence of new genetic adaptation within three generations. The controlled lineages separate cultural inheritance from the assumption that resemblance between generations must result from shared DNA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tutoring pairs could be genetically unrelated. Their ordered transmission therefore measures a social pathway of inheritance rather than establishing a parent–offspring genetic effect.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3(a–e). Song changes along controlled tutoring lineages.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Cultural transmission is passage of behavioral information through social learning. Fehér and colleagues founded an acoustically isolated colony with an isolate male and females, allowing new learners to hear multiple birds and develop within a social group.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Across successive clutches, songs moved toward wild-type characteristics, paralleling the controlled tutor–pupil lineages. Rhythm approached the normal pattern particularly rapidly in the colony, while other features changed through successive generations of learners.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colony adds evidence that the directional change was not restricted to one-to-one tutoring. Because colony members could choose among models and respond to social partners, it does not isolate every source of the change. Competition, tutor selection, and female feedback remained possible contributors.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paper followed the isolated colony for two years. Changes in social learning can accumulate without requiring the experimental introduction of a normal singing adult.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4(a–e). Relationships and song change in the isolated colony.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5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5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Slide 5 warns against dividing song into wholly learned and wholly experience-independent parts, and the lineage and colony results on slides 30 and 31 explain what replaces that division. Genes and learning act at different points of one process.</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inherited part is a learning rule.</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Isolates still sing, so the capacity to produce song does not require a model; what changes is the form the song takes.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pupils' systematic edits on slides 28 and 29 reveal the rule, since they appear even when the only available model is abnormal.</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cultural part is the accumulated material.</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Each generation hands the following one a song that has passed once more through the same biases, so the song improves stepwise even though no genes pass from tutor to pupil.</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colony result on slide 31 matters here: the same endpoint emerged with many models and female listeners present, so the process is not an artifact of one-to-one housing.</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This changes how Tinbergen's ontogeny question is answered for learned traits.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development of a single bird's song depends on what its tutor learned, which depended in turn on the tutor's own tutor.</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authors suggest testing whether gene expression or neuronal reorganization tied to song development also changes in an orderly way across such generations, which has not yet been shown.</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8" name="Google Shape;508;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RNA interference reduces expression of a target gene through short RNA sequences that guide suppression of its messenger RNA. Haesler and colleagues delivered hairpin RNA with a lentiviral vector to reduce FoxP2 expression in zebra finch Area 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intervention occurred on day 23 after hatching; each pupil then lived with a tutor from day 30. Viral reporter fluorescence identified the infected region, and adult songs were compared with songs from birds given control constructs.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experimental sequence tests a molecular contribution to developmental learning rather than a correlation between gene expression and singing. A localized manipulation provides causal evidence, but the resulting behavior depends on interactions with the rest of the vocal-learning system and the tutor experience.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viral vector delivers the experimental construct to cells. The reporter identifies infected tissue, whereas the target hairpin changes FoxP2 expression.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1(A–E). Area X and the localized viral infection.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Specificity concerns whether a manipulation acts on its intended target rather than indiscriminately changing related processes. Haesler and colleagues designed two hairpin RNAs directed at different FoxP2 sequences and compared their effects with a nontargeting control.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Both target hairpins reduced FoxP2 protein in cultured cells while leaving FoxP1, its close relative, comparatively unaffected. Protein measurements included an actin loading control, allowing a reduction in the target band to be distinguished from simply loading less material.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controls support the intended molecular action of the constructs. They do not measure every possible downstream effect or prove that one transcriptional target alone explains vocal learning. The behavioral interpretation also depends on confirming the manipulation in brain tissue.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transcription factor can influence many downstream genes. Specific reduction of the factor is therefore not equivalent to identification of one downstream synaptic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1(F). Protein measurements after target and control hairpin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 Area X in a sagittal brain section; original scale bar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Knockdown is an experimental reduction of gene expression rather than complete deletion of the gene. Haesler and colleagues measured FoxP2 RNA and protein in Area X after viral delivery, using a control injection in the opposite hemisphere for tissue comparisons.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day 50 after hatching, FoxP2 messenger RNA was reduced by approximately 70% in the infected region. Immunofluorescence also revealed lower FoxP2 labeling in targeted tissue, confirming that the cultured-cell result extended to the brain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affected volume was only part of Area X, so the manipulation was not a complete removal of the nucleus. Tissue verification links the later song phenotype to a measured molecular reduction, but it does not identify the full sequence of cellular changes caused by that reduction.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Messenger RNA is the template used in protein synthesis. Reduced RNA and protein labeling are complementary checks on the intervention, while reporter labeling localizes its delivery.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1(G). FoxP2 and reporter labeling in control and knockdown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 Area X in a sagittal brain section; original scale bar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5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8" name="Google Shape;548;p5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Slides 32 to 35 describe the manipulation, its molecular specificity and its tissue verification. What ties them together is that each control answers a specific alternative explanation for the song deficit.</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Two different control viruses address two different worries.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nontargeting hairpin matches the knockdown virus in everything except a target, so it controls for infection and for expressing a foreign hairpin.</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shGFP hairpin goes further: it actually silences something, the reporter, so any song effect of running the silencing machinery itself would appear in this group too, and none did.</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Cell counts address whether knockdown simply killed neurons.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authors stained for neurons and for dying cells and found neither a loss of neurons nor extra cell death in Area X.</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Most infected cells were neurons, so the manipulation acted mainly on the cell type that expresses FoxP2 in this nucleus.</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lesion comparison separates knockdown from destruction.</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If knockdown worked by damaging Area X, it should reproduce the lesion phenotype; it produced a different pattern of omitted and imprecise syllables.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study also reused the same tutors across treatment groups, which removes tutor song quality as an explanation, as slide 35 notes.</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Imitation completeness concerns how much of the tutor’s song is represented in the pupil’s learned output. Haesler and colleagues compared adult song after FoxP2 knockdown with songs from pupils receiving a nontargeting hairpin or a control directed at the viral reporter.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Knockdown pupils omitted or imprecisely copied tutor syllables. In comparisons using the same tutors for different treatment groups, mean similarity scores were approximately 61.9 for knockdown pupils and 82.6 for controls, limiting an explanation based only on the tutor’s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establishes impaired learning under the targeted developmental manipulation. It does not mean that the birds could not sing, nor that incomplete imitation alone specifies whether the deficit arose in model memory, auditory comparison, or adjustment of motor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similarity score summarizes how much tutor material is matched. It differs from the precision with which an already represented syllable is reproduced.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2(A–D). Tutor songs, pupil songs, and imitation similarity scores.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 Area X in a sagittal brain section; original scale bar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Imitation accuracy concerns the precision of the acoustic match between pupil and tutor. Haesler and colleagues analyzed song units separately from the broader question of whether a unit was included in the learned song at all.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pupils sharing tutors, accuracy scores averaged approximately 71.7 after FoxP2 knockdown and 73.8 in controls, while differences in completeness were larger. Syllable duration and acoustic structure also diverged more from the tutor in the knockdown group.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intervention therefore affected more than the presence or absence of a syllable. A modest change in one summary score can coexist with a larger change in another. Neither measure alone identifies the specific cellular process responsible for the altered learning outcome.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Different scores answer different behavioral questions. Acoustic entropy, used in the paper, describes spectral noisiness rather than the number of syllables learned.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3(B). Pupil imitation accuracy under target and control treatments.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 Area X in a sagittal brain section; original scale bar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8" name="Google Shape;588;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Performance variability is the variation among repeated productions of an acquired action. Haesler and colleagues compared multiple renditions of the same syllable in adult zebra finches after developmental FoxP2 knockdown or control treatment.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Knockdown birds produced less consistent acoustic forms and more variable syllable durations. The source recordings used 100 ms scale bars, and variability was quantified separately from differences between the tutor and pupil.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pupil can therefore acquire a recognizable syllable while failing to stabilize its performance normally. The result separates learning outcome from execution consistency, but it does not establish whether the altered variability originates in a single synapse, a feedback process, or distributed circuit dynamics.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rendition is one performance of a syllable. Variation across renditions is measured within the bird, whereas imitation accuracy compares the bird with its tutor.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4(C–D). Acoustic consistency and variability of syllable duration.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 Area X in a sagittal brain section; original scale bar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2" name="Google Shape;602;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developmental trajectory is the measured change of a phenotype through time. Haesler and colleagues recorded songs at days 65, 80, and 90 after hatching, rather than relying only on one adult endpoint after FoxP2 knockdown.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Knockdown pupils were less accurate by day 65 and failed to continue improving after day 80 as controls did. Their variation in imitation accuracy also increased toward adulthood, whereas earlier variability was more similar between treatment groups.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observations constrain the timing of the deficit and argue against an explanation based simply on an inability to generate variable vocal output. Impaired adjustment toward a memorized tutor model remained a proposed explanation; the study did not directly record the neuronal comparison process or resolve its synaptic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intervention was followed by a changing learning phenotype. Its time course supplies evidence about development without establishing every intermediate neural step.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5(A–B). Imitation accuracy and variability across pupil 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 Area X in a sagittal brain section; original scale bar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6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6" name="Google Shape;616;p6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Slide 38 states that impaired adjustment toward the tutor model was the authors' proposed explanation; the learning process it refers to can be laid out step by step.</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Learning depends on hearing one's own voice.</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bird's practice songs are compared against the memorized tutor song through auditory feedback, so deafening or disrupting feedback in juveniles produces abnormal song.</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knockdown phenotype overlaps with these feedback deficits, which is one reason the authors favor a problem in auditory-guided motor learning over a pure motor problem.</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Area X sits where the relevant signals meet.</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HVC input carries information about the song being sung, and dopamine input could signal whether a rendition was better or worse than expected.</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FoxP2 is a transcription factor, so it could tune the plasticity of spiny neurons by regulating many downstream genes, which have not yet been identified.</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paper notes a puzzle the account does not resolve.</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If FoxP2 promotes plasticity, knockdown birds should learn less and sing more rigidly; the omitted syllables fit this, but the excess variability does not.</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If FoxP2 restricts plasticity, the variability fits but the omissions do not, so the cellular role of FoxP2 remains open.</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Motivation describes state-dependent readiness to perform an action; it is inferred here from measured removal behavior, not directly recorded as a neural variable. Poláček and colleagues tested tree sparrows, Passer montanus, using flat nest objects during egg laying and incubation.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cardboard objects varied one feature at a time around a normal egg-shaped model approximately 19.4 mm long. Across conditions, most objects were removed within a 60 minute observation period, but the timing depended on object properties and breeding stage.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task separates the response to an object from the physical difficulty of grasping a real egg. It supports state-dependent object removal, while leaving the hormonal and neural determinants of that state unmeasured. Motivation is therefore a behavioral interpretation rather than an identified transmitter system.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Flat models make removal physically easier than removal of a rounded egg. They allow feature-dependent response tendencies to be assessed while reducing a motor constraint.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Poláček; M. Griggio; M. Bartíková; H. Hoi (2013). Nest sanitation as the evolutionary background for egg ejection behaviour and the role of motivation for object removal. PLOS ONE 8(11):e78771. https://doi.org/10.1371/journal.pone.0078771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Poláček et al. (2013), Fig. 1. Flat objects differing in size, color, and shape.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https://doi.org/10.1371/journal.pone.0078771</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2" name="Google Shape;642;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State dependence means that the effect of a stimulus changes with the animal’s condition. Poláček and colleagues presented tree sparrows with flat egg-like objects approximately 15.0, 19.4, or 23.3 mm long, keeping material and general appearance similar.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During egg laying, larger objects were removed faster than smaller ones, with normal-sized objects intermediate. During incubation, the size ordering was less apparent. The published curves track objects remaining in the nest through the 60 minute observation period.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object’s dimensions therefore did not determine removal latency independently of breeding stage. The result supports an interaction between stimulus features and internal context. It does not establish whether the underlying change is sensory discrimination, response threshold, or a specific endocrine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Latency is the time between a defined event and the response. Here it was measured from the bird’s first entry until it emerged carrying the object.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Poláček; M. Griggio; M. Bartíková; H. Hoi (2013). Nest sanitation as the evolutionary background for egg ejection behaviour and the role of motivation for object removal. PLOS ONE 8(11):e78771. https://doi.org/10.1371/journal.pone.0078771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Poláček et al. (2013), Fig. 3. Removal time for large, normal, and small objects.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https://doi.org/10.1371/journal.pone.0078771</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4" name="Google Shape;654;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Stimulus discrimination is differential responding to distinct stimulus properties. Poláček and colleagues compared flat white, normal-colored, and dark egg-shaped objects while holding their dimensions close to the same standard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White objects were removed faster than dark objects over the 60 minute observation interval. However, the difference in lightness between a bird’s own clutch and the experimental object did not predict removal latency in the corresponding analysis.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color effect is therefore not equivalent to evidence that the bird compares each object with a detailed template of its own eggs. The authors considered nest sanitation, including resemblance to waste material, as an explanation. That proposal remained distinct from a demonstrated neural recognition rule.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Lightness describes how light or dark an object appears. Comparing object color with clutch color tests a more specific recognition hypothesis than merely comparing responses to different colors.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Poláček; M. Griggio; M. Bartíková; H. Hoi (2013). Nest sanitation as the evolutionary background for egg ejection behaviour and the role of motivation for object removal. PLOS ONE 8(11):e78771. https://doi.org/10.1371/journal.pone.0078771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Poláček et al. (2013), Fig. 5. Removal time for white, normal, and dark objects.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https://doi.org/10.1371/journal.pone.0078771</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6" name="Google Shape;666;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adaptive explanation attributes a trait’s evolution to consequences that favored its persistence. Poláček and colleagues examined whether nest sanitation could provide an evolutionary background for removal of parasitic eggs, comparing flat square and egg-shaped objects in tree sparrow nests.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objects had matching surface area and color, and removal was followed for 60 minutes. Shape alone did not produce a clear overall difference in removal latency. Separate trials with real added eggs frequently resulted in continued incubation rather than ejection.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findings support limits on treating every removed object as evidence of specialized anti-parasite recognition. Nest sanitation as an ancestral precursor remains a historical hypothesis, not a reconstructed sequence of evolutionary changes. Present-day response mechanisms and past adaptive origins require different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Nest sanitation is removal of unwanted material from a nest. A behavior can have consequences relevant to more than one task without proving which consequence originally favored its evolution.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Poláček; M. Griggio; M. Bartíková; H. Hoi (2013). Nest sanitation as the evolutionary background for egg ejection behaviour and the role of motivation for object removal. PLOS ONE 8(11):e78771. https://doi.org/10.1371/journal.pone.0078771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Poláček et al. (2013), Fig. 7. Removal of square and egg-shaped objects across breeding stages.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https://doi.org/10.1371/journal.pone.0078771</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6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8" name="Google Shape;678;p6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Slides 39 to 42 use flat objects, and the reason for that design choice becomes clear once the possible causes of acceptance are listed. A parasitic egg left in the nest is the outcome of a chain of steps, and failure at any step looks identical from outside.</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two experiments bracket the motor step.</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With real eggs, birds must detect the egg and then grasp or puncture a rounded shell, and most accepted the added egg and kept incubating it.</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With flat cardboard objects, the motor step is easy, and most objects were removed, so the gap between the two experiments locates much of the limit in the act of removal.</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stage effects tie each removal tendency to a likely task.</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During laying, a foreign egg can still hatch alongside the host's own, so sensitivity to egg-like features such as size makes sense then.</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Late in incubation and after hatching, parents remove eggshell and nestling faecal sacs, which are pale; the faster removal of white objects during incubation fits that cleaning task.</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sexes also differed.</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Females removed objects in 21 of 22 opportunities, males in 4 of 11, so most removal was done by females.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These functional readings are the authors' interpretations; the hormonal and neural basis of the stage change was not measured.</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M. Poláček; M. Griggio; M. Bartíková; H. Hoi (2013). Nest sanitation as the evolutionary background for egg ejection behaviour and the role of motivation for object removal. PLOS ONE 8(11):e78771. https://doi.org/10.1371/journal.pone.0078771</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0" name="Google Shape;690;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effector is a structure that produces an action. Barber and colleagues examined the physical mechanisms of moth ultrasound, combining recorded responses with anatomical inspection and manipulations of sound-producing structures.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Mittonia hampsoni, modified scales on the tegula, a structure near the forewing base, participate in percussive sound production during wingbeats. Ablation experiments supported this mechanism. The source panels retain animal and structural scales of 1 cm, 0.2 mm, and 50 µm.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Other moths produce ultrasound by rubbing modified scales or by buckling cuticular plates called tymbals. Similar acoustic behavior can therefore arise from different structures. Shared defensive sound does not establish shared anatomical machinery or one evolutionary origin.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Ablation removes or disables a candidate structure. Its effect on sound production supplies stronger mechanistic evidence than anatomy alone, while the original micrographs identify the tested structure.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2(A–D). A moth, tegular structures, modified scales, and emitted ultrasound.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2" name="Google Shape;702;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Aposematism is signaling that warns a predator of a defended or otherwise costly prey. Barber and colleagues compared acoustic features of 33 Ecuadorian moth species and used a dimensionality-reduction method to group similar measured signals into five clusters.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Each cluster included at least one genus found to be unpalatable to bats, while most also included readily consumed moths. This pattern is consistent with acoustic warning and mimicry, but the clustering records resemblance among signals rather than a direct measure of predator confusion.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proposed warning function requires tests of how bats learn and respond to the sounds. Similarity, palatability, and evolutionary relatedness provide complementary evidence, not interchangeable proof. The authors described the mimicry associations as preliminary and left their interaction dynamics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dimensionality-reduction method summarizes several acoustic measurements in fewer coordinates. The reproduced map is the authors’ published analysis, not a new graph made from their numbers.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3. Clusters of moth signals, taxa, and palatability categories.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6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4" name="Google Shape;714;p6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Slides 9 and 44 describe acoustic clusters that mix palatable and unpalatable moths; the two classic forms of mimicry give those mixtures different meanings, and a careful palatability test is what assigns each moth its role.</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two kinds of mimicry have opposite consequences for the model species.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A Batesian mimic is a cost to its defended model, since bats that catch the tasty mimic learn that the sound predicts food.</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Müllerian co-mimics share the cost of educating predators, so each defended species benefits from the others.</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palatability procedure removes two confounds.</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Ablating the sound structures prevents a bat from rejecting a moth because its click startled or warned it, which would make a tasty moth look distasteful.</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Requiring the bat to accept a palatable control moth before and after each test separates distaste from loss of appetite.</a:t>
            </a:r>
            <a:endParaRPr/>
          </a:p>
          <a:p>
            <a:pPr indent="-228600" lvl="0" marL="3429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scoring also allowed partial rejection.</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moth's body was divided into head, thorax and abdomen with different weights, so a bat that ate only part of a moth produced an intermediate score instead of a simple yes or no.</a:t>
            </a:r>
            <a:endParaRPr/>
          </a:p>
          <a:p>
            <a:pPr indent="-228600" lvl="1" marL="685800" marR="0" rtl="0" algn="l">
              <a:lnSpc>
                <a:spcPct val="100000"/>
              </a:lnSpc>
              <a:spcBef>
                <a:spcPts val="0"/>
              </a:spcBef>
              <a:spcAft>
                <a:spcPts val="0"/>
              </a:spcAft>
              <a:buSzPts val="1100"/>
              <a:buChar char="–"/>
            </a:pPr>
            <a:r>
              <a:rPr lang="en-US" sz="1200">
                <a:solidFill>
                  <a:schemeClr val="dk1"/>
                </a:solidFill>
                <a:latin typeface="Calibri"/>
                <a:ea typeface="Calibri"/>
                <a:cs typeface="Calibri"/>
                <a:sym typeface="Calibri"/>
              </a:rPr>
              <a:t>The authors present the mimicry assignments as preliminary, since the dynamics of bat learning in this community were not measured.</a:t>
            </a:r>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References:</a:t>
            </a:r>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6" name="Google Shape;726;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Duty cycle is the fraction of an interval occupied by sound. Barber and colleagues used the approximately 18% duty-cycle criterion drawn from earlier bat–moth work to identify lineages whose measured signals might interfere with processing of returning sonar echoes.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mapping suggested possible independent origins of jamming in at least six subfamilies. A further high-duty-cycle group lacked ears and could not respond in advance to approaching bats, exposing a limit of classifying function from one acoustic property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Sonar jamming is disruption of the predator’s echo processing. High duty cycle is a candidate indicator, not proof of jamming in every tested moth. Functional tests, immediate sensory mechanisms, developmental evidence, and ancestry remain distinct requirements for a complete biological explanation.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paper explicitly describes its jamming-origin inference as preliminary. A plausible acoustic capability must be distinguished from the animal’s ability to deploy it at the relevant time.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1. Trait distribution and candidate sonar-jamming lineages.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8" name="Google Shape;738;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Four questions address different evidence. Mechanism, ontogeny, function, and evolutionary history are complementary accounts of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Proximate causes include developmental processes. Immediate sensory and membrane mechanisms and the experience that builds behavior belong to the causal account.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Ultimate explanations require consequences and history. A useful present-day response does not by itself establish its ancestral function or origin.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Causal claims depend on controls. Cue shifts, reversals, molecular specificity, tissue verification, and matched tutor comparisons distinguish competing explanations.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Neural mechanisms span levels. Ionic kinetics explain excitation; localized gene manipulation affects learning; neither alone identifies an entire behavioral circuit.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Learning and inheritance interact. Tutor experience changes individual song, and directional copying biases can accumulate through cultural transmission without demonstrating new genetic adaptation.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3.png"/><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4.pn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8.png"/><Relationship Id="rId4"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6.png"/><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7.png"/><Relationship Id="rId4" Type="http://schemas.openxmlformats.org/officeDocument/2006/relationships/image" Target="../media/image2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2.png"/><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2.png"/><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3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75" y="0"/>
            <a:ext cx="6096000" cy="6903000"/>
          </a:xfrm>
          <a:prstGeom prst="rect">
            <a:avLst/>
          </a:prstGeom>
          <a:solidFill>
            <a:srgbClr val="16181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561975" y="1040163"/>
            <a:ext cx="4972200" cy="2571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3B7C0"/>
              </a:buClr>
              <a:buSzPts val="1350"/>
              <a:buFont typeface="Arial"/>
              <a:buNone/>
            </a:pPr>
            <a:r>
              <a:rPr b="0" i="0" lang="en-US" sz="1350" u="none" cap="none" strike="noStrike">
                <a:solidFill>
                  <a:srgbClr val="B3B7C0"/>
                </a:solidFill>
                <a:latin typeface="Arial"/>
                <a:ea typeface="Arial"/>
                <a:cs typeface="Arial"/>
                <a:sym typeface="Arial"/>
              </a:rPr>
              <a:t>NEUROETHOLOGY · FALL 2026 · Lecture 1</a:t>
            </a:r>
            <a:endParaRPr b="0" i="0" sz="1800" u="none" cap="none" strike="noStrike">
              <a:solidFill>
                <a:schemeClr val="dk1"/>
              </a:solidFill>
              <a:latin typeface="Calibri"/>
              <a:ea typeface="Calibri"/>
              <a:cs typeface="Calibri"/>
              <a:sym typeface="Calibri"/>
            </a:endParaRPr>
          </a:p>
        </p:txBody>
      </p:sp>
      <p:sp>
        <p:nvSpPr>
          <p:cNvPr id="21" name="Google Shape;21;p1"/>
          <p:cNvSpPr/>
          <p:nvPr/>
        </p:nvSpPr>
        <p:spPr>
          <a:xfrm>
            <a:off x="561975" y="1509838"/>
            <a:ext cx="4972200" cy="2286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Introduction to neuroethology: Tinbergen's four questions, proximate vs. ultimate causation</a:t>
            </a:r>
            <a:endParaRPr b="0" i="0" sz="1800" u="none" cap="none" strike="noStrike">
              <a:solidFill>
                <a:schemeClr val="dk1"/>
              </a:solidFill>
              <a:latin typeface="Calibri"/>
              <a:ea typeface="Calibri"/>
              <a:cs typeface="Calibri"/>
              <a:sym typeface="Calibri"/>
            </a:endParaRPr>
          </a:p>
        </p:txBody>
      </p:sp>
      <p:sp>
        <p:nvSpPr>
          <p:cNvPr id="22" name="Google Shape;22;p1"/>
          <p:cNvSpPr/>
          <p:nvPr/>
        </p:nvSpPr>
        <p:spPr>
          <a:xfrm>
            <a:off x="571500" y="4614863"/>
            <a:ext cx="4972050" cy="3143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3B7C0"/>
              </a:buClr>
              <a:buSzPts val="1650"/>
              <a:buFont typeface="Arial"/>
              <a:buNone/>
            </a:pPr>
            <a:r>
              <a:rPr b="0" i="0" lang="en-US" sz="1650" u="none" cap="none" strike="noStrike">
                <a:solidFill>
                  <a:srgbClr val="B3B7C0"/>
                </a:solidFill>
                <a:latin typeface="Arial"/>
                <a:ea typeface="Arial"/>
                <a:cs typeface="Arial"/>
                <a:sym typeface="Arial"/>
              </a:rPr>
              <a:t>Monday, August 24, 2026</a:t>
            </a:r>
            <a:endParaRPr b="0" i="0" sz="1800" u="none" cap="none" strike="noStrike">
              <a:solidFill>
                <a:schemeClr val="dk1"/>
              </a:solidFill>
              <a:latin typeface="Calibri"/>
              <a:ea typeface="Calibri"/>
              <a:cs typeface="Calibri"/>
              <a:sym typeface="Calibri"/>
            </a:endParaRPr>
          </a:p>
        </p:txBody>
      </p:sp>
      <p:sp>
        <p:nvSpPr>
          <p:cNvPr id="23" name="Google Shape;23;p1"/>
          <p:cNvSpPr/>
          <p:nvPr/>
        </p:nvSpPr>
        <p:spPr>
          <a:xfrm>
            <a:off x="571500" y="5157788"/>
            <a:ext cx="4972050" cy="25717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FFFF"/>
              </a:buClr>
              <a:buSzPts val="1350"/>
              <a:buFont typeface="Arial"/>
              <a:buNone/>
            </a:pPr>
            <a:r>
              <a:rPr b="0" i="0" lang="en-US" sz="1350" u="none" cap="none" strike="noStrike">
                <a:solidFill>
                  <a:srgbClr val="FFFFFF"/>
                </a:solidFill>
                <a:latin typeface="Arial"/>
                <a:ea typeface="Arial"/>
                <a:cs typeface="Arial"/>
                <a:sym typeface="Arial"/>
              </a:rPr>
              <a:t>Jordan Lopez, Ph.D.</a:t>
            </a:r>
            <a:endParaRPr b="0" i="0" sz="1800" u="none" cap="none" strike="noStrike">
              <a:solidFill>
                <a:schemeClr val="dk1"/>
              </a:solidFill>
              <a:latin typeface="Calibri"/>
              <a:ea typeface="Calibri"/>
              <a:cs typeface="Calibri"/>
              <a:sym typeface="Calibri"/>
            </a:endParaRPr>
          </a:p>
        </p:txBody>
      </p:sp>
      <p:pic>
        <p:nvPicPr>
          <p:cNvPr id="24" name="Google Shape;24;p1"/>
          <p:cNvPicPr preferRelativeResize="0"/>
          <p:nvPr/>
        </p:nvPicPr>
        <p:blipFill rotWithShape="1">
          <a:blip r:embed="rId3">
            <a:alphaModFix/>
          </a:blip>
          <a:srcRect b="0" l="0" r="0" t="0"/>
          <a:stretch/>
        </p:blipFill>
        <p:spPr>
          <a:xfrm>
            <a:off x="6477000" y="961723"/>
            <a:ext cx="5238750" cy="4229703"/>
          </a:xfrm>
          <a:prstGeom prst="rect">
            <a:avLst/>
          </a:prstGeom>
          <a:noFill/>
          <a:ln>
            <a:noFill/>
          </a:ln>
        </p:spPr>
      </p:pic>
      <p:sp>
        <p:nvSpPr>
          <p:cNvPr id="25" name="Google Shape;25;p1"/>
          <p:cNvSpPr/>
          <p:nvPr/>
        </p:nvSpPr>
        <p:spPr>
          <a:xfrm>
            <a:off x="6477000" y="5810250"/>
            <a:ext cx="52578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Barber et al. (2022), Fig. 2(A). Mittonia hampsoni, an ultrasound-producing moth; scale bar 1 cm.</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Behavior links sensory information to natural tasks</a:t>
            </a:r>
            <a:endParaRPr b="0" i="0" sz="1800" u="none" cap="none" strike="noStrike">
              <a:solidFill>
                <a:schemeClr val="dk1"/>
              </a:solidFill>
              <a:latin typeface="Calibri"/>
              <a:ea typeface="Calibri"/>
              <a:cs typeface="Calibri"/>
              <a:sym typeface="Calibri"/>
            </a:endParaRPr>
          </a:p>
        </p:txBody>
      </p:sp>
      <p:sp>
        <p:nvSpPr>
          <p:cNvPr id="31" name="Google Shape;31;p2"/>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u="none" cap="none" strike="noStrike">
                <a:solidFill>
                  <a:srgbClr val="202329"/>
                </a:solidFill>
                <a:latin typeface="Arial"/>
                <a:ea typeface="Arial"/>
                <a:cs typeface="Arial"/>
                <a:sym typeface="Arial"/>
              </a:rPr>
              <a:t>Neuroethology</a:t>
            </a:r>
            <a:r>
              <a:rPr b="0" i="0" lang="en-US" sz="1500" u="none" cap="none" strike="noStrike">
                <a:solidFill>
                  <a:srgbClr val="202329"/>
                </a:solidFill>
                <a:latin typeface="Arial"/>
                <a:ea typeface="Arial"/>
                <a:cs typeface="Arial"/>
                <a:sym typeface="Arial"/>
              </a:rPr>
              <a:t> studies the nervous mechanisms of animal behavior in the context of the tasks animals perform. The solitary wasp </a:t>
            </a:r>
            <a:r>
              <a:rPr b="0" i="1" lang="en-US" sz="1500" u="none" cap="none" strike="noStrike">
                <a:solidFill>
                  <a:srgbClr val="202329"/>
                </a:solidFill>
                <a:latin typeface="Arial"/>
                <a:ea typeface="Arial"/>
                <a:cs typeface="Arial"/>
                <a:sym typeface="Arial"/>
              </a:rPr>
              <a:t>Microbembex monodonta</a:t>
            </a:r>
            <a:r>
              <a:rPr b="0" i="0" lang="en-US" sz="1500" u="none" cap="none" strike="noStrike">
                <a:solidFill>
                  <a:srgbClr val="202329"/>
                </a:solidFill>
                <a:latin typeface="Arial"/>
                <a:ea typeface="Arial"/>
                <a:cs typeface="Arial"/>
                <a:sym typeface="Arial"/>
              </a:rPr>
              <a:t> repeatedly returns with food to a nest whose entrance it has covered with sand. Cormons and Zeil investigated how the wasp locates that hidden entrance.</a:t>
            </a:r>
            <a:endParaRPr b="0" i="0" sz="1800" u="none" cap="none" strike="noStrike">
              <a:solidFill>
                <a:schemeClr val="dk1"/>
              </a:solidFill>
              <a:latin typeface="Calibri"/>
              <a:ea typeface="Calibri"/>
              <a:cs typeface="Calibri"/>
              <a:sym typeface="Calibri"/>
            </a:endParaRPr>
          </a:p>
        </p:txBody>
      </p:sp>
      <p:sp>
        <p:nvSpPr>
          <p:cNvPr id="32" name="Google Shape;32;p2"/>
          <p:cNvSpPr/>
          <p:nvPr/>
        </p:nvSpPr>
        <p:spPr>
          <a:xfrm>
            <a:off x="457200" y="3006406"/>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They placed transparent covers over nests to mask possible nonvisual cues while preserving the visible surroundings. Returning wasps attempted to dig over the entrance, even when a 5.9 × 5.9 cm tray sealed the local nest surface.</a:t>
            </a:r>
            <a:endParaRPr b="0" i="0" sz="1800" u="none" cap="none" strike="noStrike">
              <a:solidFill>
                <a:schemeClr val="dk1"/>
              </a:solidFill>
              <a:latin typeface="Calibri"/>
              <a:ea typeface="Calibri"/>
              <a:cs typeface="Calibri"/>
              <a:sym typeface="Calibri"/>
            </a:endParaRPr>
          </a:p>
        </p:txBody>
      </p:sp>
      <p:sp>
        <p:nvSpPr>
          <p:cNvPr id="33" name="Google Shape;33;p2"/>
          <p:cNvSpPr/>
          <p:nvPr/>
        </p:nvSpPr>
        <p:spPr>
          <a:xfrm>
            <a:off x="457200" y="46891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The behavior therefore depends on information available before the entrance is uncovered. The manipulation supports visual guidance under the tested conditions; it does not identify the neurons that encode the goal or the circuit that commands digging.</a:t>
            </a:r>
            <a:endParaRPr b="0" i="0" sz="1800" u="none" cap="none" strike="noStrike">
              <a:solidFill>
                <a:schemeClr val="dk1"/>
              </a:solidFill>
              <a:latin typeface="Calibri"/>
              <a:ea typeface="Calibri"/>
              <a:cs typeface="Calibri"/>
              <a:sym typeface="Calibri"/>
            </a:endParaRPr>
          </a:p>
        </p:txBody>
      </p:sp>
      <p:pic>
        <p:nvPicPr>
          <p:cNvPr id="34" name="Google Shape;34;p2"/>
          <p:cNvPicPr preferRelativeResize="0"/>
          <p:nvPr/>
        </p:nvPicPr>
        <p:blipFill rotWithShape="1">
          <a:blip r:embed="rId3">
            <a:alphaModFix/>
          </a:blip>
          <a:srcRect b="0" l="0" r="0" t="0"/>
          <a:stretch/>
        </p:blipFill>
        <p:spPr>
          <a:xfrm>
            <a:off x="7330021" y="1055340"/>
            <a:ext cx="3608908" cy="4000500"/>
          </a:xfrm>
          <a:prstGeom prst="rect">
            <a:avLst/>
          </a:prstGeom>
          <a:noFill/>
          <a:ln>
            <a:noFill/>
          </a:ln>
        </p:spPr>
      </p:pic>
      <p:sp>
        <p:nvSpPr>
          <p:cNvPr id="35" name="Google Shape;35;p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3. Apparatus for testing the cues used to locate a hidden nest.</a:t>
            </a:r>
            <a:endParaRPr b="0" i="0" sz="1800" u="none" cap="none" strike="noStrike">
              <a:solidFill>
                <a:schemeClr val="dk1"/>
              </a:solidFill>
              <a:latin typeface="Calibri"/>
              <a:ea typeface="Calibri"/>
              <a:cs typeface="Calibri"/>
              <a:sym typeface="Calibri"/>
            </a:endParaRPr>
          </a:p>
        </p:txBody>
      </p:sp>
      <p:sp>
        <p:nvSpPr>
          <p:cNvPr id="36" name="Google Shape;36;p2"/>
          <p:cNvSpPr/>
          <p:nvPr/>
        </p:nvSpPr>
        <p:spPr>
          <a:xfrm>
            <a:off x="457200" y="6462713"/>
            <a:ext cx="129941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a:t>
            </a:r>
            <a:endParaRPr b="0" i="0" sz="1800" u="none" cap="none" strike="noStrike">
              <a:solidFill>
                <a:schemeClr val="dk1"/>
              </a:solidFill>
              <a:latin typeface="Calibri"/>
              <a:ea typeface="Calibri"/>
              <a:cs typeface="Calibri"/>
              <a:sym typeface="Calibri"/>
            </a:endParaRPr>
          </a:p>
        </p:txBody>
      </p:sp>
      <p:sp>
        <p:nvSpPr>
          <p:cNvPr id="37" name="Google Shape;37;p2"/>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3"/>
          <p:cNvSpPr/>
          <p:nvPr/>
        </p:nvSpPr>
        <p:spPr>
          <a:xfrm>
            <a:off x="407504" y="457200"/>
            <a:ext cx="11296800" cy="35040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Tinbergen separated four biological questions</a:t>
            </a:r>
            <a:endParaRPr b="0" i="0" sz="1800" u="none" cap="none" strike="noStrike">
              <a:solidFill>
                <a:schemeClr val="dk1"/>
              </a:solidFill>
              <a:latin typeface="Calibri"/>
              <a:ea typeface="Calibri"/>
              <a:cs typeface="Calibri"/>
              <a:sym typeface="Calibri"/>
            </a:endParaRPr>
          </a:p>
        </p:txBody>
      </p:sp>
      <p:sp>
        <p:nvSpPr>
          <p:cNvPr id="43" name="Google Shape;43;p3"/>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u="none" cap="none" strike="noStrike">
                <a:solidFill>
                  <a:srgbClr val="202329"/>
                </a:solidFill>
                <a:latin typeface="Arial"/>
                <a:ea typeface="Arial"/>
                <a:cs typeface="Arial"/>
                <a:sym typeface="Arial"/>
              </a:rPr>
              <a:t>In 1963, Tinbergen distinguished </a:t>
            </a:r>
            <a:r>
              <a:rPr b="1" i="0" lang="en-US" u="none" cap="none" strike="noStrike">
                <a:solidFill>
                  <a:srgbClr val="202329"/>
                </a:solidFill>
                <a:latin typeface="Arial"/>
                <a:ea typeface="Arial"/>
                <a:cs typeface="Arial"/>
                <a:sym typeface="Arial"/>
              </a:rPr>
              <a:t>causation</a:t>
            </a:r>
            <a:r>
              <a:rPr b="0" i="0" lang="en-US" u="none" cap="none" strike="noStrike">
                <a:solidFill>
                  <a:srgbClr val="202329"/>
                </a:solidFill>
                <a:latin typeface="Arial"/>
                <a:ea typeface="Arial"/>
                <a:cs typeface="Arial"/>
                <a:sym typeface="Arial"/>
              </a:rPr>
              <a:t>, the processes producing behavior; </a:t>
            </a:r>
            <a:r>
              <a:rPr b="1" i="0" lang="en-US" u="none" cap="none" strike="noStrike">
                <a:solidFill>
                  <a:srgbClr val="202329"/>
                </a:solidFill>
                <a:latin typeface="Arial"/>
                <a:ea typeface="Arial"/>
                <a:cs typeface="Arial"/>
                <a:sym typeface="Arial"/>
              </a:rPr>
              <a:t>ontogeny</a:t>
            </a:r>
            <a:r>
              <a:rPr b="0" i="0" lang="en-US" u="none" cap="none" strike="noStrike">
                <a:solidFill>
                  <a:srgbClr val="202329"/>
                </a:solidFill>
                <a:latin typeface="Arial"/>
                <a:ea typeface="Arial"/>
                <a:cs typeface="Arial"/>
                <a:sym typeface="Arial"/>
              </a:rPr>
              <a:t>, its development within an individual; </a:t>
            </a:r>
            <a:r>
              <a:rPr b="1" i="0" lang="en-US" u="none" cap="none" strike="noStrike">
                <a:solidFill>
                  <a:srgbClr val="202329"/>
                </a:solidFill>
                <a:latin typeface="Arial"/>
                <a:ea typeface="Arial"/>
                <a:cs typeface="Arial"/>
                <a:sym typeface="Arial"/>
              </a:rPr>
              <a:t>survival value</a:t>
            </a:r>
            <a:r>
              <a:rPr b="0" i="0" lang="en-US" u="none" cap="none" strike="noStrike">
                <a:solidFill>
                  <a:srgbClr val="202329"/>
                </a:solidFill>
                <a:latin typeface="Arial"/>
                <a:ea typeface="Arial"/>
                <a:cs typeface="Arial"/>
                <a:sym typeface="Arial"/>
              </a:rPr>
              <a:t>, its consequences for survival; and </a:t>
            </a:r>
            <a:r>
              <a:rPr b="1" i="0" lang="en-US" u="none" cap="none" strike="noStrike">
                <a:solidFill>
                  <a:srgbClr val="202329"/>
                </a:solidFill>
                <a:latin typeface="Arial"/>
                <a:ea typeface="Arial"/>
                <a:cs typeface="Arial"/>
                <a:sym typeface="Arial"/>
              </a:rPr>
              <a:t>evolution</a:t>
            </a:r>
            <a:r>
              <a:rPr b="0" i="0" lang="en-US" u="none" cap="none" strike="noStrike">
                <a:solidFill>
                  <a:srgbClr val="202329"/>
                </a:solidFill>
                <a:latin typeface="Arial"/>
                <a:ea typeface="Arial"/>
                <a:cs typeface="Arial"/>
                <a:sym typeface="Arial"/>
              </a:rPr>
              <a:t>, its history across lineages. These questions concern different evidence rather than competing labels for one explanation.</a:t>
            </a:r>
            <a:endParaRPr b="0" i="0" sz="1700" u="none" cap="none" strike="noStrike">
              <a:solidFill>
                <a:schemeClr val="dk1"/>
              </a:solidFill>
              <a:latin typeface="Calibri"/>
              <a:ea typeface="Calibri"/>
              <a:cs typeface="Calibri"/>
              <a:sym typeface="Calibri"/>
            </a:endParaRPr>
          </a:p>
        </p:txBody>
      </p:sp>
      <p:sp>
        <p:nvSpPr>
          <p:cNvPr id="44" name="Google Shape;44;p3"/>
          <p:cNvSpPr/>
          <p:nvPr/>
        </p:nvSpPr>
        <p:spPr>
          <a:xfrm>
            <a:off x="457200" y="2804412"/>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u="none" cap="none" strike="noStrike">
                <a:solidFill>
                  <a:srgbClr val="202329"/>
                </a:solidFill>
                <a:latin typeface="Arial"/>
                <a:ea typeface="Arial"/>
                <a:cs typeface="Arial"/>
                <a:sym typeface="Arial"/>
              </a:rPr>
              <a:t>Barber and colleagues recorded moth responses to bat-call playback and mapped ultrasound production onto a molecular phylogeny, a reconstruction of relationships using genetic evidence. Anti-bat sounds occurred in 52 of 252 tested genera, distributed across multiple branches.</a:t>
            </a:r>
            <a:endParaRPr b="0" i="0" sz="1700" u="none" cap="none" strike="noStrike">
              <a:solidFill>
                <a:schemeClr val="dk1"/>
              </a:solidFill>
              <a:latin typeface="Calibri"/>
              <a:ea typeface="Calibri"/>
              <a:cs typeface="Calibri"/>
              <a:sym typeface="Calibri"/>
            </a:endParaRPr>
          </a:p>
        </p:txBody>
      </p:sp>
      <p:sp>
        <p:nvSpPr>
          <p:cNvPr id="45" name="Google Shape;45;p3"/>
          <p:cNvSpPr/>
          <p:nvPr/>
        </p:nvSpPr>
        <p:spPr>
          <a:xfrm>
            <a:off x="457200" y="4286754"/>
            <a:ext cx="60861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u="none" cap="none" strike="noStrike">
                <a:solidFill>
                  <a:srgbClr val="202329"/>
                </a:solidFill>
                <a:latin typeface="Arial"/>
                <a:ea typeface="Arial"/>
                <a:cs typeface="Arial"/>
                <a:sym typeface="Arial"/>
              </a:rPr>
              <a:t>The playback establishes a response to a present stimulus, whereas the phylogeny addresses historical distribution. Neither measurement alone establishes how the behavior develops or how much it improves lifetime reproductive success. A comprehensive account requires additional experiments directed at those questions.</a:t>
            </a:r>
            <a:endParaRPr b="0" i="0" sz="1700" u="none" cap="none" strike="noStrike">
              <a:solidFill>
                <a:schemeClr val="dk1"/>
              </a:solidFill>
              <a:latin typeface="Calibri"/>
              <a:ea typeface="Calibri"/>
              <a:cs typeface="Calibri"/>
              <a:sym typeface="Calibri"/>
            </a:endParaRPr>
          </a:p>
        </p:txBody>
      </p:sp>
      <p:pic>
        <p:nvPicPr>
          <p:cNvPr id="46" name="Google Shape;46;p3"/>
          <p:cNvPicPr preferRelativeResize="0"/>
          <p:nvPr/>
        </p:nvPicPr>
        <p:blipFill rotWithShape="1">
          <a:blip r:embed="rId3">
            <a:alphaModFix/>
          </a:blip>
          <a:srcRect b="0" l="0" r="0" t="0"/>
          <a:stretch/>
        </p:blipFill>
        <p:spPr>
          <a:xfrm>
            <a:off x="6851629" y="1055340"/>
            <a:ext cx="4565692" cy="4000500"/>
          </a:xfrm>
          <a:prstGeom prst="rect">
            <a:avLst/>
          </a:prstGeom>
          <a:noFill/>
          <a:ln>
            <a:noFill/>
          </a:ln>
        </p:spPr>
      </p:pic>
      <p:sp>
        <p:nvSpPr>
          <p:cNvPr id="47" name="Google Shape;47;p3"/>
          <p:cNvSpPr/>
          <p:nvPr/>
        </p:nvSpPr>
        <p:spPr>
          <a:xfrm>
            <a:off x="6875393" y="5203270"/>
            <a:ext cx="5067300" cy="371400"/>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Barber et al. (2022), Fig. 1. Phylogenetic distribution of moth ultrasound production.</a:t>
            </a:r>
            <a:endParaRPr b="0" i="0" sz="1800" u="none" cap="none" strike="noStrike">
              <a:solidFill>
                <a:schemeClr val="dk1"/>
              </a:solidFill>
              <a:latin typeface="Calibri"/>
              <a:ea typeface="Calibri"/>
              <a:cs typeface="Calibri"/>
              <a:sym typeface="Calibri"/>
            </a:endParaRPr>
          </a:p>
        </p:txBody>
      </p:sp>
      <p:sp>
        <p:nvSpPr>
          <p:cNvPr id="48" name="Google Shape;48;p3"/>
          <p:cNvSpPr/>
          <p:nvPr/>
        </p:nvSpPr>
        <p:spPr>
          <a:xfrm>
            <a:off x="457200" y="6462713"/>
            <a:ext cx="217155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Barber et al. (2022); Tinbergen (1963)</a:t>
            </a:r>
            <a:endParaRPr b="0" i="0" sz="1800" u="none" cap="none" strike="noStrike">
              <a:solidFill>
                <a:schemeClr val="dk1"/>
              </a:solidFill>
              <a:latin typeface="Calibri"/>
              <a:ea typeface="Calibri"/>
              <a:cs typeface="Calibri"/>
              <a:sym typeface="Calibri"/>
            </a:endParaRPr>
          </a:p>
        </p:txBody>
      </p:sp>
      <p:sp>
        <p:nvSpPr>
          <p:cNvPr id="49" name="Google Shape;49;p3"/>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Causation asks what produces a response</a:t>
            </a:r>
            <a:endParaRPr b="0" i="0" sz="1800" u="none" cap="none" strike="noStrike">
              <a:solidFill>
                <a:schemeClr val="dk1"/>
              </a:solidFill>
              <a:latin typeface="Calibri"/>
              <a:ea typeface="Calibri"/>
              <a:cs typeface="Calibri"/>
              <a:sym typeface="Calibri"/>
            </a:endParaRPr>
          </a:p>
        </p:txBody>
      </p:sp>
      <p:sp>
        <p:nvSpPr>
          <p:cNvPr id="55" name="Google Shape;55;p4"/>
          <p:cNvSpPr/>
          <p:nvPr/>
        </p:nvSpPr>
        <p:spPr>
          <a:xfrm>
            <a:off x="457200" y="1055350"/>
            <a:ext cx="55395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400" u="none" cap="none" strike="noStrike">
                <a:solidFill>
                  <a:srgbClr val="202329"/>
                </a:solidFill>
                <a:latin typeface="Arial"/>
                <a:ea typeface="Arial"/>
                <a:cs typeface="Arial"/>
                <a:sym typeface="Arial"/>
              </a:rPr>
              <a:t>Causation</a:t>
            </a:r>
            <a:r>
              <a:rPr b="0" i="0" lang="en-US" sz="1400" u="none" cap="none" strike="noStrike">
                <a:solidFill>
                  <a:srgbClr val="202329"/>
                </a:solidFill>
                <a:latin typeface="Arial"/>
                <a:ea typeface="Arial"/>
                <a:cs typeface="Arial"/>
                <a:sym typeface="Arial"/>
              </a:rPr>
              <a:t>, or mechanism, concerns the events and processes that produce an action. Cormons and Zeil allowed returning wasps to encounter three cork landmarks around a hidden nest, then displaced the landmarks by 3.4–6.75 cm while the wasps were away.</a:t>
            </a:r>
            <a:endParaRPr b="0" i="0" sz="1700" u="none" cap="none" strike="noStrike">
              <a:solidFill>
                <a:schemeClr val="dk1"/>
              </a:solidFill>
              <a:latin typeface="Calibri"/>
              <a:ea typeface="Calibri"/>
              <a:cs typeface="Calibri"/>
              <a:sym typeface="Calibri"/>
            </a:endParaRPr>
          </a:p>
        </p:txBody>
      </p:sp>
      <p:sp>
        <p:nvSpPr>
          <p:cNvPr id="56" name="Google Shape;56;p4"/>
          <p:cNvSpPr/>
          <p:nvPr/>
        </p:nvSpPr>
        <p:spPr>
          <a:xfrm>
            <a:off x="6479650" y="1055350"/>
            <a:ext cx="5274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Initial digging followed the shifted configuration rather than the unchanged physical burrow. Wasps subsequently corrected their search and entered the nest. Changing the available visual information therefore changed where digging began.</a:t>
            </a:r>
            <a:endParaRPr b="0" i="0" sz="1700" u="none" cap="none" strike="noStrike">
              <a:solidFill>
                <a:schemeClr val="dk1"/>
              </a:solidFill>
              <a:latin typeface="Calibri"/>
              <a:ea typeface="Calibri"/>
              <a:cs typeface="Calibri"/>
              <a:sym typeface="Calibri"/>
            </a:endParaRPr>
          </a:p>
        </p:txBody>
      </p:sp>
      <p:sp>
        <p:nvSpPr>
          <p:cNvPr id="57" name="Google Shape;57;p4"/>
          <p:cNvSpPr/>
          <p:nvPr/>
        </p:nvSpPr>
        <p:spPr>
          <a:xfrm>
            <a:off x="579750" y="5613124"/>
            <a:ext cx="110325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This is a causal manipulation of a sensory cue. It does not establish a particular neural representation or explain the evolutionary advantage of navigation. The immediate location of the response and the long-term consequences of that response are different quantities.</a:t>
            </a:r>
            <a:endParaRPr b="0" i="0" sz="1700" u="none" cap="none" strike="noStrike">
              <a:solidFill>
                <a:schemeClr val="dk1"/>
              </a:solidFill>
              <a:latin typeface="Calibri"/>
              <a:ea typeface="Calibri"/>
              <a:cs typeface="Calibri"/>
              <a:sym typeface="Calibri"/>
            </a:endParaRPr>
          </a:p>
        </p:txBody>
      </p:sp>
      <p:pic>
        <p:nvPicPr>
          <p:cNvPr id="58" name="Google Shape;58;p4"/>
          <p:cNvPicPr preferRelativeResize="0"/>
          <p:nvPr/>
        </p:nvPicPr>
        <p:blipFill rotWithShape="1">
          <a:blip r:embed="rId3">
            <a:alphaModFix/>
          </a:blip>
          <a:srcRect b="0" l="0" r="0" t="0"/>
          <a:stretch/>
        </p:blipFill>
        <p:spPr>
          <a:xfrm>
            <a:off x="3911310" y="2369800"/>
            <a:ext cx="4369390" cy="2390951"/>
          </a:xfrm>
          <a:prstGeom prst="rect">
            <a:avLst/>
          </a:prstGeom>
          <a:noFill/>
          <a:ln>
            <a:noFill/>
          </a:ln>
        </p:spPr>
      </p:pic>
      <p:sp>
        <p:nvSpPr>
          <p:cNvPr id="59" name="Google Shape;59;p4"/>
          <p:cNvSpPr/>
          <p:nvPr/>
        </p:nvSpPr>
        <p:spPr>
          <a:xfrm>
            <a:off x="3335775" y="4950989"/>
            <a:ext cx="5539500" cy="471900"/>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4(A). Digging locations after repeated landmark shifts.</a:t>
            </a:r>
            <a:endParaRPr b="0" i="0" sz="1800" u="none" cap="none" strike="noStrike">
              <a:solidFill>
                <a:schemeClr val="dk1"/>
              </a:solidFill>
              <a:latin typeface="Calibri"/>
              <a:ea typeface="Calibri"/>
              <a:cs typeface="Calibri"/>
              <a:sym typeface="Calibri"/>
            </a:endParaRPr>
          </a:p>
        </p:txBody>
      </p:sp>
      <p:sp>
        <p:nvSpPr>
          <p:cNvPr id="60" name="Google Shape;60;p4"/>
          <p:cNvSpPr/>
          <p:nvPr/>
        </p:nvSpPr>
        <p:spPr>
          <a:xfrm>
            <a:off x="457200" y="6462713"/>
            <a:ext cx="235029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 Tinbergen (1963)</a:t>
            </a:r>
            <a:endParaRPr b="0" i="0" sz="1800" u="none" cap="none" strike="noStrike">
              <a:solidFill>
                <a:schemeClr val="dk1"/>
              </a:solidFill>
              <a:latin typeface="Calibri"/>
              <a:ea typeface="Calibri"/>
              <a:cs typeface="Calibri"/>
              <a:sym typeface="Calibri"/>
            </a:endParaRPr>
          </a:p>
        </p:txBody>
      </p:sp>
      <p:sp>
        <p:nvSpPr>
          <p:cNvPr id="61" name="Google Shape;61;p4"/>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Ontogeny asks how experience changes behavior</a:t>
            </a:r>
            <a:endParaRPr b="0" i="0" sz="1800" u="none" cap="none" strike="noStrike">
              <a:solidFill>
                <a:schemeClr val="dk1"/>
              </a:solidFill>
              <a:latin typeface="Calibri"/>
              <a:ea typeface="Calibri"/>
              <a:cs typeface="Calibri"/>
              <a:sym typeface="Calibri"/>
            </a:endParaRPr>
          </a:p>
        </p:txBody>
      </p:sp>
      <p:sp>
        <p:nvSpPr>
          <p:cNvPr id="67" name="Google Shape;67;p5"/>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400" u="none" cap="none" strike="noStrike">
                <a:solidFill>
                  <a:srgbClr val="202329"/>
                </a:solidFill>
                <a:latin typeface="Arial"/>
                <a:ea typeface="Arial"/>
                <a:cs typeface="Arial"/>
                <a:sym typeface="Arial"/>
              </a:rPr>
              <a:t>Ontogeny</a:t>
            </a:r>
            <a:r>
              <a:rPr b="0" i="0" lang="en-US" sz="1400" u="none" cap="none" strike="noStrike">
                <a:solidFill>
                  <a:srgbClr val="202329"/>
                </a:solidFill>
                <a:latin typeface="Arial"/>
                <a:ea typeface="Arial"/>
                <a:cs typeface="Arial"/>
                <a:sym typeface="Arial"/>
              </a:rPr>
              <a:t> is the development of an individual’s behavior and its underlying machinery. Fehér and colleagues studied male zebra finches, </a:t>
            </a:r>
            <a:r>
              <a:rPr b="0" i="1" lang="en-US" sz="1400" u="none" cap="none" strike="noStrike">
                <a:solidFill>
                  <a:srgbClr val="202329"/>
                </a:solidFill>
                <a:latin typeface="Arial"/>
                <a:ea typeface="Arial"/>
                <a:cs typeface="Arial"/>
                <a:sym typeface="Arial"/>
              </a:rPr>
              <a:t>Taeniopygia guttata</a:t>
            </a:r>
            <a:r>
              <a:rPr b="0" i="0" lang="en-US" sz="1400" u="none" cap="none" strike="noStrike">
                <a:solidFill>
                  <a:srgbClr val="202329"/>
                </a:solidFill>
                <a:latin typeface="Arial"/>
                <a:ea typeface="Arial"/>
                <a:cs typeface="Arial"/>
                <a:sym typeface="Arial"/>
              </a:rPr>
              <a:t>, deprived of adult male song during development, and compared their adult songs with songs from established colonies.</a:t>
            </a:r>
            <a:endParaRPr b="0" i="0" sz="1700" u="none" cap="none" strike="noStrike">
              <a:solidFill>
                <a:schemeClr val="dk1"/>
              </a:solidFill>
              <a:latin typeface="Calibri"/>
              <a:ea typeface="Calibri"/>
              <a:cs typeface="Calibri"/>
              <a:sym typeface="Calibri"/>
            </a:endParaRPr>
          </a:p>
        </p:txBody>
      </p:sp>
      <p:sp>
        <p:nvSpPr>
          <p:cNvPr id="68" name="Google Shape;68;p5"/>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song-deprived birds produced prolonged or stuttered syllables and less regular song organization. Birds were kept in sound-isolated chambers from day 30 to day 120 after hatching, controlling access to the adult song models normally available during learning.</a:t>
            </a:r>
            <a:endParaRPr b="0" i="0" sz="1700" u="none" cap="none" strike="noStrike">
              <a:solidFill>
                <a:schemeClr val="dk1"/>
              </a:solidFill>
              <a:latin typeface="Calibri"/>
              <a:ea typeface="Calibri"/>
              <a:cs typeface="Calibri"/>
              <a:sym typeface="Calibri"/>
            </a:endParaRPr>
          </a:p>
        </p:txBody>
      </p:sp>
      <p:sp>
        <p:nvSpPr>
          <p:cNvPr id="69" name="Google Shape;69;p5"/>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manipulation identifies an effect of developmental experience, rather than an immediate response to hearing a song. Song still developed in the absence of normal tutoring, so the result does not support a simple division into completely learned and completely experience-independent behavior.</a:t>
            </a:r>
            <a:endParaRPr b="0" i="0" sz="1700" u="none" cap="none" strike="noStrike">
              <a:solidFill>
                <a:schemeClr val="dk1"/>
              </a:solidFill>
              <a:latin typeface="Calibri"/>
              <a:ea typeface="Calibri"/>
              <a:cs typeface="Calibri"/>
              <a:sym typeface="Calibri"/>
            </a:endParaRPr>
          </a:p>
        </p:txBody>
      </p:sp>
      <p:pic>
        <p:nvPicPr>
          <p:cNvPr id="70" name="Google Shape;70;p5"/>
          <p:cNvPicPr preferRelativeResize="0"/>
          <p:nvPr/>
        </p:nvPicPr>
        <p:blipFill rotWithShape="1">
          <a:blip r:embed="rId3">
            <a:alphaModFix/>
          </a:blip>
          <a:srcRect b="0" l="0" r="0" t="0"/>
          <a:stretch/>
        </p:blipFill>
        <p:spPr>
          <a:xfrm>
            <a:off x="6610350" y="1132143"/>
            <a:ext cx="5048250" cy="3846894"/>
          </a:xfrm>
          <a:prstGeom prst="rect">
            <a:avLst/>
          </a:prstGeom>
          <a:noFill/>
          <a:ln>
            <a:noFill/>
          </a:ln>
        </p:spPr>
      </p:pic>
      <p:sp>
        <p:nvSpPr>
          <p:cNvPr id="71" name="Google Shape;71;p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Fehér et al. (2009), Fig. 1(a–e). Songs of normally tutored and song-deprived zebra finches.</a:t>
            </a:r>
            <a:endParaRPr b="0" i="0" sz="1800" u="none" cap="none" strike="noStrike">
              <a:solidFill>
                <a:schemeClr val="dk1"/>
              </a:solidFill>
              <a:latin typeface="Calibri"/>
              <a:ea typeface="Calibri"/>
              <a:cs typeface="Calibri"/>
              <a:sym typeface="Calibri"/>
            </a:endParaRPr>
          </a:p>
        </p:txBody>
      </p:sp>
      <p:sp>
        <p:nvSpPr>
          <p:cNvPr id="72" name="Google Shape;72;p5"/>
          <p:cNvSpPr/>
          <p:nvPr/>
        </p:nvSpPr>
        <p:spPr>
          <a:xfrm>
            <a:off x="457200" y="6462713"/>
            <a:ext cx="210502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Fehér et al. (2009); Tinbergen (1963)</a:t>
            </a:r>
            <a:endParaRPr b="0" i="0" sz="1800" u="none" cap="none" strike="noStrike">
              <a:solidFill>
                <a:schemeClr val="dk1"/>
              </a:solidFill>
              <a:latin typeface="Calibri"/>
              <a:ea typeface="Calibri"/>
              <a:cs typeface="Calibri"/>
              <a:sym typeface="Calibri"/>
            </a:endParaRPr>
          </a:p>
        </p:txBody>
      </p:sp>
      <p:sp>
        <p:nvSpPr>
          <p:cNvPr id="73" name="Google Shape;73;p5"/>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Function concerns consequences for the animal</a:t>
            </a:r>
            <a:endParaRPr b="0" i="0" sz="1800" u="none" cap="none" strike="noStrike">
              <a:solidFill>
                <a:schemeClr val="dk1"/>
              </a:solidFill>
              <a:latin typeface="Calibri"/>
              <a:ea typeface="Calibri"/>
              <a:cs typeface="Calibri"/>
              <a:sym typeface="Calibri"/>
            </a:endParaRPr>
          </a:p>
        </p:txBody>
      </p:sp>
      <p:sp>
        <p:nvSpPr>
          <p:cNvPr id="79" name="Google Shape;79;p6"/>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300" u="none" cap="none" strike="noStrike">
                <a:solidFill>
                  <a:srgbClr val="202329"/>
                </a:solidFill>
                <a:latin typeface="Arial"/>
                <a:ea typeface="Arial"/>
                <a:cs typeface="Arial"/>
                <a:sym typeface="Arial"/>
              </a:rPr>
              <a:t>Survival value</a:t>
            </a:r>
            <a:r>
              <a:rPr b="0" i="0" lang="en-US" sz="1300" u="none" cap="none" strike="noStrike">
                <a:solidFill>
                  <a:srgbClr val="202329"/>
                </a:solidFill>
                <a:latin typeface="Arial"/>
                <a:ea typeface="Arial"/>
                <a:cs typeface="Arial"/>
                <a:sym typeface="Arial"/>
              </a:rPr>
              <a:t>, often discussed as biological function, concerns how a behavior affects the animal’s survival and reproductive prospects. Barber and colleagues examined moth ultrasound evoked by bat sonar and measured its acoustic properties alongside tests of whether bats would consume the moths.</a:t>
            </a:r>
            <a:endParaRPr b="0" i="0" sz="1600" u="none" cap="none" strike="noStrike">
              <a:solidFill>
                <a:schemeClr val="dk1"/>
              </a:solidFill>
              <a:latin typeface="Calibri"/>
              <a:ea typeface="Calibri"/>
              <a:cs typeface="Calibri"/>
              <a:sym typeface="Calibri"/>
            </a:endParaRPr>
          </a:p>
        </p:txBody>
      </p:sp>
      <p:sp>
        <p:nvSpPr>
          <p:cNvPr id="80" name="Google Shape;80;p6"/>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lang="en-US" sz="1300">
                <a:solidFill>
                  <a:srgbClr val="202329"/>
                </a:solidFill>
              </a:rPr>
              <a:t>The emissions were centered near 65 kHz, within the ultrasonic (high-pitched, beyond human hearing) frequencies relevant to bat–moth encounters. Some moths were unpalatable (tasted bad or were harmful to eat); others were readily (easily) consumed. These differences constrain (limit) proposals that sounds warn predators of noxious (harmful or bad-smelling) prey or mimic (copy) such warnings.</a:t>
            </a:r>
            <a:endParaRPr b="0" i="0" sz="1600" u="none" cap="none" strike="noStrike">
              <a:solidFill>
                <a:schemeClr val="dk1"/>
              </a:solidFill>
              <a:latin typeface="Calibri"/>
              <a:ea typeface="Calibri"/>
              <a:cs typeface="Calibri"/>
              <a:sym typeface="Calibri"/>
            </a:endParaRPr>
          </a:p>
        </p:txBody>
      </p:sp>
      <p:sp>
        <p:nvSpPr>
          <p:cNvPr id="81" name="Google Shape;81;p6"/>
          <p:cNvSpPr/>
          <p:nvPr/>
        </p:nvSpPr>
        <p:spPr>
          <a:xfrm>
            <a:off x="457200" y="44829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u="none" cap="none" strike="noStrike">
                <a:solidFill>
                  <a:srgbClr val="202329"/>
                </a:solidFill>
                <a:latin typeface="Arial"/>
                <a:ea typeface="Arial"/>
                <a:cs typeface="Arial"/>
                <a:sym typeface="Arial"/>
              </a:rPr>
              <a:t>Producing a sound in response to a predator cue does not by itself establish a survival benefit. Palatability and acoustic measurements support specific defensive hypotheses, but lifetime survival or reproductive success was not measured for every sound-producing lineage.</a:t>
            </a:r>
            <a:endParaRPr b="0" i="0" sz="1600" u="none" cap="none" strike="noStrike">
              <a:solidFill>
                <a:schemeClr val="dk1"/>
              </a:solidFill>
              <a:latin typeface="Calibri"/>
              <a:ea typeface="Calibri"/>
              <a:cs typeface="Calibri"/>
              <a:sym typeface="Calibri"/>
            </a:endParaRPr>
          </a:p>
        </p:txBody>
      </p:sp>
      <p:pic>
        <p:nvPicPr>
          <p:cNvPr id="82" name="Google Shape;82;p6"/>
          <p:cNvPicPr preferRelativeResize="0"/>
          <p:nvPr/>
        </p:nvPicPr>
        <p:blipFill rotWithShape="1">
          <a:blip r:embed="rId3">
            <a:alphaModFix/>
          </a:blip>
          <a:srcRect b="0" l="0" r="0" t="0"/>
          <a:stretch/>
        </p:blipFill>
        <p:spPr>
          <a:xfrm>
            <a:off x="6610350" y="1075123"/>
            <a:ext cx="5048250" cy="3960935"/>
          </a:xfrm>
          <a:prstGeom prst="rect">
            <a:avLst/>
          </a:prstGeom>
          <a:noFill/>
          <a:ln>
            <a:noFill/>
          </a:ln>
        </p:spPr>
      </p:pic>
      <p:sp>
        <p:nvSpPr>
          <p:cNvPr id="83" name="Google Shape;83;p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Barber et al. (2022), Fig. 2(D). Moth acoustic response to playback of bat sonar.</a:t>
            </a:r>
            <a:endParaRPr b="0" i="0" sz="1800" u="none" cap="none" strike="noStrike">
              <a:solidFill>
                <a:schemeClr val="dk1"/>
              </a:solidFill>
              <a:latin typeface="Calibri"/>
              <a:ea typeface="Calibri"/>
              <a:cs typeface="Calibri"/>
              <a:sym typeface="Calibri"/>
            </a:endParaRPr>
          </a:p>
        </p:txBody>
      </p:sp>
      <p:sp>
        <p:nvSpPr>
          <p:cNvPr id="84" name="Google Shape;84;p6"/>
          <p:cNvSpPr/>
          <p:nvPr/>
        </p:nvSpPr>
        <p:spPr>
          <a:xfrm>
            <a:off x="457200" y="6462713"/>
            <a:ext cx="217155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Barber et al. (2022); Tinbergen (1963)</a:t>
            </a:r>
            <a:endParaRPr b="0" i="0" sz="1800" u="none" cap="none" strike="noStrike">
              <a:solidFill>
                <a:schemeClr val="dk1"/>
              </a:solidFill>
              <a:latin typeface="Calibri"/>
              <a:ea typeface="Calibri"/>
              <a:cs typeface="Calibri"/>
              <a:sym typeface="Calibri"/>
            </a:endParaRPr>
          </a:p>
        </p:txBody>
      </p:sp>
      <p:sp>
        <p:nvSpPr>
          <p:cNvPr id="85" name="Google Shape;85;p6"/>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Evolution asks how behavioral traits arose</a:t>
            </a:r>
            <a:endParaRPr b="0" i="0" sz="1800" u="none" cap="none" strike="noStrike">
              <a:solidFill>
                <a:schemeClr val="dk1"/>
              </a:solidFill>
              <a:latin typeface="Calibri"/>
              <a:ea typeface="Calibri"/>
              <a:cs typeface="Calibri"/>
              <a:sym typeface="Calibri"/>
            </a:endParaRPr>
          </a:p>
        </p:txBody>
      </p:sp>
      <p:sp>
        <p:nvSpPr>
          <p:cNvPr id="91" name="Google Shape;91;p7"/>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u="none" cap="none" strike="noStrike">
                <a:solidFill>
                  <a:srgbClr val="202329"/>
                </a:solidFill>
                <a:latin typeface="Arial"/>
                <a:ea typeface="Arial"/>
                <a:cs typeface="Arial"/>
                <a:sym typeface="Arial"/>
              </a:rPr>
              <a:t>Evolutionary history</a:t>
            </a:r>
            <a:r>
              <a:rPr b="0" i="0" lang="en-US" u="none" cap="none" strike="noStrike">
                <a:solidFill>
                  <a:srgbClr val="202329"/>
                </a:solidFill>
                <a:latin typeface="Arial"/>
                <a:ea typeface="Arial"/>
                <a:cs typeface="Arial"/>
                <a:sym typeface="Arial"/>
              </a:rPr>
              <a:t> concerns the origin and modification of a trait across generations and lineages. Barber and colleagues placed measured moth responses on a phylogeny of Lepidoptera, the order containing moths and butterflies, and compared the distribution of sound production across related groups.</a:t>
            </a:r>
            <a:endParaRPr b="0" i="0" sz="1700" u="none" cap="none" strike="noStrike">
              <a:solidFill>
                <a:schemeClr val="dk1"/>
              </a:solidFill>
              <a:latin typeface="Calibri"/>
              <a:ea typeface="Calibri"/>
              <a:cs typeface="Calibri"/>
              <a:sym typeface="Calibri"/>
            </a:endParaRPr>
          </a:p>
        </p:txBody>
      </p:sp>
      <p:sp>
        <p:nvSpPr>
          <p:cNvPr id="92" name="Google Shape;92;p7"/>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u="none" cap="none" strike="noStrike">
                <a:solidFill>
                  <a:srgbClr val="202329"/>
                </a:solidFill>
                <a:latin typeface="Arial"/>
                <a:ea typeface="Arial"/>
                <a:cs typeface="Arial"/>
                <a:sym typeface="Arial"/>
              </a:rPr>
              <a:t>Anti-bat ultrasound was widespread rather than restricted to one familiar moth group. The authors inferred multiple origins and found preliminary evidence of sonar-jamming capability in at least six subfamilies, using acoustic duty cycle as a candidate indicator.</a:t>
            </a:r>
            <a:endParaRPr b="0" i="0" sz="1700" u="none" cap="none" strike="noStrike">
              <a:solidFill>
                <a:schemeClr val="dk1"/>
              </a:solidFill>
              <a:latin typeface="Calibri"/>
              <a:ea typeface="Calibri"/>
              <a:cs typeface="Calibri"/>
              <a:sym typeface="Calibri"/>
            </a:endParaRPr>
          </a:p>
        </p:txBody>
      </p:sp>
      <p:sp>
        <p:nvSpPr>
          <p:cNvPr id="93" name="Google Shape;93;p7"/>
          <p:cNvSpPr/>
          <p:nvPr/>
        </p:nvSpPr>
        <p:spPr>
          <a:xfrm>
            <a:off x="457200" y="42176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u="none" cap="none" strike="noStrike">
                <a:solidFill>
                  <a:srgbClr val="202329"/>
                </a:solidFill>
                <a:latin typeface="Arial"/>
                <a:ea typeface="Arial"/>
                <a:cs typeface="Arial"/>
                <a:sym typeface="Arial"/>
              </a:rPr>
              <a:t>The historical inference depends on the sampled species, the reconstructed relationships, and the definition of the trait. Similar defensive behavior does not necessarily indicate a single common origin, and an inferred origin of possible jamming is not a direct bat-capture experiment for every species.</a:t>
            </a:r>
            <a:endParaRPr b="0" i="0" sz="1700" u="none" cap="none" strike="noStrike">
              <a:solidFill>
                <a:schemeClr val="dk1"/>
              </a:solidFill>
              <a:latin typeface="Calibri"/>
              <a:ea typeface="Calibri"/>
              <a:cs typeface="Calibri"/>
              <a:sym typeface="Calibri"/>
            </a:endParaRPr>
          </a:p>
        </p:txBody>
      </p:sp>
      <p:pic>
        <p:nvPicPr>
          <p:cNvPr id="94" name="Google Shape;94;p7"/>
          <p:cNvPicPr preferRelativeResize="0"/>
          <p:nvPr/>
        </p:nvPicPr>
        <p:blipFill rotWithShape="1">
          <a:blip r:embed="rId3">
            <a:alphaModFix/>
          </a:blip>
          <a:srcRect b="0" l="0" r="0" t="0"/>
          <a:stretch/>
        </p:blipFill>
        <p:spPr>
          <a:xfrm>
            <a:off x="6851629" y="1055340"/>
            <a:ext cx="4565692" cy="4000500"/>
          </a:xfrm>
          <a:prstGeom prst="rect">
            <a:avLst/>
          </a:prstGeom>
          <a:noFill/>
          <a:ln>
            <a:noFill/>
          </a:ln>
        </p:spPr>
      </p:pic>
      <p:sp>
        <p:nvSpPr>
          <p:cNvPr id="95" name="Google Shape;95;p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Barber et al. (2022), Fig. 1. Ultrasound production mapped across lepidopteran lineages.</a:t>
            </a:r>
            <a:endParaRPr b="0" i="0" sz="1800" u="none" cap="none" strike="noStrike">
              <a:solidFill>
                <a:schemeClr val="dk1"/>
              </a:solidFill>
              <a:latin typeface="Calibri"/>
              <a:ea typeface="Calibri"/>
              <a:cs typeface="Calibri"/>
              <a:sym typeface="Calibri"/>
            </a:endParaRPr>
          </a:p>
        </p:txBody>
      </p:sp>
      <p:sp>
        <p:nvSpPr>
          <p:cNvPr id="96" name="Google Shape;96;p7"/>
          <p:cNvSpPr/>
          <p:nvPr/>
        </p:nvSpPr>
        <p:spPr>
          <a:xfrm>
            <a:off x="457200" y="6462713"/>
            <a:ext cx="217155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Barber et al. (2022); Tinbergen (1963)</a:t>
            </a:r>
            <a:endParaRPr b="0" i="0" sz="1800" u="none" cap="none" strike="noStrike">
              <a:solidFill>
                <a:schemeClr val="dk1"/>
              </a:solidFill>
              <a:latin typeface="Calibri"/>
              <a:ea typeface="Calibri"/>
              <a:cs typeface="Calibri"/>
              <a:sym typeface="Calibri"/>
            </a:endParaRPr>
          </a:p>
        </p:txBody>
      </p:sp>
      <p:sp>
        <p:nvSpPr>
          <p:cNvPr id="97" name="Google Shape;97;p7"/>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4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Moth ears answer bats now but arose for another use</a:t>
            </a:r>
            <a:endParaRPr b="0" i="0" sz="1800" u="none" cap="none" strike="noStrike">
              <a:solidFill>
                <a:schemeClr val="dk1"/>
              </a:solidFill>
              <a:latin typeface="Calibri"/>
              <a:ea typeface="Calibri"/>
              <a:cs typeface="Calibri"/>
              <a:sym typeface="Calibri"/>
            </a:endParaRPr>
          </a:p>
        </p:txBody>
      </p:sp>
      <p:sp>
        <p:nvSpPr>
          <p:cNvPr id="103" name="Google Shape;103;p49"/>
          <p:cNvSpPr/>
          <p:nvPr/>
        </p:nvSpPr>
        <p:spPr>
          <a:xfrm>
            <a:off x="457200" y="1055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 moth can answer a bat only after it detects the sonar. Barber and colleagues report ears in about 85% of Macroheterocera species and propose that these organs began as general monitors of environmental sound, later </a:t>
            </a:r>
            <a:r>
              <a:rPr b="1" i="0" lang="en-US" sz="1400" u="none" cap="none" strike="noStrike">
                <a:solidFill>
                  <a:srgbClr val="202329"/>
                </a:solidFill>
                <a:latin typeface="Arial"/>
                <a:ea typeface="Arial"/>
                <a:cs typeface="Arial"/>
                <a:sym typeface="Arial"/>
              </a:rPr>
              <a:t>co-opted</a:t>
            </a:r>
            <a:r>
              <a:rPr b="0" i="0" lang="en-US" sz="1400" u="none" cap="none" strike="noStrike">
                <a:solidFill>
                  <a:srgbClr val="202329"/>
                </a:solidFill>
                <a:latin typeface="Arial"/>
                <a:ea typeface="Arial"/>
                <a:cs typeface="Arial"/>
                <a:sym typeface="Arial"/>
              </a:rPr>
              <a:t>, or recruited to a new use, for detecting bat cries.</a:t>
            </a:r>
            <a:endParaRPr b="0" i="0" sz="1700" u="none" cap="none" strike="noStrike">
              <a:solidFill>
                <a:schemeClr val="dk1"/>
              </a:solidFill>
              <a:latin typeface="Calibri"/>
              <a:ea typeface="Calibri"/>
              <a:cs typeface="Calibri"/>
              <a:sym typeface="Calibri"/>
            </a:endParaRPr>
          </a:p>
        </p:txBody>
      </p:sp>
      <p:sp>
        <p:nvSpPr>
          <p:cNvPr id="104" name="Google Shape;104;p49"/>
          <p:cNvSpPr/>
          <p:nvPr/>
        </p:nvSpPr>
        <p:spPr>
          <a:xfrm>
            <a:off x="457200" y="2960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anti-bat click thus relies on a sense organ whose present survival value differs from the reason it evolved. Its use against bats is measured in living moths, whereas its origin is inferred from how ears are distributed across lineages, the split Tinbergen drew between survival value and evolution.</a:t>
            </a:r>
            <a:endParaRPr b="0" i="0" sz="1700" u="none" cap="none" strike="noStrike">
              <a:solidFill>
                <a:schemeClr val="dk1"/>
              </a:solidFill>
              <a:latin typeface="Calibri"/>
              <a:ea typeface="Calibri"/>
              <a:cs typeface="Calibri"/>
              <a:sym typeface="Calibri"/>
            </a:endParaRPr>
          </a:p>
        </p:txBody>
      </p:sp>
      <p:sp>
        <p:nvSpPr>
          <p:cNvPr id="105" name="Google Shape;105;p49"/>
          <p:cNvSpPr/>
          <p:nvPr/>
        </p:nvSpPr>
        <p:spPr>
          <a:xfrm>
            <a:off x="457200" y="4865340"/>
            <a:ext cx="5829300" cy="119481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receiver shapes the signal too. Clicks centered near 65 kHz fall where most bats hear best. Three subfamilies clicked only when handled; such a click can still act during capture, since bats often strike prey with a wing and pass it toward the mouth before biting.</a:t>
            </a:r>
            <a:endParaRPr b="0" i="0" sz="1700" u="none" cap="none" strike="noStrike">
              <a:solidFill>
                <a:schemeClr val="dk1"/>
              </a:solidFill>
              <a:latin typeface="Calibri"/>
              <a:ea typeface="Calibri"/>
              <a:cs typeface="Calibri"/>
              <a:sym typeface="Calibri"/>
            </a:endParaRPr>
          </a:p>
        </p:txBody>
      </p:sp>
      <p:pic>
        <p:nvPicPr>
          <p:cNvPr id="106" name="Google Shape;106;p49"/>
          <p:cNvPicPr preferRelativeResize="0"/>
          <p:nvPr/>
        </p:nvPicPr>
        <p:blipFill rotWithShape="1">
          <a:blip r:embed="rId3">
            <a:alphaModFix/>
          </a:blip>
          <a:srcRect b="0" l="0" r="0" t="0"/>
          <a:stretch/>
        </p:blipFill>
        <p:spPr>
          <a:xfrm>
            <a:off x="6610350" y="2555666"/>
            <a:ext cx="5048250" cy="999848"/>
          </a:xfrm>
          <a:prstGeom prst="rect">
            <a:avLst/>
          </a:prstGeom>
          <a:noFill/>
          <a:ln>
            <a:noFill/>
          </a:ln>
        </p:spPr>
      </p:pic>
      <p:sp>
        <p:nvSpPr>
          <p:cNvPr id="107" name="Google Shape;107;p4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Barber et al. (2022), Fig. 2(A–D). A moth, tegular structures, modified scales, and emitted ultrasound.</a:t>
            </a:r>
            <a:endParaRPr b="0" i="0" sz="1800" u="none" cap="none" strike="noStrike">
              <a:solidFill>
                <a:schemeClr val="dk1"/>
              </a:solidFill>
              <a:latin typeface="Calibri"/>
              <a:ea typeface="Calibri"/>
              <a:cs typeface="Calibri"/>
              <a:sym typeface="Calibri"/>
            </a:endParaRPr>
          </a:p>
        </p:txBody>
      </p:sp>
      <p:sp>
        <p:nvSpPr>
          <p:cNvPr id="108" name="Google Shape;108;p49"/>
          <p:cNvSpPr/>
          <p:nvPr/>
        </p:nvSpPr>
        <p:spPr>
          <a:xfrm>
            <a:off x="457200" y="6462713"/>
            <a:ext cx="266039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Barber et al. (2022); Tinbergen (1963)</a:t>
            </a:r>
            <a:endParaRPr b="0" i="0" sz="1800" u="none" cap="none" strike="noStrike">
              <a:solidFill>
                <a:schemeClr val="dk1"/>
              </a:solidFill>
              <a:latin typeface="Calibri"/>
              <a:ea typeface="Calibri"/>
              <a:cs typeface="Calibri"/>
              <a:sym typeface="Calibri"/>
            </a:endParaRPr>
          </a:p>
        </p:txBody>
      </p:sp>
      <p:sp>
        <p:nvSpPr>
          <p:cNvPr id="109" name="Google Shape;109;p49"/>
          <p:cNvSpPr/>
          <p:nvPr/>
        </p:nvSpPr>
        <p:spPr>
          <a:xfrm>
            <a:off x="11589766" y="6462713"/>
            <a:ext cx="1640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7a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Proximate explanations include development</a:t>
            </a:r>
            <a:endParaRPr b="0" i="0" sz="1800" u="none" cap="none" strike="noStrike">
              <a:solidFill>
                <a:schemeClr val="dk1"/>
              </a:solidFill>
              <a:latin typeface="Calibri"/>
              <a:ea typeface="Calibri"/>
              <a:cs typeface="Calibri"/>
              <a:sym typeface="Calibri"/>
            </a:endParaRPr>
          </a:p>
        </p:txBody>
      </p:sp>
      <p:sp>
        <p:nvSpPr>
          <p:cNvPr id="115" name="Google Shape;115;p8"/>
          <p:cNvSpPr/>
          <p:nvPr/>
        </p:nvSpPr>
        <p:spPr>
          <a:xfrm>
            <a:off x="457200" y="152065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300" u="none" cap="none" strike="noStrike">
                <a:solidFill>
                  <a:srgbClr val="202329"/>
                </a:solidFill>
                <a:latin typeface="Arial"/>
                <a:ea typeface="Arial"/>
                <a:cs typeface="Arial"/>
                <a:sym typeface="Arial"/>
              </a:rPr>
              <a:t>Proximate explanations</a:t>
            </a:r>
            <a:r>
              <a:rPr b="0" i="0" lang="en-US" sz="1300" u="none" cap="none" strike="noStrike">
                <a:solidFill>
                  <a:srgbClr val="202329"/>
                </a:solidFill>
                <a:latin typeface="Arial"/>
                <a:ea typeface="Arial"/>
                <a:cs typeface="Arial"/>
                <a:sym typeface="Arial"/>
              </a:rPr>
              <a:t> address how behavior is produced and how its machinery develops. Haesler and colleagues reduced expression of </a:t>
            </a:r>
            <a:r>
              <a:rPr b="1" i="0" lang="en-US" sz="1300" u="none" cap="none" strike="noStrike">
                <a:solidFill>
                  <a:srgbClr val="202329"/>
                </a:solidFill>
                <a:latin typeface="Arial"/>
                <a:ea typeface="Arial"/>
                <a:cs typeface="Arial"/>
                <a:sym typeface="Arial"/>
              </a:rPr>
              <a:t>FoxP2</a:t>
            </a:r>
            <a:r>
              <a:rPr b="0" i="0" lang="en-US" sz="1300" u="none" cap="none" strike="noStrike">
                <a:solidFill>
                  <a:srgbClr val="202329"/>
                </a:solidFill>
                <a:latin typeface="Arial"/>
                <a:ea typeface="Arial"/>
                <a:cs typeface="Arial"/>
                <a:sym typeface="Arial"/>
              </a:rPr>
              <a:t>, a transcription factor that regulates gene expression, in zebra finch Area X, a basal ganglia nucleus involved in song learning.</a:t>
            </a:r>
            <a:endParaRPr b="0" i="0" sz="1600" u="none" cap="none" strike="noStrike">
              <a:solidFill>
                <a:schemeClr val="dk1"/>
              </a:solidFill>
              <a:latin typeface="Calibri"/>
              <a:ea typeface="Calibri"/>
              <a:cs typeface="Calibri"/>
              <a:sym typeface="Calibri"/>
            </a:endParaRPr>
          </a:p>
        </p:txBody>
      </p:sp>
      <p:sp>
        <p:nvSpPr>
          <p:cNvPr id="116" name="Google Shape;116;p8"/>
          <p:cNvSpPr/>
          <p:nvPr/>
        </p:nvSpPr>
        <p:spPr>
          <a:xfrm>
            <a:off x="457200" y="296845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u="none" cap="none" strike="noStrike">
                <a:solidFill>
                  <a:srgbClr val="202329"/>
                </a:solidFill>
                <a:latin typeface="Arial"/>
                <a:ea typeface="Arial"/>
                <a:cs typeface="Arial"/>
                <a:sym typeface="Arial"/>
              </a:rPr>
              <a:t>Viral injections were made on day 23 after hatching, before tutor exposure beginning on day 30. Adult knockdown birds copied tutor songs less completely and less accurately than control birds. The intervention therefore connects a localized molecular manipulation during development to later vocal behavior.</a:t>
            </a:r>
            <a:endParaRPr b="0" i="0" sz="1600" u="none" cap="none" strike="noStrike">
              <a:solidFill>
                <a:schemeClr val="dk1"/>
              </a:solidFill>
              <a:latin typeface="Calibri"/>
              <a:ea typeface="Calibri"/>
              <a:cs typeface="Calibri"/>
              <a:sym typeface="Calibri"/>
            </a:endParaRPr>
          </a:p>
        </p:txBody>
      </p:sp>
      <p:sp>
        <p:nvSpPr>
          <p:cNvPr id="117" name="Google Shape;117;p8"/>
          <p:cNvSpPr/>
          <p:nvPr/>
        </p:nvSpPr>
        <p:spPr>
          <a:xfrm>
            <a:off x="457200" y="441625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u="none" cap="none" strike="noStrike">
                <a:solidFill>
                  <a:srgbClr val="202329"/>
                </a:solidFill>
                <a:latin typeface="Arial"/>
                <a:ea typeface="Arial"/>
                <a:cs typeface="Arial"/>
                <a:sym typeface="Arial"/>
              </a:rPr>
              <a:t>An explanation can be proximate even when its effects emerge weeks after the manipulation. The experiment establishes a requirement for normal FoxP2 levels under these conditions; it does not establish the evolutionary reason that song learning or FoxP2-dependent regulation arose.</a:t>
            </a:r>
            <a:endParaRPr b="0" i="0" sz="1600" u="none" cap="none" strike="noStrike">
              <a:solidFill>
                <a:schemeClr val="dk1"/>
              </a:solidFill>
              <a:latin typeface="Calibri"/>
              <a:ea typeface="Calibri"/>
              <a:cs typeface="Calibri"/>
              <a:sym typeface="Calibri"/>
            </a:endParaRPr>
          </a:p>
        </p:txBody>
      </p:sp>
      <p:pic>
        <p:nvPicPr>
          <p:cNvPr id="118" name="Google Shape;118;p8"/>
          <p:cNvPicPr preferRelativeResize="0"/>
          <p:nvPr/>
        </p:nvPicPr>
        <p:blipFill rotWithShape="1">
          <a:blip r:embed="rId3">
            <a:alphaModFix/>
          </a:blip>
          <a:srcRect b="0" l="0" r="0" t="0"/>
          <a:stretch/>
        </p:blipFill>
        <p:spPr>
          <a:xfrm>
            <a:off x="6610350" y="2118198"/>
            <a:ext cx="5048250" cy="1874785"/>
          </a:xfrm>
          <a:prstGeom prst="rect">
            <a:avLst/>
          </a:prstGeom>
          <a:noFill/>
          <a:ln>
            <a:noFill/>
          </a:ln>
        </p:spPr>
      </p:pic>
      <p:sp>
        <p:nvSpPr>
          <p:cNvPr id="119" name="Google Shape;119;p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Haesler et al. (2007), Fig. 1(A–E). Area X anatomy and the location of viral infection.</a:t>
            </a:r>
            <a:endParaRPr b="0" i="0" sz="1800" u="none" cap="none" strike="noStrike">
              <a:solidFill>
                <a:schemeClr val="dk1"/>
              </a:solidFill>
              <a:latin typeface="Calibri"/>
              <a:ea typeface="Calibri"/>
              <a:cs typeface="Calibri"/>
              <a:sym typeface="Calibri"/>
            </a:endParaRPr>
          </a:p>
        </p:txBody>
      </p:sp>
      <p:sp>
        <p:nvSpPr>
          <p:cNvPr id="120" name="Google Shape;120;p8"/>
          <p:cNvSpPr/>
          <p:nvPr/>
        </p:nvSpPr>
        <p:spPr>
          <a:xfrm>
            <a:off x="457200" y="6462713"/>
            <a:ext cx="221664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Haesler et al. (2007); Tinbergen (1963)</a:t>
            </a:r>
            <a:endParaRPr b="0" i="0" sz="1800" u="none" cap="none" strike="noStrike">
              <a:solidFill>
                <a:schemeClr val="dk1"/>
              </a:solidFill>
              <a:latin typeface="Calibri"/>
              <a:ea typeface="Calibri"/>
              <a:cs typeface="Calibri"/>
              <a:sym typeface="Calibri"/>
            </a:endParaRPr>
          </a:p>
        </p:txBody>
      </p:sp>
      <p:sp>
        <p:nvSpPr>
          <p:cNvPr id="121" name="Google Shape;121;p8"/>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Ultimate explanations require historical evidence</a:t>
            </a:r>
            <a:endParaRPr b="0" i="0" sz="1800" u="none" cap="none" strike="noStrike">
              <a:solidFill>
                <a:schemeClr val="dk1"/>
              </a:solidFill>
              <a:latin typeface="Calibri"/>
              <a:ea typeface="Calibri"/>
              <a:cs typeface="Calibri"/>
              <a:sym typeface="Calibri"/>
            </a:endParaRPr>
          </a:p>
        </p:txBody>
      </p:sp>
      <p:sp>
        <p:nvSpPr>
          <p:cNvPr id="127" name="Google Shape;127;p9"/>
          <p:cNvSpPr/>
          <p:nvPr/>
        </p:nvSpPr>
        <p:spPr>
          <a:xfrm>
            <a:off x="477797" y="152065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300" u="none" cap="none" strike="noStrike">
                <a:solidFill>
                  <a:srgbClr val="202329"/>
                </a:solidFill>
                <a:latin typeface="Arial"/>
                <a:ea typeface="Arial"/>
                <a:cs typeface="Arial"/>
                <a:sym typeface="Arial"/>
              </a:rPr>
              <a:t>Ultimate explanations</a:t>
            </a:r>
            <a:r>
              <a:rPr b="0" i="0" lang="en-US" sz="1300" u="none" cap="none" strike="noStrike">
                <a:solidFill>
                  <a:srgbClr val="202329"/>
                </a:solidFill>
                <a:latin typeface="Arial"/>
                <a:ea typeface="Arial"/>
                <a:cs typeface="Arial"/>
                <a:sym typeface="Arial"/>
              </a:rPr>
              <a:t> address the consequences and evolutionary history of behavior. Barber and colleagues compared acoustic signals from an Ecuadorian moth community and found five clusters of similar sounds, including clusters containing both palatable and unpalatable moths.</a:t>
            </a:r>
            <a:endParaRPr b="0" i="0" sz="1600" u="none" cap="none" strike="noStrike">
              <a:solidFill>
                <a:schemeClr val="dk1"/>
              </a:solidFill>
              <a:latin typeface="Calibri"/>
              <a:ea typeface="Calibri"/>
              <a:cs typeface="Calibri"/>
              <a:sym typeface="Calibri"/>
            </a:endParaRPr>
          </a:p>
        </p:txBody>
      </p:sp>
      <p:sp>
        <p:nvSpPr>
          <p:cNvPr id="128" name="Google Shape;128;p9"/>
          <p:cNvSpPr/>
          <p:nvPr/>
        </p:nvSpPr>
        <p:spPr>
          <a:xfrm>
            <a:off x="477797" y="2844631"/>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300" u="none" cap="none" strike="noStrike">
                <a:solidFill>
                  <a:srgbClr val="202329"/>
                </a:solidFill>
                <a:latin typeface="Arial"/>
                <a:ea typeface="Arial"/>
                <a:cs typeface="Arial"/>
                <a:sym typeface="Arial"/>
              </a:rPr>
              <a:t>Mimicry</a:t>
            </a:r>
            <a:r>
              <a:rPr b="0" i="0" lang="en-US" sz="1300" u="none" cap="none" strike="noStrike">
                <a:solidFill>
                  <a:srgbClr val="202329"/>
                </a:solidFill>
                <a:latin typeface="Arial"/>
                <a:ea typeface="Arial"/>
                <a:cs typeface="Arial"/>
                <a:sym typeface="Arial"/>
              </a:rPr>
              <a:t> is resemblance between signals associated with different organisms that can alter a receiver’s response. Acoustic similarity and palatability differences are consistent with some palatable moths resembling defended species, but similarity alone does not establish that bats mistake one for another.</a:t>
            </a:r>
            <a:endParaRPr b="0" i="0" sz="1600" u="none" cap="none" strike="noStrike">
              <a:solidFill>
                <a:schemeClr val="dk1"/>
              </a:solidFill>
              <a:latin typeface="Calibri"/>
              <a:ea typeface="Calibri"/>
              <a:cs typeface="Calibri"/>
              <a:sym typeface="Calibri"/>
            </a:endParaRPr>
          </a:p>
        </p:txBody>
      </p:sp>
      <p:sp>
        <p:nvSpPr>
          <p:cNvPr id="129" name="Google Shape;129;p9"/>
          <p:cNvSpPr/>
          <p:nvPr/>
        </p:nvSpPr>
        <p:spPr>
          <a:xfrm>
            <a:off x="477797" y="441625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u="none" cap="none" strike="noStrike">
                <a:solidFill>
                  <a:srgbClr val="202329"/>
                </a:solidFill>
                <a:latin typeface="Arial"/>
                <a:ea typeface="Arial"/>
                <a:cs typeface="Arial"/>
                <a:sym typeface="Arial"/>
              </a:rPr>
              <a:t>Current defensive consequences and historical origins are distinct questions. A signal could acquire a new function after its origin, and several lineages could converge on similar signals. Behavioral tests of the predator and comparative reconstruction are needed to evaluate those possibilities.</a:t>
            </a:r>
            <a:endParaRPr b="0" i="0" sz="1600" u="none" cap="none" strike="noStrike">
              <a:solidFill>
                <a:schemeClr val="dk1"/>
              </a:solidFill>
              <a:latin typeface="Calibri"/>
              <a:ea typeface="Calibri"/>
              <a:cs typeface="Calibri"/>
              <a:sym typeface="Calibri"/>
            </a:endParaRPr>
          </a:p>
        </p:txBody>
      </p:sp>
      <p:pic>
        <p:nvPicPr>
          <p:cNvPr id="130" name="Google Shape;130;p9"/>
          <p:cNvPicPr preferRelativeResize="0"/>
          <p:nvPr/>
        </p:nvPicPr>
        <p:blipFill rotWithShape="1">
          <a:blip r:embed="rId3">
            <a:alphaModFix/>
          </a:blip>
          <a:srcRect b="0" l="0" r="0" t="0"/>
          <a:stretch/>
        </p:blipFill>
        <p:spPr>
          <a:xfrm>
            <a:off x="6610350" y="2101960"/>
            <a:ext cx="5048250" cy="1907261"/>
          </a:xfrm>
          <a:prstGeom prst="rect">
            <a:avLst/>
          </a:prstGeom>
          <a:noFill/>
          <a:ln>
            <a:noFill/>
          </a:ln>
        </p:spPr>
      </p:pic>
      <p:sp>
        <p:nvSpPr>
          <p:cNvPr id="131" name="Google Shape;131;p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Barber et al. (2022), Fig. 3. Acoustic clustering of moth sounds and corresponding taxa.</a:t>
            </a:r>
            <a:endParaRPr b="0" i="0" sz="1800" u="none" cap="none" strike="noStrike">
              <a:solidFill>
                <a:schemeClr val="dk1"/>
              </a:solidFill>
              <a:latin typeface="Calibri"/>
              <a:ea typeface="Calibri"/>
              <a:cs typeface="Calibri"/>
              <a:sym typeface="Calibri"/>
            </a:endParaRPr>
          </a:p>
        </p:txBody>
      </p:sp>
      <p:sp>
        <p:nvSpPr>
          <p:cNvPr id="132" name="Google Shape;132;p9"/>
          <p:cNvSpPr/>
          <p:nvPr/>
        </p:nvSpPr>
        <p:spPr>
          <a:xfrm>
            <a:off x="457200" y="6462713"/>
            <a:ext cx="217155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Barber et al. (2022); Tinbergen (1963)</a:t>
            </a:r>
            <a:endParaRPr b="0" i="0" sz="1800" u="none" cap="none" strike="noStrike">
              <a:solidFill>
                <a:schemeClr val="dk1"/>
              </a:solidFill>
              <a:latin typeface="Calibri"/>
              <a:ea typeface="Calibri"/>
              <a:cs typeface="Calibri"/>
              <a:sym typeface="Calibri"/>
            </a:endParaRPr>
          </a:p>
        </p:txBody>
      </p:sp>
      <p:sp>
        <p:nvSpPr>
          <p:cNvPr id="133" name="Google Shape;133;p9"/>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1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Early ethology emphasized observation and comparison</a:t>
            </a:r>
            <a:endParaRPr b="0" i="0" sz="1800" u="none" cap="none" strike="noStrike">
              <a:solidFill>
                <a:schemeClr val="dk1"/>
              </a:solidFill>
              <a:latin typeface="Calibri"/>
              <a:ea typeface="Calibri"/>
              <a:cs typeface="Calibri"/>
              <a:sym typeface="Calibri"/>
            </a:endParaRPr>
          </a:p>
        </p:txBody>
      </p:sp>
      <p:sp>
        <p:nvSpPr>
          <p:cNvPr id="139" name="Google Shape;139;p10"/>
          <p:cNvSpPr/>
          <p:nvPr/>
        </p:nvSpPr>
        <p:spPr>
          <a:xfrm>
            <a:off x="457200" y="138730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u="none" cap="none" strike="noStrike">
                <a:solidFill>
                  <a:srgbClr val="202329"/>
                </a:solidFill>
                <a:latin typeface="Arial"/>
                <a:ea typeface="Arial"/>
                <a:cs typeface="Arial"/>
                <a:sym typeface="Arial"/>
              </a:rPr>
              <a:t>Tinbergen’s 1963 historical account connected ethology with the comparative work of Whitman (1898, 1919), Heinroth (1911), Huxley (1914, 1923), and Lorenz (1937). He emphasized description of naturally occurring behavior and the biological questions asked about it, rather than defining ethology exclusively as the study of innate acts.</a:t>
            </a:r>
            <a:endParaRPr b="0" i="0" sz="1600" u="none" cap="none" strike="noStrike">
              <a:solidFill>
                <a:schemeClr val="dk1"/>
              </a:solidFill>
              <a:latin typeface="Calibri"/>
              <a:ea typeface="Calibri"/>
              <a:cs typeface="Calibri"/>
              <a:sym typeface="Calibri"/>
            </a:endParaRPr>
          </a:p>
        </p:txBody>
      </p:sp>
      <p:sp>
        <p:nvSpPr>
          <p:cNvPr id="140" name="Google Shape;140;p10"/>
          <p:cNvSpPr/>
          <p:nvPr/>
        </p:nvSpPr>
        <p:spPr>
          <a:xfrm>
            <a:off x="457200" y="310180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u="none" cap="none" strike="noStrike">
                <a:solidFill>
                  <a:srgbClr val="202329"/>
                </a:solidFill>
                <a:latin typeface="Arial"/>
                <a:ea typeface="Arial"/>
                <a:cs typeface="Arial"/>
                <a:sym typeface="Arial"/>
              </a:rPr>
              <a:t>Cormons and Zeil’s modern landmark experiments extend the approach associated with Tinbergen’s wasp studies: observe repeated nest returns, alter surrounding objects, and measure the resulting search. Their cork displacements of 3.4–6.75 cm shifted the initial digging position.</a:t>
            </a:r>
            <a:endParaRPr b="0" i="0" sz="1600" u="none" cap="none" strike="noStrike">
              <a:solidFill>
                <a:schemeClr val="dk1"/>
              </a:solidFill>
              <a:latin typeface="Calibri"/>
              <a:ea typeface="Calibri"/>
              <a:cs typeface="Calibri"/>
              <a:sym typeface="Calibri"/>
            </a:endParaRPr>
          </a:p>
        </p:txBody>
      </p:sp>
      <p:sp>
        <p:nvSpPr>
          <p:cNvPr id="141" name="Google Shape;141;p10"/>
          <p:cNvSpPr/>
          <p:nvPr/>
        </p:nvSpPr>
        <p:spPr>
          <a:xfrm>
            <a:off x="457200" y="454960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u="none" cap="none" strike="noStrike">
                <a:solidFill>
                  <a:srgbClr val="202329"/>
                </a:solidFill>
                <a:latin typeface="Arial"/>
                <a:ea typeface="Arial"/>
                <a:cs typeface="Arial"/>
                <a:sym typeface="Arial"/>
              </a:rPr>
              <a:t>Natural observation and experimental intervention contribute different evidence. Description establishes the behavioral phenomenon and its context; manipulation tests candidate causes. Neither a historical label nor a convincing natural-history narrative is sufficient to identify the nervous mechanism.</a:t>
            </a:r>
            <a:endParaRPr b="0" i="0" sz="1600" u="none" cap="none" strike="noStrike">
              <a:solidFill>
                <a:schemeClr val="dk1"/>
              </a:solidFill>
              <a:latin typeface="Calibri"/>
              <a:ea typeface="Calibri"/>
              <a:cs typeface="Calibri"/>
              <a:sym typeface="Calibri"/>
            </a:endParaRPr>
          </a:p>
        </p:txBody>
      </p:sp>
      <p:pic>
        <p:nvPicPr>
          <p:cNvPr id="142" name="Google Shape;142;p10"/>
          <p:cNvPicPr preferRelativeResize="0"/>
          <p:nvPr/>
        </p:nvPicPr>
        <p:blipFill rotWithShape="1">
          <a:blip r:embed="rId3">
            <a:alphaModFix/>
          </a:blip>
          <a:srcRect b="0" l="0" r="0" t="0"/>
          <a:stretch/>
        </p:blipFill>
        <p:spPr>
          <a:xfrm>
            <a:off x="6610350" y="1674378"/>
            <a:ext cx="5048250" cy="2762425"/>
          </a:xfrm>
          <a:prstGeom prst="rect">
            <a:avLst/>
          </a:prstGeom>
          <a:noFill/>
          <a:ln>
            <a:noFill/>
          </a:ln>
        </p:spPr>
      </p:pic>
      <p:sp>
        <p:nvSpPr>
          <p:cNvPr id="143" name="Google Shape;143;p10"/>
          <p:cNvSpPr/>
          <p:nvPr/>
        </p:nvSpPr>
        <p:spPr>
          <a:xfrm>
            <a:off x="6878075" y="4717040"/>
            <a:ext cx="5067300" cy="371400"/>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4(A). Landmark displacement and the resulting search locations.</a:t>
            </a:r>
            <a:endParaRPr b="0" i="0" sz="1800" u="none" cap="none" strike="noStrike">
              <a:solidFill>
                <a:schemeClr val="dk1"/>
              </a:solidFill>
              <a:latin typeface="Calibri"/>
              <a:ea typeface="Calibri"/>
              <a:cs typeface="Calibri"/>
              <a:sym typeface="Calibri"/>
            </a:endParaRPr>
          </a:p>
        </p:txBody>
      </p:sp>
      <p:sp>
        <p:nvSpPr>
          <p:cNvPr id="144" name="Google Shape;144;p10"/>
          <p:cNvSpPr/>
          <p:nvPr/>
        </p:nvSpPr>
        <p:spPr>
          <a:xfrm>
            <a:off x="457200" y="6462713"/>
            <a:ext cx="235029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 Tinbergen (1963)</a:t>
            </a:r>
            <a:endParaRPr b="0" i="0" sz="1800" u="none" cap="none" strike="noStrike">
              <a:solidFill>
                <a:schemeClr val="dk1"/>
              </a:solidFill>
              <a:latin typeface="Calibri"/>
              <a:ea typeface="Calibri"/>
              <a:cs typeface="Calibri"/>
              <a:sym typeface="Calibri"/>
            </a:endParaRPr>
          </a:p>
        </p:txBody>
      </p:sp>
      <p:sp>
        <p:nvSpPr>
          <p:cNvPr id="145" name="Google Shape;145;p1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1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Behavioral measurements need explicit definitions</a:t>
            </a:r>
            <a:endParaRPr b="0" i="0" sz="1800" u="none" cap="none" strike="noStrike">
              <a:solidFill>
                <a:schemeClr val="dk1"/>
              </a:solidFill>
              <a:latin typeface="Calibri"/>
              <a:ea typeface="Calibri"/>
              <a:cs typeface="Calibri"/>
              <a:sym typeface="Calibri"/>
            </a:endParaRPr>
          </a:p>
        </p:txBody>
      </p:sp>
      <p:sp>
        <p:nvSpPr>
          <p:cNvPr id="151" name="Google Shape;151;p11"/>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u="none" cap="none" strike="noStrike">
                <a:solidFill>
                  <a:srgbClr val="202329"/>
                </a:solidFill>
                <a:latin typeface="Arial"/>
                <a:ea typeface="Arial"/>
                <a:cs typeface="Arial"/>
                <a:sym typeface="Arial"/>
              </a:rPr>
              <a:t>An </a:t>
            </a:r>
            <a:r>
              <a:rPr b="1" i="0" lang="en-US" u="none" cap="none" strike="noStrike">
                <a:solidFill>
                  <a:srgbClr val="202329"/>
                </a:solidFill>
                <a:latin typeface="Arial"/>
                <a:ea typeface="Arial"/>
                <a:cs typeface="Arial"/>
                <a:sym typeface="Arial"/>
              </a:rPr>
              <a:t>operational definition</a:t>
            </a:r>
            <a:r>
              <a:rPr b="0" i="0" lang="en-US" u="none" cap="none" strike="noStrike">
                <a:solidFill>
                  <a:srgbClr val="202329"/>
                </a:solidFill>
                <a:latin typeface="Arial"/>
                <a:ea typeface="Arial"/>
                <a:cs typeface="Arial"/>
                <a:sym typeface="Arial"/>
              </a:rPr>
              <a:t> specifies how a concept is measured. Cormons and Zeil defined the location of search through visible digging attempts and recorded their positions relative to the actual burrow. The marks left in the sand provided spatial evidence of where the returning wasp searched.</a:t>
            </a:r>
            <a:endParaRPr b="0" i="0" sz="1700" u="none" cap="none" strike="noStrike">
              <a:solidFill>
                <a:schemeClr val="dk1"/>
              </a:solidFill>
              <a:latin typeface="Calibri"/>
              <a:ea typeface="Calibri"/>
              <a:cs typeface="Calibri"/>
              <a:sym typeface="Calibri"/>
            </a:endParaRPr>
          </a:p>
        </p:txBody>
      </p:sp>
      <p:sp>
        <p:nvSpPr>
          <p:cNvPr id="152" name="Google Shape;152;p11"/>
          <p:cNvSpPr/>
          <p:nvPr/>
        </p:nvSpPr>
        <p:spPr>
          <a:xfrm>
            <a:off x="457200" y="2903846"/>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u="none" cap="none" strike="noStrike">
                <a:solidFill>
                  <a:srgbClr val="202329"/>
                </a:solidFill>
                <a:latin typeface="Arial"/>
                <a:ea typeface="Arial"/>
                <a:cs typeface="Arial"/>
                <a:sym typeface="Arial"/>
              </a:rPr>
              <a:t>In the covering experiments, each condition was assessed through repeated digging positions rather than a judgment that the insect appeared confused. The published apparatus included centimeter-scale grids for relating those attempts to the hidden goal.</a:t>
            </a:r>
            <a:endParaRPr b="0" i="0" sz="1700" u="none" cap="none" strike="noStrike">
              <a:solidFill>
                <a:schemeClr val="dk1"/>
              </a:solidFill>
              <a:latin typeface="Calibri"/>
              <a:ea typeface="Calibri"/>
              <a:cs typeface="Calibri"/>
              <a:sym typeface="Calibri"/>
            </a:endParaRPr>
          </a:p>
        </p:txBody>
      </p:sp>
      <p:sp>
        <p:nvSpPr>
          <p:cNvPr id="153" name="Google Shape;153;p11"/>
          <p:cNvSpPr/>
          <p:nvPr/>
        </p:nvSpPr>
        <p:spPr>
          <a:xfrm>
            <a:off x="457200" y="44829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u="none" cap="none" strike="noStrike">
                <a:solidFill>
                  <a:srgbClr val="202329"/>
                </a:solidFill>
                <a:latin typeface="Arial"/>
                <a:ea typeface="Arial"/>
                <a:cs typeface="Arial"/>
                <a:sym typeface="Arial"/>
              </a:rPr>
              <a:t>The measurement describes search position, not perception or memory directly. Inferring a remembered visual goal requires the experimental shifts and masking controls as well as the observed action. An ethological description becomes analytically useful when the recorded variable is specified.</a:t>
            </a:r>
            <a:endParaRPr b="0" i="0" sz="1700" u="none" cap="none" strike="noStrike">
              <a:solidFill>
                <a:schemeClr val="dk1"/>
              </a:solidFill>
              <a:latin typeface="Calibri"/>
              <a:ea typeface="Calibri"/>
              <a:cs typeface="Calibri"/>
              <a:sym typeface="Calibri"/>
            </a:endParaRPr>
          </a:p>
        </p:txBody>
      </p:sp>
      <p:pic>
        <p:nvPicPr>
          <p:cNvPr id="154" name="Google Shape;154;p11"/>
          <p:cNvPicPr preferRelativeResize="0"/>
          <p:nvPr/>
        </p:nvPicPr>
        <p:blipFill rotWithShape="1">
          <a:blip r:embed="rId3">
            <a:alphaModFix/>
          </a:blip>
          <a:srcRect b="0" l="0" r="0" t="0"/>
          <a:stretch/>
        </p:blipFill>
        <p:spPr>
          <a:xfrm>
            <a:off x="6610350" y="1064731"/>
            <a:ext cx="5048250" cy="3981718"/>
          </a:xfrm>
          <a:prstGeom prst="rect">
            <a:avLst/>
          </a:prstGeom>
          <a:noFill/>
          <a:ln>
            <a:noFill/>
          </a:ln>
        </p:spPr>
      </p:pic>
      <p:sp>
        <p:nvSpPr>
          <p:cNvPr id="155" name="Google Shape;155;p1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2(R). Traces left by repeated digging attempts near a hidden nest.</a:t>
            </a:r>
            <a:endParaRPr b="0" i="0" sz="1800" u="none" cap="none" strike="noStrike">
              <a:solidFill>
                <a:schemeClr val="dk1"/>
              </a:solidFill>
              <a:latin typeface="Calibri"/>
              <a:ea typeface="Calibri"/>
              <a:cs typeface="Calibri"/>
              <a:sym typeface="Calibri"/>
            </a:endParaRPr>
          </a:p>
        </p:txBody>
      </p:sp>
      <p:sp>
        <p:nvSpPr>
          <p:cNvPr id="156" name="Google Shape;156;p11"/>
          <p:cNvSpPr/>
          <p:nvPr/>
        </p:nvSpPr>
        <p:spPr>
          <a:xfrm>
            <a:off x="457200" y="6462713"/>
            <a:ext cx="235029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 Tinbergen (1963)</a:t>
            </a:r>
            <a:endParaRPr b="0" i="0" sz="1800" u="none" cap="none" strike="noStrike">
              <a:solidFill>
                <a:schemeClr val="dk1"/>
              </a:solidFill>
              <a:latin typeface="Calibri"/>
              <a:ea typeface="Calibri"/>
              <a:cs typeface="Calibri"/>
              <a:sym typeface="Calibri"/>
            </a:endParaRPr>
          </a:p>
        </p:txBody>
      </p:sp>
      <p:sp>
        <p:nvSpPr>
          <p:cNvPr id="157" name="Google Shape;157;p1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Moving landmarks shifts the initial search</a:t>
            </a:r>
            <a:endParaRPr b="0" i="0" sz="1800" u="none" cap="none" strike="noStrike">
              <a:solidFill>
                <a:schemeClr val="dk1"/>
              </a:solidFill>
              <a:latin typeface="Calibri"/>
              <a:ea typeface="Calibri"/>
              <a:cs typeface="Calibri"/>
              <a:sym typeface="Calibri"/>
            </a:endParaRPr>
          </a:p>
        </p:txBody>
      </p:sp>
      <p:sp>
        <p:nvSpPr>
          <p:cNvPr id="163" name="Google Shape;163;p12"/>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 </a:t>
            </a:r>
            <a:r>
              <a:rPr b="1" i="0" lang="en-US" sz="1400" u="none" cap="none" strike="noStrike">
                <a:solidFill>
                  <a:srgbClr val="202329"/>
                </a:solidFill>
                <a:latin typeface="Arial"/>
                <a:ea typeface="Arial"/>
                <a:cs typeface="Arial"/>
                <a:sym typeface="Arial"/>
              </a:rPr>
              <a:t>landmark</a:t>
            </a:r>
            <a:r>
              <a:rPr b="0" i="0" lang="en-US" sz="1400" u="none" cap="none" strike="noStrike">
                <a:solidFill>
                  <a:srgbClr val="202329"/>
                </a:solidFill>
                <a:latin typeface="Arial"/>
                <a:ea typeface="Arial"/>
                <a:cs typeface="Arial"/>
                <a:sym typeface="Arial"/>
              </a:rPr>
              <a:t> is a feature of the surroundings that provides positional information. Cormons and Zeil introduced cork stoppers 3.5 cm high around wasp nests and allowed the animals to return and leave before changing the configuration’s position.</a:t>
            </a:r>
            <a:endParaRPr b="0" i="0" sz="1700" u="none" cap="none" strike="noStrike">
              <a:solidFill>
                <a:schemeClr val="dk1"/>
              </a:solidFill>
              <a:latin typeface="Calibri"/>
              <a:ea typeface="Calibri"/>
              <a:cs typeface="Calibri"/>
              <a:sym typeface="Calibri"/>
            </a:endParaRPr>
          </a:p>
        </p:txBody>
      </p:sp>
      <p:sp>
        <p:nvSpPr>
          <p:cNvPr id="164" name="Google Shape;164;p12"/>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Wasps initially dug where the nest should have been relative to the moved objects. They could later correct their search, often after flying around the misleading configuration for two to three minutes. The recorded sequence distinguished the first response from eventual successful entry.</a:t>
            </a:r>
            <a:endParaRPr b="0" i="0" sz="1700" u="none" cap="none" strike="noStrike">
              <a:solidFill>
                <a:schemeClr val="dk1"/>
              </a:solidFill>
              <a:latin typeface="Calibri"/>
              <a:ea typeface="Calibri"/>
              <a:cs typeface="Calibri"/>
              <a:sym typeface="Calibri"/>
            </a:endParaRPr>
          </a:p>
        </p:txBody>
      </p:sp>
      <p:sp>
        <p:nvSpPr>
          <p:cNvPr id="165" name="Google Shape;165;p12"/>
          <p:cNvSpPr/>
          <p:nvPr/>
        </p:nvSpPr>
        <p:spPr>
          <a:xfrm>
            <a:off x="457200" y="421708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Eventual success does not erase the initial effect of the manipulation. The landmarks influenced the search, but the correction indicates that the wasps had access to other information. A result measured only as success or failure would miss the cue conflict expressed early in the search.</a:t>
            </a:r>
            <a:endParaRPr b="0" i="0" sz="1700" u="none" cap="none" strike="noStrike">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3">
            <a:alphaModFix/>
          </a:blip>
          <a:srcRect b="0" l="0" r="0" t="0"/>
          <a:stretch/>
        </p:blipFill>
        <p:spPr>
          <a:xfrm>
            <a:off x="6610350" y="1674378"/>
            <a:ext cx="5048250" cy="2762425"/>
          </a:xfrm>
          <a:prstGeom prst="rect">
            <a:avLst/>
          </a:prstGeom>
          <a:noFill/>
          <a:ln>
            <a:noFill/>
          </a:ln>
        </p:spPr>
      </p:pic>
      <p:sp>
        <p:nvSpPr>
          <p:cNvPr id="167" name="Google Shape;167;p1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4(A). Sequential training, landmark shifts, and digging attempts.</a:t>
            </a:r>
            <a:endParaRPr b="0" i="0" sz="1800" u="none" cap="none" strike="noStrike">
              <a:solidFill>
                <a:schemeClr val="dk1"/>
              </a:solidFill>
              <a:latin typeface="Calibri"/>
              <a:ea typeface="Calibri"/>
              <a:cs typeface="Calibri"/>
              <a:sym typeface="Calibri"/>
            </a:endParaRPr>
          </a:p>
        </p:txBody>
      </p:sp>
      <p:sp>
        <p:nvSpPr>
          <p:cNvPr id="168" name="Google Shape;168;p12"/>
          <p:cNvSpPr/>
          <p:nvPr/>
        </p:nvSpPr>
        <p:spPr>
          <a:xfrm>
            <a:off x="457200" y="6462713"/>
            <a:ext cx="129941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a:t>
            </a:r>
            <a:endParaRPr b="0" i="0" sz="1800" u="none" cap="none" strike="noStrike">
              <a:solidFill>
                <a:schemeClr val="dk1"/>
              </a:solidFill>
              <a:latin typeface="Calibri"/>
              <a:ea typeface="Calibri"/>
              <a:cs typeface="Calibri"/>
              <a:sym typeface="Calibri"/>
            </a:endParaRPr>
          </a:p>
        </p:txBody>
      </p:sp>
      <p:sp>
        <p:nvSpPr>
          <p:cNvPr id="169" name="Google Shape;169;p1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5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Wasps search where the current view best matches a stored view</a:t>
            </a:r>
            <a:endParaRPr b="0" i="0" sz="1800" u="none" cap="none" strike="noStrike">
              <a:solidFill>
                <a:schemeClr val="dk1"/>
              </a:solidFill>
              <a:latin typeface="Calibri"/>
              <a:ea typeface="Calibri"/>
              <a:cs typeface="Calibri"/>
              <a:sym typeface="Calibri"/>
            </a:endParaRPr>
          </a:p>
        </p:txBody>
      </p:sp>
      <p:sp>
        <p:nvSpPr>
          <p:cNvPr id="175" name="Google Shape;175;p50"/>
          <p:cNvSpPr/>
          <p:nvPr/>
        </p:nvSpPr>
        <p:spPr>
          <a:xfrm>
            <a:off x="457200" y="1055340"/>
            <a:ext cx="5829300" cy="179222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a:t>
            </a:r>
            <a:r>
              <a:rPr b="1" i="0" lang="en-US" sz="1400" u="none" cap="none" strike="noStrike">
                <a:solidFill>
                  <a:srgbClr val="202329"/>
                </a:solidFill>
                <a:latin typeface="Arial"/>
                <a:ea typeface="Arial"/>
                <a:cs typeface="Arial"/>
                <a:sym typeface="Arial"/>
              </a:rPr>
              <a:t>snapshot model</a:t>
            </a:r>
            <a:r>
              <a:rPr b="0" i="0" lang="en-US" sz="1400" u="none" cap="none" strike="noStrike">
                <a:solidFill>
                  <a:srgbClr val="202329"/>
                </a:solidFill>
                <a:latin typeface="Arial"/>
                <a:ea typeface="Arial"/>
                <a:cs typeface="Arial"/>
                <a:sym typeface="Arial"/>
              </a:rPr>
              <a:t>, discussed by Cormons and Zeil, proposes that an insect stores the view seen from its goal and, on return, moves so as to shrink the mismatch between that stored view and its current view. Image difference grows steadily with distance from the goal, so reducing it step by step leads the insect to the spot where the views agree.</a:t>
            </a:r>
            <a:endParaRPr b="0" i="0" sz="1700" u="none" cap="none" strike="noStrike">
              <a:solidFill>
                <a:schemeClr val="dk1"/>
              </a:solidFill>
              <a:latin typeface="Calibri"/>
              <a:ea typeface="Calibri"/>
              <a:cs typeface="Calibri"/>
              <a:sym typeface="Calibri"/>
            </a:endParaRPr>
          </a:p>
        </p:txBody>
      </p:sp>
      <p:sp>
        <p:nvSpPr>
          <p:cNvPr id="176" name="Google Shape;176;p50"/>
          <p:cNvSpPr/>
          <p:nvPr/>
        </p:nvSpPr>
        <p:spPr>
          <a:xfrm>
            <a:off x="457200" y="3047318"/>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Shifting the corks moves the place where the nearby part of the scene matches, which accounts for the misplaced first dig. The stored view is relational: it specifies where the entrance lies relative to visible objects and contains no direct image of the entrance, which the wasp had buried under sand.</a:t>
            </a:r>
            <a:endParaRPr b="0" i="0" sz="1700" u="none" cap="none" strike="noStrike">
              <a:solidFill>
                <a:schemeClr val="dk1"/>
              </a:solidFill>
              <a:latin typeface="Calibri"/>
              <a:ea typeface="Calibri"/>
              <a:cs typeface="Calibri"/>
              <a:sym typeface="Calibri"/>
            </a:endParaRPr>
          </a:p>
        </p:txBody>
      </p:sp>
      <p:sp>
        <p:nvSpPr>
          <p:cNvPr id="177" name="Google Shape;177;p50"/>
          <p:cNvSpPr/>
          <p:nvPr/>
        </p:nvSpPr>
        <p:spPr>
          <a:xfrm>
            <a:off x="457200" y="4740593"/>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same account predicts the later correction. The distant scene did not move, so after the first failed dig the remaining mismatch in the wider panorama still points to the true entrance. Matching the whole scene, without singling out individual landmarks, is consistent with both effects.</a:t>
            </a:r>
            <a:endParaRPr b="0" i="0" sz="1700" u="none" cap="none" strike="noStrike">
              <a:solidFill>
                <a:schemeClr val="dk1"/>
              </a:solidFill>
              <a:latin typeface="Calibri"/>
              <a:ea typeface="Calibri"/>
              <a:cs typeface="Calibri"/>
              <a:sym typeface="Calibri"/>
            </a:endParaRPr>
          </a:p>
        </p:txBody>
      </p:sp>
      <p:pic>
        <p:nvPicPr>
          <p:cNvPr id="178" name="Google Shape;178;p50"/>
          <p:cNvPicPr preferRelativeResize="0"/>
          <p:nvPr/>
        </p:nvPicPr>
        <p:blipFill rotWithShape="1">
          <a:blip r:embed="rId3">
            <a:alphaModFix/>
          </a:blip>
          <a:srcRect b="0" l="0" r="0" t="0"/>
          <a:stretch/>
        </p:blipFill>
        <p:spPr>
          <a:xfrm>
            <a:off x="6610350" y="1674378"/>
            <a:ext cx="5048250" cy="2762425"/>
          </a:xfrm>
          <a:prstGeom prst="rect">
            <a:avLst/>
          </a:prstGeom>
          <a:noFill/>
          <a:ln>
            <a:noFill/>
          </a:ln>
        </p:spPr>
      </p:pic>
      <p:sp>
        <p:nvSpPr>
          <p:cNvPr id="179" name="Google Shape;179;p5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4(A). Sequential training, landmark shifts, and digging attempts.</a:t>
            </a:r>
            <a:endParaRPr b="0" i="0" sz="1800" u="none" cap="none" strike="noStrike">
              <a:solidFill>
                <a:schemeClr val="dk1"/>
              </a:solidFill>
              <a:latin typeface="Calibri"/>
              <a:ea typeface="Calibri"/>
              <a:cs typeface="Calibri"/>
              <a:sym typeface="Calibri"/>
            </a:endParaRPr>
          </a:p>
        </p:txBody>
      </p:sp>
      <p:sp>
        <p:nvSpPr>
          <p:cNvPr id="180" name="Google Shape;180;p50"/>
          <p:cNvSpPr/>
          <p:nvPr/>
        </p:nvSpPr>
        <p:spPr>
          <a:xfrm>
            <a:off x="457200" y="6462713"/>
            <a:ext cx="148158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a:t>
            </a:r>
            <a:endParaRPr b="0" i="0" sz="1800" u="none" cap="none" strike="noStrike">
              <a:solidFill>
                <a:schemeClr val="dk1"/>
              </a:solidFill>
              <a:latin typeface="Calibri"/>
              <a:ea typeface="Calibri"/>
              <a:cs typeface="Calibri"/>
              <a:sym typeface="Calibri"/>
            </a:endParaRPr>
          </a:p>
        </p:txBody>
      </p:sp>
      <p:sp>
        <p:nvSpPr>
          <p:cNvPr id="181" name="Google Shape;181;p50"/>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12a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Local landmarks depend on the wider scene</a:t>
            </a:r>
            <a:endParaRPr b="0" i="0" sz="1800" u="none" cap="none" strike="noStrike">
              <a:solidFill>
                <a:schemeClr val="dk1"/>
              </a:solidFill>
              <a:latin typeface="Calibri"/>
              <a:ea typeface="Calibri"/>
              <a:cs typeface="Calibri"/>
              <a:sym typeface="Calibri"/>
            </a:endParaRPr>
          </a:p>
        </p:txBody>
      </p:sp>
      <p:sp>
        <p:nvSpPr>
          <p:cNvPr id="187" name="Google Shape;187;p13"/>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a:t>
            </a:r>
            <a:r>
              <a:rPr b="1" i="0" lang="en-US" sz="1400" u="none" cap="none" strike="noStrike">
                <a:solidFill>
                  <a:srgbClr val="202329"/>
                </a:solidFill>
                <a:latin typeface="Arial"/>
                <a:ea typeface="Arial"/>
                <a:cs typeface="Arial"/>
                <a:sym typeface="Arial"/>
              </a:rPr>
              <a:t>visual panorama</a:t>
            </a:r>
            <a:r>
              <a:rPr b="0" i="0" lang="en-US" sz="1400" u="none" cap="none" strike="noStrike">
                <a:solidFill>
                  <a:srgbClr val="202329"/>
                </a:solidFill>
                <a:latin typeface="Arial"/>
                <a:ea typeface="Arial"/>
                <a:cs typeface="Arial"/>
                <a:sym typeface="Arial"/>
              </a:rPr>
              <a:t> is the broader scene surrounding the animal. Cormons and Zeil combined a learned local landmark configuration with a 100 × 60 cm opaque barrier positioned 50 cm behind the nest, blocking much of the distant scene seen on approach.</a:t>
            </a:r>
            <a:endParaRPr b="0" i="0" sz="1700" u="none" cap="none" strike="noStrike">
              <a:solidFill>
                <a:schemeClr val="dk1"/>
              </a:solidFill>
              <a:latin typeface="Calibri"/>
              <a:ea typeface="Calibri"/>
              <a:cs typeface="Calibri"/>
              <a:sym typeface="Calibri"/>
            </a:endParaRPr>
          </a:p>
        </p:txBody>
      </p:sp>
      <p:sp>
        <p:nvSpPr>
          <p:cNvPr id="188" name="Google Shape;188;p13"/>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Without the barrier, shifted landmarks could attract the wasps’ digging. With the barrier present, the insects failed to dig or hover at the configuration’s center even though the learned objects remained available and the wasps reached the nest vicinity.</a:t>
            </a:r>
            <a:endParaRPr b="0" i="0" sz="1700" u="none" cap="none" strike="noStrike">
              <a:solidFill>
                <a:schemeClr val="dk1"/>
              </a:solidFill>
              <a:latin typeface="Calibri"/>
              <a:ea typeface="Calibri"/>
              <a:cs typeface="Calibri"/>
              <a:sym typeface="Calibri"/>
            </a:endParaRPr>
          </a:p>
        </p:txBody>
      </p:sp>
      <p:sp>
        <p:nvSpPr>
          <p:cNvPr id="189" name="Google Shape;189;p13"/>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response to a local cue therefore depended on the surrounding visual context. These behavioral results are consistent with scene-based localization, but they do not identify a neural image-matching algorithm or establish that every navigating insect weights its panorama in the same way.</a:t>
            </a:r>
            <a:endParaRPr b="0" i="0" sz="1700" u="none" cap="none" strike="noStrike">
              <a:solidFill>
                <a:schemeClr val="dk1"/>
              </a:solidFill>
              <a:latin typeface="Calibri"/>
              <a:ea typeface="Calibri"/>
              <a:cs typeface="Calibri"/>
              <a:sym typeface="Calibri"/>
            </a:endParaRPr>
          </a:p>
        </p:txBody>
      </p:sp>
      <p:pic>
        <p:nvPicPr>
          <p:cNvPr id="190" name="Google Shape;190;p13"/>
          <p:cNvPicPr preferRelativeResize="0"/>
          <p:nvPr/>
        </p:nvPicPr>
        <p:blipFill rotWithShape="1">
          <a:blip r:embed="rId3">
            <a:alphaModFix/>
          </a:blip>
          <a:srcRect b="0" l="0" r="0" t="0"/>
          <a:stretch/>
        </p:blipFill>
        <p:spPr>
          <a:xfrm>
            <a:off x="6918783" y="1055340"/>
            <a:ext cx="4431384" cy="4000500"/>
          </a:xfrm>
          <a:prstGeom prst="rect">
            <a:avLst/>
          </a:prstGeom>
          <a:noFill/>
          <a:ln>
            <a:noFill/>
          </a:ln>
        </p:spPr>
      </p:pic>
      <p:sp>
        <p:nvSpPr>
          <p:cNvPr id="191" name="Google Shape;191;p1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5(A–B). Barrier geometry and the sequence of landmark manipulations.</a:t>
            </a:r>
            <a:endParaRPr b="0" i="0" sz="1800" u="none" cap="none" strike="noStrike">
              <a:solidFill>
                <a:schemeClr val="dk1"/>
              </a:solidFill>
              <a:latin typeface="Calibri"/>
              <a:ea typeface="Calibri"/>
              <a:cs typeface="Calibri"/>
              <a:sym typeface="Calibri"/>
            </a:endParaRPr>
          </a:p>
        </p:txBody>
      </p:sp>
      <p:sp>
        <p:nvSpPr>
          <p:cNvPr id="192" name="Google Shape;192;p13"/>
          <p:cNvSpPr/>
          <p:nvPr/>
        </p:nvSpPr>
        <p:spPr>
          <a:xfrm>
            <a:off x="457200" y="6462713"/>
            <a:ext cx="129941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a:t>
            </a:r>
            <a:endParaRPr b="0" i="0" sz="1800" u="none" cap="none" strike="noStrike">
              <a:solidFill>
                <a:schemeClr val="dk1"/>
              </a:solidFill>
              <a:latin typeface="Calibri"/>
              <a:ea typeface="Calibri"/>
              <a:cs typeface="Calibri"/>
              <a:sym typeface="Calibri"/>
            </a:endParaRPr>
          </a:p>
        </p:txBody>
      </p:sp>
      <p:sp>
        <p:nvSpPr>
          <p:cNvPr id="193" name="Google Shape;193;p1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1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Restoring the panorama restores landmark use</a:t>
            </a:r>
            <a:endParaRPr b="0" i="0" sz="1800" u="none" cap="none" strike="noStrike">
              <a:solidFill>
                <a:schemeClr val="dk1"/>
              </a:solidFill>
              <a:latin typeface="Calibri"/>
              <a:ea typeface="Calibri"/>
              <a:cs typeface="Calibri"/>
              <a:sym typeface="Calibri"/>
            </a:endParaRPr>
          </a:p>
        </p:txBody>
      </p:sp>
      <p:sp>
        <p:nvSpPr>
          <p:cNvPr id="199" name="Google Shape;199;p14"/>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A </a:t>
            </a:r>
            <a:r>
              <a:rPr b="1" i="0" lang="en-US" sz="1500" u="none" cap="none" strike="noStrike">
                <a:solidFill>
                  <a:srgbClr val="202329"/>
                </a:solidFill>
                <a:latin typeface="Arial"/>
                <a:ea typeface="Arial"/>
                <a:cs typeface="Arial"/>
                <a:sym typeface="Arial"/>
              </a:rPr>
              <a:t>reversal control</a:t>
            </a:r>
            <a:r>
              <a:rPr b="0" i="0" lang="en-US" sz="1500" u="none" cap="none" strike="noStrike">
                <a:solidFill>
                  <a:srgbClr val="202329"/>
                </a:solidFill>
                <a:latin typeface="Arial"/>
                <a:ea typeface="Arial"/>
                <a:cs typeface="Arial"/>
                <a:sym typeface="Arial"/>
              </a:rPr>
              <a:t> tests whether restoring an earlier condition restores behavior. In Cormons and Zeil’s landmark–barrier experiment, wasps followed the shifted cube configuration before the distant view was blocked, but none followed it with the barrier present.</a:t>
            </a:r>
            <a:endParaRPr b="0" i="0" sz="1800" u="none" cap="none" strike="noStrike">
              <a:solidFill>
                <a:schemeClr val="dk1"/>
              </a:solidFill>
              <a:latin typeface="Calibri"/>
              <a:ea typeface="Calibri"/>
              <a:cs typeface="Calibri"/>
              <a:sym typeface="Calibri"/>
            </a:endParaRPr>
          </a:p>
        </p:txBody>
      </p:sp>
      <p:sp>
        <p:nvSpPr>
          <p:cNvPr id="200" name="Google Shape;200;p14"/>
          <p:cNvSpPr/>
          <p:nvPr/>
        </p:nvSpPr>
        <p:spPr>
          <a:xfrm>
            <a:off x="457200" y="290935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After the barrier was removed, the returning wasps again localized the nest relative to the configuration. The published response counts changed from eight following the initial shift to none with the barrier and nine after removal; the remaining animal did not return for the last condition.</a:t>
            </a:r>
            <a:endParaRPr b="0" i="0" sz="1800" u="none" cap="none" strike="noStrike">
              <a:solidFill>
                <a:schemeClr val="dk1"/>
              </a:solidFill>
              <a:latin typeface="Calibri"/>
              <a:ea typeface="Calibri"/>
              <a:cs typeface="Calibri"/>
              <a:sym typeface="Calibri"/>
            </a:endParaRPr>
          </a:p>
        </p:txBody>
      </p:sp>
      <p:sp>
        <p:nvSpPr>
          <p:cNvPr id="201" name="Google Shape;201;p14"/>
          <p:cNvSpPr/>
          <p:nvPr/>
        </p:nvSpPr>
        <p:spPr>
          <a:xfrm>
            <a:off x="457200" y="4707337"/>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The reversal limits explanations based solely on permanent loss of the learned landmarks or irreversible disturbance. It does not exclude every effect of the barrier, but it supports dependence on visual context rather than simple abandonment of nest-search behavior.</a:t>
            </a:r>
            <a:endParaRPr b="0" i="0" sz="1800" u="none" cap="none" strike="noStrike">
              <a:solidFill>
                <a:schemeClr val="dk1"/>
              </a:solidFill>
              <a:latin typeface="Calibri"/>
              <a:ea typeface="Calibri"/>
              <a:cs typeface="Calibri"/>
              <a:sym typeface="Calibri"/>
            </a:endParaRPr>
          </a:p>
        </p:txBody>
      </p:sp>
      <p:pic>
        <p:nvPicPr>
          <p:cNvPr id="202" name="Google Shape;202;p14"/>
          <p:cNvPicPr preferRelativeResize="0"/>
          <p:nvPr/>
        </p:nvPicPr>
        <p:blipFill rotWithShape="1">
          <a:blip r:embed="rId3">
            <a:alphaModFix/>
          </a:blip>
          <a:srcRect b="0" l="0" r="0" t="0"/>
          <a:stretch/>
        </p:blipFill>
        <p:spPr>
          <a:xfrm>
            <a:off x="6610350" y="1598937"/>
            <a:ext cx="5048250" cy="2913307"/>
          </a:xfrm>
          <a:prstGeom prst="rect">
            <a:avLst/>
          </a:prstGeom>
          <a:noFill/>
          <a:ln>
            <a:noFill/>
          </a:ln>
        </p:spPr>
      </p:pic>
      <p:sp>
        <p:nvSpPr>
          <p:cNvPr id="203" name="Google Shape;203;p1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5(C). Landmark-following responses before, during, and after masking.</a:t>
            </a:r>
            <a:endParaRPr b="0" i="0" sz="1800" u="none" cap="none" strike="noStrike">
              <a:solidFill>
                <a:schemeClr val="dk1"/>
              </a:solidFill>
              <a:latin typeface="Calibri"/>
              <a:ea typeface="Calibri"/>
              <a:cs typeface="Calibri"/>
              <a:sym typeface="Calibri"/>
            </a:endParaRPr>
          </a:p>
        </p:txBody>
      </p:sp>
      <p:sp>
        <p:nvSpPr>
          <p:cNvPr id="204" name="Google Shape;204;p14"/>
          <p:cNvSpPr/>
          <p:nvPr/>
        </p:nvSpPr>
        <p:spPr>
          <a:xfrm>
            <a:off x="457200" y="6462713"/>
            <a:ext cx="129941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a:t>
            </a:r>
            <a:endParaRPr b="0" i="0" sz="1800" u="none" cap="none" strike="noStrike">
              <a:solidFill>
                <a:schemeClr val="dk1"/>
              </a:solidFill>
              <a:latin typeface="Calibri"/>
              <a:ea typeface="Calibri"/>
              <a:cs typeface="Calibri"/>
              <a:sym typeface="Calibri"/>
            </a:endParaRPr>
          </a:p>
        </p:txBody>
      </p:sp>
      <p:sp>
        <p:nvSpPr>
          <p:cNvPr id="205" name="Google Shape;205;p1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5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Panorama and local landmarks are used at the same time</a:t>
            </a:r>
            <a:endParaRPr b="0" i="0" sz="1800" u="none" cap="none" strike="noStrike">
              <a:solidFill>
                <a:schemeClr val="dk1"/>
              </a:solidFill>
              <a:latin typeface="Calibri"/>
              <a:ea typeface="Calibri"/>
              <a:cs typeface="Calibri"/>
              <a:sym typeface="Calibri"/>
            </a:endParaRPr>
          </a:p>
        </p:txBody>
      </p:sp>
      <p:sp>
        <p:nvSpPr>
          <p:cNvPr id="211" name="Google Shape;211;p51"/>
          <p:cNvSpPr/>
          <p:nvPr/>
        </p:nvSpPr>
        <p:spPr>
          <a:xfrm>
            <a:off x="457200" y="1055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Two models describe how distant and nearby cues could share the work of homing. In a </a:t>
            </a:r>
            <a:r>
              <a:rPr b="1" i="0" lang="en-US" sz="1400" u="none" cap="none" strike="noStrike">
                <a:solidFill>
                  <a:srgbClr val="202329"/>
                </a:solidFill>
                <a:latin typeface="Arial"/>
                <a:ea typeface="Arial"/>
                <a:cs typeface="Arial"/>
                <a:sym typeface="Arial"/>
              </a:rPr>
              <a:t>sequential</a:t>
            </a:r>
            <a:r>
              <a:rPr b="0" i="0" lang="en-US" sz="1400" u="none" cap="none" strike="noStrike">
                <a:solidFill>
                  <a:srgbClr val="202329"/>
                </a:solidFill>
                <a:latin typeface="Arial"/>
                <a:ea typeface="Arial"/>
                <a:cs typeface="Arial"/>
                <a:sym typeface="Arial"/>
              </a:rPr>
              <a:t> model, the distant scene guides the wasp into the nest area and local landmarks take over for the final approach. In a </a:t>
            </a:r>
            <a:r>
              <a:rPr b="1" i="0" lang="en-US" sz="1400" u="none" cap="none" strike="noStrike">
                <a:solidFill>
                  <a:srgbClr val="202329"/>
                </a:solidFill>
                <a:latin typeface="Arial"/>
                <a:ea typeface="Arial"/>
                <a:cs typeface="Arial"/>
                <a:sym typeface="Arial"/>
              </a:rPr>
              <a:t>simultaneous</a:t>
            </a:r>
            <a:r>
              <a:rPr b="0" i="0" lang="en-US" sz="1400" u="none" cap="none" strike="noStrike">
                <a:solidFill>
                  <a:srgbClr val="202329"/>
                </a:solidFill>
                <a:latin typeface="Arial"/>
                <a:ea typeface="Arial"/>
                <a:cs typeface="Arial"/>
                <a:sym typeface="Arial"/>
              </a:rPr>
              <a:t> model, both belong to one stored scene that must match as a whole.</a:t>
            </a:r>
            <a:endParaRPr b="0" i="0" sz="1700" u="none" cap="none" strike="noStrike">
              <a:solidFill>
                <a:schemeClr val="dk1"/>
              </a:solidFill>
              <a:latin typeface="Calibri"/>
              <a:ea typeface="Calibri"/>
              <a:cs typeface="Calibri"/>
              <a:sym typeface="Calibri"/>
            </a:endParaRPr>
          </a:p>
        </p:txBody>
      </p:sp>
      <p:sp>
        <p:nvSpPr>
          <p:cNvPr id="212" name="Google Shape;212;p51"/>
          <p:cNvSpPr/>
          <p:nvPr/>
        </p:nvSpPr>
        <p:spPr>
          <a:xfrm>
            <a:off x="457200" y="2897966"/>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barrier test discriminates between them. With the far scene blocked, the wasps still reached the nest area, so the first stage of a sequential scheme was complete, and the learned cubes stood in plain view. A sequential model predicts digging guided by the cubes; none occurred, the outcome a simultaneous model predicts.</a:t>
            </a:r>
            <a:endParaRPr b="0" i="0" sz="1700" u="none" cap="none" strike="noStrike">
              <a:solidFill>
                <a:schemeClr val="dk1"/>
              </a:solidFill>
              <a:latin typeface="Calibri"/>
              <a:ea typeface="Calibri"/>
              <a:cs typeface="Calibri"/>
              <a:sym typeface="Calibri"/>
            </a:endParaRPr>
          </a:p>
        </p:txBody>
      </p:sp>
      <p:sp>
        <p:nvSpPr>
          <p:cNvPr id="213" name="Google Shape;213;p51"/>
          <p:cNvSpPr/>
          <p:nvPr/>
        </p:nvSpPr>
        <p:spPr>
          <a:xfrm>
            <a:off x="457200" y="4740593"/>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For the animal, a local landmark therefore carries no meaning on its own: its position specifies a goal only within the scene where it was learned. The authors also describe wasps after heavy rain had pitted the sand, digging persistently over a broad area defined only by the distant cues that remained.</a:t>
            </a:r>
            <a:endParaRPr b="0" i="0" sz="1700" u="none" cap="none" strike="noStrike">
              <a:solidFill>
                <a:schemeClr val="dk1"/>
              </a:solidFill>
              <a:latin typeface="Calibri"/>
              <a:ea typeface="Calibri"/>
              <a:cs typeface="Calibri"/>
              <a:sym typeface="Calibri"/>
            </a:endParaRPr>
          </a:p>
        </p:txBody>
      </p:sp>
      <p:pic>
        <p:nvPicPr>
          <p:cNvPr id="214" name="Google Shape;214;p51"/>
          <p:cNvPicPr preferRelativeResize="0"/>
          <p:nvPr/>
        </p:nvPicPr>
        <p:blipFill rotWithShape="1">
          <a:blip r:embed="rId3">
            <a:alphaModFix/>
          </a:blip>
          <a:srcRect b="0" l="0" r="0" t="0"/>
          <a:stretch/>
        </p:blipFill>
        <p:spPr>
          <a:xfrm>
            <a:off x="6918783" y="1055340"/>
            <a:ext cx="4431384" cy="4000500"/>
          </a:xfrm>
          <a:prstGeom prst="rect">
            <a:avLst/>
          </a:prstGeom>
          <a:noFill/>
          <a:ln>
            <a:noFill/>
          </a:ln>
        </p:spPr>
      </p:pic>
      <p:sp>
        <p:nvSpPr>
          <p:cNvPr id="215" name="Google Shape;215;p5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5(A–B). Barrier geometry and the sequence of landmark manipulations.</a:t>
            </a:r>
            <a:endParaRPr b="0" i="0" sz="1800" u="none" cap="none" strike="noStrike">
              <a:solidFill>
                <a:schemeClr val="dk1"/>
              </a:solidFill>
              <a:latin typeface="Calibri"/>
              <a:ea typeface="Calibri"/>
              <a:cs typeface="Calibri"/>
              <a:sym typeface="Calibri"/>
            </a:endParaRPr>
          </a:p>
        </p:txBody>
      </p:sp>
      <p:sp>
        <p:nvSpPr>
          <p:cNvPr id="216" name="Google Shape;216;p51"/>
          <p:cNvSpPr/>
          <p:nvPr/>
        </p:nvSpPr>
        <p:spPr>
          <a:xfrm>
            <a:off x="457200" y="6462713"/>
            <a:ext cx="148158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a:t>
            </a:r>
            <a:endParaRPr b="0" i="0" sz="1800" u="none" cap="none" strike="noStrike">
              <a:solidFill>
                <a:schemeClr val="dk1"/>
              </a:solidFill>
              <a:latin typeface="Calibri"/>
              <a:ea typeface="Calibri"/>
              <a:cs typeface="Calibri"/>
              <a:sym typeface="Calibri"/>
            </a:endParaRPr>
          </a:p>
        </p:txBody>
      </p:sp>
      <p:sp>
        <p:nvSpPr>
          <p:cNvPr id="217" name="Google Shape;217;p51"/>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14a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1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Cue masking tests alternatives to visual guidance</a:t>
            </a:r>
            <a:endParaRPr b="0" i="0" sz="1800" u="none" cap="none" strike="noStrike">
              <a:solidFill>
                <a:schemeClr val="dk1"/>
              </a:solidFill>
              <a:latin typeface="Calibri"/>
              <a:ea typeface="Calibri"/>
              <a:cs typeface="Calibri"/>
              <a:sym typeface="Calibri"/>
            </a:endParaRPr>
          </a:p>
        </p:txBody>
      </p:sp>
      <p:sp>
        <p:nvSpPr>
          <p:cNvPr id="223" name="Google Shape;223;p15"/>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A </a:t>
            </a:r>
            <a:r>
              <a:rPr b="1" i="0" lang="en-US" sz="1500" u="none" cap="none" strike="noStrike">
                <a:solidFill>
                  <a:srgbClr val="202329"/>
                </a:solidFill>
                <a:latin typeface="Arial"/>
                <a:ea typeface="Arial"/>
                <a:cs typeface="Arial"/>
                <a:sym typeface="Arial"/>
              </a:rPr>
              <a:t>masking control</a:t>
            </a:r>
            <a:r>
              <a:rPr b="0" i="0" lang="en-US" sz="1500" u="none" cap="none" strike="noStrike">
                <a:solidFill>
                  <a:srgbClr val="202329"/>
                </a:solidFill>
                <a:latin typeface="Arial"/>
                <a:ea typeface="Arial"/>
                <a:cs typeface="Arial"/>
                <a:sym typeface="Arial"/>
              </a:rPr>
              <a:t> selectively reduces information that might otherwise explain a response. Cormons and Zeil covered nest entrances with combinations of plexiglass, paper, cloth, and frames, changing access to sand relief, odors, and possible acoustic or vibrational information.</a:t>
            </a:r>
            <a:endParaRPr b="0" i="0" sz="1800" u="none" cap="none" strike="noStrike">
              <a:solidFill>
                <a:schemeClr val="dk1"/>
              </a:solidFill>
              <a:latin typeface="Calibri"/>
              <a:ea typeface="Calibri"/>
              <a:cs typeface="Calibri"/>
              <a:sym typeface="Calibri"/>
            </a:endParaRPr>
          </a:p>
        </p:txBody>
      </p:sp>
      <p:sp>
        <p:nvSpPr>
          <p:cNvPr id="224" name="Google Shape;224;p15"/>
          <p:cNvSpPr/>
          <p:nvPr/>
        </p:nvSpPr>
        <p:spPr>
          <a:xfrm>
            <a:off x="457200" y="3010116"/>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Under conditions including 0.3 cm and 0.6 cm high covers, wasps still searched within a few centimeters of the true entrance. Removing access to several candidate local cues did not produce a corresponding loss of localization accuracy.</a:t>
            </a:r>
            <a:endParaRPr b="0" i="0" sz="1800" u="none" cap="none" strike="noStrike">
              <a:solidFill>
                <a:schemeClr val="dk1"/>
              </a:solidFill>
              <a:latin typeface="Calibri"/>
              <a:ea typeface="Calibri"/>
              <a:cs typeface="Calibri"/>
              <a:sym typeface="Calibri"/>
            </a:endParaRPr>
          </a:p>
        </p:txBody>
      </p:sp>
      <p:sp>
        <p:nvSpPr>
          <p:cNvPr id="225" name="Google Shape;225;p15"/>
          <p:cNvSpPr/>
          <p:nvPr/>
        </p:nvSpPr>
        <p:spPr>
          <a:xfrm>
            <a:off x="457200" y="4728917"/>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The result supports the sufficiency of available visual surroundings for the tested task. It does not mean that all nonvisual senses are irrelevant to wasp behavior or that the covers eliminated every conceivable signal perfectly. The conclusion remains tied to these nest-location conditions.</a:t>
            </a:r>
            <a:endParaRPr b="0" i="0" sz="1800" u="none" cap="none" strike="noStrike">
              <a:solidFill>
                <a:schemeClr val="dk1"/>
              </a:solidFill>
              <a:latin typeface="Calibri"/>
              <a:ea typeface="Calibri"/>
              <a:cs typeface="Calibri"/>
              <a:sym typeface="Calibri"/>
            </a:endParaRPr>
          </a:p>
        </p:txBody>
      </p:sp>
      <p:pic>
        <p:nvPicPr>
          <p:cNvPr id="226" name="Google Shape;226;p15"/>
          <p:cNvPicPr preferRelativeResize="0"/>
          <p:nvPr/>
        </p:nvPicPr>
        <p:blipFill rotWithShape="1">
          <a:blip r:embed="rId3">
            <a:alphaModFix/>
          </a:blip>
          <a:srcRect b="0" l="0" r="0" t="0"/>
          <a:stretch/>
        </p:blipFill>
        <p:spPr>
          <a:xfrm>
            <a:off x="6610350" y="1496756"/>
            <a:ext cx="5048250" cy="3117669"/>
          </a:xfrm>
          <a:prstGeom prst="rect">
            <a:avLst/>
          </a:prstGeom>
          <a:noFill/>
          <a:ln>
            <a:noFill/>
          </a:ln>
        </p:spPr>
      </p:pic>
      <p:sp>
        <p:nvSpPr>
          <p:cNvPr id="227" name="Google Shape;227;p1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6(A–B). Search distributions when local nonvisual cues were masked.</a:t>
            </a:r>
            <a:endParaRPr b="0" i="0" sz="1800" u="none" cap="none" strike="noStrike">
              <a:solidFill>
                <a:schemeClr val="dk1"/>
              </a:solidFill>
              <a:latin typeface="Calibri"/>
              <a:ea typeface="Calibri"/>
              <a:cs typeface="Calibri"/>
              <a:sym typeface="Calibri"/>
            </a:endParaRPr>
          </a:p>
        </p:txBody>
      </p:sp>
      <p:sp>
        <p:nvSpPr>
          <p:cNvPr id="228" name="Google Shape;228;p15"/>
          <p:cNvSpPr/>
          <p:nvPr/>
        </p:nvSpPr>
        <p:spPr>
          <a:xfrm>
            <a:off x="457200" y="6462713"/>
            <a:ext cx="129941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a:t>
            </a:r>
            <a:endParaRPr b="0" i="0" sz="1800" u="none" cap="none" strike="noStrike">
              <a:solidFill>
                <a:schemeClr val="dk1"/>
              </a:solidFill>
              <a:latin typeface="Calibri"/>
              <a:ea typeface="Calibri"/>
              <a:cs typeface="Calibri"/>
              <a:sym typeface="Calibri"/>
            </a:endParaRPr>
          </a:p>
        </p:txBody>
      </p:sp>
      <p:sp>
        <p:nvSpPr>
          <p:cNvPr id="229" name="Google Shape;229;p1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1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An airtight cover preserves nest-directed search</a:t>
            </a:r>
            <a:endParaRPr b="0" i="0" sz="1800" u="none" cap="none" strike="noStrike">
              <a:solidFill>
                <a:schemeClr val="dk1"/>
              </a:solidFill>
              <a:latin typeface="Calibri"/>
              <a:ea typeface="Calibri"/>
              <a:cs typeface="Calibri"/>
              <a:sym typeface="Calibri"/>
            </a:endParaRPr>
          </a:p>
        </p:txBody>
      </p:sp>
      <p:sp>
        <p:nvSpPr>
          <p:cNvPr id="235" name="Google Shape;235;p16"/>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u="none" cap="none" strike="noStrike">
                <a:solidFill>
                  <a:srgbClr val="202329"/>
                </a:solidFill>
                <a:latin typeface="Arial"/>
                <a:ea typeface="Arial"/>
                <a:cs typeface="Arial"/>
                <a:sym typeface="Arial"/>
              </a:rPr>
              <a:t>Sensory sufficiency</a:t>
            </a:r>
            <a:r>
              <a:rPr b="0" i="0" lang="en-US" sz="1500" u="none" cap="none" strike="noStrike">
                <a:solidFill>
                  <a:srgbClr val="202329"/>
                </a:solidFill>
                <a:latin typeface="Arial"/>
                <a:ea typeface="Arial"/>
                <a:cs typeface="Arial"/>
                <a:sym typeface="Arial"/>
              </a:rPr>
              <a:t> concerns whether an available source of information can support a task when alternatives are reduced. Cormons and Zeil placed a transparent inverted tray over each hidden nest and pushed its walls into the sand to create an essentially airtight local seal.</a:t>
            </a:r>
            <a:endParaRPr b="0" i="0" sz="1800" u="none" cap="none" strike="noStrike">
              <a:solidFill>
                <a:schemeClr val="dk1"/>
              </a:solidFill>
              <a:latin typeface="Calibri"/>
              <a:ea typeface="Calibri"/>
              <a:cs typeface="Calibri"/>
              <a:sym typeface="Calibri"/>
            </a:endParaRPr>
          </a:p>
        </p:txBody>
      </p:sp>
      <p:sp>
        <p:nvSpPr>
          <p:cNvPr id="236" name="Google Shape;236;p16"/>
          <p:cNvSpPr/>
          <p:nvPr/>
        </p:nvSpPr>
        <p:spPr>
          <a:xfrm>
            <a:off x="457200" y="2948664"/>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The tray was 5.9 × 5.9 cm and 3.4 cm high. Returning wasps attempted to dig over the entrance rather than along the tray edges, where access to an escaping odor or air movement would have been more plausible.</a:t>
            </a:r>
            <a:endParaRPr b="0" i="0" sz="1800" u="none" cap="none" strike="noStrike">
              <a:solidFill>
                <a:schemeClr val="dk1"/>
              </a:solidFill>
              <a:latin typeface="Calibri"/>
              <a:ea typeface="Calibri"/>
              <a:cs typeface="Calibri"/>
              <a:sym typeface="Calibri"/>
            </a:endParaRPr>
          </a:p>
        </p:txBody>
      </p:sp>
      <p:sp>
        <p:nvSpPr>
          <p:cNvPr id="237" name="Google Shape;237;p16"/>
          <p:cNvSpPr/>
          <p:nvPr/>
        </p:nvSpPr>
        <p:spPr>
          <a:xfrm>
            <a:off x="457200" y="4590651"/>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The preserved search supports visually guided localization despite the altered local surface. It does not establish the internal format of the visual memory or exclude nonvisual information at longer distances during the preceding journey. Local goal localization and the entire homing route are different experimental targets.</a:t>
            </a:r>
            <a:endParaRPr b="0" i="0" sz="1800" u="none" cap="none" strike="noStrike">
              <a:solidFill>
                <a:schemeClr val="dk1"/>
              </a:solidFill>
              <a:latin typeface="Calibri"/>
              <a:ea typeface="Calibri"/>
              <a:cs typeface="Calibri"/>
              <a:sym typeface="Calibri"/>
            </a:endParaRPr>
          </a:p>
        </p:txBody>
      </p:sp>
      <p:pic>
        <p:nvPicPr>
          <p:cNvPr id="238" name="Google Shape;238;p16"/>
          <p:cNvPicPr preferRelativeResize="0"/>
          <p:nvPr/>
        </p:nvPicPr>
        <p:blipFill rotWithShape="1">
          <a:blip r:embed="rId3">
            <a:alphaModFix/>
          </a:blip>
          <a:srcRect b="0" l="0" r="0" t="0"/>
          <a:stretch/>
        </p:blipFill>
        <p:spPr>
          <a:xfrm>
            <a:off x="7330021" y="1055340"/>
            <a:ext cx="3608908" cy="4000500"/>
          </a:xfrm>
          <a:prstGeom prst="rect">
            <a:avLst/>
          </a:prstGeom>
          <a:noFill/>
          <a:ln>
            <a:noFill/>
          </a:ln>
        </p:spPr>
      </p:pic>
      <p:sp>
        <p:nvSpPr>
          <p:cNvPr id="239" name="Google Shape;239;p1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3. Transparent tray sealing a nest while retaining its visible context.</a:t>
            </a:r>
            <a:endParaRPr b="0" i="0" sz="1800" u="none" cap="none" strike="noStrike">
              <a:solidFill>
                <a:schemeClr val="dk1"/>
              </a:solidFill>
              <a:latin typeface="Calibri"/>
              <a:ea typeface="Calibri"/>
              <a:cs typeface="Calibri"/>
              <a:sym typeface="Calibri"/>
            </a:endParaRPr>
          </a:p>
        </p:txBody>
      </p:sp>
      <p:sp>
        <p:nvSpPr>
          <p:cNvPr id="240" name="Google Shape;240;p16"/>
          <p:cNvSpPr/>
          <p:nvPr/>
        </p:nvSpPr>
        <p:spPr>
          <a:xfrm>
            <a:off x="457200" y="6462713"/>
            <a:ext cx="129941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a:t>
            </a:r>
            <a:endParaRPr b="0" i="0" sz="1800" u="none" cap="none" strike="noStrike">
              <a:solidFill>
                <a:schemeClr val="dk1"/>
              </a:solidFill>
              <a:latin typeface="Calibri"/>
              <a:ea typeface="Calibri"/>
              <a:cs typeface="Calibri"/>
              <a:sym typeface="Calibri"/>
            </a:endParaRPr>
          </a:p>
        </p:txBody>
      </p:sp>
      <p:sp>
        <p:nvSpPr>
          <p:cNvPr id="241" name="Google Shape;241;p1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5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The panorama is necessary; vision alone is sufficient locally</a:t>
            </a:r>
            <a:endParaRPr b="0" i="0" sz="1800" u="none" cap="none" strike="noStrike">
              <a:solidFill>
                <a:schemeClr val="dk1"/>
              </a:solidFill>
              <a:latin typeface="Calibri"/>
              <a:ea typeface="Calibri"/>
              <a:cs typeface="Calibri"/>
              <a:sym typeface="Calibri"/>
            </a:endParaRPr>
          </a:p>
        </p:txBody>
      </p:sp>
      <p:sp>
        <p:nvSpPr>
          <p:cNvPr id="247" name="Google Shape;247;p52"/>
          <p:cNvSpPr/>
          <p:nvPr/>
        </p:nvSpPr>
        <p:spPr>
          <a:xfrm>
            <a:off x="457200" y="1055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 cue is </a:t>
            </a:r>
            <a:r>
              <a:rPr b="1" i="0" lang="en-US" sz="1400" u="none" cap="none" strike="noStrike">
                <a:solidFill>
                  <a:srgbClr val="202329"/>
                </a:solidFill>
                <a:latin typeface="Arial"/>
                <a:ea typeface="Arial"/>
                <a:cs typeface="Arial"/>
                <a:sym typeface="Arial"/>
              </a:rPr>
              <a:t>necessary</a:t>
            </a:r>
            <a:r>
              <a:rPr b="0" i="0" lang="en-US" sz="1400" u="none" cap="none" strike="noStrike">
                <a:solidFill>
                  <a:srgbClr val="202329"/>
                </a:solidFill>
                <a:latin typeface="Arial"/>
                <a:ea typeface="Arial"/>
                <a:cs typeface="Arial"/>
                <a:sym typeface="Arial"/>
              </a:rPr>
              <a:t> if removing it abolishes a behavior and </a:t>
            </a:r>
            <a:r>
              <a:rPr b="1" i="0" lang="en-US" sz="1400" u="none" cap="none" strike="noStrike">
                <a:solidFill>
                  <a:srgbClr val="202329"/>
                </a:solidFill>
                <a:latin typeface="Arial"/>
                <a:ea typeface="Arial"/>
                <a:cs typeface="Arial"/>
                <a:sym typeface="Arial"/>
              </a:rPr>
              <a:t>sufficient</a:t>
            </a:r>
            <a:r>
              <a:rPr b="0" i="0" lang="en-US" sz="1400" u="none" cap="none" strike="noStrike">
                <a:solidFill>
                  <a:srgbClr val="202329"/>
                </a:solidFill>
                <a:latin typeface="Arial"/>
                <a:ea typeface="Arial"/>
                <a:cs typeface="Arial"/>
                <a:sym typeface="Arial"/>
              </a:rPr>
              <a:t> if the behavior survives when only that cue remains. The two claims require opposite manipulations, and the wasp work supplies both: the barrier removed part of the visual scene, while the covers and sealed tray removed nonvisual local information and spared vision.</a:t>
            </a:r>
            <a:endParaRPr b="0" i="0" sz="1700" u="none" cap="none" strike="noStrike">
              <a:solidFill>
                <a:schemeClr val="dk1"/>
              </a:solidFill>
              <a:latin typeface="Calibri"/>
              <a:ea typeface="Calibri"/>
              <a:cs typeface="Calibri"/>
              <a:sym typeface="Calibri"/>
            </a:endParaRPr>
          </a:p>
        </p:txBody>
      </p:sp>
      <p:sp>
        <p:nvSpPr>
          <p:cNvPr id="248" name="Google Shape;248;p52"/>
          <p:cNvSpPr/>
          <p:nvPr/>
        </p:nvSpPr>
        <p:spPr>
          <a:xfrm>
            <a:off x="457200" y="2960340"/>
            <a:ext cx="5829300" cy="119481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Blocking the far scene ended landmark use; masking smell, sand relief, sound and airflow left accuracy unchanged. Only together do these results support the claim that the final approach depends on vision alone, and only under the tested conditions.</a:t>
            </a:r>
            <a:endParaRPr b="0" i="0" sz="1700" u="none" cap="none" strike="noStrike">
              <a:solidFill>
                <a:schemeClr val="dk1"/>
              </a:solidFill>
              <a:latin typeface="Calibri"/>
              <a:ea typeface="Calibri"/>
              <a:cs typeface="Calibri"/>
              <a:sym typeface="Calibri"/>
            </a:endParaRPr>
          </a:p>
        </p:txBody>
      </p:sp>
      <p:sp>
        <p:nvSpPr>
          <p:cNvPr id="249" name="Google Shape;249;p52"/>
          <p:cNvSpPr/>
          <p:nvPr/>
        </p:nvSpPr>
        <p:spPr>
          <a:xfrm>
            <a:off x="457200" y="4566636"/>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authors propose an ultimate reason for this proximate arrangement. A scent mark at the entrance could guide parasites to the hidden brood, whereas a memorized view is private information, and wind-shifted sand would quickly degrade chemical marks. This functional account was not tested and remains a hypothesis.</a:t>
            </a:r>
            <a:endParaRPr b="0" i="0" sz="1700" u="none" cap="none" strike="noStrike">
              <a:solidFill>
                <a:schemeClr val="dk1"/>
              </a:solidFill>
              <a:latin typeface="Calibri"/>
              <a:ea typeface="Calibri"/>
              <a:cs typeface="Calibri"/>
              <a:sym typeface="Calibri"/>
            </a:endParaRPr>
          </a:p>
        </p:txBody>
      </p:sp>
      <p:pic>
        <p:nvPicPr>
          <p:cNvPr id="250" name="Google Shape;250;p52"/>
          <p:cNvPicPr preferRelativeResize="0"/>
          <p:nvPr/>
        </p:nvPicPr>
        <p:blipFill rotWithShape="1">
          <a:blip r:embed="rId3">
            <a:alphaModFix/>
          </a:blip>
          <a:srcRect b="0" l="0" r="0" t="0"/>
          <a:stretch/>
        </p:blipFill>
        <p:spPr>
          <a:xfrm>
            <a:off x="6610350" y="1496756"/>
            <a:ext cx="5048250" cy="3117669"/>
          </a:xfrm>
          <a:prstGeom prst="rect">
            <a:avLst/>
          </a:prstGeom>
          <a:noFill/>
          <a:ln>
            <a:noFill/>
          </a:ln>
        </p:spPr>
      </p:pic>
      <p:sp>
        <p:nvSpPr>
          <p:cNvPr id="251" name="Google Shape;251;p5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6(A–B). Search distributions when local nonvisual cues were masked.</a:t>
            </a:r>
            <a:endParaRPr b="0" i="0" sz="1800" u="none" cap="none" strike="noStrike">
              <a:solidFill>
                <a:schemeClr val="dk1"/>
              </a:solidFill>
              <a:latin typeface="Calibri"/>
              <a:ea typeface="Calibri"/>
              <a:cs typeface="Calibri"/>
              <a:sym typeface="Calibri"/>
            </a:endParaRPr>
          </a:p>
        </p:txBody>
      </p:sp>
      <p:sp>
        <p:nvSpPr>
          <p:cNvPr id="252" name="Google Shape;252;p52"/>
          <p:cNvSpPr/>
          <p:nvPr/>
        </p:nvSpPr>
        <p:spPr>
          <a:xfrm>
            <a:off x="457200" y="6462713"/>
            <a:ext cx="272973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 Tinbergen (1963)</a:t>
            </a:r>
            <a:endParaRPr b="0" i="0" sz="1800" u="none" cap="none" strike="noStrike">
              <a:solidFill>
                <a:schemeClr val="dk1"/>
              </a:solidFill>
              <a:latin typeface="Calibri"/>
              <a:ea typeface="Calibri"/>
              <a:cs typeface="Calibri"/>
              <a:sym typeface="Calibri"/>
            </a:endParaRPr>
          </a:p>
        </p:txBody>
      </p:sp>
      <p:sp>
        <p:nvSpPr>
          <p:cNvPr id="253" name="Google Shape;253;p52"/>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16a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1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Behavioral causation does not identify a circuit</a:t>
            </a:r>
            <a:endParaRPr b="0" i="0" sz="1800" u="none" cap="none" strike="noStrike">
              <a:solidFill>
                <a:schemeClr val="dk1"/>
              </a:solidFill>
              <a:latin typeface="Calibri"/>
              <a:ea typeface="Calibri"/>
              <a:cs typeface="Calibri"/>
              <a:sym typeface="Calibri"/>
            </a:endParaRPr>
          </a:p>
        </p:txBody>
      </p:sp>
      <p:sp>
        <p:nvSpPr>
          <p:cNvPr id="259" name="Google Shape;259;p17"/>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A </a:t>
            </a:r>
            <a:r>
              <a:rPr b="1" i="0" lang="en-US" sz="1500" u="none" cap="none" strike="noStrike">
                <a:solidFill>
                  <a:srgbClr val="202329"/>
                </a:solidFill>
                <a:latin typeface="Arial"/>
                <a:ea typeface="Arial"/>
                <a:cs typeface="Arial"/>
                <a:sym typeface="Arial"/>
              </a:rPr>
              <a:t>level of analysis</a:t>
            </a:r>
            <a:r>
              <a:rPr b="0" i="0" lang="en-US" sz="1500" u="none" cap="none" strike="noStrike">
                <a:solidFill>
                  <a:srgbClr val="202329"/>
                </a:solidFill>
                <a:latin typeface="Arial"/>
                <a:ea typeface="Arial"/>
                <a:cs typeface="Arial"/>
                <a:sym typeface="Arial"/>
              </a:rPr>
              <a:t> is the scale at which a mechanism is described, such as the intact animal, a circuit, a neuron, or a membrane. Cormons and Zeil measured the positions and spread of wasp digging attempts under several sensory masking conditions.</a:t>
            </a:r>
            <a:endParaRPr b="0" i="0" sz="1800" u="none" cap="none" strike="noStrike">
              <a:solidFill>
                <a:schemeClr val="dk1"/>
              </a:solidFill>
              <a:latin typeface="Calibri"/>
              <a:ea typeface="Calibri"/>
              <a:cs typeface="Calibri"/>
              <a:sym typeface="Calibri"/>
            </a:endParaRPr>
          </a:p>
        </p:txBody>
      </p:sp>
      <p:sp>
        <p:nvSpPr>
          <p:cNvPr id="260" name="Google Shape;260;p17"/>
          <p:cNvSpPr/>
          <p:nvPr/>
        </p:nvSpPr>
        <p:spPr>
          <a:xfrm>
            <a:off x="457200" y="270165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Search remained centered near the burrow, with characteristic errors of a few centimeters rather than complete loss of the goal. This establishes a behavioral relationship between available information and action while leaving the sensory representation unrecorded.</a:t>
            </a:r>
            <a:endParaRPr b="0" i="0" sz="1800" u="none" cap="none" strike="noStrike">
              <a:solidFill>
                <a:schemeClr val="dk1"/>
              </a:solidFill>
              <a:latin typeface="Calibri"/>
              <a:ea typeface="Calibri"/>
              <a:cs typeface="Calibri"/>
              <a:sym typeface="Calibri"/>
            </a:endParaRPr>
          </a:p>
        </p:txBody>
      </p:sp>
      <p:sp>
        <p:nvSpPr>
          <p:cNvPr id="261" name="Google Shape;261;p17"/>
          <p:cNvSpPr/>
          <p:nvPr/>
        </p:nvSpPr>
        <p:spPr>
          <a:xfrm>
            <a:off x="457200" y="4469565"/>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A proposed visual-memory comparison is a candidate computational mechanism, not an identified population of neurons. Tinbergen argued that physiological and behavioral studies share causal questions across levels; evidence at one level still does not automatically establish the mechanism at another.</a:t>
            </a:r>
            <a:endParaRPr b="0" i="0" sz="1800" u="none" cap="none" strike="noStrike">
              <a:solidFill>
                <a:schemeClr val="dk1"/>
              </a:solidFill>
              <a:latin typeface="Calibri"/>
              <a:ea typeface="Calibri"/>
              <a:cs typeface="Calibri"/>
              <a:sym typeface="Calibri"/>
            </a:endParaRPr>
          </a:p>
        </p:txBody>
      </p:sp>
      <p:pic>
        <p:nvPicPr>
          <p:cNvPr id="262" name="Google Shape;262;p17"/>
          <p:cNvPicPr preferRelativeResize="0"/>
          <p:nvPr/>
        </p:nvPicPr>
        <p:blipFill rotWithShape="1">
          <a:blip r:embed="rId3">
            <a:alphaModFix/>
          </a:blip>
          <a:srcRect b="0" l="0" r="0" t="0"/>
          <a:stretch/>
        </p:blipFill>
        <p:spPr>
          <a:xfrm>
            <a:off x="6610350" y="1641599"/>
            <a:ext cx="5048250" cy="2827983"/>
          </a:xfrm>
          <a:prstGeom prst="rect">
            <a:avLst/>
          </a:prstGeom>
          <a:noFill/>
          <a:ln>
            <a:noFill/>
          </a:ln>
        </p:spPr>
      </p:pic>
      <p:sp>
        <p:nvSpPr>
          <p:cNvPr id="263" name="Google Shape;263;p1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Cormons &amp; Zeil (2023), Fig. 6(H). Spatial errors and search spread across masking conditions.</a:t>
            </a:r>
            <a:endParaRPr b="0" i="0" sz="1800" u="none" cap="none" strike="noStrike">
              <a:solidFill>
                <a:schemeClr val="dk1"/>
              </a:solidFill>
              <a:latin typeface="Calibri"/>
              <a:ea typeface="Calibri"/>
              <a:cs typeface="Calibri"/>
              <a:sym typeface="Calibri"/>
            </a:endParaRPr>
          </a:p>
        </p:txBody>
      </p:sp>
      <p:sp>
        <p:nvSpPr>
          <p:cNvPr id="264" name="Google Shape;264;p17"/>
          <p:cNvSpPr/>
          <p:nvPr/>
        </p:nvSpPr>
        <p:spPr>
          <a:xfrm>
            <a:off x="457200" y="6462713"/>
            <a:ext cx="235029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Cormons &amp; Zeil (2023); Tinbergen (1963)</a:t>
            </a:r>
            <a:endParaRPr b="0" i="0" sz="1800" u="none" cap="none" strike="noStrike">
              <a:solidFill>
                <a:schemeClr val="dk1"/>
              </a:solidFill>
              <a:latin typeface="Calibri"/>
              <a:ea typeface="Calibri"/>
              <a:cs typeface="Calibri"/>
              <a:sym typeface="Calibri"/>
            </a:endParaRPr>
          </a:p>
        </p:txBody>
      </p:sp>
      <p:sp>
        <p:nvSpPr>
          <p:cNvPr id="265" name="Google Shape;265;p1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1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Membrane physiology supplied a causal foundation</a:t>
            </a:r>
            <a:endParaRPr b="0" i="0" sz="1800" u="none" cap="none" strike="noStrike">
              <a:solidFill>
                <a:schemeClr val="dk1"/>
              </a:solidFill>
              <a:latin typeface="Calibri"/>
              <a:ea typeface="Calibri"/>
              <a:cs typeface="Calibri"/>
              <a:sym typeface="Calibri"/>
            </a:endParaRPr>
          </a:p>
        </p:txBody>
      </p:sp>
      <p:sp>
        <p:nvSpPr>
          <p:cNvPr id="271" name="Google Shape;271;p18"/>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a:t>
            </a:r>
            <a:r>
              <a:rPr b="1" i="0" lang="en-US" sz="1400" u="none" cap="none" strike="noStrike">
                <a:solidFill>
                  <a:srgbClr val="202329"/>
                </a:solidFill>
                <a:latin typeface="Arial"/>
                <a:ea typeface="Arial"/>
                <a:cs typeface="Arial"/>
                <a:sym typeface="Arial"/>
              </a:rPr>
              <a:t>membrane potential</a:t>
            </a:r>
            <a:r>
              <a:rPr b="0" i="0" lang="en-US" sz="1400" u="none" cap="none" strike="noStrike">
                <a:solidFill>
                  <a:srgbClr val="202329"/>
                </a:solidFill>
                <a:latin typeface="Arial"/>
                <a:ea typeface="Arial"/>
                <a:cs typeface="Arial"/>
                <a:sym typeface="Arial"/>
              </a:rPr>
              <a:t> is the electrical potential difference across a cell membrane. In their 1952 study, Hodgkin and Huxley described currents across squid nerve membrane as capacitive current plus ionic components carried principally by sodium and potassium.</a:t>
            </a:r>
            <a:endParaRPr b="0" i="0" sz="1700" u="none" cap="none" strike="noStrike">
              <a:solidFill>
                <a:schemeClr val="dk1"/>
              </a:solidFill>
              <a:latin typeface="Calibri"/>
              <a:ea typeface="Calibri"/>
              <a:cs typeface="Calibri"/>
              <a:sym typeface="Calibri"/>
            </a:endParaRPr>
          </a:p>
        </p:txBody>
      </p:sp>
      <p:sp>
        <p:nvSpPr>
          <p:cNvPr id="272" name="Google Shape;272;p18"/>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400" u="none" cap="none" strike="noStrike">
                <a:solidFill>
                  <a:srgbClr val="202329"/>
                </a:solidFill>
                <a:latin typeface="Arial"/>
                <a:ea typeface="Arial"/>
                <a:cs typeface="Arial"/>
                <a:sym typeface="Arial"/>
              </a:rPr>
              <a:t>Conductance</a:t>
            </a:r>
            <a:r>
              <a:rPr b="0" i="0" lang="en-US" sz="1400" u="none" cap="none" strike="noStrike">
                <a:solidFill>
                  <a:srgbClr val="202329"/>
                </a:solidFill>
                <a:latin typeface="Arial"/>
                <a:ea typeface="Arial"/>
                <a:cs typeface="Arial"/>
                <a:sym typeface="Arial"/>
              </a:rPr>
              <a:t> specifies how readily current passes through a pathway for a given electrical driving force. Their equivalent circuit separated a membrane capacitance, sodium and potassium conductances, and a small leak component. Voltage-clamp measurements supplied the time-dependent conductances used in the analysis.</a:t>
            </a:r>
            <a:endParaRPr b="0" i="0" sz="1700" u="none" cap="none" strike="noStrike">
              <a:solidFill>
                <a:schemeClr val="dk1"/>
              </a:solidFill>
              <a:latin typeface="Calibri"/>
              <a:ea typeface="Calibri"/>
              <a:cs typeface="Calibri"/>
              <a:sym typeface="Calibri"/>
            </a:endParaRPr>
          </a:p>
        </p:txBody>
      </p:sp>
      <p:sp>
        <p:nvSpPr>
          <p:cNvPr id="273" name="Google Shape;273;p18"/>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work explained electrical excitation through measurable membrane processes. </a:t>
            </a:r>
            <a:r>
              <a:rPr b="1" i="0" lang="en-US" sz="1400" u="none" cap="none" strike="noStrike">
                <a:solidFill>
                  <a:srgbClr val="202329"/>
                </a:solidFill>
                <a:latin typeface="Arial"/>
                <a:ea typeface="Arial"/>
                <a:cs typeface="Arial"/>
                <a:sym typeface="Arial"/>
              </a:rPr>
              <a:t>Ion channels</a:t>
            </a:r>
            <a:r>
              <a:rPr b="0" i="0" lang="en-US" sz="1400" u="none" cap="none" strike="noStrike">
                <a:solidFill>
                  <a:srgbClr val="202329"/>
                </a:solidFill>
                <a:latin typeface="Arial"/>
                <a:ea typeface="Arial"/>
                <a:cs typeface="Arial"/>
                <a:sym typeface="Arial"/>
              </a:rPr>
              <a:t> are membrane pathways through which ions can cross. The published circuit is a mathematical representation of aggregate membrane behavior; it is not a microscopy image or a determination of the molecular structure of individual channels.</a:t>
            </a:r>
            <a:endParaRPr b="0" i="0" sz="1700" u="none" cap="none" strike="noStrike">
              <a:solidFill>
                <a:schemeClr val="dk1"/>
              </a:solidFill>
              <a:latin typeface="Calibri"/>
              <a:ea typeface="Calibri"/>
              <a:cs typeface="Calibri"/>
              <a:sym typeface="Calibri"/>
            </a:endParaRPr>
          </a:p>
        </p:txBody>
      </p:sp>
      <p:pic>
        <p:nvPicPr>
          <p:cNvPr id="274" name="Google Shape;274;p18"/>
          <p:cNvPicPr preferRelativeResize="0"/>
          <p:nvPr/>
        </p:nvPicPr>
        <p:blipFill rotWithShape="1">
          <a:blip r:embed="rId3">
            <a:alphaModFix/>
          </a:blip>
          <a:srcRect b="0" l="0" r="0" t="0"/>
          <a:stretch/>
        </p:blipFill>
        <p:spPr>
          <a:xfrm>
            <a:off x="6790962" y="1055340"/>
            <a:ext cx="4687026" cy="4000500"/>
          </a:xfrm>
          <a:prstGeom prst="rect">
            <a:avLst/>
          </a:prstGeom>
          <a:noFill/>
          <a:ln>
            <a:noFill/>
          </a:ln>
        </p:spPr>
      </p:pic>
      <p:sp>
        <p:nvSpPr>
          <p:cNvPr id="275" name="Google Shape;275;p1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Hodgkin &amp; Huxley (1952), Fig. 1. The authors’ equivalent circuit for membrane currents.</a:t>
            </a:r>
            <a:endParaRPr b="0" i="0" sz="1800" u="none" cap="none" strike="noStrike">
              <a:solidFill>
                <a:schemeClr val="dk1"/>
              </a:solidFill>
              <a:latin typeface="Calibri"/>
              <a:ea typeface="Calibri"/>
              <a:cs typeface="Calibri"/>
              <a:sym typeface="Calibri"/>
            </a:endParaRPr>
          </a:p>
        </p:txBody>
      </p:sp>
      <p:sp>
        <p:nvSpPr>
          <p:cNvPr id="276" name="Google Shape;276;p18"/>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Hodgkin &amp; Huxley (1952)</a:t>
            </a:r>
            <a:endParaRPr b="0" i="0" sz="1800" u="none" cap="none" strike="noStrike">
              <a:solidFill>
                <a:schemeClr val="dk1"/>
              </a:solidFill>
              <a:latin typeface="Calibri"/>
              <a:ea typeface="Calibri"/>
              <a:cs typeface="Calibri"/>
              <a:sym typeface="Calibri"/>
            </a:endParaRPr>
          </a:p>
        </p:txBody>
      </p:sp>
      <p:sp>
        <p:nvSpPr>
          <p:cNvPr id="277" name="Google Shape;277;p1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1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Voltage clamp separates imposed voltage from current</a:t>
            </a:r>
            <a:endParaRPr b="0" i="0" sz="1800" u="none" cap="none" strike="noStrike">
              <a:solidFill>
                <a:schemeClr val="dk1"/>
              </a:solidFill>
              <a:latin typeface="Calibri"/>
              <a:ea typeface="Calibri"/>
              <a:cs typeface="Calibri"/>
              <a:sym typeface="Calibri"/>
            </a:endParaRPr>
          </a:p>
        </p:txBody>
      </p:sp>
      <p:sp>
        <p:nvSpPr>
          <p:cNvPr id="283" name="Google Shape;283;p19"/>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 </a:t>
            </a:r>
            <a:r>
              <a:rPr b="1" i="0" lang="en-US" sz="1400" u="none" cap="none" strike="noStrike">
                <a:solidFill>
                  <a:srgbClr val="202329"/>
                </a:solidFill>
                <a:latin typeface="Arial"/>
                <a:ea typeface="Arial"/>
                <a:cs typeface="Arial"/>
                <a:sym typeface="Arial"/>
              </a:rPr>
              <a:t>voltage clamp</a:t>
            </a:r>
            <a:r>
              <a:rPr b="0" i="0" lang="en-US" sz="1400" u="none" cap="none" strike="noStrike">
                <a:solidFill>
                  <a:srgbClr val="202329"/>
                </a:solidFill>
                <a:latin typeface="Arial"/>
                <a:ea typeface="Arial"/>
                <a:cs typeface="Arial"/>
                <a:sym typeface="Arial"/>
              </a:rPr>
              <a:t> holds membrane voltage near an imposed value while measuring the current needed to maintain it. Hodgkin and Huxley compared recorded squid membrane currents with currents predicted from their separately characterized sodium, potassium, and leak conductances.</a:t>
            </a:r>
            <a:endParaRPr b="0" i="0" sz="1700" u="none" cap="none" strike="noStrike">
              <a:solidFill>
                <a:schemeClr val="dk1"/>
              </a:solidFill>
              <a:latin typeface="Calibri"/>
              <a:ea typeface="Calibri"/>
              <a:cs typeface="Calibri"/>
              <a:sym typeface="Calibri"/>
            </a:endParaRPr>
          </a:p>
        </p:txBody>
      </p:sp>
      <p:sp>
        <p:nvSpPr>
          <p:cNvPr id="284" name="Google Shape;284;p19"/>
          <p:cNvSpPr/>
          <p:nvPr/>
        </p:nvSpPr>
        <p:spPr>
          <a:xfrm>
            <a:off x="457200" y="275646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At 4°C, step changes in voltage produced characteristic current transients. The original figure places calculated traces beside recorded traces with current-density scales in µA/cm² and time in milliseconds, permitting comparison of magnitude and timing across voltage steps.</a:t>
            </a:r>
            <a:endParaRPr b="0" i="0" sz="1700" u="none" cap="none" strike="noStrike">
              <a:solidFill>
                <a:schemeClr val="dk1"/>
              </a:solidFill>
              <a:latin typeface="Calibri"/>
              <a:ea typeface="Calibri"/>
              <a:cs typeface="Calibri"/>
              <a:sym typeface="Calibri"/>
            </a:endParaRPr>
          </a:p>
        </p:txBody>
      </p:sp>
      <p:sp>
        <p:nvSpPr>
          <p:cNvPr id="285" name="Google Shape;285;p19"/>
          <p:cNvSpPr/>
          <p:nvPr/>
        </p:nvSpPr>
        <p:spPr>
          <a:xfrm>
            <a:off x="457200" y="445760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Agreement supports the adequacy of the combined conductance description for those records. The calculated curves are predictions of the published model, not additional experimental recordings. Their fit does not establish the physical identity of the molecular structures responsible for each conductance.</a:t>
            </a:r>
            <a:endParaRPr b="0" i="0" sz="1700" u="none" cap="none" strike="noStrike">
              <a:solidFill>
                <a:schemeClr val="dk1"/>
              </a:solidFill>
              <a:latin typeface="Calibri"/>
              <a:ea typeface="Calibri"/>
              <a:cs typeface="Calibri"/>
              <a:sym typeface="Calibri"/>
            </a:endParaRPr>
          </a:p>
        </p:txBody>
      </p:sp>
      <p:pic>
        <p:nvPicPr>
          <p:cNvPr id="286" name="Google Shape;286;p19"/>
          <p:cNvPicPr preferRelativeResize="0"/>
          <p:nvPr/>
        </p:nvPicPr>
        <p:blipFill rotWithShape="1">
          <a:blip r:embed="rId3">
            <a:alphaModFix/>
          </a:blip>
          <a:srcRect b="0" l="0" r="0" t="0"/>
          <a:stretch/>
        </p:blipFill>
        <p:spPr>
          <a:xfrm>
            <a:off x="7580678" y="1055340"/>
            <a:ext cx="3107594" cy="4000500"/>
          </a:xfrm>
          <a:prstGeom prst="rect">
            <a:avLst/>
          </a:prstGeom>
          <a:noFill/>
          <a:ln>
            <a:noFill/>
          </a:ln>
        </p:spPr>
      </p:pic>
      <p:sp>
        <p:nvSpPr>
          <p:cNvPr id="287" name="Google Shape;287;p1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Hodgkin &amp; Huxley (1952), Fig. 11. Calculated and recorded membrane currents during voltage clamp.</a:t>
            </a:r>
            <a:endParaRPr b="0" i="0" sz="1800" u="none" cap="none" strike="noStrike">
              <a:solidFill>
                <a:schemeClr val="dk1"/>
              </a:solidFill>
              <a:latin typeface="Calibri"/>
              <a:ea typeface="Calibri"/>
              <a:cs typeface="Calibri"/>
              <a:sym typeface="Calibri"/>
            </a:endParaRPr>
          </a:p>
        </p:txBody>
      </p:sp>
      <p:sp>
        <p:nvSpPr>
          <p:cNvPr id="288" name="Google Shape;288;p19"/>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Hodgkin &amp; Huxley (1952)</a:t>
            </a:r>
            <a:endParaRPr b="0" i="0" sz="1800" u="none" cap="none" strike="noStrike">
              <a:solidFill>
                <a:schemeClr val="dk1"/>
              </a:solidFill>
              <a:latin typeface="Calibri"/>
              <a:ea typeface="Calibri"/>
              <a:cs typeface="Calibri"/>
              <a:sym typeface="Calibri"/>
            </a:endParaRPr>
          </a:p>
        </p:txBody>
      </p:sp>
      <p:sp>
        <p:nvSpPr>
          <p:cNvPr id="289" name="Google Shape;289;p1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5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Clamping voltage breaks the loop between current and voltage</a:t>
            </a:r>
            <a:endParaRPr b="0" i="0" sz="1800" u="none" cap="none" strike="noStrike">
              <a:solidFill>
                <a:schemeClr val="dk1"/>
              </a:solidFill>
              <a:latin typeface="Calibri"/>
              <a:ea typeface="Calibri"/>
              <a:cs typeface="Calibri"/>
              <a:sym typeface="Calibri"/>
            </a:endParaRPr>
          </a:p>
        </p:txBody>
      </p:sp>
      <p:sp>
        <p:nvSpPr>
          <p:cNvPr id="295" name="Google Shape;295;p53"/>
          <p:cNvSpPr/>
          <p:nvPr/>
        </p:nvSpPr>
        <p:spPr>
          <a:xfrm>
            <a:off x="457200" y="1055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In a free membrane, voltage and ionic current drive each other: a voltage change alters conductances, the altered conductances change the current, and that current shifts the voltage again. Any single record is then a product of the whole loop, so the separate contribution of each conductance cannot be read from it.</a:t>
            </a:r>
            <a:endParaRPr b="0" i="0" sz="1700" u="none" cap="none" strike="noStrike">
              <a:solidFill>
                <a:schemeClr val="dk1"/>
              </a:solidFill>
              <a:latin typeface="Calibri"/>
              <a:ea typeface="Calibri"/>
              <a:cs typeface="Calibri"/>
              <a:sym typeface="Calibri"/>
            </a:endParaRPr>
          </a:p>
        </p:txBody>
      </p:sp>
      <p:sp>
        <p:nvSpPr>
          <p:cNvPr id="296" name="Google Shape;296;p53"/>
          <p:cNvSpPr/>
          <p:nvPr/>
        </p:nvSpPr>
        <p:spPr>
          <a:xfrm>
            <a:off x="457200" y="2897966"/>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a:t>
            </a:r>
            <a:r>
              <a:rPr b="1" i="0" lang="en-US" sz="1400" u="none" cap="none" strike="noStrike">
                <a:solidFill>
                  <a:srgbClr val="202329"/>
                </a:solidFill>
                <a:latin typeface="Arial"/>
                <a:ea typeface="Arial"/>
                <a:cs typeface="Arial"/>
                <a:sym typeface="Arial"/>
              </a:rPr>
              <a:t>voltage clamp</a:t>
            </a:r>
            <a:r>
              <a:rPr b="0" i="0" lang="en-US" sz="1400" u="none" cap="none" strike="noStrike">
                <a:solidFill>
                  <a:srgbClr val="202329"/>
                </a:solidFill>
                <a:latin typeface="Arial"/>
                <a:ea typeface="Arial"/>
                <a:cs typeface="Arial"/>
                <a:sym typeface="Arial"/>
              </a:rPr>
              <a:t> opens this loop. A feedback amplifier compares the membrane voltage with a command value and injects whatever current cancels the difference. Once a voltage step is complete, no further current is needed to charge the membrane capacitance, so the injected current equals the ionic current crossing the membrane.</a:t>
            </a:r>
            <a:endParaRPr b="0" i="0" sz="1700" u="none" cap="none" strike="noStrike">
              <a:solidFill>
                <a:schemeClr val="dk1"/>
              </a:solidFill>
              <a:latin typeface="Calibri"/>
              <a:ea typeface="Calibri"/>
              <a:cs typeface="Calibri"/>
              <a:sym typeface="Calibri"/>
            </a:endParaRPr>
          </a:p>
        </p:txBody>
      </p:sp>
      <p:sp>
        <p:nvSpPr>
          <p:cNvPr id="297" name="Google Shape;297;p53"/>
          <p:cNvSpPr/>
          <p:nvPr/>
        </p:nvSpPr>
        <p:spPr>
          <a:xfrm>
            <a:off x="457200" y="4740593"/>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Holding voltage fixed also fixes the electrical driving force on each ion. Any change in current over time at a constant voltage must then come from a change in conductance, which is how the time courses of sodium and potassium conductance were extracted from current records instead of assumed.</a:t>
            </a:r>
            <a:endParaRPr b="0" i="0" sz="1700" u="none" cap="none" strike="noStrike">
              <a:solidFill>
                <a:schemeClr val="dk1"/>
              </a:solidFill>
              <a:latin typeface="Calibri"/>
              <a:ea typeface="Calibri"/>
              <a:cs typeface="Calibri"/>
              <a:sym typeface="Calibri"/>
            </a:endParaRPr>
          </a:p>
        </p:txBody>
      </p:sp>
      <p:pic>
        <p:nvPicPr>
          <p:cNvPr id="298" name="Google Shape;298;p53"/>
          <p:cNvPicPr preferRelativeResize="0"/>
          <p:nvPr/>
        </p:nvPicPr>
        <p:blipFill rotWithShape="1">
          <a:blip r:embed="rId3">
            <a:alphaModFix/>
          </a:blip>
          <a:srcRect b="0" l="0" r="0" t="0"/>
          <a:stretch/>
        </p:blipFill>
        <p:spPr>
          <a:xfrm>
            <a:off x="6790962" y="1055340"/>
            <a:ext cx="4687026" cy="4000500"/>
          </a:xfrm>
          <a:prstGeom prst="rect">
            <a:avLst/>
          </a:prstGeom>
          <a:noFill/>
          <a:ln>
            <a:noFill/>
          </a:ln>
        </p:spPr>
      </p:pic>
      <p:sp>
        <p:nvSpPr>
          <p:cNvPr id="299" name="Google Shape;299;p5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Hodgkin &amp; Huxley (1952), Fig. 1. The authors’ equivalent circuit for membrane currents.</a:t>
            </a:r>
            <a:endParaRPr b="0" i="0" sz="1800" u="none" cap="none" strike="noStrike">
              <a:solidFill>
                <a:schemeClr val="dk1"/>
              </a:solidFill>
              <a:latin typeface="Calibri"/>
              <a:ea typeface="Calibri"/>
              <a:cs typeface="Calibri"/>
              <a:sym typeface="Calibri"/>
            </a:endParaRPr>
          </a:p>
        </p:txBody>
      </p:sp>
      <p:sp>
        <p:nvSpPr>
          <p:cNvPr id="300" name="Google Shape;300;p53"/>
          <p:cNvSpPr/>
          <p:nvPr/>
        </p:nvSpPr>
        <p:spPr>
          <a:xfrm>
            <a:off x="457200" y="6462713"/>
            <a:ext cx="162026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Hodgkin &amp; Huxley (1952)</a:t>
            </a:r>
            <a:endParaRPr b="0" i="0" sz="1800" u="none" cap="none" strike="noStrike">
              <a:solidFill>
                <a:schemeClr val="dk1"/>
              </a:solidFill>
              <a:latin typeface="Calibri"/>
              <a:ea typeface="Calibri"/>
              <a:cs typeface="Calibri"/>
              <a:sym typeface="Calibri"/>
            </a:endParaRPr>
          </a:p>
        </p:txBody>
      </p:sp>
      <p:sp>
        <p:nvSpPr>
          <p:cNvPr id="301" name="Google Shape;301;p53"/>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19a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2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Potassium conductance activates with a delay</a:t>
            </a:r>
            <a:endParaRPr b="0" i="0" sz="1800" u="none" cap="none" strike="noStrike">
              <a:solidFill>
                <a:schemeClr val="dk1"/>
              </a:solidFill>
              <a:latin typeface="Calibri"/>
              <a:ea typeface="Calibri"/>
              <a:cs typeface="Calibri"/>
              <a:sym typeface="Calibri"/>
            </a:endParaRPr>
          </a:p>
        </p:txBody>
      </p:sp>
      <p:sp>
        <p:nvSpPr>
          <p:cNvPr id="307" name="Google Shape;307;p20"/>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400" u="none" cap="none" strike="noStrike">
                <a:solidFill>
                  <a:srgbClr val="202329"/>
                </a:solidFill>
                <a:latin typeface="Arial"/>
                <a:ea typeface="Arial"/>
                <a:cs typeface="Arial"/>
                <a:sym typeface="Arial"/>
              </a:rPr>
              <a:t>Depolarization</a:t>
            </a:r>
            <a:r>
              <a:rPr b="0" i="0" lang="en-US" sz="1400" u="none" cap="none" strike="noStrike">
                <a:solidFill>
                  <a:srgbClr val="202329"/>
                </a:solidFill>
                <a:latin typeface="Arial"/>
                <a:ea typeface="Arial"/>
                <a:cs typeface="Arial"/>
                <a:sym typeface="Arial"/>
              </a:rPr>
              <a:t> is a change that reduces the membrane’s resting electrical separation; </a:t>
            </a:r>
            <a:r>
              <a:rPr b="1" i="0" lang="en-US" sz="1400" u="none" cap="none" strike="noStrike">
                <a:solidFill>
                  <a:srgbClr val="202329"/>
                </a:solidFill>
                <a:latin typeface="Arial"/>
                <a:ea typeface="Arial"/>
                <a:cs typeface="Arial"/>
                <a:sym typeface="Arial"/>
              </a:rPr>
              <a:t>repolarization</a:t>
            </a:r>
            <a:r>
              <a:rPr b="0" i="0" lang="en-US" sz="1400" u="none" cap="none" strike="noStrike">
                <a:solidFill>
                  <a:srgbClr val="202329"/>
                </a:solidFill>
                <a:latin typeface="Arial"/>
                <a:ea typeface="Arial"/>
                <a:cs typeface="Arial"/>
                <a:sym typeface="Arial"/>
              </a:rPr>
              <a:t> returns it toward the resting state. Hodgkin and Huxley measured potassium conductance during a 25 mV depolarization and after voltage returned to rest.</a:t>
            </a:r>
            <a:endParaRPr b="0" i="0" sz="1700" u="none" cap="none" strike="noStrike">
              <a:solidFill>
                <a:schemeClr val="dk1"/>
              </a:solidFill>
              <a:latin typeface="Calibri"/>
              <a:ea typeface="Calibri"/>
              <a:cs typeface="Calibri"/>
              <a:sym typeface="Calibri"/>
            </a:endParaRPr>
          </a:p>
        </p:txBody>
      </p:sp>
      <p:sp>
        <p:nvSpPr>
          <p:cNvPr id="308" name="Google Shape;308;p20"/>
          <p:cNvSpPr/>
          <p:nvPr/>
        </p:nvSpPr>
        <p:spPr>
          <a:xfrm>
            <a:off x="457200" y="2616261"/>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At 21°C in choline seawater, conductance rose after a delay and then declined after repolarization. The rise and fall had different temporal forms, rather than behaving as an instantaneous resistance controlled only by the present voltage.</a:t>
            </a:r>
            <a:endParaRPr b="0" i="0" sz="1700" u="none" cap="none" strike="noStrike">
              <a:solidFill>
                <a:schemeClr val="dk1"/>
              </a:solidFill>
              <a:latin typeface="Calibri"/>
              <a:ea typeface="Calibri"/>
              <a:cs typeface="Calibri"/>
              <a:sym typeface="Calibri"/>
            </a:endParaRPr>
          </a:p>
        </p:txBody>
      </p:sp>
      <p:sp>
        <p:nvSpPr>
          <p:cNvPr id="309" name="Google Shape;309;p20"/>
          <p:cNvSpPr/>
          <p:nvPr/>
        </p:nvSpPr>
        <p:spPr>
          <a:xfrm>
            <a:off x="457200" y="427195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This history dependence requires a description of the membrane’s evolving state. The authors used voltage-dependent rate processes to reproduce it. The recorded conductance establishes kinetics of the potassium-carrying system, but the fitted state variable was not a direct observation of molecular channel gates.</a:t>
            </a:r>
            <a:endParaRPr b="0" i="0" sz="1700" u="none" cap="none" strike="noStrike">
              <a:solidFill>
                <a:schemeClr val="dk1"/>
              </a:solidFill>
              <a:latin typeface="Calibri"/>
              <a:ea typeface="Calibri"/>
              <a:cs typeface="Calibri"/>
              <a:sym typeface="Calibri"/>
            </a:endParaRPr>
          </a:p>
        </p:txBody>
      </p:sp>
      <p:pic>
        <p:nvPicPr>
          <p:cNvPr id="310" name="Google Shape;310;p20"/>
          <p:cNvPicPr preferRelativeResize="0"/>
          <p:nvPr/>
        </p:nvPicPr>
        <p:blipFill rotWithShape="1">
          <a:blip r:embed="rId3">
            <a:alphaModFix/>
          </a:blip>
          <a:srcRect b="0" l="0" r="0" t="0"/>
          <a:stretch/>
        </p:blipFill>
        <p:spPr>
          <a:xfrm>
            <a:off x="6610350" y="1913724"/>
            <a:ext cx="5048250" cy="2283732"/>
          </a:xfrm>
          <a:prstGeom prst="rect">
            <a:avLst/>
          </a:prstGeom>
          <a:noFill/>
          <a:ln>
            <a:noFill/>
          </a:ln>
        </p:spPr>
      </p:pic>
      <p:sp>
        <p:nvSpPr>
          <p:cNvPr id="311" name="Google Shape;311;p2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Hodgkin &amp; Huxley (1952), Fig. 2(a–b). Potassium conductance during depolarization and repolarization.</a:t>
            </a:r>
            <a:endParaRPr b="0" i="0" sz="1800" u="none" cap="none" strike="noStrike">
              <a:solidFill>
                <a:schemeClr val="dk1"/>
              </a:solidFill>
              <a:latin typeface="Calibri"/>
              <a:ea typeface="Calibri"/>
              <a:cs typeface="Calibri"/>
              <a:sym typeface="Calibri"/>
            </a:endParaRPr>
          </a:p>
        </p:txBody>
      </p:sp>
      <p:sp>
        <p:nvSpPr>
          <p:cNvPr id="312" name="Google Shape;312;p20"/>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Hodgkin &amp; Huxley (1952)</a:t>
            </a:r>
            <a:endParaRPr b="0" i="0" sz="1800" u="none" cap="none" strike="noStrike">
              <a:solidFill>
                <a:schemeClr val="dk1"/>
              </a:solidFill>
              <a:latin typeface="Calibri"/>
              <a:ea typeface="Calibri"/>
              <a:cs typeface="Calibri"/>
              <a:sym typeface="Calibri"/>
            </a:endParaRPr>
          </a:p>
        </p:txBody>
      </p:sp>
      <p:sp>
        <p:nvSpPr>
          <p:cNvPr id="313" name="Google Shape;313;p2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5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Ion gradients make sodium current inward and potassium outward</a:t>
            </a:r>
            <a:endParaRPr b="0" i="0" sz="1800" u="none" cap="none" strike="noStrike">
              <a:solidFill>
                <a:schemeClr val="dk1"/>
              </a:solidFill>
              <a:latin typeface="Calibri"/>
              <a:ea typeface="Calibri"/>
              <a:cs typeface="Calibri"/>
              <a:sym typeface="Calibri"/>
            </a:endParaRPr>
          </a:p>
        </p:txBody>
      </p:sp>
      <p:sp>
        <p:nvSpPr>
          <p:cNvPr id="319" name="Google Shape;319;p54"/>
          <p:cNvSpPr/>
          <p:nvPr/>
        </p:nvSpPr>
        <p:spPr>
          <a:xfrm>
            <a:off x="457200" y="1055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Ions cross an open pathway down their </a:t>
            </a:r>
            <a:r>
              <a:rPr b="1" i="0" lang="en-US" sz="1400" u="none" cap="none" strike="noStrike">
                <a:solidFill>
                  <a:srgbClr val="202329"/>
                </a:solidFill>
                <a:latin typeface="Arial"/>
                <a:ea typeface="Arial"/>
                <a:cs typeface="Arial"/>
                <a:sym typeface="Arial"/>
              </a:rPr>
              <a:t>electrochemical gradient</a:t>
            </a:r>
            <a:r>
              <a:rPr b="0" i="0" lang="en-US" sz="1400" u="none" cap="none" strike="noStrike">
                <a:solidFill>
                  <a:srgbClr val="202329"/>
                </a:solidFill>
                <a:latin typeface="Arial"/>
                <a:ea typeface="Arial"/>
                <a:cs typeface="Arial"/>
                <a:sym typeface="Arial"/>
              </a:rPr>
              <a:t>, the combined push of concentration difference and voltage. Sodium is more concentrated outside the axon and potassium inside, so at the resting voltage sodium flows inward and depolarizes, whereas potassium flows outward and drives the membrane toward a more negative potential.</a:t>
            </a:r>
            <a:endParaRPr b="0" i="0" sz="1700" u="none" cap="none" strike="noStrike">
              <a:solidFill>
                <a:schemeClr val="dk1"/>
              </a:solidFill>
              <a:latin typeface="Calibri"/>
              <a:ea typeface="Calibri"/>
              <a:cs typeface="Calibri"/>
              <a:sym typeface="Calibri"/>
            </a:endParaRPr>
          </a:p>
        </p:txBody>
      </p:sp>
      <p:sp>
        <p:nvSpPr>
          <p:cNvPr id="320" name="Google Shape;320;p54"/>
          <p:cNvSpPr/>
          <p:nvPr/>
        </p:nvSpPr>
        <p:spPr>
          <a:xfrm>
            <a:off x="457200" y="2897966"/>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Each ion has an </a:t>
            </a:r>
            <a:r>
              <a:rPr b="1" i="0" lang="en-US" sz="1400" u="none" cap="none" strike="noStrike">
                <a:solidFill>
                  <a:srgbClr val="202329"/>
                </a:solidFill>
                <a:latin typeface="Arial"/>
                <a:ea typeface="Arial"/>
                <a:cs typeface="Arial"/>
                <a:sym typeface="Arial"/>
              </a:rPr>
              <a:t>equilibrium potential</a:t>
            </a:r>
            <a:r>
              <a:rPr b="0" i="0" lang="en-US" sz="1400" u="none" cap="none" strike="noStrike">
                <a:solidFill>
                  <a:srgbClr val="202329"/>
                </a:solidFill>
                <a:latin typeface="Arial"/>
                <a:ea typeface="Arial"/>
                <a:cs typeface="Arial"/>
                <a:sym typeface="Arial"/>
              </a:rPr>
              <a:t>, the voltage at which its electrical and concentration forces balance and net flow stops. The </a:t>
            </a:r>
            <a:r>
              <a:rPr b="1" i="0" lang="en-US" sz="1400" u="none" cap="none" strike="noStrike">
                <a:solidFill>
                  <a:srgbClr val="202329"/>
                </a:solidFill>
                <a:latin typeface="Arial"/>
                <a:ea typeface="Arial"/>
                <a:cs typeface="Arial"/>
                <a:sym typeface="Arial"/>
              </a:rPr>
              <a:t>driving force</a:t>
            </a:r>
            <a:r>
              <a:rPr b="0" i="0" lang="en-US" sz="1400" u="none" cap="none" strike="noStrike">
                <a:solidFill>
                  <a:srgbClr val="202329"/>
                </a:solidFill>
                <a:latin typeface="Arial"/>
                <a:ea typeface="Arial"/>
                <a:cs typeface="Arial"/>
                <a:sym typeface="Arial"/>
              </a:rPr>
              <a:t> is the distance between the membrane voltage and that value, and the current through a conductance grows with both the conductance and the driving force.</a:t>
            </a:r>
            <a:endParaRPr b="0" i="0" sz="1700" u="none" cap="none" strike="noStrike">
              <a:solidFill>
                <a:schemeClr val="dk1"/>
              </a:solidFill>
              <a:latin typeface="Calibri"/>
              <a:ea typeface="Calibri"/>
              <a:cs typeface="Calibri"/>
              <a:sym typeface="Calibri"/>
            </a:endParaRPr>
          </a:p>
        </p:txBody>
      </p:sp>
      <p:sp>
        <p:nvSpPr>
          <p:cNvPr id="321" name="Google Shape;321;p54"/>
          <p:cNvSpPr/>
          <p:nvPr/>
        </p:nvSpPr>
        <p:spPr>
          <a:xfrm>
            <a:off x="457200" y="4740593"/>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Replacing external sodium with choline, a cation that does not pass through the sodium pathway, removes the inward sodium current while leaving the potassium gradient intact. The current that remains during a step is then carried mainly by potassium, so the delayed potassium conductance can be measured on its own.</a:t>
            </a:r>
            <a:endParaRPr b="0" i="0" sz="1700" u="none" cap="none" strike="noStrike">
              <a:solidFill>
                <a:schemeClr val="dk1"/>
              </a:solidFill>
              <a:latin typeface="Calibri"/>
              <a:ea typeface="Calibri"/>
              <a:cs typeface="Calibri"/>
              <a:sym typeface="Calibri"/>
            </a:endParaRPr>
          </a:p>
        </p:txBody>
      </p:sp>
      <p:pic>
        <p:nvPicPr>
          <p:cNvPr id="322" name="Google Shape;322;p54"/>
          <p:cNvPicPr preferRelativeResize="0"/>
          <p:nvPr/>
        </p:nvPicPr>
        <p:blipFill rotWithShape="1">
          <a:blip r:embed="rId3">
            <a:alphaModFix/>
          </a:blip>
          <a:srcRect b="0" l="0" r="0" t="0"/>
          <a:stretch/>
        </p:blipFill>
        <p:spPr>
          <a:xfrm>
            <a:off x="6610350" y="1913724"/>
            <a:ext cx="5048250" cy="2283732"/>
          </a:xfrm>
          <a:prstGeom prst="rect">
            <a:avLst/>
          </a:prstGeom>
          <a:noFill/>
          <a:ln>
            <a:noFill/>
          </a:ln>
        </p:spPr>
      </p:pic>
      <p:sp>
        <p:nvSpPr>
          <p:cNvPr id="323" name="Google Shape;323;p5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Hodgkin &amp; Huxley (1952), Fig. 2(a–b). Potassium conductance during depolarization and repolarization.</a:t>
            </a:r>
            <a:endParaRPr b="0" i="0" sz="1800" u="none" cap="none" strike="noStrike">
              <a:solidFill>
                <a:schemeClr val="dk1"/>
              </a:solidFill>
              <a:latin typeface="Calibri"/>
              <a:ea typeface="Calibri"/>
              <a:cs typeface="Calibri"/>
              <a:sym typeface="Calibri"/>
            </a:endParaRPr>
          </a:p>
        </p:txBody>
      </p:sp>
      <p:sp>
        <p:nvSpPr>
          <p:cNvPr id="324" name="Google Shape;324;p54"/>
          <p:cNvSpPr/>
          <p:nvPr/>
        </p:nvSpPr>
        <p:spPr>
          <a:xfrm>
            <a:off x="457200" y="6462713"/>
            <a:ext cx="162026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Hodgkin &amp; Huxley (1952)</a:t>
            </a:r>
            <a:endParaRPr b="0" i="0" sz="1800" u="none" cap="none" strike="noStrike">
              <a:solidFill>
                <a:schemeClr val="dk1"/>
              </a:solidFill>
              <a:latin typeface="Calibri"/>
              <a:ea typeface="Calibri"/>
              <a:cs typeface="Calibri"/>
              <a:sym typeface="Calibri"/>
            </a:endParaRPr>
          </a:p>
        </p:txBody>
      </p:sp>
      <p:sp>
        <p:nvSpPr>
          <p:cNvPr id="325" name="Google Shape;325;p54"/>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20a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2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Voltage changes the size and timing of conductance</a:t>
            </a:r>
            <a:endParaRPr b="0" i="0" sz="1800" u="none" cap="none" strike="noStrike">
              <a:solidFill>
                <a:schemeClr val="dk1"/>
              </a:solidFill>
              <a:latin typeface="Calibri"/>
              <a:ea typeface="Calibri"/>
              <a:cs typeface="Calibri"/>
              <a:sym typeface="Calibri"/>
            </a:endParaRPr>
          </a:p>
        </p:txBody>
      </p:sp>
      <p:sp>
        <p:nvSpPr>
          <p:cNvPr id="331" name="Google Shape;331;p21"/>
          <p:cNvSpPr/>
          <p:nvPr/>
        </p:nvSpPr>
        <p:spPr>
          <a:xfrm>
            <a:off x="457200" y="118110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400" u="none" cap="none" strike="noStrike">
                <a:solidFill>
                  <a:srgbClr val="202329"/>
                </a:solidFill>
                <a:latin typeface="Arial"/>
                <a:ea typeface="Arial"/>
                <a:cs typeface="Arial"/>
                <a:sym typeface="Arial"/>
              </a:rPr>
              <a:t>Voltage dependence</a:t>
            </a:r>
            <a:r>
              <a:rPr b="0" i="0" lang="en-US" sz="1400" u="none" cap="none" strike="noStrike">
                <a:solidFill>
                  <a:srgbClr val="202329"/>
                </a:solidFill>
                <a:latin typeface="Arial"/>
                <a:ea typeface="Arial"/>
                <a:cs typeface="Arial"/>
                <a:sym typeface="Arial"/>
              </a:rPr>
              <a:t> means that changing membrane potential changes the behavior of a membrane process. Hodgkin and Huxley compared potassium conductance during imposed depolarizations spanning 6 to 109 mV in one squid axon at approximately 6–7°C.</a:t>
            </a:r>
            <a:endParaRPr b="0" i="0" sz="1700" u="none" cap="none" strike="noStrike">
              <a:solidFill>
                <a:schemeClr val="dk1"/>
              </a:solidFill>
              <a:latin typeface="Calibri"/>
              <a:ea typeface="Calibri"/>
              <a:cs typeface="Calibri"/>
              <a:sym typeface="Calibri"/>
            </a:endParaRPr>
          </a:p>
        </p:txBody>
      </p:sp>
      <p:sp>
        <p:nvSpPr>
          <p:cNvPr id="332" name="Google Shape;332;p21"/>
          <p:cNvSpPr/>
          <p:nvPr/>
        </p:nvSpPr>
        <p:spPr>
          <a:xfrm>
            <a:off x="457200" y="262890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Larger depolarizations produced larger conductance changes with different activation time courses. Experimental points were compared with curves calculated from a common kinetic description, rather than fitting each trace with an unrelated arbitrary shape.</a:t>
            </a:r>
            <a:endParaRPr b="0" i="0" sz="1700" u="none" cap="none" strike="noStrike">
              <a:solidFill>
                <a:schemeClr val="dk1"/>
              </a:solidFill>
              <a:latin typeface="Calibri"/>
              <a:ea typeface="Calibri"/>
              <a:cs typeface="Calibri"/>
              <a:sym typeface="Calibri"/>
            </a:endParaRPr>
          </a:p>
        </p:txBody>
      </p:sp>
      <p:sp>
        <p:nvSpPr>
          <p:cNvPr id="333" name="Google Shape;333;p21"/>
          <p:cNvSpPr/>
          <p:nvPr/>
        </p:nvSpPr>
        <p:spPr>
          <a:xfrm>
            <a:off x="457200" y="407670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agreement supports a state-dependent potassium process governed by voltage. It does not mean that these large voltage steps occur unchanged during natural behavior, or that potassium current alone explains an action potential. Sodium current and the changing membrane voltage must also be considered.</a:t>
            </a:r>
            <a:endParaRPr b="0" i="0" sz="1700" u="none" cap="none" strike="noStrike">
              <a:solidFill>
                <a:schemeClr val="dk1"/>
              </a:solidFill>
              <a:latin typeface="Calibri"/>
              <a:ea typeface="Calibri"/>
              <a:cs typeface="Calibri"/>
              <a:sym typeface="Calibri"/>
            </a:endParaRPr>
          </a:p>
        </p:txBody>
      </p:sp>
      <p:pic>
        <p:nvPicPr>
          <p:cNvPr id="334" name="Google Shape;334;p21"/>
          <p:cNvPicPr preferRelativeResize="0"/>
          <p:nvPr/>
        </p:nvPicPr>
        <p:blipFill rotWithShape="1">
          <a:blip r:embed="rId3">
            <a:alphaModFix/>
          </a:blip>
          <a:srcRect b="0" l="0" r="0" t="0"/>
          <a:stretch/>
        </p:blipFill>
        <p:spPr>
          <a:xfrm>
            <a:off x="7549677" y="1055340"/>
            <a:ext cx="3169596" cy="4000500"/>
          </a:xfrm>
          <a:prstGeom prst="rect">
            <a:avLst/>
          </a:prstGeom>
          <a:noFill/>
          <a:ln>
            <a:noFill/>
          </a:ln>
        </p:spPr>
      </p:pic>
      <p:sp>
        <p:nvSpPr>
          <p:cNvPr id="335" name="Google Shape;335;p2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Hodgkin &amp; Huxley (1952), Fig. 3(A–L). Potassium conductance at different imposed depolarizations.</a:t>
            </a:r>
            <a:endParaRPr b="0" i="0" sz="1800" u="none" cap="none" strike="noStrike">
              <a:solidFill>
                <a:schemeClr val="dk1"/>
              </a:solidFill>
              <a:latin typeface="Calibri"/>
              <a:ea typeface="Calibri"/>
              <a:cs typeface="Calibri"/>
              <a:sym typeface="Calibri"/>
            </a:endParaRPr>
          </a:p>
        </p:txBody>
      </p:sp>
      <p:sp>
        <p:nvSpPr>
          <p:cNvPr id="336" name="Google Shape;336;p21"/>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Hodgkin &amp; Huxley (1952)</a:t>
            </a:r>
            <a:endParaRPr b="0" i="0" sz="1800" u="none" cap="none" strike="noStrike">
              <a:solidFill>
                <a:schemeClr val="dk1"/>
              </a:solidFill>
              <a:latin typeface="Calibri"/>
              <a:ea typeface="Calibri"/>
              <a:cs typeface="Calibri"/>
              <a:sym typeface="Calibri"/>
            </a:endParaRPr>
          </a:p>
        </p:txBody>
      </p:sp>
      <p:sp>
        <p:nvSpPr>
          <p:cNvPr id="337" name="Google Shape;337;p2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sp>
        <p:nvSpPr>
          <p:cNvPr id="342" name="Google Shape;342;p2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Sodium conductance activates and then inactivates</a:t>
            </a:r>
            <a:endParaRPr b="0" i="0" sz="1800" u="none" cap="none" strike="noStrike">
              <a:solidFill>
                <a:schemeClr val="dk1"/>
              </a:solidFill>
              <a:latin typeface="Calibri"/>
              <a:ea typeface="Calibri"/>
              <a:cs typeface="Calibri"/>
              <a:sym typeface="Calibri"/>
            </a:endParaRPr>
          </a:p>
        </p:txBody>
      </p:sp>
      <p:sp>
        <p:nvSpPr>
          <p:cNvPr id="343" name="Google Shape;343;p22"/>
          <p:cNvSpPr/>
          <p:nvPr/>
        </p:nvSpPr>
        <p:spPr>
          <a:xfrm>
            <a:off x="457200" y="138731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400" u="none" cap="none" strike="noStrike">
                <a:solidFill>
                  <a:srgbClr val="202329"/>
                </a:solidFill>
                <a:latin typeface="Arial"/>
                <a:ea typeface="Arial"/>
                <a:cs typeface="Arial"/>
                <a:sym typeface="Arial"/>
              </a:rPr>
              <a:t>Inactivation</a:t>
            </a:r>
            <a:r>
              <a:rPr b="0" i="0" lang="en-US" sz="1400" u="none" cap="none" strike="noStrike">
                <a:solidFill>
                  <a:srgbClr val="202329"/>
                </a:solidFill>
                <a:latin typeface="Arial"/>
                <a:ea typeface="Arial"/>
                <a:cs typeface="Arial"/>
                <a:sym typeface="Arial"/>
              </a:rPr>
              <a:t> is a decline in a conductance despite continued conditions that initially activated it. Hodgkin and Huxley estimated sodium conductance during maintained depolarization and found a rapid rise followed by a decline, unlike the sustained rise of potassium conductance.</a:t>
            </a:r>
            <a:endParaRPr b="0" i="0" sz="1700" u="none" cap="none" strike="noStrike">
              <a:solidFill>
                <a:schemeClr val="dk1"/>
              </a:solidFill>
              <a:latin typeface="Calibri"/>
              <a:ea typeface="Calibri"/>
              <a:cs typeface="Calibri"/>
              <a:sym typeface="Calibri"/>
            </a:endParaRPr>
          </a:p>
        </p:txBody>
      </p:sp>
      <p:sp>
        <p:nvSpPr>
          <p:cNvPr id="344" name="Google Shape;344;p22"/>
          <p:cNvSpPr/>
          <p:nvPr/>
        </p:nvSpPr>
        <p:spPr>
          <a:xfrm>
            <a:off x="457200" y="283511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Their records from a squid axon at approximately 6–7°C spanned depolarizations from 6 to 109 mV. The conductance transients changed systematically with voltage, and the calculated curves combined an activation process with a slower inactivation process.</a:t>
            </a:r>
            <a:endParaRPr b="0" i="0" sz="1700" u="none" cap="none" strike="noStrike">
              <a:solidFill>
                <a:schemeClr val="dk1"/>
              </a:solidFill>
              <a:latin typeface="Calibri"/>
              <a:ea typeface="Calibri"/>
              <a:cs typeface="Calibri"/>
              <a:sym typeface="Calibri"/>
            </a:endParaRPr>
          </a:p>
        </p:txBody>
      </p:sp>
      <p:sp>
        <p:nvSpPr>
          <p:cNvPr id="345" name="Google Shape;345;p22"/>
          <p:cNvSpPr/>
          <p:nvPr/>
        </p:nvSpPr>
        <p:spPr>
          <a:xfrm>
            <a:off x="457200" y="4282915"/>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distinction explains why a depolarizing sodium contribution can be brief even when voltage remains displaced. These are inferred kinetic processes of the sodium-carrying system, rather than measurements of protein structure. The experiment separates transient availability from simple dependence on voltage alone.</a:t>
            </a:r>
            <a:endParaRPr b="0" i="0" sz="1700" u="none" cap="none" strike="noStrike">
              <a:solidFill>
                <a:schemeClr val="dk1"/>
              </a:solidFill>
              <a:latin typeface="Calibri"/>
              <a:ea typeface="Calibri"/>
              <a:cs typeface="Calibri"/>
              <a:sym typeface="Calibri"/>
            </a:endParaRPr>
          </a:p>
        </p:txBody>
      </p:sp>
      <p:pic>
        <p:nvPicPr>
          <p:cNvPr id="346" name="Google Shape;346;p22"/>
          <p:cNvPicPr preferRelativeResize="0"/>
          <p:nvPr/>
        </p:nvPicPr>
        <p:blipFill rotWithShape="1">
          <a:blip r:embed="rId3">
            <a:alphaModFix/>
          </a:blip>
          <a:srcRect b="0" l="0" r="0" t="0"/>
          <a:stretch/>
        </p:blipFill>
        <p:spPr>
          <a:xfrm>
            <a:off x="7410664" y="1055340"/>
            <a:ext cx="3447622" cy="4000500"/>
          </a:xfrm>
          <a:prstGeom prst="rect">
            <a:avLst/>
          </a:prstGeom>
          <a:noFill/>
          <a:ln>
            <a:noFill/>
          </a:ln>
        </p:spPr>
      </p:pic>
      <p:sp>
        <p:nvSpPr>
          <p:cNvPr id="347" name="Google Shape;347;p2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Hodgkin &amp; Huxley (1952), Fig. 6(A–L). Transient sodium conductance across depolarization levels.</a:t>
            </a:r>
            <a:endParaRPr b="0" i="0" sz="1800" u="none" cap="none" strike="noStrike">
              <a:solidFill>
                <a:schemeClr val="dk1"/>
              </a:solidFill>
              <a:latin typeface="Calibri"/>
              <a:ea typeface="Calibri"/>
              <a:cs typeface="Calibri"/>
              <a:sym typeface="Calibri"/>
            </a:endParaRPr>
          </a:p>
        </p:txBody>
      </p:sp>
      <p:sp>
        <p:nvSpPr>
          <p:cNvPr id="348" name="Google Shape;348;p22"/>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Hodgkin &amp; Huxley (1952)</a:t>
            </a:r>
            <a:endParaRPr b="0" i="0" sz="1800" u="none" cap="none" strike="noStrike">
              <a:solidFill>
                <a:schemeClr val="dk1"/>
              </a:solidFill>
              <a:latin typeface="Calibri"/>
              <a:ea typeface="Calibri"/>
              <a:cs typeface="Calibri"/>
              <a:sym typeface="Calibri"/>
            </a:endParaRPr>
          </a:p>
        </p:txBody>
      </p:sp>
      <p:sp>
        <p:nvSpPr>
          <p:cNvPr id="349" name="Google Shape;349;p2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2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Combined ionic kinetics reproduce spike generation</a:t>
            </a:r>
            <a:endParaRPr b="0" i="0" sz="1800" u="none" cap="none" strike="noStrike">
              <a:solidFill>
                <a:schemeClr val="dk1"/>
              </a:solidFill>
              <a:latin typeface="Calibri"/>
              <a:ea typeface="Calibri"/>
              <a:cs typeface="Calibri"/>
              <a:sym typeface="Calibri"/>
            </a:endParaRPr>
          </a:p>
        </p:txBody>
      </p:sp>
      <p:sp>
        <p:nvSpPr>
          <p:cNvPr id="355" name="Google Shape;355;p23"/>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An </a:t>
            </a:r>
            <a:r>
              <a:rPr b="1" i="0" lang="en-US" sz="1400" u="none" cap="none" strike="noStrike">
                <a:solidFill>
                  <a:srgbClr val="202329"/>
                </a:solidFill>
                <a:latin typeface="Arial"/>
                <a:ea typeface="Arial"/>
                <a:cs typeface="Arial"/>
                <a:sym typeface="Arial"/>
              </a:rPr>
              <a:t>action potential</a:t>
            </a:r>
            <a:r>
              <a:rPr b="0" i="0" lang="en-US" sz="1400" u="none" cap="none" strike="noStrike">
                <a:solidFill>
                  <a:srgbClr val="202329"/>
                </a:solidFill>
                <a:latin typeface="Arial"/>
                <a:ea typeface="Arial"/>
                <a:cs typeface="Arial"/>
                <a:sym typeface="Arial"/>
              </a:rPr>
              <a:t> is a transient, regenerative change in membrane voltage. Hodgkin and Huxley combined measured ionic kinetics with membrane capacitance to calculate responses to brief stimuli, then compared those responses with squid membrane recordings.</a:t>
            </a:r>
            <a:endParaRPr b="0" i="0" sz="1700" u="none" cap="none" strike="noStrike">
              <a:solidFill>
                <a:schemeClr val="dk1"/>
              </a:solidFill>
              <a:latin typeface="Calibri"/>
              <a:ea typeface="Calibri"/>
              <a:cs typeface="Calibri"/>
              <a:sym typeface="Calibri"/>
            </a:endParaRPr>
          </a:p>
        </p:txBody>
      </p:sp>
      <p:sp>
        <p:nvSpPr>
          <p:cNvPr id="356" name="Google Shape;356;p23"/>
          <p:cNvSpPr/>
          <p:nvPr/>
        </p:nvSpPr>
        <p:spPr>
          <a:xfrm>
            <a:off x="457200" y="252219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At 6°C, initial depolarizations of 6 and 7 mV produced different calculated outcomes near threshold, while larger stimuli generated full spikes. Above threshold, different initiating stimuli converged on similar spike trajectories after differing delays.</a:t>
            </a:r>
            <a:endParaRPr b="0" i="0" sz="1700" u="none" cap="none" strike="noStrike">
              <a:solidFill>
                <a:schemeClr val="dk1"/>
              </a:solidFill>
              <a:latin typeface="Calibri"/>
              <a:ea typeface="Calibri"/>
              <a:cs typeface="Calibri"/>
              <a:sym typeface="Calibri"/>
            </a:endParaRPr>
          </a:p>
        </p:txBody>
      </p:sp>
      <p:sp>
        <p:nvSpPr>
          <p:cNvPr id="357" name="Google Shape;357;p23"/>
          <p:cNvSpPr/>
          <p:nvPr/>
        </p:nvSpPr>
        <p:spPr>
          <a:xfrm>
            <a:off x="457200" y="4225765"/>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result connects small differences in initial state to a qualitatively different electrical response. It supports a regenerative mechanism involving sodium activation and subsequent opposing processes. It does not imply that every neuron has the same threshold or the same complement of ionic currents.</a:t>
            </a:r>
            <a:endParaRPr b="0" i="0" sz="1700" u="none" cap="none" strike="noStrike">
              <a:solidFill>
                <a:schemeClr val="dk1"/>
              </a:solidFill>
              <a:latin typeface="Calibri"/>
              <a:ea typeface="Calibri"/>
              <a:cs typeface="Calibri"/>
              <a:sym typeface="Calibri"/>
            </a:endParaRPr>
          </a:p>
        </p:txBody>
      </p:sp>
      <p:pic>
        <p:nvPicPr>
          <p:cNvPr id="358" name="Google Shape;358;p23"/>
          <p:cNvPicPr preferRelativeResize="0"/>
          <p:nvPr/>
        </p:nvPicPr>
        <p:blipFill rotWithShape="1">
          <a:blip r:embed="rId3">
            <a:alphaModFix/>
          </a:blip>
          <a:srcRect b="0" l="0" r="0" t="0"/>
          <a:stretch/>
        </p:blipFill>
        <p:spPr>
          <a:xfrm>
            <a:off x="6687686" y="1055340"/>
            <a:ext cx="4893578" cy="4000500"/>
          </a:xfrm>
          <a:prstGeom prst="rect">
            <a:avLst/>
          </a:prstGeom>
          <a:noFill/>
          <a:ln>
            <a:noFill/>
          </a:ln>
        </p:spPr>
      </p:pic>
      <p:sp>
        <p:nvSpPr>
          <p:cNvPr id="359" name="Google Shape;359;p2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Hodgkin &amp; Huxley (1952), Fig. 12. Calculated and recorded responses to different brief stimuli.</a:t>
            </a:r>
            <a:endParaRPr b="0" i="0" sz="1800" u="none" cap="none" strike="noStrike">
              <a:solidFill>
                <a:schemeClr val="dk1"/>
              </a:solidFill>
              <a:latin typeface="Calibri"/>
              <a:ea typeface="Calibri"/>
              <a:cs typeface="Calibri"/>
              <a:sym typeface="Calibri"/>
            </a:endParaRPr>
          </a:p>
        </p:txBody>
      </p:sp>
      <p:sp>
        <p:nvSpPr>
          <p:cNvPr id="360" name="Google Shape;360;p23"/>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Hodgkin &amp; Huxley (1952)</a:t>
            </a:r>
            <a:endParaRPr b="0" i="0" sz="1800" u="none" cap="none" strike="noStrike">
              <a:solidFill>
                <a:schemeClr val="dk1"/>
              </a:solidFill>
              <a:latin typeface="Calibri"/>
              <a:ea typeface="Calibri"/>
              <a:cs typeface="Calibri"/>
              <a:sym typeface="Calibri"/>
            </a:endParaRPr>
          </a:p>
        </p:txBody>
      </p:sp>
      <p:sp>
        <p:nvSpPr>
          <p:cNvPr id="361" name="Google Shape;361;p2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5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Threshold is where sodium inflow outruns outward current</a:t>
            </a:r>
            <a:endParaRPr b="0" i="0" sz="1800" u="none" cap="none" strike="noStrike">
              <a:solidFill>
                <a:schemeClr val="dk1"/>
              </a:solidFill>
              <a:latin typeface="Calibri"/>
              <a:ea typeface="Calibri"/>
              <a:cs typeface="Calibri"/>
              <a:sym typeface="Calibri"/>
            </a:endParaRPr>
          </a:p>
        </p:txBody>
      </p:sp>
      <p:sp>
        <p:nvSpPr>
          <p:cNvPr id="367" name="Google Shape;367;p55"/>
          <p:cNvSpPr/>
          <p:nvPr/>
        </p:nvSpPr>
        <p:spPr>
          <a:xfrm>
            <a:off x="457200" y="1055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 small depolarization opens some sodium conductance, and sodium entry depolarizes the membrane further, opening still more. This </a:t>
            </a:r>
            <a:r>
              <a:rPr b="1" i="0" lang="en-US" sz="1400" u="none" cap="none" strike="noStrike">
                <a:solidFill>
                  <a:srgbClr val="202329"/>
                </a:solidFill>
                <a:latin typeface="Arial"/>
                <a:ea typeface="Arial"/>
                <a:cs typeface="Arial"/>
                <a:sym typeface="Arial"/>
              </a:rPr>
              <a:t>positive feedback</a:t>
            </a:r>
            <a:r>
              <a:rPr b="0" i="0" lang="en-US" sz="1400" u="none" cap="none" strike="noStrike">
                <a:solidFill>
                  <a:srgbClr val="202329"/>
                </a:solidFill>
                <a:latin typeface="Arial"/>
                <a:ea typeface="Arial"/>
                <a:cs typeface="Arial"/>
                <a:sym typeface="Arial"/>
              </a:rPr>
              <a:t>, in which an effect strengthens its own cause, drives the rising phase, but only while inward sodium current exceeds the outward potassium and leak currents opposing it.</a:t>
            </a:r>
            <a:endParaRPr b="0" i="0" sz="1700" u="none" cap="none" strike="noStrike">
              <a:solidFill>
                <a:schemeClr val="dk1"/>
              </a:solidFill>
              <a:latin typeface="Calibri"/>
              <a:ea typeface="Calibri"/>
              <a:cs typeface="Calibri"/>
              <a:sym typeface="Calibri"/>
            </a:endParaRPr>
          </a:p>
        </p:txBody>
      </p:sp>
      <p:sp>
        <p:nvSpPr>
          <p:cNvPr id="368" name="Google Shape;368;p55"/>
          <p:cNvSpPr/>
          <p:nvPr/>
        </p:nvSpPr>
        <p:spPr>
          <a:xfrm>
            <a:off x="457200" y="2960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400" u="none" cap="none" strike="noStrike">
                <a:solidFill>
                  <a:srgbClr val="202329"/>
                </a:solidFill>
                <a:latin typeface="Arial"/>
                <a:ea typeface="Arial"/>
                <a:cs typeface="Arial"/>
                <a:sym typeface="Arial"/>
              </a:rPr>
              <a:t>Threshold</a:t>
            </a:r>
            <a:r>
              <a:rPr b="0" i="0" lang="en-US" sz="1400" u="none" cap="none" strike="noStrike">
                <a:solidFill>
                  <a:srgbClr val="202329"/>
                </a:solidFill>
                <a:latin typeface="Arial"/>
                <a:ea typeface="Arial"/>
                <a:cs typeface="Arial"/>
                <a:sym typeface="Arial"/>
              </a:rPr>
              <a:t> is the voltage at which that balance tips. Just below it, outward current wins and the membrane returns to rest; just above it, inward current wins and the rise runs to completion. A tiny difference in starting voltage can therefore produce an all-or-none difference in outcome, as with the 6 and 7 mV stimuli.</a:t>
            </a:r>
            <a:endParaRPr b="0" i="0" sz="1700" u="none" cap="none" strike="noStrike">
              <a:solidFill>
                <a:schemeClr val="dk1"/>
              </a:solidFill>
              <a:latin typeface="Calibri"/>
              <a:ea typeface="Calibri"/>
              <a:cs typeface="Calibri"/>
              <a:sym typeface="Calibri"/>
            </a:endParaRPr>
          </a:p>
        </p:txBody>
      </p:sp>
      <p:sp>
        <p:nvSpPr>
          <p:cNvPr id="369" name="Google Shape;369;p55"/>
          <p:cNvSpPr/>
          <p:nvPr/>
        </p:nvSpPr>
        <p:spPr>
          <a:xfrm>
            <a:off x="457200" y="4865340"/>
            <a:ext cx="5829300" cy="119481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Two slower processes end the spike: sodium inactivation removes the inward drive while the membrane stays depolarized, and delayed potassium activation increases outward current. The spike emerges from three time courses acting together, and none of them alone produces it.</a:t>
            </a:r>
            <a:endParaRPr b="0" i="0" sz="1700" u="none" cap="none" strike="noStrike">
              <a:solidFill>
                <a:schemeClr val="dk1"/>
              </a:solidFill>
              <a:latin typeface="Calibri"/>
              <a:ea typeface="Calibri"/>
              <a:cs typeface="Calibri"/>
              <a:sym typeface="Calibri"/>
            </a:endParaRPr>
          </a:p>
        </p:txBody>
      </p:sp>
      <p:pic>
        <p:nvPicPr>
          <p:cNvPr id="370" name="Google Shape;370;p55"/>
          <p:cNvPicPr preferRelativeResize="0"/>
          <p:nvPr/>
        </p:nvPicPr>
        <p:blipFill rotWithShape="1">
          <a:blip r:embed="rId3">
            <a:alphaModFix/>
          </a:blip>
          <a:srcRect b="0" l="0" r="0" t="0"/>
          <a:stretch/>
        </p:blipFill>
        <p:spPr>
          <a:xfrm>
            <a:off x="7410664" y="1055340"/>
            <a:ext cx="3447622" cy="4000500"/>
          </a:xfrm>
          <a:prstGeom prst="rect">
            <a:avLst/>
          </a:prstGeom>
          <a:noFill/>
          <a:ln>
            <a:noFill/>
          </a:ln>
        </p:spPr>
      </p:pic>
      <p:sp>
        <p:nvSpPr>
          <p:cNvPr id="371" name="Google Shape;371;p5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Hodgkin &amp; Huxley (1952), Fig. 6(A–L). Transient sodium conductance across depolarization levels.</a:t>
            </a:r>
            <a:endParaRPr b="0" i="0" sz="1800" u="none" cap="none" strike="noStrike">
              <a:solidFill>
                <a:schemeClr val="dk1"/>
              </a:solidFill>
              <a:latin typeface="Calibri"/>
              <a:ea typeface="Calibri"/>
              <a:cs typeface="Calibri"/>
              <a:sym typeface="Calibri"/>
            </a:endParaRPr>
          </a:p>
        </p:txBody>
      </p:sp>
      <p:sp>
        <p:nvSpPr>
          <p:cNvPr id="372" name="Google Shape;372;p55"/>
          <p:cNvSpPr/>
          <p:nvPr/>
        </p:nvSpPr>
        <p:spPr>
          <a:xfrm>
            <a:off x="457200" y="6462713"/>
            <a:ext cx="162026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Hodgkin &amp; Huxley (1952)</a:t>
            </a:r>
            <a:endParaRPr b="0" i="0" sz="1800" u="none" cap="none" strike="noStrike">
              <a:solidFill>
                <a:schemeClr val="dk1"/>
              </a:solidFill>
              <a:latin typeface="Calibri"/>
              <a:ea typeface="Calibri"/>
              <a:cs typeface="Calibri"/>
              <a:sym typeface="Calibri"/>
            </a:endParaRPr>
          </a:p>
        </p:txBody>
      </p:sp>
      <p:sp>
        <p:nvSpPr>
          <p:cNvPr id="373" name="Google Shape;373;p55"/>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23a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p2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Propagation requires membrane and longitudinal current</a:t>
            </a:r>
            <a:endParaRPr b="0" i="0" sz="1800" u="none" cap="none" strike="noStrike">
              <a:solidFill>
                <a:schemeClr val="dk1"/>
              </a:solidFill>
              <a:latin typeface="Calibri"/>
              <a:ea typeface="Calibri"/>
              <a:cs typeface="Calibri"/>
              <a:sym typeface="Calibri"/>
            </a:endParaRPr>
          </a:p>
        </p:txBody>
      </p:sp>
      <p:sp>
        <p:nvSpPr>
          <p:cNvPr id="379" name="Google Shape;379;p24"/>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u="none" cap="none" strike="noStrike">
                <a:solidFill>
                  <a:srgbClr val="202329"/>
                </a:solidFill>
                <a:latin typeface="Arial"/>
                <a:ea typeface="Arial"/>
                <a:cs typeface="Arial"/>
                <a:sym typeface="Arial"/>
              </a:rPr>
              <a:t>Propagation</a:t>
            </a:r>
            <a:r>
              <a:rPr b="0" i="0" lang="en-US" sz="1500" u="none" cap="none" strike="noStrike">
                <a:solidFill>
                  <a:srgbClr val="202329"/>
                </a:solidFill>
                <a:latin typeface="Arial"/>
                <a:ea typeface="Arial"/>
                <a:cs typeface="Arial"/>
                <a:sym typeface="Arial"/>
              </a:rPr>
              <a:t> is the spread of an electrical impulse along a nerve fibre. Hodgkin and Huxley extended their membrane description to include longitudinal current flowing between adjacent portions of the squid axon, allowing a local excitation to recruit the next region.</a:t>
            </a:r>
            <a:endParaRPr b="0" i="0" sz="1800" u="none" cap="none" strike="noStrike">
              <a:solidFill>
                <a:schemeClr val="dk1"/>
              </a:solidFill>
              <a:latin typeface="Calibri"/>
              <a:ea typeface="Calibri"/>
              <a:cs typeface="Calibri"/>
              <a:sym typeface="Calibri"/>
            </a:endParaRPr>
          </a:p>
        </p:txBody>
      </p:sp>
      <p:sp>
        <p:nvSpPr>
          <p:cNvPr id="380" name="Google Shape;380;p24"/>
          <p:cNvSpPr/>
          <p:nvPr/>
        </p:nvSpPr>
        <p:spPr>
          <a:xfrm>
            <a:off x="457200" y="2712415"/>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For the illustrated propagated response at 18.5°C, the calculated waveform was compared with recorded spikes. Their parameter-based calculation gave a speed of 18.8 m/s, compared with an experimentally measured speed of 21.2 m/s in the fibre.</a:t>
            </a:r>
            <a:endParaRPr b="0" i="0" sz="1800" u="none" cap="none" strike="noStrike">
              <a:solidFill>
                <a:schemeClr val="dk1"/>
              </a:solidFill>
              <a:latin typeface="Calibri"/>
              <a:ea typeface="Calibri"/>
              <a:cs typeface="Calibri"/>
              <a:sym typeface="Calibri"/>
            </a:endParaRPr>
          </a:p>
        </p:txBody>
      </p:sp>
      <p:sp>
        <p:nvSpPr>
          <p:cNvPr id="381" name="Google Shape;381;p24"/>
          <p:cNvSpPr/>
          <p:nvPr/>
        </p:nvSpPr>
        <p:spPr>
          <a:xfrm>
            <a:off x="457200" y="4475565"/>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The comparison tests a prediction beyond fitting one stationary membrane trace. It supports the combination of ionic kinetics and electrical coupling for this preparation. The calculation remains an approximation, and it does not by itself specify how a sensory pathway transforms an impulse into a complete behavior.</a:t>
            </a:r>
            <a:endParaRPr b="0" i="0" sz="1800" u="none" cap="none" strike="noStrike">
              <a:solidFill>
                <a:schemeClr val="dk1"/>
              </a:solidFill>
              <a:latin typeface="Calibri"/>
              <a:ea typeface="Calibri"/>
              <a:cs typeface="Calibri"/>
              <a:sym typeface="Calibri"/>
            </a:endParaRPr>
          </a:p>
        </p:txBody>
      </p:sp>
      <p:pic>
        <p:nvPicPr>
          <p:cNvPr id="382" name="Google Shape;382;p24"/>
          <p:cNvPicPr preferRelativeResize="0"/>
          <p:nvPr/>
        </p:nvPicPr>
        <p:blipFill rotWithShape="1">
          <a:blip r:embed="rId3">
            <a:alphaModFix/>
          </a:blip>
          <a:srcRect b="0" l="0" r="0" t="0"/>
          <a:stretch/>
        </p:blipFill>
        <p:spPr>
          <a:xfrm>
            <a:off x="6610350" y="1906308"/>
            <a:ext cx="5048250" cy="2298565"/>
          </a:xfrm>
          <a:prstGeom prst="rect">
            <a:avLst/>
          </a:prstGeom>
          <a:noFill/>
          <a:ln>
            <a:noFill/>
          </a:ln>
        </p:spPr>
      </p:pic>
      <p:sp>
        <p:nvSpPr>
          <p:cNvPr id="383" name="Google Shape;383;p2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Hodgkin &amp; Huxley (1952), Fig. 15(a–d). Predicted and recorded propagated action potentials.</a:t>
            </a:r>
            <a:endParaRPr b="0" i="0" sz="1800" u="none" cap="none" strike="noStrike">
              <a:solidFill>
                <a:schemeClr val="dk1"/>
              </a:solidFill>
              <a:latin typeface="Calibri"/>
              <a:ea typeface="Calibri"/>
              <a:cs typeface="Calibri"/>
              <a:sym typeface="Calibri"/>
            </a:endParaRPr>
          </a:p>
        </p:txBody>
      </p:sp>
      <p:sp>
        <p:nvSpPr>
          <p:cNvPr id="384" name="Google Shape;384;p24"/>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Hodgkin &amp; Huxley (1952)</a:t>
            </a:r>
            <a:endParaRPr b="0" i="0" sz="1800" u="none" cap="none" strike="noStrike">
              <a:solidFill>
                <a:schemeClr val="dk1"/>
              </a:solidFill>
              <a:latin typeface="Calibri"/>
              <a:ea typeface="Calibri"/>
              <a:cs typeface="Calibri"/>
              <a:sym typeface="Calibri"/>
            </a:endParaRPr>
          </a:p>
        </p:txBody>
      </p:sp>
      <p:sp>
        <p:nvSpPr>
          <p:cNvPr id="385" name="Google Shape;385;p2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2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Recovery from a spike is a measurable state change</a:t>
            </a:r>
            <a:endParaRPr b="0" i="0" sz="1800" u="none" cap="none" strike="noStrike">
              <a:solidFill>
                <a:schemeClr val="dk1"/>
              </a:solidFill>
              <a:latin typeface="Calibri"/>
              <a:ea typeface="Calibri"/>
              <a:cs typeface="Calibri"/>
              <a:sym typeface="Calibri"/>
            </a:endParaRPr>
          </a:p>
        </p:txBody>
      </p:sp>
      <p:sp>
        <p:nvSpPr>
          <p:cNvPr id="391" name="Google Shape;391;p25"/>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a:t>
            </a:r>
            <a:r>
              <a:rPr b="1" i="0" lang="en-US" sz="1400" u="none" cap="none" strike="noStrike">
                <a:solidFill>
                  <a:srgbClr val="202329"/>
                </a:solidFill>
                <a:latin typeface="Arial"/>
                <a:ea typeface="Arial"/>
                <a:cs typeface="Arial"/>
                <a:sym typeface="Arial"/>
              </a:rPr>
              <a:t>refractory period</a:t>
            </a:r>
            <a:r>
              <a:rPr b="0" i="0" lang="en-US" sz="1400" u="none" cap="none" strike="noStrike">
                <a:solidFill>
                  <a:srgbClr val="202329"/>
                </a:solidFill>
                <a:latin typeface="Arial"/>
                <a:ea typeface="Arial"/>
                <a:cs typeface="Arial"/>
                <a:sym typeface="Arial"/>
              </a:rPr>
              <a:t> is the interval after an action potential during which another spike is impossible or requires a stronger stimulus. Hodgkin and Huxley compared responses to stimuli applied at different delays after an initial squid membrane spike.</a:t>
            </a:r>
            <a:endParaRPr b="0" i="0" sz="1700" u="none" cap="none" strike="noStrike">
              <a:solidFill>
                <a:schemeClr val="dk1"/>
              </a:solidFill>
              <a:latin typeface="Calibri"/>
              <a:ea typeface="Calibri"/>
              <a:cs typeface="Calibri"/>
              <a:sym typeface="Calibri"/>
            </a:endParaRPr>
          </a:p>
        </p:txBody>
      </p:sp>
      <p:sp>
        <p:nvSpPr>
          <p:cNvPr id="392" name="Google Shape;392;p25"/>
          <p:cNvSpPr/>
          <p:nvPr/>
        </p:nvSpPr>
        <p:spPr>
          <a:xfrm>
            <a:off x="457200" y="262051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At 6°C, early second stimuli produced little regenerative activity, whereas later stimuli produced progressively larger responses. Their calculated responses matched the broad recovery pattern in the recorded traces, including altered spike shape during partial recovery.</a:t>
            </a:r>
            <a:endParaRPr b="0" i="0" sz="1700" u="none" cap="none" strike="noStrike">
              <a:solidFill>
                <a:schemeClr val="dk1"/>
              </a:solidFill>
              <a:latin typeface="Calibri"/>
              <a:ea typeface="Calibri"/>
              <a:cs typeface="Calibri"/>
              <a:sym typeface="Calibri"/>
            </a:endParaRPr>
          </a:p>
        </p:txBody>
      </p:sp>
      <p:sp>
        <p:nvSpPr>
          <p:cNvPr id="393" name="Google Shape;393;p25"/>
          <p:cNvSpPr/>
          <p:nvPr/>
        </p:nvSpPr>
        <p:spPr>
          <a:xfrm>
            <a:off x="457200" y="445239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mechanism depends on residual potassium conductance and incomplete recovery of sodium availability. Refractoriness therefore reflects the membrane’s recent history rather than a fixed delay imposed by an external clock. The agreement is physiological evidence, not a direct measurement of each molecular channel’s state.</a:t>
            </a:r>
            <a:endParaRPr b="0" i="0" sz="1700" u="none" cap="none" strike="noStrike">
              <a:solidFill>
                <a:schemeClr val="dk1"/>
              </a:solidFill>
              <a:latin typeface="Calibri"/>
              <a:ea typeface="Calibri"/>
              <a:cs typeface="Calibri"/>
              <a:sym typeface="Calibri"/>
            </a:endParaRPr>
          </a:p>
        </p:txBody>
      </p:sp>
      <p:pic>
        <p:nvPicPr>
          <p:cNvPr id="394" name="Google Shape;394;p25"/>
          <p:cNvPicPr preferRelativeResize="0"/>
          <p:nvPr/>
        </p:nvPicPr>
        <p:blipFill rotWithShape="1">
          <a:blip r:embed="rId3">
            <a:alphaModFix/>
          </a:blip>
          <a:srcRect b="0" l="0" r="0" t="0"/>
          <a:stretch/>
        </p:blipFill>
        <p:spPr>
          <a:xfrm>
            <a:off x="6720479" y="1055340"/>
            <a:ext cx="4827993" cy="4000500"/>
          </a:xfrm>
          <a:prstGeom prst="rect">
            <a:avLst/>
          </a:prstGeom>
          <a:noFill/>
          <a:ln>
            <a:noFill/>
          </a:ln>
        </p:spPr>
      </p:pic>
      <p:sp>
        <p:nvSpPr>
          <p:cNvPr id="395" name="Google Shape;395;p2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Hodgkin &amp; Huxley (1952), Fig. 20. Calculated and recorded responses to a second stimulus.</a:t>
            </a:r>
            <a:endParaRPr b="0" i="0" sz="1800" u="none" cap="none" strike="noStrike">
              <a:solidFill>
                <a:schemeClr val="dk1"/>
              </a:solidFill>
              <a:latin typeface="Calibri"/>
              <a:ea typeface="Calibri"/>
              <a:cs typeface="Calibri"/>
              <a:sym typeface="Calibri"/>
            </a:endParaRPr>
          </a:p>
        </p:txBody>
      </p:sp>
      <p:sp>
        <p:nvSpPr>
          <p:cNvPr id="396" name="Google Shape;396;p25"/>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Hodgkin &amp; Huxley (1952)</a:t>
            </a:r>
            <a:endParaRPr b="0" i="0" sz="1800" u="none" cap="none" strike="noStrike">
              <a:solidFill>
                <a:schemeClr val="dk1"/>
              </a:solidFill>
              <a:latin typeface="Calibri"/>
              <a:ea typeface="Calibri"/>
              <a:cs typeface="Calibri"/>
              <a:sym typeface="Calibri"/>
            </a:endParaRPr>
          </a:p>
        </p:txBody>
      </p:sp>
      <p:sp>
        <p:nvSpPr>
          <p:cNvPr id="397" name="Google Shape;397;p2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5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Refractoriness keeps a propagating impulse moving forward</a:t>
            </a:r>
            <a:endParaRPr b="0" i="0" sz="1800" u="none" cap="none" strike="noStrike">
              <a:solidFill>
                <a:schemeClr val="dk1"/>
              </a:solidFill>
              <a:latin typeface="Calibri"/>
              <a:ea typeface="Calibri"/>
              <a:cs typeface="Calibri"/>
              <a:sym typeface="Calibri"/>
            </a:endParaRPr>
          </a:p>
        </p:txBody>
      </p:sp>
      <p:sp>
        <p:nvSpPr>
          <p:cNvPr id="403" name="Google Shape;403;p56"/>
          <p:cNvSpPr/>
          <p:nvPr/>
        </p:nvSpPr>
        <p:spPr>
          <a:xfrm>
            <a:off x="457200" y="1055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During propagation, current from an active region spreads along the axon in both directions. Ahead of the impulse the membrane is rested, so it reaches threshold and fires. Behind it, sodium conductance is still inactivated and potassium conductance still elevated, so the same current cannot start a new spike there.</a:t>
            </a:r>
            <a:endParaRPr b="0" i="0" sz="1700" u="none" cap="none" strike="noStrike">
              <a:solidFill>
                <a:schemeClr val="dk1"/>
              </a:solidFill>
              <a:latin typeface="Calibri"/>
              <a:ea typeface="Calibri"/>
              <a:cs typeface="Calibri"/>
              <a:sym typeface="Calibri"/>
            </a:endParaRPr>
          </a:p>
        </p:txBody>
      </p:sp>
      <p:sp>
        <p:nvSpPr>
          <p:cNvPr id="404" name="Google Shape;404;p56"/>
          <p:cNvSpPr/>
          <p:nvPr/>
        </p:nvSpPr>
        <p:spPr>
          <a:xfrm>
            <a:off x="457200" y="2960340"/>
            <a:ext cx="5829300" cy="119481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Recovery from a spike therefore sets the direction of conduction. The impulse leaves a stretch of refractory membrane in its wake and cannot reverse, so a spike started at one end of a fiber travels to the other as a single event without echoing back and forth.</a:t>
            </a:r>
            <a:endParaRPr b="0" i="0" sz="1700" u="none" cap="none" strike="noStrike">
              <a:solidFill>
                <a:schemeClr val="dk1"/>
              </a:solidFill>
              <a:latin typeface="Calibri"/>
              <a:ea typeface="Calibri"/>
              <a:cs typeface="Calibri"/>
              <a:sym typeface="Calibri"/>
            </a:endParaRPr>
          </a:p>
        </p:txBody>
      </p:sp>
      <p:sp>
        <p:nvSpPr>
          <p:cNvPr id="405" name="Google Shape;405;p56"/>
          <p:cNvSpPr/>
          <p:nvPr/>
        </p:nvSpPr>
        <p:spPr>
          <a:xfrm>
            <a:off x="457200" y="4566636"/>
            <a:ext cx="5829300" cy="119481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Refractoriness also caps how often an axon can fire, since each spike waits for sodium availability to recover. A nerve fiber transmits trains of separate, similar impulses, and stimulus strength is carried by their number and timing instead of the size of each impulse.</a:t>
            </a:r>
            <a:endParaRPr b="0" i="0" sz="1700" u="none" cap="none" strike="noStrike">
              <a:solidFill>
                <a:schemeClr val="dk1"/>
              </a:solidFill>
              <a:latin typeface="Calibri"/>
              <a:ea typeface="Calibri"/>
              <a:cs typeface="Calibri"/>
              <a:sym typeface="Calibri"/>
            </a:endParaRPr>
          </a:p>
        </p:txBody>
      </p:sp>
      <p:pic>
        <p:nvPicPr>
          <p:cNvPr id="406" name="Google Shape;406;p56"/>
          <p:cNvPicPr preferRelativeResize="0"/>
          <p:nvPr/>
        </p:nvPicPr>
        <p:blipFill rotWithShape="1">
          <a:blip r:embed="rId3">
            <a:alphaModFix/>
          </a:blip>
          <a:srcRect b="0" l="0" r="0" t="0"/>
          <a:stretch/>
        </p:blipFill>
        <p:spPr>
          <a:xfrm>
            <a:off x="6610350" y="1906308"/>
            <a:ext cx="5048250" cy="2298565"/>
          </a:xfrm>
          <a:prstGeom prst="rect">
            <a:avLst/>
          </a:prstGeom>
          <a:noFill/>
          <a:ln>
            <a:noFill/>
          </a:ln>
        </p:spPr>
      </p:pic>
      <p:sp>
        <p:nvSpPr>
          <p:cNvPr id="407" name="Google Shape;407;p5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Hodgkin &amp; Huxley (1952), Fig. 15(a–d). Predicted and recorded propagated action potentials.</a:t>
            </a:r>
            <a:endParaRPr b="0" i="0" sz="1800" u="none" cap="none" strike="noStrike">
              <a:solidFill>
                <a:schemeClr val="dk1"/>
              </a:solidFill>
              <a:latin typeface="Calibri"/>
              <a:ea typeface="Calibri"/>
              <a:cs typeface="Calibri"/>
              <a:sym typeface="Calibri"/>
            </a:endParaRPr>
          </a:p>
        </p:txBody>
      </p:sp>
      <p:sp>
        <p:nvSpPr>
          <p:cNvPr id="408" name="Google Shape;408;p56"/>
          <p:cNvSpPr/>
          <p:nvPr/>
        </p:nvSpPr>
        <p:spPr>
          <a:xfrm>
            <a:off x="457200" y="6462713"/>
            <a:ext cx="162026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Hodgkin &amp; Huxley (1952)</a:t>
            </a:r>
            <a:endParaRPr b="0" i="0" sz="1800" u="none" cap="none" strike="noStrike">
              <a:solidFill>
                <a:schemeClr val="dk1"/>
              </a:solidFill>
              <a:latin typeface="Calibri"/>
              <a:ea typeface="Calibri"/>
              <a:cs typeface="Calibri"/>
              <a:sym typeface="Calibri"/>
            </a:endParaRPr>
          </a:p>
        </p:txBody>
      </p:sp>
      <p:sp>
        <p:nvSpPr>
          <p:cNvPr id="409" name="Google Shape;409;p56"/>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2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Song learning depends on access to a tutor</a:t>
            </a:r>
            <a:endParaRPr b="0" i="0" sz="1800" u="none" cap="none" strike="noStrike">
              <a:solidFill>
                <a:schemeClr val="dk1"/>
              </a:solidFill>
              <a:latin typeface="Calibri"/>
              <a:ea typeface="Calibri"/>
              <a:cs typeface="Calibri"/>
              <a:sym typeface="Calibri"/>
            </a:endParaRPr>
          </a:p>
        </p:txBody>
      </p:sp>
      <p:sp>
        <p:nvSpPr>
          <p:cNvPr id="415" name="Google Shape;415;p26"/>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400" u="none" cap="none" strike="noStrike">
                <a:solidFill>
                  <a:srgbClr val="202329"/>
                </a:solidFill>
                <a:latin typeface="Arial"/>
                <a:ea typeface="Arial"/>
                <a:cs typeface="Arial"/>
                <a:sym typeface="Arial"/>
              </a:rPr>
              <a:t>Vocal learning</a:t>
            </a:r>
            <a:r>
              <a:rPr b="0" i="0" lang="en-US" sz="1400" u="none" cap="none" strike="noStrike">
                <a:solidFill>
                  <a:srgbClr val="202329"/>
                </a:solidFill>
                <a:latin typeface="Arial"/>
                <a:ea typeface="Arial"/>
                <a:cs typeface="Arial"/>
                <a:sym typeface="Arial"/>
              </a:rPr>
              <a:t> is modification of vocal output through experience with sounds. Fehér and colleagues separated young zebra finches from adult male song beginning early in development and compared the resulting isolate songs with the species-typical songs of established colonies.</a:t>
            </a:r>
            <a:endParaRPr b="0" i="0" sz="1700" u="none" cap="none" strike="noStrike">
              <a:solidFill>
                <a:schemeClr val="dk1"/>
              </a:solidFill>
              <a:latin typeface="Calibri"/>
              <a:ea typeface="Calibri"/>
              <a:cs typeface="Calibri"/>
              <a:sym typeface="Calibri"/>
            </a:endParaRPr>
          </a:p>
        </p:txBody>
      </p:sp>
      <p:sp>
        <p:nvSpPr>
          <p:cNvPr id="416" name="Google Shape;416;p26"/>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Normally tutored songs contained repeated sequences of distinct syllables, called </a:t>
            </a:r>
            <a:r>
              <a:rPr b="1" i="0" lang="en-US" sz="1400" u="none" cap="none" strike="noStrike">
                <a:solidFill>
                  <a:srgbClr val="202329"/>
                </a:solidFill>
                <a:latin typeface="Arial"/>
                <a:ea typeface="Arial"/>
                <a:cs typeface="Arial"/>
                <a:sym typeface="Arial"/>
              </a:rPr>
              <a:t>motifs</a:t>
            </a:r>
            <a:r>
              <a:rPr b="0" i="0" lang="en-US" sz="1400" u="none" cap="none" strike="noStrike">
                <a:solidFill>
                  <a:srgbClr val="202329"/>
                </a:solidFill>
                <a:latin typeface="Arial"/>
                <a:ea typeface="Arial"/>
                <a:cs typeface="Arial"/>
                <a:sym typeface="Arial"/>
              </a:rPr>
              <a:t>. Isolate songs often contained prolonged or stuttered units and less regular temporal organization. The spectrograms retain a 200 ms time scale and a frequency range extending to 8 kHz.</a:t>
            </a:r>
            <a:endParaRPr b="0" i="0" sz="1700" u="none" cap="none" strike="noStrike">
              <a:solidFill>
                <a:schemeClr val="dk1"/>
              </a:solidFill>
              <a:latin typeface="Calibri"/>
              <a:ea typeface="Calibri"/>
              <a:cs typeface="Calibri"/>
              <a:sym typeface="Calibri"/>
            </a:endParaRPr>
          </a:p>
        </p:txBody>
      </p:sp>
      <p:sp>
        <p:nvSpPr>
          <p:cNvPr id="417" name="Google Shape;417;p26"/>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Deprivation changed the form of the adult output while leaving the capacity to produce song intact. The comparison identifies a developmental contribution of tutoring, not a claim that every acoustic feature must be copied from experience or that isolate birds lack neural organization.</a:t>
            </a:r>
            <a:endParaRPr b="0" i="0" sz="1700" u="none" cap="none" strike="noStrike">
              <a:solidFill>
                <a:schemeClr val="dk1"/>
              </a:solidFill>
              <a:latin typeface="Calibri"/>
              <a:ea typeface="Calibri"/>
              <a:cs typeface="Calibri"/>
              <a:sym typeface="Calibri"/>
            </a:endParaRPr>
          </a:p>
        </p:txBody>
      </p:sp>
      <p:pic>
        <p:nvPicPr>
          <p:cNvPr id="418" name="Google Shape;418;p26"/>
          <p:cNvPicPr preferRelativeResize="0"/>
          <p:nvPr/>
        </p:nvPicPr>
        <p:blipFill rotWithShape="1">
          <a:blip r:embed="rId3">
            <a:alphaModFix/>
          </a:blip>
          <a:srcRect b="0" l="0" r="0" t="0"/>
          <a:stretch/>
        </p:blipFill>
        <p:spPr>
          <a:xfrm>
            <a:off x="6610350" y="1132143"/>
            <a:ext cx="5048250" cy="3846894"/>
          </a:xfrm>
          <a:prstGeom prst="rect">
            <a:avLst/>
          </a:prstGeom>
          <a:noFill/>
          <a:ln>
            <a:noFill/>
          </a:ln>
        </p:spPr>
      </p:pic>
      <p:sp>
        <p:nvSpPr>
          <p:cNvPr id="419" name="Google Shape;419;p2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Fehér et al. (2009), Fig. 1(a–e). Wild-type and isolate songs with original time and frequency scales.</a:t>
            </a:r>
            <a:endParaRPr b="0" i="0" sz="1800" u="none" cap="none" strike="noStrike">
              <a:solidFill>
                <a:schemeClr val="dk1"/>
              </a:solidFill>
              <a:latin typeface="Calibri"/>
              <a:ea typeface="Calibri"/>
              <a:cs typeface="Calibri"/>
              <a:sym typeface="Calibri"/>
            </a:endParaRPr>
          </a:p>
        </p:txBody>
      </p:sp>
      <p:sp>
        <p:nvSpPr>
          <p:cNvPr id="420" name="Google Shape;420;p26"/>
          <p:cNvSpPr/>
          <p:nvPr/>
        </p:nvSpPr>
        <p:spPr>
          <a:xfrm>
            <a:off x="457200" y="6462713"/>
            <a:ext cx="105400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Fehér et al. (2009)</a:t>
            </a:r>
            <a:endParaRPr b="0" i="0" sz="1800" u="none" cap="none" strike="noStrike">
              <a:solidFill>
                <a:schemeClr val="dk1"/>
              </a:solidFill>
              <a:latin typeface="Calibri"/>
              <a:ea typeface="Calibri"/>
              <a:cs typeface="Calibri"/>
              <a:sym typeface="Calibri"/>
            </a:endParaRPr>
          </a:p>
        </p:txBody>
      </p:sp>
      <p:sp>
        <p:nvSpPr>
          <p:cNvPr id="421" name="Google Shape;421;p2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5" name="Shape 425"/>
        <p:cNvGrpSpPr/>
        <p:nvPr/>
      </p:nvGrpSpPr>
      <p:grpSpPr>
        <a:xfrm>
          <a:off x="0" y="0"/>
          <a:ext cx="0" cy="0"/>
          <a:chOff x="0" y="0"/>
          <a:chExt cx="0" cy="0"/>
        </a:xfrm>
      </p:grpSpPr>
      <p:sp>
        <p:nvSpPr>
          <p:cNvPr id="426" name="Google Shape;426;p2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Different song timescales require different measures</a:t>
            </a:r>
            <a:endParaRPr b="0" i="0" sz="1800" u="none" cap="none" strike="noStrike">
              <a:solidFill>
                <a:schemeClr val="dk1"/>
              </a:solidFill>
              <a:latin typeface="Calibri"/>
              <a:ea typeface="Calibri"/>
              <a:cs typeface="Calibri"/>
              <a:sym typeface="Calibri"/>
            </a:endParaRPr>
          </a:p>
        </p:txBody>
      </p:sp>
      <p:sp>
        <p:nvSpPr>
          <p:cNvPr id="427" name="Google Shape;427;p27"/>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 </a:t>
            </a:r>
            <a:r>
              <a:rPr b="1" i="0" lang="en-US" sz="1400" u="none" cap="none" strike="noStrike">
                <a:solidFill>
                  <a:srgbClr val="202329"/>
                </a:solidFill>
                <a:latin typeface="Arial"/>
                <a:ea typeface="Arial"/>
                <a:cs typeface="Arial"/>
                <a:sym typeface="Arial"/>
              </a:rPr>
              <a:t>behavioral phenotype</a:t>
            </a:r>
            <a:r>
              <a:rPr b="0" i="0" lang="en-US" sz="1400" u="none" cap="none" strike="noStrike">
                <a:solidFill>
                  <a:srgbClr val="202329"/>
                </a:solidFill>
                <a:latin typeface="Arial"/>
                <a:ea typeface="Arial"/>
                <a:cs typeface="Arial"/>
                <a:sym typeface="Arial"/>
              </a:rPr>
              <a:t> is a measurable form of behavior. Fehér and colleagues characterized song at several timescales: spectral features over 10 ms, persistence of acoustic structure over 10–100 ms, and rhythm over 200–1,000 ms.</a:t>
            </a:r>
            <a:endParaRPr b="0" i="0" sz="1700" u="none" cap="none" strike="noStrike">
              <a:solidFill>
                <a:schemeClr val="dk1"/>
              </a:solidFill>
              <a:latin typeface="Calibri"/>
              <a:ea typeface="Calibri"/>
              <a:cs typeface="Calibri"/>
              <a:sym typeface="Calibri"/>
            </a:endParaRPr>
          </a:p>
        </p:txBody>
      </p:sp>
      <p:sp>
        <p:nvSpPr>
          <p:cNvPr id="428" name="Google Shape;428;p27"/>
          <p:cNvSpPr/>
          <p:nvPr/>
        </p:nvSpPr>
        <p:spPr>
          <a:xfrm>
            <a:off x="457200" y="255511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Isolate songs had lower frequency modulation, longer persistence of similar acoustic structure, and less organized rhythm than wild-type songs. </a:t>
            </a:r>
            <a:r>
              <a:rPr b="1" i="0" lang="en-US" sz="1400" u="none" cap="none" strike="noStrike">
                <a:solidFill>
                  <a:srgbClr val="202329"/>
                </a:solidFill>
                <a:latin typeface="Arial"/>
                <a:ea typeface="Arial"/>
                <a:cs typeface="Arial"/>
                <a:sym typeface="Arial"/>
              </a:rPr>
              <a:t>Frequency modulation</a:t>
            </a:r>
            <a:r>
              <a:rPr b="0" i="0" lang="en-US" sz="1400" u="none" cap="none" strike="noStrike">
                <a:solidFill>
                  <a:srgbClr val="202329"/>
                </a:solidFill>
                <a:latin typeface="Arial"/>
                <a:ea typeface="Arial"/>
                <a:cs typeface="Arial"/>
                <a:sym typeface="Arial"/>
              </a:rPr>
              <a:t> is change in frequency through time; the duration of an acoustic state describes how long successive spectral patterns remain similar.</a:t>
            </a:r>
            <a:endParaRPr b="0" i="0" sz="1700" u="none" cap="none" strike="noStrike">
              <a:solidFill>
                <a:schemeClr val="dk1"/>
              </a:solidFill>
              <a:latin typeface="Calibri"/>
              <a:ea typeface="Calibri"/>
              <a:cs typeface="Calibri"/>
              <a:sym typeface="Calibri"/>
            </a:endParaRPr>
          </a:p>
        </p:txBody>
      </p:sp>
      <p:sp>
        <p:nvSpPr>
          <p:cNvPr id="429" name="Google Shape;429;p27"/>
          <p:cNvSpPr/>
          <p:nvPr/>
        </p:nvSpPr>
        <p:spPr>
          <a:xfrm>
            <a:off x="457200" y="4375565"/>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These measures distinguish changes within syllables from changes in their larger temporal arrangement. A song can differ at one timescale without differing identically at another. Quantifying several features prevents a single subjective assessment of song quality from replacing the measured developmental phenotype.</a:t>
            </a:r>
            <a:endParaRPr b="0" i="0" sz="1700" u="none" cap="none" strike="noStrike">
              <a:solidFill>
                <a:schemeClr val="dk1"/>
              </a:solidFill>
              <a:latin typeface="Calibri"/>
              <a:ea typeface="Calibri"/>
              <a:cs typeface="Calibri"/>
              <a:sym typeface="Calibri"/>
            </a:endParaRPr>
          </a:p>
        </p:txBody>
      </p:sp>
      <p:pic>
        <p:nvPicPr>
          <p:cNvPr id="430" name="Google Shape;430;p27"/>
          <p:cNvPicPr preferRelativeResize="0"/>
          <p:nvPr/>
        </p:nvPicPr>
        <p:blipFill rotWithShape="1">
          <a:blip r:embed="rId3">
            <a:alphaModFix/>
          </a:blip>
          <a:srcRect b="0" l="0" r="0" t="0"/>
          <a:stretch/>
        </p:blipFill>
        <p:spPr>
          <a:xfrm>
            <a:off x="6610350" y="1132143"/>
            <a:ext cx="5048250" cy="3846894"/>
          </a:xfrm>
          <a:prstGeom prst="rect">
            <a:avLst/>
          </a:prstGeom>
          <a:noFill/>
          <a:ln>
            <a:noFill/>
          </a:ln>
        </p:spPr>
      </p:pic>
      <p:sp>
        <p:nvSpPr>
          <p:cNvPr id="431" name="Google Shape;431;p2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Fehér et al. (2009), Fig. 1(a–e). Frequency modulation, acoustic-state duration, and song rhythm.</a:t>
            </a:r>
            <a:endParaRPr b="0" i="0" sz="1800" u="none" cap="none" strike="noStrike">
              <a:solidFill>
                <a:schemeClr val="dk1"/>
              </a:solidFill>
              <a:latin typeface="Calibri"/>
              <a:ea typeface="Calibri"/>
              <a:cs typeface="Calibri"/>
              <a:sym typeface="Calibri"/>
            </a:endParaRPr>
          </a:p>
        </p:txBody>
      </p:sp>
      <p:sp>
        <p:nvSpPr>
          <p:cNvPr id="432" name="Google Shape;432;p27"/>
          <p:cNvSpPr/>
          <p:nvPr/>
        </p:nvSpPr>
        <p:spPr>
          <a:xfrm>
            <a:off x="457200" y="6462713"/>
            <a:ext cx="105400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Fehér et al. (2009)</a:t>
            </a:r>
            <a:endParaRPr b="0" i="0" sz="1800" u="none" cap="none" strike="noStrike">
              <a:solidFill>
                <a:schemeClr val="dk1"/>
              </a:solidFill>
              <a:latin typeface="Calibri"/>
              <a:ea typeface="Calibri"/>
              <a:cs typeface="Calibri"/>
              <a:sym typeface="Calibri"/>
            </a:endParaRPr>
          </a:p>
        </p:txBody>
      </p:sp>
      <p:sp>
        <p:nvSpPr>
          <p:cNvPr id="433" name="Google Shape;433;p2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2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Pupils shorten unusually long tutor syllables</a:t>
            </a:r>
            <a:endParaRPr b="0" i="0" sz="1800" u="none" cap="none" strike="noStrike">
              <a:solidFill>
                <a:schemeClr val="dk1"/>
              </a:solidFill>
              <a:latin typeface="Calibri"/>
              <a:ea typeface="Calibri"/>
              <a:cs typeface="Calibri"/>
              <a:sym typeface="Calibri"/>
            </a:endParaRPr>
          </a:p>
        </p:txBody>
      </p:sp>
      <p:sp>
        <p:nvSpPr>
          <p:cNvPr id="439" name="Google Shape;439;p28"/>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u="none" cap="none" strike="noStrike">
                <a:solidFill>
                  <a:srgbClr val="202329"/>
                </a:solidFill>
                <a:latin typeface="Arial"/>
                <a:ea typeface="Arial"/>
                <a:cs typeface="Arial"/>
                <a:sym typeface="Arial"/>
              </a:rPr>
              <a:t>Biased imitation</a:t>
            </a:r>
            <a:r>
              <a:rPr b="0" i="0" lang="en-US" sz="1500" u="none" cap="none" strike="noStrike">
                <a:solidFill>
                  <a:srgbClr val="202329"/>
                </a:solidFill>
                <a:latin typeface="Arial"/>
                <a:ea typeface="Arial"/>
                <a:cs typeface="Arial"/>
                <a:sym typeface="Arial"/>
              </a:rPr>
              <a:t> is copying that systematically changes a feature rather than reproducing it without directional alteration. Fehér and colleagues paired juveniles with isolate tutors, keeping each pair in a sound-isolated chamber and checking that the adult tutor’s song remained stable.</a:t>
            </a:r>
            <a:endParaRPr b="0" i="0" sz="1800" u="none" cap="none" strike="noStrike">
              <a:solidFill>
                <a:schemeClr val="dk1"/>
              </a:solidFill>
              <a:latin typeface="Calibri"/>
              <a:ea typeface="Calibri"/>
              <a:cs typeface="Calibri"/>
              <a:sym typeface="Calibri"/>
            </a:endParaRPr>
          </a:p>
        </p:txBody>
      </p:sp>
      <p:sp>
        <p:nvSpPr>
          <p:cNvPr id="440" name="Google Shape;440;p28"/>
          <p:cNvSpPr/>
          <p:nvPr/>
        </p:nvSpPr>
        <p:spPr>
          <a:xfrm>
            <a:off x="457200" y="300559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A tutor syllable averaging 367 ms was copied with an average duration of 243 ms. Across tutor–pupil comparisons, syllables shorter than about 230 ms were copied relatively faithfully, whereas unusually long syllables were shortened.</a:t>
            </a:r>
            <a:endParaRPr b="0" i="0" sz="1800" u="none" cap="none" strike="noStrike">
              <a:solidFill>
                <a:schemeClr val="dk1"/>
              </a:solidFill>
              <a:latin typeface="Calibri"/>
              <a:ea typeface="Calibri"/>
              <a:cs typeface="Calibri"/>
              <a:sym typeface="Calibri"/>
            </a:endParaRPr>
          </a:p>
        </p:txBody>
      </p:sp>
      <p:sp>
        <p:nvSpPr>
          <p:cNvPr id="441" name="Google Shape;441;p28"/>
          <p:cNvSpPr/>
          <p:nvPr/>
        </p:nvSpPr>
        <p:spPr>
          <a:xfrm>
            <a:off x="457200" y="46891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The pupil therefore acquired material from the tutor while modifying its duration. The result is inconsistent with either exact copying or wholly independent song invention. It establishes a developmental copying bias, but it does not identify the neural rule that causes the shortening.</a:t>
            </a:r>
            <a:endParaRPr b="0" i="0" sz="1800" u="none" cap="none" strike="noStrike">
              <a:solidFill>
                <a:schemeClr val="dk1"/>
              </a:solidFill>
              <a:latin typeface="Calibri"/>
              <a:ea typeface="Calibri"/>
              <a:cs typeface="Calibri"/>
              <a:sym typeface="Calibri"/>
            </a:endParaRPr>
          </a:p>
        </p:txBody>
      </p:sp>
      <p:pic>
        <p:nvPicPr>
          <p:cNvPr id="442" name="Google Shape;442;p28"/>
          <p:cNvPicPr preferRelativeResize="0"/>
          <p:nvPr/>
        </p:nvPicPr>
        <p:blipFill rotWithShape="1">
          <a:blip r:embed="rId3">
            <a:alphaModFix/>
          </a:blip>
          <a:srcRect b="0" l="0" r="0" t="0"/>
          <a:stretch/>
        </p:blipFill>
        <p:spPr>
          <a:xfrm>
            <a:off x="6610350" y="1432231"/>
            <a:ext cx="5048250" cy="3246718"/>
          </a:xfrm>
          <a:prstGeom prst="rect">
            <a:avLst/>
          </a:prstGeom>
          <a:noFill/>
          <a:ln>
            <a:noFill/>
          </a:ln>
        </p:spPr>
      </p:pic>
      <p:sp>
        <p:nvSpPr>
          <p:cNvPr id="443" name="Google Shape;443;p2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Fehér et al. (2009), Fig. 2(g–j). Tutor–pupil spectrograms and the relationship of syllable durations.</a:t>
            </a:r>
            <a:endParaRPr b="0" i="0" sz="1800" u="none" cap="none" strike="noStrike">
              <a:solidFill>
                <a:schemeClr val="dk1"/>
              </a:solidFill>
              <a:latin typeface="Calibri"/>
              <a:ea typeface="Calibri"/>
              <a:cs typeface="Calibri"/>
              <a:sym typeface="Calibri"/>
            </a:endParaRPr>
          </a:p>
        </p:txBody>
      </p:sp>
      <p:sp>
        <p:nvSpPr>
          <p:cNvPr id="444" name="Google Shape;444;p28"/>
          <p:cNvSpPr/>
          <p:nvPr/>
        </p:nvSpPr>
        <p:spPr>
          <a:xfrm>
            <a:off x="457200" y="6462713"/>
            <a:ext cx="105400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Fehér et al. (2009)</a:t>
            </a:r>
            <a:endParaRPr b="0" i="0" sz="1800" u="none" cap="none" strike="noStrike">
              <a:solidFill>
                <a:schemeClr val="dk1"/>
              </a:solidFill>
              <a:latin typeface="Calibri"/>
              <a:ea typeface="Calibri"/>
              <a:cs typeface="Calibri"/>
              <a:sym typeface="Calibri"/>
            </a:endParaRPr>
          </a:p>
        </p:txBody>
      </p:sp>
      <p:sp>
        <p:nvSpPr>
          <p:cNvPr id="445" name="Google Shape;445;p2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2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Copying changes the abundance of repeated syllables</a:t>
            </a:r>
            <a:endParaRPr b="0" i="0" sz="1800" u="none" cap="none" strike="noStrike">
              <a:solidFill>
                <a:schemeClr val="dk1"/>
              </a:solidFill>
              <a:latin typeface="Calibri"/>
              <a:ea typeface="Calibri"/>
              <a:cs typeface="Calibri"/>
              <a:sym typeface="Calibri"/>
            </a:endParaRPr>
          </a:p>
        </p:txBody>
      </p:sp>
      <p:sp>
        <p:nvSpPr>
          <p:cNvPr id="451" name="Google Shape;451;p29"/>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u="none" cap="none" strike="noStrike">
                <a:solidFill>
                  <a:srgbClr val="202329"/>
                </a:solidFill>
                <a:latin typeface="Arial"/>
                <a:ea typeface="Arial"/>
                <a:cs typeface="Arial"/>
                <a:sym typeface="Arial"/>
              </a:rPr>
              <a:t>Syllable abundance</a:t>
            </a:r>
            <a:r>
              <a:rPr b="0" i="0" lang="en-US" sz="1500" u="none" cap="none" strike="noStrike">
                <a:solidFill>
                  <a:srgbClr val="202329"/>
                </a:solidFill>
                <a:latin typeface="Arial"/>
                <a:ea typeface="Arial"/>
                <a:cs typeface="Arial"/>
                <a:sym typeface="Arial"/>
              </a:rPr>
              <a:t> is the proportion of song occupied by a given syllable type. Fehér and colleagues compared isolate tutors whose songs were dominated by repetitive units with the songs acquired by juveniles exposed to those tutors.</a:t>
            </a:r>
            <a:endParaRPr b="0" i="0" sz="1800" u="none" cap="none" strike="noStrike">
              <a:solidFill>
                <a:schemeClr val="dk1"/>
              </a:solidFill>
              <a:latin typeface="Calibri"/>
              <a:ea typeface="Calibri"/>
              <a:cs typeface="Calibri"/>
              <a:sym typeface="Calibri"/>
            </a:endParaRPr>
          </a:p>
        </p:txBody>
      </p:sp>
      <p:sp>
        <p:nvSpPr>
          <p:cNvPr id="452" name="Google Shape;452;p29"/>
          <p:cNvSpPr/>
          <p:nvPr/>
        </p:nvSpPr>
        <p:spPr>
          <a:xfrm>
            <a:off x="457200" y="26774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When one syllable dominated the isolate song, its abundance in pupil song fell to approximately 20–30%. The pupils generally retained the tutor’s syllable material while reorganizing repetition into more structured motifs, rather than needing a normal adult song as their only possible template.</a:t>
            </a:r>
            <a:endParaRPr b="0" i="0" sz="1800" u="none" cap="none" strike="noStrike">
              <a:solidFill>
                <a:schemeClr val="dk1"/>
              </a:solidFill>
              <a:latin typeface="Calibri"/>
              <a:ea typeface="Calibri"/>
              <a:cs typeface="Calibri"/>
              <a:sym typeface="Calibri"/>
            </a:endParaRPr>
          </a:p>
        </p:txBody>
      </p:sp>
      <p:sp>
        <p:nvSpPr>
          <p:cNvPr id="453" name="Google Shape;453;p29"/>
          <p:cNvSpPr/>
          <p:nvPr/>
        </p:nvSpPr>
        <p:spPr>
          <a:xfrm>
            <a:off x="457200" y="46891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The change separates acquisition of syllable identity from reproduction of its frequency of use. It supports constraints on how learned material is organized, but it does not establish that a fixed genetic sequence directly specifies each motif or that all social contexts produce identical learning biases.</a:t>
            </a:r>
            <a:endParaRPr b="0" i="0" sz="1800" u="none" cap="none" strike="noStrike">
              <a:solidFill>
                <a:schemeClr val="dk1"/>
              </a:solidFill>
              <a:latin typeface="Calibri"/>
              <a:ea typeface="Calibri"/>
              <a:cs typeface="Calibri"/>
              <a:sym typeface="Calibri"/>
            </a:endParaRPr>
          </a:p>
        </p:txBody>
      </p:sp>
      <p:pic>
        <p:nvPicPr>
          <p:cNvPr id="454" name="Google Shape;454;p29"/>
          <p:cNvPicPr preferRelativeResize="0"/>
          <p:nvPr/>
        </p:nvPicPr>
        <p:blipFill rotWithShape="1">
          <a:blip r:embed="rId3">
            <a:alphaModFix/>
          </a:blip>
          <a:srcRect b="0" l="0" r="0" t="0"/>
          <a:stretch/>
        </p:blipFill>
        <p:spPr>
          <a:xfrm>
            <a:off x="6610350" y="1432231"/>
            <a:ext cx="5048250" cy="3246718"/>
          </a:xfrm>
          <a:prstGeom prst="rect">
            <a:avLst/>
          </a:prstGeom>
          <a:noFill/>
          <a:ln>
            <a:noFill/>
          </a:ln>
        </p:spPr>
      </p:pic>
      <p:sp>
        <p:nvSpPr>
          <p:cNvPr id="455" name="Google Shape;455;p2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Fehér et al. (2009), Fig. 2(g–j). Tutor repetition and the more structured pupil song.</a:t>
            </a:r>
            <a:endParaRPr b="0" i="0" sz="1800" u="none" cap="none" strike="noStrike">
              <a:solidFill>
                <a:schemeClr val="dk1"/>
              </a:solidFill>
              <a:latin typeface="Calibri"/>
              <a:ea typeface="Calibri"/>
              <a:cs typeface="Calibri"/>
              <a:sym typeface="Calibri"/>
            </a:endParaRPr>
          </a:p>
        </p:txBody>
      </p:sp>
      <p:sp>
        <p:nvSpPr>
          <p:cNvPr id="456" name="Google Shape;456;p29"/>
          <p:cNvSpPr/>
          <p:nvPr/>
        </p:nvSpPr>
        <p:spPr>
          <a:xfrm>
            <a:off x="457200" y="6462713"/>
            <a:ext cx="105400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Fehér et al. (2009)</a:t>
            </a:r>
            <a:endParaRPr b="0" i="0" sz="1800" u="none" cap="none" strike="noStrike">
              <a:solidFill>
                <a:schemeClr val="dk1"/>
              </a:solidFill>
              <a:latin typeface="Calibri"/>
              <a:ea typeface="Calibri"/>
              <a:cs typeface="Calibri"/>
              <a:sym typeface="Calibri"/>
            </a:endParaRPr>
          </a:p>
        </p:txBody>
      </p:sp>
      <p:sp>
        <p:nvSpPr>
          <p:cNvPr id="457" name="Google Shape;457;p2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5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Copying bias, not copying error, pulls song toward wild type</a:t>
            </a:r>
            <a:endParaRPr b="0" i="0" sz="1800" u="none" cap="none" strike="noStrike">
              <a:solidFill>
                <a:schemeClr val="dk1"/>
              </a:solidFill>
              <a:latin typeface="Calibri"/>
              <a:ea typeface="Calibri"/>
              <a:cs typeface="Calibri"/>
              <a:sym typeface="Calibri"/>
            </a:endParaRPr>
          </a:p>
        </p:txBody>
      </p:sp>
      <p:sp>
        <p:nvSpPr>
          <p:cNvPr id="463" name="Google Shape;463;p57"/>
          <p:cNvSpPr/>
          <p:nvPr/>
        </p:nvSpPr>
        <p:spPr>
          <a:xfrm>
            <a:off x="457200" y="1055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Imperfect copying can go wrong in two ways. </a:t>
            </a:r>
            <a:r>
              <a:rPr b="1" i="0" lang="en-US" sz="1400" u="none" cap="none" strike="noStrike">
                <a:solidFill>
                  <a:srgbClr val="202329"/>
                </a:solidFill>
                <a:latin typeface="Arial"/>
                <a:ea typeface="Arial"/>
                <a:cs typeface="Arial"/>
                <a:sym typeface="Arial"/>
              </a:rPr>
              <a:t>Random error</a:t>
            </a:r>
            <a:r>
              <a:rPr b="0" i="0" lang="en-US" sz="1400" u="none" cap="none" strike="noStrike">
                <a:solidFill>
                  <a:srgbClr val="202329"/>
                </a:solidFill>
                <a:latin typeface="Arial"/>
                <a:ea typeface="Arial"/>
                <a:cs typeface="Arial"/>
                <a:sym typeface="Arial"/>
              </a:rPr>
              <a:t> scatters copies around the model in no particular direction, so over generations a song drifts without limit. A </a:t>
            </a:r>
            <a:r>
              <a:rPr b="1" i="0" lang="en-US" sz="1400" u="none" cap="none" strike="noStrike">
                <a:solidFill>
                  <a:srgbClr val="202329"/>
                </a:solidFill>
                <a:latin typeface="Arial"/>
                <a:ea typeface="Arial"/>
                <a:cs typeface="Arial"/>
                <a:sym typeface="Arial"/>
              </a:rPr>
              <a:t>copying bias</a:t>
            </a:r>
            <a:r>
              <a:rPr b="0" i="0" lang="en-US" sz="1400" u="none" cap="none" strike="noStrike">
                <a:solidFill>
                  <a:srgbClr val="202329"/>
                </a:solidFill>
                <a:latin typeface="Arial"/>
                <a:ea typeface="Arial"/>
                <a:cs typeface="Arial"/>
                <a:sym typeface="Arial"/>
              </a:rPr>
              <a:t> alters copies in a consistent direction, so repeated learning moves song toward the range the bias favors.</a:t>
            </a:r>
            <a:endParaRPr b="0" i="0" sz="1700" u="none" cap="none" strike="noStrike">
              <a:solidFill>
                <a:schemeClr val="dk1"/>
              </a:solidFill>
              <a:latin typeface="Calibri"/>
              <a:ea typeface="Calibri"/>
              <a:cs typeface="Calibri"/>
              <a:sym typeface="Calibri"/>
            </a:endParaRPr>
          </a:p>
        </p:txBody>
      </p:sp>
      <p:sp>
        <p:nvSpPr>
          <p:cNvPr id="464" name="Google Shape;464;p57"/>
          <p:cNvSpPr/>
          <p:nvPr/>
        </p:nvSpPr>
        <p:spPr>
          <a:xfrm>
            <a:off x="457200" y="2897966"/>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Fehér and colleagues found the second kind. Pupils matched tutor syllable durations within roughly the wild-type range, whose middle half spans about 67–180 ms, and shortened only longer syllables. Abundance followed the same rule: copied when typical, reduced when one syllable dominated.</a:t>
            </a:r>
            <a:endParaRPr b="0" i="0" sz="1700" u="none" cap="none" strike="noStrike">
              <a:solidFill>
                <a:schemeClr val="dk1"/>
              </a:solidFill>
              <a:latin typeface="Calibri"/>
              <a:ea typeface="Calibri"/>
              <a:cs typeface="Calibri"/>
              <a:sym typeface="Calibri"/>
            </a:endParaRPr>
          </a:p>
        </p:txBody>
      </p:sp>
      <p:sp>
        <p:nvSpPr>
          <p:cNvPr id="465" name="Google Shape;465;p57"/>
          <p:cNvSpPr/>
          <p:nvPr/>
        </p:nvSpPr>
        <p:spPr>
          <a:xfrm>
            <a:off x="457200" y="4740593"/>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 bias that acts only outside the typical range works like a restoring force, sparing normal features and pushing extreme ones back. It accounts for isolate lineages converging on wild-type song and for song cultures staying within species-typical bounds despite constant copying errors.</a:t>
            </a:r>
            <a:endParaRPr b="0" i="0" sz="1700" u="none" cap="none" strike="noStrike">
              <a:solidFill>
                <a:schemeClr val="dk1"/>
              </a:solidFill>
              <a:latin typeface="Calibri"/>
              <a:ea typeface="Calibri"/>
              <a:cs typeface="Calibri"/>
              <a:sym typeface="Calibri"/>
            </a:endParaRPr>
          </a:p>
        </p:txBody>
      </p:sp>
      <p:pic>
        <p:nvPicPr>
          <p:cNvPr id="466" name="Google Shape;466;p57"/>
          <p:cNvPicPr preferRelativeResize="0"/>
          <p:nvPr/>
        </p:nvPicPr>
        <p:blipFill rotWithShape="1">
          <a:blip r:embed="rId3">
            <a:alphaModFix/>
          </a:blip>
          <a:srcRect b="0" l="0" r="0" t="0"/>
          <a:stretch/>
        </p:blipFill>
        <p:spPr>
          <a:xfrm>
            <a:off x="6610350" y="1432231"/>
            <a:ext cx="5048250" cy="3246718"/>
          </a:xfrm>
          <a:prstGeom prst="rect">
            <a:avLst/>
          </a:prstGeom>
          <a:noFill/>
          <a:ln>
            <a:noFill/>
          </a:ln>
        </p:spPr>
      </p:pic>
      <p:sp>
        <p:nvSpPr>
          <p:cNvPr id="467" name="Google Shape;467;p5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Fehér et al. (2009), Fig. 2(g–j). Tutor–pupil spectrograms and the relationship of syllable durations.</a:t>
            </a:r>
            <a:endParaRPr b="0" i="0" sz="1800" u="none" cap="none" strike="noStrike">
              <a:solidFill>
                <a:schemeClr val="dk1"/>
              </a:solidFill>
              <a:latin typeface="Calibri"/>
              <a:ea typeface="Calibri"/>
              <a:cs typeface="Calibri"/>
              <a:sym typeface="Calibri"/>
            </a:endParaRPr>
          </a:p>
        </p:txBody>
      </p:sp>
      <p:sp>
        <p:nvSpPr>
          <p:cNvPr id="468" name="Google Shape;468;p57"/>
          <p:cNvSpPr/>
          <p:nvPr/>
        </p:nvSpPr>
        <p:spPr>
          <a:xfrm>
            <a:off x="457200" y="6462713"/>
            <a:ext cx="134289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Fehér et al. (2009)</a:t>
            </a:r>
            <a:endParaRPr b="0" i="0" sz="1800" u="none" cap="none" strike="noStrike">
              <a:solidFill>
                <a:schemeClr val="dk1"/>
              </a:solidFill>
              <a:latin typeface="Calibri"/>
              <a:ea typeface="Calibri"/>
              <a:cs typeface="Calibri"/>
              <a:sym typeface="Calibri"/>
            </a:endParaRPr>
          </a:p>
        </p:txBody>
      </p:sp>
      <p:sp>
        <p:nvSpPr>
          <p:cNvPr id="469" name="Google Shape;469;p57"/>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29a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3" name="Shape 473"/>
        <p:cNvGrpSpPr/>
        <p:nvPr/>
      </p:nvGrpSpPr>
      <p:grpSpPr>
        <a:xfrm>
          <a:off x="0" y="0"/>
          <a:ext cx="0" cy="0"/>
          <a:chOff x="0" y="0"/>
          <a:chExt cx="0" cy="0"/>
        </a:xfrm>
      </p:grpSpPr>
      <p:sp>
        <p:nvSpPr>
          <p:cNvPr id="474" name="Google Shape;474;p3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Small learning biases accumulate across generations</a:t>
            </a:r>
            <a:endParaRPr b="0" i="0" sz="1800" u="none" cap="none" strike="noStrike">
              <a:solidFill>
                <a:schemeClr val="dk1"/>
              </a:solidFill>
              <a:latin typeface="Calibri"/>
              <a:ea typeface="Calibri"/>
              <a:cs typeface="Calibri"/>
              <a:sym typeface="Calibri"/>
            </a:endParaRPr>
          </a:p>
        </p:txBody>
      </p:sp>
      <p:sp>
        <p:nvSpPr>
          <p:cNvPr id="475" name="Google Shape;475;p30"/>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A </a:t>
            </a:r>
            <a:r>
              <a:rPr b="1" i="0" lang="en-US" sz="1500" u="none" cap="none" strike="noStrike">
                <a:solidFill>
                  <a:srgbClr val="202329"/>
                </a:solidFill>
                <a:latin typeface="Arial"/>
                <a:ea typeface="Arial"/>
                <a:cs typeface="Arial"/>
                <a:sym typeface="Arial"/>
              </a:rPr>
              <a:t>tutoring generation</a:t>
            </a:r>
            <a:r>
              <a:rPr b="0" i="0" lang="en-US" sz="1500" u="none" cap="none" strike="noStrike">
                <a:solidFill>
                  <a:srgbClr val="202329"/>
                </a:solidFill>
                <a:latin typeface="Arial"/>
                <a:ea typeface="Arial"/>
                <a:cs typeface="Arial"/>
                <a:sym typeface="Arial"/>
              </a:rPr>
              <a:t> is one step in which a learner acquires song and later serves as the model for another learner. Fehér and colleagues established lineages from isolate founders, allowing pupils to become tutors when they reached adulthood at roughly 120–140 days.</a:t>
            </a:r>
            <a:endParaRPr b="0" i="0" sz="1800" u="none" cap="none" strike="noStrike">
              <a:solidFill>
                <a:schemeClr val="dk1"/>
              </a:solidFill>
              <a:latin typeface="Calibri"/>
              <a:ea typeface="Calibri"/>
              <a:cs typeface="Calibri"/>
              <a:sym typeface="Calibri"/>
            </a:endParaRPr>
          </a:p>
        </p:txBody>
      </p:sp>
      <p:sp>
        <p:nvSpPr>
          <p:cNvPr id="476" name="Google Shape;476;p30"/>
          <p:cNvSpPr/>
          <p:nvPr/>
        </p:nvSpPr>
        <p:spPr>
          <a:xfrm>
            <a:off x="457200" y="2797959"/>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Song moved toward the wild-type distribution over three to four learning generations. The accumulating changes included shorter sustained acoustic states and more typical spectral and rhythmic organization, even though each learner began with the altered song of the preceding tutor.</a:t>
            </a:r>
            <a:endParaRPr b="0" i="0" sz="1800" u="none" cap="none" strike="noStrike">
              <a:solidFill>
                <a:schemeClr val="dk1"/>
              </a:solidFill>
              <a:latin typeface="Calibri"/>
              <a:ea typeface="Calibri"/>
              <a:cs typeface="Calibri"/>
              <a:sym typeface="Calibri"/>
            </a:endParaRPr>
          </a:p>
        </p:txBody>
      </p:sp>
      <p:sp>
        <p:nvSpPr>
          <p:cNvPr id="477" name="Google Shape;477;p30"/>
          <p:cNvSpPr/>
          <p:nvPr/>
        </p:nvSpPr>
        <p:spPr>
          <a:xfrm>
            <a:off x="457200" y="4592497"/>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This is transmission of a behavioral phenotype through learning, not evidence of new genetic adaptation within three generations. The controlled lineages separate cultural inheritance from the assumption that resemblance between generations must result from shared DNA alone.</a:t>
            </a:r>
            <a:endParaRPr b="0" i="0" sz="1800" u="none" cap="none" strike="noStrike">
              <a:solidFill>
                <a:schemeClr val="dk1"/>
              </a:solidFill>
              <a:latin typeface="Calibri"/>
              <a:ea typeface="Calibri"/>
              <a:cs typeface="Calibri"/>
              <a:sym typeface="Calibri"/>
            </a:endParaRPr>
          </a:p>
        </p:txBody>
      </p:sp>
      <p:pic>
        <p:nvPicPr>
          <p:cNvPr id="478" name="Google Shape;478;p30"/>
          <p:cNvPicPr preferRelativeResize="0"/>
          <p:nvPr/>
        </p:nvPicPr>
        <p:blipFill rotWithShape="1">
          <a:blip r:embed="rId3">
            <a:alphaModFix/>
          </a:blip>
          <a:srcRect b="0" l="0" r="0" t="0"/>
          <a:stretch/>
        </p:blipFill>
        <p:spPr>
          <a:xfrm>
            <a:off x="6794138" y="1055340"/>
            <a:ext cx="4680674" cy="4000500"/>
          </a:xfrm>
          <a:prstGeom prst="rect">
            <a:avLst/>
          </a:prstGeom>
          <a:noFill/>
          <a:ln>
            <a:noFill/>
          </a:ln>
        </p:spPr>
      </p:pic>
      <p:sp>
        <p:nvSpPr>
          <p:cNvPr id="479" name="Google Shape;479;p3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Fehér et al. (2009), Fig. 3(a–e). Song changes along controlled tutoring lineages.</a:t>
            </a:r>
            <a:endParaRPr b="0" i="0" sz="1800" u="none" cap="none" strike="noStrike">
              <a:solidFill>
                <a:schemeClr val="dk1"/>
              </a:solidFill>
              <a:latin typeface="Calibri"/>
              <a:ea typeface="Calibri"/>
              <a:cs typeface="Calibri"/>
              <a:sym typeface="Calibri"/>
            </a:endParaRPr>
          </a:p>
        </p:txBody>
      </p:sp>
      <p:sp>
        <p:nvSpPr>
          <p:cNvPr id="480" name="Google Shape;480;p30"/>
          <p:cNvSpPr/>
          <p:nvPr/>
        </p:nvSpPr>
        <p:spPr>
          <a:xfrm>
            <a:off x="457200" y="6462713"/>
            <a:ext cx="105400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Fehér et al. (2009)</a:t>
            </a:r>
            <a:endParaRPr b="0" i="0" sz="1800" u="none" cap="none" strike="noStrike">
              <a:solidFill>
                <a:schemeClr val="dk1"/>
              </a:solidFill>
              <a:latin typeface="Calibri"/>
              <a:ea typeface="Calibri"/>
              <a:cs typeface="Calibri"/>
              <a:sym typeface="Calibri"/>
            </a:endParaRPr>
          </a:p>
        </p:txBody>
      </p:sp>
      <p:sp>
        <p:nvSpPr>
          <p:cNvPr id="481" name="Google Shape;481;p3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3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Colony transmission also moves songs toward wild type</a:t>
            </a:r>
            <a:endParaRPr b="0" i="0" sz="1800" u="none" cap="none" strike="noStrike">
              <a:solidFill>
                <a:schemeClr val="dk1"/>
              </a:solidFill>
              <a:latin typeface="Calibri"/>
              <a:ea typeface="Calibri"/>
              <a:cs typeface="Calibri"/>
              <a:sym typeface="Calibri"/>
            </a:endParaRPr>
          </a:p>
        </p:txBody>
      </p:sp>
      <p:sp>
        <p:nvSpPr>
          <p:cNvPr id="487" name="Google Shape;487;p31"/>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u="none" cap="none" strike="noStrike">
                <a:solidFill>
                  <a:srgbClr val="202329"/>
                </a:solidFill>
                <a:latin typeface="Arial"/>
                <a:ea typeface="Arial"/>
                <a:cs typeface="Arial"/>
                <a:sym typeface="Arial"/>
              </a:rPr>
              <a:t>Cultural transmission</a:t>
            </a:r>
            <a:r>
              <a:rPr b="0" i="0" lang="en-US" sz="1500" u="none" cap="none" strike="noStrike">
                <a:solidFill>
                  <a:srgbClr val="202329"/>
                </a:solidFill>
                <a:latin typeface="Arial"/>
                <a:ea typeface="Arial"/>
                <a:cs typeface="Arial"/>
                <a:sym typeface="Arial"/>
              </a:rPr>
              <a:t> is passage of behavioral information through social learning. Fehér and colleagues founded an acoustically isolated colony with an isolate male and females, allowing new learners to hear multiple birds and develop within a social group.</a:t>
            </a:r>
            <a:endParaRPr b="0" i="0" sz="1800" u="none" cap="none" strike="noStrike">
              <a:solidFill>
                <a:schemeClr val="dk1"/>
              </a:solidFill>
              <a:latin typeface="Calibri"/>
              <a:ea typeface="Calibri"/>
              <a:cs typeface="Calibri"/>
              <a:sym typeface="Calibri"/>
            </a:endParaRPr>
          </a:p>
        </p:txBody>
      </p:sp>
      <p:sp>
        <p:nvSpPr>
          <p:cNvPr id="488" name="Google Shape;488;p31"/>
          <p:cNvSpPr/>
          <p:nvPr/>
        </p:nvSpPr>
        <p:spPr>
          <a:xfrm>
            <a:off x="457200" y="263649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Across successive clutches, songs moved toward wild-type characteristics, paralleling the controlled tutor–pupil lineages. Rhythm approached the normal pattern particularly rapidly in the colony, while other features changed through successive generations of learners.</a:t>
            </a:r>
            <a:endParaRPr b="0" i="0" sz="1800" u="none" cap="none" strike="noStrike">
              <a:solidFill>
                <a:schemeClr val="dk1"/>
              </a:solidFill>
              <a:latin typeface="Calibri"/>
              <a:ea typeface="Calibri"/>
              <a:cs typeface="Calibri"/>
              <a:sym typeface="Calibri"/>
            </a:endParaRPr>
          </a:p>
        </p:txBody>
      </p:sp>
      <p:sp>
        <p:nvSpPr>
          <p:cNvPr id="489" name="Google Shape;489;p31"/>
          <p:cNvSpPr/>
          <p:nvPr/>
        </p:nvSpPr>
        <p:spPr>
          <a:xfrm>
            <a:off x="457200" y="44829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The colony adds evidence that the directional change was not restricted to one-to-one tutoring. Because colony members could choose among models and respond to social partners, it does not isolate every source of the change. Competition, tutor selection, and female feedback remained possible contributors.</a:t>
            </a:r>
            <a:endParaRPr b="0" i="0" sz="1800" u="none" cap="none" strike="noStrike">
              <a:solidFill>
                <a:schemeClr val="dk1"/>
              </a:solidFill>
              <a:latin typeface="Calibri"/>
              <a:ea typeface="Calibri"/>
              <a:cs typeface="Calibri"/>
              <a:sym typeface="Calibri"/>
            </a:endParaRPr>
          </a:p>
        </p:txBody>
      </p:sp>
      <p:pic>
        <p:nvPicPr>
          <p:cNvPr id="490" name="Google Shape;490;p31"/>
          <p:cNvPicPr preferRelativeResize="0"/>
          <p:nvPr/>
        </p:nvPicPr>
        <p:blipFill rotWithShape="1">
          <a:blip r:embed="rId3">
            <a:alphaModFix/>
          </a:blip>
          <a:srcRect b="0" l="0" r="0" t="0"/>
          <a:stretch/>
        </p:blipFill>
        <p:spPr>
          <a:xfrm>
            <a:off x="6610350" y="1412197"/>
            <a:ext cx="5048250" cy="3286787"/>
          </a:xfrm>
          <a:prstGeom prst="rect">
            <a:avLst/>
          </a:prstGeom>
          <a:noFill/>
          <a:ln>
            <a:noFill/>
          </a:ln>
        </p:spPr>
      </p:pic>
      <p:sp>
        <p:nvSpPr>
          <p:cNvPr id="491" name="Google Shape;491;p3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Fehér et al. (2009), Fig. 4(a–e). Relationships and song change in the isolated colony.</a:t>
            </a:r>
            <a:endParaRPr b="0" i="0" sz="1800" u="none" cap="none" strike="noStrike">
              <a:solidFill>
                <a:schemeClr val="dk1"/>
              </a:solidFill>
              <a:latin typeface="Calibri"/>
              <a:ea typeface="Calibri"/>
              <a:cs typeface="Calibri"/>
              <a:sym typeface="Calibri"/>
            </a:endParaRPr>
          </a:p>
        </p:txBody>
      </p:sp>
      <p:sp>
        <p:nvSpPr>
          <p:cNvPr id="492" name="Google Shape;492;p31"/>
          <p:cNvSpPr/>
          <p:nvPr/>
        </p:nvSpPr>
        <p:spPr>
          <a:xfrm>
            <a:off x="457200" y="6462713"/>
            <a:ext cx="105400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Fehér et al. (2009)</a:t>
            </a:r>
            <a:endParaRPr b="0" i="0" sz="1800" u="none" cap="none" strike="noStrike">
              <a:solidFill>
                <a:schemeClr val="dk1"/>
              </a:solidFill>
              <a:latin typeface="Calibri"/>
              <a:ea typeface="Calibri"/>
              <a:cs typeface="Calibri"/>
              <a:sym typeface="Calibri"/>
            </a:endParaRPr>
          </a:p>
        </p:txBody>
      </p:sp>
      <p:sp>
        <p:nvSpPr>
          <p:cNvPr id="493" name="Google Shape;493;p3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5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Genes set the learning bias; generations build the song</a:t>
            </a:r>
            <a:endParaRPr b="0" i="0" sz="1800" u="none" cap="none" strike="noStrike">
              <a:solidFill>
                <a:schemeClr val="dk1"/>
              </a:solidFill>
              <a:latin typeface="Calibri"/>
              <a:ea typeface="Calibri"/>
              <a:cs typeface="Calibri"/>
              <a:sym typeface="Calibri"/>
            </a:endParaRPr>
          </a:p>
        </p:txBody>
      </p:sp>
      <p:sp>
        <p:nvSpPr>
          <p:cNvPr id="499" name="Google Shape;499;p58"/>
          <p:cNvSpPr/>
          <p:nvPr/>
        </p:nvSpPr>
        <p:spPr>
          <a:xfrm>
            <a:off x="457200" y="1055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Isolate song is not a genetic song uncovered by deprivation; it is the output of an inherited learning system that received no model. The genome supplies copying biases and a range of acceptable features, and species-typical song appears only when those biases act repeatedly on song material.</a:t>
            </a:r>
            <a:endParaRPr b="0" i="0" sz="1700" u="none" cap="none" strike="noStrike">
              <a:solidFill>
                <a:schemeClr val="dk1"/>
              </a:solidFill>
              <a:latin typeface="Calibri"/>
              <a:ea typeface="Calibri"/>
              <a:cs typeface="Calibri"/>
              <a:sym typeface="Calibri"/>
            </a:endParaRPr>
          </a:p>
        </p:txBody>
      </p:sp>
      <p:sp>
        <p:nvSpPr>
          <p:cNvPr id="500" name="Google Shape;500;p58"/>
          <p:cNvSpPr/>
          <p:nvPr/>
        </p:nvSpPr>
        <p:spPr>
          <a:xfrm>
            <a:off x="457200" y="2897966"/>
            <a:ext cx="5829300" cy="179222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Fehér and colleagues call wild-type song a </a:t>
            </a:r>
            <a:r>
              <a:rPr b="1" i="0" lang="en-US" sz="1400" u="none" cap="none" strike="noStrike">
                <a:solidFill>
                  <a:srgbClr val="202329"/>
                </a:solidFill>
                <a:latin typeface="Arial"/>
                <a:ea typeface="Arial"/>
                <a:cs typeface="Arial"/>
                <a:sym typeface="Arial"/>
              </a:rPr>
              <a:t>multigenerational phenotype</a:t>
            </a:r>
            <a:r>
              <a:rPr b="0" i="0" lang="en-US" sz="1400" u="none" cap="none" strike="noStrike">
                <a:solidFill>
                  <a:srgbClr val="202329"/>
                </a:solidFill>
                <a:latin typeface="Arial"/>
                <a:ea typeface="Arial"/>
                <a:cs typeface="Arial"/>
                <a:sym typeface="Arial"/>
              </a:rPr>
              <a:t>: partly encoded in the founders' genes, partly in the social environment, and needing several learning generations to be expressed. Pupils were unrelated to their tutors, so no genes passed along a lineage; learning carried the change, and biases shared by all the birds set its endpoint.</a:t>
            </a:r>
            <a:endParaRPr b="0" i="0" sz="1700" u="none" cap="none" strike="noStrike">
              <a:solidFill>
                <a:schemeClr val="dk1"/>
              </a:solidFill>
              <a:latin typeface="Calibri"/>
              <a:ea typeface="Calibri"/>
              <a:cs typeface="Calibri"/>
              <a:sym typeface="Calibri"/>
            </a:endParaRPr>
          </a:p>
        </p:txBody>
      </p:sp>
      <p:sp>
        <p:nvSpPr>
          <p:cNvPr id="501" name="Google Shape;501;p58"/>
          <p:cNvSpPr/>
          <p:nvPr/>
        </p:nvSpPr>
        <p:spPr>
          <a:xfrm>
            <a:off x="457200" y="5039297"/>
            <a:ext cx="5829300" cy="119481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Ontogeny can thus extend beyond one lifetime: birds with the same inherited predispositions sing isolate song in one generation and near wild-type song a few generations later, so a bird's song depends on the learning history of earlier birds.</a:t>
            </a:r>
            <a:endParaRPr b="0" i="0" sz="1700" u="none" cap="none" strike="noStrike">
              <a:solidFill>
                <a:schemeClr val="dk1"/>
              </a:solidFill>
              <a:latin typeface="Calibri"/>
              <a:ea typeface="Calibri"/>
              <a:cs typeface="Calibri"/>
              <a:sym typeface="Calibri"/>
            </a:endParaRPr>
          </a:p>
        </p:txBody>
      </p:sp>
      <p:pic>
        <p:nvPicPr>
          <p:cNvPr id="502" name="Google Shape;502;p58"/>
          <p:cNvPicPr preferRelativeResize="0"/>
          <p:nvPr/>
        </p:nvPicPr>
        <p:blipFill rotWithShape="1">
          <a:blip r:embed="rId3">
            <a:alphaModFix/>
          </a:blip>
          <a:srcRect b="0" l="0" r="0" t="0"/>
          <a:stretch/>
        </p:blipFill>
        <p:spPr>
          <a:xfrm>
            <a:off x="6610350" y="1412197"/>
            <a:ext cx="5048250" cy="3286787"/>
          </a:xfrm>
          <a:prstGeom prst="rect">
            <a:avLst/>
          </a:prstGeom>
          <a:noFill/>
          <a:ln>
            <a:noFill/>
          </a:ln>
        </p:spPr>
      </p:pic>
      <p:sp>
        <p:nvSpPr>
          <p:cNvPr id="503" name="Google Shape;503;p5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Fehér et al. (2009), Fig. 4(a–e). Relationships and song change in the isolated colony.</a:t>
            </a:r>
            <a:endParaRPr b="0" i="0" sz="1800" u="none" cap="none" strike="noStrike">
              <a:solidFill>
                <a:schemeClr val="dk1"/>
              </a:solidFill>
              <a:latin typeface="Calibri"/>
              <a:ea typeface="Calibri"/>
              <a:cs typeface="Calibri"/>
              <a:sym typeface="Calibri"/>
            </a:endParaRPr>
          </a:p>
        </p:txBody>
      </p:sp>
      <p:sp>
        <p:nvSpPr>
          <p:cNvPr id="504" name="Google Shape;504;p58"/>
          <p:cNvSpPr/>
          <p:nvPr/>
        </p:nvSpPr>
        <p:spPr>
          <a:xfrm>
            <a:off x="457200" y="6462713"/>
            <a:ext cx="259105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Fehér et al. (2009); Tinbergen (1963)</a:t>
            </a:r>
            <a:endParaRPr b="0" i="0" sz="1800" u="none" cap="none" strike="noStrike">
              <a:solidFill>
                <a:schemeClr val="dk1"/>
              </a:solidFill>
              <a:latin typeface="Calibri"/>
              <a:ea typeface="Calibri"/>
              <a:cs typeface="Calibri"/>
              <a:sym typeface="Calibri"/>
            </a:endParaRPr>
          </a:p>
        </p:txBody>
      </p:sp>
      <p:sp>
        <p:nvSpPr>
          <p:cNvPr id="505" name="Google Shape;505;p58"/>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31a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9" name="Shape 509"/>
        <p:cNvGrpSpPr/>
        <p:nvPr/>
      </p:nvGrpSpPr>
      <p:grpSpPr>
        <a:xfrm>
          <a:off x="0" y="0"/>
          <a:ext cx="0" cy="0"/>
          <a:chOff x="0" y="0"/>
          <a:chExt cx="0" cy="0"/>
        </a:xfrm>
      </p:grpSpPr>
      <p:sp>
        <p:nvSpPr>
          <p:cNvPr id="510" name="Google Shape;510;p3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Molecular interventions test a developmental cause</a:t>
            </a:r>
            <a:endParaRPr b="0" i="0" sz="1800" u="none" cap="none" strike="noStrike">
              <a:solidFill>
                <a:schemeClr val="dk1"/>
              </a:solidFill>
              <a:latin typeface="Calibri"/>
              <a:ea typeface="Calibri"/>
              <a:cs typeface="Calibri"/>
              <a:sym typeface="Calibri"/>
            </a:endParaRPr>
          </a:p>
        </p:txBody>
      </p:sp>
      <p:sp>
        <p:nvSpPr>
          <p:cNvPr id="511" name="Google Shape;511;p32"/>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u="none" cap="none" strike="noStrike">
                <a:solidFill>
                  <a:srgbClr val="202329"/>
                </a:solidFill>
                <a:latin typeface="Arial"/>
                <a:ea typeface="Arial"/>
                <a:cs typeface="Arial"/>
                <a:sym typeface="Arial"/>
              </a:rPr>
              <a:t>RNA interference</a:t>
            </a:r>
            <a:r>
              <a:rPr b="0" i="0" lang="en-US" sz="1500" u="none" cap="none" strike="noStrike">
                <a:solidFill>
                  <a:srgbClr val="202329"/>
                </a:solidFill>
                <a:latin typeface="Arial"/>
                <a:ea typeface="Arial"/>
                <a:cs typeface="Arial"/>
                <a:sym typeface="Arial"/>
              </a:rPr>
              <a:t> reduces expression of a target gene through short RNA sequences that guide suppression of its messenger RNA. Haesler and colleagues delivered hairpin RNA with a lentiviral vector to reduce FoxP2 expression in zebra finch Area X.</a:t>
            </a:r>
            <a:endParaRPr b="0" i="0" sz="1800" u="none" cap="none" strike="noStrike">
              <a:solidFill>
                <a:schemeClr val="dk1"/>
              </a:solidFill>
              <a:latin typeface="Calibri"/>
              <a:ea typeface="Calibri"/>
              <a:cs typeface="Calibri"/>
              <a:sym typeface="Calibri"/>
            </a:endParaRPr>
          </a:p>
        </p:txBody>
      </p:sp>
      <p:sp>
        <p:nvSpPr>
          <p:cNvPr id="512" name="Google Shape;512;p32"/>
          <p:cNvSpPr/>
          <p:nvPr/>
        </p:nvSpPr>
        <p:spPr>
          <a:xfrm>
            <a:off x="457200" y="2639432"/>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The intervention occurred on day 23 after hatching; each pupil then lived with a tutor from day 30. Viral reporter fluorescence identified the infected region, and adult songs were compared with songs from birds given control constructs.</a:t>
            </a:r>
            <a:endParaRPr b="0" i="0" sz="1800" u="none" cap="none" strike="noStrike">
              <a:solidFill>
                <a:schemeClr val="dk1"/>
              </a:solidFill>
              <a:latin typeface="Calibri"/>
              <a:ea typeface="Calibri"/>
              <a:cs typeface="Calibri"/>
              <a:sym typeface="Calibri"/>
            </a:endParaRPr>
          </a:p>
        </p:txBody>
      </p:sp>
      <p:sp>
        <p:nvSpPr>
          <p:cNvPr id="513" name="Google Shape;513;p32"/>
          <p:cNvSpPr/>
          <p:nvPr/>
        </p:nvSpPr>
        <p:spPr>
          <a:xfrm>
            <a:off x="457200" y="41624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This experimental sequence tests a molecular contribution to developmental learning rather than a correlation between gene expression and singing. A localized manipulation provides causal evidence, but the resulting behavior depends on interactions with the rest of the vocal-learning system and the tutor experience.</a:t>
            </a:r>
            <a:endParaRPr b="0" i="0" sz="1800" u="none" cap="none" strike="noStrike">
              <a:solidFill>
                <a:schemeClr val="dk1"/>
              </a:solidFill>
              <a:latin typeface="Calibri"/>
              <a:ea typeface="Calibri"/>
              <a:cs typeface="Calibri"/>
              <a:sym typeface="Calibri"/>
            </a:endParaRPr>
          </a:p>
        </p:txBody>
      </p:sp>
      <p:pic>
        <p:nvPicPr>
          <p:cNvPr id="514" name="Google Shape;514;p32"/>
          <p:cNvPicPr preferRelativeResize="0"/>
          <p:nvPr/>
        </p:nvPicPr>
        <p:blipFill rotWithShape="1">
          <a:blip r:embed="rId3">
            <a:alphaModFix/>
          </a:blip>
          <a:srcRect b="0" l="0" r="0" t="0"/>
          <a:stretch/>
        </p:blipFill>
        <p:spPr>
          <a:xfrm>
            <a:off x="6610350" y="2118198"/>
            <a:ext cx="5048250" cy="1874785"/>
          </a:xfrm>
          <a:prstGeom prst="rect">
            <a:avLst/>
          </a:prstGeom>
          <a:noFill/>
          <a:ln>
            <a:noFill/>
          </a:ln>
        </p:spPr>
      </p:pic>
      <p:sp>
        <p:nvSpPr>
          <p:cNvPr id="515" name="Google Shape;515;p32"/>
          <p:cNvSpPr/>
          <p:nvPr/>
        </p:nvSpPr>
        <p:spPr>
          <a:xfrm>
            <a:off x="6610350" y="5170140"/>
            <a:ext cx="5067300" cy="185738"/>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Haesler et al. (2007), Fig. 1(A–E). Area X and the localized viral infection.</a:t>
            </a:r>
            <a:endParaRPr b="0" i="0" sz="1800" u="none" cap="none" strike="noStrike">
              <a:solidFill>
                <a:schemeClr val="dk1"/>
              </a:solidFill>
              <a:latin typeface="Calibri"/>
              <a:ea typeface="Calibri"/>
              <a:cs typeface="Calibri"/>
              <a:sym typeface="Calibri"/>
            </a:endParaRPr>
          </a:p>
        </p:txBody>
      </p:sp>
      <p:sp>
        <p:nvSpPr>
          <p:cNvPr id="516" name="Google Shape;516;p32"/>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Haesler et al. (2007)</a:t>
            </a:r>
            <a:endParaRPr b="0" i="0" sz="1800" u="none" cap="none" strike="noStrike">
              <a:solidFill>
                <a:schemeClr val="dk1"/>
              </a:solidFill>
              <a:latin typeface="Calibri"/>
              <a:ea typeface="Calibri"/>
              <a:cs typeface="Calibri"/>
              <a:sym typeface="Calibri"/>
            </a:endParaRPr>
          </a:p>
        </p:txBody>
      </p:sp>
      <p:sp>
        <p:nvSpPr>
          <p:cNvPr id="517" name="Google Shape;517;p3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1" name="Shape 521"/>
        <p:cNvGrpSpPr/>
        <p:nvPr/>
      </p:nvGrpSpPr>
      <p:grpSpPr>
        <a:xfrm>
          <a:off x="0" y="0"/>
          <a:ext cx="0" cy="0"/>
          <a:chOff x="0" y="0"/>
          <a:chExt cx="0" cy="0"/>
        </a:xfrm>
      </p:grpSpPr>
      <p:sp>
        <p:nvSpPr>
          <p:cNvPr id="522" name="Google Shape;522;p3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Target specificity requires molecular controls</a:t>
            </a:r>
            <a:endParaRPr b="0" i="0" sz="1800" u="none" cap="none" strike="noStrike">
              <a:solidFill>
                <a:schemeClr val="dk1"/>
              </a:solidFill>
              <a:latin typeface="Calibri"/>
              <a:ea typeface="Calibri"/>
              <a:cs typeface="Calibri"/>
              <a:sym typeface="Calibri"/>
            </a:endParaRPr>
          </a:p>
        </p:txBody>
      </p:sp>
      <p:sp>
        <p:nvSpPr>
          <p:cNvPr id="523" name="Google Shape;523;p33"/>
          <p:cNvSpPr/>
          <p:nvPr/>
        </p:nvSpPr>
        <p:spPr>
          <a:xfrm>
            <a:off x="457200" y="1055340"/>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u="none" cap="none" strike="noStrike">
                <a:solidFill>
                  <a:srgbClr val="202329"/>
                </a:solidFill>
                <a:latin typeface="Arial"/>
                <a:ea typeface="Arial"/>
                <a:cs typeface="Arial"/>
                <a:sym typeface="Arial"/>
              </a:rPr>
              <a:t>Specificity</a:t>
            </a:r>
            <a:r>
              <a:rPr b="0" i="0" lang="en-US" sz="1450" u="none" cap="none" strike="noStrike">
                <a:solidFill>
                  <a:srgbClr val="202329"/>
                </a:solidFill>
                <a:latin typeface="Arial"/>
                <a:ea typeface="Arial"/>
                <a:cs typeface="Arial"/>
                <a:sym typeface="Arial"/>
              </a:rPr>
              <a:t> concerns whether a manipulation acts on its intended target rather than indiscriminately changing related processes. Haesler and colleagues designed two hairpin RNAs directed at different FoxP2 sequences and compared their effects with a nontargeting control.</a:t>
            </a:r>
            <a:endParaRPr b="0" i="0" sz="1600" u="none" cap="none" strike="noStrike">
              <a:solidFill>
                <a:schemeClr val="dk1"/>
              </a:solidFill>
              <a:latin typeface="Calibri"/>
              <a:ea typeface="Calibri"/>
              <a:cs typeface="Calibri"/>
              <a:sym typeface="Calibri"/>
            </a:endParaRPr>
          </a:p>
        </p:txBody>
      </p:sp>
      <p:sp>
        <p:nvSpPr>
          <p:cNvPr id="524" name="Google Shape;524;p33"/>
          <p:cNvSpPr/>
          <p:nvPr/>
        </p:nvSpPr>
        <p:spPr>
          <a:xfrm>
            <a:off x="457200" y="2728804"/>
            <a:ext cx="5581800" cy="16965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Both target hairpins reduced FoxP2 protein in cultured cells while leaving FoxP1, its close relative, comparatively unaffected. Protein measurements included an actin loading control, allowing a reduction in the target band to be distinguished from simply loading less material.</a:t>
            </a:r>
            <a:endParaRPr b="0" i="0" sz="1600" u="none" cap="none" strike="noStrike">
              <a:solidFill>
                <a:schemeClr val="dk1"/>
              </a:solidFill>
              <a:latin typeface="Calibri"/>
              <a:ea typeface="Calibri"/>
              <a:cs typeface="Calibri"/>
              <a:sym typeface="Calibri"/>
            </a:endParaRPr>
          </a:p>
        </p:txBody>
      </p:sp>
      <p:sp>
        <p:nvSpPr>
          <p:cNvPr id="525" name="Google Shape;525;p33"/>
          <p:cNvSpPr/>
          <p:nvPr/>
        </p:nvSpPr>
        <p:spPr>
          <a:xfrm>
            <a:off x="457200" y="4394448"/>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The controls support the intended molecular action of the constructs. They do not measure every possible downstream effect or prove that one transcriptional target alone explains vocal learning. The behavioral interpretation also depends on confirming the manipulation in brain tissue.</a:t>
            </a:r>
            <a:endParaRPr b="0" i="0" sz="1600" u="none" cap="none" strike="noStrike">
              <a:solidFill>
                <a:schemeClr val="dk1"/>
              </a:solidFill>
              <a:latin typeface="Calibri"/>
              <a:ea typeface="Calibri"/>
              <a:cs typeface="Calibri"/>
              <a:sym typeface="Calibri"/>
            </a:endParaRPr>
          </a:p>
        </p:txBody>
      </p:sp>
      <p:pic>
        <p:nvPicPr>
          <p:cNvPr id="526" name="Google Shape;526;p33"/>
          <p:cNvPicPr preferRelativeResize="0"/>
          <p:nvPr/>
        </p:nvPicPr>
        <p:blipFill rotWithShape="1">
          <a:blip r:embed="rId3">
            <a:alphaModFix/>
          </a:blip>
          <a:srcRect b="0" l="0" r="0" t="0"/>
          <a:stretch/>
        </p:blipFill>
        <p:spPr>
          <a:xfrm>
            <a:off x="7437031" y="1055340"/>
            <a:ext cx="3223439" cy="2466975"/>
          </a:xfrm>
          <a:prstGeom prst="rect">
            <a:avLst/>
          </a:prstGeom>
          <a:noFill/>
          <a:ln>
            <a:noFill/>
          </a:ln>
        </p:spPr>
      </p:pic>
      <p:sp>
        <p:nvSpPr>
          <p:cNvPr id="527" name="Google Shape;527;p33"/>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1(F). Protein measurements after target and control hairpin expression.</a:t>
            </a:r>
            <a:endParaRPr b="0" i="0" sz="1800" u="none" cap="none" strike="noStrike">
              <a:solidFill>
                <a:schemeClr val="dk1"/>
              </a:solidFill>
              <a:latin typeface="Calibri"/>
              <a:ea typeface="Calibri"/>
              <a:cs typeface="Calibri"/>
              <a:sym typeface="Calibri"/>
            </a:endParaRPr>
          </a:p>
        </p:txBody>
      </p:sp>
      <p:pic>
        <p:nvPicPr>
          <p:cNvPr id="528" name="Google Shape;528;p33"/>
          <p:cNvPicPr preferRelativeResize="0"/>
          <p:nvPr/>
        </p:nvPicPr>
        <p:blipFill rotWithShape="1">
          <a:blip r:embed="rId4">
            <a:alphaModFix/>
          </a:blip>
          <a:srcRect b="0" l="0" r="0" t="0"/>
          <a:stretch/>
        </p:blipFill>
        <p:spPr>
          <a:xfrm>
            <a:off x="8074753" y="4103340"/>
            <a:ext cx="1947995" cy="1476375"/>
          </a:xfrm>
          <a:prstGeom prst="rect">
            <a:avLst/>
          </a:prstGeom>
          <a:noFill/>
          <a:ln>
            <a:noFill/>
          </a:ln>
        </p:spPr>
      </p:pic>
      <p:sp>
        <p:nvSpPr>
          <p:cNvPr id="529" name="Google Shape;529;p33"/>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1(A). Area X in a sagittal brain section; original scale bar 1 mm.</a:t>
            </a:r>
            <a:endParaRPr b="0" i="0" sz="1800" u="none" cap="none" strike="noStrike">
              <a:solidFill>
                <a:schemeClr val="dk1"/>
              </a:solidFill>
              <a:latin typeface="Calibri"/>
              <a:ea typeface="Calibri"/>
              <a:cs typeface="Calibri"/>
              <a:sym typeface="Calibri"/>
            </a:endParaRPr>
          </a:p>
        </p:txBody>
      </p:sp>
      <p:sp>
        <p:nvSpPr>
          <p:cNvPr id="530" name="Google Shape;530;p33"/>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Haesler et al. (2007)</a:t>
            </a:r>
            <a:endParaRPr b="0" i="0" sz="1800" u="none" cap="none" strike="noStrike">
              <a:solidFill>
                <a:schemeClr val="dk1"/>
              </a:solidFill>
              <a:latin typeface="Calibri"/>
              <a:ea typeface="Calibri"/>
              <a:cs typeface="Calibri"/>
              <a:sym typeface="Calibri"/>
            </a:endParaRPr>
          </a:p>
        </p:txBody>
      </p:sp>
      <p:sp>
        <p:nvSpPr>
          <p:cNvPr id="531" name="Google Shape;531;p3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5" name="Shape 535"/>
        <p:cNvGrpSpPr/>
        <p:nvPr/>
      </p:nvGrpSpPr>
      <p:grpSpPr>
        <a:xfrm>
          <a:off x="0" y="0"/>
          <a:ext cx="0" cy="0"/>
          <a:chOff x="0" y="0"/>
          <a:chExt cx="0" cy="0"/>
        </a:xfrm>
      </p:grpSpPr>
      <p:sp>
        <p:nvSpPr>
          <p:cNvPr id="536" name="Google Shape;536;p3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Brain-tissue measurements verify the knockdown</a:t>
            </a:r>
            <a:endParaRPr b="0" i="0" sz="1800" u="none" cap="none" strike="noStrike">
              <a:solidFill>
                <a:schemeClr val="dk1"/>
              </a:solidFill>
              <a:latin typeface="Calibri"/>
              <a:ea typeface="Calibri"/>
              <a:cs typeface="Calibri"/>
              <a:sym typeface="Calibri"/>
            </a:endParaRPr>
          </a:p>
        </p:txBody>
      </p:sp>
      <p:sp>
        <p:nvSpPr>
          <p:cNvPr id="537" name="Google Shape;537;p34"/>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u="none" cap="none" strike="noStrike">
                <a:solidFill>
                  <a:srgbClr val="202329"/>
                </a:solidFill>
                <a:latin typeface="Arial"/>
                <a:ea typeface="Arial"/>
                <a:cs typeface="Arial"/>
                <a:sym typeface="Arial"/>
              </a:rPr>
              <a:t>Knockdown</a:t>
            </a:r>
            <a:r>
              <a:rPr b="0" i="0" lang="en-US" sz="1450" u="none" cap="none" strike="noStrike">
                <a:solidFill>
                  <a:srgbClr val="202329"/>
                </a:solidFill>
                <a:latin typeface="Arial"/>
                <a:ea typeface="Arial"/>
                <a:cs typeface="Arial"/>
                <a:sym typeface="Arial"/>
              </a:rPr>
              <a:t> is an experimental reduction of gene expression rather than complete deletion of the gene. Haesler and colleagues measured FoxP2 RNA and protein in Area X after viral delivery, using a control injection in the opposite hemisphere for tissue comparisons.</a:t>
            </a:r>
            <a:endParaRPr b="0" i="0" sz="1600" u="none" cap="none" strike="noStrike">
              <a:solidFill>
                <a:schemeClr val="dk1"/>
              </a:solidFill>
              <a:latin typeface="Calibri"/>
              <a:ea typeface="Calibri"/>
              <a:cs typeface="Calibri"/>
              <a:sym typeface="Calibri"/>
            </a:endParaRPr>
          </a:p>
        </p:txBody>
      </p:sp>
      <p:sp>
        <p:nvSpPr>
          <p:cNvPr id="538" name="Google Shape;538;p34"/>
          <p:cNvSpPr/>
          <p:nvPr/>
        </p:nvSpPr>
        <p:spPr>
          <a:xfrm>
            <a:off x="457200" y="2866281"/>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At day 50 after hatching, FoxP2 messenger RNA was reduced by approximately 70% in the infected region. Immunofluorescence also revealed lower FoxP2 labeling in targeted tissue, confirming that the cultured-cell result extended to the brain preparation.</a:t>
            </a:r>
            <a:endParaRPr b="0" i="0" sz="1600" u="none" cap="none" strike="noStrike">
              <a:solidFill>
                <a:schemeClr val="dk1"/>
              </a:solidFill>
              <a:latin typeface="Calibri"/>
              <a:ea typeface="Calibri"/>
              <a:cs typeface="Calibri"/>
              <a:sym typeface="Calibri"/>
            </a:endParaRPr>
          </a:p>
        </p:txBody>
      </p:sp>
      <p:sp>
        <p:nvSpPr>
          <p:cNvPr id="539" name="Google Shape;539;p34"/>
          <p:cNvSpPr/>
          <p:nvPr/>
        </p:nvSpPr>
        <p:spPr>
          <a:xfrm>
            <a:off x="457200" y="4394448"/>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The affected volume was only part of Area X, so the manipulation was not a complete removal of the nucleus. Tissue verification links the later song phenotype to a measured molecular reduction, but it does not identify the full sequence of cellular changes caused by that reduction.</a:t>
            </a:r>
            <a:endParaRPr b="0" i="0" sz="1600" u="none" cap="none" strike="noStrike">
              <a:solidFill>
                <a:schemeClr val="dk1"/>
              </a:solidFill>
              <a:latin typeface="Calibri"/>
              <a:ea typeface="Calibri"/>
              <a:cs typeface="Calibri"/>
              <a:sym typeface="Calibri"/>
            </a:endParaRPr>
          </a:p>
        </p:txBody>
      </p:sp>
      <p:pic>
        <p:nvPicPr>
          <p:cNvPr id="540" name="Google Shape;540;p34"/>
          <p:cNvPicPr preferRelativeResize="0"/>
          <p:nvPr/>
        </p:nvPicPr>
        <p:blipFill rotWithShape="1">
          <a:blip r:embed="rId3">
            <a:alphaModFix/>
          </a:blip>
          <a:srcRect b="0" l="0" r="0" t="0"/>
          <a:stretch/>
        </p:blipFill>
        <p:spPr>
          <a:xfrm>
            <a:off x="6401539" y="1055340"/>
            <a:ext cx="5294421" cy="2466975"/>
          </a:xfrm>
          <a:prstGeom prst="rect">
            <a:avLst/>
          </a:prstGeom>
          <a:noFill/>
          <a:ln>
            <a:noFill/>
          </a:ln>
        </p:spPr>
      </p:pic>
      <p:sp>
        <p:nvSpPr>
          <p:cNvPr id="541" name="Google Shape;541;p34"/>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1(G). FoxP2 and reporter labeling in control and knockdown tissue.</a:t>
            </a:r>
            <a:endParaRPr b="0" i="0" sz="1800" u="none" cap="none" strike="noStrike">
              <a:solidFill>
                <a:schemeClr val="dk1"/>
              </a:solidFill>
              <a:latin typeface="Calibri"/>
              <a:ea typeface="Calibri"/>
              <a:cs typeface="Calibri"/>
              <a:sym typeface="Calibri"/>
            </a:endParaRPr>
          </a:p>
        </p:txBody>
      </p:sp>
      <p:pic>
        <p:nvPicPr>
          <p:cNvPr id="542" name="Google Shape;542;p34"/>
          <p:cNvPicPr preferRelativeResize="0"/>
          <p:nvPr/>
        </p:nvPicPr>
        <p:blipFill rotWithShape="1">
          <a:blip r:embed="rId4">
            <a:alphaModFix/>
          </a:blip>
          <a:srcRect b="0" l="0" r="0" t="0"/>
          <a:stretch/>
        </p:blipFill>
        <p:spPr>
          <a:xfrm>
            <a:off x="8074753" y="4103340"/>
            <a:ext cx="1947995" cy="1476375"/>
          </a:xfrm>
          <a:prstGeom prst="rect">
            <a:avLst/>
          </a:prstGeom>
          <a:noFill/>
          <a:ln>
            <a:noFill/>
          </a:ln>
        </p:spPr>
      </p:pic>
      <p:sp>
        <p:nvSpPr>
          <p:cNvPr id="543" name="Google Shape;543;p34"/>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1(A). Area X in a sagittal brain section; original scale bar 1 mm.</a:t>
            </a:r>
            <a:endParaRPr b="0" i="0" sz="1800" u="none" cap="none" strike="noStrike">
              <a:solidFill>
                <a:schemeClr val="dk1"/>
              </a:solidFill>
              <a:latin typeface="Calibri"/>
              <a:ea typeface="Calibri"/>
              <a:cs typeface="Calibri"/>
              <a:sym typeface="Calibri"/>
            </a:endParaRPr>
          </a:p>
        </p:txBody>
      </p:sp>
      <p:sp>
        <p:nvSpPr>
          <p:cNvPr id="544" name="Google Shape;544;p34"/>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Haesler et al. (2007)</a:t>
            </a:r>
            <a:endParaRPr b="0" i="0" sz="1800" u="none" cap="none" strike="noStrike">
              <a:solidFill>
                <a:schemeClr val="dk1"/>
              </a:solidFill>
              <a:latin typeface="Calibri"/>
              <a:ea typeface="Calibri"/>
              <a:cs typeface="Calibri"/>
              <a:sym typeface="Calibri"/>
            </a:endParaRPr>
          </a:p>
        </p:txBody>
      </p:sp>
      <p:sp>
        <p:nvSpPr>
          <p:cNvPr id="545" name="Google Shape;545;p3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9" name="Shape 549"/>
        <p:cNvGrpSpPr/>
        <p:nvPr/>
      </p:nvGrpSpPr>
      <p:grpSpPr>
        <a:xfrm>
          <a:off x="0" y="0"/>
          <a:ext cx="0" cy="0"/>
          <a:chOff x="0" y="0"/>
          <a:chExt cx="0" cy="0"/>
        </a:xfrm>
      </p:grpSpPr>
      <p:sp>
        <p:nvSpPr>
          <p:cNvPr id="550" name="Google Shape;550;p5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Each control rules out a different nonspecific explanation</a:t>
            </a:r>
            <a:endParaRPr b="0" i="0" sz="1800" u="none" cap="none" strike="noStrike">
              <a:solidFill>
                <a:schemeClr val="dk1"/>
              </a:solidFill>
              <a:latin typeface="Calibri"/>
              <a:ea typeface="Calibri"/>
              <a:cs typeface="Calibri"/>
              <a:sym typeface="Calibri"/>
            </a:endParaRPr>
          </a:p>
        </p:txBody>
      </p:sp>
      <p:sp>
        <p:nvSpPr>
          <p:cNvPr id="551" name="Google Shape;551;p59"/>
          <p:cNvSpPr/>
          <p:nvPr/>
        </p:nvSpPr>
        <p:spPr>
          <a:xfrm>
            <a:off x="457200" y="1055340"/>
            <a:ext cx="5581650" cy="149194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RNA interference could alter song for reasons unrelated to FoxP2: viral infection, activation of the cell's silencing machinery, injection damage, or neuron loss. The </a:t>
            </a:r>
            <a:r>
              <a:rPr b="1" i="0" lang="en-US" sz="1450" u="none" cap="none" strike="noStrike">
                <a:solidFill>
                  <a:srgbClr val="202329"/>
                </a:solidFill>
                <a:latin typeface="Arial"/>
                <a:ea typeface="Arial"/>
                <a:cs typeface="Arial"/>
                <a:sym typeface="Arial"/>
              </a:rPr>
              <a:t>shGFP</a:t>
            </a:r>
            <a:r>
              <a:rPr b="0" i="0" lang="en-US" sz="1450" u="none" cap="none" strike="noStrike">
                <a:solidFill>
                  <a:srgbClr val="202329"/>
                </a:solidFill>
                <a:latin typeface="Arial"/>
                <a:ea typeface="Arial"/>
                <a:cs typeface="Arial"/>
                <a:sym typeface="Arial"/>
              </a:rPr>
              <a:t> hairpin targets the viral reporter, not a finch gene, so it engages RNA silencing without reducing any native protein.</a:t>
            </a:r>
            <a:endParaRPr b="0" i="0" sz="1600" u="none" cap="none" strike="noStrike">
              <a:solidFill>
                <a:schemeClr val="dk1"/>
              </a:solidFill>
              <a:latin typeface="Calibri"/>
              <a:ea typeface="Calibri"/>
              <a:cs typeface="Calibri"/>
              <a:sym typeface="Calibri"/>
            </a:endParaRPr>
          </a:p>
        </p:txBody>
      </p:sp>
      <p:sp>
        <p:nvSpPr>
          <p:cNvPr id="552" name="Google Shape;552;p59"/>
          <p:cNvSpPr/>
          <p:nvPr/>
        </p:nvSpPr>
        <p:spPr>
          <a:xfrm>
            <a:off x="457200" y="2958767"/>
            <a:ext cx="5581650" cy="1193558"/>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The nontargeting hairpin controls for infection itself, and the infected volume, about one fifth of Area X, was similar across groups. Staining found no added cell death and no change in neuron density, so knockdown did not act by removing cells.</a:t>
            </a:r>
            <a:endParaRPr b="0" i="0" sz="1600" u="none" cap="none" strike="noStrike">
              <a:solidFill>
                <a:schemeClr val="dk1"/>
              </a:solidFill>
              <a:latin typeface="Calibri"/>
              <a:ea typeface="Calibri"/>
              <a:cs typeface="Calibri"/>
              <a:sym typeface="Calibri"/>
            </a:endParaRPr>
          </a:p>
        </p:txBody>
      </p:sp>
      <p:sp>
        <p:nvSpPr>
          <p:cNvPr id="553" name="Google Shape;553;p59"/>
          <p:cNvSpPr/>
          <p:nvPr/>
        </p:nvSpPr>
        <p:spPr>
          <a:xfrm>
            <a:off x="457200" y="4563805"/>
            <a:ext cx="5581650" cy="149194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Juvenile Area X lesions produce a different song, with unusually long syllables and inconsistent syllable order, neither of which followed knockdown. A distinct phenotype argues that reduced FoxP2 changes how surviving neurons work, instead of reproducing the effect of damage.</a:t>
            </a:r>
            <a:endParaRPr b="0" i="0" sz="1600" u="none" cap="none" strike="noStrike">
              <a:solidFill>
                <a:schemeClr val="dk1"/>
              </a:solidFill>
              <a:latin typeface="Calibri"/>
              <a:ea typeface="Calibri"/>
              <a:cs typeface="Calibri"/>
              <a:sym typeface="Calibri"/>
            </a:endParaRPr>
          </a:p>
        </p:txBody>
      </p:sp>
      <p:pic>
        <p:nvPicPr>
          <p:cNvPr id="554" name="Google Shape;554;p59"/>
          <p:cNvPicPr preferRelativeResize="0"/>
          <p:nvPr/>
        </p:nvPicPr>
        <p:blipFill rotWithShape="1">
          <a:blip r:embed="rId3">
            <a:alphaModFix/>
          </a:blip>
          <a:srcRect b="0" l="0" r="0" t="0"/>
          <a:stretch/>
        </p:blipFill>
        <p:spPr>
          <a:xfrm>
            <a:off x="6401539" y="1055340"/>
            <a:ext cx="5294421" cy="2466975"/>
          </a:xfrm>
          <a:prstGeom prst="rect">
            <a:avLst/>
          </a:prstGeom>
          <a:noFill/>
          <a:ln>
            <a:noFill/>
          </a:ln>
        </p:spPr>
      </p:pic>
      <p:sp>
        <p:nvSpPr>
          <p:cNvPr id="555" name="Google Shape;555;p59"/>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1(G). FoxP2 and reporter labeling in control and knockdown tissue.</a:t>
            </a:r>
            <a:endParaRPr b="0" i="0" sz="1800" u="none" cap="none" strike="noStrike">
              <a:solidFill>
                <a:schemeClr val="dk1"/>
              </a:solidFill>
              <a:latin typeface="Calibri"/>
              <a:ea typeface="Calibri"/>
              <a:cs typeface="Calibri"/>
              <a:sym typeface="Calibri"/>
            </a:endParaRPr>
          </a:p>
        </p:txBody>
      </p:sp>
      <p:sp>
        <p:nvSpPr>
          <p:cNvPr id="556" name="Google Shape;556;p59"/>
          <p:cNvSpPr/>
          <p:nvPr/>
        </p:nvSpPr>
        <p:spPr>
          <a:xfrm>
            <a:off x="457200" y="6462713"/>
            <a:ext cx="148158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Haesler et al. (2007)</a:t>
            </a:r>
            <a:endParaRPr b="0" i="0" sz="1800" u="none" cap="none" strike="noStrike">
              <a:solidFill>
                <a:schemeClr val="dk1"/>
              </a:solidFill>
              <a:latin typeface="Calibri"/>
              <a:ea typeface="Calibri"/>
              <a:cs typeface="Calibri"/>
              <a:sym typeface="Calibri"/>
            </a:endParaRPr>
          </a:p>
        </p:txBody>
      </p:sp>
      <p:sp>
        <p:nvSpPr>
          <p:cNvPr id="557" name="Google Shape;557;p59"/>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34a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1" name="Shape 561"/>
        <p:cNvGrpSpPr/>
        <p:nvPr/>
      </p:nvGrpSpPr>
      <p:grpSpPr>
        <a:xfrm>
          <a:off x="0" y="0"/>
          <a:ext cx="0" cy="0"/>
          <a:chOff x="0" y="0"/>
          <a:chExt cx="0" cy="0"/>
        </a:xfrm>
      </p:grpSpPr>
      <p:sp>
        <p:nvSpPr>
          <p:cNvPr id="562" name="Google Shape;562;p3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FoxP2 reduction impairs completeness of imitation</a:t>
            </a:r>
            <a:endParaRPr b="0" i="0" sz="1800" u="none" cap="none" strike="noStrike">
              <a:solidFill>
                <a:schemeClr val="dk1"/>
              </a:solidFill>
              <a:latin typeface="Calibri"/>
              <a:ea typeface="Calibri"/>
              <a:cs typeface="Calibri"/>
              <a:sym typeface="Calibri"/>
            </a:endParaRPr>
          </a:p>
        </p:txBody>
      </p:sp>
      <p:sp>
        <p:nvSpPr>
          <p:cNvPr id="563" name="Google Shape;563;p35"/>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u="none" cap="none" strike="noStrike">
                <a:solidFill>
                  <a:srgbClr val="202329"/>
                </a:solidFill>
                <a:latin typeface="Arial"/>
                <a:ea typeface="Arial"/>
                <a:cs typeface="Arial"/>
                <a:sym typeface="Arial"/>
              </a:rPr>
              <a:t>Imitation completeness</a:t>
            </a:r>
            <a:r>
              <a:rPr b="0" i="0" lang="en-US" sz="1450" u="none" cap="none" strike="noStrike">
                <a:solidFill>
                  <a:srgbClr val="202329"/>
                </a:solidFill>
                <a:latin typeface="Arial"/>
                <a:ea typeface="Arial"/>
                <a:cs typeface="Arial"/>
                <a:sym typeface="Arial"/>
              </a:rPr>
              <a:t> concerns how much of the tutor’s song is represented in the pupil’s learned output. Haesler and colleagues compared adult song after FoxP2 knockdown with songs from pupils receiving a nontargeting hairpin or a control directed at the viral reporter.</a:t>
            </a:r>
            <a:endParaRPr b="0" i="0" sz="1600" u="none" cap="none" strike="noStrike">
              <a:solidFill>
                <a:schemeClr val="dk1"/>
              </a:solidFill>
              <a:latin typeface="Calibri"/>
              <a:ea typeface="Calibri"/>
              <a:cs typeface="Calibri"/>
              <a:sym typeface="Calibri"/>
            </a:endParaRPr>
          </a:p>
        </p:txBody>
      </p:sp>
      <p:sp>
        <p:nvSpPr>
          <p:cNvPr id="564" name="Google Shape;564;p35"/>
          <p:cNvSpPr/>
          <p:nvPr/>
        </p:nvSpPr>
        <p:spPr>
          <a:xfrm>
            <a:off x="457200" y="286628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Knockdown pupils omitted or imprecisely copied tutor syllables. In comparisons using the same tutors for different treatment groups, mean similarity scores were approximately 61.9 for knockdown pupils and 82.6 for controls, limiting an explanation based only on the tutor’s song.</a:t>
            </a:r>
            <a:endParaRPr b="0" i="0" sz="1600" u="none" cap="none" strike="noStrike">
              <a:solidFill>
                <a:schemeClr val="dk1"/>
              </a:solidFill>
              <a:latin typeface="Calibri"/>
              <a:ea typeface="Calibri"/>
              <a:cs typeface="Calibri"/>
              <a:sym typeface="Calibri"/>
            </a:endParaRPr>
          </a:p>
        </p:txBody>
      </p:sp>
      <p:sp>
        <p:nvSpPr>
          <p:cNvPr id="565" name="Google Shape;565;p35"/>
          <p:cNvSpPr/>
          <p:nvPr/>
        </p:nvSpPr>
        <p:spPr>
          <a:xfrm>
            <a:off x="457200" y="467722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The result establishes impaired learning under the targeted developmental manipulation. It does not mean that the birds could not sing, nor that incomplete imitation alone specifies whether the deficit arose in model memory, auditory comparison, or adjustment of motor output.</a:t>
            </a:r>
            <a:endParaRPr b="0" i="0" sz="1600" u="none" cap="none" strike="noStrike">
              <a:solidFill>
                <a:schemeClr val="dk1"/>
              </a:solidFill>
              <a:latin typeface="Calibri"/>
              <a:ea typeface="Calibri"/>
              <a:cs typeface="Calibri"/>
              <a:sym typeface="Calibri"/>
            </a:endParaRPr>
          </a:p>
        </p:txBody>
      </p:sp>
      <p:pic>
        <p:nvPicPr>
          <p:cNvPr id="566" name="Google Shape;566;p35"/>
          <p:cNvPicPr preferRelativeResize="0"/>
          <p:nvPr/>
        </p:nvPicPr>
        <p:blipFill rotWithShape="1">
          <a:blip r:embed="rId3">
            <a:alphaModFix/>
          </a:blip>
          <a:srcRect b="0" l="0" r="0" t="0"/>
          <a:stretch/>
        </p:blipFill>
        <p:spPr>
          <a:xfrm>
            <a:off x="6736146" y="1055340"/>
            <a:ext cx="4625207" cy="2466975"/>
          </a:xfrm>
          <a:prstGeom prst="rect">
            <a:avLst/>
          </a:prstGeom>
          <a:noFill/>
          <a:ln>
            <a:noFill/>
          </a:ln>
        </p:spPr>
      </p:pic>
      <p:sp>
        <p:nvSpPr>
          <p:cNvPr id="567" name="Google Shape;567;p35"/>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2(A–D). Tutor songs, pupil songs, and imitation similarity scores.</a:t>
            </a:r>
            <a:endParaRPr b="0" i="0" sz="1800" u="none" cap="none" strike="noStrike">
              <a:solidFill>
                <a:schemeClr val="dk1"/>
              </a:solidFill>
              <a:latin typeface="Calibri"/>
              <a:ea typeface="Calibri"/>
              <a:cs typeface="Calibri"/>
              <a:sym typeface="Calibri"/>
            </a:endParaRPr>
          </a:p>
        </p:txBody>
      </p:sp>
      <p:pic>
        <p:nvPicPr>
          <p:cNvPr id="568" name="Google Shape;568;p35"/>
          <p:cNvPicPr preferRelativeResize="0"/>
          <p:nvPr/>
        </p:nvPicPr>
        <p:blipFill rotWithShape="1">
          <a:blip r:embed="rId4">
            <a:alphaModFix/>
          </a:blip>
          <a:srcRect b="0" l="0" r="0" t="0"/>
          <a:stretch/>
        </p:blipFill>
        <p:spPr>
          <a:xfrm>
            <a:off x="8074753" y="4103340"/>
            <a:ext cx="1947995" cy="1476375"/>
          </a:xfrm>
          <a:prstGeom prst="rect">
            <a:avLst/>
          </a:prstGeom>
          <a:noFill/>
          <a:ln>
            <a:noFill/>
          </a:ln>
        </p:spPr>
      </p:pic>
      <p:sp>
        <p:nvSpPr>
          <p:cNvPr id="569" name="Google Shape;569;p35"/>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1(A). Area X in a sagittal brain section; original scale bar 1 mm.</a:t>
            </a:r>
            <a:endParaRPr b="0" i="0" sz="1800" u="none" cap="none" strike="noStrike">
              <a:solidFill>
                <a:schemeClr val="dk1"/>
              </a:solidFill>
              <a:latin typeface="Calibri"/>
              <a:ea typeface="Calibri"/>
              <a:cs typeface="Calibri"/>
              <a:sym typeface="Calibri"/>
            </a:endParaRPr>
          </a:p>
        </p:txBody>
      </p:sp>
      <p:sp>
        <p:nvSpPr>
          <p:cNvPr id="570" name="Google Shape;570;p35"/>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Haesler et al. (2007)</a:t>
            </a:r>
            <a:endParaRPr b="0" i="0" sz="1800" u="none" cap="none" strike="noStrike">
              <a:solidFill>
                <a:schemeClr val="dk1"/>
              </a:solidFill>
              <a:latin typeface="Calibri"/>
              <a:ea typeface="Calibri"/>
              <a:cs typeface="Calibri"/>
              <a:sym typeface="Calibri"/>
            </a:endParaRPr>
          </a:p>
        </p:txBody>
      </p:sp>
      <p:sp>
        <p:nvSpPr>
          <p:cNvPr id="571" name="Google Shape;571;p3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5" name="Shape 575"/>
        <p:cNvGrpSpPr/>
        <p:nvPr/>
      </p:nvGrpSpPr>
      <p:grpSpPr>
        <a:xfrm>
          <a:off x="0" y="0"/>
          <a:ext cx="0" cy="0"/>
          <a:chOff x="0" y="0"/>
          <a:chExt cx="0" cy="0"/>
        </a:xfrm>
      </p:grpSpPr>
      <p:sp>
        <p:nvSpPr>
          <p:cNvPr id="576" name="Google Shape;576;p3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Completeness and acoustic accuracy can dissociate</a:t>
            </a:r>
            <a:endParaRPr b="0" i="0" sz="1800" u="none" cap="none" strike="noStrike">
              <a:solidFill>
                <a:schemeClr val="dk1"/>
              </a:solidFill>
              <a:latin typeface="Calibri"/>
              <a:ea typeface="Calibri"/>
              <a:cs typeface="Calibri"/>
              <a:sym typeface="Calibri"/>
            </a:endParaRPr>
          </a:p>
        </p:txBody>
      </p:sp>
      <p:sp>
        <p:nvSpPr>
          <p:cNvPr id="577" name="Google Shape;577;p36"/>
          <p:cNvSpPr/>
          <p:nvPr/>
        </p:nvSpPr>
        <p:spPr>
          <a:xfrm>
            <a:off x="457200" y="1055340"/>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u="none" cap="none" strike="noStrike">
                <a:solidFill>
                  <a:srgbClr val="202329"/>
                </a:solidFill>
                <a:latin typeface="Arial"/>
                <a:ea typeface="Arial"/>
                <a:cs typeface="Arial"/>
                <a:sym typeface="Arial"/>
              </a:rPr>
              <a:t>Imitation accuracy</a:t>
            </a:r>
            <a:r>
              <a:rPr b="0" i="0" lang="en-US" sz="1450" u="none" cap="none" strike="noStrike">
                <a:solidFill>
                  <a:srgbClr val="202329"/>
                </a:solidFill>
                <a:latin typeface="Arial"/>
                <a:ea typeface="Arial"/>
                <a:cs typeface="Arial"/>
                <a:sym typeface="Arial"/>
              </a:rPr>
              <a:t> concerns the precision of the acoustic match between pupil and tutor. Haesler and colleagues analyzed song units separately from the broader question of whether a unit was included in the learned song at all.</a:t>
            </a:r>
            <a:endParaRPr b="0" i="0" sz="1600" u="none" cap="none" strike="noStrike">
              <a:solidFill>
                <a:schemeClr val="dk1"/>
              </a:solidFill>
              <a:latin typeface="Calibri"/>
              <a:ea typeface="Calibri"/>
              <a:cs typeface="Calibri"/>
              <a:sym typeface="Calibri"/>
            </a:endParaRPr>
          </a:p>
        </p:txBody>
      </p:sp>
      <p:sp>
        <p:nvSpPr>
          <p:cNvPr id="578" name="Google Shape;578;p36"/>
          <p:cNvSpPr/>
          <p:nvPr/>
        </p:nvSpPr>
        <p:spPr>
          <a:xfrm>
            <a:off x="457200" y="2583507"/>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For pupils sharing tutors, accuracy scores averaged approximately 71.7 after FoxP2 knockdown and 73.8 in controls, while differences in completeness were larger. Syllable duration and acoustic structure also diverged more from the tutor in the knockdown group.</a:t>
            </a:r>
            <a:endParaRPr b="0" i="0" sz="1600" u="none" cap="none" strike="noStrike">
              <a:solidFill>
                <a:schemeClr val="dk1"/>
              </a:solidFill>
              <a:latin typeface="Calibri"/>
              <a:ea typeface="Calibri"/>
              <a:cs typeface="Calibri"/>
              <a:sym typeface="Calibri"/>
            </a:endParaRPr>
          </a:p>
        </p:txBody>
      </p:sp>
      <p:sp>
        <p:nvSpPr>
          <p:cNvPr id="579" name="Google Shape;579;p36"/>
          <p:cNvSpPr/>
          <p:nvPr/>
        </p:nvSpPr>
        <p:spPr>
          <a:xfrm>
            <a:off x="457200" y="4111675"/>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The intervention therefore affected more than the presence or absence of a syllable. A modest change in one summary score can coexist with a larger change in another. Neither measure alone identifies the specific cellular process responsible for the altered learning outcome.</a:t>
            </a:r>
            <a:endParaRPr b="0" i="0" sz="1600" u="none" cap="none" strike="noStrike">
              <a:solidFill>
                <a:schemeClr val="dk1"/>
              </a:solidFill>
              <a:latin typeface="Calibri"/>
              <a:ea typeface="Calibri"/>
              <a:cs typeface="Calibri"/>
              <a:sym typeface="Calibri"/>
            </a:endParaRPr>
          </a:p>
        </p:txBody>
      </p:sp>
      <p:pic>
        <p:nvPicPr>
          <p:cNvPr id="580" name="Google Shape;580;p36"/>
          <p:cNvPicPr preferRelativeResize="0"/>
          <p:nvPr/>
        </p:nvPicPr>
        <p:blipFill rotWithShape="1">
          <a:blip r:embed="rId3">
            <a:alphaModFix/>
          </a:blip>
          <a:srcRect b="0" l="0" r="0" t="0"/>
          <a:stretch/>
        </p:blipFill>
        <p:spPr>
          <a:xfrm>
            <a:off x="7233363" y="1055340"/>
            <a:ext cx="3630774" cy="2466975"/>
          </a:xfrm>
          <a:prstGeom prst="rect">
            <a:avLst/>
          </a:prstGeom>
          <a:noFill/>
          <a:ln>
            <a:noFill/>
          </a:ln>
        </p:spPr>
      </p:pic>
      <p:sp>
        <p:nvSpPr>
          <p:cNvPr id="581" name="Google Shape;581;p36"/>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3(B). Pupil imitation accuracy under target and control treatments.</a:t>
            </a:r>
            <a:endParaRPr b="0" i="0" sz="1800" u="none" cap="none" strike="noStrike">
              <a:solidFill>
                <a:schemeClr val="dk1"/>
              </a:solidFill>
              <a:latin typeface="Calibri"/>
              <a:ea typeface="Calibri"/>
              <a:cs typeface="Calibri"/>
              <a:sym typeface="Calibri"/>
            </a:endParaRPr>
          </a:p>
        </p:txBody>
      </p:sp>
      <p:pic>
        <p:nvPicPr>
          <p:cNvPr id="582" name="Google Shape;582;p36"/>
          <p:cNvPicPr preferRelativeResize="0"/>
          <p:nvPr/>
        </p:nvPicPr>
        <p:blipFill rotWithShape="1">
          <a:blip r:embed="rId4">
            <a:alphaModFix/>
          </a:blip>
          <a:srcRect b="0" l="0" r="0" t="0"/>
          <a:stretch/>
        </p:blipFill>
        <p:spPr>
          <a:xfrm>
            <a:off x="8074753" y="4103340"/>
            <a:ext cx="1947995" cy="1476375"/>
          </a:xfrm>
          <a:prstGeom prst="rect">
            <a:avLst/>
          </a:prstGeom>
          <a:noFill/>
          <a:ln>
            <a:noFill/>
          </a:ln>
        </p:spPr>
      </p:pic>
      <p:sp>
        <p:nvSpPr>
          <p:cNvPr id="583" name="Google Shape;583;p36"/>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1(A). Area X in a sagittal brain section; original scale bar 1 mm.</a:t>
            </a:r>
            <a:endParaRPr b="0" i="0" sz="1800" u="none" cap="none" strike="noStrike">
              <a:solidFill>
                <a:schemeClr val="dk1"/>
              </a:solidFill>
              <a:latin typeface="Calibri"/>
              <a:ea typeface="Calibri"/>
              <a:cs typeface="Calibri"/>
              <a:sym typeface="Calibri"/>
            </a:endParaRPr>
          </a:p>
        </p:txBody>
      </p:sp>
      <p:sp>
        <p:nvSpPr>
          <p:cNvPr id="584" name="Google Shape;584;p36"/>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Haesler et al. (2007)</a:t>
            </a:r>
            <a:endParaRPr b="0" i="0" sz="1800" u="none" cap="none" strike="noStrike">
              <a:solidFill>
                <a:schemeClr val="dk1"/>
              </a:solidFill>
              <a:latin typeface="Calibri"/>
              <a:ea typeface="Calibri"/>
              <a:cs typeface="Calibri"/>
              <a:sym typeface="Calibri"/>
            </a:endParaRPr>
          </a:p>
        </p:txBody>
      </p:sp>
      <p:sp>
        <p:nvSpPr>
          <p:cNvPr id="585" name="Google Shape;585;p3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3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Learned song can remain unusually variable</a:t>
            </a:r>
            <a:endParaRPr b="0" i="0" sz="1800" u="none" cap="none" strike="noStrike">
              <a:solidFill>
                <a:schemeClr val="dk1"/>
              </a:solidFill>
              <a:latin typeface="Calibri"/>
              <a:ea typeface="Calibri"/>
              <a:cs typeface="Calibri"/>
              <a:sym typeface="Calibri"/>
            </a:endParaRPr>
          </a:p>
        </p:txBody>
      </p:sp>
      <p:sp>
        <p:nvSpPr>
          <p:cNvPr id="591" name="Google Shape;591;p37"/>
          <p:cNvSpPr/>
          <p:nvPr/>
        </p:nvSpPr>
        <p:spPr>
          <a:xfrm>
            <a:off x="457200" y="1258715"/>
            <a:ext cx="5581800" cy="14139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u="none" cap="none" strike="noStrike">
                <a:solidFill>
                  <a:srgbClr val="202329"/>
                </a:solidFill>
                <a:latin typeface="Arial"/>
                <a:ea typeface="Arial"/>
                <a:cs typeface="Arial"/>
                <a:sym typeface="Arial"/>
              </a:rPr>
              <a:t>Performance variability</a:t>
            </a:r>
            <a:r>
              <a:rPr b="0" i="0" lang="en-US" sz="1450" u="none" cap="none" strike="noStrike">
                <a:solidFill>
                  <a:srgbClr val="202329"/>
                </a:solidFill>
                <a:latin typeface="Arial"/>
                <a:ea typeface="Arial"/>
                <a:cs typeface="Arial"/>
                <a:sym typeface="Arial"/>
              </a:rPr>
              <a:t> is the variation among repeated productions of an acquired action. Haesler and colleagues compared multiple renditions of the same syllable in adult zebra finches after developmental FoxP2 knockdown or control treatment.</a:t>
            </a:r>
            <a:endParaRPr b="0" i="0" sz="1600" u="none" cap="none" strike="noStrike">
              <a:solidFill>
                <a:schemeClr val="dk1"/>
              </a:solidFill>
              <a:latin typeface="Calibri"/>
              <a:ea typeface="Calibri"/>
              <a:cs typeface="Calibri"/>
              <a:sym typeface="Calibri"/>
            </a:endParaRPr>
          </a:p>
        </p:txBody>
      </p:sp>
      <p:sp>
        <p:nvSpPr>
          <p:cNvPr id="592" name="Google Shape;592;p37"/>
          <p:cNvSpPr/>
          <p:nvPr/>
        </p:nvSpPr>
        <p:spPr>
          <a:xfrm>
            <a:off x="457200" y="2786882"/>
            <a:ext cx="5581800" cy="14139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Knockdown birds produced less consistent acoustic forms and more variable syllable durations. The source recordings used 100 ms scale bars, and variability was quantified separately from differences between the tutor and pupil.</a:t>
            </a:r>
            <a:endParaRPr b="0" i="0" sz="1600" u="none" cap="none" strike="noStrike">
              <a:solidFill>
                <a:schemeClr val="dk1"/>
              </a:solidFill>
              <a:latin typeface="Calibri"/>
              <a:ea typeface="Calibri"/>
              <a:cs typeface="Calibri"/>
              <a:sym typeface="Calibri"/>
            </a:endParaRPr>
          </a:p>
        </p:txBody>
      </p:sp>
      <p:sp>
        <p:nvSpPr>
          <p:cNvPr id="593" name="Google Shape;593;p37"/>
          <p:cNvSpPr/>
          <p:nvPr/>
        </p:nvSpPr>
        <p:spPr>
          <a:xfrm>
            <a:off x="457200" y="4315050"/>
            <a:ext cx="5581800" cy="16965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A pupil can therefore acquire a recognizable syllable while failing to stabilize its performance normally. The result separates learning outcome from execution consistency, but it does not establish whether the altered variability originates in a single synapse, a feedback process, or distributed circuit dynamics.</a:t>
            </a:r>
            <a:endParaRPr b="0" i="0" sz="1600" u="none" cap="none" strike="noStrike">
              <a:solidFill>
                <a:schemeClr val="dk1"/>
              </a:solidFill>
              <a:latin typeface="Calibri"/>
              <a:ea typeface="Calibri"/>
              <a:cs typeface="Calibri"/>
              <a:sym typeface="Calibri"/>
            </a:endParaRPr>
          </a:p>
        </p:txBody>
      </p:sp>
      <p:pic>
        <p:nvPicPr>
          <p:cNvPr id="594" name="Google Shape;594;p37"/>
          <p:cNvPicPr preferRelativeResize="0"/>
          <p:nvPr/>
        </p:nvPicPr>
        <p:blipFill rotWithShape="1">
          <a:blip r:embed="rId3">
            <a:alphaModFix/>
          </a:blip>
          <a:srcRect b="0" l="0" r="0" t="0"/>
          <a:stretch/>
        </p:blipFill>
        <p:spPr>
          <a:xfrm>
            <a:off x="6362700" y="1402536"/>
            <a:ext cx="5372100" cy="1772584"/>
          </a:xfrm>
          <a:prstGeom prst="rect">
            <a:avLst/>
          </a:prstGeom>
          <a:noFill/>
          <a:ln>
            <a:noFill/>
          </a:ln>
        </p:spPr>
      </p:pic>
      <p:sp>
        <p:nvSpPr>
          <p:cNvPr id="595" name="Google Shape;595;p37"/>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4(C–D). Acoustic consistency and variability of syllable duration.</a:t>
            </a:r>
            <a:endParaRPr b="0" i="0" sz="1800" u="none" cap="none" strike="noStrike">
              <a:solidFill>
                <a:schemeClr val="dk1"/>
              </a:solidFill>
              <a:latin typeface="Calibri"/>
              <a:ea typeface="Calibri"/>
              <a:cs typeface="Calibri"/>
              <a:sym typeface="Calibri"/>
            </a:endParaRPr>
          </a:p>
        </p:txBody>
      </p:sp>
      <p:pic>
        <p:nvPicPr>
          <p:cNvPr id="596" name="Google Shape;596;p37"/>
          <p:cNvPicPr preferRelativeResize="0"/>
          <p:nvPr/>
        </p:nvPicPr>
        <p:blipFill rotWithShape="1">
          <a:blip r:embed="rId4">
            <a:alphaModFix/>
          </a:blip>
          <a:srcRect b="0" l="0" r="0" t="0"/>
          <a:stretch/>
        </p:blipFill>
        <p:spPr>
          <a:xfrm>
            <a:off x="8074753" y="4103340"/>
            <a:ext cx="1947995" cy="1476375"/>
          </a:xfrm>
          <a:prstGeom prst="rect">
            <a:avLst/>
          </a:prstGeom>
          <a:noFill/>
          <a:ln>
            <a:noFill/>
          </a:ln>
        </p:spPr>
      </p:pic>
      <p:sp>
        <p:nvSpPr>
          <p:cNvPr id="597" name="Google Shape;597;p37"/>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1(A). Area X in a sagittal brain section; original scale bar 1 mm.</a:t>
            </a:r>
            <a:endParaRPr b="0" i="0" sz="1800" u="none" cap="none" strike="noStrike">
              <a:solidFill>
                <a:schemeClr val="dk1"/>
              </a:solidFill>
              <a:latin typeface="Calibri"/>
              <a:ea typeface="Calibri"/>
              <a:cs typeface="Calibri"/>
              <a:sym typeface="Calibri"/>
            </a:endParaRPr>
          </a:p>
        </p:txBody>
      </p:sp>
      <p:sp>
        <p:nvSpPr>
          <p:cNvPr id="598" name="Google Shape;598;p37"/>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Haesler et al. (2007)</a:t>
            </a:r>
            <a:endParaRPr b="0" i="0" sz="1800" u="none" cap="none" strike="noStrike">
              <a:solidFill>
                <a:schemeClr val="dk1"/>
              </a:solidFill>
              <a:latin typeface="Calibri"/>
              <a:ea typeface="Calibri"/>
              <a:cs typeface="Calibri"/>
              <a:sym typeface="Calibri"/>
            </a:endParaRPr>
          </a:p>
        </p:txBody>
      </p:sp>
      <p:sp>
        <p:nvSpPr>
          <p:cNvPr id="599" name="Google Shape;599;p3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3" name="Shape 603"/>
        <p:cNvGrpSpPr/>
        <p:nvPr/>
      </p:nvGrpSpPr>
      <p:grpSpPr>
        <a:xfrm>
          <a:off x="0" y="0"/>
          <a:ext cx="0" cy="0"/>
          <a:chOff x="0" y="0"/>
          <a:chExt cx="0" cy="0"/>
        </a:xfrm>
      </p:grpSpPr>
      <p:sp>
        <p:nvSpPr>
          <p:cNvPr id="604" name="Google Shape;604;p3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Developmental trajectories constrain causal hypotheses</a:t>
            </a:r>
            <a:endParaRPr b="0" i="0" sz="1800" u="none" cap="none" strike="noStrike">
              <a:solidFill>
                <a:schemeClr val="dk1"/>
              </a:solidFill>
              <a:latin typeface="Calibri"/>
              <a:ea typeface="Calibri"/>
              <a:cs typeface="Calibri"/>
              <a:sym typeface="Calibri"/>
            </a:endParaRPr>
          </a:p>
        </p:txBody>
      </p:sp>
      <p:sp>
        <p:nvSpPr>
          <p:cNvPr id="605" name="Google Shape;605;p38"/>
          <p:cNvSpPr/>
          <p:nvPr/>
        </p:nvSpPr>
        <p:spPr>
          <a:xfrm>
            <a:off x="457200" y="1055340"/>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A </a:t>
            </a:r>
            <a:r>
              <a:rPr b="1" i="0" lang="en-US" sz="1450" u="none" cap="none" strike="noStrike">
                <a:solidFill>
                  <a:srgbClr val="202329"/>
                </a:solidFill>
                <a:latin typeface="Arial"/>
                <a:ea typeface="Arial"/>
                <a:cs typeface="Arial"/>
                <a:sym typeface="Arial"/>
              </a:rPr>
              <a:t>developmental trajectory</a:t>
            </a:r>
            <a:r>
              <a:rPr b="0" i="0" lang="en-US" sz="1450" u="none" cap="none" strike="noStrike">
                <a:solidFill>
                  <a:srgbClr val="202329"/>
                </a:solidFill>
                <a:latin typeface="Arial"/>
                <a:ea typeface="Arial"/>
                <a:cs typeface="Arial"/>
                <a:sym typeface="Arial"/>
              </a:rPr>
              <a:t> is the measured change of a phenotype through time. Haesler and colleagues recorded songs at days 65, 80, and 90 after hatching, rather than relying only on one adult endpoint after FoxP2 knockdown.</a:t>
            </a:r>
            <a:endParaRPr b="0" i="0" sz="1600" u="none" cap="none" strike="noStrike">
              <a:solidFill>
                <a:schemeClr val="dk1"/>
              </a:solidFill>
              <a:latin typeface="Calibri"/>
              <a:ea typeface="Calibri"/>
              <a:cs typeface="Calibri"/>
              <a:sym typeface="Calibri"/>
            </a:endParaRPr>
          </a:p>
        </p:txBody>
      </p:sp>
      <p:sp>
        <p:nvSpPr>
          <p:cNvPr id="606" name="Google Shape;606;p38"/>
          <p:cNvSpPr/>
          <p:nvPr/>
        </p:nvSpPr>
        <p:spPr>
          <a:xfrm>
            <a:off x="457200" y="2583507"/>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Knockdown pupils were less accurate by day 65 and failed to continue improving after day 80 as controls did. Their variation in imitation accuracy also increased toward adulthood, whereas earlier variability was more similar between treatment groups.</a:t>
            </a:r>
            <a:endParaRPr b="0" i="0" sz="1600" u="none" cap="none" strike="noStrike">
              <a:solidFill>
                <a:schemeClr val="dk1"/>
              </a:solidFill>
              <a:latin typeface="Calibri"/>
              <a:ea typeface="Calibri"/>
              <a:cs typeface="Calibri"/>
              <a:sym typeface="Calibri"/>
            </a:endParaRPr>
          </a:p>
        </p:txBody>
      </p:sp>
      <p:sp>
        <p:nvSpPr>
          <p:cNvPr id="607" name="Google Shape;607;p38"/>
          <p:cNvSpPr/>
          <p:nvPr/>
        </p:nvSpPr>
        <p:spPr>
          <a:xfrm>
            <a:off x="457200" y="4111675"/>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These observations constrain the timing of the deficit and argue against an explanation based simply on an inability to generate variable vocal output. Impaired adjustment toward a memorized tutor model remained a proposed explanation; the study did not directly record the neuronal comparison process or resolve its synaptic mechanism.</a:t>
            </a:r>
            <a:endParaRPr b="0" i="0" sz="1600" u="none" cap="none" strike="noStrike">
              <a:solidFill>
                <a:schemeClr val="dk1"/>
              </a:solidFill>
              <a:latin typeface="Calibri"/>
              <a:ea typeface="Calibri"/>
              <a:cs typeface="Calibri"/>
              <a:sym typeface="Calibri"/>
            </a:endParaRPr>
          </a:p>
        </p:txBody>
      </p:sp>
      <p:pic>
        <p:nvPicPr>
          <p:cNvPr id="608" name="Google Shape;608;p38"/>
          <p:cNvPicPr preferRelativeResize="0"/>
          <p:nvPr/>
        </p:nvPicPr>
        <p:blipFill rotWithShape="1">
          <a:blip r:embed="rId3">
            <a:alphaModFix/>
          </a:blip>
          <a:srcRect b="0" l="0" r="0" t="0"/>
          <a:stretch/>
        </p:blipFill>
        <p:spPr>
          <a:xfrm>
            <a:off x="6362700" y="1105839"/>
            <a:ext cx="5372100" cy="2365977"/>
          </a:xfrm>
          <a:prstGeom prst="rect">
            <a:avLst/>
          </a:prstGeom>
          <a:noFill/>
          <a:ln>
            <a:noFill/>
          </a:ln>
        </p:spPr>
      </p:pic>
      <p:sp>
        <p:nvSpPr>
          <p:cNvPr id="609" name="Google Shape;609;p38"/>
          <p:cNvSpPr/>
          <p:nvPr/>
        </p:nvSpPr>
        <p:spPr>
          <a:xfrm>
            <a:off x="6362700" y="35985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5(A–B). Imitation accuracy and variability across pupil age.</a:t>
            </a:r>
            <a:endParaRPr b="0" i="0" sz="1800" u="none" cap="none" strike="noStrike">
              <a:solidFill>
                <a:schemeClr val="dk1"/>
              </a:solidFill>
              <a:latin typeface="Calibri"/>
              <a:ea typeface="Calibri"/>
              <a:cs typeface="Calibri"/>
              <a:sym typeface="Calibri"/>
            </a:endParaRPr>
          </a:p>
        </p:txBody>
      </p:sp>
      <p:pic>
        <p:nvPicPr>
          <p:cNvPr id="610" name="Google Shape;610;p38"/>
          <p:cNvPicPr preferRelativeResize="0"/>
          <p:nvPr/>
        </p:nvPicPr>
        <p:blipFill rotWithShape="1">
          <a:blip r:embed="rId4">
            <a:alphaModFix/>
          </a:blip>
          <a:srcRect b="0" l="0" r="0" t="0"/>
          <a:stretch/>
        </p:blipFill>
        <p:spPr>
          <a:xfrm>
            <a:off x="8074753" y="3936653"/>
            <a:ext cx="1947995" cy="1476375"/>
          </a:xfrm>
          <a:prstGeom prst="rect">
            <a:avLst/>
          </a:prstGeom>
          <a:noFill/>
          <a:ln>
            <a:noFill/>
          </a:ln>
        </p:spPr>
      </p:pic>
      <p:sp>
        <p:nvSpPr>
          <p:cNvPr id="611" name="Google Shape;611;p38"/>
          <p:cNvSpPr/>
          <p:nvPr/>
        </p:nvSpPr>
        <p:spPr>
          <a:xfrm>
            <a:off x="6362700" y="5489228"/>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1(A). Area X in a sagittal brain section; original scale bar 1 mm.</a:t>
            </a:r>
            <a:endParaRPr b="0" i="0" sz="1800" u="none" cap="none" strike="noStrike">
              <a:solidFill>
                <a:schemeClr val="dk1"/>
              </a:solidFill>
              <a:latin typeface="Calibri"/>
              <a:ea typeface="Calibri"/>
              <a:cs typeface="Calibri"/>
              <a:sym typeface="Calibri"/>
            </a:endParaRPr>
          </a:p>
        </p:txBody>
      </p:sp>
      <p:sp>
        <p:nvSpPr>
          <p:cNvPr id="612" name="Google Shape;612;p38"/>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Haesler et al. (2007)</a:t>
            </a:r>
            <a:endParaRPr b="0" i="0" sz="1800" u="none" cap="none" strike="noStrike">
              <a:solidFill>
                <a:schemeClr val="dk1"/>
              </a:solidFill>
              <a:latin typeface="Calibri"/>
              <a:ea typeface="Calibri"/>
              <a:cs typeface="Calibri"/>
              <a:sym typeface="Calibri"/>
            </a:endParaRPr>
          </a:p>
        </p:txBody>
      </p:sp>
      <p:sp>
        <p:nvSpPr>
          <p:cNvPr id="613" name="Google Shape;613;p3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7" name="Shape 617"/>
        <p:cNvGrpSpPr/>
        <p:nvPr/>
      </p:nvGrpSpPr>
      <p:grpSpPr>
        <a:xfrm>
          <a:off x="0" y="0"/>
          <a:ext cx="0" cy="0"/>
          <a:chOff x="0" y="0"/>
          <a:chExt cx="0" cy="0"/>
        </a:xfrm>
      </p:grpSpPr>
      <p:sp>
        <p:nvSpPr>
          <p:cNvPr id="618" name="Google Shape;618;p6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Song learning varies output, then keeps the better matches</a:t>
            </a:r>
            <a:endParaRPr b="0" i="0" sz="1800" u="none" cap="none" strike="noStrike">
              <a:solidFill>
                <a:schemeClr val="dk1"/>
              </a:solidFill>
              <a:latin typeface="Calibri"/>
              <a:ea typeface="Calibri"/>
              <a:cs typeface="Calibri"/>
              <a:sym typeface="Calibri"/>
            </a:endParaRPr>
          </a:p>
        </p:txBody>
      </p:sp>
      <p:sp>
        <p:nvSpPr>
          <p:cNvPr id="619" name="Google Shape;619;p60"/>
          <p:cNvSpPr/>
          <p:nvPr/>
        </p:nvSpPr>
        <p:spPr>
          <a:xfrm>
            <a:off x="457200" y="1055340"/>
            <a:ext cx="5581650" cy="149194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Song learning has two overlapping phases. In the </a:t>
            </a:r>
            <a:r>
              <a:rPr b="1" i="0" lang="en-US" sz="1450" u="none" cap="none" strike="noStrike">
                <a:solidFill>
                  <a:srgbClr val="202329"/>
                </a:solidFill>
                <a:latin typeface="Arial"/>
                <a:ea typeface="Arial"/>
                <a:cs typeface="Arial"/>
                <a:sym typeface="Arial"/>
              </a:rPr>
              <a:t>sensory phase</a:t>
            </a:r>
            <a:r>
              <a:rPr b="0" i="0" lang="en-US" sz="1450" u="none" cap="none" strike="noStrike">
                <a:solidFill>
                  <a:srgbClr val="202329"/>
                </a:solidFill>
                <a:latin typeface="Arial"/>
                <a:ea typeface="Arial"/>
                <a:cs typeface="Arial"/>
                <a:sym typeface="Arial"/>
              </a:rPr>
              <a:t>, from about day 25, a young male memorizes the tutor song. In the </a:t>
            </a:r>
            <a:r>
              <a:rPr b="1" i="0" lang="en-US" sz="1450" u="none" cap="none" strike="noStrike">
                <a:solidFill>
                  <a:srgbClr val="202329"/>
                </a:solidFill>
                <a:latin typeface="Arial"/>
                <a:ea typeface="Arial"/>
                <a:cs typeface="Arial"/>
                <a:sym typeface="Arial"/>
              </a:rPr>
              <a:t>sensorimotor phase</a:t>
            </a:r>
            <a:r>
              <a:rPr b="0" i="0" lang="en-US" sz="1450" u="none" cap="none" strike="noStrike">
                <a:solidFill>
                  <a:srgbClr val="202329"/>
                </a:solidFill>
                <a:latin typeface="Arial"/>
                <a:ea typeface="Arial"/>
                <a:cs typeface="Arial"/>
                <a:sym typeface="Arial"/>
              </a:rPr>
              <a:t>, he practices, from quiet subsong through plastic song, matching his own song to the memorized model until it stabilizes near day 90.</a:t>
            </a:r>
            <a:endParaRPr b="0" i="0" sz="1600" u="none" cap="none" strike="noStrike">
              <a:solidFill>
                <a:schemeClr val="dk1"/>
              </a:solidFill>
              <a:latin typeface="Calibri"/>
              <a:ea typeface="Calibri"/>
              <a:cs typeface="Calibri"/>
              <a:sym typeface="Calibri"/>
            </a:endParaRPr>
          </a:p>
        </p:txBody>
      </p:sp>
      <p:sp>
        <p:nvSpPr>
          <p:cNvPr id="620" name="Google Shape;620;p60"/>
          <p:cNvSpPr/>
          <p:nvPr/>
        </p:nvSpPr>
        <p:spPr>
          <a:xfrm>
            <a:off x="457200" y="2898753"/>
            <a:ext cx="5581650" cy="149194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A reinforcement account proposes that variable renditions are produced and those closer to the model are strengthened. In Area X, FoxP2-expressing spiny neurons receive glutamate input from the song nucleus HVC, active during singing, and midbrain dopamine input, a candidate reinforcement signal.</a:t>
            </a:r>
            <a:endParaRPr b="0" i="0" sz="1600" u="none" cap="none" strike="noStrike">
              <a:solidFill>
                <a:schemeClr val="dk1"/>
              </a:solidFill>
              <a:latin typeface="Calibri"/>
              <a:ea typeface="Calibri"/>
              <a:cs typeface="Calibri"/>
              <a:sym typeface="Calibri"/>
            </a:endParaRPr>
          </a:p>
        </p:txBody>
      </p:sp>
      <p:sp>
        <p:nvSpPr>
          <p:cNvPr id="621" name="Google Shape;621;p60"/>
          <p:cNvSpPr/>
          <p:nvPr/>
        </p:nvSpPr>
        <p:spPr>
          <a:xfrm>
            <a:off x="457200" y="4742166"/>
            <a:ext cx="5581650" cy="149194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u="none" cap="none" strike="noStrike">
                <a:solidFill>
                  <a:srgbClr val="202329"/>
                </a:solidFill>
                <a:latin typeface="Arial"/>
                <a:ea typeface="Arial"/>
                <a:cs typeface="Arial"/>
                <a:sym typeface="Arial"/>
              </a:rPr>
              <a:t>A learner can then fail by producing too little variation or by failing to keep the right variants. Knockdown pupils were as variable as controls at day 65 yet already less accurate, so variation was not the limit, and their later excess variability arose too late to cause the deficit.</a:t>
            </a:r>
            <a:endParaRPr b="0" i="0" sz="1600" u="none" cap="none" strike="noStrike">
              <a:solidFill>
                <a:schemeClr val="dk1"/>
              </a:solidFill>
              <a:latin typeface="Calibri"/>
              <a:ea typeface="Calibri"/>
              <a:cs typeface="Calibri"/>
              <a:sym typeface="Calibri"/>
            </a:endParaRPr>
          </a:p>
        </p:txBody>
      </p:sp>
      <p:pic>
        <p:nvPicPr>
          <p:cNvPr id="622" name="Google Shape;622;p60"/>
          <p:cNvPicPr preferRelativeResize="0"/>
          <p:nvPr/>
        </p:nvPicPr>
        <p:blipFill rotWithShape="1">
          <a:blip r:embed="rId3">
            <a:alphaModFix/>
          </a:blip>
          <a:srcRect b="0" l="0" r="0" t="0"/>
          <a:stretch/>
        </p:blipFill>
        <p:spPr>
          <a:xfrm>
            <a:off x="6362700" y="1105839"/>
            <a:ext cx="5372100" cy="2365977"/>
          </a:xfrm>
          <a:prstGeom prst="rect">
            <a:avLst/>
          </a:prstGeom>
          <a:noFill/>
          <a:ln>
            <a:noFill/>
          </a:ln>
        </p:spPr>
      </p:pic>
      <p:sp>
        <p:nvSpPr>
          <p:cNvPr id="623" name="Google Shape;623;p60"/>
          <p:cNvSpPr/>
          <p:nvPr/>
        </p:nvSpPr>
        <p:spPr>
          <a:xfrm>
            <a:off x="6362700" y="35985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5(A–B). Imitation accuracy and variability across pupil age.</a:t>
            </a:r>
            <a:endParaRPr b="0" i="0" sz="1800" u="none" cap="none" strike="noStrike">
              <a:solidFill>
                <a:schemeClr val="dk1"/>
              </a:solidFill>
              <a:latin typeface="Calibri"/>
              <a:ea typeface="Calibri"/>
              <a:cs typeface="Calibri"/>
              <a:sym typeface="Calibri"/>
            </a:endParaRPr>
          </a:p>
        </p:txBody>
      </p:sp>
      <p:pic>
        <p:nvPicPr>
          <p:cNvPr id="624" name="Google Shape;624;p60"/>
          <p:cNvPicPr preferRelativeResize="0"/>
          <p:nvPr/>
        </p:nvPicPr>
        <p:blipFill rotWithShape="1">
          <a:blip r:embed="rId4">
            <a:alphaModFix/>
          </a:blip>
          <a:srcRect b="0" l="0" r="0" t="0"/>
          <a:stretch/>
        </p:blipFill>
        <p:spPr>
          <a:xfrm>
            <a:off x="8074753" y="3936653"/>
            <a:ext cx="1947995" cy="1476375"/>
          </a:xfrm>
          <a:prstGeom prst="rect">
            <a:avLst/>
          </a:prstGeom>
          <a:noFill/>
          <a:ln>
            <a:noFill/>
          </a:ln>
        </p:spPr>
      </p:pic>
      <p:sp>
        <p:nvSpPr>
          <p:cNvPr id="625" name="Google Shape;625;p60"/>
          <p:cNvSpPr/>
          <p:nvPr/>
        </p:nvSpPr>
        <p:spPr>
          <a:xfrm>
            <a:off x="6362700" y="5489228"/>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u="none" cap="none" strike="noStrike">
                <a:solidFill>
                  <a:srgbClr val="202329"/>
                </a:solidFill>
                <a:latin typeface="Arial"/>
                <a:ea typeface="Arial"/>
                <a:cs typeface="Arial"/>
                <a:sym typeface="Arial"/>
              </a:rPr>
              <a:t>Haesler et al. (2007), Fig. 1(A). Area X in a sagittal brain section; original scale bar 1 mm.</a:t>
            </a:r>
            <a:endParaRPr b="0" i="0" sz="1800" u="none" cap="none" strike="noStrike">
              <a:solidFill>
                <a:schemeClr val="dk1"/>
              </a:solidFill>
              <a:latin typeface="Calibri"/>
              <a:ea typeface="Calibri"/>
              <a:cs typeface="Calibri"/>
              <a:sym typeface="Calibri"/>
            </a:endParaRPr>
          </a:p>
        </p:txBody>
      </p:sp>
      <p:sp>
        <p:nvSpPr>
          <p:cNvPr id="626" name="Google Shape;626;p60"/>
          <p:cNvSpPr/>
          <p:nvPr/>
        </p:nvSpPr>
        <p:spPr>
          <a:xfrm>
            <a:off x="457200" y="6462713"/>
            <a:ext cx="148158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Haesler et al. (2007)</a:t>
            </a:r>
            <a:endParaRPr b="0" i="0" sz="1800" u="none" cap="none" strike="noStrike">
              <a:solidFill>
                <a:schemeClr val="dk1"/>
              </a:solidFill>
              <a:latin typeface="Calibri"/>
              <a:ea typeface="Calibri"/>
              <a:cs typeface="Calibri"/>
              <a:sym typeface="Calibri"/>
            </a:endParaRPr>
          </a:p>
        </p:txBody>
      </p:sp>
      <p:sp>
        <p:nvSpPr>
          <p:cNvPr id="627" name="Google Shape;627;p60"/>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38a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3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Internal state changes responses to nest objects</a:t>
            </a:r>
            <a:endParaRPr b="0" i="0" sz="1800" u="none" cap="none" strike="noStrike">
              <a:solidFill>
                <a:schemeClr val="dk1"/>
              </a:solidFill>
              <a:latin typeface="Calibri"/>
              <a:ea typeface="Calibri"/>
              <a:cs typeface="Calibri"/>
              <a:sym typeface="Calibri"/>
            </a:endParaRPr>
          </a:p>
        </p:txBody>
      </p:sp>
      <p:sp>
        <p:nvSpPr>
          <p:cNvPr id="633" name="Google Shape;633;p39"/>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300" u="none" cap="none" strike="noStrike">
                <a:solidFill>
                  <a:srgbClr val="202329"/>
                </a:solidFill>
                <a:latin typeface="Arial"/>
                <a:ea typeface="Arial"/>
                <a:cs typeface="Arial"/>
                <a:sym typeface="Arial"/>
              </a:rPr>
              <a:t>Motivation</a:t>
            </a:r>
            <a:r>
              <a:rPr b="0" i="0" lang="en-US" sz="1300" u="none" cap="none" strike="noStrike">
                <a:solidFill>
                  <a:srgbClr val="202329"/>
                </a:solidFill>
                <a:latin typeface="Arial"/>
                <a:ea typeface="Arial"/>
                <a:cs typeface="Arial"/>
                <a:sym typeface="Arial"/>
              </a:rPr>
              <a:t> describes state-dependent readiness to perform an action; it is inferred here from measured removal behavior, not directly recorded as a neural variable. Poláček and colleagues tested tree sparrows, </a:t>
            </a:r>
            <a:r>
              <a:rPr b="0" i="1" lang="en-US" sz="1300" u="none" cap="none" strike="noStrike">
                <a:solidFill>
                  <a:srgbClr val="202329"/>
                </a:solidFill>
                <a:latin typeface="Arial"/>
                <a:ea typeface="Arial"/>
                <a:cs typeface="Arial"/>
                <a:sym typeface="Arial"/>
              </a:rPr>
              <a:t>Passer montanus</a:t>
            </a:r>
            <a:r>
              <a:rPr b="0" i="0" lang="en-US" sz="1300" u="none" cap="none" strike="noStrike">
                <a:solidFill>
                  <a:srgbClr val="202329"/>
                </a:solidFill>
                <a:latin typeface="Arial"/>
                <a:ea typeface="Arial"/>
                <a:cs typeface="Arial"/>
                <a:sym typeface="Arial"/>
              </a:rPr>
              <a:t>, using flat nest objects during egg laying and incubation.</a:t>
            </a:r>
            <a:endParaRPr b="0" i="0" sz="1600" u="none" cap="none" strike="noStrike">
              <a:solidFill>
                <a:schemeClr val="dk1"/>
              </a:solidFill>
              <a:latin typeface="Calibri"/>
              <a:ea typeface="Calibri"/>
              <a:cs typeface="Calibri"/>
              <a:sym typeface="Calibri"/>
            </a:endParaRPr>
          </a:p>
        </p:txBody>
      </p:sp>
      <p:sp>
        <p:nvSpPr>
          <p:cNvPr id="634" name="Google Shape;634;p39"/>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u="none" cap="none" strike="noStrike">
                <a:solidFill>
                  <a:srgbClr val="202329"/>
                </a:solidFill>
                <a:latin typeface="Arial"/>
                <a:ea typeface="Arial"/>
                <a:cs typeface="Arial"/>
                <a:sym typeface="Arial"/>
              </a:rPr>
              <a:t>The cardboard objects varied one feature at a time around a normal egg-shaped model approximately 19.4 mm long. Across conditions, most objects were removed within a 60 minute observation period, but the timing depended on object properties and breeding stage.</a:t>
            </a:r>
            <a:endParaRPr b="0" i="0" sz="1600" u="none" cap="none" strike="noStrike">
              <a:solidFill>
                <a:schemeClr val="dk1"/>
              </a:solidFill>
              <a:latin typeface="Calibri"/>
              <a:ea typeface="Calibri"/>
              <a:cs typeface="Calibri"/>
              <a:sym typeface="Calibri"/>
            </a:endParaRPr>
          </a:p>
        </p:txBody>
      </p:sp>
      <p:sp>
        <p:nvSpPr>
          <p:cNvPr id="635" name="Google Shape;635;p39"/>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u="none" cap="none" strike="noStrike">
                <a:solidFill>
                  <a:srgbClr val="202329"/>
                </a:solidFill>
                <a:latin typeface="Arial"/>
                <a:ea typeface="Arial"/>
                <a:cs typeface="Arial"/>
                <a:sym typeface="Arial"/>
              </a:rPr>
              <a:t>The task separates the response to an object from the physical difficulty of grasping a real egg. It supports state-dependent object removal, while leaving the hormonal and neural determinants of that state unmeasured. Motivation is therefore a behavioral interpretation rather than an identified transmitter system.</a:t>
            </a:r>
            <a:endParaRPr b="0" i="0" sz="1600" u="none" cap="none" strike="noStrike">
              <a:solidFill>
                <a:schemeClr val="dk1"/>
              </a:solidFill>
              <a:latin typeface="Calibri"/>
              <a:ea typeface="Calibri"/>
              <a:cs typeface="Calibri"/>
              <a:sym typeface="Calibri"/>
            </a:endParaRPr>
          </a:p>
        </p:txBody>
      </p:sp>
      <p:pic>
        <p:nvPicPr>
          <p:cNvPr id="636" name="Google Shape;636;p39"/>
          <p:cNvPicPr preferRelativeResize="0"/>
          <p:nvPr/>
        </p:nvPicPr>
        <p:blipFill rotWithShape="1">
          <a:blip r:embed="rId3">
            <a:alphaModFix/>
          </a:blip>
          <a:srcRect b="0" l="0" r="0" t="0"/>
          <a:stretch/>
        </p:blipFill>
        <p:spPr>
          <a:xfrm>
            <a:off x="6610350" y="1168426"/>
            <a:ext cx="5048250" cy="3774329"/>
          </a:xfrm>
          <a:prstGeom prst="rect">
            <a:avLst/>
          </a:prstGeom>
          <a:noFill/>
          <a:ln>
            <a:noFill/>
          </a:ln>
        </p:spPr>
      </p:pic>
      <p:sp>
        <p:nvSpPr>
          <p:cNvPr id="637" name="Google Shape;637;p39"/>
          <p:cNvSpPr/>
          <p:nvPr/>
        </p:nvSpPr>
        <p:spPr>
          <a:xfrm>
            <a:off x="6610350" y="5170140"/>
            <a:ext cx="5067300" cy="185738"/>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Poláček et al. (2013), Fig. 1. Flat objects differing in size, color, and shape.</a:t>
            </a:r>
            <a:endParaRPr b="0" i="0" sz="1800" u="none" cap="none" strike="noStrike">
              <a:solidFill>
                <a:schemeClr val="dk1"/>
              </a:solidFill>
              <a:latin typeface="Calibri"/>
              <a:ea typeface="Calibri"/>
              <a:cs typeface="Calibri"/>
              <a:sym typeface="Calibri"/>
            </a:endParaRPr>
          </a:p>
        </p:txBody>
      </p:sp>
      <p:sp>
        <p:nvSpPr>
          <p:cNvPr id="638" name="Google Shape;638;p39"/>
          <p:cNvSpPr/>
          <p:nvPr/>
        </p:nvSpPr>
        <p:spPr>
          <a:xfrm>
            <a:off x="457200" y="6462713"/>
            <a:ext cx="116904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Poláček et al. (2013)</a:t>
            </a:r>
            <a:endParaRPr b="0" i="0" sz="1800" u="none" cap="none" strike="noStrike">
              <a:solidFill>
                <a:schemeClr val="dk1"/>
              </a:solidFill>
              <a:latin typeface="Calibri"/>
              <a:ea typeface="Calibri"/>
              <a:cs typeface="Calibri"/>
              <a:sym typeface="Calibri"/>
            </a:endParaRPr>
          </a:p>
        </p:txBody>
      </p:sp>
      <p:sp>
        <p:nvSpPr>
          <p:cNvPr id="639" name="Google Shape;639;p3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39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sp>
        <p:nvSpPr>
          <p:cNvPr id="644" name="Google Shape;644;p4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Object size interacts with breeding stage</a:t>
            </a:r>
            <a:endParaRPr b="0" i="0" sz="1800" u="none" cap="none" strike="noStrike">
              <a:solidFill>
                <a:schemeClr val="dk1"/>
              </a:solidFill>
              <a:latin typeface="Calibri"/>
              <a:ea typeface="Calibri"/>
              <a:cs typeface="Calibri"/>
              <a:sym typeface="Calibri"/>
            </a:endParaRPr>
          </a:p>
        </p:txBody>
      </p:sp>
      <p:sp>
        <p:nvSpPr>
          <p:cNvPr id="645" name="Google Shape;645;p40"/>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400" u="none" cap="none" strike="noStrike">
                <a:solidFill>
                  <a:srgbClr val="202329"/>
                </a:solidFill>
                <a:latin typeface="Arial"/>
                <a:ea typeface="Arial"/>
                <a:cs typeface="Arial"/>
                <a:sym typeface="Arial"/>
              </a:rPr>
              <a:t>State dependence</a:t>
            </a:r>
            <a:r>
              <a:rPr b="0" i="0" lang="en-US" sz="1400" u="none" cap="none" strike="noStrike">
                <a:solidFill>
                  <a:srgbClr val="202329"/>
                </a:solidFill>
                <a:latin typeface="Arial"/>
                <a:ea typeface="Arial"/>
                <a:cs typeface="Arial"/>
                <a:sym typeface="Arial"/>
              </a:rPr>
              <a:t> means that the effect of a stimulus changes with the animal’s condition. Poláček and colleagues presented tree sparrows with flat egg-like objects approximately 15.0, 19.4, or 23.3 mm long, keeping material and general appearance similar.</a:t>
            </a:r>
            <a:endParaRPr b="0" i="0" sz="1700" u="none" cap="none" strike="noStrike">
              <a:solidFill>
                <a:schemeClr val="dk1"/>
              </a:solidFill>
              <a:latin typeface="Calibri"/>
              <a:ea typeface="Calibri"/>
              <a:cs typeface="Calibri"/>
              <a:sym typeface="Calibri"/>
            </a:endParaRPr>
          </a:p>
        </p:txBody>
      </p:sp>
      <p:sp>
        <p:nvSpPr>
          <p:cNvPr id="646" name="Google Shape;646;p40"/>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During egg laying, larger objects were removed faster than smaller ones, with normal-sized objects intermediate. During incubation, the size ordering was less apparent. The published curves track objects remaining in the nest through the 60 minute observation period.</a:t>
            </a:r>
            <a:endParaRPr b="0" i="0" sz="1700" u="none" cap="none" strike="noStrike">
              <a:solidFill>
                <a:schemeClr val="dk1"/>
              </a:solidFill>
              <a:latin typeface="Calibri"/>
              <a:ea typeface="Calibri"/>
              <a:cs typeface="Calibri"/>
              <a:sym typeface="Calibri"/>
            </a:endParaRPr>
          </a:p>
        </p:txBody>
      </p:sp>
      <p:sp>
        <p:nvSpPr>
          <p:cNvPr id="647" name="Google Shape;647;p40"/>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An object’s dimensions therefore did not determine removal latency independently of breeding stage. The result supports an interaction between stimulus features and internal context. It does not establish whether the underlying change is sensory discrimination, response threshold, or a specific endocrine pathway.</a:t>
            </a:r>
            <a:endParaRPr b="0" i="0" sz="1700" u="none" cap="none" strike="noStrike">
              <a:solidFill>
                <a:schemeClr val="dk1"/>
              </a:solidFill>
              <a:latin typeface="Calibri"/>
              <a:ea typeface="Calibri"/>
              <a:cs typeface="Calibri"/>
              <a:sym typeface="Calibri"/>
            </a:endParaRPr>
          </a:p>
        </p:txBody>
      </p:sp>
      <p:pic>
        <p:nvPicPr>
          <p:cNvPr id="648" name="Google Shape;648;p40"/>
          <p:cNvPicPr preferRelativeResize="0"/>
          <p:nvPr/>
        </p:nvPicPr>
        <p:blipFill rotWithShape="1">
          <a:blip r:embed="rId3">
            <a:alphaModFix/>
          </a:blip>
          <a:srcRect b="0" l="0" r="0" t="0"/>
          <a:stretch/>
        </p:blipFill>
        <p:spPr>
          <a:xfrm>
            <a:off x="8124288" y="1055340"/>
            <a:ext cx="2020373" cy="4000500"/>
          </a:xfrm>
          <a:prstGeom prst="rect">
            <a:avLst/>
          </a:prstGeom>
          <a:noFill/>
          <a:ln>
            <a:noFill/>
          </a:ln>
        </p:spPr>
      </p:pic>
      <p:sp>
        <p:nvSpPr>
          <p:cNvPr id="649" name="Google Shape;649;p4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Poláček et al. (2013), Fig. 3. Removal time for large, normal, and small objects.</a:t>
            </a:r>
            <a:endParaRPr b="0" i="0" sz="1800" u="none" cap="none" strike="noStrike">
              <a:solidFill>
                <a:schemeClr val="dk1"/>
              </a:solidFill>
              <a:latin typeface="Calibri"/>
              <a:ea typeface="Calibri"/>
              <a:cs typeface="Calibri"/>
              <a:sym typeface="Calibri"/>
            </a:endParaRPr>
          </a:p>
        </p:txBody>
      </p:sp>
      <p:sp>
        <p:nvSpPr>
          <p:cNvPr id="650" name="Google Shape;650;p40"/>
          <p:cNvSpPr/>
          <p:nvPr/>
        </p:nvSpPr>
        <p:spPr>
          <a:xfrm>
            <a:off x="457200" y="6462713"/>
            <a:ext cx="116904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Poláček et al. (2013)</a:t>
            </a:r>
            <a:endParaRPr b="0" i="0" sz="1800" u="none" cap="none" strike="noStrike">
              <a:solidFill>
                <a:schemeClr val="dk1"/>
              </a:solidFill>
              <a:latin typeface="Calibri"/>
              <a:ea typeface="Calibri"/>
              <a:cs typeface="Calibri"/>
              <a:sym typeface="Calibri"/>
            </a:endParaRPr>
          </a:p>
        </p:txBody>
      </p:sp>
      <p:sp>
        <p:nvSpPr>
          <p:cNvPr id="651" name="Google Shape;651;p4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40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5" name="Shape 655"/>
        <p:cNvGrpSpPr/>
        <p:nvPr/>
      </p:nvGrpSpPr>
      <p:grpSpPr>
        <a:xfrm>
          <a:off x="0" y="0"/>
          <a:ext cx="0" cy="0"/>
          <a:chOff x="0" y="0"/>
          <a:chExt cx="0" cy="0"/>
        </a:xfrm>
      </p:grpSpPr>
      <p:sp>
        <p:nvSpPr>
          <p:cNvPr id="656" name="Google Shape;656;p4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Color effects need not (do not) measure egg recognition</a:t>
            </a:r>
            <a:endParaRPr b="0" i="0" sz="1800" u="none" cap="none" strike="noStrike">
              <a:solidFill>
                <a:schemeClr val="dk1"/>
              </a:solidFill>
              <a:latin typeface="Calibri"/>
              <a:ea typeface="Calibri"/>
              <a:cs typeface="Calibri"/>
              <a:sym typeface="Calibri"/>
            </a:endParaRPr>
          </a:p>
        </p:txBody>
      </p:sp>
      <p:sp>
        <p:nvSpPr>
          <p:cNvPr id="657" name="Google Shape;657;p41"/>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u="none" cap="none" strike="noStrike">
                <a:solidFill>
                  <a:srgbClr val="202329"/>
                </a:solidFill>
                <a:latin typeface="Arial"/>
                <a:ea typeface="Arial"/>
                <a:cs typeface="Arial"/>
                <a:sym typeface="Arial"/>
              </a:rPr>
              <a:t>Stimulus discrimination</a:t>
            </a:r>
            <a:r>
              <a:rPr b="0" i="0" lang="en-US" sz="1500" u="none" cap="none" strike="noStrike">
                <a:solidFill>
                  <a:srgbClr val="202329"/>
                </a:solidFill>
                <a:latin typeface="Arial"/>
                <a:ea typeface="Arial"/>
                <a:cs typeface="Arial"/>
                <a:sym typeface="Arial"/>
              </a:rPr>
              <a:t> is differential responding to distinct stimulus properties. Poláček and colleagues compared flat white, normal-colored, and dark egg-shaped objects while holding their dimensions close to the same standard model.</a:t>
            </a:r>
            <a:endParaRPr b="0" i="0" sz="1800" u="none" cap="none" strike="noStrike">
              <a:solidFill>
                <a:schemeClr val="dk1"/>
              </a:solidFill>
              <a:latin typeface="Calibri"/>
              <a:ea typeface="Calibri"/>
              <a:cs typeface="Calibri"/>
              <a:sym typeface="Calibri"/>
            </a:endParaRPr>
          </a:p>
        </p:txBody>
      </p:sp>
      <p:sp>
        <p:nvSpPr>
          <p:cNvPr id="658" name="Google Shape;658;p41"/>
          <p:cNvSpPr/>
          <p:nvPr/>
        </p:nvSpPr>
        <p:spPr>
          <a:xfrm>
            <a:off x="457200" y="2785028"/>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White objects were removed faster than dark objects over the 60 minute observation interval. However, the difference in lightness between a bird’s own clutch and the experimental object did not predict removal latency in the corresponding analysis.</a:t>
            </a:r>
            <a:endParaRPr b="0" i="0" sz="1800" u="none" cap="none" strike="noStrike">
              <a:solidFill>
                <a:schemeClr val="dk1"/>
              </a:solidFill>
              <a:latin typeface="Calibri"/>
              <a:ea typeface="Calibri"/>
              <a:cs typeface="Calibri"/>
              <a:sym typeface="Calibri"/>
            </a:endParaRPr>
          </a:p>
        </p:txBody>
      </p:sp>
      <p:sp>
        <p:nvSpPr>
          <p:cNvPr id="659" name="Google Shape;659;p41"/>
          <p:cNvSpPr/>
          <p:nvPr/>
        </p:nvSpPr>
        <p:spPr>
          <a:xfrm>
            <a:off x="457200" y="451471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A color effect is therefore not equivalent to evidence that the bird compares each object with a detailed template of its own eggs. The authors considered nest sanitation, including resemblance to waste material, as an explanation. That proposal remained distinct from a demonstrated neural recognition rule.</a:t>
            </a:r>
            <a:endParaRPr b="0" i="0" sz="1800" u="none" cap="none" strike="noStrike">
              <a:solidFill>
                <a:schemeClr val="dk1"/>
              </a:solidFill>
              <a:latin typeface="Calibri"/>
              <a:ea typeface="Calibri"/>
              <a:cs typeface="Calibri"/>
              <a:sym typeface="Calibri"/>
            </a:endParaRPr>
          </a:p>
        </p:txBody>
      </p:sp>
      <p:pic>
        <p:nvPicPr>
          <p:cNvPr id="660" name="Google Shape;660;p41"/>
          <p:cNvPicPr preferRelativeResize="0"/>
          <p:nvPr/>
        </p:nvPicPr>
        <p:blipFill rotWithShape="1">
          <a:blip r:embed="rId3">
            <a:alphaModFix/>
          </a:blip>
          <a:srcRect b="0" l="0" r="0" t="0"/>
          <a:stretch/>
        </p:blipFill>
        <p:spPr>
          <a:xfrm>
            <a:off x="8120355" y="1055340"/>
            <a:ext cx="2028241" cy="4000500"/>
          </a:xfrm>
          <a:prstGeom prst="rect">
            <a:avLst/>
          </a:prstGeom>
          <a:noFill/>
          <a:ln>
            <a:noFill/>
          </a:ln>
        </p:spPr>
      </p:pic>
      <p:sp>
        <p:nvSpPr>
          <p:cNvPr id="661" name="Google Shape;661;p4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Poláček et al. (2013), Fig. 5. Removal time for white, normal, and dark objects.</a:t>
            </a:r>
            <a:endParaRPr b="0" i="0" sz="1800" u="none" cap="none" strike="noStrike">
              <a:solidFill>
                <a:schemeClr val="dk1"/>
              </a:solidFill>
              <a:latin typeface="Calibri"/>
              <a:ea typeface="Calibri"/>
              <a:cs typeface="Calibri"/>
              <a:sym typeface="Calibri"/>
            </a:endParaRPr>
          </a:p>
        </p:txBody>
      </p:sp>
      <p:sp>
        <p:nvSpPr>
          <p:cNvPr id="662" name="Google Shape;662;p41"/>
          <p:cNvSpPr/>
          <p:nvPr/>
        </p:nvSpPr>
        <p:spPr>
          <a:xfrm>
            <a:off x="457200" y="6462713"/>
            <a:ext cx="116904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Poláček et al. (2013)</a:t>
            </a:r>
            <a:endParaRPr b="0" i="0" sz="1800" u="none" cap="none" strike="noStrike">
              <a:solidFill>
                <a:schemeClr val="dk1"/>
              </a:solidFill>
              <a:latin typeface="Calibri"/>
              <a:ea typeface="Calibri"/>
              <a:cs typeface="Calibri"/>
              <a:sym typeface="Calibri"/>
            </a:endParaRPr>
          </a:p>
        </p:txBody>
      </p:sp>
      <p:sp>
        <p:nvSpPr>
          <p:cNvPr id="663" name="Google Shape;663;p4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41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7" name="Shape 667"/>
        <p:cNvGrpSpPr/>
        <p:nvPr/>
      </p:nvGrpSpPr>
      <p:grpSpPr>
        <a:xfrm>
          <a:off x="0" y="0"/>
          <a:ext cx="0" cy="0"/>
          <a:chOff x="0" y="0"/>
          <a:chExt cx="0" cy="0"/>
        </a:xfrm>
      </p:grpSpPr>
      <p:sp>
        <p:nvSpPr>
          <p:cNvPr id="668" name="Google Shape;668;p4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Removal behavior does not establish adaptive history</a:t>
            </a:r>
            <a:endParaRPr b="0" i="0" sz="1800" u="none" cap="none" strike="noStrike">
              <a:solidFill>
                <a:schemeClr val="dk1"/>
              </a:solidFill>
              <a:latin typeface="Calibri"/>
              <a:ea typeface="Calibri"/>
              <a:cs typeface="Calibri"/>
              <a:sym typeface="Calibri"/>
            </a:endParaRPr>
          </a:p>
        </p:txBody>
      </p:sp>
      <p:sp>
        <p:nvSpPr>
          <p:cNvPr id="669" name="Google Shape;669;p42"/>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An </a:t>
            </a:r>
            <a:r>
              <a:rPr b="1" i="0" lang="en-US" sz="1400" u="none" cap="none" strike="noStrike">
                <a:solidFill>
                  <a:srgbClr val="202329"/>
                </a:solidFill>
                <a:latin typeface="Arial"/>
                <a:ea typeface="Arial"/>
                <a:cs typeface="Arial"/>
                <a:sym typeface="Arial"/>
              </a:rPr>
              <a:t>adaptive explanation</a:t>
            </a:r>
            <a:r>
              <a:rPr b="0" i="0" lang="en-US" sz="1400" u="none" cap="none" strike="noStrike">
                <a:solidFill>
                  <a:srgbClr val="202329"/>
                </a:solidFill>
                <a:latin typeface="Arial"/>
                <a:ea typeface="Arial"/>
                <a:cs typeface="Arial"/>
                <a:sym typeface="Arial"/>
              </a:rPr>
              <a:t> attributes a trait’s evolution to consequences that favored its persistence. Poláček and colleagues examined whether nest sanitation could provide an evolutionary background for removal of parasitic eggs, comparing flat square and egg-shaped objects in tree sparrow nests.</a:t>
            </a:r>
            <a:endParaRPr b="0" i="0" sz="1700" u="none" cap="none" strike="noStrike">
              <a:solidFill>
                <a:schemeClr val="dk1"/>
              </a:solidFill>
              <a:latin typeface="Calibri"/>
              <a:ea typeface="Calibri"/>
              <a:cs typeface="Calibri"/>
              <a:sym typeface="Calibri"/>
            </a:endParaRPr>
          </a:p>
        </p:txBody>
      </p:sp>
      <p:sp>
        <p:nvSpPr>
          <p:cNvPr id="670" name="Google Shape;670;p42"/>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objects had matching surface area and color, and removal was followed for 60 minutes. Shape alone did not produce a clear overall difference in removal latency. Separate trials with real added eggs frequently resulted in continued incubation rather than ejection.</a:t>
            </a:r>
            <a:endParaRPr b="0" i="0" sz="1700" u="none" cap="none" strike="noStrike">
              <a:solidFill>
                <a:schemeClr val="dk1"/>
              </a:solidFill>
              <a:latin typeface="Calibri"/>
              <a:ea typeface="Calibri"/>
              <a:cs typeface="Calibri"/>
              <a:sym typeface="Calibri"/>
            </a:endParaRPr>
          </a:p>
        </p:txBody>
      </p:sp>
      <p:sp>
        <p:nvSpPr>
          <p:cNvPr id="671" name="Google Shape;671;p42"/>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These findings support limits on treating every removed object as evidence of specialized anti-parasite recognition. Nest sanitation as an ancestral precursor remains a historical hypothesis, not a reconstructed sequence of evolutionary changes. Present-day response mechanisms and past adaptive origins require different evidence.</a:t>
            </a:r>
            <a:endParaRPr b="0" i="0" sz="1700" u="none" cap="none" strike="noStrike">
              <a:solidFill>
                <a:schemeClr val="dk1"/>
              </a:solidFill>
              <a:latin typeface="Calibri"/>
              <a:ea typeface="Calibri"/>
              <a:cs typeface="Calibri"/>
              <a:sym typeface="Calibri"/>
            </a:endParaRPr>
          </a:p>
        </p:txBody>
      </p:sp>
      <p:pic>
        <p:nvPicPr>
          <p:cNvPr id="672" name="Google Shape;672;p42"/>
          <p:cNvPicPr preferRelativeResize="0"/>
          <p:nvPr/>
        </p:nvPicPr>
        <p:blipFill rotWithShape="1">
          <a:blip r:embed="rId3">
            <a:alphaModFix/>
          </a:blip>
          <a:srcRect b="0" l="0" r="0" t="0"/>
          <a:stretch/>
        </p:blipFill>
        <p:spPr>
          <a:xfrm>
            <a:off x="8118202" y="1055340"/>
            <a:ext cx="2032547" cy="4000500"/>
          </a:xfrm>
          <a:prstGeom prst="rect">
            <a:avLst/>
          </a:prstGeom>
          <a:noFill/>
          <a:ln>
            <a:noFill/>
          </a:ln>
        </p:spPr>
      </p:pic>
      <p:sp>
        <p:nvSpPr>
          <p:cNvPr id="673" name="Google Shape;673;p4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Poláček et al. (2013), Fig. 7. Removal of square and egg-shaped objects across breeding stages.</a:t>
            </a:r>
            <a:endParaRPr b="0" i="0" sz="1800" u="none" cap="none" strike="noStrike">
              <a:solidFill>
                <a:schemeClr val="dk1"/>
              </a:solidFill>
              <a:latin typeface="Calibri"/>
              <a:ea typeface="Calibri"/>
              <a:cs typeface="Calibri"/>
              <a:sym typeface="Calibri"/>
            </a:endParaRPr>
          </a:p>
        </p:txBody>
      </p:sp>
      <p:sp>
        <p:nvSpPr>
          <p:cNvPr id="674" name="Google Shape;674;p42"/>
          <p:cNvSpPr/>
          <p:nvPr/>
        </p:nvSpPr>
        <p:spPr>
          <a:xfrm>
            <a:off x="457200" y="6462713"/>
            <a:ext cx="116904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Poláček et al. (2013)</a:t>
            </a:r>
            <a:endParaRPr b="0" i="0" sz="1800" u="none" cap="none" strike="noStrike">
              <a:solidFill>
                <a:schemeClr val="dk1"/>
              </a:solidFill>
              <a:latin typeface="Calibri"/>
              <a:ea typeface="Calibri"/>
              <a:cs typeface="Calibri"/>
              <a:sym typeface="Calibri"/>
            </a:endParaRPr>
          </a:p>
        </p:txBody>
      </p:sp>
      <p:sp>
        <p:nvSpPr>
          <p:cNvPr id="675" name="Google Shape;675;p4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42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9" name="Shape 679"/>
        <p:cNvGrpSpPr/>
        <p:nvPr/>
      </p:nvGrpSpPr>
      <p:grpSpPr>
        <a:xfrm>
          <a:off x="0" y="0"/>
          <a:ext cx="0" cy="0"/>
          <a:chOff x="0" y="0"/>
          <a:chExt cx="0" cy="0"/>
        </a:xfrm>
      </p:grpSpPr>
      <p:sp>
        <p:nvSpPr>
          <p:cNvPr id="680" name="Google Shape;680;p6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Failure to eject can reflect ability, not recognition</a:t>
            </a:r>
            <a:endParaRPr b="0" i="0" sz="1800" u="none" cap="none" strike="noStrike">
              <a:solidFill>
                <a:schemeClr val="dk1"/>
              </a:solidFill>
              <a:latin typeface="Calibri"/>
              <a:ea typeface="Calibri"/>
              <a:cs typeface="Calibri"/>
              <a:sym typeface="Calibri"/>
            </a:endParaRPr>
          </a:p>
        </p:txBody>
      </p:sp>
      <p:sp>
        <p:nvSpPr>
          <p:cNvPr id="681" name="Google Shape;681;p61"/>
          <p:cNvSpPr/>
          <p:nvPr/>
        </p:nvSpPr>
        <p:spPr>
          <a:xfrm>
            <a:off x="457200" y="1055340"/>
            <a:ext cx="5829300" cy="119481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 bird that keeps a foreign egg may have failed to detect it, lacked the motivation to remove it, or been unable to remove it. Counting ejections of real eggs cannot separate these causes, since all three end in the same outcome.</a:t>
            </a:r>
            <a:endParaRPr b="0" i="0" sz="1700" u="none" cap="none" strike="noStrike">
              <a:solidFill>
                <a:schemeClr val="dk1"/>
              </a:solidFill>
              <a:latin typeface="Calibri"/>
              <a:ea typeface="Calibri"/>
              <a:cs typeface="Calibri"/>
              <a:sym typeface="Calibri"/>
            </a:endParaRPr>
          </a:p>
        </p:txBody>
      </p:sp>
      <p:sp>
        <p:nvSpPr>
          <p:cNvPr id="682" name="Google Shape;682;p61"/>
          <p:cNvSpPr/>
          <p:nvPr/>
        </p:nvSpPr>
        <p:spPr>
          <a:xfrm>
            <a:off x="457200" y="2599262"/>
            <a:ext cx="5829300" cy="179222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Poláček and colleagues approached the problem from both sides. Real tree sparrow eggs added to nests were ejected in only 2 of 19 cases, yet 81.7% of the light, flat objects were removed within an hour. Removal was common when the object was easy to carry and rare for a real egg, which the authors take to identify the difficulty of grasping an egg, rather than weak motivation, as a major limit.</a:t>
            </a:r>
            <a:endParaRPr b="0" i="0" sz="1700" u="none" cap="none" strike="noStrike">
              <a:solidFill>
                <a:schemeClr val="dk1"/>
              </a:solidFill>
              <a:latin typeface="Calibri"/>
              <a:ea typeface="Calibri"/>
              <a:cs typeface="Calibri"/>
              <a:sym typeface="Calibri"/>
            </a:endParaRPr>
          </a:p>
        </p:txBody>
      </p:sp>
      <p:sp>
        <p:nvSpPr>
          <p:cNvPr id="683" name="Google Shape;683;p61"/>
          <p:cNvSpPr/>
          <p:nvPr/>
        </p:nvSpPr>
        <p:spPr>
          <a:xfrm>
            <a:off x="457200" y="4740593"/>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Breeding stage changed which features mattered. Size affected removal mainly during laying, when a parasitic egg could still hatch with the clutch, whereas white objects resembling shell fragments or faecal sacs went fastest during incubation, matching parasite defense and nest cleaning respectively.</a:t>
            </a:r>
            <a:endParaRPr b="0" i="0" sz="1700" u="none" cap="none" strike="noStrike">
              <a:solidFill>
                <a:schemeClr val="dk1"/>
              </a:solidFill>
              <a:latin typeface="Calibri"/>
              <a:ea typeface="Calibri"/>
              <a:cs typeface="Calibri"/>
              <a:sym typeface="Calibri"/>
            </a:endParaRPr>
          </a:p>
        </p:txBody>
      </p:sp>
      <p:pic>
        <p:nvPicPr>
          <p:cNvPr id="684" name="Google Shape;684;p61"/>
          <p:cNvPicPr preferRelativeResize="0"/>
          <p:nvPr/>
        </p:nvPicPr>
        <p:blipFill rotWithShape="1">
          <a:blip r:embed="rId3">
            <a:alphaModFix/>
          </a:blip>
          <a:srcRect b="0" l="0" r="0" t="0"/>
          <a:stretch/>
        </p:blipFill>
        <p:spPr>
          <a:xfrm>
            <a:off x="6610350" y="1168426"/>
            <a:ext cx="5048250" cy="3774329"/>
          </a:xfrm>
          <a:prstGeom prst="rect">
            <a:avLst/>
          </a:prstGeom>
          <a:noFill/>
          <a:ln>
            <a:noFill/>
          </a:ln>
        </p:spPr>
      </p:pic>
      <p:sp>
        <p:nvSpPr>
          <p:cNvPr id="685" name="Google Shape;685;p61"/>
          <p:cNvSpPr/>
          <p:nvPr/>
        </p:nvSpPr>
        <p:spPr>
          <a:xfrm>
            <a:off x="6610350" y="5170140"/>
            <a:ext cx="5067300" cy="185738"/>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Poláček et al. (2013), Fig. 1. Flat objects differing in size, color, and shape.</a:t>
            </a:r>
            <a:endParaRPr b="0" i="0" sz="1800" u="none" cap="none" strike="noStrike">
              <a:solidFill>
                <a:schemeClr val="dk1"/>
              </a:solidFill>
              <a:latin typeface="Calibri"/>
              <a:ea typeface="Calibri"/>
              <a:cs typeface="Calibri"/>
              <a:sym typeface="Calibri"/>
            </a:endParaRPr>
          </a:p>
        </p:txBody>
      </p:sp>
      <p:sp>
        <p:nvSpPr>
          <p:cNvPr id="686" name="Google Shape;686;p61"/>
          <p:cNvSpPr/>
          <p:nvPr/>
        </p:nvSpPr>
        <p:spPr>
          <a:xfrm>
            <a:off x="457200" y="6462713"/>
            <a:ext cx="148158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Poláček et al. (2013)</a:t>
            </a:r>
            <a:endParaRPr b="0" i="0" sz="1800" u="none" cap="none" strike="noStrike">
              <a:solidFill>
                <a:schemeClr val="dk1"/>
              </a:solidFill>
              <a:latin typeface="Calibri"/>
              <a:ea typeface="Calibri"/>
              <a:cs typeface="Calibri"/>
              <a:sym typeface="Calibri"/>
            </a:endParaRPr>
          </a:p>
        </p:txBody>
      </p:sp>
      <p:sp>
        <p:nvSpPr>
          <p:cNvPr id="687" name="Google Shape;687;p61"/>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42a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1" name="Shape 691"/>
        <p:cNvGrpSpPr/>
        <p:nvPr/>
      </p:nvGrpSpPr>
      <p:grpSpPr>
        <a:xfrm>
          <a:off x="0" y="0"/>
          <a:ext cx="0" cy="0"/>
          <a:chOff x="0" y="0"/>
          <a:chExt cx="0" cy="0"/>
        </a:xfrm>
      </p:grpSpPr>
      <p:sp>
        <p:nvSpPr>
          <p:cNvPr id="692" name="Google Shape;692;p4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Different effectors can produce similar defensive sounds</a:t>
            </a:r>
            <a:endParaRPr b="0" i="0" sz="1800" u="none" cap="none" strike="noStrike">
              <a:solidFill>
                <a:schemeClr val="dk1"/>
              </a:solidFill>
              <a:latin typeface="Calibri"/>
              <a:ea typeface="Calibri"/>
              <a:cs typeface="Calibri"/>
              <a:sym typeface="Calibri"/>
            </a:endParaRPr>
          </a:p>
        </p:txBody>
      </p:sp>
      <p:sp>
        <p:nvSpPr>
          <p:cNvPr id="693" name="Google Shape;693;p43"/>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An </a:t>
            </a:r>
            <a:r>
              <a:rPr b="1" i="0" lang="en-US" sz="1500" u="none" cap="none" strike="noStrike">
                <a:solidFill>
                  <a:srgbClr val="202329"/>
                </a:solidFill>
                <a:latin typeface="Arial"/>
                <a:ea typeface="Arial"/>
                <a:cs typeface="Arial"/>
                <a:sym typeface="Arial"/>
              </a:rPr>
              <a:t>effector</a:t>
            </a:r>
            <a:r>
              <a:rPr b="0" i="0" lang="en-US" sz="1500" u="none" cap="none" strike="noStrike">
                <a:solidFill>
                  <a:srgbClr val="202329"/>
                </a:solidFill>
                <a:latin typeface="Arial"/>
                <a:ea typeface="Arial"/>
                <a:cs typeface="Arial"/>
                <a:sym typeface="Arial"/>
              </a:rPr>
              <a:t> is a structure that produces an action. Barber and colleagues examined the physical mechanisms of moth ultrasound, combining recorded responses with anatomical inspection and manipulations of sound-producing structures.</a:t>
            </a:r>
            <a:endParaRPr b="0" i="0" sz="1800" u="none" cap="none" strike="noStrike">
              <a:solidFill>
                <a:schemeClr val="dk1"/>
              </a:solidFill>
              <a:latin typeface="Calibri"/>
              <a:ea typeface="Calibri"/>
              <a:cs typeface="Calibri"/>
              <a:sym typeface="Calibri"/>
            </a:endParaRPr>
          </a:p>
        </p:txBody>
      </p:sp>
      <p:sp>
        <p:nvSpPr>
          <p:cNvPr id="694" name="Google Shape;694;p43"/>
          <p:cNvSpPr/>
          <p:nvPr/>
        </p:nvSpPr>
        <p:spPr>
          <a:xfrm>
            <a:off x="457200" y="2531504"/>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In </a:t>
            </a:r>
            <a:r>
              <a:rPr b="0" i="1" lang="en-US" sz="1500" u="none" cap="none" strike="noStrike">
                <a:solidFill>
                  <a:srgbClr val="202329"/>
                </a:solidFill>
                <a:latin typeface="Arial"/>
                <a:ea typeface="Arial"/>
                <a:cs typeface="Arial"/>
                <a:sym typeface="Arial"/>
              </a:rPr>
              <a:t>Mittonia hampsoni</a:t>
            </a:r>
            <a:r>
              <a:rPr b="0" i="0" lang="en-US" sz="1500" u="none" cap="none" strike="noStrike">
                <a:solidFill>
                  <a:srgbClr val="202329"/>
                </a:solidFill>
                <a:latin typeface="Arial"/>
                <a:ea typeface="Arial"/>
                <a:cs typeface="Arial"/>
                <a:sym typeface="Arial"/>
              </a:rPr>
              <a:t>, modified scales on the </a:t>
            </a:r>
            <a:r>
              <a:rPr b="1" i="0" lang="en-US" sz="1500" u="none" cap="none" strike="noStrike">
                <a:solidFill>
                  <a:srgbClr val="202329"/>
                </a:solidFill>
                <a:latin typeface="Arial"/>
                <a:ea typeface="Arial"/>
                <a:cs typeface="Arial"/>
                <a:sym typeface="Arial"/>
              </a:rPr>
              <a:t>tegula</a:t>
            </a:r>
            <a:r>
              <a:rPr b="0" i="0" lang="en-US" sz="1500" u="none" cap="none" strike="noStrike">
                <a:solidFill>
                  <a:srgbClr val="202329"/>
                </a:solidFill>
                <a:latin typeface="Arial"/>
                <a:ea typeface="Arial"/>
                <a:cs typeface="Arial"/>
                <a:sym typeface="Arial"/>
              </a:rPr>
              <a:t>, a structure near the forewing base, participate in percussive sound production during wingbeats. Ablation experiments supported this mechanism. The source panels retain animal and structural scales of 1 cm, 0.2 mm, and 50 µm.</a:t>
            </a:r>
            <a:endParaRPr b="0" i="0" sz="1800" u="none" cap="none" strike="noStrike">
              <a:solidFill>
                <a:schemeClr val="dk1"/>
              </a:solidFill>
              <a:latin typeface="Calibri"/>
              <a:ea typeface="Calibri"/>
              <a:cs typeface="Calibri"/>
              <a:sym typeface="Calibri"/>
            </a:endParaRPr>
          </a:p>
        </p:txBody>
      </p:sp>
      <p:sp>
        <p:nvSpPr>
          <p:cNvPr id="695" name="Google Shape;695;p43"/>
          <p:cNvSpPr/>
          <p:nvPr/>
        </p:nvSpPr>
        <p:spPr>
          <a:xfrm>
            <a:off x="457200" y="434957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u="none" cap="none" strike="noStrike">
                <a:solidFill>
                  <a:srgbClr val="202329"/>
                </a:solidFill>
                <a:latin typeface="Arial"/>
                <a:ea typeface="Arial"/>
                <a:cs typeface="Arial"/>
                <a:sym typeface="Arial"/>
              </a:rPr>
              <a:t>Other moths produce ultrasound by rubbing modified scales or by buckling cuticular plates called </a:t>
            </a:r>
            <a:r>
              <a:rPr b="1" i="0" lang="en-US" sz="1500" u="none" cap="none" strike="noStrike">
                <a:solidFill>
                  <a:srgbClr val="202329"/>
                </a:solidFill>
                <a:latin typeface="Arial"/>
                <a:ea typeface="Arial"/>
                <a:cs typeface="Arial"/>
                <a:sym typeface="Arial"/>
              </a:rPr>
              <a:t>tymbals</a:t>
            </a:r>
            <a:r>
              <a:rPr b="0" i="0" lang="en-US" sz="1500" u="none" cap="none" strike="noStrike">
                <a:solidFill>
                  <a:srgbClr val="202329"/>
                </a:solidFill>
                <a:latin typeface="Arial"/>
                <a:ea typeface="Arial"/>
                <a:cs typeface="Arial"/>
                <a:sym typeface="Arial"/>
              </a:rPr>
              <a:t>. Similar acoustic behavior can therefore arise from different structures. Shared defensive sound does not establish shared anatomical machinery or one evolutionary origin.</a:t>
            </a:r>
            <a:endParaRPr b="0" i="0" sz="1800" u="none" cap="none" strike="noStrike">
              <a:solidFill>
                <a:schemeClr val="dk1"/>
              </a:solidFill>
              <a:latin typeface="Calibri"/>
              <a:ea typeface="Calibri"/>
              <a:cs typeface="Calibri"/>
              <a:sym typeface="Calibri"/>
            </a:endParaRPr>
          </a:p>
        </p:txBody>
      </p:sp>
      <p:pic>
        <p:nvPicPr>
          <p:cNvPr id="696" name="Google Shape;696;p43"/>
          <p:cNvPicPr preferRelativeResize="0"/>
          <p:nvPr/>
        </p:nvPicPr>
        <p:blipFill rotWithShape="1">
          <a:blip r:embed="rId3">
            <a:alphaModFix/>
          </a:blip>
          <a:srcRect b="0" l="0" r="0" t="0"/>
          <a:stretch/>
        </p:blipFill>
        <p:spPr>
          <a:xfrm>
            <a:off x="6610350" y="2555666"/>
            <a:ext cx="5048250" cy="999848"/>
          </a:xfrm>
          <a:prstGeom prst="rect">
            <a:avLst/>
          </a:prstGeom>
          <a:noFill/>
          <a:ln>
            <a:noFill/>
          </a:ln>
        </p:spPr>
      </p:pic>
      <p:sp>
        <p:nvSpPr>
          <p:cNvPr id="697" name="Google Shape;697;p4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Barber et al. (2022), Fig. 2(A–D). A moth, tegular structures, modified scales, and emitted ultrasound.</a:t>
            </a:r>
            <a:endParaRPr b="0" i="0" sz="1800" u="none" cap="none" strike="noStrike">
              <a:solidFill>
                <a:schemeClr val="dk1"/>
              </a:solidFill>
              <a:latin typeface="Calibri"/>
              <a:ea typeface="Calibri"/>
              <a:cs typeface="Calibri"/>
              <a:sym typeface="Calibri"/>
            </a:endParaRPr>
          </a:p>
        </p:txBody>
      </p:sp>
      <p:sp>
        <p:nvSpPr>
          <p:cNvPr id="698" name="Google Shape;698;p43"/>
          <p:cNvSpPr/>
          <p:nvPr/>
        </p:nvSpPr>
        <p:spPr>
          <a:xfrm>
            <a:off x="457200" y="6462713"/>
            <a:ext cx="112067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Barber et al. (2022)</a:t>
            </a:r>
            <a:endParaRPr b="0" i="0" sz="1800" u="none" cap="none" strike="noStrike">
              <a:solidFill>
                <a:schemeClr val="dk1"/>
              </a:solidFill>
              <a:latin typeface="Calibri"/>
              <a:ea typeface="Calibri"/>
              <a:cs typeface="Calibri"/>
              <a:sym typeface="Calibri"/>
            </a:endParaRPr>
          </a:p>
        </p:txBody>
      </p:sp>
      <p:sp>
        <p:nvSpPr>
          <p:cNvPr id="699" name="Google Shape;699;p4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43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3" name="Shape 703"/>
        <p:cNvGrpSpPr/>
        <p:nvPr/>
      </p:nvGrpSpPr>
      <p:grpSpPr>
        <a:xfrm>
          <a:off x="0" y="0"/>
          <a:ext cx="0" cy="0"/>
          <a:chOff x="0" y="0"/>
          <a:chExt cx="0" cy="0"/>
        </a:xfrm>
      </p:grpSpPr>
      <p:sp>
        <p:nvSpPr>
          <p:cNvPr id="704" name="Google Shape;704;p4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Acoustic resemblance suggests a warning function</a:t>
            </a:r>
            <a:endParaRPr b="0" i="0" sz="1800" u="none" cap="none" strike="noStrike">
              <a:solidFill>
                <a:schemeClr val="dk1"/>
              </a:solidFill>
              <a:latin typeface="Calibri"/>
              <a:ea typeface="Calibri"/>
              <a:cs typeface="Calibri"/>
              <a:sym typeface="Calibri"/>
            </a:endParaRPr>
          </a:p>
        </p:txBody>
      </p:sp>
      <p:sp>
        <p:nvSpPr>
          <p:cNvPr id="705" name="Google Shape;705;p44"/>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400" u="none" cap="none" strike="noStrike">
                <a:solidFill>
                  <a:srgbClr val="202329"/>
                </a:solidFill>
                <a:latin typeface="Arial"/>
                <a:ea typeface="Arial"/>
                <a:cs typeface="Arial"/>
                <a:sym typeface="Arial"/>
              </a:rPr>
              <a:t>Aposematism</a:t>
            </a:r>
            <a:r>
              <a:rPr b="0" i="0" lang="en-US" sz="1400" u="none" cap="none" strike="noStrike">
                <a:solidFill>
                  <a:srgbClr val="202329"/>
                </a:solidFill>
                <a:latin typeface="Arial"/>
                <a:ea typeface="Arial"/>
                <a:cs typeface="Arial"/>
                <a:sym typeface="Arial"/>
              </a:rPr>
              <a:t> is signaling that warns a predator of a defended or otherwise costly prey. Barber and colleagues compared acoustic features of 33 Ecuadorian moth species and used a dimensionality-reduction method to group similar measured signals into five clusters.</a:t>
            </a:r>
            <a:endParaRPr b="0" i="0" sz="1700" u="none" cap="none" strike="noStrike">
              <a:solidFill>
                <a:schemeClr val="dk1"/>
              </a:solidFill>
              <a:latin typeface="Calibri"/>
              <a:ea typeface="Calibri"/>
              <a:cs typeface="Calibri"/>
              <a:sym typeface="Calibri"/>
            </a:endParaRPr>
          </a:p>
        </p:txBody>
      </p:sp>
      <p:sp>
        <p:nvSpPr>
          <p:cNvPr id="706" name="Google Shape;706;p44"/>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Each cluster included at least one genus found to be unpalatable to bats, while most also included readily consumed moths. This pattern is consistent with acoustic warning and mimicry, but the clustering records resemblance among signals rather than a direct measure of predator confusion.</a:t>
            </a:r>
            <a:endParaRPr b="0" i="0" sz="1700" u="none" cap="none" strike="noStrike">
              <a:solidFill>
                <a:schemeClr val="dk1"/>
              </a:solidFill>
              <a:latin typeface="Calibri"/>
              <a:ea typeface="Calibri"/>
              <a:cs typeface="Calibri"/>
              <a:sym typeface="Calibri"/>
            </a:endParaRPr>
          </a:p>
        </p:txBody>
      </p:sp>
      <p:sp>
        <p:nvSpPr>
          <p:cNvPr id="707" name="Google Shape;707;p44"/>
          <p:cNvSpPr/>
          <p:nvPr/>
        </p:nvSpPr>
        <p:spPr>
          <a:xfrm>
            <a:off x="457200" y="4201598"/>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 proposed warning function requires tests of how bats learn and respond to the sounds. Similarity, palatability, and evolutionary relatedness provide complementary evidence, not interchangeable proof. The authors described the mimicry associations as preliminary and left their interaction dynamics unresolved.</a:t>
            </a:r>
            <a:endParaRPr b="0" i="0" sz="1700" u="none" cap="none" strike="noStrike">
              <a:solidFill>
                <a:schemeClr val="dk1"/>
              </a:solidFill>
              <a:latin typeface="Calibri"/>
              <a:ea typeface="Calibri"/>
              <a:cs typeface="Calibri"/>
              <a:sym typeface="Calibri"/>
            </a:endParaRPr>
          </a:p>
        </p:txBody>
      </p:sp>
      <p:pic>
        <p:nvPicPr>
          <p:cNvPr id="708" name="Google Shape;708;p44"/>
          <p:cNvPicPr preferRelativeResize="0"/>
          <p:nvPr/>
        </p:nvPicPr>
        <p:blipFill rotWithShape="1">
          <a:blip r:embed="rId3">
            <a:alphaModFix/>
          </a:blip>
          <a:srcRect b="0" l="0" r="0" t="0"/>
          <a:stretch/>
        </p:blipFill>
        <p:spPr>
          <a:xfrm>
            <a:off x="6610350" y="2101960"/>
            <a:ext cx="5048250" cy="1907261"/>
          </a:xfrm>
          <a:prstGeom prst="rect">
            <a:avLst/>
          </a:prstGeom>
          <a:noFill/>
          <a:ln>
            <a:noFill/>
          </a:ln>
        </p:spPr>
      </p:pic>
      <p:sp>
        <p:nvSpPr>
          <p:cNvPr id="709" name="Google Shape;709;p4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Barber et al. (2022), Fig. 3. Clusters of moth signals, taxa, and palatability categories.</a:t>
            </a:r>
            <a:endParaRPr b="0" i="0" sz="1800" u="none" cap="none" strike="noStrike">
              <a:solidFill>
                <a:schemeClr val="dk1"/>
              </a:solidFill>
              <a:latin typeface="Calibri"/>
              <a:ea typeface="Calibri"/>
              <a:cs typeface="Calibri"/>
              <a:sym typeface="Calibri"/>
            </a:endParaRPr>
          </a:p>
        </p:txBody>
      </p:sp>
      <p:sp>
        <p:nvSpPr>
          <p:cNvPr id="710" name="Google Shape;710;p44"/>
          <p:cNvSpPr/>
          <p:nvPr/>
        </p:nvSpPr>
        <p:spPr>
          <a:xfrm>
            <a:off x="457200" y="6462713"/>
            <a:ext cx="112067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Barber et al. (2022)</a:t>
            </a:r>
            <a:endParaRPr b="0" i="0" sz="1800" u="none" cap="none" strike="noStrike">
              <a:solidFill>
                <a:schemeClr val="dk1"/>
              </a:solidFill>
              <a:latin typeface="Calibri"/>
              <a:ea typeface="Calibri"/>
              <a:cs typeface="Calibri"/>
              <a:sym typeface="Calibri"/>
            </a:endParaRPr>
          </a:p>
        </p:txBody>
      </p:sp>
      <p:sp>
        <p:nvSpPr>
          <p:cNvPr id="711" name="Google Shape;711;p4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44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5" name="Shape 715"/>
        <p:cNvGrpSpPr/>
        <p:nvPr/>
      </p:nvGrpSpPr>
      <p:grpSpPr>
        <a:xfrm>
          <a:off x="0" y="0"/>
          <a:ext cx="0" cy="0"/>
          <a:chOff x="0" y="0"/>
          <a:chExt cx="0" cy="0"/>
        </a:xfrm>
      </p:grpSpPr>
      <p:sp>
        <p:nvSpPr>
          <p:cNvPr id="716" name="Google Shape;716;p6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Palatability tests separate honest warnings from bluffs</a:t>
            </a:r>
            <a:endParaRPr b="0" i="0" sz="1800" u="none" cap="none" strike="noStrike">
              <a:solidFill>
                <a:schemeClr val="dk1"/>
              </a:solidFill>
              <a:latin typeface="Calibri"/>
              <a:ea typeface="Calibri"/>
              <a:cs typeface="Calibri"/>
              <a:sym typeface="Calibri"/>
            </a:endParaRPr>
          </a:p>
        </p:txBody>
      </p:sp>
      <p:sp>
        <p:nvSpPr>
          <p:cNvPr id="717" name="Google Shape;717;p62"/>
          <p:cNvSpPr/>
          <p:nvPr/>
        </p:nvSpPr>
        <p:spPr>
          <a:xfrm>
            <a:off x="457200" y="1055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A warning sound is </a:t>
            </a:r>
            <a:r>
              <a:rPr b="1" i="0" lang="en-US" sz="1400" u="none" cap="none" strike="noStrike">
                <a:solidFill>
                  <a:srgbClr val="202329"/>
                </a:solidFill>
                <a:latin typeface="Arial"/>
                <a:ea typeface="Arial"/>
                <a:cs typeface="Arial"/>
                <a:sym typeface="Arial"/>
              </a:rPr>
              <a:t>honest</a:t>
            </a:r>
            <a:r>
              <a:rPr b="0" i="0" lang="en-US" sz="1400" u="none" cap="none" strike="noStrike">
                <a:solidFill>
                  <a:srgbClr val="202329"/>
                </a:solidFill>
                <a:latin typeface="Arial"/>
                <a:ea typeface="Arial"/>
                <a:cs typeface="Arial"/>
                <a:sym typeface="Arial"/>
              </a:rPr>
              <a:t> when the prey is defended and a bluff when a palatable moth copies the warning of a defended one. In </a:t>
            </a:r>
            <a:r>
              <a:rPr b="1" i="0" lang="en-US" sz="1400" u="none" cap="none" strike="noStrike">
                <a:solidFill>
                  <a:srgbClr val="202329"/>
                </a:solidFill>
                <a:latin typeface="Arial"/>
                <a:ea typeface="Arial"/>
                <a:cs typeface="Arial"/>
                <a:sym typeface="Arial"/>
              </a:rPr>
              <a:t>Batesian mimicry</a:t>
            </a:r>
            <a:r>
              <a:rPr b="0" i="0" lang="en-US" sz="1400" u="none" cap="none" strike="noStrike">
                <a:solidFill>
                  <a:srgbClr val="202329"/>
                </a:solidFill>
                <a:latin typeface="Arial"/>
                <a:ea typeface="Arial"/>
                <a:cs typeface="Arial"/>
                <a:sym typeface="Arial"/>
              </a:rPr>
              <a:t>, a palatable mimic exploits the bats' learned avoidance of a defended model; in </a:t>
            </a:r>
            <a:r>
              <a:rPr b="1" i="0" lang="en-US" sz="1400" u="none" cap="none" strike="noStrike">
                <a:solidFill>
                  <a:srgbClr val="202329"/>
                </a:solidFill>
                <a:latin typeface="Arial"/>
                <a:ea typeface="Arial"/>
                <a:cs typeface="Arial"/>
                <a:sym typeface="Arial"/>
              </a:rPr>
              <a:t>Müllerian mimicry</a:t>
            </a:r>
            <a:r>
              <a:rPr b="0" i="0" lang="en-US" sz="1400" u="none" cap="none" strike="noStrike">
                <a:solidFill>
                  <a:srgbClr val="202329"/>
                </a:solidFill>
                <a:latin typeface="Arial"/>
                <a:ea typeface="Arial"/>
                <a:cs typeface="Arial"/>
                <a:sym typeface="Arial"/>
              </a:rPr>
              <a:t>, defended species share one signal, so a bat learns one lesson that protects all of them.</a:t>
            </a:r>
            <a:endParaRPr b="0" i="0" sz="1700" u="none" cap="none" strike="noStrike">
              <a:solidFill>
                <a:schemeClr val="dk1"/>
              </a:solidFill>
              <a:latin typeface="Calibri"/>
              <a:ea typeface="Calibri"/>
              <a:cs typeface="Calibri"/>
              <a:sym typeface="Calibri"/>
            </a:endParaRPr>
          </a:p>
        </p:txBody>
      </p:sp>
      <p:sp>
        <p:nvSpPr>
          <p:cNvPr id="718" name="Google Shape;718;p62"/>
          <p:cNvSpPr/>
          <p:nvPr/>
        </p:nvSpPr>
        <p:spPr>
          <a:xfrm>
            <a:off x="457200" y="2960340"/>
            <a:ext cx="5829300" cy="1493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Telling these apart requires knowing how bats treat each moth. Barber and colleagues disabled the sound-producing structures before offering a moth, so rejection had to come from taste and not from the click. A trial counted only if the bat ate a known palatable moth both before and after, which excludes rejection by a bat that was not hungry.</a:t>
            </a:r>
            <a:endParaRPr b="0" i="0" sz="1700" u="none" cap="none" strike="noStrike">
              <a:solidFill>
                <a:schemeClr val="dk1"/>
              </a:solidFill>
              <a:latin typeface="Calibri"/>
              <a:ea typeface="Calibri"/>
              <a:cs typeface="Calibri"/>
              <a:sym typeface="Calibri"/>
            </a:endParaRPr>
          </a:p>
        </p:txBody>
      </p:sp>
      <p:sp>
        <p:nvSpPr>
          <p:cNvPr id="719" name="Google Shape;719;p62"/>
          <p:cNvSpPr/>
          <p:nvPr/>
        </p:nvSpPr>
        <p:spPr>
          <a:xfrm>
            <a:off x="457200" y="4865340"/>
            <a:ext cx="5829300" cy="89611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On that measure, palatable calpines and sphingids shared a cluster with an unpalatable dalcerid, a candidate Batesian group, while geometrids grouped with a tiger moth, a candidate Müllerian group.</a:t>
            </a:r>
            <a:endParaRPr b="0" i="0" sz="1700" u="none" cap="none" strike="noStrike">
              <a:solidFill>
                <a:schemeClr val="dk1"/>
              </a:solidFill>
              <a:latin typeface="Calibri"/>
              <a:ea typeface="Calibri"/>
              <a:cs typeface="Calibri"/>
              <a:sym typeface="Calibri"/>
            </a:endParaRPr>
          </a:p>
        </p:txBody>
      </p:sp>
      <p:pic>
        <p:nvPicPr>
          <p:cNvPr id="720" name="Google Shape;720;p62"/>
          <p:cNvPicPr preferRelativeResize="0"/>
          <p:nvPr/>
        </p:nvPicPr>
        <p:blipFill rotWithShape="1">
          <a:blip r:embed="rId3">
            <a:alphaModFix/>
          </a:blip>
          <a:srcRect b="0" l="0" r="0" t="0"/>
          <a:stretch/>
        </p:blipFill>
        <p:spPr>
          <a:xfrm>
            <a:off x="6610350" y="2101960"/>
            <a:ext cx="5048250" cy="1907261"/>
          </a:xfrm>
          <a:prstGeom prst="rect">
            <a:avLst/>
          </a:prstGeom>
          <a:noFill/>
          <a:ln>
            <a:noFill/>
          </a:ln>
        </p:spPr>
      </p:pic>
      <p:sp>
        <p:nvSpPr>
          <p:cNvPr id="721" name="Google Shape;721;p6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Barber et al. (2022), Fig. 3. Clusters of moth signals, taxa, and palatability categories.</a:t>
            </a:r>
            <a:endParaRPr b="0" i="0" sz="1800" u="none" cap="none" strike="noStrike">
              <a:solidFill>
                <a:schemeClr val="dk1"/>
              </a:solidFill>
              <a:latin typeface="Calibri"/>
              <a:ea typeface="Calibri"/>
              <a:cs typeface="Calibri"/>
              <a:sym typeface="Calibri"/>
            </a:endParaRPr>
          </a:p>
        </p:txBody>
      </p:sp>
      <p:sp>
        <p:nvSpPr>
          <p:cNvPr id="722" name="Google Shape;722;p62"/>
          <p:cNvSpPr/>
          <p:nvPr/>
        </p:nvSpPr>
        <p:spPr>
          <a:xfrm>
            <a:off x="457200" y="6462713"/>
            <a:ext cx="141224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Barber et al. (2022)</a:t>
            </a:r>
            <a:endParaRPr b="0" i="0" sz="1800" u="none" cap="none" strike="noStrike">
              <a:solidFill>
                <a:schemeClr val="dk1"/>
              </a:solidFill>
              <a:latin typeface="Calibri"/>
              <a:ea typeface="Calibri"/>
              <a:cs typeface="Calibri"/>
              <a:sym typeface="Calibri"/>
            </a:endParaRPr>
          </a:p>
        </p:txBody>
      </p:sp>
      <p:sp>
        <p:nvSpPr>
          <p:cNvPr id="723" name="Google Shape;723;p62"/>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44a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7" name="Shape 727"/>
        <p:cNvGrpSpPr/>
        <p:nvPr/>
      </p:nvGrpSpPr>
      <p:grpSpPr>
        <a:xfrm>
          <a:off x="0" y="0"/>
          <a:ext cx="0" cy="0"/>
          <a:chOff x="0" y="0"/>
          <a:chExt cx="0" cy="0"/>
        </a:xfrm>
      </p:grpSpPr>
      <p:sp>
        <p:nvSpPr>
          <p:cNvPr id="728" name="Google Shape;728;p4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u="none" cap="none" strike="noStrike">
                <a:solidFill>
                  <a:srgbClr val="16181D"/>
                </a:solidFill>
                <a:latin typeface="Arial"/>
                <a:ea typeface="Arial"/>
                <a:cs typeface="Arial"/>
                <a:sym typeface="Arial"/>
              </a:rPr>
              <a:t>A candidate function must remain separate from ancestry</a:t>
            </a:r>
            <a:endParaRPr b="0" i="0" sz="1800" u="none" cap="none" strike="noStrike">
              <a:solidFill>
                <a:schemeClr val="dk1"/>
              </a:solidFill>
              <a:latin typeface="Calibri"/>
              <a:ea typeface="Calibri"/>
              <a:cs typeface="Calibri"/>
              <a:sym typeface="Calibri"/>
            </a:endParaRPr>
          </a:p>
        </p:txBody>
      </p:sp>
      <p:sp>
        <p:nvSpPr>
          <p:cNvPr id="729" name="Google Shape;729;p45"/>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400" u="none" cap="none" strike="noStrike">
                <a:solidFill>
                  <a:srgbClr val="202329"/>
                </a:solidFill>
                <a:latin typeface="Arial"/>
                <a:ea typeface="Arial"/>
                <a:cs typeface="Arial"/>
                <a:sym typeface="Arial"/>
              </a:rPr>
              <a:t>Duty cycle</a:t>
            </a:r>
            <a:r>
              <a:rPr b="0" i="0" lang="en-US" sz="1400" u="none" cap="none" strike="noStrike">
                <a:solidFill>
                  <a:srgbClr val="202329"/>
                </a:solidFill>
                <a:latin typeface="Arial"/>
                <a:ea typeface="Arial"/>
                <a:cs typeface="Arial"/>
                <a:sym typeface="Arial"/>
              </a:rPr>
              <a:t> is the fraction of an interval occupied by sound. Barber and colleagues used the approximately 18% duty-cycle criterion drawn from earlier bat–moth work to identify lineages whose measured signals might interfere with processing of returning sonar echoes.</a:t>
            </a:r>
            <a:endParaRPr b="0" i="0" sz="1700" u="none" cap="none" strike="noStrike">
              <a:solidFill>
                <a:schemeClr val="dk1"/>
              </a:solidFill>
              <a:latin typeface="Calibri"/>
              <a:ea typeface="Calibri"/>
              <a:cs typeface="Calibri"/>
              <a:sym typeface="Calibri"/>
            </a:endParaRPr>
          </a:p>
        </p:txBody>
      </p:sp>
      <p:sp>
        <p:nvSpPr>
          <p:cNvPr id="730" name="Google Shape;730;p45"/>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400" u="none" cap="none" strike="noStrike">
                <a:solidFill>
                  <a:srgbClr val="202329"/>
                </a:solidFill>
                <a:latin typeface="Arial"/>
                <a:ea typeface="Arial"/>
                <a:cs typeface="Arial"/>
                <a:sym typeface="Arial"/>
              </a:rPr>
              <a:t>The mapping suggested possible independent origins of jamming in at least six subfamilies. A further high-duty-cycle group lacked ears and could not respond in advance to approaching bats, exposing a limit of classifying function from one acoustic property alone.</a:t>
            </a:r>
            <a:endParaRPr b="0" i="0" sz="1700" u="none" cap="none" strike="noStrike">
              <a:solidFill>
                <a:schemeClr val="dk1"/>
              </a:solidFill>
              <a:latin typeface="Calibri"/>
              <a:ea typeface="Calibri"/>
              <a:cs typeface="Calibri"/>
              <a:sym typeface="Calibri"/>
            </a:endParaRPr>
          </a:p>
        </p:txBody>
      </p:sp>
      <p:sp>
        <p:nvSpPr>
          <p:cNvPr id="731" name="Google Shape;731;p45"/>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400" u="none" cap="none" strike="noStrike">
                <a:solidFill>
                  <a:srgbClr val="202329"/>
                </a:solidFill>
                <a:latin typeface="Arial"/>
                <a:ea typeface="Arial"/>
                <a:cs typeface="Arial"/>
                <a:sym typeface="Arial"/>
              </a:rPr>
              <a:t>Sonar jamming</a:t>
            </a:r>
            <a:r>
              <a:rPr b="0" i="0" lang="en-US" sz="1400" u="none" cap="none" strike="noStrike">
                <a:solidFill>
                  <a:srgbClr val="202329"/>
                </a:solidFill>
                <a:latin typeface="Arial"/>
                <a:ea typeface="Arial"/>
                <a:cs typeface="Arial"/>
                <a:sym typeface="Arial"/>
              </a:rPr>
              <a:t> is disruption of the predator’s echo processing. High duty cycle is a candidate indicator, not proof of jamming in every tested moth. Functional tests, immediate sensory mechanisms, developmental evidence, and ancestry remain distinct requirements for a complete biological explanation.</a:t>
            </a:r>
            <a:endParaRPr b="0" i="0" sz="1700" u="none" cap="none" strike="noStrike">
              <a:solidFill>
                <a:schemeClr val="dk1"/>
              </a:solidFill>
              <a:latin typeface="Calibri"/>
              <a:ea typeface="Calibri"/>
              <a:cs typeface="Calibri"/>
              <a:sym typeface="Calibri"/>
            </a:endParaRPr>
          </a:p>
        </p:txBody>
      </p:sp>
      <p:pic>
        <p:nvPicPr>
          <p:cNvPr id="732" name="Google Shape;732;p45"/>
          <p:cNvPicPr preferRelativeResize="0"/>
          <p:nvPr/>
        </p:nvPicPr>
        <p:blipFill rotWithShape="1">
          <a:blip r:embed="rId3">
            <a:alphaModFix/>
          </a:blip>
          <a:srcRect b="0" l="0" r="0" t="0"/>
          <a:stretch/>
        </p:blipFill>
        <p:spPr>
          <a:xfrm>
            <a:off x="6851629" y="1055340"/>
            <a:ext cx="4565692" cy="4000500"/>
          </a:xfrm>
          <a:prstGeom prst="rect">
            <a:avLst/>
          </a:prstGeom>
          <a:noFill/>
          <a:ln>
            <a:noFill/>
          </a:ln>
        </p:spPr>
      </p:pic>
      <p:sp>
        <p:nvSpPr>
          <p:cNvPr id="733" name="Google Shape;733;p4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u="none" cap="none" strike="noStrike">
                <a:solidFill>
                  <a:srgbClr val="202329"/>
                </a:solidFill>
                <a:latin typeface="Arial"/>
                <a:ea typeface="Arial"/>
                <a:cs typeface="Arial"/>
                <a:sym typeface="Arial"/>
              </a:rPr>
              <a:t>Barber et al. (2022), Fig. 1. Trait distribution and candidate sonar-jamming lineages.</a:t>
            </a:r>
            <a:endParaRPr b="0" i="0" sz="1800" u="none" cap="none" strike="noStrike">
              <a:solidFill>
                <a:schemeClr val="dk1"/>
              </a:solidFill>
              <a:latin typeface="Calibri"/>
              <a:ea typeface="Calibri"/>
              <a:cs typeface="Calibri"/>
              <a:sym typeface="Calibri"/>
            </a:endParaRPr>
          </a:p>
        </p:txBody>
      </p:sp>
      <p:sp>
        <p:nvSpPr>
          <p:cNvPr id="734" name="Google Shape;734;p45"/>
          <p:cNvSpPr/>
          <p:nvPr/>
        </p:nvSpPr>
        <p:spPr>
          <a:xfrm>
            <a:off x="457200" y="6462713"/>
            <a:ext cx="112067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Barber et al. (2022)</a:t>
            </a:r>
            <a:endParaRPr b="0" i="0" sz="1800" u="none" cap="none" strike="noStrike">
              <a:solidFill>
                <a:schemeClr val="dk1"/>
              </a:solidFill>
              <a:latin typeface="Calibri"/>
              <a:ea typeface="Calibri"/>
              <a:cs typeface="Calibri"/>
              <a:sym typeface="Calibri"/>
            </a:endParaRPr>
          </a:p>
        </p:txBody>
      </p:sp>
      <p:sp>
        <p:nvSpPr>
          <p:cNvPr id="735" name="Google Shape;735;p4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45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9" name="Shape 739"/>
        <p:cNvGrpSpPr/>
        <p:nvPr/>
      </p:nvGrpSpPr>
      <p:grpSpPr>
        <a:xfrm>
          <a:off x="0" y="0"/>
          <a:ext cx="0" cy="0"/>
          <a:chOff x="0" y="0"/>
          <a:chExt cx="0" cy="0"/>
        </a:xfrm>
      </p:grpSpPr>
      <p:sp>
        <p:nvSpPr>
          <p:cNvPr id="740" name="Google Shape;740;p46"/>
          <p:cNvSpPr/>
          <p:nvPr/>
        </p:nvSpPr>
        <p:spPr>
          <a:xfrm>
            <a:off x="457200" y="457200"/>
            <a:ext cx="11296650"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16181D"/>
              </a:buClr>
              <a:buSzPts val="2700"/>
              <a:buFont typeface="Arial"/>
              <a:buNone/>
            </a:pPr>
            <a:r>
              <a:rPr b="1" i="0" lang="en-US" sz="2700" u="none" cap="none" strike="noStrike">
                <a:solidFill>
                  <a:srgbClr val="16181D"/>
                </a:solidFill>
                <a:latin typeface="Arial"/>
                <a:ea typeface="Arial"/>
                <a:cs typeface="Arial"/>
                <a:sym typeface="Arial"/>
              </a:rPr>
              <a:t>Key takeaways</a:t>
            </a:r>
            <a:endParaRPr b="0" i="0" sz="1800" u="none" cap="none" strike="noStrike">
              <a:solidFill>
                <a:schemeClr val="dk1"/>
              </a:solidFill>
              <a:latin typeface="Calibri"/>
              <a:ea typeface="Calibri"/>
              <a:cs typeface="Calibri"/>
              <a:sym typeface="Calibri"/>
            </a:endParaRPr>
          </a:p>
        </p:txBody>
      </p:sp>
      <p:sp>
        <p:nvSpPr>
          <p:cNvPr id="741" name="Google Shape;741;p46"/>
          <p:cNvSpPr/>
          <p:nvPr/>
        </p:nvSpPr>
        <p:spPr>
          <a:xfrm>
            <a:off x="457200" y="1238250"/>
            <a:ext cx="5562600" cy="1408500"/>
          </a:xfrm>
          <a:prstGeom prst="rect">
            <a:avLst/>
          </a:prstGeom>
          <a:solidFill>
            <a:srgbClr val="F3F3F5"/>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u="none" cap="none" strike="noStrike">
                <a:solidFill>
                  <a:srgbClr val="202329"/>
                </a:solidFill>
                <a:latin typeface="Arial"/>
                <a:ea typeface="Arial"/>
                <a:cs typeface="Arial"/>
                <a:sym typeface="Arial"/>
              </a:rPr>
              <a:t>Four questions address different evidence.</a:t>
            </a:r>
            <a:r>
              <a:rPr b="0" i="0" lang="en-US" sz="1450" u="none" cap="none" strike="noStrike">
                <a:solidFill>
                  <a:srgbClr val="202329"/>
                </a:solidFill>
                <a:latin typeface="Arial"/>
                <a:ea typeface="Arial"/>
                <a:cs typeface="Arial"/>
                <a:sym typeface="Arial"/>
              </a:rPr>
              <a:t> Mechanism, ontogeny, function, and evolutionary history are complementary accounts of behavior.</a:t>
            </a:r>
            <a:endParaRPr b="0" i="0" sz="1600" u="none" cap="none" strike="noStrike">
              <a:solidFill>
                <a:schemeClr val="dk1"/>
              </a:solidFill>
              <a:latin typeface="Calibri"/>
              <a:ea typeface="Calibri"/>
              <a:cs typeface="Calibri"/>
              <a:sym typeface="Calibri"/>
            </a:endParaRPr>
          </a:p>
        </p:txBody>
      </p:sp>
      <p:sp>
        <p:nvSpPr>
          <p:cNvPr id="742" name="Google Shape;742;p46"/>
          <p:cNvSpPr/>
          <p:nvPr/>
        </p:nvSpPr>
        <p:spPr>
          <a:xfrm>
            <a:off x="6191250" y="1238250"/>
            <a:ext cx="5562600" cy="1408500"/>
          </a:xfrm>
          <a:prstGeom prst="rect">
            <a:avLst/>
          </a:prstGeom>
          <a:solidFill>
            <a:srgbClr val="F3F3F5"/>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u="none" cap="none" strike="noStrike">
                <a:solidFill>
                  <a:srgbClr val="202329"/>
                </a:solidFill>
                <a:latin typeface="Arial"/>
                <a:ea typeface="Arial"/>
                <a:cs typeface="Arial"/>
                <a:sym typeface="Arial"/>
              </a:rPr>
              <a:t>Proximate causes include developmental processes.</a:t>
            </a:r>
            <a:r>
              <a:rPr b="0" i="0" lang="en-US" sz="1450" u="none" cap="none" strike="noStrike">
                <a:solidFill>
                  <a:srgbClr val="202329"/>
                </a:solidFill>
                <a:latin typeface="Arial"/>
                <a:ea typeface="Arial"/>
                <a:cs typeface="Arial"/>
                <a:sym typeface="Arial"/>
              </a:rPr>
              <a:t> Immediate sensory and membrane mechanisms and the experience that builds behavior belong to the causal account.</a:t>
            </a:r>
            <a:endParaRPr b="0" i="0" sz="1600" u="none" cap="none" strike="noStrike">
              <a:solidFill>
                <a:schemeClr val="dk1"/>
              </a:solidFill>
              <a:latin typeface="Calibri"/>
              <a:ea typeface="Calibri"/>
              <a:cs typeface="Calibri"/>
              <a:sym typeface="Calibri"/>
            </a:endParaRPr>
          </a:p>
        </p:txBody>
      </p:sp>
      <p:sp>
        <p:nvSpPr>
          <p:cNvPr id="743" name="Google Shape;743;p46"/>
          <p:cNvSpPr/>
          <p:nvPr/>
        </p:nvSpPr>
        <p:spPr>
          <a:xfrm>
            <a:off x="457200" y="2819706"/>
            <a:ext cx="5562600" cy="1408500"/>
          </a:xfrm>
          <a:prstGeom prst="rect">
            <a:avLst/>
          </a:prstGeom>
          <a:solidFill>
            <a:srgbClr val="F3F3F5"/>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u="none" cap="none" strike="noStrike">
                <a:solidFill>
                  <a:srgbClr val="202329"/>
                </a:solidFill>
                <a:latin typeface="Arial"/>
                <a:ea typeface="Arial"/>
                <a:cs typeface="Arial"/>
                <a:sym typeface="Arial"/>
              </a:rPr>
              <a:t>Ultimate explanations require consequences and history.</a:t>
            </a:r>
            <a:r>
              <a:rPr b="0" i="0" lang="en-US" sz="1450" u="none" cap="none" strike="noStrike">
                <a:solidFill>
                  <a:srgbClr val="202329"/>
                </a:solidFill>
                <a:latin typeface="Arial"/>
                <a:ea typeface="Arial"/>
                <a:cs typeface="Arial"/>
                <a:sym typeface="Arial"/>
              </a:rPr>
              <a:t> A useful present-day response does not by itself establish its ancestral function or origin.</a:t>
            </a:r>
            <a:endParaRPr b="0" i="0" sz="1600" u="none" cap="none" strike="noStrike">
              <a:solidFill>
                <a:schemeClr val="dk1"/>
              </a:solidFill>
              <a:latin typeface="Calibri"/>
              <a:ea typeface="Calibri"/>
              <a:cs typeface="Calibri"/>
              <a:sym typeface="Calibri"/>
            </a:endParaRPr>
          </a:p>
        </p:txBody>
      </p:sp>
      <p:sp>
        <p:nvSpPr>
          <p:cNvPr id="744" name="Google Shape;744;p46"/>
          <p:cNvSpPr/>
          <p:nvPr/>
        </p:nvSpPr>
        <p:spPr>
          <a:xfrm>
            <a:off x="6191250" y="2819706"/>
            <a:ext cx="5562600" cy="1408500"/>
          </a:xfrm>
          <a:prstGeom prst="rect">
            <a:avLst/>
          </a:prstGeom>
          <a:solidFill>
            <a:srgbClr val="F3F3F5"/>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u="none" cap="none" strike="noStrike">
                <a:solidFill>
                  <a:srgbClr val="202329"/>
                </a:solidFill>
                <a:latin typeface="Arial"/>
                <a:ea typeface="Arial"/>
                <a:cs typeface="Arial"/>
                <a:sym typeface="Arial"/>
              </a:rPr>
              <a:t>Causal claims depend on controls.</a:t>
            </a:r>
            <a:r>
              <a:rPr b="0" i="0" lang="en-US" sz="1450" u="none" cap="none" strike="noStrike">
                <a:solidFill>
                  <a:srgbClr val="202329"/>
                </a:solidFill>
                <a:latin typeface="Arial"/>
                <a:ea typeface="Arial"/>
                <a:cs typeface="Arial"/>
                <a:sym typeface="Arial"/>
              </a:rPr>
              <a:t> Cue shifts, reversals, molecular specificity, tissue verification, and matched tutor comparisons distinguish competing explanations.</a:t>
            </a:r>
            <a:endParaRPr b="0" i="0" sz="1600" u="none" cap="none" strike="noStrike">
              <a:solidFill>
                <a:schemeClr val="dk1"/>
              </a:solidFill>
              <a:latin typeface="Calibri"/>
              <a:ea typeface="Calibri"/>
              <a:cs typeface="Calibri"/>
              <a:sym typeface="Calibri"/>
            </a:endParaRPr>
          </a:p>
        </p:txBody>
      </p:sp>
      <p:sp>
        <p:nvSpPr>
          <p:cNvPr id="745" name="Google Shape;745;p46"/>
          <p:cNvSpPr/>
          <p:nvPr/>
        </p:nvSpPr>
        <p:spPr>
          <a:xfrm>
            <a:off x="457200" y="4401162"/>
            <a:ext cx="5562600" cy="1665300"/>
          </a:xfrm>
          <a:prstGeom prst="rect">
            <a:avLst/>
          </a:prstGeom>
          <a:solidFill>
            <a:srgbClr val="F3F3F5"/>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u="none" cap="none" strike="noStrike">
                <a:solidFill>
                  <a:srgbClr val="202329"/>
                </a:solidFill>
                <a:latin typeface="Arial"/>
                <a:ea typeface="Arial"/>
                <a:cs typeface="Arial"/>
                <a:sym typeface="Arial"/>
              </a:rPr>
              <a:t>Neural mechanisms span levels.</a:t>
            </a:r>
            <a:r>
              <a:rPr b="0" i="0" lang="en-US" sz="1450" u="none" cap="none" strike="noStrike">
                <a:solidFill>
                  <a:srgbClr val="202329"/>
                </a:solidFill>
                <a:latin typeface="Arial"/>
                <a:ea typeface="Arial"/>
                <a:cs typeface="Arial"/>
                <a:sym typeface="Arial"/>
              </a:rPr>
              <a:t> Ionic kinetics explain excitation; localized gene manipulation affects learning; neither alone identifies an entire behavioral circuit.</a:t>
            </a:r>
            <a:endParaRPr b="0" i="0" sz="1600" u="none" cap="none" strike="noStrike">
              <a:solidFill>
                <a:schemeClr val="dk1"/>
              </a:solidFill>
              <a:latin typeface="Calibri"/>
              <a:ea typeface="Calibri"/>
              <a:cs typeface="Calibri"/>
              <a:sym typeface="Calibri"/>
            </a:endParaRPr>
          </a:p>
        </p:txBody>
      </p:sp>
      <p:sp>
        <p:nvSpPr>
          <p:cNvPr id="746" name="Google Shape;746;p46"/>
          <p:cNvSpPr/>
          <p:nvPr/>
        </p:nvSpPr>
        <p:spPr>
          <a:xfrm>
            <a:off x="6191250" y="4401162"/>
            <a:ext cx="5562600" cy="1665300"/>
          </a:xfrm>
          <a:prstGeom prst="rect">
            <a:avLst/>
          </a:prstGeom>
          <a:solidFill>
            <a:srgbClr val="F3F3F5"/>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u="none" cap="none" strike="noStrike">
                <a:solidFill>
                  <a:srgbClr val="202329"/>
                </a:solidFill>
                <a:latin typeface="Arial"/>
                <a:ea typeface="Arial"/>
                <a:cs typeface="Arial"/>
                <a:sym typeface="Arial"/>
              </a:rPr>
              <a:t>Learning and inheritance interact.</a:t>
            </a:r>
            <a:r>
              <a:rPr b="0" i="0" lang="en-US" sz="1450" u="none" cap="none" strike="noStrike">
                <a:solidFill>
                  <a:srgbClr val="202329"/>
                </a:solidFill>
                <a:latin typeface="Arial"/>
                <a:ea typeface="Arial"/>
                <a:cs typeface="Arial"/>
                <a:sym typeface="Arial"/>
              </a:rPr>
              <a:t> Tutor experience changes individual song, and directional copying biases can accumulate through cultural transmission without demonstrating new genetic adaptation.</a:t>
            </a:r>
            <a:endParaRPr b="0" i="0" sz="1600" u="none" cap="none" strike="noStrike">
              <a:solidFill>
                <a:schemeClr val="dk1"/>
              </a:solidFill>
              <a:latin typeface="Calibri"/>
              <a:ea typeface="Calibri"/>
              <a:cs typeface="Calibri"/>
              <a:sym typeface="Calibri"/>
            </a:endParaRPr>
          </a:p>
        </p:txBody>
      </p:sp>
      <p:sp>
        <p:nvSpPr>
          <p:cNvPr id="747" name="Google Shape;747;p46"/>
          <p:cNvSpPr/>
          <p:nvPr/>
        </p:nvSpPr>
        <p:spPr>
          <a:xfrm>
            <a:off x="457200" y="6462713"/>
            <a:ext cx="598393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Tinbergen (1963); Hodgkin &amp; Huxley (1952); Haesler et al. (2007); Fehér et al. (2009); Barber et al. (2022)</a:t>
            </a:r>
            <a:endParaRPr b="0" i="0" sz="1800" u="none" cap="none" strike="noStrike">
              <a:solidFill>
                <a:schemeClr val="dk1"/>
              </a:solidFill>
              <a:latin typeface="Calibri"/>
              <a:ea typeface="Calibri"/>
              <a:cs typeface="Calibri"/>
              <a:sym typeface="Calibri"/>
            </a:endParaRPr>
          </a:p>
        </p:txBody>
      </p:sp>
      <p:sp>
        <p:nvSpPr>
          <p:cNvPr id="748" name="Google Shape;748;p4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u="none" cap="none" strike="noStrike">
                <a:solidFill>
                  <a:srgbClr val="5E636D"/>
                </a:solidFill>
                <a:latin typeface="Arial"/>
                <a:ea typeface="Arial"/>
                <a:cs typeface="Arial"/>
                <a:sym typeface="Arial"/>
              </a:rPr>
              <a:t>46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2026-10-08T07:26:20.654Z</dcterms:created>
  <dc:creator>Presenton</dc:creator>
</cp:coreProperties>
</file>