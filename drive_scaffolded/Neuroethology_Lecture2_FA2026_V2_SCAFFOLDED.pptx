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302" r:id="rId52"/>
    <p:sldId id="264" r:id="rId13"/>
    <p:sldId id="265" r:id="rId14"/>
    <p:sldId id="303" r:id="rId53"/>
    <p:sldId id="266" r:id="rId15"/>
    <p:sldId id="267" r:id="rId16"/>
    <p:sldId id="268" r:id="rId17"/>
    <p:sldId id="269" r:id="rId18"/>
    <p:sldId id="270" r:id="rId19"/>
    <p:sldId id="304" r:id="rId54"/>
    <p:sldId id="271" r:id="rId20"/>
    <p:sldId id="272" r:id="rId21"/>
    <p:sldId id="273" r:id="rId22"/>
    <p:sldId id="274" r:id="rId23"/>
    <p:sldId id="275" r:id="rId24"/>
    <p:sldId id="305" r:id="rId55"/>
    <p:sldId id="276" r:id="rId25"/>
    <p:sldId id="277" r:id="rId26"/>
    <p:sldId id="278" r:id="rId27"/>
    <p:sldId id="279" r:id="rId28"/>
    <p:sldId id="306" r:id="rId56"/>
    <p:sldId id="280" r:id="rId29"/>
    <p:sldId id="281" r:id="rId30"/>
    <p:sldId id="307" r:id="rId57"/>
    <p:sldId id="282" r:id="rId31"/>
    <p:sldId id="283" r:id="rId32"/>
    <p:sldId id="308" r:id="rId58"/>
    <p:sldId id="284" r:id="rId33"/>
    <p:sldId id="309" r:id="rId59"/>
    <p:sldId id="285" r:id="rId34"/>
    <p:sldId id="286" r:id="rId35"/>
    <p:sldId id="287" r:id="rId36"/>
    <p:sldId id="310" r:id="rId60"/>
    <p:sldId id="288" r:id="rId37"/>
    <p:sldId id="289" r:id="rId38"/>
    <p:sldId id="290" r:id="rId39"/>
    <p:sldId id="311" r:id="rId61"/>
    <p:sldId id="291" r:id="rId40"/>
    <p:sldId id="292" r:id="rId41"/>
    <p:sldId id="312" r:id="rId62"/>
    <p:sldId id="293" r:id="rId42"/>
    <p:sldId id="294" r:id="rId43"/>
    <p:sldId id="295" r:id="rId44"/>
    <p:sldId id="296" r:id="rId45"/>
    <p:sldId id="313" r:id="rId63"/>
    <p:sldId id="297" r:id="rId46"/>
    <p:sldId id="298" r:id="rId47"/>
    <p:sldId id="314" r:id="rId64"/>
    <p:sldId id="299" r:id="rId48"/>
    <p:sldId id="315" r:id="rId65"/>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Wv7UbRyF/28L7Hq1q4+mx8QPm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Fixed action patterns &amp; sign stimuli — Lorenz and Tinbergen's stickleback and graylag goose work</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August 26,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Lorenz &amp; Tinbergen (1938), Fig. 1(a). A graylag goose extending its neck toward an egg outside the nest.</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https://doi.org/10.1111/j.1439-0310.1939.tb01558.x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K. Lorenz; N. Tinbergen (1938). Taxis und Instinkthandlung in der Eirollbewegung der Graugans. I. Zeitschrift für Tierpsychologie 2(1):1–29. Archive edition identifies 1938; Crossref indexes this DOI under 1939. https://doi.org/10.1111/j.1439-0310.1939.tb01558.x</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three-spined stickleback, Gasterosteus aculeatus, changes its social behavior during breeding. A male establishes a territory, builds a nest, attacks competitors, and leads receptive females toward the nest entrance. Tinbergen studied these actions in territorial fish and tested the stimuli that release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releaser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territory is an area defended against intruders. The experiment concerns breeding territorial fish, rather than every possible encounter between sticklebacks.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3. A male threatening its reflection with a unilateral ventral-spine display.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is a restricted feature or combination of features that can release a behavioral response. Tinbergen compared models with red ventral surfaces, called the R series, with neutral-colored models, called the N series. Both series included realistic dead fish and simplified shapes.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printed models are reproduced unchanged; their red surfaces are described in the article but the figure itself is monochrome.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Red-ventral R models and a neutral N model used in stimulus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model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simplified stimulus can be scientifically informative because it preserves a candidate feature while removing other properties of the natural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Contrasting model form and ventral coloration.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described different responses to a red-bellied fish depending on the observer’s territorial position. A male within its own territory attacked a red-bellied model. A male outside its territory could instead retreat from the same conspicuous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comparisons were conducted in occupied territories and in territories whose owners had been removed. Red models elicited attack from owners and deterred entry by neighboring males. Neutral models exerted much less influence in these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identity and behavioral consequence are separate variables. Red coloration can influence more than one action, and territorial position changes which action occurs.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Models used to compare responses to red and neutral ventral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red-bellied R model delayed the neighboring male’s intrusion appreciably. Neutral N models had scarcely any influence. This comparison retained the physical model in the territory while changing the candidate signal, rather than comparing a model with an entirely empty space.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owner-removal procedure changes the social situation. Its interpretation rests on the neighbor’s behavior, not on an assumed response by a fish that was no longer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Red and neutral models presented after the territory owner was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threat display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alternated models between this threatening posture and a horizontal swimming position. Threatening models exerted greater influence in both owner-attack and neighbor-intrusion tests, whether their ventral surface was red or neutral.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photographed fish is responding to its mirror image. The accompanying model experiments, rather than the photograph alone, establish the tested effect of posture.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3. Head-down threat posture and ventral-spine display at a mirror.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posture control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wide tube allowed the resident to adopt the threat posture. A narrow tube constrained it to a horizontal position. The neighboring male was more intimidated when the owner could perform the threat movement than when it remained in the constrained neutral posture.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drawing records the experimental constraint. The causal comparison concerns the permitted posture of the same type of territorial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4(A). Horizontal and upright tube conditions used to constrain the territory owner.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Courtship leading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model could release fighting when presented head downward and leading when presented head upward. Dead fish of another species could also be effective when positioned like a receptive female. The manipulated orientation therefore altered the kind of action released.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Leading toward the nest and attacking a rival are different actions. A single experimental object can evoke either action when its presentation is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4(B). Relative postures of the courting male and receptive female.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gravid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distinguishes form relevant to courtship from general resemblance to a fish. A stimulus that is adequate for one action may be inadequate for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5(A–C). A non-stickleback fish model, a normal-abdomen fish, and a swollen-abdomen dummy.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innate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Development under isolation still includes growth and interaction with the physical environment. The claim is limited to the social experience excluded by the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4(B). Courtship postures associated with the stimulus tests on an isolated male.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fixed action pattern is a relatively stereotyped movement sequence released under appropriate stimulus and internal conditions. Lorenz and Tinbergen investigated egg retrieval in nesting graylag geese, Anser anser, including birds with domestic-goose ancestry and checks on wild-type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goose extended its neck toward an egg outside the nest, contacted it with the bill, reached over its far side, and drew the head and neck inward. The egg was pushed toward the nest while side-to-side corrections prevented it from slipping away.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photographs preserve the original movement phases. A repeatable sequence and adaptive corrections can coexist within one functionally integrated 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1(a–f). Photographic sequence of orientation, contact, inward rolling, and lateral corrections.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Appetitive behavior is activity that brings an animal into a situation in which a more specific action can occur. The goose approached cautiously and initially tried to reach the egg while remaining close to the nest. Contact with the egg followed this visually directed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delay is an observation of behavior, not a direct measurement of a neural threshold. The paper provides no universal latency for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1(a–b). Neck extension followed by initial contact with the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Tactile information is sensory information obtained through contact. The observations support successive visual and tactile contributions to response selection. They do not identify the receptor cells that detect hardness or the neurons that choose between rolling, rejection, and feeding.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may be a combination encountered over time. Initial attraction to an object does not prove that the entire ensuing action has already been selected.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1(a–b). Visual orientation followed by a bill-contact test.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could begin to roll an object and then change its behavior when an exposed rim or protruding attachment became available. Lorenz and Tinbergen presented an open wooden cube, a wooden toy with attached features, and a cardboard egg with paper fringes around its seam.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was rolled until its opening faced upward, after which the bird nibbled the exposed rim. Small attachments on the toy and fringes on the cardboard egg also elicited nibbling. Ordinary right-angled edges of a closed cube did not necessarily interrupt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response switch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rim associated with an otherwise egg-like object was effective. The paper does not claim that every edge encountered anywhere releases the same nibbling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3. A goose nibbling the exposed edges of an artificial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Object acceptance is measured behaviorally. Mechanical inability to move an object and failure to accept it as a stimulus are different explanations for an unsuccessful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Retrieval of a light wooden cube rather than a natural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sagittal plane divides the body into left and right portions. During retrieval, the goose’s inward head-and-neck movement occurred approximately in this midline plane. Lateral movements shifted the bill from side to side as the egg threatened to leave its supporting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taxis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concerns how components depend on sensory input. It does not require that the components operate independently in the intact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1(e–f). Lateral bill corrections that maintain the egg beneath the bill.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an egg slipped from the bill, the inward head-and-neck movement could continue even though the object was no longer being transported. Lorenz and Tinbergen also recorded empty continuation after an oversized artificial egg escaped suddenly from between bill and breast.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lateral balancing movements disappeared when there was no object to stabilize. The head instead continued along approximately the body’s midline. Thus, removing the transported object changed one component of the response while sparing another for the remaining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Open-loop execution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Continuation without the object is evidence about execution. It does not imply that initiation occurs without an appropriate stimulus or internal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4(c–d). Escape of an oversized object followed by continued empty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confound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image is the original natural-retrieval reference, not a picture of the cylinder apparatus. The cylinder trial and its limitations are described in the article’s 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1(e–f). The natural lateral corrections whose dependence was tested with substitute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used a small light wooden cube as a more stable substitute for an egg. Unlike an egg, it remained on the substrate without preferential sideways rolling. It could also rest on a broad face against the two sides of the lower bill.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pushed the cube directly toward the nest without the ordinary side-to-side balancing movements. The inward retrieval component remained available while the unstable object trajectory that normally elicited lateral correction was removed.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a component-removal test: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changed the mechanical demand for balancing. The retained inward movement and absent lateral corrections are the relevant contrasting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A light cube pushed toward the nest without ordinary lateral balancing.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Motor flexibility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experimental problem was the relation between body movement and object dimensions. Attraction to the object and successful transport were measured as separate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4(a–b). Initial contact and jamming during retrieval of an oversized cardboard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goose’s head subsequently reached the clutch, where the bird moved the eggs and settled. The artificial egg remained outside the nest. Completion of the recurring movement therefore did not imply that the intended external result had been achieved.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motor sequence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 time conversion is inferred from the film frames. The article’s observations concern movement persistence and the object’s location after the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4(c–d). Sudden object escape and subsequent empty inward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Muscle tone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 documents the light-object condition. The distinction between measured behavior and an unmeasured muscle mechanism prevents assigning stronger physiological conclusions to the result.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A light cube whose transport was compared with heavier substitutes.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experimental nest materials and egg placement mattered to performance. Success in a normal configuration cannot be assumed for every artificial arrangement.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1(c–d). Inward rolling toward the nest and lifting of the transported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Response-specific fatigue describes a reduction in the availability of a particular action after repeated performance. The authors distinguished this from loss of responsiveness to the object. Eggs were presented more frequently than they would normally leave the nest under natural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term fatigue refers to the action’s reduced availability in this experiment. It is not evidence that the entire animal was physically exhausted.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6(a–c). Orientation and an alternative nest-material movement after repeated retrieval.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displacement action is an action appearing in a context where its ordinary function does not fit the immediate situation. The nest-material movement did not reliably transport the egg as the normal inward rolling movement would. The visible stimulus remained effective in attracting attention.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photographic sequence documents the alternative movement. Claims about frustration or the goose’s intentions are interpretations, rather than directly measured properties of the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6(a–c). Neck extension followed by the nest-material placing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selectivity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photographed avoidance belongs to the changed-response observations. The evidence for increased selectivity includes preserved retrieval of real goose eggs and rejection of formerly accepted substitutes.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6(d–e). Avoidance of an artificial egg after changes in response readiness.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observed destructive nibbling when externally incubated, beginning-to-hatch eggs were placed under their experimental goose. The exposed shell margins elicited vigorous biting. The investigators removed these eggs before the chicks were harmed further.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Two days later, when the goose’s own chicks began to hatch, the response to exposed shell margins had disappeared. The bird attended to and gently contacted the hatching eggs without the earlier biting, even when openings were presented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State-dependent response selection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photograph records the earlier edge-nibbling action. The later response change is reported in the text; no invented diagram or substitute photograph represents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3. Edge nibbling, the response that changed near hatching.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neural circuit is a connected set of neurons whose activity contributes to processing information or producing behavior. The classic stimulus experiments identified behavioral relationships, but did not record the circuits that respond to red coloration, posture, or egg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 anatomy provides access to experimental targets. It does not by itself establish which neurons mediate the response to a particular stimulus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2(A–C). Brain visibility through the skull and dissected dorsal brain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 is the authors’ apparatus figure, reproduced directly. The delivery method supports an experiment on behavior rather than constituting evidence of an identified aggression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1. The published surgical rig for supported brain injections.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Histology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Viral-mediated transgenesis uses a viral vector to deliver a gene construct into cells. The replication-deficient vector carried a chosen payload and promoter. Fluorescence was absent in saline-injected controls, distinguishing reporter expression from the untreated tissue’s background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Fluorescence labels expression rather than neuronal firing. A successful tissue-delivery measurement and a functional circuit measurement are different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3(A–B). Restricted expression after one injection and broader expression after delivery at multiple depths.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promoter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Expression timing was verified independently of the behavioral trials. The study did not use fluorescence intensity as a direct reading of aggression.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3(E–G). Fluorescent expression at two, three, and four weeks; scale bars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neuropeptide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receptor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Ectopic expression means expression in locations where it would not ordinarily occur. The authors explicitly discuss this limitation for their broad peptide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3(C–D). Transfected cells in the diencephalon with fluorescence and scale bars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injected exogenous vasotocin directly into the brain and compared recovery with saline-injected controls. Exogenous means supplied experimentally from outside the organism. Respiration was measured as opercular movements, the movements of the gill covers associated with breathing.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physiological outcome is measured breathing, not a recording of neuronal discharge. The plotted respiration count corresponds to a 20-second observation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7. Respiration following vasotocin versus saline injection, with time axes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tested territorial aggression before and after delivery of the AVP construct. A charge was a lunge directed toward a smaller male intruder confined in a glass flask. The investigators counted responses during five minutes after the focal male first oriented toward the intruder.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numbers are average counts over the five-minute trials, averaged across the two observations in each condition. They are not rates recorded continuously over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8. Paired baseline and post-transfection charge counts for EYFP, AVP, and MAOA.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Monoamine oxidase is an enzyme that metabolizes several monoamine neurotransmitters, including serotonin, dopamine, and norepinephrine. A neurotransmitter is a chemical signal used in communication involving neurons. Enzymatic metabolism can change how much active transmitter remains available for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verifies transfected cells rather than depicting enzyme chemistry. No new biochemical pathway diagram has been created.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3(C–D). Transfected brain cells, the tissue context for candidate-gene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found that MAOA-transfected fish increased their mean territorial charges from 12.1 to 19.1 during the five-minute test. Individual changes varied more than in the AVP group. The increase was assessed relative to the same fish’s baseline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ion channel is a membrane protein through which ions move. The experiment did not record channel currents or determine which channels participate in this behavioral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9. Paired respiration measurements in opercular beats per 20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within-individual comparison assesses change in the same animal across experimental conditions. James and Bell measured each focal male twice before injection and twice after expression. Nearly every fish faced the same intruder throughout these four territorial challenges.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Baseline trials occurred before delivery and the later trials during the verified expression window. The published timeline is reproduced rather than reconstructed from the reported dates.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4. The authors’ baseline, injection, and post-transfection trial timeline.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time course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plotted physiological recovery concerns hours, whereas the behavioral gene-manipulation window concerns days. The two scales must not be treated as interchangeable.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5. Respiration during recovery after direct brain injection.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design tests molecular consequences of a brief social encounter under controlled conditions. It does not measure the neurons that initially detect an intruder. The first molecular sample was collected long after the immediate behavioral response could begin.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clock starts at flask introduction, not at removal five minutes later. Empty-flask controls retain handling and presentation while excluding the confined conspecific.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Gene expression includes production of RNA from DNA. Bukhari and colleagues compared transcript abundance after an intruder presentation with abundance after an empty-flask control. The number and direction of changed transcripts varied across the 30-, 60-, and 120-minute samples.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Up-regulation and down-regulation are comparisons with the matched control condition. A transcript’s abundance and a neuron’s electrical output are different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2(B,D). Temporal expression patterns and functional associations of telencephalic gene clusters.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analyzed the telencephalon and diencephalon separately rather than pooling the entire brain. Transcript responses in the two regions were strongly aligned at 30 and 60 minutes. The later sample contained a subset with opposite response directions.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Regional specificity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scatterplots compare the two tissue regions at corresponding times. Their associations are not anatomical connections or recordings of synaptic transmission.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1(F). Opposite-direction transcript responses between regions at 120 minutes.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transcription factor is a protein that influences transcription by interacting with regulatory DNA and other components of gene control. Bukhari and colleagues inferred a transcriptional regulatory network and compared predicted targets with groups of genes sharing temporal response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Some candidate regulators and their proposed targets changed in similar sequences across 30, 60, and 120 minutes. For example, the expression of irf8 and cebpb tracked groups with little early change, reduced expression at 60 minutes, and increased expression at 120 minutes.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network is reproduced unchanged. Its nodes concern gene regulation; they must not be interpreted as neurons or as measured synaptic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3. The published inferred network of transcription factors and gene clusters.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Chromatin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compared 30- and 120-minute samples and found stronger later changes near many genes. At the Pparg locus, increased regulatory marking at 120 minutes accompanied increased transcript abundance. Other loci had distinct temporal patterns rather than one common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locus tracks preserve time labels, genomic context, and comparison conditions. No tracks have been re-plotted or reconstructed.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4(D). Published chromatin-mark tracks near the Pparg locus.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Memory formation and changed future behavior remain proposed consequences in this study. The tested outcomes were molecular responses to the controlled challenge.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2(B,D). Telencephalic temporal gene-expression patterns and functional associations.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Sign stimuli are selective cues. Restricted features can release particular actions, but their effects depend on posture, territorial context, reproductive condition, and the response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Fixed patterns and feedback coexist. Goose retrieval combines a stereotyped inward movement with lateral corrections dependent on contact and the object’s deviations.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Continuation is not successful retrieval. The inward movement can persist after object loss; completion of a motor sequence does not prove that the egg reached the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 and experience alter release. Repeated retrieval reduces execution readiness, experience narrows object acceptance, and response selection changes near hatching.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Interventions require matched controls. Candidate-gene delivery changes aggression within individuals, but broad expression and overlapping final scores limit localization and generalization.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Molecular responses have distinct time scales. A five-minute challenge changes RNA and chromatin-associated marks over 30–120 minutes; these measurements do not directly establish a release circuit or memory.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 7 and 8 test red color and threat posture one at a time; Tinbergen's 1948 review explains how the two combine. He adopted a summation rule from earlier fish work and translated it as heterogeneous summation, stressing that it is simultaneous adding of different stimuli, not repeated presentation of the same 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same adding applies to a female's response to a courting male.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Females respond to both the red belly and the zigzag dance, and a male offering both is the most effective stimulus.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red light, which removes the color contrast, females can still respond completely; that observation once led to the mistaken conclusion that the red belly had no function at all.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Internal state enters the same sum.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Tinbergen treated motivation as one more contributor, so a strongly motivated fish can react to a poor model while a weakly motivated one may ignore a good model.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owner and intruder comparisons on slides 5 and 6 therefore depend on the condition of the tested fish as well as on the model.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Graded measurement is what made the model experiments informative.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Asking only whether an attack occurs can miss a real contribution, whereas comparing the strength of attack or intimidation across matched models revealed the effects of color and posture.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tube experiment on slide 8 applies the same logic to a live fish by changing one feature, the available posture, while the rest of the stimulus stays present.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 9 and 10 show attack, leading and courtship each depending on different features of what is, in nature, the same kind of fish. Tinbergen drew the general conclusion that a sex partner is not one stimulus to the animal but several, depending on which activity is under way.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female's spawning sequence makes the point within 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Visual features bring her into the nest, but once she is there, visual information no longer matters for laying; only the tactile trembling stimulus does.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Replacing the male with a vibrating glass rod is a stimulus-substitution test of the same kind as the dummies on slides 3 to 10.</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Sensory capacity requires a different method.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Tinbergen pointed out that most reactions can be conditioned to respond to any stimulus the sense organs receive, so training experiments measure what an animal can perceive.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Sticklebacks forage only on visual cues and ignore food extracts that attract many other fish, yet the male's fertilizing response depends on chemical cues; two actions of one animal draw on different senses.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Responding to a few features is economical for the fish.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feature used, such as a red belly or a swollen abdomen in the breeding season, is closely tied to the right rival or partner under natural conditions, which is the usual explanation for why so few features suffice.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economy makes the fish responsive to crude dummies, which is what made the model experiments possible.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13 to 16 report approach, contact tests and nibbling as separate observations. Read as a sequence, they form what Tinbergen called a chain of instinctive actions, in which each action changes the animal's situation so that the stimulus for the following action becomes available.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chain depends on stimuli of different sensory modalities.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Visual sign stimuli are broad: a smooth, roughly continuous outline is enough to start the approach.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Tactile sign stimuli at the bill are stricter and decide between continuing, abandoning, eating or nibbling.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Each link can be tested by an object that fails at that link.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balloon and rubber toy isolate the tactile link, since they were approached normally and abandoned only after contact.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the peeled egg and the fringed cardboard egg, contact also redirected the act into an entirely different action.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organization also explains why first appearance does not predict the outcome.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observer who scored only the approach would conclude that the goose accepts balloons; scoring the full chain gives a different answer.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caution applies to slide 16, where acceptance of a cube depends on which phase of retrieval is being scored.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17 to 22 contain several separate observations about the inward roll and the lateral corrections; together they form a classic dissociation argument, which is how Lorenz and Tinbergen justified treating egg retrieval as a fixed core plus a taxis.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Each manipulation answers a different question.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Losing the egg asks what remains when both the object and its feedback disappear.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cube asks what happens when the object remains but no longer deviates sideways, so the need for correction disappears while contact remains.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cylinder trial shows why a manipulation must change only the intended factor.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board and the off-center contact added new disturbances, so the cylinder could not cleanly remove lateral feedback.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deviations still linked the direction of the bill correction to the object's movement, which is useful evidence even though it is not a clean control.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Open-loop and closed-loop components can coexist in one act.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roll behaves as a centrally organized sequence, while the corrections behave as a continuously steered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Dissociation establishes that the two are controlled differently; it does not locate them in separate circuits, as slide 17 points out.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21, 23 and 24 each describe a failure of retrieval, and together they show the same underlying property: the inward roll is calibrated for the conditions an egg normally presents.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Feedback has a time cost.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Every correction based on touch requires the sensory signal to reach the nervous system and a new command to return to the muscles, which takes time on every cycle.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sequence produced from a central plan avoids that delay, which is an advantage whenever the conditions are predictable.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three failures map onto three fixed parameters.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Force was not increased for heavier objects on slide 23, neck curvature was not changed for the oversized egg on slide 21, and the timing of the upward component was not shifted for an egg already over the rim on slide 24.</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each case the movement continued according to its usual settings, which is what a preset sequence predicts.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design is a compromise, not a defect.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Eggs that roll out of a natural nest are usually ordinary eggs near the rim, so the preset roll succeeds in the cases that commonly arise.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variable part of the task, sideways wobble, is the part handled by feedback.</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25 introduces response-specific fatigue as the authors' term, and three other processes could also weaken a repeated response, each predicting a different pattern of what survives repetition.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Sensory adaptation would remove orientation as well as rolling.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the receptors no longer signaled the egg, the goose would stop looking at it and stop extending its neck.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Orientation persisted, as on slides 25 and 26, so the egg was still being detected.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Muscle fatigue would weaken every movement of the neck.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nest-material movement on slide 26 uses the same neck and was still performed.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fatigue limited to one movement pattern points to the readiness of that pattern, not to the muscles.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Habituation is harder to exclude.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Habituation would make the goose respond less to the egg as a stimulus, yet the egg still attracted orientation, which favors a change specific to the rolling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experiments did not test recovery with a new stimulus or after a long rest, so a response-specific form of habituation cannot be fully ruled out.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11 and slides 27 and 28 are often read as contradicting each other, one supporting innate responses and the other showing experience at work. They answer different questions about development, so both can be true of the same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isolation experiment asks what is necessary for a response to appear.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social experience and still obtaining the normal responses establishes that this experience is not required for them.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does not mean that experience cannot later change the response, and Tinbergen's own review describes releasing mechanisms that are modified by conditioning.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goose observations ask what changes after the response is established.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movement itself stayed the same while the range of effective objects shrank, so the change lies in stimulus selectivity rather than in the motor pattern.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is the same separation between releasing mechanism and movement found elsewhere in the deck.</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motivation alternative matters for 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Tinbergen described animals in an abnormally strong state of motivation responding indiscriminately to good and bad dummies, which makes early acceptance of many substitutes expected when readiness is high.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falling readiness during incubation would then make the goose appear more selective without any learning, so the authors' attribution to experience remains one of two possible explanations.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29 names the diencephalon and telencephalon as anatomical landmarks; their functions are the reason both stickleback studies target them.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hypothalamus is the link between behavior and hormones.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Hypothalamic neurons release peptides that act within the brain and also control the pituitary gland, which in turn regulates hormone release from glands elsewhere in the body.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fishes the stress axis runs from hypothalamus to pituitary to the interrenal tissue, the fish equivalent of the adrenal gland.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Vasotocin is the fish member of the vasopressin family.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James and Bell point out that vasotocin is normally produced mainly in the preoptic area and ventral hypothalamus, so their broad diencephalic expression of AVP placed the peptide in locations where it is not usually made.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is the ectopic expression discussed on slide 33.</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telencephalon is the more likely site of spatial learning about the territory.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Bukhari and colleagues chose it because it contains the teleost homolog of the hippocampus.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later finding of learning-related genes among late responses is one reason the two regions were analyzed separately on slide 42.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30 to 32 describe the injection rig, the tissue verification and the promoter timing; the reasoning behind choosing viral delivery in adults ties them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vector is a delivery vehicle, not an infection.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modified virus carries only the plasmid payload, so it can enter cells and deliver DNA but cannot make new virus particles.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chose this virus partly because it can carry larger payloads than some alternatives and has low toxicity.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Adult delivery separates the gene's present role from its developmental role.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gene present from the fertilized egg onward can alter how the brain is built, so a behavioral change in a germline transgenic fish could reflect development rather than current signaling.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Adult delivery also allows the same wild-caught fish to be tested before and after the manipulation, which is the paired design described on slide 38.</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promoter sets when the payload is expressed.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short-term and long-term promoters on slide 32 differ in how soon and how long they drive transcription.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Behavioral trials at 14 and 16 days were placed where the long-term construct produced strong expression.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34 and 35 report two vasotocin-family manipulations with different outcomes measured: respiration after acute injection and charging after viral expression. The paper also measured charging after the acute treatment, which allows the two to be compared on the same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Both treatments were judged to have worked.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acute injection changed respiration across the dose range and changed behavior at the highest dose, while viral AVP increased charging in nearly all treated fish.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Since both manipulations were effective, the opposite directions cannot be dismissed as a failed treatment.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 is the main difference between the treatments.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peptide with a half-life under a minute is cleared almost immediately, so a single dose produces a short pulse of signaling.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construct that keeps producing peptide for weeks gives the system time to adjust receptor levels and hormone output, which can change how the same signal affects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Location matters as well.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Vasotocin acts through several receptor types with different distributions, so peptide made broadly across the diencephalon may act on receptors that a natural release would not reach.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Charging was the behavior affected in every vasotocin manipulation, which the authors note fits its role as the voluntary start of an attack, whereas biting depends more on the intruder's reaction.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36 and 37 present the enzyme's chemistry and the paired results; the respiration measurement connects them, because it is the only evidence in the study that the delivered enzyme acted on transmitter levels.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enzyme changes how long transmitter remains active.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release, monoamine transmitters are taken back into cells and broken down by monoamine oxidase, so more enzyme means less transmitter available for the following release.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Lower serotonin signaling is associated with more aggression across many vertebrates, which is the basis for predicting more charging.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behavioral effect alone would leave the mechanism open.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More charging could arise from many side effects of an injected virus or a foreign protein.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respiration decline is a second, independent prediction of the same mechanism, and it appeared only in the MAOA group, not in the AVP or fluorescent-protein groups.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respiration result also contrasts with vasotocin.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Acute vasotocin raised respiration on slide 34, while MAOA lowered it, so the two candidate pathways act differently on the same physiological measure.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list measuring transmitter levels and rescuing the effect pharmacologically as the steps that would complete the mechanistic account.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41 reports that different genes respond at different times after the intruder; the reason a single five-minute event produces staggered responses lies in how transcription is regulated.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first wave needs no new protein.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Transcription factors that already exist in neurons are activated by activity-driven signals such as calcium, so they can start transcription within minutes.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Genes switched on this way often encode regulators themselves, which is why a second and third wave can follow without any further stimulus.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direction of change also shifted over time.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Expression was mostly reduced at 30 and 60 minutes and mostly increased in diencephalon at 120 minutes.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interpret the late increases as recovery and preparation, citing learning-related functions such as calcium and calmodulin binding among genes peaking at 120 minutes.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Behavioral experience gives the late wave a plausible use.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Territorial males improve at detecting and repelling intruders with experience and patrol places where earlier intrusions occurred.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speculate that the late wave supports memory of where an encounter happened, which slide 45 also describes as a hypothesis.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deck contains both kinds of evidence about the stickleback brain: the expression, network and chromatin measurements on slides 40 to 45, and the gene manipulations on slides 33 to 38. The two kinds of evidence answer different questions, and overlapping groups of authors carried out both.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Correlation leaves the causal direction open.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gene that changes after an intrusion may be a cause of later behavior, a consequence of the encounter, or a response to the handling and stress that accompany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empty-flask control on slide 40 removes some of these alternatives, but it cannot establish that any changed gene matters for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Perturbation addresses the causal question but has its own limits.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James and Bell's manipulations were broad and in some cases used mammalian genes, so they test whether a pathway can change behavior, not exactly how the native gene acts.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positive perturbation result also does not establish that the gene changes naturally during an encounter; that is what the expression data supply.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regulatory network supplies specific targets for such tests.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Regulators predicted to control clusters of genes over time, such as those on slide 43, are natural candidates for manipulation.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test would check both the predicted molecular targets and the behavior, linking the two levels.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44 introduces chromatin and the H3K27 acetylation mark; the chemistry of the mark explains why it is used as a sign of accessible, active regulatory DNA.</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Charge is the key to the mechanism.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Lysine side chains carry a positive charge that holds the negatively charged DNA backbone tightly against the histone core.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acetyl group removes that charge, so the contact loosens, and proteins with domains that bind acetylated lysine are recruited to the site.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mark is measured by pulling down marked chromatin.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antibody against acetylated H3K27 is used to collect the DNA bound to marked histones, and sequencing that DNA shows where the mark lies across the genome.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Comparing samples at 30 and 120 minutes then shows where marking increased or decreased after the challenge.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Lasting chromatin change is one route to a lasting change in behavior.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Chromatin in adult tissue is often assumed to change slowly, yet the stickleback brain showed changes within two hours of a five-minute encounter.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open regions persist, a later intrusion could recruit transcription faster, but whether this happens, and whether it changes behavior, was not measured.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9.png"/><Relationship Id="rId4"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2F4A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71500" y="167163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CCBDD"/>
              </a:buClr>
              <a:buSzPts val="1350"/>
              <a:buFont typeface="Arial"/>
              <a:buNone/>
            </a:pPr>
            <a:r>
              <a:rPr b="0" i="0" lang="en-US" sz="1350">
                <a:solidFill>
                  <a:srgbClr val="BCCBDD"/>
                </a:solidFill>
                <a:latin typeface="Arial"/>
                <a:ea typeface="Arial"/>
                <a:cs typeface="Arial"/>
                <a:sym typeface="Arial"/>
              </a:rPr>
              <a:t>NEUR 411 · NEUROETHOLOGY · FALL 2026 · Lecture 2</a:t>
            </a:r>
            <a:endParaRPr sz="1800">
              <a:solidFill>
                <a:schemeClr val="dk1"/>
              </a:solidFill>
              <a:latin typeface="Calibri"/>
              <a:ea typeface="Calibri"/>
              <a:cs typeface="Calibri"/>
              <a:sym typeface="Calibri"/>
            </a:endParaRPr>
          </a:p>
        </p:txBody>
      </p:sp>
      <p:sp>
        <p:nvSpPr>
          <p:cNvPr id="21" name="Google Shape;21;p1"/>
          <p:cNvSpPr/>
          <p:nvPr/>
        </p:nvSpPr>
        <p:spPr>
          <a:xfrm>
            <a:off x="571500" y="2214563"/>
            <a:ext cx="4972050" cy="18288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3000"/>
              <a:buFont typeface="Arial"/>
              <a:buNone/>
            </a:pPr>
            <a:r>
              <a:rPr b="1" i="0" lang="en-US" sz="3000">
                <a:solidFill>
                  <a:srgbClr val="FFFFFF"/>
                </a:solidFill>
                <a:latin typeface="Arial"/>
                <a:ea typeface="Arial"/>
                <a:cs typeface="Arial"/>
                <a:sym typeface="Arial"/>
              </a:rPr>
              <a:t>Fixed action patterns &amp; sign stimuli — Lorenz and Tinbergen's stickleback and graylag goose work</a:t>
            </a:r>
            <a:endParaRPr sz="1800">
              <a:solidFill>
                <a:schemeClr val="dk1"/>
              </a:solidFill>
              <a:latin typeface="Calibri"/>
              <a:ea typeface="Calibri"/>
              <a:cs typeface="Calibri"/>
              <a:sym typeface="Calibri"/>
            </a:endParaRPr>
          </a:p>
        </p:txBody>
      </p:sp>
      <p:sp>
        <p:nvSpPr>
          <p:cNvPr id="22" name="Google Shape;22;p1"/>
          <p:cNvSpPr/>
          <p:nvPr/>
        </p:nvSpPr>
        <p:spPr>
          <a:xfrm>
            <a:off x="571500" y="43862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CCBDD"/>
              </a:buClr>
              <a:buSzPts val="1650"/>
              <a:buFont typeface="Arial"/>
              <a:buNone/>
            </a:pPr>
            <a:r>
              <a:rPr b="0" i="0" lang="en-US" sz="1650">
                <a:solidFill>
                  <a:srgbClr val="BCCBDD"/>
                </a:solidFill>
                <a:latin typeface="Arial"/>
                <a:ea typeface="Arial"/>
                <a:cs typeface="Arial"/>
                <a:sym typeface="Arial"/>
              </a:rPr>
              <a:t>Wednesday, August 26, 2026</a:t>
            </a:r>
            <a:endParaRPr sz="1800">
              <a:solidFill>
                <a:schemeClr val="dk1"/>
              </a:solidFill>
              <a:latin typeface="Calibri"/>
              <a:ea typeface="Calibri"/>
              <a:cs typeface="Calibri"/>
              <a:sym typeface="Calibri"/>
            </a:endParaRPr>
          </a:p>
        </p:txBody>
      </p:sp>
      <p:sp>
        <p:nvSpPr>
          <p:cNvPr id="23" name="Google Shape;23;p1"/>
          <p:cNvSpPr/>
          <p:nvPr/>
        </p:nvSpPr>
        <p:spPr>
          <a:xfrm>
            <a:off x="571500" y="49291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350"/>
              <a:buFont typeface="Arial"/>
              <a:buNone/>
            </a:pPr>
            <a:r>
              <a:rPr b="0" i="0" lang="en-US" sz="1350">
                <a:solidFill>
                  <a:srgbClr val="FFFFFF"/>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1273139"/>
            <a:ext cx="5238750" cy="3606871"/>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 A graylag goose extending its neck toward an egg outside the nest.</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Breeding sticklebacks defend a nest territory</a:t>
            </a:r>
            <a:endParaRPr sz="1800">
              <a:solidFill>
                <a:schemeClr val="dk1"/>
              </a:solidFill>
              <a:latin typeface="Calibri"/>
              <a:ea typeface="Calibri"/>
              <a:cs typeface="Calibri"/>
              <a:sym typeface="Calibri"/>
            </a:endParaRPr>
          </a:p>
        </p:txBody>
      </p:sp>
      <p:sp>
        <p:nvSpPr>
          <p:cNvPr id="31" name="Google Shape;31;p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three-spined stickleback, </a:t>
            </a:r>
            <a:r>
              <a:rPr b="0" i="1" lang="en-US" sz="1500">
                <a:solidFill>
                  <a:srgbClr val="222831"/>
                </a:solidFill>
                <a:latin typeface="Arial"/>
                <a:ea typeface="Arial"/>
                <a:cs typeface="Arial"/>
                <a:sym typeface="Arial"/>
              </a:rPr>
              <a:t>Gasterosteus aculeatus</a:t>
            </a:r>
            <a:r>
              <a:rPr b="0" i="0" lang="en-US" sz="1500">
                <a:solidFill>
                  <a:srgbClr val="222831"/>
                </a:solidFill>
                <a:latin typeface="Arial"/>
                <a:ea typeface="Arial"/>
                <a:cs typeface="Arial"/>
                <a:sym typeface="Arial"/>
              </a:rPr>
              <a:t>, changes its social behavior during breeding. A male establishes a territory, builds a nest, attacks competitors, and leads receptive females toward the nest entrance. Tinbergen studied these actions in territorial fish and tested the stimuli that release them.</a:t>
            </a:r>
            <a:endParaRPr sz="1800">
              <a:solidFill>
                <a:schemeClr val="dk1"/>
              </a:solidFill>
              <a:latin typeface="Calibri"/>
              <a:ea typeface="Calibri"/>
              <a:cs typeface="Calibri"/>
              <a:sym typeface="Calibri"/>
            </a:endParaRPr>
          </a:p>
        </p:txBody>
      </p:sp>
      <p:sp>
        <p:nvSpPr>
          <p:cNvPr id="32" name="Google Shape;32;p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releaser</a:t>
            </a:r>
            <a:r>
              <a:rPr b="0" i="0" lang="en-US" sz="1500">
                <a:solidFill>
                  <a:srgbClr val="222831"/>
                </a:solidFill>
                <a:latin typeface="Arial"/>
                <a:ea typeface="Arial"/>
                <a:cs typeface="Arial"/>
                <a:sym typeface="Arial"/>
              </a:rPr>
              <a:t>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endParaRPr sz="1800">
              <a:solidFill>
                <a:schemeClr val="dk1"/>
              </a:solidFill>
              <a:latin typeface="Calibri"/>
              <a:ea typeface="Calibri"/>
              <a:cs typeface="Calibri"/>
              <a:sym typeface="Calibri"/>
            </a:endParaRPr>
          </a:p>
        </p:txBody>
      </p:sp>
      <p:sp>
        <p:nvSpPr>
          <p:cNvPr id="33" name="Google Shape;33;p2"/>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endParaRPr sz="1800">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7467134" y="1055340"/>
            <a:ext cx="3334683"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3. A male threatening its reflection with a unilateral ventral-spine display.</a:t>
            </a:r>
            <a:endParaRPr sz="1800">
              <a:solidFill>
                <a:schemeClr val="dk1"/>
              </a:solidFill>
              <a:latin typeface="Calibri"/>
              <a:ea typeface="Calibri"/>
              <a:cs typeface="Calibri"/>
              <a:sym typeface="Calibri"/>
            </a:endParaRPr>
          </a:p>
        </p:txBody>
      </p:sp>
      <p:sp>
        <p:nvSpPr>
          <p:cNvPr id="36" name="Google Shape;36;p2"/>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sign stimulus can outweigh realistic body form</a:t>
            </a:r>
            <a:endParaRPr sz="1800">
              <a:solidFill>
                <a:schemeClr val="dk1"/>
              </a:solidFill>
              <a:latin typeface="Calibri"/>
              <a:ea typeface="Calibri"/>
              <a:cs typeface="Calibri"/>
              <a:sym typeface="Calibri"/>
            </a:endParaRPr>
          </a:p>
        </p:txBody>
      </p:sp>
      <p:sp>
        <p:nvSpPr>
          <p:cNvPr id="43" name="Google Shape;43;p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sign stimulus</a:t>
            </a:r>
            <a:r>
              <a:rPr b="0" i="0" lang="en-US" sz="1500">
                <a:solidFill>
                  <a:srgbClr val="222831"/>
                </a:solidFill>
                <a:latin typeface="Arial"/>
                <a:ea typeface="Arial"/>
                <a:cs typeface="Arial"/>
                <a:sym typeface="Arial"/>
              </a:rPr>
              <a:t> is a restricted feature or combination of features that can release a behavioral response. Tinbergen compared models with red ventral surfaces, called the R series, with neutral-colored models, called the N series. Both series included realistic dead fish and simplified shapes.</a:t>
            </a:r>
            <a:endParaRPr sz="1800">
              <a:solidFill>
                <a:schemeClr val="dk1"/>
              </a:solidFill>
              <a:latin typeface="Calibri"/>
              <a:ea typeface="Calibri"/>
              <a:cs typeface="Calibri"/>
              <a:sym typeface="Calibri"/>
            </a:endParaRPr>
          </a:p>
        </p:txBody>
      </p:sp>
      <p:sp>
        <p:nvSpPr>
          <p:cNvPr id="44" name="Google Shape;44;p3"/>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endParaRPr sz="1800">
              <a:solidFill>
                <a:schemeClr val="dk1"/>
              </a:solidFill>
              <a:latin typeface="Calibri"/>
              <a:ea typeface="Calibri"/>
              <a:cs typeface="Calibri"/>
              <a:sym typeface="Calibri"/>
            </a:endParaRPr>
          </a:p>
        </p:txBody>
      </p:sp>
      <p:sp>
        <p:nvSpPr>
          <p:cNvPr id="45" name="Google Shape;45;p3"/>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endParaRPr sz="1800">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47" name="Google Shape;47;p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Red-ventral R models and a neutral N model used in stimulus tests.</a:t>
            </a:r>
            <a:endParaRPr sz="1800">
              <a:solidFill>
                <a:schemeClr val="dk1"/>
              </a:solidFill>
              <a:latin typeface="Calibri"/>
              <a:ea typeface="Calibri"/>
              <a:cs typeface="Calibri"/>
              <a:sym typeface="Calibri"/>
            </a:endParaRPr>
          </a:p>
        </p:txBody>
      </p:sp>
      <p:sp>
        <p:nvSpPr>
          <p:cNvPr id="48" name="Google Shape;48;p3"/>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Stimulus models separate features from whole animals</a:t>
            </a:r>
            <a:endParaRPr sz="1800">
              <a:solidFill>
                <a:schemeClr val="dk1"/>
              </a:solidFill>
              <a:latin typeface="Calibri"/>
              <a:ea typeface="Calibri"/>
              <a:cs typeface="Calibri"/>
              <a:sym typeface="Calibri"/>
            </a:endParaRPr>
          </a:p>
        </p:txBody>
      </p:sp>
      <p:sp>
        <p:nvSpPr>
          <p:cNvPr id="55" name="Google Shape;55;p4"/>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stimulus model</a:t>
            </a:r>
            <a:r>
              <a:rPr b="0" i="0" lang="en-US" sz="1500">
                <a:solidFill>
                  <a:srgbClr val="222831"/>
                </a:solidFill>
                <a:latin typeface="Arial"/>
                <a:ea typeface="Arial"/>
                <a:cs typeface="Arial"/>
                <a:sym typeface="Arial"/>
              </a:rPr>
              <a:t>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endParaRPr sz="1800">
              <a:solidFill>
                <a:schemeClr val="dk1"/>
              </a:solidFill>
              <a:latin typeface="Calibri"/>
              <a:ea typeface="Calibri"/>
              <a:cs typeface="Calibri"/>
              <a:sym typeface="Calibri"/>
            </a:endParaRPr>
          </a:p>
        </p:txBody>
      </p:sp>
      <p:sp>
        <p:nvSpPr>
          <p:cNvPr id="56" name="Google Shape;56;p4"/>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endParaRPr sz="1800">
              <a:solidFill>
                <a:schemeClr val="dk1"/>
              </a:solidFill>
              <a:latin typeface="Calibri"/>
              <a:ea typeface="Calibri"/>
              <a:cs typeface="Calibri"/>
              <a:sym typeface="Calibri"/>
            </a:endParaRPr>
          </a:p>
        </p:txBody>
      </p:sp>
      <p:sp>
        <p:nvSpPr>
          <p:cNvPr id="57" name="Google Shape;57;p4"/>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endParaRPr sz="1800">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59" name="Google Shape;59;p4"/>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Contrasting model form and ventral coloration.</a:t>
            </a:r>
            <a:endParaRPr sz="1800">
              <a:solidFill>
                <a:schemeClr val="dk1"/>
              </a:solidFill>
              <a:latin typeface="Calibri"/>
              <a:ea typeface="Calibri"/>
              <a:cs typeface="Calibri"/>
              <a:sym typeface="Calibri"/>
            </a:endParaRPr>
          </a:p>
        </p:txBody>
      </p:sp>
      <p:sp>
        <p:nvSpPr>
          <p:cNvPr id="60" name="Google Shape;60;p4"/>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The same red feature has context-dependent effects</a:t>
            </a:r>
            <a:endParaRPr sz="1800">
              <a:solidFill>
                <a:schemeClr val="dk1"/>
              </a:solidFill>
              <a:latin typeface="Calibri"/>
              <a:ea typeface="Calibri"/>
              <a:cs typeface="Calibri"/>
              <a:sym typeface="Calibri"/>
            </a:endParaRPr>
          </a:p>
        </p:txBody>
      </p:sp>
      <p:sp>
        <p:nvSpPr>
          <p:cNvPr id="67" name="Google Shape;67;p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described different responses to a red-bellied fish depending on the observer’s territorial position. A male within its own territory attacked a red-bellied model. A male outside its territory could instead retreat from the same conspicuous feature.</a:t>
            </a:r>
            <a:endParaRPr sz="1800">
              <a:solidFill>
                <a:schemeClr val="dk1"/>
              </a:solidFill>
              <a:latin typeface="Calibri"/>
              <a:ea typeface="Calibri"/>
              <a:cs typeface="Calibri"/>
              <a:sym typeface="Calibri"/>
            </a:endParaRPr>
          </a:p>
        </p:txBody>
      </p:sp>
      <p:sp>
        <p:nvSpPr>
          <p:cNvPr id="68" name="Google Shape;68;p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model comparisons were conducted in occupied territories and in territories whose owners had been removed. Red models elicited attack from owners and deterred entry by neighboring males. Neutral models exerted much less influence in these tests.</a:t>
            </a:r>
            <a:endParaRPr sz="1800">
              <a:solidFill>
                <a:schemeClr val="dk1"/>
              </a:solidFill>
              <a:latin typeface="Calibri"/>
              <a:ea typeface="Calibri"/>
              <a:cs typeface="Calibri"/>
              <a:sym typeface="Calibri"/>
            </a:endParaRPr>
          </a:p>
        </p:txBody>
      </p:sp>
      <p:sp>
        <p:nvSpPr>
          <p:cNvPr id="69" name="Google Shape;69;p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endParaRPr sz="1800">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Models used to compare responses to red and neutral ventral surfaces.</a:t>
            </a:r>
            <a:endParaRPr sz="1800">
              <a:solidFill>
                <a:schemeClr val="dk1"/>
              </a:solidFill>
              <a:latin typeface="Calibri"/>
              <a:ea typeface="Calibri"/>
              <a:cs typeface="Calibri"/>
              <a:sym typeface="Calibri"/>
            </a:endParaRPr>
          </a:p>
        </p:txBody>
      </p:sp>
      <p:sp>
        <p:nvSpPr>
          <p:cNvPr id="72" name="Google Shape;72;p5"/>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Red models discourage entry into a vacant territory</a:t>
            </a:r>
            <a:endParaRPr sz="1800">
              <a:solidFill>
                <a:schemeClr val="dk1"/>
              </a:solidFill>
              <a:latin typeface="Calibri"/>
              <a:ea typeface="Calibri"/>
              <a:cs typeface="Calibri"/>
              <a:sym typeface="Calibri"/>
            </a:endParaRPr>
          </a:p>
        </p:txBody>
      </p:sp>
      <p:sp>
        <p:nvSpPr>
          <p:cNvPr id="79" name="Google Shape;79;p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endParaRPr sz="1800">
              <a:solidFill>
                <a:schemeClr val="dk1"/>
              </a:solidFill>
              <a:latin typeface="Calibri"/>
              <a:ea typeface="Calibri"/>
              <a:cs typeface="Calibri"/>
              <a:sym typeface="Calibri"/>
            </a:endParaRPr>
          </a:p>
        </p:txBody>
      </p:sp>
      <p:sp>
        <p:nvSpPr>
          <p:cNvPr id="80" name="Google Shape;80;p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red-bellied R model delayed the neighboring male’s intrusion appreciably. Neutral N models had scarcely any influence. This comparison retained the physical model in the territory while changing the candidate signal, rather than comparing a model with an entirely empty space.</a:t>
            </a:r>
            <a:endParaRPr sz="1800">
              <a:solidFill>
                <a:schemeClr val="dk1"/>
              </a:solidFill>
              <a:latin typeface="Calibri"/>
              <a:ea typeface="Calibri"/>
              <a:cs typeface="Calibri"/>
              <a:sym typeface="Calibri"/>
            </a:endParaRPr>
          </a:p>
        </p:txBody>
      </p:sp>
      <p:sp>
        <p:nvSpPr>
          <p:cNvPr id="81" name="Google Shape;81;p6"/>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endParaRPr sz="1800">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83" name="Google Shape;83;p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Red and neutral models presented after the territory owner was removed.</a:t>
            </a:r>
            <a:endParaRPr sz="1800">
              <a:solidFill>
                <a:schemeClr val="dk1"/>
              </a:solidFill>
              <a:latin typeface="Calibri"/>
              <a:ea typeface="Calibri"/>
              <a:cs typeface="Calibri"/>
              <a:sym typeface="Calibri"/>
            </a:endParaRPr>
          </a:p>
        </p:txBody>
      </p:sp>
      <p:sp>
        <p:nvSpPr>
          <p:cNvPr id="84" name="Google Shape;84;p6"/>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85" name="Google Shape;85;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Threat posture contributes beyond belly coloration</a:t>
            </a:r>
            <a:endParaRPr sz="1800">
              <a:solidFill>
                <a:schemeClr val="dk1"/>
              </a:solidFill>
              <a:latin typeface="Calibri"/>
              <a:ea typeface="Calibri"/>
              <a:cs typeface="Calibri"/>
              <a:sym typeface="Calibri"/>
            </a:endParaRPr>
          </a:p>
        </p:txBody>
      </p:sp>
      <p:sp>
        <p:nvSpPr>
          <p:cNvPr id="91" name="Google Shape;91;p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threat display</a:t>
            </a:r>
            <a:r>
              <a:rPr b="0" i="0" lang="en-US" sz="1500">
                <a:solidFill>
                  <a:srgbClr val="222831"/>
                </a:solidFill>
                <a:latin typeface="Arial"/>
                <a:ea typeface="Arial"/>
                <a:cs typeface="Arial"/>
                <a:sym typeface="Arial"/>
              </a:rPr>
              <a:t>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endParaRPr sz="1800">
              <a:solidFill>
                <a:schemeClr val="dk1"/>
              </a:solidFill>
              <a:latin typeface="Calibri"/>
              <a:ea typeface="Calibri"/>
              <a:cs typeface="Calibri"/>
              <a:sym typeface="Calibri"/>
            </a:endParaRPr>
          </a:p>
        </p:txBody>
      </p:sp>
      <p:sp>
        <p:nvSpPr>
          <p:cNvPr id="92" name="Google Shape;92;p7"/>
          <p:cNvSpPr/>
          <p:nvPr/>
        </p:nvSpPr>
        <p:spPr>
          <a:xfrm>
            <a:off x="457200" y="27698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alternated models between this threatening posture and a horizontal swimming position. Threatening models exerted greater influence in both owner-attack and neighbor-intrusion tests, whether their ventral surface was red or neutral.</a:t>
            </a:r>
            <a:endParaRPr sz="1800">
              <a:solidFill>
                <a:schemeClr val="dk1"/>
              </a:solidFill>
              <a:latin typeface="Calibri"/>
              <a:ea typeface="Calibri"/>
              <a:cs typeface="Calibri"/>
              <a:sym typeface="Calibri"/>
            </a:endParaRPr>
          </a:p>
        </p:txBody>
      </p:sp>
      <p:sp>
        <p:nvSpPr>
          <p:cNvPr id="93" name="Google Shape;93;p7"/>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endParaRPr sz="1800">
              <a:solidFill>
                <a:schemeClr val="dk1"/>
              </a:solidFill>
              <a:latin typeface="Calibri"/>
              <a:ea typeface="Calibri"/>
              <a:cs typeface="Calibri"/>
              <a:sym typeface="Calibri"/>
            </a:endParaRPr>
          </a:p>
        </p:txBody>
      </p:sp>
      <p:pic>
        <p:nvPicPr>
          <p:cNvPr id="94" name="Google Shape;94;p7"/>
          <p:cNvPicPr preferRelativeResize="0"/>
          <p:nvPr/>
        </p:nvPicPr>
        <p:blipFill rotWithShape="1">
          <a:blip r:embed="rId3">
            <a:alphaModFix/>
          </a:blip>
          <a:srcRect b="0" l="0" r="0" t="0"/>
          <a:stretch/>
        </p:blipFill>
        <p:spPr>
          <a:xfrm>
            <a:off x="7467134" y="1055340"/>
            <a:ext cx="3334683" cy="4000500"/>
          </a:xfrm>
          <a:prstGeom prst="rect">
            <a:avLst/>
          </a:prstGeom>
          <a:noFill/>
          <a:ln>
            <a:noFill/>
          </a:ln>
        </p:spPr>
      </p:pic>
      <p:sp>
        <p:nvSpPr>
          <p:cNvPr id="95" name="Google Shape;95;p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3. Head-down threat posture and ventral-spine display at a mirror.</a:t>
            </a:r>
            <a:endParaRPr sz="1800">
              <a:solidFill>
                <a:schemeClr val="dk1"/>
              </a:solidFill>
              <a:latin typeface="Calibri"/>
              <a:ea typeface="Calibri"/>
              <a:cs typeface="Calibri"/>
              <a:sym typeface="Calibri"/>
            </a:endParaRPr>
          </a:p>
        </p:txBody>
      </p:sp>
      <p:sp>
        <p:nvSpPr>
          <p:cNvPr id="96" name="Google Shape;96;p7"/>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97" name="Google Shape;97;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Tube confinement tests the effect of threat movement</a:t>
            </a:r>
            <a:endParaRPr sz="1800">
              <a:solidFill>
                <a:schemeClr val="dk1"/>
              </a:solidFill>
              <a:latin typeface="Calibri"/>
              <a:ea typeface="Calibri"/>
              <a:cs typeface="Calibri"/>
              <a:sym typeface="Calibri"/>
            </a:endParaRPr>
          </a:p>
        </p:txBody>
      </p:sp>
      <p:sp>
        <p:nvSpPr>
          <p:cNvPr id="103" name="Google Shape;103;p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posture control</a:t>
            </a:r>
            <a:r>
              <a:rPr b="0" i="0" lang="en-US" sz="1500">
                <a:solidFill>
                  <a:srgbClr val="222831"/>
                </a:solidFill>
                <a:latin typeface="Arial"/>
                <a:ea typeface="Arial"/>
                <a:cs typeface="Arial"/>
                <a:sym typeface="Arial"/>
              </a:rPr>
              <a:t>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endParaRPr sz="1800">
              <a:solidFill>
                <a:schemeClr val="dk1"/>
              </a:solidFill>
              <a:latin typeface="Calibri"/>
              <a:ea typeface="Calibri"/>
              <a:cs typeface="Calibri"/>
              <a:sym typeface="Calibri"/>
            </a:endParaRPr>
          </a:p>
        </p:txBody>
      </p:sp>
      <p:sp>
        <p:nvSpPr>
          <p:cNvPr id="104" name="Google Shape;104;p8"/>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wide tube allowed the resident to adopt the threat posture. A narrow tube constrained it to a horizontal position. The neighboring male was more intimidated when the owner could perform the threat movement than when it remained in the constrained neutral posture.</a:t>
            </a:r>
            <a:endParaRPr sz="1800">
              <a:solidFill>
                <a:schemeClr val="dk1"/>
              </a:solidFill>
              <a:latin typeface="Calibri"/>
              <a:ea typeface="Calibri"/>
              <a:cs typeface="Calibri"/>
              <a:sym typeface="Calibri"/>
            </a:endParaRPr>
          </a:p>
        </p:txBody>
      </p:sp>
      <p:sp>
        <p:nvSpPr>
          <p:cNvPr id="105" name="Google Shape;105;p8"/>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endParaRPr sz="1800">
              <a:solidFill>
                <a:schemeClr val="dk1"/>
              </a:solidFill>
              <a:latin typeface="Calibri"/>
              <a:ea typeface="Calibri"/>
              <a:cs typeface="Calibri"/>
              <a:sym typeface="Calibri"/>
            </a:endParaRPr>
          </a:p>
        </p:txBody>
      </p:sp>
      <p:pic>
        <p:nvPicPr>
          <p:cNvPr id="106" name="Google Shape;106;p8"/>
          <p:cNvPicPr preferRelativeResize="0"/>
          <p:nvPr/>
        </p:nvPicPr>
        <p:blipFill rotWithShape="1">
          <a:blip r:embed="rId3">
            <a:alphaModFix/>
          </a:blip>
          <a:srcRect b="0" l="0" r="0" t="0"/>
          <a:stretch/>
        </p:blipFill>
        <p:spPr>
          <a:xfrm>
            <a:off x="7372536" y="1055340"/>
            <a:ext cx="3523878" cy="4000500"/>
          </a:xfrm>
          <a:prstGeom prst="rect">
            <a:avLst/>
          </a:prstGeom>
          <a:noFill/>
          <a:ln>
            <a:noFill/>
          </a:ln>
        </p:spPr>
      </p:pic>
      <p:sp>
        <p:nvSpPr>
          <p:cNvPr id="107" name="Google Shape;107;p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4(A). Horizontal and upright tube conditions used to constrain the territory owner.</a:t>
            </a:r>
            <a:endParaRPr sz="1800">
              <a:solidFill>
                <a:schemeClr val="dk1"/>
              </a:solidFill>
              <a:latin typeface="Calibri"/>
              <a:ea typeface="Calibri"/>
              <a:cs typeface="Calibri"/>
              <a:sym typeface="Calibri"/>
            </a:endParaRPr>
          </a:p>
        </p:txBody>
      </p:sp>
      <p:sp>
        <p:nvSpPr>
          <p:cNvPr id="108" name="Google Shape;108;p8"/>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09" name="Google Shape;109;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Posture can switch attack to courtship leading</a:t>
            </a:r>
            <a:endParaRPr sz="1800">
              <a:solidFill>
                <a:schemeClr val="dk1"/>
              </a:solidFill>
              <a:latin typeface="Calibri"/>
              <a:ea typeface="Calibri"/>
              <a:cs typeface="Calibri"/>
              <a:sym typeface="Calibri"/>
            </a:endParaRPr>
          </a:p>
        </p:txBody>
      </p:sp>
      <p:sp>
        <p:nvSpPr>
          <p:cNvPr id="115" name="Google Shape;115;p9"/>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Courtship leading</a:t>
            </a:r>
            <a:r>
              <a:rPr b="0" i="0" lang="en-US" sz="1500">
                <a:solidFill>
                  <a:srgbClr val="222831"/>
                </a:solidFill>
                <a:latin typeface="Arial"/>
                <a:ea typeface="Arial"/>
                <a:cs typeface="Arial"/>
                <a:sym typeface="Arial"/>
              </a:rPr>
              <a:t>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endParaRPr sz="1800">
              <a:solidFill>
                <a:schemeClr val="dk1"/>
              </a:solidFill>
              <a:latin typeface="Calibri"/>
              <a:ea typeface="Calibri"/>
              <a:cs typeface="Calibri"/>
              <a:sym typeface="Calibri"/>
            </a:endParaRPr>
          </a:p>
        </p:txBody>
      </p:sp>
      <p:sp>
        <p:nvSpPr>
          <p:cNvPr id="116" name="Google Shape;116;p9"/>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same model could release fighting when presented head downward and leading when presented head upward. Dead fish of another species could also be effective when positioned like a receptive female. The manipulated orientation therefore altered the kind of action released.</a:t>
            </a:r>
            <a:endParaRPr sz="1800">
              <a:solidFill>
                <a:schemeClr val="dk1"/>
              </a:solidFill>
              <a:latin typeface="Calibri"/>
              <a:ea typeface="Calibri"/>
              <a:cs typeface="Calibri"/>
              <a:sym typeface="Calibri"/>
            </a:endParaRPr>
          </a:p>
        </p:txBody>
      </p:sp>
      <p:sp>
        <p:nvSpPr>
          <p:cNvPr id="117" name="Google Shape;117;p9"/>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endParaRPr sz="1800">
              <a:solidFill>
                <a:schemeClr val="dk1"/>
              </a:solidFill>
              <a:latin typeface="Calibri"/>
              <a:ea typeface="Calibri"/>
              <a:cs typeface="Calibri"/>
              <a:sym typeface="Calibri"/>
            </a:endParaRPr>
          </a:p>
        </p:txBody>
      </p:sp>
      <p:pic>
        <p:nvPicPr>
          <p:cNvPr id="118" name="Google Shape;118;p9"/>
          <p:cNvPicPr preferRelativeResize="0"/>
          <p:nvPr/>
        </p:nvPicPr>
        <p:blipFill rotWithShape="1">
          <a:blip r:embed="rId3">
            <a:alphaModFix/>
          </a:blip>
          <a:srcRect b="0" l="0" r="0" t="0"/>
          <a:stretch/>
        </p:blipFill>
        <p:spPr>
          <a:xfrm>
            <a:off x="6610350" y="1227776"/>
            <a:ext cx="5048250" cy="3655629"/>
          </a:xfrm>
          <a:prstGeom prst="rect">
            <a:avLst/>
          </a:prstGeom>
          <a:noFill/>
          <a:ln>
            <a:noFill/>
          </a:ln>
        </p:spPr>
      </p:pic>
      <p:sp>
        <p:nvSpPr>
          <p:cNvPr id="119" name="Google Shape;119;p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4(B). Relative postures of the courting male and receptive female.</a:t>
            </a:r>
            <a:endParaRPr sz="1800">
              <a:solidFill>
                <a:schemeClr val="dk1"/>
              </a:solidFill>
              <a:latin typeface="Calibri"/>
              <a:ea typeface="Calibri"/>
              <a:cs typeface="Calibri"/>
              <a:sym typeface="Calibri"/>
            </a:endParaRPr>
          </a:p>
        </p:txBody>
      </p:sp>
      <p:sp>
        <p:nvSpPr>
          <p:cNvPr id="120" name="Google Shape;120;p9"/>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21" name="Google Shape;121;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swollen abdomen is effective in courtship tests</a:t>
            </a:r>
            <a:endParaRPr sz="1800">
              <a:solidFill>
                <a:schemeClr val="dk1"/>
              </a:solidFill>
              <a:latin typeface="Calibri"/>
              <a:ea typeface="Calibri"/>
              <a:cs typeface="Calibri"/>
              <a:sym typeface="Calibri"/>
            </a:endParaRPr>
          </a:p>
        </p:txBody>
      </p:sp>
      <p:sp>
        <p:nvSpPr>
          <p:cNvPr id="127" name="Google Shape;127;p1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gravid</a:t>
            </a:r>
            <a:r>
              <a:rPr b="0" i="0" lang="en-US" sz="1500">
                <a:solidFill>
                  <a:srgbClr val="222831"/>
                </a:solidFill>
                <a:latin typeface="Arial"/>
                <a:ea typeface="Arial"/>
                <a:cs typeface="Arial"/>
                <a:sym typeface="Arial"/>
              </a:rPr>
              <a:t>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endParaRPr sz="1800">
              <a:solidFill>
                <a:schemeClr val="dk1"/>
              </a:solidFill>
              <a:latin typeface="Calibri"/>
              <a:ea typeface="Calibri"/>
              <a:cs typeface="Calibri"/>
              <a:sym typeface="Calibri"/>
            </a:endParaRPr>
          </a:p>
        </p:txBody>
      </p:sp>
      <p:sp>
        <p:nvSpPr>
          <p:cNvPr id="128" name="Google Shape;128;p10"/>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endParaRPr sz="1800">
              <a:solidFill>
                <a:schemeClr val="dk1"/>
              </a:solidFill>
              <a:latin typeface="Calibri"/>
              <a:ea typeface="Calibri"/>
              <a:cs typeface="Calibri"/>
              <a:sym typeface="Calibri"/>
            </a:endParaRPr>
          </a:p>
        </p:txBody>
      </p:sp>
      <p:sp>
        <p:nvSpPr>
          <p:cNvPr id="129" name="Google Shape;129;p10"/>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endParaRPr sz="1800">
              <a:solidFill>
                <a:schemeClr val="dk1"/>
              </a:solidFill>
              <a:latin typeface="Calibri"/>
              <a:ea typeface="Calibri"/>
              <a:cs typeface="Calibri"/>
              <a:sym typeface="Calibri"/>
            </a:endParaRPr>
          </a:p>
        </p:txBody>
      </p:sp>
      <p:pic>
        <p:nvPicPr>
          <p:cNvPr id="130" name="Google Shape;130;p10"/>
          <p:cNvPicPr preferRelativeResize="0"/>
          <p:nvPr/>
        </p:nvPicPr>
        <p:blipFill rotWithShape="1">
          <a:blip r:embed="rId3">
            <a:alphaModFix/>
          </a:blip>
          <a:srcRect b="0" l="0" r="0" t="0"/>
          <a:stretch/>
        </p:blipFill>
        <p:spPr>
          <a:xfrm>
            <a:off x="6610350" y="1791340"/>
            <a:ext cx="5048250" cy="2528500"/>
          </a:xfrm>
          <a:prstGeom prst="rect">
            <a:avLst/>
          </a:prstGeom>
          <a:noFill/>
          <a:ln>
            <a:noFill/>
          </a:ln>
        </p:spPr>
      </p:pic>
      <p:sp>
        <p:nvSpPr>
          <p:cNvPr id="131" name="Google Shape;131;p1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5(A–C). A non-stickleback fish model, a normal-abdomen fish, and a swollen-abdomen dummy.</a:t>
            </a:r>
            <a:endParaRPr sz="1800">
              <a:solidFill>
                <a:schemeClr val="dk1"/>
              </a:solidFill>
              <a:latin typeface="Calibri"/>
              <a:ea typeface="Calibri"/>
              <a:cs typeface="Calibri"/>
              <a:sym typeface="Calibri"/>
            </a:endParaRPr>
          </a:p>
        </p:txBody>
      </p:sp>
      <p:sp>
        <p:nvSpPr>
          <p:cNvPr id="132" name="Google Shape;132;p10"/>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33" name="Google Shape;133;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Isolation tests prior social experience</a:t>
            </a:r>
            <a:endParaRPr sz="1800">
              <a:solidFill>
                <a:schemeClr val="dk1"/>
              </a:solidFill>
              <a:latin typeface="Calibri"/>
              <a:ea typeface="Calibri"/>
              <a:cs typeface="Calibri"/>
              <a:sym typeface="Calibri"/>
            </a:endParaRPr>
          </a:p>
        </p:txBody>
      </p:sp>
      <p:sp>
        <p:nvSpPr>
          <p:cNvPr id="139" name="Google Shape;139;p1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endParaRPr sz="1800">
              <a:solidFill>
                <a:schemeClr val="dk1"/>
              </a:solidFill>
              <a:latin typeface="Calibri"/>
              <a:ea typeface="Calibri"/>
              <a:cs typeface="Calibri"/>
              <a:sym typeface="Calibri"/>
            </a:endParaRPr>
          </a:p>
        </p:txBody>
      </p:sp>
      <p:sp>
        <p:nvSpPr>
          <p:cNvPr id="140" name="Google Shape;140;p11"/>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endParaRPr sz="1800">
              <a:solidFill>
                <a:schemeClr val="dk1"/>
              </a:solidFill>
              <a:latin typeface="Calibri"/>
              <a:ea typeface="Calibri"/>
              <a:cs typeface="Calibri"/>
              <a:sym typeface="Calibri"/>
            </a:endParaRPr>
          </a:p>
        </p:txBody>
      </p:sp>
      <p:sp>
        <p:nvSpPr>
          <p:cNvPr id="141" name="Google Shape;141;p11"/>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An </a:t>
            </a:r>
            <a:r>
              <a:rPr b="1" i="0" lang="en-US" sz="1500">
                <a:solidFill>
                  <a:srgbClr val="222831"/>
                </a:solidFill>
                <a:latin typeface="Arial"/>
                <a:ea typeface="Arial"/>
                <a:cs typeface="Arial"/>
                <a:sym typeface="Arial"/>
              </a:rPr>
              <a:t>innate</a:t>
            </a:r>
            <a:r>
              <a:rPr b="0" i="0" lang="en-US" sz="1500">
                <a:solidFill>
                  <a:srgbClr val="222831"/>
                </a:solidFill>
                <a:latin typeface="Arial"/>
                <a:ea typeface="Arial"/>
                <a:cs typeface="Arial"/>
                <a:sym typeface="Arial"/>
              </a:rPr>
              <a:t>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endParaRPr sz="1800">
              <a:solidFill>
                <a:schemeClr val="dk1"/>
              </a:solidFill>
              <a:latin typeface="Calibri"/>
              <a:ea typeface="Calibri"/>
              <a:cs typeface="Calibri"/>
              <a:sym typeface="Calibri"/>
            </a:endParaRPr>
          </a:p>
        </p:txBody>
      </p:sp>
      <p:pic>
        <p:nvPicPr>
          <p:cNvPr id="142" name="Google Shape;142;p11"/>
          <p:cNvPicPr preferRelativeResize="0"/>
          <p:nvPr/>
        </p:nvPicPr>
        <p:blipFill rotWithShape="1">
          <a:blip r:embed="rId3">
            <a:alphaModFix/>
          </a:blip>
          <a:srcRect b="0" l="0" r="0" t="0"/>
          <a:stretch/>
        </p:blipFill>
        <p:spPr>
          <a:xfrm>
            <a:off x="6610350" y="1227776"/>
            <a:ext cx="5048250" cy="3655629"/>
          </a:xfrm>
          <a:prstGeom prst="rect">
            <a:avLst/>
          </a:prstGeom>
          <a:noFill/>
          <a:ln>
            <a:noFill/>
          </a:ln>
        </p:spPr>
      </p:pic>
      <p:sp>
        <p:nvSpPr>
          <p:cNvPr id="143" name="Google Shape;143;p1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4(B). Courtship postures associated with the stimulus tests on an isolated male.</a:t>
            </a:r>
            <a:endParaRPr sz="1800">
              <a:solidFill>
                <a:schemeClr val="dk1"/>
              </a:solidFill>
              <a:latin typeface="Calibri"/>
              <a:ea typeface="Calibri"/>
              <a:cs typeface="Calibri"/>
              <a:sym typeface="Calibri"/>
            </a:endParaRPr>
          </a:p>
        </p:txBody>
      </p:sp>
      <p:sp>
        <p:nvSpPr>
          <p:cNvPr id="144" name="Google Shape;144;p11"/>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45" name="Google Shape;145;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Egg retrieval contains a repeatable movement sequence</a:t>
            </a:r>
            <a:endParaRPr sz="1800">
              <a:solidFill>
                <a:schemeClr val="dk1"/>
              </a:solidFill>
              <a:latin typeface="Calibri"/>
              <a:ea typeface="Calibri"/>
              <a:cs typeface="Calibri"/>
              <a:sym typeface="Calibri"/>
            </a:endParaRPr>
          </a:p>
        </p:txBody>
      </p:sp>
      <p:sp>
        <p:nvSpPr>
          <p:cNvPr id="151" name="Google Shape;151;p1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fixed action pattern</a:t>
            </a:r>
            <a:r>
              <a:rPr b="0" i="0" lang="en-US" sz="1500">
                <a:solidFill>
                  <a:srgbClr val="222831"/>
                </a:solidFill>
                <a:latin typeface="Arial"/>
                <a:ea typeface="Arial"/>
                <a:cs typeface="Arial"/>
                <a:sym typeface="Arial"/>
              </a:rPr>
              <a:t> is a relatively stereotyped movement sequence released under appropriate stimulus and internal conditions. Lorenz and Tinbergen investigated egg retrieval in nesting graylag geese, </a:t>
            </a:r>
            <a:r>
              <a:rPr b="0" i="1" lang="en-US" sz="1500">
                <a:solidFill>
                  <a:srgbClr val="222831"/>
                </a:solidFill>
                <a:latin typeface="Arial"/>
                <a:ea typeface="Arial"/>
                <a:cs typeface="Arial"/>
                <a:sym typeface="Arial"/>
              </a:rPr>
              <a:t>Anser anser</a:t>
            </a:r>
            <a:r>
              <a:rPr b="0" i="0" lang="en-US" sz="1500">
                <a:solidFill>
                  <a:srgbClr val="222831"/>
                </a:solidFill>
                <a:latin typeface="Arial"/>
                <a:ea typeface="Arial"/>
                <a:cs typeface="Arial"/>
                <a:sym typeface="Arial"/>
              </a:rPr>
              <a:t>, including birds with domestic-goose ancestry and checks on wild-type birds.</a:t>
            </a:r>
            <a:endParaRPr sz="1800">
              <a:solidFill>
                <a:schemeClr val="dk1"/>
              </a:solidFill>
              <a:latin typeface="Calibri"/>
              <a:ea typeface="Calibri"/>
              <a:cs typeface="Calibri"/>
              <a:sym typeface="Calibri"/>
            </a:endParaRPr>
          </a:p>
        </p:txBody>
      </p:sp>
      <p:sp>
        <p:nvSpPr>
          <p:cNvPr id="152" name="Google Shape;152;p12"/>
          <p:cNvSpPr/>
          <p:nvPr/>
        </p:nvSpPr>
        <p:spPr>
          <a:xfrm>
            <a:off x="457200" y="25031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goose extended its neck toward an egg outside the nest, contacted it with the bill, reached over its far side, and drew the head and neck inward. The egg was pushed toward the nest while side-to-side corrections prevented it from slipping away.</a:t>
            </a:r>
            <a:endParaRPr sz="1800">
              <a:solidFill>
                <a:schemeClr val="dk1"/>
              </a:solidFill>
              <a:latin typeface="Calibri"/>
              <a:ea typeface="Calibri"/>
              <a:cs typeface="Calibri"/>
              <a:sym typeface="Calibri"/>
            </a:endParaRPr>
          </a:p>
        </p:txBody>
      </p:sp>
      <p:sp>
        <p:nvSpPr>
          <p:cNvPr id="153" name="Google Shape;153;p12"/>
          <p:cNvSpPr/>
          <p:nvPr/>
        </p:nvSpPr>
        <p:spPr>
          <a:xfrm>
            <a:off x="457200" y="36842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endParaRPr sz="1800">
              <a:solidFill>
                <a:schemeClr val="dk1"/>
              </a:solidFill>
              <a:latin typeface="Calibri"/>
              <a:ea typeface="Calibri"/>
              <a:cs typeface="Calibri"/>
              <a:sym typeface="Calibri"/>
            </a:endParaRPr>
          </a:p>
        </p:txBody>
      </p:sp>
      <p:pic>
        <p:nvPicPr>
          <p:cNvPr id="154" name="Google Shape;154;p12"/>
          <p:cNvPicPr preferRelativeResize="0"/>
          <p:nvPr/>
        </p:nvPicPr>
        <p:blipFill rotWithShape="1">
          <a:blip r:embed="rId3">
            <a:alphaModFix/>
          </a:blip>
          <a:srcRect b="0" l="0" r="0" t="0"/>
          <a:stretch/>
        </p:blipFill>
        <p:spPr>
          <a:xfrm>
            <a:off x="7215461" y="1055340"/>
            <a:ext cx="3838028" cy="4000500"/>
          </a:xfrm>
          <a:prstGeom prst="rect">
            <a:avLst/>
          </a:prstGeom>
          <a:noFill/>
          <a:ln>
            <a:noFill/>
          </a:ln>
        </p:spPr>
      </p:pic>
      <p:sp>
        <p:nvSpPr>
          <p:cNvPr id="155" name="Google Shape;155;p1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1(a–f). Photographic sequence of orientation, contact, inward rolling, and lateral corrections.</a:t>
            </a:r>
            <a:endParaRPr sz="1800">
              <a:solidFill>
                <a:schemeClr val="dk1"/>
              </a:solidFill>
              <a:latin typeface="Calibri"/>
              <a:ea typeface="Calibri"/>
              <a:cs typeface="Calibri"/>
              <a:sym typeface="Calibri"/>
            </a:endParaRPr>
          </a:p>
        </p:txBody>
      </p:sp>
      <p:sp>
        <p:nvSpPr>
          <p:cNvPr id="156" name="Google Shape;156;p12"/>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57" name="Google Shape;157;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outside egg does not trigger instant retrieval</a:t>
            </a:r>
            <a:endParaRPr sz="1800">
              <a:solidFill>
                <a:schemeClr val="dk1"/>
              </a:solidFill>
              <a:latin typeface="Calibri"/>
              <a:ea typeface="Calibri"/>
              <a:cs typeface="Calibri"/>
              <a:sym typeface="Calibri"/>
            </a:endParaRPr>
          </a:p>
        </p:txBody>
      </p:sp>
      <p:sp>
        <p:nvSpPr>
          <p:cNvPr id="163" name="Google Shape;163;p13"/>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endParaRPr sz="1800">
              <a:solidFill>
                <a:schemeClr val="dk1"/>
              </a:solidFill>
              <a:latin typeface="Calibri"/>
              <a:ea typeface="Calibri"/>
              <a:cs typeface="Calibri"/>
              <a:sym typeface="Calibri"/>
            </a:endParaRPr>
          </a:p>
        </p:txBody>
      </p:sp>
      <p:sp>
        <p:nvSpPr>
          <p:cNvPr id="164" name="Google Shape;164;p13"/>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Appetitive behavior</a:t>
            </a:r>
            <a:r>
              <a:rPr b="0" i="0" lang="en-US" sz="1500">
                <a:solidFill>
                  <a:srgbClr val="222831"/>
                </a:solidFill>
                <a:latin typeface="Arial"/>
                <a:ea typeface="Arial"/>
                <a:cs typeface="Arial"/>
                <a:sym typeface="Arial"/>
              </a:rPr>
              <a:t> is activity that brings an animal into a situation in which a more specific action can occur. The goose approached cautiously and initially tried to reach the egg while remaining close to the nest. Contact with the egg followed this visually directed approach.</a:t>
            </a:r>
            <a:endParaRPr sz="1800">
              <a:solidFill>
                <a:schemeClr val="dk1"/>
              </a:solidFill>
              <a:latin typeface="Calibri"/>
              <a:ea typeface="Calibri"/>
              <a:cs typeface="Calibri"/>
              <a:sym typeface="Calibri"/>
            </a:endParaRPr>
          </a:p>
        </p:txBody>
      </p:sp>
      <p:sp>
        <p:nvSpPr>
          <p:cNvPr id="165" name="Google Shape;165;p13"/>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endParaRPr sz="1800">
              <a:solidFill>
                <a:schemeClr val="dk1"/>
              </a:solidFill>
              <a:latin typeface="Calibri"/>
              <a:ea typeface="Calibri"/>
              <a:cs typeface="Calibri"/>
              <a:sym typeface="Calibri"/>
            </a:endParaRPr>
          </a:p>
        </p:txBody>
      </p:sp>
      <p:pic>
        <p:nvPicPr>
          <p:cNvPr id="166" name="Google Shape;166;p13"/>
          <p:cNvPicPr preferRelativeResize="0"/>
          <p:nvPr/>
        </p:nvPicPr>
        <p:blipFill rotWithShape="1">
          <a:blip r:embed="rId3">
            <a:alphaModFix/>
          </a:blip>
          <a:srcRect b="0" l="0" r="0" t="0"/>
          <a:stretch/>
        </p:blipFill>
        <p:spPr>
          <a:xfrm>
            <a:off x="6610350" y="2186662"/>
            <a:ext cx="5048250" cy="1737856"/>
          </a:xfrm>
          <a:prstGeom prst="rect">
            <a:avLst/>
          </a:prstGeom>
          <a:noFill/>
          <a:ln>
            <a:noFill/>
          </a:ln>
        </p:spPr>
      </p:pic>
      <p:sp>
        <p:nvSpPr>
          <p:cNvPr id="167" name="Google Shape;167;p1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1(a–b). Neck extension followed by initial contact with the egg.</a:t>
            </a:r>
            <a:endParaRPr sz="1800">
              <a:solidFill>
                <a:schemeClr val="dk1"/>
              </a:solidFill>
              <a:latin typeface="Calibri"/>
              <a:ea typeface="Calibri"/>
              <a:cs typeface="Calibri"/>
              <a:sym typeface="Calibri"/>
            </a:endParaRPr>
          </a:p>
        </p:txBody>
      </p:sp>
      <p:sp>
        <p:nvSpPr>
          <p:cNvPr id="168" name="Google Shape;168;p13"/>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69" name="Google Shape;169;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Visual approach and tactile acceptance are separable</a:t>
            </a:r>
            <a:endParaRPr sz="1800">
              <a:solidFill>
                <a:schemeClr val="dk1"/>
              </a:solidFill>
              <a:latin typeface="Calibri"/>
              <a:ea typeface="Calibri"/>
              <a:cs typeface="Calibri"/>
              <a:sym typeface="Calibri"/>
            </a:endParaRPr>
          </a:p>
        </p:txBody>
      </p:sp>
      <p:sp>
        <p:nvSpPr>
          <p:cNvPr id="175" name="Google Shape;175;p1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endParaRPr sz="1800">
              <a:solidFill>
                <a:schemeClr val="dk1"/>
              </a:solidFill>
              <a:latin typeface="Calibri"/>
              <a:ea typeface="Calibri"/>
              <a:cs typeface="Calibri"/>
              <a:sym typeface="Calibri"/>
            </a:endParaRPr>
          </a:p>
        </p:txBody>
      </p:sp>
      <p:sp>
        <p:nvSpPr>
          <p:cNvPr id="176" name="Google Shape;176;p1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endParaRPr sz="1800">
              <a:solidFill>
                <a:schemeClr val="dk1"/>
              </a:solidFill>
              <a:latin typeface="Calibri"/>
              <a:ea typeface="Calibri"/>
              <a:cs typeface="Calibri"/>
              <a:sym typeface="Calibri"/>
            </a:endParaRPr>
          </a:p>
        </p:txBody>
      </p:sp>
      <p:sp>
        <p:nvSpPr>
          <p:cNvPr id="177" name="Google Shape;177;p14"/>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Tactile information</a:t>
            </a:r>
            <a:r>
              <a:rPr b="0" i="0" lang="en-US" sz="1500">
                <a:solidFill>
                  <a:srgbClr val="222831"/>
                </a:solidFill>
                <a:latin typeface="Arial"/>
                <a:ea typeface="Arial"/>
                <a:cs typeface="Arial"/>
                <a:sym typeface="Arial"/>
              </a:rPr>
              <a:t> is sensory information obtained through contact. The observations support successive visual and tactile contributions to response selection. They do not identify the receptor cells that detect hardness or the neurons that choose between rolling, rejection, and feeding.</a:t>
            </a:r>
            <a:endParaRPr sz="1800">
              <a:solidFill>
                <a:schemeClr val="dk1"/>
              </a:solidFill>
              <a:latin typeface="Calibri"/>
              <a:ea typeface="Calibri"/>
              <a:cs typeface="Calibri"/>
              <a:sym typeface="Calibri"/>
            </a:endParaRPr>
          </a:p>
        </p:txBody>
      </p:sp>
      <p:pic>
        <p:nvPicPr>
          <p:cNvPr id="178" name="Google Shape;178;p14"/>
          <p:cNvPicPr preferRelativeResize="0"/>
          <p:nvPr/>
        </p:nvPicPr>
        <p:blipFill rotWithShape="1">
          <a:blip r:embed="rId3">
            <a:alphaModFix/>
          </a:blip>
          <a:srcRect b="0" l="0" r="0" t="0"/>
          <a:stretch/>
        </p:blipFill>
        <p:spPr>
          <a:xfrm>
            <a:off x="6610350" y="2186662"/>
            <a:ext cx="5048250" cy="1737856"/>
          </a:xfrm>
          <a:prstGeom prst="rect">
            <a:avLst/>
          </a:prstGeom>
          <a:noFill/>
          <a:ln>
            <a:noFill/>
          </a:ln>
        </p:spPr>
      </p:pic>
      <p:sp>
        <p:nvSpPr>
          <p:cNvPr id="179" name="Google Shape;179;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1(a–b). Visual orientation followed by a bill-contact test.</a:t>
            </a:r>
            <a:endParaRPr sz="1800">
              <a:solidFill>
                <a:schemeClr val="dk1"/>
              </a:solidFill>
              <a:latin typeface="Calibri"/>
              <a:ea typeface="Calibri"/>
              <a:cs typeface="Calibri"/>
              <a:sym typeface="Calibri"/>
            </a:endParaRPr>
          </a:p>
        </p:txBody>
      </p:sp>
      <p:sp>
        <p:nvSpPr>
          <p:cNvPr id="180" name="Google Shape;180;p14"/>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81" name="Google Shape;181;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Protruding edges redirect rolling into nibbling</a:t>
            </a:r>
            <a:endParaRPr sz="1800">
              <a:solidFill>
                <a:schemeClr val="dk1"/>
              </a:solidFill>
              <a:latin typeface="Calibri"/>
              <a:ea typeface="Calibri"/>
              <a:cs typeface="Calibri"/>
              <a:sym typeface="Calibri"/>
            </a:endParaRPr>
          </a:p>
        </p:txBody>
      </p:sp>
      <p:sp>
        <p:nvSpPr>
          <p:cNvPr id="187" name="Google Shape;187;p1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could begin to roll an object and then change its behavior when an exposed rim or protruding attachment became available. Lorenz and Tinbergen presented an open wooden cube, a wooden toy with attached features, and a cardboard egg with paper fringes around its seam.</a:t>
            </a:r>
            <a:endParaRPr sz="1800">
              <a:solidFill>
                <a:schemeClr val="dk1"/>
              </a:solidFill>
              <a:latin typeface="Calibri"/>
              <a:ea typeface="Calibri"/>
              <a:cs typeface="Calibri"/>
              <a:sym typeface="Calibri"/>
            </a:endParaRPr>
          </a:p>
        </p:txBody>
      </p:sp>
      <p:sp>
        <p:nvSpPr>
          <p:cNvPr id="188" name="Google Shape;188;p1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cube was rolled until its opening faced upward, after which the bird nibbled the exposed rim. Small attachments on the toy and fringes on the cardboard egg also elicited nibbling. Ordinary right-angled edges of a closed cube did not necessarily interrupt retrieval.</a:t>
            </a:r>
            <a:endParaRPr sz="1800">
              <a:solidFill>
                <a:schemeClr val="dk1"/>
              </a:solidFill>
              <a:latin typeface="Calibri"/>
              <a:ea typeface="Calibri"/>
              <a:cs typeface="Calibri"/>
              <a:sym typeface="Calibri"/>
            </a:endParaRPr>
          </a:p>
        </p:txBody>
      </p:sp>
      <p:sp>
        <p:nvSpPr>
          <p:cNvPr id="189" name="Google Shape;189;p1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response switch</a:t>
            </a:r>
            <a:r>
              <a:rPr b="0" i="0" lang="en-US" sz="1500">
                <a:solidFill>
                  <a:srgbClr val="222831"/>
                </a:solidFill>
                <a:latin typeface="Arial"/>
                <a:ea typeface="Arial"/>
                <a:cs typeface="Arial"/>
                <a:sym typeface="Arial"/>
              </a:rPr>
              <a:t>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endParaRPr sz="1800">
              <a:solidFill>
                <a:schemeClr val="dk1"/>
              </a:solidFill>
              <a:latin typeface="Calibri"/>
              <a:ea typeface="Calibri"/>
              <a:cs typeface="Calibri"/>
              <a:sym typeface="Calibri"/>
            </a:endParaRPr>
          </a:p>
        </p:txBody>
      </p:sp>
      <p:pic>
        <p:nvPicPr>
          <p:cNvPr id="190" name="Google Shape;190;p15"/>
          <p:cNvPicPr preferRelativeResize="0"/>
          <p:nvPr/>
        </p:nvPicPr>
        <p:blipFill rotWithShape="1">
          <a:blip r:embed="rId3">
            <a:alphaModFix/>
          </a:blip>
          <a:srcRect b="0" l="0" r="0" t="0"/>
          <a:stretch/>
        </p:blipFill>
        <p:spPr>
          <a:xfrm>
            <a:off x="6610350" y="1327912"/>
            <a:ext cx="5048250" cy="3455356"/>
          </a:xfrm>
          <a:prstGeom prst="rect">
            <a:avLst/>
          </a:prstGeom>
          <a:noFill/>
          <a:ln>
            <a:noFill/>
          </a:ln>
        </p:spPr>
      </p:pic>
      <p:sp>
        <p:nvSpPr>
          <p:cNvPr id="191" name="Google Shape;191;p1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3. A goose nibbling the exposed edges of an artificial egg.</a:t>
            </a:r>
            <a:endParaRPr sz="1800">
              <a:solidFill>
                <a:schemeClr val="dk1"/>
              </a:solidFill>
              <a:latin typeface="Calibri"/>
              <a:ea typeface="Calibri"/>
              <a:cs typeface="Calibri"/>
              <a:sym typeface="Calibri"/>
            </a:endParaRPr>
          </a:p>
        </p:txBody>
      </p:sp>
      <p:sp>
        <p:nvSpPr>
          <p:cNvPr id="192" name="Google Shape;192;p15"/>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93" name="Google Shape;193;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Egg-like shape is not required for every retrieval phase</a:t>
            </a:r>
            <a:endParaRPr sz="1800">
              <a:solidFill>
                <a:schemeClr val="dk1"/>
              </a:solidFill>
              <a:latin typeface="Calibri"/>
              <a:ea typeface="Calibri"/>
              <a:cs typeface="Calibri"/>
              <a:sym typeface="Calibri"/>
            </a:endParaRPr>
          </a:p>
        </p:txBody>
      </p:sp>
      <p:sp>
        <p:nvSpPr>
          <p:cNvPr id="199" name="Google Shape;199;p1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endParaRPr sz="1800">
              <a:solidFill>
                <a:schemeClr val="dk1"/>
              </a:solidFill>
              <a:latin typeface="Calibri"/>
              <a:ea typeface="Calibri"/>
              <a:cs typeface="Calibri"/>
              <a:sym typeface="Calibri"/>
            </a:endParaRPr>
          </a:p>
        </p:txBody>
      </p:sp>
      <p:sp>
        <p:nvSpPr>
          <p:cNvPr id="200" name="Google Shape;200;p16"/>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endParaRPr sz="1800">
              <a:solidFill>
                <a:schemeClr val="dk1"/>
              </a:solidFill>
              <a:latin typeface="Calibri"/>
              <a:ea typeface="Calibri"/>
              <a:cs typeface="Calibri"/>
              <a:sym typeface="Calibri"/>
            </a:endParaRPr>
          </a:p>
        </p:txBody>
      </p:sp>
      <p:sp>
        <p:nvSpPr>
          <p:cNvPr id="201" name="Google Shape;201;p16"/>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endParaRPr sz="1800">
              <a:solidFill>
                <a:schemeClr val="dk1"/>
              </a:solidFill>
              <a:latin typeface="Calibri"/>
              <a:ea typeface="Calibri"/>
              <a:cs typeface="Calibri"/>
              <a:sym typeface="Calibri"/>
            </a:endParaRPr>
          </a:p>
        </p:txBody>
      </p:sp>
      <p:pic>
        <p:nvPicPr>
          <p:cNvPr id="202" name="Google Shape;202;p16"/>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03" name="Google Shape;203;p1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Retrieval of a light wooden cube rather than a natural egg.</a:t>
            </a:r>
            <a:endParaRPr sz="1800">
              <a:solidFill>
                <a:schemeClr val="dk1"/>
              </a:solidFill>
              <a:latin typeface="Calibri"/>
              <a:ea typeface="Calibri"/>
              <a:cs typeface="Calibri"/>
              <a:sym typeface="Calibri"/>
            </a:endParaRPr>
          </a:p>
        </p:txBody>
      </p:sp>
      <p:sp>
        <p:nvSpPr>
          <p:cNvPr id="204" name="Google Shape;204;p16"/>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05" name="Google Shape;205;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Inward rolling and lateral guidance differ in control</a:t>
            </a:r>
            <a:endParaRPr sz="1800">
              <a:solidFill>
                <a:schemeClr val="dk1"/>
              </a:solidFill>
              <a:latin typeface="Calibri"/>
              <a:ea typeface="Calibri"/>
              <a:cs typeface="Calibri"/>
              <a:sym typeface="Calibri"/>
            </a:endParaRPr>
          </a:p>
        </p:txBody>
      </p:sp>
      <p:sp>
        <p:nvSpPr>
          <p:cNvPr id="211" name="Google Shape;211;p1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t>
            </a:r>
            <a:r>
              <a:rPr b="1" i="0" lang="en-US" sz="1500">
                <a:solidFill>
                  <a:srgbClr val="222831"/>
                </a:solidFill>
                <a:latin typeface="Arial"/>
                <a:ea typeface="Arial"/>
                <a:cs typeface="Arial"/>
                <a:sym typeface="Arial"/>
              </a:rPr>
              <a:t>sagittal plane</a:t>
            </a:r>
            <a:r>
              <a:rPr b="0" i="0" lang="en-US" sz="1500">
                <a:solidFill>
                  <a:srgbClr val="222831"/>
                </a:solidFill>
                <a:latin typeface="Arial"/>
                <a:ea typeface="Arial"/>
                <a:cs typeface="Arial"/>
                <a:sym typeface="Arial"/>
              </a:rPr>
              <a:t> divides the body into left and right portions. During retrieval, the goose’s inward head-and-neck movement occurred approximately in this midline plane. Lateral movements shifted the bill from side to side as the egg threatened to leave its supporting surface.</a:t>
            </a:r>
            <a:endParaRPr sz="1800">
              <a:solidFill>
                <a:schemeClr val="dk1"/>
              </a:solidFill>
              <a:latin typeface="Calibri"/>
              <a:ea typeface="Calibri"/>
              <a:cs typeface="Calibri"/>
              <a:sym typeface="Calibri"/>
            </a:endParaRPr>
          </a:p>
        </p:txBody>
      </p:sp>
      <p:sp>
        <p:nvSpPr>
          <p:cNvPr id="212" name="Google Shape;212;p17"/>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endParaRPr sz="1800">
              <a:solidFill>
                <a:schemeClr val="dk1"/>
              </a:solidFill>
              <a:latin typeface="Calibri"/>
              <a:ea typeface="Calibri"/>
              <a:cs typeface="Calibri"/>
              <a:sym typeface="Calibri"/>
            </a:endParaRPr>
          </a:p>
        </p:txBody>
      </p:sp>
      <p:sp>
        <p:nvSpPr>
          <p:cNvPr id="213" name="Google Shape;213;p17"/>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taxis</a:t>
            </a:r>
            <a:r>
              <a:rPr b="0" i="0" lang="en-US" sz="1500">
                <a:solidFill>
                  <a:srgbClr val="222831"/>
                </a:solidFill>
                <a:latin typeface="Arial"/>
                <a:ea typeface="Arial"/>
                <a:cs typeface="Arial"/>
                <a:sym typeface="Arial"/>
              </a:rPr>
              <a:t>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endParaRPr sz="1800">
              <a:solidFill>
                <a:schemeClr val="dk1"/>
              </a:solidFill>
              <a:latin typeface="Calibri"/>
              <a:ea typeface="Calibri"/>
              <a:cs typeface="Calibri"/>
              <a:sym typeface="Calibri"/>
            </a:endParaRPr>
          </a:p>
        </p:txBody>
      </p:sp>
      <p:pic>
        <p:nvPicPr>
          <p:cNvPr id="214" name="Google Shape;214;p17"/>
          <p:cNvPicPr preferRelativeResize="0"/>
          <p:nvPr/>
        </p:nvPicPr>
        <p:blipFill rotWithShape="1">
          <a:blip r:embed="rId3">
            <a:alphaModFix/>
          </a:blip>
          <a:srcRect b="0" l="0" r="0" t="0"/>
          <a:stretch/>
        </p:blipFill>
        <p:spPr>
          <a:xfrm>
            <a:off x="6610350" y="2174566"/>
            <a:ext cx="5048250" cy="1762049"/>
          </a:xfrm>
          <a:prstGeom prst="rect">
            <a:avLst/>
          </a:prstGeom>
          <a:noFill/>
          <a:ln>
            <a:noFill/>
          </a:ln>
        </p:spPr>
      </p:pic>
      <p:sp>
        <p:nvSpPr>
          <p:cNvPr id="215" name="Google Shape;215;p1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1(e–f). Lateral bill corrections that maintain the egg beneath the bill.</a:t>
            </a:r>
            <a:endParaRPr sz="1800">
              <a:solidFill>
                <a:schemeClr val="dk1"/>
              </a:solidFill>
              <a:latin typeface="Calibri"/>
              <a:ea typeface="Calibri"/>
              <a:cs typeface="Calibri"/>
              <a:sym typeface="Calibri"/>
            </a:endParaRPr>
          </a:p>
        </p:txBody>
      </p:sp>
      <p:sp>
        <p:nvSpPr>
          <p:cNvPr id="216" name="Google Shape;216;p17"/>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17" name="Google Shape;217;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Loss of the egg can spare the inward movement</a:t>
            </a:r>
            <a:endParaRPr sz="1800">
              <a:solidFill>
                <a:schemeClr val="dk1"/>
              </a:solidFill>
              <a:latin typeface="Calibri"/>
              <a:ea typeface="Calibri"/>
              <a:cs typeface="Calibri"/>
              <a:sym typeface="Calibri"/>
            </a:endParaRPr>
          </a:p>
        </p:txBody>
      </p:sp>
      <p:sp>
        <p:nvSpPr>
          <p:cNvPr id="223" name="Google Shape;223;p1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When an egg slipped from the bill, the inward head-and-neck movement could continue even though the object was no longer being transported. Lorenz and Tinbergen also recorded empty continuation after an oversized artificial egg escaped suddenly from between bill and breast.</a:t>
            </a:r>
            <a:endParaRPr sz="1800">
              <a:solidFill>
                <a:schemeClr val="dk1"/>
              </a:solidFill>
              <a:latin typeface="Calibri"/>
              <a:ea typeface="Calibri"/>
              <a:cs typeface="Calibri"/>
              <a:sym typeface="Calibri"/>
            </a:endParaRPr>
          </a:p>
        </p:txBody>
      </p:sp>
      <p:sp>
        <p:nvSpPr>
          <p:cNvPr id="224" name="Google Shape;224;p18"/>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lateral balancing movements disappeared when there was no object to stabilize. The head instead continued along approximately the body’s midline. Thus, removing the transported object changed one component of the response while sparing another for the remaining movement.</a:t>
            </a:r>
            <a:endParaRPr sz="1800">
              <a:solidFill>
                <a:schemeClr val="dk1"/>
              </a:solidFill>
              <a:latin typeface="Calibri"/>
              <a:ea typeface="Calibri"/>
              <a:cs typeface="Calibri"/>
              <a:sym typeface="Calibri"/>
            </a:endParaRPr>
          </a:p>
        </p:txBody>
      </p:sp>
      <p:sp>
        <p:nvSpPr>
          <p:cNvPr id="225" name="Google Shape;225;p18"/>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Open-loop execution</a:t>
            </a:r>
            <a:r>
              <a:rPr b="0" i="0" lang="en-US" sz="1500">
                <a:solidFill>
                  <a:srgbClr val="222831"/>
                </a:solidFill>
                <a:latin typeface="Arial"/>
                <a:ea typeface="Arial"/>
                <a:cs typeface="Arial"/>
                <a:sym typeface="Arial"/>
              </a:rPr>
              <a:t>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endParaRPr sz="1800">
              <a:solidFill>
                <a:schemeClr val="dk1"/>
              </a:solidFill>
              <a:latin typeface="Calibri"/>
              <a:ea typeface="Calibri"/>
              <a:cs typeface="Calibri"/>
              <a:sym typeface="Calibri"/>
            </a:endParaRPr>
          </a:p>
        </p:txBody>
      </p:sp>
      <p:pic>
        <p:nvPicPr>
          <p:cNvPr id="226" name="Google Shape;226;p18"/>
          <p:cNvPicPr preferRelativeResize="0"/>
          <p:nvPr/>
        </p:nvPicPr>
        <p:blipFill rotWithShape="1">
          <a:blip r:embed="rId3">
            <a:alphaModFix/>
          </a:blip>
          <a:srcRect b="0" l="0" r="0" t="0"/>
          <a:stretch/>
        </p:blipFill>
        <p:spPr>
          <a:xfrm>
            <a:off x="6610350" y="2192762"/>
            <a:ext cx="5048250" cy="1725657"/>
          </a:xfrm>
          <a:prstGeom prst="rect">
            <a:avLst/>
          </a:prstGeom>
          <a:noFill/>
          <a:ln>
            <a:noFill/>
          </a:ln>
        </p:spPr>
      </p:pic>
      <p:sp>
        <p:nvSpPr>
          <p:cNvPr id="227" name="Google Shape;227;p1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4(c–d). Escape of an oversized object followed by continued empty movement.</a:t>
            </a:r>
            <a:endParaRPr sz="1800">
              <a:solidFill>
                <a:schemeClr val="dk1"/>
              </a:solidFill>
              <a:latin typeface="Calibri"/>
              <a:ea typeface="Calibri"/>
              <a:cs typeface="Calibri"/>
              <a:sym typeface="Calibri"/>
            </a:endParaRPr>
          </a:p>
        </p:txBody>
      </p:sp>
      <p:sp>
        <p:nvSpPr>
          <p:cNvPr id="228" name="Google Shape;228;p18"/>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29" name="Google Shape;229;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Cylinder trials reveal a sensory-mechanical confound</a:t>
            </a:r>
            <a:endParaRPr sz="1800">
              <a:solidFill>
                <a:schemeClr val="dk1"/>
              </a:solidFill>
              <a:latin typeface="Calibri"/>
              <a:ea typeface="Calibri"/>
              <a:cs typeface="Calibri"/>
              <a:sym typeface="Calibri"/>
            </a:endParaRPr>
          </a:p>
        </p:txBody>
      </p:sp>
      <p:sp>
        <p:nvSpPr>
          <p:cNvPr id="235" name="Google Shape;235;p1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confound</a:t>
            </a:r>
            <a:r>
              <a:rPr b="0" i="0" lang="en-US" sz="1500">
                <a:solidFill>
                  <a:srgbClr val="222831"/>
                </a:solidFill>
                <a:latin typeface="Arial"/>
                <a:ea typeface="Arial"/>
                <a:cs typeface="Arial"/>
                <a:sym typeface="Arial"/>
              </a:rPr>
              <a:t>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endParaRPr sz="1800">
              <a:solidFill>
                <a:schemeClr val="dk1"/>
              </a:solidFill>
              <a:latin typeface="Calibri"/>
              <a:ea typeface="Calibri"/>
              <a:cs typeface="Calibri"/>
              <a:sym typeface="Calibri"/>
            </a:endParaRPr>
          </a:p>
        </p:txBody>
      </p:sp>
      <p:sp>
        <p:nvSpPr>
          <p:cNvPr id="236" name="Google Shape;236;p19"/>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endParaRPr sz="1800">
              <a:solidFill>
                <a:schemeClr val="dk1"/>
              </a:solidFill>
              <a:latin typeface="Calibri"/>
              <a:ea typeface="Calibri"/>
              <a:cs typeface="Calibri"/>
              <a:sym typeface="Calibri"/>
            </a:endParaRPr>
          </a:p>
        </p:txBody>
      </p:sp>
      <p:sp>
        <p:nvSpPr>
          <p:cNvPr id="237" name="Google Shape;237;p19"/>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endParaRPr sz="1800">
              <a:solidFill>
                <a:schemeClr val="dk1"/>
              </a:solidFill>
              <a:latin typeface="Calibri"/>
              <a:ea typeface="Calibri"/>
              <a:cs typeface="Calibri"/>
              <a:sym typeface="Calibri"/>
            </a:endParaRPr>
          </a:p>
        </p:txBody>
      </p:sp>
      <p:pic>
        <p:nvPicPr>
          <p:cNvPr id="238" name="Google Shape;238;p19"/>
          <p:cNvPicPr preferRelativeResize="0"/>
          <p:nvPr/>
        </p:nvPicPr>
        <p:blipFill rotWithShape="1">
          <a:blip r:embed="rId3">
            <a:alphaModFix/>
          </a:blip>
          <a:srcRect b="0" l="0" r="0" t="0"/>
          <a:stretch/>
        </p:blipFill>
        <p:spPr>
          <a:xfrm>
            <a:off x="6610350" y="2174566"/>
            <a:ext cx="5048250" cy="1762049"/>
          </a:xfrm>
          <a:prstGeom prst="rect">
            <a:avLst/>
          </a:prstGeom>
          <a:noFill/>
          <a:ln>
            <a:noFill/>
          </a:ln>
        </p:spPr>
      </p:pic>
      <p:sp>
        <p:nvSpPr>
          <p:cNvPr id="239" name="Google Shape;239;p1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1(e–f). The natural lateral corrections whose dependence was tested with substitute objects.</a:t>
            </a:r>
            <a:endParaRPr sz="1800">
              <a:solidFill>
                <a:schemeClr val="dk1"/>
              </a:solidFill>
              <a:latin typeface="Calibri"/>
              <a:ea typeface="Calibri"/>
              <a:cs typeface="Calibri"/>
              <a:sym typeface="Calibri"/>
            </a:endParaRPr>
          </a:p>
        </p:txBody>
      </p:sp>
      <p:sp>
        <p:nvSpPr>
          <p:cNvPr id="240" name="Google Shape;240;p19"/>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41" name="Google Shape;241;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sliding cube removes the need for lateral corrections</a:t>
            </a:r>
            <a:endParaRPr sz="1800">
              <a:solidFill>
                <a:schemeClr val="dk1"/>
              </a:solidFill>
              <a:latin typeface="Calibri"/>
              <a:ea typeface="Calibri"/>
              <a:cs typeface="Calibri"/>
              <a:sym typeface="Calibri"/>
            </a:endParaRPr>
          </a:p>
        </p:txBody>
      </p:sp>
      <p:sp>
        <p:nvSpPr>
          <p:cNvPr id="247" name="Google Shape;247;p20"/>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used a small light wooden cube as a more stable substitute for an egg. Unlike an egg, it remained on the substrate without preferential sideways rolling. It could also rest on a broad face against the two sides of the lower bill.</a:t>
            </a:r>
            <a:endParaRPr sz="1800">
              <a:solidFill>
                <a:schemeClr val="dk1"/>
              </a:solidFill>
              <a:latin typeface="Calibri"/>
              <a:ea typeface="Calibri"/>
              <a:cs typeface="Calibri"/>
              <a:sym typeface="Calibri"/>
            </a:endParaRPr>
          </a:p>
        </p:txBody>
      </p:sp>
      <p:sp>
        <p:nvSpPr>
          <p:cNvPr id="248" name="Google Shape;248;p20"/>
          <p:cNvSpPr/>
          <p:nvPr/>
        </p:nvSpPr>
        <p:spPr>
          <a:xfrm>
            <a:off x="457200" y="22364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pushed the cube directly toward the nest without the ordinary side-to-side balancing movements. The inward retrieval component remained available while the unstable object trajectory that normally elicited lateral correction was removed.</a:t>
            </a:r>
            <a:endParaRPr sz="1800">
              <a:solidFill>
                <a:schemeClr val="dk1"/>
              </a:solidFill>
              <a:latin typeface="Calibri"/>
              <a:ea typeface="Calibri"/>
              <a:cs typeface="Calibri"/>
              <a:sym typeface="Calibri"/>
            </a:endParaRPr>
          </a:p>
        </p:txBody>
      </p:sp>
      <p:sp>
        <p:nvSpPr>
          <p:cNvPr id="249" name="Google Shape;249;p20"/>
          <p:cNvSpPr/>
          <p:nvPr/>
        </p:nvSpPr>
        <p:spPr>
          <a:xfrm>
            <a:off x="457200" y="34175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This is a </a:t>
            </a:r>
            <a:r>
              <a:rPr b="1" i="0" lang="en-US" sz="1500">
                <a:solidFill>
                  <a:srgbClr val="222831"/>
                </a:solidFill>
                <a:latin typeface="Arial"/>
                <a:ea typeface="Arial"/>
                <a:cs typeface="Arial"/>
                <a:sym typeface="Arial"/>
              </a:rPr>
              <a:t>component-removal test</a:t>
            </a:r>
            <a:r>
              <a:rPr b="0" i="0" lang="en-US" sz="1500">
                <a:solidFill>
                  <a:srgbClr val="222831"/>
                </a:solidFill>
                <a:latin typeface="Arial"/>
                <a:ea typeface="Arial"/>
                <a:cs typeface="Arial"/>
                <a:sym typeface="Arial"/>
              </a:rPr>
              <a: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endParaRPr sz="1800">
              <a:solidFill>
                <a:schemeClr val="dk1"/>
              </a:solidFill>
              <a:latin typeface="Calibri"/>
              <a:ea typeface="Calibri"/>
              <a:cs typeface="Calibri"/>
              <a:sym typeface="Calibri"/>
            </a:endParaRPr>
          </a:p>
        </p:txBody>
      </p:sp>
      <p:pic>
        <p:nvPicPr>
          <p:cNvPr id="250" name="Google Shape;250;p20"/>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51" name="Google Shape;251;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A light cube pushed toward the nest without ordinary lateral balancing.</a:t>
            </a:r>
            <a:endParaRPr sz="1800">
              <a:solidFill>
                <a:schemeClr val="dk1"/>
              </a:solidFill>
              <a:latin typeface="Calibri"/>
              <a:ea typeface="Calibri"/>
              <a:cs typeface="Calibri"/>
              <a:sym typeface="Calibri"/>
            </a:endParaRPr>
          </a:p>
        </p:txBody>
      </p:sp>
      <p:sp>
        <p:nvSpPr>
          <p:cNvPr id="252" name="Google Shape;252;p20"/>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53" name="Google Shape;253;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oversized object can cause mechanical failure</a:t>
            </a:r>
            <a:endParaRPr sz="1800">
              <a:solidFill>
                <a:schemeClr val="dk1"/>
              </a:solidFill>
              <a:latin typeface="Calibri"/>
              <a:ea typeface="Calibri"/>
              <a:cs typeface="Calibri"/>
              <a:sym typeface="Calibri"/>
            </a:endParaRPr>
          </a:p>
        </p:txBody>
      </p:sp>
      <p:sp>
        <p:nvSpPr>
          <p:cNvPr id="259" name="Google Shape;259;p21"/>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endParaRPr sz="1800">
              <a:solidFill>
                <a:schemeClr val="dk1"/>
              </a:solidFill>
              <a:latin typeface="Calibri"/>
              <a:ea typeface="Calibri"/>
              <a:cs typeface="Calibri"/>
              <a:sym typeface="Calibri"/>
            </a:endParaRPr>
          </a:p>
        </p:txBody>
      </p:sp>
      <p:sp>
        <p:nvSpPr>
          <p:cNvPr id="260" name="Google Shape;260;p21"/>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endParaRPr sz="1800">
              <a:solidFill>
                <a:schemeClr val="dk1"/>
              </a:solidFill>
              <a:latin typeface="Calibri"/>
              <a:ea typeface="Calibri"/>
              <a:cs typeface="Calibri"/>
              <a:sym typeface="Calibri"/>
            </a:endParaRPr>
          </a:p>
        </p:txBody>
      </p:sp>
      <p:sp>
        <p:nvSpPr>
          <p:cNvPr id="261" name="Google Shape;261;p21"/>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Motor flexibility</a:t>
            </a:r>
            <a:r>
              <a:rPr b="0" i="0" lang="en-US" sz="1500">
                <a:solidFill>
                  <a:srgbClr val="222831"/>
                </a:solidFill>
                <a:latin typeface="Arial"/>
                <a:ea typeface="Arial"/>
                <a:cs typeface="Arial"/>
                <a:sym typeface="Arial"/>
              </a:rPr>
              <a:t>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endParaRPr sz="1800">
              <a:solidFill>
                <a:schemeClr val="dk1"/>
              </a:solidFill>
              <a:latin typeface="Calibri"/>
              <a:ea typeface="Calibri"/>
              <a:cs typeface="Calibri"/>
              <a:sym typeface="Calibri"/>
            </a:endParaRPr>
          </a:p>
        </p:txBody>
      </p:sp>
      <p:pic>
        <p:nvPicPr>
          <p:cNvPr id="262" name="Google Shape;262;p21"/>
          <p:cNvPicPr preferRelativeResize="0"/>
          <p:nvPr/>
        </p:nvPicPr>
        <p:blipFill rotWithShape="1">
          <a:blip r:embed="rId3">
            <a:alphaModFix/>
          </a:blip>
          <a:srcRect b="0" l="0" r="0" t="0"/>
          <a:stretch/>
        </p:blipFill>
        <p:spPr>
          <a:xfrm>
            <a:off x="6610350" y="2170638"/>
            <a:ext cx="5048250" cy="1769904"/>
          </a:xfrm>
          <a:prstGeom prst="rect">
            <a:avLst/>
          </a:prstGeom>
          <a:noFill/>
          <a:ln>
            <a:noFill/>
          </a:ln>
        </p:spPr>
      </p:pic>
      <p:sp>
        <p:nvSpPr>
          <p:cNvPr id="263" name="Google Shape;263;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4(a–b). Initial contact and jamming during retrieval of an oversized cardboard egg.</a:t>
            </a:r>
            <a:endParaRPr sz="1800">
              <a:solidFill>
                <a:schemeClr val="dk1"/>
              </a:solidFill>
              <a:latin typeface="Calibri"/>
              <a:ea typeface="Calibri"/>
              <a:cs typeface="Calibri"/>
              <a:sym typeface="Calibri"/>
            </a:endParaRPr>
          </a:p>
        </p:txBody>
      </p:sp>
      <p:sp>
        <p:nvSpPr>
          <p:cNvPr id="264" name="Google Shape;264;p21"/>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65" name="Google Shape;265;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Object escape separates continuation from success</a:t>
            </a:r>
            <a:endParaRPr sz="1800">
              <a:solidFill>
                <a:schemeClr val="dk1"/>
              </a:solidFill>
              <a:latin typeface="Calibri"/>
              <a:ea typeface="Calibri"/>
              <a:cs typeface="Calibri"/>
              <a:sym typeface="Calibri"/>
            </a:endParaRPr>
          </a:p>
        </p:txBody>
      </p:sp>
      <p:sp>
        <p:nvSpPr>
          <p:cNvPr id="271" name="Google Shape;271;p2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endParaRPr sz="1800">
              <a:solidFill>
                <a:schemeClr val="dk1"/>
              </a:solidFill>
              <a:latin typeface="Calibri"/>
              <a:ea typeface="Calibri"/>
              <a:cs typeface="Calibri"/>
              <a:sym typeface="Calibri"/>
            </a:endParaRPr>
          </a:p>
        </p:txBody>
      </p:sp>
      <p:sp>
        <p:nvSpPr>
          <p:cNvPr id="272" name="Google Shape;272;p2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goose’s head subsequently reached the clutch, where the bird moved the eggs and settled. The artificial egg remained outside the nest. Completion of the recurring movement therefore did not imply that the intended external result had been achieved.</a:t>
            </a:r>
            <a:endParaRPr sz="1800">
              <a:solidFill>
                <a:schemeClr val="dk1"/>
              </a:solidFill>
              <a:latin typeface="Calibri"/>
              <a:ea typeface="Calibri"/>
              <a:cs typeface="Calibri"/>
              <a:sym typeface="Calibri"/>
            </a:endParaRPr>
          </a:p>
        </p:txBody>
      </p:sp>
      <p:sp>
        <p:nvSpPr>
          <p:cNvPr id="273" name="Google Shape;273;p22"/>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motor sequence</a:t>
            </a:r>
            <a:r>
              <a:rPr b="0" i="0" lang="en-US" sz="1500">
                <a:solidFill>
                  <a:srgbClr val="222831"/>
                </a:solidFill>
                <a:latin typeface="Arial"/>
                <a:ea typeface="Arial"/>
                <a:cs typeface="Arial"/>
                <a:sym typeface="Arial"/>
              </a:rPr>
              <a:t>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endParaRPr sz="1800">
              <a:solidFill>
                <a:schemeClr val="dk1"/>
              </a:solidFill>
              <a:latin typeface="Calibri"/>
              <a:ea typeface="Calibri"/>
              <a:cs typeface="Calibri"/>
              <a:sym typeface="Calibri"/>
            </a:endParaRPr>
          </a:p>
        </p:txBody>
      </p:sp>
      <p:pic>
        <p:nvPicPr>
          <p:cNvPr id="274" name="Google Shape;274;p22"/>
          <p:cNvPicPr preferRelativeResize="0"/>
          <p:nvPr/>
        </p:nvPicPr>
        <p:blipFill rotWithShape="1">
          <a:blip r:embed="rId3">
            <a:alphaModFix/>
          </a:blip>
          <a:srcRect b="0" l="0" r="0" t="0"/>
          <a:stretch/>
        </p:blipFill>
        <p:spPr>
          <a:xfrm>
            <a:off x="6610350" y="2192762"/>
            <a:ext cx="5048250" cy="1725657"/>
          </a:xfrm>
          <a:prstGeom prst="rect">
            <a:avLst/>
          </a:prstGeom>
          <a:noFill/>
          <a:ln>
            <a:noFill/>
          </a:ln>
        </p:spPr>
      </p:pic>
      <p:sp>
        <p:nvSpPr>
          <p:cNvPr id="275" name="Google Shape;275;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4(c–d). Sudden object escape and subsequent empty inward movement.</a:t>
            </a:r>
            <a:endParaRPr sz="1800">
              <a:solidFill>
                <a:schemeClr val="dk1"/>
              </a:solidFill>
              <a:latin typeface="Calibri"/>
              <a:ea typeface="Calibri"/>
              <a:cs typeface="Calibri"/>
              <a:sym typeface="Calibri"/>
            </a:endParaRPr>
          </a:p>
        </p:txBody>
      </p:sp>
      <p:sp>
        <p:nvSpPr>
          <p:cNvPr id="276" name="Google Shape;276;p22"/>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77" name="Google Shape;277;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Object weight tests the limits of force adjustment</a:t>
            </a:r>
            <a:endParaRPr sz="1800">
              <a:solidFill>
                <a:schemeClr val="dk1"/>
              </a:solidFill>
              <a:latin typeface="Calibri"/>
              <a:ea typeface="Calibri"/>
              <a:cs typeface="Calibri"/>
              <a:sym typeface="Calibri"/>
            </a:endParaRPr>
          </a:p>
        </p:txBody>
      </p:sp>
      <p:sp>
        <p:nvSpPr>
          <p:cNvPr id="283" name="Google Shape;283;p2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endParaRPr sz="1800">
              <a:solidFill>
                <a:schemeClr val="dk1"/>
              </a:solidFill>
              <a:latin typeface="Calibri"/>
              <a:ea typeface="Calibri"/>
              <a:cs typeface="Calibri"/>
              <a:sym typeface="Calibri"/>
            </a:endParaRPr>
          </a:p>
        </p:txBody>
      </p:sp>
      <p:sp>
        <p:nvSpPr>
          <p:cNvPr id="284" name="Google Shape;284;p2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endParaRPr sz="1800">
              <a:solidFill>
                <a:schemeClr val="dk1"/>
              </a:solidFill>
              <a:latin typeface="Calibri"/>
              <a:ea typeface="Calibri"/>
              <a:cs typeface="Calibri"/>
              <a:sym typeface="Calibri"/>
            </a:endParaRPr>
          </a:p>
        </p:txBody>
      </p:sp>
      <p:sp>
        <p:nvSpPr>
          <p:cNvPr id="285" name="Google Shape;285;p23"/>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Muscle tone</a:t>
            </a:r>
            <a:r>
              <a:rPr b="0" i="0" lang="en-US" sz="1500">
                <a:solidFill>
                  <a:srgbClr val="222831"/>
                </a:solidFill>
                <a:latin typeface="Arial"/>
                <a:ea typeface="Arial"/>
                <a:cs typeface="Arial"/>
                <a:sym typeface="Arial"/>
              </a:rPr>
              <a:t>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endParaRPr sz="1800">
              <a:solidFill>
                <a:schemeClr val="dk1"/>
              </a:solidFill>
              <a:latin typeface="Calibri"/>
              <a:ea typeface="Calibri"/>
              <a:cs typeface="Calibri"/>
              <a:sym typeface="Calibri"/>
            </a:endParaRPr>
          </a:p>
        </p:txBody>
      </p:sp>
      <p:pic>
        <p:nvPicPr>
          <p:cNvPr id="286" name="Google Shape;286;p23"/>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87" name="Google Shape;287;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A light cube whose transport was compared with heavier substitutes.</a:t>
            </a:r>
            <a:endParaRPr sz="1800">
              <a:solidFill>
                <a:schemeClr val="dk1"/>
              </a:solidFill>
              <a:latin typeface="Calibri"/>
              <a:ea typeface="Calibri"/>
              <a:cs typeface="Calibri"/>
              <a:sym typeface="Calibri"/>
            </a:endParaRPr>
          </a:p>
        </p:txBody>
      </p:sp>
      <p:sp>
        <p:nvSpPr>
          <p:cNvPr id="288" name="Google Shape;288;p23"/>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89" name="Google Shape;289;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Nest geometry can change the outcome of a fixed movement</a:t>
            </a:r>
            <a:endParaRPr sz="1800">
              <a:solidFill>
                <a:schemeClr val="dk1"/>
              </a:solidFill>
              <a:latin typeface="Calibri"/>
              <a:ea typeface="Calibri"/>
              <a:cs typeface="Calibri"/>
              <a:sym typeface="Calibri"/>
            </a:endParaRPr>
          </a:p>
        </p:txBody>
      </p:sp>
      <p:sp>
        <p:nvSpPr>
          <p:cNvPr id="295" name="Google Shape;295;p2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endParaRPr sz="1800">
              <a:solidFill>
                <a:schemeClr val="dk1"/>
              </a:solidFill>
              <a:latin typeface="Calibri"/>
              <a:ea typeface="Calibri"/>
              <a:cs typeface="Calibri"/>
              <a:sym typeface="Calibri"/>
            </a:endParaRPr>
          </a:p>
        </p:txBody>
      </p:sp>
      <p:sp>
        <p:nvSpPr>
          <p:cNvPr id="296" name="Google Shape;296;p2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endParaRPr sz="1800">
              <a:solidFill>
                <a:schemeClr val="dk1"/>
              </a:solidFill>
              <a:latin typeface="Calibri"/>
              <a:ea typeface="Calibri"/>
              <a:cs typeface="Calibri"/>
              <a:sym typeface="Calibri"/>
            </a:endParaRPr>
          </a:p>
        </p:txBody>
      </p:sp>
      <p:sp>
        <p:nvSpPr>
          <p:cNvPr id="297" name="Google Shape;297;p24"/>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endParaRPr sz="1800">
              <a:solidFill>
                <a:schemeClr val="dk1"/>
              </a:solidFill>
              <a:latin typeface="Calibri"/>
              <a:ea typeface="Calibri"/>
              <a:cs typeface="Calibri"/>
              <a:sym typeface="Calibri"/>
            </a:endParaRPr>
          </a:p>
        </p:txBody>
      </p:sp>
      <p:pic>
        <p:nvPicPr>
          <p:cNvPr id="298" name="Google Shape;298;p24"/>
          <p:cNvPicPr preferRelativeResize="0"/>
          <p:nvPr/>
        </p:nvPicPr>
        <p:blipFill rotWithShape="1">
          <a:blip r:embed="rId3">
            <a:alphaModFix/>
          </a:blip>
          <a:srcRect b="0" l="0" r="0" t="0"/>
          <a:stretch/>
        </p:blipFill>
        <p:spPr>
          <a:xfrm>
            <a:off x="6610350" y="2178598"/>
            <a:ext cx="5048250" cy="1753985"/>
          </a:xfrm>
          <a:prstGeom prst="rect">
            <a:avLst/>
          </a:prstGeom>
          <a:noFill/>
          <a:ln>
            <a:noFill/>
          </a:ln>
        </p:spPr>
      </p:pic>
      <p:sp>
        <p:nvSpPr>
          <p:cNvPr id="299" name="Google Shape;299;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1(c–d). Inward rolling toward the nest and lifting of the transported egg.</a:t>
            </a:r>
            <a:endParaRPr sz="1800">
              <a:solidFill>
                <a:schemeClr val="dk1"/>
              </a:solidFill>
              <a:latin typeface="Calibri"/>
              <a:ea typeface="Calibri"/>
              <a:cs typeface="Calibri"/>
              <a:sym typeface="Calibri"/>
            </a:endParaRPr>
          </a:p>
        </p:txBody>
      </p:sp>
      <p:sp>
        <p:nvSpPr>
          <p:cNvPr id="300" name="Google Shape;300;p24"/>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01" name="Google Shape;301;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Repeated retrieval reduces readiness to execute</a:t>
            </a:r>
            <a:endParaRPr sz="1800">
              <a:solidFill>
                <a:schemeClr val="dk1"/>
              </a:solidFill>
              <a:latin typeface="Calibri"/>
              <a:ea typeface="Calibri"/>
              <a:cs typeface="Calibri"/>
              <a:sym typeface="Calibri"/>
            </a:endParaRPr>
          </a:p>
        </p:txBody>
      </p:sp>
      <p:sp>
        <p:nvSpPr>
          <p:cNvPr id="307" name="Google Shape;307;p2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endParaRPr sz="1800">
              <a:solidFill>
                <a:schemeClr val="dk1"/>
              </a:solidFill>
              <a:latin typeface="Calibri"/>
              <a:ea typeface="Calibri"/>
              <a:cs typeface="Calibri"/>
              <a:sym typeface="Calibri"/>
            </a:endParaRPr>
          </a:p>
        </p:txBody>
      </p:sp>
      <p:sp>
        <p:nvSpPr>
          <p:cNvPr id="308" name="Google Shape;308;p2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Response-specific fatigue</a:t>
            </a:r>
            <a:r>
              <a:rPr b="0" i="0" lang="en-US" sz="1500">
                <a:solidFill>
                  <a:srgbClr val="222831"/>
                </a:solidFill>
                <a:latin typeface="Arial"/>
                <a:ea typeface="Arial"/>
                <a:cs typeface="Arial"/>
                <a:sym typeface="Arial"/>
              </a:rPr>
              <a:t> describes a reduction in the availability of a particular action after repeated performance. The authors distinguished this from loss of responsiveness to the object. Eggs were presented more frequently than they would normally leave the nest under natural conditions.</a:t>
            </a:r>
            <a:endParaRPr sz="1800">
              <a:solidFill>
                <a:schemeClr val="dk1"/>
              </a:solidFill>
              <a:latin typeface="Calibri"/>
              <a:ea typeface="Calibri"/>
              <a:cs typeface="Calibri"/>
              <a:sym typeface="Calibri"/>
            </a:endParaRPr>
          </a:p>
        </p:txBody>
      </p:sp>
      <p:sp>
        <p:nvSpPr>
          <p:cNvPr id="309" name="Google Shape;309;p2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endParaRPr sz="1800">
              <a:solidFill>
                <a:schemeClr val="dk1"/>
              </a:solidFill>
              <a:latin typeface="Calibri"/>
              <a:ea typeface="Calibri"/>
              <a:cs typeface="Calibri"/>
              <a:sym typeface="Calibri"/>
            </a:endParaRPr>
          </a:p>
        </p:txBody>
      </p:sp>
      <p:pic>
        <p:nvPicPr>
          <p:cNvPr id="310" name="Google Shape;310;p25"/>
          <p:cNvPicPr preferRelativeResize="0"/>
          <p:nvPr/>
        </p:nvPicPr>
        <p:blipFill rotWithShape="1">
          <a:blip r:embed="rId3">
            <a:alphaModFix/>
          </a:blip>
          <a:srcRect b="0" l="0" r="0" t="0"/>
          <a:stretch/>
        </p:blipFill>
        <p:spPr>
          <a:xfrm>
            <a:off x="6610350" y="2147483"/>
            <a:ext cx="5048250" cy="1816214"/>
          </a:xfrm>
          <a:prstGeom prst="rect">
            <a:avLst/>
          </a:prstGeom>
          <a:noFill/>
          <a:ln>
            <a:noFill/>
          </a:ln>
        </p:spPr>
      </p:pic>
      <p:sp>
        <p:nvSpPr>
          <p:cNvPr id="311" name="Google Shape;311;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6(a–c). Orientation and an alternative nest-material movement after repeated retrieval.</a:t>
            </a:r>
            <a:endParaRPr sz="1800">
              <a:solidFill>
                <a:schemeClr val="dk1"/>
              </a:solidFill>
              <a:latin typeface="Calibri"/>
              <a:ea typeface="Calibri"/>
              <a:cs typeface="Calibri"/>
              <a:sym typeface="Calibri"/>
            </a:endParaRPr>
          </a:p>
        </p:txBody>
      </p:sp>
      <p:sp>
        <p:nvSpPr>
          <p:cNvPr id="312" name="Google Shape;312;p25"/>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13" name="Google Shape;313;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alternative action can follow failed egg retrieval</a:t>
            </a:r>
            <a:endParaRPr sz="1800">
              <a:solidFill>
                <a:schemeClr val="dk1"/>
              </a:solidFill>
              <a:latin typeface="Calibri"/>
              <a:ea typeface="Calibri"/>
              <a:cs typeface="Calibri"/>
              <a:sym typeface="Calibri"/>
            </a:endParaRPr>
          </a:p>
        </p:txBody>
      </p:sp>
      <p:sp>
        <p:nvSpPr>
          <p:cNvPr id="319" name="Google Shape;319;p2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endParaRPr sz="1800">
              <a:solidFill>
                <a:schemeClr val="dk1"/>
              </a:solidFill>
              <a:latin typeface="Calibri"/>
              <a:ea typeface="Calibri"/>
              <a:cs typeface="Calibri"/>
              <a:sym typeface="Calibri"/>
            </a:endParaRPr>
          </a:p>
        </p:txBody>
      </p:sp>
      <p:sp>
        <p:nvSpPr>
          <p:cNvPr id="320" name="Google Shape;320;p2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displacement action</a:t>
            </a:r>
            <a:r>
              <a:rPr b="0" i="0" lang="en-US" sz="1500">
                <a:solidFill>
                  <a:srgbClr val="222831"/>
                </a:solidFill>
                <a:latin typeface="Arial"/>
                <a:ea typeface="Arial"/>
                <a:cs typeface="Arial"/>
                <a:sym typeface="Arial"/>
              </a:rPr>
              <a:t> is an action appearing in a context where its ordinary function does not fit the immediate situation. The nest-material movement did not reliably transport the egg as the normal inward rolling movement would. The visible stimulus remained effective in attracting attention.</a:t>
            </a:r>
            <a:endParaRPr sz="1800">
              <a:solidFill>
                <a:schemeClr val="dk1"/>
              </a:solidFill>
              <a:latin typeface="Calibri"/>
              <a:ea typeface="Calibri"/>
              <a:cs typeface="Calibri"/>
              <a:sym typeface="Calibri"/>
            </a:endParaRPr>
          </a:p>
        </p:txBody>
      </p:sp>
      <p:sp>
        <p:nvSpPr>
          <p:cNvPr id="321" name="Google Shape;321;p26"/>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endParaRPr sz="1800">
              <a:solidFill>
                <a:schemeClr val="dk1"/>
              </a:solidFill>
              <a:latin typeface="Calibri"/>
              <a:ea typeface="Calibri"/>
              <a:cs typeface="Calibri"/>
              <a:sym typeface="Calibri"/>
            </a:endParaRPr>
          </a:p>
        </p:txBody>
      </p:sp>
      <p:pic>
        <p:nvPicPr>
          <p:cNvPr id="322" name="Google Shape;322;p26"/>
          <p:cNvPicPr preferRelativeResize="0"/>
          <p:nvPr/>
        </p:nvPicPr>
        <p:blipFill rotWithShape="1">
          <a:blip r:embed="rId3">
            <a:alphaModFix/>
          </a:blip>
          <a:srcRect b="0" l="0" r="0" t="0"/>
          <a:stretch/>
        </p:blipFill>
        <p:spPr>
          <a:xfrm>
            <a:off x="6610350" y="2147483"/>
            <a:ext cx="5048250" cy="1816214"/>
          </a:xfrm>
          <a:prstGeom prst="rect">
            <a:avLst/>
          </a:prstGeom>
          <a:noFill/>
          <a:ln>
            <a:noFill/>
          </a:ln>
        </p:spPr>
      </p:pic>
      <p:sp>
        <p:nvSpPr>
          <p:cNvPr id="323" name="Google Shape;323;p2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6(a–c). Neck extension followed by the nest-material placing movement.</a:t>
            </a:r>
            <a:endParaRPr sz="1800">
              <a:solidFill>
                <a:schemeClr val="dk1"/>
              </a:solidFill>
              <a:latin typeface="Calibri"/>
              <a:ea typeface="Calibri"/>
              <a:cs typeface="Calibri"/>
              <a:sym typeface="Calibri"/>
            </a:endParaRPr>
          </a:p>
        </p:txBody>
      </p:sp>
      <p:sp>
        <p:nvSpPr>
          <p:cNvPr id="324" name="Google Shape;324;p26"/>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25" name="Google Shape;325;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Experience can narrow acceptance of substitute objects</a:t>
            </a:r>
            <a:endParaRPr sz="1800">
              <a:solidFill>
                <a:schemeClr val="dk1"/>
              </a:solidFill>
              <a:latin typeface="Calibri"/>
              <a:ea typeface="Calibri"/>
              <a:cs typeface="Calibri"/>
              <a:sym typeface="Calibri"/>
            </a:endParaRPr>
          </a:p>
        </p:txBody>
      </p:sp>
      <p:sp>
        <p:nvSpPr>
          <p:cNvPr id="331" name="Google Shape;331;p2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endParaRPr sz="1800">
              <a:solidFill>
                <a:schemeClr val="dk1"/>
              </a:solidFill>
              <a:latin typeface="Calibri"/>
              <a:ea typeface="Calibri"/>
              <a:cs typeface="Calibri"/>
              <a:sym typeface="Calibri"/>
            </a:endParaRPr>
          </a:p>
        </p:txBody>
      </p:sp>
      <p:sp>
        <p:nvSpPr>
          <p:cNvPr id="332" name="Google Shape;332;p27"/>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endParaRPr sz="1800">
              <a:solidFill>
                <a:schemeClr val="dk1"/>
              </a:solidFill>
              <a:latin typeface="Calibri"/>
              <a:ea typeface="Calibri"/>
              <a:cs typeface="Calibri"/>
              <a:sym typeface="Calibri"/>
            </a:endParaRPr>
          </a:p>
        </p:txBody>
      </p:sp>
      <p:sp>
        <p:nvSpPr>
          <p:cNvPr id="333" name="Google Shape;333;p27"/>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Stimulus selectivity</a:t>
            </a:r>
            <a:r>
              <a:rPr b="0" i="0" lang="en-US" sz="1500">
                <a:solidFill>
                  <a:srgbClr val="222831"/>
                </a:solidFill>
                <a:latin typeface="Arial"/>
                <a:ea typeface="Arial"/>
                <a:cs typeface="Arial"/>
                <a:sym typeface="Arial"/>
              </a:rPr>
              <a:t>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endParaRPr sz="1800">
              <a:solidFill>
                <a:schemeClr val="dk1"/>
              </a:solidFill>
              <a:latin typeface="Calibri"/>
              <a:ea typeface="Calibri"/>
              <a:cs typeface="Calibri"/>
              <a:sym typeface="Calibri"/>
            </a:endParaRPr>
          </a:p>
        </p:txBody>
      </p:sp>
      <p:pic>
        <p:nvPicPr>
          <p:cNvPr id="334" name="Google Shape;334;p27"/>
          <p:cNvPicPr preferRelativeResize="0"/>
          <p:nvPr/>
        </p:nvPicPr>
        <p:blipFill rotWithShape="1">
          <a:blip r:embed="rId3">
            <a:alphaModFix/>
          </a:blip>
          <a:srcRect b="0" l="0" r="0" t="0"/>
          <a:stretch/>
        </p:blipFill>
        <p:spPr>
          <a:xfrm>
            <a:off x="6610350" y="2143355"/>
            <a:ext cx="5048250" cy="1824470"/>
          </a:xfrm>
          <a:prstGeom prst="rect">
            <a:avLst/>
          </a:prstGeom>
          <a:noFill/>
          <a:ln>
            <a:noFill/>
          </a:ln>
        </p:spPr>
      </p:pic>
      <p:sp>
        <p:nvSpPr>
          <p:cNvPr id="335" name="Google Shape;335;p2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6(d–e). Avoidance of an artificial egg after changes in response readiness.</a:t>
            </a:r>
            <a:endParaRPr sz="1800">
              <a:solidFill>
                <a:schemeClr val="dk1"/>
              </a:solidFill>
              <a:latin typeface="Calibri"/>
              <a:ea typeface="Calibri"/>
              <a:cs typeface="Calibri"/>
              <a:sym typeface="Calibri"/>
            </a:endParaRPr>
          </a:p>
        </p:txBody>
      </p:sp>
      <p:sp>
        <p:nvSpPr>
          <p:cNvPr id="336" name="Google Shape;336;p27"/>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37" name="Google Shape;337;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Hatching changes the response to exposed shell edges</a:t>
            </a:r>
            <a:endParaRPr sz="1800">
              <a:solidFill>
                <a:schemeClr val="dk1"/>
              </a:solidFill>
              <a:latin typeface="Calibri"/>
              <a:ea typeface="Calibri"/>
              <a:cs typeface="Calibri"/>
              <a:sym typeface="Calibri"/>
            </a:endParaRPr>
          </a:p>
        </p:txBody>
      </p:sp>
      <p:sp>
        <p:nvSpPr>
          <p:cNvPr id="343" name="Google Shape;343;p2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observed destructive nibbling when externally incubated, beginning-to-hatch eggs were placed under their experimental goose. The exposed shell margins elicited vigorous biting. The investigators removed these eggs before the chicks were harmed further.</a:t>
            </a:r>
            <a:endParaRPr sz="1800">
              <a:solidFill>
                <a:schemeClr val="dk1"/>
              </a:solidFill>
              <a:latin typeface="Calibri"/>
              <a:ea typeface="Calibri"/>
              <a:cs typeface="Calibri"/>
              <a:sym typeface="Calibri"/>
            </a:endParaRPr>
          </a:p>
        </p:txBody>
      </p:sp>
      <p:sp>
        <p:nvSpPr>
          <p:cNvPr id="344" name="Google Shape;344;p28"/>
          <p:cNvSpPr/>
          <p:nvPr/>
        </p:nvSpPr>
        <p:spPr>
          <a:xfrm>
            <a:off x="457200" y="25031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Two days later, when the goose’s own chicks began to hatch, the response to exposed shell margins had disappeared. The bird attended to and gently contacted the hatching eggs without the earlier biting, even when openings were presented directly.</a:t>
            </a:r>
            <a:endParaRPr sz="1800">
              <a:solidFill>
                <a:schemeClr val="dk1"/>
              </a:solidFill>
              <a:latin typeface="Calibri"/>
              <a:ea typeface="Calibri"/>
              <a:cs typeface="Calibri"/>
              <a:sym typeface="Calibri"/>
            </a:endParaRPr>
          </a:p>
        </p:txBody>
      </p:sp>
      <p:sp>
        <p:nvSpPr>
          <p:cNvPr id="345" name="Google Shape;345;p28"/>
          <p:cNvSpPr/>
          <p:nvPr/>
        </p:nvSpPr>
        <p:spPr>
          <a:xfrm>
            <a:off x="457200" y="3684240"/>
            <a:ext cx="5829300" cy="1866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State-dependent response selection</a:t>
            </a:r>
            <a:r>
              <a:rPr b="0" i="0" lang="en-US" sz="1500">
                <a:solidFill>
                  <a:srgbClr val="222831"/>
                </a:solidFill>
                <a:latin typeface="Arial"/>
                <a:ea typeface="Arial"/>
                <a:cs typeface="Arial"/>
                <a:sym typeface="Arial"/>
              </a:rPr>
              <a:t>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endParaRPr sz="1800">
              <a:solidFill>
                <a:schemeClr val="dk1"/>
              </a:solidFill>
              <a:latin typeface="Calibri"/>
              <a:ea typeface="Calibri"/>
              <a:cs typeface="Calibri"/>
              <a:sym typeface="Calibri"/>
            </a:endParaRPr>
          </a:p>
        </p:txBody>
      </p:sp>
      <p:pic>
        <p:nvPicPr>
          <p:cNvPr id="346" name="Google Shape;346;p28"/>
          <p:cNvPicPr preferRelativeResize="0"/>
          <p:nvPr/>
        </p:nvPicPr>
        <p:blipFill rotWithShape="1">
          <a:blip r:embed="rId3">
            <a:alphaModFix/>
          </a:blip>
          <a:srcRect b="0" l="0" r="0" t="0"/>
          <a:stretch/>
        </p:blipFill>
        <p:spPr>
          <a:xfrm>
            <a:off x="6610350" y="1327912"/>
            <a:ext cx="5048250" cy="3455356"/>
          </a:xfrm>
          <a:prstGeom prst="rect">
            <a:avLst/>
          </a:prstGeom>
          <a:noFill/>
          <a:ln>
            <a:noFill/>
          </a:ln>
        </p:spPr>
      </p:pic>
      <p:sp>
        <p:nvSpPr>
          <p:cNvPr id="347" name="Google Shape;347;p2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3. Edge nibbling, the response that changed near hatching.</a:t>
            </a:r>
            <a:endParaRPr sz="1800">
              <a:solidFill>
                <a:schemeClr val="dk1"/>
              </a:solidFill>
              <a:latin typeface="Calibri"/>
              <a:ea typeface="Calibri"/>
              <a:cs typeface="Calibri"/>
              <a:sym typeface="Calibri"/>
            </a:endParaRPr>
          </a:p>
        </p:txBody>
      </p:sp>
      <p:sp>
        <p:nvSpPr>
          <p:cNvPr id="348" name="Google Shape;348;p28"/>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49" name="Google Shape;349;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Stimulus tests do not identify a release circuit</a:t>
            </a:r>
            <a:endParaRPr sz="1800">
              <a:solidFill>
                <a:schemeClr val="dk1"/>
              </a:solidFill>
              <a:latin typeface="Calibri"/>
              <a:ea typeface="Calibri"/>
              <a:cs typeface="Calibri"/>
              <a:sym typeface="Calibri"/>
            </a:endParaRPr>
          </a:p>
        </p:txBody>
      </p:sp>
      <p:sp>
        <p:nvSpPr>
          <p:cNvPr id="355" name="Google Shape;355;p2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neural circuit</a:t>
            </a:r>
            <a:r>
              <a:rPr b="0" i="0" lang="en-US" sz="1500">
                <a:solidFill>
                  <a:srgbClr val="222831"/>
                </a:solidFill>
                <a:latin typeface="Arial"/>
                <a:ea typeface="Arial"/>
                <a:cs typeface="Arial"/>
                <a:sym typeface="Arial"/>
              </a:rPr>
              <a:t> is a connected set of neurons whose activity contributes to processing information or producing behavior. The classic stimulus experiments identified behavioral relationships, but did not record the circuits that respond to red coloration, posture, or egg contact.</a:t>
            </a:r>
            <a:endParaRPr sz="1800">
              <a:solidFill>
                <a:schemeClr val="dk1"/>
              </a:solidFill>
              <a:latin typeface="Calibri"/>
              <a:ea typeface="Calibri"/>
              <a:cs typeface="Calibri"/>
              <a:sym typeface="Calibri"/>
            </a:endParaRPr>
          </a:p>
        </p:txBody>
      </p:sp>
      <p:sp>
        <p:nvSpPr>
          <p:cNvPr id="356" name="Google Shape;356;p29"/>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endParaRPr sz="1800">
              <a:solidFill>
                <a:schemeClr val="dk1"/>
              </a:solidFill>
              <a:latin typeface="Calibri"/>
              <a:ea typeface="Calibri"/>
              <a:cs typeface="Calibri"/>
              <a:sym typeface="Calibri"/>
            </a:endParaRPr>
          </a:p>
        </p:txBody>
      </p:sp>
      <p:sp>
        <p:nvSpPr>
          <p:cNvPr id="357" name="Google Shape;357;p29"/>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endParaRPr sz="1800">
              <a:solidFill>
                <a:schemeClr val="dk1"/>
              </a:solidFill>
              <a:latin typeface="Calibri"/>
              <a:ea typeface="Calibri"/>
              <a:cs typeface="Calibri"/>
              <a:sym typeface="Calibri"/>
            </a:endParaRPr>
          </a:p>
        </p:txBody>
      </p:sp>
      <p:pic>
        <p:nvPicPr>
          <p:cNvPr id="358" name="Google Shape;358;p29"/>
          <p:cNvPicPr preferRelativeResize="0"/>
          <p:nvPr/>
        </p:nvPicPr>
        <p:blipFill rotWithShape="1">
          <a:blip r:embed="rId3">
            <a:alphaModFix/>
          </a:blip>
          <a:srcRect b="0" l="0" r="0" t="0"/>
          <a:stretch/>
        </p:blipFill>
        <p:spPr>
          <a:xfrm>
            <a:off x="6610350" y="2023189"/>
            <a:ext cx="5048250" cy="2064803"/>
          </a:xfrm>
          <a:prstGeom prst="rect">
            <a:avLst/>
          </a:prstGeom>
          <a:noFill/>
          <a:ln>
            <a:noFill/>
          </a:ln>
        </p:spPr>
      </p:pic>
      <p:sp>
        <p:nvSpPr>
          <p:cNvPr id="359" name="Google Shape;359;p2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2(A–C). Brain visibility through the skull and dissected dorsal brain anatomy.</a:t>
            </a:r>
            <a:endParaRPr sz="1800">
              <a:solidFill>
                <a:schemeClr val="dk1"/>
              </a:solidFill>
              <a:latin typeface="Calibri"/>
              <a:ea typeface="Calibri"/>
              <a:cs typeface="Calibri"/>
              <a:sym typeface="Calibri"/>
            </a:endParaRPr>
          </a:p>
        </p:txBody>
      </p:sp>
      <p:sp>
        <p:nvSpPr>
          <p:cNvPr id="360" name="Google Shape;360;p29"/>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61" name="Google Shape;361;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Direct brain access permits controlled delivery</a:t>
            </a:r>
            <a:endParaRPr sz="1800">
              <a:solidFill>
                <a:schemeClr val="dk1"/>
              </a:solidFill>
              <a:latin typeface="Calibri"/>
              <a:ea typeface="Calibri"/>
              <a:cs typeface="Calibri"/>
              <a:sym typeface="Calibri"/>
            </a:endParaRPr>
          </a:p>
        </p:txBody>
      </p:sp>
      <p:sp>
        <p:nvSpPr>
          <p:cNvPr id="367" name="Google Shape;367;p3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endParaRPr sz="1800">
              <a:solidFill>
                <a:schemeClr val="dk1"/>
              </a:solidFill>
              <a:latin typeface="Calibri"/>
              <a:ea typeface="Calibri"/>
              <a:cs typeface="Calibri"/>
              <a:sym typeface="Calibri"/>
            </a:endParaRPr>
          </a:p>
        </p:txBody>
      </p:sp>
      <p:sp>
        <p:nvSpPr>
          <p:cNvPr id="368" name="Google Shape;368;p30"/>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endParaRPr sz="1800">
              <a:solidFill>
                <a:schemeClr val="dk1"/>
              </a:solidFill>
              <a:latin typeface="Calibri"/>
              <a:ea typeface="Calibri"/>
              <a:cs typeface="Calibri"/>
              <a:sym typeface="Calibri"/>
            </a:endParaRPr>
          </a:p>
        </p:txBody>
      </p:sp>
      <p:sp>
        <p:nvSpPr>
          <p:cNvPr id="369" name="Google Shape;369;p30"/>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endParaRPr sz="1800">
              <a:solidFill>
                <a:schemeClr val="dk1"/>
              </a:solidFill>
              <a:latin typeface="Calibri"/>
              <a:ea typeface="Calibri"/>
              <a:cs typeface="Calibri"/>
              <a:sym typeface="Calibri"/>
            </a:endParaRPr>
          </a:p>
        </p:txBody>
      </p:sp>
      <p:pic>
        <p:nvPicPr>
          <p:cNvPr id="370" name="Google Shape;370;p30"/>
          <p:cNvPicPr preferRelativeResize="0"/>
          <p:nvPr/>
        </p:nvPicPr>
        <p:blipFill rotWithShape="1">
          <a:blip r:embed="rId3">
            <a:alphaModFix/>
          </a:blip>
          <a:srcRect b="0" l="0" r="0" t="0"/>
          <a:stretch/>
        </p:blipFill>
        <p:spPr>
          <a:xfrm>
            <a:off x="7024605" y="1055340"/>
            <a:ext cx="4219741" cy="4000500"/>
          </a:xfrm>
          <a:prstGeom prst="rect">
            <a:avLst/>
          </a:prstGeom>
          <a:noFill/>
          <a:ln>
            <a:noFill/>
          </a:ln>
        </p:spPr>
      </p:pic>
      <p:sp>
        <p:nvSpPr>
          <p:cNvPr id="371" name="Google Shape;371;p3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1. The published surgical rig for supported brain injections.</a:t>
            </a:r>
            <a:endParaRPr sz="1800">
              <a:solidFill>
                <a:schemeClr val="dk1"/>
              </a:solidFill>
              <a:latin typeface="Calibri"/>
              <a:ea typeface="Calibri"/>
              <a:cs typeface="Calibri"/>
              <a:sym typeface="Calibri"/>
            </a:endParaRPr>
          </a:p>
        </p:txBody>
      </p:sp>
      <p:sp>
        <p:nvSpPr>
          <p:cNvPr id="372" name="Google Shape;372;p30"/>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73" name="Google Shape;373;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Histology verifies the spatial extent of expression</a:t>
            </a:r>
            <a:endParaRPr sz="1800">
              <a:solidFill>
                <a:schemeClr val="dk1"/>
              </a:solidFill>
              <a:latin typeface="Calibri"/>
              <a:ea typeface="Calibri"/>
              <a:cs typeface="Calibri"/>
              <a:sym typeface="Calibri"/>
            </a:endParaRPr>
          </a:p>
        </p:txBody>
      </p:sp>
      <p:sp>
        <p:nvSpPr>
          <p:cNvPr id="379" name="Google Shape;379;p3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Histology</a:t>
            </a:r>
            <a:r>
              <a:rPr b="0" i="0" lang="en-US" sz="1500">
                <a:solidFill>
                  <a:srgbClr val="222831"/>
                </a:solidFill>
                <a:latin typeface="Arial"/>
                <a:ea typeface="Arial"/>
                <a:cs typeface="Arial"/>
                <a:sym typeface="Arial"/>
              </a:rPr>
              <a:t>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endParaRPr sz="1800">
              <a:solidFill>
                <a:schemeClr val="dk1"/>
              </a:solidFill>
              <a:latin typeface="Calibri"/>
              <a:ea typeface="Calibri"/>
              <a:cs typeface="Calibri"/>
              <a:sym typeface="Calibri"/>
            </a:endParaRPr>
          </a:p>
        </p:txBody>
      </p:sp>
      <p:sp>
        <p:nvSpPr>
          <p:cNvPr id="380" name="Google Shape;380;p31"/>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Viral-mediated transgenesis</a:t>
            </a:r>
            <a:r>
              <a:rPr b="0" i="0" lang="en-US" sz="1500">
                <a:solidFill>
                  <a:srgbClr val="222831"/>
                </a:solidFill>
                <a:latin typeface="Arial"/>
                <a:ea typeface="Arial"/>
                <a:cs typeface="Arial"/>
                <a:sym typeface="Arial"/>
              </a:rPr>
              <a:t> uses a viral vector to deliver a gene construct into cells. The replication-deficient vector carried a chosen payload and promoter. Fluorescence was absent in saline-injected controls, distinguishing reporter expression from the untreated tissue’s background signal.</a:t>
            </a:r>
            <a:endParaRPr sz="1800">
              <a:solidFill>
                <a:schemeClr val="dk1"/>
              </a:solidFill>
              <a:latin typeface="Calibri"/>
              <a:ea typeface="Calibri"/>
              <a:cs typeface="Calibri"/>
              <a:sym typeface="Calibri"/>
            </a:endParaRPr>
          </a:p>
        </p:txBody>
      </p:sp>
      <p:sp>
        <p:nvSpPr>
          <p:cNvPr id="381" name="Google Shape;381;p31"/>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endParaRPr sz="1800">
              <a:solidFill>
                <a:schemeClr val="dk1"/>
              </a:solidFill>
              <a:latin typeface="Calibri"/>
              <a:ea typeface="Calibri"/>
              <a:cs typeface="Calibri"/>
              <a:sym typeface="Calibri"/>
            </a:endParaRPr>
          </a:p>
        </p:txBody>
      </p:sp>
      <p:pic>
        <p:nvPicPr>
          <p:cNvPr id="382" name="Google Shape;382;p31"/>
          <p:cNvPicPr preferRelativeResize="0"/>
          <p:nvPr/>
        </p:nvPicPr>
        <p:blipFill rotWithShape="1">
          <a:blip r:embed="rId3">
            <a:alphaModFix/>
          </a:blip>
          <a:srcRect b="0" l="0" r="0" t="0"/>
          <a:stretch/>
        </p:blipFill>
        <p:spPr>
          <a:xfrm>
            <a:off x="6610350" y="1637784"/>
            <a:ext cx="5048250" cy="2835613"/>
          </a:xfrm>
          <a:prstGeom prst="rect">
            <a:avLst/>
          </a:prstGeom>
          <a:noFill/>
          <a:ln>
            <a:noFill/>
          </a:ln>
        </p:spPr>
      </p:pic>
      <p:sp>
        <p:nvSpPr>
          <p:cNvPr id="383" name="Google Shape;383;p3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3(A–B). Restricted expression after one injection and broader expression after delivery at multiple depths.</a:t>
            </a:r>
            <a:endParaRPr sz="1800">
              <a:solidFill>
                <a:schemeClr val="dk1"/>
              </a:solidFill>
              <a:latin typeface="Calibri"/>
              <a:ea typeface="Calibri"/>
              <a:cs typeface="Calibri"/>
              <a:sym typeface="Calibri"/>
            </a:endParaRPr>
          </a:p>
        </p:txBody>
      </p:sp>
      <p:sp>
        <p:nvSpPr>
          <p:cNvPr id="384" name="Google Shape;384;p31"/>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85" name="Google Shape;385;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Promoter choice determines the intervention window</a:t>
            </a:r>
            <a:endParaRPr sz="1800">
              <a:solidFill>
                <a:schemeClr val="dk1"/>
              </a:solidFill>
              <a:latin typeface="Calibri"/>
              <a:ea typeface="Calibri"/>
              <a:cs typeface="Calibri"/>
              <a:sym typeface="Calibri"/>
            </a:endParaRPr>
          </a:p>
        </p:txBody>
      </p:sp>
      <p:sp>
        <p:nvSpPr>
          <p:cNvPr id="391" name="Google Shape;391;p3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promoter</a:t>
            </a:r>
            <a:r>
              <a:rPr b="0" i="0" lang="en-US" sz="1500">
                <a:solidFill>
                  <a:srgbClr val="222831"/>
                </a:solidFill>
                <a:latin typeface="Arial"/>
                <a:ea typeface="Arial"/>
                <a:cs typeface="Arial"/>
                <a:sym typeface="Arial"/>
              </a:rPr>
              <a:t>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endParaRPr sz="1800">
              <a:solidFill>
                <a:schemeClr val="dk1"/>
              </a:solidFill>
              <a:latin typeface="Calibri"/>
              <a:ea typeface="Calibri"/>
              <a:cs typeface="Calibri"/>
              <a:sym typeface="Calibri"/>
            </a:endParaRPr>
          </a:p>
        </p:txBody>
      </p:sp>
      <p:sp>
        <p:nvSpPr>
          <p:cNvPr id="392" name="Google Shape;392;p32"/>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endParaRPr sz="1800">
              <a:solidFill>
                <a:schemeClr val="dk1"/>
              </a:solidFill>
              <a:latin typeface="Calibri"/>
              <a:ea typeface="Calibri"/>
              <a:cs typeface="Calibri"/>
              <a:sym typeface="Calibri"/>
            </a:endParaRPr>
          </a:p>
        </p:txBody>
      </p:sp>
      <p:sp>
        <p:nvSpPr>
          <p:cNvPr id="393" name="Google Shape;393;p32"/>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endParaRPr sz="1800">
              <a:solidFill>
                <a:schemeClr val="dk1"/>
              </a:solidFill>
              <a:latin typeface="Calibri"/>
              <a:ea typeface="Calibri"/>
              <a:cs typeface="Calibri"/>
              <a:sym typeface="Calibri"/>
            </a:endParaRPr>
          </a:p>
        </p:txBody>
      </p:sp>
      <p:pic>
        <p:nvPicPr>
          <p:cNvPr id="394" name="Google Shape;394;p32"/>
          <p:cNvPicPr preferRelativeResize="0"/>
          <p:nvPr/>
        </p:nvPicPr>
        <p:blipFill rotWithShape="1">
          <a:blip r:embed="rId3">
            <a:alphaModFix/>
          </a:blip>
          <a:srcRect b="0" l="0" r="0" t="0"/>
          <a:stretch/>
        </p:blipFill>
        <p:spPr>
          <a:xfrm>
            <a:off x="6610350" y="2152904"/>
            <a:ext cx="5048250" cy="1805372"/>
          </a:xfrm>
          <a:prstGeom prst="rect">
            <a:avLst/>
          </a:prstGeom>
          <a:noFill/>
          <a:ln>
            <a:noFill/>
          </a:ln>
        </p:spPr>
      </p:pic>
      <p:sp>
        <p:nvSpPr>
          <p:cNvPr id="395" name="Google Shape;395;p3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3(E–G). Fluorescent expression at two, three, and four weeks; scale bars retained.</a:t>
            </a:r>
            <a:endParaRPr sz="1800">
              <a:solidFill>
                <a:schemeClr val="dk1"/>
              </a:solidFill>
              <a:latin typeface="Calibri"/>
              <a:ea typeface="Calibri"/>
              <a:cs typeface="Calibri"/>
              <a:sym typeface="Calibri"/>
            </a:endParaRPr>
          </a:p>
        </p:txBody>
      </p:sp>
      <p:sp>
        <p:nvSpPr>
          <p:cNvPr id="396" name="Google Shape;396;p32"/>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97" name="Google Shape;39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Peptide manipulation tests an internal influence</a:t>
            </a:r>
            <a:endParaRPr sz="1800">
              <a:solidFill>
                <a:schemeClr val="dk1"/>
              </a:solidFill>
              <a:latin typeface="Calibri"/>
              <a:ea typeface="Calibri"/>
              <a:cs typeface="Calibri"/>
              <a:sym typeface="Calibri"/>
            </a:endParaRPr>
          </a:p>
        </p:txBody>
      </p:sp>
      <p:sp>
        <p:nvSpPr>
          <p:cNvPr id="403" name="Google Shape;403;p33"/>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neuropeptide</a:t>
            </a:r>
            <a:r>
              <a:rPr b="0" i="0" lang="en-US" sz="1650">
                <a:solidFill>
                  <a:srgbClr val="222831"/>
                </a:solidFill>
                <a:latin typeface="Arial"/>
                <a:ea typeface="Arial"/>
                <a:cs typeface="Arial"/>
                <a:sym typeface="Arial"/>
              </a:rPr>
              <a:t>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endParaRPr sz="1800">
              <a:solidFill>
                <a:schemeClr val="dk1"/>
              </a:solidFill>
              <a:latin typeface="Calibri"/>
              <a:ea typeface="Calibri"/>
              <a:cs typeface="Calibri"/>
              <a:sym typeface="Calibri"/>
            </a:endParaRPr>
          </a:p>
        </p:txBody>
      </p:sp>
      <p:sp>
        <p:nvSpPr>
          <p:cNvPr id="404" name="Google Shape;404;p33"/>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endParaRPr sz="1800">
              <a:solidFill>
                <a:schemeClr val="dk1"/>
              </a:solidFill>
              <a:latin typeface="Calibri"/>
              <a:ea typeface="Calibri"/>
              <a:cs typeface="Calibri"/>
              <a:sym typeface="Calibri"/>
            </a:endParaRPr>
          </a:p>
        </p:txBody>
      </p:sp>
      <p:sp>
        <p:nvSpPr>
          <p:cNvPr id="405" name="Google Shape;405;p33"/>
          <p:cNvSpPr/>
          <p:nvPr/>
        </p:nvSpPr>
        <p:spPr>
          <a:xfrm>
            <a:off x="457200" y="467722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receptor</a:t>
            </a:r>
            <a:r>
              <a:rPr b="0" i="0" lang="en-US" sz="1650">
                <a:solidFill>
                  <a:srgbClr val="222831"/>
                </a:solidFill>
                <a:latin typeface="Arial"/>
                <a:ea typeface="Arial"/>
                <a:cs typeface="Arial"/>
                <a:sym typeface="Arial"/>
              </a:rPr>
              <a:t>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endParaRPr sz="1800">
              <a:solidFill>
                <a:schemeClr val="dk1"/>
              </a:solidFill>
              <a:latin typeface="Calibri"/>
              <a:ea typeface="Calibri"/>
              <a:cs typeface="Calibri"/>
              <a:sym typeface="Calibri"/>
            </a:endParaRPr>
          </a:p>
        </p:txBody>
      </p:sp>
      <p:pic>
        <p:nvPicPr>
          <p:cNvPr id="406" name="Google Shape;406;p33"/>
          <p:cNvPicPr preferRelativeResize="0"/>
          <p:nvPr/>
        </p:nvPicPr>
        <p:blipFill rotWithShape="1">
          <a:blip r:embed="rId3">
            <a:alphaModFix/>
          </a:blip>
          <a:srcRect b="0" l="0" r="0" t="0"/>
          <a:stretch/>
        </p:blipFill>
        <p:spPr>
          <a:xfrm>
            <a:off x="8333428" y="1055340"/>
            <a:ext cx="1430645" cy="2924175"/>
          </a:xfrm>
          <a:prstGeom prst="rect">
            <a:avLst/>
          </a:prstGeom>
          <a:noFill/>
          <a:ln>
            <a:noFill/>
          </a:ln>
        </p:spPr>
      </p:pic>
      <p:sp>
        <p:nvSpPr>
          <p:cNvPr id="407" name="Google Shape;407;p33"/>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3(C–D). Transfected cells in the diencephalon with fluorescence and scale bars intact.</a:t>
            </a:r>
            <a:endParaRPr sz="1800">
              <a:solidFill>
                <a:schemeClr val="dk1"/>
              </a:solidFill>
              <a:latin typeface="Calibri"/>
              <a:ea typeface="Calibri"/>
              <a:cs typeface="Calibri"/>
              <a:sym typeface="Calibri"/>
            </a:endParaRPr>
          </a:p>
        </p:txBody>
      </p:sp>
      <p:pic>
        <p:nvPicPr>
          <p:cNvPr id="408" name="Google Shape;408;p33"/>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09" name="Google Shape;409;p33"/>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10" name="Google Shape;410;p33"/>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11" name="Google Shape;41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Acute vasotocin increases respiration during recovery</a:t>
            </a:r>
            <a:endParaRPr sz="1800">
              <a:solidFill>
                <a:schemeClr val="dk1"/>
              </a:solidFill>
              <a:latin typeface="Calibri"/>
              <a:ea typeface="Calibri"/>
              <a:cs typeface="Calibri"/>
              <a:sym typeface="Calibri"/>
            </a:endParaRPr>
          </a:p>
        </p:txBody>
      </p:sp>
      <p:sp>
        <p:nvSpPr>
          <p:cNvPr id="417" name="Google Shape;417;p34"/>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injected exogenous vasotocin directly into the brain and compared recovery with saline-injected controls. </a:t>
            </a:r>
            <a:r>
              <a:rPr b="1" i="0" lang="en-US" sz="1650">
                <a:solidFill>
                  <a:srgbClr val="222831"/>
                </a:solidFill>
                <a:latin typeface="Arial"/>
                <a:ea typeface="Arial"/>
                <a:cs typeface="Arial"/>
                <a:sym typeface="Arial"/>
              </a:rPr>
              <a:t>Exogenous</a:t>
            </a:r>
            <a:r>
              <a:rPr b="0" i="0" lang="en-US" sz="1650">
                <a:solidFill>
                  <a:srgbClr val="222831"/>
                </a:solidFill>
                <a:latin typeface="Arial"/>
                <a:ea typeface="Arial"/>
                <a:cs typeface="Arial"/>
                <a:sym typeface="Arial"/>
              </a:rPr>
              <a:t> means supplied experimentally from outside the organism. Respiration was measured as opercular movements, the movements of the gill covers associated with breathing.</a:t>
            </a:r>
            <a:endParaRPr sz="1800">
              <a:solidFill>
                <a:schemeClr val="dk1"/>
              </a:solidFill>
              <a:latin typeface="Calibri"/>
              <a:ea typeface="Calibri"/>
              <a:cs typeface="Calibri"/>
              <a:sym typeface="Calibri"/>
            </a:endParaRPr>
          </a:p>
        </p:txBody>
      </p:sp>
      <p:sp>
        <p:nvSpPr>
          <p:cNvPr id="418" name="Google Shape;418;p34"/>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endParaRPr sz="1800">
              <a:solidFill>
                <a:schemeClr val="dk1"/>
              </a:solidFill>
              <a:latin typeface="Calibri"/>
              <a:ea typeface="Calibri"/>
              <a:cs typeface="Calibri"/>
              <a:sym typeface="Calibri"/>
            </a:endParaRPr>
          </a:p>
        </p:txBody>
      </p:sp>
      <p:sp>
        <p:nvSpPr>
          <p:cNvPr id="419" name="Google Shape;419;p34"/>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endParaRPr sz="1800">
              <a:solidFill>
                <a:schemeClr val="dk1"/>
              </a:solidFill>
              <a:latin typeface="Calibri"/>
              <a:ea typeface="Calibri"/>
              <a:cs typeface="Calibri"/>
              <a:sym typeface="Calibri"/>
            </a:endParaRPr>
          </a:p>
        </p:txBody>
      </p:sp>
      <p:pic>
        <p:nvPicPr>
          <p:cNvPr id="420" name="Google Shape;420;p34"/>
          <p:cNvPicPr preferRelativeResize="0"/>
          <p:nvPr/>
        </p:nvPicPr>
        <p:blipFill rotWithShape="1">
          <a:blip r:embed="rId3">
            <a:alphaModFix/>
          </a:blip>
          <a:srcRect b="0" l="0" r="0" t="0"/>
          <a:stretch/>
        </p:blipFill>
        <p:spPr>
          <a:xfrm>
            <a:off x="7098567" y="1055340"/>
            <a:ext cx="3900366" cy="2924175"/>
          </a:xfrm>
          <a:prstGeom prst="rect">
            <a:avLst/>
          </a:prstGeom>
          <a:noFill/>
          <a:ln>
            <a:noFill/>
          </a:ln>
        </p:spPr>
      </p:pic>
      <p:sp>
        <p:nvSpPr>
          <p:cNvPr id="421" name="Google Shape;421;p34"/>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7. Respiration following vasotocin versus saline injection, with time axes intact.</a:t>
            </a:r>
            <a:endParaRPr sz="1800">
              <a:solidFill>
                <a:schemeClr val="dk1"/>
              </a:solidFill>
              <a:latin typeface="Calibri"/>
              <a:ea typeface="Calibri"/>
              <a:cs typeface="Calibri"/>
              <a:sym typeface="Calibri"/>
            </a:endParaRPr>
          </a:p>
        </p:txBody>
      </p:sp>
      <p:pic>
        <p:nvPicPr>
          <p:cNvPr id="422" name="Google Shape;422;p34"/>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23" name="Google Shape;423;p34"/>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24" name="Google Shape;424;p34"/>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25" name="Google Shape;42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AVP expression increases charging within individuals</a:t>
            </a:r>
            <a:endParaRPr sz="1800">
              <a:solidFill>
                <a:schemeClr val="dk1"/>
              </a:solidFill>
              <a:latin typeface="Calibri"/>
              <a:ea typeface="Calibri"/>
              <a:cs typeface="Calibri"/>
              <a:sym typeface="Calibri"/>
            </a:endParaRPr>
          </a:p>
        </p:txBody>
      </p:sp>
      <p:sp>
        <p:nvSpPr>
          <p:cNvPr id="431" name="Google Shape;431;p35"/>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tested territorial aggression before and after delivery of the AVP construct. A </a:t>
            </a:r>
            <a:r>
              <a:rPr b="1" i="0" lang="en-US" sz="1650">
                <a:solidFill>
                  <a:srgbClr val="222831"/>
                </a:solidFill>
                <a:latin typeface="Arial"/>
                <a:ea typeface="Arial"/>
                <a:cs typeface="Arial"/>
                <a:sym typeface="Arial"/>
              </a:rPr>
              <a:t>charge</a:t>
            </a:r>
            <a:r>
              <a:rPr b="0" i="0" lang="en-US" sz="1650">
                <a:solidFill>
                  <a:srgbClr val="222831"/>
                </a:solidFill>
                <a:latin typeface="Arial"/>
                <a:ea typeface="Arial"/>
                <a:cs typeface="Arial"/>
                <a:sym typeface="Arial"/>
              </a:rPr>
              <a:t> was a lunge directed toward a smaller male intruder confined in a glass flask. The investigators counted responses during five minutes after the focal male first oriented toward the intruder.</a:t>
            </a:r>
            <a:endParaRPr sz="1800">
              <a:solidFill>
                <a:schemeClr val="dk1"/>
              </a:solidFill>
              <a:latin typeface="Calibri"/>
              <a:ea typeface="Calibri"/>
              <a:cs typeface="Calibri"/>
              <a:sym typeface="Calibri"/>
            </a:endParaRPr>
          </a:p>
        </p:txBody>
      </p:sp>
      <p:sp>
        <p:nvSpPr>
          <p:cNvPr id="432" name="Google Shape;432;p35"/>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endParaRPr sz="1800">
              <a:solidFill>
                <a:schemeClr val="dk1"/>
              </a:solidFill>
              <a:latin typeface="Calibri"/>
              <a:ea typeface="Calibri"/>
              <a:cs typeface="Calibri"/>
              <a:sym typeface="Calibri"/>
            </a:endParaRPr>
          </a:p>
        </p:txBody>
      </p:sp>
      <p:sp>
        <p:nvSpPr>
          <p:cNvPr id="433" name="Google Shape;433;p35"/>
          <p:cNvSpPr/>
          <p:nvPr/>
        </p:nvSpPr>
        <p:spPr>
          <a:xfrm>
            <a:off x="457200" y="467722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endParaRPr sz="1800">
              <a:solidFill>
                <a:schemeClr val="dk1"/>
              </a:solidFill>
              <a:latin typeface="Calibri"/>
              <a:ea typeface="Calibri"/>
              <a:cs typeface="Calibri"/>
              <a:sym typeface="Calibri"/>
            </a:endParaRPr>
          </a:p>
        </p:txBody>
      </p:sp>
      <p:pic>
        <p:nvPicPr>
          <p:cNvPr id="434" name="Google Shape;434;p35"/>
          <p:cNvPicPr preferRelativeResize="0"/>
          <p:nvPr/>
        </p:nvPicPr>
        <p:blipFill rotWithShape="1">
          <a:blip r:embed="rId3">
            <a:alphaModFix/>
          </a:blip>
          <a:srcRect b="0" l="0" r="0" t="0"/>
          <a:stretch/>
        </p:blipFill>
        <p:spPr>
          <a:xfrm>
            <a:off x="7085438" y="1055340"/>
            <a:ext cx="3926624" cy="2924175"/>
          </a:xfrm>
          <a:prstGeom prst="rect">
            <a:avLst/>
          </a:prstGeom>
          <a:noFill/>
          <a:ln>
            <a:noFill/>
          </a:ln>
        </p:spPr>
      </p:pic>
      <p:sp>
        <p:nvSpPr>
          <p:cNvPr id="435" name="Google Shape;435;p35"/>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8. Paired baseline and post-transfection charge counts for EYFP, AVP, and MAOA.</a:t>
            </a:r>
            <a:endParaRPr sz="1800">
              <a:solidFill>
                <a:schemeClr val="dk1"/>
              </a:solidFill>
              <a:latin typeface="Calibri"/>
              <a:ea typeface="Calibri"/>
              <a:cs typeface="Calibri"/>
              <a:sym typeface="Calibri"/>
            </a:endParaRPr>
          </a:p>
        </p:txBody>
      </p:sp>
      <p:pic>
        <p:nvPicPr>
          <p:cNvPr id="436" name="Google Shape;436;p35"/>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37" name="Google Shape;437;p35"/>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38" name="Google Shape;438;p35"/>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39" name="Google Shape;439;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Monoamine oxidase changes transmitter availability</a:t>
            </a:r>
            <a:endParaRPr sz="1800">
              <a:solidFill>
                <a:schemeClr val="dk1"/>
              </a:solidFill>
              <a:latin typeface="Calibri"/>
              <a:ea typeface="Calibri"/>
              <a:cs typeface="Calibri"/>
              <a:sym typeface="Calibri"/>
            </a:endParaRPr>
          </a:p>
        </p:txBody>
      </p:sp>
      <p:sp>
        <p:nvSpPr>
          <p:cNvPr id="445" name="Google Shape;445;p36"/>
          <p:cNvSpPr/>
          <p:nvPr/>
        </p:nvSpPr>
        <p:spPr>
          <a:xfrm>
            <a:off x="457200" y="1055340"/>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650">
                <a:solidFill>
                  <a:srgbClr val="222831"/>
                </a:solidFill>
                <a:latin typeface="Arial"/>
                <a:ea typeface="Arial"/>
                <a:cs typeface="Arial"/>
                <a:sym typeface="Arial"/>
              </a:rPr>
              <a:t>Monoamine oxidase</a:t>
            </a:r>
            <a:r>
              <a:rPr b="0" i="0" lang="en-US" sz="1650">
                <a:solidFill>
                  <a:srgbClr val="222831"/>
                </a:solidFill>
                <a:latin typeface="Arial"/>
                <a:ea typeface="Arial"/>
                <a:cs typeface="Arial"/>
                <a:sym typeface="Arial"/>
              </a:rPr>
              <a:t> is an enzyme that metabolizes several monoamine neurotransmitters, including serotonin, dopamine, and norepinephrine. A </a:t>
            </a:r>
            <a:r>
              <a:rPr b="1" i="0" lang="en-US" sz="1650">
                <a:solidFill>
                  <a:srgbClr val="222831"/>
                </a:solidFill>
                <a:latin typeface="Arial"/>
                <a:ea typeface="Arial"/>
                <a:cs typeface="Arial"/>
                <a:sym typeface="Arial"/>
              </a:rPr>
              <a:t>neurotransmitter</a:t>
            </a:r>
            <a:r>
              <a:rPr b="0" i="0" lang="en-US" sz="1650">
                <a:solidFill>
                  <a:srgbClr val="222831"/>
                </a:solidFill>
                <a:latin typeface="Arial"/>
                <a:ea typeface="Arial"/>
                <a:cs typeface="Arial"/>
                <a:sym typeface="Arial"/>
              </a:rPr>
              <a:t> is a chemical signal used in communication involving neurons. Enzymatic metabolism can change how much active transmitter remains available for signaling.</a:t>
            </a:r>
            <a:endParaRPr sz="1800">
              <a:solidFill>
                <a:schemeClr val="dk1"/>
              </a:solidFill>
              <a:latin typeface="Calibri"/>
              <a:ea typeface="Calibri"/>
              <a:cs typeface="Calibri"/>
              <a:sym typeface="Calibri"/>
            </a:endParaRPr>
          </a:p>
        </p:txBody>
      </p:sp>
      <p:sp>
        <p:nvSpPr>
          <p:cNvPr id="446" name="Google Shape;446;p36"/>
          <p:cNvSpPr/>
          <p:nvPr/>
        </p:nvSpPr>
        <p:spPr>
          <a:xfrm>
            <a:off x="457200" y="3149054"/>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endParaRPr sz="1800">
              <a:solidFill>
                <a:schemeClr val="dk1"/>
              </a:solidFill>
              <a:latin typeface="Calibri"/>
              <a:ea typeface="Calibri"/>
              <a:cs typeface="Calibri"/>
              <a:sym typeface="Calibri"/>
            </a:endParaRPr>
          </a:p>
        </p:txBody>
      </p:sp>
      <p:sp>
        <p:nvSpPr>
          <p:cNvPr id="447" name="Google Shape;447;p36"/>
          <p:cNvSpPr/>
          <p:nvPr/>
        </p:nvSpPr>
        <p:spPr>
          <a:xfrm>
            <a:off x="457200" y="5242768"/>
            <a:ext cx="5581650" cy="2262188"/>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endParaRPr sz="1800">
              <a:solidFill>
                <a:schemeClr val="dk1"/>
              </a:solidFill>
              <a:latin typeface="Calibri"/>
              <a:ea typeface="Calibri"/>
              <a:cs typeface="Calibri"/>
              <a:sym typeface="Calibri"/>
            </a:endParaRPr>
          </a:p>
        </p:txBody>
      </p:sp>
      <p:pic>
        <p:nvPicPr>
          <p:cNvPr id="448" name="Google Shape;448;p36"/>
          <p:cNvPicPr preferRelativeResize="0"/>
          <p:nvPr/>
        </p:nvPicPr>
        <p:blipFill rotWithShape="1">
          <a:blip r:embed="rId3">
            <a:alphaModFix/>
          </a:blip>
          <a:srcRect b="0" l="0" r="0" t="0"/>
          <a:stretch/>
        </p:blipFill>
        <p:spPr>
          <a:xfrm>
            <a:off x="8333428" y="1055340"/>
            <a:ext cx="1430645" cy="2924175"/>
          </a:xfrm>
          <a:prstGeom prst="rect">
            <a:avLst/>
          </a:prstGeom>
          <a:noFill/>
          <a:ln>
            <a:noFill/>
          </a:ln>
        </p:spPr>
      </p:pic>
      <p:sp>
        <p:nvSpPr>
          <p:cNvPr id="449" name="Google Shape;449;p3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3(C–D). Transfected brain cells, the tissue context for candidate-gene delivery.</a:t>
            </a:r>
            <a:endParaRPr sz="1800">
              <a:solidFill>
                <a:schemeClr val="dk1"/>
              </a:solidFill>
              <a:latin typeface="Calibri"/>
              <a:ea typeface="Calibri"/>
              <a:cs typeface="Calibri"/>
              <a:sym typeface="Calibri"/>
            </a:endParaRPr>
          </a:p>
        </p:txBody>
      </p:sp>
      <p:pic>
        <p:nvPicPr>
          <p:cNvPr id="450" name="Google Shape;450;p36"/>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51" name="Google Shape;451;p36"/>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52" name="Google Shape;452;p36"/>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53" name="Google Shape;453;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MAOA alters both aggression and respiration</a:t>
            </a:r>
            <a:endParaRPr sz="1800">
              <a:solidFill>
                <a:schemeClr val="dk1"/>
              </a:solidFill>
              <a:latin typeface="Calibri"/>
              <a:ea typeface="Calibri"/>
              <a:cs typeface="Calibri"/>
              <a:sym typeface="Calibri"/>
            </a:endParaRPr>
          </a:p>
        </p:txBody>
      </p:sp>
      <p:sp>
        <p:nvSpPr>
          <p:cNvPr id="459" name="Google Shape;459;p37"/>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found that MAOA-transfected fish increased their mean territorial charges from 12.1 to 19.1 during the five-minute test. Individual changes varied more than in the AVP group. The increase was assessed relative to the same fish’s baseline behavior.</a:t>
            </a:r>
            <a:endParaRPr sz="1800">
              <a:solidFill>
                <a:schemeClr val="dk1"/>
              </a:solidFill>
              <a:latin typeface="Calibri"/>
              <a:ea typeface="Calibri"/>
              <a:cs typeface="Calibri"/>
              <a:sym typeface="Calibri"/>
            </a:endParaRPr>
          </a:p>
        </p:txBody>
      </p:sp>
      <p:sp>
        <p:nvSpPr>
          <p:cNvPr id="460" name="Google Shape;460;p37"/>
          <p:cNvSpPr/>
          <p:nvPr/>
        </p:nvSpPr>
        <p:spPr>
          <a:xfrm>
            <a:off x="457200" y="2583507"/>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endParaRPr sz="1800">
              <a:solidFill>
                <a:schemeClr val="dk1"/>
              </a:solidFill>
              <a:latin typeface="Calibri"/>
              <a:ea typeface="Calibri"/>
              <a:cs typeface="Calibri"/>
              <a:sym typeface="Calibri"/>
            </a:endParaRPr>
          </a:p>
        </p:txBody>
      </p:sp>
      <p:sp>
        <p:nvSpPr>
          <p:cNvPr id="461" name="Google Shape;461;p37"/>
          <p:cNvSpPr/>
          <p:nvPr/>
        </p:nvSpPr>
        <p:spPr>
          <a:xfrm>
            <a:off x="457200" y="4394448"/>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endParaRPr sz="1800">
              <a:solidFill>
                <a:schemeClr val="dk1"/>
              </a:solidFill>
              <a:latin typeface="Calibri"/>
              <a:ea typeface="Calibri"/>
              <a:cs typeface="Calibri"/>
              <a:sym typeface="Calibri"/>
            </a:endParaRPr>
          </a:p>
        </p:txBody>
      </p:sp>
      <p:pic>
        <p:nvPicPr>
          <p:cNvPr id="462" name="Google Shape;462;p37"/>
          <p:cNvPicPr preferRelativeResize="0"/>
          <p:nvPr/>
        </p:nvPicPr>
        <p:blipFill rotWithShape="1">
          <a:blip r:embed="rId3">
            <a:alphaModFix/>
          </a:blip>
          <a:srcRect b="0" l="0" r="0" t="0"/>
          <a:stretch/>
        </p:blipFill>
        <p:spPr>
          <a:xfrm>
            <a:off x="7105798" y="1055340"/>
            <a:ext cx="3885904" cy="2924175"/>
          </a:xfrm>
          <a:prstGeom prst="rect">
            <a:avLst/>
          </a:prstGeom>
          <a:noFill/>
          <a:ln>
            <a:noFill/>
          </a:ln>
        </p:spPr>
      </p:pic>
      <p:sp>
        <p:nvSpPr>
          <p:cNvPr id="463" name="Google Shape;463;p37"/>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9. Paired respiration measurements in opercular beats per 20 seconds.</a:t>
            </a:r>
            <a:endParaRPr sz="1800">
              <a:solidFill>
                <a:schemeClr val="dk1"/>
              </a:solidFill>
              <a:latin typeface="Calibri"/>
              <a:ea typeface="Calibri"/>
              <a:cs typeface="Calibri"/>
              <a:sym typeface="Calibri"/>
            </a:endParaRPr>
          </a:p>
        </p:txBody>
      </p:sp>
      <p:pic>
        <p:nvPicPr>
          <p:cNvPr id="464" name="Google Shape;464;p37"/>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65" name="Google Shape;465;p37"/>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66" name="Google Shape;466;p37"/>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67" name="Google Shape;467;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Paired trials distinguish change from individual variation</a:t>
            </a:r>
            <a:endParaRPr sz="1800">
              <a:solidFill>
                <a:schemeClr val="dk1"/>
              </a:solidFill>
              <a:latin typeface="Calibri"/>
              <a:ea typeface="Calibri"/>
              <a:cs typeface="Calibri"/>
              <a:sym typeface="Calibri"/>
            </a:endParaRPr>
          </a:p>
        </p:txBody>
      </p:sp>
      <p:sp>
        <p:nvSpPr>
          <p:cNvPr id="473" name="Google Shape;473;p38"/>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within-individual comparison</a:t>
            </a:r>
            <a:r>
              <a:rPr b="0" i="0" lang="en-US" sz="1650">
                <a:solidFill>
                  <a:srgbClr val="222831"/>
                </a:solidFill>
                <a:latin typeface="Arial"/>
                <a:ea typeface="Arial"/>
                <a:cs typeface="Arial"/>
                <a:sym typeface="Arial"/>
              </a:rPr>
              <a:t> assesses change in the same animal across experimental conditions. James and Bell measured each focal male twice before injection and twice after expression. Nearly every fish faced the same intruder throughout these four territorial challenges.</a:t>
            </a:r>
            <a:endParaRPr sz="1800">
              <a:solidFill>
                <a:schemeClr val="dk1"/>
              </a:solidFill>
              <a:latin typeface="Calibri"/>
              <a:ea typeface="Calibri"/>
              <a:cs typeface="Calibri"/>
              <a:sym typeface="Calibri"/>
            </a:endParaRPr>
          </a:p>
        </p:txBody>
      </p:sp>
      <p:sp>
        <p:nvSpPr>
          <p:cNvPr id="474" name="Google Shape;474;p38"/>
          <p:cNvSpPr/>
          <p:nvPr/>
        </p:nvSpPr>
        <p:spPr>
          <a:xfrm>
            <a:off x="457200" y="286628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endParaRPr sz="1800">
              <a:solidFill>
                <a:schemeClr val="dk1"/>
              </a:solidFill>
              <a:latin typeface="Calibri"/>
              <a:ea typeface="Calibri"/>
              <a:cs typeface="Calibri"/>
              <a:sym typeface="Calibri"/>
            </a:endParaRPr>
          </a:p>
        </p:txBody>
      </p:sp>
      <p:sp>
        <p:nvSpPr>
          <p:cNvPr id="475" name="Google Shape;475;p38"/>
          <p:cNvSpPr/>
          <p:nvPr/>
        </p:nvSpPr>
        <p:spPr>
          <a:xfrm>
            <a:off x="457200" y="4959995"/>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endParaRPr sz="1800">
              <a:solidFill>
                <a:schemeClr val="dk1"/>
              </a:solidFill>
              <a:latin typeface="Calibri"/>
              <a:ea typeface="Calibri"/>
              <a:cs typeface="Calibri"/>
              <a:sym typeface="Calibri"/>
            </a:endParaRPr>
          </a:p>
        </p:txBody>
      </p:sp>
      <p:pic>
        <p:nvPicPr>
          <p:cNvPr id="476" name="Google Shape;476;p38"/>
          <p:cNvPicPr preferRelativeResize="0"/>
          <p:nvPr/>
        </p:nvPicPr>
        <p:blipFill rotWithShape="1">
          <a:blip r:embed="rId3">
            <a:alphaModFix/>
          </a:blip>
          <a:srcRect b="0" l="0" r="0" t="0"/>
          <a:stretch/>
        </p:blipFill>
        <p:spPr>
          <a:xfrm>
            <a:off x="6362700" y="1588961"/>
            <a:ext cx="5372100" cy="1399734"/>
          </a:xfrm>
          <a:prstGeom prst="rect">
            <a:avLst/>
          </a:prstGeom>
          <a:noFill/>
          <a:ln>
            <a:noFill/>
          </a:ln>
        </p:spPr>
      </p:pic>
      <p:sp>
        <p:nvSpPr>
          <p:cNvPr id="477" name="Google Shape;477;p38"/>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4. The authors’ baseline, injection, and post-transfection trial timeline.</a:t>
            </a:r>
            <a:endParaRPr sz="1800">
              <a:solidFill>
                <a:schemeClr val="dk1"/>
              </a:solidFill>
              <a:latin typeface="Calibri"/>
              <a:ea typeface="Calibri"/>
              <a:cs typeface="Calibri"/>
              <a:sym typeface="Calibri"/>
            </a:endParaRPr>
          </a:p>
        </p:txBody>
      </p:sp>
      <p:pic>
        <p:nvPicPr>
          <p:cNvPr id="478" name="Google Shape;478;p38"/>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479" name="Google Shape;479;p38"/>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80" name="Google Shape;480;p38"/>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81" name="Google Shape;481;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Recovery time and gene-expression time are different</a:t>
            </a:r>
            <a:endParaRPr sz="1800">
              <a:solidFill>
                <a:schemeClr val="dk1"/>
              </a:solidFill>
              <a:latin typeface="Calibri"/>
              <a:ea typeface="Calibri"/>
              <a:cs typeface="Calibri"/>
              <a:sym typeface="Calibri"/>
            </a:endParaRPr>
          </a:p>
        </p:txBody>
      </p:sp>
      <p:sp>
        <p:nvSpPr>
          <p:cNvPr id="487" name="Google Shape;487;p39"/>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endParaRPr sz="1800">
              <a:solidFill>
                <a:schemeClr val="dk1"/>
              </a:solidFill>
              <a:latin typeface="Calibri"/>
              <a:ea typeface="Calibri"/>
              <a:cs typeface="Calibri"/>
              <a:sym typeface="Calibri"/>
            </a:endParaRPr>
          </a:p>
        </p:txBody>
      </p:sp>
      <p:sp>
        <p:nvSpPr>
          <p:cNvPr id="488" name="Google Shape;488;p39"/>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endParaRPr sz="1800">
              <a:solidFill>
                <a:schemeClr val="dk1"/>
              </a:solidFill>
              <a:latin typeface="Calibri"/>
              <a:ea typeface="Calibri"/>
              <a:cs typeface="Calibri"/>
              <a:sym typeface="Calibri"/>
            </a:endParaRPr>
          </a:p>
        </p:txBody>
      </p:sp>
      <p:sp>
        <p:nvSpPr>
          <p:cNvPr id="489" name="Google Shape;489;p39"/>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a:t>
            </a:r>
            <a:r>
              <a:rPr b="1" i="0" lang="en-US" sz="1650">
                <a:solidFill>
                  <a:srgbClr val="222831"/>
                </a:solidFill>
                <a:latin typeface="Arial"/>
                <a:ea typeface="Arial"/>
                <a:cs typeface="Arial"/>
                <a:sym typeface="Arial"/>
              </a:rPr>
              <a:t>time course</a:t>
            </a:r>
            <a:r>
              <a:rPr b="0" i="0" lang="en-US" sz="1650">
                <a:solidFill>
                  <a:srgbClr val="222831"/>
                </a:solidFill>
                <a:latin typeface="Arial"/>
                <a:ea typeface="Arial"/>
                <a:cs typeface="Arial"/>
                <a:sym typeface="Arial"/>
              </a:rPr>
              <a:t>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endParaRPr sz="1800">
              <a:solidFill>
                <a:schemeClr val="dk1"/>
              </a:solidFill>
              <a:latin typeface="Calibri"/>
              <a:ea typeface="Calibri"/>
              <a:cs typeface="Calibri"/>
              <a:sym typeface="Calibri"/>
            </a:endParaRPr>
          </a:p>
        </p:txBody>
      </p:sp>
      <p:pic>
        <p:nvPicPr>
          <p:cNvPr id="490" name="Google Shape;490;p39"/>
          <p:cNvPicPr preferRelativeResize="0"/>
          <p:nvPr/>
        </p:nvPicPr>
        <p:blipFill rotWithShape="1">
          <a:blip r:embed="rId3">
            <a:alphaModFix/>
          </a:blip>
          <a:srcRect b="0" l="0" r="0" t="0"/>
          <a:stretch/>
        </p:blipFill>
        <p:spPr>
          <a:xfrm>
            <a:off x="7130028" y="1055340"/>
            <a:ext cx="3837444" cy="2924175"/>
          </a:xfrm>
          <a:prstGeom prst="rect">
            <a:avLst/>
          </a:prstGeom>
          <a:noFill/>
          <a:ln>
            <a:noFill/>
          </a:ln>
        </p:spPr>
      </p:pic>
      <p:sp>
        <p:nvSpPr>
          <p:cNvPr id="491" name="Google Shape;491;p39"/>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5. Respiration during recovery after direct brain injection.</a:t>
            </a:r>
            <a:endParaRPr sz="1800">
              <a:solidFill>
                <a:schemeClr val="dk1"/>
              </a:solidFill>
              <a:latin typeface="Calibri"/>
              <a:ea typeface="Calibri"/>
              <a:cs typeface="Calibri"/>
              <a:sym typeface="Calibri"/>
            </a:endParaRPr>
          </a:p>
        </p:txBody>
      </p:sp>
      <p:pic>
        <p:nvPicPr>
          <p:cNvPr id="492" name="Google Shape;492;p39"/>
          <p:cNvPicPr preferRelativeResize="0"/>
          <p:nvPr/>
        </p:nvPicPr>
        <p:blipFill rotWithShape="1">
          <a:blip r:embed="rId4">
            <a:alphaModFix/>
          </a:blip>
          <a:srcRect b="0" l="0" r="0" t="0"/>
          <a:stretch/>
        </p:blipFill>
        <p:spPr>
          <a:xfrm>
            <a:off x="8256294" y="4393853"/>
            <a:ext cx="1584912" cy="1019175"/>
          </a:xfrm>
          <a:prstGeom prst="rect">
            <a:avLst/>
          </a:prstGeom>
          <a:noFill/>
          <a:ln>
            <a:noFill/>
          </a:ln>
        </p:spPr>
      </p:pic>
      <p:sp>
        <p:nvSpPr>
          <p:cNvPr id="493" name="Google Shape;493;p39"/>
          <p:cNvSpPr/>
          <p:nvPr/>
        </p:nvSpPr>
        <p:spPr>
          <a:xfrm>
            <a:off x="6362700" y="5489228"/>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94" name="Google Shape;494;p39"/>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95" name="Google Shape;495;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brief intrusion permits a controlled molecular test</a:t>
            </a:r>
            <a:endParaRPr sz="1800">
              <a:solidFill>
                <a:schemeClr val="dk1"/>
              </a:solidFill>
              <a:latin typeface="Calibri"/>
              <a:ea typeface="Calibri"/>
              <a:cs typeface="Calibri"/>
              <a:sym typeface="Calibri"/>
            </a:endParaRPr>
          </a:p>
        </p:txBody>
      </p:sp>
      <p:sp>
        <p:nvSpPr>
          <p:cNvPr id="501" name="Google Shape;501;p40"/>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endParaRPr sz="1700">
              <a:solidFill>
                <a:schemeClr val="dk1"/>
              </a:solidFill>
              <a:latin typeface="Calibri"/>
              <a:ea typeface="Calibri"/>
              <a:cs typeface="Calibri"/>
              <a:sym typeface="Calibri"/>
            </a:endParaRPr>
          </a:p>
        </p:txBody>
      </p:sp>
      <p:sp>
        <p:nvSpPr>
          <p:cNvPr id="502" name="Google Shape;502;p40"/>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endParaRPr sz="1700">
              <a:solidFill>
                <a:schemeClr val="dk1"/>
              </a:solidFill>
              <a:latin typeface="Calibri"/>
              <a:ea typeface="Calibri"/>
              <a:cs typeface="Calibri"/>
              <a:sym typeface="Calibri"/>
            </a:endParaRPr>
          </a:p>
        </p:txBody>
      </p:sp>
      <p:sp>
        <p:nvSpPr>
          <p:cNvPr id="503" name="Google Shape;503;p40"/>
          <p:cNvSpPr/>
          <p:nvPr/>
        </p:nvSpPr>
        <p:spPr>
          <a:xfrm>
            <a:off x="457200" y="4394441"/>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This design tests molecular consequences of a brief social encounter under controlled conditions. It does not measure the neurons that initially detect an intruder. The first molecular sample was collected long after the immediate behavioral response could begin.</a:t>
            </a:r>
            <a:endParaRPr sz="1700">
              <a:solidFill>
                <a:schemeClr val="dk1"/>
              </a:solidFill>
              <a:latin typeface="Calibri"/>
              <a:ea typeface="Calibri"/>
              <a:cs typeface="Calibri"/>
              <a:sym typeface="Calibri"/>
            </a:endParaRPr>
          </a:p>
        </p:txBody>
      </p:sp>
      <p:pic>
        <p:nvPicPr>
          <p:cNvPr id="504" name="Google Shape;504;p40"/>
          <p:cNvPicPr preferRelativeResize="0"/>
          <p:nvPr/>
        </p:nvPicPr>
        <p:blipFill rotWithShape="1">
          <a:blip r:embed="rId3">
            <a:alphaModFix/>
          </a:blip>
          <a:srcRect b="0" l="0" r="0" t="0"/>
          <a:stretch/>
        </p:blipFill>
        <p:spPr>
          <a:xfrm>
            <a:off x="6610350" y="1432456"/>
            <a:ext cx="5048250" cy="3246268"/>
          </a:xfrm>
          <a:prstGeom prst="rect">
            <a:avLst/>
          </a:prstGeom>
          <a:noFill/>
          <a:ln>
            <a:noFill/>
          </a:ln>
        </p:spPr>
      </p:pic>
      <p:sp>
        <p:nvSpPr>
          <p:cNvPr id="505" name="Google Shape;505;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06" name="Google Shape;506;p40"/>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875">
                <a:solidFill>
                  <a:srgbClr val="5D6673"/>
                </a:solidFill>
                <a:latin typeface="Arial"/>
                <a:ea typeface="Arial"/>
                <a:cs typeface="Arial"/>
                <a:sym typeface="Arial"/>
              </a:rPr>
              <a:t>Bukhari et al. (2017); James &amp; Bell (2021)</a:t>
            </a:r>
            <a:endParaRPr sz="1700">
              <a:solidFill>
                <a:schemeClr val="dk1"/>
              </a:solidFill>
              <a:latin typeface="Calibri"/>
              <a:ea typeface="Calibri"/>
              <a:cs typeface="Calibri"/>
              <a:sym typeface="Calibri"/>
            </a:endParaRPr>
          </a:p>
        </p:txBody>
      </p:sp>
      <p:sp>
        <p:nvSpPr>
          <p:cNvPr id="507" name="Google Shape;507;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social challenge produces successive transcript waves</a:t>
            </a:r>
            <a:endParaRPr sz="1800">
              <a:solidFill>
                <a:schemeClr val="dk1"/>
              </a:solidFill>
              <a:latin typeface="Calibri"/>
              <a:ea typeface="Calibri"/>
              <a:cs typeface="Calibri"/>
              <a:sym typeface="Calibri"/>
            </a:endParaRPr>
          </a:p>
        </p:txBody>
      </p:sp>
      <p:sp>
        <p:nvSpPr>
          <p:cNvPr id="513" name="Google Shape;513;p41"/>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450">
                <a:solidFill>
                  <a:srgbClr val="222831"/>
                </a:solidFill>
                <a:latin typeface="Arial"/>
                <a:ea typeface="Arial"/>
                <a:cs typeface="Arial"/>
                <a:sym typeface="Arial"/>
              </a:rPr>
              <a:t>Gene expression</a:t>
            </a:r>
            <a:r>
              <a:rPr b="0" i="0" lang="en-US" sz="1450">
                <a:solidFill>
                  <a:srgbClr val="222831"/>
                </a:solidFill>
                <a:latin typeface="Arial"/>
                <a:ea typeface="Arial"/>
                <a:cs typeface="Arial"/>
                <a:sym typeface="Arial"/>
              </a:rPr>
              <a:t> includes production of RNA from DNA. Bukhari and colleagues compared transcript abundance after an intruder presentation with abundance after an empty-flask control. The number and direction of changed transcripts varied across the 30-, 60-, and 120-minute samples.</a:t>
            </a:r>
            <a:endParaRPr sz="1600">
              <a:solidFill>
                <a:schemeClr val="dk1"/>
              </a:solidFill>
              <a:latin typeface="Calibri"/>
              <a:ea typeface="Calibri"/>
              <a:cs typeface="Calibri"/>
              <a:sym typeface="Calibri"/>
            </a:endParaRPr>
          </a:p>
        </p:txBody>
      </p:sp>
      <p:sp>
        <p:nvSpPr>
          <p:cNvPr id="514" name="Google Shape;514;p41"/>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endParaRPr sz="1600">
              <a:solidFill>
                <a:schemeClr val="dk1"/>
              </a:solidFill>
              <a:latin typeface="Calibri"/>
              <a:ea typeface="Calibri"/>
              <a:cs typeface="Calibri"/>
              <a:sym typeface="Calibri"/>
            </a:endParaRPr>
          </a:p>
        </p:txBody>
      </p:sp>
      <p:sp>
        <p:nvSpPr>
          <p:cNvPr id="515" name="Google Shape;515;p41"/>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endParaRPr sz="1600">
              <a:solidFill>
                <a:schemeClr val="dk1"/>
              </a:solidFill>
              <a:latin typeface="Calibri"/>
              <a:ea typeface="Calibri"/>
              <a:cs typeface="Calibri"/>
              <a:sym typeface="Calibri"/>
            </a:endParaRPr>
          </a:p>
        </p:txBody>
      </p:sp>
      <p:pic>
        <p:nvPicPr>
          <p:cNvPr id="516" name="Google Shape;516;p41"/>
          <p:cNvPicPr preferRelativeResize="0"/>
          <p:nvPr/>
        </p:nvPicPr>
        <p:blipFill rotWithShape="1">
          <a:blip r:embed="rId3">
            <a:alphaModFix/>
          </a:blip>
          <a:srcRect b="0" l="0" r="0" t="0"/>
          <a:stretch/>
        </p:blipFill>
        <p:spPr>
          <a:xfrm>
            <a:off x="6362700" y="1180378"/>
            <a:ext cx="5372100" cy="2216900"/>
          </a:xfrm>
          <a:prstGeom prst="rect">
            <a:avLst/>
          </a:prstGeom>
          <a:noFill/>
          <a:ln>
            <a:noFill/>
          </a:ln>
        </p:spPr>
      </p:pic>
      <p:sp>
        <p:nvSpPr>
          <p:cNvPr id="517" name="Google Shape;517;p41"/>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2(B,D). Temporal expression patterns and functional associations of telencephalic gene clusters.</a:t>
            </a:r>
            <a:endParaRPr sz="1800">
              <a:solidFill>
                <a:schemeClr val="dk1"/>
              </a:solidFill>
              <a:latin typeface="Calibri"/>
              <a:ea typeface="Calibri"/>
              <a:cs typeface="Calibri"/>
              <a:sym typeface="Calibri"/>
            </a:endParaRPr>
          </a:p>
        </p:txBody>
      </p:sp>
      <p:pic>
        <p:nvPicPr>
          <p:cNvPr id="518" name="Google Shape;518;p41"/>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519" name="Google Shape;519;p41"/>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20" name="Google Shape;520;p41"/>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775">
                <a:solidFill>
                  <a:srgbClr val="5D6673"/>
                </a:solidFill>
                <a:latin typeface="Arial"/>
                <a:ea typeface="Arial"/>
                <a:cs typeface="Arial"/>
                <a:sym typeface="Arial"/>
              </a:rPr>
              <a:t>Bukhari et al. (2017); James &amp; Bell (2021)</a:t>
            </a:r>
            <a:endParaRPr sz="1600">
              <a:solidFill>
                <a:schemeClr val="dk1"/>
              </a:solidFill>
              <a:latin typeface="Calibri"/>
              <a:ea typeface="Calibri"/>
              <a:cs typeface="Calibri"/>
              <a:sym typeface="Calibri"/>
            </a:endParaRPr>
          </a:p>
        </p:txBody>
      </p:sp>
      <p:sp>
        <p:nvSpPr>
          <p:cNvPr id="521" name="Google Shape;521;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The two brain regions can respond in opposite directions</a:t>
            </a:r>
            <a:endParaRPr sz="1800">
              <a:solidFill>
                <a:schemeClr val="dk1"/>
              </a:solidFill>
              <a:latin typeface="Calibri"/>
              <a:ea typeface="Calibri"/>
              <a:cs typeface="Calibri"/>
              <a:sym typeface="Calibri"/>
            </a:endParaRPr>
          </a:p>
        </p:txBody>
      </p:sp>
      <p:sp>
        <p:nvSpPr>
          <p:cNvPr id="527" name="Google Shape;527;p42"/>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Bukhari and colleagues analyzed the telencephalon and diencephalon separately rather than pooling the entire brain. Transcript responses in the two regions were strongly aligned at 30 and 60 minutes. The later sample contained a subset with opposite response directions.</a:t>
            </a:r>
            <a:endParaRPr sz="1600">
              <a:solidFill>
                <a:schemeClr val="dk1"/>
              </a:solidFill>
              <a:latin typeface="Calibri"/>
              <a:ea typeface="Calibri"/>
              <a:cs typeface="Calibri"/>
              <a:sym typeface="Calibri"/>
            </a:endParaRPr>
          </a:p>
        </p:txBody>
      </p:sp>
      <p:sp>
        <p:nvSpPr>
          <p:cNvPr id="528" name="Google Shape;528;p42"/>
          <p:cNvSpPr/>
          <p:nvPr/>
        </p:nvSpPr>
        <p:spPr>
          <a:xfrm>
            <a:off x="457200" y="267656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endParaRPr sz="1600">
              <a:solidFill>
                <a:schemeClr val="dk1"/>
              </a:solidFill>
              <a:latin typeface="Calibri"/>
              <a:ea typeface="Calibri"/>
              <a:cs typeface="Calibri"/>
              <a:sym typeface="Calibri"/>
            </a:endParaRPr>
          </a:p>
        </p:txBody>
      </p:sp>
      <p:sp>
        <p:nvSpPr>
          <p:cNvPr id="529" name="Google Shape;529;p42"/>
          <p:cNvSpPr/>
          <p:nvPr/>
        </p:nvSpPr>
        <p:spPr>
          <a:xfrm>
            <a:off x="457200" y="4394448"/>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450">
                <a:solidFill>
                  <a:srgbClr val="222831"/>
                </a:solidFill>
                <a:latin typeface="Arial"/>
                <a:ea typeface="Arial"/>
                <a:cs typeface="Arial"/>
                <a:sym typeface="Arial"/>
              </a:rPr>
              <a:t>Regional specificity</a:t>
            </a:r>
            <a:r>
              <a:rPr b="0" i="0" lang="en-US" sz="1450">
                <a:solidFill>
                  <a:srgbClr val="222831"/>
                </a:solidFill>
                <a:latin typeface="Arial"/>
                <a:ea typeface="Arial"/>
                <a:cs typeface="Arial"/>
                <a:sym typeface="Arial"/>
              </a:rPr>
              <a:t>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endParaRPr sz="1600">
              <a:solidFill>
                <a:schemeClr val="dk1"/>
              </a:solidFill>
              <a:latin typeface="Calibri"/>
              <a:ea typeface="Calibri"/>
              <a:cs typeface="Calibri"/>
              <a:sym typeface="Calibri"/>
            </a:endParaRPr>
          </a:p>
        </p:txBody>
      </p:sp>
      <p:pic>
        <p:nvPicPr>
          <p:cNvPr id="530" name="Google Shape;530;p42"/>
          <p:cNvPicPr preferRelativeResize="0"/>
          <p:nvPr/>
        </p:nvPicPr>
        <p:blipFill rotWithShape="1">
          <a:blip r:embed="rId3">
            <a:alphaModFix/>
          </a:blip>
          <a:srcRect b="0" l="0" r="0" t="0"/>
          <a:stretch/>
        </p:blipFill>
        <p:spPr>
          <a:xfrm>
            <a:off x="7406275" y="1055340"/>
            <a:ext cx="3284950" cy="2924175"/>
          </a:xfrm>
          <a:prstGeom prst="rect">
            <a:avLst/>
          </a:prstGeom>
          <a:noFill/>
          <a:ln>
            <a:noFill/>
          </a:ln>
        </p:spPr>
      </p:pic>
      <p:sp>
        <p:nvSpPr>
          <p:cNvPr id="531" name="Google Shape;531;p42"/>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1(F). Opposite-direction transcript responses between regions at 120 minutes.</a:t>
            </a:r>
            <a:endParaRPr sz="1800">
              <a:solidFill>
                <a:schemeClr val="dk1"/>
              </a:solidFill>
              <a:latin typeface="Calibri"/>
              <a:ea typeface="Calibri"/>
              <a:cs typeface="Calibri"/>
              <a:sym typeface="Calibri"/>
            </a:endParaRPr>
          </a:p>
        </p:txBody>
      </p:sp>
      <p:pic>
        <p:nvPicPr>
          <p:cNvPr id="532" name="Google Shape;532;p42"/>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533" name="Google Shape;533;p42"/>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34" name="Google Shape;534;p42"/>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35" name="Google Shape;535;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Regulatory networks propose coordinated gene control</a:t>
            </a:r>
            <a:endParaRPr sz="1800">
              <a:solidFill>
                <a:schemeClr val="dk1"/>
              </a:solidFill>
              <a:latin typeface="Calibri"/>
              <a:ea typeface="Calibri"/>
              <a:cs typeface="Calibri"/>
              <a:sym typeface="Calibri"/>
            </a:endParaRPr>
          </a:p>
        </p:txBody>
      </p:sp>
      <p:sp>
        <p:nvSpPr>
          <p:cNvPr id="541" name="Google Shape;541;p4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A </a:t>
            </a:r>
            <a:r>
              <a:rPr b="1" i="0" lang="en-US" sz="1300">
                <a:solidFill>
                  <a:srgbClr val="222831"/>
                </a:solidFill>
                <a:latin typeface="Arial"/>
                <a:ea typeface="Arial"/>
                <a:cs typeface="Arial"/>
                <a:sym typeface="Arial"/>
              </a:rPr>
              <a:t>transcription factor</a:t>
            </a:r>
            <a:r>
              <a:rPr b="0" i="0" lang="en-US" sz="1300">
                <a:solidFill>
                  <a:srgbClr val="222831"/>
                </a:solidFill>
                <a:latin typeface="Arial"/>
                <a:ea typeface="Arial"/>
                <a:cs typeface="Arial"/>
                <a:sym typeface="Arial"/>
              </a:rPr>
              <a:t> is a protein that influences transcription by interacting with regulatory DNA and other components of gene control. Bukhari and colleagues inferred a transcriptional regulatory network and compared predicted targets with groups of genes sharing temporal response patterns.</a:t>
            </a:r>
            <a:endParaRPr sz="1600">
              <a:solidFill>
                <a:schemeClr val="dk1"/>
              </a:solidFill>
              <a:latin typeface="Calibri"/>
              <a:ea typeface="Calibri"/>
              <a:cs typeface="Calibri"/>
              <a:sym typeface="Calibri"/>
            </a:endParaRPr>
          </a:p>
        </p:txBody>
      </p:sp>
      <p:sp>
        <p:nvSpPr>
          <p:cNvPr id="542" name="Google Shape;542;p4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Some candidate regulators and their proposed targets changed in similar sequences across 30, 60, and 120 minutes. For example, the expression of irf8 and cebpb tracked groups with little early change, reduced expression at 60 minutes, and increased expression at 120 minutes.</a:t>
            </a:r>
            <a:endParaRPr sz="1600">
              <a:solidFill>
                <a:schemeClr val="dk1"/>
              </a:solidFill>
              <a:latin typeface="Calibri"/>
              <a:ea typeface="Calibri"/>
              <a:cs typeface="Calibri"/>
              <a:sym typeface="Calibri"/>
            </a:endParaRPr>
          </a:p>
        </p:txBody>
      </p:sp>
      <p:sp>
        <p:nvSpPr>
          <p:cNvPr id="543" name="Google Shape;543;p43"/>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endParaRPr sz="1600">
              <a:solidFill>
                <a:schemeClr val="dk1"/>
              </a:solidFill>
              <a:latin typeface="Calibri"/>
              <a:ea typeface="Calibri"/>
              <a:cs typeface="Calibri"/>
              <a:sym typeface="Calibri"/>
            </a:endParaRPr>
          </a:p>
        </p:txBody>
      </p:sp>
      <p:pic>
        <p:nvPicPr>
          <p:cNvPr id="544" name="Google Shape;544;p43"/>
          <p:cNvPicPr preferRelativeResize="0"/>
          <p:nvPr/>
        </p:nvPicPr>
        <p:blipFill rotWithShape="1">
          <a:blip r:embed="rId3">
            <a:alphaModFix/>
          </a:blip>
          <a:srcRect b="0" l="0" r="0" t="0"/>
          <a:stretch/>
        </p:blipFill>
        <p:spPr>
          <a:xfrm>
            <a:off x="7115930" y="1055340"/>
            <a:ext cx="4037090" cy="4000500"/>
          </a:xfrm>
          <a:prstGeom prst="rect">
            <a:avLst/>
          </a:prstGeom>
          <a:noFill/>
          <a:ln>
            <a:noFill/>
          </a:ln>
        </p:spPr>
      </p:pic>
      <p:sp>
        <p:nvSpPr>
          <p:cNvPr id="545" name="Google Shape;545;p4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Bukhari et al. (2017), Fig. 3. The published inferred network of transcription factors and gene clusters.</a:t>
            </a:r>
            <a:endParaRPr sz="1800">
              <a:solidFill>
                <a:schemeClr val="dk1"/>
              </a:solidFill>
              <a:latin typeface="Calibri"/>
              <a:ea typeface="Calibri"/>
              <a:cs typeface="Calibri"/>
              <a:sym typeface="Calibri"/>
            </a:endParaRPr>
          </a:p>
        </p:txBody>
      </p:sp>
      <p:sp>
        <p:nvSpPr>
          <p:cNvPr id="546" name="Google Shape;546;p43"/>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47" name="Google Shape;547;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Chromatin-associated changes persist after the encounter</a:t>
            </a:r>
            <a:endParaRPr sz="1800">
              <a:solidFill>
                <a:schemeClr val="dk1"/>
              </a:solidFill>
              <a:latin typeface="Calibri"/>
              <a:ea typeface="Calibri"/>
              <a:cs typeface="Calibri"/>
              <a:sym typeface="Calibri"/>
            </a:endParaRPr>
          </a:p>
        </p:txBody>
      </p:sp>
      <p:sp>
        <p:nvSpPr>
          <p:cNvPr id="553" name="Google Shape;553;p44"/>
          <p:cNvSpPr/>
          <p:nvPr/>
        </p:nvSpPr>
        <p:spPr>
          <a:xfrm>
            <a:off x="494425" y="1541828"/>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150">
                <a:solidFill>
                  <a:srgbClr val="222831"/>
                </a:solidFill>
                <a:latin typeface="Arial"/>
                <a:ea typeface="Arial"/>
                <a:cs typeface="Arial"/>
                <a:sym typeface="Arial"/>
              </a:rPr>
              <a:t>Chromatin</a:t>
            </a:r>
            <a:r>
              <a:rPr b="0" i="0" lang="en-US" sz="1150">
                <a:solidFill>
                  <a:srgbClr val="222831"/>
                </a:solidFill>
                <a:latin typeface="Arial"/>
                <a:ea typeface="Arial"/>
                <a:cs typeface="Arial"/>
                <a:sym typeface="Arial"/>
              </a:rPr>
              <a:t>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endParaRPr sz="1300">
              <a:solidFill>
                <a:schemeClr val="dk1"/>
              </a:solidFill>
              <a:latin typeface="Calibri"/>
              <a:ea typeface="Calibri"/>
              <a:cs typeface="Calibri"/>
              <a:sym typeface="Calibri"/>
            </a:endParaRPr>
          </a:p>
        </p:txBody>
      </p:sp>
      <p:sp>
        <p:nvSpPr>
          <p:cNvPr id="554" name="Google Shape;554;p44"/>
          <p:cNvSpPr/>
          <p:nvPr/>
        </p:nvSpPr>
        <p:spPr>
          <a:xfrm>
            <a:off x="494425" y="2881792"/>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150">
                <a:solidFill>
                  <a:srgbClr val="222831"/>
                </a:solidFill>
                <a:latin typeface="Arial"/>
                <a:ea typeface="Arial"/>
                <a:cs typeface="Arial"/>
                <a:sym typeface="Arial"/>
              </a:rPr>
              <a:t>They compared 30- and 120-minute samples and found stronger later changes near many genes. At the Pparg locus, increased regulatory marking at 120 minutes accompanied increased transcript abundance. Other loci had distinct temporal patterns rather than one common response.</a:t>
            </a:r>
            <a:endParaRPr sz="1300">
              <a:solidFill>
                <a:schemeClr val="dk1"/>
              </a:solidFill>
              <a:latin typeface="Calibri"/>
              <a:ea typeface="Calibri"/>
              <a:cs typeface="Calibri"/>
              <a:sym typeface="Calibri"/>
            </a:endParaRPr>
          </a:p>
        </p:txBody>
      </p:sp>
      <p:sp>
        <p:nvSpPr>
          <p:cNvPr id="555" name="Google Shape;555;p44"/>
          <p:cNvSpPr/>
          <p:nvPr/>
        </p:nvSpPr>
        <p:spPr>
          <a:xfrm>
            <a:off x="457200" y="4032083"/>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150">
                <a:solidFill>
                  <a:srgbClr val="222831"/>
                </a:solidFill>
                <a:latin typeface="Arial"/>
                <a:ea typeface="Arial"/>
                <a:cs typeface="Arial"/>
                <a:sym typeface="Arial"/>
              </a:rPr>
              <a:t>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endParaRPr sz="1300">
              <a:solidFill>
                <a:schemeClr val="dk1"/>
              </a:solidFill>
              <a:latin typeface="Calibri"/>
              <a:ea typeface="Calibri"/>
              <a:cs typeface="Calibri"/>
              <a:sym typeface="Calibri"/>
            </a:endParaRPr>
          </a:p>
        </p:txBody>
      </p:sp>
      <p:pic>
        <p:nvPicPr>
          <p:cNvPr id="556" name="Google Shape;556;p44"/>
          <p:cNvPicPr preferRelativeResize="0"/>
          <p:nvPr/>
        </p:nvPicPr>
        <p:blipFill rotWithShape="1">
          <a:blip r:embed="rId3">
            <a:alphaModFix/>
          </a:blip>
          <a:srcRect b="0" l="0" r="0" t="0"/>
          <a:stretch/>
        </p:blipFill>
        <p:spPr>
          <a:xfrm>
            <a:off x="6362700" y="1129040"/>
            <a:ext cx="5372100" cy="2319574"/>
          </a:xfrm>
          <a:prstGeom prst="rect">
            <a:avLst/>
          </a:prstGeom>
          <a:noFill/>
          <a:ln>
            <a:noFill/>
          </a:ln>
        </p:spPr>
      </p:pic>
      <p:sp>
        <p:nvSpPr>
          <p:cNvPr id="557" name="Google Shape;557;p44"/>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4(D). Published chromatin-mark tracks near the Pparg locus.</a:t>
            </a:r>
            <a:endParaRPr sz="1800">
              <a:solidFill>
                <a:schemeClr val="dk1"/>
              </a:solidFill>
              <a:latin typeface="Calibri"/>
              <a:ea typeface="Calibri"/>
              <a:cs typeface="Calibri"/>
              <a:sym typeface="Calibri"/>
            </a:endParaRPr>
          </a:p>
        </p:txBody>
      </p:sp>
      <p:pic>
        <p:nvPicPr>
          <p:cNvPr id="558" name="Google Shape;558;p44"/>
          <p:cNvPicPr preferRelativeResize="0"/>
          <p:nvPr/>
        </p:nvPicPr>
        <p:blipFill rotWithShape="1">
          <a:blip r:embed="rId4">
            <a:alphaModFix/>
          </a:blip>
          <a:srcRect b="0" l="0" r="0" t="0"/>
          <a:stretch/>
        </p:blipFill>
        <p:spPr>
          <a:xfrm>
            <a:off x="7900799" y="3936653"/>
            <a:ext cx="2295901" cy="1476375"/>
          </a:xfrm>
          <a:prstGeom prst="rect">
            <a:avLst/>
          </a:prstGeom>
          <a:noFill/>
          <a:ln>
            <a:noFill/>
          </a:ln>
        </p:spPr>
      </p:pic>
      <p:sp>
        <p:nvSpPr>
          <p:cNvPr id="559" name="Google Shape;559;p44"/>
          <p:cNvSpPr/>
          <p:nvPr/>
        </p:nvSpPr>
        <p:spPr>
          <a:xfrm>
            <a:off x="6362700" y="5489228"/>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60" name="Google Shape;560;p44"/>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475">
                <a:solidFill>
                  <a:srgbClr val="5D6673"/>
                </a:solidFill>
                <a:latin typeface="Arial"/>
                <a:ea typeface="Arial"/>
                <a:cs typeface="Arial"/>
                <a:sym typeface="Arial"/>
              </a:rPr>
              <a:t>Bukhari et al. (2017); James &amp; Bell (2021)</a:t>
            </a:r>
            <a:endParaRPr sz="1300">
              <a:solidFill>
                <a:schemeClr val="dk1"/>
              </a:solidFill>
              <a:latin typeface="Calibri"/>
              <a:ea typeface="Calibri"/>
              <a:cs typeface="Calibri"/>
              <a:sym typeface="Calibri"/>
            </a:endParaRPr>
          </a:p>
        </p:txBody>
      </p:sp>
      <p:sp>
        <p:nvSpPr>
          <p:cNvPr id="561" name="Google Shape;561;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Stereotyped acts coexist with a changing internal state</a:t>
            </a:r>
            <a:endParaRPr sz="1800">
              <a:solidFill>
                <a:schemeClr val="dk1"/>
              </a:solidFill>
              <a:latin typeface="Calibri"/>
              <a:ea typeface="Calibri"/>
              <a:cs typeface="Calibri"/>
              <a:sym typeface="Calibri"/>
            </a:endParaRPr>
          </a:p>
        </p:txBody>
      </p:sp>
      <p:sp>
        <p:nvSpPr>
          <p:cNvPr id="567" name="Google Shape;567;p45"/>
          <p:cNvSpPr/>
          <p:nvPr/>
        </p:nvSpPr>
        <p:spPr>
          <a:xfrm>
            <a:off x="457200" y="151129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endParaRPr>
              <a:solidFill>
                <a:schemeClr val="dk1"/>
              </a:solidFill>
              <a:latin typeface="Calibri"/>
              <a:ea typeface="Calibri"/>
              <a:cs typeface="Calibri"/>
              <a:sym typeface="Calibri"/>
            </a:endParaRPr>
          </a:p>
        </p:txBody>
      </p:sp>
      <p:sp>
        <p:nvSpPr>
          <p:cNvPr id="568" name="Google Shape;568;p45"/>
          <p:cNvSpPr/>
          <p:nvPr/>
        </p:nvSpPr>
        <p:spPr>
          <a:xfrm>
            <a:off x="457200" y="2773206"/>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endParaRPr>
              <a:solidFill>
                <a:schemeClr val="dk1"/>
              </a:solidFill>
              <a:latin typeface="Calibri"/>
              <a:ea typeface="Calibri"/>
              <a:cs typeface="Calibri"/>
              <a:sym typeface="Calibri"/>
            </a:endParaRPr>
          </a:p>
        </p:txBody>
      </p:sp>
      <p:sp>
        <p:nvSpPr>
          <p:cNvPr id="569" name="Google Shape;569;p45"/>
          <p:cNvSpPr/>
          <p:nvPr/>
        </p:nvSpPr>
        <p:spPr>
          <a:xfrm>
            <a:off x="457200" y="4307783"/>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endParaRPr>
              <a:solidFill>
                <a:schemeClr val="dk1"/>
              </a:solidFill>
              <a:latin typeface="Calibri"/>
              <a:ea typeface="Calibri"/>
              <a:cs typeface="Calibri"/>
              <a:sym typeface="Calibri"/>
            </a:endParaRPr>
          </a:p>
        </p:txBody>
      </p:sp>
      <p:pic>
        <p:nvPicPr>
          <p:cNvPr id="570" name="Google Shape;570;p45"/>
          <p:cNvPicPr preferRelativeResize="0"/>
          <p:nvPr/>
        </p:nvPicPr>
        <p:blipFill rotWithShape="1">
          <a:blip r:embed="rId3">
            <a:alphaModFix/>
          </a:blip>
          <a:srcRect b="0" l="0" r="0" t="0"/>
          <a:stretch/>
        </p:blipFill>
        <p:spPr>
          <a:xfrm>
            <a:off x="6362700" y="1180378"/>
            <a:ext cx="5372100" cy="2216900"/>
          </a:xfrm>
          <a:prstGeom prst="rect">
            <a:avLst/>
          </a:prstGeom>
          <a:noFill/>
          <a:ln>
            <a:noFill/>
          </a:ln>
        </p:spPr>
      </p:pic>
      <p:sp>
        <p:nvSpPr>
          <p:cNvPr id="571" name="Google Shape;571;p45"/>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2(B,D). Telencephalic temporal gene-expression patterns and functional associations.</a:t>
            </a:r>
            <a:endParaRPr sz="1800">
              <a:solidFill>
                <a:schemeClr val="dk1"/>
              </a:solidFill>
              <a:latin typeface="Calibri"/>
              <a:ea typeface="Calibri"/>
              <a:cs typeface="Calibri"/>
              <a:sym typeface="Calibri"/>
            </a:endParaRPr>
          </a:p>
        </p:txBody>
      </p:sp>
      <p:pic>
        <p:nvPicPr>
          <p:cNvPr id="572" name="Google Shape;572;p45"/>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573" name="Google Shape;573;p45"/>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74" name="Google Shape;574;p45"/>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75" name="Google Shape;575;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6"/>
          <p:cNvSpPr/>
          <p:nvPr/>
        </p:nvSpPr>
        <p:spPr>
          <a:xfrm>
            <a:off x="447675" y="299000"/>
            <a:ext cx="11296800" cy="5145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2F4A6D"/>
              </a:buClr>
              <a:buSzPts val="2700"/>
              <a:buFont typeface="Arial"/>
              <a:buNone/>
            </a:pPr>
            <a:r>
              <a:rPr b="1" i="0" lang="en-US" sz="2700">
                <a:solidFill>
                  <a:srgbClr val="2F4A6D"/>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581" name="Google Shape;581;p46"/>
          <p:cNvSpPr/>
          <p:nvPr/>
        </p:nvSpPr>
        <p:spPr>
          <a:xfrm>
            <a:off x="457200" y="921850"/>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Sign stimuli are selective cues.</a:t>
            </a:r>
            <a:r>
              <a:rPr b="0" i="0" lang="en-US" sz="1350">
                <a:solidFill>
                  <a:srgbClr val="222831"/>
                </a:solidFill>
                <a:latin typeface="Arial"/>
                <a:ea typeface="Arial"/>
                <a:cs typeface="Arial"/>
                <a:sym typeface="Arial"/>
              </a:rPr>
              <a:t> Restricted features can release particular actions, but their effects depend on posture, territorial context, reproductive condition, and the response measured.</a:t>
            </a:r>
            <a:endParaRPr sz="1500">
              <a:solidFill>
                <a:schemeClr val="dk1"/>
              </a:solidFill>
              <a:latin typeface="Calibri"/>
              <a:ea typeface="Calibri"/>
              <a:cs typeface="Calibri"/>
              <a:sym typeface="Calibri"/>
            </a:endParaRPr>
          </a:p>
        </p:txBody>
      </p:sp>
      <p:sp>
        <p:nvSpPr>
          <p:cNvPr id="582" name="Google Shape;582;p46"/>
          <p:cNvSpPr/>
          <p:nvPr/>
        </p:nvSpPr>
        <p:spPr>
          <a:xfrm>
            <a:off x="6191250" y="921850"/>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Fixed patterns and feedback coexist.</a:t>
            </a:r>
            <a:r>
              <a:rPr b="0" i="0" lang="en-US" sz="1350">
                <a:solidFill>
                  <a:srgbClr val="222831"/>
                </a:solidFill>
                <a:latin typeface="Arial"/>
                <a:ea typeface="Arial"/>
                <a:cs typeface="Arial"/>
                <a:sym typeface="Arial"/>
              </a:rPr>
              <a:t> Goose retrieval combines a stereotyped inward movement with lateral corrections dependent on contact and the object’s deviations.</a:t>
            </a:r>
            <a:endParaRPr sz="1500">
              <a:solidFill>
                <a:schemeClr val="dk1"/>
              </a:solidFill>
              <a:latin typeface="Calibri"/>
              <a:ea typeface="Calibri"/>
              <a:cs typeface="Calibri"/>
              <a:sym typeface="Calibri"/>
            </a:endParaRPr>
          </a:p>
        </p:txBody>
      </p:sp>
      <p:sp>
        <p:nvSpPr>
          <p:cNvPr id="583" name="Google Shape;583;p46"/>
          <p:cNvSpPr/>
          <p:nvPr/>
        </p:nvSpPr>
        <p:spPr>
          <a:xfrm>
            <a:off x="457200" y="2662544"/>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Continuation is not successful retrieval.</a:t>
            </a:r>
            <a:r>
              <a:rPr b="0" i="0" lang="en-US" sz="1350">
                <a:solidFill>
                  <a:srgbClr val="222831"/>
                </a:solidFill>
                <a:latin typeface="Arial"/>
                <a:ea typeface="Arial"/>
                <a:cs typeface="Arial"/>
                <a:sym typeface="Arial"/>
              </a:rPr>
              <a:t> The inward movement can persist after object loss; completion of a motor sequence does not prove that the egg reached the nest.</a:t>
            </a:r>
            <a:endParaRPr sz="1500">
              <a:solidFill>
                <a:schemeClr val="dk1"/>
              </a:solidFill>
              <a:latin typeface="Calibri"/>
              <a:ea typeface="Calibri"/>
              <a:cs typeface="Calibri"/>
              <a:sym typeface="Calibri"/>
            </a:endParaRPr>
          </a:p>
        </p:txBody>
      </p:sp>
      <p:sp>
        <p:nvSpPr>
          <p:cNvPr id="584" name="Google Shape;584;p46"/>
          <p:cNvSpPr/>
          <p:nvPr/>
        </p:nvSpPr>
        <p:spPr>
          <a:xfrm>
            <a:off x="6191250" y="2662544"/>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State and experience alter release.</a:t>
            </a:r>
            <a:r>
              <a:rPr b="0" i="0" lang="en-US" sz="1350">
                <a:solidFill>
                  <a:srgbClr val="222831"/>
                </a:solidFill>
                <a:latin typeface="Arial"/>
                <a:ea typeface="Arial"/>
                <a:cs typeface="Arial"/>
                <a:sym typeface="Arial"/>
              </a:rPr>
              <a:t> Repeated retrieval reduces execution readiness, experience narrows object acceptance, and response selection changes near hatching.</a:t>
            </a:r>
            <a:endParaRPr sz="1500">
              <a:solidFill>
                <a:schemeClr val="dk1"/>
              </a:solidFill>
              <a:latin typeface="Calibri"/>
              <a:ea typeface="Calibri"/>
              <a:cs typeface="Calibri"/>
              <a:sym typeface="Calibri"/>
            </a:endParaRPr>
          </a:p>
        </p:txBody>
      </p:sp>
      <p:sp>
        <p:nvSpPr>
          <p:cNvPr id="585" name="Google Shape;585;p46"/>
          <p:cNvSpPr/>
          <p:nvPr/>
        </p:nvSpPr>
        <p:spPr>
          <a:xfrm>
            <a:off x="457200" y="4403238"/>
            <a:ext cx="5562600" cy="18330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Interventions require matched controls.</a:t>
            </a:r>
            <a:r>
              <a:rPr b="0" i="0" lang="en-US" sz="1350">
                <a:solidFill>
                  <a:srgbClr val="222831"/>
                </a:solidFill>
                <a:latin typeface="Arial"/>
                <a:ea typeface="Arial"/>
                <a:cs typeface="Arial"/>
                <a:sym typeface="Arial"/>
              </a:rPr>
              <a:t> Candidate-gene delivery changes aggression within individuals, but broad expression and overlapping final scores limit localization and generalization.</a:t>
            </a:r>
            <a:endParaRPr sz="1500">
              <a:solidFill>
                <a:schemeClr val="dk1"/>
              </a:solidFill>
              <a:latin typeface="Calibri"/>
              <a:ea typeface="Calibri"/>
              <a:cs typeface="Calibri"/>
              <a:sym typeface="Calibri"/>
            </a:endParaRPr>
          </a:p>
        </p:txBody>
      </p:sp>
      <p:sp>
        <p:nvSpPr>
          <p:cNvPr id="586" name="Google Shape;586;p46"/>
          <p:cNvSpPr/>
          <p:nvPr/>
        </p:nvSpPr>
        <p:spPr>
          <a:xfrm>
            <a:off x="6191250" y="4403238"/>
            <a:ext cx="5562600" cy="18330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Molecular responses have distinct time scales.</a:t>
            </a:r>
            <a:r>
              <a:rPr b="0" i="0" lang="en-US" sz="1350">
                <a:solidFill>
                  <a:srgbClr val="222831"/>
                </a:solidFill>
                <a:latin typeface="Arial"/>
                <a:ea typeface="Arial"/>
                <a:cs typeface="Arial"/>
                <a:sym typeface="Arial"/>
              </a:rPr>
              <a:t> A five-minute challenge changes RNA and chromatin-associated marks over 30–120 minutes; these measurements do not directly establish a release circuit or memory.</a:t>
            </a:r>
            <a:endParaRPr sz="1500">
              <a:solidFill>
                <a:schemeClr val="dk1"/>
              </a:solidFill>
              <a:latin typeface="Calibri"/>
              <a:ea typeface="Calibri"/>
              <a:cs typeface="Calibri"/>
              <a:sym typeface="Calibri"/>
            </a:endParaRPr>
          </a:p>
        </p:txBody>
      </p:sp>
      <p:sp>
        <p:nvSpPr>
          <p:cNvPr id="587" name="Google Shape;587;p46"/>
          <p:cNvSpPr/>
          <p:nvPr/>
        </p:nvSpPr>
        <p:spPr>
          <a:xfrm>
            <a:off x="457200" y="6462713"/>
            <a:ext cx="499720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 Lorenz &amp; Tinbergen (1938); James &amp; Bell (2021); Bukhari et al. (2017)</a:t>
            </a:r>
            <a:endParaRPr sz="1800">
              <a:solidFill>
                <a:schemeClr val="dk1"/>
              </a:solidFill>
              <a:latin typeface="Calibri"/>
              <a:ea typeface="Calibri"/>
              <a:cs typeface="Calibri"/>
              <a:sym typeface="Calibri"/>
            </a:endParaRPr>
          </a:p>
        </p:txBody>
      </p:sp>
      <p:sp>
        <p:nvSpPr>
          <p:cNvPr id="588" name="Google Shape;588;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89"/>
        <p:cNvGrpSpPr/>
        <p:nvPr/>
      </p:nvGrpSpPr>
      <p:grpSpPr>
        <a:xfrm>
          <a:off x="0" y="0"/>
          <a:ext cx="0" cy="0"/>
          <a:chOff x="0" y="0"/>
          <a:chExt cx="0" cy="0"/>
        </a:xfrm>
      </p:grpSpPr>
      <p:sp>
        <p:nvSpPr>
          <p:cNvPr id="2" name="Google Shape;90;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Sign stimuli add together to set the strength of a response</a:t>
            </a:r>
            <a:endParaRPr sz="1800">
              <a:solidFill>
                <a:schemeClr val="dk1"/>
              </a:solidFill>
              <a:latin typeface="Calibri"/>
              <a:ea typeface="Calibri"/>
              <a:cs typeface="Calibri"/>
              <a:sym typeface="Calibri"/>
            </a:endParaRPr>
          </a:p>
        </p:txBody>
      </p:sp>
      <p:sp>
        <p:nvSpPr>
          <p:cNvPr id="3" name="Google Shape;91;p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called the combining of features </a:t>
            </a:r>
            <a:r>
              <a:rPr b="1" i="0" lang="en-US" sz="1500">
                <a:solidFill>
                  <a:srgbClr val="222831"/>
                </a:solidFill>
                <a:latin typeface="Arial"/>
                <a:ea typeface="Arial"/>
                <a:cs typeface="Arial"/>
                <a:sym typeface="Arial"/>
              </a:rPr>
              <a:t>heterogeneous summation</a:t>
            </a:r>
            <a:r>
              <a:rPr b="0" i="0" lang="en-US" sz="1500">
                <a:solidFill>
                  <a:srgbClr val="222831"/>
                </a:solidFill>
                <a:latin typeface="Arial"/>
                <a:ea typeface="Arial"/>
                <a:cs typeface="Arial"/>
                <a:sym typeface="Arial"/>
              </a:rPr>
              <a:t>: separate sign stimuli, such as red ventral color and the head-down threat posture, act together, and response strength depends largely on how many are present. Each feature adds to the same response instead of releasing a separate part of it.</a:t>
            </a:r>
            <a:endParaRPr sz="1800">
              <a:solidFill>
                <a:schemeClr val="dk1"/>
              </a:solidFill>
              <a:latin typeface="Calibri"/>
              <a:ea typeface="Calibri"/>
              <a:cs typeface="Calibri"/>
              <a:sym typeface="Calibri"/>
            </a:endParaRPr>
          </a:p>
        </p:txBody>
      </p:sp>
      <p:sp>
        <p:nvSpPr>
          <p:cNvPr id="4" name="Google Shape;92;p7"/>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Responses released this way are graded, not all-or-none. Removing any one feature weakens the reaction in a similar way, whichever feature is missing, so a neutral model in threat posture and a red model held horizontally can both intimidate, each less than a model combining both features.</a:t>
            </a:r>
            <a:endParaRPr sz="1800">
              <a:solidFill>
                <a:schemeClr val="dk1"/>
              </a:solidFill>
              <a:latin typeface="Calibri"/>
              <a:ea typeface="Calibri"/>
              <a:cs typeface="Calibri"/>
              <a:sym typeface="Calibri"/>
            </a:endParaRPr>
          </a:p>
        </p:txBody>
      </p:sp>
      <p:sp>
        <p:nvSpPr>
          <p:cNvPr id="5" name="Google Shape;93;p7"/>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Summation also limits what a negative result can mean. A reaction that still occurs without one feature does not mean the feature is irrelevant, since the others can carry the response at lower intensity; only comparing response strength with the feature present and absent measures its contribution.</a:t>
            </a:r>
            <a:endParaRPr sz="1800">
              <a:solidFill>
                <a:schemeClr val="dk1"/>
              </a:solidFill>
              <a:latin typeface="Calibri"/>
              <a:ea typeface="Calibri"/>
              <a:cs typeface="Calibri"/>
              <a:sym typeface="Calibri"/>
            </a:endParaRPr>
          </a:p>
        </p:txBody>
      </p:sp>
      <p:pic>
        <p:nvPicPr>
          <p:cNvPr id="6" name="Google Shape;94;p7"/>
          <p:cNvPicPr preferRelativeResize="0"/>
          <p:nvPr/>
        </p:nvPicPr>
        <p:blipFill rotWithShape="1">
          <a:blip r:embed="rId3">
            <a:alphaModFix/>
          </a:blip>
          <a:srcRect b="0" l="0" r="0" t="0"/>
          <a:stretch/>
        </p:blipFill>
        <p:spPr>
          <a:xfrm>
            <a:off x="7467134" y="1055340"/>
            <a:ext cx="3334683" cy="4000500"/>
          </a:xfrm>
          <a:prstGeom prst="rect">
            <a:avLst/>
          </a:prstGeom>
          <a:noFill/>
          <a:ln>
            <a:noFill/>
          </a:ln>
        </p:spPr>
      </p:pic>
      <p:sp>
        <p:nvSpPr>
          <p:cNvPr id="7" name="Google Shape;95;p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3. Head-down threat posture and ventral-spine display at a mirror.</a:t>
            </a:r>
            <a:endParaRPr sz="1800">
              <a:solidFill>
                <a:schemeClr val="dk1"/>
              </a:solidFill>
              <a:latin typeface="Calibri"/>
              <a:ea typeface="Calibri"/>
              <a:cs typeface="Calibri"/>
              <a:sym typeface="Calibri"/>
            </a:endParaRPr>
          </a:p>
        </p:txBody>
      </p:sp>
      <p:sp>
        <p:nvSpPr>
          <p:cNvPr id="8" name="Google Shape;96;p7"/>
          <p:cNvSpPr/>
          <p:nvPr/>
        </p:nvSpPr>
        <p:spPr>
          <a:xfrm>
            <a:off x="457200" y="6462713"/>
            <a:ext cx="113487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9" name="Google Shape;97;p7"/>
          <p:cNvSpPr/>
          <p:nvPr/>
        </p:nvSpPr>
        <p:spPr>
          <a:xfrm>
            <a:off x="11589766" y="6462713"/>
            <a:ext cx="1640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8a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25"/>
        <p:cNvGrpSpPr/>
        <p:nvPr/>
      </p:nvGrpSpPr>
      <p:grpSpPr>
        <a:xfrm>
          <a:off x="0" y="0"/>
          <a:ext cx="0" cy="0"/>
          <a:chOff x="0" y="0"/>
          <a:chExt cx="0" cy="0"/>
        </a:xfrm>
      </p:grpSpPr>
      <p:sp>
        <p:nvSpPr>
          <p:cNvPr id="2" name="Google Shape;126;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Each action is released by its own small set of features</a:t>
            </a:r>
            <a:endParaRPr sz="1800">
              <a:solidFill>
                <a:schemeClr val="dk1"/>
              </a:solidFill>
              <a:latin typeface="Calibri"/>
              <a:ea typeface="Calibri"/>
              <a:cs typeface="Calibri"/>
              <a:sym typeface="Calibri"/>
            </a:endParaRPr>
          </a:p>
        </p:txBody>
      </p:sp>
      <p:sp>
        <p:nvSpPr>
          <p:cNvPr id="3" name="Google Shape;127;p10"/>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releasing mechanism</a:t>
            </a:r>
            <a:r>
              <a:rPr b="0" i="0" lang="en-US" sz="1500">
                <a:solidFill>
                  <a:srgbClr val="222831"/>
                </a:solidFill>
                <a:latin typeface="Arial"/>
                <a:ea typeface="Arial"/>
                <a:cs typeface="Arial"/>
                <a:sym typeface="Arial"/>
              </a:rPr>
              <a:t> is the selective process linking a particular action to the few sign stimuli that release it. Tinbergen stressed that it belongs to a reaction, not to an object: during a single courtship, a female stickleback acts on the same male through different features at different steps.</a:t>
            </a:r>
            <a:endParaRPr sz="1800">
              <a:solidFill>
                <a:schemeClr val="dk1"/>
              </a:solidFill>
              <a:latin typeface="Calibri"/>
              <a:ea typeface="Calibri"/>
              <a:cs typeface="Calibri"/>
              <a:sym typeface="Calibri"/>
            </a:endParaRPr>
          </a:p>
        </p:txBody>
      </p:sp>
      <p:sp>
        <p:nvSpPr>
          <p:cNvPr id="4" name="Google Shape;128;p10"/>
          <p:cNvSpPr/>
          <p:nvPr/>
        </p:nvSpPr>
        <p:spPr>
          <a:xfrm>
            <a:off x="457200" y="300464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She is drawn toward the nest by the sight of a red male, but she spawns only after repeated snout thrusts at the base of her tail, and a glass rod producing the same trembling works as well as the male. In the nest, the male's fertilizing behavior is released by chemical cues from the eggs, although he can see them.</a:t>
            </a:r>
            <a:endParaRPr sz="1800">
              <a:solidFill>
                <a:schemeClr val="dk1"/>
              </a:solidFill>
              <a:latin typeface="Calibri"/>
              <a:ea typeface="Calibri"/>
              <a:cs typeface="Calibri"/>
              <a:sym typeface="Calibri"/>
            </a:endParaRPr>
          </a:p>
        </p:txBody>
      </p:sp>
      <p:sp>
        <p:nvSpPr>
          <p:cNvPr id="5" name="Google Shape;129;p10"/>
          <p:cNvSpPr/>
          <p:nvPr/>
        </p:nvSpPr>
        <p:spPr>
          <a:xfrm>
            <a:off x="457200" y="4953953"/>
            <a:ext cx="5829300" cy="12801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Selectivity in one action therefore says little about what the sense organs detect. Disregarding body shape during attack, or courting a crude swollen dummy, reflects which features each releasing mechanism uses, not a limit of the eye.</a:t>
            </a:r>
            <a:endParaRPr sz="1800">
              <a:solidFill>
                <a:schemeClr val="dk1"/>
              </a:solidFill>
              <a:latin typeface="Calibri"/>
              <a:ea typeface="Calibri"/>
              <a:cs typeface="Calibri"/>
              <a:sym typeface="Calibri"/>
            </a:endParaRPr>
          </a:p>
        </p:txBody>
      </p:sp>
      <p:pic>
        <p:nvPicPr>
          <p:cNvPr id="6" name="Google Shape;130;p10"/>
          <p:cNvPicPr preferRelativeResize="0"/>
          <p:nvPr/>
        </p:nvPicPr>
        <p:blipFill rotWithShape="1">
          <a:blip r:embed="rId3">
            <a:alphaModFix/>
          </a:blip>
          <a:srcRect b="0" l="0" r="0" t="0"/>
          <a:stretch/>
        </p:blipFill>
        <p:spPr>
          <a:xfrm>
            <a:off x="6610350" y="1791340"/>
            <a:ext cx="5048250" cy="2528500"/>
          </a:xfrm>
          <a:prstGeom prst="rect">
            <a:avLst/>
          </a:prstGeom>
          <a:noFill/>
          <a:ln>
            <a:noFill/>
          </a:ln>
        </p:spPr>
      </p:pic>
      <p:sp>
        <p:nvSpPr>
          <p:cNvPr id="7" name="Google Shape;131;p1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5(A–C). A non-stickleback fish model, a normal-abdomen fish, and a swollen-abdomen dummy.</a:t>
            </a:r>
            <a:endParaRPr sz="1800">
              <a:solidFill>
                <a:schemeClr val="dk1"/>
              </a:solidFill>
              <a:latin typeface="Calibri"/>
              <a:ea typeface="Calibri"/>
              <a:cs typeface="Calibri"/>
              <a:sym typeface="Calibri"/>
            </a:endParaRPr>
          </a:p>
        </p:txBody>
      </p:sp>
      <p:sp>
        <p:nvSpPr>
          <p:cNvPr id="8" name="Google Shape;132;p10"/>
          <p:cNvSpPr/>
          <p:nvPr/>
        </p:nvSpPr>
        <p:spPr>
          <a:xfrm>
            <a:off x="457200" y="6462713"/>
            <a:ext cx="113487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9" name="Google Shape;133;p10"/>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10a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73"/>
        <p:cNvGrpSpPr/>
        <p:nvPr/>
      </p:nvGrpSpPr>
      <p:grpSpPr>
        <a:xfrm>
          <a:off x="0" y="0"/>
          <a:ext cx="0" cy="0"/>
          <a:chOff x="0" y="0"/>
          <a:chExt cx="0" cy="0"/>
        </a:xfrm>
      </p:grpSpPr>
      <p:sp>
        <p:nvSpPr>
          <p:cNvPr id="2" name="Google Shape;174;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Egg retrieval is a chain of steps released by different cues</a:t>
            </a:r>
            <a:endParaRPr sz="1800">
              <a:solidFill>
                <a:schemeClr val="dk1"/>
              </a:solidFill>
              <a:latin typeface="Calibri"/>
              <a:ea typeface="Calibri"/>
              <a:cs typeface="Calibri"/>
              <a:sym typeface="Calibri"/>
            </a:endParaRPr>
          </a:p>
        </p:txBody>
      </p:sp>
      <p:sp>
        <p:nvSpPr>
          <p:cNvPr id="3" name="Google Shape;175;p14"/>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Goose egg retrieval runs as a chain of steps, each released by a stimulus that the previous step brings within reach. Sight of a rounded object releases orientation and neck extension; the extension brings the bill into contact; contact then supplies the tactile information that decides whether rolling continues.</a:t>
            </a:r>
            <a:endParaRPr sz="1800">
              <a:solidFill>
                <a:schemeClr val="dk1"/>
              </a:solidFill>
              <a:latin typeface="Calibri"/>
              <a:ea typeface="Calibri"/>
              <a:cs typeface="Calibri"/>
              <a:sym typeface="Calibri"/>
            </a:endParaRPr>
          </a:p>
        </p:txBody>
      </p:sp>
      <p:sp>
        <p:nvSpPr>
          <p:cNvPr id="4" name="Google Shape;176;p14"/>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Splitting one act into steps with different sign stimuli means an object can pass one test and fail the following one. The rubber toy and the balloon passed the visual test and failed the tactile one, and the open cube passed both until its rim appeared, which switched the act to nibbling.</a:t>
            </a:r>
            <a:endParaRPr sz="1800">
              <a:solidFill>
                <a:schemeClr val="dk1"/>
              </a:solidFill>
              <a:latin typeface="Calibri"/>
              <a:ea typeface="Calibri"/>
              <a:cs typeface="Calibri"/>
              <a:sym typeface="Calibri"/>
            </a:endParaRPr>
          </a:p>
        </p:txBody>
      </p:sp>
      <p:sp>
        <p:nvSpPr>
          <p:cNvPr id="5" name="Google Shape;177;p14"/>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chain organized this way allows one approach to serve several outcomes. The same neck extension can end in rolling, rejection, eating or nibbling, depending on what contact reveals, so the goose does not need to identify an object fully before moving toward it.</a:t>
            </a:r>
            <a:endParaRPr sz="1800">
              <a:solidFill>
                <a:schemeClr val="dk1"/>
              </a:solidFill>
              <a:latin typeface="Calibri"/>
              <a:ea typeface="Calibri"/>
              <a:cs typeface="Calibri"/>
              <a:sym typeface="Calibri"/>
            </a:endParaRPr>
          </a:p>
        </p:txBody>
      </p:sp>
      <p:pic>
        <p:nvPicPr>
          <p:cNvPr id="6" name="Google Shape;178;p14"/>
          <p:cNvPicPr preferRelativeResize="0"/>
          <p:nvPr/>
        </p:nvPicPr>
        <p:blipFill rotWithShape="1">
          <a:blip r:embed="rId3">
            <a:alphaModFix/>
          </a:blip>
          <a:srcRect b="0" l="0" r="0" t="0"/>
          <a:stretch/>
        </p:blipFill>
        <p:spPr>
          <a:xfrm>
            <a:off x="6610350" y="2186662"/>
            <a:ext cx="5048250" cy="1737856"/>
          </a:xfrm>
          <a:prstGeom prst="rect">
            <a:avLst/>
          </a:prstGeom>
          <a:noFill/>
          <a:ln>
            <a:noFill/>
          </a:ln>
        </p:spPr>
      </p:pic>
      <p:sp>
        <p:nvSpPr>
          <p:cNvPr id="7" name="Google Shape;179;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1(a–b). Visual orientation followed by a bill-contact test.</a:t>
            </a:r>
            <a:endParaRPr sz="1800">
              <a:solidFill>
                <a:schemeClr val="dk1"/>
              </a:solidFill>
              <a:latin typeface="Calibri"/>
              <a:ea typeface="Calibri"/>
              <a:cs typeface="Calibri"/>
              <a:sym typeface="Calibri"/>
            </a:endParaRPr>
          </a:p>
        </p:txBody>
      </p:sp>
      <p:sp>
        <p:nvSpPr>
          <p:cNvPr id="8" name="Google Shape;180;p14"/>
          <p:cNvSpPr/>
          <p:nvPr/>
        </p:nvSpPr>
        <p:spPr>
          <a:xfrm>
            <a:off x="457200" y="6462713"/>
            <a:ext cx="300710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 Tinbergen (1948)</a:t>
            </a:r>
            <a:endParaRPr sz="1800">
              <a:solidFill>
                <a:schemeClr val="dk1"/>
              </a:solidFill>
              <a:latin typeface="Calibri"/>
              <a:ea typeface="Calibri"/>
              <a:cs typeface="Calibri"/>
              <a:sym typeface="Calibri"/>
            </a:endParaRPr>
          </a:p>
        </p:txBody>
      </p:sp>
      <p:sp>
        <p:nvSpPr>
          <p:cNvPr id="9" name="Google Shape;181;p1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21"/>
        <p:cNvGrpSpPr/>
        <p:nvPr/>
      </p:nvGrpSpPr>
      <p:grpSpPr>
        <a:xfrm>
          <a:off x="0" y="0"/>
          <a:ext cx="0" cy="0"/>
          <a:chOff x="0" y="0"/>
          <a:chExt cx="0" cy="0"/>
        </a:xfrm>
      </p:grpSpPr>
      <p:sp>
        <p:nvSpPr>
          <p:cNvPr id="2" name="Google Shape;222;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Three manipulations separate a fixed core from feedback</a:t>
            </a:r>
            <a:endParaRPr sz="1800">
              <a:solidFill>
                <a:schemeClr val="dk1"/>
              </a:solidFill>
              <a:latin typeface="Calibri"/>
              <a:ea typeface="Calibri"/>
              <a:cs typeface="Calibri"/>
              <a:sym typeface="Calibri"/>
            </a:endParaRPr>
          </a:p>
        </p:txBody>
      </p:sp>
      <p:sp>
        <p:nvSpPr>
          <p:cNvPr id="3" name="Google Shape;223;p18"/>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distinction between the inward roll and the lateral corrections rests on three manipulations that change different things. Losing the egg removes the object and its feedback; the cube removes only the instability that needs correcting; the cylinder was meant to do the same but altered contact.</a:t>
            </a:r>
            <a:endParaRPr sz="1800">
              <a:solidFill>
                <a:schemeClr val="dk1"/>
              </a:solidFill>
              <a:latin typeface="Calibri"/>
              <a:ea typeface="Calibri"/>
              <a:cs typeface="Calibri"/>
              <a:sym typeface="Calibri"/>
            </a:endParaRPr>
          </a:p>
        </p:txBody>
      </p:sp>
      <p:sp>
        <p:nvSpPr>
          <p:cNvPr id="4" name="Google Shape;224;p18"/>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If both components depended on feedback, losing the egg should stop both. Instead the roll continued while the side-to-side movements vanished, and with the stable cube the corrections were absent though rolling proceeded. The conclusion rests on agreement across manipulations, not on a single trial.</a:t>
            </a:r>
            <a:endParaRPr sz="1800">
              <a:solidFill>
                <a:schemeClr val="dk1"/>
              </a:solidFill>
              <a:latin typeface="Calibri"/>
              <a:ea typeface="Calibri"/>
              <a:cs typeface="Calibri"/>
              <a:sym typeface="Calibri"/>
            </a:endParaRPr>
          </a:p>
        </p:txBody>
      </p:sp>
      <p:sp>
        <p:nvSpPr>
          <p:cNvPr id="5" name="Google Shape;225;p18"/>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This is the logic of </a:t>
            </a:r>
            <a:r>
              <a:rPr b="1" i="0" lang="en-US" sz="1500">
                <a:solidFill>
                  <a:srgbClr val="222831"/>
                </a:solidFill>
                <a:latin typeface="Arial"/>
                <a:ea typeface="Arial"/>
                <a:cs typeface="Arial"/>
                <a:sym typeface="Arial"/>
              </a:rPr>
              <a:t>dissociation</a:t>
            </a:r>
            <a:r>
              <a:rPr b="0" i="0" lang="en-US" sz="1500">
                <a:solidFill>
                  <a:srgbClr val="222831"/>
                </a:solidFill>
                <a:latin typeface="Arial"/>
                <a:ea typeface="Arial"/>
                <a:cs typeface="Arial"/>
                <a:sym typeface="Arial"/>
              </a:rPr>
              <a:t>: two components have different controls when one manipulation abolishes the first and spares the second. </a:t>
            </a:r>
            <a:r>
              <a:rPr b="1" i="0" lang="en-US" sz="1500">
                <a:solidFill>
                  <a:srgbClr val="222831"/>
                </a:solidFill>
                <a:latin typeface="Arial"/>
                <a:ea typeface="Arial"/>
                <a:cs typeface="Arial"/>
                <a:sym typeface="Arial"/>
              </a:rPr>
              <a:t>Closed-loop</a:t>
            </a:r>
            <a:r>
              <a:rPr b="0" i="0" lang="en-US" sz="1500">
                <a:solidFill>
                  <a:srgbClr val="222831"/>
                </a:solidFill>
                <a:latin typeface="Arial"/>
                <a:ea typeface="Arial"/>
                <a:cs typeface="Arial"/>
                <a:sym typeface="Arial"/>
              </a:rPr>
              <a:t> control adjusts movement continuously from feedback, as the corrections tracked the egg's sideways deviations; the inward roll, once started, needed no such signal.</a:t>
            </a:r>
            <a:endParaRPr sz="1800">
              <a:solidFill>
                <a:schemeClr val="dk1"/>
              </a:solidFill>
              <a:latin typeface="Calibri"/>
              <a:ea typeface="Calibri"/>
              <a:cs typeface="Calibri"/>
              <a:sym typeface="Calibri"/>
            </a:endParaRPr>
          </a:p>
        </p:txBody>
      </p:sp>
      <p:pic>
        <p:nvPicPr>
          <p:cNvPr id="6" name="Google Shape;226;p18"/>
          <p:cNvPicPr preferRelativeResize="0"/>
          <p:nvPr/>
        </p:nvPicPr>
        <p:blipFill rotWithShape="1">
          <a:blip r:embed="rId3">
            <a:alphaModFix/>
          </a:blip>
          <a:srcRect b="0" l="0" r="0" t="0"/>
          <a:stretch/>
        </p:blipFill>
        <p:spPr>
          <a:xfrm>
            <a:off x="6610350" y="2192762"/>
            <a:ext cx="5048250" cy="1725657"/>
          </a:xfrm>
          <a:prstGeom prst="rect">
            <a:avLst/>
          </a:prstGeom>
          <a:noFill/>
          <a:ln>
            <a:noFill/>
          </a:ln>
        </p:spPr>
      </p:pic>
      <p:sp>
        <p:nvSpPr>
          <p:cNvPr id="7" name="Google Shape;227;p1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4(c–d). Escape of an oversized object followed by continued empty movement.</a:t>
            </a:r>
            <a:endParaRPr sz="1800">
              <a:solidFill>
                <a:schemeClr val="dk1"/>
              </a:solidFill>
              <a:latin typeface="Calibri"/>
              <a:ea typeface="Calibri"/>
              <a:cs typeface="Calibri"/>
              <a:sym typeface="Calibri"/>
            </a:endParaRPr>
          </a:p>
        </p:txBody>
      </p:sp>
      <p:sp>
        <p:nvSpPr>
          <p:cNvPr id="8" name="Google Shape;228;p18"/>
          <p:cNvSpPr/>
          <p:nvPr/>
        </p:nvSpPr>
        <p:spPr>
          <a:xfrm>
            <a:off x="457200" y="6462713"/>
            <a:ext cx="175895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9" name="Google Shape;229;p18"/>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20a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93"/>
        <p:cNvGrpSpPr/>
        <p:nvPr/>
      </p:nvGrpSpPr>
      <p:grpSpPr>
        <a:xfrm>
          <a:off x="0" y="0"/>
          <a:ext cx="0" cy="0"/>
          <a:chOff x="0" y="0"/>
          <a:chExt cx="0" cy="0"/>
        </a:xfrm>
      </p:grpSpPr>
      <p:sp>
        <p:nvSpPr>
          <p:cNvPr id="2" name="Google Shape;294;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preset movement trades flexibility for speed and reliability</a:t>
            </a:r>
            <a:endParaRPr sz="1800">
              <a:solidFill>
                <a:schemeClr val="dk1"/>
              </a:solidFill>
              <a:latin typeface="Calibri"/>
              <a:ea typeface="Calibri"/>
              <a:cs typeface="Calibri"/>
              <a:sym typeface="Calibri"/>
            </a:endParaRPr>
          </a:p>
        </p:txBody>
      </p:sp>
      <p:sp>
        <p:nvSpPr>
          <p:cNvPr id="3" name="Google Shape;295;p24"/>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movement that runs without waiting for feedback is fast and repeatable, since no sensory signal has to travel to the brain and back before each part of it is produced. For a common, predictable task, such as rolling an ordinary egg over an ordinary nest rim, a preset sequence reliably produces the right result.</a:t>
            </a:r>
            <a:endParaRPr sz="1800">
              <a:solidFill>
                <a:schemeClr val="dk1"/>
              </a:solidFill>
              <a:latin typeface="Calibri"/>
              <a:ea typeface="Calibri"/>
              <a:cs typeface="Calibri"/>
              <a:sym typeface="Calibri"/>
            </a:endParaRPr>
          </a:p>
        </p:txBody>
      </p:sp>
      <p:sp>
        <p:nvSpPr>
          <p:cNvPr id="4" name="Google Shape;296;p24"/>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cost appears when conditions differ. The goose did not scale its force to a heavier object, did not reshape its neck movement for an oversized egg, and lifted eggs that had already crossed the rim when they lay too close. Each failure follows from a movement tuned to ordinary egg size, weight and nest geometry.</a:t>
            </a:r>
            <a:endParaRPr sz="1800">
              <a:solidFill>
                <a:schemeClr val="dk1"/>
              </a:solidFill>
              <a:latin typeface="Calibri"/>
              <a:ea typeface="Calibri"/>
              <a:cs typeface="Calibri"/>
              <a:sym typeface="Calibri"/>
            </a:endParaRPr>
          </a:p>
        </p:txBody>
      </p:sp>
      <p:sp>
        <p:nvSpPr>
          <p:cNvPr id="5" name="Google Shape;297;p24"/>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lateral corrections show the alternative arrangement inside the same act. Feedback-guided control copes with unpredictable deviations, while the preset roll handles the part of the task that rarely varies, matching each component to how variable its demand is.</a:t>
            </a:r>
            <a:endParaRPr sz="1800">
              <a:solidFill>
                <a:schemeClr val="dk1"/>
              </a:solidFill>
              <a:latin typeface="Calibri"/>
              <a:ea typeface="Calibri"/>
              <a:cs typeface="Calibri"/>
              <a:sym typeface="Calibri"/>
            </a:endParaRPr>
          </a:p>
        </p:txBody>
      </p:sp>
      <p:pic>
        <p:nvPicPr>
          <p:cNvPr id="6" name="Google Shape;298;p24"/>
          <p:cNvPicPr preferRelativeResize="0"/>
          <p:nvPr/>
        </p:nvPicPr>
        <p:blipFill rotWithShape="1">
          <a:blip r:embed="rId3">
            <a:alphaModFix/>
          </a:blip>
          <a:srcRect b="0" l="0" r="0" t="0"/>
          <a:stretch/>
        </p:blipFill>
        <p:spPr>
          <a:xfrm>
            <a:off x="6610350" y="2178598"/>
            <a:ext cx="5048250" cy="1753985"/>
          </a:xfrm>
          <a:prstGeom prst="rect">
            <a:avLst/>
          </a:prstGeom>
          <a:noFill/>
          <a:ln>
            <a:noFill/>
          </a:ln>
        </p:spPr>
      </p:pic>
      <p:sp>
        <p:nvSpPr>
          <p:cNvPr id="7" name="Google Shape;299;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1(c–d). Inward rolling toward the nest and lifting of the transported egg.</a:t>
            </a:r>
            <a:endParaRPr sz="1800">
              <a:solidFill>
                <a:schemeClr val="dk1"/>
              </a:solidFill>
              <a:latin typeface="Calibri"/>
              <a:ea typeface="Calibri"/>
              <a:cs typeface="Calibri"/>
              <a:sym typeface="Calibri"/>
            </a:endParaRPr>
          </a:p>
        </p:txBody>
      </p:sp>
      <p:sp>
        <p:nvSpPr>
          <p:cNvPr id="8" name="Google Shape;300;p24"/>
          <p:cNvSpPr/>
          <p:nvPr/>
        </p:nvSpPr>
        <p:spPr>
          <a:xfrm>
            <a:off x="457200" y="6462713"/>
            <a:ext cx="175895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9" name="Google Shape;301;p2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05"/>
        <p:cNvGrpSpPr/>
        <p:nvPr/>
      </p:nvGrpSpPr>
      <p:grpSpPr>
        <a:xfrm>
          <a:off x="0" y="0"/>
          <a:ext cx="0" cy="0"/>
          <a:chOff x="0" y="0"/>
          <a:chExt cx="0" cy="0"/>
        </a:xfrm>
      </p:grpSpPr>
      <p:sp>
        <p:nvSpPr>
          <p:cNvPr id="2" name="Google Shape;306;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Retrieval fatigue is not sensory adaptation or muscle fatigue</a:t>
            </a:r>
            <a:endParaRPr sz="1800">
              <a:solidFill>
                <a:schemeClr val="dk1"/>
              </a:solidFill>
              <a:latin typeface="Calibri"/>
              <a:ea typeface="Calibri"/>
              <a:cs typeface="Calibri"/>
              <a:sym typeface="Calibri"/>
            </a:endParaRPr>
          </a:p>
        </p:txBody>
      </p:sp>
      <p:sp>
        <p:nvSpPr>
          <p:cNvPr id="3" name="Google Shape;307;p25"/>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response can weaken with repetition for several reasons. </a:t>
            </a:r>
            <a:r>
              <a:rPr b="1" i="0" lang="en-US" sz="1500">
                <a:solidFill>
                  <a:srgbClr val="222831"/>
                </a:solidFill>
                <a:latin typeface="Arial"/>
                <a:ea typeface="Arial"/>
                <a:cs typeface="Arial"/>
                <a:sym typeface="Arial"/>
              </a:rPr>
              <a:t>Sensory adaptation</a:t>
            </a:r>
            <a:r>
              <a:rPr b="0" i="0" lang="en-US" sz="1500">
                <a:solidFill>
                  <a:srgbClr val="222831"/>
                </a:solidFill>
                <a:latin typeface="Arial"/>
                <a:ea typeface="Arial"/>
                <a:cs typeface="Arial"/>
                <a:sym typeface="Arial"/>
              </a:rPr>
              <a:t> is reduced receptor sensitivity to a sustained stimulus; </a:t>
            </a:r>
            <a:r>
              <a:rPr b="1" i="0" lang="en-US" sz="1500">
                <a:solidFill>
                  <a:srgbClr val="222831"/>
                </a:solidFill>
                <a:latin typeface="Arial"/>
                <a:ea typeface="Arial"/>
                <a:cs typeface="Arial"/>
                <a:sym typeface="Arial"/>
              </a:rPr>
              <a:t>muscle fatigue</a:t>
            </a:r>
            <a:r>
              <a:rPr b="0" i="0" lang="en-US" sz="1500">
                <a:solidFill>
                  <a:srgbClr val="222831"/>
                </a:solidFill>
                <a:latin typeface="Arial"/>
                <a:ea typeface="Arial"/>
                <a:cs typeface="Arial"/>
                <a:sym typeface="Arial"/>
              </a:rPr>
              <a:t> is reduced force from overused muscle; </a:t>
            </a:r>
            <a:r>
              <a:rPr b="1" i="0" lang="en-US" sz="1500">
                <a:solidFill>
                  <a:srgbClr val="222831"/>
                </a:solidFill>
                <a:latin typeface="Arial"/>
                <a:ea typeface="Arial"/>
                <a:cs typeface="Arial"/>
                <a:sym typeface="Arial"/>
              </a:rPr>
              <a:t>habituation</a:t>
            </a:r>
            <a:r>
              <a:rPr b="0" i="0" lang="en-US" sz="1500">
                <a:solidFill>
                  <a:srgbClr val="222831"/>
                </a:solidFill>
                <a:latin typeface="Arial"/>
                <a:ea typeface="Arial"/>
                <a:cs typeface="Arial"/>
                <a:sym typeface="Arial"/>
              </a:rPr>
              <a:t> is a learned waning of response to a stimulus that proves inconsequential.</a:t>
            </a:r>
            <a:endParaRPr sz="1800">
              <a:solidFill>
                <a:schemeClr val="dk1"/>
              </a:solidFill>
              <a:latin typeface="Calibri"/>
              <a:ea typeface="Calibri"/>
              <a:cs typeface="Calibri"/>
              <a:sym typeface="Calibri"/>
            </a:endParaRPr>
          </a:p>
        </p:txBody>
      </p:sp>
      <p:sp>
        <p:nvSpPr>
          <p:cNvPr id="4" name="Google Shape;308;p25"/>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results argue against the first two. Looking at the egg and extending the neck persisted, so the egg was still detected, and the neck still made the nest-material movement, so the muscles still worked. Only readiness for one movement declined, which a general loss of sensitivity or strength cannot produce.</a:t>
            </a:r>
            <a:endParaRPr sz="1800">
              <a:solidFill>
                <a:schemeClr val="dk1"/>
              </a:solidFill>
              <a:latin typeface="Calibri"/>
              <a:ea typeface="Calibri"/>
              <a:cs typeface="Calibri"/>
              <a:sym typeface="Calibri"/>
            </a:endParaRPr>
          </a:p>
        </p:txBody>
      </p:sp>
      <p:sp>
        <p:nvSpPr>
          <p:cNvPr id="5" name="Google Shape;309;p25"/>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treated internal readiness as a factor that adds to external stimuli in releasing an act. On that view, repeated retrieval lowers the internal contribution, so the same egg falls below threshold for rolling while still enough for orientation, and another action can appear instead.</a:t>
            </a:r>
            <a:endParaRPr sz="1800">
              <a:solidFill>
                <a:schemeClr val="dk1"/>
              </a:solidFill>
              <a:latin typeface="Calibri"/>
              <a:ea typeface="Calibri"/>
              <a:cs typeface="Calibri"/>
              <a:sym typeface="Calibri"/>
            </a:endParaRPr>
          </a:p>
        </p:txBody>
      </p:sp>
      <p:pic>
        <p:nvPicPr>
          <p:cNvPr id="6" name="Google Shape;310;p25"/>
          <p:cNvPicPr preferRelativeResize="0"/>
          <p:nvPr/>
        </p:nvPicPr>
        <p:blipFill rotWithShape="1">
          <a:blip r:embed="rId3">
            <a:alphaModFix/>
          </a:blip>
          <a:srcRect b="0" l="0" r="0" t="0"/>
          <a:stretch/>
        </p:blipFill>
        <p:spPr>
          <a:xfrm>
            <a:off x="6610350" y="2147483"/>
            <a:ext cx="5048250" cy="1816214"/>
          </a:xfrm>
          <a:prstGeom prst="rect">
            <a:avLst/>
          </a:prstGeom>
          <a:noFill/>
          <a:ln>
            <a:noFill/>
          </a:ln>
        </p:spPr>
      </p:pic>
      <p:sp>
        <p:nvSpPr>
          <p:cNvPr id="7" name="Google Shape;311;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6(a–c). Orientation and an alternative nest-material movement after repeated retrieval.</a:t>
            </a:r>
            <a:endParaRPr sz="1800">
              <a:solidFill>
                <a:schemeClr val="dk1"/>
              </a:solidFill>
              <a:latin typeface="Calibri"/>
              <a:ea typeface="Calibri"/>
              <a:cs typeface="Calibri"/>
              <a:sym typeface="Calibri"/>
            </a:endParaRPr>
          </a:p>
        </p:txBody>
      </p:sp>
      <p:sp>
        <p:nvSpPr>
          <p:cNvPr id="8" name="Google Shape;312;p25"/>
          <p:cNvSpPr/>
          <p:nvPr/>
        </p:nvSpPr>
        <p:spPr>
          <a:xfrm>
            <a:off x="457200" y="6462713"/>
            <a:ext cx="300710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 Tinbergen (1948)</a:t>
            </a:r>
            <a:endParaRPr sz="1800">
              <a:solidFill>
                <a:schemeClr val="dk1"/>
              </a:solidFill>
              <a:latin typeface="Calibri"/>
              <a:ea typeface="Calibri"/>
              <a:cs typeface="Calibri"/>
              <a:sym typeface="Calibri"/>
            </a:endParaRPr>
          </a:p>
        </p:txBody>
      </p:sp>
      <p:sp>
        <p:nvSpPr>
          <p:cNvPr id="9" name="Google Shape;313;p25"/>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26a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29"/>
        <p:cNvGrpSpPr/>
        <p:nvPr/>
      </p:nvGrpSpPr>
      <p:grpSpPr>
        <a:xfrm>
          <a:off x="0" y="0"/>
          <a:ext cx="0" cy="0"/>
          <a:chOff x="0" y="0"/>
          <a:chExt cx="0" cy="0"/>
        </a:xfrm>
      </p:grpSpPr>
      <p:sp>
        <p:nvSpPr>
          <p:cNvPr id="2" name="Google Shape;330;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Innate release and later tuning answer different questions</a:t>
            </a:r>
            <a:endParaRPr sz="1800">
              <a:solidFill>
                <a:schemeClr val="dk1"/>
              </a:solidFill>
              <a:latin typeface="Calibri"/>
              <a:ea typeface="Calibri"/>
              <a:cs typeface="Calibri"/>
              <a:sym typeface="Calibri"/>
            </a:endParaRPr>
          </a:p>
        </p:txBody>
      </p:sp>
      <p:sp>
        <p:nvSpPr>
          <p:cNvPr id="3" name="Google Shape;331;p2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Calling a response </a:t>
            </a:r>
            <a:r>
              <a:rPr b="1" i="0" lang="en-US" sz="1500">
                <a:solidFill>
                  <a:srgbClr val="222831"/>
                </a:solidFill>
                <a:latin typeface="Arial"/>
                <a:ea typeface="Arial"/>
                <a:cs typeface="Arial"/>
                <a:sym typeface="Arial"/>
              </a:rPr>
              <a:t>innate</a:t>
            </a:r>
            <a:r>
              <a:rPr b="0" i="0" lang="en-US" sz="1500">
                <a:solidFill>
                  <a:srgbClr val="222831"/>
                </a:solidFill>
                <a:latin typeface="Arial"/>
                <a:ea typeface="Arial"/>
                <a:cs typeface="Arial"/>
                <a:sym typeface="Arial"/>
              </a:rPr>
              <a:t> in Tinbergen's sense means it appears without a specified kind of experience, as stickleback responses to models did in a male reared without other sticklebacks. Whether experience can later modify that response is a separate question about the same behavior.</a:t>
            </a:r>
            <a:endParaRPr sz="1800">
              <a:solidFill>
                <a:schemeClr val="dk1"/>
              </a:solidFill>
              <a:latin typeface="Calibri"/>
              <a:ea typeface="Calibri"/>
              <a:cs typeface="Calibri"/>
              <a:sym typeface="Calibri"/>
            </a:endParaRPr>
          </a:p>
        </p:txBody>
      </p:sp>
      <p:sp>
        <p:nvSpPr>
          <p:cNvPr id="4" name="Google Shape;332;p27"/>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results address the second question. Acceptance narrowed to real goose eggs during incubation, and destructive nibbling of shell edges disappeared as the bird's own chicks hatched. The rolling and nibbling movements persisted; what changed was which objects released them.</a:t>
            </a:r>
            <a:endParaRPr sz="1800">
              <a:solidFill>
                <a:schemeClr val="dk1"/>
              </a:solidFill>
              <a:latin typeface="Calibri"/>
              <a:ea typeface="Calibri"/>
              <a:cs typeface="Calibri"/>
              <a:sym typeface="Calibri"/>
            </a:endParaRPr>
          </a:p>
        </p:txBody>
      </p:sp>
      <p:sp>
        <p:nvSpPr>
          <p:cNvPr id="5" name="Google Shape;333;p27"/>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study could not separate two sources of the narrowing: learning from repeated encounters with eggs, and a change in internal state during incubation. Tinbergen noted that high motivation makes animals accept poor dummies, so declining motivation alone could also raise selectivity.</a:t>
            </a:r>
            <a:endParaRPr sz="1800">
              <a:solidFill>
                <a:schemeClr val="dk1"/>
              </a:solidFill>
              <a:latin typeface="Calibri"/>
              <a:ea typeface="Calibri"/>
              <a:cs typeface="Calibri"/>
              <a:sym typeface="Calibri"/>
            </a:endParaRPr>
          </a:p>
        </p:txBody>
      </p:sp>
      <p:pic>
        <p:nvPicPr>
          <p:cNvPr id="6" name="Google Shape;334;p27"/>
          <p:cNvPicPr preferRelativeResize="0"/>
          <p:nvPr/>
        </p:nvPicPr>
        <p:blipFill rotWithShape="1">
          <a:blip r:embed="rId3">
            <a:alphaModFix/>
          </a:blip>
          <a:srcRect b="0" l="0" r="0" t="0"/>
          <a:stretch/>
        </p:blipFill>
        <p:spPr>
          <a:xfrm>
            <a:off x="6610350" y="2143355"/>
            <a:ext cx="5048250" cy="1824470"/>
          </a:xfrm>
          <a:prstGeom prst="rect">
            <a:avLst/>
          </a:prstGeom>
          <a:noFill/>
          <a:ln>
            <a:noFill/>
          </a:ln>
        </p:spPr>
      </p:pic>
      <p:sp>
        <p:nvSpPr>
          <p:cNvPr id="7" name="Google Shape;335;p2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6(d–e). Avoidance of an artificial egg after changes in response readiness.</a:t>
            </a:r>
            <a:endParaRPr sz="1800">
              <a:solidFill>
                <a:schemeClr val="dk1"/>
              </a:solidFill>
              <a:latin typeface="Calibri"/>
              <a:ea typeface="Calibri"/>
              <a:cs typeface="Calibri"/>
              <a:sym typeface="Calibri"/>
            </a:endParaRPr>
          </a:p>
        </p:txBody>
      </p:sp>
      <p:sp>
        <p:nvSpPr>
          <p:cNvPr id="8" name="Google Shape;336;p27"/>
          <p:cNvSpPr/>
          <p:nvPr/>
        </p:nvSpPr>
        <p:spPr>
          <a:xfrm>
            <a:off x="457200" y="6462713"/>
            <a:ext cx="300710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 Tinbergen (1948)</a:t>
            </a:r>
            <a:endParaRPr sz="1800">
              <a:solidFill>
                <a:schemeClr val="dk1"/>
              </a:solidFill>
              <a:latin typeface="Calibri"/>
              <a:ea typeface="Calibri"/>
              <a:cs typeface="Calibri"/>
              <a:sym typeface="Calibri"/>
            </a:endParaRPr>
          </a:p>
        </p:txBody>
      </p:sp>
      <p:sp>
        <p:nvSpPr>
          <p:cNvPr id="9" name="Google Shape;337;p27"/>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53"/>
        <p:cNvGrpSpPr/>
        <p:nvPr/>
      </p:nvGrpSpPr>
      <p:grpSpPr>
        <a:xfrm>
          <a:off x="0" y="0"/>
          <a:ext cx="0" cy="0"/>
          <a:chOff x="0" y="0"/>
          <a:chExt cx="0" cy="0"/>
        </a:xfrm>
      </p:grpSpPr>
      <p:sp>
        <p:nvSpPr>
          <p:cNvPr id="2" name="Google Shape;354;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The diencephalon links social signals to hormonal output</a:t>
            </a:r>
            <a:endParaRPr sz="1800">
              <a:solidFill>
                <a:schemeClr val="dk1"/>
              </a:solidFill>
              <a:latin typeface="Calibri"/>
              <a:ea typeface="Calibri"/>
              <a:cs typeface="Calibri"/>
              <a:sym typeface="Calibri"/>
            </a:endParaRPr>
          </a:p>
        </p:txBody>
      </p:sp>
      <p:sp>
        <p:nvSpPr>
          <p:cNvPr id="3" name="Google Shape;355;p29"/>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diencephalon contains the hypothalamus, which links social information processing to the endocrine system through the pituitary gland. In adult teleost fish, vasotocin-producing neurons lie mainly in the preoptic area and ventral hypothalamus, where they help regulate the stress-hormone axis.</a:t>
            </a:r>
            <a:endParaRPr sz="1800">
              <a:solidFill>
                <a:schemeClr val="dk1"/>
              </a:solidFill>
              <a:latin typeface="Calibri"/>
              <a:ea typeface="Calibri"/>
              <a:cs typeface="Calibri"/>
              <a:sym typeface="Calibri"/>
            </a:endParaRPr>
          </a:p>
        </p:txBody>
      </p:sp>
      <p:sp>
        <p:nvSpPr>
          <p:cNvPr id="4" name="Google Shape;356;p29"/>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telencephalon includes the fish homolog of the mammalian hippocampus, a region tied to spatial learning. Both regions contain parts of the social decision-making network, a set of interconnected areas that regulate social behavior across vertebrates.</a:t>
            </a:r>
            <a:endParaRPr sz="1800">
              <a:solidFill>
                <a:schemeClr val="dk1"/>
              </a:solidFill>
              <a:latin typeface="Calibri"/>
              <a:ea typeface="Calibri"/>
              <a:cs typeface="Calibri"/>
              <a:sym typeface="Calibri"/>
            </a:endParaRPr>
          </a:p>
        </p:txBody>
      </p:sp>
      <p:sp>
        <p:nvSpPr>
          <p:cNvPr id="5" name="Google Shape;357;p29"/>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These roles account for the experimental choices that follow. Aggression-related peptide and enzyme constructs were delivered to the anterior diencephalon, and expression responses to an intruder were measured separately in diencephalon and telencephalon, regions expected to handle different aspects of an encounter.</a:t>
            </a:r>
            <a:endParaRPr sz="1800">
              <a:solidFill>
                <a:schemeClr val="dk1"/>
              </a:solidFill>
              <a:latin typeface="Calibri"/>
              <a:ea typeface="Calibri"/>
              <a:cs typeface="Calibri"/>
              <a:sym typeface="Calibri"/>
            </a:endParaRPr>
          </a:p>
        </p:txBody>
      </p:sp>
      <p:pic>
        <p:nvPicPr>
          <p:cNvPr id="6" name="Google Shape;358;p29"/>
          <p:cNvPicPr preferRelativeResize="0"/>
          <p:nvPr/>
        </p:nvPicPr>
        <p:blipFill rotWithShape="1">
          <a:blip r:embed="rId3">
            <a:alphaModFix/>
          </a:blip>
          <a:srcRect b="0" l="0" r="0" t="0"/>
          <a:stretch/>
        </p:blipFill>
        <p:spPr>
          <a:xfrm>
            <a:off x="6610350" y="2023189"/>
            <a:ext cx="5048250" cy="2064803"/>
          </a:xfrm>
          <a:prstGeom prst="rect">
            <a:avLst/>
          </a:prstGeom>
          <a:noFill/>
          <a:ln>
            <a:noFill/>
          </a:ln>
        </p:spPr>
      </p:pic>
      <p:sp>
        <p:nvSpPr>
          <p:cNvPr id="7" name="Google Shape;359;p2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2(A–C). Brain visibility through the skull and dissected dorsal brain anatomy.</a:t>
            </a:r>
            <a:endParaRPr sz="1800">
              <a:solidFill>
                <a:schemeClr val="dk1"/>
              </a:solidFill>
              <a:latin typeface="Calibri"/>
              <a:ea typeface="Calibri"/>
              <a:cs typeface="Calibri"/>
              <a:sym typeface="Calibri"/>
            </a:endParaRPr>
          </a:p>
        </p:txBody>
      </p:sp>
      <p:sp>
        <p:nvSpPr>
          <p:cNvPr id="8" name="Google Shape;360;p29"/>
          <p:cNvSpPr/>
          <p:nvPr/>
        </p:nvSpPr>
        <p:spPr>
          <a:xfrm>
            <a:off x="457200" y="6462713"/>
            <a:ext cx="293776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 Bukhari et al. (2017)</a:t>
            </a:r>
            <a:endParaRPr sz="1800">
              <a:solidFill>
                <a:schemeClr val="dk1"/>
              </a:solidFill>
              <a:latin typeface="Calibri"/>
              <a:ea typeface="Calibri"/>
              <a:cs typeface="Calibri"/>
              <a:sym typeface="Calibri"/>
            </a:endParaRPr>
          </a:p>
        </p:txBody>
      </p:sp>
      <p:sp>
        <p:nvSpPr>
          <p:cNvPr id="9" name="Google Shape;361;p29"/>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29a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77"/>
        <p:cNvGrpSpPr/>
        <p:nvPr/>
      </p:nvGrpSpPr>
      <p:grpSpPr>
        <a:xfrm>
          <a:off x="0" y="0"/>
          <a:ext cx="0" cy="0"/>
          <a:chOff x="0" y="0"/>
          <a:chExt cx="0" cy="0"/>
        </a:xfrm>
      </p:grpSpPr>
      <p:sp>
        <p:nvSpPr>
          <p:cNvPr id="2" name="Google Shape;378;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disabled virus delivers a gene into adult brain cells</a:t>
            </a:r>
            <a:endParaRPr sz="1800">
              <a:solidFill>
                <a:schemeClr val="dk1"/>
              </a:solidFill>
              <a:latin typeface="Calibri"/>
              <a:ea typeface="Calibri"/>
              <a:cs typeface="Calibri"/>
              <a:sym typeface="Calibri"/>
            </a:endParaRPr>
          </a:p>
        </p:txBody>
      </p:sp>
      <p:sp>
        <p:nvSpPr>
          <p:cNvPr id="3" name="Google Shape;379;p31"/>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viral vector keeps a virus's ability to enter cells but not to replicate. James and Bell used a replication-deficient herpes simplex virus 1 carrying no viral genome, only a plasmid with a chosen gene and promoter; adeno-associated viruses had previously failed in teleost fish.</a:t>
            </a:r>
            <a:endParaRPr sz="1800">
              <a:solidFill>
                <a:schemeClr val="dk1"/>
              </a:solidFill>
              <a:latin typeface="Calibri"/>
              <a:ea typeface="Calibri"/>
              <a:cs typeface="Calibri"/>
              <a:sym typeface="Calibri"/>
            </a:endParaRPr>
          </a:p>
        </p:txBody>
      </p:sp>
      <p:sp>
        <p:nvSpPr>
          <p:cNvPr id="4" name="Google Shape;380;p31"/>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Adult delivery avoids the problems of germline transgenesis, in which a gene inserted into a fertilized egg is present throughout development. Developmental side effects and compensation then confound the adult phenotype, and breeding a stable line is slow in a fish with an annual generation time.</a:t>
            </a:r>
            <a:endParaRPr sz="1800">
              <a:solidFill>
                <a:schemeClr val="dk1"/>
              </a:solidFill>
              <a:latin typeface="Calibri"/>
              <a:ea typeface="Calibri"/>
              <a:cs typeface="Calibri"/>
              <a:sym typeface="Calibri"/>
            </a:endParaRPr>
          </a:p>
        </p:txBody>
      </p:sp>
      <p:sp>
        <p:nvSpPr>
          <p:cNvPr id="5" name="Google Shape;381;p31"/>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fluorescent-protein virus controls for infection, foreign protein production and the time course, so the identity of the delivered gene is the remaining difference between groups. Testing waits for expression, since the delivered DNA must be transcribed and translated before protein accumulates.</a:t>
            </a:r>
            <a:endParaRPr sz="1800">
              <a:solidFill>
                <a:schemeClr val="dk1"/>
              </a:solidFill>
              <a:latin typeface="Calibri"/>
              <a:ea typeface="Calibri"/>
              <a:cs typeface="Calibri"/>
              <a:sym typeface="Calibri"/>
            </a:endParaRPr>
          </a:p>
        </p:txBody>
      </p:sp>
      <p:pic>
        <p:nvPicPr>
          <p:cNvPr id="6" name="Google Shape;382;p31"/>
          <p:cNvPicPr preferRelativeResize="0"/>
          <p:nvPr/>
        </p:nvPicPr>
        <p:blipFill rotWithShape="1">
          <a:blip r:embed="rId3">
            <a:alphaModFix/>
          </a:blip>
          <a:srcRect b="0" l="0" r="0" t="0"/>
          <a:stretch/>
        </p:blipFill>
        <p:spPr>
          <a:xfrm>
            <a:off x="6610350" y="1637784"/>
            <a:ext cx="5048250" cy="2835613"/>
          </a:xfrm>
          <a:prstGeom prst="rect">
            <a:avLst/>
          </a:prstGeom>
          <a:noFill/>
          <a:ln>
            <a:noFill/>
          </a:ln>
        </p:spPr>
      </p:pic>
      <p:sp>
        <p:nvSpPr>
          <p:cNvPr id="7" name="Google Shape;383;p3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3(A–B). Restricted expression after one injection and broader expression after delivery at multiple depths.</a:t>
            </a:r>
            <a:endParaRPr sz="1800">
              <a:solidFill>
                <a:schemeClr val="dk1"/>
              </a:solidFill>
              <a:latin typeface="Calibri"/>
              <a:ea typeface="Calibri"/>
              <a:cs typeface="Calibri"/>
              <a:sym typeface="Calibri"/>
            </a:endParaRPr>
          </a:p>
        </p:txBody>
      </p:sp>
      <p:sp>
        <p:nvSpPr>
          <p:cNvPr id="8" name="Google Shape;384;p31"/>
          <p:cNvSpPr/>
          <p:nvPr/>
        </p:nvSpPr>
        <p:spPr>
          <a:xfrm>
            <a:off x="457200" y="6462713"/>
            <a:ext cx="134289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9" name="Google Shape;385;p31"/>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32a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89"/>
        <p:cNvGrpSpPr/>
        <p:nvPr/>
      </p:nvGrpSpPr>
      <p:grpSpPr>
        <a:xfrm>
          <a:off x="0" y="0"/>
          <a:ext cx="0" cy="0"/>
          <a:chOff x="0" y="0"/>
          <a:chExt cx="0" cy="0"/>
        </a:xfrm>
      </p:grpSpPr>
      <p:sp>
        <p:nvSpPr>
          <p:cNvPr id="2" name="Google Shape;39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Acute and sustained vasotocin pushed charging in opposite ways</a:t>
            </a:r>
            <a:endParaRPr sz="1800">
              <a:solidFill>
                <a:schemeClr val="dk1"/>
              </a:solidFill>
              <a:latin typeface="Calibri"/>
              <a:ea typeface="Calibri"/>
              <a:cs typeface="Calibri"/>
              <a:sym typeface="Calibri"/>
            </a:endParaRPr>
          </a:p>
        </p:txBody>
      </p:sp>
      <p:sp>
        <p:nvSpPr>
          <p:cNvPr id="3" name="Google Shape;391;p3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James and Bell also gave vasotocin as a single injection and tested territorial behavior within hours. At the highest dose charging decreased, the opposite of the increase after two weeks of viral AVP expression, although both treatments raise vasopressin-family signaling.</a:t>
            </a:r>
            <a:endParaRPr sz="1800">
              <a:solidFill>
                <a:schemeClr val="dk1"/>
              </a:solidFill>
              <a:latin typeface="Calibri"/>
              <a:ea typeface="Calibri"/>
              <a:cs typeface="Calibri"/>
              <a:sym typeface="Calibri"/>
            </a:endParaRPr>
          </a:p>
        </p:txBody>
      </p:sp>
      <p:sp>
        <p:nvSpPr>
          <p:cNvPr id="4" name="Google Shape;392;p32"/>
          <p:cNvSpPr/>
          <p:nvPr/>
        </p:nvSpPr>
        <p:spPr>
          <a:xfrm>
            <a:off x="457200" y="300464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authors attribute the difference to timing. Vasopressin has a half-life under a minute, so an injection gives a brief pulse, whereas viral expression supplies a signal that builds for days, letting receptors and the hormonal stress axis readjust. Effects also depend on which receptor types are present where.</a:t>
            </a:r>
            <a:endParaRPr sz="1800">
              <a:solidFill>
                <a:schemeClr val="dk1"/>
              </a:solidFill>
              <a:latin typeface="Calibri"/>
              <a:ea typeface="Calibri"/>
              <a:cs typeface="Calibri"/>
              <a:sym typeface="Calibri"/>
            </a:endParaRPr>
          </a:p>
        </p:txBody>
      </p:sp>
      <p:sp>
        <p:nvSpPr>
          <p:cNvPr id="5" name="Google Shape;393;p32"/>
          <p:cNvSpPr/>
          <p:nvPr/>
        </p:nvSpPr>
        <p:spPr>
          <a:xfrm>
            <a:off x="457200" y="4953953"/>
            <a:ext cx="5829300" cy="12801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gene effect therefore cannot be predicted from a drug effect on the same pathway. Whether readjustment explains the reversal has not been shown; the authors propose repeated low doses through an implanted cannula as a direct test.</a:t>
            </a:r>
            <a:endParaRPr sz="1800">
              <a:solidFill>
                <a:schemeClr val="dk1"/>
              </a:solidFill>
              <a:latin typeface="Calibri"/>
              <a:ea typeface="Calibri"/>
              <a:cs typeface="Calibri"/>
              <a:sym typeface="Calibri"/>
            </a:endParaRPr>
          </a:p>
        </p:txBody>
      </p:sp>
      <p:pic>
        <p:nvPicPr>
          <p:cNvPr id="6" name="Google Shape;434;p35"/>
          <p:cNvPicPr preferRelativeResize="0"/>
          <p:nvPr/>
        </p:nvPicPr>
        <p:blipFill rotWithShape="1">
          <a:blip r:embed="rId3">
            <a:alphaModFix/>
          </a:blip>
          <a:srcRect b="0" l="0" r="0" t="0"/>
          <a:stretch/>
        </p:blipFill>
        <p:spPr>
          <a:xfrm>
            <a:off x="7085438" y="1055340"/>
            <a:ext cx="3926624" cy="2924175"/>
          </a:xfrm>
          <a:prstGeom prst="rect">
            <a:avLst/>
          </a:prstGeom>
          <a:noFill/>
          <a:ln>
            <a:noFill/>
          </a:ln>
        </p:spPr>
      </p:pic>
      <p:sp>
        <p:nvSpPr>
          <p:cNvPr id="7" name="Google Shape;435;p35"/>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8. Paired baseline and post-transfection charge counts for EYFP, AVP, and MAOA.</a:t>
            </a:r>
            <a:endParaRPr sz="1800">
              <a:solidFill>
                <a:schemeClr val="dk1"/>
              </a:solidFill>
              <a:latin typeface="Calibri"/>
              <a:ea typeface="Calibri"/>
              <a:cs typeface="Calibri"/>
              <a:sym typeface="Calibri"/>
            </a:endParaRPr>
          </a:p>
        </p:txBody>
      </p:sp>
      <p:pic>
        <p:nvPicPr>
          <p:cNvPr id="8" name="Google Shape;436;p35"/>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9" name="Google Shape;437;p35"/>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10" name="Google Shape;396;p32"/>
          <p:cNvSpPr/>
          <p:nvPr/>
        </p:nvSpPr>
        <p:spPr>
          <a:xfrm>
            <a:off x="457200" y="6462713"/>
            <a:ext cx="134289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11" name="Google Shape;397;p32"/>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89"/>
        <p:cNvGrpSpPr/>
        <p:nvPr/>
      </p:nvGrpSpPr>
      <p:grpSpPr>
        <a:xfrm>
          <a:off x="0" y="0"/>
          <a:ext cx="0" cy="0"/>
          <a:chOff x="0" y="0"/>
          <a:chExt cx="0" cy="0"/>
        </a:xfrm>
      </p:grpSpPr>
      <p:sp>
        <p:nvSpPr>
          <p:cNvPr id="2" name="Google Shape;39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Lower respiration confirms the enzyme worked as expected</a:t>
            </a:r>
            <a:endParaRPr sz="1800">
              <a:solidFill>
                <a:schemeClr val="dk1"/>
              </a:solidFill>
              <a:latin typeface="Calibri"/>
              <a:ea typeface="Calibri"/>
              <a:cs typeface="Calibri"/>
              <a:sym typeface="Calibri"/>
            </a:endParaRPr>
          </a:p>
        </p:txBody>
      </p:sp>
      <p:sp>
        <p:nvSpPr>
          <p:cNvPr id="3" name="Google Shape;391;p3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Monoamine oxidase breaks down serotonin and norepinephrine, so adding enzyme should lower their levels. Serotonin signaling generally restrains aggression, which makes increased charging the expected consequence of extra enzyme, and the authors interpret the result as consistent with reduced serotonin.</a:t>
            </a:r>
            <a:endParaRPr sz="1800">
              <a:solidFill>
                <a:schemeClr val="dk1"/>
              </a:solidFill>
              <a:latin typeface="Calibri"/>
              <a:ea typeface="Calibri"/>
              <a:cs typeface="Calibri"/>
              <a:sym typeface="Calibri"/>
            </a:endParaRPr>
          </a:p>
        </p:txBody>
      </p:sp>
      <p:sp>
        <p:nvSpPr>
          <p:cNvPr id="4" name="Google Shape;392;p32"/>
          <p:cNvSpPr/>
          <p:nvPr/>
        </p:nvSpPr>
        <p:spPr>
          <a:xfrm>
            <a:off x="457200" y="2844626"/>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Respiration supplied an independent check. Breathing rate rises with serotonin and norepinephrine concentration, so an enzyme removing both should slow it; the MAOA group's respiration fell while the AVP and control groups showed no such decline. A change in the predicted direction indicates the construct was active.</a:t>
            </a:r>
            <a:endParaRPr sz="1800">
              <a:solidFill>
                <a:schemeClr val="dk1"/>
              </a:solidFill>
              <a:latin typeface="Calibri"/>
              <a:ea typeface="Calibri"/>
              <a:cs typeface="Calibri"/>
              <a:sym typeface="Calibri"/>
            </a:endParaRPr>
          </a:p>
        </p:txBody>
      </p:sp>
      <p:sp>
        <p:nvSpPr>
          <p:cNvPr id="5" name="Google Shape;393;p32"/>
          <p:cNvSpPr/>
          <p:nvPr/>
        </p:nvSpPr>
        <p:spPr>
          <a:xfrm>
            <a:off x="457200" y="463391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mouse enzyme acting in a fish raises the possibility of off-target effects. The authors cite evidence that fish and mammalian forms of the enzyme metabolize serotonin equally well, which makes a nonspecific action less likely; transmitter levels themselves were not measured.</a:t>
            </a:r>
            <a:endParaRPr sz="1800">
              <a:solidFill>
                <a:schemeClr val="dk1"/>
              </a:solidFill>
              <a:latin typeface="Calibri"/>
              <a:ea typeface="Calibri"/>
              <a:cs typeface="Calibri"/>
              <a:sym typeface="Calibri"/>
            </a:endParaRPr>
          </a:p>
        </p:txBody>
      </p:sp>
      <p:pic>
        <p:nvPicPr>
          <p:cNvPr id="6" name="Google Shape;462;p37"/>
          <p:cNvPicPr preferRelativeResize="0"/>
          <p:nvPr/>
        </p:nvPicPr>
        <p:blipFill rotWithShape="1">
          <a:blip r:embed="rId3">
            <a:alphaModFix/>
          </a:blip>
          <a:srcRect b="0" l="0" r="0" t="0"/>
          <a:stretch/>
        </p:blipFill>
        <p:spPr>
          <a:xfrm>
            <a:off x="7105798" y="1055340"/>
            <a:ext cx="3885904" cy="2924175"/>
          </a:xfrm>
          <a:prstGeom prst="rect">
            <a:avLst/>
          </a:prstGeom>
          <a:noFill/>
          <a:ln>
            <a:noFill/>
          </a:ln>
        </p:spPr>
      </p:pic>
      <p:sp>
        <p:nvSpPr>
          <p:cNvPr id="7" name="Google Shape;463;p37"/>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9. Paired respiration measurements in opercular beats per 20 seconds.</a:t>
            </a:r>
            <a:endParaRPr sz="1800">
              <a:solidFill>
                <a:schemeClr val="dk1"/>
              </a:solidFill>
              <a:latin typeface="Calibri"/>
              <a:ea typeface="Calibri"/>
              <a:cs typeface="Calibri"/>
              <a:sym typeface="Calibri"/>
            </a:endParaRPr>
          </a:p>
        </p:txBody>
      </p:sp>
      <p:sp>
        <p:nvSpPr>
          <p:cNvPr id="8" name="Google Shape;396;p32"/>
          <p:cNvSpPr/>
          <p:nvPr/>
        </p:nvSpPr>
        <p:spPr>
          <a:xfrm>
            <a:off x="457200" y="6462713"/>
            <a:ext cx="134289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9" name="Google Shape;397;p32"/>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37a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11"/>
        <p:cNvGrpSpPr/>
        <p:nvPr/>
      </p:nvGrpSpPr>
      <p:grpSpPr>
        <a:xfrm>
          <a:off x="0" y="0"/>
          <a:ext cx="0" cy="0"/>
          <a:chOff x="0" y="0"/>
          <a:chExt cx="0" cy="0"/>
        </a:xfrm>
      </p:grpSpPr>
      <p:sp>
        <p:nvSpPr>
          <p:cNvPr id="2" name="Google Shape;512;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Early regulators drive later genes, producing expression waves</a:t>
            </a:r>
            <a:endParaRPr sz="1800">
              <a:solidFill>
                <a:schemeClr val="dk1"/>
              </a:solidFill>
              <a:latin typeface="Calibri"/>
              <a:ea typeface="Calibri"/>
              <a:cs typeface="Calibri"/>
              <a:sym typeface="Calibri"/>
            </a:endParaRPr>
          </a:p>
        </p:txBody>
      </p:sp>
      <p:sp>
        <p:nvSpPr>
          <p:cNvPr id="3" name="Google Shape;513;p41"/>
          <p:cNvSpPr/>
          <p:nvPr/>
        </p:nvSpPr>
        <p:spPr>
          <a:xfrm>
            <a:off x="457200" y="1055340"/>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Neural activity during an encounter raises calcium in neurons, and calcium-dependent signaling activates transcription factors already present. These drive a first set of genes, many encoding further regulators, which then switch other genes on or off, so expression changes arrive in stages.</a:t>
            </a:r>
            <a:endParaRPr sz="1600">
              <a:solidFill>
                <a:schemeClr val="dk1"/>
              </a:solidFill>
              <a:latin typeface="Calibri"/>
              <a:ea typeface="Calibri"/>
              <a:cs typeface="Calibri"/>
              <a:sym typeface="Calibri"/>
            </a:endParaRPr>
          </a:p>
        </p:txBody>
      </p:sp>
      <p:sp>
        <p:nvSpPr>
          <p:cNvPr id="4" name="Google Shape;514;p41"/>
          <p:cNvSpPr/>
          <p:nvPr/>
        </p:nvSpPr>
        <p:spPr>
          <a:xfrm>
            <a:off x="457200" y="2958767"/>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Staged regulation fits the little overlap between genes changing at 30, 60 and 120 minutes. Bukhari and colleagues link the early changes to the hormonal response to aggression, and the many increases at 120 minutes, including genes tied to learning and immunity, to recovery and preparation for later encounters.</a:t>
            </a:r>
            <a:endParaRPr sz="1600">
              <a:solidFill>
                <a:schemeClr val="dk1"/>
              </a:solidFill>
              <a:latin typeface="Calibri"/>
              <a:ea typeface="Calibri"/>
              <a:cs typeface="Calibri"/>
              <a:sym typeface="Calibri"/>
            </a:endParaRPr>
          </a:p>
        </p:txBody>
      </p:sp>
      <p:sp>
        <p:nvSpPr>
          <p:cNvPr id="5" name="Google Shape;515;p41"/>
          <p:cNvSpPr/>
          <p:nvPr/>
        </p:nvSpPr>
        <p:spPr>
          <a:xfrm>
            <a:off x="457200" y="4862194"/>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Natural stickleback territories can receive up to 76 intrusions an hour, so in the wild a new encounter may begin before the molecular response to the last has run its course. The authors propose such waves as a way animals update their assessment of their social world; that function has not been tested.</a:t>
            </a:r>
            <a:endParaRPr sz="1600">
              <a:solidFill>
                <a:schemeClr val="dk1"/>
              </a:solidFill>
              <a:latin typeface="Calibri"/>
              <a:ea typeface="Calibri"/>
              <a:cs typeface="Calibri"/>
              <a:sym typeface="Calibri"/>
            </a:endParaRPr>
          </a:p>
        </p:txBody>
      </p:sp>
      <p:pic>
        <p:nvPicPr>
          <p:cNvPr id="6" name="Google Shape;516;p41"/>
          <p:cNvPicPr preferRelativeResize="0"/>
          <p:nvPr/>
        </p:nvPicPr>
        <p:blipFill rotWithShape="1">
          <a:blip r:embed="rId3">
            <a:alphaModFix/>
          </a:blip>
          <a:srcRect b="0" l="0" r="0" t="0"/>
          <a:stretch/>
        </p:blipFill>
        <p:spPr>
          <a:xfrm>
            <a:off x="6362700" y="1180378"/>
            <a:ext cx="5372100" cy="2216900"/>
          </a:xfrm>
          <a:prstGeom prst="rect">
            <a:avLst/>
          </a:prstGeom>
          <a:noFill/>
          <a:ln>
            <a:noFill/>
          </a:ln>
        </p:spPr>
      </p:pic>
      <p:sp>
        <p:nvSpPr>
          <p:cNvPr id="7" name="Google Shape;517;p41"/>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2(B,D). Temporal expression patterns and functional associations of telencephalic gene clusters.</a:t>
            </a:r>
            <a:endParaRPr sz="1800">
              <a:solidFill>
                <a:schemeClr val="dk1"/>
              </a:solidFill>
              <a:latin typeface="Calibri"/>
              <a:ea typeface="Calibri"/>
              <a:cs typeface="Calibri"/>
              <a:sym typeface="Calibri"/>
            </a:endParaRPr>
          </a:p>
        </p:txBody>
      </p:sp>
      <p:sp>
        <p:nvSpPr>
          <p:cNvPr id="8" name="Google Shape;520;p41"/>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775">
                <a:solidFill>
                  <a:srgbClr val="5D6673"/>
                </a:solidFill>
                <a:latin typeface="Arial"/>
                <a:ea typeface="Arial"/>
                <a:cs typeface="Arial"/>
                <a:sym typeface="Arial"/>
              </a:rPr>
              <a:t>Bukhari et al. (2017)</a:t>
            </a:r>
            <a:endParaRPr sz="1600">
              <a:solidFill>
                <a:schemeClr val="dk1"/>
              </a:solidFill>
              <a:latin typeface="Calibri"/>
              <a:ea typeface="Calibri"/>
              <a:cs typeface="Calibri"/>
              <a:sym typeface="Calibri"/>
            </a:endParaRPr>
          </a:p>
        </p:txBody>
      </p:sp>
      <p:sp>
        <p:nvSpPr>
          <p:cNvPr id="9" name="Google Shape;521;p41"/>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99"/>
        <p:cNvGrpSpPr/>
        <p:nvPr/>
      </p:nvGrpSpPr>
      <p:grpSpPr>
        <a:xfrm>
          <a:off x="0" y="0"/>
          <a:ext cx="0" cy="0"/>
          <a:chOff x="0" y="0"/>
          <a:chExt cx="0" cy="0"/>
        </a:xfrm>
      </p:grpSpPr>
      <p:sp>
        <p:nvSpPr>
          <p:cNvPr id="2" name="Google Shape;500;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Expression data nominate genes; perturbation tests them</a:t>
            </a:r>
            <a:endParaRPr sz="1800">
              <a:solidFill>
                <a:schemeClr val="dk1"/>
              </a:solidFill>
              <a:latin typeface="Calibri"/>
              <a:ea typeface="Calibri"/>
              <a:cs typeface="Calibri"/>
              <a:sym typeface="Calibri"/>
            </a:endParaRPr>
          </a:p>
        </p:txBody>
      </p:sp>
      <p:sp>
        <p:nvSpPr>
          <p:cNvPr id="3" name="Google Shape;501;p40"/>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Expression and network studies are correlational: they show which genes change with an encounter, not whether those changes cause behavior. A transcript could rise because aggression occurred, because of stress, or because it shapes the following encounter, and expression data alone cannot tell these apart.</a:t>
            </a:r>
            <a:endParaRPr sz="1700">
              <a:solidFill>
                <a:schemeClr val="dk1"/>
              </a:solidFill>
              <a:latin typeface="Calibri"/>
              <a:ea typeface="Calibri"/>
              <a:cs typeface="Calibri"/>
              <a:sym typeface="Calibri"/>
            </a:endParaRPr>
          </a:p>
        </p:txBody>
      </p:sp>
      <p:sp>
        <p:nvSpPr>
          <p:cNvPr id="4" name="Google Shape;502;p40"/>
          <p:cNvSpPr/>
          <p:nvPr/>
        </p:nvSpPr>
        <p:spPr>
          <a:xfrm>
            <a:off x="457200" y="2960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Testing causation requires changing the gene and measuring behavior. James and Bell built their method for this purpose, noting that expression studies had nominated hundreds of genes, and used it to raise vasopressin-family signaling and monoamine oxidase and record charging within the same fish.</a:t>
            </a:r>
            <a:endParaRPr sz="1700">
              <a:solidFill>
                <a:schemeClr val="dk1"/>
              </a:solidFill>
              <a:latin typeface="Calibri"/>
              <a:ea typeface="Calibri"/>
              <a:cs typeface="Calibri"/>
              <a:sym typeface="Calibri"/>
            </a:endParaRPr>
          </a:p>
        </p:txBody>
      </p:sp>
      <p:sp>
        <p:nvSpPr>
          <p:cNvPr id="5" name="Google Shape;503;p40"/>
          <p:cNvSpPr/>
          <p:nvPr/>
        </p:nvSpPr>
        <p:spPr>
          <a:xfrm>
            <a:off x="457200" y="4865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The approaches are complementary. An inferred network proposes which regulators coordinate the response over 30 to 120 minutes; perturbing one regulator and measuring its predicted targets and later territorial behavior would turn a network edge into a tested causal link.</a:t>
            </a:r>
            <a:endParaRPr sz="1700">
              <a:solidFill>
                <a:schemeClr val="dk1"/>
              </a:solidFill>
              <a:latin typeface="Calibri"/>
              <a:ea typeface="Calibri"/>
              <a:cs typeface="Calibri"/>
              <a:sym typeface="Calibri"/>
            </a:endParaRPr>
          </a:p>
        </p:txBody>
      </p:sp>
      <p:pic>
        <p:nvPicPr>
          <p:cNvPr id="6" name="Google Shape;544;p43"/>
          <p:cNvPicPr preferRelativeResize="0"/>
          <p:nvPr/>
        </p:nvPicPr>
        <p:blipFill rotWithShape="1">
          <a:blip r:embed="rId3">
            <a:alphaModFix/>
          </a:blip>
          <a:srcRect b="0" l="0" r="0" t="0"/>
          <a:stretch/>
        </p:blipFill>
        <p:spPr>
          <a:xfrm>
            <a:off x="7115930" y="1055340"/>
            <a:ext cx="4037090" cy="4000500"/>
          </a:xfrm>
          <a:prstGeom prst="rect">
            <a:avLst/>
          </a:prstGeom>
          <a:noFill/>
          <a:ln>
            <a:noFill/>
          </a:ln>
        </p:spPr>
      </p:pic>
      <p:sp>
        <p:nvSpPr>
          <p:cNvPr id="7" name="Google Shape;545;p4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Bukhari et al. (2017), Fig. 3. The published inferred network of transcription factors and gene clusters.</a:t>
            </a:r>
            <a:endParaRPr sz="1800">
              <a:solidFill>
                <a:schemeClr val="dk1"/>
              </a:solidFill>
              <a:latin typeface="Calibri"/>
              <a:ea typeface="Calibri"/>
              <a:cs typeface="Calibri"/>
              <a:sym typeface="Calibri"/>
            </a:endParaRPr>
          </a:p>
        </p:txBody>
      </p:sp>
      <p:sp>
        <p:nvSpPr>
          <p:cNvPr id="8" name="Google Shape;506;p40"/>
          <p:cNvSpPr/>
          <p:nvPr/>
        </p:nvSpPr>
        <p:spPr>
          <a:xfrm>
            <a:off x="457200" y="6462713"/>
            <a:ext cx="263906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875">
                <a:solidFill>
                  <a:srgbClr val="5D6673"/>
                </a:solidFill>
                <a:latin typeface="Arial"/>
                <a:ea typeface="Arial"/>
                <a:cs typeface="Arial"/>
                <a:sym typeface="Arial"/>
              </a:rPr>
              <a:t>Bukhari et al. (2017); James &amp; Bell (2021)</a:t>
            </a:r>
            <a:endParaRPr sz="1700">
              <a:solidFill>
                <a:schemeClr val="dk1"/>
              </a:solidFill>
              <a:latin typeface="Calibri"/>
              <a:ea typeface="Calibri"/>
              <a:cs typeface="Calibri"/>
              <a:sym typeface="Calibri"/>
            </a:endParaRPr>
          </a:p>
        </p:txBody>
      </p:sp>
      <p:sp>
        <p:nvSpPr>
          <p:cNvPr id="9" name="Google Shape;507;p40"/>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43a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25"/>
        <p:cNvGrpSpPr/>
        <p:nvPr/>
      </p:nvGrpSpPr>
      <p:grpSpPr>
        <a:xfrm>
          <a:off x="0" y="0"/>
          <a:ext cx="0" cy="0"/>
          <a:chOff x="0" y="0"/>
          <a:chExt cx="0" cy="0"/>
        </a:xfrm>
      </p:grpSpPr>
      <p:sp>
        <p:nvSpPr>
          <p:cNvPr id="2" name="Google Shape;526;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Acetylation loosens histone grip so genes can be transcribed</a:t>
            </a:r>
            <a:endParaRPr sz="1800">
              <a:solidFill>
                <a:schemeClr val="dk1"/>
              </a:solidFill>
              <a:latin typeface="Calibri"/>
              <a:ea typeface="Calibri"/>
              <a:cs typeface="Calibri"/>
              <a:sym typeface="Calibri"/>
            </a:endParaRPr>
          </a:p>
        </p:txBody>
      </p:sp>
      <p:sp>
        <p:nvSpPr>
          <p:cNvPr id="3" name="Google Shape;527;p42"/>
          <p:cNvSpPr/>
          <p:nvPr/>
        </p:nvSpPr>
        <p:spPr>
          <a:xfrm>
            <a:off x="457200" y="1055340"/>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DNA is wrapped around histone proteins whose positively charged lysine residues bind the negatively charged DNA. Adding an </a:t>
            </a:r>
            <a:r>
              <a:rPr b="1" i="0" lang="en-US" sz="1450">
                <a:solidFill>
                  <a:srgbClr val="222831"/>
                </a:solidFill>
                <a:latin typeface="Arial"/>
                <a:ea typeface="Arial"/>
                <a:cs typeface="Arial"/>
                <a:sym typeface="Arial"/>
              </a:rPr>
              <a:t>acetyl group</a:t>
            </a:r>
            <a:r>
              <a:rPr b="0" i="0" lang="en-US" sz="1450">
                <a:solidFill>
                  <a:srgbClr val="222831"/>
                </a:solidFill>
                <a:latin typeface="Arial"/>
                <a:ea typeface="Arial"/>
                <a:cs typeface="Arial"/>
                <a:sym typeface="Arial"/>
              </a:rPr>
              <a:t> to a lysine neutralizes its charge, weakens that binding and recruits proteins that recognize acetylated histones, making the DNA accessible to transcription factors and RNA polymerase.</a:t>
            </a:r>
            <a:endParaRPr sz="1600">
              <a:solidFill>
                <a:schemeClr val="dk1"/>
              </a:solidFill>
              <a:latin typeface="Calibri"/>
              <a:ea typeface="Calibri"/>
              <a:cs typeface="Calibri"/>
              <a:sym typeface="Calibri"/>
            </a:endParaRPr>
          </a:p>
        </p:txBody>
      </p:sp>
      <p:sp>
        <p:nvSpPr>
          <p:cNvPr id="4" name="Google Shape;528;p42"/>
          <p:cNvSpPr/>
          <p:nvPr/>
        </p:nvSpPr>
        <p:spPr>
          <a:xfrm>
            <a:off x="457200" y="2958767"/>
            <a:ext cx="5581800" cy="1193558"/>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Acetylation of lysine 27 on histone H3 marks active promoters and enhancers, the DNA regions that switch transcription on. At Pparg, a transcription factor in lipid and glucose metabolism, more marking and more RNA at 120 minutes fit this sequence.</a:t>
            </a:r>
            <a:endParaRPr sz="1600">
              <a:solidFill>
                <a:schemeClr val="dk1"/>
              </a:solidFill>
              <a:latin typeface="Calibri"/>
              <a:ea typeface="Calibri"/>
              <a:cs typeface="Calibri"/>
              <a:sym typeface="Calibri"/>
            </a:endParaRPr>
          </a:p>
        </p:txBody>
      </p:sp>
      <p:sp>
        <p:nvSpPr>
          <p:cNvPr id="5" name="Google Shape;529;p42"/>
          <p:cNvSpPr/>
          <p:nvPr/>
        </p:nvSpPr>
        <p:spPr>
          <a:xfrm>
            <a:off x="457200" y="4563805"/>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Some regions with no clear marking before the challenge became marked afterward. A region that stays open could be transcribed faster during a later encounter, a form of </a:t>
            </a:r>
            <a:r>
              <a:rPr b="1" i="0" lang="en-US" sz="1450">
                <a:solidFill>
                  <a:srgbClr val="222831"/>
                </a:solidFill>
                <a:latin typeface="Arial"/>
                <a:ea typeface="Arial"/>
                <a:cs typeface="Arial"/>
                <a:sym typeface="Arial"/>
              </a:rPr>
              <a:t>priming</a:t>
            </a:r>
            <a:r>
              <a:rPr b="0" i="0" lang="en-US" sz="1450">
                <a:solidFill>
                  <a:srgbClr val="222831"/>
                </a:solidFill>
                <a:latin typeface="Arial"/>
                <a:ea typeface="Arial"/>
                <a:cs typeface="Arial"/>
                <a:sym typeface="Arial"/>
              </a:rPr>
              <a:t> the authors propose as a way one intrusion could change the response to the following one; priming was not tested.</a:t>
            </a:r>
            <a:endParaRPr sz="1600">
              <a:solidFill>
                <a:schemeClr val="dk1"/>
              </a:solidFill>
              <a:latin typeface="Calibri"/>
              <a:ea typeface="Calibri"/>
              <a:cs typeface="Calibri"/>
              <a:sym typeface="Calibri"/>
            </a:endParaRPr>
          </a:p>
        </p:txBody>
      </p:sp>
      <p:pic>
        <p:nvPicPr>
          <p:cNvPr id="6" name="Google Shape;556;p44"/>
          <p:cNvPicPr preferRelativeResize="0"/>
          <p:nvPr/>
        </p:nvPicPr>
        <p:blipFill rotWithShape="1">
          <a:blip r:embed="rId3">
            <a:alphaModFix/>
          </a:blip>
          <a:srcRect b="0" l="0" r="0" t="0"/>
          <a:stretch/>
        </p:blipFill>
        <p:spPr>
          <a:xfrm>
            <a:off x="6362700" y="1129040"/>
            <a:ext cx="5372100" cy="2319574"/>
          </a:xfrm>
          <a:prstGeom prst="rect">
            <a:avLst/>
          </a:prstGeom>
          <a:noFill/>
          <a:ln>
            <a:noFill/>
          </a:ln>
        </p:spPr>
      </p:pic>
      <p:sp>
        <p:nvSpPr>
          <p:cNvPr id="7" name="Google Shape;557;p44"/>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4(D). Published chromatin-mark tracks near the Pparg locus.</a:t>
            </a:r>
            <a:endParaRPr sz="1800">
              <a:solidFill>
                <a:schemeClr val="dk1"/>
              </a:solidFill>
              <a:latin typeface="Calibri"/>
              <a:ea typeface="Calibri"/>
              <a:cs typeface="Calibri"/>
              <a:sym typeface="Calibri"/>
            </a:endParaRPr>
          </a:p>
        </p:txBody>
      </p:sp>
      <p:sp>
        <p:nvSpPr>
          <p:cNvPr id="8" name="Google Shape;534;p42"/>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a:t>
            </a:r>
            <a:endParaRPr sz="1800">
              <a:solidFill>
                <a:schemeClr val="dk1"/>
              </a:solidFill>
              <a:latin typeface="Calibri"/>
              <a:ea typeface="Calibri"/>
              <a:cs typeface="Calibri"/>
              <a:sym typeface="Calibri"/>
            </a:endParaRPr>
          </a:p>
        </p:txBody>
      </p:sp>
      <p:sp>
        <p:nvSpPr>
          <p:cNvPr id="9" name="Google Shape;535;p42"/>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44a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2026-10-08T08:23:49.681Z</dcterms:created>
  <dc:creator>Presenton</dc:creator>
</cp:coreProperties>
</file>