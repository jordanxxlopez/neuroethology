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65" roundtripDataSignature="AMtx7mgLRsR+kBWwSVXrGOjSznBJAFuS6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slide" Target="slides/slide58.xml"/><Relationship Id="rId61" Type="http://schemas.openxmlformats.org/officeDocument/2006/relationships/slide" Target="slides/slide57.xml"/><Relationship Id="rId20" Type="http://schemas.openxmlformats.org/officeDocument/2006/relationships/slide" Target="slides/slide16.xml"/><Relationship Id="rId64" Type="http://schemas.openxmlformats.org/officeDocument/2006/relationships/slide" Target="slides/slide60.xml"/><Relationship Id="rId63" Type="http://schemas.openxmlformats.org/officeDocument/2006/relationships/slide" Target="slides/slide59.xml"/><Relationship Id="rId22" Type="http://schemas.openxmlformats.org/officeDocument/2006/relationships/slide" Target="slides/slide18.xml"/><Relationship Id="rId21" Type="http://schemas.openxmlformats.org/officeDocument/2006/relationships/slide" Target="slides/slide17.xml"/><Relationship Id="rId65" Type="http://customschemas.google.com/relationships/presentationmetadata" Target="metadata"/><Relationship Id="rId24" Type="http://schemas.openxmlformats.org/officeDocument/2006/relationships/slide" Target="slides/slide20.xml"/><Relationship Id="rId23" Type="http://schemas.openxmlformats.org/officeDocument/2006/relationships/slide" Target="slides/slide19.xml"/><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 name="Google Shape;17;p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Locust flight: wind-sensitive interneurons and the flight CPG</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Friday, September 11, 2026</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Photo: Michael Linnenbach, CC BY-SA 4.0. Desert locust (Schistocerca gregaria), freshly moulted.</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Source: https://commons.wikimedia.org/wiki/File:Schistocerca_gregaria-gehaeutet.jpg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 name="Google Shape;29;p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locust can begin wing beating when airflow reaches the wind-sensitive hairs on its head. In tethered flight, the animal is held in place, so an experimenter controls airflow independently of the animal’s forward movement. This preparation isolates sensory conditions that can release flight.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filmed freely jumping Schistocerca gregaria at 64 frames per second and compared wing opening with wind-triggered responses in tethered animals. Wings began opening within approximately 15 ms of jump onset, whereas the fastest measured response to wind took 35 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Wind stimulation is therefore sufficient for flight initiation under tethered conditions but is too slow to explain the initial wing opening in these jumps. A sensory stimulus that can release a behavior need not be the natural trigger on every occasion.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film interval was approximately 15 ms. The comparison concerns the beginning of wing opening, rather than the duration of a complete wing stroke or the time needed to gain altitude.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(1969c). Locust wind receptors. III. Contribution to flight initiation and lift control. Journal of Experimental Biology 50(2):363–373. https://doi.org/10.1242/jeb.50.2.363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1 (photographic Plate 1). Filmed take-off sequences of desert locusts.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https://doi.org/10.1242/jeb.50.2.363</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Elevator muscles raise the wings; depressor muscles lower them. Forewings attach to the mesothorax and hindwings to the metathorax, the second and third thoracic segments. A motor neuron is a nerve cell whose axon activates a muscle.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described flight near 17 wingbeats per second, with hindwing activation leading corresponding forewing activation by approximately 6–8 ms. The flight motor score alternated elevators and depressors while coordinating both body sides. The upstroke occupied about 41% of a normal cycle.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relationships define an organized motor pattern rather than undifferentiated muscle excitation. Later deafferented preparations retained alternation and a hindwing lead, but their measured delays depended on the experimental treatment. Intact movement timing and reduced-preparation muscle timing are related measurements with different mechanical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ganglion is a concentration of neuronal cell bodies and interconnected processes. The thoracic ganglia contain flight circuitry; their connectives carry axons between ganglia. The later pharmacology measured muscle activity rather than directly measuring aerodynamic force.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 M. Wilson (1961). The central nervous control of flight in a locust. Journal of Experimental Biology 38(2):471–490. https://doi.org/10.1242/jeb.38.2.471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(1961), Fig. 1. Ganglia and muscles of the flight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https://doi.org/10.1242/jeb.38.2.471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2(D,E). Hind–forewing delays and near-synchronous bilateral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Pronation is wing rotation toward the orientation used during the downstroke; supination is the reverse rotation associated with the upstroke. Wing twist changes the wing’s interaction with air and therefore contributes to lift control.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delivered 0–4 m/s airflow to the head of tethered locusts while shielding the body and wings. Stroboscopic photographs measured a paper marker across the forewing chord. Faster head airflow reduced downstroke pronation, whereas upstroke twist changed little.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Directing wind at the wing instead of the head did not reproduce the response. This control supports a sensory-mediated adjustment rather than a direct aerodynamic twisting effect. The head-wind experiment measured wing angle, so the corresponding change in lift remained a functional interpretation rather than a simultaneous force measurement.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wing chord runs from its leading edge to its trailing edge. After wind acceleration, the additional reduction in pronation appeared after about 80 ms and relaxed over several hundred milliseconds toward the maintained-speed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(1969c). Locust wind receptors. III. Contribution to flight initiation and lift control. Journal of Experimental Biology 50(2):363–373. https://doi.org/10.1242/jeb.50.2.363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4. Wind speed versus measured forewing twist.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https://doi.org/10.1242/jeb.50.2.363</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 name="Google Shape;67;p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monitored airflow with a hot-wire anemometer and detected wing opening when the forewing stopped interrupting a narrow light beam. Both signals were photographed on the same moving film. This method placed stimulus onset and movement onset on a common time base.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Wind accelerations of 100–600 m/s² ended at speeds of 2.5–4.5 m/s. Typical wing-opening latency was approximately 45 ms, and the shortest measured latency was 35 ms. Freely jumping animals had begun opening their wings within approximately 15 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Covering the head hairs prevented wind-triggered opening; removing the covering restored it. The hairs therefore supplied the tested reflex pathway. The latency difference supports an additional jump-associated initiating pathway, while the behavioral experiment alone does not identify its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latency is the elapsed time between a defined stimulus and a defined response. The common film recording reduced uncertainty from comparing signals recorded by independent clocks. Hair immobilization tested the sensory route rather than merely correlating airflow with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(1969c). Locust wind receptors. III. Contribution to flight initiation and lift control. Journal of Experimental Biology 50(2):363–373. https://doi.org/10.1242/jeb.50.2.363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1. Wind onset and wing-opening latency records.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https://doi.org/10.1242/jeb.50.2.363</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p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tarsi are the distal portions of the legs that contact a surface. Contact can inhibit flight in a tethered locust. Camhi placed the animal on a hinged roughened rod and lowered the rod to remove support while recording the first wing-opening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Wing opening followed the last possible instant of contact by at least 30 ms. The latency remained similar after successive leg amputations, including trials with only one leg contacting the rod. The support was mechanically independent of the tether, and comparable hand movements did not release flight.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Loss of contact can therefore release flight under these conditions, but its latency is longer than jump-associated wing opening. The controls reduce explanations based on shock to the tether or insufficient initial contact. They do not identify the central pathway that couples jumping to flying.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Release from inhibition allows a circuit to become active without necessarily supplying its rhythmic timing. The leg-amputation comparison tested whether distributing contact across several legs had artificially delayed the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(1969c). Locust wind receptors. III. Contribution to flight initiation and lift control. Journal of Experimental Biology 50(2):363–373. https://doi.org/10.1242/jeb.50.2.363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2. Tarsal-release and wing-opening records.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https://doi.org/10.1242/jeb.50.2.363</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2, 5 and 6 compare three ways flight can begin, each with its own latency. Treating them as inputs to one threshold explains why such different stimuli all start the same motor program.</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Inputs of opposite sign.</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Camhi found that contact under the feet can inhibit flight in a tethered animal, while wind on the head hairs releases it.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An inhibitory input and an excitatory input can be combined on one scale, the net drive reaching the flight circuit.</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Release versus drive.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Lowering the rod adds nothing new; it removes a brake, and the flight network can then respond to whatever excitation is already present.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Wind works the other way, by adding excitation until the circuit switches on, and in both cases the rhythm itself comes from the thoracic network.</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Where the inputs could meet.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Pearson and colleagues found that 404 neurons fire tonically during flight released by wind or by sudden darkness, and burst at the moment a kick is triggered.</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 jump removes ground contact and, if the kick-related burst also occurs, adds central drive at the same time, which could explain why wing opening in free jumps outpaces both the wind reflex and tarsal release.</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M. Camhi (1969c). Locust wind receptors. III. Contribution to flight initiation and lift control. Journal of Experimental Biology 50(2):363–373. https://doi.org/10.1242/jeb.50.2.363</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K. G. Pearson; D. N. Reye; D. W. Parsons; G. Bicker (1985). Flight-initiating interneurons in the locust. Journal of Neurophysiology 53(4):910–925. https://doi.org/10.1152/jn.1985.53.4.910</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 name="Google Shape;103;p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mechanoreceptor converts mechanical displacement into neural activity. The locust’s aerodynamic head hairs are setae, cuticular shafts coupled to sensory cells. Their shafts are approximately 70–250 μm long and curve forward in different directions.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mapped the curvature of the larger hairs and compared individual hair orientation with sensory responses. A receptor responded most strongly when wind arrived in the plane of its shaft curvature. The array was approximately bilaterally symmetrical and similar across animals.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Different preferred directions allow the head to distribute airflow information across receptors. A single receptor’s firing rate still depends on both wind direction and speed, so it is not an unambiguous speed meter. The anatomical map predicts preferred direction but does not measure the full response of every smaller hair.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sensillum is a sensory structure that includes its cuticular specialization and associated sensory neuron. The receptor dendrite attaches eccentrically near the shaft base; the shaft pivots in a socket instead of bending freely along its length.</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7. Map of head-hair curvature and preferred wind directions.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1. Published anatomy of a seta and its sensory neuron.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Adaptation is a decline in a receptor’s response during a maintained stimulus. Camhi teased small axon bundles from the circumoesophageal connective and recorded a sensory unit during controlled airflow. These connectives run beside the oesophagus between head ganglia.</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4.5 m/s wind directed approximately 10° left of center produced an initial discharge near 200 spikes/s. Within about half a second, the rate declined to a maintained level near 125 spikes/s. Continued airflow produced a further modest decline over minutes.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sensory discharge contains both an onset response and information about continuing airflow. Adaptation does not imply complete loss of sensitivity. Because these recordings were extracellular, they establish action-potential timing but do not directly measure the receptor current or identify its mechanically gated ion channel.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action potential is a brief propagated electrical impulse. Extracellular recording detects the voltage associated with that impulse outside the cell, whereas intracellular recording can resolve the cell’s membrane potential.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2. Sensory spikes during airflow onset and cessation.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1. Seta shaft, socket and attached sensory cell.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p1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7 to 10 describe the hair, its socket and its spike output without walking through the steps that link wind to spikes. Those steps are general features of insect mechanoreceptors applied to this hair.</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From airflow to membrane.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shaft does not bend along its length; it rotates at the socket, so the base acts like a lever on the eccentric dendrite.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Deforming the dendrite membrane opens channels that respond to mechanical force, the first electrical event in the pathway.</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From membrane to spikes.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inward current makes a graded depolarization, and the spike-initiating zone converts it into a spike rate.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Camhi’s maximum rate near 200 spikes per second at onset therefore reflects both a large deflection and a fresh, unadapted receptor.</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Two signals from one receptor.</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onset burst and the maintained rate carry different information, and Camhi’s interneuron classes appear to emphasize one or the other.</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Wind-indicator cells kept firing in steady wind, while acceleration cells were strongly driven only by fast increases in airflow.</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M. Camhi (1969b). Locust wind receptors. II. Interneurones in the cervical connective. Journal of Experimental Biology 50(2):349–362. https://doi.org/10.1242/jeb.50.2.349</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5" name="Google Shape;145;p1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rotated a calibrated wind jet around the head and recorded the maintained firing of a single sensory axon. A directional tuning curve relates neural response to stimulus direction. Different wind speeds were tested with the same receptor.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published curves used 1.5, 3.0 and 4.5 m/s wind. Maximum firing occurred near 15° left of center, close to the hair’s measured curvature plane. The angular separation between the half-maximum responses was approximately 54°, and higher speeds produced higher firing rates.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rate therefore combines direction and speed rather than representing either variable alone. The alignment of response and shaft curvature links anatomy to sensory tuning. These measurements do not establish the decoding operation performed by downstream interneurons or behaviorally achievable angular precision.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Half-maximum width describes the breadth of a response curve. It is not the smallest direction difference that the intact animal can detect. Comparing the same cell at several speeds separates changing stimulus strength from differences among receptors.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3. Directional response curves at three wind speeds.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7. Hair orientations distributed across the head.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9" name="Google Shape;159;p1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separated three potential sources of directional tuning: shaft curvature, socket elasticity, and the off-center attachment of the receptor dendrite. Mechanical displacement with a pipette controlled the shaft movement directly, reducing the contribution of aerodynamic drag.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50 μm shaft deflection produced a broader directional response than wind stimulation. Its typical half-maximum width was approximately 85°, compared with approximately 54° for the wind response. Measurements of socket resistance and drag on remounted shafts were broader still.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No tested component alone accounted for the narrow wind-tuning curve. The results support combined contributions from mechanical structure and sensory coupling. They do not identify the molecular transduction channel, and the remounted-shaft experiment depended on the mechanical properties of the replacement socket.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original hair socket resists displacement differently in different directions. Camhi tested excised shafts in a non-directional mounting to separate shaft aerodynamics from socket resistance. The combined explanation concerns peripheral mechanics, not a newly established central computation.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4. Directional responses to imposed 50 μm hair deflections.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1. The shaft, socket and eccentric dendritic attachment.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 name="Google Shape;173;p1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recorded simultaneously from a cut hair tip and an axon in the ipsilateral circumoesophageal connective. Ipsilateral means on the same side; contralateral means on the opposite side. Every recorded sensory impulse appeared at both sites.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two recordings were separated by approximately 10 ms. Electrical stimulation of the connective evoked impulses that traveled back toward the hair, with latencies of 7–14 ms and an estimated conduction speed near 0.5 m/s. Stimulation farther back in the cervical connective did not evoke the same sensory response.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tests support axons passing through the brain and terminating before the thoracic pathway, probably in the suboesophageal ganglion. The physiological inference is stronger than visual proximity alone. It does not reconstruct every terminal branch or directly identify each sensory-to-interneuron synapse.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Antidromic conduction is propagation toward the cell’s peripheral origin, opposite to the usual direction of sensory information flow. The small sensory axons differ from the later giant interneuron, which conveys descending information much faster.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8. Simultaneous seta and connective recordings.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5" name="Google Shape;185;p1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 11 measures how slowly the hair axons conduct. Placing that number beside the reflex latency on slide 5 and the TCG result on slide 33 explains why a fast descending pathway matters.</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Why size changes speed.</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Current entering at an active patch of membrane flows along the inside of the axon, and a larger diameter offers that current less resistance.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More current reaches the membrane ahead, which reaches threshold sooner, so the spike moves forward faster.</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A latency budget.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Camhi’s simultaneous recordings place about ten milliseconds between the hair tip and the connective electrode.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That delay occurs before the signal reaches any interneuron, and it is part of the overall wind-reflex delay measured on slide 5.</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A fast route to the thorax.</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Buhl and colleagues stimulated the large TCG axon and recorded flight onset after roughly two dozen milliseconds.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 thick descending axon moves wind information over the long distance from the head to the thoracic ganglia with little delay, so most of the remaining time is spent in central processing.</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M. Camhi (1969c). Locust wind receptors. III. Contribution to flight initiation and lift control. Journal of Experimental Biology 50(2):363–373. https://doi.org/10.1242/jeb.50.2.363</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7" name="Google Shape;197;p1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interneuron connects other neurons rather than directly serving as the primary receptor or muscle output. Camhi recorded individual wind-responsive units in the cervical connective, downstream of the head sensory pathways. Wind-indicator cells sustained discharge during maintained airflow.</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directional half-maximum width was approximately 140°, substantially broader than individual sensory receptors. At favorable direction, a 4.5 m/s wind produced a maintained rate near 85 spikes/s. Small air jets mapped inputs from head hairs on both sides with varied preferred directions.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Pooling differently tuned receptors is consistent with a broad signal for the presence and intensity of airflow. The recordings and receptive-field tests do not directly establish the exact synaptic weights. Camhi’s classification described response properties rather than assigning each unit a modern identified-cell label.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Single-hair deflection did not reliably evoke interneuron spikes. Simultaneous stimulation of separate hair groups increased or preserved the response, supporting convergence of excitatory sensory influences.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(1969b). Locust wind receptors. II. Interneurones in the cervical connective. Journal of Experimental Biology 50(2):349–362. https://doi.org/10.1242/jeb.50.2.349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2. Broad wind-indicator tuning at several speeds.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https://doi.org/10.1242/jeb.50.2.349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7. Bilateral distribution of directional sensory hairs.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1" name="Google Shape;211;p1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distinguished wind-direction cells from broadly tuned wind-indicator cells by varying wind angle, speed and angular motion. The recorded units maintained firing in wind but had sharper angular selectivity. Their mapped sensory inputs had more similar preferred directions.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Directional half-maximum widths were approximately 60°. Rotating an already flowing jet toward a cell’s favorable direction could add a transient burst, whereas moving away could briefly reduce discharge. The rate-speed relationship was not simply linear across the tested range.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downstream cell can therefore emphasize directional information while remaining sensitive to stimulus strength and change. These findings support a possible role in directional stabilization, but Camhi did not prove that a particular recorded unit was necessary for a specific yaw-correction movement.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Yaw is rotation around the animal’s vertical axis. A head-wind angle can change during yaw or changes in the local airstream, so neural direction sensitivity must be interpreted with the mechanical context.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(1969b). Locust wind receptors. II. Interneurones in the cervical connective. Journal of Experimental Biology 50(2):349–362. https://doi.org/10.1242/jeb.50.2.349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3. Wind-direction tuning at several airflow speeds.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https://doi.org/10.1242/jeb.50.2.349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4. Spike responses to pivots of a maintained wind jet.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https://doi.org/10.1242/jeb.50.2.349</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9, 12 and 13 report three tuning widths for the hair, the wind-indicator cell and the wind-direction cell. The width of an interneuron follows from how its inputs are arranged.</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Summing different preferences.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When the inputs point in many directions, some are always well driven, so the total changes little as wind angle changes.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Small air jets aimed at separate hair groups revealed that a single broadly tuned cell collects from receptors on the left and right of the head pointing in many directions.</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Summing similar preferences.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When the inputs share a preferred direction, they rise and fall together as the angle changes, and the sum keeps their sharpness.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Camhi’s mapping of wind-direction cells found inputs with more similar preferred directions, matching their narrower curves.</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What each code is good for.</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Broad pooling sacrifices angle to provide a steady intensity signal that changes little when the head turns.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Narrow tuning keeps the angle signal that a corrective steering response would need.</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M. Camhi (1969b). Locust wind receptors. II. Interneurones in the cervical connective. Journal of Experimental Biology 50(2):349–362. https://doi.org/10.1242/jeb.50.2.349</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9" name="Google Shape;239;p1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Recentre cells are Camhi’s rapidly adapting interneurons that respond especially to airflow shifting toward the head-on direction from one preferred side. He pivoted a maintained wind jet around the head rather than repeatedly turning airflow on and off.</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3 m/s, a shift toward center from the preferred side evoked a burst, while the reverse shift or recentring from the other side could evoke little activity. Rapid shifts were more effective than slow shifts; strong responses occurred for pivots lasting less than about 100–150 ms.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response distinguishes the direction of a change, beyond the starting and ending wind angles alone. The preparation establishes temporal and directional selectivity. A role in terminating corrective turns was proposed from these properties, but not verified by selective cell manipulation.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initial and final wind angles could both lie in a region that responded to wind onset. The different pivot responses therefore cannot be explained solely by whether the final direction was within the cell’s static receptive field.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(1969b). Locust wind receptors. II. Interneurones in the cervical connective. Journal of Experimental Biology 50(2):349–362. https://doi.org/10.1242/jeb.50.2.349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6. Responses to wind-angle shifts toward and away from center.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https://doi.org/10.1242/jeb.50.2.349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8. Pivot duration versus the first interspike intervals.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https://doi.org/10.1242/jeb.50.2.349</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p1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tested acceleration-sensitive interneurons by increasing wind from rest to the same final speed over different time intervals. Acceleration is the rate of change of velocity. Fixing the final speed distinguished sensitivity to onset dynamics from sensitivity to maintained speed.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cells responded only when wind reached approximately 1–1.5 m/s or more. Faster acceleration toward 4.5 m/s produced shorter initial interspike intervals and a more vigorous burst. Directional tuning was broad, and even sizable angular pivots of an existing wind jet could fail to evoke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Their response therefore differs from both sustained wind-indication and directional recentring. It is consistent with a transient signal about airflow onset. The recordings do not establish that acceleration cells alone initiate flight, especially because free-jump wing opening occurs faster than the tested wind reflex.</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Shorter interspike intervals correspond to a higher instantaneous spike rate. The comparison held the endpoint speed constant, so changes in the initial discharge were associated with the speed of the airflow transition.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(1969b). Locust wind receptors. II. Interneurones in the cervical connective. Journal of Experimental Biology 50(2):349–362. https://doi.org/10.1242/jeb.50.2.349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10. Interspike intervals as wind acceleration duration changes.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https://doi.org/10.1242/jeb.50.2.349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Camhi (1969), Fig. 7. Head-hair sensory array supplying wind information.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https://doi.org/10.1242/jeb.50.2.335</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2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14 and 15 describe two rapidly adapting interneuron classes. Fast adaptation explains why both prefer quick stimuli, and their inputs explain why they read different changes.</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Adaptation as a filter.</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 neuron whose response declines during a maintained input passes rapid changes and suppresses steady levels.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Applied to Camhi’s cells, a pivot lasting under about one or two tenths of a second produced strong responses, while slow pivots let the response fade before it built.</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Angle change versus speed change.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Recentre cells were driven by shifts toward head-on from one preferred side and largely ignored the reverse shift.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Acceleration cells responded to rising speed above a threshold near one metre per second and could ignore even sizable pivots.</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Speed of readout.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Against a silent background, the first spike is itself the signal, so downstream cells need not wait to average a rate.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Camhi measured the first interspike intervals for this reason: they shortened as pivots and accelerations became faster.</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M. Camhi (1969b). Locust wind receptors. II. Interneurones in the cervical connective. Journal of Experimental Biology 50(2):349–362. https://doi.org/10.1242/jeb.50.2.349</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2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central pattern generator, or CPG, can generate rhythmic patterned output without requiring rhythmic sensory input. Wilson progressively removed wings, cut wing sensory nerves, and reduced the preparation to the head and thoracic nervous system, with limited remaining body structures.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Continuous wind at the head still elicited alternating elevator and depressor activity. Reduced preparations produced approximately 4–12 cycles/s, often near 7 cycles/s. Elevator-to-depressor delays remained around 30–40 ms in well-preserved preparations, despite the slower overall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Wing movement and its feedback were therefore unnecessary for the basic alternation. This does not mean that feedback is unnecessary for normal frequency, aerodynamic control or stable free flight. Continuous sensory excitation from the head supplied activation without specifying every phase of the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Deafferentation removes sensory input; it must be distinguished from removal of all possible excitation. Wilson retained the head-wind pathway and supplied aeration to sustain the highly reduced nervous system.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 M. Wilson (1961). The central nervous control of flight in a locust. Journal of Experimental Biology 38(2):471–490. https://doi.org/10.1242/jeb.38.2.471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(1961), Fig. 6. Elevator and depressor activity after severe sensory reduction.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https://doi.org/10.1242/jeb.38.2.471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(1961), Fig. 1. Published dissection identifies ganglia, nerves and muscles.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https://doi.org/10.1242/jeb.38.2.471</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5" name="Google Shape;295;p2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recorded from motor nerves in preparations lacking thoracic muscles and the abdomen. A motor axon carries the neural output toward muscle; recording its central stump tests whether rhythmic drive is produced before muscle contraction occurs.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Small bursts of spikes repeated at approximately 4–10 cycles/s. Activity in the two wing-related segments was often nearly synchronous or separated by a few milliseconds, though timing could drift over long periods. Some preparations had an irregular mesothoracic rhythm while metathoracic discharge remained orderly.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Rhythm without attached flight muscles excludes a muscle-driven reflex chain as the sole origin of the recorded bursts. The reduced output still differed from intact flight. Preparation damage and lost feedback limit conclusions about the normal precision and contributions of each segment.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central stump is the remaining nerve segment connected to the central nervous system after its peripheral continuation is cut. The recorded bursts were neural events rather than electrical activity produced by contracting muscle.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 M. Wilson (1961). The central nervous control of flight in a locust. Journal of Experimental Biology 38(2):471–490. https://doi.org/10.1242/jeb.38.2.471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(1961), Fig. 7. Motor-nerve discharge in a muscle-free reduced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https://doi.org/10.1242/jeb.38.2.471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(1961), Fig. 1. Published dissection identifies ganglia, nerves and muscles.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https://doi.org/10.1242/jeb.38.2.471</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2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stimulated the anterior thoracic cord electrically while recording flight muscle responses in reduced preparations. A tonic drive is sustained excitation that need not repeat at the same rhythm as the motor output. Stimulation frequency and output frequency were varied independently.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Repeated stimulation could recruit alternating groups of motor activity instead of a simple one-for-one muscle response. At slower stimulation rates, some units followed the stimulus directly; at higher rates, the circuit produced a rhythm with its own changing frequency. The response depended on the recruited pathways and preparation state.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Central circuitry can therefore transform continuing excitation into patterned alternation. This experiment does not require a single dedicated pacemaker neuron. Electrical cord stimulation recruits multiple axons, so it cannot identify the natural activating cell or its transmitter.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Some stimulation frequencies below about 20 per second produced responses closely related to each pulse. The distinction is between stimulus-locked excitation and the organized output that emerges when excitation recruits the central network.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 M. Wilson (1961). The central nervous control of flight in a locust. Journal of Experimental Biology 38(2):471–490. https://doi.org/10.1242/jeb.38.2.471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(1961), Fig. 8. Motor-unit responses to electrical stimulation of the cord.</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https://doi.org/10.1242/jeb.38.2.471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(1961), Fig. 1. Published dissection identifies ganglia, nerves and muscles.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https://doi.org/10.1242/jeb.38.2.471</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3" name="Google Shape;323;p2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Wilson’s experiments on slides 16 to 18 were designed against a specific alternative, the idea that flight is a chain of reflexes. Laying out that alternative explains why each reduction was informative.</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The alternative being tested.</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In a chain reflex, the sensory consequence of an upstroke would be the trigger for the downstroke, and the reverse.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If that were the whole mechanism, removing the sense organs or the movement would stop the rhythm.</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Three independent reductions.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Wilson removed the wings and their nerves, then the muscles, and finally drove the cord electrically.</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Each manipulation removed a different candidate loop, and the alternation persisted after all of them, so a central network is required.</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What feedback contributes.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intact rhythm near seventeen cycles per second dropped to around seven, yet the delay from elevator to depressor stayed similar.</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Ausborn and colleagues later found that tegula stimulation near threshold sped the deafferented rhythm, consistent with feedback shortening the part of the cycle between bursts.</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D. M. Wilson (1961). The central nervous control of flight in a locust. Journal of Experimental Biology 38(2):471–490. https://doi.org/10.1242/jeb.38.2.471</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Ausborn; W. Stein; H. Wolf (2007). Frequency control of motor patterning by negative sensory feedback. Journal of Neuroscience 27(35):9319–9328. https://doi.org/10.1523/JNEUROSCI.0907-07.2007</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7" name="Google Shape;337;p2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and colleagues recorded and dye-filled 404 interneurons in Locusta migratoria. These mesothoracic cells have looping main neurites and ascending axons. A neurite is a neuronal process; dye filling linked the physiological recordings to recognizable anatomy.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404 neurons fired tonically during flight episodes initiated by wind or a sudden reduction in illumination. The same neuron responded weakly to turning the light back on, without releasing flight. It generally lacked the strong cycle-by-cycle oscillation characteristic of the rhythm-generating circuit.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separates an activating pathway from neurons that determine successive phases. The small 404 group contains physiological and anatomical variation, so results from one member do not imply identical sensory input to every member. Tonic activity supplies drive rather than a complete motor score.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investigators correlated physiological identification with Lucifer-yellow morphology. Closely adjacent neurons had parallel neurites and axons, supporting a group of cells rather than one neuron with unlimited variation.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G. Pearson; D. N. Reye; D. W. Parsons; G. Bicker (1985). Flight-initiating interneurons in the locust. Journal of Neurophysiology 53(4):910–925. https://doi.org/10.1152/jn.1985.53.4.910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et al. (1985), Fig. 2. 404 discharge during wind and changing illumination.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https://doi.org/10.1152/jn.1985.53.4.910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et al. (1985), Fig. 1. Filled 404 neuron in the thoracic nervous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https://doi.org/10.1152/jn.1985.53.4.910</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1" name="Google Shape;351;p2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Pearson and colleagues’ preparation, the discharge rate of a 404 neuron declined during a sustained wind stimulus as the frequency of flight activity declined. Fictive flight is flight-like neural or muscle output in a reduced preparation, rather than aerodynamic flight through space.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Higher 404 firing rates were associated with faster flight rhythms. Turning the lights off increased both 404 activity and rhythm frequency while preserving the relationship between them. Flight commonly ended after the recorded 404 discharge fell below approximately 50 spikes/s.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association is consistent with an excitatory drive that regulates circuit activation. Correlation alone does not prove that 404 firing causes the frequency change, because both could respond to another input. Current-injection experiments supplied the additional causal test.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figure’s discharge-rate axis is in impulses per second and its flight-frequency axis in cycles per second. These are different rates: one activating interneuron can fire several spikes during each motor cycle.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G. Pearson; D. N. Reye; D. W. Parsons; G. Bicker (1985). Flight-initiating interneurons in the locust. Journal of Neurophysiology 53(4):910–925. https://doi.org/10.1152/jn.1985.53.4.910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et al. (1985), Fig. 3. 404 firing rate versus flight rhythm frequency.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https://doi.org/10.1152/jn.1985.53.4.910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et al. (1985), Fig. 1. Filled 404 neuron in the thoracic nervous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https://doi.org/10.1152/jn.1985.53.4.910</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2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5" name="Google Shape;365;p2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Depolarization makes membrane voltage less negative and can increase neuronal firing. Pearson and colleagues injected depolarizing current into a single 404 neuron while recording dorsal longitudinal muscle activity and, in additional trials, an elevator or depressor motor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Flight-like bursts often began when the stimulated 404 neuron reached approximately 100 spikes/s. Current-evoked rhythms commonly started near 8 cycles/s, slower than the approximately 12 cycles/s initially recorded during wind-induced episodes. Motor-neuron voltage oscillations resembled those evoked by wind.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This is causal evidence that one 404 neuron can recruit the central flight program. It establishes sufficiency in favorable preparations, not that the cell acts alone in the intact animal. Wind normally activates several pathways, whereas current injection selectively increases one neuron’s drive.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simultaneous intracellular motor recordings excluded an interpretation in which 404 merely excited a depressor muscle tonically. Elevator and depressor membrane potentials developed patterned oscillations instead.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G. Pearson; D. N. Reye; D. W. Parsons; G. Bicker (1985). Flight-initiating interneurons in the locust. Journal of Neurophysiology 53(4):910–925. https://doi.org/10.1152/jn.1985.53.4.910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et al. (1985), Fig. 6. Flight-related motor bursts during 404 current injection.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https://doi.org/10.1152/jn.1985.53.4.910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et al. (1985), Fig. 1. Filled 404 neuron in the thoracic nervous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https://doi.org/10.1152/jn.1985.53.4.910</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9" name="Google Shape;379;p2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Hyperpolarization makes membrane voltage more negative and can suppress firing. Pearson and colleagues compared a brief wind pulse before and during hyperpolarizing current injection into a recorded 404 neuron. The stimulus was otherwise unchanged.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0.5 s wind pulse normally evoked a short flight episode. During approximately 6 nA of hyperpolarizing current, the recorded 404 cell produced only one impulse and the same stimulus failed to initiate the flight rhythm. Suppression was most effective with weaker wind or near the end of an episode.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single member of the activating group can therefore influence whether the circuit reaches its activation threshold. The condition dependence prevents interpreting this as universal necessity of one cell. Other 404 neurons and parallel inputs can contribute enough drive under stronger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current manipulation altered the neuron while retaining the wind stimulus. Its effectiveness varied with the available background excitation, which is expected for a distributed activating pathway.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G. Pearson; D. N. Reye; D. W. Parsons; G. Bicker (1985). Flight-initiating interneurons in the locust. Journal of Neurophysiology 53(4):910–925. https://doi.org/10.1152/jn.1985.53.4.910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et al. (1985), Fig. 9. A repeated wind pulse with and without 404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https://doi.org/10.1152/jn.1985.53.4.910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et al. (1985), Fig. 1. Filled 404 neuron in the thoracic nervous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https://doi.org/10.1152/jn.1985.53.4.910</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2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3" name="Google Shape;393;p2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21 and 22 apply opposite currents to the same kind of cell. The two experiments answer two different logical questions, and the answers together define the role of the 404 group.</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Two questions, two manipulations.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Adding current asks whether a cell can start flight on its own; removing its activity asks whether flight still happens without it.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 cell can pass the first test and fail the second when other neurons provide the same kind of drive.</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What the 404 results give.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Pearson and colleagues found that depolarizing a single 404 neuron often started flight in a quiescent preparation.</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They also found that flight sometimes persisted when all spiking in a 404 neuron was prevented, so each cell is one contributor among several.</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A layered circuit.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None of their data indicated that 404 neurons receive input from the central rhythm generator.</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authors therefore described flight circuitry as hierarchical, with a tonic drive system that initiates and maintains activity in a separate patterning system.</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K. G. Pearson; D. N. Reye; D. W. Parsons; G. Bicker (1985). Flight-initiating interneurons in the locust. Journal of Neurophysiology 53(4):910–925. https://doi.org/10.1152/jn.1985.53.4.910</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7" name="Google Shape;407;p3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and colleagues recorded a 404 neuron together with hindleg muscle activity during kicks. A kick uses coordinated flexor and extensor activation followed by rapid extension. Its motor organization resembles that used to launch a jump.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404 neuron produced a brief high-frequency burst beginning just before the kick was triggered. Rapid extension driven by the fast extensor motor neuron alone did not produce the same pattern. The published recording retains a 0.5 s time calibration and a 20 mV voltage calibration.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temporal relationship and the ability of 404 stimulation to release flight support a possible central link between jump-related activity and flight initiation. The source of the kick-associated excitation was unresolved. These recordings were not direct proof that 404 neurons trigger wing opening during natural jumps.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authors considered both central input from the kick circuitry and proprioceptive input near the end of muscle co-contraction. The preparation did not selectively separate those two explanations.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G. Pearson; D. N. Reye; D. W. Parsons; G. Bicker (1985). Flight-initiating interneurons in the locust. Journal of Neurophysiology 53(4):910–925. https://doi.org/10.1152/jn.1985.53.4.910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et al. (1985), Fig. 11. 404 activity near the trigger of a hindleg kick.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https://doi.org/10.1152/jn.1985.53.4.910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Pearson et al. (1985), Fig. 1. Filled 404 neuron in the thoracic nervous system.</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https://doi.org/10.1152/jn.1985.53.4.910</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3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neuron’s rhythmic firing does not by itself establish that it helps generate the rhythm. Robertson and Pearson injected brief current pulses into identified interneuron 301 during fictive flight and measured the timing of subsequent dorsal longitudinal motor bursts.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30 ms depolarizing pulse could advance or delay the next cycle depending on when it occurred. Phase specifies the position within a repeating cycle; a phase-response curve relates the timing of a perturbation to its effect on the rhythm. The neuron’s branches span mesothoracic and metathoracic regions.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Phase-dependent resetting supplies causal evidence for participation in rhythm generation. It does not prove that 301 is the sole oscillator or that the tested pulse reproduces its natural synaptic input. The response must be interpreted within the connected flight network.</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Advancing a cycle makes the next burst occur earlier; delaying it makes the burst occur later. The stimulation was timed relative to the motor rhythm, so a fixed current pulse had different effects in different circuit states.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 M. Robertson; K. G. Pearson (1985). Neural circuits in the flight system of the locust. Journal of Neurophysiology 53(1):110–128. https://doi.org/10.1152/jn.1985.53.1.110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&amp; Pearson (1985), Fig. 1. 301 anatomy and phase-response measurements.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https://doi.org/10.1152/jn.1985.53.1.110</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p3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and Pearson tested interneuron 501 with the same phase-dependent current-injection approach used for 301. The dye-filled cell was identified within the metathoracic ganglion. Both neurons expressed flight-related activity, but their resetting effects differed.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Brief depolarizing pulses into 501 reliably delayed the following cycle over particular phases. Apparent advances were not clearly separable from ordinary cycle variation. Its inhibitory connections included elevator-related pathways, whereas its own burst was associated with the depressor phase.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distinction between 301 and 501 argues against treating every rhythmically active interneuron as functionally interchangeable. 501 can alter when the network moves into its next cycle. Current injection establishes a network effect while leaving other neurons and parallel oscillatory mechanisms available.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published resetting curve uses normalized cycle timing. Normalization permits comparison between slightly different cycle periods without equating the firing rate of the interneuron with the frequency of wing beating.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 M. Robertson; K. G. Pearson (1985). Neural circuits in the flight system of the locust. Journal of Neurophysiology 53(1):110–128. https://doi.org/10.1152/jn.1985.53.1.110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&amp; Pearson (1985), Fig. 2. 501 morphology and resetting curve.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https://doi.org/10.1152/jn.1985.53.1.110</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5" name="Google Shape;445;p3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24 and 25 report resetting curves for two interneurons. The reasoning behind the test explains why a shifted cycle counts as evidence for rhythm generation.</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What a resetting test asks.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 pulse is delivered at a chosen point in the cycle, and the arrival time of later motor bursts is compared with the expected schedule.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If the schedule shifts permanently, the pulse changed the oscillator itself.</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Followers do not reset.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 motor neuron or any purely downstream cell can be driven to fire extra spikes without changing when the rhythm generator produces its following burst.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Robertson and Pearson concluded from the resetting experiments that 301 and 501 are important in rhythm generation.</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Reading the cell’s role from the curve.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301 is associated with elevator activity and could both advance and delay cycles.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501 bursts with the depressor phase and inhibits elevator-related cells, so extra excitation of 501 lengthens the depressor phase and delays the cycle.</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 M. Robertson; K. G. Pearson (1985). Neural circuits in the flight system of the locust. Journal of Neurophysiology 53(1):110–128. https://doi.org/10.1152/jn.1985.53.1.110</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7" name="Google Shape;457;p3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and Pearson recorded simultaneously from interneurons 301 and 501. A postsynaptic potential is a change in membrane voltage caused by input from another neuron. An excitatory potential tends to favor firing; an inhibitory potential tends to oppose it under the recorded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spike in 301 preceded a depolarizing potential in 501 by approximately 6 ms. A spike in 501 preceded an inhibitory potential in 301 by approximately 3 ms. The delayed excitation lasted longer than the feedback inhibition and could support alternating activation and release from inhibition.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paired recordings establish directional physiological interactions. A longer latency suggests additional processing but does not alone count synapses. The 301-to-501 depolarization required further tests because depolarization can arise from removal of inhibition rather than direct excitatory transmitter action.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Excitation from 301 to 501 and inhibition returning from 501 to 301 form a candidate burst-generating interaction. Long depolarizing current pulses into 301 sometimes recruited rhythmical output, but other components of the flight network remained active.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 M. Robertson; K. G. Pearson (1985). Neural circuits in the flight system of the locust. Journal of Neurophysiology 53(1):110–128. https://doi.org/10.1152/jn.1985.53.1.110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&amp; Pearson (1985), Fig. 3. Paired recordings of delayed excitation and feedback inhibition.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https://doi.org/10.1152/jn.1985.53.1.110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&amp; Pearson (1985), Fig. 1(A). Filled interneuron 301 across two thoracic ganglia.</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https://doi.org/10.1152/jn.1985.53.1.110</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1" name="Google Shape;471;p3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Disinhibition is excitation caused by reducing an inhibitory influence. Robertson and Pearson hyperpolarized 501 while monitoring its delayed response to 301 spikes. A direct increase in excitatory conductance and a reduction in inhibitory conductance need not behave the same way when membrane voltage changes.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delayed depolarizing potential decreased and reversed sign near 6 nA of hyperpolarizing current. Spontaneous inhibitory potentials reversed at a similar point. Chloride loading reduced the delayed potential, consistent with an inhibitory conductance contributing to its origin.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identified pathway through interneuron 511 contained inhibition from 301 to 511 and from 511 to 501. The observations support delayed excitation through disinhibition, but tonic graded transmitter release at the candidate intermediate connection was not directly established.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conductance describes how readily ionic current passes across the membrane. Reversing an inhibitory current’s driving force can reverse a response produced by removing that current. The absolute reversal voltage was difficult to determine with the recording method.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 M. Robertson; K. G. Pearson (1985). Neural circuits in the flight system of the locust. Journal of Neurophysiology 53(1):110–128. https://doi.org/10.1152/jn.1985.53.1.110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&amp; Pearson (1985), Fig. 6. Delayed potentials reverse during hyperpolarizing current injection.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https://doi.org/10.1152/jn.1985.53.1.110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&amp; Pearson (1985), Fig. 7. Recorded inhibitory links through interneuron 511.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https://doi.org/10.1152/jn.1985.53.1.110</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p3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5" name="Google Shape;485;p3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and Pearson applied picrotoxin, an inhibitor of certain ligand-gated inhibitory channel responses, to test the proposed disinhibitory pathway. The bath concentration was approximately 150 μM. Paired recordings compared the same connections before and after treatment.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Within about 4 min, picrotoxin blocked inhibition from 301 to 511 and also the delayed excitation from 301 to 501. Neuron 501 became strongly depolarized and could fire continuously. Rhythmic activity sometimes persisted at 16–18 Hz instead of the usual 10–12 Hz, with altered bursts and disrupted phase relationships.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Blocking an inhibitory influence can remove a depolarizing response that depends on disinhibition. The result supports that mechanism but does not identify a particular inhibitory transmitter or receptor subunit. Persistent, distorted rhythmicity also argues against assigning all oscillation to this one interaction.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drug’s effects on multiple pathways limit molecular specificity. Failure to recover the connection during limited washout also restricts interpretation. The observed physiological block should not be converted into a definitive identification of a GABA receptor subtype.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 M. Robertson; K. G. Pearson (1985). Neural circuits in the flight system of the locust. Journal of Neurophysiology 53(1):110–128. https://doi.org/10.1152/jn.1985.53.1.110</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&amp; Pearson (1985), Fig. 9. 301-to-501 responses before and after picrotoxin.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https://doi.org/10.1152/jn.1985.53.1.110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&amp; Pearson (1985), Fig. 8. Picrotoxin blocks the recorded 301-to-511 inhibitory potential.</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https://doi.org/10.1152/jn.1985.53.1.110</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3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27 and 28 report three tests of the delayed potential in 501. Each result follows from what a reversal potential is, applied to a response produced by removing inhibition.</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Driving force.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current through a channel depends on how far the membrane sits from that channel’s reversal potential.</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At the reversal potential an open inhibitory channel passes no net current, and beyond it the current reverses.</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Why a removal response reverses.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 depolarization caused by losing inhibition is the mirror image of that inhibition.</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When current pushes 501 past the inhibitory reversal point, the tonic current changes direction, and its removal changes direction with it, which matches the spontaneous inhibitory potentials reversing at a similar level.</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Two further manipulations.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Loading the cell with chloride moves the reversal potential toward rest, so the tonic inhibition is weaker and its removal has less effect.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Picrotoxin removes the inhibition entirely, so 501 is left depolarized and nothing remains for a 301 spike to take away.</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 M. Robertson; K. G. Pearson (1985). Neural circuits in the flight system of the locust. Journal of Neurophysiology 53(1):110–128. https://doi.org/10.1152/jn.1985.53.1.110</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3" name="Google Shape;513;p3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premotor interneuron influences motor neurons, placing it between network timing and muscle activation. Robertson and Pearson found delayed excitation from 301 to interneuron 503, followed by excitation from 503 to 201. The 201 cells provide excitatory input to depressor motor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Paired intracellular recordings linked 301 spikes to delayed 503 responses and 503 spikes to shorter-latency 201 responses. The two stages preserve a separation between elevator-associated activity in 301 and later depressor-associated drive. Their recordings include millivolt voltage and millisecond time calibrations.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chain supplies a physiological route by which central activity can establish phase relationships in motor output. It is part of a broader network, with additional excitation and inhibition. The recorded connections do not establish that the chain is the only route to every depressor motor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published circuit interpretation links delayed activation to the relatively stable elevator-to-depressor interval. Premotor cells can also participate in resetting the rhythm, so pattern generation and motor-output functions are not always exclusive cell categories.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 M. Robertson; K. G. Pearson (1985). Neural circuits in the flight system of the locust. Journal of Neurophysiology 53(1):110–128. https://doi.org/10.1152/jn.1985.53.1.110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 M. Wilson (1961). The central nervous control of flight in a locust. Journal of Experimental Biology 38(2):471–490. https://doi.org/10.1242/jeb.38.2.471</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Robertson &amp; Pearson (1985), Fig. 13. Recorded interactions among 301, 503 and 201.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https://doi.org/10.1152/jn.1985.53.1.110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 (1961), Fig. 1. Published dissection identifies ganglia, nerves and muscles.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https://doi.org/10.1242/jeb.38.2.471</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3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7" name="Google Shape;527;p3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Acetylcholine is a neurotransmitter acting through nicotinic and muscarinic receptors. Muscarinic receptors are G-protein-coupled receptors that alter cellular signaling and excitability. An agonist activates a receptor; pilocarpine is a muscarinic agonist used to test flight activation.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and colleagues applied 5 mM pilocarpine to deafferented Schistocerca gregaria while recording hindwing elevators and depressors and bilateral wing-related muscles. Pilocarpine induced alternating activity after several seconds, with pauses interrupting the flight episodes. Wind-induced activity served as the reference pattern.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agonist establishes that muscarinic stimulation can recruit the flight circuitry without phasic wing feedback. Bath sufficiency does not identify the endogenous releasing neuron, local transmitter concentration, or receptor subtype. The retained muscle arrangement and phase relationships distinguish a flight score from general hyperactivity.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thoracic sensory nerves were severed while motor innervation to the recorded muscles was retained. The reported bath dose was millimolar; it should not be interpreted as a measured synaptic acetylcholine concentration.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1(A–F). Wind- and pilocarpine-induced flight muscle activity.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2(A). Frequencies of wind- and drug-induced flight patterns.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4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p4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Nicotinic receptors are ligand-gated ion channels activated by acetylcholine and nicotine. Unlike muscarinic receptors, they mediate direct channel responses. Buhl and colleagues compared nicotine with carbachol, an acetylcholine analogue that activates both receptor classes.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1 mM, nicotine produced a brief burst of uncoordinated motor activity rather than a stable flight pattern. At 5 mM, carbachol produced sustained flight-like alternation near 18 Hz. This was faster than the approximately 11.5 Hz rhythm induced by pilocarpine in the same study.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Direct excitation of motor activity is therefore insufficient evidence for CPG recruitment. Combined muscarinic and nicotinic actions may support faster output, but the experiment did not isolate every cellular contribution. The nicotinic antagonist tests were not selectively reversible at doses that abolished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ligand is a molecule that binds a receptor. The study supports muscarinic activation and a possible additional nicotinic contribution to sustained high-frequency output. It did not measure channel currents in identified CPG cells.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1(A–F). Carbachol and nicotine produce different motor responses.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2(A). Different activation treatments produce different rhythm frequencies.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4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5" name="Google Shape;555;p4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An antagonist reduces a receptor’s response to its activating ligand. Buhl and colleagues perfused the thoracic nervous system with 10 mM atropine or scopolamine, both muscarinic antagonists. Wind stimulation and pilocarpine were tested during the treatment.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Wind normally evoked alternating elevator and depressor activity. During atropine perfusion, even strong wind failed to release a flight episode; saline wash restored the response after approximately 20 min. Atropine and scopolamine also blocked the flight-inducing action of pilocarpine.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Reversibility reduces an explanation based solely on irreversible tissue damage. Blockade of natural stimulation and an agonist supports a necessary muscarinic step in the tested pathway. High bath doses and the absence of cell-specific receptor manipulation limit assignment of the affected receptor to a particular interneuron.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head-wind pathway remained connected, whereas phasic wing sensory inputs were removed. The experiment therefore tests a central pharmacological requirement for sensory-evoked activation, rather than requiring normal wing motion to assess the drug.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3. Wind and pilocarpine responses during muscarinic blockade.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2. Motor-pattern measurements for the different activation conditions.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9" name="Google Shape;569;p4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tritocerebral commissure giant interneuron, or TCG, is a descending wind-responsive neuron with an axon approximately 20 μm in diameter. A commissure connects structures across the nervous system’s midline. Buhl and colleagues stimulated its accessible axon while monitoring flight muscle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train of 20 pulses at 200 Hz could evoke several seconds of fictive flight. The shortest onset delay was approximately 23 ms. Thoracic atropine blocked this response, and a saline wash restored it after approximately 30 min.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short latency and reversible block support a muscarinic step close to the flight-generating circuit. They do not prove that TCG itself releases acetylcholine: its follower neuron could supply the cholinergic action. The experiment established a receptor-dependent route from an identified activating neuron to motor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Stimulation was set at the threshold for the larger TCG axon to reduce recruitment of the smaller tritocerebral dwarf neuron. The first muscle burst involved elevators, followed by sustained elevator-depressor alternation.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4. TCG stimulation, atropine blockade and wash recovery.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4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1" name="Google Shape;581;p4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30, 31 and 33 identify a muscarinic step in flight activation. The time course of muscarinic signaling helps explain why a short burst of command activity can be followed by a long flight episode.</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Two receptor classes.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Ionotropic receptors such as the nicotinic type open a pore directly, so their current tracks the presence of transmitter closely.</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Metabotropic receptors such as the muscarinic type act through G proteins and second messengers, and their effects can last well beyond the transmitter pulse.</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A short command and a long episode.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TCG stimulus lasted only as long as twenty pulses at two hundred per second, yet flight continued for seconds.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That persistence is consistent with a slow excitatory state in the flight network, and Buhl and colleagues found that atropine blocked the response reversibly.</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Matching the drug responses.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Nicotine gave a short burst of uncoordinated motor activity, as expected from fast direct excitation without recruitment of the generator.</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Muscarinic agonists instead produced sustained flight, with the cycle-by-cycle timing coming from the network’s own synaptic interactions.</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p4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3" name="Google Shape;593;p4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Biogenic amines are signaling molecules that can modulate neural activity; octopamine, dopamine and tyramine are examples. Buhl and colleagues applied them to deafferented preparations and compared their motor patterns with wind- and cholinergic-induced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Octopamine at 500 mM and tyramine at 10 mM induced flight-like bursts under these bath conditions. Dopamine and histamine also released episodes, whereas serotonin and the precursor amino acid tyrosine did not. Atropine blocked the flight-inducing action of octopamine.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Drug-induced sufficiency does not establish an amine as the indispensable natural trigger. The antagonist result places muscarinic action downstream of, or within, the amine-recruited activation route. Bath drug potency cannot be equated with natural release probability or concentration at receptors behind the insect blood–brain barrier.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large concentrations are those printed in the original 2008 article and are preserved as experimental bath concentrations. The doses in the later 2013 preparation were different; neither study measured the concentration reaching individual central receptors.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5(A–C). Octopamine and tyramine induce flight-related muscle bursts.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2. Amine-induced patterns differ from cholinergic patterns in phase.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4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4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Reserpine reduces stored biogenic amines and provides a test distinct from receptor-antagonist application. Buhl and colleagues injected a total of 500 μg per locust over two treatments. They examined thoracic tissue using octopamine immunocytochemistry, an antibody-based method for detecting octopamine-like labeling.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Control tissue labeled dorsal unpaired median neurons and fine processes in the flight neuropil. Reserpine-treated tissue lost this labeling. Nevertheless, wind and 5 mM pilocarpine still evoked flight-like activity with the main timing relationships retained.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verified loss of labeling strengthens the conclusion that normal amine stores are not required for initiation in this preparation. It does not prove that amines never affect intact flight, or exclude every residual molecule. Muscarinic activation remains distinguishable from aminergic facilitation and motor-pattern tuning.</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Neuropil is tissue rich in interacting axons, dendrites and synapses. The treated animals were less active overall, yet the reduced preparation retained a releasable flight program. Reduced general activity and inability to activate a particular program are different outcomes.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6. Octopamine staining and flight output after reserpine.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4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p4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30 to 35 use agonists, antagonists and depletion on the same flight preparation. The three methods test different claims, and only their combination assigns roles to acetylcholine and the amines.</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What each test can show.</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An agonist establishes only that a receptor can drive the circuit when flooded with drug, which says nothing about whether natural activation uses it.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An antagonist tests whether natural activation passes through the receptor, and depletion tests whether the endogenous transmitter must be available.</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How the two transmitter systems scored.</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Buhl and colleagues found that several amines started flight in the bath, but aminergic antagonists did not reversibly block initiation and amine-depleted animals still flew to wind.</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Atropine and scopolamine, in contrast, reversibly blocked flight evoked by wind, cholinergic agonists, octopamine and TCG stimulation.</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A modulatory role for amines.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Rillich and colleagues found that a lower octopamine dose raised the probability that wind released flight and tightened coupling between leg and wing units.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Earlier work had credited octopamine with activating the flight generator; the combined tests move that role to acetylcholine acting at muscarinic receptors.</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Rillich; P. A. Stevenson; H.-J. Pflueger (2013). Flight and walking in locusts–cholinergic co-activation, temporal coupling and its modulation by biogenic amines. PLOS ONE 8(5):e62899. https://doi.org/10.1371/journal.pone.0062899</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4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1" name="Google Shape;631;p4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and colleagues quantified the motor score with simultaneous recordings from a hindwing elevator and several depressor muscles. Cycle frequency is the number of complete repetitions per second; phase expresses where one event falls within that repetition.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Wind-induced fictive flight averaged approximately 8.6 Hz, pilocarpine-induced activity 11.5 Hz, and carbachol-induced activity 18.1 Hz. The elevator occupied phase approximately 0.58 with wind and 0.52 with pilocarpine, but approximately 0.76 during octopamine-induced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Similar alternating patterns therefore need not have identical temporal structure. The chemistry used to release a motor program can also tune the program. These values describe deafferented preparations and should not be treated as interchangeable with the frequency, forces or wing angles of intact flight.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Left and right homologous muscles remained nearly synchronous across treatments, and corresponding forewing activity generally lagged hindwing activity. The comparison separates conserved organizational relationships from parameters that change with activation state.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2. Measured rhythm frequency, delays and phase across treatments.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p4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3" name="Google Shape;643;p4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tegula is a proprioceptive sense organ at the wing base that signals wing downstroke. Proprioception supplies information about the animal’s own movement. Ausborn and colleagues electrically stimulated hindwing tegula afferents while monitoring wing position and elevator motor-neuron voltage.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Stimulus trains used 0.1 ms pulses at 220 Hz to approximate natural receptor bursts. Stimulating at different phases synchronized the subsequent elevator response and wing movement. Excitatory postsynaptic potential amplitudes varied within a flight episode even when stimulation occurred at similar phases.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tegula can therefore reset a centrally generated rhythm instead of merely reporting its movement. The response depends on circuit state and effective sensory input. Electrical activation substitutes for natural hair movement, so it does not reproduce every mechanical detail of the intact wing-base receptor.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Open-loop stimulation is imposed without adapting each stimulus to the immediately preceding motor cycle. The later closed-loop experiment makes sensory stimulation depend on motor output, restoring an important reciprocal relationship.</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Ausborn; W. Stein; H. Wolf (2007). Frequency control of motor patterning by negative sensory feedback. Journal of Neuroscience 27(35):9319–9328. https://doi.org/10.1523/JNEUROSCI.0907-07.2007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Ausborn et al. (2007), Fig. 2(A). Wing motion and elevator recordings during tegula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https://doi.org/10.1523/JNEUROSCI.0907-07.2007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Ausborn et al. (2007), Fig. 1(A). Published ganglion and tegula-nerve recording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https://doi.org/10.1523/JNEUROSCI.0907-07.2007</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p4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p4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Ausborn and colleagues stimulated the cut tegula nerve while recording its compound action potential, the summed extracellular response of several axons. The lowest stimulus voltage producing a detectable response defined threshold T. Increasing voltage recruited additional afferents.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second nerve-response component appeared near 1.3 times threshold in the published example. Higher stimulus intensities also produced larger postsynaptic responses in flight interneurons, including 511. The recordings distinguish increasing peripheral recruitment from an assumed change in one neuron’s spike size.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Stimulus strength is therefore an experimentally controlled way to change the sensory drive reaching the network. It is not a direct measurement of natural synaptic gain at one identified receptor connection. The resulting network response must also be assessed with feedback timing allowed to depend on motor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Individual action potentials are not normally enlarged in proportion to stimulus voltage. The compound signal grows because more axons contribute, and its timing can change when slower-conducting fibers are recruited.</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Ausborn; W. Stein; H. Wolf (2007). Frequency control of motor patterning by negative sensory feedback. Journal of Neuroscience 27(35):9319–9328. https://doi.org/10.1523/JNEUROSCI.0907-07.2007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Ausborn et al. (2007), Fig. 5. Recorded compound nerve responses and interneuron potentials.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https://doi.org/10.1523/JNEUROSCI.0907-07.2007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Ausborn et al. (2007), Fig. 1(A). Published ganglion and tegula-nerve recording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https://doi.org/10.1523/JNEUROSCI.0907-07.2007</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p5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5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In closed-loop feedback, motor output affects the next sensory input, which then affects later motor output. Ausborn and colleagues used depressor muscle bursts to calculate the onset and duration of each subsequent tegula stimulus train in real time.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Near threshold, feedback sped the rhythm from approximately 10.3 to 13.1 Hz in the published example. Raising stimulation from 0.75 V to 1.5 V, twice threshold, greatly reduced that acceleration. In some preparations strong feedback slowed the rhythm below its unstimulated frequency.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Stronger sensory excitation does not therefore guarantee a faster closed-loop rhythm. Timing, stimulus duration and network inhibition interact across cycles. The experimental recordings confirm a feedback-dependent relationship predicted by a model, but they do not establish every ionic current assumed by that model.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illustrated recordings are from the biological locust preparation, not replotted data or simulated voltage traces. Increasing input can prolong the network state that delays the next depressor burst, changing the overall frequency despite excitation of elevator-related pathways.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Ausborn; W. Stein; H. Wolf (2007). Frequency control of motor patterning by negative sensory feedback. Journal of Neuroscience 27(35):9319–9328. https://doi.org/10.1523/JNEUROSCI.0907-07.2007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Ausborn et al. (2007), Fig. 6(A–F). Biological flight output during dynamically timed tegula stimulation.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https://doi.org/10.1523/JNEUROSCI.0907-07.2007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Ausborn et al. (2007), Fig. 1(A). Published ganglion and tegula-nerve recording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https://doi.org/10.1523/JNEUROSCI.0907-07.2007</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p51: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5" name="Google Shape;685;p51: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37 to 39 move from open-loop resetting to closed-loop control of frequency. The concept of negative feedback explains how one sensory loop can both speed and slow the rhythm.</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The loop.</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Wing depression activates the tegula, and the tegula signal promotes the switch to elevation.</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Ausborn and colleagues describe this as negative feedback, since the sensory signal opposes continuation of the movement that caused it.</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Weak versus strong feedback.</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 small, well-timed input advances the transition and so shortens each cycle, which is why frequency rose near threshold.</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With more afferents recruited and longer trains, excitation reaches parts of the network whose inhibitory actions postpone the downstroke burst.</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Why the effect accumulates.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In closed loop, the timing of each stimulus depends on the preceding depressor burst, so a delay is passed on from cycle to cycle.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authors found the same relation in their model and in the animal: stronger tegula feedback gave lower cycle frequency, and they suggest this is a general emergent property of negative feedback systems.</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Ausborn; W. Stein; H. Wolf (2007). Frequency control of motor patterning by negative sensory feedback. Journal of Neuroscience 27(35):9319–9328. https://doi.org/10.1523/JNEUROSCI.0907-07.2007</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52: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9" name="Google Shape;699;p52: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Rillich and colleagues recorded leg motor nerves and wing muscle activity from the same deafferented locust. Co-activation means that two motor programs are expressed together. The preparation retained motor output but removed sensory and descending inputs that ordinarily help select locomotion.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At 1 mM pilocarpine, slow walking-like bursts in leg pathways could occur at the same time as rapid flight-like wing alternation. Walking activity often began within approximately 1 min of drug application and flight activity followed after approximately 1–3 min. Individual leg spikes could become coupled to wingbeats within the slow step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two CPGs can therefore remain active concurrently in a reduced nervous system. This does not mean that intact locusts normally walk and fly simultaneously. Behavioral exclusivity can depend on additional selection mechanisms rather than obligatory inhibition between the core rhythm generators.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slow leg pattern and rapid flight pattern occupy different time scales. Temporal coupling of individual spikes can occur without eliminating the longer swing-stance organization of the leg output.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Rillich; P. A. Stevenson; H.-J. Pflueger (2013). Flight and walking in locusts–cholinergic co-activation, temporal coupling and its modulation by biogenic amines. PLOS ONE 8(5):e62899. https://doi.org/10.1371/journal.pone.0062899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Rillich et al. (2013), Fig. 3(A). Simultaneous leg and wing output during pilocarpine exposure.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https://doi.org/10.1371/journal.pone.0062899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Rillich et al. (2013), Fig. 4. Drug concentration changes the expressed leg and wing motor patterns.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https://doi.org/10.1371/journal.pone.0062899</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53: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3" name="Google Shape;713;p53: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Rillich and colleagues compared octopamine with tyramine, its biosynthetic precursor and an independent signaling molecule. Both could activate flight-related output, but their effects on leg motor patterns differed. The same preparation and recorded pathways were used for the comparison.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Octopamine at 100 mM strongly recruited flight-like wing activity and usually coupled leg motor units to the flight rhythm. Tyramine at 10 mM could recruit walking-like activity; a higher 100 mM concentration could recruit flight as well. Leg-wing coupling was weaker during tyramine-induced activity.</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effect of an amine therefore includes which motor state becomes available and how outputs are coordinated. Structural relatedness does not imply interchangeable physiological action. The experiment establishes responses to applied drugs rather than the timing of natural octopamine or tyramine release during flight choice.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Trochanteral levator and depressor units report opposing leg motor phases. Coupling means their spike timing becomes related to wing depressor activity; it does not imply that every recorded leg unit has acquired the same function.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Rillich; P. A. Stevenson; H.-J. Pflueger (2013). Flight and walking in locusts–cholinergic co-activation, temporal coupling and its modulation by biogenic amines. PLOS ONE 8(5):e62899. https://doi.org/10.1371/journal.pone.0062899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Rillich et al. (2013), Fig. 3(B,C). Leg and wing activity under octopamine versus tyramine.</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https://doi.org/10.1371/journal.pone.0062899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Rillich et al. (2013), Fig. 4. Concentration-dependent recruitment differs between the two amines.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https://doi.org/10.1371/journal.pone.0062899</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54: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7" name="Google Shape;727;p54: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40 and 41 find walking and flight patterns running at the same time in one reduced nervous system. Comparing two ways of keeping behaviors exclusive explains what that finding implies for the intact animal.</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Two candidate mechanisms.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If the generators inhibited each other, activating one would suppress the other, and the patterns would alternate rather than overlap.</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If the generators are independent, exclusivity has to come from the inputs that switch each one on.</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The co-activation test.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Rillich and colleagues saw no sign of mutual inhibition, such as alternating sequences of the two patterns, and the walking rhythm did not change when flight began.</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They conclude that the activation pathways and core circuits of the two generators are functionally and anatomically separate.</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Selection in the intact locust.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authors point to sensory mechanisms such as the tarsal reflex, together with natural releasing stimuli, as the means of selecting one behavior.</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Camhi’s finding that foot contact can inhibit flight on slide 6 is one such mechanism, and deafferentation removes it.</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Rillich; P. A. Stevenson; H.-J. Pflueger (2013). Flight and walking in locusts–cholinergic co-activation, temporal coupling and its modulation by biogenic amines. PLOS ONE 8(5):e62899. https://doi.org/10.1371/journal.pone.0062899</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J. M. Camhi (1969c). Locust wind receptors. III. Contribution to flight initiation and lift control. Journal of Experimental Biology 50(2):363–373. https://doi.org/10.1242/jeb.50.2.363</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p55: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1" name="Google Shape;741;p55: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Rillich and colleagues retained head input to release fictive flight with wind, then tested how amines changed motor coordination. Epinastine is an octopamine receptor antagonist. Leg and wing recordings separated effects on activation from effects on timing during ongoing episodes.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Bath-applied octopamine at 5 mM increased the effectiveness of wind and shortened the cycle. It also tightened the timing of leg motor units relative to wing depressor output, whereas 1 mM epinastine loosened that relationship. Tyramine and its antagonist had no comparable effect on coupling under the tested conditions.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These observations support octopaminergic modulation of recruitment and coordination. They do not contradict the persistence of initiation after amine depletion: facilitation and obligatory activation are different causal roles. The experiment did not directly localize the receptor responsible for coupling to a single CPG neuron.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antagonist affected the temporal dispersion of leg-wing relationships more than the elevator-depressor relationship within the flight score. The result concerns coordination among outputs rather than identifying the source of the core flight rhythm.</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Rillich; P. A. Stevenson; H.-J. Pflueger (2013). Flight and walking in locusts–cholinergic co-activation, temporal coupling and its modulation by biogenic amines. PLOS ONE 8(5):e62899. https://doi.org/10.1371/journal.pone.0062899</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Rillich et al. (2013), Fig. 11. Changes in motor coupling after amine and antagonist treatments.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https://doi.org/10.1371/journal.pone.0062899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Rillich et al. (2013), Fig. 1(A–C). Published leg-nerve and wing-muscle recording anatomy.</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https://doi.org/10.1371/journal.pone.0062899</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56: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5" name="Google Shape;755;p56: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Dorsal unpaired median neurons, or DUM neurons, are centrally located modulatory neurons with peripheral projections. Mentel and colleagues stimulated DUM axons supplying flight muscle M119 in Locusta migratoria. Their experiment separated modulatory input from the motor-neuron input that produces contraction.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After unilateral denervation, 1 Hz DUM stimulation for 20 min increased muscle fructose 2,6-bisphosphate, a regulator that promotes glycolysis. Its amount rose approximately sevenfold relative to the contralateral control muscle. Glycolysis is the pathway that supplies energy by breaking down carbohydrate.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Central modulatory neurons can therefore prepare the muscle’s metabolic state without themselves generating wingbeat contractions. The within-animal comparison supports a peripheral effect of DUM activity. It does not establish that these neurons initiate the flight CPG or remain equally active throughout sustained flight.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published thoracic tissue staining identifies octopamine-associated DUM cells, while the muscle study tests their peripheral metabolic action. A neuron’s transmitter and projection targets do not imply that it supplies rhythmic motor commands.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 Mentel; C. Duch; H. Stypa; G. Wegener; U. Müller; H.-J. Pflüger (2003). Central modulatory neurons control fuel selection in flight muscle of migratory locust. Journal of Neuroscience 23(4):1109–1113. https://doi.org/10.1523/JNEUROSCI.23-04-01109.2003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Mentel et al. (2003), Fig. 1. DUM stimulation and flight-muscle glycolytic activator levels.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https://doi.org/10.1523/JNEUROSCI.23-04-01109.2003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Buhl et al. (2008), Fig. 6(A,B). Octopamine-associated DUM cells in stained thoracic sections.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https://doi.org/10.1242/jeb.017384</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7" name="Shape 767"/>
        <p:cNvGrpSpPr/>
        <p:nvPr/>
      </p:nvGrpSpPr>
      <p:grpSpPr>
        <a:xfrm>
          <a:off x="0" y="0"/>
          <a:ext cx="0" cy="0"/>
          <a:chOff x="0" y="0"/>
          <a:chExt cx="0" cy="0"/>
        </a:xfrm>
      </p:grpSpPr>
      <p:sp>
        <p:nvSpPr>
          <p:cNvPr id="768" name="Google Shape;768;p57: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69" name="Google Shape;769;p57: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Cyclic AMP, or cAMP, is an intracellular second messenger; protein kinase A, or PKA, is an enzyme activated by cAMP that modifies proteins through phosphorylation. Mentel and colleagues assayed PKA activity and the glycolytic regulator after DUM stimulation.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DUM activity increased PKA activity in flight muscle. Applying the PKA inhibitor KT5720 prevented the DUM-associated increase in fructose 2,6-bisphosphate. A cAMP donor increased PKA activity without reproducing the increase in the glycolytic regulator after a 20 min treatment.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PKA signaling is therefore necessary under these test conditions but is insufficient by itself for the metabolic response. A parallel pathway, possibly involving calcium signaling, was proposed but not established. The experiment concerns muscle metabolism, and cannot be transferred directly to muscarinic activation of thoracic CPG neurons.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Phosphorylation is addition of a phosphate group to a protein. The inhibitor tests necessity, whereas the cAMP-donor experiment tests sufficiency. The two results support involvement of more than one signaling contribution.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 Mentel; C. Duch; H. Stypa; G. Wegener; U. Müller; H.-J. Pflüger (2003). Central modulatory neurons control fuel selection in flight muscle of migratory locust. Journal of Neuroscience 23(4):1109–1113. https://doi.org/10.1523/JNEUROSCI.23-04-01109.2003</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Mentel et al. (2003), Fig. 3. PKA blockade and cAMP-donor effects on the glycolytic regulator.</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https://doi.org/10.1523/JNEUROSCI.23-04-01109.2003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Mentel et al. (2003), Fig. 1. DUM projections and the controlled flight-muscle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https://doi.org/10.1523/JNEUROSCI.23-04-01109.2003</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1" name="Shape 781"/>
        <p:cNvGrpSpPr/>
        <p:nvPr/>
      </p:nvGrpSpPr>
      <p:grpSpPr>
        <a:xfrm>
          <a:off x="0" y="0"/>
          <a:ext cx="0" cy="0"/>
          <a:chOff x="0" y="0"/>
          <a:chExt cx="0" cy="0"/>
        </a:xfrm>
      </p:grpSpPr>
      <p:sp>
        <p:nvSpPr>
          <p:cNvPr id="782" name="Google Shape;782;p58: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3" name="Google Shape;783;p58: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Slides 43 and 44 show DUM stimulation raising a glycolytic regulator through PKA. The enzyme it acts on and the timing of DUM activity explain what this does for a flying locust.</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From neuron to enzyme.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Fructose 2,6-bisphosphate is a potent allosteric activator of phosphofructokinase, which controls flux through glycolysis.</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Mentel and colleagues found that PKA is necessary for the DUM effect, placing a cAMP-dependent step between octopamine release and the rise in the regulator.</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Active at rest, silent in flight.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According to the authors, DUM neurons innervating the flight muscles fire during rest and are selectively inhibited during flight.</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The muscle is therefore poised for carbohydrate use when flight begins, and that stimulation fades as flight continues.</a:t>
            </a:r>
            <a:endParaRPr/>
          </a:p>
          <a:p>
            <a:pPr indent="-228600" lvl="0" marL="342900" marR="0" rtl="0" algn="l">
              <a:spcBef>
                <a:spcPts val="0"/>
              </a:spcBef>
              <a:spcAft>
                <a:spcPts val="0"/>
              </a:spcAft>
              <a:buClr>
                <a:schemeClr val="dk1"/>
              </a:buClr>
              <a:buSzPts val="1200"/>
              <a:buFont typeface="Calibri"/>
              <a:buChar char="•"/>
            </a:pPr>
            <a:r>
              <a:rPr lang="en-US" sz="1200">
                <a:solidFill>
                  <a:schemeClr val="dk1"/>
                </a:solidFill>
                <a:latin typeface="Calibri"/>
                <a:ea typeface="Calibri"/>
                <a:cs typeface="Calibri"/>
                <a:sym typeface="Calibri"/>
              </a:rPr>
              <a:t>Fuel switching.</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Take-off requires high rates of carbohydrate oxidation, but locusts soon switch to lipid on long flights to spare limited carbohydrate.</a:t>
            </a:r>
            <a:endParaRPr/>
          </a:p>
          <a:p>
            <a:pPr indent="-228600" lvl="1" marL="685800" marR="0" rtl="0" algn="l">
              <a:spcBef>
                <a:spcPts val="0"/>
              </a:spcBef>
              <a:spcAft>
                <a:spcPts val="0"/>
              </a:spcAft>
              <a:buClr>
                <a:schemeClr val="dk1"/>
              </a:buClr>
              <a:buSzPts val="1200"/>
              <a:buFont typeface="Calibri"/>
              <a:buChar char="–"/>
            </a:pPr>
            <a:r>
              <a:rPr b="0" i="0" lang="en-US" sz="1200" u="none" cap="none" strike="noStrike">
                <a:solidFill>
                  <a:schemeClr val="dk1"/>
                </a:solidFill>
                <a:latin typeface="Calibri"/>
                <a:ea typeface="Calibri"/>
                <a:cs typeface="Calibri"/>
                <a:sym typeface="Calibri"/>
              </a:rPr>
              <a:t>Removing the octopaminergic drive during flight tends to lower muscle glycolysis, which fits that switch.</a:t>
            </a:r>
            <a:endParaRPr/>
          </a:p>
          <a:p>
            <a:pPr indent="0" lvl="0" marL="0" marR="0" rtl="0" algn="l">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References:</a:t>
            </a:r>
            <a:endParaRPr/>
          </a:p>
          <a:p>
            <a:pPr indent="0" lvl="0" marL="0" marR="0" rtl="0" algn="l">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T. Mentel; C. Duch; H. Stypa; G. Wegener; U. Müller; H.-J. Pflüger (2003). Central modulatory neurons control fuel selection in flight muscle of migratory locust. Journal of Neuroscience 23(4):1109–1113. https://doi.org/10.1523/JNEUROSCI.23-04-01109.2003</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p59: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7" name="Google Shape;797;p59: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Teaching transcript:</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Wilson’s reduced preparations established that wing motion is unnecessary for a basic central flight rhythm. Ausborn and colleagues tested how experimentally restored tegula input reshapes that rhythm when sensory stimulation depends on the preceding motor cycle.</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central output was slower and less normally organized without the peripheral loop. Feedback near threshold could accelerate the rhythm, while stronger closed-loop input diminished that acceleration or slowed it. Wind supplies activation, and wing-base sensors supply information about the movement that activation produces.</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 CPG is therefore part of a sensorimotor system rather than a guarantee of normal movement in isolation. Central drive, synaptic network interactions, receptor-dependent state and reciprocal feedback contribute different functions. The cited preparations establish those distinctions without providing a complete reconstruction of every connection required for intact flight.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The experimental evidence supports a distributed explanation: an activating pathway makes flight circuitry available, central interactions organize repetitive output, and sensory feedback modifies its timing. Removing one contribution tests that contribution without proving the others are irrelevant.</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Ausborn; W. Stein; H. Wolf (2007). Frequency control of motor patterning by negative sensory feedback. Journal of Neuroscience 27(35):9319–9328. https://doi.org/10.1523/JNEUROSCI.0907-07.2007</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Ausborn et al. (2007), Fig. 6(A–F). Flight frequency changes with experimentally restored feedback.</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https://doi.org/10.1523/JNEUROSCI.0907-07.2007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Ausborn et al. (2007), Fig. 1(A). Published ganglion and tegula-nerve recording preparation.</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Figure source: https://doi.org/10.1523/JNEUROSCI.0907-07.2007</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60:notes"/>
          <p:cNvSpPr/>
          <p:nvPr>
            <p:ph idx="2" type="sldImg"/>
          </p:nvPr>
        </p:nvSpPr>
        <p:spPr>
          <a:xfrm>
            <a:off x="685800" y="16002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1" name="Google Shape;811;p60:notes"/>
          <p:cNvSpPr txBox="1"/>
          <p:nvPr>
            <p:ph idx="1" type="body"/>
          </p:nvPr>
        </p:nvSpPr>
        <p:spPr>
          <a:xfrm>
            <a:off x="685800" y="480060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Calibri"/>
                <a:ea typeface="Calibri"/>
                <a:cs typeface="Calibri"/>
                <a:sym typeface="Calibri"/>
              </a:rPr>
              <a:t>Central generation. Thoracic circuits produce flight-like alternation without phasic wing feedback; intact frequency and control still depend on sensory interaction.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Wind coding. Head hairs encode speed and direction jointly. Interneurons distinguish maintained airflow, direction, recentring and acceleration.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Activation versus rhythm. Tonic 404 drive can release flight, whereas phase-dependent resetting implicates neurons such as 301 and 501 in rhythm generation.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Synaptic mechanism. Delayed excitation can arise through disinhibition. Pharmacology and reversal tests support a mechanism without identifying every intermediate cell or channel.</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Chemical state. Muscarinic signaling supports flight initiation; amines facilitate recruitment, timing and coordination rather than constituting an obligatory trigger in the tested preparation.</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Feedback and muscle readiness. Closed-loop tegula input alters frequency, and DUM activity regulates muscle metabolism. Neither role replaces the central generator.</a:t>
            </a:r>
            <a:br>
              <a:rPr lang="en-US" sz="1200">
                <a:solidFill>
                  <a:schemeClr val="dk1"/>
                </a:solidFill>
                <a:latin typeface="Calibri"/>
                <a:ea typeface="Calibri"/>
                <a:cs typeface="Calibri"/>
                <a:sym typeface="Calibri"/>
              </a:rPr>
            </a:b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References:</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D. M. Wilson (1961). The central nervous control of flight in a locust. Journal of Experimental Biology 38(2):471–490. https://doi.org/10.1242/jeb.38.2.471</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(1969a). Locust wind receptors. I. Transducer mechanics and sensory response. Journal of Experimental Biology 50(2):335–348. https://doi.org/10.1242/jeb.50.2.335</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(1969b). Locust wind receptors. II. Interneurones in the cervical connective. Journal of Experimental Biology 50(2):349–362. https://doi.org/10.1242/jeb.50.2.349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M. Camhi (1969c). Locust wind receptors. III. Contribution to flight initiation and lift control. Journal of Experimental Biology 50(2):363–373. https://doi.org/10.1242/jeb.50.2.363</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K. G. Pearson; D. N. Reye; D. W. Parsons; G. Bicker (1985). Flight-initiating interneurons in the locust. Journal of Neurophysiology 53(4):910–925. https://doi.org/10.1152/jn.1985.53.4.910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R. M. Robertson; K. G. Pearson (1985). Neural circuits in the flight system of the locust. Journal of Neurophysiology 53(1):110–128. https://doi.org/10.1152/jn.1985.53.1.110</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E. Buhl; K. Schildberger; P. A. Stevenson (2008). A muscarinic cholinergic mechanism underlies activation of the central pattern generator for locust flight. Journal of Experimental Biology 211(14):2346–2357. https://doi.org/10.1242/jeb.017384</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Ausborn; W. Stein; H. Wolf (2007). Frequency control of motor patterning by negative sensory feedback. Journal of Neuroscience 27(35):9319–9328. https://doi.org/10.1523/JNEUROSCI.0907-07.2007</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J. Rillich; P. A. Stevenson; H.-J. Pflueger (2013). Flight and walking in locusts–cholinergic co-activation, temporal coupling and its modulation by biogenic amines. PLOS ONE 8(5):e62899. https://doi.org/10.1371/journal.pone.0062899</a:t>
            </a:r>
            <a:br>
              <a:rPr lang="en-US" sz="1200">
                <a:solidFill>
                  <a:schemeClr val="dk1"/>
                </a:solidFill>
                <a:latin typeface="Calibri"/>
                <a:ea typeface="Calibri"/>
                <a:cs typeface="Calibri"/>
                <a:sym typeface="Calibri"/>
              </a:rPr>
            </a:br>
            <a:r>
              <a:rPr lang="en-US" sz="1200">
                <a:solidFill>
                  <a:schemeClr val="dk1"/>
                </a:solidFill>
                <a:latin typeface="Calibri"/>
                <a:ea typeface="Calibri"/>
                <a:cs typeface="Calibri"/>
                <a:sym typeface="Calibri"/>
              </a:rPr>
              <a:t>T. Mentel; C. Duch; H. Stypa; G. Wegener; U. Müller; H.-J. Pflüger (2003). Central modulatory neurons control fuel selection in flight muscle of migratory locust. Journal of Neuroscience 23(4):1109–1113. https://doi.org/10.1523/JNEUROSCI.23-04-01109.2003</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6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6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6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6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6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6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4.pn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4.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3.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5.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png"/><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8.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0.png"/><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0.png"/><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1.png"/><Relationship Id="rId4" Type="http://schemas.openxmlformats.org/officeDocument/2006/relationships/image" Target="../media/image2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9.png"/><Relationship Id="rId4" Type="http://schemas.openxmlformats.org/officeDocument/2006/relationships/image" Target="../media/image4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2.png"/><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5.pn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44.png"/><Relationship Id="rId4"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44.png"/><Relationship Id="rId4"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3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46.png"/><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9.png"/><Relationship Id="rId4"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0.png"/><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50.png"/><Relationship Id="rId4" Type="http://schemas.openxmlformats.org/officeDocument/2006/relationships/image" Target="../media/image5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49.png"/><Relationship Id="rId4" Type="http://schemas.openxmlformats.org/officeDocument/2006/relationships/image" Target="../media/image5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48.png"/><Relationship Id="rId4"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53.png"/><Relationship Id="rId4" Type="http://schemas.openxmlformats.org/officeDocument/2006/relationships/image" Target="../media/image5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8.png"/><Relationship Id="rId4" Type="http://schemas.openxmlformats.org/officeDocument/2006/relationships/image" Target="../media/image5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5.png"/><Relationship Id="rId4" Type="http://schemas.openxmlformats.org/officeDocument/2006/relationships/image" Target="../media/image5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54.png"/><Relationship Id="rId4" Type="http://schemas.openxmlformats.org/officeDocument/2006/relationships/image" Target="../media/image5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7.png"/><Relationship Id="rId4" Type="http://schemas.openxmlformats.org/officeDocument/2006/relationships/image" Target="../media/image5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47.png"/><Relationship Id="rId4" Type="http://schemas.openxmlformats.org/officeDocument/2006/relationships/image" Target="../media/image5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50.png"/><Relationship Id="rId4" Type="http://schemas.openxmlformats.org/officeDocument/2006/relationships/image" Target="../media/image5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 name="Shape 18"/>
        <p:cNvGrpSpPr/>
        <p:nvPr/>
      </p:nvGrpSpPr>
      <p:grpSpPr>
        <a:xfrm>
          <a:off x="0" y="0"/>
          <a:ext cx="0" cy="0"/>
          <a:chOff x="0" y="0"/>
          <a:chExt cx="0" cy="0"/>
        </a:xfrm>
      </p:grpSpPr>
      <p:sp>
        <p:nvSpPr>
          <p:cNvPr id="19" name="Google Shape;19;p1"/>
          <p:cNvSpPr/>
          <p:nvPr/>
        </p:nvSpPr>
        <p:spPr>
          <a:xfrm>
            <a:off x="0" y="0"/>
            <a:ext cx="5905500" cy="6858000"/>
          </a:xfrm>
          <a:prstGeom prst="rect">
            <a:avLst/>
          </a:prstGeom>
          <a:solidFill>
            <a:srgbClr val="3C182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 name="Google Shape;20;p1"/>
          <p:cNvSpPr/>
          <p:nvPr/>
        </p:nvSpPr>
        <p:spPr>
          <a:xfrm>
            <a:off x="590550" y="1401217"/>
            <a:ext cx="4743450" cy="25717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7B6C2"/>
              </a:buClr>
              <a:buSzPts val="1350"/>
              <a:buFont typeface="Arial"/>
              <a:buNone/>
            </a:pPr>
            <a:r>
              <a:rPr b="0" i="0" lang="en-US" sz="1350">
                <a:solidFill>
                  <a:srgbClr val="D7B6C2"/>
                </a:solidFill>
                <a:latin typeface="Arial"/>
                <a:ea typeface="Arial"/>
                <a:cs typeface="Arial"/>
                <a:sym typeface="Arial"/>
              </a:rPr>
              <a:t>NEUR 411 · NEUROETHOLOGY · FALL 2026</a:t>
            </a:r>
            <a:endParaRPr sz="1800">
              <a:solidFill>
                <a:schemeClr val="dk1"/>
              </a:solidFill>
              <a:latin typeface="Calibri"/>
              <a:ea typeface="Calibri"/>
              <a:cs typeface="Calibri"/>
              <a:sym typeface="Calibri"/>
            </a:endParaRPr>
          </a:p>
        </p:txBody>
      </p:sp>
      <p:sp>
        <p:nvSpPr>
          <p:cNvPr id="21" name="Google Shape;21;p1"/>
          <p:cNvSpPr/>
          <p:nvPr/>
        </p:nvSpPr>
        <p:spPr>
          <a:xfrm>
            <a:off x="590550" y="2087017"/>
            <a:ext cx="4743450" cy="314325"/>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7B6C2"/>
              </a:buClr>
              <a:buSzPts val="1650"/>
              <a:buFont typeface="Arial"/>
              <a:buNone/>
            </a:pPr>
            <a:r>
              <a:rPr b="0" i="0" lang="en-US" sz="1650">
                <a:solidFill>
                  <a:srgbClr val="D7B6C2"/>
                </a:solidFill>
                <a:latin typeface="Arial"/>
                <a:ea typeface="Arial"/>
                <a:cs typeface="Arial"/>
                <a:sym typeface="Arial"/>
              </a:rPr>
              <a:t>Lecture 8</a:t>
            </a:r>
            <a:endParaRPr sz="1800">
              <a:solidFill>
                <a:schemeClr val="dk1"/>
              </a:solidFill>
              <a:latin typeface="Calibri"/>
              <a:ea typeface="Calibri"/>
              <a:cs typeface="Calibri"/>
              <a:sym typeface="Calibri"/>
            </a:endParaRPr>
          </a:p>
        </p:txBody>
      </p:sp>
      <p:sp>
        <p:nvSpPr>
          <p:cNvPr id="22" name="Google Shape;22;p1"/>
          <p:cNvSpPr/>
          <p:nvPr/>
        </p:nvSpPr>
        <p:spPr>
          <a:xfrm>
            <a:off x="590550" y="2629942"/>
            <a:ext cx="4743450" cy="1302841"/>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FFFFFF"/>
              </a:buClr>
              <a:buSzPts val="2850"/>
              <a:buFont typeface="Arial"/>
              <a:buNone/>
            </a:pPr>
            <a:r>
              <a:rPr b="1" i="0" lang="en-US" sz="2850">
                <a:solidFill>
                  <a:srgbClr val="FFFFFF"/>
                </a:solidFill>
                <a:latin typeface="Arial"/>
                <a:ea typeface="Arial"/>
                <a:cs typeface="Arial"/>
                <a:sym typeface="Arial"/>
              </a:rPr>
              <a:t>Locust flight: wind-sensitive interneurons and the flight CPG</a:t>
            </a:r>
            <a:endParaRPr sz="1800">
              <a:solidFill>
                <a:schemeClr val="dk1"/>
              </a:solidFill>
              <a:latin typeface="Calibri"/>
              <a:ea typeface="Calibri"/>
              <a:cs typeface="Calibri"/>
              <a:sym typeface="Calibri"/>
            </a:endParaRPr>
          </a:p>
        </p:txBody>
      </p:sp>
      <p:sp>
        <p:nvSpPr>
          <p:cNvPr id="23" name="Google Shape;23;p1"/>
          <p:cNvSpPr/>
          <p:nvPr/>
        </p:nvSpPr>
        <p:spPr>
          <a:xfrm>
            <a:off x="580950" y="4904333"/>
            <a:ext cx="4743600" cy="3144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7B6C2"/>
              </a:buClr>
              <a:buSzPts val="1650"/>
              <a:buFont typeface="Arial"/>
              <a:buNone/>
            </a:pPr>
            <a:r>
              <a:rPr b="0" i="0" lang="en-US" sz="1650">
                <a:solidFill>
                  <a:srgbClr val="D7B6C2"/>
                </a:solidFill>
                <a:latin typeface="Arial"/>
                <a:ea typeface="Arial"/>
                <a:cs typeface="Arial"/>
                <a:sym typeface="Arial"/>
              </a:rPr>
              <a:t>Friday, September 11, 2026</a:t>
            </a:r>
            <a:endParaRPr sz="1800">
              <a:solidFill>
                <a:schemeClr val="dk1"/>
              </a:solidFill>
              <a:latin typeface="Calibri"/>
              <a:ea typeface="Calibri"/>
              <a:cs typeface="Calibri"/>
              <a:sym typeface="Calibri"/>
            </a:endParaRPr>
          </a:p>
        </p:txBody>
      </p:sp>
      <p:sp>
        <p:nvSpPr>
          <p:cNvPr id="24" name="Google Shape;24;p1"/>
          <p:cNvSpPr/>
          <p:nvPr/>
        </p:nvSpPr>
        <p:spPr>
          <a:xfrm>
            <a:off x="525400" y="5636958"/>
            <a:ext cx="4743600" cy="25710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D7B6C2"/>
              </a:buClr>
              <a:buSzPts val="1350"/>
              <a:buFont typeface="Arial"/>
              <a:buNone/>
            </a:pPr>
            <a:r>
              <a:rPr b="0" i="0" lang="en-US" sz="1350">
                <a:solidFill>
                  <a:srgbClr val="D7B6C2"/>
                </a:solidFill>
                <a:latin typeface="Arial"/>
                <a:ea typeface="Arial"/>
                <a:cs typeface="Arial"/>
                <a:sym typeface="Arial"/>
              </a:rPr>
              <a:t>Jordan Lopez, Ph.D.</a:t>
            </a:r>
            <a:endParaRPr sz="1800">
              <a:solidFill>
                <a:schemeClr val="dk1"/>
              </a:solidFill>
              <a:latin typeface="Calibri"/>
              <a:ea typeface="Calibri"/>
              <a:cs typeface="Calibri"/>
              <a:sym typeface="Calibri"/>
            </a:endParaRPr>
          </a:p>
        </p:txBody>
      </p:sp>
      <p:pic>
        <p:nvPicPr>
          <p:cNvPr id="25" name="Google Shape;25;p1"/>
          <p:cNvPicPr preferRelativeResize="0"/>
          <p:nvPr/>
        </p:nvPicPr>
        <p:blipFill rotWithShape="1">
          <a:blip r:embed="rId3">
            <a:alphaModFix/>
          </a:blip>
          <a:srcRect b="0" l="0" r="0" t="0"/>
          <a:stretch/>
        </p:blipFill>
        <p:spPr>
          <a:xfrm>
            <a:off x="6343650" y="1244316"/>
            <a:ext cx="5238750" cy="3454967"/>
          </a:xfrm>
          <a:prstGeom prst="rect">
            <a:avLst/>
          </a:prstGeom>
          <a:noFill/>
          <a:ln>
            <a:noFill/>
          </a:ln>
        </p:spPr>
      </p:pic>
      <p:sp>
        <p:nvSpPr>
          <p:cNvPr id="26" name="Google Shape;26;p1"/>
          <p:cNvSpPr/>
          <p:nvPr/>
        </p:nvSpPr>
        <p:spPr>
          <a:xfrm>
            <a:off x="6343650" y="5419725"/>
            <a:ext cx="525780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Photo: Michael Linnenbach, CC BY-SA 4.0. Desert locust (Schistocerca gregaria), freshly moulted.</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 name="Shape 30"/>
        <p:cNvGrpSpPr/>
        <p:nvPr/>
      </p:nvGrpSpPr>
      <p:grpSpPr>
        <a:xfrm>
          <a:off x="0" y="0"/>
          <a:ext cx="0" cy="0"/>
          <a:chOff x="0" y="0"/>
          <a:chExt cx="0" cy="0"/>
        </a:xfrm>
      </p:grpSpPr>
      <p:sp>
        <p:nvSpPr>
          <p:cNvPr id="31" name="Google Shape;31;p2"/>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Wind can release flight without initiating every take-off</a:t>
            </a:r>
            <a:endParaRPr sz="1800">
              <a:solidFill>
                <a:schemeClr val="dk1"/>
              </a:solidFill>
              <a:latin typeface="Calibri"/>
              <a:ea typeface="Calibri"/>
              <a:cs typeface="Calibri"/>
              <a:sym typeface="Calibri"/>
            </a:endParaRPr>
          </a:p>
        </p:txBody>
      </p:sp>
      <p:sp>
        <p:nvSpPr>
          <p:cNvPr id="32" name="Google Shape;32;p2"/>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locust can begin wing beating when airflow reaches the wind-sensitive hairs on its head. In </a:t>
            </a:r>
            <a:r>
              <a:rPr b="1" i="0" lang="en-US" sz="1425">
                <a:solidFill>
                  <a:srgbClr val="292329"/>
                </a:solidFill>
                <a:latin typeface="Arial"/>
                <a:ea typeface="Arial"/>
                <a:cs typeface="Arial"/>
                <a:sym typeface="Arial"/>
              </a:rPr>
              <a:t>tethered flight</a:t>
            </a:r>
            <a:r>
              <a:rPr b="0" i="0" lang="en-US" sz="1425">
                <a:solidFill>
                  <a:srgbClr val="292329"/>
                </a:solidFill>
                <a:latin typeface="Arial"/>
                <a:ea typeface="Arial"/>
                <a:cs typeface="Arial"/>
                <a:sym typeface="Arial"/>
              </a:rPr>
              <a:t>, the animal is held in place, so an experimenter controls airflow independently of the animal’s forward movement. This preparation isolates sensory conditions that can release flight.</a:t>
            </a:r>
            <a:endParaRPr sz="1800">
              <a:solidFill>
                <a:schemeClr val="dk1"/>
              </a:solidFill>
              <a:latin typeface="Calibri"/>
              <a:ea typeface="Calibri"/>
              <a:cs typeface="Calibri"/>
              <a:sym typeface="Calibri"/>
            </a:endParaRPr>
          </a:p>
        </p:txBody>
      </p:sp>
      <p:sp>
        <p:nvSpPr>
          <p:cNvPr id="33" name="Google Shape;33;p2"/>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Camhi filmed freely jumping </a:t>
            </a:r>
            <a:r>
              <a:rPr b="0" i="1" lang="en-US" sz="1425">
                <a:solidFill>
                  <a:srgbClr val="292329"/>
                </a:solidFill>
                <a:latin typeface="Arial"/>
                <a:ea typeface="Arial"/>
                <a:cs typeface="Arial"/>
                <a:sym typeface="Arial"/>
              </a:rPr>
              <a:t>Schistocerca gregaria</a:t>
            </a:r>
            <a:r>
              <a:rPr b="0" i="0" lang="en-US" sz="1425">
                <a:solidFill>
                  <a:srgbClr val="292329"/>
                </a:solidFill>
                <a:latin typeface="Arial"/>
                <a:ea typeface="Arial"/>
                <a:cs typeface="Arial"/>
                <a:sym typeface="Arial"/>
              </a:rPr>
              <a:t> at 64 frames per second and compared wing opening with wind-triggered responses in tethered animals. Wings began opening within approximately 15 ms of jump onset, whereas the fastest measured response to wind took 35 ms.</a:t>
            </a:r>
            <a:endParaRPr sz="1800">
              <a:solidFill>
                <a:schemeClr val="dk1"/>
              </a:solidFill>
              <a:latin typeface="Calibri"/>
              <a:ea typeface="Calibri"/>
              <a:cs typeface="Calibri"/>
              <a:sym typeface="Calibri"/>
            </a:endParaRPr>
          </a:p>
        </p:txBody>
      </p:sp>
      <p:sp>
        <p:nvSpPr>
          <p:cNvPr id="34" name="Google Shape;34;p2"/>
          <p:cNvSpPr/>
          <p:nvPr/>
        </p:nvSpPr>
        <p:spPr>
          <a:xfrm>
            <a:off x="457200" y="3718768"/>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Wind stimulation is therefore sufficient for flight initiation under tethered conditions but is too slow to explain the initial wing opening in these jumps. A sensory stimulus that can release a behavior need not be the natural trigger on every occasion.</a:t>
            </a:r>
            <a:endParaRPr sz="1800">
              <a:solidFill>
                <a:schemeClr val="dk1"/>
              </a:solidFill>
              <a:latin typeface="Calibri"/>
              <a:ea typeface="Calibri"/>
              <a:cs typeface="Calibri"/>
              <a:sym typeface="Calibri"/>
            </a:endParaRPr>
          </a:p>
        </p:txBody>
      </p:sp>
      <p:pic>
        <p:nvPicPr>
          <p:cNvPr id="35" name="Google Shape;35;p2"/>
          <p:cNvPicPr preferRelativeResize="0"/>
          <p:nvPr/>
        </p:nvPicPr>
        <p:blipFill rotWithShape="1">
          <a:blip r:embed="rId3">
            <a:alphaModFix/>
          </a:blip>
          <a:srcRect b="0" l="0" r="0" t="0"/>
          <a:stretch/>
        </p:blipFill>
        <p:spPr>
          <a:xfrm>
            <a:off x="7769972" y="1063377"/>
            <a:ext cx="2671856" cy="4238625"/>
          </a:xfrm>
          <a:prstGeom prst="rect">
            <a:avLst/>
          </a:prstGeom>
          <a:noFill/>
          <a:ln>
            <a:noFill/>
          </a:ln>
        </p:spPr>
      </p:pic>
      <p:sp>
        <p:nvSpPr>
          <p:cNvPr id="36" name="Google Shape;36;p2"/>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1 (photographic Plate 1). Filmed take-off sequences of desert locusts.</a:t>
            </a:r>
            <a:endParaRPr sz="1800">
              <a:solidFill>
                <a:schemeClr val="dk1"/>
              </a:solidFill>
              <a:latin typeface="Calibri"/>
              <a:ea typeface="Calibri"/>
              <a:cs typeface="Calibri"/>
              <a:sym typeface="Calibri"/>
            </a:endParaRPr>
          </a:p>
        </p:txBody>
      </p:sp>
      <p:sp>
        <p:nvSpPr>
          <p:cNvPr id="37" name="Google Shape;37;p2"/>
          <p:cNvSpPr/>
          <p:nvPr/>
        </p:nvSpPr>
        <p:spPr>
          <a:xfrm>
            <a:off x="457200" y="6496050"/>
            <a:ext cx="77718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(1969c)</a:t>
            </a:r>
            <a:endParaRPr sz="1800">
              <a:solidFill>
                <a:schemeClr val="dk1"/>
              </a:solidFill>
              <a:latin typeface="Calibri"/>
              <a:ea typeface="Calibri"/>
              <a:cs typeface="Calibri"/>
              <a:sym typeface="Calibri"/>
            </a:endParaRPr>
          </a:p>
        </p:txBody>
      </p:sp>
      <p:sp>
        <p:nvSpPr>
          <p:cNvPr id="38" name="Google Shape;38;p2"/>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02</a:t>
            </a:r>
            <a:endParaRPr sz="18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 name="Shape 42"/>
        <p:cNvGrpSpPr/>
        <p:nvPr/>
      </p:nvGrpSpPr>
      <p:grpSpPr>
        <a:xfrm>
          <a:off x="0" y="0"/>
          <a:ext cx="0" cy="0"/>
          <a:chOff x="0" y="0"/>
          <a:chExt cx="0" cy="0"/>
        </a:xfrm>
      </p:grpSpPr>
      <p:sp>
        <p:nvSpPr>
          <p:cNvPr id="43" name="Google Shape;43;p3"/>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Elevators and depressors alternate with a hindwing lead</a:t>
            </a:r>
            <a:endParaRPr sz="1800">
              <a:solidFill>
                <a:schemeClr val="dk1"/>
              </a:solidFill>
              <a:latin typeface="Calibri"/>
              <a:ea typeface="Calibri"/>
              <a:cs typeface="Calibri"/>
              <a:sym typeface="Calibri"/>
            </a:endParaRPr>
          </a:p>
        </p:txBody>
      </p:sp>
      <p:sp>
        <p:nvSpPr>
          <p:cNvPr id="44" name="Google Shape;44;p3"/>
          <p:cNvSpPr/>
          <p:nvPr/>
        </p:nvSpPr>
        <p:spPr>
          <a:xfrm>
            <a:off x="457200" y="1063377"/>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Elevator muscles</a:t>
            </a:r>
            <a:r>
              <a:rPr b="0" i="0" lang="en-US" sz="1425">
                <a:solidFill>
                  <a:srgbClr val="292329"/>
                </a:solidFill>
                <a:latin typeface="Arial"/>
                <a:ea typeface="Arial"/>
                <a:cs typeface="Arial"/>
                <a:sym typeface="Arial"/>
              </a:rPr>
              <a:t> raise the wings; </a:t>
            </a:r>
            <a:r>
              <a:rPr b="1" i="0" lang="en-US" sz="1425">
                <a:solidFill>
                  <a:srgbClr val="292329"/>
                </a:solidFill>
                <a:latin typeface="Arial"/>
                <a:ea typeface="Arial"/>
                <a:cs typeface="Arial"/>
                <a:sym typeface="Arial"/>
              </a:rPr>
              <a:t>depressor muscles</a:t>
            </a:r>
            <a:r>
              <a:rPr b="0" i="0" lang="en-US" sz="1425">
                <a:solidFill>
                  <a:srgbClr val="292329"/>
                </a:solidFill>
                <a:latin typeface="Arial"/>
                <a:ea typeface="Arial"/>
                <a:cs typeface="Arial"/>
                <a:sym typeface="Arial"/>
              </a:rPr>
              <a:t> lower them. Forewings attach to the mesothorax and hindwings to the metathorax, the second and third thoracic segments. A motor neuron is a nerve cell whose axon activates a muscle.</a:t>
            </a:r>
            <a:endParaRPr sz="1800">
              <a:solidFill>
                <a:schemeClr val="dk1"/>
              </a:solidFill>
              <a:latin typeface="Calibri"/>
              <a:ea typeface="Calibri"/>
              <a:cs typeface="Calibri"/>
              <a:sym typeface="Calibri"/>
            </a:endParaRPr>
          </a:p>
        </p:txBody>
      </p:sp>
      <p:sp>
        <p:nvSpPr>
          <p:cNvPr id="45" name="Google Shape;45;p3"/>
          <p:cNvSpPr/>
          <p:nvPr/>
        </p:nvSpPr>
        <p:spPr>
          <a:xfrm>
            <a:off x="457200" y="215220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Wilson described flight near 17 wingbeats per second, with hindwing activation leading corresponding forewing activation by approximately 6–8 ms. The flight motor score alternated elevators and depressors while coordinating both body sides. The upstroke occupied about 41% of a normal cycle.</a:t>
            </a:r>
            <a:endParaRPr sz="1800">
              <a:solidFill>
                <a:schemeClr val="dk1"/>
              </a:solidFill>
              <a:latin typeface="Calibri"/>
              <a:ea typeface="Calibri"/>
              <a:cs typeface="Calibri"/>
              <a:sym typeface="Calibri"/>
            </a:endParaRPr>
          </a:p>
        </p:txBody>
      </p:sp>
      <p:sp>
        <p:nvSpPr>
          <p:cNvPr id="46" name="Google Shape;46;p3"/>
          <p:cNvSpPr/>
          <p:nvPr/>
        </p:nvSpPr>
        <p:spPr>
          <a:xfrm>
            <a:off x="457200" y="347989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These relationships define an organized motor pattern rather than undifferentiated muscle excitation. Later deafferented preparations retained alternation and a hindwing lead, so both features arise within the thoracic circuitry. Left and right homologous muscles also fired nearly synchronously there, preserving the bilateral coordination of the intact motor score.</a:t>
            </a:r>
            <a:endParaRPr sz="1800">
              <a:solidFill>
                <a:schemeClr val="dk1"/>
              </a:solidFill>
              <a:latin typeface="Calibri"/>
              <a:ea typeface="Calibri"/>
              <a:cs typeface="Calibri"/>
              <a:sym typeface="Calibri"/>
            </a:endParaRPr>
          </a:p>
        </p:txBody>
      </p:sp>
      <p:pic>
        <p:nvPicPr>
          <p:cNvPr id="47" name="Google Shape;47;p3"/>
          <p:cNvPicPr preferRelativeResize="0"/>
          <p:nvPr/>
        </p:nvPicPr>
        <p:blipFill rotWithShape="1">
          <a:blip r:embed="rId3">
            <a:alphaModFix/>
          </a:blip>
          <a:srcRect b="0" l="0" r="0" t="0"/>
          <a:stretch/>
        </p:blipFill>
        <p:spPr>
          <a:xfrm>
            <a:off x="7489504" y="1063377"/>
            <a:ext cx="3232792" cy="2152650"/>
          </a:xfrm>
          <a:prstGeom prst="rect">
            <a:avLst/>
          </a:prstGeom>
          <a:noFill/>
          <a:ln>
            <a:noFill/>
          </a:ln>
        </p:spPr>
      </p:pic>
      <p:sp>
        <p:nvSpPr>
          <p:cNvPr id="48" name="Google Shape;48;p3"/>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Wilson (1961), Fig. 1. Ganglia and muscles of the flight preparation.</a:t>
            </a:r>
            <a:endParaRPr sz="1800">
              <a:solidFill>
                <a:schemeClr val="dk1"/>
              </a:solidFill>
              <a:latin typeface="Calibri"/>
              <a:ea typeface="Calibri"/>
              <a:cs typeface="Calibri"/>
              <a:sym typeface="Calibri"/>
            </a:endParaRPr>
          </a:p>
        </p:txBody>
      </p:sp>
      <p:pic>
        <p:nvPicPr>
          <p:cNvPr id="49" name="Google Shape;49;p3"/>
          <p:cNvPicPr preferRelativeResize="0"/>
          <p:nvPr/>
        </p:nvPicPr>
        <p:blipFill rotWithShape="1">
          <a:blip r:embed="rId4">
            <a:alphaModFix/>
          </a:blip>
          <a:srcRect b="0" l="0" r="0" t="0"/>
          <a:stretch/>
        </p:blipFill>
        <p:spPr>
          <a:xfrm>
            <a:off x="7126821" y="3589883"/>
            <a:ext cx="3958159" cy="1847850"/>
          </a:xfrm>
          <a:prstGeom prst="rect">
            <a:avLst/>
          </a:prstGeom>
          <a:noFill/>
          <a:ln>
            <a:noFill/>
          </a:ln>
        </p:spPr>
      </p:pic>
      <p:sp>
        <p:nvSpPr>
          <p:cNvPr id="50" name="Google Shape;50;p3"/>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2(D,E). Hind–forewing delays and near-synchronous bilateral activity.</a:t>
            </a:r>
            <a:endParaRPr sz="1800">
              <a:solidFill>
                <a:schemeClr val="dk1"/>
              </a:solidFill>
              <a:latin typeface="Calibri"/>
              <a:ea typeface="Calibri"/>
              <a:cs typeface="Calibri"/>
              <a:sym typeface="Calibri"/>
            </a:endParaRPr>
          </a:p>
        </p:txBody>
      </p:sp>
      <p:sp>
        <p:nvSpPr>
          <p:cNvPr id="51" name="Google Shape;51;p3"/>
          <p:cNvSpPr/>
          <p:nvPr/>
        </p:nvSpPr>
        <p:spPr>
          <a:xfrm>
            <a:off x="457200" y="6496050"/>
            <a:ext cx="1693366"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Wilson (1961); Buhl et al. (2008)</a:t>
            </a:r>
            <a:endParaRPr sz="1800">
              <a:solidFill>
                <a:schemeClr val="dk1"/>
              </a:solidFill>
              <a:latin typeface="Calibri"/>
              <a:ea typeface="Calibri"/>
              <a:cs typeface="Calibri"/>
              <a:sym typeface="Calibri"/>
            </a:endParaRPr>
          </a:p>
        </p:txBody>
      </p:sp>
      <p:sp>
        <p:nvSpPr>
          <p:cNvPr id="52" name="Google Shape;52;p3"/>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03</a:t>
            </a:r>
            <a:endParaRPr sz="18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 name="Shape 56"/>
        <p:cNvGrpSpPr/>
        <p:nvPr/>
      </p:nvGrpSpPr>
      <p:grpSpPr>
        <a:xfrm>
          <a:off x="0" y="0"/>
          <a:ext cx="0" cy="0"/>
          <a:chOff x="0" y="0"/>
          <a:chExt cx="0" cy="0"/>
        </a:xfrm>
      </p:grpSpPr>
      <p:sp>
        <p:nvSpPr>
          <p:cNvPr id="57" name="Google Shape;57;p4"/>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Head airflow changes downstroke wing twist</a:t>
            </a:r>
            <a:endParaRPr sz="1800">
              <a:solidFill>
                <a:schemeClr val="dk1"/>
              </a:solidFill>
              <a:latin typeface="Calibri"/>
              <a:ea typeface="Calibri"/>
              <a:cs typeface="Calibri"/>
              <a:sym typeface="Calibri"/>
            </a:endParaRPr>
          </a:p>
        </p:txBody>
      </p:sp>
      <p:sp>
        <p:nvSpPr>
          <p:cNvPr id="58" name="Google Shape;58;p4"/>
          <p:cNvSpPr/>
          <p:nvPr/>
        </p:nvSpPr>
        <p:spPr>
          <a:xfrm>
            <a:off x="457200" y="1063377"/>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Pronation</a:t>
            </a:r>
            <a:r>
              <a:rPr b="0" i="0" lang="en-US" sz="1425">
                <a:solidFill>
                  <a:srgbClr val="292329"/>
                </a:solidFill>
                <a:latin typeface="Arial"/>
                <a:ea typeface="Arial"/>
                <a:cs typeface="Arial"/>
                <a:sym typeface="Arial"/>
              </a:rPr>
              <a:t> is wing rotation toward the orientation used during the downstroke; </a:t>
            </a:r>
            <a:r>
              <a:rPr b="1" i="0" lang="en-US" sz="1425">
                <a:solidFill>
                  <a:srgbClr val="292329"/>
                </a:solidFill>
                <a:latin typeface="Arial"/>
                <a:ea typeface="Arial"/>
                <a:cs typeface="Arial"/>
                <a:sym typeface="Arial"/>
              </a:rPr>
              <a:t>supination</a:t>
            </a:r>
            <a:r>
              <a:rPr b="0" i="0" lang="en-US" sz="1425">
                <a:solidFill>
                  <a:srgbClr val="292329"/>
                </a:solidFill>
                <a:latin typeface="Arial"/>
                <a:ea typeface="Arial"/>
                <a:cs typeface="Arial"/>
                <a:sym typeface="Arial"/>
              </a:rPr>
              <a:t> is the reverse rotation associated with the upstroke. Wing twist changes the wing’s interaction with air and therefore contributes to lift control.</a:t>
            </a:r>
            <a:endParaRPr sz="1800">
              <a:solidFill>
                <a:schemeClr val="dk1"/>
              </a:solidFill>
              <a:latin typeface="Calibri"/>
              <a:ea typeface="Calibri"/>
              <a:cs typeface="Calibri"/>
              <a:sym typeface="Calibri"/>
            </a:endParaRPr>
          </a:p>
        </p:txBody>
      </p:sp>
      <p:sp>
        <p:nvSpPr>
          <p:cNvPr id="59" name="Google Shape;59;p4"/>
          <p:cNvSpPr/>
          <p:nvPr/>
        </p:nvSpPr>
        <p:spPr>
          <a:xfrm>
            <a:off x="457200" y="215220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Camhi delivered 0–4 m/s airflow to the head of tethered locusts while shielding the body and wings. Stroboscopic photographs measured a paper marker across the forewing chord. Faster head airflow reduced downstroke pronation, whereas upstroke twist changed little.</a:t>
            </a:r>
            <a:endParaRPr sz="1800">
              <a:solidFill>
                <a:schemeClr val="dk1"/>
              </a:solidFill>
              <a:latin typeface="Calibri"/>
              <a:ea typeface="Calibri"/>
              <a:cs typeface="Calibri"/>
              <a:sym typeface="Calibri"/>
            </a:endParaRPr>
          </a:p>
        </p:txBody>
      </p:sp>
      <p:sp>
        <p:nvSpPr>
          <p:cNvPr id="60" name="Google Shape;60;p4"/>
          <p:cNvSpPr/>
          <p:nvPr/>
        </p:nvSpPr>
        <p:spPr>
          <a:xfrm>
            <a:off x="457200" y="347989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Directing wind at the wing instead of the head did not reproduce the response. This control supports a sensory-mediated adjustment rather than a direct aerodynamic twisting effect. After a wind acceleration, an added reduction in pronation appeared within about 80 ms, so head receptors adjust each downstroke within a few wingbeats.</a:t>
            </a:r>
            <a:endParaRPr sz="1800">
              <a:solidFill>
                <a:schemeClr val="dk1"/>
              </a:solidFill>
              <a:latin typeface="Calibri"/>
              <a:ea typeface="Calibri"/>
              <a:cs typeface="Calibri"/>
              <a:sym typeface="Calibri"/>
            </a:endParaRPr>
          </a:p>
        </p:txBody>
      </p:sp>
      <p:pic>
        <p:nvPicPr>
          <p:cNvPr id="61" name="Google Shape;61;p4"/>
          <p:cNvPicPr preferRelativeResize="0"/>
          <p:nvPr/>
        </p:nvPicPr>
        <p:blipFill rotWithShape="1">
          <a:blip r:embed="rId3">
            <a:alphaModFix/>
          </a:blip>
          <a:srcRect b="0" l="0" r="0" t="0"/>
          <a:stretch/>
        </p:blipFill>
        <p:spPr>
          <a:xfrm>
            <a:off x="6941794" y="1063377"/>
            <a:ext cx="4328213" cy="4238625"/>
          </a:xfrm>
          <a:prstGeom prst="rect">
            <a:avLst/>
          </a:prstGeom>
          <a:noFill/>
          <a:ln>
            <a:noFill/>
          </a:ln>
        </p:spPr>
      </p:pic>
      <p:sp>
        <p:nvSpPr>
          <p:cNvPr id="62" name="Google Shape;62;p4"/>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4. Wind speed versus measured forewing twist.</a:t>
            </a:r>
            <a:endParaRPr sz="1800">
              <a:solidFill>
                <a:schemeClr val="dk1"/>
              </a:solidFill>
              <a:latin typeface="Calibri"/>
              <a:ea typeface="Calibri"/>
              <a:cs typeface="Calibri"/>
              <a:sym typeface="Calibri"/>
            </a:endParaRPr>
          </a:p>
        </p:txBody>
      </p:sp>
      <p:sp>
        <p:nvSpPr>
          <p:cNvPr id="63" name="Google Shape;63;p4"/>
          <p:cNvSpPr/>
          <p:nvPr/>
        </p:nvSpPr>
        <p:spPr>
          <a:xfrm>
            <a:off x="457200" y="6496050"/>
            <a:ext cx="77718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(1969c)</a:t>
            </a:r>
            <a:endParaRPr sz="1800">
              <a:solidFill>
                <a:schemeClr val="dk1"/>
              </a:solidFill>
              <a:latin typeface="Calibri"/>
              <a:ea typeface="Calibri"/>
              <a:cs typeface="Calibri"/>
              <a:sym typeface="Calibri"/>
            </a:endParaRPr>
          </a:p>
        </p:txBody>
      </p:sp>
      <p:sp>
        <p:nvSpPr>
          <p:cNvPr id="64" name="Google Shape;64;p4"/>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04</a:t>
            </a:r>
            <a:endParaRPr sz="18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5"/>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Jump-associated wing opening outruns the wind reflex</a:t>
            </a:r>
            <a:endParaRPr sz="1800">
              <a:solidFill>
                <a:schemeClr val="dk1"/>
              </a:solidFill>
              <a:latin typeface="Calibri"/>
              <a:ea typeface="Calibri"/>
              <a:cs typeface="Calibri"/>
              <a:sym typeface="Calibri"/>
            </a:endParaRPr>
          </a:p>
        </p:txBody>
      </p:sp>
      <p:sp>
        <p:nvSpPr>
          <p:cNvPr id="70" name="Google Shape;70;p5"/>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Camhi monitored airflow with a hot-wire anemometer and detected wing opening when the forewing stopped interrupting a narrow light beam. Both signals were photographed on the same moving film. This method placed stimulus onset and movement onset on a common time base.</a:t>
            </a:r>
            <a:endParaRPr sz="1800">
              <a:solidFill>
                <a:schemeClr val="dk1"/>
              </a:solidFill>
              <a:latin typeface="Calibri"/>
              <a:ea typeface="Calibri"/>
              <a:cs typeface="Calibri"/>
              <a:sym typeface="Calibri"/>
            </a:endParaRPr>
          </a:p>
        </p:txBody>
      </p:sp>
      <p:sp>
        <p:nvSpPr>
          <p:cNvPr id="71" name="Google Shape;71;p5"/>
          <p:cNvSpPr/>
          <p:nvPr/>
        </p:nvSpPr>
        <p:spPr>
          <a:xfrm>
            <a:off x="457200" y="239107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Wind accelerations of 100–600 m/s² ended at speeds of 2.5–4.5 m/s. Typical wing-opening latency was approximately 45 ms, and the shortest measured latency was 35 ms. Freely jumping animals had begun opening their wings within approximately 15 ms.</a:t>
            </a:r>
            <a:endParaRPr sz="1800">
              <a:solidFill>
                <a:schemeClr val="dk1"/>
              </a:solidFill>
              <a:latin typeface="Calibri"/>
              <a:ea typeface="Calibri"/>
              <a:cs typeface="Calibri"/>
              <a:sym typeface="Calibri"/>
            </a:endParaRPr>
          </a:p>
        </p:txBody>
      </p:sp>
      <p:sp>
        <p:nvSpPr>
          <p:cNvPr id="72" name="Google Shape;72;p5"/>
          <p:cNvSpPr/>
          <p:nvPr/>
        </p:nvSpPr>
        <p:spPr>
          <a:xfrm>
            <a:off x="457200" y="347989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Covering the head hairs prevented wind-triggered opening; removing the covering restored it. The hairs therefore supplied the tested reflex pathway. Jump-associated wing opening, beginning well before the fastest wind response, depends on a faster initiating route than the hair reflex.</a:t>
            </a:r>
            <a:endParaRPr sz="1800">
              <a:solidFill>
                <a:schemeClr val="dk1"/>
              </a:solidFill>
              <a:latin typeface="Calibri"/>
              <a:ea typeface="Calibri"/>
              <a:cs typeface="Calibri"/>
              <a:sym typeface="Calibri"/>
            </a:endParaRPr>
          </a:p>
        </p:txBody>
      </p:sp>
      <p:pic>
        <p:nvPicPr>
          <p:cNvPr id="73" name="Google Shape;73;p5"/>
          <p:cNvPicPr preferRelativeResize="0"/>
          <p:nvPr/>
        </p:nvPicPr>
        <p:blipFill rotWithShape="1">
          <a:blip r:embed="rId3">
            <a:alphaModFix/>
          </a:blip>
          <a:srcRect b="0" l="0" r="0" t="0"/>
          <a:stretch/>
        </p:blipFill>
        <p:spPr>
          <a:xfrm>
            <a:off x="6477000" y="2029832"/>
            <a:ext cx="5257800" cy="2305714"/>
          </a:xfrm>
          <a:prstGeom prst="rect">
            <a:avLst/>
          </a:prstGeom>
          <a:noFill/>
          <a:ln>
            <a:noFill/>
          </a:ln>
        </p:spPr>
      </p:pic>
      <p:sp>
        <p:nvSpPr>
          <p:cNvPr id="74" name="Google Shape;74;p5"/>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1. Wind onset and wing-opening latency records.</a:t>
            </a:r>
            <a:endParaRPr sz="1800">
              <a:solidFill>
                <a:schemeClr val="dk1"/>
              </a:solidFill>
              <a:latin typeface="Calibri"/>
              <a:ea typeface="Calibri"/>
              <a:cs typeface="Calibri"/>
              <a:sym typeface="Calibri"/>
            </a:endParaRPr>
          </a:p>
        </p:txBody>
      </p:sp>
      <p:sp>
        <p:nvSpPr>
          <p:cNvPr id="75" name="Google Shape;75;p5"/>
          <p:cNvSpPr/>
          <p:nvPr/>
        </p:nvSpPr>
        <p:spPr>
          <a:xfrm>
            <a:off x="457200" y="6496050"/>
            <a:ext cx="77718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(1969c)</a:t>
            </a:r>
            <a:endParaRPr sz="1800">
              <a:solidFill>
                <a:schemeClr val="dk1"/>
              </a:solidFill>
              <a:latin typeface="Calibri"/>
              <a:ea typeface="Calibri"/>
              <a:cs typeface="Calibri"/>
              <a:sym typeface="Calibri"/>
            </a:endParaRPr>
          </a:p>
        </p:txBody>
      </p:sp>
      <p:sp>
        <p:nvSpPr>
          <p:cNvPr id="76" name="Google Shape;76;p5"/>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05</a:t>
            </a: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6"/>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Removing foot contact releases a slower initiation route</a:t>
            </a:r>
            <a:endParaRPr sz="1800">
              <a:solidFill>
                <a:schemeClr val="dk1"/>
              </a:solidFill>
              <a:latin typeface="Calibri"/>
              <a:ea typeface="Calibri"/>
              <a:cs typeface="Calibri"/>
              <a:sym typeface="Calibri"/>
            </a:endParaRPr>
          </a:p>
        </p:txBody>
      </p:sp>
      <p:sp>
        <p:nvSpPr>
          <p:cNvPr id="82" name="Google Shape;82;p6"/>
          <p:cNvSpPr/>
          <p:nvPr/>
        </p:nvSpPr>
        <p:spPr>
          <a:xfrm>
            <a:off x="457200" y="1063377"/>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a:t>
            </a:r>
            <a:r>
              <a:rPr b="1" i="0" lang="en-US" sz="1425">
                <a:solidFill>
                  <a:srgbClr val="292329"/>
                </a:solidFill>
                <a:latin typeface="Arial"/>
                <a:ea typeface="Arial"/>
                <a:cs typeface="Arial"/>
                <a:sym typeface="Arial"/>
              </a:rPr>
              <a:t>tarsi</a:t>
            </a:r>
            <a:r>
              <a:rPr b="0" i="0" lang="en-US" sz="1425">
                <a:solidFill>
                  <a:srgbClr val="292329"/>
                </a:solidFill>
                <a:latin typeface="Arial"/>
                <a:ea typeface="Arial"/>
                <a:cs typeface="Arial"/>
                <a:sym typeface="Arial"/>
              </a:rPr>
              <a:t> are the distal portions of the legs that contact a surface. Contact can inhibit flight in a tethered locust. Camhi placed the animal on a hinged roughened rod and lowered the rod to remove support while recording the first wing-opening movement.</a:t>
            </a:r>
            <a:endParaRPr sz="1800">
              <a:solidFill>
                <a:schemeClr val="dk1"/>
              </a:solidFill>
              <a:latin typeface="Calibri"/>
              <a:ea typeface="Calibri"/>
              <a:cs typeface="Calibri"/>
              <a:sym typeface="Calibri"/>
            </a:endParaRPr>
          </a:p>
        </p:txBody>
      </p:sp>
      <p:sp>
        <p:nvSpPr>
          <p:cNvPr id="83" name="Google Shape;83;p6"/>
          <p:cNvSpPr/>
          <p:nvPr/>
        </p:nvSpPr>
        <p:spPr>
          <a:xfrm>
            <a:off x="457200" y="215220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Wing opening followed the last possible instant of contact by at least 30 ms. The latency remained similar after successive leg amputations, including trials with only one leg contacting the rod. The support was mechanically independent of the tether, and comparable hand movements did not release flight.</a:t>
            </a:r>
            <a:endParaRPr sz="1800">
              <a:solidFill>
                <a:schemeClr val="dk1"/>
              </a:solidFill>
              <a:latin typeface="Calibri"/>
              <a:ea typeface="Calibri"/>
              <a:cs typeface="Calibri"/>
              <a:sym typeface="Calibri"/>
            </a:endParaRPr>
          </a:p>
        </p:txBody>
      </p:sp>
      <p:sp>
        <p:nvSpPr>
          <p:cNvPr id="84" name="Google Shape;84;p6"/>
          <p:cNvSpPr/>
          <p:nvPr/>
        </p:nvSpPr>
        <p:spPr>
          <a:xfrm>
            <a:off x="457200" y="347989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Loss of contact can therefore release flight under these conditions, but its latency is longer than jump-associated wing opening. The controls reduce explanations based on shock to the tether or insufficient initial contact. Similar latencies with one leg or several legs place the delay in the central response.</a:t>
            </a:r>
            <a:endParaRPr sz="1800">
              <a:solidFill>
                <a:schemeClr val="dk1"/>
              </a:solidFill>
              <a:latin typeface="Calibri"/>
              <a:ea typeface="Calibri"/>
              <a:cs typeface="Calibri"/>
              <a:sym typeface="Calibri"/>
            </a:endParaRPr>
          </a:p>
        </p:txBody>
      </p:sp>
      <p:pic>
        <p:nvPicPr>
          <p:cNvPr id="85" name="Google Shape;85;p6"/>
          <p:cNvPicPr preferRelativeResize="0"/>
          <p:nvPr/>
        </p:nvPicPr>
        <p:blipFill rotWithShape="1">
          <a:blip r:embed="rId3">
            <a:alphaModFix/>
          </a:blip>
          <a:srcRect b="0" l="0" r="0" t="0"/>
          <a:stretch/>
        </p:blipFill>
        <p:spPr>
          <a:xfrm>
            <a:off x="7462418" y="1063377"/>
            <a:ext cx="3286964" cy="4238625"/>
          </a:xfrm>
          <a:prstGeom prst="rect">
            <a:avLst/>
          </a:prstGeom>
          <a:noFill/>
          <a:ln>
            <a:noFill/>
          </a:ln>
        </p:spPr>
      </p:pic>
      <p:sp>
        <p:nvSpPr>
          <p:cNvPr id="86" name="Google Shape;86;p6"/>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2. Tarsal-release and wing-opening records.</a:t>
            </a:r>
            <a:endParaRPr sz="1800">
              <a:solidFill>
                <a:schemeClr val="dk1"/>
              </a:solidFill>
              <a:latin typeface="Calibri"/>
              <a:ea typeface="Calibri"/>
              <a:cs typeface="Calibri"/>
              <a:sym typeface="Calibri"/>
            </a:endParaRPr>
          </a:p>
        </p:txBody>
      </p:sp>
      <p:sp>
        <p:nvSpPr>
          <p:cNvPr id="87" name="Google Shape;87;p6"/>
          <p:cNvSpPr/>
          <p:nvPr/>
        </p:nvSpPr>
        <p:spPr>
          <a:xfrm>
            <a:off x="457200" y="6496050"/>
            <a:ext cx="77718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(1969c)</a:t>
            </a:r>
            <a:endParaRPr sz="1800">
              <a:solidFill>
                <a:schemeClr val="dk1"/>
              </a:solidFill>
              <a:latin typeface="Calibri"/>
              <a:ea typeface="Calibri"/>
              <a:cs typeface="Calibri"/>
              <a:sym typeface="Calibri"/>
            </a:endParaRPr>
          </a:p>
        </p:txBody>
      </p:sp>
      <p:sp>
        <p:nvSpPr>
          <p:cNvPr id="88" name="Google Shape;88;p6"/>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06</a:t>
            </a:r>
            <a:endParaRPr sz="18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7"/>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Flight starts when net drive crosses threshold</a:t>
            </a:r>
            <a:endParaRPr sz="1800">
              <a:solidFill>
                <a:schemeClr val="dk1"/>
              </a:solidFill>
              <a:latin typeface="Calibri"/>
              <a:ea typeface="Calibri"/>
              <a:cs typeface="Calibri"/>
              <a:sym typeface="Calibri"/>
            </a:endParaRPr>
          </a:p>
        </p:txBody>
      </p:sp>
      <p:sp>
        <p:nvSpPr>
          <p:cNvPr id="94" name="Google Shape;94;p7"/>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a:t>
            </a:r>
            <a:r>
              <a:rPr b="1" i="0" lang="en-US" sz="1425">
                <a:solidFill>
                  <a:srgbClr val="292329"/>
                </a:solidFill>
                <a:latin typeface="Arial"/>
                <a:ea typeface="Arial"/>
                <a:cs typeface="Arial"/>
                <a:sym typeface="Arial"/>
              </a:rPr>
              <a:t>threshold</a:t>
            </a:r>
            <a:r>
              <a:rPr b="0" i="0" lang="en-US" sz="1425">
                <a:solidFill>
                  <a:srgbClr val="292329"/>
                </a:solidFill>
                <a:latin typeface="Arial"/>
                <a:ea typeface="Arial"/>
                <a:cs typeface="Arial"/>
                <a:sym typeface="Arial"/>
              </a:rPr>
              <a:t> is the level of excitation a network must reach before it switches from rest to its active state. Inputs that start flight differ in sign: head wind adds excitation, whereas tarsal contact subtracts it, so a locust standing in wind can stay grounded while its feet hold the network below threshold.</a:t>
            </a:r>
            <a:endParaRPr sz="1800">
              <a:solidFill>
                <a:schemeClr val="dk1"/>
              </a:solidFill>
              <a:latin typeface="Calibri"/>
              <a:ea typeface="Calibri"/>
              <a:cs typeface="Calibri"/>
              <a:sym typeface="Calibri"/>
            </a:endParaRPr>
          </a:p>
        </p:txBody>
      </p:sp>
      <p:sp>
        <p:nvSpPr>
          <p:cNvPr id="95" name="Google Shape;95;p7"/>
          <p:cNvSpPr/>
          <p:nvPr/>
        </p:nvSpPr>
        <p:spPr>
          <a:xfrm>
            <a:off x="457200" y="2669292"/>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Removing contact and adding wind act on the same balance from opposite sides. Release takes away inhibition and frees existing drive operate, while wind supplies new drive; either change can carry the network across threshold, after which the network produces its own rhythm.</a:t>
            </a:r>
            <a:endParaRPr sz="1800">
              <a:solidFill>
                <a:schemeClr val="dk1"/>
              </a:solidFill>
              <a:latin typeface="Calibri"/>
              <a:ea typeface="Calibri"/>
              <a:cs typeface="Calibri"/>
              <a:sym typeface="Calibri"/>
            </a:endParaRPr>
          </a:p>
        </p:txBody>
      </p:sp>
      <p:sp>
        <p:nvSpPr>
          <p:cNvPr id="96" name="Google Shape;96;p7"/>
          <p:cNvSpPr/>
          <p:nvPr/>
        </p:nvSpPr>
        <p:spPr>
          <a:xfrm>
            <a:off x="457200" y="4275207"/>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404 interneurons are a candidate site for this sum. Wind and dimming both raise their tonic firing, and a burst at the kick adds more, so a jump can combine lost contact with central excitation and open the wings sooner than any single tested route.</a:t>
            </a:r>
            <a:endParaRPr sz="1800">
              <a:solidFill>
                <a:schemeClr val="dk1"/>
              </a:solidFill>
              <a:latin typeface="Calibri"/>
              <a:ea typeface="Calibri"/>
              <a:cs typeface="Calibri"/>
              <a:sym typeface="Calibri"/>
            </a:endParaRPr>
          </a:p>
        </p:txBody>
      </p:sp>
      <p:pic>
        <p:nvPicPr>
          <p:cNvPr id="97" name="Google Shape;97;p7"/>
          <p:cNvPicPr preferRelativeResize="0"/>
          <p:nvPr/>
        </p:nvPicPr>
        <p:blipFill rotWithShape="1">
          <a:blip r:embed="rId3">
            <a:alphaModFix/>
          </a:blip>
          <a:srcRect b="0" l="0" r="0" t="0"/>
          <a:stretch/>
        </p:blipFill>
        <p:spPr>
          <a:xfrm>
            <a:off x="7462418" y="1063377"/>
            <a:ext cx="3286964" cy="4238625"/>
          </a:xfrm>
          <a:prstGeom prst="rect">
            <a:avLst/>
          </a:prstGeom>
          <a:noFill/>
          <a:ln>
            <a:noFill/>
          </a:ln>
        </p:spPr>
      </p:pic>
      <p:sp>
        <p:nvSpPr>
          <p:cNvPr id="98" name="Google Shape;98;p7"/>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2. Tarsal-release and wing-opening records.</a:t>
            </a:r>
            <a:endParaRPr sz="1800">
              <a:solidFill>
                <a:schemeClr val="dk1"/>
              </a:solidFill>
              <a:latin typeface="Calibri"/>
              <a:ea typeface="Calibri"/>
              <a:cs typeface="Calibri"/>
              <a:sym typeface="Calibri"/>
            </a:endParaRPr>
          </a:p>
        </p:txBody>
      </p:sp>
      <p:sp>
        <p:nvSpPr>
          <p:cNvPr id="99" name="Google Shape;99;p7"/>
          <p:cNvSpPr/>
          <p:nvPr/>
        </p:nvSpPr>
        <p:spPr>
          <a:xfrm>
            <a:off x="457200" y="6496050"/>
            <a:ext cx="232968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(1969c); Pearson et al. (1985)</a:t>
            </a:r>
            <a:endParaRPr sz="1800">
              <a:solidFill>
                <a:schemeClr val="dk1"/>
              </a:solidFill>
              <a:latin typeface="Calibri"/>
              <a:ea typeface="Calibri"/>
              <a:cs typeface="Calibri"/>
              <a:sym typeface="Calibri"/>
            </a:endParaRPr>
          </a:p>
        </p:txBody>
      </p:sp>
      <p:sp>
        <p:nvSpPr>
          <p:cNvPr id="100" name="Google Shape;100;p7"/>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06a</a:t>
            </a:r>
            <a:endParaRPr sz="18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 name="Shape 104"/>
        <p:cNvGrpSpPr/>
        <p:nvPr/>
      </p:nvGrpSpPr>
      <p:grpSpPr>
        <a:xfrm>
          <a:off x="0" y="0"/>
          <a:ext cx="0" cy="0"/>
          <a:chOff x="0" y="0"/>
          <a:chExt cx="0" cy="0"/>
        </a:xfrm>
      </p:grpSpPr>
      <p:sp>
        <p:nvSpPr>
          <p:cNvPr id="105" name="Google Shape;105;p8"/>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Head hairs form a directional mechanosensory array</a:t>
            </a:r>
            <a:endParaRPr sz="1800">
              <a:solidFill>
                <a:schemeClr val="dk1"/>
              </a:solidFill>
              <a:latin typeface="Calibri"/>
              <a:ea typeface="Calibri"/>
              <a:cs typeface="Calibri"/>
              <a:sym typeface="Calibri"/>
            </a:endParaRPr>
          </a:p>
        </p:txBody>
      </p:sp>
      <p:sp>
        <p:nvSpPr>
          <p:cNvPr id="106" name="Google Shape;106;p8"/>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a:t>
            </a:r>
            <a:r>
              <a:rPr b="1" i="0" lang="en-US" sz="1425">
                <a:solidFill>
                  <a:srgbClr val="292329"/>
                </a:solidFill>
                <a:latin typeface="Arial"/>
                <a:ea typeface="Arial"/>
                <a:cs typeface="Arial"/>
                <a:sym typeface="Arial"/>
              </a:rPr>
              <a:t>mechanoreceptor</a:t>
            </a:r>
            <a:r>
              <a:rPr b="0" i="0" lang="en-US" sz="1425">
                <a:solidFill>
                  <a:srgbClr val="292329"/>
                </a:solidFill>
                <a:latin typeface="Arial"/>
                <a:ea typeface="Arial"/>
                <a:cs typeface="Arial"/>
                <a:sym typeface="Arial"/>
              </a:rPr>
              <a:t> converts mechanical displacement into neural activity. The locust’s aerodynamic head hairs are </a:t>
            </a:r>
            <a:r>
              <a:rPr b="1" i="0" lang="en-US" sz="1425">
                <a:solidFill>
                  <a:srgbClr val="292329"/>
                </a:solidFill>
                <a:latin typeface="Arial"/>
                <a:ea typeface="Arial"/>
                <a:cs typeface="Arial"/>
                <a:sym typeface="Arial"/>
              </a:rPr>
              <a:t>setae</a:t>
            </a:r>
            <a:r>
              <a:rPr b="0" i="0" lang="en-US" sz="1425">
                <a:solidFill>
                  <a:srgbClr val="292329"/>
                </a:solidFill>
                <a:latin typeface="Arial"/>
                <a:ea typeface="Arial"/>
                <a:cs typeface="Arial"/>
                <a:sym typeface="Arial"/>
              </a:rPr>
              <a:t>, cuticular shafts coupled to sensory cells. Their shafts are approximately 70–250 μm long and curve forward in different directions.</a:t>
            </a:r>
            <a:endParaRPr sz="1800">
              <a:solidFill>
                <a:schemeClr val="dk1"/>
              </a:solidFill>
              <a:latin typeface="Calibri"/>
              <a:ea typeface="Calibri"/>
              <a:cs typeface="Calibri"/>
              <a:sym typeface="Calibri"/>
            </a:endParaRPr>
          </a:p>
        </p:txBody>
      </p:sp>
      <p:sp>
        <p:nvSpPr>
          <p:cNvPr id="107" name="Google Shape;107;p8"/>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Camhi mapped the curvature of the larger hairs and compared individual hair orientation with sensory responses. A receptor responded most strongly when wind arrived in the plane of its shaft curvature. The array was approximately bilaterally symmetrical and similar across animals.</a:t>
            </a:r>
            <a:endParaRPr sz="1800">
              <a:solidFill>
                <a:schemeClr val="dk1"/>
              </a:solidFill>
              <a:latin typeface="Calibri"/>
              <a:ea typeface="Calibri"/>
              <a:cs typeface="Calibri"/>
              <a:sym typeface="Calibri"/>
            </a:endParaRPr>
          </a:p>
        </p:txBody>
      </p:sp>
      <p:sp>
        <p:nvSpPr>
          <p:cNvPr id="108" name="Google Shape;108;p8"/>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Different preferred directions allow the head to distribute airflow information across receptors. A single receptor’s firing rate still depends on both wind direction and speed, so it is not an unambiguous speed meter. Similar maps across animals mean that a given hair position reports a similar wind angle in every locust.</a:t>
            </a:r>
            <a:endParaRPr sz="1800">
              <a:solidFill>
                <a:schemeClr val="dk1"/>
              </a:solidFill>
              <a:latin typeface="Calibri"/>
              <a:ea typeface="Calibri"/>
              <a:cs typeface="Calibri"/>
              <a:sym typeface="Calibri"/>
            </a:endParaRPr>
          </a:p>
        </p:txBody>
      </p:sp>
      <p:pic>
        <p:nvPicPr>
          <p:cNvPr id="109" name="Google Shape;109;p8"/>
          <p:cNvPicPr preferRelativeResize="0"/>
          <p:nvPr/>
        </p:nvPicPr>
        <p:blipFill rotWithShape="1">
          <a:blip r:embed="rId3">
            <a:alphaModFix/>
          </a:blip>
          <a:srcRect b="0" l="0" r="0" t="0"/>
          <a:stretch/>
        </p:blipFill>
        <p:spPr>
          <a:xfrm>
            <a:off x="6477000" y="1626939"/>
            <a:ext cx="3429000" cy="3044825"/>
          </a:xfrm>
          <a:prstGeom prst="rect">
            <a:avLst/>
          </a:prstGeom>
          <a:noFill/>
          <a:ln>
            <a:noFill/>
          </a:ln>
        </p:spPr>
      </p:pic>
      <p:sp>
        <p:nvSpPr>
          <p:cNvPr id="110" name="Google Shape;110;p8"/>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7. Map of head-hair curvature and preferred wind directions.</a:t>
            </a:r>
            <a:endParaRPr sz="1800">
              <a:solidFill>
                <a:schemeClr val="dk1"/>
              </a:solidFill>
              <a:latin typeface="Calibri"/>
              <a:ea typeface="Calibri"/>
              <a:cs typeface="Calibri"/>
              <a:sym typeface="Calibri"/>
            </a:endParaRPr>
          </a:p>
        </p:txBody>
      </p:sp>
      <p:pic>
        <p:nvPicPr>
          <p:cNvPr id="111" name="Google Shape;111;p8"/>
          <p:cNvPicPr preferRelativeResize="0"/>
          <p:nvPr/>
        </p:nvPicPr>
        <p:blipFill rotWithShape="1">
          <a:blip r:embed="rId4">
            <a:alphaModFix/>
          </a:blip>
          <a:srcRect b="0" l="0" r="0" t="0"/>
          <a:stretch/>
        </p:blipFill>
        <p:spPr>
          <a:xfrm>
            <a:off x="10058400" y="2054807"/>
            <a:ext cx="1676400" cy="2303390"/>
          </a:xfrm>
          <a:prstGeom prst="rect">
            <a:avLst/>
          </a:prstGeom>
          <a:noFill/>
          <a:ln>
            <a:noFill/>
          </a:ln>
        </p:spPr>
      </p:pic>
      <p:sp>
        <p:nvSpPr>
          <p:cNvPr id="112" name="Google Shape;112;p8"/>
          <p:cNvSpPr/>
          <p:nvPr/>
        </p:nvSpPr>
        <p:spPr>
          <a:xfrm>
            <a:off x="10058400" y="4749552"/>
            <a:ext cx="1695450" cy="464344"/>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1. Published anatomy of a seta and its sensory neuron.</a:t>
            </a:r>
            <a:endParaRPr sz="1800">
              <a:solidFill>
                <a:schemeClr val="dk1"/>
              </a:solidFill>
              <a:latin typeface="Calibri"/>
              <a:ea typeface="Calibri"/>
              <a:cs typeface="Calibri"/>
              <a:sym typeface="Calibri"/>
            </a:endParaRPr>
          </a:p>
        </p:txBody>
      </p:sp>
      <p:sp>
        <p:nvSpPr>
          <p:cNvPr id="113" name="Google Shape;113;p8"/>
          <p:cNvSpPr/>
          <p:nvPr/>
        </p:nvSpPr>
        <p:spPr>
          <a:xfrm>
            <a:off x="457200" y="6496050"/>
            <a:ext cx="78640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(1969a)</a:t>
            </a:r>
            <a:endParaRPr sz="1800">
              <a:solidFill>
                <a:schemeClr val="dk1"/>
              </a:solidFill>
              <a:latin typeface="Calibri"/>
              <a:ea typeface="Calibri"/>
              <a:cs typeface="Calibri"/>
              <a:sym typeface="Calibri"/>
            </a:endParaRPr>
          </a:p>
        </p:txBody>
      </p:sp>
      <p:sp>
        <p:nvSpPr>
          <p:cNvPr id="114" name="Google Shape;114;p8"/>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07</a:t>
            </a:r>
            <a:endParaRPr sz="18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 name="Shape 118"/>
        <p:cNvGrpSpPr/>
        <p:nvPr/>
      </p:nvGrpSpPr>
      <p:grpSpPr>
        <a:xfrm>
          <a:off x="0" y="0"/>
          <a:ext cx="0" cy="0"/>
          <a:chOff x="0" y="0"/>
          <a:chExt cx="0" cy="0"/>
        </a:xfrm>
      </p:grpSpPr>
      <p:sp>
        <p:nvSpPr>
          <p:cNvPr id="119" name="Google Shape;119;p9"/>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Sustained wind produces adapting sensory discharge</a:t>
            </a:r>
            <a:endParaRPr sz="1800">
              <a:solidFill>
                <a:schemeClr val="dk1"/>
              </a:solidFill>
              <a:latin typeface="Calibri"/>
              <a:ea typeface="Calibri"/>
              <a:cs typeface="Calibri"/>
              <a:sym typeface="Calibri"/>
            </a:endParaRPr>
          </a:p>
        </p:txBody>
      </p:sp>
      <p:sp>
        <p:nvSpPr>
          <p:cNvPr id="120" name="Google Shape;120;p9"/>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Adaptation</a:t>
            </a:r>
            <a:r>
              <a:rPr b="0" i="0" lang="en-US" sz="1425">
                <a:solidFill>
                  <a:srgbClr val="292329"/>
                </a:solidFill>
                <a:latin typeface="Arial"/>
                <a:ea typeface="Arial"/>
                <a:cs typeface="Arial"/>
                <a:sym typeface="Arial"/>
              </a:rPr>
              <a:t> is a decline in a receptor’s response during a maintained stimulus. Camhi teased small axon bundles from the circumoesophageal connective and recorded a sensory unit during controlled airflow. These connectives run beside the oesophagus between head ganglia.</a:t>
            </a:r>
            <a:endParaRPr sz="1800">
              <a:solidFill>
                <a:schemeClr val="dk1"/>
              </a:solidFill>
              <a:latin typeface="Calibri"/>
              <a:ea typeface="Calibri"/>
              <a:cs typeface="Calibri"/>
              <a:sym typeface="Calibri"/>
            </a:endParaRPr>
          </a:p>
        </p:txBody>
      </p:sp>
      <p:sp>
        <p:nvSpPr>
          <p:cNvPr id="121" name="Google Shape;121;p9"/>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4.5 m/s wind directed approximately 10° left of center produced an initial discharge near 200 spikes/s. Within about half a second, the rate declined to a maintained level near 125 spikes/s. Continued airflow produced a further modest decline over minutes.</a:t>
            </a:r>
            <a:endParaRPr sz="1800">
              <a:solidFill>
                <a:schemeClr val="dk1"/>
              </a:solidFill>
              <a:latin typeface="Calibri"/>
              <a:ea typeface="Calibri"/>
              <a:cs typeface="Calibri"/>
              <a:sym typeface="Calibri"/>
            </a:endParaRPr>
          </a:p>
        </p:txBody>
      </p:sp>
      <p:sp>
        <p:nvSpPr>
          <p:cNvPr id="122" name="Google Shape;122;p9"/>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sensory discharge contains both an onset response and information about continuing airflow. A receptor still firing near 125 spikes/s after adapting keeps reporting head wind for as long as the airflow lasts, which in a flying locust means throughout the flight.</a:t>
            </a:r>
            <a:endParaRPr sz="1800">
              <a:solidFill>
                <a:schemeClr val="dk1"/>
              </a:solidFill>
              <a:latin typeface="Calibri"/>
              <a:ea typeface="Calibri"/>
              <a:cs typeface="Calibri"/>
              <a:sym typeface="Calibri"/>
            </a:endParaRPr>
          </a:p>
        </p:txBody>
      </p:sp>
      <p:pic>
        <p:nvPicPr>
          <p:cNvPr id="123" name="Google Shape;123;p9"/>
          <p:cNvPicPr preferRelativeResize="0"/>
          <p:nvPr/>
        </p:nvPicPr>
        <p:blipFill rotWithShape="1">
          <a:blip r:embed="rId3">
            <a:alphaModFix/>
          </a:blip>
          <a:srcRect b="0" l="0" r="0" t="0"/>
          <a:stretch/>
        </p:blipFill>
        <p:spPr>
          <a:xfrm>
            <a:off x="6477000" y="1631479"/>
            <a:ext cx="5257800" cy="1016446"/>
          </a:xfrm>
          <a:prstGeom prst="rect">
            <a:avLst/>
          </a:prstGeom>
          <a:noFill/>
          <a:ln>
            <a:noFill/>
          </a:ln>
        </p:spPr>
      </p:pic>
      <p:sp>
        <p:nvSpPr>
          <p:cNvPr id="124" name="Google Shape;124;p9"/>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2. Sensory spikes during airflow onset and cessation.</a:t>
            </a:r>
            <a:endParaRPr sz="1800">
              <a:solidFill>
                <a:schemeClr val="dk1"/>
              </a:solidFill>
              <a:latin typeface="Calibri"/>
              <a:ea typeface="Calibri"/>
              <a:cs typeface="Calibri"/>
              <a:sym typeface="Calibri"/>
            </a:endParaRPr>
          </a:p>
        </p:txBody>
      </p:sp>
      <p:pic>
        <p:nvPicPr>
          <p:cNvPr id="125" name="Google Shape;125;p9"/>
          <p:cNvPicPr preferRelativeResize="0"/>
          <p:nvPr/>
        </p:nvPicPr>
        <p:blipFill rotWithShape="1">
          <a:blip r:embed="rId4">
            <a:alphaModFix/>
          </a:blip>
          <a:srcRect b="0" l="0" r="0" t="0"/>
          <a:stretch/>
        </p:blipFill>
        <p:spPr>
          <a:xfrm>
            <a:off x="8433470" y="3589883"/>
            <a:ext cx="1344860" cy="1847850"/>
          </a:xfrm>
          <a:prstGeom prst="rect">
            <a:avLst/>
          </a:prstGeom>
          <a:noFill/>
          <a:ln>
            <a:noFill/>
          </a:ln>
        </p:spPr>
      </p:pic>
      <p:sp>
        <p:nvSpPr>
          <p:cNvPr id="126" name="Google Shape;126;p9"/>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1. Seta shaft, socket and attached sensory cell.</a:t>
            </a:r>
            <a:endParaRPr sz="1800">
              <a:solidFill>
                <a:schemeClr val="dk1"/>
              </a:solidFill>
              <a:latin typeface="Calibri"/>
              <a:ea typeface="Calibri"/>
              <a:cs typeface="Calibri"/>
              <a:sym typeface="Calibri"/>
            </a:endParaRPr>
          </a:p>
        </p:txBody>
      </p:sp>
      <p:sp>
        <p:nvSpPr>
          <p:cNvPr id="127" name="Google Shape;127;p9"/>
          <p:cNvSpPr/>
          <p:nvPr/>
        </p:nvSpPr>
        <p:spPr>
          <a:xfrm>
            <a:off x="457200" y="6496050"/>
            <a:ext cx="78640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(1969a)</a:t>
            </a:r>
            <a:endParaRPr sz="1800">
              <a:solidFill>
                <a:schemeClr val="dk1"/>
              </a:solidFill>
              <a:latin typeface="Calibri"/>
              <a:ea typeface="Calibri"/>
              <a:cs typeface="Calibri"/>
              <a:sym typeface="Calibri"/>
            </a:endParaRPr>
          </a:p>
        </p:txBody>
      </p:sp>
      <p:sp>
        <p:nvSpPr>
          <p:cNvPr id="128" name="Google Shape;128;p9"/>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08</a:t>
            </a:r>
            <a:endParaRPr sz="180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sp>
        <p:nvSpPr>
          <p:cNvPr id="133" name="Google Shape;133;p10"/>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Socket pivot converts wind into receptor spikes</a:t>
            </a:r>
            <a:endParaRPr sz="1800">
              <a:solidFill>
                <a:schemeClr val="dk1"/>
              </a:solidFill>
              <a:latin typeface="Calibri"/>
              <a:ea typeface="Calibri"/>
              <a:cs typeface="Calibri"/>
              <a:sym typeface="Calibri"/>
            </a:endParaRPr>
          </a:p>
        </p:txBody>
      </p:sp>
      <p:sp>
        <p:nvSpPr>
          <p:cNvPr id="134" name="Google Shape;134;p10"/>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Mechanotransduction</a:t>
            </a:r>
            <a:r>
              <a:rPr b="0" i="0" lang="en-US" sz="1425">
                <a:solidFill>
                  <a:srgbClr val="292329"/>
                </a:solidFill>
                <a:latin typeface="Arial"/>
                <a:ea typeface="Arial"/>
                <a:cs typeface="Arial"/>
                <a:sym typeface="Arial"/>
              </a:rPr>
              <a:t> is the conversion of a mechanical force into an electrical signal. Wind pushes the curved shaft, the shaft pivots in its socket, and its base moves the dendrite attached off-center near the pivot. That movement deforms the dendritic membrane and opens mechanically gated ion channels.</a:t>
            </a:r>
            <a:endParaRPr sz="1800">
              <a:solidFill>
                <a:schemeClr val="dk1"/>
              </a:solidFill>
              <a:latin typeface="Calibri"/>
              <a:ea typeface="Calibri"/>
              <a:cs typeface="Calibri"/>
              <a:sym typeface="Calibri"/>
            </a:endParaRPr>
          </a:p>
        </p:txBody>
      </p:sp>
      <p:sp>
        <p:nvSpPr>
          <p:cNvPr id="135" name="Google Shape;135;p10"/>
          <p:cNvSpPr/>
          <p:nvPr/>
        </p:nvSpPr>
        <p:spPr>
          <a:xfrm>
            <a:off x="457200" y="2669292"/>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Cations flowing through those channels depolarize the dendrite, producing a </a:t>
            </a:r>
            <a:r>
              <a:rPr b="1" i="0" lang="en-US" sz="1425">
                <a:solidFill>
                  <a:srgbClr val="292329"/>
                </a:solidFill>
                <a:latin typeface="Arial"/>
                <a:ea typeface="Arial"/>
                <a:cs typeface="Arial"/>
                <a:sym typeface="Arial"/>
              </a:rPr>
              <a:t>receptor potential</a:t>
            </a:r>
            <a:r>
              <a:rPr b="0" i="0" lang="en-US" sz="1425">
                <a:solidFill>
                  <a:srgbClr val="292329"/>
                </a:solidFill>
                <a:latin typeface="Arial"/>
                <a:ea typeface="Arial"/>
                <a:cs typeface="Arial"/>
                <a:sym typeface="Arial"/>
              </a:rPr>
              <a:t> graded with deflection. Once that potential passes spike threshold, the axon fires at a rate that rises with depolarization, so larger deflections give higher spike rates.</a:t>
            </a:r>
            <a:endParaRPr sz="1800">
              <a:solidFill>
                <a:schemeClr val="dk1"/>
              </a:solidFill>
              <a:latin typeface="Calibri"/>
              <a:ea typeface="Calibri"/>
              <a:cs typeface="Calibri"/>
              <a:sym typeface="Calibri"/>
            </a:endParaRPr>
          </a:p>
        </p:txBody>
      </p:sp>
      <p:sp>
        <p:nvSpPr>
          <p:cNvPr id="136" name="Google Shape;136;p10"/>
          <p:cNvSpPr/>
          <p:nvPr/>
        </p:nvSpPr>
        <p:spPr>
          <a:xfrm>
            <a:off x="457200" y="427520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Adaptation then reshapes the rate over time. The fast decline in the first half-second leaves a strong onset burst followed by a lower maintained rate, so one receptor feeds two kinds of interneuron: sustained wind-indicator cells read the maintained rate, and acceleration cells respond most to rapid onset.</a:t>
            </a:r>
            <a:endParaRPr sz="1800">
              <a:solidFill>
                <a:schemeClr val="dk1"/>
              </a:solidFill>
              <a:latin typeface="Calibri"/>
              <a:ea typeface="Calibri"/>
              <a:cs typeface="Calibri"/>
              <a:sym typeface="Calibri"/>
            </a:endParaRPr>
          </a:p>
        </p:txBody>
      </p:sp>
      <p:pic>
        <p:nvPicPr>
          <p:cNvPr id="137" name="Google Shape;137;p10"/>
          <p:cNvPicPr preferRelativeResize="0"/>
          <p:nvPr/>
        </p:nvPicPr>
        <p:blipFill rotWithShape="1">
          <a:blip r:embed="rId3">
            <a:alphaModFix/>
          </a:blip>
          <a:srcRect b="0" l="0" r="0" t="0"/>
          <a:stretch/>
        </p:blipFill>
        <p:spPr>
          <a:xfrm>
            <a:off x="6477000" y="1631479"/>
            <a:ext cx="5257800" cy="1016446"/>
          </a:xfrm>
          <a:prstGeom prst="rect">
            <a:avLst/>
          </a:prstGeom>
          <a:noFill/>
          <a:ln>
            <a:noFill/>
          </a:ln>
        </p:spPr>
      </p:pic>
      <p:sp>
        <p:nvSpPr>
          <p:cNvPr id="138" name="Google Shape;138;p10"/>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2. Sensory spikes during airflow onset and cessation.</a:t>
            </a:r>
            <a:endParaRPr sz="1800">
              <a:solidFill>
                <a:schemeClr val="dk1"/>
              </a:solidFill>
              <a:latin typeface="Calibri"/>
              <a:ea typeface="Calibri"/>
              <a:cs typeface="Calibri"/>
              <a:sym typeface="Calibri"/>
            </a:endParaRPr>
          </a:p>
        </p:txBody>
      </p:sp>
      <p:pic>
        <p:nvPicPr>
          <p:cNvPr id="139" name="Google Shape;139;p10"/>
          <p:cNvPicPr preferRelativeResize="0"/>
          <p:nvPr/>
        </p:nvPicPr>
        <p:blipFill rotWithShape="1">
          <a:blip r:embed="rId4">
            <a:alphaModFix/>
          </a:blip>
          <a:srcRect b="0" l="0" r="0" t="0"/>
          <a:stretch/>
        </p:blipFill>
        <p:spPr>
          <a:xfrm>
            <a:off x="8433470" y="3589883"/>
            <a:ext cx="1344860" cy="1847850"/>
          </a:xfrm>
          <a:prstGeom prst="rect">
            <a:avLst/>
          </a:prstGeom>
          <a:noFill/>
          <a:ln>
            <a:noFill/>
          </a:ln>
        </p:spPr>
      </p:pic>
      <p:sp>
        <p:nvSpPr>
          <p:cNvPr id="140" name="Google Shape;140;p10"/>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1. Seta shaft, socket and attached sensory cell.</a:t>
            </a:r>
            <a:endParaRPr sz="1800">
              <a:solidFill>
                <a:schemeClr val="dk1"/>
              </a:solidFill>
              <a:latin typeface="Calibri"/>
              <a:ea typeface="Calibri"/>
              <a:cs typeface="Calibri"/>
              <a:sym typeface="Calibri"/>
            </a:endParaRPr>
          </a:p>
        </p:txBody>
      </p:sp>
      <p:sp>
        <p:nvSpPr>
          <p:cNvPr id="141" name="Google Shape;141;p10"/>
          <p:cNvSpPr/>
          <p:nvPr/>
        </p:nvSpPr>
        <p:spPr>
          <a:xfrm>
            <a:off x="457200" y="6496050"/>
            <a:ext cx="18176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(1969a); Camhi (1969b)</a:t>
            </a:r>
            <a:endParaRPr sz="1800">
              <a:solidFill>
                <a:schemeClr val="dk1"/>
              </a:solidFill>
              <a:latin typeface="Calibri"/>
              <a:ea typeface="Calibri"/>
              <a:cs typeface="Calibri"/>
              <a:sym typeface="Calibri"/>
            </a:endParaRPr>
          </a:p>
        </p:txBody>
      </p:sp>
      <p:sp>
        <p:nvSpPr>
          <p:cNvPr id="142" name="Google Shape;142;p10"/>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08a</a:t>
            </a:r>
            <a:endParaRPr sz="180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p11"/>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One hair encodes direction and speed together</a:t>
            </a:r>
            <a:endParaRPr sz="1800">
              <a:solidFill>
                <a:schemeClr val="dk1"/>
              </a:solidFill>
              <a:latin typeface="Calibri"/>
              <a:ea typeface="Calibri"/>
              <a:cs typeface="Calibri"/>
              <a:sym typeface="Calibri"/>
            </a:endParaRPr>
          </a:p>
        </p:txBody>
      </p:sp>
      <p:sp>
        <p:nvSpPr>
          <p:cNvPr id="148" name="Google Shape;148;p11"/>
          <p:cNvSpPr/>
          <p:nvPr/>
        </p:nvSpPr>
        <p:spPr>
          <a:xfrm>
            <a:off x="457200" y="1063377"/>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Camhi rotated a calibrated wind jet around the head and recorded the maintained firing of a single sensory axon. A </a:t>
            </a:r>
            <a:r>
              <a:rPr b="1" i="0" lang="en-US" sz="1425">
                <a:solidFill>
                  <a:srgbClr val="292329"/>
                </a:solidFill>
                <a:latin typeface="Arial"/>
                <a:ea typeface="Arial"/>
                <a:cs typeface="Arial"/>
                <a:sym typeface="Arial"/>
              </a:rPr>
              <a:t>directional tuning curve</a:t>
            </a:r>
            <a:r>
              <a:rPr b="0" i="0" lang="en-US" sz="1425">
                <a:solidFill>
                  <a:srgbClr val="292329"/>
                </a:solidFill>
                <a:latin typeface="Arial"/>
                <a:ea typeface="Arial"/>
                <a:cs typeface="Arial"/>
                <a:sym typeface="Arial"/>
              </a:rPr>
              <a:t> relates neural response to stimulus direction. Different wind speeds were tested with the same receptor.</a:t>
            </a:r>
            <a:endParaRPr sz="1800">
              <a:solidFill>
                <a:schemeClr val="dk1"/>
              </a:solidFill>
              <a:latin typeface="Calibri"/>
              <a:ea typeface="Calibri"/>
              <a:cs typeface="Calibri"/>
              <a:sym typeface="Calibri"/>
            </a:endParaRPr>
          </a:p>
        </p:txBody>
      </p:sp>
      <p:sp>
        <p:nvSpPr>
          <p:cNvPr id="149" name="Google Shape;149;p11"/>
          <p:cNvSpPr/>
          <p:nvPr/>
        </p:nvSpPr>
        <p:spPr>
          <a:xfrm>
            <a:off x="457200" y="215220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published curves used 1.5, 3.0 and 4.5 m/s wind. Maximum firing occurred near 15° left of center, close to the hair’s measured curvature plane. The angular separation between the half-maximum responses was approximately 54°, and higher speeds produced higher firing rates.</a:t>
            </a:r>
            <a:endParaRPr sz="1800">
              <a:solidFill>
                <a:schemeClr val="dk1"/>
              </a:solidFill>
              <a:latin typeface="Calibri"/>
              <a:ea typeface="Calibri"/>
              <a:cs typeface="Calibri"/>
              <a:sym typeface="Calibri"/>
            </a:endParaRPr>
          </a:p>
        </p:txBody>
      </p:sp>
      <p:sp>
        <p:nvSpPr>
          <p:cNvPr id="150" name="Google Shape;150;p11"/>
          <p:cNvSpPr/>
          <p:nvPr/>
        </p:nvSpPr>
        <p:spPr>
          <a:xfrm>
            <a:off x="457200" y="347989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rate therefore combines direction and speed rather than representing either variable alone. The alignment of response and shaft curvature links anatomy to sensory tuning. Faster wind raised firing at every angle, so speed scales the whole tuning curve while the hair’s curvature fixes where its peak lies.</a:t>
            </a:r>
            <a:endParaRPr sz="1800">
              <a:solidFill>
                <a:schemeClr val="dk1"/>
              </a:solidFill>
              <a:latin typeface="Calibri"/>
              <a:ea typeface="Calibri"/>
              <a:cs typeface="Calibri"/>
              <a:sym typeface="Calibri"/>
            </a:endParaRPr>
          </a:p>
        </p:txBody>
      </p:sp>
      <p:pic>
        <p:nvPicPr>
          <p:cNvPr id="151" name="Google Shape;151;p11"/>
          <p:cNvPicPr preferRelativeResize="0"/>
          <p:nvPr/>
        </p:nvPicPr>
        <p:blipFill rotWithShape="1">
          <a:blip r:embed="rId3">
            <a:alphaModFix/>
          </a:blip>
          <a:srcRect b="0" l="0" r="0" t="0"/>
          <a:stretch/>
        </p:blipFill>
        <p:spPr>
          <a:xfrm>
            <a:off x="6477000" y="1162175"/>
            <a:ext cx="3429000" cy="3974353"/>
          </a:xfrm>
          <a:prstGeom prst="rect">
            <a:avLst/>
          </a:prstGeom>
          <a:noFill/>
          <a:ln>
            <a:noFill/>
          </a:ln>
        </p:spPr>
      </p:pic>
      <p:sp>
        <p:nvSpPr>
          <p:cNvPr id="152" name="Google Shape;152;p11"/>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3. Directional response curves at three wind speeds.</a:t>
            </a:r>
            <a:endParaRPr sz="1800">
              <a:solidFill>
                <a:schemeClr val="dk1"/>
              </a:solidFill>
              <a:latin typeface="Calibri"/>
              <a:ea typeface="Calibri"/>
              <a:cs typeface="Calibri"/>
              <a:sym typeface="Calibri"/>
            </a:endParaRPr>
          </a:p>
        </p:txBody>
      </p:sp>
      <p:pic>
        <p:nvPicPr>
          <p:cNvPr id="153" name="Google Shape;153;p11"/>
          <p:cNvPicPr preferRelativeResize="0"/>
          <p:nvPr/>
        </p:nvPicPr>
        <p:blipFill rotWithShape="1">
          <a:blip r:embed="rId4">
            <a:alphaModFix/>
          </a:blip>
          <a:srcRect b="0" l="0" r="0" t="0"/>
          <a:stretch/>
        </p:blipFill>
        <p:spPr>
          <a:xfrm>
            <a:off x="10058400" y="2462211"/>
            <a:ext cx="1676400" cy="1488581"/>
          </a:xfrm>
          <a:prstGeom prst="rect">
            <a:avLst/>
          </a:prstGeom>
          <a:noFill/>
          <a:ln>
            <a:noFill/>
          </a:ln>
        </p:spPr>
      </p:pic>
      <p:sp>
        <p:nvSpPr>
          <p:cNvPr id="154" name="Google Shape;154;p11"/>
          <p:cNvSpPr/>
          <p:nvPr/>
        </p:nvSpPr>
        <p:spPr>
          <a:xfrm>
            <a:off x="10058400" y="4749552"/>
            <a:ext cx="1695450" cy="464344"/>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7. Hair orientations distributed across the head.</a:t>
            </a:r>
            <a:endParaRPr sz="1800">
              <a:solidFill>
                <a:schemeClr val="dk1"/>
              </a:solidFill>
              <a:latin typeface="Calibri"/>
              <a:ea typeface="Calibri"/>
              <a:cs typeface="Calibri"/>
              <a:sym typeface="Calibri"/>
            </a:endParaRPr>
          </a:p>
        </p:txBody>
      </p:sp>
      <p:sp>
        <p:nvSpPr>
          <p:cNvPr id="155" name="Google Shape;155;p11"/>
          <p:cNvSpPr/>
          <p:nvPr/>
        </p:nvSpPr>
        <p:spPr>
          <a:xfrm>
            <a:off x="457200" y="6496050"/>
            <a:ext cx="78640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(1969a)</a:t>
            </a:r>
            <a:endParaRPr sz="1800">
              <a:solidFill>
                <a:schemeClr val="dk1"/>
              </a:solidFill>
              <a:latin typeface="Calibri"/>
              <a:ea typeface="Calibri"/>
              <a:cs typeface="Calibri"/>
              <a:sym typeface="Calibri"/>
            </a:endParaRPr>
          </a:p>
        </p:txBody>
      </p:sp>
      <p:sp>
        <p:nvSpPr>
          <p:cNvPr id="156" name="Google Shape;156;p11"/>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09</a:t>
            </a:r>
            <a:endParaRPr sz="18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12"/>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Several mechanical asymmetries sharpen hair tuning</a:t>
            </a:r>
            <a:endParaRPr sz="1800">
              <a:solidFill>
                <a:schemeClr val="dk1"/>
              </a:solidFill>
              <a:latin typeface="Calibri"/>
              <a:ea typeface="Calibri"/>
              <a:cs typeface="Calibri"/>
              <a:sym typeface="Calibri"/>
            </a:endParaRPr>
          </a:p>
        </p:txBody>
      </p:sp>
      <p:sp>
        <p:nvSpPr>
          <p:cNvPr id="162" name="Google Shape;162;p12"/>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Camhi separated three potential sources of directional tuning: shaft curvature, socket elasticity, and the off-center attachment of the receptor dendrite. Mechanical displacement with a pipette controlled the shaft movement directly, reducing the contribution of aerodynamic drag.</a:t>
            </a:r>
            <a:endParaRPr sz="1800">
              <a:solidFill>
                <a:schemeClr val="dk1"/>
              </a:solidFill>
              <a:latin typeface="Calibri"/>
              <a:ea typeface="Calibri"/>
              <a:cs typeface="Calibri"/>
              <a:sym typeface="Calibri"/>
            </a:endParaRPr>
          </a:p>
        </p:txBody>
      </p:sp>
      <p:sp>
        <p:nvSpPr>
          <p:cNvPr id="163" name="Google Shape;163;p12"/>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50 μm shaft deflection produced a broader directional response than wind stimulation. Its typical half-maximum width was approximately 85°, compared with approximately 54° for the wind response. Measurements of socket resistance and drag on remounted shafts were broader still.</a:t>
            </a:r>
            <a:endParaRPr sz="1800">
              <a:solidFill>
                <a:schemeClr val="dk1"/>
              </a:solidFill>
              <a:latin typeface="Calibri"/>
              <a:ea typeface="Calibri"/>
              <a:cs typeface="Calibri"/>
              <a:sym typeface="Calibri"/>
            </a:endParaRPr>
          </a:p>
        </p:txBody>
      </p:sp>
      <p:sp>
        <p:nvSpPr>
          <p:cNvPr id="164" name="Google Shape;164;p12"/>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No tested component alone accounted for the narrow wind-tuning curve. The results support combined contributions from mechanical structure and sensory coupling. Each asymmetry favors displacement in one plane, so their effects add, and the intact hair ends up more selective than any single mechanism makes it.</a:t>
            </a:r>
            <a:endParaRPr sz="1800">
              <a:solidFill>
                <a:schemeClr val="dk1"/>
              </a:solidFill>
              <a:latin typeface="Calibri"/>
              <a:ea typeface="Calibri"/>
              <a:cs typeface="Calibri"/>
              <a:sym typeface="Calibri"/>
            </a:endParaRPr>
          </a:p>
        </p:txBody>
      </p:sp>
      <p:pic>
        <p:nvPicPr>
          <p:cNvPr id="165" name="Google Shape;165;p12"/>
          <p:cNvPicPr preferRelativeResize="0"/>
          <p:nvPr/>
        </p:nvPicPr>
        <p:blipFill rotWithShape="1">
          <a:blip r:embed="rId3">
            <a:alphaModFix/>
          </a:blip>
          <a:srcRect b="0" l="0" r="0" t="0"/>
          <a:stretch/>
        </p:blipFill>
        <p:spPr>
          <a:xfrm>
            <a:off x="6477000" y="1361130"/>
            <a:ext cx="3429000" cy="3576443"/>
          </a:xfrm>
          <a:prstGeom prst="rect">
            <a:avLst/>
          </a:prstGeom>
          <a:noFill/>
          <a:ln>
            <a:noFill/>
          </a:ln>
        </p:spPr>
      </p:pic>
      <p:sp>
        <p:nvSpPr>
          <p:cNvPr id="166" name="Google Shape;166;p12"/>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4. Directional responses to imposed 50 μm hair deflections.</a:t>
            </a:r>
            <a:endParaRPr sz="1800">
              <a:solidFill>
                <a:schemeClr val="dk1"/>
              </a:solidFill>
              <a:latin typeface="Calibri"/>
              <a:ea typeface="Calibri"/>
              <a:cs typeface="Calibri"/>
              <a:sym typeface="Calibri"/>
            </a:endParaRPr>
          </a:p>
        </p:txBody>
      </p:sp>
      <p:pic>
        <p:nvPicPr>
          <p:cNvPr id="167" name="Google Shape;167;p12"/>
          <p:cNvPicPr preferRelativeResize="0"/>
          <p:nvPr/>
        </p:nvPicPr>
        <p:blipFill rotWithShape="1">
          <a:blip r:embed="rId4">
            <a:alphaModFix/>
          </a:blip>
          <a:srcRect b="0" l="0" r="0" t="0"/>
          <a:stretch/>
        </p:blipFill>
        <p:spPr>
          <a:xfrm>
            <a:off x="10058400" y="2054807"/>
            <a:ext cx="1676400" cy="2303390"/>
          </a:xfrm>
          <a:prstGeom prst="rect">
            <a:avLst/>
          </a:prstGeom>
          <a:noFill/>
          <a:ln>
            <a:noFill/>
          </a:ln>
        </p:spPr>
      </p:pic>
      <p:sp>
        <p:nvSpPr>
          <p:cNvPr id="168" name="Google Shape;168;p12"/>
          <p:cNvSpPr/>
          <p:nvPr/>
        </p:nvSpPr>
        <p:spPr>
          <a:xfrm>
            <a:off x="10058400" y="4749552"/>
            <a:ext cx="1695450" cy="464344"/>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1. The shaft, socket and eccentric dendritic attachment.</a:t>
            </a:r>
            <a:endParaRPr sz="1800">
              <a:solidFill>
                <a:schemeClr val="dk1"/>
              </a:solidFill>
              <a:latin typeface="Calibri"/>
              <a:ea typeface="Calibri"/>
              <a:cs typeface="Calibri"/>
              <a:sym typeface="Calibri"/>
            </a:endParaRPr>
          </a:p>
        </p:txBody>
      </p:sp>
      <p:sp>
        <p:nvSpPr>
          <p:cNvPr id="169" name="Google Shape;169;p12"/>
          <p:cNvSpPr/>
          <p:nvPr/>
        </p:nvSpPr>
        <p:spPr>
          <a:xfrm>
            <a:off x="457200" y="6496050"/>
            <a:ext cx="78640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(1969a)</a:t>
            </a:r>
            <a:endParaRPr sz="1800">
              <a:solidFill>
                <a:schemeClr val="dk1"/>
              </a:solidFill>
              <a:latin typeface="Calibri"/>
              <a:ea typeface="Calibri"/>
              <a:cs typeface="Calibri"/>
              <a:sym typeface="Calibri"/>
            </a:endParaRPr>
          </a:p>
        </p:txBody>
      </p:sp>
      <p:sp>
        <p:nvSpPr>
          <p:cNvPr id="170" name="Google Shape;170;p12"/>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10</a:t>
            </a:r>
            <a:endParaRPr sz="180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sp>
        <p:nvSpPr>
          <p:cNvPr id="175" name="Google Shape;175;p13"/>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Head-hair axons reach the suboesophageal ganglion</a:t>
            </a:r>
            <a:endParaRPr sz="1800">
              <a:solidFill>
                <a:schemeClr val="dk1"/>
              </a:solidFill>
              <a:latin typeface="Calibri"/>
              <a:ea typeface="Calibri"/>
              <a:cs typeface="Calibri"/>
              <a:sym typeface="Calibri"/>
            </a:endParaRPr>
          </a:p>
        </p:txBody>
      </p:sp>
      <p:sp>
        <p:nvSpPr>
          <p:cNvPr id="176" name="Google Shape;176;p13"/>
          <p:cNvSpPr/>
          <p:nvPr/>
        </p:nvSpPr>
        <p:spPr>
          <a:xfrm>
            <a:off x="457200" y="1063377"/>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Camhi recorded simultaneously from a cut hair tip and an axon in the ipsilateral circumoesophageal connective. </a:t>
            </a:r>
            <a:r>
              <a:rPr b="1" i="0" lang="en-US" sz="1425">
                <a:solidFill>
                  <a:srgbClr val="292329"/>
                </a:solidFill>
                <a:latin typeface="Arial"/>
                <a:ea typeface="Arial"/>
                <a:cs typeface="Arial"/>
                <a:sym typeface="Arial"/>
              </a:rPr>
              <a:t>Ipsilateral</a:t>
            </a:r>
            <a:r>
              <a:rPr b="0" i="0" lang="en-US" sz="1425">
                <a:solidFill>
                  <a:srgbClr val="292329"/>
                </a:solidFill>
                <a:latin typeface="Arial"/>
                <a:ea typeface="Arial"/>
                <a:cs typeface="Arial"/>
                <a:sym typeface="Arial"/>
              </a:rPr>
              <a:t> means on the same side; </a:t>
            </a:r>
            <a:r>
              <a:rPr b="1" i="0" lang="en-US" sz="1425">
                <a:solidFill>
                  <a:srgbClr val="292329"/>
                </a:solidFill>
                <a:latin typeface="Arial"/>
                <a:ea typeface="Arial"/>
                <a:cs typeface="Arial"/>
                <a:sym typeface="Arial"/>
              </a:rPr>
              <a:t>contralateral</a:t>
            </a:r>
            <a:r>
              <a:rPr b="0" i="0" lang="en-US" sz="1425">
                <a:solidFill>
                  <a:srgbClr val="292329"/>
                </a:solidFill>
                <a:latin typeface="Arial"/>
                <a:ea typeface="Arial"/>
                <a:cs typeface="Arial"/>
                <a:sym typeface="Arial"/>
              </a:rPr>
              <a:t> means on the opposite side. Every recorded sensory impulse appeared at both sites.</a:t>
            </a:r>
            <a:endParaRPr sz="1800">
              <a:solidFill>
                <a:schemeClr val="dk1"/>
              </a:solidFill>
              <a:latin typeface="Calibri"/>
              <a:ea typeface="Calibri"/>
              <a:cs typeface="Calibri"/>
              <a:sym typeface="Calibri"/>
            </a:endParaRPr>
          </a:p>
        </p:txBody>
      </p:sp>
      <p:sp>
        <p:nvSpPr>
          <p:cNvPr id="177" name="Google Shape;177;p13"/>
          <p:cNvSpPr/>
          <p:nvPr/>
        </p:nvSpPr>
        <p:spPr>
          <a:xfrm>
            <a:off x="457200" y="2152204"/>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two recordings were separated by approximately 10 ms. Electrical stimulation of the connective evoked impulses that traveled back toward the hair, with latencies of 7–14 ms and an estimated conduction speed near 0.5 m/s. Stimulation farther back in the cervical connective did not evoke the same sensory response.</a:t>
            </a:r>
            <a:endParaRPr sz="1800">
              <a:solidFill>
                <a:schemeClr val="dk1"/>
              </a:solidFill>
              <a:latin typeface="Calibri"/>
              <a:ea typeface="Calibri"/>
              <a:cs typeface="Calibri"/>
              <a:sym typeface="Calibri"/>
            </a:endParaRPr>
          </a:p>
        </p:txBody>
      </p:sp>
      <p:sp>
        <p:nvSpPr>
          <p:cNvPr id="178" name="Google Shape;178;p13"/>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These tests support axons passing through the brain and terminating before the thoracic pathway, probably in the suboesophageal ganglion. Wind information therefore reaches thoracic flight circuits only after a synaptic relay to interneurons that descend in the cervical connective.</a:t>
            </a:r>
            <a:endParaRPr sz="1800">
              <a:solidFill>
                <a:schemeClr val="dk1"/>
              </a:solidFill>
              <a:latin typeface="Calibri"/>
              <a:ea typeface="Calibri"/>
              <a:cs typeface="Calibri"/>
              <a:sym typeface="Calibri"/>
            </a:endParaRPr>
          </a:p>
        </p:txBody>
      </p:sp>
      <p:pic>
        <p:nvPicPr>
          <p:cNvPr id="179" name="Google Shape;179;p13"/>
          <p:cNvPicPr preferRelativeResize="0"/>
          <p:nvPr/>
        </p:nvPicPr>
        <p:blipFill rotWithShape="1">
          <a:blip r:embed="rId3">
            <a:alphaModFix/>
          </a:blip>
          <a:srcRect b="0" l="0" r="0" t="0"/>
          <a:stretch/>
        </p:blipFill>
        <p:spPr>
          <a:xfrm>
            <a:off x="6477000" y="1803120"/>
            <a:ext cx="5257800" cy="2759139"/>
          </a:xfrm>
          <a:prstGeom prst="rect">
            <a:avLst/>
          </a:prstGeom>
          <a:noFill/>
          <a:ln>
            <a:noFill/>
          </a:ln>
        </p:spPr>
      </p:pic>
      <p:sp>
        <p:nvSpPr>
          <p:cNvPr id="180" name="Google Shape;180;p13"/>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8. Simultaneous seta and connective recordings.</a:t>
            </a:r>
            <a:endParaRPr sz="1800">
              <a:solidFill>
                <a:schemeClr val="dk1"/>
              </a:solidFill>
              <a:latin typeface="Calibri"/>
              <a:ea typeface="Calibri"/>
              <a:cs typeface="Calibri"/>
              <a:sym typeface="Calibri"/>
            </a:endParaRPr>
          </a:p>
        </p:txBody>
      </p:sp>
      <p:sp>
        <p:nvSpPr>
          <p:cNvPr id="181" name="Google Shape;181;p13"/>
          <p:cNvSpPr/>
          <p:nvPr/>
        </p:nvSpPr>
        <p:spPr>
          <a:xfrm>
            <a:off x="457200" y="6496050"/>
            <a:ext cx="78640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(1969a)</a:t>
            </a:r>
            <a:endParaRPr sz="1800">
              <a:solidFill>
                <a:schemeClr val="dk1"/>
              </a:solidFill>
              <a:latin typeface="Calibri"/>
              <a:ea typeface="Calibri"/>
              <a:cs typeface="Calibri"/>
              <a:sym typeface="Calibri"/>
            </a:endParaRPr>
          </a:p>
        </p:txBody>
      </p:sp>
      <p:sp>
        <p:nvSpPr>
          <p:cNvPr id="182" name="Google Shape;182;p13"/>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11</a:t>
            </a:r>
            <a:endParaRPr sz="18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4"/>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Axon diameter sets how fast wind news travels</a:t>
            </a:r>
            <a:endParaRPr sz="1800">
              <a:solidFill>
                <a:schemeClr val="dk1"/>
              </a:solidFill>
              <a:latin typeface="Calibri"/>
              <a:ea typeface="Calibri"/>
              <a:cs typeface="Calibri"/>
              <a:sym typeface="Calibri"/>
            </a:endParaRPr>
          </a:p>
        </p:txBody>
      </p:sp>
      <p:sp>
        <p:nvSpPr>
          <p:cNvPr id="188" name="Google Shape;188;p14"/>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Conduction velocity</a:t>
            </a:r>
            <a:r>
              <a:rPr b="0" i="0" lang="en-US" sz="1425">
                <a:solidFill>
                  <a:srgbClr val="292329"/>
                </a:solidFill>
                <a:latin typeface="Arial"/>
                <a:ea typeface="Arial"/>
                <a:cs typeface="Arial"/>
                <a:sym typeface="Arial"/>
              </a:rPr>
              <a:t> is the speed at which an action potential travels along an axon. Each spike spreads current ahead of itself to depolarize the adjacent stretch of membrane; a wider axon has lower internal resistance, so current spreads farther and the spike advances faster.</a:t>
            </a:r>
            <a:endParaRPr sz="1800">
              <a:solidFill>
                <a:schemeClr val="dk1"/>
              </a:solidFill>
              <a:latin typeface="Calibri"/>
              <a:ea typeface="Calibri"/>
              <a:cs typeface="Calibri"/>
              <a:sym typeface="Calibri"/>
            </a:endParaRPr>
          </a:p>
        </p:txBody>
      </p:sp>
      <p:sp>
        <p:nvSpPr>
          <p:cNvPr id="189" name="Google Shape;189;p14"/>
          <p:cNvSpPr/>
          <p:nvPr/>
        </p:nvSpPr>
        <p:spPr>
          <a:xfrm>
            <a:off x="457200" y="2669292"/>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thin hair axons conduct near 0.5 m/s, and the trip from hair to connective takes about 10 ms. Part of the minimum 35 ms wind-reflex latency is therefore spent on travel in slow sensory fibers before any central relay begins.</a:t>
            </a:r>
            <a:endParaRPr sz="1800">
              <a:solidFill>
                <a:schemeClr val="dk1"/>
              </a:solidFill>
              <a:latin typeface="Calibri"/>
              <a:ea typeface="Calibri"/>
              <a:cs typeface="Calibri"/>
              <a:sym typeface="Calibri"/>
            </a:endParaRPr>
          </a:p>
        </p:txBody>
      </p:sp>
      <p:sp>
        <p:nvSpPr>
          <p:cNvPr id="190" name="Google Shape;190;p14"/>
          <p:cNvSpPr/>
          <p:nvPr/>
        </p:nvSpPr>
        <p:spPr>
          <a:xfrm>
            <a:off x="457200" y="4036320"/>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Descending interneurons recover that time. The TCG axon is about 20 μm wide, and its stimulation evoked fictive flight after as little as 23 ms, so a wide axon carrying wind information to the thorax shortens the path from head to flight motor output.</a:t>
            </a:r>
            <a:endParaRPr sz="1800">
              <a:solidFill>
                <a:schemeClr val="dk1"/>
              </a:solidFill>
              <a:latin typeface="Calibri"/>
              <a:ea typeface="Calibri"/>
              <a:cs typeface="Calibri"/>
              <a:sym typeface="Calibri"/>
            </a:endParaRPr>
          </a:p>
        </p:txBody>
      </p:sp>
      <p:pic>
        <p:nvPicPr>
          <p:cNvPr id="191" name="Google Shape;191;p14"/>
          <p:cNvPicPr preferRelativeResize="0"/>
          <p:nvPr/>
        </p:nvPicPr>
        <p:blipFill rotWithShape="1">
          <a:blip r:embed="rId3">
            <a:alphaModFix/>
          </a:blip>
          <a:srcRect b="0" l="0" r="0" t="0"/>
          <a:stretch/>
        </p:blipFill>
        <p:spPr>
          <a:xfrm>
            <a:off x="6477000" y="1803120"/>
            <a:ext cx="5257800" cy="2759139"/>
          </a:xfrm>
          <a:prstGeom prst="rect">
            <a:avLst/>
          </a:prstGeom>
          <a:noFill/>
          <a:ln>
            <a:noFill/>
          </a:ln>
        </p:spPr>
      </p:pic>
      <p:sp>
        <p:nvSpPr>
          <p:cNvPr id="192" name="Google Shape;192;p14"/>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8. Simultaneous seta and connective recordings.</a:t>
            </a:r>
            <a:endParaRPr sz="1800">
              <a:solidFill>
                <a:schemeClr val="dk1"/>
              </a:solidFill>
              <a:latin typeface="Calibri"/>
              <a:ea typeface="Calibri"/>
              <a:cs typeface="Calibri"/>
              <a:sym typeface="Calibri"/>
            </a:endParaRPr>
          </a:p>
        </p:txBody>
      </p:sp>
      <p:sp>
        <p:nvSpPr>
          <p:cNvPr id="193" name="Google Shape;193;p14"/>
          <p:cNvSpPr/>
          <p:nvPr/>
        </p:nvSpPr>
        <p:spPr>
          <a:xfrm>
            <a:off x="457200" y="6496050"/>
            <a:ext cx="309778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(1969a); Camhi (1969c); Buhl et al. (2008)</a:t>
            </a:r>
            <a:endParaRPr sz="1800">
              <a:solidFill>
                <a:schemeClr val="dk1"/>
              </a:solidFill>
              <a:latin typeface="Calibri"/>
              <a:ea typeface="Calibri"/>
              <a:cs typeface="Calibri"/>
              <a:sym typeface="Calibri"/>
            </a:endParaRPr>
          </a:p>
        </p:txBody>
      </p:sp>
      <p:sp>
        <p:nvSpPr>
          <p:cNvPr id="194" name="Google Shape;194;p14"/>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11a</a:t>
            </a:r>
            <a:endParaRPr sz="18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5"/>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Wind-indicator interneurons pool broad directional input</a:t>
            </a:r>
            <a:endParaRPr sz="1800">
              <a:solidFill>
                <a:schemeClr val="dk1"/>
              </a:solidFill>
              <a:latin typeface="Calibri"/>
              <a:ea typeface="Calibri"/>
              <a:cs typeface="Calibri"/>
              <a:sym typeface="Calibri"/>
            </a:endParaRPr>
          </a:p>
        </p:txBody>
      </p:sp>
      <p:sp>
        <p:nvSpPr>
          <p:cNvPr id="200" name="Google Shape;200;p15"/>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An </a:t>
            </a:r>
            <a:r>
              <a:rPr b="1" i="0" lang="en-US" sz="1425">
                <a:solidFill>
                  <a:srgbClr val="292329"/>
                </a:solidFill>
                <a:latin typeface="Arial"/>
                <a:ea typeface="Arial"/>
                <a:cs typeface="Arial"/>
                <a:sym typeface="Arial"/>
              </a:rPr>
              <a:t>interneuron</a:t>
            </a:r>
            <a:r>
              <a:rPr b="0" i="0" lang="en-US" sz="1425">
                <a:solidFill>
                  <a:srgbClr val="292329"/>
                </a:solidFill>
                <a:latin typeface="Arial"/>
                <a:ea typeface="Arial"/>
                <a:cs typeface="Arial"/>
                <a:sym typeface="Arial"/>
              </a:rPr>
              <a:t> connects other neurons rather than directly serving as the primary receptor or muscle output. Camhi recorded individual wind-responsive units in the cervical connective, downstream of the head sensory pathways. Wind-indicator cells sustained discharge during maintained airflow.</a:t>
            </a:r>
            <a:endParaRPr sz="1800">
              <a:solidFill>
                <a:schemeClr val="dk1"/>
              </a:solidFill>
              <a:latin typeface="Calibri"/>
              <a:ea typeface="Calibri"/>
              <a:cs typeface="Calibri"/>
              <a:sym typeface="Calibri"/>
            </a:endParaRPr>
          </a:p>
        </p:txBody>
      </p:sp>
      <p:sp>
        <p:nvSpPr>
          <p:cNvPr id="201" name="Google Shape;201;p15"/>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Their directional half-maximum width was approximately 140°, substantially broader than individual sensory receptors. At favorable direction, a 4.5 m/s wind produced a maintained rate near 85 spikes/s. Small air jets mapped inputs from head hairs on both sides with varied preferred directions.</a:t>
            </a:r>
            <a:endParaRPr sz="1800">
              <a:solidFill>
                <a:schemeClr val="dk1"/>
              </a:solidFill>
              <a:latin typeface="Calibri"/>
              <a:ea typeface="Calibri"/>
              <a:cs typeface="Calibri"/>
              <a:sym typeface="Calibri"/>
            </a:endParaRPr>
          </a:p>
        </p:txBody>
      </p:sp>
      <p:sp>
        <p:nvSpPr>
          <p:cNvPr id="202" name="Google Shape;202;p15"/>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Pooling differently tuned receptors is consistent with a broad signal for the presence and intensity of airflow. Single-hair deflection rarely evoked interneuron spikes, while stimulating separate hair groups together preserved or increased the response, so each cell sums excitation from many receptors.</a:t>
            </a:r>
            <a:endParaRPr sz="1800">
              <a:solidFill>
                <a:schemeClr val="dk1"/>
              </a:solidFill>
              <a:latin typeface="Calibri"/>
              <a:ea typeface="Calibri"/>
              <a:cs typeface="Calibri"/>
              <a:sym typeface="Calibri"/>
            </a:endParaRPr>
          </a:p>
        </p:txBody>
      </p:sp>
      <p:pic>
        <p:nvPicPr>
          <p:cNvPr id="203" name="Google Shape;203;p15"/>
          <p:cNvPicPr preferRelativeResize="0"/>
          <p:nvPr/>
        </p:nvPicPr>
        <p:blipFill rotWithShape="1">
          <a:blip r:embed="rId3">
            <a:alphaModFix/>
          </a:blip>
          <a:srcRect b="0" l="0" r="0" t="0"/>
          <a:stretch/>
        </p:blipFill>
        <p:spPr>
          <a:xfrm>
            <a:off x="6477000" y="1382098"/>
            <a:ext cx="3429000" cy="3534508"/>
          </a:xfrm>
          <a:prstGeom prst="rect">
            <a:avLst/>
          </a:prstGeom>
          <a:noFill/>
          <a:ln>
            <a:noFill/>
          </a:ln>
        </p:spPr>
      </p:pic>
      <p:sp>
        <p:nvSpPr>
          <p:cNvPr id="204" name="Google Shape;204;p15"/>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2. Broad wind-indicator tuning at several speeds.</a:t>
            </a:r>
            <a:endParaRPr sz="1800">
              <a:solidFill>
                <a:schemeClr val="dk1"/>
              </a:solidFill>
              <a:latin typeface="Calibri"/>
              <a:ea typeface="Calibri"/>
              <a:cs typeface="Calibri"/>
              <a:sym typeface="Calibri"/>
            </a:endParaRPr>
          </a:p>
        </p:txBody>
      </p:sp>
      <p:pic>
        <p:nvPicPr>
          <p:cNvPr id="205" name="Google Shape;205;p15"/>
          <p:cNvPicPr preferRelativeResize="0"/>
          <p:nvPr/>
        </p:nvPicPr>
        <p:blipFill rotWithShape="1">
          <a:blip r:embed="rId4">
            <a:alphaModFix/>
          </a:blip>
          <a:srcRect b="0" l="0" r="0" t="0"/>
          <a:stretch/>
        </p:blipFill>
        <p:spPr>
          <a:xfrm>
            <a:off x="10058400" y="2462211"/>
            <a:ext cx="1676400" cy="1488581"/>
          </a:xfrm>
          <a:prstGeom prst="rect">
            <a:avLst/>
          </a:prstGeom>
          <a:noFill/>
          <a:ln>
            <a:noFill/>
          </a:ln>
        </p:spPr>
      </p:pic>
      <p:sp>
        <p:nvSpPr>
          <p:cNvPr id="206" name="Google Shape;206;p15"/>
          <p:cNvSpPr/>
          <p:nvPr/>
        </p:nvSpPr>
        <p:spPr>
          <a:xfrm>
            <a:off x="10058400" y="4749552"/>
            <a:ext cx="1695450" cy="464344"/>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7. Bilateral distribution of directional sensory hairs.</a:t>
            </a:r>
            <a:endParaRPr sz="1800">
              <a:solidFill>
                <a:schemeClr val="dk1"/>
              </a:solidFill>
              <a:latin typeface="Calibri"/>
              <a:ea typeface="Calibri"/>
              <a:cs typeface="Calibri"/>
              <a:sym typeface="Calibri"/>
            </a:endParaRPr>
          </a:p>
        </p:txBody>
      </p:sp>
      <p:sp>
        <p:nvSpPr>
          <p:cNvPr id="207" name="Google Shape;207;p15"/>
          <p:cNvSpPr/>
          <p:nvPr/>
        </p:nvSpPr>
        <p:spPr>
          <a:xfrm>
            <a:off x="457200" y="6496050"/>
            <a:ext cx="1620292"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(1969b); Camhi (1969a)</a:t>
            </a:r>
            <a:endParaRPr sz="1800">
              <a:solidFill>
                <a:schemeClr val="dk1"/>
              </a:solidFill>
              <a:latin typeface="Calibri"/>
              <a:ea typeface="Calibri"/>
              <a:cs typeface="Calibri"/>
              <a:sym typeface="Calibri"/>
            </a:endParaRPr>
          </a:p>
        </p:txBody>
      </p:sp>
      <p:sp>
        <p:nvSpPr>
          <p:cNvPr id="208" name="Google Shape;208;p15"/>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12</a:t>
            </a:r>
            <a:endParaRPr sz="18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16"/>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Wind-direction cells retain sharper angular preferences</a:t>
            </a:r>
            <a:endParaRPr sz="1800">
              <a:solidFill>
                <a:schemeClr val="dk1"/>
              </a:solidFill>
              <a:latin typeface="Calibri"/>
              <a:ea typeface="Calibri"/>
              <a:cs typeface="Calibri"/>
              <a:sym typeface="Calibri"/>
            </a:endParaRPr>
          </a:p>
        </p:txBody>
      </p:sp>
      <p:sp>
        <p:nvSpPr>
          <p:cNvPr id="214" name="Google Shape;214;p16"/>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Camhi distinguished wind-direction cells from broadly tuned wind-indicator cells by varying wind angle, speed and angular motion. The recorded units maintained firing in wind but had sharper angular selectivity. Their mapped sensory inputs had more similar preferred directions.</a:t>
            </a:r>
            <a:endParaRPr sz="1800">
              <a:solidFill>
                <a:schemeClr val="dk1"/>
              </a:solidFill>
              <a:latin typeface="Calibri"/>
              <a:ea typeface="Calibri"/>
              <a:cs typeface="Calibri"/>
              <a:sym typeface="Calibri"/>
            </a:endParaRPr>
          </a:p>
        </p:txBody>
      </p:sp>
      <p:sp>
        <p:nvSpPr>
          <p:cNvPr id="215" name="Google Shape;215;p16"/>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Directional half-maximum widths were approximately 60°. Rotating an already flowing jet toward a cell’s favorable direction could add a transient burst, whereas moving away could briefly reduce discharge. The rate-speed relationship was not simply linear across the tested range.</a:t>
            </a:r>
            <a:endParaRPr sz="1800">
              <a:solidFill>
                <a:schemeClr val="dk1"/>
              </a:solidFill>
              <a:latin typeface="Calibri"/>
              <a:ea typeface="Calibri"/>
              <a:cs typeface="Calibri"/>
              <a:sym typeface="Calibri"/>
            </a:endParaRPr>
          </a:p>
        </p:txBody>
      </p:sp>
      <p:sp>
        <p:nvSpPr>
          <p:cNvPr id="216" name="Google Shape;216;p16"/>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downstream cell can therefore emphasize directional information while remaining sensitive to stimulus strength and change. The extra burst when wind swings toward the preferred side suits a signal for yaw, the rotation about the vertical axis that changes head-wind angle in flight.</a:t>
            </a:r>
            <a:endParaRPr sz="1800">
              <a:solidFill>
                <a:schemeClr val="dk1"/>
              </a:solidFill>
              <a:latin typeface="Calibri"/>
              <a:ea typeface="Calibri"/>
              <a:cs typeface="Calibri"/>
              <a:sym typeface="Calibri"/>
            </a:endParaRPr>
          </a:p>
        </p:txBody>
      </p:sp>
      <p:pic>
        <p:nvPicPr>
          <p:cNvPr id="217" name="Google Shape;217;p16"/>
          <p:cNvPicPr preferRelativeResize="0"/>
          <p:nvPr/>
        </p:nvPicPr>
        <p:blipFill rotWithShape="1">
          <a:blip r:embed="rId3">
            <a:alphaModFix/>
          </a:blip>
          <a:srcRect b="0" l="0" r="0" t="0"/>
          <a:stretch/>
        </p:blipFill>
        <p:spPr>
          <a:xfrm>
            <a:off x="6477000" y="1377765"/>
            <a:ext cx="3429000" cy="3543173"/>
          </a:xfrm>
          <a:prstGeom prst="rect">
            <a:avLst/>
          </a:prstGeom>
          <a:noFill/>
          <a:ln>
            <a:noFill/>
          </a:ln>
        </p:spPr>
      </p:pic>
      <p:sp>
        <p:nvSpPr>
          <p:cNvPr id="218" name="Google Shape;218;p16"/>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3. Wind-direction tuning at several airflow speeds.</a:t>
            </a:r>
            <a:endParaRPr sz="1800">
              <a:solidFill>
                <a:schemeClr val="dk1"/>
              </a:solidFill>
              <a:latin typeface="Calibri"/>
              <a:ea typeface="Calibri"/>
              <a:cs typeface="Calibri"/>
              <a:sym typeface="Calibri"/>
            </a:endParaRPr>
          </a:p>
        </p:txBody>
      </p:sp>
      <p:pic>
        <p:nvPicPr>
          <p:cNvPr id="219" name="Google Shape;219;p16"/>
          <p:cNvPicPr preferRelativeResize="0"/>
          <p:nvPr/>
        </p:nvPicPr>
        <p:blipFill rotWithShape="1">
          <a:blip r:embed="rId4">
            <a:alphaModFix/>
          </a:blip>
          <a:srcRect b="0" l="0" r="0" t="0"/>
          <a:stretch/>
        </p:blipFill>
        <p:spPr>
          <a:xfrm>
            <a:off x="10058400" y="2885368"/>
            <a:ext cx="1676400" cy="642268"/>
          </a:xfrm>
          <a:prstGeom prst="rect">
            <a:avLst/>
          </a:prstGeom>
          <a:noFill/>
          <a:ln>
            <a:noFill/>
          </a:ln>
        </p:spPr>
      </p:pic>
      <p:sp>
        <p:nvSpPr>
          <p:cNvPr id="220" name="Google Shape;220;p16"/>
          <p:cNvSpPr/>
          <p:nvPr/>
        </p:nvSpPr>
        <p:spPr>
          <a:xfrm>
            <a:off x="10058400" y="4749552"/>
            <a:ext cx="1695450" cy="464344"/>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4. Spike responses to pivots of a maintained wind jet.</a:t>
            </a:r>
            <a:endParaRPr sz="1800">
              <a:solidFill>
                <a:schemeClr val="dk1"/>
              </a:solidFill>
              <a:latin typeface="Calibri"/>
              <a:ea typeface="Calibri"/>
              <a:cs typeface="Calibri"/>
              <a:sym typeface="Calibri"/>
            </a:endParaRPr>
          </a:p>
        </p:txBody>
      </p:sp>
      <p:sp>
        <p:nvSpPr>
          <p:cNvPr id="221" name="Google Shape;221;p16"/>
          <p:cNvSpPr/>
          <p:nvPr/>
        </p:nvSpPr>
        <p:spPr>
          <a:xfrm>
            <a:off x="457200" y="6496050"/>
            <a:ext cx="792659"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(1969b)</a:t>
            </a:r>
            <a:endParaRPr sz="1800">
              <a:solidFill>
                <a:schemeClr val="dk1"/>
              </a:solidFill>
              <a:latin typeface="Calibri"/>
              <a:ea typeface="Calibri"/>
              <a:cs typeface="Calibri"/>
              <a:sym typeface="Calibri"/>
            </a:endParaRPr>
          </a:p>
        </p:txBody>
      </p:sp>
      <p:sp>
        <p:nvSpPr>
          <p:cNvPr id="222" name="Google Shape;222;p16"/>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13</a:t>
            </a:r>
            <a:endParaRPr sz="18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7"/>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Input mix sets each interneuron’s tuning width</a:t>
            </a:r>
            <a:endParaRPr sz="1800">
              <a:solidFill>
                <a:schemeClr val="dk1"/>
              </a:solidFill>
              <a:latin typeface="Calibri"/>
              <a:ea typeface="Calibri"/>
              <a:cs typeface="Calibri"/>
              <a:sym typeface="Calibri"/>
            </a:endParaRPr>
          </a:p>
        </p:txBody>
      </p:sp>
      <p:sp>
        <p:nvSpPr>
          <p:cNvPr id="228" name="Google Shape;228;p17"/>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tuning of a </a:t>
            </a:r>
            <a:r>
              <a:rPr b="1" i="0" lang="en-US" sz="1425">
                <a:solidFill>
                  <a:srgbClr val="292329"/>
                </a:solidFill>
                <a:latin typeface="Arial"/>
                <a:ea typeface="Arial"/>
                <a:cs typeface="Arial"/>
                <a:sym typeface="Arial"/>
              </a:rPr>
              <a:t>convergent</a:t>
            </a:r>
            <a:r>
              <a:rPr b="0" i="0" lang="en-US" sz="1425">
                <a:solidFill>
                  <a:srgbClr val="292329"/>
                </a:solidFill>
                <a:latin typeface="Arial"/>
                <a:ea typeface="Arial"/>
                <a:cs typeface="Arial"/>
                <a:sym typeface="Arial"/>
              </a:rPr>
              <a:t> interneuron, one that sums input from many receptors, depends on which receptors it collects. If its hairs prefer widely different directions, wind from almost any angle excites some of them, and the summed response stays high across a wide range of angles.</a:t>
            </a:r>
            <a:endParaRPr sz="1800">
              <a:solidFill>
                <a:schemeClr val="dk1"/>
              </a:solidFill>
              <a:latin typeface="Calibri"/>
              <a:ea typeface="Calibri"/>
              <a:cs typeface="Calibri"/>
              <a:sym typeface="Calibri"/>
            </a:endParaRPr>
          </a:p>
        </p:txBody>
      </p:sp>
      <p:sp>
        <p:nvSpPr>
          <p:cNvPr id="229" name="Google Shape;229;p17"/>
          <p:cNvSpPr/>
          <p:nvPr/>
        </p:nvSpPr>
        <p:spPr>
          <a:xfrm>
            <a:off x="457200" y="2669292"/>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Wind-indicator cells reach about 140° this way, far wider than the roughly 54° of one hair. Wind-direction cells draw on hairs whose preferences cluster, so their summed response falls off almost as steeply as a single hair’s, near 60°.</a:t>
            </a:r>
            <a:endParaRPr sz="1800">
              <a:solidFill>
                <a:schemeClr val="dk1"/>
              </a:solidFill>
              <a:latin typeface="Calibri"/>
              <a:ea typeface="Calibri"/>
              <a:cs typeface="Calibri"/>
              <a:sym typeface="Calibri"/>
            </a:endParaRPr>
          </a:p>
        </p:txBody>
      </p:sp>
      <p:sp>
        <p:nvSpPr>
          <p:cNvPr id="230" name="Google Shape;230;p17"/>
          <p:cNvSpPr/>
          <p:nvPr/>
        </p:nvSpPr>
        <p:spPr>
          <a:xfrm>
            <a:off x="457200" y="4036320"/>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two designs trade one variable for another. A broad cell gives up angle but gains a reliable report that wind is present at a given strength, which suits keeping flight going. A narrow cell keeps the angle information needed to detect drift away from head-on airflow.</a:t>
            </a:r>
            <a:endParaRPr sz="1800">
              <a:solidFill>
                <a:schemeClr val="dk1"/>
              </a:solidFill>
              <a:latin typeface="Calibri"/>
              <a:ea typeface="Calibri"/>
              <a:cs typeface="Calibri"/>
              <a:sym typeface="Calibri"/>
            </a:endParaRPr>
          </a:p>
        </p:txBody>
      </p:sp>
      <p:pic>
        <p:nvPicPr>
          <p:cNvPr id="231" name="Google Shape;231;p17"/>
          <p:cNvPicPr preferRelativeResize="0"/>
          <p:nvPr/>
        </p:nvPicPr>
        <p:blipFill rotWithShape="1">
          <a:blip r:embed="rId3">
            <a:alphaModFix/>
          </a:blip>
          <a:srcRect b="0" l="0" r="0" t="0"/>
          <a:stretch/>
        </p:blipFill>
        <p:spPr>
          <a:xfrm>
            <a:off x="6477000" y="1377765"/>
            <a:ext cx="3429000" cy="3543173"/>
          </a:xfrm>
          <a:prstGeom prst="rect">
            <a:avLst/>
          </a:prstGeom>
          <a:noFill/>
          <a:ln>
            <a:noFill/>
          </a:ln>
        </p:spPr>
      </p:pic>
      <p:sp>
        <p:nvSpPr>
          <p:cNvPr id="232" name="Google Shape;232;p17"/>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3. Wind-direction tuning at several airflow speeds.</a:t>
            </a:r>
            <a:endParaRPr sz="1800">
              <a:solidFill>
                <a:schemeClr val="dk1"/>
              </a:solidFill>
              <a:latin typeface="Calibri"/>
              <a:ea typeface="Calibri"/>
              <a:cs typeface="Calibri"/>
              <a:sym typeface="Calibri"/>
            </a:endParaRPr>
          </a:p>
        </p:txBody>
      </p:sp>
      <p:pic>
        <p:nvPicPr>
          <p:cNvPr id="233" name="Google Shape;233;p17"/>
          <p:cNvPicPr preferRelativeResize="0"/>
          <p:nvPr/>
        </p:nvPicPr>
        <p:blipFill rotWithShape="1">
          <a:blip r:embed="rId4">
            <a:alphaModFix/>
          </a:blip>
          <a:srcRect b="0" l="0" r="0" t="0"/>
          <a:stretch/>
        </p:blipFill>
        <p:spPr>
          <a:xfrm>
            <a:off x="10058400" y="2885368"/>
            <a:ext cx="1676400" cy="642268"/>
          </a:xfrm>
          <a:prstGeom prst="rect">
            <a:avLst/>
          </a:prstGeom>
          <a:noFill/>
          <a:ln>
            <a:noFill/>
          </a:ln>
        </p:spPr>
      </p:pic>
      <p:sp>
        <p:nvSpPr>
          <p:cNvPr id="234" name="Google Shape;234;p17"/>
          <p:cNvSpPr/>
          <p:nvPr/>
        </p:nvSpPr>
        <p:spPr>
          <a:xfrm>
            <a:off x="10058400" y="4749552"/>
            <a:ext cx="1695450" cy="464344"/>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4. Spike responses to pivots of a maintained wind jet.</a:t>
            </a:r>
            <a:endParaRPr sz="1800">
              <a:solidFill>
                <a:schemeClr val="dk1"/>
              </a:solidFill>
              <a:latin typeface="Calibri"/>
              <a:ea typeface="Calibri"/>
              <a:cs typeface="Calibri"/>
              <a:sym typeface="Calibri"/>
            </a:endParaRPr>
          </a:p>
        </p:txBody>
      </p:sp>
      <p:sp>
        <p:nvSpPr>
          <p:cNvPr id="235" name="Google Shape;235;p17"/>
          <p:cNvSpPr/>
          <p:nvPr/>
        </p:nvSpPr>
        <p:spPr>
          <a:xfrm>
            <a:off x="457200" y="6496050"/>
            <a:ext cx="18176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(1969a); Camhi (1969b)</a:t>
            </a:r>
            <a:endParaRPr sz="1800">
              <a:solidFill>
                <a:schemeClr val="dk1"/>
              </a:solidFill>
              <a:latin typeface="Calibri"/>
              <a:ea typeface="Calibri"/>
              <a:cs typeface="Calibri"/>
              <a:sym typeface="Calibri"/>
            </a:endParaRPr>
          </a:p>
        </p:txBody>
      </p:sp>
      <p:sp>
        <p:nvSpPr>
          <p:cNvPr id="236" name="Google Shape;236;p17"/>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13a</a:t>
            </a:r>
            <a:endParaRPr sz="18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18"/>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Recentre cells emphasize motion toward head-on airflow</a:t>
            </a:r>
            <a:endParaRPr sz="1800">
              <a:solidFill>
                <a:schemeClr val="dk1"/>
              </a:solidFill>
              <a:latin typeface="Calibri"/>
              <a:ea typeface="Calibri"/>
              <a:cs typeface="Calibri"/>
              <a:sym typeface="Calibri"/>
            </a:endParaRPr>
          </a:p>
        </p:txBody>
      </p:sp>
      <p:sp>
        <p:nvSpPr>
          <p:cNvPr id="242" name="Google Shape;242;p18"/>
          <p:cNvSpPr/>
          <p:nvPr/>
        </p:nvSpPr>
        <p:spPr>
          <a:xfrm>
            <a:off x="457200" y="1063377"/>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Recentre cells</a:t>
            </a:r>
            <a:r>
              <a:rPr b="0" i="0" lang="en-US" sz="1425">
                <a:solidFill>
                  <a:srgbClr val="292329"/>
                </a:solidFill>
                <a:latin typeface="Arial"/>
                <a:ea typeface="Arial"/>
                <a:cs typeface="Arial"/>
                <a:sym typeface="Arial"/>
              </a:rPr>
              <a:t> are Camhi’s rapidly adapting interneurons that respond especially to airflow shifting toward the head-on direction from one preferred side. He pivoted a maintained wind jet around the head rather than repeatedly turning airflow on and off.</a:t>
            </a:r>
            <a:endParaRPr sz="1800">
              <a:solidFill>
                <a:schemeClr val="dk1"/>
              </a:solidFill>
              <a:latin typeface="Calibri"/>
              <a:ea typeface="Calibri"/>
              <a:cs typeface="Calibri"/>
              <a:sym typeface="Calibri"/>
            </a:endParaRPr>
          </a:p>
        </p:txBody>
      </p:sp>
      <p:sp>
        <p:nvSpPr>
          <p:cNvPr id="243" name="Google Shape;243;p18"/>
          <p:cNvSpPr/>
          <p:nvPr/>
        </p:nvSpPr>
        <p:spPr>
          <a:xfrm>
            <a:off x="457200" y="215220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At 3 m/s, a shift toward center from the preferred side evoked a burst, while the reverse shift or recentring from the other side could evoke little activity. Rapid shifts were more effective than slow shifts; strong responses occurred for pivots lasting less than about 100–150 ms.</a:t>
            </a:r>
            <a:endParaRPr sz="1800">
              <a:solidFill>
                <a:schemeClr val="dk1"/>
              </a:solidFill>
              <a:latin typeface="Calibri"/>
              <a:ea typeface="Calibri"/>
              <a:cs typeface="Calibri"/>
              <a:sym typeface="Calibri"/>
            </a:endParaRPr>
          </a:p>
        </p:txBody>
      </p:sp>
      <p:sp>
        <p:nvSpPr>
          <p:cNvPr id="244" name="Google Shape;244;p18"/>
          <p:cNvSpPr/>
          <p:nvPr/>
        </p:nvSpPr>
        <p:spPr>
          <a:xfrm>
            <a:off x="457200" y="347989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response distinguishes the direction of a change, beyond the starting and ending wind angles alone. The preparation establishes temporal and directional selectivity. Rapid shifts of this kind accompany sudden body turns in flight, when the head-wind angle changes within a fraction of a second.</a:t>
            </a:r>
            <a:endParaRPr sz="1800">
              <a:solidFill>
                <a:schemeClr val="dk1"/>
              </a:solidFill>
              <a:latin typeface="Calibri"/>
              <a:ea typeface="Calibri"/>
              <a:cs typeface="Calibri"/>
              <a:sym typeface="Calibri"/>
            </a:endParaRPr>
          </a:p>
        </p:txBody>
      </p:sp>
      <p:pic>
        <p:nvPicPr>
          <p:cNvPr id="245" name="Google Shape;245;p18"/>
          <p:cNvPicPr preferRelativeResize="0"/>
          <p:nvPr/>
        </p:nvPicPr>
        <p:blipFill rotWithShape="1">
          <a:blip r:embed="rId3">
            <a:alphaModFix/>
          </a:blip>
          <a:srcRect b="0" l="0" r="0" t="0"/>
          <a:stretch/>
        </p:blipFill>
        <p:spPr>
          <a:xfrm>
            <a:off x="6799790" y="1063377"/>
            <a:ext cx="4612221" cy="2152650"/>
          </a:xfrm>
          <a:prstGeom prst="rect">
            <a:avLst/>
          </a:prstGeom>
          <a:noFill/>
          <a:ln>
            <a:noFill/>
          </a:ln>
        </p:spPr>
      </p:pic>
      <p:sp>
        <p:nvSpPr>
          <p:cNvPr id="246" name="Google Shape;246;p18"/>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6. Responses to wind-angle shifts toward and away from center.</a:t>
            </a:r>
            <a:endParaRPr sz="1800">
              <a:solidFill>
                <a:schemeClr val="dk1"/>
              </a:solidFill>
              <a:latin typeface="Calibri"/>
              <a:ea typeface="Calibri"/>
              <a:cs typeface="Calibri"/>
              <a:sym typeface="Calibri"/>
            </a:endParaRPr>
          </a:p>
        </p:txBody>
      </p:sp>
      <p:pic>
        <p:nvPicPr>
          <p:cNvPr id="247" name="Google Shape;247;p18"/>
          <p:cNvPicPr preferRelativeResize="0"/>
          <p:nvPr/>
        </p:nvPicPr>
        <p:blipFill rotWithShape="1">
          <a:blip r:embed="rId4">
            <a:alphaModFix/>
          </a:blip>
          <a:srcRect b="0" l="0" r="0" t="0"/>
          <a:stretch/>
        </p:blipFill>
        <p:spPr>
          <a:xfrm>
            <a:off x="7877869" y="3589883"/>
            <a:ext cx="2456062" cy="1847850"/>
          </a:xfrm>
          <a:prstGeom prst="rect">
            <a:avLst/>
          </a:prstGeom>
          <a:noFill/>
          <a:ln>
            <a:noFill/>
          </a:ln>
        </p:spPr>
      </p:pic>
      <p:sp>
        <p:nvSpPr>
          <p:cNvPr id="248" name="Google Shape;248;p18"/>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8. Pivot duration versus the first interspike intervals.</a:t>
            </a:r>
            <a:endParaRPr sz="1800">
              <a:solidFill>
                <a:schemeClr val="dk1"/>
              </a:solidFill>
              <a:latin typeface="Calibri"/>
              <a:ea typeface="Calibri"/>
              <a:cs typeface="Calibri"/>
              <a:sym typeface="Calibri"/>
            </a:endParaRPr>
          </a:p>
        </p:txBody>
      </p:sp>
      <p:sp>
        <p:nvSpPr>
          <p:cNvPr id="249" name="Google Shape;249;p18"/>
          <p:cNvSpPr/>
          <p:nvPr/>
        </p:nvSpPr>
        <p:spPr>
          <a:xfrm>
            <a:off x="457200" y="6496050"/>
            <a:ext cx="792659"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(1969b)</a:t>
            </a:r>
            <a:endParaRPr sz="1800">
              <a:solidFill>
                <a:schemeClr val="dk1"/>
              </a:solidFill>
              <a:latin typeface="Calibri"/>
              <a:ea typeface="Calibri"/>
              <a:cs typeface="Calibri"/>
              <a:sym typeface="Calibri"/>
            </a:endParaRPr>
          </a:p>
        </p:txBody>
      </p:sp>
      <p:sp>
        <p:nvSpPr>
          <p:cNvPr id="250" name="Google Shape;250;p18"/>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14</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4" name="Shape 254"/>
        <p:cNvGrpSpPr/>
        <p:nvPr/>
      </p:nvGrpSpPr>
      <p:grpSpPr>
        <a:xfrm>
          <a:off x="0" y="0"/>
          <a:ext cx="0" cy="0"/>
          <a:chOff x="0" y="0"/>
          <a:chExt cx="0" cy="0"/>
        </a:xfrm>
      </p:grpSpPr>
      <p:sp>
        <p:nvSpPr>
          <p:cNvPr id="255" name="Google Shape;255;p19"/>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Acceleration cells emphasize rapid airflow onset</a:t>
            </a:r>
            <a:endParaRPr sz="1800">
              <a:solidFill>
                <a:schemeClr val="dk1"/>
              </a:solidFill>
              <a:latin typeface="Calibri"/>
              <a:ea typeface="Calibri"/>
              <a:cs typeface="Calibri"/>
              <a:sym typeface="Calibri"/>
            </a:endParaRPr>
          </a:p>
        </p:txBody>
      </p:sp>
      <p:sp>
        <p:nvSpPr>
          <p:cNvPr id="256" name="Google Shape;256;p19"/>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Camhi tested acceleration-sensitive interneurons by increasing wind from rest to the same final speed over different time intervals. </a:t>
            </a:r>
            <a:r>
              <a:rPr b="1" i="0" lang="en-US" sz="1425">
                <a:solidFill>
                  <a:srgbClr val="292329"/>
                </a:solidFill>
                <a:latin typeface="Arial"/>
                <a:ea typeface="Arial"/>
                <a:cs typeface="Arial"/>
                <a:sym typeface="Arial"/>
              </a:rPr>
              <a:t>Acceleration</a:t>
            </a:r>
            <a:r>
              <a:rPr b="0" i="0" lang="en-US" sz="1425">
                <a:solidFill>
                  <a:srgbClr val="292329"/>
                </a:solidFill>
                <a:latin typeface="Arial"/>
                <a:ea typeface="Arial"/>
                <a:cs typeface="Arial"/>
                <a:sym typeface="Arial"/>
              </a:rPr>
              <a:t> is the rate of change of velocity. Fixing the final speed distinguished sensitivity to onset dynamics from sensitivity to maintained speed.</a:t>
            </a:r>
            <a:endParaRPr sz="1800">
              <a:solidFill>
                <a:schemeClr val="dk1"/>
              </a:solidFill>
              <a:latin typeface="Calibri"/>
              <a:ea typeface="Calibri"/>
              <a:cs typeface="Calibri"/>
              <a:sym typeface="Calibri"/>
            </a:endParaRPr>
          </a:p>
        </p:txBody>
      </p:sp>
      <p:sp>
        <p:nvSpPr>
          <p:cNvPr id="257" name="Google Shape;257;p19"/>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These cells responded only when wind reached approximately 1–1.5 m/s or more. Faster acceleration toward 4.5 m/s produced shorter initial interspike intervals and a more vigorous burst. Directional tuning was broad, and even sizable angular pivots of an existing wind jet could fail to evoke activity.</a:t>
            </a:r>
            <a:endParaRPr sz="1800">
              <a:solidFill>
                <a:schemeClr val="dk1"/>
              </a:solidFill>
              <a:latin typeface="Calibri"/>
              <a:ea typeface="Calibri"/>
              <a:cs typeface="Calibri"/>
              <a:sym typeface="Calibri"/>
            </a:endParaRPr>
          </a:p>
        </p:txBody>
      </p:sp>
      <p:sp>
        <p:nvSpPr>
          <p:cNvPr id="258" name="Google Shape;258;p19"/>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Their response therefore differs from both sustained wind-indication and directional recentring. It is consistent with a transient signal about airflow onset. Wind accelerations of 100–600 m/s² released flight in the reflex tests, so the stimuli that start flight are those that drive these cells most strongly.</a:t>
            </a:r>
            <a:endParaRPr sz="1800">
              <a:solidFill>
                <a:schemeClr val="dk1"/>
              </a:solidFill>
              <a:latin typeface="Calibri"/>
              <a:ea typeface="Calibri"/>
              <a:cs typeface="Calibri"/>
              <a:sym typeface="Calibri"/>
            </a:endParaRPr>
          </a:p>
        </p:txBody>
      </p:sp>
      <p:pic>
        <p:nvPicPr>
          <p:cNvPr id="259" name="Google Shape;259;p19"/>
          <p:cNvPicPr preferRelativeResize="0"/>
          <p:nvPr/>
        </p:nvPicPr>
        <p:blipFill rotWithShape="1">
          <a:blip r:embed="rId3">
            <a:alphaModFix/>
          </a:blip>
          <a:srcRect b="0" l="0" r="0" t="0"/>
          <a:stretch/>
        </p:blipFill>
        <p:spPr>
          <a:xfrm>
            <a:off x="6992389" y="1063377"/>
            <a:ext cx="4227022" cy="2152650"/>
          </a:xfrm>
          <a:prstGeom prst="rect">
            <a:avLst/>
          </a:prstGeom>
          <a:noFill/>
          <a:ln>
            <a:noFill/>
          </a:ln>
        </p:spPr>
      </p:pic>
      <p:sp>
        <p:nvSpPr>
          <p:cNvPr id="260" name="Google Shape;260;p19"/>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10. Interspike intervals as wind acceleration duration changes.</a:t>
            </a:r>
            <a:endParaRPr sz="1800">
              <a:solidFill>
                <a:schemeClr val="dk1"/>
              </a:solidFill>
              <a:latin typeface="Calibri"/>
              <a:ea typeface="Calibri"/>
              <a:cs typeface="Calibri"/>
              <a:sym typeface="Calibri"/>
            </a:endParaRPr>
          </a:p>
        </p:txBody>
      </p:sp>
      <p:pic>
        <p:nvPicPr>
          <p:cNvPr id="261" name="Google Shape;261;p19"/>
          <p:cNvPicPr preferRelativeResize="0"/>
          <p:nvPr/>
        </p:nvPicPr>
        <p:blipFill rotWithShape="1">
          <a:blip r:embed="rId4">
            <a:alphaModFix/>
          </a:blip>
          <a:srcRect b="0" l="0" r="0" t="0"/>
          <a:stretch/>
        </p:blipFill>
        <p:spPr>
          <a:xfrm>
            <a:off x="8065401" y="3589883"/>
            <a:ext cx="2080999" cy="1847850"/>
          </a:xfrm>
          <a:prstGeom prst="rect">
            <a:avLst/>
          </a:prstGeom>
          <a:noFill/>
          <a:ln>
            <a:noFill/>
          </a:ln>
        </p:spPr>
      </p:pic>
      <p:sp>
        <p:nvSpPr>
          <p:cNvPr id="262" name="Google Shape;262;p19"/>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7. Head-hair sensory array supplying wind information.</a:t>
            </a:r>
            <a:endParaRPr sz="1800">
              <a:solidFill>
                <a:schemeClr val="dk1"/>
              </a:solidFill>
              <a:latin typeface="Calibri"/>
              <a:ea typeface="Calibri"/>
              <a:cs typeface="Calibri"/>
              <a:sym typeface="Calibri"/>
            </a:endParaRPr>
          </a:p>
        </p:txBody>
      </p:sp>
      <p:sp>
        <p:nvSpPr>
          <p:cNvPr id="263" name="Google Shape;263;p19"/>
          <p:cNvSpPr/>
          <p:nvPr/>
        </p:nvSpPr>
        <p:spPr>
          <a:xfrm>
            <a:off x="457200" y="6496050"/>
            <a:ext cx="1620292"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(1969b); Camhi (1969a)</a:t>
            </a:r>
            <a:endParaRPr sz="1800">
              <a:solidFill>
                <a:schemeClr val="dk1"/>
              </a:solidFill>
              <a:latin typeface="Calibri"/>
              <a:ea typeface="Calibri"/>
              <a:cs typeface="Calibri"/>
              <a:sym typeface="Calibri"/>
            </a:endParaRPr>
          </a:p>
        </p:txBody>
      </p:sp>
      <p:sp>
        <p:nvSpPr>
          <p:cNvPr id="264" name="Google Shape;264;p19"/>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15</a:t>
            </a:r>
            <a:endParaRPr sz="18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20"/>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Fast adaptation makes cells report airflow change</a:t>
            </a:r>
            <a:endParaRPr sz="1800">
              <a:solidFill>
                <a:schemeClr val="dk1"/>
              </a:solidFill>
              <a:latin typeface="Calibri"/>
              <a:ea typeface="Calibri"/>
              <a:cs typeface="Calibri"/>
              <a:sym typeface="Calibri"/>
            </a:endParaRPr>
          </a:p>
        </p:txBody>
      </p:sp>
      <p:sp>
        <p:nvSpPr>
          <p:cNvPr id="270" name="Google Shape;270;p20"/>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a:t>
            </a:r>
            <a:r>
              <a:rPr b="1" i="0" lang="en-US" sz="1425">
                <a:solidFill>
                  <a:srgbClr val="292329"/>
                </a:solidFill>
                <a:latin typeface="Arial"/>
                <a:ea typeface="Arial"/>
                <a:cs typeface="Arial"/>
                <a:sym typeface="Arial"/>
              </a:rPr>
              <a:t>change detector</a:t>
            </a:r>
            <a:r>
              <a:rPr b="0" i="0" lang="en-US" sz="1425">
                <a:solidFill>
                  <a:srgbClr val="292329"/>
                </a:solidFill>
                <a:latin typeface="Arial"/>
                <a:ea typeface="Arial"/>
                <a:cs typeface="Arial"/>
                <a:sym typeface="Arial"/>
              </a:rPr>
              <a:t> signals when a stimulus varies rather than its steady value. An interneuron that adapts within a fraction of a second fires briefly after a rise in its input and then falls quiet, so only fast transitions drive it strongly; a slow ramp allows adaptation to keep pace and evokes little firing.</a:t>
            </a:r>
            <a:endParaRPr sz="1800">
              <a:solidFill>
                <a:schemeClr val="dk1"/>
              </a:solidFill>
              <a:latin typeface="Calibri"/>
              <a:ea typeface="Calibri"/>
              <a:cs typeface="Calibri"/>
              <a:sym typeface="Calibri"/>
            </a:endParaRPr>
          </a:p>
        </p:txBody>
      </p:sp>
      <p:sp>
        <p:nvSpPr>
          <p:cNvPr id="271" name="Google Shape;271;p20"/>
          <p:cNvSpPr/>
          <p:nvPr/>
        </p:nvSpPr>
        <p:spPr>
          <a:xfrm>
            <a:off x="457200" y="2669292"/>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Recentre and acceleration cells both behave this way, which accounts for short pivots and brief accelerations working best. They differ in which change they read: recentre cells need a shift in angle from one side, while acceleration cells need a rise in speed and largely ignore angle.</a:t>
            </a:r>
            <a:endParaRPr sz="1800">
              <a:solidFill>
                <a:schemeClr val="dk1"/>
              </a:solidFill>
              <a:latin typeface="Calibri"/>
              <a:ea typeface="Calibri"/>
              <a:cs typeface="Calibri"/>
              <a:sym typeface="Calibri"/>
            </a:endParaRPr>
          </a:p>
        </p:txBody>
      </p:sp>
      <p:sp>
        <p:nvSpPr>
          <p:cNvPr id="272" name="Google Shape;272;p20"/>
          <p:cNvSpPr/>
          <p:nvPr/>
        </p:nvSpPr>
        <p:spPr>
          <a:xfrm>
            <a:off x="457200" y="427520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Change detectors can also be read faster than rate-coded cells. A cell firing steadily needs several spikes before a change in its rate stands out, whereas a quiet change detector signals with its first spike, and its first interspike interval already grades how fast the airflow changed.</a:t>
            </a:r>
            <a:endParaRPr sz="1800">
              <a:solidFill>
                <a:schemeClr val="dk1"/>
              </a:solidFill>
              <a:latin typeface="Calibri"/>
              <a:ea typeface="Calibri"/>
              <a:cs typeface="Calibri"/>
              <a:sym typeface="Calibri"/>
            </a:endParaRPr>
          </a:p>
        </p:txBody>
      </p:sp>
      <p:pic>
        <p:nvPicPr>
          <p:cNvPr id="273" name="Google Shape;273;p20"/>
          <p:cNvPicPr preferRelativeResize="0"/>
          <p:nvPr/>
        </p:nvPicPr>
        <p:blipFill rotWithShape="1">
          <a:blip r:embed="rId3">
            <a:alphaModFix/>
          </a:blip>
          <a:srcRect b="0" l="0" r="0" t="0"/>
          <a:stretch/>
        </p:blipFill>
        <p:spPr>
          <a:xfrm>
            <a:off x="6799790" y="1063377"/>
            <a:ext cx="4612221" cy="2152650"/>
          </a:xfrm>
          <a:prstGeom prst="rect">
            <a:avLst/>
          </a:prstGeom>
          <a:noFill/>
          <a:ln>
            <a:noFill/>
          </a:ln>
        </p:spPr>
      </p:pic>
      <p:sp>
        <p:nvSpPr>
          <p:cNvPr id="274" name="Google Shape;274;p20"/>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6. Responses to wind-angle shifts toward and away from center.</a:t>
            </a:r>
            <a:endParaRPr sz="1800">
              <a:solidFill>
                <a:schemeClr val="dk1"/>
              </a:solidFill>
              <a:latin typeface="Calibri"/>
              <a:ea typeface="Calibri"/>
              <a:cs typeface="Calibri"/>
              <a:sym typeface="Calibri"/>
            </a:endParaRPr>
          </a:p>
        </p:txBody>
      </p:sp>
      <p:pic>
        <p:nvPicPr>
          <p:cNvPr id="275" name="Google Shape;275;p20"/>
          <p:cNvPicPr preferRelativeResize="0"/>
          <p:nvPr/>
        </p:nvPicPr>
        <p:blipFill rotWithShape="1">
          <a:blip r:embed="rId4">
            <a:alphaModFix/>
          </a:blip>
          <a:srcRect b="0" l="0" r="0" t="0"/>
          <a:stretch/>
        </p:blipFill>
        <p:spPr>
          <a:xfrm>
            <a:off x="7877869" y="3589883"/>
            <a:ext cx="2456062" cy="1847850"/>
          </a:xfrm>
          <a:prstGeom prst="rect">
            <a:avLst/>
          </a:prstGeom>
          <a:noFill/>
          <a:ln>
            <a:noFill/>
          </a:ln>
        </p:spPr>
      </p:pic>
      <p:sp>
        <p:nvSpPr>
          <p:cNvPr id="276" name="Google Shape;276;p20"/>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Camhi (1969), Fig. 8. Pivot duration versus the first interspike intervals.</a:t>
            </a:r>
            <a:endParaRPr sz="1800">
              <a:solidFill>
                <a:schemeClr val="dk1"/>
              </a:solidFill>
              <a:latin typeface="Calibri"/>
              <a:ea typeface="Calibri"/>
              <a:cs typeface="Calibri"/>
              <a:sym typeface="Calibri"/>
            </a:endParaRPr>
          </a:p>
        </p:txBody>
      </p:sp>
      <p:sp>
        <p:nvSpPr>
          <p:cNvPr id="277" name="Google Shape;277;p20"/>
          <p:cNvSpPr/>
          <p:nvPr/>
        </p:nvSpPr>
        <p:spPr>
          <a:xfrm>
            <a:off x="457200" y="6496050"/>
            <a:ext cx="85750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Camhi (1969b)</a:t>
            </a:r>
            <a:endParaRPr sz="1800">
              <a:solidFill>
                <a:schemeClr val="dk1"/>
              </a:solidFill>
              <a:latin typeface="Calibri"/>
              <a:ea typeface="Calibri"/>
              <a:cs typeface="Calibri"/>
              <a:sym typeface="Calibri"/>
            </a:endParaRPr>
          </a:p>
        </p:txBody>
      </p:sp>
      <p:sp>
        <p:nvSpPr>
          <p:cNvPr id="278" name="Google Shape;278;p20"/>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15a</a:t>
            </a:r>
            <a:endParaRPr sz="18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2" name="Shape 282"/>
        <p:cNvGrpSpPr/>
        <p:nvPr/>
      </p:nvGrpSpPr>
      <p:grpSpPr>
        <a:xfrm>
          <a:off x="0" y="0"/>
          <a:ext cx="0" cy="0"/>
          <a:chOff x="0" y="0"/>
          <a:chExt cx="0" cy="0"/>
        </a:xfrm>
      </p:grpSpPr>
      <p:sp>
        <p:nvSpPr>
          <p:cNvPr id="283" name="Google Shape;283;p21"/>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Flight-like alternation survives loss of wing feedback</a:t>
            </a:r>
            <a:endParaRPr sz="1800">
              <a:solidFill>
                <a:schemeClr val="dk1"/>
              </a:solidFill>
              <a:latin typeface="Calibri"/>
              <a:ea typeface="Calibri"/>
              <a:cs typeface="Calibri"/>
              <a:sym typeface="Calibri"/>
            </a:endParaRPr>
          </a:p>
        </p:txBody>
      </p:sp>
      <p:sp>
        <p:nvSpPr>
          <p:cNvPr id="284" name="Google Shape;284;p21"/>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a:t>
            </a:r>
            <a:r>
              <a:rPr b="1" i="0" lang="en-US" sz="1425">
                <a:solidFill>
                  <a:srgbClr val="292329"/>
                </a:solidFill>
                <a:latin typeface="Arial"/>
                <a:ea typeface="Arial"/>
                <a:cs typeface="Arial"/>
                <a:sym typeface="Arial"/>
              </a:rPr>
              <a:t>central pattern generator</a:t>
            </a:r>
            <a:r>
              <a:rPr b="0" i="0" lang="en-US" sz="1425">
                <a:solidFill>
                  <a:srgbClr val="292329"/>
                </a:solidFill>
                <a:latin typeface="Arial"/>
                <a:ea typeface="Arial"/>
                <a:cs typeface="Arial"/>
                <a:sym typeface="Arial"/>
              </a:rPr>
              <a:t>, or CPG, can generate rhythmic patterned output without requiring rhythmic sensory input. Wilson progressively removed wings, cut wing sensory nerves, and reduced the preparation to the head and thoracic nervous system, with limited remaining body structures.</a:t>
            </a:r>
            <a:endParaRPr sz="1800">
              <a:solidFill>
                <a:schemeClr val="dk1"/>
              </a:solidFill>
              <a:latin typeface="Calibri"/>
              <a:ea typeface="Calibri"/>
              <a:cs typeface="Calibri"/>
              <a:sym typeface="Calibri"/>
            </a:endParaRPr>
          </a:p>
        </p:txBody>
      </p:sp>
      <p:sp>
        <p:nvSpPr>
          <p:cNvPr id="285" name="Google Shape;285;p21"/>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Continuous wind at the head still elicited alternating elevator and depressor activity. Reduced preparations produced approximately 4–12 cycles/s, often near 7 cycles/s. Elevator-to-depressor delays remained around 30–40 ms in well-preserved preparations, despite the slower overall rhythm.</a:t>
            </a:r>
            <a:endParaRPr sz="1800">
              <a:solidFill>
                <a:schemeClr val="dk1"/>
              </a:solidFill>
              <a:latin typeface="Calibri"/>
              <a:ea typeface="Calibri"/>
              <a:cs typeface="Calibri"/>
              <a:sym typeface="Calibri"/>
            </a:endParaRPr>
          </a:p>
        </p:txBody>
      </p:sp>
      <p:sp>
        <p:nvSpPr>
          <p:cNvPr id="286" name="Google Shape;286;p21"/>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Wing movement and its feedback were therefore unnecessary for the basic alternation. The thoracic ganglia hold a network whose own connections time elevator and depressor bursts, and identified interneurons such as 301 and 501 belong to it. Continuous sensory excitation from the head supplied activation.</a:t>
            </a:r>
            <a:endParaRPr sz="1800">
              <a:solidFill>
                <a:schemeClr val="dk1"/>
              </a:solidFill>
              <a:latin typeface="Calibri"/>
              <a:ea typeface="Calibri"/>
              <a:cs typeface="Calibri"/>
              <a:sym typeface="Calibri"/>
            </a:endParaRPr>
          </a:p>
        </p:txBody>
      </p:sp>
      <p:pic>
        <p:nvPicPr>
          <p:cNvPr id="287" name="Google Shape;287;p21"/>
          <p:cNvPicPr preferRelativeResize="0"/>
          <p:nvPr/>
        </p:nvPicPr>
        <p:blipFill rotWithShape="1">
          <a:blip r:embed="rId3">
            <a:alphaModFix/>
          </a:blip>
          <a:srcRect b="0" l="0" r="0" t="0"/>
          <a:stretch/>
        </p:blipFill>
        <p:spPr>
          <a:xfrm>
            <a:off x="7375525" y="1063377"/>
            <a:ext cx="3460750" cy="2152650"/>
          </a:xfrm>
          <a:prstGeom prst="rect">
            <a:avLst/>
          </a:prstGeom>
          <a:noFill/>
          <a:ln>
            <a:noFill/>
          </a:ln>
        </p:spPr>
      </p:pic>
      <p:sp>
        <p:nvSpPr>
          <p:cNvPr id="288" name="Google Shape;288;p21"/>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Wilson (1961), Fig. 6. Elevator and depressor activity after severe sensory reduction.</a:t>
            </a:r>
            <a:endParaRPr sz="1800">
              <a:solidFill>
                <a:schemeClr val="dk1"/>
              </a:solidFill>
              <a:latin typeface="Calibri"/>
              <a:ea typeface="Calibri"/>
              <a:cs typeface="Calibri"/>
              <a:sym typeface="Calibri"/>
            </a:endParaRPr>
          </a:p>
        </p:txBody>
      </p:sp>
      <p:pic>
        <p:nvPicPr>
          <p:cNvPr id="289" name="Google Shape;289;p21"/>
          <p:cNvPicPr preferRelativeResize="0"/>
          <p:nvPr/>
        </p:nvPicPr>
        <p:blipFill rotWithShape="1">
          <a:blip r:embed="rId4">
            <a:alphaModFix/>
          </a:blip>
          <a:srcRect b="0" l="0" r="0" t="0"/>
          <a:stretch/>
        </p:blipFill>
        <p:spPr>
          <a:xfrm>
            <a:off x="7718374" y="3589883"/>
            <a:ext cx="2775051" cy="1847850"/>
          </a:xfrm>
          <a:prstGeom prst="rect">
            <a:avLst/>
          </a:prstGeom>
          <a:noFill/>
          <a:ln>
            <a:noFill/>
          </a:ln>
        </p:spPr>
      </p:pic>
      <p:sp>
        <p:nvSpPr>
          <p:cNvPr id="290" name="Google Shape;290;p21"/>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Wilson (1961), Fig. 1. Published dissection identifies ganglia, nerves and muscles.</a:t>
            </a:r>
            <a:endParaRPr sz="1800">
              <a:solidFill>
                <a:schemeClr val="dk1"/>
              </a:solidFill>
              <a:latin typeface="Calibri"/>
              <a:ea typeface="Calibri"/>
              <a:cs typeface="Calibri"/>
              <a:sym typeface="Calibri"/>
            </a:endParaRPr>
          </a:p>
        </p:txBody>
      </p:sp>
      <p:sp>
        <p:nvSpPr>
          <p:cNvPr id="291" name="Google Shape;291;p21"/>
          <p:cNvSpPr/>
          <p:nvPr/>
        </p:nvSpPr>
        <p:spPr>
          <a:xfrm>
            <a:off x="457200" y="6496050"/>
            <a:ext cx="738783"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Wilson (1961)</a:t>
            </a:r>
            <a:endParaRPr sz="1800">
              <a:solidFill>
                <a:schemeClr val="dk1"/>
              </a:solidFill>
              <a:latin typeface="Calibri"/>
              <a:ea typeface="Calibri"/>
              <a:cs typeface="Calibri"/>
              <a:sym typeface="Calibri"/>
            </a:endParaRPr>
          </a:p>
        </p:txBody>
      </p:sp>
      <p:sp>
        <p:nvSpPr>
          <p:cNvPr id="292" name="Google Shape;292;p21"/>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16</a:t>
            </a:r>
            <a:endParaRPr sz="1800">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6" name="Shape 296"/>
        <p:cNvGrpSpPr/>
        <p:nvPr/>
      </p:nvGrpSpPr>
      <p:grpSpPr>
        <a:xfrm>
          <a:off x="0" y="0"/>
          <a:ext cx="0" cy="0"/>
          <a:chOff x="0" y="0"/>
          <a:chExt cx="0" cy="0"/>
        </a:xfrm>
      </p:grpSpPr>
      <p:sp>
        <p:nvSpPr>
          <p:cNvPr id="297" name="Google Shape;297;p22"/>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Thoracic motor axons burst without flight muscles</a:t>
            </a:r>
            <a:endParaRPr sz="1800">
              <a:solidFill>
                <a:schemeClr val="dk1"/>
              </a:solidFill>
              <a:latin typeface="Calibri"/>
              <a:ea typeface="Calibri"/>
              <a:cs typeface="Calibri"/>
              <a:sym typeface="Calibri"/>
            </a:endParaRPr>
          </a:p>
        </p:txBody>
      </p:sp>
      <p:sp>
        <p:nvSpPr>
          <p:cNvPr id="298" name="Google Shape;298;p22"/>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Wilson recorded from motor nerves in preparations lacking thoracic muscles and the abdomen. A </a:t>
            </a:r>
            <a:r>
              <a:rPr b="1" i="0" lang="en-US" sz="1425">
                <a:solidFill>
                  <a:srgbClr val="292329"/>
                </a:solidFill>
                <a:latin typeface="Arial"/>
                <a:ea typeface="Arial"/>
                <a:cs typeface="Arial"/>
                <a:sym typeface="Arial"/>
              </a:rPr>
              <a:t>motor axon</a:t>
            </a:r>
            <a:r>
              <a:rPr b="0" i="0" lang="en-US" sz="1425">
                <a:solidFill>
                  <a:srgbClr val="292329"/>
                </a:solidFill>
                <a:latin typeface="Arial"/>
                <a:ea typeface="Arial"/>
                <a:cs typeface="Arial"/>
                <a:sym typeface="Arial"/>
              </a:rPr>
              <a:t> carries the neural output toward muscle; recording its central stump tests whether rhythmic drive is produced before muscle contraction occurs.</a:t>
            </a:r>
            <a:endParaRPr sz="1800">
              <a:solidFill>
                <a:schemeClr val="dk1"/>
              </a:solidFill>
              <a:latin typeface="Calibri"/>
              <a:ea typeface="Calibri"/>
              <a:cs typeface="Calibri"/>
              <a:sym typeface="Calibri"/>
            </a:endParaRPr>
          </a:p>
        </p:txBody>
      </p:sp>
      <p:sp>
        <p:nvSpPr>
          <p:cNvPr id="299" name="Google Shape;299;p22"/>
          <p:cNvSpPr/>
          <p:nvPr/>
        </p:nvSpPr>
        <p:spPr>
          <a:xfrm>
            <a:off x="457200" y="2391073"/>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Small bursts of spikes repeated at approximately 4–10 cycles/s. Activity in the two wing-related segments was often nearly synchronous or separated by a few milliseconds, though timing could drift over long periods. Some preparations had an irregular mesothoracic rhythm while metathoracic discharge remained orderly.</a:t>
            </a:r>
            <a:endParaRPr sz="1800">
              <a:solidFill>
                <a:schemeClr val="dk1"/>
              </a:solidFill>
              <a:latin typeface="Calibri"/>
              <a:ea typeface="Calibri"/>
              <a:cs typeface="Calibri"/>
              <a:sym typeface="Calibri"/>
            </a:endParaRPr>
          </a:p>
        </p:txBody>
      </p:sp>
      <p:sp>
        <p:nvSpPr>
          <p:cNvPr id="300" name="Google Shape;300;p22"/>
          <p:cNvSpPr/>
          <p:nvPr/>
        </p:nvSpPr>
        <p:spPr>
          <a:xfrm>
            <a:off x="457200" y="395763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Rhythm without attached flight muscles excludes a muscle-driven reflex chain as the sole origin of the recorded bursts. An orderly metathoracic rhythm beside an irregular mesothoracic one suggests that each segment’s circuitry can oscillate partly on its own, with intersegmental coupling holding them in step.</a:t>
            </a:r>
            <a:endParaRPr sz="1800">
              <a:solidFill>
                <a:schemeClr val="dk1"/>
              </a:solidFill>
              <a:latin typeface="Calibri"/>
              <a:ea typeface="Calibri"/>
              <a:cs typeface="Calibri"/>
              <a:sym typeface="Calibri"/>
            </a:endParaRPr>
          </a:p>
        </p:txBody>
      </p:sp>
      <p:pic>
        <p:nvPicPr>
          <p:cNvPr id="301" name="Google Shape;301;p22"/>
          <p:cNvPicPr preferRelativeResize="0"/>
          <p:nvPr/>
        </p:nvPicPr>
        <p:blipFill rotWithShape="1">
          <a:blip r:embed="rId3">
            <a:alphaModFix/>
          </a:blip>
          <a:srcRect b="0" l="0" r="0" t="0"/>
          <a:stretch/>
        </p:blipFill>
        <p:spPr>
          <a:xfrm>
            <a:off x="6918985" y="1063377"/>
            <a:ext cx="4373830" cy="2152650"/>
          </a:xfrm>
          <a:prstGeom prst="rect">
            <a:avLst/>
          </a:prstGeom>
          <a:noFill/>
          <a:ln>
            <a:noFill/>
          </a:ln>
        </p:spPr>
      </p:pic>
      <p:sp>
        <p:nvSpPr>
          <p:cNvPr id="302" name="Google Shape;302;p22"/>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Wilson (1961), Fig. 7. Motor-nerve discharge in a muscle-free reduced preparation.</a:t>
            </a:r>
            <a:endParaRPr sz="1800">
              <a:solidFill>
                <a:schemeClr val="dk1"/>
              </a:solidFill>
              <a:latin typeface="Calibri"/>
              <a:ea typeface="Calibri"/>
              <a:cs typeface="Calibri"/>
              <a:sym typeface="Calibri"/>
            </a:endParaRPr>
          </a:p>
        </p:txBody>
      </p:sp>
      <p:pic>
        <p:nvPicPr>
          <p:cNvPr id="303" name="Google Shape;303;p22"/>
          <p:cNvPicPr preferRelativeResize="0"/>
          <p:nvPr/>
        </p:nvPicPr>
        <p:blipFill rotWithShape="1">
          <a:blip r:embed="rId4">
            <a:alphaModFix/>
          </a:blip>
          <a:srcRect b="0" l="0" r="0" t="0"/>
          <a:stretch/>
        </p:blipFill>
        <p:spPr>
          <a:xfrm>
            <a:off x="7718374" y="3589883"/>
            <a:ext cx="2775051" cy="1847850"/>
          </a:xfrm>
          <a:prstGeom prst="rect">
            <a:avLst/>
          </a:prstGeom>
          <a:noFill/>
          <a:ln>
            <a:noFill/>
          </a:ln>
        </p:spPr>
      </p:pic>
      <p:sp>
        <p:nvSpPr>
          <p:cNvPr id="304" name="Google Shape;304;p22"/>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Wilson (1961), Fig. 1. Published dissection identifies ganglia, nerves and muscles.</a:t>
            </a:r>
            <a:endParaRPr sz="1800">
              <a:solidFill>
                <a:schemeClr val="dk1"/>
              </a:solidFill>
              <a:latin typeface="Calibri"/>
              <a:ea typeface="Calibri"/>
              <a:cs typeface="Calibri"/>
              <a:sym typeface="Calibri"/>
            </a:endParaRPr>
          </a:p>
        </p:txBody>
      </p:sp>
      <p:sp>
        <p:nvSpPr>
          <p:cNvPr id="305" name="Google Shape;305;p22"/>
          <p:cNvSpPr/>
          <p:nvPr/>
        </p:nvSpPr>
        <p:spPr>
          <a:xfrm>
            <a:off x="457200" y="6496050"/>
            <a:ext cx="738783"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Wilson (1961)</a:t>
            </a:r>
            <a:endParaRPr sz="1800">
              <a:solidFill>
                <a:schemeClr val="dk1"/>
              </a:solidFill>
              <a:latin typeface="Calibri"/>
              <a:ea typeface="Calibri"/>
              <a:cs typeface="Calibri"/>
              <a:sym typeface="Calibri"/>
            </a:endParaRPr>
          </a:p>
        </p:txBody>
      </p:sp>
      <p:sp>
        <p:nvSpPr>
          <p:cNvPr id="306" name="Google Shape;306;p22"/>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17</a:t>
            </a:r>
            <a:endParaRPr sz="1800">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0" name="Shape 310"/>
        <p:cNvGrpSpPr/>
        <p:nvPr/>
      </p:nvGrpSpPr>
      <p:grpSpPr>
        <a:xfrm>
          <a:off x="0" y="0"/>
          <a:ext cx="0" cy="0"/>
          <a:chOff x="0" y="0"/>
          <a:chExt cx="0" cy="0"/>
        </a:xfrm>
      </p:grpSpPr>
      <p:sp>
        <p:nvSpPr>
          <p:cNvPr id="311" name="Google Shape;311;p23"/>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Unpatterned excitation can release patterned output</a:t>
            </a:r>
            <a:endParaRPr sz="1800">
              <a:solidFill>
                <a:schemeClr val="dk1"/>
              </a:solidFill>
              <a:latin typeface="Calibri"/>
              <a:ea typeface="Calibri"/>
              <a:cs typeface="Calibri"/>
              <a:sym typeface="Calibri"/>
            </a:endParaRPr>
          </a:p>
        </p:txBody>
      </p:sp>
      <p:sp>
        <p:nvSpPr>
          <p:cNvPr id="312" name="Google Shape;312;p23"/>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Wilson stimulated the anterior thoracic cord electrically while recording flight muscle responses in reduced preparations. A </a:t>
            </a:r>
            <a:r>
              <a:rPr b="1" i="0" lang="en-US" sz="1425">
                <a:solidFill>
                  <a:srgbClr val="292329"/>
                </a:solidFill>
                <a:latin typeface="Arial"/>
                <a:ea typeface="Arial"/>
                <a:cs typeface="Arial"/>
                <a:sym typeface="Arial"/>
              </a:rPr>
              <a:t>tonic drive</a:t>
            </a:r>
            <a:r>
              <a:rPr b="0" i="0" lang="en-US" sz="1425">
                <a:solidFill>
                  <a:srgbClr val="292329"/>
                </a:solidFill>
                <a:latin typeface="Arial"/>
                <a:ea typeface="Arial"/>
                <a:cs typeface="Arial"/>
                <a:sym typeface="Arial"/>
              </a:rPr>
              <a:t> is sustained excitation that need not repeat at the same rhythm as the motor output. Stimulation frequency and output frequency were varied independently.</a:t>
            </a:r>
            <a:endParaRPr sz="1800">
              <a:solidFill>
                <a:schemeClr val="dk1"/>
              </a:solidFill>
              <a:latin typeface="Calibri"/>
              <a:ea typeface="Calibri"/>
              <a:cs typeface="Calibri"/>
              <a:sym typeface="Calibri"/>
            </a:endParaRPr>
          </a:p>
        </p:txBody>
      </p:sp>
      <p:sp>
        <p:nvSpPr>
          <p:cNvPr id="313" name="Google Shape;313;p23"/>
          <p:cNvSpPr/>
          <p:nvPr/>
        </p:nvSpPr>
        <p:spPr>
          <a:xfrm>
            <a:off x="457200" y="2391073"/>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Repeated stimulation could recruit alternating groups of motor activity instead of a simple one-for-one muscle response. At slower stimulation rates, some units followed the stimulus directly; at higher rates, the circuit produced a rhythm with its own changing frequency. The response depended on the recruited pathways and preparation state.</a:t>
            </a:r>
            <a:endParaRPr sz="1800">
              <a:solidFill>
                <a:schemeClr val="dk1"/>
              </a:solidFill>
              <a:latin typeface="Calibri"/>
              <a:ea typeface="Calibri"/>
              <a:cs typeface="Calibri"/>
              <a:sym typeface="Calibri"/>
            </a:endParaRPr>
          </a:p>
        </p:txBody>
      </p:sp>
      <p:sp>
        <p:nvSpPr>
          <p:cNvPr id="314" name="Google Shape;314;p23"/>
          <p:cNvSpPr/>
          <p:nvPr/>
        </p:nvSpPr>
        <p:spPr>
          <a:xfrm>
            <a:off x="457200" y="395763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Central circuitry can therefore transform continuing excitation into patterned alternation, arising from network interactions rather than one dedicated pacemaker neuron. Natural activation works the same way: tonic wind drive and steady 404 discharge release a rhythm whose frequency the circuit sets.</a:t>
            </a:r>
            <a:endParaRPr sz="1800">
              <a:solidFill>
                <a:schemeClr val="dk1"/>
              </a:solidFill>
              <a:latin typeface="Calibri"/>
              <a:ea typeface="Calibri"/>
              <a:cs typeface="Calibri"/>
              <a:sym typeface="Calibri"/>
            </a:endParaRPr>
          </a:p>
        </p:txBody>
      </p:sp>
      <p:pic>
        <p:nvPicPr>
          <p:cNvPr id="315" name="Google Shape;315;p23"/>
          <p:cNvPicPr preferRelativeResize="0"/>
          <p:nvPr/>
        </p:nvPicPr>
        <p:blipFill rotWithShape="1">
          <a:blip r:embed="rId3">
            <a:alphaModFix/>
          </a:blip>
          <a:srcRect b="0" l="0" r="0" t="0"/>
          <a:stretch/>
        </p:blipFill>
        <p:spPr>
          <a:xfrm>
            <a:off x="7502395" y="1063377"/>
            <a:ext cx="3207009" cy="2152650"/>
          </a:xfrm>
          <a:prstGeom prst="rect">
            <a:avLst/>
          </a:prstGeom>
          <a:noFill/>
          <a:ln>
            <a:noFill/>
          </a:ln>
        </p:spPr>
      </p:pic>
      <p:sp>
        <p:nvSpPr>
          <p:cNvPr id="316" name="Google Shape;316;p23"/>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Wilson (1961), Fig. 8. Motor-unit responses to electrical stimulation of the cord.</a:t>
            </a:r>
            <a:endParaRPr sz="1800">
              <a:solidFill>
                <a:schemeClr val="dk1"/>
              </a:solidFill>
              <a:latin typeface="Calibri"/>
              <a:ea typeface="Calibri"/>
              <a:cs typeface="Calibri"/>
              <a:sym typeface="Calibri"/>
            </a:endParaRPr>
          </a:p>
        </p:txBody>
      </p:sp>
      <p:pic>
        <p:nvPicPr>
          <p:cNvPr id="317" name="Google Shape;317;p23"/>
          <p:cNvPicPr preferRelativeResize="0"/>
          <p:nvPr/>
        </p:nvPicPr>
        <p:blipFill rotWithShape="1">
          <a:blip r:embed="rId4">
            <a:alphaModFix/>
          </a:blip>
          <a:srcRect b="0" l="0" r="0" t="0"/>
          <a:stretch/>
        </p:blipFill>
        <p:spPr>
          <a:xfrm>
            <a:off x="7718374" y="3589883"/>
            <a:ext cx="2775051" cy="1847850"/>
          </a:xfrm>
          <a:prstGeom prst="rect">
            <a:avLst/>
          </a:prstGeom>
          <a:noFill/>
          <a:ln>
            <a:noFill/>
          </a:ln>
        </p:spPr>
      </p:pic>
      <p:sp>
        <p:nvSpPr>
          <p:cNvPr id="318" name="Google Shape;318;p23"/>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Wilson (1961), Fig. 1. Published dissection identifies ganglia, nerves and muscles.</a:t>
            </a:r>
            <a:endParaRPr sz="1800">
              <a:solidFill>
                <a:schemeClr val="dk1"/>
              </a:solidFill>
              <a:latin typeface="Calibri"/>
              <a:ea typeface="Calibri"/>
              <a:cs typeface="Calibri"/>
              <a:sym typeface="Calibri"/>
            </a:endParaRPr>
          </a:p>
        </p:txBody>
      </p:sp>
      <p:sp>
        <p:nvSpPr>
          <p:cNvPr id="319" name="Google Shape;319;p23"/>
          <p:cNvSpPr/>
          <p:nvPr/>
        </p:nvSpPr>
        <p:spPr>
          <a:xfrm>
            <a:off x="457200" y="6496050"/>
            <a:ext cx="738783"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Wilson (1961)</a:t>
            </a:r>
            <a:endParaRPr sz="1800">
              <a:solidFill>
                <a:schemeClr val="dk1"/>
              </a:solidFill>
              <a:latin typeface="Calibri"/>
              <a:ea typeface="Calibri"/>
              <a:cs typeface="Calibri"/>
              <a:sym typeface="Calibri"/>
            </a:endParaRPr>
          </a:p>
        </p:txBody>
      </p:sp>
      <p:sp>
        <p:nvSpPr>
          <p:cNvPr id="320" name="Google Shape;320;p23"/>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18</a:t>
            </a:r>
            <a:endParaRPr sz="1800">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24"/>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Deafferentation rules out a chain-reflex rhythm</a:t>
            </a:r>
            <a:endParaRPr sz="1800">
              <a:solidFill>
                <a:schemeClr val="dk1"/>
              </a:solidFill>
              <a:latin typeface="Calibri"/>
              <a:ea typeface="Calibri"/>
              <a:cs typeface="Calibri"/>
              <a:sym typeface="Calibri"/>
            </a:endParaRPr>
          </a:p>
        </p:txBody>
      </p:sp>
      <p:sp>
        <p:nvSpPr>
          <p:cNvPr id="326" name="Google Shape;326;p24"/>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a:t>
            </a:r>
            <a:r>
              <a:rPr b="1" i="0" lang="en-US" sz="1425">
                <a:solidFill>
                  <a:srgbClr val="292329"/>
                </a:solidFill>
                <a:latin typeface="Arial"/>
                <a:ea typeface="Arial"/>
                <a:cs typeface="Arial"/>
                <a:sym typeface="Arial"/>
              </a:rPr>
              <a:t>chain reflex</a:t>
            </a:r>
            <a:r>
              <a:rPr b="0" i="0" lang="en-US" sz="1425">
                <a:solidFill>
                  <a:srgbClr val="292329"/>
                </a:solidFill>
                <a:latin typeface="Arial"/>
                <a:ea typeface="Arial"/>
                <a:cs typeface="Arial"/>
                <a:sym typeface="Arial"/>
              </a:rPr>
              <a:t> hypothesis holds that each wing movement stimulates sense organs whose signal triggers the opposite movement, so the rhythm exists only as a loop through the periphery. A central pattern generator instead times bursts within the nervous system itself.</a:t>
            </a:r>
            <a:endParaRPr sz="1800">
              <a:solidFill>
                <a:schemeClr val="dk1"/>
              </a:solidFill>
              <a:latin typeface="Calibri"/>
              <a:ea typeface="Calibri"/>
              <a:cs typeface="Calibri"/>
              <a:sym typeface="Calibri"/>
            </a:endParaRPr>
          </a:p>
        </p:txBody>
      </p:sp>
      <p:sp>
        <p:nvSpPr>
          <p:cNvPr id="327" name="Google Shape;327;p24"/>
          <p:cNvSpPr/>
          <p:nvPr/>
        </p:nvSpPr>
        <p:spPr>
          <a:xfrm>
            <a:off x="457200" y="2669292"/>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Each reduction removed one possible loop. Cutting wings and wing nerves removed phasic feedback, removing thoracic muscles removed any rhythm generated by contraction, and cord stimulation replaced wind with unpatterned drive. Alternation survived every step, which a chain reflex would forbid.</a:t>
            </a:r>
            <a:endParaRPr sz="1800">
              <a:solidFill>
                <a:schemeClr val="dk1"/>
              </a:solidFill>
              <a:latin typeface="Calibri"/>
              <a:ea typeface="Calibri"/>
              <a:cs typeface="Calibri"/>
              <a:sym typeface="Calibri"/>
            </a:endParaRPr>
          </a:p>
        </p:txBody>
      </p:sp>
      <p:sp>
        <p:nvSpPr>
          <p:cNvPr id="328" name="Google Shape;328;p24"/>
          <p:cNvSpPr/>
          <p:nvPr/>
        </p:nvSpPr>
        <p:spPr>
          <a:xfrm>
            <a:off x="457200" y="427520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reductions also measure what feedback adds. Without it the rhythm fell from about 17 to near 7 cycles/s while elevator-to-depressor delays held at 30–40 ms, so the lost time lies between successive bursts, the interval that tegula input near threshold later shortened.</a:t>
            </a:r>
            <a:endParaRPr sz="1800">
              <a:solidFill>
                <a:schemeClr val="dk1"/>
              </a:solidFill>
              <a:latin typeface="Calibri"/>
              <a:ea typeface="Calibri"/>
              <a:cs typeface="Calibri"/>
              <a:sym typeface="Calibri"/>
            </a:endParaRPr>
          </a:p>
        </p:txBody>
      </p:sp>
      <p:pic>
        <p:nvPicPr>
          <p:cNvPr id="329" name="Google Shape;329;p24"/>
          <p:cNvPicPr preferRelativeResize="0"/>
          <p:nvPr/>
        </p:nvPicPr>
        <p:blipFill rotWithShape="1">
          <a:blip r:embed="rId3">
            <a:alphaModFix/>
          </a:blip>
          <a:srcRect b="0" l="0" r="0" t="0"/>
          <a:stretch/>
        </p:blipFill>
        <p:spPr>
          <a:xfrm>
            <a:off x="7375525" y="1063377"/>
            <a:ext cx="3460750" cy="2152650"/>
          </a:xfrm>
          <a:prstGeom prst="rect">
            <a:avLst/>
          </a:prstGeom>
          <a:noFill/>
          <a:ln>
            <a:noFill/>
          </a:ln>
        </p:spPr>
      </p:pic>
      <p:sp>
        <p:nvSpPr>
          <p:cNvPr id="330" name="Google Shape;330;p24"/>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Wilson (1961), Fig. 6. Elevator and depressor activity after severe sensory reduction.</a:t>
            </a:r>
            <a:endParaRPr sz="1800">
              <a:solidFill>
                <a:schemeClr val="dk1"/>
              </a:solidFill>
              <a:latin typeface="Calibri"/>
              <a:ea typeface="Calibri"/>
              <a:cs typeface="Calibri"/>
              <a:sym typeface="Calibri"/>
            </a:endParaRPr>
          </a:p>
        </p:txBody>
      </p:sp>
      <p:pic>
        <p:nvPicPr>
          <p:cNvPr id="331" name="Google Shape;331;p24"/>
          <p:cNvPicPr preferRelativeResize="0"/>
          <p:nvPr/>
        </p:nvPicPr>
        <p:blipFill rotWithShape="1">
          <a:blip r:embed="rId4">
            <a:alphaModFix/>
          </a:blip>
          <a:srcRect b="0" l="0" r="0" t="0"/>
          <a:stretch/>
        </p:blipFill>
        <p:spPr>
          <a:xfrm>
            <a:off x="7718374" y="3589883"/>
            <a:ext cx="2775051" cy="1847850"/>
          </a:xfrm>
          <a:prstGeom prst="rect">
            <a:avLst/>
          </a:prstGeom>
          <a:noFill/>
          <a:ln>
            <a:noFill/>
          </a:ln>
        </p:spPr>
      </p:pic>
      <p:sp>
        <p:nvSpPr>
          <p:cNvPr id="332" name="Google Shape;332;p24"/>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Wilson (1961), Fig. 1. Published dissection identifies ganglia, nerves and muscles.</a:t>
            </a:r>
            <a:endParaRPr sz="1800">
              <a:solidFill>
                <a:schemeClr val="dk1"/>
              </a:solidFill>
              <a:latin typeface="Calibri"/>
              <a:ea typeface="Calibri"/>
              <a:cs typeface="Calibri"/>
              <a:sym typeface="Calibri"/>
            </a:endParaRPr>
          </a:p>
        </p:txBody>
      </p:sp>
      <p:sp>
        <p:nvSpPr>
          <p:cNvPr id="333" name="Google Shape;333;p24"/>
          <p:cNvSpPr/>
          <p:nvPr/>
        </p:nvSpPr>
        <p:spPr>
          <a:xfrm>
            <a:off x="457200" y="6496050"/>
            <a:ext cx="232968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Wilson (1961); Ausborn et al. (2007)</a:t>
            </a:r>
            <a:endParaRPr sz="1800">
              <a:solidFill>
                <a:schemeClr val="dk1"/>
              </a:solidFill>
              <a:latin typeface="Calibri"/>
              <a:ea typeface="Calibri"/>
              <a:cs typeface="Calibri"/>
              <a:sym typeface="Calibri"/>
            </a:endParaRPr>
          </a:p>
        </p:txBody>
      </p:sp>
      <p:sp>
        <p:nvSpPr>
          <p:cNvPr id="334" name="Google Shape;334;p24"/>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18a</a:t>
            </a:r>
            <a:endParaRPr sz="1800">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25"/>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The 404 group links sensory input to flight activation</a:t>
            </a:r>
            <a:endParaRPr sz="1800">
              <a:solidFill>
                <a:schemeClr val="dk1"/>
              </a:solidFill>
              <a:latin typeface="Calibri"/>
              <a:ea typeface="Calibri"/>
              <a:cs typeface="Calibri"/>
              <a:sym typeface="Calibri"/>
            </a:endParaRPr>
          </a:p>
        </p:txBody>
      </p:sp>
      <p:sp>
        <p:nvSpPr>
          <p:cNvPr id="340" name="Google Shape;340;p25"/>
          <p:cNvSpPr/>
          <p:nvPr/>
        </p:nvSpPr>
        <p:spPr>
          <a:xfrm>
            <a:off x="457200" y="1063377"/>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Pearson and colleagues recorded and dye-filled </a:t>
            </a:r>
            <a:r>
              <a:rPr b="1" i="0" lang="en-US" sz="1425">
                <a:solidFill>
                  <a:srgbClr val="292329"/>
                </a:solidFill>
                <a:latin typeface="Arial"/>
                <a:ea typeface="Arial"/>
                <a:cs typeface="Arial"/>
                <a:sym typeface="Arial"/>
              </a:rPr>
              <a:t>404 interneurons</a:t>
            </a:r>
            <a:r>
              <a:rPr b="0" i="0" lang="en-US" sz="1425">
                <a:solidFill>
                  <a:srgbClr val="292329"/>
                </a:solidFill>
                <a:latin typeface="Arial"/>
                <a:ea typeface="Arial"/>
                <a:cs typeface="Arial"/>
                <a:sym typeface="Arial"/>
              </a:rPr>
              <a:t> in </a:t>
            </a:r>
            <a:r>
              <a:rPr b="0" i="1" lang="en-US" sz="1425">
                <a:solidFill>
                  <a:srgbClr val="292329"/>
                </a:solidFill>
                <a:latin typeface="Arial"/>
                <a:ea typeface="Arial"/>
                <a:cs typeface="Arial"/>
                <a:sym typeface="Arial"/>
              </a:rPr>
              <a:t>Locusta migratoria</a:t>
            </a:r>
            <a:r>
              <a:rPr b="0" i="0" lang="en-US" sz="1425">
                <a:solidFill>
                  <a:srgbClr val="292329"/>
                </a:solidFill>
                <a:latin typeface="Arial"/>
                <a:ea typeface="Arial"/>
                <a:cs typeface="Arial"/>
                <a:sym typeface="Arial"/>
              </a:rPr>
              <a:t>. These mesothoracic cells have looping main neurites and ascending axons. A neurite is a neuronal process; dye filling linked the physiological recordings to recognizable anatomy.</a:t>
            </a:r>
            <a:endParaRPr sz="1800">
              <a:solidFill>
                <a:schemeClr val="dk1"/>
              </a:solidFill>
              <a:latin typeface="Calibri"/>
              <a:ea typeface="Calibri"/>
              <a:cs typeface="Calibri"/>
              <a:sym typeface="Calibri"/>
            </a:endParaRPr>
          </a:p>
        </p:txBody>
      </p:sp>
      <p:sp>
        <p:nvSpPr>
          <p:cNvPr id="341" name="Google Shape;341;p25"/>
          <p:cNvSpPr/>
          <p:nvPr/>
        </p:nvSpPr>
        <p:spPr>
          <a:xfrm>
            <a:off x="457200" y="215220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404 neurons fired tonically during flight episodes initiated by wind or a sudden reduction in illumination. The same neuron responded weakly to turning the light back on, without releasing flight. It generally lacked the strong cycle-by-cycle oscillation characteristic of the rhythm-generating circuit.</a:t>
            </a:r>
            <a:endParaRPr sz="1800">
              <a:solidFill>
                <a:schemeClr val="dk1"/>
              </a:solidFill>
              <a:latin typeface="Calibri"/>
              <a:ea typeface="Calibri"/>
              <a:cs typeface="Calibri"/>
              <a:sym typeface="Calibri"/>
            </a:endParaRPr>
          </a:p>
        </p:txBody>
      </p:sp>
      <p:sp>
        <p:nvSpPr>
          <p:cNvPr id="342" name="Google Shape;342;p25"/>
          <p:cNvSpPr/>
          <p:nvPr/>
        </p:nvSpPr>
        <p:spPr>
          <a:xfrm>
            <a:off x="457200" y="347989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This separates an activating pathway from neurons that determine successive phases. Darkness and wind both raised 404 firing, so visual and mechanosensory triggers for flight converge on the same thoracic cells. Tonic activity supplies drive rather than a complete motor score.</a:t>
            </a:r>
            <a:endParaRPr sz="1800">
              <a:solidFill>
                <a:schemeClr val="dk1"/>
              </a:solidFill>
              <a:latin typeface="Calibri"/>
              <a:ea typeface="Calibri"/>
              <a:cs typeface="Calibri"/>
              <a:sym typeface="Calibri"/>
            </a:endParaRPr>
          </a:p>
        </p:txBody>
      </p:sp>
      <p:pic>
        <p:nvPicPr>
          <p:cNvPr id="343" name="Google Shape;343;p25"/>
          <p:cNvPicPr preferRelativeResize="0"/>
          <p:nvPr/>
        </p:nvPicPr>
        <p:blipFill rotWithShape="1">
          <a:blip r:embed="rId3">
            <a:alphaModFix/>
          </a:blip>
          <a:srcRect b="0" l="0" r="0" t="0"/>
          <a:stretch/>
        </p:blipFill>
        <p:spPr>
          <a:xfrm>
            <a:off x="6477000" y="1694970"/>
            <a:ext cx="3429000" cy="2908764"/>
          </a:xfrm>
          <a:prstGeom prst="rect">
            <a:avLst/>
          </a:prstGeom>
          <a:noFill/>
          <a:ln>
            <a:noFill/>
          </a:ln>
        </p:spPr>
      </p:pic>
      <p:sp>
        <p:nvSpPr>
          <p:cNvPr id="344" name="Google Shape;344;p25"/>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2. 404 discharge during wind and changing illumination.</a:t>
            </a:r>
            <a:endParaRPr sz="1800">
              <a:solidFill>
                <a:schemeClr val="dk1"/>
              </a:solidFill>
              <a:latin typeface="Calibri"/>
              <a:ea typeface="Calibri"/>
              <a:cs typeface="Calibri"/>
              <a:sym typeface="Calibri"/>
            </a:endParaRPr>
          </a:p>
        </p:txBody>
      </p:sp>
      <p:pic>
        <p:nvPicPr>
          <p:cNvPr id="345" name="Google Shape;345;p25"/>
          <p:cNvPicPr preferRelativeResize="0"/>
          <p:nvPr/>
        </p:nvPicPr>
        <p:blipFill rotWithShape="1">
          <a:blip r:embed="rId4">
            <a:alphaModFix/>
          </a:blip>
          <a:srcRect b="0" l="0" r="0" t="0"/>
          <a:stretch/>
        </p:blipFill>
        <p:spPr>
          <a:xfrm>
            <a:off x="10058400" y="2510935"/>
            <a:ext cx="1676400" cy="1391134"/>
          </a:xfrm>
          <a:prstGeom prst="rect">
            <a:avLst/>
          </a:prstGeom>
          <a:noFill/>
          <a:ln>
            <a:noFill/>
          </a:ln>
        </p:spPr>
      </p:pic>
      <p:sp>
        <p:nvSpPr>
          <p:cNvPr id="346" name="Google Shape;346;p25"/>
          <p:cNvSpPr/>
          <p:nvPr/>
        </p:nvSpPr>
        <p:spPr>
          <a:xfrm>
            <a:off x="10058400" y="4749552"/>
            <a:ext cx="1695450" cy="464344"/>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1. Filled 404 neuron in the thoracic nervous system.</a:t>
            </a:r>
            <a:endParaRPr sz="1800">
              <a:solidFill>
                <a:schemeClr val="dk1"/>
              </a:solidFill>
              <a:latin typeface="Calibri"/>
              <a:ea typeface="Calibri"/>
              <a:cs typeface="Calibri"/>
              <a:sym typeface="Calibri"/>
            </a:endParaRPr>
          </a:p>
        </p:txBody>
      </p:sp>
      <p:sp>
        <p:nvSpPr>
          <p:cNvPr id="347" name="Google Shape;347;p25"/>
          <p:cNvSpPr/>
          <p:nvPr/>
        </p:nvSpPr>
        <p:spPr>
          <a:xfrm>
            <a:off x="457200" y="6496050"/>
            <a:ext cx="1107877"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Pearson et al. (1985)</a:t>
            </a:r>
            <a:endParaRPr sz="1800">
              <a:solidFill>
                <a:schemeClr val="dk1"/>
              </a:solidFill>
              <a:latin typeface="Calibri"/>
              <a:ea typeface="Calibri"/>
              <a:cs typeface="Calibri"/>
              <a:sym typeface="Calibri"/>
            </a:endParaRPr>
          </a:p>
        </p:txBody>
      </p:sp>
      <p:sp>
        <p:nvSpPr>
          <p:cNvPr id="348" name="Google Shape;348;p25"/>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19</a:t>
            </a:r>
            <a:endParaRPr sz="1800">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p26"/>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404 discharge tracks the frequency of fictive flight</a:t>
            </a:r>
            <a:endParaRPr sz="1800">
              <a:solidFill>
                <a:schemeClr val="dk1"/>
              </a:solidFill>
              <a:latin typeface="Calibri"/>
              <a:ea typeface="Calibri"/>
              <a:cs typeface="Calibri"/>
              <a:sym typeface="Calibri"/>
            </a:endParaRPr>
          </a:p>
        </p:txBody>
      </p:sp>
      <p:sp>
        <p:nvSpPr>
          <p:cNvPr id="354" name="Google Shape;354;p26"/>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In Pearson and colleagues’ preparation, the discharge rate of a 404 neuron declined during a sustained wind stimulus as the frequency of flight activity declined. </a:t>
            </a:r>
            <a:r>
              <a:rPr b="1" i="0" lang="en-US" sz="1425">
                <a:solidFill>
                  <a:srgbClr val="292329"/>
                </a:solidFill>
                <a:latin typeface="Arial"/>
                <a:ea typeface="Arial"/>
                <a:cs typeface="Arial"/>
                <a:sym typeface="Arial"/>
              </a:rPr>
              <a:t>Fictive flight</a:t>
            </a:r>
            <a:r>
              <a:rPr b="0" i="0" lang="en-US" sz="1425">
                <a:solidFill>
                  <a:srgbClr val="292329"/>
                </a:solidFill>
                <a:latin typeface="Arial"/>
                <a:ea typeface="Arial"/>
                <a:cs typeface="Arial"/>
                <a:sym typeface="Arial"/>
              </a:rPr>
              <a:t> is flight-like neural or muscle output in a reduced preparation, rather than aerodynamic flight through space.</a:t>
            </a:r>
            <a:endParaRPr sz="1800">
              <a:solidFill>
                <a:schemeClr val="dk1"/>
              </a:solidFill>
              <a:latin typeface="Calibri"/>
              <a:ea typeface="Calibri"/>
              <a:cs typeface="Calibri"/>
              <a:sym typeface="Calibri"/>
            </a:endParaRPr>
          </a:p>
        </p:txBody>
      </p:sp>
      <p:sp>
        <p:nvSpPr>
          <p:cNvPr id="355" name="Google Shape;355;p26"/>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Higher 404 firing rates were associated with faster flight rhythms. Turning the lights off increased both 404 activity and rhythm frequency while preserving the relationship between them. Flight commonly ended after the recorded 404 discharge fell below approximately 50 spikes/s.</a:t>
            </a:r>
            <a:endParaRPr sz="1800">
              <a:solidFill>
                <a:schemeClr val="dk1"/>
              </a:solidFill>
              <a:latin typeface="Calibri"/>
              <a:ea typeface="Calibri"/>
              <a:cs typeface="Calibri"/>
              <a:sym typeface="Calibri"/>
            </a:endParaRPr>
          </a:p>
        </p:txBody>
      </p:sp>
      <p:sp>
        <p:nvSpPr>
          <p:cNvPr id="356" name="Google Shape;356;p26"/>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association is consistent with an excitatory drive that regulates circuit activation. A linear relation between discharge rate and flight frequency allows the network to read 404 drive as a graded speed command, and injected current confirmed the causal direction.</a:t>
            </a:r>
            <a:endParaRPr sz="1800">
              <a:solidFill>
                <a:schemeClr val="dk1"/>
              </a:solidFill>
              <a:latin typeface="Calibri"/>
              <a:ea typeface="Calibri"/>
              <a:cs typeface="Calibri"/>
              <a:sym typeface="Calibri"/>
            </a:endParaRPr>
          </a:p>
        </p:txBody>
      </p:sp>
      <p:pic>
        <p:nvPicPr>
          <p:cNvPr id="357" name="Google Shape;357;p26"/>
          <p:cNvPicPr preferRelativeResize="0"/>
          <p:nvPr/>
        </p:nvPicPr>
        <p:blipFill rotWithShape="1">
          <a:blip r:embed="rId3">
            <a:alphaModFix/>
          </a:blip>
          <a:srcRect b="0" l="0" r="0" t="0"/>
          <a:stretch/>
        </p:blipFill>
        <p:spPr>
          <a:xfrm>
            <a:off x="6477000" y="1304421"/>
            <a:ext cx="3429000" cy="3689861"/>
          </a:xfrm>
          <a:prstGeom prst="rect">
            <a:avLst/>
          </a:prstGeom>
          <a:noFill/>
          <a:ln>
            <a:noFill/>
          </a:ln>
        </p:spPr>
      </p:pic>
      <p:sp>
        <p:nvSpPr>
          <p:cNvPr id="358" name="Google Shape;358;p26"/>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3. 404 firing rate versus flight rhythm frequency.</a:t>
            </a:r>
            <a:endParaRPr sz="1800">
              <a:solidFill>
                <a:schemeClr val="dk1"/>
              </a:solidFill>
              <a:latin typeface="Calibri"/>
              <a:ea typeface="Calibri"/>
              <a:cs typeface="Calibri"/>
              <a:sym typeface="Calibri"/>
            </a:endParaRPr>
          </a:p>
        </p:txBody>
      </p:sp>
      <p:pic>
        <p:nvPicPr>
          <p:cNvPr id="359" name="Google Shape;359;p26"/>
          <p:cNvPicPr preferRelativeResize="0"/>
          <p:nvPr/>
        </p:nvPicPr>
        <p:blipFill rotWithShape="1">
          <a:blip r:embed="rId4">
            <a:alphaModFix/>
          </a:blip>
          <a:srcRect b="0" l="0" r="0" t="0"/>
          <a:stretch/>
        </p:blipFill>
        <p:spPr>
          <a:xfrm>
            <a:off x="10058400" y="2510935"/>
            <a:ext cx="1676400" cy="1391134"/>
          </a:xfrm>
          <a:prstGeom prst="rect">
            <a:avLst/>
          </a:prstGeom>
          <a:noFill/>
          <a:ln>
            <a:noFill/>
          </a:ln>
        </p:spPr>
      </p:pic>
      <p:sp>
        <p:nvSpPr>
          <p:cNvPr id="360" name="Google Shape;360;p26"/>
          <p:cNvSpPr/>
          <p:nvPr/>
        </p:nvSpPr>
        <p:spPr>
          <a:xfrm>
            <a:off x="10058400" y="4749552"/>
            <a:ext cx="1695450" cy="464344"/>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1. Filled 404 neuron in the thoracic nervous system.</a:t>
            </a:r>
            <a:endParaRPr sz="1800">
              <a:solidFill>
                <a:schemeClr val="dk1"/>
              </a:solidFill>
              <a:latin typeface="Calibri"/>
              <a:ea typeface="Calibri"/>
              <a:cs typeface="Calibri"/>
              <a:sym typeface="Calibri"/>
            </a:endParaRPr>
          </a:p>
        </p:txBody>
      </p:sp>
      <p:sp>
        <p:nvSpPr>
          <p:cNvPr id="361" name="Google Shape;361;p26"/>
          <p:cNvSpPr/>
          <p:nvPr/>
        </p:nvSpPr>
        <p:spPr>
          <a:xfrm>
            <a:off x="457200" y="6496050"/>
            <a:ext cx="1107877"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Pearson et al. (1985)</a:t>
            </a:r>
            <a:endParaRPr sz="1800">
              <a:solidFill>
                <a:schemeClr val="dk1"/>
              </a:solidFill>
              <a:latin typeface="Calibri"/>
              <a:ea typeface="Calibri"/>
              <a:cs typeface="Calibri"/>
              <a:sym typeface="Calibri"/>
            </a:endParaRPr>
          </a:p>
        </p:txBody>
      </p:sp>
      <p:sp>
        <p:nvSpPr>
          <p:cNvPr id="362" name="Google Shape;362;p26"/>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20</a:t>
            </a:r>
            <a:endParaRPr sz="18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6" name="Shape 366"/>
        <p:cNvGrpSpPr/>
        <p:nvPr/>
      </p:nvGrpSpPr>
      <p:grpSpPr>
        <a:xfrm>
          <a:off x="0" y="0"/>
          <a:ext cx="0" cy="0"/>
          <a:chOff x="0" y="0"/>
          <a:chExt cx="0" cy="0"/>
        </a:xfrm>
      </p:grpSpPr>
      <p:sp>
        <p:nvSpPr>
          <p:cNvPr id="367" name="Google Shape;367;p27"/>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Depolarizing one 404 neuron can initiate the flight rhythm</a:t>
            </a:r>
            <a:endParaRPr sz="1800">
              <a:solidFill>
                <a:schemeClr val="dk1"/>
              </a:solidFill>
              <a:latin typeface="Calibri"/>
              <a:ea typeface="Calibri"/>
              <a:cs typeface="Calibri"/>
              <a:sym typeface="Calibri"/>
            </a:endParaRPr>
          </a:p>
        </p:txBody>
      </p:sp>
      <p:sp>
        <p:nvSpPr>
          <p:cNvPr id="368" name="Google Shape;368;p27"/>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Depolarization</a:t>
            </a:r>
            <a:r>
              <a:rPr b="0" i="0" lang="en-US" sz="1425">
                <a:solidFill>
                  <a:srgbClr val="292329"/>
                </a:solidFill>
                <a:latin typeface="Arial"/>
                <a:ea typeface="Arial"/>
                <a:cs typeface="Arial"/>
                <a:sym typeface="Arial"/>
              </a:rPr>
              <a:t> makes membrane voltage less negative and can increase neuronal firing. Pearson and colleagues injected depolarizing current into a single 404 neuron while recording dorsal longitudinal muscle activity and, in additional trials, an elevator or depressor motor neuron.</a:t>
            </a:r>
            <a:endParaRPr sz="1800">
              <a:solidFill>
                <a:schemeClr val="dk1"/>
              </a:solidFill>
              <a:latin typeface="Calibri"/>
              <a:ea typeface="Calibri"/>
              <a:cs typeface="Calibri"/>
              <a:sym typeface="Calibri"/>
            </a:endParaRPr>
          </a:p>
        </p:txBody>
      </p:sp>
      <p:sp>
        <p:nvSpPr>
          <p:cNvPr id="369" name="Google Shape;369;p27"/>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Flight-like bursts often began when the stimulated 404 neuron reached approximately 100 spikes/s. Current-evoked rhythms commonly started near 8 cycles/s, slower than the approximately 12 cycles/s initially recorded during wind-induced episodes. Motor-neuron voltage oscillations resembled those evoked by wind.</a:t>
            </a:r>
            <a:endParaRPr sz="1800">
              <a:solidFill>
                <a:schemeClr val="dk1"/>
              </a:solidFill>
              <a:latin typeface="Calibri"/>
              <a:ea typeface="Calibri"/>
              <a:cs typeface="Calibri"/>
              <a:sym typeface="Calibri"/>
            </a:endParaRPr>
          </a:p>
        </p:txBody>
      </p:sp>
      <p:sp>
        <p:nvSpPr>
          <p:cNvPr id="370" name="Google Shape;370;p27"/>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This is causal evidence that one 404 neuron can recruit the central flight program. A steady, unpatterned depolarization of one cell produced rhythmic alternation, so the timing of each cycle comes from the network it drives, as with Wilson’s cord stimulation.</a:t>
            </a:r>
            <a:endParaRPr sz="1800">
              <a:solidFill>
                <a:schemeClr val="dk1"/>
              </a:solidFill>
              <a:latin typeface="Calibri"/>
              <a:ea typeface="Calibri"/>
              <a:cs typeface="Calibri"/>
              <a:sym typeface="Calibri"/>
            </a:endParaRPr>
          </a:p>
        </p:txBody>
      </p:sp>
      <p:pic>
        <p:nvPicPr>
          <p:cNvPr id="371" name="Google Shape;371;p27"/>
          <p:cNvPicPr preferRelativeResize="0"/>
          <p:nvPr/>
        </p:nvPicPr>
        <p:blipFill rotWithShape="1">
          <a:blip r:embed="rId3">
            <a:alphaModFix/>
          </a:blip>
          <a:srcRect b="0" l="0" r="0" t="0"/>
          <a:stretch/>
        </p:blipFill>
        <p:spPr>
          <a:xfrm>
            <a:off x="6477000" y="1272875"/>
            <a:ext cx="5257800" cy="1733653"/>
          </a:xfrm>
          <a:prstGeom prst="rect">
            <a:avLst/>
          </a:prstGeom>
          <a:noFill/>
          <a:ln>
            <a:noFill/>
          </a:ln>
        </p:spPr>
      </p:pic>
      <p:sp>
        <p:nvSpPr>
          <p:cNvPr id="372" name="Google Shape;372;p27"/>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6. Flight-related motor bursts during 404 current injection.</a:t>
            </a:r>
            <a:endParaRPr sz="1800">
              <a:solidFill>
                <a:schemeClr val="dk1"/>
              </a:solidFill>
              <a:latin typeface="Calibri"/>
              <a:ea typeface="Calibri"/>
              <a:cs typeface="Calibri"/>
              <a:sym typeface="Calibri"/>
            </a:endParaRPr>
          </a:p>
        </p:txBody>
      </p:sp>
      <p:pic>
        <p:nvPicPr>
          <p:cNvPr id="373" name="Google Shape;373;p27"/>
          <p:cNvPicPr preferRelativeResize="0"/>
          <p:nvPr/>
        </p:nvPicPr>
        <p:blipFill rotWithShape="1">
          <a:blip r:embed="rId4">
            <a:alphaModFix/>
          </a:blip>
          <a:srcRect b="0" l="0" r="0" t="0"/>
          <a:stretch/>
        </p:blipFill>
        <p:spPr>
          <a:xfrm>
            <a:off x="7992515" y="3589883"/>
            <a:ext cx="2226770" cy="1847850"/>
          </a:xfrm>
          <a:prstGeom prst="rect">
            <a:avLst/>
          </a:prstGeom>
          <a:noFill/>
          <a:ln>
            <a:noFill/>
          </a:ln>
        </p:spPr>
      </p:pic>
      <p:sp>
        <p:nvSpPr>
          <p:cNvPr id="374" name="Google Shape;374;p27"/>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1. Filled 404 neuron in the thoracic nervous system.</a:t>
            </a:r>
            <a:endParaRPr sz="1800">
              <a:solidFill>
                <a:schemeClr val="dk1"/>
              </a:solidFill>
              <a:latin typeface="Calibri"/>
              <a:ea typeface="Calibri"/>
              <a:cs typeface="Calibri"/>
              <a:sym typeface="Calibri"/>
            </a:endParaRPr>
          </a:p>
        </p:txBody>
      </p:sp>
      <p:sp>
        <p:nvSpPr>
          <p:cNvPr id="375" name="Google Shape;375;p27"/>
          <p:cNvSpPr/>
          <p:nvPr/>
        </p:nvSpPr>
        <p:spPr>
          <a:xfrm>
            <a:off x="457200" y="6496050"/>
            <a:ext cx="1107877"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Pearson et al. (1985)</a:t>
            </a:r>
            <a:endParaRPr sz="1800">
              <a:solidFill>
                <a:schemeClr val="dk1"/>
              </a:solidFill>
              <a:latin typeface="Calibri"/>
              <a:ea typeface="Calibri"/>
              <a:cs typeface="Calibri"/>
              <a:sym typeface="Calibri"/>
            </a:endParaRPr>
          </a:p>
        </p:txBody>
      </p:sp>
      <p:sp>
        <p:nvSpPr>
          <p:cNvPr id="376" name="Google Shape;376;p27"/>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21</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0" name="Shape 380"/>
        <p:cNvGrpSpPr/>
        <p:nvPr/>
      </p:nvGrpSpPr>
      <p:grpSpPr>
        <a:xfrm>
          <a:off x="0" y="0"/>
          <a:ext cx="0" cy="0"/>
          <a:chOff x="0" y="0"/>
          <a:chExt cx="0" cy="0"/>
        </a:xfrm>
      </p:grpSpPr>
      <p:sp>
        <p:nvSpPr>
          <p:cNvPr id="381" name="Google Shape;381;p28"/>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Hyperpolarizing one 404 neuron can prevent initiation</a:t>
            </a:r>
            <a:endParaRPr sz="1800">
              <a:solidFill>
                <a:schemeClr val="dk1"/>
              </a:solidFill>
              <a:latin typeface="Calibri"/>
              <a:ea typeface="Calibri"/>
              <a:cs typeface="Calibri"/>
              <a:sym typeface="Calibri"/>
            </a:endParaRPr>
          </a:p>
        </p:txBody>
      </p:sp>
      <p:sp>
        <p:nvSpPr>
          <p:cNvPr id="382" name="Google Shape;382;p28"/>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Hyperpolarization</a:t>
            </a:r>
            <a:r>
              <a:rPr b="0" i="0" lang="en-US" sz="1425">
                <a:solidFill>
                  <a:srgbClr val="292329"/>
                </a:solidFill>
                <a:latin typeface="Arial"/>
                <a:ea typeface="Arial"/>
                <a:cs typeface="Arial"/>
                <a:sym typeface="Arial"/>
              </a:rPr>
              <a:t> makes membrane voltage more negative and can suppress firing. Pearson and colleagues compared a brief wind pulse before and during hyperpolarizing current injection into a recorded 404 neuron. The stimulus was otherwise unchanged.</a:t>
            </a:r>
            <a:endParaRPr sz="1800">
              <a:solidFill>
                <a:schemeClr val="dk1"/>
              </a:solidFill>
              <a:latin typeface="Calibri"/>
              <a:ea typeface="Calibri"/>
              <a:cs typeface="Calibri"/>
              <a:sym typeface="Calibri"/>
            </a:endParaRPr>
          </a:p>
        </p:txBody>
      </p:sp>
      <p:sp>
        <p:nvSpPr>
          <p:cNvPr id="383" name="Google Shape;383;p28"/>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0.5 s wind pulse normally evoked a short flight episode. During approximately 6 nA of hyperpolarizing current, the recorded 404 cell produced only one impulse and the same stimulus failed to initiate the flight rhythm. Suppression was most effective with weaker wind or near the end of an episode.</a:t>
            </a:r>
            <a:endParaRPr sz="1800">
              <a:solidFill>
                <a:schemeClr val="dk1"/>
              </a:solidFill>
              <a:latin typeface="Calibri"/>
              <a:ea typeface="Calibri"/>
              <a:cs typeface="Calibri"/>
              <a:sym typeface="Calibri"/>
            </a:endParaRPr>
          </a:p>
        </p:txBody>
      </p:sp>
      <p:sp>
        <p:nvSpPr>
          <p:cNvPr id="384" name="Google Shape;384;p28"/>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single member of the activating group can therefore influence whether the circuit reaches its activation threshold. Hyperpolarizing a 404 neuron during an ongoing episode also slowed or stopped the rhythm, matching the link between 404 firing rate and flight frequency.</a:t>
            </a:r>
            <a:endParaRPr sz="1800">
              <a:solidFill>
                <a:schemeClr val="dk1"/>
              </a:solidFill>
              <a:latin typeface="Calibri"/>
              <a:ea typeface="Calibri"/>
              <a:cs typeface="Calibri"/>
              <a:sym typeface="Calibri"/>
            </a:endParaRPr>
          </a:p>
        </p:txBody>
      </p:sp>
      <p:pic>
        <p:nvPicPr>
          <p:cNvPr id="385" name="Google Shape;385;p28"/>
          <p:cNvPicPr preferRelativeResize="0"/>
          <p:nvPr/>
        </p:nvPicPr>
        <p:blipFill rotWithShape="1">
          <a:blip r:embed="rId3">
            <a:alphaModFix/>
          </a:blip>
          <a:srcRect b="0" l="0" r="0" t="0"/>
          <a:stretch/>
        </p:blipFill>
        <p:spPr>
          <a:xfrm>
            <a:off x="6477000" y="1659642"/>
            <a:ext cx="3429000" cy="2979420"/>
          </a:xfrm>
          <a:prstGeom prst="rect">
            <a:avLst/>
          </a:prstGeom>
          <a:noFill/>
          <a:ln>
            <a:noFill/>
          </a:ln>
        </p:spPr>
      </p:pic>
      <p:sp>
        <p:nvSpPr>
          <p:cNvPr id="386" name="Google Shape;386;p28"/>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9. A repeated wind pulse with and without 404 inhibition.</a:t>
            </a:r>
            <a:endParaRPr sz="1800">
              <a:solidFill>
                <a:schemeClr val="dk1"/>
              </a:solidFill>
              <a:latin typeface="Calibri"/>
              <a:ea typeface="Calibri"/>
              <a:cs typeface="Calibri"/>
              <a:sym typeface="Calibri"/>
            </a:endParaRPr>
          </a:p>
        </p:txBody>
      </p:sp>
      <p:pic>
        <p:nvPicPr>
          <p:cNvPr id="387" name="Google Shape;387;p28"/>
          <p:cNvPicPr preferRelativeResize="0"/>
          <p:nvPr/>
        </p:nvPicPr>
        <p:blipFill rotWithShape="1">
          <a:blip r:embed="rId4">
            <a:alphaModFix/>
          </a:blip>
          <a:srcRect b="0" l="0" r="0" t="0"/>
          <a:stretch/>
        </p:blipFill>
        <p:spPr>
          <a:xfrm>
            <a:off x="10058400" y="2510935"/>
            <a:ext cx="1676400" cy="1391134"/>
          </a:xfrm>
          <a:prstGeom prst="rect">
            <a:avLst/>
          </a:prstGeom>
          <a:noFill/>
          <a:ln>
            <a:noFill/>
          </a:ln>
        </p:spPr>
      </p:pic>
      <p:sp>
        <p:nvSpPr>
          <p:cNvPr id="388" name="Google Shape;388;p28"/>
          <p:cNvSpPr/>
          <p:nvPr/>
        </p:nvSpPr>
        <p:spPr>
          <a:xfrm>
            <a:off x="10058400" y="4749552"/>
            <a:ext cx="1695450" cy="464344"/>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1. Filled 404 neuron in the thoracic nervous system.</a:t>
            </a:r>
            <a:endParaRPr sz="1800">
              <a:solidFill>
                <a:schemeClr val="dk1"/>
              </a:solidFill>
              <a:latin typeface="Calibri"/>
              <a:ea typeface="Calibri"/>
              <a:cs typeface="Calibri"/>
              <a:sym typeface="Calibri"/>
            </a:endParaRPr>
          </a:p>
        </p:txBody>
      </p:sp>
      <p:sp>
        <p:nvSpPr>
          <p:cNvPr id="389" name="Google Shape;389;p28"/>
          <p:cNvSpPr/>
          <p:nvPr/>
        </p:nvSpPr>
        <p:spPr>
          <a:xfrm>
            <a:off x="457200" y="6496050"/>
            <a:ext cx="1107877"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Pearson et al. (1985)</a:t>
            </a:r>
            <a:endParaRPr sz="1800">
              <a:solidFill>
                <a:schemeClr val="dk1"/>
              </a:solidFill>
              <a:latin typeface="Calibri"/>
              <a:ea typeface="Calibri"/>
              <a:cs typeface="Calibri"/>
              <a:sym typeface="Calibri"/>
            </a:endParaRPr>
          </a:p>
        </p:txBody>
      </p:sp>
      <p:sp>
        <p:nvSpPr>
          <p:cNvPr id="390" name="Google Shape;390;p28"/>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22</a:t>
            </a:r>
            <a:endParaRPr sz="1800">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4" name="Shape 394"/>
        <p:cNvGrpSpPr/>
        <p:nvPr/>
      </p:nvGrpSpPr>
      <p:grpSpPr>
        <a:xfrm>
          <a:off x="0" y="0"/>
          <a:ext cx="0" cy="0"/>
          <a:chOff x="0" y="0"/>
          <a:chExt cx="0" cy="0"/>
        </a:xfrm>
      </p:grpSpPr>
      <p:sp>
        <p:nvSpPr>
          <p:cNvPr id="395" name="Google Shape;395;p29"/>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404 cells are sufficient but not always necessary</a:t>
            </a:r>
            <a:endParaRPr sz="1800">
              <a:solidFill>
                <a:schemeClr val="dk1"/>
              </a:solidFill>
              <a:latin typeface="Calibri"/>
              <a:ea typeface="Calibri"/>
              <a:cs typeface="Calibri"/>
              <a:sym typeface="Calibri"/>
            </a:endParaRPr>
          </a:p>
        </p:txBody>
      </p:sp>
      <p:sp>
        <p:nvSpPr>
          <p:cNvPr id="396" name="Google Shape;396;p29"/>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Sufficiency</a:t>
            </a:r>
            <a:r>
              <a:rPr b="0" i="0" lang="en-US" sz="1425">
                <a:solidFill>
                  <a:srgbClr val="292329"/>
                </a:solidFill>
                <a:latin typeface="Arial"/>
                <a:ea typeface="Arial"/>
                <a:cs typeface="Arial"/>
                <a:sym typeface="Arial"/>
              </a:rPr>
              <a:t> means that activating an element produces an outcome; </a:t>
            </a:r>
            <a:r>
              <a:rPr b="1" i="0" lang="en-US" sz="1425">
                <a:solidFill>
                  <a:srgbClr val="292329"/>
                </a:solidFill>
                <a:latin typeface="Arial"/>
                <a:ea typeface="Arial"/>
                <a:cs typeface="Arial"/>
                <a:sym typeface="Arial"/>
              </a:rPr>
              <a:t>necessity</a:t>
            </a:r>
            <a:r>
              <a:rPr b="0" i="0" lang="en-US" sz="1425">
                <a:solidFill>
                  <a:srgbClr val="292329"/>
                </a:solidFill>
                <a:latin typeface="Arial"/>
                <a:ea typeface="Arial"/>
                <a:cs typeface="Arial"/>
                <a:sym typeface="Arial"/>
              </a:rPr>
              <a:t> means that removing it prevents the outcome. Depolarizing one 404 neuron tests sufficiency, and hyperpolarizing it during wind tests necessity, so the two current directions answer different questions about the same cell.</a:t>
            </a:r>
            <a:endParaRPr sz="1800">
              <a:solidFill>
                <a:schemeClr val="dk1"/>
              </a:solidFill>
              <a:latin typeface="Calibri"/>
              <a:ea typeface="Calibri"/>
              <a:cs typeface="Calibri"/>
              <a:sym typeface="Calibri"/>
            </a:endParaRPr>
          </a:p>
        </p:txBody>
      </p:sp>
      <p:sp>
        <p:nvSpPr>
          <p:cNvPr id="397" name="Google Shape;397;p29"/>
          <p:cNvSpPr/>
          <p:nvPr/>
        </p:nvSpPr>
        <p:spPr>
          <a:xfrm>
            <a:off x="457200" y="2669292"/>
            <a:ext cx="5695950" cy="716661"/>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One 404 cell passed the sufficiency test in quiescent preparations. The necessity test was conditional: in some preparations flight continued while current abolished every spike in the recorded cell.</a:t>
            </a:r>
            <a:endParaRPr sz="1800">
              <a:solidFill>
                <a:schemeClr val="dk1"/>
              </a:solidFill>
              <a:latin typeface="Calibri"/>
              <a:ea typeface="Calibri"/>
              <a:cs typeface="Calibri"/>
              <a:sym typeface="Calibri"/>
            </a:endParaRPr>
          </a:p>
        </p:txBody>
      </p:sp>
      <p:sp>
        <p:nvSpPr>
          <p:cNvPr id="398" name="Google Shape;398;p29"/>
          <p:cNvSpPr/>
          <p:nvPr/>
        </p:nvSpPr>
        <p:spPr>
          <a:xfrm>
            <a:off x="457200" y="3797433"/>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That pattern fits a pool of activating neurons whose drive adds up, with the rhythm generated elsewhere. The 404 cells showed no detectable input from the rhythm generator, so the flight system is organized in levels: tonic drive from above, and cycle timing within the thoracic network.</a:t>
            </a:r>
            <a:endParaRPr sz="1800">
              <a:solidFill>
                <a:schemeClr val="dk1"/>
              </a:solidFill>
              <a:latin typeface="Calibri"/>
              <a:ea typeface="Calibri"/>
              <a:cs typeface="Calibri"/>
              <a:sym typeface="Calibri"/>
            </a:endParaRPr>
          </a:p>
        </p:txBody>
      </p:sp>
      <p:pic>
        <p:nvPicPr>
          <p:cNvPr id="399" name="Google Shape;399;p29"/>
          <p:cNvPicPr preferRelativeResize="0"/>
          <p:nvPr/>
        </p:nvPicPr>
        <p:blipFill rotWithShape="1">
          <a:blip r:embed="rId3">
            <a:alphaModFix/>
          </a:blip>
          <a:srcRect b="0" l="0" r="0" t="0"/>
          <a:stretch/>
        </p:blipFill>
        <p:spPr>
          <a:xfrm>
            <a:off x="6477000" y="1659642"/>
            <a:ext cx="3429000" cy="2979420"/>
          </a:xfrm>
          <a:prstGeom prst="rect">
            <a:avLst/>
          </a:prstGeom>
          <a:noFill/>
          <a:ln>
            <a:noFill/>
          </a:ln>
        </p:spPr>
      </p:pic>
      <p:sp>
        <p:nvSpPr>
          <p:cNvPr id="400" name="Google Shape;400;p29"/>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9. A repeated wind pulse with and without 404 inhibition.</a:t>
            </a:r>
            <a:endParaRPr sz="1800">
              <a:solidFill>
                <a:schemeClr val="dk1"/>
              </a:solidFill>
              <a:latin typeface="Calibri"/>
              <a:ea typeface="Calibri"/>
              <a:cs typeface="Calibri"/>
              <a:sym typeface="Calibri"/>
            </a:endParaRPr>
          </a:p>
        </p:txBody>
      </p:sp>
      <p:pic>
        <p:nvPicPr>
          <p:cNvPr id="401" name="Google Shape;401;p29"/>
          <p:cNvPicPr preferRelativeResize="0"/>
          <p:nvPr/>
        </p:nvPicPr>
        <p:blipFill rotWithShape="1">
          <a:blip r:embed="rId4">
            <a:alphaModFix/>
          </a:blip>
          <a:srcRect b="0" l="0" r="0" t="0"/>
          <a:stretch/>
        </p:blipFill>
        <p:spPr>
          <a:xfrm>
            <a:off x="10058400" y="2510935"/>
            <a:ext cx="1676400" cy="1391134"/>
          </a:xfrm>
          <a:prstGeom prst="rect">
            <a:avLst/>
          </a:prstGeom>
          <a:noFill/>
          <a:ln>
            <a:noFill/>
          </a:ln>
        </p:spPr>
      </p:pic>
      <p:sp>
        <p:nvSpPr>
          <p:cNvPr id="402" name="Google Shape;402;p29"/>
          <p:cNvSpPr/>
          <p:nvPr/>
        </p:nvSpPr>
        <p:spPr>
          <a:xfrm>
            <a:off x="10058400" y="4749552"/>
            <a:ext cx="1695450" cy="464344"/>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1. Filled 404 neuron in the thoracic nervous system.</a:t>
            </a:r>
            <a:endParaRPr sz="1800">
              <a:solidFill>
                <a:schemeClr val="dk1"/>
              </a:solidFill>
              <a:latin typeface="Calibri"/>
              <a:ea typeface="Calibri"/>
              <a:cs typeface="Calibri"/>
              <a:sym typeface="Calibri"/>
            </a:endParaRPr>
          </a:p>
        </p:txBody>
      </p:sp>
      <p:sp>
        <p:nvSpPr>
          <p:cNvPr id="403" name="Google Shape;403;p29"/>
          <p:cNvSpPr/>
          <p:nvPr/>
        </p:nvSpPr>
        <p:spPr>
          <a:xfrm>
            <a:off x="457200" y="6496050"/>
            <a:ext cx="136956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Pearson et al. (1985)</a:t>
            </a:r>
            <a:endParaRPr sz="1800">
              <a:solidFill>
                <a:schemeClr val="dk1"/>
              </a:solidFill>
              <a:latin typeface="Calibri"/>
              <a:ea typeface="Calibri"/>
              <a:cs typeface="Calibri"/>
              <a:sym typeface="Calibri"/>
            </a:endParaRPr>
          </a:p>
        </p:txBody>
      </p:sp>
      <p:sp>
        <p:nvSpPr>
          <p:cNvPr id="404" name="Google Shape;404;p29"/>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22a</a:t>
            </a:r>
            <a:endParaRPr sz="1800">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8" name="Shape 408"/>
        <p:cNvGrpSpPr/>
        <p:nvPr/>
      </p:nvGrpSpPr>
      <p:grpSpPr>
        <a:xfrm>
          <a:off x="0" y="0"/>
          <a:ext cx="0" cy="0"/>
          <a:chOff x="0" y="0"/>
          <a:chExt cx="0" cy="0"/>
        </a:xfrm>
      </p:grpSpPr>
      <p:sp>
        <p:nvSpPr>
          <p:cNvPr id="409" name="Google Shape;409;p30"/>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404 bursts may link jumping to the start of flight</a:t>
            </a:r>
            <a:endParaRPr sz="1800">
              <a:solidFill>
                <a:schemeClr val="dk1"/>
              </a:solidFill>
              <a:latin typeface="Calibri"/>
              <a:ea typeface="Calibri"/>
              <a:cs typeface="Calibri"/>
              <a:sym typeface="Calibri"/>
            </a:endParaRPr>
          </a:p>
        </p:txBody>
      </p:sp>
      <p:sp>
        <p:nvSpPr>
          <p:cNvPr id="410" name="Google Shape;410;p30"/>
          <p:cNvSpPr/>
          <p:nvPr/>
        </p:nvSpPr>
        <p:spPr>
          <a:xfrm>
            <a:off x="457200" y="1063377"/>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Pearson and colleagues recorded a 404 neuron together with hindleg muscle activity during kicks. A kick uses coordinated flexor and extensor activation followed by rapid extension. Its motor organization resembles that used to launch a jump.</a:t>
            </a:r>
            <a:endParaRPr sz="1800">
              <a:solidFill>
                <a:schemeClr val="dk1"/>
              </a:solidFill>
              <a:latin typeface="Calibri"/>
              <a:ea typeface="Calibri"/>
              <a:cs typeface="Calibri"/>
              <a:sym typeface="Calibri"/>
            </a:endParaRPr>
          </a:p>
        </p:txBody>
      </p:sp>
      <p:sp>
        <p:nvSpPr>
          <p:cNvPr id="411" name="Google Shape;411;p30"/>
          <p:cNvSpPr/>
          <p:nvPr/>
        </p:nvSpPr>
        <p:spPr>
          <a:xfrm>
            <a:off x="457200" y="215220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404 neuron produced a brief high-frequency burst beginning just before the kick was triggered. Rapid extension driven by the fast extensor motor neuron alone did not produce the same pattern. The published recording retains a 0.5 s time calibration and a 20 mV voltage calibration.</a:t>
            </a:r>
            <a:endParaRPr sz="1800">
              <a:solidFill>
                <a:schemeClr val="dk1"/>
              </a:solidFill>
              <a:latin typeface="Calibri"/>
              <a:ea typeface="Calibri"/>
              <a:cs typeface="Calibri"/>
              <a:sym typeface="Calibri"/>
            </a:endParaRPr>
          </a:p>
        </p:txBody>
      </p:sp>
      <p:sp>
        <p:nvSpPr>
          <p:cNvPr id="412" name="Google Shape;412;p30"/>
          <p:cNvSpPr/>
          <p:nvPr/>
        </p:nvSpPr>
        <p:spPr>
          <a:xfrm>
            <a:off x="457200" y="3479899"/>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temporal relationship and the ability of 404 stimulation to release flight support a possible central link between jump-related activity and flight initiation. A 404 burst just before take-off is a candidate route for wing opening within about 15 ms of jump onset, well ahead of the fastest wind reflex.</a:t>
            </a:r>
            <a:endParaRPr sz="1800">
              <a:solidFill>
                <a:schemeClr val="dk1"/>
              </a:solidFill>
              <a:latin typeface="Calibri"/>
              <a:ea typeface="Calibri"/>
              <a:cs typeface="Calibri"/>
              <a:sym typeface="Calibri"/>
            </a:endParaRPr>
          </a:p>
        </p:txBody>
      </p:sp>
      <p:pic>
        <p:nvPicPr>
          <p:cNvPr id="413" name="Google Shape;413;p30"/>
          <p:cNvPicPr preferRelativeResize="0"/>
          <p:nvPr/>
        </p:nvPicPr>
        <p:blipFill rotWithShape="1">
          <a:blip r:embed="rId3">
            <a:alphaModFix/>
          </a:blip>
          <a:srcRect b="0" l="0" r="0" t="0"/>
          <a:stretch/>
        </p:blipFill>
        <p:spPr>
          <a:xfrm>
            <a:off x="7059883" y="1063377"/>
            <a:ext cx="4092034" cy="2152650"/>
          </a:xfrm>
          <a:prstGeom prst="rect">
            <a:avLst/>
          </a:prstGeom>
          <a:noFill/>
          <a:ln>
            <a:noFill/>
          </a:ln>
        </p:spPr>
      </p:pic>
      <p:sp>
        <p:nvSpPr>
          <p:cNvPr id="414" name="Google Shape;414;p30"/>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11. 404 activity near the trigger of a hindleg kick.</a:t>
            </a:r>
            <a:endParaRPr sz="1800">
              <a:solidFill>
                <a:schemeClr val="dk1"/>
              </a:solidFill>
              <a:latin typeface="Calibri"/>
              <a:ea typeface="Calibri"/>
              <a:cs typeface="Calibri"/>
              <a:sym typeface="Calibri"/>
            </a:endParaRPr>
          </a:p>
        </p:txBody>
      </p:sp>
      <p:pic>
        <p:nvPicPr>
          <p:cNvPr id="415" name="Google Shape;415;p30"/>
          <p:cNvPicPr preferRelativeResize="0"/>
          <p:nvPr/>
        </p:nvPicPr>
        <p:blipFill rotWithShape="1">
          <a:blip r:embed="rId4">
            <a:alphaModFix/>
          </a:blip>
          <a:srcRect b="0" l="0" r="0" t="0"/>
          <a:stretch/>
        </p:blipFill>
        <p:spPr>
          <a:xfrm>
            <a:off x="7992515" y="3589883"/>
            <a:ext cx="2226770" cy="1847850"/>
          </a:xfrm>
          <a:prstGeom prst="rect">
            <a:avLst/>
          </a:prstGeom>
          <a:noFill/>
          <a:ln>
            <a:noFill/>
          </a:ln>
        </p:spPr>
      </p:pic>
      <p:sp>
        <p:nvSpPr>
          <p:cNvPr id="416" name="Google Shape;416;p30"/>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Pearson et al. (1985), Fig. 1. Filled 404 neuron in the thoracic nervous system.</a:t>
            </a:r>
            <a:endParaRPr sz="1800">
              <a:solidFill>
                <a:schemeClr val="dk1"/>
              </a:solidFill>
              <a:latin typeface="Calibri"/>
              <a:ea typeface="Calibri"/>
              <a:cs typeface="Calibri"/>
              <a:sym typeface="Calibri"/>
            </a:endParaRPr>
          </a:p>
        </p:txBody>
      </p:sp>
      <p:sp>
        <p:nvSpPr>
          <p:cNvPr id="417" name="Google Shape;417;p30"/>
          <p:cNvSpPr/>
          <p:nvPr/>
        </p:nvSpPr>
        <p:spPr>
          <a:xfrm>
            <a:off x="457200" y="6496050"/>
            <a:ext cx="1107877"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Pearson et al. (1985)</a:t>
            </a:r>
            <a:endParaRPr sz="1800">
              <a:solidFill>
                <a:schemeClr val="dk1"/>
              </a:solidFill>
              <a:latin typeface="Calibri"/>
              <a:ea typeface="Calibri"/>
              <a:cs typeface="Calibri"/>
              <a:sym typeface="Calibri"/>
            </a:endParaRPr>
          </a:p>
        </p:txBody>
      </p:sp>
      <p:sp>
        <p:nvSpPr>
          <p:cNvPr id="418" name="Google Shape;418;p30"/>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23</a:t>
            </a:r>
            <a:endParaRPr sz="1800">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2" name="Shape 422"/>
        <p:cNvGrpSpPr/>
        <p:nvPr/>
      </p:nvGrpSpPr>
      <p:grpSpPr>
        <a:xfrm>
          <a:off x="0" y="0"/>
          <a:ext cx="0" cy="0"/>
          <a:chOff x="0" y="0"/>
          <a:chExt cx="0" cy="0"/>
        </a:xfrm>
      </p:grpSpPr>
      <p:sp>
        <p:nvSpPr>
          <p:cNvPr id="423" name="Google Shape;423;p31"/>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Interneuron 301 can advance or delay the next cycle</a:t>
            </a:r>
            <a:endParaRPr sz="1800">
              <a:solidFill>
                <a:schemeClr val="dk1"/>
              </a:solidFill>
              <a:latin typeface="Calibri"/>
              <a:ea typeface="Calibri"/>
              <a:cs typeface="Calibri"/>
              <a:sym typeface="Calibri"/>
            </a:endParaRPr>
          </a:p>
        </p:txBody>
      </p:sp>
      <p:sp>
        <p:nvSpPr>
          <p:cNvPr id="424" name="Google Shape;424;p31"/>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neuron’s rhythmic firing does not by itself establish that it helps generate the rhythm. Robertson and Pearson injected brief current pulses into identified interneuron 301 during fictive flight and measured the timing of subsequent dorsal longitudinal motor bursts.</a:t>
            </a:r>
            <a:endParaRPr sz="1800">
              <a:solidFill>
                <a:schemeClr val="dk1"/>
              </a:solidFill>
              <a:latin typeface="Calibri"/>
              <a:ea typeface="Calibri"/>
              <a:cs typeface="Calibri"/>
              <a:sym typeface="Calibri"/>
            </a:endParaRPr>
          </a:p>
        </p:txBody>
      </p:sp>
      <p:sp>
        <p:nvSpPr>
          <p:cNvPr id="425" name="Google Shape;425;p31"/>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30 ms depolarizing pulse could advance or delay the next cycle depending on when it occurred. </a:t>
            </a:r>
            <a:r>
              <a:rPr b="1" i="0" lang="en-US" sz="1425">
                <a:solidFill>
                  <a:srgbClr val="292329"/>
                </a:solidFill>
                <a:latin typeface="Arial"/>
                <a:ea typeface="Arial"/>
                <a:cs typeface="Arial"/>
                <a:sym typeface="Arial"/>
              </a:rPr>
              <a:t>Phase</a:t>
            </a:r>
            <a:r>
              <a:rPr b="0" i="0" lang="en-US" sz="1425">
                <a:solidFill>
                  <a:srgbClr val="292329"/>
                </a:solidFill>
                <a:latin typeface="Arial"/>
                <a:ea typeface="Arial"/>
                <a:cs typeface="Arial"/>
                <a:sym typeface="Arial"/>
              </a:rPr>
              <a:t> specifies the position within a repeating cycle; a </a:t>
            </a:r>
            <a:r>
              <a:rPr b="1" i="0" lang="en-US" sz="1425">
                <a:solidFill>
                  <a:srgbClr val="292329"/>
                </a:solidFill>
                <a:latin typeface="Arial"/>
                <a:ea typeface="Arial"/>
                <a:cs typeface="Arial"/>
                <a:sym typeface="Arial"/>
              </a:rPr>
              <a:t>phase-response curve</a:t>
            </a:r>
            <a:r>
              <a:rPr b="0" i="0" lang="en-US" sz="1425">
                <a:solidFill>
                  <a:srgbClr val="292329"/>
                </a:solidFill>
                <a:latin typeface="Arial"/>
                <a:ea typeface="Arial"/>
                <a:cs typeface="Arial"/>
                <a:sym typeface="Arial"/>
              </a:rPr>
              <a:t> relates the timing of a perturbation to its effect on the rhythm. The neuron’s branches span mesothoracic and metathoracic regions.</a:t>
            </a:r>
            <a:endParaRPr sz="1800">
              <a:solidFill>
                <a:schemeClr val="dk1"/>
              </a:solidFill>
              <a:latin typeface="Calibri"/>
              <a:ea typeface="Calibri"/>
              <a:cs typeface="Calibri"/>
              <a:sym typeface="Calibri"/>
            </a:endParaRPr>
          </a:p>
        </p:txBody>
      </p:sp>
      <p:sp>
        <p:nvSpPr>
          <p:cNvPr id="426" name="Google Shape;426;p31"/>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Phase-dependent resetting supplies causal evidence for participation in rhythm generation. 301 fires with elevator-related activity, and its branches in two thoracic ganglia suit it to coordinate forewing and hindwing circuits within one rhythm.</a:t>
            </a:r>
            <a:endParaRPr sz="1800">
              <a:solidFill>
                <a:schemeClr val="dk1"/>
              </a:solidFill>
              <a:latin typeface="Calibri"/>
              <a:ea typeface="Calibri"/>
              <a:cs typeface="Calibri"/>
              <a:sym typeface="Calibri"/>
            </a:endParaRPr>
          </a:p>
        </p:txBody>
      </p:sp>
      <p:pic>
        <p:nvPicPr>
          <p:cNvPr id="427" name="Google Shape;427;p31"/>
          <p:cNvPicPr preferRelativeResize="0"/>
          <p:nvPr/>
        </p:nvPicPr>
        <p:blipFill rotWithShape="1">
          <a:blip r:embed="rId3">
            <a:alphaModFix/>
          </a:blip>
          <a:srcRect b="0" l="0" r="0" t="0"/>
          <a:stretch/>
        </p:blipFill>
        <p:spPr>
          <a:xfrm>
            <a:off x="6477000" y="1727327"/>
            <a:ext cx="5257800" cy="2910725"/>
          </a:xfrm>
          <a:prstGeom prst="rect">
            <a:avLst/>
          </a:prstGeom>
          <a:noFill/>
          <a:ln>
            <a:noFill/>
          </a:ln>
        </p:spPr>
      </p:pic>
      <p:sp>
        <p:nvSpPr>
          <p:cNvPr id="428" name="Google Shape;428;p31"/>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1. 301 anatomy and phase-response measurements.</a:t>
            </a:r>
            <a:endParaRPr sz="1800">
              <a:solidFill>
                <a:schemeClr val="dk1"/>
              </a:solidFill>
              <a:latin typeface="Calibri"/>
              <a:ea typeface="Calibri"/>
              <a:cs typeface="Calibri"/>
              <a:sym typeface="Calibri"/>
            </a:endParaRPr>
          </a:p>
        </p:txBody>
      </p:sp>
      <p:sp>
        <p:nvSpPr>
          <p:cNvPr id="429" name="Google Shape;429;p31"/>
          <p:cNvSpPr/>
          <p:nvPr/>
        </p:nvSpPr>
        <p:spPr>
          <a:xfrm>
            <a:off x="457200" y="6496050"/>
            <a:ext cx="1519535"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Robertson &amp; Pearson (1985)</a:t>
            </a:r>
            <a:endParaRPr sz="1800">
              <a:solidFill>
                <a:schemeClr val="dk1"/>
              </a:solidFill>
              <a:latin typeface="Calibri"/>
              <a:ea typeface="Calibri"/>
              <a:cs typeface="Calibri"/>
              <a:sym typeface="Calibri"/>
            </a:endParaRPr>
          </a:p>
        </p:txBody>
      </p:sp>
      <p:sp>
        <p:nvSpPr>
          <p:cNvPr id="430" name="Google Shape;430;p31"/>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24</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4" name="Shape 434"/>
        <p:cNvGrpSpPr/>
        <p:nvPr/>
      </p:nvGrpSpPr>
      <p:grpSpPr>
        <a:xfrm>
          <a:off x="0" y="0"/>
          <a:ext cx="0" cy="0"/>
          <a:chOff x="0" y="0"/>
          <a:chExt cx="0" cy="0"/>
        </a:xfrm>
      </p:grpSpPr>
      <p:sp>
        <p:nvSpPr>
          <p:cNvPr id="435" name="Google Shape;435;p32"/>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Interneuron 501 supplies phase-dependent delays</a:t>
            </a:r>
            <a:endParaRPr sz="1800">
              <a:solidFill>
                <a:schemeClr val="dk1"/>
              </a:solidFill>
              <a:latin typeface="Calibri"/>
              <a:ea typeface="Calibri"/>
              <a:cs typeface="Calibri"/>
              <a:sym typeface="Calibri"/>
            </a:endParaRPr>
          </a:p>
        </p:txBody>
      </p:sp>
      <p:sp>
        <p:nvSpPr>
          <p:cNvPr id="436" name="Google Shape;436;p32"/>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Robertson and Pearson tested interneuron 501 with the same phase-dependent current-injection approach used for 301. The dye-filled cell was identified within the metathoracic ganglion. Both neurons expressed flight-related activity, but their resetting effects differed.</a:t>
            </a:r>
            <a:endParaRPr sz="1800">
              <a:solidFill>
                <a:schemeClr val="dk1"/>
              </a:solidFill>
              <a:latin typeface="Calibri"/>
              <a:ea typeface="Calibri"/>
              <a:cs typeface="Calibri"/>
              <a:sym typeface="Calibri"/>
            </a:endParaRPr>
          </a:p>
        </p:txBody>
      </p:sp>
      <p:sp>
        <p:nvSpPr>
          <p:cNvPr id="437" name="Google Shape;437;p32"/>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Brief depolarizing pulses into 501 reliably delayed the following cycle over particular phases. Apparent advances were not clearly separable from ordinary cycle variation. Its inhibitory connections included elevator-related pathways, whereas its own burst was associated with the depressor phase.</a:t>
            </a:r>
            <a:endParaRPr sz="1800">
              <a:solidFill>
                <a:schemeClr val="dk1"/>
              </a:solidFill>
              <a:latin typeface="Calibri"/>
              <a:ea typeface="Calibri"/>
              <a:cs typeface="Calibri"/>
              <a:sym typeface="Calibri"/>
            </a:endParaRPr>
          </a:p>
        </p:txBody>
      </p:sp>
      <p:sp>
        <p:nvSpPr>
          <p:cNvPr id="438" name="Google Shape;438;p32"/>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distinction between 301 and 501 argues against treating every rhythmically active interneuron as functionally interchangeable. 501 can alter when the network moves into its following cycle. It also inhibits 301 within about 3 ms, so the two resetting cells are directly connected.</a:t>
            </a:r>
            <a:endParaRPr sz="1800">
              <a:solidFill>
                <a:schemeClr val="dk1"/>
              </a:solidFill>
              <a:latin typeface="Calibri"/>
              <a:ea typeface="Calibri"/>
              <a:cs typeface="Calibri"/>
              <a:sym typeface="Calibri"/>
            </a:endParaRPr>
          </a:p>
        </p:txBody>
      </p:sp>
      <p:pic>
        <p:nvPicPr>
          <p:cNvPr id="439" name="Google Shape;439;p32"/>
          <p:cNvPicPr preferRelativeResize="0"/>
          <p:nvPr/>
        </p:nvPicPr>
        <p:blipFill rotWithShape="1">
          <a:blip r:embed="rId3">
            <a:alphaModFix/>
          </a:blip>
          <a:srcRect b="0" l="0" r="0" t="0"/>
          <a:stretch/>
        </p:blipFill>
        <p:spPr>
          <a:xfrm>
            <a:off x="6477000" y="1977066"/>
            <a:ext cx="5257800" cy="2411248"/>
          </a:xfrm>
          <a:prstGeom prst="rect">
            <a:avLst/>
          </a:prstGeom>
          <a:noFill/>
          <a:ln>
            <a:noFill/>
          </a:ln>
        </p:spPr>
      </p:pic>
      <p:sp>
        <p:nvSpPr>
          <p:cNvPr id="440" name="Google Shape;440;p32"/>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2. 501 morphology and resetting curve.</a:t>
            </a:r>
            <a:endParaRPr sz="1800">
              <a:solidFill>
                <a:schemeClr val="dk1"/>
              </a:solidFill>
              <a:latin typeface="Calibri"/>
              <a:ea typeface="Calibri"/>
              <a:cs typeface="Calibri"/>
              <a:sym typeface="Calibri"/>
            </a:endParaRPr>
          </a:p>
        </p:txBody>
      </p:sp>
      <p:sp>
        <p:nvSpPr>
          <p:cNvPr id="441" name="Google Shape;441;p32"/>
          <p:cNvSpPr/>
          <p:nvPr/>
        </p:nvSpPr>
        <p:spPr>
          <a:xfrm>
            <a:off x="457200" y="6496050"/>
            <a:ext cx="1519535"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Robertson &amp; Pearson (1985)</a:t>
            </a:r>
            <a:endParaRPr sz="1800">
              <a:solidFill>
                <a:schemeClr val="dk1"/>
              </a:solidFill>
              <a:latin typeface="Calibri"/>
              <a:ea typeface="Calibri"/>
              <a:cs typeface="Calibri"/>
              <a:sym typeface="Calibri"/>
            </a:endParaRPr>
          </a:p>
        </p:txBody>
      </p:sp>
      <p:sp>
        <p:nvSpPr>
          <p:cNvPr id="442" name="Google Shape;442;p32"/>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25</a:t>
            </a:r>
            <a:endParaRPr sz="18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sp>
        <p:nvSpPr>
          <p:cNvPr id="447" name="Google Shape;447;p33"/>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Resetting separates oscillator parts from followers</a:t>
            </a:r>
            <a:endParaRPr sz="1800">
              <a:solidFill>
                <a:schemeClr val="dk1"/>
              </a:solidFill>
              <a:latin typeface="Calibri"/>
              <a:ea typeface="Calibri"/>
              <a:cs typeface="Calibri"/>
              <a:sym typeface="Calibri"/>
            </a:endParaRPr>
          </a:p>
        </p:txBody>
      </p:sp>
      <p:sp>
        <p:nvSpPr>
          <p:cNvPr id="448" name="Google Shape;448;p33"/>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a:t>
            </a:r>
            <a:r>
              <a:rPr b="1" i="0" lang="en-US" sz="1425">
                <a:solidFill>
                  <a:srgbClr val="292329"/>
                </a:solidFill>
                <a:latin typeface="Arial"/>
                <a:ea typeface="Arial"/>
                <a:cs typeface="Arial"/>
                <a:sym typeface="Arial"/>
              </a:rPr>
              <a:t>phase-response curve</a:t>
            </a:r>
            <a:r>
              <a:rPr b="0" i="0" lang="en-US" sz="1425">
                <a:solidFill>
                  <a:srgbClr val="292329"/>
                </a:solidFill>
                <a:latin typeface="Arial"/>
                <a:ea typeface="Arial"/>
                <a:cs typeface="Arial"/>
                <a:sym typeface="Arial"/>
              </a:rPr>
              <a:t> plots how far a brief pulse shifts later cycles against the phase at which it arrives. Its logic rests on a property of oscillators: the timing of the rhythm is held in the state of its own elements, so pushing one element moves every cycle that follows.</a:t>
            </a:r>
            <a:endParaRPr sz="1800">
              <a:solidFill>
                <a:schemeClr val="dk1"/>
              </a:solidFill>
              <a:latin typeface="Calibri"/>
              <a:ea typeface="Calibri"/>
              <a:cs typeface="Calibri"/>
              <a:sym typeface="Calibri"/>
            </a:endParaRPr>
          </a:p>
        </p:txBody>
      </p:sp>
      <p:sp>
        <p:nvSpPr>
          <p:cNvPr id="449" name="Google Shape;449;p33"/>
          <p:cNvSpPr/>
          <p:nvPr/>
        </p:nvSpPr>
        <p:spPr>
          <a:xfrm>
            <a:off x="457200" y="2669292"/>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follower neuron behaves differently. Driving it changes its own spikes, but the oscillator keeps its schedule and the motor burst arrives on time. Resetting by 301 and 501 therefore places both cells inside the timing machinery rather than downstream of it.</a:t>
            </a:r>
            <a:endParaRPr sz="1800">
              <a:solidFill>
                <a:schemeClr val="dk1"/>
              </a:solidFill>
              <a:latin typeface="Calibri"/>
              <a:ea typeface="Calibri"/>
              <a:cs typeface="Calibri"/>
              <a:sym typeface="Calibri"/>
            </a:endParaRPr>
          </a:p>
        </p:txBody>
      </p:sp>
      <p:sp>
        <p:nvSpPr>
          <p:cNvPr id="450" name="Google Shape;450;p33"/>
          <p:cNvSpPr/>
          <p:nvPr/>
        </p:nvSpPr>
        <p:spPr>
          <a:xfrm>
            <a:off x="457200" y="4036320"/>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shape of each curve also points to each cell’s job. Advances and delays from 301 mean it can hasten or postpone the transition it helps start, whereas consistent delays from 501, which fires with the depressor phase and inhibits elevator pathways, fit a cell that prolongs the phase in which it is active.</a:t>
            </a:r>
            <a:endParaRPr sz="1800">
              <a:solidFill>
                <a:schemeClr val="dk1"/>
              </a:solidFill>
              <a:latin typeface="Calibri"/>
              <a:ea typeface="Calibri"/>
              <a:cs typeface="Calibri"/>
              <a:sym typeface="Calibri"/>
            </a:endParaRPr>
          </a:p>
        </p:txBody>
      </p:sp>
      <p:pic>
        <p:nvPicPr>
          <p:cNvPr id="451" name="Google Shape;451;p33"/>
          <p:cNvPicPr preferRelativeResize="0"/>
          <p:nvPr/>
        </p:nvPicPr>
        <p:blipFill rotWithShape="1">
          <a:blip r:embed="rId3">
            <a:alphaModFix/>
          </a:blip>
          <a:srcRect b="0" l="0" r="0" t="0"/>
          <a:stretch/>
        </p:blipFill>
        <p:spPr>
          <a:xfrm>
            <a:off x="6477000" y="1727327"/>
            <a:ext cx="5257800" cy="2910725"/>
          </a:xfrm>
          <a:prstGeom prst="rect">
            <a:avLst/>
          </a:prstGeom>
          <a:noFill/>
          <a:ln>
            <a:noFill/>
          </a:ln>
        </p:spPr>
      </p:pic>
      <p:sp>
        <p:nvSpPr>
          <p:cNvPr id="452" name="Google Shape;452;p33"/>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1. 301 anatomy and phase-response measurements.</a:t>
            </a:r>
            <a:endParaRPr sz="1800">
              <a:solidFill>
                <a:schemeClr val="dk1"/>
              </a:solidFill>
              <a:latin typeface="Calibri"/>
              <a:ea typeface="Calibri"/>
              <a:cs typeface="Calibri"/>
              <a:sym typeface="Calibri"/>
            </a:endParaRPr>
          </a:p>
        </p:txBody>
      </p:sp>
      <p:sp>
        <p:nvSpPr>
          <p:cNvPr id="453" name="Google Shape;453;p33"/>
          <p:cNvSpPr/>
          <p:nvPr/>
        </p:nvSpPr>
        <p:spPr>
          <a:xfrm>
            <a:off x="457200" y="6496050"/>
            <a:ext cx="168960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Robertson &amp; Pearson (1985)</a:t>
            </a:r>
            <a:endParaRPr sz="1800">
              <a:solidFill>
                <a:schemeClr val="dk1"/>
              </a:solidFill>
              <a:latin typeface="Calibri"/>
              <a:ea typeface="Calibri"/>
              <a:cs typeface="Calibri"/>
              <a:sym typeface="Calibri"/>
            </a:endParaRPr>
          </a:p>
        </p:txBody>
      </p:sp>
      <p:sp>
        <p:nvSpPr>
          <p:cNvPr id="454" name="Google Shape;454;p33"/>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25a</a:t>
            </a:r>
            <a:endParaRPr sz="1800">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8" name="Shape 458"/>
        <p:cNvGrpSpPr/>
        <p:nvPr/>
      </p:nvGrpSpPr>
      <p:grpSpPr>
        <a:xfrm>
          <a:off x="0" y="0"/>
          <a:ext cx="0" cy="0"/>
          <a:chOff x="0" y="0"/>
          <a:chExt cx="0" cy="0"/>
        </a:xfrm>
      </p:grpSpPr>
      <p:sp>
        <p:nvSpPr>
          <p:cNvPr id="459" name="Google Shape;459;p34"/>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Delayed excitation and fast inhibition couple 301 and 501</a:t>
            </a:r>
            <a:endParaRPr sz="1800">
              <a:solidFill>
                <a:schemeClr val="dk1"/>
              </a:solidFill>
              <a:latin typeface="Calibri"/>
              <a:ea typeface="Calibri"/>
              <a:cs typeface="Calibri"/>
              <a:sym typeface="Calibri"/>
            </a:endParaRPr>
          </a:p>
        </p:txBody>
      </p:sp>
      <p:sp>
        <p:nvSpPr>
          <p:cNvPr id="460" name="Google Shape;460;p34"/>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Robertson and Pearson recorded simultaneously from interneurons 301 and 501. A </a:t>
            </a:r>
            <a:r>
              <a:rPr b="1" i="0" lang="en-US" sz="1425">
                <a:solidFill>
                  <a:srgbClr val="292329"/>
                </a:solidFill>
                <a:latin typeface="Arial"/>
                <a:ea typeface="Arial"/>
                <a:cs typeface="Arial"/>
                <a:sym typeface="Arial"/>
              </a:rPr>
              <a:t>postsynaptic potential</a:t>
            </a:r>
            <a:r>
              <a:rPr b="0" i="0" lang="en-US" sz="1425">
                <a:solidFill>
                  <a:srgbClr val="292329"/>
                </a:solidFill>
                <a:latin typeface="Arial"/>
                <a:ea typeface="Arial"/>
                <a:cs typeface="Arial"/>
                <a:sym typeface="Arial"/>
              </a:rPr>
              <a:t> is a change in membrane voltage caused by input from another neuron. An excitatory potential tends to favor firing; an inhibitory potential tends to oppose it under the recorded conditions.</a:t>
            </a:r>
            <a:endParaRPr sz="1800">
              <a:solidFill>
                <a:schemeClr val="dk1"/>
              </a:solidFill>
              <a:latin typeface="Calibri"/>
              <a:ea typeface="Calibri"/>
              <a:cs typeface="Calibri"/>
              <a:sym typeface="Calibri"/>
            </a:endParaRPr>
          </a:p>
        </p:txBody>
      </p:sp>
      <p:sp>
        <p:nvSpPr>
          <p:cNvPr id="461" name="Google Shape;461;p34"/>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spike in 301 preceded a depolarizing potential in 501 by approximately 6 ms. A spike in 501 preceded an inhibitory potential in 301 by approximately 3 ms. The delayed excitation lasted longer than the feedback inhibition and could support alternating activation and release from inhibition.</a:t>
            </a:r>
            <a:endParaRPr sz="1800">
              <a:solidFill>
                <a:schemeClr val="dk1"/>
              </a:solidFill>
              <a:latin typeface="Calibri"/>
              <a:ea typeface="Calibri"/>
              <a:cs typeface="Calibri"/>
              <a:sym typeface="Calibri"/>
            </a:endParaRPr>
          </a:p>
        </p:txBody>
      </p:sp>
      <p:sp>
        <p:nvSpPr>
          <p:cNvPr id="462" name="Google Shape;462;p34"/>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These paired recordings establish directional physiological interactions. Each 301 spike excites 501 after a delay, and each 501 spike quickly inhibits 301, so 301 activity recruits the cell that ends it. Such a reciprocal pair is a circuit motif suited to promoting rhythmic bursting.</a:t>
            </a:r>
            <a:endParaRPr sz="1800">
              <a:solidFill>
                <a:schemeClr val="dk1"/>
              </a:solidFill>
              <a:latin typeface="Calibri"/>
              <a:ea typeface="Calibri"/>
              <a:cs typeface="Calibri"/>
              <a:sym typeface="Calibri"/>
            </a:endParaRPr>
          </a:p>
        </p:txBody>
      </p:sp>
      <p:pic>
        <p:nvPicPr>
          <p:cNvPr id="463" name="Google Shape;463;p34"/>
          <p:cNvPicPr preferRelativeResize="0"/>
          <p:nvPr/>
        </p:nvPicPr>
        <p:blipFill rotWithShape="1">
          <a:blip r:embed="rId3">
            <a:alphaModFix/>
          </a:blip>
          <a:srcRect b="0" l="0" r="0" t="0"/>
          <a:stretch/>
        </p:blipFill>
        <p:spPr>
          <a:xfrm>
            <a:off x="7655928" y="1063377"/>
            <a:ext cx="2899943" cy="2152650"/>
          </a:xfrm>
          <a:prstGeom prst="rect">
            <a:avLst/>
          </a:prstGeom>
          <a:noFill/>
          <a:ln>
            <a:noFill/>
          </a:ln>
        </p:spPr>
      </p:pic>
      <p:sp>
        <p:nvSpPr>
          <p:cNvPr id="464" name="Google Shape;464;p34"/>
          <p:cNvSpPr/>
          <p:nvPr/>
        </p:nvSpPr>
        <p:spPr>
          <a:xfrm>
            <a:off x="6477000" y="3282702"/>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3. Paired recordings of delayed excitation and feedback inhibition.</a:t>
            </a:r>
            <a:endParaRPr sz="1800">
              <a:solidFill>
                <a:schemeClr val="dk1"/>
              </a:solidFill>
              <a:latin typeface="Calibri"/>
              <a:ea typeface="Calibri"/>
              <a:cs typeface="Calibri"/>
              <a:sym typeface="Calibri"/>
            </a:endParaRPr>
          </a:p>
        </p:txBody>
      </p:sp>
      <p:pic>
        <p:nvPicPr>
          <p:cNvPr id="465" name="Google Shape;465;p34"/>
          <p:cNvPicPr preferRelativeResize="0"/>
          <p:nvPr/>
        </p:nvPicPr>
        <p:blipFill rotWithShape="1">
          <a:blip r:embed="rId4">
            <a:alphaModFix/>
          </a:blip>
          <a:srcRect b="0" l="0" r="0" t="0"/>
          <a:stretch/>
        </p:blipFill>
        <p:spPr>
          <a:xfrm>
            <a:off x="8585562" y="3744664"/>
            <a:ext cx="1040677" cy="1847850"/>
          </a:xfrm>
          <a:prstGeom prst="rect">
            <a:avLst/>
          </a:prstGeom>
          <a:noFill/>
          <a:ln>
            <a:noFill/>
          </a:ln>
        </p:spPr>
      </p:pic>
      <p:sp>
        <p:nvSpPr>
          <p:cNvPr id="466" name="Google Shape;466;p34"/>
          <p:cNvSpPr/>
          <p:nvPr/>
        </p:nvSpPr>
        <p:spPr>
          <a:xfrm>
            <a:off x="6477000" y="5659189"/>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1(A). Filled interneuron 301 across two thoracic ganglia.</a:t>
            </a:r>
            <a:endParaRPr sz="1800">
              <a:solidFill>
                <a:schemeClr val="dk1"/>
              </a:solidFill>
              <a:latin typeface="Calibri"/>
              <a:ea typeface="Calibri"/>
              <a:cs typeface="Calibri"/>
              <a:sym typeface="Calibri"/>
            </a:endParaRPr>
          </a:p>
        </p:txBody>
      </p:sp>
      <p:sp>
        <p:nvSpPr>
          <p:cNvPr id="467" name="Google Shape;467;p34"/>
          <p:cNvSpPr/>
          <p:nvPr/>
        </p:nvSpPr>
        <p:spPr>
          <a:xfrm>
            <a:off x="457200" y="6496050"/>
            <a:ext cx="1519535"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Robertson &amp; Pearson (1985)</a:t>
            </a:r>
            <a:endParaRPr sz="1800">
              <a:solidFill>
                <a:schemeClr val="dk1"/>
              </a:solidFill>
              <a:latin typeface="Calibri"/>
              <a:ea typeface="Calibri"/>
              <a:cs typeface="Calibri"/>
              <a:sym typeface="Calibri"/>
            </a:endParaRPr>
          </a:p>
        </p:txBody>
      </p:sp>
      <p:sp>
        <p:nvSpPr>
          <p:cNvPr id="468" name="Google Shape;468;p34"/>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26</a:t>
            </a:r>
            <a:endParaRPr sz="1800">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2" name="Shape 472"/>
        <p:cNvGrpSpPr/>
        <p:nvPr/>
      </p:nvGrpSpPr>
      <p:grpSpPr>
        <a:xfrm>
          <a:off x="0" y="0"/>
          <a:ext cx="0" cy="0"/>
          <a:chOff x="0" y="0"/>
          <a:chExt cx="0" cy="0"/>
        </a:xfrm>
      </p:grpSpPr>
      <p:sp>
        <p:nvSpPr>
          <p:cNvPr id="473" name="Google Shape;473;p35"/>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A depolarizing response can arise from disinhibition</a:t>
            </a:r>
            <a:endParaRPr sz="1800">
              <a:solidFill>
                <a:schemeClr val="dk1"/>
              </a:solidFill>
              <a:latin typeface="Calibri"/>
              <a:ea typeface="Calibri"/>
              <a:cs typeface="Calibri"/>
              <a:sym typeface="Calibri"/>
            </a:endParaRPr>
          </a:p>
        </p:txBody>
      </p:sp>
      <p:sp>
        <p:nvSpPr>
          <p:cNvPr id="474" name="Google Shape;474;p35"/>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Disinhibition</a:t>
            </a:r>
            <a:r>
              <a:rPr b="0" i="0" lang="en-US" sz="1425">
                <a:solidFill>
                  <a:srgbClr val="292329"/>
                </a:solidFill>
                <a:latin typeface="Arial"/>
                <a:ea typeface="Arial"/>
                <a:cs typeface="Arial"/>
                <a:sym typeface="Arial"/>
              </a:rPr>
              <a:t> is excitation caused by reducing an inhibitory influence. Robertson and Pearson hyperpolarized 501 while monitoring its delayed response to 301 spikes. A direct increase in excitatory conductance and a reduction in inhibitory conductance need not behave the same way when membrane voltage changes.</a:t>
            </a:r>
            <a:endParaRPr sz="1800">
              <a:solidFill>
                <a:schemeClr val="dk1"/>
              </a:solidFill>
              <a:latin typeface="Calibri"/>
              <a:ea typeface="Calibri"/>
              <a:cs typeface="Calibri"/>
              <a:sym typeface="Calibri"/>
            </a:endParaRPr>
          </a:p>
        </p:txBody>
      </p:sp>
      <p:sp>
        <p:nvSpPr>
          <p:cNvPr id="475" name="Google Shape;475;p35"/>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delayed depolarizing potential decreased and reversed sign near 6 nA of hyperpolarizing current. Spontaneous inhibitory potentials reversed at a similar point. Chloride loading reduced the delayed potential, consistent with an inhibitory conductance contributing to its origin.</a:t>
            </a:r>
            <a:endParaRPr sz="1800">
              <a:solidFill>
                <a:schemeClr val="dk1"/>
              </a:solidFill>
              <a:latin typeface="Calibri"/>
              <a:ea typeface="Calibri"/>
              <a:cs typeface="Calibri"/>
              <a:sym typeface="Calibri"/>
            </a:endParaRPr>
          </a:p>
        </p:txBody>
      </p:sp>
      <p:sp>
        <p:nvSpPr>
          <p:cNvPr id="476" name="Google Shape;476;p35"/>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An identified pathway through interneuron 511 contained inhibition from 301 to 511 and from 511 to 501. In the authors’ interpretation, 301 inhibits graded, tonic transmitter release from intercalated neurons, so the delayed excitation travels a disynaptic route.</a:t>
            </a:r>
            <a:endParaRPr sz="1800">
              <a:solidFill>
                <a:schemeClr val="dk1"/>
              </a:solidFill>
              <a:latin typeface="Calibri"/>
              <a:ea typeface="Calibri"/>
              <a:cs typeface="Calibri"/>
              <a:sym typeface="Calibri"/>
            </a:endParaRPr>
          </a:p>
        </p:txBody>
      </p:sp>
      <p:pic>
        <p:nvPicPr>
          <p:cNvPr id="477" name="Google Shape;477;p35"/>
          <p:cNvPicPr preferRelativeResize="0"/>
          <p:nvPr/>
        </p:nvPicPr>
        <p:blipFill rotWithShape="1">
          <a:blip r:embed="rId3">
            <a:alphaModFix/>
          </a:blip>
          <a:srcRect b="0" l="0" r="0" t="0"/>
          <a:stretch/>
        </p:blipFill>
        <p:spPr>
          <a:xfrm>
            <a:off x="6477000" y="1479108"/>
            <a:ext cx="3429000" cy="3340489"/>
          </a:xfrm>
          <a:prstGeom prst="rect">
            <a:avLst/>
          </a:prstGeom>
          <a:noFill/>
          <a:ln>
            <a:noFill/>
          </a:ln>
        </p:spPr>
      </p:pic>
      <p:sp>
        <p:nvSpPr>
          <p:cNvPr id="478" name="Google Shape;478;p35"/>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6. Delayed potentials reverse during hyperpolarizing current injection.</a:t>
            </a:r>
            <a:endParaRPr sz="1800">
              <a:solidFill>
                <a:schemeClr val="dk1"/>
              </a:solidFill>
              <a:latin typeface="Calibri"/>
              <a:ea typeface="Calibri"/>
              <a:cs typeface="Calibri"/>
              <a:sym typeface="Calibri"/>
            </a:endParaRPr>
          </a:p>
        </p:txBody>
      </p:sp>
      <p:pic>
        <p:nvPicPr>
          <p:cNvPr id="479" name="Google Shape;479;p35"/>
          <p:cNvPicPr preferRelativeResize="0"/>
          <p:nvPr/>
        </p:nvPicPr>
        <p:blipFill rotWithShape="1">
          <a:blip r:embed="rId4">
            <a:alphaModFix/>
          </a:blip>
          <a:srcRect b="0" l="0" r="0" t="0"/>
          <a:stretch/>
        </p:blipFill>
        <p:spPr>
          <a:xfrm>
            <a:off x="10058400" y="2854609"/>
            <a:ext cx="1676400" cy="703786"/>
          </a:xfrm>
          <a:prstGeom prst="rect">
            <a:avLst/>
          </a:prstGeom>
          <a:noFill/>
          <a:ln>
            <a:noFill/>
          </a:ln>
        </p:spPr>
      </p:pic>
      <p:sp>
        <p:nvSpPr>
          <p:cNvPr id="480" name="Google Shape;480;p35"/>
          <p:cNvSpPr/>
          <p:nvPr/>
        </p:nvSpPr>
        <p:spPr>
          <a:xfrm>
            <a:off x="10058400" y="4749552"/>
            <a:ext cx="1695450" cy="619125"/>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7. Recorded inhibitory links through interneuron 511.</a:t>
            </a:r>
            <a:endParaRPr sz="1800">
              <a:solidFill>
                <a:schemeClr val="dk1"/>
              </a:solidFill>
              <a:latin typeface="Calibri"/>
              <a:ea typeface="Calibri"/>
              <a:cs typeface="Calibri"/>
              <a:sym typeface="Calibri"/>
            </a:endParaRPr>
          </a:p>
        </p:txBody>
      </p:sp>
      <p:sp>
        <p:nvSpPr>
          <p:cNvPr id="481" name="Google Shape;481;p35"/>
          <p:cNvSpPr/>
          <p:nvPr/>
        </p:nvSpPr>
        <p:spPr>
          <a:xfrm>
            <a:off x="457200" y="6496050"/>
            <a:ext cx="1519535"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Robertson &amp; Pearson (1985)</a:t>
            </a:r>
            <a:endParaRPr sz="1800">
              <a:solidFill>
                <a:schemeClr val="dk1"/>
              </a:solidFill>
              <a:latin typeface="Calibri"/>
              <a:ea typeface="Calibri"/>
              <a:cs typeface="Calibri"/>
              <a:sym typeface="Calibri"/>
            </a:endParaRPr>
          </a:p>
        </p:txBody>
      </p:sp>
      <p:sp>
        <p:nvSpPr>
          <p:cNvPr id="482" name="Google Shape;482;p35"/>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27</a:t>
            </a:r>
            <a:endParaRPr sz="1800">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6" name="Shape 486"/>
        <p:cNvGrpSpPr/>
        <p:nvPr/>
      </p:nvGrpSpPr>
      <p:grpSpPr>
        <a:xfrm>
          <a:off x="0" y="0"/>
          <a:ext cx="0" cy="0"/>
          <a:chOff x="0" y="0"/>
          <a:chExt cx="0" cy="0"/>
        </a:xfrm>
      </p:grpSpPr>
      <p:sp>
        <p:nvSpPr>
          <p:cNvPr id="487" name="Google Shape;487;p36"/>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Picrotoxin disrupts inhibition and delayed excitation</a:t>
            </a:r>
            <a:endParaRPr sz="1800">
              <a:solidFill>
                <a:schemeClr val="dk1"/>
              </a:solidFill>
              <a:latin typeface="Calibri"/>
              <a:ea typeface="Calibri"/>
              <a:cs typeface="Calibri"/>
              <a:sym typeface="Calibri"/>
            </a:endParaRPr>
          </a:p>
        </p:txBody>
      </p:sp>
      <p:sp>
        <p:nvSpPr>
          <p:cNvPr id="488" name="Google Shape;488;p36"/>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Robertson and Pearson applied </a:t>
            </a:r>
            <a:r>
              <a:rPr b="1" i="0" lang="en-US" sz="1425">
                <a:solidFill>
                  <a:srgbClr val="292329"/>
                </a:solidFill>
                <a:latin typeface="Arial"/>
                <a:ea typeface="Arial"/>
                <a:cs typeface="Arial"/>
                <a:sym typeface="Arial"/>
              </a:rPr>
              <a:t>picrotoxin</a:t>
            </a:r>
            <a:r>
              <a:rPr b="0" i="0" lang="en-US" sz="1425">
                <a:solidFill>
                  <a:srgbClr val="292329"/>
                </a:solidFill>
                <a:latin typeface="Arial"/>
                <a:ea typeface="Arial"/>
                <a:cs typeface="Arial"/>
                <a:sym typeface="Arial"/>
              </a:rPr>
              <a:t>, an inhibitor of certain ligand-gated inhibitory channel responses, to test the proposed disinhibitory pathway. The bath concentration was approximately 150 μM. Paired recordings compared the same connections before and after treatment.</a:t>
            </a:r>
            <a:endParaRPr sz="1800">
              <a:solidFill>
                <a:schemeClr val="dk1"/>
              </a:solidFill>
              <a:latin typeface="Calibri"/>
              <a:ea typeface="Calibri"/>
              <a:cs typeface="Calibri"/>
              <a:sym typeface="Calibri"/>
            </a:endParaRPr>
          </a:p>
        </p:txBody>
      </p:sp>
      <p:sp>
        <p:nvSpPr>
          <p:cNvPr id="489" name="Google Shape;489;p36"/>
          <p:cNvSpPr/>
          <p:nvPr/>
        </p:nvSpPr>
        <p:spPr>
          <a:xfrm>
            <a:off x="457200" y="2391073"/>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Within about 4 min, picrotoxin blocked inhibition from 301 to 511 and also the delayed excitation from 301 to 501. Neuron 501 became strongly depolarized and could fire continuously. Rhythmic activity sometimes persisted at 16–18 Hz instead of the usual 10–12 Hz, with altered bursts and disrupted phase relationships.</a:t>
            </a:r>
            <a:endParaRPr sz="1800">
              <a:solidFill>
                <a:schemeClr val="dk1"/>
              </a:solidFill>
              <a:latin typeface="Calibri"/>
              <a:ea typeface="Calibri"/>
              <a:cs typeface="Calibri"/>
              <a:sym typeface="Calibri"/>
            </a:endParaRPr>
          </a:p>
        </p:txBody>
      </p:sp>
      <p:sp>
        <p:nvSpPr>
          <p:cNvPr id="490" name="Google Shape;490;p36"/>
          <p:cNvSpPr/>
          <p:nvPr/>
        </p:nvSpPr>
        <p:spPr>
          <a:xfrm>
            <a:off x="457200" y="395763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Blocking an inhibitory influence can remove a depolarizing response that depends on disinhibition. The faster rhythm with disrupted phases that persisted under picrotoxin indicates that inhibitory connections set both cycle timing and phase, while other oscillatory mechanisms survive the block.</a:t>
            </a:r>
            <a:endParaRPr sz="1800">
              <a:solidFill>
                <a:schemeClr val="dk1"/>
              </a:solidFill>
              <a:latin typeface="Calibri"/>
              <a:ea typeface="Calibri"/>
              <a:cs typeface="Calibri"/>
              <a:sym typeface="Calibri"/>
            </a:endParaRPr>
          </a:p>
        </p:txBody>
      </p:sp>
      <p:pic>
        <p:nvPicPr>
          <p:cNvPr id="491" name="Google Shape;491;p36"/>
          <p:cNvPicPr preferRelativeResize="0"/>
          <p:nvPr/>
        </p:nvPicPr>
        <p:blipFill rotWithShape="1">
          <a:blip r:embed="rId3">
            <a:alphaModFix/>
          </a:blip>
          <a:srcRect b="0" l="0" r="0" t="0"/>
          <a:stretch/>
        </p:blipFill>
        <p:spPr>
          <a:xfrm>
            <a:off x="7434910" y="1063377"/>
            <a:ext cx="3341980" cy="2152650"/>
          </a:xfrm>
          <a:prstGeom prst="rect">
            <a:avLst/>
          </a:prstGeom>
          <a:noFill/>
          <a:ln>
            <a:noFill/>
          </a:ln>
        </p:spPr>
      </p:pic>
      <p:sp>
        <p:nvSpPr>
          <p:cNvPr id="492" name="Google Shape;492;p36"/>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9. 301-to-501 responses before and after picrotoxin.</a:t>
            </a:r>
            <a:endParaRPr sz="1800">
              <a:solidFill>
                <a:schemeClr val="dk1"/>
              </a:solidFill>
              <a:latin typeface="Calibri"/>
              <a:ea typeface="Calibri"/>
              <a:cs typeface="Calibri"/>
              <a:sym typeface="Calibri"/>
            </a:endParaRPr>
          </a:p>
        </p:txBody>
      </p:sp>
      <p:pic>
        <p:nvPicPr>
          <p:cNvPr id="493" name="Google Shape;493;p36"/>
          <p:cNvPicPr preferRelativeResize="0"/>
          <p:nvPr/>
        </p:nvPicPr>
        <p:blipFill rotWithShape="1">
          <a:blip r:embed="rId4">
            <a:alphaModFix/>
          </a:blip>
          <a:srcRect b="0" l="0" r="0" t="0"/>
          <a:stretch/>
        </p:blipFill>
        <p:spPr>
          <a:xfrm>
            <a:off x="6530750" y="3589883"/>
            <a:ext cx="5150300" cy="1847850"/>
          </a:xfrm>
          <a:prstGeom prst="rect">
            <a:avLst/>
          </a:prstGeom>
          <a:noFill/>
          <a:ln>
            <a:noFill/>
          </a:ln>
        </p:spPr>
      </p:pic>
      <p:sp>
        <p:nvSpPr>
          <p:cNvPr id="494" name="Google Shape;494;p36"/>
          <p:cNvSpPr/>
          <p:nvPr/>
        </p:nvSpPr>
        <p:spPr>
          <a:xfrm>
            <a:off x="6477000" y="5504408"/>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8. Picrotoxin blocks the recorded 301-to-511 inhibitory potential.</a:t>
            </a:r>
            <a:endParaRPr sz="1800">
              <a:solidFill>
                <a:schemeClr val="dk1"/>
              </a:solidFill>
              <a:latin typeface="Calibri"/>
              <a:ea typeface="Calibri"/>
              <a:cs typeface="Calibri"/>
              <a:sym typeface="Calibri"/>
            </a:endParaRPr>
          </a:p>
        </p:txBody>
      </p:sp>
      <p:sp>
        <p:nvSpPr>
          <p:cNvPr id="495" name="Google Shape;495;p36"/>
          <p:cNvSpPr/>
          <p:nvPr/>
        </p:nvSpPr>
        <p:spPr>
          <a:xfrm>
            <a:off x="457200" y="6496050"/>
            <a:ext cx="1519535"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Robertson &amp; Pearson (1985)</a:t>
            </a:r>
            <a:endParaRPr sz="1800">
              <a:solidFill>
                <a:schemeClr val="dk1"/>
              </a:solidFill>
              <a:latin typeface="Calibri"/>
              <a:ea typeface="Calibri"/>
              <a:cs typeface="Calibri"/>
              <a:sym typeface="Calibri"/>
            </a:endParaRPr>
          </a:p>
        </p:txBody>
      </p:sp>
      <p:sp>
        <p:nvSpPr>
          <p:cNvPr id="496" name="Google Shape;496;p36"/>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28</a:t>
            </a:r>
            <a:endParaRPr sz="1800">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0" name="Shape 500"/>
        <p:cNvGrpSpPr/>
        <p:nvPr/>
      </p:nvGrpSpPr>
      <p:grpSpPr>
        <a:xfrm>
          <a:off x="0" y="0"/>
          <a:ext cx="0" cy="0"/>
          <a:chOff x="0" y="0"/>
          <a:chExt cx="0" cy="0"/>
        </a:xfrm>
      </p:grpSpPr>
      <p:sp>
        <p:nvSpPr>
          <p:cNvPr id="501" name="Google Shape;501;p37"/>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Disinhibition reverses at the IPSP reversal point</a:t>
            </a:r>
            <a:endParaRPr sz="1800">
              <a:solidFill>
                <a:schemeClr val="dk1"/>
              </a:solidFill>
              <a:latin typeface="Calibri"/>
              <a:ea typeface="Calibri"/>
              <a:cs typeface="Calibri"/>
              <a:sym typeface="Calibri"/>
            </a:endParaRPr>
          </a:p>
        </p:txBody>
      </p:sp>
      <p:sp>
        <p:nvSpPr>
          <p:cNvPr id="502" name="Google Shape;502;p37"/>
          <p:cNvSpPr/>
          <p:nvPr/>
        </p:nvSpPr>
        <p:spPr>
          <a:xfrm>
            <a:off x="457200" y="1063377"/>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a:t>
            </a:r>
            <a:r>
              <a:rPr b="1" i="0" lang="en-US" sz="1425">
                <a:solidFill>
                  <a:srgbClr val="292329"/>
                </a:solidFill>
                <a:latin typeface="Arial"/>
                <a:ea typeface="Arial"/>
                <a:cs typeface="Arial"/>
                <a:sym typeface="Arial"/>
              </a:rPr>
              <a:t>reversal potential</a:t>
            </a:r>
            <a:r>
              <a:rPr b="0" i="0" lang="en-US" sz="1425">
                <a:solidFill>
                  <a:srgbClr val="292329"/>
                </a:solidFill>
                <a:latin typeface="Arial"/>
                <a:ea typeface="Arial"/>
                <a:cs typeface="Arial"/>
                <a:sym typeface="Arial"/>
              </a:rPr>
              <a:t> is the membrane voltage at which a channel’s net current is zero; on either side the current flows in opposite directions. Chloride-dependent inhibition usually reverses below rest, so opening those channels pulls the membrane down.</a:t>
            </a:r>
            <a:endParaRPr sz="1800">
              <a:solidFill>
                <a:schemeClr val="dk1"/>
              </a:solidFill>
              <a:latin typeface="Calibri"/>
              <a:ea typeface="Calibri"/>
              <a:cs typeface="Calibri"/>
              <a:sym typeface="Calibri"/>
            </a:endParaRPr>
          </a:p>
        </p:txBody>
      </p:sp>
      <p:sp>
        <p:nvSpPr>
          <p:cNvPr id="503" name="Google Shape;503;p37"/>
          <p:cNvSpPr/>
          <p:nvPr/>
        </p:nvSpPr>
        <p:spPr>
          <a:xfrm>
            <a:off x="457200" y="2430405"/>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If 501 receives tonic inhibition, part of its resting state is a steady inhibitory current. A 301 spike that briefly silences the inhibiting neuron removes that current, and 501 depolarizes. Holding 501 below the inhibitory reversal potential flips the steady current’s direction, so removing it hyperpolarizes the cell instead.</a:t>
            </a:r>
            <a:endParaRPr sz="1800">
              <a:solidFill>
                <a:schemeClr val="dk1"/>
              </a:solidFill>
              <a:latin typeface="Calibri"/>
              <a:ea typeface="Calibri"/>
              <a:cs typeface="Calibri"/>
              <a:sym typeface="Calibri"/>
            </a:endParaRPr>
          </a:p>
        </p:txBody>
      </p:sp>
      <p:sp>
        <p:nvSpPr>
          <p:cNvPr id="504" name="Google Shape;504;p37"/>
          <p:cNvSpPr/>
          <p:nvPr/>
        </p:nvSpPr>
        <p:spPr>
          <a:xfrm>
            <a:off x="457200" y="4036320"/>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Chloride loading raises the reversal potential and shrinks the steady inhibition, leaving less to remove. Picrotoxin blocks it outright, so 501 depolarized and the delayed potential vanished. All three tests converge on one step: an inhibitory synapse acting on another inhibitory neuron.</a:t>
            </a:r>
            <a:endParaRPr sz="1800">
              <a:solidFill>
                <a:schemeClr val="dk1"/>
              </a:solidFill>
              <a:latin typeface="Calibri"/>
              <a:ea typeface="Calibri"/>
              <a:cs typeface="Calibri"/>
              <a:sym typeface="Calibri"/>
            </a:endParaRPr>
          </a:p>
        </p:txBody>
      </p:sp>
      <p:pic>
        <p:nvPicPr>
          <p:cNvPr id="505" name="Google Shape;505;p37"/>
          <p:cNvPicPr preferRelativeResize="0"/>
          <p:nvPr/>
        </p:nvPicPr>
        <p:blipFill rotWithShape="1">
          <a:blip r:embed="rId3">
            <a:alphaModFix/>
          </a:blip>
          <a:srcRect b="0" l="0" r="0" t="0"/>
          <a:stretch/>
        </p:blipFill>
        <p:spPr>
          <a:xfrm>
            <a:off x="6477000" y="1479108"/>
            <a:ext cx="3429000" cy="3340489"/>
          </a:xfrm>
          <a:prstGeom prst="rect">
            <a:avLst/>
          </a:prstGeom>
          <a:noFill/>
          <a:ln>
            <a:noFill/>
          </a:ln>
        </p:spPr>
      </p:pic>
      <p:sp>
        <p:nvSpPr>
          <p:cNvPr id="506" name="Google Shape;506;p37"/>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6. Delayed potentials reverse during hyperpolarizing current injection.</a:t>
            </a:r>
            <a:endParaRPr sz="1800">
              <a:solidFill>
                <a:schemeClr val="dk1"/>
              </a:solidFill>
              <a:latin typeface="Calibri"/>
              <a:ea typeface="Calibri"/>
              <a:cs typeface="Calibri"/>
              <a:sym typeface="Calibri"/>
            </a:endParaRPr>
          </a:p>
        </p:txBody>
      </p:sp>
      <p:pic>
        <p:nvPicPr>
          <p:cNvPr id="507" name="Google Shape;507;p37"/>
          <p:cNvPicPr preferRelativeResize="0"/>
          <p:nvPr/>
        </p:nvPicPr>
        <p:blipFill rotWithShape="1">
          <a:blip r:embed="rId4">
            <a:alphaModFix/>
          </a:blip>
          <a:srcRect b="0" l="0" r="0" t="0"/>
          <a:stretch/>
        </p:blipFill>
        <p:spPr>
          <a:xfrm>
            <a:off x="10058400" y="2854609"/>
            <a:ext cx="1676400" cy="703786"/>
          </a:xfrm>
          <a:prstGeom prst="rect">
            <a:avLst/>
          </a:prstGeom>
          <a:noFill/>
          <a:ln>
            <a:noFill/>
          </a:ln>
        </p:spPr>
      </p:pic>
      <p:sp>
        <p:nvSpPr>
          <p:cNvPr id="508" name="Google Shape;508;p37"/>
          <p:cNvSpPr/>
          <p:nvPr/>
        </p:nvSpPr>
        <p:spPr>
          <a:xfrm>
            <a:off x="10058400" y="4749552"/>
            <a:ext cx="1695450" cy="619125"/>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7. Recorded inhibitory links through interneuron 511.</a:t>
            </a:r>
            <a:endParaRPr sz="1800">
              <a:solidFill>
                <a:schemeClr val="dk1"/>
              </a:solidFill>
              <a:latin typeface="Calibri"/>
              <a:ea typeface="Calibri"/>
              <a:cs typeface="Calibri"/>
              <a:sym typeface="Calibri"/>
            </a:endParaRPr>
          </a:p>
        </p:txBody>
      </p:sp>
      <p:sp>
        <p:nvSpPr>
          <p:cNvPr id="509" name="Google Shape;509;p37"/>
          <p:cNvSpPr/>
          <p:nvPr/>
        </p:nvSpPr>
        <p:spPr>
          <a:xfrm>
            <a:off x="457200" y="6496050"/>
            <a:ext cx="168960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Robertson &amp; Pearson (1985)</a:t>
            </a:r>
            <a:endParaRPr sz="1800">
              <a:solidFill>
                <a:schemeClr val="dk1"/>
              </a:solidFill>
              <a:latin typeface="Calibri"/>
              <a:ea typeface="Calibri"/>
              <a:cs typeface="Calibri"/>
              <a:sym typeface="Calibri"/>
            </a:endParaRPr>
          </a:p>
        </p:txBody>
      </p:sp>
      <p:sp>
        <p:nvSpPr>
          <p:cNvPr id="510" name="Google Shape;510;p37"/>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28a</a:t>
            </a:r>
            <a:endParaRPr sz="1800">
              <a:solidFill>
                <a:schemeClr val="dk1"/>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4" name="Shape 514"/>
        <p:cNvGrpSpPr/>
        <p:nvPr/>
      </p:nvGrpSpPr>
      <p:grpSpPr>
        <a:xfrm>
          <a:off x="0" y="0"/>
          <a:ext cx="0" cy="0"/>
          <a:chOff x="0" y="0"/>
          <a:chExt cx="0" cy="0"/>
        </a:xfrm>
      </p:grpSpPr>
      <p:sp>
        <p:nvSpPr>
          <p:cNvPr id="515" name="Google Shape;515;p38"/>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Interneuron chains carry CPG timing to depressor output</a:t>
            </a:r>
            <a:endParaRPr sz="1800">
              <a:solidFill>
                <a:schemeClr val="dk1"/>
              </a:solidFill>
              <a:latin typeface="Calibri"/>
              <a:ea typeface="Calibri"/>
              <a:cs typeface="Calibri"/>
              <a:sym typeface="Calibri"/>
            </a:endParaRPr>
          </a:p>
        </p:txBody>
      </p:sp>
      <p:sp>
        <p:nvSpPr>
          <p:cNvPr id="516" name="Google Shape;516;p38"/>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a:t>
            </a:r>
            <a:r>
              <a:rPr b="1" i="0" lang="en-US" sz="1425">
                <a:solidFill>
                  <a:srgbClr val="292329"/>
                </a:solidFill>
                <a:latin typeface="Arial"/>
                <a:ea typeface="Arial"/>
                <a:cs typeface="Arial"/>
                <a:sym typeface="Arial"/>
              </a:rPr>
              <a:t>premotor interneuron</a:t>
            </a:r>
            <a:r>
              <a:rPr b="0" i="0" lang="en-US" sz="1425">
                <a:solidFill>
                  <a:srgbClr val="292329"/>
                </a:solidFill>
                <a:latin typeface="Arial"/>
                <a:ea typeface="Arial"/>
                <a:cs typeface="Arial"/>
                <a:sym typeface="Arial"/>
              </a:rPr>
              <a:t> influences motor neurons, placing it between network timing and muscle activation. Robertson and Pearson found delayed excitation from 301 to interneuron 503, followed by excitation from 503 to 201. The 201 cells provide excitatory input to depressor motor neurons.</a:t>
            </a:r>
            <a:endParaRPr sz="1800">
              <a:solidFill>
                <a:schemeClr val="dk1"/>
              </a:solidFill>
              <a:latin typeface="Calibri"/>
              <a:ea typeface="Calibri"/>
              <a:cs typeface="Calibri"/>
              <a:sym typeface="Calibri"/>
            </a:endParaRPr>
          </a:p>
        </p:txBody>
      </p:sp>
      <p:sp>
        <p:nvSpPr>
          <p:cNvPr id="517" name="Google Shape;517;p38"/>
          <p:cNvSpPr/>
          <p:nvPr/>
        </p:nvSpPr>
        <p:spPr>
          <a:xfrm>
            <a:off x="457200" y="2391073"/>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Paired intracellular recordings linked 301 spikes to delayed 503 responses and 503 spikes to shorter-latency 201 responses. The two stages preserve a separation between elevator-associated activity in 301 and later depressor-associated drive. Their recordings include millivolt voltage and millisecond time calibrations.</a:t>
            </a:r>
            <a:endParaRPr sz="1800">
              <a:solidFill>
                <a:schemeClr val="dk1"/>
              </a:solidFill>
              <a:latin typeface="Calibri"/>
              <a:ea typeface="Calibri"/>
              <a:cs typeface="Calibri"/>
              <a:sym typeface="Calibri"/>
            </a:endParaRPr>
          </a:p>
        </p:txBody>
      </p:sp>
      <p:sp>
        <p:nvSpPr>
          <p:cNvPr id="518" name="Google Shape;518;p38"/>
          <p:cNvSpPr/>
          <p:nvPr/>
        </p:nvSpPr>
        <p:spPr>
          <a:xfrm>
            <a:off x="457200" y="395763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chain supplies a physiological route by which central activity can establish phase relationships in motor output. Two delayed stages between 301 activity and depressor drive account for the constant latency between elevator and depressor depolarizations and the steady depressor burst duration.</a:t>
            </a:r>
            <a:endParaRPr sz="1800">
              <a:solidFill>
                <a:schemeClr val="dk1"/>
              </a:solidFill>
              <a:latin typeface="Calibri"/>
              <a:ea typeface="Calibri"/>
              <a:cs typeface="Calibri"/>
              <a:sym typeface="Calibri"/>
            </a:endParaRPr>
          </a:p>
        </p:txBody>
      </p:sp>
      <p:pic>
        <p:nvPicPr>
          <p:cNvPr id="519" name="Google Shape;519;p38"/>
          <p:cNvPicPr preferRelativeResize="0"/>
          <p:nvPr/>
        </p:nvPicPr>
        <p:blipFill rotWithShape="1">
          <a:blip r:embed="rId3">
            <a:alphaModFix/>
          </a:blip>
          <a:srcRect b="0" l="0" r="0" t="0"/>
          <a:stretch/>
        </p:blipFill>
        <p:spPr>
          <a:xfrm>
            <a:off x="7001780" y="1063377"/>
            <a:ext cx="4208240" cy="2152650"/>
          </a:xfrm>
          <a:prstGeom prst="rect">
            <a:avLst/>
          </a:prstGeom>
          <a:noFill/>
          <a:ln>
            <a:noFill/>
          </a:ln>
        </p:spPr>
      </p:pic>
      <p:sp>
        <p:nvSpPr>
          <p:cNvPr id="520" name="Google Shape;520;p38"/>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Robertson &amp; Pearson (1985), Fig. 13. Recorded interactions among 301, 503 and 201.</a:t>
            </a:r>
            <a:endParaRPr sz="1800">
              <a:solidFill>
                <a:schemeClr val="dk1"/>
              </a:solidFill>
              <a:latin typeface="Calibri"/>
              <a:ea typeface="Calibri"/>
              <a:cs typeface="Calibri"/>
              <a:sym typeface="Calibri"/>
            </a:endParaRPr>
          </a:p>
        </p:txBody>
      </p:sp>
      <p:pic>
        <p:nvPicPr>
          <p:cNvPr id="521" name="Google Shape;521;p38"/>
          <p:cNvPicPr preferRelativeResize="0"/>
          <p:nvPr/>
        </p:nvPicPr>
        <p:blipFill rotWithShape="1">
          <a:blip r:embed="rId4">
            <a:alphaModFix/>
          </a:blip>
          <a:srcRect b="0" l="0" r="0" t="0"/>
          <a:stretch/>
        </p:blipFill>
        <p:spPr>
          <a:xfrm>
            <a:off x="7718374" y="3589883"/>
            <a:ext cx="2775051" cy="1847850"/>
          </a:xfrm>
          <a:prstGeom prst="rect">
            <a:avLst/>
          </a:prstGeom>
          <a:noFill/>
          <a:ln>
            <a:noFill/>
          </a:ln>
        </p:spPr>
      </p:pic>
      <p:sp>
        <p:nvSpPr>
          <p:cNvPr id="522" name="Google Shape;522;p38"/>
          <p:cNvSpPr/>
          <p:nvPr/>
        </p:nvSpPr>
        <p:spPr>
          <a:xfrm>
            <a:off x="6477000" y="5504408"/>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Wilson (1961), Fig. 1. Published dissection identifies ganglia, nerves and muscles.</a:t>
            </a:r>
            <a:endParaRPr sz="1800">
              <a:solidFill>
                <a:schemeClr val="dk1"/>
              </a:solidFill>
              <a:latin typeface="Calibri"/>
              <a:ea typeface="Calibri"/>
              <a:cs typeface="Calibri"/>
              <a:sym typeface="Calibri"/>
            </a:endParaRPr>
          </a:p>
        </p:txBody>
      </p:sp>
      <p:sp>
        <p:nvSpPr>
          <p:cNvPr id="523" name="Google Shape;523;p38"/>
          <p:cNvSpPr/>
          <p:nvPr/>
        </p:nvSpPr>
        <p:spPr>
          <a:xfrm>
            <a:off x="457200" y="6496050"/>
            <a:ext cx="2299543"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Robertson &amp; Pearson (1985); Wilson (1961)</a:t>
            </a:r>
            <a:endParaRPr sz="1800">
              <a:solidFill>
                <a:schemeClr val="dk1"/>
              </a:solidFill>
              <a:latin typeface="Calibri"/>
              <a:ea typeface="Calibri"/>
              <a:cs typeface="Calibri"/>
              <a:sym typeface="Calibri"/>
            </a:endParaRPr>
          </a:p>
        </p:txBody>
      </p:sp>
      <p:sp>
        <p:nvSpPr>
          <p:cNvPr id="524" name="Google Shape;524;p38"/>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29</a:t>
            </a:r>
            <a:endParaRPr sz="1800">
              <a:solidFill>
                <a:schemeClr val="dk1"/>
              </a:solidFill>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8" name="Shape 528"/>
        <p:cNvGrpSpPr/>
        <p:nvPr/>
      </p:nvGrpSpPr>
      <p:grpSpPr>
        <a:xfrm>
          <a:off x="0" y="0"/>
          <a:ext cx="0" cy="0"/>
          <a:chOff x="0" y="0"/>
          <a:chExt cx="0" cy="0"/>
        </a:xfrm>
      </p:grpSpPr>
      <p:sp>
        <p:nvSpPr>
          <p:cNvPr id="529" name="Google Shape;529;p39"/>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Muscarinic stimulation recruits a flight-like motor score</a:t>
            </a:r>
            <a:endParaRPr sz="1800">
              <a:solidFill>
                <a:schemeClr val="dk1"/>
              </a:solidFill>
              <a:latin typeface="Calibri"/>
              <a:ea typeface="Calibri"/>
              <a:cs typeface="Calibri"/>
              <a:sym typeface="Calibri"/>
            </a:endParaRPr>
          </a:p>
        </p:txBody>
      </p:sp>
      <p:sp>
        <p:nvSpPr>
          <p:cNvPr id="530" name="Google Shape;530;p39"/>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Acetylcholine</a:t>
            </a:r>
            <a:r>
              <a:rPr b="0" i="0" lang="en-US" sz="1425">
                <a:solidFill>
                  <a:srgbClr val="292329"/>
                </a:solidFill>
                <a:latin typeface="Arial"/>
                <a:ea typeface="Arial"/>
                <a:cs typeface="Arial"/>
                <a:sym typeface="Arial"/>
              </a:rPr>
              <a:t> is a neurotransmitter acting through nicotinic and muscarinic receptors. Muscarinic receptors are G-protein-coupled receptors that alter cellular signaling and excitability. An </a:t>
            </a:r>
            <a:r>
              <a:rPr b="1" i="0" lang="en-US" sz="1425">
                <a:solidFill>
                  <a:srgbClr val="292329"/>
                </a:solidFill>
                <a:latin typeface="Arial"/>
                <a:ea typeface="Arial"/>
                <a:cs typeface="Arial"/>
                <a:sym typeface="Arial"/>
              </a:rPr>
              <a:t>agonist</a:t>
            </a:r>
            <a:r>
              <a:rPr b="0" i="0" lang="en-US" sz="1425">
                <a:solidFill>
                  <a:srgbClr val="292329"/>
                </a:solidFill>
                <a:latin typeface="Arial"/>
                <a:ea typeface="Arial"/>
                <a:cs typeface="Arial"/>
                <a:sym typeface="Arial"/>
              </a:rPr>
              <a:t> activates a receptor; pilocarpine is a muscarinic agonist used to test flight activation.</a:t>
            </a:r>
            <a:endParaRPr sz="1800">
              <a:solidFill>
                <a:schemeClr val="dk1"/>
              </a:solidFill>
              <a:latin typeface="Calibri"/>
              <a:ea typeface="Calibri"/>
              <a:cs typeface="Calibri"/>
              <a:sym typeface="Calibri"/>
            </a:endParaRPr>
          </a:p>
        </p:txBody>
      </p:sp>
      <p:sp>
        <p:nvSpPr>
          <p:cNvPr id="531" name="Google Shape;531;p39"/>
          <p:cNvSpPr/>
          <p:nvPr/>
        </p:nvSpPr>
        <p:spPr>
          <a:xfrm>
            <a:off x="457200" y="2391073"/>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Buhl and colleagues applied 5 mM pilocarpine to deafferented </a:t>
            </a:r>
            <a:r>
              <a:rPr b="0" i="1" lang="en-US" sz="1425">
                <a:solidFill>
                  <a:srgbClr val="292329"/>
                </a:solidFill>
                <a:latin typeface="Arial"/>
                <a:ea typeface="Arial"/>
                <a:cs typeface="Arial"/>
                <a:sym typeface="Arial"/>
              </a:rPr>
              <a:t>Schistocerca gregaria</a:t>
            </a:r>
            <a:r>
              <a:rPr b="0" i="0" lang="en-US" sz="1425">
                <a:solidFill>
                  <a:srgbClr val="292329"/>
                </a:solidFill>
                <a:latin typeface="Arial"/>
                <a:ea typeface="Arial"/>
                <a:cs typeface="Arial"/>
                <a:sym typeface="Arial"/>
              </a:rPr>
              <a:t> while recording hindwing elevators and depressors and bilateral wing-related muscles. Pilocarpine induced alternating activity after several seconds, with pauses interrupting the flight episodes. Wind-induced activity served as the reference pattern.</a:t>
            </a:r>
            <a:endParaRPr sz="1800">
              <a:solidFill>
                <a:schemeClr val="dk1"/>
              </a:solidFill>
              <a:latin typeface="Calibri"/>
              <a:ea typeface="Calibri"/>
              <a:cs typeface="Calibri"/>
              <a:sym typeface="Calibri"/>
            </a:endParaRPr>
          </a:p>
        </p:txBody>
      </p:sp>
      <p:sp>
        <p:nvSpPr>
          <p:cNvPr id="532" name="Google Shape;532;p39"/>
          <p:cNvSpPr/>
          <p:nvPr/>
        </p:nvSpPr>
        <p:spPr>
          <a:xfrm>
            <a:off x="457200" y="395763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agonist establishes that muscarinic stimulation can recruit the flight circuitry without phasic wing feedback. Eserine, which blocks acetylcholinesterase and so prolongs the action of the animal’s own acetylcholine, also initiated fictive flight. The retained muscle arrangement and phase relationships distinguish a flight score from general hyperactivity.</a:t>
            </a:r>
            <a:endParaRPr sz="1800">
              <a:solidFill>
                <a:schemeClr val="dk1"/>
              </a:solidFill>
              <a:latin typeface="Calibri"/>
              <a:ea typeface="Calibri"/>
              <a:cs typeface="Calibri"/>
              <a:sym typeface="Calibri"/>
            </a:endParaRPr>
          </a:p>
        </p:txBody>
      </p:sp>
      <p:pic>
        <p:nvPicPr>
          <p:cNvPr id="533" name="Google Shape;533;p39"/>
          <p:cNvPicPr preferRelativeResize="0"/>
          <p:nvPr/>
        </p:nvPicPr>
        <p:blipFill rotWithShape="1">
          <a:blip r:embed="rId3">
            <a:alphaModFix/>
          </a:blip>
          <a:srcRect b="0" l="0" r="0" t="0"/>
          <a:stretch/>
        </p:blipFill>
        <p:spPr>
          <a:xfrm>
            <a:off x="6477000" y="1192675"/>
            <a:ext cx="3429000" cy="3913353"/>
          </a:xfrm>
          <a:prstGeom prst="rect">
            <a:avLst/>
          </a:prstGeom>
          <a:noFill/>
          <a:ln>
            <a:noFill/>
          </a:ln>
        </p:spPr>
      </p:pic>
      <p:sp>
        <p:nvSpPr>
          <p:cNvPr id="534" name="Google Shape;534;p39"/>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1(A–F). Wind- and pilocarpine-induced flight muscle activity.</a:t>
            </a:r>
            <a:endParaRPr sz="1800">
              <a:solidFill>
                <a:schemeClr val="dk1"/>
              </a:solidFill>
              <a:latin typeface="Calibri"/>
              <a:ea typeface="Calibri"/>
              <a:cs typeface="Calibri"/>
              <a:sym typeface="Calibri"/>
            </a:endParaRPr>
          </a:p>
        </p:txBody>
      </p:sp>
      <p:pic>
        <p:nvPicPr>
          <p:cNvPr id="535" name="Google Shape;535;p39"/>
          <p:cNvPicPr preferRelativeResize="0"/>
          <p:nvPr/>
        </p:nvPicPr>
        <p:blipFill rotWithShape="1">
          <a:blip r:embed="rId4">
            <a:alphaModFix/>
          </a:blip>
          <a:srcRect b="0" l="0" r="0" t="0"/>
          <a:stretch/>
        </p:blipFill>
        <p:spPr>
          <a:xfrm>
            <a:off x="10058400" y="2760559"/>
            <a:ext cx="1676400" cy="891886"/>
          </a:xfrm>
          <a:prstGeom prst="rect">
            <a:avLst/>
          </a:prstGeom>
          <a:noFill/>
          <a:ln>
            <a:noFill/>
          </a:ln>
        </p:spPr>
      </p:pic>
      <p:sp>
        <p:nvSpPr>
          <p:cNvPr id="536" name="Google Shape;536;p39"/>
          <p:cNvSpPr/>
          <p:nvPr/>
        </p:nvSpPr>
        <p:spPr>
          <a:xfrm>
            <a:off x="10058400" y="4749552"/>
            <a:ext cx="1695450" cy="619125"/>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2(A). Frequencies of wind- and drug-induced flight patterns.</a:t>
            </a:r>
            <a:endParaRPr sz="1800">
              <a:solidFill>
                <a:schemeClr val="dk1"/>
              </a:solidFill>
              <a:latin typeface="Calibri"/>
              <a:ea typeface="Calibri"/>
              <a:cs typeface="Calibri"/>
              <a:sym typeface="Calibri"/>
            </a:endParaRPr>
          </a:p>
        </p:txBody>
      </p:sp>
      <p:sp>
        <p:nvSpPr>
          <p:cNvPr id="537" name="Google Shape;537;p39"/>
          <p:cNvSpPr/>
          <p:nvPr/>
        </p:nvSpPr>
        <p:spPr>
          <a:xfrm>
            <a:off x="457200" y="6496050"/>
            <a:ext cx="91335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Buhl et al. (2008)</a:t>
            </a:r>
            <a:endParaRPr sz="1800">
              <a:solidFill>
                <a:schemeClr val="dk1"/>
              </a:solidFill>
              <a:latin typeface="Calibri"/>
              <a:ea typeface="Calibri"/>
              <a:cs typeface="Calibri"/>
              <a:sym typeface="Calibri"/>
            </a:endParaRPr>
          </a:p>
        </p:txBody>
      </p:sp>
      <p:sp>
        <p:nvSpPr>
          <p:cNvPr id="538" name="Google Shape;538;p39"/>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30</a:t>
            </a:r>
            <a:endParaRPr sz="1800">
              <a:solidFill>
                <a:schemeClr val="dk1"/>
              </a:solidFill>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2" name="Shape 542"/>
        <p:cNvGrpSpPr/>
        <p:nvPr/>
      </p:nvGrpSpPr>
      <p:grpSpPr>
        <a:xfrm>
          <a:off x="0" y="0"/>
          <a:ext cx="0" cy="0"/>
          <a:chOff x="0" y="0"/>
          <a:chExt cx="0" cy="0"/>
        </a:xfrm>
      </p:grpSpPr>
      <p:sp>
        <p:nvSpPr>
          <p:cNvPr id="543" name="Google Shape;543;p40"/>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Nicotinic excitation alone does not recruit stable flight</a:t>
            </a:r>
            <a:endParaRPr sz="1800">
              <a:solidFill>
                <a:schemeClr val="dk1"/>
              </a:solidFill>
              <a:latin typeface="Calibri"/>
              <a:ea typeface="Calibri"/>
              <a:cs typeface="Calibri"/>
              <a:sym typeface="Calibri"/>
            </a:endParaRPr>
          </a:p>
        </p:txBody>
      </p:sp>
      <p:sp>
        <p:nvSpPr>
          <p:cNvPr id="544" name="Google Shape;544;p40"/>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Nicotinic receptors</a:t>
            </a:r>
            <a:r>
              <a:rPr b="0" i="0" lang="en-US" sz="1425">
                <a:solidFill>
                  <a:srgbClr val="292329"/>
                </a:solidFill>
                <a:latin typeface="Arial"/>
                <a:ea typeface="Arial"/>
                <a:cs typeface="Arial"/>
                <a:sym typeface="Arial"/>
              </a:rPr>
              <a:t> are ligand-gated ion channels activated by acetylcholine and nicotine. Unlike muscarinic receptors, they mediate direct channel responses. Buhl and colleagues compared nicotine with </a:t>
            </a:r>
            <a:r>
              <a:rPr b="1" i="0" lang="en-US" sz="1425">
                <a:solidFill>
                  <a:srgbClr val="292329"/>
                </a:solidFill>
                <a:latin typeface="Arial"/>
                <a:ea typeface="Arial"/>
                <a:cs typeface="Arial"/>
                <a:sym typeface="Arial"/>
              </a:rPr>
              <a:t>carbachol</a:t>
            </a:r>
            <a:r>
              <a:rPr b="0" i="0" lang="en-US" sz="1425">
                <a:solidFill>
                  <a:srgbClr val="292329"/>
                </a:solidFill>
                <a:latin typeface="Arial"/>
                <a:ea typeface="Arial"/>
                <a:cs typeface="Arial"/>
                <a:sym typeface="Arial"/>
              </a:rPr>
              <a:t>, an acetylcholine analogue that activates both receptor classes.</a:t>
            </a:r>
            <a:endParaRPr sz="1800">
              <a:solidFill>
                <a:schemeClr val="dk1"/>
              </a:solidFill>
              <a:latin typeface="Calibri"/>
              <a:ea typeface="Calibri"/>
              <a:cs typeface="Calibri"/>
              <a:sym typeface="Calibri"/>
            </a:endParaRPr>
          </a:p>
        </p:txBody>
      </p:sp>
      <p:sp>
        <p:nvSpPr>
          <p:cNvPr id="545" name="Google Shape;545;p40"/>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At 1 mM, nicotine produced a brief burst of uncoordinated motor activity rather than a stable flight pattern. At 5 mM, carbachol produced sustained flight-like alternation near 18 Hz. This was faster than the approximately 11.5 Hz rhythm induced by pilocarpine in the same study.</a:t>
            </a:r>
            <a:endParaRPr sz="1800">
              <a:solidFill>
                <a:schemeClr val="dk1"/>
              </a:solidFill>
              <a:latin typeface="Calibri"/>
              <a:ea typeface="Calibri"/>
              <a:cs typeface="Calibri"/>
              <a:sym typeface="Calibri"/>
            </a:endParaRPr>
          </a:p>
        </p:txBody>
      </p:sp>
      <p:sp>
        <p:nvSpPr>
          <p:cNvPr id="546" name="Google Shape;546;p40"/>
          <p:cNvSpPr/>
          <p:nvPr/>
        </p:nvSpPr>
        <p:spPr>
          <a:xfrm>
            <a:off x="457200" y="371876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Brief, uncoordinated motor activity under nicotine marks direct excitation of motor pathways, whereas a stable alternating score marks CPG recruitment. Carbachol’s faster rhythm compared with pilocarpine fits combined muscarinic and nicotinic actions adding drive to a circuit already recruited through muscarinic receptors.</a:t>
            </a:r>
            <a:endParaRPr sz="1800">
              <a:solidFill>
                <a:schemeClr val="dk1"/>
              </a:solidFill>
              <a:latin typeface="Calibri"/>
              <a:ea typeface="Calibri"/>
              <a:cs typeface="Calibri"/>
              <a:sym typeface="Calibri"/>
            </a:endParaRPr>
          </a:p>
        </p:txBody>
      </p:sp>
      <p:pic>
        <p:nvPicPr>
          <p:cNvPr id="547" name="Google Shape;547;p40"/>
          <p:cNvPicPr preferRelativeResize="0"/>
          <p:nvPr/>
        </p:nvPicPr>
        <p:blipFill rotWithShape="1">
          <a:blip r:embed="rId3">
            <a:alphaModFix/>
          </a:blip>
          <a:srcRect b="0" l="0" r="0" t="0"/>
          <a:stretch/>
        </p:blipFill>
        <p:spPr>
          <a:xfrm>
            <a:off x="6477000" y="1192675"/>
            <a:ext cx="3429000" cy="3913353"/>
          </a:xfrm>
          <a:prstGeom prst="rect">
            <a:avLst/>
          </a:prstGeom>
          <a:noFill/>
          <a:ln>
            <a:noFill/>
          </a:ln>
        </p:spPr>
      </p:pic>
      <p:sp>
        <p:nvSpPr>
          <p:cNvPr id="548" name="Google Shape;548;p40"/>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1(A–F). Carbachol and nicotine produce different motor responses.</a:t>
            </a:r>
            <a:endParaRPr sz="1800">
              <a:solidFill>
                <a:schemeClr val="dk1"/>
              </a:solidFill>
              <a:latin typeface="Calibri"/>
              <a:ea typeface="Calibri"/>
              <a:cs typeface="Calibri"/>
              <a:sym typeface="Calibri"/>
            </a:endParaRPr>
          </a:p>
        </p:txBody>
      </p:sp>
      <p:pic>
        <p:nvPicPr>
          <p:cNvPr id="549" name="Google Shape;549;p40"/>
          <p:cNvPicPr preferRelativeResize="0"/>
          <p:nvPr/>
        </p:nvPicPr>
        <p:blipFill rotWithShape="1">
          <a:blip r:embed="rId4">
            <a:alphaModFix/>
          </a:blip>
          <a:srcRect b="0" l="0" r="0" t="0"/>
          <a:stretch/>
        </p:blipFill>
        <p:spPr>
          <a:xfrm>
            <a:off x="10058400" y="2760559"/>
            <a:ext cx="1676400" cy="891886"/>
          </a:xfrm>
          <a:prstGeom prst="rect">
            <a:avLst/>
          </a:prstGeom>
          <a:noFill/>
          <a:ln>
            <a:noFill/>
          </a:ln>
        </p:spPr>
      </p:pic>
      <p:sp>
        <p:nvSpPr>
          <p:cNvPr id="550" name="Google Shape;550;p40"/>
          <p:cNvSpPr/>
          <p:nvPr/>
        </p:nvSpPr>
        <p:spPr>
          <a:xfrm>
            <a:off x="10058400" y="4749552"/>
            <a:ext cx="1695450" cy="773906"/>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2(A). Different activation treatments produce different rhythm frequencies.</a:t>
            </a:r>
            <a:endParaRPr sz="1800">
              <a:solidFill>
                <a:schemeClr val="dk1"/>
              </a:solidFill>
              <a:latin typeface="Calibri"/>
              <a:ea typeface="Calibri"/>
              <a:cs typeface="Calibri"/>
              <a:sym typeface="Calibri"/>
            </a:endParaRPr>
          </a:p>
        </p:txBody>
      </p:sp>
      <p:sp>
        <p:nvSpPr>
          <p:cNvPr id="551" name="Google Shape;551;p40"/>
          <p:cNvSpPr/>
          <p:nvPr/>
        </p:nvSpPr>
        <p:spPr>
          <a:xfrm>
            <a:off x="457200" y="6496050"/>
            <a:ext cx="91335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Buhl et al. (2008)</a:t>
            </a:r>
            <a:endParaRPr sz="1800">
              <a:solidFill>
                <a:schemeClr val="dk1"/>
              </a:solidFill>
              <a:latin typeface="Calibri"/>
              <a:ea typeface="Calibri"/>
              <a:cs typeface="Calibri"/>
              <a:sym typeface="Calibri"/>
            </a:endParaRPr>
          </a:p>
        </p:txBody>
      </p:sp>
      <p:sp>
        <p:nvSpPr>
          <p:cNvPr id="552" name="Google Shape;552;p40"/>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31</a:t>
            </a:r>
            <a:endParaRPr sz="1800">
              <a:solidFill>
                <a:schemeClr val="dk1"/>
              </a:solidFill>
              <a:latin typeface="Calibri"/>
              <a:ea typeface="Calibri"/>
              <a:cs typeface="Calibri"/>
              <a:sym typeface="Calibri"/>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6" name="Shape 556"/>
        <p:cNvGrpSpPr/>
        <p:nvPr/>
      </p:nvGrpSpPr>
      <p:grpSpPr>
        <a:xfrm>
          <a:off x="0" y="0"/>
          <a:ext cx="0" cy="0"/>
          <a:chOff x="0" y="0"/>
          <a:chExt cx="0" cy="0"/>
        </a:xfrm>
      </p:grpSpPr>
      <p:sp>
        <p:nvSpPr>
          <p:cNvPr id="557" name="Google Shape;557;p41"/>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Muscarinic antagonists reversibly block wind initiation</a:t>
            </a:r>
            <a:endParaRPr sz="1800">
              <a:solidFill>
                <a:schemeClr val="dk1"/>
              </a:solidFill>
              <a:latin typeface="Calibri"/>
              <a:ea typeface="Calibri"/>
              <a:cs typeface="Calibri"/>
              <a:sym typeface="Calibri"/>
            </a:endParaRPr>
          </a:p>
        </p:txBody>
      </p:sp>
      <p:sp>
        <p:nvSpPr>
          <p:cNvPr id="558" name="Google Shape;558;p41"/>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An </a:t>
            </a:r>
            <a:r>
              <a:rPr b="1" i="0" lang="en-US" sz="1425">
                <a:solidFill>
                  <a:srgbClr val="292329"/>
                </a:solidFill>
                <a:latin typeface="Arial"/>
                <a:ea typeface="Arial"/>
                <a:cs typeface="Arial"/>
                <a:sym typeface="Arial"/>
              </a:rPr>
              <a:t>antagonist</a:t>
            </a:r>
            <a:r>
              <a:rPr b="0" i="0" lang="en-US" sz="1425">
                <a:solidFill>
                  <a:srgbClr val="292329"/>
                </a:solidFill>
                <a:latin typeface="Arial"/>
                <a:ea typeface="Arial"/>
                <a:cs typeface="Arial"/>
                <a:sym typeface="Arial"/>
              </a:rPr>
              <a:t> reduces a receptor’s response to its activating ligand. Buhl and colleagues perfused the thoracic nervous system with 10 mM atropine or scopolamine, both muscarinic antagonists. Wind stimulation and pilocarpine were tested during the treatment.</a:t>
            </a:r>
            <a:endParaRPr sz="1800">
              <a:solidFill>
                <a:schemeClr val="dk1"/>
              </a:solidFill>
              <a:latin typeface="Calibri"/>
              <a:ea typeface="Calibri"/>
              <a:cs typeface="Calibri"/>
              <a:sym typeface="Calibri"/>
            </a:endParaRPr>
          </a:p>
        </p:txBody>
      </p:sp>
      <p:sp>
        <p:nvSpPr>
          <p:cNvPr id="559" name="Google Shape;559;p41"/>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Wind normally evoked alternating elevator and depressor activity. During atropine perfusion, even strong wind failed to release a flight episode; saline wash restored the response after approximately 20 min. Atropine and scopolamine also blocked the flight-inducing action of pilocarpine.</a:t>
            </a:r>
            <a:endParaRPr sz="1800">
              <a:solidFill>
                <a:schemeClr val="dk1"/>
              </a:solidFill>
              <a:latin typeface="Calibri"/>
              <a:ea typeface="Calibri"/>
              <a:cs typeface="Calibri"/>
              <a:sym typeface="Calibri"/>
            </a:endParaRPr>
          </a:p>
        </p:txBody>
      </p:sp>
      <p:sp>
        <p:nvSpPr>
          <p:cNvPr id="560" name="Google Shape;560;p41"/>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Reversibility reduces an explanation based solely on irreversible tissue damage. Blockade of natural stimulation and an agonist supports a necessary muscarinic step in the tested pathway. Agreement between two structurally different antagonists ties the block to the receptor class they share.</a:t>
            </a:r>
            <a:endParaRPr sz="1800">
              <a:solidFill>
                <a:schemeClr val="dk1"/>
              </a:solidFill>
              <a:latin typeface="Calibri"/>
              <a:ea typeface="Calibri"/>
              <a:cs typeface="Calibri"/>
              <a:sym typeface="Calibri"/>
            </a:endParaRPr>
          </a:p>
        </p:txBody>
      </p:sp>
      <p:pic>
        <p:nvPicPr>
          <p:cNvPr id="561" name="Google Shape;561;p41"/>
          <p:cNvPicPr preferRelativeResize="0"/>
          <p:nvPr/>
        </p:nvPicPr>
        <p:blipFill rotWithShape="1">
          <a:blip r:embed="rId3">
            <a:alphaModFix/>
          </a:blip>
          <a:srcRect b="0" l="0" r="0" t="0"/>
          <a:stretch/>
        </p:blipFill>
        <p:spPr>
          <a:xfrm>
            <a:off x="7578897" y="1063377"/>
            <a:ext cx="3054006" cy="2152650"/>
          </a:xfrm>
          <a:prstGeom prst="rect">
            <a:avLst/>
          </a:prstGeom>
          <a:noFill/>
          <a:ln>
            <a:noFill/>
          </a:ln>
        </p:spPr>
      </p:pic>
      <p:sp>
        <p:nvSpPr>
          <p:cNvPr id="562" name="Google Shape;562;p41"/>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3. Wind and pilocarpine responses during muscarinic blockade.</a:t>
            </a:r>
            <a:endParaRPr sz="1800">
              <a:solidFill>
                <a:schemeClr val="dk1"/>
              </a:solidFill>
              <a:latin typeface="Calibri"/>
              <a:ea typeface="Calibri"/>
              <a:cs typeface="Calibri"/>
              <a:sym typeface="Calibri"/>
            </a:endParaRPr>
          </a:p>
        </p:txBody>
      </p:sp>
      <p:pic>
        <p:nvPicPr>
          <p:cNvPr id="563" name="Google Shape;563;p41"/>
          <p:cNvPicPr preferRelativeResize="0"/>
          <p:nvPr/>
        </p:nvPicPr>
        <p:blipFill rotWithShape="1">
          <a:blip r:embed="rId4">
            <a:alphaModFix/>
          </a:blip>
          <a:srcRect b="0" l="0" r="0" t="0"/>
          <a:stretch/>
        </p:blipFill>
        <p:spPr>
          <a:xfrm>
            <a:off x="8462267" y="3589883"/>
            <a:ext cx="1287266" cy="1847850"/>
          </a:xfrm>
          <a:prstGeom prst="rect">
            <a:avLst/>
          </a:prstGeom>
          <a:noFill/>
          <a:ln>
            <a:noFill/>
          </a:ln>
        </p:spPr>
      </p:pic>
      <p:sp>
        <p:nvSpPr>
          <p:cNvPr id="564" name="Google Shape;564;p41"/>
          <p:cNvSpPr/>
          <p:nvPr/>
        </p:nvSpPr>
        <p:spPr>
          <a:xfrm>
            <a:off x="6477000" y="5504408"/>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2. Motor-pattern measurements for the different activation conditions.</a:t>
            </a:r>
            <a:endParaRPr sz="1800">
              <a:solidFill>
                <a:schemeClr val="dk1"/>
              </a:solidFill>
              <a:latin typeface="Calibri"/>
              <a:ea typeface="Calibri"/>
              <a:cs typeface="Calibri"/>
              <a:sym typeface="Calibri"/>
            </a:endParaRPr>
          </a:p>
        </p:txBody>
      </p:sp>
      <p:sp>
        <p:nvSpPr>
          <p:cNvPr id="565" name="Google Shape;565;p41"/>
          <p:cNvSpPr/>
          <p:nvPr/>
        </p:nvSpPr>
        <p:spPr>
          <a:xfrm>
            <a:off x="457200" y="6496050"/>
            <a:ext cx="91335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Buhl et al. (2008)</a:t>
            </a:r>
            <a:endParaRPr sz="1800">
              <a:solidFill>
                <a:schemeClr val="dk1"/>
              </a:solidFill>
              <a:latin typeface="Calibri"/>
              <a:ea typeface="Calibri"/>
              <a:cs typeface="Calibri"/>
              <a:sym typeface="Calibri"/>
            </a:endParaRPr>
          </a:p>
        </p:txBody>
      </p:sp>
      <p:sp>
        <p:nvSpPr>
          <p:cNvPr id="566" name="Google Shape;566;p41"/>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32</a:t>
            </a:r>
            <a:endParaRPr sz="18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0" name="Shape 570"/>
        <p:cNvGrpSpPr/>
        <p:nvPr/>
      </p:nvGrpSpPr>
      <p:grpSpPr>
        <a:xfrm>
          <a:off x="0" y="0"/>
          <a:ext cx="0" cy="0"/>
          <a:chOff x="0" y="0"/>
          <a:chExt cx="0" cy="0"/>
        </a:xfrm>
      </p:grpSpPr>
      <p:sp>
        <p:nvSpPr>
          <p:cNvPr id="571" name="Google Shape;571;p42"/>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TCG-driven flight also requires muscarinic signaling</a:t>
            </a:r>
            <a:endParaRPr sz="1800">
              <a:solidFill>
                <a:schemeClr val="dk1"/>
              </a:solidFill>
              <a:latin typeface="Calibri"/>
              <a:ea typeface="Calibri"/>
              <a:cs typeface="Calibri"/>
              <a:sym typeface="Calibri"/>
            </a:endParaRPr>
          </a:p>
        </p:txBody>
      </p:sp>
      <p:sp>
        <p:nvSpPr>
          <p:cNvPr id="572" name="Google Shape;572;p42"/>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a:t>
            </a:r>
            <a:r>
              <a:rPr b="1" i="0" lang="en-US" sz="1425">
                <a:solidFill>
                  <a:srgbClr val="292329"/>
                </a:solidFill>
                <a:latin typeface="Arial"/>
                <a:ea typeface="Arial"/>
                <a:cs typeface="Arial"/>
                <a:sym typeface="Arial"/>
              </a:rPr>
              <a:t>tritocerebral commissure giant interneuron</a:t>
            </a:r>
            <a:r>
              <a:rPr b="0" i="0" lang="en-US" sz="1425">
                <a:solidFill>
                  <a:srgbClr val="292329"/>
                </a:solidFill>
                <a:latin typeface="Arial"/>
                <a:ea typeface="Arial"/>
                <a:cs typeface="Arial"/>
                <a:sym typeface="Arial"/>
              </a:rPr>
              <a:t>, or TCG, is a descending wind-responsive neuron with an axon approximately 20 μm in diameter. A commissure connects structures across the nervous system’s midline. Buhl and colleagues stimulated its accessible axon while monitoring flight muscle activity.</a:t>
            </a:r>
            <a:endParaRPr sz="1800">
              <a:solidFill>
                <a:schemeClr val="dk1"/>
              </a:solidFill>
              <a:latin typeface="Calibri"/>
              <a:ea typeface="Calibri"/>
              <a:cs typeface="Calibri"/>
              <a:sym typeface="Calibri"/>
            </a:endParaRPr>
          </a:p>
        </p:txBody>
      </p:sp>
      <p:sp>
        <p:nvSpPr>
          <p:cNvPr id="573" name="Google Shape;573;p42"/>
          <p:cNvSpPr/>
          <p:nvPr/>
        </p:nvSpPr>
        <p:spPr>
          <a:xfrm>
            <a:off x="457200" y="2391073"/>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train of 20 pulses at 200 Hz could evoke several seconds of fictive flight. The shortest onset delay was approximately 23 ms. Thoracic atropine blocked this response, and a saline wash restored it after approximately 30 min.</a:t>
            </a:r>
            <a:endParaRPr sz="1800">
              <a:solidFill>
                <a:schemeClr val="dk1"/>
              </a:solidFill>
              <a:latin typeface="Calibri"/>
              <a:ea typeface="Calibri"/>
              <a:cs typeface="Calibri"/>
              <a:sym typeface="Calibri"/>
            </a:endParaRPr>
          </a:p>
        </p:txBody>
      </p:sp>
      <p:sp>
        <p:nvSpPr>
          <p:cNvPr id="574" name="Google Shape;574;p42"/>
          <p:cNvSpPr/>
          <p:nvPr/>
        </p:nvSpPr>
        <p:spPr>
          <a:xfrm>
            <a:off x="457200" y="347989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short latency and reversible block support a muscarinic step close to the flight-generating circuit. TCG, or the follower cell it excites inside the flight-generating circuit, is therefore likely cholinergic. The experiment established a receptor-dependent route from an identified activating neuron to motor output.</a:t>
            </a:r>
            <a:endParaRPr sz="1800">
              <a:solidFill>
                <a:schemeClr val="dk1"/>
              </a:solidFill>
              <a:latin typeface="Calibri"/>
              <a:ea typeface="Calibri"/>
              <a:cs typeface="Calibri"/>
              <a:sym typeface="Calibri"/>
            </a:endParaRPr>
          </a:p>
        </p:txBody>
      </p:sp>
      <p:pic>
        <p:nvPicPr>
          <p:cNvPr id="575" name="Google Shape;575;p42"/>
          <p:cNvPicPr preferRelativeResize="0"/>
          <p:nvPr/>
        </p:nvPicPr>
        <p:blipFill rotWithShape="1">
          <a:blip r:embed="rId3">
            <a:alphaModFix/>
          </a:blip>
          <a:srcRect b="0" l="0" r="0" t="0"/>
          <a:stretch/>
        </p:blipFill>
        <p:spPr>
          <a:xfrm>
            <a:off x="6477000" y="1691000"/>
            <a:ext cx="5257800" cy="2983379"/>
          </a:xfrm>
          <a:prstGeom prst="rect">
            <a:avLst/>
          </a:prstGeom>
          <a:noFill/>
          <a:ln>
            <a:noFill/>
          </a:ln>
        </p:spPr>
      </p:pic>
      <p:sp>
        <p:nvSpPr>
          <p:cNvPr id="576" name="Google Shape;576;p42"/>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4. TCG stimulation, atropine blockade and wash recovery.</a:t>
            </a:r>
            <a:endParaRPr sz="1800">
              <a:solidFill>
                <a:schemeClr val="dk1"/>
              </a:solidFill>
              <a:latin typeface="Calibri"/>
              <a:ea typeface="Calibri"/>
              <a:cs typeface="Calibri"/>
              <a:sym typeface="Calibri"/>
            </a:endParaRPr>
          </a:p>
        </p:txBody>
      </p:sp>
      <p:sp>
        <p:nvSpPr>
          <p:cNvPr id="577" name="Google Shape;577;p42"/>
          <p:cNvSpPr/>
          <p:nvPr/>
        </p:nvSpPr>
        <p:spPr>
          <a:xfrm>
            <a:off x="457200" y="6496050"/>
            <a:ext cx="91335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Buhl et al. (2008)</a:t>
            </a:r>
            <a:endParaRPr sz="1800">
              <a:solidFill>
                <a:schemeClr val="dk1"/>
              </a:solidFill>
              <a:latin typeface="Calibri"/>
              <a:ea typeface="Calibri"/>
              <a:cs typeface="Calibri"/>
              <a:sym typeface="Calibri"/>
            </a:endParaRPr>
          </a:p>
        </p:txBody>
      </p:sp>
      <p:sp>
        <p:nvSpPr>
          <p:cNvPr id="578" name="Google Shape;578;p42"/>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33</a:t>
            </a:r>
            <a:endParaRPr sz="18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2" name="Shape 582"/>
        <p:cNvGrpSpPr/>
        <p:nvPr/>
      </p:nvGrpSpPr>
      <p:grpSpPr>
        <a:xfrm>
          <a:off x="0" y="0"/>
          <a:ext cx="0" cy="0"/>
          <a:chOff x="0" y="0"/>
          <a:chExt cx="0" cy="0"/>
        </a:xfrm>
      </p:grpSpPr>
      <p:sp>
        <p:nvSpPr>
          <p:cNvPr id="583" name="Google Shape;583;p43"/>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A brief command can launch seconds of flight</a:t>
            </a:r>
            <a:endParaRPr sz="1800">
              <a:solidFill>
                <a:schemeClr val="dk1"/>
              </a:solidFill>
              <a:latin typeface="Calibri"/>
              <a:ea typeface="Calibri"/>
              <a:cs typeface="Calibri"/>
              <a:sym typeface="Calibri"/>
            </a:endParaRPr>
          </a:p>
        </p:txBody>
      </p:sp>
      <p:sp>
        <p:nvSpPr>
          <p:cNvPr id="584" name="Google Shape;584;p43"/>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Acetylcholine acts through two receptor classes with different time courses. A </a:t>
            </a:r>
            <a:r>
              <a:rPr b="1" i="0" lang="en-US" sz="1425">
                <a:solidFill>
                  <a:srgbClr val="292329"/>
                </a:solidFill>
                <a:latin typeface="Arial"/>
                <a:ea typeface="Arial"/>
                <a:cs typeface="Arial"/>
                <a:sym typeface="Arial"/>
              </a:rPr>
              <a:t>nicotinic</a:t>
            </a:r>
            <a:r>
              <a:rPr b="0" i="0" lang="en-US" sz="1425">
                <a:solidFill>
                  <a:srgbClr val="292329"/>
                </a:solidFill>
                <a:latin typeface="Arial"/>
                <a:ea typeface="Arial"/>
                <a:cs typeface="Arial"/>
                <a:sym typeface="Arial"/>
              </a:rPr>
              <a:t> receptor is itself a channel and opens within milliseconds while transmitter is bound; a </a:t>
            </a:r>
            <a:r>
              <a:rPr b="1" i="0" lang="en-US" sz="1425">
                <a:solidFill>
                  <a:srgbClr val="292329"/>
                </a:solidFill>
                <a:latin typeface="Arial"/>
                <a:ea typeface="Arial"/>
                <a:cs typeface="Arial"/>
                <a:sym typeface="Arial"/>
              </a:rPr>
              <a:t>muscarinic</a:t>
            </a:r>
            <a:r>
              <a:rPr b="0" i="0" lang="en-US" sz="1425">
                <a:solidFill>
                  <a:srgbClr val="292329"/>
                </a:solidFill>
                <a:latin typeface="Arial"/>
                <a:ea typeface="Arial"/>
                <a:cs typeface="Arial"/>
                <a:sym typeface="Arial"/>
              </a:rPr>
              <a:t> receptor activates G proteins that alter other channels through intracellular steps, so its effects build and decay more slowly.</a:t>
            </a:r>
            <a:endParaRPr sz="1800">
              <a:solidFill>
                <a:schemeClr val="dk1"/>
              </a:solidFill>
              <a:latin typeface="Calibri"/>
              <a:ea typeface="Calibri"/>
              <a:cs typeface="Calibri"/>
              <a:sym typeface="Calibri"/>
            </a:endParaRPr>
          </a:p>
        </p:txBody>
      </p:sp>
      <p:sp>
        <p:nvSpPr>
          <p:cNvPr id="585" name="Google Shape;585;p43"/>
          <p:cNvSpPr/>
          <p:nvPr/>
        </p:nvSpPr>
        <p:spPr>
          <a:xfrm>
            <a:off x="457200" y="2669292"/>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slow, outlasting effect suits flight activation. A train of 20 TCG pulses, over in a fraction of a second, evoked several seconds of fictive flight, so the command leaves an excited network state that persists after its own spikes stop, and atropine sensitivity places that state at muscarinic receptors.</a:t>
            </a:r>
            <a:endParaRPr sz="1800">
              <a:solidFill>
                <a:schemeClr val="dk1"/>
              </a:solidFill>
              <a:latin typeface="Calibri"/>
              <a:ea typeface="Calibri"/>
              <a:cs typeface="Calibri"/>
              <a:sym typeface="Calibri"/>
            </a:endParaRPr>
          </a:p>
        </p:txBody>
      </p:sp>
      <p:sp>
        <p:nvSpPr>
          <p:cNvPr id="586" name="Google Shape;586;p43"/>
          <p:cNvSpPr/>
          <p:nvPr/>
        </p:nvSpPr>
        <p:spPr>
          <a:xfrm>
            <a:off x="457200" y="4275207"/>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same timing distinction fits the drug results. Nicotine’s brief, uncoordinated burst resembles a fast channel response that subsides quickly, whereas muscarinic agonists produced stable alternation that persisted while the network supplied the rhythm.</a:t>
            </a:r>
            <a:endParaRPr sz="1800">
              <a:solidFill>
                <a:schemeClr val="dk1"/>
              </a:solidFill>
              <a:latin typeface="Calibri"/>
              <a:ea typeface="Calibri"/>
              <a:cs typeface="Calibri"/>
              <a:sym typeface="Calibri"/>
            </a:endParaRPr>
          </a:p>
        </p:txBody>
      </p:sp>
      <p:pic>
        <p:nvPicPr>
          <p:cNvPr id="587" name="Google Shape;587;p43"/>
          <p:cNvPicPr preferRelativeResize="0"/>
          <p:nvPr/>
        </p:nvPicPr>
        <p:blipFill rotWithShape="1">
          <a:blip r:embed="rId3">
            <a:alphaModFix/>
          </a:blip>
          <a:srcRect b="0" l="0" r="0" t="0"/>
          <a:stretch/>
        </p:blipFill>
        <p:spPr>
          <a:xfrm>
            <a:off x="6477000" y="1691000"/>
            <a:ext cx="5257800" cy="2983379"/>
          </a:xfrm>
          <a:prstGeom prst="rect">
            <a:avLst/>
          </a:prstGeom>
          <a:noFill/>
          <a:ln>
            <a:noFill/>
          </a:ln>
        </p:spPr>
      </p:pic>
      <p:sp>
        <p:nvSpPr>
          <p:cNvPr id="588" name="Google Shape;588;p43"/>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4. TCG stimulation, atropine blockade and wash recovery.</a:t>
            </a:r>
            <a:endParaRPr sz="1800">
              <a:solidFill>
                <a:schemeClr val="dk1"/>
              </a:solidFill>
              <a:latin typeface="Calibri"/>
              <a:ea typeface="Calibri"/>
              <a:cs typeface="Calibri"/>
              <a:sym typeface="Calibri"/>
            </a:endParaRPr>
          </a:p>
        </p:txBody>
      </p:sp>
      <p:sp>
        <p:nvSpPr>
          <p:cNvPr id="589" name="Google Shape;589;p43"/>
          <p:cNvSpPr/>
          <p:nvPr/>
        </p:nvSpPr>
        <p:spPr>
          <a:xfrm>
            <a:off x="457200" y="6496050"/>
            <a:ext cx="117754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Buhl et al. (2008)</a:t>
            </a:r>
            <a:endParaRPr sz="1800">
              <a:solidFill>
                <a:schemeClr val="dk1"/>
              </a:solidFill>
              <a:latin typeface="Calibri"/>
              <a:ea typeface="Calibri"/>
              <a:cs typeface="Calibri"/>
              <a:sym typeface="Calibri"/>
            </a:endParaRPr>
          </a:p>
        </p:txBody>
      </p:sp>
      <p:sp>
        <p:nvSpPr>
          <p:cNvPr id="590" name="Google Shape;590;p43"/>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33a</a:t>
            </a:r>
            <a:endParaRPr sz="1800">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4" name="Shape 594"/>
        <p:cNvGrpSpPr/>
        <p:nvPr/>
      </p:nvGrpSpPr>
      <p:grpSpPr>
        <a:xfrm>
          <a:off x="0" y="0"/>
          <a:ext cx="0" cy="0"/>
          <a:chOff x="0" y="0"/>
          <a:chExt cx="0" cy="0"/>
        </a:xfrm>
      </p:grpSpPr>
      <p:sp>
        <p:nvSpPr>
          <p:cNvPr id="595" name="Google Shape;595;p44"/>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Amine-induced flight depends on muscarinic signaling</a:t>
            </a:r>
            <a:endParaRPr sz="1800">
              <a:solidFill>
                <a:schemeClr val="dk1"/>
              </a:solidFill>
              <a:latin typeface="Calibri"/>
              <a:ea typeface="Calibri"/>
              <a:cs typeface="Calibri"/>
              <a:sym typeface="Calibri"/>
            </a:endParaRPr>
          </a:p>
        </p:txBody>
      </p:sp>
      <p:sp>
        <p:nvSpPr>
          <p:cNvPr id="596" name="Google Shape;596;p44"/>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Biogenic amines</a:t>
            </a:r>
            <a:r>
              <a:rPr b="0" i="0" lang="en-US" sz="1425">
                <a:solidFill>
                  <a:srgbClr val="292329"/>
                </a:solidFill>
                <a:latin typeface="Arial"/>
                <a:ea typeface="Arial"/>
                <a:cs typeface="Arial"/>
                <a:sym typeface="Arial"/>
              </a:rPr>
              <a:t> are signaling molecules that can modulate neural activity; octopamine, dopamine and tyramine are examples. Buhl and colleagues applied them to deafferented preparations and compared their motor patterns with wind- and cholinergic-induced activity.</a:t>
            </a:r>
            <a:endParaRPr sz="1800">
              <a:solidFill>
                <a:schemeClr val="dk1"/>
              </a:solidFill>
              <a:latin typeface="Calibri"/>
              <a:ea typeface="Calibri"/>
              <a:cs typeface="Calibri"/>
              <a:sym typeface="Calibri"/>
            </a:endParaRPr>
          </a:p>
        </p:txBody>
      </p:sp>
      <p:sp>
        <p:nvSpPr>
          <p:cNvPr id="597" name="Google Shape;597;p44"/>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Octopamine at 500 mM and tyramine at 10 mM induced flight-like bursts under these bath conditions. Dopamine and histamine also released episodes, whereas serotonin and the precursor amino acid tyrosine did not. Atropine blocked the flight-inducing action of octopamine.</a:t>
            </a:r>
            <a:endParaRPr sz="1800">
              <a:solidFill>
                <a:schemeClr val="dk1"/>
              </a:solidFill>
              <a:latin typeface="Calibri"/>
              <a:ea typeface="Calibri"/>
              <a:cs typeface="Calibri"/>
              <a:sym typeface="Calibri"/>
            </a:endParaRPr>
          </a:p>
        </p:txBody>
      </p:sp>
      <p:sp>
        <p:nvSpPr>
          <p:cNvPr id="598" name="Google Shape;598;p44"/>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antagonist result places muscarinic action downstream of, or within, the amine-recruited activation route. A flight network that responds to so many amines fits a system in which several modulators can raise excitability, while the activating step itself remains cholinergic.</a:t>
            </a:r>
            <a:endParaRPr sz="1800">
              <a:solidFill>
                <a:schemeClr val="dk1"/>
              </a:solidFill>
              <a:latin typeface="Calibri"/>
              <a:ea typeface="Calibri"/>
              <a:cs typeface="Calibri"/>
              <a:sym typeface="Calibri"/>
            </a:endParaRPr>
          </a:p>
        </p:txBody>
      </p:sp>
      <p:pic>
        <p:nvPicPr>
          <p:cNvPr id="599" name="Google Shape;599;p44"/>
          <p:cNvPicPr preferRelativeResize="0"/>
          <p:nvPr/>
        </p:nvPicPr>
        <p:blipFill rotWithShape="1">
          <a:blip r:embed="rId3">
            <a:alphaModFix/>
          </a:blip>
          <a:srcRect b="0" l="0" r="0" t="0"/>
          <a:stretch/>
        </p:blipFill>
        <p:spPr>
          <a:xfrm>
            <a:off x="7287492" y="1063377"/>
            <a:ext cx="1808015" cy="4171950"/>
          </a:xfrm>
          <a:prstGeom prst="rect">
            <a:avLst/>
          </a:prstGeom>
          <a:noFill/>
          <a:ln>
            <a:noFill/>
          </a:ln>
        </p:spPr>
      </p:pic>
      <p:sp>
        <p:nvSpPr>
          <p:cNvPr id="600" name="Google Shape;600;p44"/>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5(A–C). Octopamine and tyramine induce flight-related muscle bursts.</a:t>
            </a:r>
            <a:endParaRPr sz="1800">
              <a:solidFill>
                <a:schemeClr val="dk1"/>
              </a:solidFill>
              <a:latin typeface="Calibri"/>
              <a:ea typeface="Calibri"/>
              <a:cs typeface="Calibri"/>
              <a:sym typeface="Calibri"/>
            </a:endParaRPr>
          </a:p>
        </p:txBody>
      </p:sp>
      <p:pic>
        <p:nvPicPr>
          <p:cNvPr id="601" name="Google Shape;601;p44"/>
          <p:cNvPicPr preferRelativeResize="0"/>
          <p:nvPr/>
        </p:nvPicPr>
        <p:blipFill rotWithShape="1">
          <a:blip r:embed="rId4">
            <a:alphaModFix/>
          </a:blip>
          <a:srcRect b="0" l="0" r="0" t="0"/>
          <a:stretch/>
        </p:blipFill>
        <p:spPr>
          <a:xfrm>
            <a:off x="10058400" y="2003279"/>
            <a:ext cx="1676400" cy="2406445"/>
          </a:xfrm>
          <a:prstGeom prst="rect">
            <a:avLst/>
          </a:prstGeom>
          <a:noFill/>
          <a:ln>
            <a:noFill/>
          </a:ln>
        </p:spPr>
      </p:pic>
      <p:sp>
        <p:nvSpPr>
          <p:cNvPr id="602" name="Google Shape;602;p44"/>
          <p:cNvSpPr/>
          <p:nvPr/>
        </p:nvSpPr>
        <p:spPr>
          <a:xfrm>
            <a:off x="10058400" y="4749552"/>
            <a:ext cx="1695450" cy="619125"/>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2. Amine-induced patterns differ from cholinergic patterns in phase.</a:t>
            </a:r>
            <a:endParaRPr sz="1800">
              <a:solidFill>
                <a:schemeClr val="dk1"/>
              </a:solidFill>
              <a:latin typeface="Calibri"/>
              <a:ea typeface="Calibri"/>
              <a:cs typeface="Calibri"/>
              <a:sym typeface="Calibri"/>
            </a:endParaRPr>
          </a:p>
        </p:txBody>
      </p:sp>
      <p:sp>
        <p:nvSpPr>
          <p:cNvPr id="603" name="Google Shape;603;p44"/>
          <p:cNvSpPr/>
          <p:nvPr/>
        </p:nvSpPr>
        <p:spPr>
          <a:xfrm>
            <a:off x="457200" y="6496050"/>
            <a:ext cx="91335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Buhl et al. (2008)</a:t>
            </a:r>
            <a:endParaRPr sz="1800">
              <a:solidFill>
                <a:schemeClr val="dk1"/>
              </a:solidFill>
              <a:latin typeface="Calibri"/>
              <a:ea typeface="Calibri"/>
              <a:cs typeface="Calibri"/>
              <a:sym typeface="Calibri"/>
            </a:endParaRPr>
          </a:p>
        </p:txBody>
      </p:sp>
      <p:sp>
        <p:nvSpPr>
          <p:cNvPr id="604" name="Google Shape;604;p44"/>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34</a:t>
            </a:r>
            <a:endParaRPr sz="18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8" name="Shape 608"/>
        <p:cNvGrpSpPr/>
        <p:nvPr/>
      </p:nvGrpSpPr>
      <p:grpSpPr>
        <a:xfrm>
          <a:off x="0" y="0"/>
          <a:ext cx="0" cy="0"/>
          <a:chOff x="0" y="0"/>
          <a:chExt cx="0" cy="0"/>
        </a:xfrm>
      </p:grpSpPr>
      <p:sp>
        <p:nvSpPr>
          <p:cNvPr id="609" name="Google Shape;609;p45"/>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Flight initiation persists after verified amine depletion</a:t>
            </a:r>
            <a:endParaRPr sz="1800">
              <a:solidFill>
                <a:schemeClr val="dk1"/>
              </a:solidFill>
              <a:latin typeface="Calibri"/>
              <a:ea typeface="Calibri"/>
              <a:cs typeface="Calibri"/>
              <a:sym typeface="Calibri"/>
            </a:endParaRPr>
          </a:p>
        </p:txBody>
      </p:sp>
      <p:sp>
        <p:nvSpPr>
          <p:cNvPr id="610" name="Google Shape;610;p45"/>
          <p:cNvSpPr/>
          <p:nvPr/>
        </p:nvSpPr>
        <p:spPr>
          <a:xfrm>
            <a:off x="457200" y="1063377"/>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Reserpine</a:t>
            </a:r>
            <a:r>
              <a:rPr b="0" i="0" lang="en-US" sz="1425">
                <a:solidFill>
                  <a:srgbClr val="292329"/>
                </a:solidFill>
                <a:latin typeface="Arial"/>
                <a:ea typeface="Arial"/>
                <a:cs typeface="Arial"/>
                <a:sym typeface="Arial"/>
              </a:rPr>
              <a:t> reduces stored biogenic amines and provides a test distinct from receptor-antagonist application. Buhl and colleagues injected a total of 500 μg per locust over two treatments. They examined thoracic tissue using octopamine immunocytochemistry, an antibody-based method for detecting octopamine-like labeling.</a:t>
            </a:r>
            <a:endParaRPr sz="1800">
              <a:solidFill>
                <a:schemeClr val="dk1"/>
              </a:solidFill>
              <a:latin typeface="Calibri"/>
              <a:ea typeface="Calibri"/>
              <a:cs typeface="Calibri"/>
              <a:sym typeface="Calibri"/>
            </a:endParaRPr>
          </a:p>
        </p:txBody>
      </p:sp>
      <p:sp>
        <p:nvSpPr>
          <p:cNvPr id="611" name="Google Shape;611;p45"/>
          <p:cNvSpPr/>
          <p:nvPr/>
        </p:nvSpPr>
        <p:spPr>
          <a:xfrm>
            <a:off x="457200" y="2629942"/>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Control tissue labeled dorsal unpaired median neurons and fine processes in the flight neuropil. Reserpine-treated tissue lost this labeling. Nevertheless, wind and 5 mM pilocarpine still evoked flight-like activity with the main timing relationships retained.</a:t>
            </a:r>
            <a:endParaRPr sz="1800">
              <a:solidFill>
                <a:schemeClr val="dk1"/>
              </a:solidFill>
              <a:latin typeface="Calibri"/>
              <a:ea typeface="Calibri"/>
              <a:cs typeface="Calibri"/>
              <a:sym typeface="Calibri"/>
            </a:endParaRPr>
          </a:p>
        </p:txBody>
      </p:sp>
      <p:sp>
        <p:nvSpPr>
          <p:cNvPr id="612" name="Google Shape;612;p45"/>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verified loss of labeling strengthens the conclusion that normal amine stores are not required for initiation in this preparation. Reserpine also emptied the DUM neurons supplying the flight neuropil, the only identified candidates for aminergic modulation of the flight circuit.</a:t>
            </a:r>
            <a:endParaRPr sz="1800">
              <a:solidFill>
                <a:schemeClr val="dk1"/>
              </a:solidFill>
              <a:latin typeface="Calibri"/>
              <a:ea typeface="Calibri"/>
              <a:cs typeface="Calibri"/>
              <a:sym typeface="Calibri"/>
            </a:endParaRPr>
          </a:p>
        </p:txBody>
      </p:sp>
      <p:pic>
        <p:nvPicPr>
          <p:cNvPr id="613" name="Google Shape;613;p45"/>
          <p:cNvPicPr preferRelativeResize="0"/>
          <p:nvPr/>
        </p:nvPicPr>
        <p:blipFill rotWithShape="1">
          <a:blip r:embed="rId3">
            <a:alphaModFix/>
          </a:blip>
          <a:srcRect b="0" l="0" r="0" t="0"/>
          <a:stretch/>
        </p:blipFill>
        <p:spPr>
          <a:xfrm>
            <a:off x="6477000" y="1245827"/>
            <a:ext cx="5257800" cy="3873724"/>
          </a:xfrm>
          <a:prstGeom prst="rect">
            <a:avLst/>
          </a:prstGeom>
          <a:noFill/>
          <a:ln>
            <a:noFill/>
          </a:ln>
        </p:spPr>
      </p:pic>
      <p:sp>
        <p:nvSpPr>
          <p:cNvPr id="614" name="Google Shape;614;p45"/>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6. Octopamine staining and flight output after reserpine.</a:t>
            </a:r>
            <a:endParaRPr sz="1800">
              <a:solidFill>
                <a:schemeClr val="dk1"/>
              </a:solidFill>
              <a:latin typeface="Calibri"/>
              <a:ea typeface="Calibri"/>
              <a:cs typeface="Calibri"/>
              <a:sym typeface="Calibri"/>
            </a:endParaRPr>
          </a:p>
        </p:txBody>
      </p:sp>
      <p:sp>
        <p:nvSpPr>
          <p:cNvPr id="615" name="Google Shape;615;p45"/>
          <p:cNvSpPr/>
          <p:nvPr/>
        </p:nvSpPr>
        <p:spPr>
          <a:xfrm>
            <a:off x="457200" y="6496050"/>
            <a:ext cx="91335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Buhl et al. (2008)</a:t>
            </a:r>
            <a:endParaRPr sz="1800">
              <a:solidFill>
                <a:schemeClr val="dk1"/>
              </a:solidFill>
              <a:latin typeface="Calibri"/>
              <a:ea typeface="Calibri"/>
              <a:cs typeface="Calibri"/>
              <a:sym typeface="Calibri"/>
            </a:endParaRPr>
          </a:p>
        </p:txBody>
      </p:sp>
      <p:sp>
        <p:nvSpPr>
          <p:cNvPr id="616" name="Google Shape;616;p45"/>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35</a:t>
            </a:r>
            <a:endParaRPr sz="1800">
              <a:solidFill>
                <a:schemeClr val="dk1"/>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0" name="Shape 620"/>
        <p:cNvGrpSpPr/>
        <p:nvPr/>
      </p:nvGrpSpPr>
      <p:grpSpPr>
        <a:xfrm>
          <a:off x="0" y="0"/>
          <a:ext cx="0" cy="0"/>
          <a:chOff x="0" y="0"/>
          <a:chExt cx="0" cy="0"/>
        </a:xfrm>
      </p:grpSpPr>
      <p:sp>
        <p:nvSpPr>
          <p:cNvPr id="621" name="Google Shape;621;p46"/>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Three drug tests separate activation from modulation</a:t>
            </a:r>
            <a:endParaRPr sz="1800">
              <a:solidFill>
                <a:schemeClr val="dk1"/>
              </a:solidFill>
              <a:latin typeface="Calibri"/>
              <a:ea typeface="Calibri"/>
              <a:cs typeface="Calibri"/>
              <a:sym typeface="Calibri"/>
            </a:endParaRPr>
          </a:p>
        </p:txBody>
      </p:sp>
      <p:sp>
        <p:nvSpPr>
          <p:cNvPr id="622" name="Google Shape;622;p46"/>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Pharmacology answers different questions depending on the test. An </a:t>
            </a:r>
            <a:r>
              <a:rPr b="1" i="0" lang="en-US" sz="1425">
                <a:solidFill>
                  <a:srgbClr val="292329"/>
                </a:solidFill>
                <a:latin typeface="Arial"/>
                <a:ea typeface="Arial"/>
                <a:cs typeface="Arial"/>
                <a:sym typeface="Arial"/>
              </a:rPr>
              <a:t>agonist</a:t>
            </a:r>
            <a:r>
              <a:rPr b="0" i="0" lang="en-US" sz="1425">
                <a:solidFill>
                  <a:srgbClr val="292329"/>
                </a:solidFill>
                <a:latin typeface="Arial"/>
                <a:ea typeface="Arial"/>
                <a:cs typeface="Arial"/>
                <a:sym typeface="Arial"/>
              </a:rPr>
              <a:t> asks whether stimulating a receptor can produce flight, an </a:t>
            </a:r>
            <a:r>
              <a:rPr b="1" i="0" lang="en-US" sz="1425">
                <a:solidFill>
                  <a:srgbClr val="292329"/>
                </a:solidFill>
                <a:latin typeface="Arial"/>
                <a:ea typeface="Arial"/>
                <a:cs typeface="Arial"/>
                <a:sym typeface="Arial"/>
              </a:rPr>
              <a:t>antagonist</a:t>
            </a:r>
            <a:r>
              <a:rPr b="0" i="0" lang="en-US" sz="1425">
                <a:solidFill>
                  <a:srgbClr val="292329"/>
                </a:solidFill>
                <a:latin typeface="Arial"/>
                <a:ea typeface="Arial"/>
                <a:cs typeface="Arial"/>
                <a:sym typeface="Arial"/>
              </a:rPr>
              <a:t> asks whether natural activation passes through that receptor, and </a:t>
            </a:r>
            <a:r>
              <a:rPr b="1" i="0" lang="en-US" sz="1425">
                <a:solidFill>
                  <a:srgbClr val="292329"/>
                </a:solidFill>
                <a:latin typeface="Arial"/>
                <a:ea typeface="Arial"/>
                <a:cs typeface="Arial"/>
                <a:sym typeface="Arial"/>
              </a:rPr>
              <a:t>depletion</a:t>
            </a:r>
            <a:r>
              <a:rPr b="0" i="0" lang="en-US" sz="1425">
                <a:solidFill>
                  <a:srgbClr val="292329"/>
                </a:solidFill>
                <a:latin typeface="Arial"/>
                <a:ea typeface="Arial"/>
                <a:cs typeface="Arial"/>
                <a:sym typeface="Arial"/>
              </a:rPr>
              <a:t> asks whether the transmitter itself must be present.</a:t>
            </a:r>
            <a:endParaRPr sz="1800">
              <a:solidFill>
                <a:schemeClr val="dk1"/>
              </a:solidFill>
              <a:latin typeface="Calibri"/>
              <a:ea typeface="Calibri"/>
              <a:cs typeface="Calibri"/>
              <a:sym typeface="Calibri"/>
            </a:endParaRPr>
          </a:p>
        </p:txBody>
      </p:sp>
      <p:sp>
        <p:nvSpPr>
          <p:cNvPr id="623" name="Google Shape;623;p46"/>
          <p:cNvSpPr/>
          <p:nvPr/>
        </p:nvSpPr>
        <p:spPr>
          <a:xfrm>
            <a:off x="457200" y="2669292"/>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Amines passed only the first test: octopamine, tyramine, dopamine and histamine released flight in the bath, yet aminergic antagonists did not reversibly block wind-induced flight, and reserpine-treated locusts still flew. Muscarinic signaling passed the second test for wind, pilocarpine, amines and TCG alike.</a:t>
            </a:r>
            <a:endParaRPr sz="1800">
              <a:solidFill>
                <a:schemeClr val="dk1"/>
              </a:solidFill>
              <a:latin typeface="Calibri"/>
              <a:ea typeface="Calibri"/>
              <a:cs typeface="Calibri"/>
              <a:sym typeface="Calibri"/>
            </a:endParaRPr>
          </a:p>
        </p:txBody>
      </p:sp>
      <p:sp>
        <p:nvSpPr>
          <p:cNvPr id="624" name="Google Shape;624;p46"/>
          <p:cNvSpPr/>
          <p:nvPr/>
        </p:nvSpPr>
        <p:spPr>
          <a:xfrm>
            <a:off x="457200" y="4275207"/>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Relying on agonists alone would have named octopamine the flight trigger. The combined results give amines a modulatory role, raising wind effectiveness and tightening leg-wing coupling at lower doses, and give acetylcholine at muscarinic receptors the activating role.</a:t>
            </a:r>
            <a:endParaRPr sz="1800">
              <a:solidFill>
                <a:schemeClr val="dk1"/>
              </a:solidFill>
              <a:latin typeface="Calibri"/>
              <a:ea typeface="Calibri"/>
              <a:cs typeface="Calibri"/>
              <a:sym typeface="Calibri"/>
            </a:endParaRPr>
          </a:p>
        </p:txBody>
      </p:sp>
      <p:pic>
        <p:nvPicPr>
          <p:cNvPr id="625" name="Google Shape;625;p46"/>
          <p:cNvPicPr preferRelativeResize="0"/>
          <p:nvPr/>
        </p:nvPicPr>
        <p:blipFill rotWithShape="1">
          <a:blip r:embed="rId3">
            <a:alphaModFix/>
          </a:blip>
          <a:srcRect b="0" l="0" r="0" t="0"/>
          <a:stretch/>
        </p:blipFill>
        <p:spPr>
          <a:xfrm>
            <a:off x="6477000" y="1245827"/>
            <a:ext cx="5257800" cy="3873724"/>
          </a:xfrm>
          <a:prstGeom prst="rect">
            <a:avLst/>
          </a:prstGeom>
          <a:noFill/>
          <a:ln>
            <a:noFill/>
          </a:ln>
        </p:spPr>
      </p:pic>
      <p:sp>
        <p:nvSpPr>
          <p:cNvPr id="626" name="Google Shape;626;p46"/>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6. Octopamine staining and flight output after reserpine.</a:t>
            </a:r>
            <a:endParaRPr sz="1800">
              <a:solidFill>
                <a:schemeClr val="dk1"/>
              </a:solidFill>
              <a:latin typeface="Calibri"/>
              <a:ea typeface="Calibri"/>
              <a:cs typeface="Calibri"/>
              <a:sym typeface="Calibri"/>
            </a:endParaRPr>
          </a:p>
        </p:txBody>
      </p:sp>
      <p:sp>
        <p:nvSpPr>
          <p:cNvPr id="627" name="Google Shape;627;p46"/>
          <p:cNvSpPr/>
          <p:nvPr/>
        </p:nvSpPr>
        <p:spPr>
          <a:xfrm>
            <a:off x="457200" y="6496050"/>
            <a:ext cx="264972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Buhl et al. (2008); Rillich et al. (2013)</a:t>
            </a:r>
            <a:endParaRPr sz="1800">
              <a:solidFill>
                <a:schemeClr val="dk1"/>
              </a:solidFill>
              <a:latin typeface="Calibri"/>
              <a:ea typeface="Calibri"/>
              <a:cs typeface="Calibri"/>
              <a:sym typeface="Calibri"/>
            </a:endParaRPr>
          </a:p>
        </p:txBody>
      </p:sp>
      <p:sp>
        <p:nvSpPr>
          <p:cNvPr id="628" name="Google Shape;628;p46"/>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35a</a:t>
            </a:r>
            <a:endParaRPr sz="1800">
              <a:solidFill>
                <a:schemeClr val="dk1"/>
              </a:solidFill>
              <a:latin typeface="Calibri"/>
              <a:ea typeface="Calibri"/>
              <a:cs typeface="Calibri"/>
              <a:sym typeface="Calibri"/>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2" name="Shape 632"/>
        <p:cNvGrpSpPr/>
        <p:nvPr/>
      </p:nvGrpSpPr>
      <p:grpSpPr>
        <a:xfrm>
          <a:off x="0" y="0"/>
          <a:ext cx="0" cy="0"/>
          <a:chOff x="0" y="0"/>
          <a:chExt cx="0" cy="0"/>
        </a:xfrm>
      </p:grpSpPr>
      <p:sp>
        <p:nvSpPr>
          <p:cNvPr id="633" name="Google Shape;633;p47"/>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Activation chemistry changes frequency and phase together</a:t>
            </a:r>
            <a:endParaRPr sz="1800">
              <a:solidFill>
                <a:schemeClr val="dk1"/>
              </a:solidFill>
              <a:latin typeface="Calibri"/>
              <a:ea typeface="Calibri"/>
              <a:cs typeface="Calibri"/>
              <a:sym typeface="Calibri"/>
            </a:endParaRPr>
          </a:p>
        </p:txBody>
      </p:sp>
      <p:sp>
        <p:nvSpPr>
          <p:cNvPr id="634" name="Google Shape;634;p47"/>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Buhl and colleagues quantified the motor score with simultaneous recordings from a hindwing elevator and several depressor muscles. </a:t>
            </a:r>
            <a:r>
              <a:rPr b="1" i="0" lang="en-US" sz="1425">
                <a:solidFill>
                  <a:srgbClr val="292329"/>
                </a:solidFill>
                <a:latin typeface="Arial"/>
                <a:ea typeface="Arial"/>
                <a:cs typeface="Arial"/>
                <a:sym typeface="Arial"/>
              </a:rPr>
              <a:t>Cycle frequency</a:t>
            </a:r>
            <a:r>
              <a:rPr b="0" i="0" lang="en-US" sz="1425">
                <a:solidFill>
                  <a:srgbClr val="292329"/>
                </a:solidFill>
                <a:latin typeface="Arial"/>
                <a:ea typeface="Arial"/>
                <a:cs typeface="Arial"/>
                <a:sym typeface="Arial"/>
              </a:rPr>
              <a:t> is the number of complete repetitions per second; </a:t>
            </a:r>
            <a:r>
              <a:rPr b="1" i="0" lang="en-US" sz="1425">
                <a:solidFill>
                  <a:srgbClr val="292329"/>
                </a:solidFill>
                <a:latin typeface="Arial"/>
                <a:ea typeface="Arial"/>
                <a:cs typeface="Arial"/>
                <a:sym typeface="Arial"/>
              </a:rPr>
              <a:t>phase</a:t>
            </a:r>
            <a:r>
              <a:rPr b="0" i="0" lang="en-US" sz="1425">
                <a:solidFill>
                  <a:srgbClr val="292329"/>
                </a:solidFill>
                <a:latin typeface="Arial"/>
                <a:ea typeface="Arial"/>
                <a:cs typeface="Arial"/>
                <a:sym typeface="Arial"/>
              </a:rPr>
              <a:t> expresses where one event falls within that repetition.</a:t>
            </a:r>
            <a:endParaRPr sz="1800">
              <a:solidFill>
                <a:schemeClr val="dk1"/>
              </a:solidFill>
              <a:latin typeface="Calibri"/>
              <a:ea typeface="Calibri"/>
              <a:cs typeface="Calibri"/>
              <a:sym typeface="Calibri"/>
            </a:endParaRPr>
          </a:p>
        </p:txBody>
      </p:sp>
      <p:sp>
        <p:nvSpPr>
          <p:cNvPr id="635" name="Google Shape;635;p47"/>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Wind-induced fictive flight averaged approximately 8.6 Hz, pilocarpine-induced activity 11.5 Hz, and carbachol-induced activity 18.1 Hz. The elevator occupied phase approximately 0.58 with wind and 0.52 with pilocarpine, but approximately 0.76 during octopamine-induced activity.</a:t>
            </a:r>
            <a:endParaRPr sz="1800">
              <a:solidFill>
                <a:schemeClr val="dk1"/>
              </a:solidFill>
              <a:latin typeface="Calibri"/>
              <a:ea typeface="Calibri"/>
              <a:cs typeface="Calibri"/>
              <a:sym typeface="Calibri"/>
            </a:endParaRPr>
          </a:p>
        </p:txBody>
      </p:sp>
      <p:sp>
        <p:nvSpPr>
          <p:cNvPr id="636" name="Google Shape;636;p47"/>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Similar alternating patterns therefore need not have identical temporal structure. The chemistry used to release a motor program can also tune the program. Octopamine moved elevator activity later in the cycle, so an aminergic state can change how each wingbeat is divided between downstroke and upstroke.</a:t>
            </a:r>
            <a:endParaRPr sz="1800">
              <a:solidFill>
                <a:schemeClr val="dk1"/>
              </a:solidFill>
              <a:latin typeface="Calibri"/>
              <a:ea typeface="Calibri"/>
              <a:cs typeface="Calibri"/>
              <a:sym typeface="Calibri"/>
            </a:endParaRPr>
          </a:p>
        </p:txBody>
      </p:sp>
      <p:pic>
        <p:nvPicPr>
          <p:cNvPr id="637" name="Google Shape;637;p47"/>
          <p:cNvPicPr preferRelativeResize="0"/>
          <p:nvPr/>
        </p:nvPicPr>
        <p:blipFill rotWithShape="1">
          <a:blip r:embed="rId3">
            <a:alphaModFix/>
          </a:blip>
          <a:srcRect b="0" l="0" r="0" t="0"/>
          <a:stretch/>
        </p:blipFill>
        <p:spPr>
          <a:xfrm>
            <a:off x="7629525" y="1063377"/>
            <a:ext cx="2952750" cy="4238625"/>
          </a:xfrm>
          <a:prstGeom prst="rect">
            <a:avLst/>
          </a:prstGeom>
          <a:noFill/>
          <a:ln>
            <a:noFill/>
          </a:ln>
        </p:spPr>
      </p:pic>
      <p:sp>
        <p:nvSpPr>
          <p:cNvPr id="638" name="Google Shape;638;p47"/>
          <p:cNvSpPr/>
          <p:nvPr/>
        </p:nvSpPr>
        <p:spPr>
          <a:xfrm>
            <a:off x="6477000" y="5368677"/>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2. Measured rhythm frequency, delays and phase across treatments.</a:t>
            </a:r>
            <a:endParaRPr sz="1800">
              <a:solidFill>
                <a:schemeClr val="dk1"/>
              </a:solidFill>
              <a:latin typeface="Calibri"/>
              <a:ea typeface="Calibri"/>
              <a:cs typeface="Calibri"/>
              <a:sym typeface="Calibri"/>
            </a:endParaRPr>
          </a:p>
        </p:txBody>
      </p:sp>
      <p:sp>
        <p:nvSpPr>
          <p:cNvPr id="639" name="Google Shape;639;p47"/>
          <p:cNvSpPr/>
          <p:nvPr/>
        </p:nvSpPr>
        <p:spPr>
          <a:xfrm>
            <a:off x="457200" y="6496050"/>
            <a:ext cx="91335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Buhl et al. (2008)</a:t>
            </a:r>
            <a:endParaRPr sz="1800">
              <a:solidFill>
                <a:schemeClr val="dk1"/>
              </a:solidFill>
              <a:latin typeface="Calibri"/>
              <a:ea typeface="Calibri"/>
              <a:cs typeface="Calibri"/>
              <a:sym typeface="Calibri"/>
            </a:endParaRPr>
          </a:p>
        </p:txBody>
      </p:sp>
      <p:sp>
        <p:nvSpPr>
          <p:cNvPr id="640" name="Google Shape;640;p47"/>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36</a:t>
            </a:r>
            <a:endParaRPr sz="1800">
              <a:solidFill>
                <a:schemeClr val="dk1"/>
              </a:solidFill>
              <a:latin typeface="Calibri"/>
              <a:ea typeface="Calibri"/>
              <a:cs typeface="Calibri"/>
              <a:sym typeface="Calibri"/>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4" name="Shape 644"/>
        <p:cNvGrpSpPr/>
        <p:nvPr/>
      </p:nvGrpSpPr>
      <p:grpSpPr>
        <a:xfrm>
          <a:off x="0" y="0"/>
          <a:ext cx="0" cy="0"/>
          <a:chOff x="0" y="0"/>
          <a:chExt cx="0" cy="0"/>
        </a:xfrm>
      </p:grpSpPr>
      <p:sp>
        <p:nvSpPr>
          <p:cNvPr id="645" name="Google Shape;645;p48"/>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Tegula input resets the transition to wing elevation</a:t>
            </a:r>
            <a:endParaRPr sz="1800">
              <a:solidFill>
                <a:schemeClr val="dk1"/>
              </a:solidFill>
              <a:latin typeface="Calibri"/>
              <a:ea typeface="Calibri"/>
              <a:cs typeface="Calibri"/>
              <a:sym typeface="Calibri"/>
            </a:endParaRPr>
          </a:p>
        </p:txBody>
      </p:sp>
      <p:sp>
        <p:nvSpPr>
          <p:cNvPr id="646" name="Google Shape;646;p48"/>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a:t>
            </a:r>
            <a:r>
              <a:rPr b="1" i="0" lang="en-US" sz="1425">
                <a:solidFill>
                  <a:srgbClr val="292329"/>
                </a:solidFill>
                <a:latin typeface="Arial"/>
                <a:ea typeface="Arial"/>
                <a:cs typeface="Arial"/>
                <a:sym typeface="Arial"/>
              </a:rPr>
              <a:t>tegula</a:t>
            </a:r>
            <a:r>
              <a:rPr b="0" i="0" lang="en-US" sz="1425">
                <a:solidFill>
                  <a:srgbClr val="292329"/>
                </a:solidFill>
                <a:latin typeface="Arial"/>
                <a:ea typeface="Arial"/>
                <a:cs typeface="Arial"/>
                <a:sym typeface="Arial"/>
              </a:rPr>
              <a:t> is a proprioceptive sense organ at the wing base that signals wing downstroke. </a:t>
            </a:r>
            <a:r>
              <a:rPr b="1" i="0" lang="en-US" sz="1425">
                <a:solidFill>
                  <a:srgbClr val="292329"/>
                </a:solidFill>
                <a:latin typeface="Arial"/>
                <a:ea typeface="Arial"/>
                <a:cs typeface="Arial"/>
                <a:sym typeface="Arial"/>
              </a:rPr>
              <a:t>Proprioception</a:t>
            </a:r>
            <a:r>
              <a:rPr b="0" i="0" lang="en-US" sz="1425">
                <a:solidFill>
                  <a:srgbClr val="292329"/>
                </a:solidFill>
                <a:latin typeface="Arial"/>
                <a:ea typeface="Arial"/>
                <a:cs typeface="Arial"/>
                <a:sym typeface="Arial"/>
              </a:rPr>
              <a:t> supplies information about the animal’s own movement. Ausborn and colleagues electrically stimulated hindwing tegula afferents while monitoring wing position and elevator motor-neuron voltage.</a:t>
            </a:r>
            <a:endParaRPr sz="1800">
              <a:solidFill>
                <a:schemeClr val="dk1"/>
              </a:solidFill>
              <a:latin typeface="Calibri"/>
              <a:ea typeface="Calibri"/>
              <a:cs typeface="Calibri"/>
              <a:sym typeface="Calibri"/>
            </a:endParaRPr>
          </a:p>
        </p:txBody>
      </p:sp>
      <p:sp>
        <p:nvSpPr>
          <p:cNvPr id="647" name="Google Shape;647;p48"/>
          <p:cNvSpPr/>
          <p:nvPr/>
        </p:nvSpPr>
        <p:spPr>
          <a:xfrm>
            <a:off x="457200" y="2391073"/>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Stimulus trains used 0.1 ms pulses at 220 Hz to approximate natural receptor bursts. Stimulating at different phases synchronized the subsequent elevator response and wing movement. Excitatory postsynaptic potential amplitudes varied within a flight episode even when stimulation occurred at similar phases.</a:t>
            </a:r>
            <a:endParaRPr sz="1800">
              <a:solidFill>
                <a:schemeClr val="dk1"/>
              </a:solidFill>
              <a:latin typeface="Calibri"/>
              <a:ea typeface="Calibri"/>
              <a:cs typeface="Calibri"/>
              <a:sym typeface="Calibri"/>
            </a:endParaRPr>
          </a:p>
        </p:txBody>
      </p:sp>
      <p:sp>
        <p:nvSpPr>
          <p:cNvPr id="648" name="Google Shape;648;p48"/>
          <p:cNvSpPr/>
          <p:nvPr/>
        </p:nvSpPr>
        <p:spPr>
          <a:xfrm>
            <a:off x="457200" y="395763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tegula can therefore reset a centrally generated rhythm instead of merely reporting its movement. The response depends on circuit state and effective sensory input. Signaling each downstroke, the tegula excites elevator motor neurons and so triggers the upstroke at a time tied to actual wing position.</a:t>
            </a:r>
            <a:endParaRPr sz="1800">
              <a:solidFill>
                <a:schemeClr val="dk1"/>
              </a:solidFill>
              <a:latin typeface="Calibri"/>
              <a:ea typeface="Calibri"/>
              <a:cs typeface="Calibri"/>
              <a:sym typeface="Calibri"/>
            </a:endParaRPr>
          </a:p>
        </p:txBody>
      </p:sp>
      <p:pic>
        <p:nvPicPr>
          <p:cNvPr id="649" name="Google Shape;649;p48"/>
          <p:cNvPicPr preferRelativeResize="0"/>
          <p:nvPr/>
        </p:nvPicPr>
        <p:blipFill rotWithShape="1">
          <a:blip r:embed="rId3">
            <a:alphaModFix/>
          </a:blip>
          <a:srcRect b="0" l="0" r="0" t="0"/>
          <a:stretch/>
        </p:blipFill>
        <p:spPr>
          <a:xfrm>
            <a:off x="7088273" y="1063377"/>
            <a:ext cx="4035254" cy="2152650"/>
          </a:xfrm>
          <a:prstGeom prst="rect">
            <a:avLst/>
          </a:prstGeom>
          <a:noFill/>
          <a:ln>
            <a:noFill/>
          </a:ln>
        </p:spPr>
      </p:pic>
      <p:sp>
        <p:nvSpPr>
          <p:cNvPr id="650" name="Google Shape;650;p48"/>
          <p:cNvSpPr/>
          <p:nvPr/>
        </p:nvSpPr>
        <p:spPr>
          <a:xfrm>
            <a:off x="6477000" y="3282702"/>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Ausborn et al. (2007), Fig. 2(A). Wing motion and elevator recordings during tegula stimulation.</a:t>
            </a:r>
            <a:endParaRPr sz="1800">
              <a:solidFill>
                <a:schemeClr val="dk1"/>
              </a:solidFill>
              <a:latin typeface="Calibri"/>
              <a:ea typeface="Calibri"/>
              <a:cs typeface="Calibri"/>
              <a:sym typeface="Calibri"/>
            </a:endParaRPr>
          </a:p>
        </p:txBody>
      </p:sp>
      <p:pic>
        <p:nvPicPr>
          <p:cNvPr id="651" name="Google Shape;651;p48"/>
          <p:cNvPicPr preferRelativeResize="0"/>
          <p:nvPr/>
        </p:nvPicPr>
        <p:blipFill rotWithShape="1">
          <a:blip r:embed="rId4">
            <a:alphaModFix/>
          </a:blip>
          <a:srcRect b="0" l="0" r="0" t="0"/>
          <a:stretch/>
        </p:blipFill>
        <p:spPr>
          <a:xfrm>
            <a:off x="8108388" y="3744664"/>
            <a:ext cx="1995024" cy="1847850"/>
          </a:xfrm>
          <a:prstGeom prst="rect">
            <a:avLst/>
          </a:prstGeom>
          <a:noFill/>
          <a:ln>
            <a:noFill/>
          </a:ln>
        </p:spPr>
      </p:pic>
      <p:sp>
        <p:nvSpPr>
          <p:cNvPr id="652" name="Google Shape;652;p48"/>
          <p:cNvSpPr/>
          <p:nvPr/>
        </p:nvSpPr>
        <p:spPr>
          <a:xfrm>
            <a:off x="6477000" y="5659189"/>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Ausborn et al. (2007), Fig. 1(A). Published ganglion and tegula-nerve recording preparation.</a:t>
            </a:r>
            <a:endParaRPr sz="1800">
              <a:solidFill>
                <a:schemeClr val="dk1"/>
              </a:solidFill>
              <a:latin typeface="Calibri"/>
              <a:ea typeface="Calibri"/>
              <a:cs typeface="Calibri"/>
              <a:sym typeface="Calibri"/>
            </a:endParaRPr>
          </a:p>
        </p:txBody>
      </p:sp>
      <p:sp>
        <p:nvSpPr>
          <p:cNvPr id="653" name="Google Shape;653;p48"/>
          <p:cNvSpPr/>
          <p:nvPr/>
        </p:nvSpPr>
        <p:spPr>
          <a:xfrm>
            <a:off x="457200" y="6496050"/>
            <a:ext cx="1124099"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Ausborn et al. (2007)</a:t>
            </a:r>
            <a:endParaRPr sz="1800">
              <a:solidFill>
                <a:schemeClr val="dk1"/>
              </a:solidFill>
              <a:latin typeface="Calibri"/>
              <a:ea typeface="Calibri"/>
              <a:cs typeface="Calibri"/>
              <a:sym typeface="Calibri"/>
            </a:endParaRPr>
          </a:p>
        </p:txBody>
      </p:sp>
      <p:sp>
        <p:nvSpPr>
          <p:cNvPr id="654" name="Google Shape;654;p48"/>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37</a:t>
            </a:r>
            <a:endParaRPr sz="1800">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8" name="Shape 658"/>
        <p:cNvGrpSpPr/>
        <p:nvPr/>
      </p:nvGrpSpPr>
      <p:grpSpPr>
        <a:xfrm>
          <a:off x="0" y="0"/>
          <a:ext cx="0" cy="0"/>
          <a:chOff x="0" y="0"/>
          <a:chExt cx="0" cy="0"/>
        </a:xfrm>
      </p:grpSpPr>
      <p:sp>
        <p:nvSpPr>
          <p:cNvPr id="659" name="Google Shape;659;p49"/>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Recruiting more tegula afferents increases central input</a:t>
            </a:r>
            <a:endParaRPr sz="1800">
              <a:solidFill>
                <a:schemeClr val="dk1"/>
              </a:solidFill>
              <a:latin typeface="Calibri"/>
              <a:ea typeface="Calibri"/>
              <a:cs typeface="Calibri"/>
              <a:sym typeface="Calibri"/>
            </a:endParaRPr>
          </a:p>
        </p:txBody>
      </p:sp>
      <p:sp>
        <p:nvSpPr>
          <p:cNvPr id="660" name="Google Shape;660;p49"/>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Ausborn and colleagues stimulated the cut tegula nerve while recording its </a:t>
            </a:r>
            <a:r>
              <a:rPr b="1" i="0" lang="en-US" sz="1425">
                <a:solidFill>
                  <a:srgbClr val="292329"/>
                </a:solidFill>
                <a:latin typeface="Arial"/>
                <a:ea typeface="Arial"/>
                <a:cs typeface="Arial"/>
                <a:sym typeface="Arial"/>
              </a:rPr>
              <a:t>compound action potential</a:t>
            </a:r>
            <a:r>
              <a:rPr b="0" i="0" lang="en-US" sz="1425">
                <a:solidFill>
                  <a:srgbClr val="292329"/>
                </a:solidFill>
                <a:latin typeface="Arial"/>
                <a:ea typeface="Arial"/>
                <a:cs typeface="Arial"/>
                <a:sym typeface="Arial"/>
              </a:rPr>
              <a:t>, the summed extracellular response of several axons. The lowest stimulus voltage producing a detectable response defined threshold T. Increasing voltage recruited additional afferents.</a:t>
            </a:r>
            <a:endParaRPr sz="1800">
              <a:solidFill>
                <a:schemeClr val="dk1"/>
              </a:solidFill>
              <a:latin typeface="Calibri"/>
              <a:ea typeface="Calibri"/>
              <a:cs typeface="Calibri"/>
              <a:sym typeface="Calibri"/>
            </a:endParaRPr>
          </a:p>
        </p:txBody>
      </p:sp>
      <p:sp>
        <p:nvSpPr>
          <p:cNvPr id="661" name="Google Shape;661;p49"/>
          <p:cNvSpPr/>
          <p:nvPr/>
        </p:nvSpPr>
        <p:spPr>
          <a:xfrm>
            <a:off x="457200" y="2391073"/>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second nerve-response component appeared near 1.3 times threshold in the published example. Higher stimulus intensities also produced larger postsynaptic responses in flight interneurons, including 511. The recordings distinguish increasing peripheral recruitment from an assumed change in one neuron’s spike size.</a:t>
            </a:r>
            <a:endParaRPr sz="1800">
              <a:solidFill>
                <a:schemeClr val="dk1"/>
              </a:solidFill>
              <a:latin typeface="Calibri"/>
              <a:ea typeface="Calibri"/>
              <a:cs typeface="Calibri"/>
              <a:sym typeface="Calibri"/>
            </a:endParaRPr>
          </a:p>
        </p:txBody>
      </p:sp>
      <p:sp>
        <p:nvSpPr>
          <p:cNvPr id="662" name="Google Shape;662;p49"/>
          <p:cNvSpPr/>
          <p:nvPr/>
        </p:nvSpPr>
        <p:spPr>
          <a:xfrm>
            <a:off x="457200" y="395763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Stimulus strength is therefore an experimentally controlled way to change the sensory drive reaching the network. Larger stimuli recruit more afferents, mimicking a stronger natural signal from more tegula receptors, and in closed loop that strength can be varied while timing stays locked to each depressor burst.</a:t>
            </a:r>
            <a:endParaRPr sz="1800">
              <a:solidFill>
                <a:schemeClr val="dk1"/>
              </a:solidFill>
              <a:latin typeface="Calibri"/>
              <a:ea typeface="Calibri"/>
              <a:cs typeface="Calibri"/>
              <a:sym typeface="Calibri"/>
            </a:endParaRPr>
          </a:p>
        </p:txBody>
      </p:sp>
      <p:pic>
        <p:nvPicPr>
          <p:cNvPr id="663" name="Google Shape;663;p49"/>
          <p:cNvPicPr preferRelativeResize="0"/>
          <p:nvPr/>
        </p:nvPicPr>
        <p:blipFill rotWithShape="1">
          <a:blip r:embed="rId3">
            <a:alphaModFix/>
          </a:blip>
          <a:srcRect b="0" l="0" r="0" t="0"/>
          <a:stretch/>
        </p:blipFill>
        <p:spPr>
          <a:xfrm>
            <a:off x="6477000" y="1282894"/>
            <a:ext cx="5257800" cy="1713616"/>
          </a:xfrm>
          <a:prstGeom prst="rect">
            <a:avLst/>
          </a:prstGeom>
          <a:noFill/>
          <a:ln>
            <a:noFill/>
          </a:ln>
        </p:spPr>
      </p:pic>
      <p:sp>
        <p:nvSpPr>
          <p:cNvPr id="664" name="Google Shape;664;p49"/>
          <p:cNvSpPr/>
          <p:nvPr/>
        </p:nvSpPr>
        <p:spPr>
          <a:xfrm>
            <a:off x="6477000" y="3282702"/>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Ausborn et al. (2007), Fig. 5. Recorded compound nerve responses and interneuron potentials.</a:t>
            </a:r>
            <a:endParaRPr sz="1800">
              <a:solidFill>
                <a:schemeClr val="dk1"/>
              </a:solidFill>
              <a:latin typeface="Calibri"/>
              <a:ea typeface="Calibri"/>
              <a:cs typeface="Calibri"/>
              <a:sym typeface="Calibri"/>
            </a:endParaRPr>
          </a:p>
        </p:txBody>
      </p:sp>
      <p:pic>
        <p:nvPicPr>
          <p:cNvPr id="665" name="Google Shape;665;p49"/>
          <p:cNvPicPr preferRelativeResize="0"/>
          <p:nvPr/>
        </p:nvPicPr>
        <p:blipFill rotWithShape="1">
          <a:blip r:embed="rId4">
            <a:alphaModFix/>
          </a:blip>
          <a:srcRect b="0" l="0" r="0" t="0"/>
          <a:stretch/>
        </p:blipFill>
        <p:spPr>
          <a:xfrm>
            <a:off x="8108388" y="3744664"/>
            <a:ext cx="1995024" cy="1847850"/>
          </a:xfrm>
          <a:prstGeom prst="rect">
            <a:avLst/>
          </a:prstGeom>
          <a:noFill/>
          <a:ln>
            <a:noFill/>
          </a:ln>
        </p:spPr>
      </p:pic>
      <p:sp>
        <p:nvSpPr>
          <p:cNvPr id="666" name="Google Shape;666;p49"/>
          <p:cNvSpPr/>
          <p:nvPr/>
        </p:nvSpPr>
        <p:spPr>
          <a:xfrm>
            <a:off x="6477000" y="5659189"/>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Ausborn et al. (2007), Fig. 1(A). Published ganglion and tegula-nerve recording preparation.</a:t>
            </a:r>
            <a:endParaRPr sz="1800">
              <a:solidFill>
                <a:schemeClr val="dk1"/>
              </a:solidFill>
              <a:latin typeface="Calibri"/>
              <a:ea typeface="Calibri"/>
              <a:cs typeface="Calibri"/>
              <a:sym typeface="Calibri"/>
            </a:endParaRPr>
          </a:p>
        </p:txBody>
      </p:sp>
      <p:sp>
        <p:nvSpPr>
          <p:cNvPr id="667" name="Google Shape;667;p49"/>
          <p:cNvSpPr/>
          <p:nvPr/>
        </p:nvSpPr>
        <p:spPr>
          <a:xfrm>
            <a:off x="457200" y="6496050"/>
            <a:ext cx="1124099"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Ausborn et al. (2007)</a:t>
            </a:r>
            <a:endParaRPr sz="1800">
              <a:solidFill>
                <a:schemeClr val="dk1"/>
              </a:solidFill>
              <a:latin typeface="Calibri"/>
              <a:ea typeface="Calibri"/>
              <a:cs typeface="Calibri"/>
              <a:sym typeface="Calibri"/>
            </a:endParaRPr>
          </a:p>
        </p:txBody>
      </p:sp>
      <p:sp>
        <p:nvSpPr>
          <p:cNvPr id="668" name="Google Shape;668;p49"/>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38</a:t>
            </a:r>
            <a:endParaRPr sz="1800">
              <a:solidFill>
                <a:schemeClr val="dk1"/>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2" name="Shape 672"/>
        <p:cNvGrpSpPr/>
        <p:nvPr/>
      </p:nvGrpSpPr>
      <p:grpSpPr>
        <a:xfrm>
          <a:off x="0" y="0"/>
          <a:ext cx="0" cy="0"/>
          <a:chOff x="0" y="0"/>
          <a:chExt cx="0" cy="0"/>
        </a:xfrm>
      </p:grpSpPr>
      <p:sp>
        <p:nvSpPr>
          <p:cNvPr id="673" name="Google Shape;673;p50"/>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Closed-loop feedback strength can slow the flight rhythm</a:t>
            </a:r>
            <a:endParaRPr sz="1800">
              <a:solidFill>
                <a:schemeClr val="dk1"/>
              </a:solidFill>
              <a:latin typeface="Calibri"/>
              <a:ea typeface="Calibri"/>
              <a:cs typeface="Calibri"/>
              <a:sym typeface="Calibri"/>
            </a:endParaRPr>
          </a:p>
        </p:txBody>
      </p:sp>
      <p:sp>
        <p:nvSpPr>
          <p:cNvPr id="674" name="Google Shape;674;p50"/>
          <p:cNvSpPr/>
          <p:nvPr/>
        </p:nvSpPr>
        <p:spPr>
          <a:xfrm>
            <a:off x="457200" y="1063377"/>
            <a:ext cx="5695950" cy="955477"/>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In </a:t>
            </a:r>
            <a:r>
              <a:rPr b="1" i="0" lang="en-US" sz="1425">
                <a:solidFill>
                  <a:srgbClr val="292329"/>
                </a:solidFill>
                <a:latin typeface="Arial"/>
                <a:ea typeface="Arial"/>
                <a:cs typeface="Arial"/>
                <a:sym typeface="Arial"/>
              </a:rPr>
              <a:t>closed-loop feedback</a:t>
            </a:r>
            <a:r>
              <a:rPr b="0" i="0" lang="en-US" sz="1425">
                <a:solidFill>
                  <a:srgbClr val="292329"/>
                </a:solidFill>
                <a:latin typeface="Arial"/>
                <a:ea typeface="Arial"/>
                <a:cs typeface="Arial"/>
                <a:sym typeface="Arial"/>
              </a:rPr>
              <a:t>, motor output affects the next sensory input, which then affects later motor output. Ausborn and colleagues used depressor muscle bursts to calculate the onset and duration of each subsequent tegula stimulus train in real time.</a:t>
            </a:r>
            <a:endParaRPr sz="1800">
              <a:solidFill>
                <a:schemeClr val="dk1"/>
              </a:solidFill>
              <a:latin typeface="Calibri"/>
              <a:ea typeface="Calibri"/>
              <a:cs typeface="Calibri"/>
              <a:sym typeface="Calibri"/>
            </a:endParaRPr>
          </a:p>
        </p:txBody>
      </p:sp>
      <p:sp>
        <p:nvSpPr>
          <p:cNvPr id="675" name="Google Shape;675;p50"/>
          <p:cNvSpPr/>
          <p:nvPr/>
        </p:nvSpPr>
        <p:spPr>
          <a:xfrm>
            <a:off x="457200" y="2152204"/>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Near threshold, feedback sped the rhythm from approximately 10.3 to 13.1 Hz in the published example. Raising stimulation from 0.75 V to 1.5 V, twice threshold, greatly reduced that acceleration. In some preparations strong feedback slowed the rhythm below its unstimulated frequency.</a:t>
            </a:r>
            <a:endParaRPr sz="1800">
              <a:solidFill>
                <a:schemeClr val="dk1"/>
              </a:solidFill>
              <a:latin typeface="Calibri"/>
              <a:ea typeface="Calibri"/>
              <a:cs typeface="Calibri"/>
              <a:sym typeface="Calibri"/>
            </a:endParaRPr>
          </a:p>
        </p:txBody>
      </p:sp>
      <p:sp>
        <p:nvSpPr>
          <p:cNvPr id="676" name="Google Shape;676;p50"/>
          <p:cNvSpPr/>
          <p:nvPr/>
        </p:nvSpPr>
        <p:spPr>
          <a:xfrm>
            <a:off x="457200" y="3479899"/>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Stronger sensory excitation does not therefore guarantee a faster closed-loop rhythm. Timing, stimulus duration and network inhibition interact across cycles. A computational model of the flight system predicted this relation, and feedback strength set cycle frequency in both the model and the animal.</a:t>
            </a:r>
            <a:endParaRPr sz="1800">
              <a:solidFill>
                <a:schemeClr val="dk1"/>
              </a:solidFill>
              <a:latin typeface="Calibri"/>
              <a:ea typeface="Calibri"/>
              <a:cs typeface="Calibri"/>
              <a:sym typeface="Calibri"/>
            </a:endParaRPr>
          </a:p>
        </p:txBody>
      </p:sp>
      <p:pic>
        <p:nvPicPr>
          <p:cNvPr id="677" name="Google Shape;677;p50"/>
          <p:cNvPicPr preferRelativeResize="0"/>
          <p:nvPr/>
        </p:nvPicPr>
        <p:blipFill rotWithShape="1">
          <a:blip r:embed="rId3">
            <a:alphaModFix/>
          </a:blip>
          <a:srcRect b="0" l="0" r="0" t="0"/>
          <a:stretch/>
        </p:blipFill>
        <p:spPr>
          <a:xfrm>
            <a:off x="6477000" y="1356769"/>
            <a:ext cx="3429000" cy="3585166"/>
          </a:xfrm>
          <a:prstGeom prst="rect">
            <a:avLst/>
          </a:prstGeom>
          <a:noFill/>
          <a:ln>
            <a:noFill/>
          </a:ln>
        </p:spPr>
      </p:pic>
      <p:sp>
        <p:nvSpPr>
          <p:cNvPr id="678" name="Google Shape;678;p50"/>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Ausborn et al. (2007), Fig. 6(A–F). Biological flight output during dynamically timed tegula stimulation.</a:t>
            </a:r>
            <a:endParaRPr sz="1800">
              <a:solidFill>
                <a:schemeClr val="dk1"/>
              </a:solidFill>
              <a:latin typeface="Calibri"/>
              <a:ea typeface="Calibri"/>
              <a:cs typeface="Calibri"/>
              <a:sym typeface="Calibri"/>
            </a:endParaRPr>
          </a:p>
        </p:txBody>
      </p:sp>
      <p:pic>
        <p:nvPicPr>
          <p:cNvPr id="679" name="Google Shape;679;p50"/>
          <p:cNvPicPr preferRelativeResize="0"/>
          <p:nvPr/>
        </p:nvPicPr>
        <p:blipFill rotWithShape="1">
          <a:blip r:embed="rId4">
            <a:alphaModFix/>
          </a:blip>
          <a:srcRect b="0" l="0" r="0" t="0"/>
          <a:stretch/>
        </p:blipFill>
        <p:spPr>
          <a:xfrm>
            <a:off x="10058400" y="2430136"/>
            <a:ext cx="1676400" cy="1552731"/>
          </a:xfrm>
          <a:prstGeom prst="rect">
            <a:avLst/>
          </a:prstGeom>
          <a:noFill/>
          <a:ln>
            <a:noFill/>
          </a:ln>
        </p:spPr>
      </p:pic>
      <p:sp>
        <p:nvSpPr>
          <p:cNvPr id="680" name="Google Shape;680;p50"/>
          <p:cNvSpPr/>
          <p:nvPr/>
        </p:nvSpPr>
        <p:spPr>
          <a:xfrm>
            <a:off x="10058400" y="4749552"/>
            <a:ext cx="1695450" cy="619125"/>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Ausborn et al. (2007), Fig. 1(A). Published ganglion and tegula-nerve recording preparation.</a:t>
            </a:r>
            <a:endParaRPr sz="1800">
              <a:solidFill>
                <a:schemeClr val="dk1"/>
              </a:solidFill>
              <a:latin typeface="Calibri"/>
              <a:ea typeface="Calibri"/>
              <a:cs typeface="Calibri"/>
              <a:sym typeface="Calibri"/>
            </a:endParaRPr>
          </a:p>
        </p:txBody>
      </p:sp>
      <p:sp>
        <p:nvSpPr>
          <p:cNvPr id="681" name="Google Shape;681;p50"/>
          <p:cNvSpPr/>
          <p:nvPr/>
        </p:nvSpPr>
        <p:spPr>
          <a:xfrm>
            <a:off x="457200" y="6496050"/>
            <a:ext cx="1124099"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Ausborn et al. (2007)</a:t>
            </a:r>
            <a:endParaRPr sz="1800">
              <a:solidFill>
                <a:schemeClr val="dk1"/>
              </a:solidFill>
              <a:latin typeface="Calibri"/>
              <a:ea typeface="Calibri"/>
              <a:cs typeface="Calibri"/>
              <a:sym typeface="Calibri"/>
            </a:endParaRPr>
          </a:p>
        </p:txBody>
      </p:sp>
      <p:sp>
        <p:nvSpPr>
          <p:cNvPr id="682" name="Google Shape;682;p50"/>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39</a:t>
            </a:r>
            <a:endParaRPr sz="1800">
              <a:solidFill>
                <a:schemeClr val="dk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6" name="Shape 686"/>
        <p:cNvGrpSpPr/>
        <p:nvPr/>
      </p:nvGrpSpPr>
      <p:grpSpPr>
        <a:xfrm>
          <a:off x="0" y="0"/>
          <a:ext cx="0" cy="0"/>
          <a:chOff x="0" y="0"/>
          <a:chExt cx="0" cy="0"/>
        </a:xfrm>
      </p:grpSpPr>
      <p:sp>
        <p:nvSpPr>
          <p:cNvPr id="687" name="Google Shape;687;p51"/>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Stronger negative feedback lengthens each cycle</a:t>
            </a:r>
            <a:endParaRPr sz="1800">
              <a:solidFill>
                <a:schemeClr val="dk1"/>
              </a:solidFill>
              <a:latin typeface="Calibri"/>
              <a:ea typeface="Calibri"/>
              <a:cs typeface="Calibri"/>
              <a:sym typeface="Calibri"/>
            </a:endParaRPr>
          </a:p>
        </p:txBody>
      </p:sp>
      <p:sp>
        <p:nvSpPr>
          <p:cNvPr id="688" name="Google Shape;688;p51"/>
          <p:cNvSpPr/>
          <p:nvPr/>
        </p:nvSpPr>
        <p:spPr>
          <a:xfrm>
            <a:off x="457200" y="1063377"/>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Negative feedback</a:t>
            </a:r>
            <a:r>
              <a:rPr b="0" i="0" lang="en-US" sz="1425">
                <a:solidFill>
                  <a:srgbClr val="292329"/>
                </a:solidFill>
                <a:latin typeface="Arial"/>
                <a:ea typeface="Arial"/>
                <a:cs typeface="Arial"/>
                <a:sym typeface="Arial"/>
              </a:rPr>
              <a:t> is a loop in which an output generates a signal that opposes further change in that output. The tegula fires during the downstroke, and its input pushes the network toward elevation, ending the phase that produced it.</a:t>
            </a:r>
            <a:endParaRPr sz="1800">
              <a:solidFill>
                <a:schemeClr val="dk1"/>
              </a:solidFill>
              <a:latin typeface="Calibri"/>
              <a:ea typeface="Calibri"/>
              <a:cs typeface="Calibri"/>
              <a:sym typeface="Calibri"/>
            </a:endParaRPr>
          </a:p>
        </p:txBody>
      </p:sp>
      <p:sp>
        <p:nvSpPr>
          <p:cNvPr id="689" name="Google Shape;689;p51"/>
          <p:cNvSpPr/>
          <p:nvPr/>
        </p:nvSpPr>
        <p:spPr>
          <a:xfrm>
            <a:off x="457200" y="2430405"/>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Weak feedback arriving at the right moment hastens the switch to elevation, which shortens the cycle and raises frequency. Stronger trains last longer and recruit more afferents, so their excitation spills into the following phase, where inhibition within the network holds off the depressor motor neurons longer.</a:t>
            </a:r>
            <a:endParaRPr sz="1800">
              <a:solidFill>
                <a:schemeClr val="dk1"/>
              </a:solidFill>
              <a:latin typeface="Calibri"/>
              <a:ea typeface="Calibri"/>
              <a:cs typeface="Calibri"/>
              <a:sym typeface="Calibri"/>
            </a:endParaRPr>
          </a:p>
        </p:txBody>
      </p:sp>
      <p:sp>
        <p:nvSpPr>
          <p:cNvPr id="690" name="Google Shape;690;p51"/>
          <p:cNvSpPr/>
          <p:nvPr/>
        </p:nvSpPr>
        <p:spPr>
          <a:xfrm>
            <a:off x="457200" y="4036320"/>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Each stimulus train was timed from the depressor burst, so a later depressor burst also postpones the following feedback and carries the delay into every later cycle. The loop therefore settles at lower frequencies as feedback strength rises, a property expected of negative feedback in general.</a:t>
            </a:r>
            <a:endParaRPr sz="1800">
              <a:solidFill>
                <a:schemeClr val="dk1"/>
              </a:solidFill>
              <a:latin typeface="Calibri"/>
              <a:ea typeface="Calibri"/>
              <a:cs typeface="Calibri"/>
              <a:sym typeface="Calibri"/>
            </a:endParaRPr>
          </a:p>
        </p:txBody>
      </p:sp>
      <p:pic>
        <p:nvPicPr>
          <p:cNvPr id="691" name="Google Shape;691;p51"/>
          <p:cNvPicPr preferRelativeResize="0"/>
          <p:nvPr/>
        </p:nvPicPr>
        <p:blipFill rotWithShape="1">
          <a:blip r:embed="rId3">
            <a:alphaModFix/>
          </a:blip>
          <a:srcRect b="0" l="0" r="0" t="0"/>
          <a:stretch/>
        </p:blipFill>
        <p:spPr>
          <a:xfrm>
            <a:off x="7088273" y="1063377"/>
            <a:ext cx="4035254" cy="2152650"/>
          </a:xfrm>
          <a:prstGeom prst="rect">
            <a:avLst/>
          </a:prstGeom>
          <a:noFill/>
          <a:ln>
            <a:noFill/>
          </a:ln>
        </p:spPr>
      </p:pic>
      <p:sp>
        <p:nvSpPr>
          <p:cNvPr id="692" name="Google Shape;692;p51"/>
          <p:cNvSpPr/>
          <p:nvPr/>
        </p:nvSpPr>
        <p:spPr>
          <a:xfrm>
            <a:off x="6477000" y="3282702"/>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Ausborn et al. (2007), Fig. 2(A). Wing motion and elevator recordings during tegula stimulation.</a:t>
            </a:r>
            <a:endParaRPr sz="1800">
              <a:solidFill>
                <a:schemeClr val="dk1"/>
              </a:solidFill>
              <a:latin typeface="Calibri"/>
              <a:ea typeface="Calibri"/>
              <a:cs typeface="Calibri"/>
              <a:sym typeface="Calibri"/>
            </a:endParaRPr>
          </a:p>
        </p:txBody>
      </p:sp>
      <p:pic>
        <p:nvPicPr>
          <p:cNvPr id="693" name="Google Shape;693;p51"/>
          <p:cNvPicPr preferRelativeResize="0"/>
          <p:nvPr/>
        </p:nvPicPr>
        <p:blipFill rotWithShape="1">
          <a:blip r:embed="rId4">
            <a:alphaModFix/>
          </a:blip>
          <a:srcRect b="0" l="0" r="0" t="0"/>
          <a:stretch/>
        </p:blipFill>
        <p:spPr>
          <a:xfrm>
            <a:off x="8108388" y="3744664"/>
            <a:ext cx="1995024" cy="1847850"/>
          </a:xfrm>
          <a:prstGeom prst="rect">
            <a:avLst/>
          </a:prstGeom>
          <a:noFill/>
          <a:ln>
            <a:noFill/>
          </a:ln>
        </p:spPr>
      </p:pic>
      <p:sp>
        <p:nvSpPr>
          <p:cNvPr id="694" name="Google Shape;694;p51"/>
          <p:cNvSpPr/>
          <p:nvPr/>
        </p:nvSpPr>
        <p:spPr>
          <a:xfrm>
            <a:off x="6477000" y="5659189"/>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Ausborn et al. (2007), Fig. 1(A). Published ganglion and tegula-nerve recording preparation.</a:t>
            </a:r>
            <a:endParaRPr sz="1800">
              <a:solidFill>
                <a:schemeClr val="dk1"/>
              </a:solidFill>
              <a:latin typeface="Calibri"/>
              <a:ea typeface="Calibri"/>
              <a:cs typeface="Calibri"/>
              <a:sym typeface="Calibri"/>
            </a:endParaRPr>
          </a:p>
        </p:txBody>
      </p:sp>
      <p:sp>
        <p:nvSpPr>
          <p:cNvPr id="695" name="Google Shape;695;p51"/>
          <p:cNvSpPr/>
          <p:nvPr/>
        </p:nvSpPr>
        <p:spPr>
          <a:xfrm>
            <a:off x="457200" y="6496050"/>
            <a:ext cx="136956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Ausborn et al. (2007)</a:t>
            </a:r>
            <a:endParaRPr sz="1800">
              <a:solidFill>
                <a:schemeClr val="dk1"/>
              </a:solidFill>
              <a:latin typeface="Calibri"/>
              <a:ea typeface="Calibri"/>
              <a:cs typeface="Calibri"/>
              <a:sym typeface="Calibri"/>
            </a:endParaRPr>
          </a:p>
        </p:txBody>
      </p:sp>
      <p:sp>
        <p:nvSpPr>
          <p:cNvPr id="696" name="Google Shape;696;p51"/>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39a</a:t>
            </a:r>
            <a:endParaRPr sz="1800">
              <a:solidFill>
                <a:schemeClr val="dk1"/>
              </a:solidFill>
              <a:latin typeface="Calibri"/>
              <a:ea typeface="Calibri"/>
              <a:cs typeface="Calibri"/>
              <a:sym typeface="Calibri"/>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0" name="Shape 700"/>
        <p:cNvGrpSpPr/>
        <p:nvPr/>
      </p:nvGrpSpPr>
      <p:grpSpPr>
        <a:xfrm>
          <a:off x="0" y="0"/>
          <a:ext cx="0" cy="0"/>
          <a:chOff x="0" y="0"/>
          <a:chExt cx="0" cy="0"/>
        </a:xfrm>
      </p:grpSpPr>
      <p:sp>
        <p:nvSpPr>
          <p:cNvPr id="701" name="Google Shape;701;p52"/>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Walking and flight circuits can operate simultaneously</a:t>
            </a:r>
            <a:endParaRPr sz="1800">
              <a:solidFill>
                <a:schemeClr val="dk1"/>
              </a:solidFill>
              <a:latin typeface="Calibri"/>
              <a:ea typeface="Calibri"/>
              <a:cs typeface="Calibri"/>
              <a:sym typeface="Calibri"/>
            </a:endParaRPr>
          </a:p>
        </p:txBody>
      </p:sp>
      <p:sp>
        <p:nvSpPr>
          <p:cNvPr id="702" name="Google Shape;702;p52"/>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Rillich and colleagues recorded leg motor nerves and wing muscle activity from the same deafferented locust. </a:t>
            </a:r>
            <a:r>
              <a:rPr b="1" i="0" lang="en-US" sz="1425">
                <a:solidFill>
                  <a:srgbClr val="292329"/>
                </a:solidFill>
                <a:latin typeface="Arial"/>
                <a:ea typeface="Arial"/>
                <a:cs typeface="Arial"/>
                <a:sym typeface="Arial"/>
              </a:rPr>
              <a:t>Co-activation</a:t>
            </a:r>
            <a:r>
              <a:rPr b="0" i="0" lang="en-US" sz="1425">
                <a:solidFill>
                  <a:srgbClr val="292329"/>
                </a:solidFill>
                <a:latin typeface="Arial"/>
                <a:ea typeface="Arial"/>
                <a:cs typeface="Arial"/>
                <a:sym typeface="Arial"/>
              </a:rPr>
              <a:t> means that two motor programs are expressed together. The preparation retained motor output but removed sensory and descending inputs that ordinarily help select locomotion.</a:t>
            </a:r>
            <a:endParaRPr sz="1800">
              <a:solidFill>
                <a:schemeClr val="dk1"/>
              </a:solidFill>
              <a:latin typeface="Calibri"/>
              <a:ea typeface="Calibri"/>
              <a:cs typeface="Calibri"/>
              <a:sym typeface="Calibri"/>
            </a:endParaRPr>
          </a:p>
        </p:txBody>
      </p:sp>
      <p:sp>
        <p:nvSpPr>
          <p:cNvPr id="703" name="Google Shape;703;p52"/>
          <p:cNvSpPr/>
          <p:nvPr/>
        </p:nvSpPr>
        <p:spPr>
          <a:xfrm>
            <a:off x="457200" y="2391073"/>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At 1 mM pilocarpine, slow walking-like bursts in leg pathways could occur at the same time as rapid flight-like wing alternation. Walking activity often began within approximately 1 min of drug application and flight activity followed after approximately 1–3 min. Individual leg spikes could become coupled to wingbeats within the slow step rhythm.</a:t>
            </a:r>
            <a:endParaRPr sz="1800">
              <a:solidFill>
                <a:schemeClr val="dk1"/>
              </a:solidFill>
              <a:latin typeface="Calibri"/>
              <a:ea typeface="Calibri"/>
              <a:cs typeface="Calibri"/>
              <a:sym typeface="Calibri"/>
            </a:endParaRPr>
          </a:p>
        </p:txBody>
      </p:sp>
      <p:sp>
        <p:nvSpPr>
          <p:cNvPr id="704" name="Google Shape;704;p52"/>
          <p:cNvSpPr/>
          <p:nvPr/>
        </p:nvSpPr>
        <p:spPr>
          <a:xfrm>
            <a:off x="457200" y="3957638"/>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two CPGs can therefore remain active concurrently in a reduced nervous system. Walking usually started first, and its swing-stance rhythm kept its basic timing after flight began. The flight circuit thus influences leg output, whereas walking left the flight rhythm unchanged.</a:t>
            </a:r>
            <a:endParaRPr sz="1800">
              <a:solidFill>
                <a:schemeClr val="dk1"/>
              </a:solidFill>
              <a:latin typeface="Calibri"/>
              <a:ea typeface="Calibri"/>
              <a:cs typeface="Calibri"/>
              <a:sym typeface="Calibri"/>
            </a:endParaRPr>
          </a:p>
        </p:txBody>
      </p:sp>
      <p:pic>
        <p:nvPicPr>
          <p:cNvPr id="705" name="Google Shape;705;p52"/>
          <p:cNvPicPr preferRelativeResize="0"/>
          <p:nvPr/>
        </p:nvPicPr>
        <p:blipFill rotWithShape="1">
          <a:blip r:embed="rId3">
            <a:alphaModFix/>
          </a:blip>
          <a:srcRect b="0" l="0" r="0" t="0"/>
          <a:stretch/>
        </p:blipFill>
        <p:spPr>
          <a:xfrm>
            <a:off x="6508208" y="1063377"/>
            <a:ext cx="5195384" cy="2152650"/>
          </a:xfrm>
          <a:prstGeom prst="rect">
            <a:avLst/>
          </a:prstGeom>
          <a:noFill/>
          <a:ln>
            <a:noFill/>
          </a:ln>
        </p:spPr>
      </p:pic>
      <p:sp>
        <p:nvSpPr>
          <p:cNvPr id="706" name="Google Shape;706;p52"/>
          <p:cNvSpPr/>
          <p:nvPr/>
        </p:nvSpPr>
        <p:spPr>
          <a:xfrm>
            <a:off x="6477000" y="3282702"/>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Rillich et al. (2013), Fig. 3(A). Simultaneous leg and wing output during pilocarpine exposure.</a:t>
            </a:r>
            <a:endParaRPr sz="1800">
              <a:solidFill>
                <a:schemeClr val="dk1"/>
              </a:solidFill>
              <a:latin typeface="Calibri"/>
              <a:ea typeface="Calibri"/>
              <a:cs typeface="Calibri"/>
              <a:sym typeface="Calibri"/>
            </a:endParaRPr>
          </a:p>
        </p:txBody>
      </p:sp>
      <p:pic>
        <p:nvPicPr>
          <p:cNvPr id="707" name="Google Shape;707;p52"/>
          <p:cNvPicPr preferRelativeResize="0"/>
          <p:nvPr/>
        </p:nvPicPr>
        <p:blipFill rotWithShape="1">
          <a:blip r:embed="rId4">
            <a:alphaModFix/>
          </a:blip>
          <a:srcRect b="0" l="0" r="0" t="0"/>
          <a:stretch/>
        </p:blipFill>
        <p:spPr>
          <a:xfrm>
            <a:off x="7456034" y="3744664"/>
            <a:ext cx="3299732" cy="1847850"/>
          </a:xfrm>
          <a:prstGeom prst="rect">
            <a:avLst/>
          </a:prstGeom>
          <a:noFill/>
          <a:ln>
            <a:noFill/>
          </a:ln>
        </p:spPr>
      </p:pic>
      <p:sp>
        <p:nvSpPr>
          <p:cNvPr id="708" name="Google Shape;708;p52"/>
          <p:cNvSpPr/>
          <p:nvPr/>
        </p:nvSpPr>
        <p:spPr>
          <a:xfrm>
            <a:off x="6477000" y="5659189"/>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Rillich et al. (2013), Fig. 4. Drug concentration changes the expressed leg and wing motor patterns.</a:t>
            </a:r>
            <a:endParaRPr sz="1800">
              <a:solidFill>
                <a:schemeClr val="dk1"/>
              </a:solidFill>
              <a:latin typeface="Calibri"/>
              <a:ea typeface="Calibri"/>
              <a:cs typeface="Calibri"/>
              <a:sym typeface="Calibri"/>
            </a:endParaRPr>
          </a:p>
        </p:txBody>
      </p:sp>
      <p:sp>
        <p:nvSpPr>
          <p:cNvPr id="709" name="Google Shape;709;p52"/>
          <p:cNvSpPr/>
          <p:nvPr/>
        </p:nvSpPr>
        <p:spPr>
          <a:xfrm>
            <a:off x="457200" y="6496050"/>
            <a:ext cx="982861"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Rillich et al. (2013)</a:t>
            </a:r>
            <a:endParaRPr sz="1800">
              <a:solidFill>
                <a:schemeClr val="dk1"/>
              </a:solidFill>
              <a:latin typeface="Calibri"/>
              <a:ea typeface="Calibri"/>
              <a:cs typeface="Calibri"/>
              <a:sym typeface="Calibri"/>
            </a:endParaRPr>
          </a:p>
        </p:txBody>
      </p:sp>
      <p:sp>
        <p:nvSpPr>
          <p:cNvPr id="710" name="Google Shape;710;p52"/>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40</a:t>
            </a:r>
            <a:endParaRPr sz="1800">
              <a:solidFill>
                <a:schemeClr val="dk1"/>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4" name="Shape 714"/>
        <p:cNvGrpSpPr/>
        <p:nvPr/>
      </p:nvGrpSpPr>
      <p:grpSpPr>
        <a:xfrm>
          <a:off x="0" y="0"/>
          <a:ext cx="0" cy="0"/>
          <a:chOff x="0" y="0"/>
          <a:chExt cx="0" cy="0"/>
        </a:xfrm>
      </p:grpSpPr>
      <p:sp>
        <p:nvSpPr>
          <p:cNvPr id="715" name="Google Shape;715;p53"/>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Octopamine and tyramine recruit different motor states</a:t>
            </a:r>
            <a:endParaRPr sz="1800">
              <a:solidFill>
                <a:schemeClr val="dk1"/>
              </a:solidFill>
              <a:latin typeface="Calibri"/>
              <a:ea typeface="Calibri"/>
              <a:cs typeface="Calibri"/>
              <a:sym typeface="Calibri"/>
            </a:endParaRPr>
          </a:p>
        </p:txBody>
      </p:sp>
      <p:sp>
        <p:nvSpPr>
          <p:cNvPr id="716" name="Google Shape;716;p53"/>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Rillich and colleagues compared </a:t>
            </a:r>
            <a:r>
              <a:rPr b="1" i="0" lang="en-US" sz="1425">
                <a:solidFill>
                  <a:srgbClr val="292329"/>
                </a:solidFill>
                <a:latin typeface="Arial"/>
                <a:ea typeface="Arial"/>
                <a:cs typeface="Arial"/>
                <a:sym typeface="Arial"/>
              </a:rPr>
              <a:t>octopamine</a:t>
            </a:r>
            <a:r>
              <a:rPr b="0" i="0" lang="en-US" sz="1425">
                <a:solidFill>
                  <a:srgbClr val="292329"/>
                </a:solidFill>
                <a:latin typeface="Arial"/>
                <a:ea typeface="Arial"/>
                <a:cs typeface="Arial"/>
                <a:sym typeface="Arial"/>
              </a:rPr>
              <a:t> with </a:t>
            </a:r>
            <a:r>
              <a:rPr b="1" i="0" lang="en-US" sz="1425">
                <a:solidFill>
                  <a:srgbClr val="292329"/>
                </a:solidFill>
                <a:latin typeface="Arial"/>
                <a:ea typeface="Arial"/>
                <a:cs typeface="Arial"/>
                <a:sym typeface="Arial"/>
              </a:rPr>
              <a:t>tyramine</a:t>
            </a:r>
            <a:r>
              <a:rPr b="0" i="0" lang="en-US" sz="1425">
                <a:solidFill>
                  <a:srgbClr val="292329"/>
                </a:solidFill>
                <a:latin typeface="Arial"/>
                <a:ea typeface="Arial"/>
                <a:cs typeface="Arial"/>
                <a:sym typeface="Arial"/>
              </a:rPr>
              <a:t>, its biosynthetic precursor and an independent signaling molecule. Both could activate flight-related output, but their effects on leg motor patterns differed. The same preparation and recorded pathways were used for the comparison.</a:t>
            </a:r>
            <a:endParaRPr sz="1800">
              <a:solidFill>
                <a:schemeClr val="dk1"/>
              </a:solidFill>
              <a:latin typeface="Calibri"/>
              <a:ea typeface="Calibri"/>
              <a:cs typeface="Calibri"/>
              <a:sym typeface="Calibri"/>
            </a:endParaRPr>
          </a:p>
        </p:txBody>
      </p:sp>
      <p:sp>
        <p:nvSpPr>
          <p:cNvPr id="717" name="Google Shape;717;p53"/>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Octopamine at 100 mM strongly recruited flight-like wing activity and usually coupled leg motor units to the flight rhythm. Tyramine at 10 mM could recruit walking-like activity; a higher 100 mM concentration could recruit flight as well. Leg-wing coupling was weaker during tyramine-induced activity.</a:t>
            </a:r>
            <a:endParaRPr sz="1800">
              <a:solidFill>
                <a:schemeClr val="dk1"/>
              </a:solidFill>
              <a:latin typeface="Calibri"/>
              <a:ea typeface="Calibri"/>
              <a:cs typeface="Calibri"/>
              <a:sym typeface="Calibri"/>
            </a:endParaRPr>
          </a:p>
        </p:txBody>
      </p:sp>
      <p:sp>
        <p:nvSpPr>
          <p:cNvPr id="718" name="Google Shape;718;p53"/>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effect of an amine therefore includes which motor state becomes available and how outputs are coordinated. Tyramine favors walking and octopamine favors flight with leg units recruited into the flight score, consistent with the two amines acting as independent signals through dedicated receptors.</a:t>
            </a:r>
            <a:endParaRPr sz="1800">
              <a:solidFill>
                <a:schemeClr val="dk1"/>
              </a:solidFill>
              <a:latin typeface="Calibri"/>
              <a:ea typeface="Calibri"/>
              <a:cs typeface="Calibri"/>
              <a:sym typeface="Calibri"/>
            </a:endParaRPr>
          </a:p>
        </p:txBody>
      </p:sp>
      <p:pic>
        <p:nvPicPr>
          <p:cNvPr id="719" name="Google Shape;719;p53"/>
          <p:cNvPicPr preferRelativeResize="0"/>
          <p:nvPr/>
        </p:nvPicPr>
        <p:blipFill rotWithShape="1">
          <a:blip r:embed="rId3">
            <a:alphaModFix/>
          </a:blip>
          <a:srcRect b="0" l="0" r="0" t="0"/>
          <a:stretch/>
        </p:blipFill>
        <p:spPr>
          <a:xfrm>
            <a:off x="7726457" y="1063377"/>
            <a:ext cx="2758886" cy="2152650"/>
          </a:xfrm>
          <a:prstGeom prst="rect">
            <a:avLst/>
          </a:prstGeom>
          <a:noFill/>
          <a:ln>
            <a:noFill/>
          </a:ln>
        </p:spPr>
      </p:pic>
      <p:sp>
        <p:nvSpPr>
          <p:cNvPr id="720" name="Google Shape;720;p53"/>
          <p:cNvSpPr/>
          <p:nvPr/>
        </p:nvSpPr>
        <p:spPr>
          <a:xfrm>
            <a:off x="6477000" y="3282702"/>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Rillich et al. (2013), Fig. 3(B,C). Leg and wing activity under octopamine versus tyramine.</a:t>
            </a:r>
            <a:endParaRPr sz="1800">
              <a:solidFill>
                <a:schemeClr val="dk1"/>
              </a:solidFill>
              <a:latin typeface="Calibri"/>
              <a:ea typeface="Calibri"/>
              <a:cs typeface="Calibri"/>
              <a:sym typeface="Calibri"/>
            </a:endParaRPr>
          </a:p>
        </p:txBody>
      </p:sp>
      <p:pic>
        <p:nvPicPr>
          <p:cNvPr id="721" name="Google Shape;721;p53"/>
          <p:cNvPicPr preferRelativeResize="0"/>
          <p:nvPr/>
        </p:nvPicPr>
        <p:blipFill rotWithShape="1">
          <a:blip r:embed="rId4">
            <a:alphaModFix/>
          </a:blip>
          <a:srcRect b="0" l="0" r="0" t="0"/>
          <a:stretch/>
        </p:blipFill>
        <p:spPr>
          <a:xfrm>
            <a:off x="7456034" y="3589883"/>
            <a:ext cx="3299732" cy="1847850"/>
          </a:xfrm>
          <a:prstGeom prst="rect">
            <a:avLst/>
          </a:prstGeom>
          <a:noFill/>
          <a:ln>
            <a:noFill/>
          </a:ln>
        </p:spPr>
      </p:pic>
      <p:sp>
        <p:nvSpPr>
          <p:cNvPr id="722" name="Google Shape;722;p53"/>
          <p:cNvSpPr/>
          <p:nvPr/>
        </p:nvSpPr>
        <p:spPr>
          <a:xfrm>
            <a:off x="6477000" y="5504408"/>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Rillich et al. (2013), Fig. 4. Concentration-dependent recruitment differs between the two amines.</a:t>
            </a:r>
            <a:endParaRPr sz="1800">
              <a:solidFill>
                <a:schemeClr val="dk1"/>
              </a:solidFill>
              <a:latin typeface="Calibri"/>
              <a:ea typeface="Calibri"/>
              <a:cs typeface="Calibri"/>
              <a:sym typeface="Calibri"/>
            </a:endParaRPr>
          </a:p>
        </p:txBody>
      </p:sp>
      <p:sp>
        <p:nvSpPr>
          <p:cNvPr id="723" name="Google Shape;723;p53"/>
          <p:cNvSpPr/>
          <p:nvPr/>
        </p:nvSpPr>
        <p:spPr>
          <a:xfrm>
            <a:off x="457200" y="6496050"/>
            <a:ext cx="982861"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Rillich et al. (2013)</a:t>
            </a:r>
            <a:endParaRPr sz="1800">
              <a:solidFill>
                <a:schemeClr val="dk1"/>
              </a:solidFill>
              <a:latin typeface="Calibri"/>
              <a:ea typeface="Calibri"/>
              <a:cs typeface="Calibri"/>
              <a:sym typeface="Calibri"/>
            </a:endParaRPr>
          </a:p>
        </p:txBody>
      </p:sp>
      <p:sp>
        <p:nvSpPr>
          <p:cNvPr id="724" name="Google Shape;724;p53"/>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41</a:t>
            </a:r>
            <a:endParaRPr sz="1800">
              <a:solidFill>
                <a:schemeClr val="dk1"/>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8" name="Shape 728"/>
        <p:cNvGrpSpPr/>
        <p:nvPr/>
      </p:nvGrpSpPr>
      <p:grpSpPr>
        <a:xfrm>
          <a:off x="0" y="0"/>
          <a:ext cx="0" cy="0"/>
          <a:chOff x="0" y="0"/>
          <a:chExt cx="0" cy="0"/>
        </a:xfrm>
      </p:grpSpPr>
      <p:sp>
        <p:nvSpPr>
          <p:cNvPr id="729" name="Google Shape;729;p54"/>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Walking and flight are chosen upstream of their CPGs</a:t>
            </a:r>
            <a:endParaRPr sz="1800">
              <a:solidFill>
                <a:schemeClr val="dk1"/>
              </a:solidFill>
              <a:latin typeface="Calibri"/>
              <a:ea typeface="Calibri"/>
              <a:cs typeface="Calibri"/>
              <a:sym typeface="Calibri"/>
            </a:endParaRPr>
          </a:p>
        </p:txBody>
      </p:sp>
      <p:sp>
        <p:nvSpPr>
          <p:cNvPr id="730" name="Google Shape;730;p54"/>
          <p:cNvSpPr/>
          <p:nvPr/>
        </p:nvSpPr>
        <p:spPr>
          <a:xfrm>
            <a:off x="457200" y="1063377"/>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Two behaviors can be mutually exclusive for two different reasons. Their pattern generators might inhibit each other, so that one running silences the other, or the generators might be independent and the choice made by which activating inputs reach them.</a:t>
            </a:r>
            <a:endParaRPr sz="1800">
              <a:solidFill>
                <a:schemeClr val="dk1"/>
              </a:solidFill>
              <a:latin typeface="Calibri"/>
              <a:ea typeface="Calibri"/>
              <a:cs typeface="Calibri"/>
              <a:sym typeface="Calibri"/>
            </a:endParaRPr>
          </a:p>
        </p:txBody>
      </p:sp>
      <p:sp>
        <p:nvSpPr>
          <p:cNvPr id="731" name="Google Shape;731;p54"/>
          <p:cNvSpPr/>
          <p:nvPr/>
        </p:nvSpPr>
        <p:spPr>
          <a:xfrm>
            <a:off x="457200" y="2430405"/>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Co-activation in the deafferented locust favors the second explanation. A shared or mutually inhibitory kernel would force the two patterns to alternate, yet slow stepping and fast wing alternation ran side by side.</a:t>
            </a:r>
            <a:endParaRPr sz="1800">
              <a:solidFill>
                <a:schemeClr val="dk1"/>
              </a:solidFill>
              <a:latin typeface="Calibri"/>
              <a:ea typeface="Calibri"/>
              <a:cs typeface="Calibri"/>
              <a:sym typeface="Calibri"/>
            </a:endParaRPr>
          </a:p>
        </p:txBody>
      </p:sp>
      <p:sp>
        <p:nvSpPr>
          <p:cNvPr id="732" name="Google Shape;732;p54"/>
          <p:cNvSpPr/>
          <p:nvPr/>
        </p:nvSpPr>
        <p:spPr>
          <a:xfrm>
            <a:off x="457200" y="3797433"/>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Selection must then occur in the pathways removed by deafferentation. Tarsal contact, which holds flight off in a standing locust, is one such pathway, and releasing stimuli such as head wind supply another, so the intact animal recruits one program by gating its activation.</a:t>
            </a:r>
            <a:endParaRPr sz="1800">
              <a:solidFill>
                <a:schemeClr val="dk1"/>
              </a:solidFill>
              <a:latin typeface="Calibri"/>
              <a:ea typeface="Calibri"/>
              <a:cs typeface="Calibri"/>
              <a:sym typeface="Calibri"/>
            </a:endParaRPr>
          </a:p>
        </p:txBody>
      </p:sp>
      <p:pic>
        <p:nvPicPr>
          <p:cNvPr id="733" name="Google Shape;733;p54"/>
          <p:cNvPicPr preferRelativeResize="0"/>
          <p:nvPr/>
        </p:nvPicPr>
        <p:blipFill rotWithShape="1">
          <a:blip r:embed="rId3">
            <a:alphaModFix/>
          </a:blip>
          <a:srcRect b="0" l="0" r="0" t="0"/>
          <a:stretch/>
        </p:blipFill>
        <p:spPr>
          <a:xfrm>
            <a:off x="6508208" y="1063377"/>
            <a:ext cx="5195384" cy="2152650"/>
          </a:xfrm>
          <a:prstGeom prst="rect">
            <a:avLst/>
          </a:prstGeom>
          <a:noFill/>
          <a:ln>
            <a:noFill/>
          </a:ln>
        </p:spPr>
      </p:pic>
      <p:sp>
        <p:nvSpPr>
          <p:cNvPr id="734" name="Google Shape;734;p54"/>
          <p:cNvSpPr/>
          <p:nvPr/>
        </p:nvSpPr>
        <p:spPr>
          <a:xfrm>
            <a:off x="6477000" y="3282702"/>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Rillich et al. (2013), Fig. 3(A). Simultaneous leg and wing output during pilocarpine exposure.</a:t>
            </a:r>
            <a:endParaRPr sz="1800">
              <a:solidFill>
                <a:schemeClr val="dk1"/>
              </a:solidFill>
              <a:latin typeface="Calibri"/>
              <a:ea typeface="Calibri"/>
              <a:cs typeface="Calibri"/>
              <a:sym typeface="Calibri"/>
            </a:endParaRPr>
          </a:p>
        </p:txBody>
      </p:sp>
      <p:pic>
        <p:nvPicPr>
          <p:cNvPr id="735" name="Google Shape;735;p54"/>
          <p:cNvPicPr preferRelativeResize="0"/>
          <p:nvPr/>
        </p:nvPicPr>
        <p:blipFill rotWithShape="1">
          <a:blip r:embed="rId4">
            <a:alphaModFix/>
          </a:blip>
          <a:srcRect b="0" l="0" r="0" t="0"/>
          <a:stretch/>
        </p:blipFill>
        <p:spPr>
          <a:xfrm>
            <a:off x="7456034" y="3744664"/>
            <a:ext cx="3299732" cy="1847850"/>
          </a:xfrm>
          <a:prstGeom prst="rect">
            <a:avLst/>
          </a:prstGeom>
          <a:noFill/>
          <a:ln>
            <a:noFill/>
          </a:ln>
        </p:spPr>
      </p:pic>
      <p:sp>
        <p:nvSpPr>
          <p:cNvPr id="736" name="Google Shape;736;p54"/>
          <p:cNvSpPr/>
          <p:nvPr/>
        </p:nvSpPr>
        <p:spPr>
          <a:xfrm>
            <a:off x="6477000" y="5659189"/>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Rillich et al. (2013), Fig. 4. Drug concentration changes the expressed leg and wing motor patterns.</a:t>
            </a:r>
            <a:endParaRPr sz="1800">
              <a:solidFill>
                <a:schemeClr val="dk1"/>
              </a:solidFill>
              <a:latin typeface="Calibri"/>
              <a:ea typeface="Calibri"/>
              <a:cs typeface="Calibri"/>
              <a:sym typeface="Calibri"/>
            </a:endParaRPr>
          </a:p>
        </p:txBody>
      </p:sp>
      <p:sp>
        <p:nvSpPr>
          <p:cNvPr id="737" name="Google Shape;737;p54"/>
          <p:cNvSpPr/>
          <p:nvPr/>
        </p:nvSpPr>
        <p:spPr>
          <a:xfrm>
            <a:off x="457200" y="6496050"/>
            <a:ext cx="2329688"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Rillich et al. (2013); Camhi (1969c)</a:t>
            </a:r>
            <a:endParaRPr sz="1800">
              <a:solidFill>
                <a:schemeClr val="dk1"/>
              </a:solidFill>
              <a:latin typeface="Calibri"/>
              <a:ea typeface="Calibri"/>
              <a:cs typeface="Calibri"/>
              <a:sym typeface="Calibri"/>
            </a:endParaRPr>
          </a:p>
        </p:txBody>
      </p:sp>
      <p:sp>
        <p:nvSpPr>
          <p:cNvPr id="738" name="Google Shape;738;p54"/>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41a</a:t>
            </a:r>
            <a:endParaRPr sz="1800">
              <a:solidFill>
                <a:schemeClr val="dk1"/>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2" name="Shape 742"/>
        <p:cNvGrpSpPr/>
        <p:nvPr/>
      </p:nvGrpSpPr>
      <p:grpSpPr>
        <a:xfrm>
          <a:off x="0" y="0"/>
          <a:ext cx="0" cy="0"/>
          <a:chOff x="0" y="0"/>
          <a:chExt cx="0" cy="0"/>
        </a:xfrm>
      </p:grpSpPr>
      <p:sp>
        <p:nvSpPr>
          <p:cNvPr id="743" name="Google Shape;743;p55"/>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Octopamine tunes leg-wing coupling during wind flight</a:t>
            </a:r>
            <a:endParaRPr sz="1800">
              <a:solidFill>
                <a:schemeClr val="dk1"/>
              </a:solidFill>
              <a:latin typeface="Calibri"/>
              <a:ea typeface="Calibri"/>
              <a:cs typeface="Calibri"/>
              <a:sym typeface="Calibri"/>
            </a:endParaRPr>
          </a:p>
        </p:txBody>
      </p:sp>
      <p:sp>
        <p:nvSpPr>
          <p:cNvPr id="744" name="Google Shape;744;p55"/>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Rillich and colleagues retained head input to release fictive flight with wind, then tested how amines changed motor coordination. </a:t>
            </a:r>
            <a:r>
              <a:rPr b="1" i="0" lang="en-US" sz="1425">
                <a:solidFill>
                  <a:srgbClr val="292329"/>
                </a:solidFill>
                <a:latin typeface="Arial"/>
                <a:ea typeface="Arial"/>
                <a:cs typeface="Arial"/>
                <a:sym typeface="Arial"/>
              </a:rPr>
              <a:t>Epinastine</a:t>
            </a:r>
            <a:r>
              <a:rPr b="0" i="0" lang="en-US" sz="1425">
                <a:solidFill>
                  <a:srgbClr val="292329"/>
                </a:solidFill>
                <a:latin typeface="Arial"/>
                <a:ea typeface="Arial"/>
                <a:cs typeface="Arial"/>
                <a:sym typeface="Arial"/>
              </a:rPr>
              <a:t> is an octopamine receptor antagonist. Leg and wing recordings separated effects on activation from effects on timing during ongoing episodes.</a:t>
            </a:r>
            <a:endParaRPr sz="1800">
              <a:solidFill>
                <a:schemeClr val="dk1"/>
              </a:solidFill>
              <a:latin typeface="Calibri"/>
              <a:ea typeface="Calibri"/>
              <a:cs typeface="Calibri"/>
              <a:sym typeface="Calibri"/>
            </a:endParaRPr>
          </a:p>
        </p:txBody>
      </p:sp>
      <p:sp>
        <p:nvSpPr>
          <p:cNvPr id="745" name="Google Shape;745;p55"/>
          <p:cNvSpPr/>
          <p:nvPr/>
        </p:nvSpPr>
        <p:spPr>
          <a:xfrm>
            <a:off x="457200" y="2391073"/>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Bath-applied octopamine at 5 mM increased the effectiveness of wind and shortened the cycle. It also tightened the timing of leg motor units relative to wing depressor output, whereas 1 mM epinastine loosened that relationship. Tyramine and its antagonist had no comparable effect on coupling under the tested conditions.</a:t>
            </a:r>
            <a:endParaRPr sz="1800">
              <a:solidFill>
                <a:schemeClr val="dk1"/>
              </a:solidFill>
              <a:latin typeface="Calibri"/>
              <a:ea typeface="Calibri"/>
              <a:cs typeface="Calibri"/>
              <a:sym typeface="Calibri"/>
            </a:endParaRPr>
          </a:p>
        </p:txBody>
      </p:sp>
      <p:sp>
        <p:nvSpPr>
          <p:cNvPr id="746" name="Google Shape;746;p55"/>
          <p:cNvSpPr/>
          <p:nvPr/>
        </p:nvSpPr>
        <p:spPr>
          <a:xfrm>
            <a:off x="457200" y="395763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These observations support octopaminergic modulation of recruitment and coordination. Facilitation and obligatory activation are different causal roles, so octopamine can raise wind effectiveness although amine-depleted locusts still initiate flight. Tighter coupling of a stance-phase leg unit to wingbeats may help steer or stabilize flight.</a:t>
            </a:r>
            <a:endParaRPr sz="1800">
              <a:solidFill>
                <a:schemeClr val="dk1"/>
              </a:solidFill>
              <a:latin typeface="Calibri"/>
              <a:ea typeface="Calibri"/>
              <a:cs typeface="Calibri"/>
              <a:sym typeface="Calibri"/>
            </a:endParaRPr>
          </a:p>
        </p:txBody>
      </p:sp>
      <p:pic>
        <p:nvPicPr>
          <p:cNvPr id="747" name="Google Shape;747;p55"/>
          <p:cNvPicPr preferRelativeResize="0"/>
          <p:nvPr/>
        </p:nvPicPr>
        <p:blipFill rotWithShape="1">
          <a:blip r:embed="rId3">
            <a:alphaModFix/>
          </a:blip>
          <a:srcRect b="0" l="0" r="0" t="0"/>
          <a:stretch/>
        </p:blipFill>
        <p:spPr>
          <a:xfrm>
            <a:off x="7719869" y="1063377"/>
            <a:ext cx="2772063" cy="2152650"/>
          </a:xfrm>
          <a:prstGeom prst="rect">
            <a:avLst/>
          </a:prstGeom>
          <a:noFill/>
          <a:ln>
            <a:noFill/>
          </a:ln>
        </p:spPr>
      </p:pic>
      <p:sp>
        <p:nvSpPr>
          <p:cNvPr id="748" name="Google Shape;748;p55"/>
          <p:cNvSpPr/>
          <p:nvPr/>
        </p:nvSpPr>
        <p:spPr>
          <a:xfrm>
            <a:off x="6477000" y="3282702"/>
            <a:ext cx="52768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Rillich et al. (2013), Fig. 11. Changes in motor coupling after amine and antagonist treatments.</a:t>
            </a:r>
            <a:endParaRPr sz="1800">
              <a:solidFill>
                <a:schemeClr val="dk1"/>
              </a:solidFill>
              <a:latin typeface="Calibri"/>
              <a:ea typeface="Calibri"/>
              <a:cs typeface="Calibri"/>
              <a:sym typeface="Calibri"/>
            </a:endParaRPr>
          </a:p>
        </p:txBody>
      </p:sp>
      <p:pic>
        <p:nvPicPr>
          <p:cNvPr id="749" name="Google Shape;749;p55"/>
          <p:cNvPicPr preferRelativeResize="0"/>
          <p:nvPr/>
        </p:nvPicPr>
        <p:blipFill rotWithShape="1">
          <a:blip r:embed="rId4">
            <a:alphaModFix/>
          </a:blip>
          <a:srcRect b="0" l="0" r="0" t="0"/>
          <a:stretch/>
        </p:blipFill>
        <p:spPr>
          <a:xfrm>
            <a:off x="7834325" y="3744664"/>
            <a:ext cx="2543151" cy="1847850"/>
          </a:xfrm>
          <a:prstGeom prst="rect">
            <a:avLst/>
          </a:prstGeom>
          <a:noFill/>
          <a:ln>
            <a:noFill/>
          </a:ln>
        </p:spPr>
      </p:pic>
      <p:sp>
        <p:nvSpPr>
          <p:cNvPr id="750" name="Google Shape;750;p55"/>
          <p:cNvSpPr/>
          <p:nvPr/>
        </p:nvSpPr>
        <p:spPr>
          <a:xfrm>
            <a:off x="6477000" y="5659189"/>
            <a:ext cx="5276850" cy="154781"/>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Rillich et al. (2013), Fig. 1(A–C). Published leg-nerve and wing-muscle recording anatomy.</a:t>
            </a:r>
            <a:endParaRPr sz="1800">
              <a:solidFill>
                <a:schemeClr val="dk1"/>
              </a:solidFill>
              <a:latin typeface="Calibri"/>
              <a:ea typeface="Calibri"/>
              <a:cs typeface="Calibri"/>
              <a:sym typeface="Calibri"/>
            </a:endParaRPr>
          </a:p>
        </p:txBody>
      </p:sp>
      <p:sp>
        <p:nvSpPr>
          <p:cNvPr id="751" name="Google Shape;751;p55"/>
          <p:cNvSpPr/>
          <p:nvPr/>
        </p:nvSpPr>
        <p:spPr>
          <a:xfrm>
            <a:off x="457200" y="6496050"/>
            <a:ext cx="982861"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Rillich et al. (2013)</a:t>
            </a:r>
            <a:endParaRPr sz="1800">
              <a:solidFill>
                <a:schemeClr val="dk1"/>
              </a:solidFill>
              <a:latin typeface="Calibri"/>
              <a:ea typeface="Calibri"/>
              <a:cs typeface="Calibri"/>
              <a:sym typeface="Calibri"/>
            </a:endParaRPr>
          </a:p>
        </p:txBody>
      </p:sp>
      <p:sp>
        <p:nvSpPr>
          <p:cNvPr id="752" name="Google Shape;752;p55"/>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42</a:t>
            </a:r>
            <a:endParaRPr sz="1800">
              <a:solidFill>
                <a:schemeClr val="dk1"/>
              </a:solidFill>
              <a:latin typeface="Calibri"/>
              <a:ea typeface="Calibri"/>
              <a:cs typeface="Calibri"/>
              <a:sym typeface="Calibri"/>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6" name="Shape 756"/>
        <p:cNvGrpSpPr/>
        <p:nvPr/>
      </p:nvGrpSpPr>
      <p:grpSpPr>
        <a:xfrm>
          <a:off x="0" y="0"/>
          <a:ext cx="0" cy="0"/>
          <a:chOff x="0" y="0"/>
          <a:chExt cx="0" cy="0"/>
        </a:xfrm>
      </p:grpSpPr>
      <p:sp>
        <p:nvSpPr>
          <p:cNvPr id="757" name="Google Shape;757;p56"/>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DUM neurons regulate metabolic readiness of flight muscle</a:t>
            </a:r>
            <a:endParaRPr sz="1800">
              <a:solidFill>
                <a:schemeClr val="dk1"/>
              </a:solidFill>
              <a:latin typeface="Calibri"/>
              <a:ea typeface="Calibri"/>
              <a:cs typeface="Calibri"/>
              <a:sym typeface="Calibri"/>
            </a:endParaRPr>
          </a:p>
        </p:txBody>
      </p:sp>
      <p:sp>
        <p:nvSpPr>
          <p:cNvPr id="758" name="Google Shape;758;p56"/>
          <p:cNvSpPr/>
          <p:nvPr/>
        </p:nvSpPr>
        <p:spPr>
          <a:xfrm>
            <a:off x="457200" y="1063377"/>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Dorsal unpaired median neurons</a:t>
            </a:r>
            <a:r>
              <a:rPr b="0" i="0" lang="en-US" sz="1425">
                <a:solidFill>
                  <a:srgbClr val="292329"/>
                </a:solidFill>
                <a:latin typeface="Arial"/>
                <a:ea typeface="Arial"/>
                <a:cs typeface="Arial"/>
                <a:sym typeface="Arial"/>
              </a:rPr>
              <a:t>, or DUM neurons, are centrally located modulatory neurons with peripheral projections. Mentel and colleagues stimulated DUM axons supplying flight muscle M119 in </a:t>
            </a:r>
            <a:r>
              <a:rPr b="0" i="1" lang="en-US" sz="1425">
                <a:solidFill>
                  <a:srgbClr val="292329"/>
                </a:solidFill>
                <a:latin typeface="Arial"/>
                <a:ea typeface="Arial"/>
                <a:cs typeface="Arial"/>
                <a:sym typeface="Arial"/>
              </a:rPr>
              <a:t>Locusta migratoria</a:t>
            </a:r>
            <a:r>
              <a:rPr b="0" i="0" lang="en-US" sz="1425">
                <a:solidFill>
                  <a:srgbClr val="292329"/>
                </a:solidFill>
                <a:latin typeface="Arial"/>
                <a:ea typeface="Arial"/>
                <a:cs typeface="Arial"/>
                <a:sym typeface="Arial"/>
              </a:rPr>
              <a:t>. Their experiment separated modulatory input from the motor-neuron input that produces contraction.</a:t>
            </a:r>
            <a:endParaRPr sz="1800">
              <a:solidFill>
                <a:schemeClr val="dk1"/>
              </a:solidFill>
              <a:latin typeface="Calibri"/>
              <a:ea typeface="Calibri"/>
              <a:cs typeface="Calibri"/>
              <a:sym typeface="Calibri"/>
            </a:endParaRPr>
          </a:p>
        </p:txBody>
      </p:sp>
      <p:sp>
        <p:nvSpPr>
          <p:cNvPr id="759" name="Google Shape;759;p56"/>
          <p:cNvSpPr/>
          <p:nvPr/>
        </p:nvSpPr>
        <p:spPr>
          <a:xfrm>
            <a:off x="457200" y="2629942"/>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After unilateral denervation, 1 Hz DUM stimulation for 20 min increased muscle </a:t>
            </a:r>
            <a:r>
              <a:rPr b="1" i="0" lang="en-US" sz="1425">
                <a:solidFill>
                  <a:srgbClr val="292329"/>
                </a:solidFill>
                <a:latin typeface="Arial"/>
                <a:ea typeface="Arial"/>
                <a:cs typeface="Arial"/>
                <a:sym typeface="Arial"/>
              </a:rPr>
              <a:t>fructose 2,6-bisphosphate</a:t>
            </a:r>
            <a:r>
              <a:rPr b="0" i="0" lang="en-US" sz="1425">
                <a:solidFill>
                  <a:srgbClr val="292329"/>
                </a:solidFill>
                <a:latin typeface="Arial"/>
                <a:ea typeface="Arial"/>
                <a:cs typeface="Arial"/>
                <a:sym typeface="Arial"/>
              </a:rPr>
              <a:t>, a regulator that promotes glycolysis. Its amount rose approximately sevenfold relative to the contralateral control muscle. Glycolysis is the pathway that supplies energy by breaking down carbohydrate.</a:t>
            </a:r>
            <a:endParaRPr sz="1800">
              <a:solidFill>
                <a:schemeClr val="dk1"/>
              </a:solidFill>
              <a:latin typeface="Calibri"/>
              <a:ea typeface="Calibri"/>
              <a:cs typeface="Calibri"/>
              <a:sym typeface="Calibri"/>
            </a:endParaRPr>
          </a:p>
        </p:txBody>
      </p:sp>
      <p:sp>
        <p:nvSpPr>
          <p:cNvPr id="760" name="Google Shape;760;p56"/>
          <p:cNvSpPr/>
          <p:nvPr/>
        </p:nvSpPr>
        <p:spPr>
          <a:xfrm>
            <a:off x="457200" y="395763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Central modulatory neurons can therefore prepare the muscle’s metabolic state without themselves generating wingbeat contractions. The within-animal comparison supports a peripheral effect of DUM activity. Octopamine released from DUM terminals carries the signal, linking an amine that modulates central flight circuits to the muscle’s energy supply.</a:t>
            </a:r>
            <a:endParaRPr sz="1800">
              <a:solidFill>
                <a:schemeClr val="dk1"/>
              </a:solidFill>
              <a:latin typeface="Calibri"/>
              <a:ea typeface="Calibri"/>
              <a:cs typeface="Calibri"/>
              <a:sym typeface="Calibri"/>
            </a:endParaRPr>
          </a:p>
        </p:txBody>
      </p:sp>
      <p:pic>
        <p:nvPicPr>
          <p:cNvPr id="761" name="Google Shape;761;p56"/>
          <p:cNvPicPr preferRelativeResize="0"/>
          <p:nvPr/>
        </p:nvPicPr>
        <p:blipFill rotWithShape="1">
          <a:blip r:embed="rId3">
            <a:alphaModFix/>
          </a:blip>
          <a:srcRect b="0" l="0" r="0" t="0"/>
          <a:stretch/>
        </p:blipFill>
        <p:spPr>
          <a:xfrm>
            <a:off x="6477000" y="1110240"/>
            <a:ext cx="3429000" cy="4078224"/>
          </a:xfrm>
          <a:prstGeom prst="rect">
            <a:avLst/>
          </a:prstGeom>
          <a:noFill/>
          <a:ln>
            <a:noFill/>
          </a:ln>
        </p:spPr>
      </p:pic>
      <p:sp>
        <p:nvSpPr>
          <p:cNvPr id="762" name="Google Shape;762;p56"/>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Mentel et al. (2003), Fig. 1. DUM stimulation and flight-muscle glycolytic activator levels.</a:t>
            </a:r>
            <a:endParaRPr sz="1800">
              <a:solidFill>
                <a:schemeClr val="dk1"/>
              </a:solidFill>
              <a:latin typeface="Calibri"/>
              <a:ea typeface="Calibri"/>
              <a:cs typeface="Calibri"/>
              <a:sym typeface="Calibri"/>
            </a:endParaRPr>
          </a:p>
        </p:txBody>
      </p:sp>
      <p:pic>
        <p:nvPicPr>
          <p:cNvPr id="763" name="Google Shape;763;p56"/>
          <p:cNvPicPr preferRelativeResize="0"/>
          <p:nvPr/>
        </p:nvPicPr>
        <p:blipFill rotWithShape="1">
          <a:blip r:embed="rId4">
            <a:alphaModFix/>
          </a:blip>
          <a:srcRect b="0" l="0" r="0" t="0"/>
          <a:stretch/>
        </p:blipFill>
        <p:spPr>
          <a:xfrm>
            <a:off x="10058400" y="1981127"/>
            <a:ext cx="1676400" cy="2450750"/>
          </a:xfrm>
          <a:prstGeom prst="rect">
            <a:avLst/>
          </a:prstGeom>
          <a:noFill/>
          <a:ln>
            <a:noFill/>
          </a:ln>
        </p:spPr>
      </p:pic>
      <p:sp>
        <p:nvSpPr>
          <p:cNvPr id="764" name="Google Shape;764;p56"/>
          <p:cNvSpPr/>
          <p:nvPr/>
        </p:nvSpPr>
        <p:spPr>
          <a:xfrm>
            <a:off x="10058400" y="4749552"/>
            <a:ext cx="1695450" cy="619125"/>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Buhl et al. (2008), Fig. 6(A,B). Octopamine-associated DUM cells in stained thoracic sections.</a:t>
            </a:r>
            <a:endParaRPr sz="1800">
              <a:solidFill>
                <a:schemeClr val="dk1"/>
              </a:solidFill>
              <a:latin typeface="Calibri"/>
              <a:ea typeface="Calibri"/>
              <a:cs typeface="Calibri"/>
              <a:sym typeface="Calibri"/>
            </a:endParaRPr>
          </a:p>
        </p:txBody>
      </p:sp>
      <p:sp>
        <p:nvSpPr>
          <p:cNvPr id="765" name="Google Shape;765;p56"/>
          <p:cNvSpPr/>
          <p:nvPr/>
        </p:nvSpPr>
        <p:spPr>
          <a:xfrm>
            <a:off x="457200" y="6496050"/>
            <a:ext cx="1996976"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Mentel et al. (2003); Buhl et al. (2008)</a:t>
            </a:r>
            <a:endParaRPr sz="1800">
              <a:solidFill>
                <a:schemeClr val="dk1"/>
              </a:solidFill>
              <a:latin typeface="Calibri"/>
              <a:ea typeface="Calibri"/>
              <a:cs typeface="Calibri"/>
              <a:sym typeface="Calibri"/>
            </a:endParaRPr>
          </a:p>
        </p:txBody>
      </p:sp>
      <p:sp>
        <p:nvSpPr>
          <p:cNvPr id="766" name="Google Shape;766;p56"/>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43</a:t>
            </a:r>
            <a:endParaRPr sz="1800">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0" name="Shape 770"/>
        <p:cNvGrpSpPr/>
        <p:nvPr/>
      </p:nvGrpSpPr>
      <p:grpSpPr>
        <a:xfrm>
          <a:off x="0" y="0"/>
          <a:ext cx="0" cy="0"/>
          <a:chOff x="0" y="0"/>
          <a:chExt cx="0" cy="0"/>
        </a:xfrm>
      </p:grpSpPr>
      <p:sp>
        <p:nvSpPr>
          <p:cNvPr id="771" name="Google Shape;771;p57"/>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PKA is required but insufficient for the metabolic effect</a:t>
            </a:r>
            <a:endParaRPr sz="1800">
              <a:solidFill>
                <a:schemeClr val="dk1"/>
              </a:solidFill>
              <a:latin typeface="Calibri"/>
              <a:ea typeface="Calibri"/>
              <a:cs typeface="Calibri"/>
              <a:sym typeface="Calibri"/>
            </a:endParaRPr>
          </a:p>
        </p:txBody>
      </p:sp>
      <p:sp>
        <p:nvSpPr>
          <p:cNvPr id="772" name="Google Shape;772;p57"/>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1" i="0" lang="en-US" sz="1425">
                <a:solidFill>
                  <a:srgbClr val="292329"/>
                </a:solidFill>
                <a:latin typeface="Arial"/>
                <a:ea typeface="Arial"/>
                <a:cs typeface="Arial"/>
                <a:sym typeface="Arial"/>
              </a:rPr>
              <a:t>Cyclic AMP</a:t>
            </a:r>
            <a:r>
              <a:rPr b="0" i="0" lang="en-US" sz="1425">
                <a:solidFill>
                  <a:srgbClr val="292329"/>
                </a:solidFill>
                <a:latin typeface="Arial"/>
                <a:ea typeface="Arial"/>
                <a:cs typeface="Arial"/>
                <a:sym typeface="Arial"/>
              </a:rPr>
              <a:t>, or cAMP, is an intracellular second messenger; </a:t>
            </a:r>
            <a:r>
              <a:rPr b="1" i="0" lang="en-US" sz="1425">
                <a:solidFill>
                  <a:srgbClr val="292329"/>
                </a:solidFill>
                <a:latin typeface="Arial"/>
                <a:ea typeface="Arial"/>
                <a:cs typeface="Arial"/>
                <a:sym typeface="Arial"/>
              </a:rPr>
              <a:t>protein kinase A</a:t>
            </a:r>
            <a:r>
              <a:rPr b="0" i="0" lang="en-US" sz="1425">
                <a:solidFill>
                  <a:srgbClr val="292329"/>
                </a:solidFill>
                <a:latin typeface="Arial"/>
                <a:ea typeface="Arial"/>
                <a:cs typeface="Arial"/>
                <a:sym typeface="Arial"/>
              </a:rPr>
              <a:t>, or PKA, is an enzyme activated by cAMP that modifies proteins through phosphorylation. Mentel and colleagues assayed PKA activity and the glycolytic regulator after DUM stimulation.</a:t>
            </a:r>
            <a:endParaRPr sz="1800">
              <a:solidFill>
                <a:schemeClr val="dk1"/>
              </a:solidFill>
              <a:latin typeface="Calibri"/>
              <a:ea typeface="Calibri"/>
              <a:cs typeface="Calibri"/>
              <a:sym typeface="Calibri"/>
            </a:endParaRPr>
          </a:p>
        </p:txBody>
      </p:sp>
      <p:sp>
        <p:nvSpPr>
          <p:cNvPr id="773" name="Google Shape;773;p57"/>
          <p:cNvSpPr/>
          <p:nvPr/>
        </p:nvSpPr>
        <p:spPr>
          <a:xfrm>
            <a:off x="457200" y="2391073"/>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DUM activity increased PKA activity in flight muscle. Applying the PKA inhibitor KT5720 prevented the DUM-associated increase in fructose 2,6-bisphosphate. A cAMP donor increased PKA activity without reproducing the increase in the glycolytic regulator after a 20 min treatment.</a:t>
            </a:r>
            <a:endParaRPr sz="1800">
              <a:solidFill>
                <a:schemeClr val="dk1"/>
              </a:solidFill>
              <a:latin typeface="Calibri"/>
              <a:ea typeface="Calibri"/>
              <a:cs typeface="Calibri"/>
              <a:sym typeface="Calibri"/>
            </a:endParaRPr>
          </a:p>
        </p:txBody>
      </p:sp>
      <p:sp>
        <p:nvSpPr>
          <p:cNvPr id="774" name="Google Shape;774;p57"/>
          <p:cNvSpPr/>
          <p:nvPr/>
        </p:nvSpPr>
        <p:spPr>
          <a:xfrm>
            <a:off x="457200" y="3718768"/>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PKA signaling is therefore necessary but not sufficient for the metabolic response, pointing to a second, parallel pathway, possibly calcium-dependent. Octopamine released by DUM neurons can thus act through more than one intracellular route to raise carbohydrate use in flight muscle.</a:t>
            </a:r>
            <a:endParaRPr sz="1800">
              <a:solidFill>
                <a:schemeClr val="dk1"/>
              </a:solidFill>
              <a:latin typeface="Calibri"/>
              <a:ea typeface="Calibri"/>
              <a:cs typeface="Calibri"/>
              <a:sym typeface="Calibri"/>
            </a:endParaRPr>
          </a:p>
        </p:txBody>
      </p:sp>
      <p:pic>
        <p:nvPicPr>
          <p:cNvPr id="775" name="Google Shape;775;p57"/>
          <p:cNvPicPr preferRelativeResize="0"/>
          <p:nvPr/>
        </p:nvPicPr>
        <p:blipFill rotWithShape="1">
          <a:blip r:embed="rId3">
            <a:alphaModFix/>
          </a:blip>
          <a:srcRect b="0" l="0" r="0" t="0"/>
          <a:stretch/>
        </p:blipFill>
        <p:spPr>
          <a:xfrm>
            <a:off x="6698655" y="1063377"/>
            <a:ext cx="2985689" cy="4171950"/>
          </a:xfrm>
          <a:prstGeom prst="rect">
            <a:avLst/>
          </a:prstGeom>
          <a:noFill/>
          <a:ln>
            <a:noFill/>
          </a:ln>
        </p:spPr>
      </p:pic>
      <p:sp>
        <p:nvSpPr>
          <p:cNvPr id="776" name="Google Shape;776;p57"/>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Mentel et al. (2003), Fig. 3. PKA blockade and cAMP-donor effects on the glycolytic regulator.</a:t>
            </a:r>
            <a:endParaRPr sz="1800">
              <a:solidFill>
                <a:schemeClr val="dk1"/>
              </a:solidFill>
              <a:latin typeface="Calibri"/>
              <a:ea typeface="Calibri"/>
              <a:cs typeface="Calibri"/>
              <a:sym typeface="Calibri"/>
            </a:endParaRPr>
          </a:p>
        </p:txBody>
      </p:sp>
      <p:pic>
        <p:nvPicPr>
          <p:cNvPr id="777" name="Google Shape;777;p57"/>
          <p:cNvPicPr preferRelativeResize="0"/>
          <p:nvPr/>
        </p:nvPicPr>
        <p:blipFill rotWithShape="1">
          <a:blip r:embed="rId4">
            <a:alphaModFix/>
          </a:blip>
          <a:srcRect b="0" l="0" r="0" t="0"/>
          <a:stretch/>
        </p:blipFill>
        <p:spPr>
          <a:xfrm>
            <a:off x="10058400" y="2209603"/>
            <a:ext cx="1676400" cy="1993798"/>
          </a:xfrm>
          <a:prstGeom prst="rect">
            <a:avLst/>
          </a:prstGeom>
          <a:noFill/>
          <a:ln>
            <a:noFill/>
          </a:ln>
        </p:spPr>
      </p:pic>
      <p:sp>
        <p:nvSpPr>
          <p:cNvPr id="778" name="Google Shape;778;p57"/>
          <p:cNvSpPr/>
          <p:nvPr/>
        </p:nvSpPr>
        <p:spPr>
          <a:xfrm>
            <a:off x="10058400" y="4749552"/>
            <a:ext cx="1695450" cy="619125"/>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Mentel et al. (2003), Fig. 1. DUM projections and the controlled flight-muscle preparation.</a:t>
            </a:r>
            <a:endParaRPr sz="1800">
              <a:solidFill>
                <a:schemeClr val="dk1"/>
              </a:solidFill>
              <a:latin typeface="Calibri"/>
              <a:ea typeface="Calibri"/>
              <a:cs typeface="Calibri"/>
              <a:sym typeface="Calibri"/>
            </a:endParaRPr>
          </a:p>
        </p:txBody>
      </p:sp>
      <p:sp>
        <p:nvSpPr>
          <p:cNvPr id="779" name="Google Shape;779;p57"/>
          <p:cNvSpPr/>
          <p:nvPr/>
        </p:nvSpPr>
        <p:spPr>
          <a:xfrm>
            <a:off x="457200" y="6496050"/>
            <a:ext cx="1042392"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Mentel et al. (2003)</a:t>
            </a:r>
            <a:endParaRPr sz="1800">
              <a:solidFill>
                <a:schemeClr val="dk1"/>
              </a:solidFill>
              <a:latin typeface="Calibri"/>
              <a:ea typeface="Calibri"/>
              <a:cs typeface="Calibri"/>
              <a:sym typeface="Calibri"/>
            </a:endParaRPr>
          </a:p>
        </p:txBody>
      </p:sp>
      <p:sp>
        <p:nvSpPr>
          <p:cNvPr id="780" name="Google Shape;780;p57"/>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44</a:t>
            </a:r>
            <a:endParaRPr sz="1800">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4" name="Shape 784"/>
        <p:cNvGrpSpPr/>
        <p:nvPr/>
      </p:nvGrpSpPr>
      <p:grpSpPr>
        <a:xfrm>
          <a:off x="0" y="0"/>
          <a:ext cx="0" cy="0"/>
          <a:chOff x="0" y="0"/>
          <a:chExt cx="0" cy="0"/>
        </a:xfrm>
      </p:grpSpPr>
      <p:sp>
        <p:nvSpPr>
          <p:cNvPr id="785" name="Google Shape;785;p58"/>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DUM neurons prime glycolysis before take-off</a:t>
            </a:r>
            <a:endParaRPr sz="1800">
              <a:solidFill>
                <a:schemeClr val="dk1"/>
              </a:solidFill>
              <a:latin typeface="Calibri"/>
              <a:ea typeface="Calibri"/>
              <a:cs typeface="Calibri"/>
              <a:sym typeface="Calibri"/>
            </a:endParaRPr>
          </a:p>
        </p:txBody>
      </p:sp>
      <p:sp>
        <p:nvSpPr>
          <p:cNvPr id="786" name="Google Shape;786;p58"/>
          <p:cNvSpPr/>
          <p:nvPr/>
        </p:nvSpPr>
        <p:spPr>
          <a:xfrm>
            <a:off x="457200" y="1063377"/>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Fructose 2,6-bisphosphate activates phosphofructokinase, a rate-limiting enzyme of glycolysis, so raising it speeds carbohydrate breakdown in muscle. The DUM pathway reaches it in steps: octopamine binds muscle receptors, cAMP rises, PKA phosphorylates target proteins, and the regulator’s level climbs.</a:t>
            </a:r>
            <a:endParaRPr sz="1800">
              <a:solidFill>
                <a:schemeClr val="dk1"/>
              </a:solidFill>
              <a:latin typeface="Calibri"/>
              <a:ea typeface="Calibri"/>
              <a:cs typeface="Calibri"/>
              <a:sym typeface="Calibri"/>
            </a:endParaRPr>
          </a:p>
        </p:txBody>
      </p:sp>
      <p:sp>
        <p:nvSpPr>
          <p:cNvPr id="787" name="Google Shape;787;p58"/>
          <p:cNvSpPr/>
          <p:nvPr/>
        </p:nvSpPr>
        <p:spPr>
          <a:xfrm>
            <a:off x="457200" y="2669292"/>
            <a:ext cx="5695950" cy="955548"/>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Timing makes this control useful. DUM neurons supplying flight muscle are active at rest but selectively inhibited during flight, so octopamine primes the muscle for the high carbohydrate demand of take-off and then declines once flight is under way.</a:t>
            </a:r>
            <a:endParaRPr sz="1800">
              <a:solidFill>
                <a:schemeClr val="dk1"/>
              </a:solidFill>
              <a:latin typeface="Calibri"/>
              <a:ea typeface="Calibri"/>
              <a:cs typeface="Calibri"/>
              <a:sym typeface="Calibri"/>
            </a:endParaRPr>
          </a:p>
        </p:txBody>
      </p:sp>
      <p:sp>
        <p:nvSpPr>
          <p:cNvPr id="788" name="Google Shape;788;p58"/>
          <p:cNvSpPr/>
          <p:nvPr/>
        </p:nvSpPr>
        <p:spPr>
          <a:xfrm>
            <a:off x="457200" y="4036320"/>
            <a:ext cx="5695950" cy="119443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Falling glycolytic activation during prolonged flight fits the locust’s shift toward lipid as its main fuel, which spares limited carbohydrate reserves on long flights. Central neurons thus set the muscle’s fuel choice according to behavioral state, while motor neurons drive contraction.</a:t>
            </a:r>
            <a:endParaRPr sz="1800">
              <a:solidFill>
                <a:schemeClr val="dk1"/>
              </a:solidFill>
              <a:latin typeface="Calibri"/>
              <a:ea typeface="Calibri"/>
              <a:cs typeface="Calibri"/>
              <a:sym typeface="Calibri"/>
            </a:endParaRPr>
          </a:p>
        </p:txBody>
      </p:sp>
      <p:pic>
        <p:nvPicPr>
          <p:cNvPr id="789" name="Google Shape;789;p58"/>
          <p:cNvPicPr preferRelativeResize="0"/>
          <p:nvPr/>
        </p:nvPicPr>
        <p:blipFill rotWithShape="1">
          <a:blip r:embed="rId3">
            <a:alphaModFix/>
          </a:blip>
          <a:srcRect b="0" l="0" r="0" t="0"/>
          <a:stretch/>
        </p:blipFill>
        <p:spPr>
          <a:xfrm>
            <a:off x="6698655" y="1063377"/>
            <a:ext cx="2985689" cy="4171950"/>
          </a:xfrm>
          <a:prstGeom prst="rect">
            <a:avLst/>
          </a:prstGeom>
          <a:noFill/>
          <a:ln>
            <a:noFill/>
          </a:ln>
        </p:spPr>
      </p:pic>
      <p:sp>
        <p:nvSpPr>
          <p:cNvPr id="790" name="Google Shape;790;p58"/>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Mentel et al. (2003), Fig. 3. PKA blockade and cAMP-donor effects on the glycolytic regulator.</a:t>
            </a:r>
            <a:endParaRPr sz="1800">
              <a:solidFill>
                <a:schemeClr val="dk1"/>
              </a:solidFill>
              <a:latin typeface="Calibri"/>
              <a:ea typeface="Calibri"/>
              <a:cs typeface="Calibri"/>
              <a:sym typeface="Calibri"/>
            </a:endParaRPr>
          </a:p>
        </p:txBody>
      </p:sp>
      <p:pic>
        <p:nvPicPr>
          <p:cNvPr id="791" name="Google Shape;791;p58"/>
          <p:cNvPicPr preferRelativeResize="0"/>
          <p:nvPr/>
        </p:nvPicPr>
        <p:blipFill rotWithShape="1">
          <a:blip r:embed="rId4">
            <a:alphaModFix/>
          </a:blip>
          <a:srcRect b="0" l="0" r="0" t="0"/>
          <a:stretch/>
        </p:blipFill>
        <p:spPr>
          <a:xfrm>
            <a:off x="10058400" y="2209603"/>
            <a:ext cx="1676400" cy="1993798"/>
          </a:xfrm>
          <a:prstGeom prst="rect">
            <a:avLst/>
          </a:prstGeom>
          <a:noFill/>
          <a:ln>
            <a:noFill/>
          </a:ln>
        </p:spPr>
      </p:pic>
      <p:sp>
        <p:nvSpPr>
          <p:cNvPr id="792" name="Google Shape;792;p58"/>
          <p:cNvSpPr/>
          <p:nvPr/>
        </p:nvSpPr>
        <p:spPr>
          <a:xfrm>
            <a:off x="10058400" y="4749552"/>
            <a:ext cx="1695450" cy="619125"/>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Mentel et al. (2003), Fig. 1. DUM projections and the controlled flight-muscle preparation.</a:t>
            </a:r>
            <a:endParaRPr sz="1800">
              <a:solidFill>
                <a:schemeClr val="dk1"/>
              </a:solidFill>
              <a:latin typeface="Calibri"/>
              <a:ea typeface="Calibri"/>
              <a:cs typeface="Calibri"/>
              <a:sym typeface="Calibri"/>
            </a:endParaRPr>
          </a:p>
        </p:txBody>
      </p:sp>
      <p:sp>
        <p:nvSpPr>
          <p:cNvPr id="793" name="Google Shape;793;p58"/>
          <p:cNvSpPr/>
          <p:nvPr/>
        </p:nvSpPr>
        <p:spPr>
          <a:xfrm>
            <a:off x="457200" y="6496050"/>
            <a:ext cx="130556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Mentel et al. (2003)</a:t>
            </a:r>
            <a:endParaRPr sz="1800">
              <a:solidFill>
                <a:schemeClr val="dk1"/>
              </a:solidFill>
              <a:latin typeface="Calibri"/>
              <a:ea typeface="Calibri"/>
              <a:cs typeface="Calibri"/>
              <a:sym typeface="Calibri"/>
            </a:endParaRPr>
          </a:p>
        </p:txBody>
      </p:sp>
      <p:sp>
        <p:nvSpPr>
          <p:cNvPr id="794" name="Google Shape;794;p58"/>
          <p:cNvSpPr/>
          <p:nvPr/>
        </p:nvSpPr>
        <p:spPr>
          <a:xfrm>
            <a:off x="11536426" y="6496050"/>
            <a:ext cx="217424"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44a</a:t>
            </a:r>
            <a:endParaRPr sz="1800">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8" name="Shape 798"/>
        <p:cNvGrpSpPr/>
        <p:nvPr/>
      </p:nvGrpSpPr>
      <p:grpSpPr>
        <a:xfrm>
          <a:off x="0" y="0"/>
          <a:ext cx="0" cy="0"/>
          <a:chOff x="0" y="0"/>
          <a:chExt cx="0" cy="0"/>
        </a:xfrm>
      </p:grpSpPr>
      <p:sp>
        <p:nvSpPr>
          <p:cNvPr id="799" name="Google Shape;799;p59"/>
          <p:cNvSpPr/>
          <p:nvPr/>
        </p:nvSpPr>
        <p:spPr>
          <a:xfrm>
            <a:off x="457200" y="457200"/>
            <a:ext cx="11296650" cy="339477"/>
          </a:xfrm>
          <a:prstGeom prst="rect">
            <a:avLst/>
          </a:prstGeom>
          <a:noFill/>
          <a:ln>
            <a:noFill/>
          </a:ln>
        </p:spPr>
        <p:txBody>
          <a:bodyPr anchorCtr="0" anchor="t" bIns="0" lIns="0" spcFirstLastPara="1" rIns="0" wrap="square" tIns="0">
            <a:normAutofit/>
          </a:bodyPr>
          <a:lstStyle/>
          <a:p>
            <a:pPr indent="0" lvl="0" marL="0" marR="0" rtl="0" algn="l">
              <a:lnSpc>
                <a:spcPct val="115010"/>
              </a:lnSpc>
              <a:spcBef>
                <a:spcPts val="0"/>
              </a:spcBef>
              <a:spcAft>
                <a:spcPts val="0"/>
              </a:spcAft>
              <a:buClr>
                <a:srgbClr val="842D4A"/>
              </a:buClr>
              <a:buSzPts val="2325"/>
              <a:buFont typeface="Arial"/>
              <a:buNone/>
            </a:pPr>
            <a:r>
              <a:rPr b="1" i="0" lang="en-US" sz="2325">
                <a:solidFill>
                  <a:srgbClr val="842D4A"/>
                </a:solidFill>
                <a:latin typeface="Arial"/>
                <a:ea typeface="Arial"/>
                <a:cs typeface="Arial"/>
                <a:sym typeface="Arial"/>
              </a:rPr>
              <a:t>Central generation works with sensory control</a:t>
            </a:r>
            <a:endParaRPr sz="1800">
              <a:solidFill>
                <a:schemeClr val="dk1"/>
              </a:solidFill>
              <a:latin typeface="Calibri"/>
              <a:ea typeface="Calibri"/>
              <a:cs typeface="Calibri"/>
              <a:sym typeface="Calibri"/>
            </a:endParaRPr>
          </a:p>
        </p:txBody>
      </p:sp>
      <p:sp>
        <p:nvSpPr>
          <p:cNvPr id="800" name="Google Shape;800;p59"/>
          <p:cNvSpPr/>
          <p:nvPr/>
        </p:nvSpPr>
        <p:spPr>
          <a:xfrm>
            <a:off x="457200" y="1063377"/>
            <a:ext cx="5695950" cy="1194346"/>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Wilson’s reduced preparations established that wing motion is unnecessary for a basic central flight rhythm. Ausborn and colleagues tested how experimentally restored tegula input reshapes that rhythm when sensory stimulation depends on the preceding motor cycle.</a:t>
            </a:r>
            <a:endParaRPr sz="1800">
              <a:solidFill>
                <a:schemeClr val="dk1"/>
              </a:solidFill>
              <a:latin typeface="Calibri"/>
              <a:ea typeface="Calibri"/>
              <a:cs typeface="Calibri"/>
              <a:sym typeface="Calibri"/>
            </a:endParaRPr>
          </a:p>
        </p:txBody>
      </p:sp>
      <p:sp>
        <p:nvSpPr>
          <p:cNvPr id="801" name="Google Shape;801;p59"/>
          <p:cNvSpPr/>
          <p:nvPr/>
        </p:nvSpPr>
        <p:spPr>
          <a:xfrm>
            <a:off x="457200" y="2391073"/>
            <a:ext cx="5695950" cy="1433215"/>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The central output was slower and less normally organized without the peripheral loop. Feedback near threshold could accelerate the rhythm, while stronger closed-loop input diminished that acceleration or slowed it. Wind supplies activation, and wing-base sensors supply information about the movement that activation produces.</a:t>
            </a:r>
            <a:endParaRPr sz="1800">
              <a:solidFill>
                <a:schemeClr val="dk1"/>
              </a:solidFill>
              <a:latin typeface="Calibri"/>
              <a:ea typeface="Calibri"/>
              <a:cs typeface="Calibri"/>
              <a:sym typeface="Calibri"/>
            </a:endParaRPr>
          </a:p>
        </p:txBody>
      </p:sp>
      <p:sp>
        <p:nvSpPr>
          <p:cNvPr id="802" name="Google Shape;802;p59"/>
          <p:cNvSpPr/>
          <p:nvPr/>
        </p:nvSpPr>
        <p:spPr>
          <a:xfrm>
            <a:off x="457200" y="3957638"/>
            <a:ext cx="5695950" cy="1672084"/>
          </a:xfrm>
          <a:prstGeom prst="rect">
            <a:avLst/>
          </a:prstGeom>
          <a:noFill/>
          <a:ln>
            <a:noFill/>
          </a:ln>
        </p:spPr>
        <p:txBody>
          <a:bodyPr anchorCtr="0" anchor="t" bIns="0" lIns="0" spcFirstLastPara="1" rIns="0" wrap="square" tIns="0">
            <a:normAutofit/>
          </a:bodyPr>
          <a:lstStyle/>
          <a:p>
            <a:pPr indent="0" lvl="0" marL="0" marR="0" rtl="0" algn="l">
              <a:lnSpc>
                <a:spcPct val="132000"/>
              </a:lnSpc>
              <a:spcBef>
                <a:spcPts val="0"/>
              </a:spcBef>
              <a:spcAft>
                <a:spcPts val="0"/>
              </a:spcAft>
              <a:buClr>
                <a:srgbClr val="292329"/>
              </a:buClr>
              <a:buSzPts val="1425"/>
              <a:buFont typeface="Arial"/>
              <a:buNone/>
            </a:pPr>
            <a:r>
              <a:rPr b="0" i="0" lang="en-US" sz="1425">
                <a:solidFill>
                  <a:srgbClr val="292329"/>
                </a:solidFill>
                <a:latin typeface="Arial"/>
                <a:ea typeface="Arial"/>
                <a:cs typeface="Arial"/>
                <a:sym typeface="Arial"/>
              </a:rPr>
              <a:t>A CPG is therefore part of a sensorimotor system rather than a guarantee of normal movement in isolation. Wind hairs and 404 cells activate the network, muscarinic signaling sets its activated state, inhibitory interneuron loops pattern each cycle, and tegula feedback adjusts its frequency to the wing’s actual motion.</a:t>
            </a:r>
            <a:endParaRPr sz="1800">
              <a:solidFill>
                <a:schemeClr val="dk1"/>
              </a:solidFill>
              <a:latin typeface="Calibri"/>
              <a:ea typeface="Calibri"/>
              <a:cs typeface="Calibri"/>
              <a:sym typeface="Calibri"/>
            </a:endParaRPr>
          </a:p>
        </p:txBody>
      </p:sp>
      <p:pic>
        <p:nvPicPr>
          <p:cNvPr id="803" name="Google Shape;803;p59"/>
          <p:cNvPicPr preferRelativeResize="0"/>
          <p:nvPr/>
        </p:nvPicPr>
        <p:blipFill rotWithShape="1">
          <a:blip r:embed="rId3">
            <a:alphaModFix/>
          </a:blip>
          <a:srcRect b="0" l="0" r="0" t="0"/>
          <a:stretch/>
        </p:blipFill>
        <p:spPr>
          <a:xfrm>
            <a:off x="6477000" y="1356769"/>
            <a:ext cx="3429000" cy="3585166"/>
          </a:xfrm>
          <a:prstGeom prst="rect">
            <a:avLst/>
          </a:prstGeom>
          <a:noFill/>
          <a:ln>
            <a:noFill/>
          </a:ln>
        </p:spPr>
      </p:pic>
      <p:sp>
        <p:nvSpPr>
          <p:cNvPr id="804" name="Google Shape;804;p59"/>
          <p:cNvSpPr/>
          <p:nvPr/>
        </p:nvSpPr>
        <p:spPr>
          <a:xfrm>
            <a:off x="6477000" y="5302002"/>
            <a:ext cx="3448050" cy="309563"/>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Ausborn et al. (2007), Fig. 6(A–F). Flight frequency changes with experimentally restored feedback.</a:t>
            </a:r>
            <a:endParaRPr sz="1800">
              <a:solidFill>
                <a:schemeClr val="dk1"/>
              </a:solidFill>
              <a:latin typeface="Calibri"/>
              <a:ea typeface="Calibri"/>
              <a:cs typeface="Calibri"/>
              <a:sym typeface="Calibri"/>
            </a:endParaRPr>
          </a:p>
        </p:txBody>
      </p:sp>
      <p:pic>
        <p:nvPicPr>
          <p:cNvPr id="805" name="Google Shape;805;p59"/>
          <p:cNvPicPr preferRelativeResize="0"/>
          <p:nvPr/>
        </p:nvPicPr>
        <p:blipFill rotWithShape="1">
          <a:blip r:embed="rId4">
            <a:alphaModFix/>
          </a:blip>
          <a:srcRect b="0" l="0" r="0" t="0"/>
          <a:stretch/>
        </p:blipFill>
        <p:spPr>
          <a:xfrm>
            <a:off x="10058400" y="2430136"/>
            <a:ext cx="1676400" cy="1552731"/>
          </a:xfrm>
          <a:prstGeom prst="rect">
            <a:avLst/>
          </a:prstGeom>
          <a:noFill/>
          <a:ln>
            <a:noFill/>
          </a:ln>
        </p:spPr>
      </p:pic>
      <p:sp>
        <p:nvSpPr>
          <p:cNvPr id="806" name="Google Shape;806;p59"/>
          <p:cNvSpPr/>
          <p:nvPr/>
        </p:nvSpPr>
        <p:spPr>
          <a:xfrm>
            <a:off x="10058400" y="4749552"/>
            <a:ext cx="1695450" cy="619125"/>
          </a:xfrm>
          <a:prstGeom prst="rect">
            <a:avLst/>
          </a:prstGeom>
          <a:noFill/>
          <a:ln>
            <a:noFill/>
          </a:ln>
        </p:spPr>
        <p:txBody>
          <a:bodyPr anchorCtr="0" anchor="t" bIns="0" lIns="0" spcFirstLastPara="1" rIns="0" wrap="square" tIns="0">
            <a:normAutofit/>
          </a:bodyPr>
          <a:lstStyle/>
          <a:p>
            <a:pPr indent="0" lvl="0" marL="0" marR="0" rtl="0" algn="l">
              <a:lnSpc>
                <a:spcPct val="125025"/>
              </a:lnSpc>
              <a:spcBef>
                <a:spcPts val="0"/>
              </a:spcBef>
              <a:spcAft>
                <a:spcPts val="0"/>
              </a:spcAft>
              <a:buClr>
                <a:srgbClr val="292329"/>
              </a:buClr>
              <a:buSzPts val="975"/>
              <a:buFont typeface="Arial"/>
              <a:buNone/>
            </a:pPr>
            <a:r>
              <a:rPr b="0" i="0" lang="en-US" sz="975">
                <a:solidFill>
                  <a:srgbClr val="292329"/>
                </a:solidFill>
                <a:latin typeface="Arial"/>
                <a:ea typeface="Arial"/>
                <a:cs typeface="Arial"/>
                <a:sym typeface="Arial"/>
              </a:rPr>
              <a:t>Ausborn et al. (2007), Fig. 1(A). Published ganglion and tegula-nerve recording preparation.</a:t>
            </a:r>
            <a:endParaRPr sz="1800">
              <a:solidFill>
                <a:schemeClr val="dk1"/>
              </a:solidFill>
              <a:latin typeface="Calibri"/>
              <a:ea typeface="Calibri"/>
              <a:cs typeface="Calibri"/>
              <a:sym typeface="Calibri"/>
            </a:endParaRPr>
          </a:p>
        </p:txBody>
      </p:sp>
      <p:sp>
        <p:nvSpPr>
          <p:cNvPr id="807" name="Google Shape;807;p59"/>
          <p:cNvSpPr/>
          <p:nvPr/>
        </p:nvSpPr>
        <p:spPr>
          <a:xfrm>
            <a:off x="457200" y="6496050"/>
            <a:ext cx="1124099"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Ausborn et al. (2007)</a:t>
            </a:r>
            <a:endParaRPr sz="1800">
              <a:solidFill>
                <a:schemeClr val="dk1"/>
              </a:solidFill>
              <a:latin typeface="Calibri"/>
              <a:ea typeface="Calibri"/>
              <a:cs typeface="Calibri"/>
              <a:sym typeface="Calibri"/>
            </a:endParaRPr>
          </a:p>
        </p:txBody>
      </p:sp>
      <p:sp>
        <p:nvSpPr>
          <p:cNvPr id="808" name="Google Shape;808;p59"/>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45</a:t>
            </a:r>
            <a:endParaRPr sz="1800">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2" name="Shape 812"/>
        <p:cNvGrpSpPr/>
        <p:nvPr/>
      </p:nvGrpSpPr>
      <p:grpSpPr>
        <a:xfrm>
          <a:off x="0" y="0"/>
          <a:ext cx="0" cy="0"/>
          <a:chOff x="0" y="0"/>
          <a:chExt cx="0" cy="0"/>
        </a:xfrm>
      </p:grpSpPr>
      <p:sp>
        <p:nvSpPr>
          <p:cNvPr id="813" name="Google Shape;813;p60"/>
          <p:cNvSpPr/>
          <p:nvPr/>
        </p:nvSpPr>
        <p:spPr>
          <a:xfrm>
            <a:off x="457200" y="457200"/>
            <a:ext cx="11296650" cy="5143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842D4A"/>
              </a:buClr>
              <a:buSzPts val="2700"/>
              <a:buFont typeface="Arial"/>
              <a:buNone/>
            </a:pPr>
            <a:r>
              <a:rPr b="1" i="0" lang="en-US" sz="2700">
                <a:solidFill>
                  <a:srgbClr val="842D4A"/>
                </a:solidFill>
                <a:latin typeface="Arial"/>
                <a:ea typeface="Arial"/>
                <a:cs typeface="Arial"/>
                <a:sym typeface="Arial"/>
              </a:rPr>
              <a:t>Key takeaways</a:t>
            </a:r>
            <a:endParaRPr sz="1800">
              <a:solidFill>
                <a:schemeClr val="dk1"/>
              </a:solidFill>
              <a:latin typeface="Calibri"/>
              <a:ea typeface="Calibri"/>
              <a:cs typeface="Calibri"/>
              <a:sym typeface="Calibri"/>
            </a:endParaRPr>
          </a:p>
        </p:txBody>
      </p:sp>
      <p:sp>
        <p:nvSpPr>
          <p:cNvPr id="814" name="Google Shape;814;p60"/>
          <p:cNvSpPr/>
          <p:nvPr/>
        </p:nvSpPr>
        <p:spPr>
          <a:xfrm>
            <a:off x="457200" y="1295400"/>
            <a:ext cx="5553075" cy="1466850"/>
          </a:xfrm>
          <a:prstGeom prst="rect">
            <a:avLst/>
          </a:prstGeom>
          <a:solidFill>
            <a:srgbClr val="F7F0F3"/>
          </a:solidFill>
          <a:ln>
            <a:noFill/>
          </a:ln>
        </p:spPr>
        <p:txBody>
          <a:bodyPr anchorCtr="0" anchor="t" bIns="219075" lIns="219075" spcFirstLastPara="1" rIns="219075" wrap="square" tIns="219075">
            <a:normAutofit/>
          </a:bodyPr>
          <a:lstStyle/>
          <a:p>
            <a:pPr indent="0" lvl="0" marL="0" marR="0" rtl="0" algn="l">
              <a:lnSpc>
                <a:spcPct val="135000"/>
              </a:lnSpc>
              <a:spcBef>
                <a:spcPts val="0"/>
              </a:spcBef>
              <a:spcAft>
                <a:spcPts val="0"/>
              </a:spcAft>
              <a:buClr>
                <a:srgbClr val="842D4A"/>
              </a:buClr>
              <a:buSzPts val="1500"/>
              <a:buFont typeface="Arial"/>
              <a:buNone/>
            </a:pPr>
            <a:r>
              <a:rPr b="1" i="0" lang="en-US" sz="1500">
                <a:solidFill>
                  <a:srgbClr val="842D4A"/>
                </a:solidFill>
                <a:latin typeface="Arial"/>
                <a:ea typeface="Arial"/>
                <a:cs typeface="Arial"/>
                <a:sym typeface="Arial"/>
              </a:rPr>
              <a:t>Central generation</a:t>
            </a:r>
            <a:r>
              <a:rPr b="0" i="0" lang="en-US" sz="1500">
                <a:solidFill>
                  <a:srgbClr val="292329"/>
                </a:solidFill>
                <a:latin typeface="Arial"/>
                <a:ea typeface="Arial"/>
                <a:cs typeface="Arial"/>
                <a:sym typeface="Arial"/>
              </a:rPr>
              <a:t> Thoracic circuits produce flight-like alternation without phasic wing feedback; intact frequency and control still depend on sensory interaction.</a:t>
            </a:r>
            <a:endParaRPr sz="1800">
              <a:solidFill>
                <a:schemeClr val="dk1"/>
              </a:solidFill>
              <a:latin typeface="Calibri"/>
              <a:ea typeface="Calibri"/>
              <a:cs typeface="Calibri"/>
              <a:sym typeface="Calibri"/>
            </a:endParaRPr>
          </a:p>
        </p:txBody>
      </p:sp>
      <p:sp>
        <p:nvSpPr>
          <p:cNvPr id="815" name="Google Shape;815;p60"/>
          <p:cNvSpPr/>
          <p:nvPr/>
        </p:nvSpPr>
        <p:spPr>
          <a:xfrm>
            <a:off x="6200775" y="1295400"/>
            <a:ext cx="5553075" cy="1466850"/>
          </a:xfrm>
          <a:prstGeom prst="rect">
            <a:avLst/>
          </a:prstGeom>
          <a:solidFill>
            <a:srgbClr val="F7F0F3"/>
          </a:solidFill>
          <a:ln>
            <a:noFill/>
          </a:ln>
        </p:spPr>
        <p:txBody>
          <a:bodyPr anchorCtr="0" anchor="t" bIns="219075" lIns="219075" spcFirstLastPara="1" rIns="219075" wrap="square" tIns="219075">
            <a:normAutofit/>
          </a:bodyPr>
          <a:lstStyle/>
          <a:p>
            <a:pPr indent="0" lvl="0" marL="0" marR="0" rtl="0" algn="l">
              <a:lnSpc>
                <a:spcPct val="135000"/>
              </a:lnSpc>
              <a:spcBef>
                <a:spcPts val="0"/>
              </a:spcBef>
              <a:spcAft>
                <a:spcPts val="0"/>
              </a:spcAft>
              <a:buClr>
                <a:srgbClr val="842D4A"/>
              </a:buClr>
              <a:buSzPts val="1500"/>
              <a:buFont typeface="Arial"/>
              <a:buNone/>
            </a:pPr>
            <a:r>
              <a:rPr b="1" i="0" lang="en-US" sz="1500">
                <a:solidFill>
                  <a:srgbClr val="842D4A"/>
                </a:solidFill>
                <a:latin typeface="Arial"/>
                <a:ea typeface="Arial"/>
                <a:cs typeface="Arial"/>
                <a:sym typeface="Arial"/>
              </a:rPr>
              <a:t>Wind coding</a:t>
            </a:r>
            <a:r>
              <a:rPr b="0" i="0" lang="en-US" sz="1500">
                <a:solidFill>
                  <a:srgbClr val="292329"/>
                </a:solidFill>
                <a:latin typeface="Arial"/>
                <a:ea typeface="Arial"/>
                <a:cs typeface="Arial"/>
                <a:sym typeface="Arial"/>
              </a:rPr>
              <a:t> Head hairs encode speed and direction jointly. Interneurons distinguish maintained airflow, direction, recentring and acceleration.</a:t>
            </a:r>
            <a:endParaRPr sz="1800">
              <a:solidFill>
                <a:schemeClr val="dk1"/>
              </a:solidFill>
              <a:latin typeface="Calibri"/>
              <a:ea typeface="Calibri"/>
              <a:cs typeface="Calibri"/>
              <a:sym typeface="Calibri"/>
            </a:endParaRPr>
          </a:p>
        </p:txBody>
      </p:sp>
      <p:sp>
        <p:nvSpPr>
          <p:cNvPr id="816" name="Google Shape;816;p60"/>
          <p:cNvSpPr/>
          <p:nvPr/>
        </p:nvSpPr>
        <p:spPr>
          <a:xfrm>
            <a:off x="457200" y="2971800"/>
            <a:ext cx="5553075" cy="1466850"/>
          </a:xfrm>
          <a:prstGeom prst="rect">
            <a:avLst/>
          </a:prstGeom>
          <a:solidFill>
            <a:srgbClr val="F7F0F3"/>
          </a:solidFill>
          <a:ln>
            <a:noFill/>
          </a:ln>
        </p:spPr>
        <p:txBody>
          <a:bodyPr anchorCtr="0" anchor="t" bIns="219075" lIns="219075" spcFirstLastPara="1" rIns="219075" wrap="square" tIns="219075">
            <a:normAutofit/>
          </a:bodyPr>
          <a:lstStyle/>
          <a:p>
            <a:pPr indent="0" lvl="0" marL="0" marR="0" rtl="0" algn="l">
              <a:lnSpc>
                <a:spcPct val="135000"/>
              </a:lnSpc>
              <a:spcBef>
                <a:spcPts val="0"/>
              </a:spcBef>
              <a:spcAft>
                <a:spcPts val="0"/>
              </a:spcAft>
              <a:buClr>
                <a:srgbClr val="842D4A"/>
              </a:buClr>
              <a:buSzPts val="1500"/>
              <a:buFont typeface="Arial"/>
              <a:buNone/>
            </a:pPr>
            <a:r>
              <a:rPr b="1" i="0" lang="en-US" sz="1500">
                <a:solidFill>
                  <a:srgbClr val="842D4A"/>
                </a:solidFill>
                <a:latin typeface="Arial"/>
                <a:ea typeface="Arial"/>
                <a:cs typeface="Arial"/>
                <a:sym typeface="Arial"/>
              </a:rPr>
              <a:t>Activation versus rhythm</a:t>
            </a:r>
            <a:r>
              <a:rPr b="0" i="0" lang="en-US" sz="1500">
                <a:solidFill>
                  <a:srgbClr val="292329"/>
                </a:solidFill>
                <a:latin typeface="Arial"/>
                <a:ea typeface="Arial"/>
                <a:cs typeface="Arial"/>
                <a:sym typeface="Arial"/>
              </a:rPr>
              <a:t> Tonic 404 drive can release flight, whereas phase-dependent resetting implicates neurons such as 301 and 501 in rhythm generation.</a:t>
            </a:r>
            <a:endParaRPr sz="1800">
              <a:solidFill>
                <a:schemeClr val="dk1"/>
              </a:solidFill>
              <a:latin typeface="Calibri"/>
              <a:ea typeface="Calibri"/>
              <a:cs typeface="Calibri"/>
              <a:sym typeface="Calibri"/>
            </a:endParaRPr>
          </a:p>
        </p:txBody>
      </p:sp>
      <p:sp>
        <p:nvSpPr>
          <p:cNvPr id="817" name="Google Shape;817;p60"/>
          <p:cNvSpPr/>
          <p:nvPr/>
        </p:nvSpPr>
        <p:spPr>
          <a:xfrm>
            <a:off x="6200775" y="2971800"/>
            <a:ext cx="5553075" cy="1466850"/>
          </a:xfrm>
          <a:prstGeom prst="rect">
            <a:avLst/>
          </a:prstGeom>
          <a:solidFill>
            <a:srgbClr val="F7F0F3"/>
          </a:solidFill>
          <a:ln>
            <a:noFill/>
          </a:ln>
        </p:spPr>
        <p:txBody>
          <a:bodyPr anchorCtr="0" anchor="t" bIns="219075" lIns="219075" spcFirstLastPara="1" rIns="219075" wrap="square" tIns="219075">
            <a:normAutofit/>
          </a:bodyPr>
          <a:lstStyle/>
          <a:p>
            <a:pPr indent="0" lvl="0" marL="0" marR="0" rtl="0" algn="l">
              <a:lnSpc>
                <a:spcPct val="135000"/>
              </a:lnSpc>
              <a:spcBef>
                <a:spcPts val="0"/>
              </a:spcBef>
              <a:spcAft>
                <a:spcPts val="0"/>
              </a:spcAft>
              <a:buClr>
                <a:srgbClr val="842D4A"/>
              </a:buClr>
              <a:buSzPts val="1500"/>
              <a:buFont typeface="Arial"/>
              <a:buNone/>
            </a:pPr>
            <a:r>
              <a:rPr b="1" i="0" lang="en-US" sz="1500">
                <a:solidFill>
                  <a:srgbClr val="842D4A"/>
                </a:solidFill>
                <a:latin typeface="Arial"/>
                <a:ea typeface="Arial"/>
                <a:cs typeface="Arial"/>
                <a:sym typeface="Arial"/>
              </a:rPr>
              <a:t>Synaptic mechanism</a:t>
            </a:r>
            <a:r>
              <a:rPr b="0" i="0" lang="en-US" sz="1500">
                <a:solidFill>
                  <a:srgbClr val="292329"/>
                </a:solidFill>
                <a:latin typeface="Arial"/>
                <a:ea typeface="Arial"/>
                <a:cs typeface="Arial"/>
                <a:sym typeface="Arial"/>
              </a:rPr>
              <a:t> Delayed excitation can arise through disinhibition. Pharmacology and reversal tests support a mechanism without identifying every intermediate cell or channel.</a:t>
            </a:r>
            <a:endParaRPr sz="1800">
              <a:solidFill>
                <a:schemeClr val="dk1"/>
              </a:solidFill>
              <a:latin typeface="Calibri"/>
              <a:ea typeface="Calibri"/>
              <a:cs typeface="Calibri"/>
              <a:sym typeface="Calibri"/>
            </a:endParaRPr>
          </a:p>
        </p:txBody>
      </p:sp>
      <p:sp>
        <p:nvSpPr>
          <p:cNvPr id="818" name="Google Shape;818;p60"/>
          <p:cNvSpPr/>
          <p:nvPr/>
        </p:nvSpPr>
        <p:spPr>
          <a:xfrm>
            <a:off x="457200" y="4648200"/>
            <a:ext cx="5553075" cy="1466850"/>
          </a:xfrm>
          <a:prstGeom prst="rect">
            <a:avLst/>
          </a:prstGeom>
          <a:solidFill>
            <a:srgbClr val="F7F0F3"/>
          </a:solidFill>
          <a:ln>
            <a:noFill/>
          </a:ln>
        </p:spPr>
        <p:txBody>
          <a:bodyPr anchorCtr="0" anchor="t" bIns="219075" lIns="219075" spcFirstLastPara="1" rIns="219075" wrap="square" tIns="219075">
            <a:normAutofit/>
          </a:bodyPr>
          <a:lstStyle/>
          <a:p>
            <a:pPr indent="0" lvl="0" marL="0" marR="0" rtl="0" algn="l">
              <a:lnSpc>
                <a:spcPct val="135000"/>
              </a:lnSpc>
              <a:spcBef>
                <a:spcPts val="0"/>
              </a:spcBef>
              <a:spcAft>
                <a:spcPts val="0"/>
              </a:spcAft>
              <a:buClr>
                <a:srgbClr val="842D4A"/>
              </a:buClr>
              <a:buSzPts val="1500"/>
              <a:buFont typeface="Arial"/>
              <a:buNone/>
            </a:pPr>
            <a:r>
              <a:rPr b="1" i="0" lang="en-US" sz="1500">
                <a:solidFill>
                  <a:srgbClr val="842D4A"/>
                </a:solidFill>
                <a:latin typeface="Arial"/>
                <a:ea typeface="Arial"/>
                <a:cs typeface="Arial"/>
                <a:sym typeface="Arial"/>
              </a:rPr>
              <a:t>Chemical state</a:t>
            </a:r>
            <a:r>
              <a:rPr b="0" i="0" lang="en-US" sz="1500">
                <a:solidFill>
                  <a:srgbClr val="292329"/>
                </a:solidFill>
                <a:latin typeface="Arial"/>
                <a:ea typeface="Arial"/>
                <a:cs typeface="Arial"/>
                <a:sym typeface="Arial"/>
              </a:rPr>
              <a:t> Muscarinic signaling supports flight initiation; amines facilitate recruitment, timing and coordination rather than constituting an obligatory trigger in the tested preparation.</a:t>
            </a:r>
            <a:endParaRPr sz="1800">
              <a:solidFill>
                <a:schemeClr val="dk1"/>
              </a:solidFill>
              <a:latin typeface="Calibri"/>
              <a:ea typeface="Calibri"/>
              <a:cs typeface="Calibri"/>
              <a:sym typeface="Calibri"/>
            </a:endParaRPr>
          </a:p>
        </p:txBody>
      </p:sp>
      <p:sp>
        <p:nvSpPr>
          <p:cNvPr id="819" name="Google Shape;819;p60"/>
          <p:cNvSpPr/>
          <p:nvPr/>
        </p:nvSpPr>
        <p:spPr>
          <a:xfrm>
            <a:off x="6200775" y="4648200"/>
            <a:ext cx="5553075" cy="1466850"/>
          </a:xfrm>
          <a:prstGeom prst="rect">
            <a:avLst/>
          </a:prstGeom>
          <a:solidFill>
            <a:srgbClr val="F7F0F3"/>
          </a:solidFill>
          <a:ln>
            <a:noFill/>
          </a:ln>
        </p:spPr>
        <p:txBody>
          <a:bodyPr anchorCtr="0" anchor="t" bIns="219075" lIns="219075" spcFirstLastPara="1" rIns="219075" wrap="square" tIns="219075">
            <a:normAutofit/>
          </a:bodyPr>
          <a:lstStyle/>
          <a:p>
            <a:pPr indent="0" lvl="0" marL="0" marR="0" rtl="0" algn="l">
              <a:lnSpc>
                <a:spcPct val="135000"/>
              </a:lnSpc>
              <a:spcBef>
                <a:spcPts val="0"/>
              </a:spcBef>
              <a:spcAft>
                <a:spcPts val="0"/>
              </a:spcAft>
              <a:buClr>
                <a:srgbClr val="842D4A"/>
              </a:buClr>
              <a:buSzPts val="1500"/>
              <a:buFont typeface="Arial"/>
              <a:buNone/>
            </a:pPr>
            <a:r>
              <a:rPr b="1" i="0" lang="en-US" sz="1500">
                <a:solidFill>
                  <a:srgbClr val="842D4A"/>
                </a:solidFill>
                <a:latin typeface="Arial"/>
                <a:ea typeface="Arial"/>
                <a:cs typeface="Arial"/>
                <a:sym typeface="Arial"/>
              </a:rPr>
              <a:t>Feedback and muscle readiness</a:t>
            </a:r>
            <a:r>
              <a:rPr b="0" i="0" lang="en-US" sz="1500">
                <a:solidFill>
                  <a:srgbClr val="292329"/>
                </a:solidFill>
                <a:latin typeface="Arial"/>
                <a:ea typeface="Arial"/>
                <a:cs typeface="Arial"/>
                <a:sym typeface="Arial"/>
              </a:rPr>
              <a:t> Closed-loop tegula input alters frequency, and DUM activity regulates muscle metabolism. Neither role replaces the central generator.</a:t>
            </a:r>
            <a:endParaRPr sz="1800">
              <a:solidFill>
                <a:schemeClr val="dk1"/>
              </a:solidFill>
              <a:latin typeface="Calibri"/>
              <a:ea typeface="Calibri"/>
              <a:cs typeface="Calibri"/>
              <a:sym typeface="Calibri"/>
            </a:endParaRPr>
          </a:p>
        </p:txBody>
      </p:sp>
      <p:sp>
        <p:nvSpPr>
          <p:cNvPr id="820" name="Google Shape;820;p60"/>
          <p:cNvSpPr/>
          <p:nvPr/>
        </p:nvSpPr>
        <p:spPr>
          <a:xfrm>
            <a:off x="457200" y="6496050"/>
            <a:ext cx="753234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Wilson (1961); Camhi (1969a–c); Pearson et al. (1985); Robertson &amp; Pearson (1985); Buhl et al. (2008); Ausborn et al. (2007); Rillich et al. (2013)</a:t>
            </a:r>
            <a:endParaRPr sz="1800">
              <a:solidFill>
                <a:schemeClr val="dk1"/>
              </a:solidFill>
              <a:latin typeface="Calibri"/>
              <a:ea typeface="Calibri"/>
              <a:cs typeface="Calibri"/>
              <a:sym typeface="Calibri"/>
            </a:endParaRPr>
          </a:p>
        </p:txBody>
      </p:sp>
      <p:sp>
        <p:nvSpPr>
          <p:cNvPr id="821" name="Google Shape;821;p60"/>
          <p:cNvSpPr/>
          <p:nvPr/>
        </p:nvSpPr>
        <p:spPr>
          <a:xfrm>
            <a:off x="11603980" y="6496050"/>
            <a:ext cx="149870" cy="171450"/>
          </a:xfrm>
          <a:prstGeom prst="rect">
            <a:avLst/>
          </a:prstGeom>
          <a:noFill/>
          <a:ln>
            <a:noFill/>
          </a:ln>
        </p:spPr>
        <p:txBody>
          <a:bodyPr anchorCtr="0" anchor="t" bIns="0" lIns="0" spcFirstLastPara="1" rIns="0" wrap="square" tIns="0">
            <a:normAutofit/>
          </a:bodyPr>
          <a:lstStyle/>
          <a:p>
            <a:pPr indent="0" lvl="0" marL="0" marR="0" rtl="0" algn="l">
              <a:lnSpc>
                <a:spcPct val="150000"/>
              </a:lnSpc>
              <a:spcBef>
                <a:spcPts val="0"/>
              </a:spcBef>
              <a:spcAft>
                <a:spcPts val="0"/>
              </a:spcAft>
              <a:buClr>
                <a:srgbClr val="6B5B64"/>
              </a:buClr>
              <a:buSzPts val="900"/>
              <a:buFont typeface="Arial"/>
              <a:buNone/>
            </a:pPr>
            <a:r>
              <a:rPr b="0" i="0" lang="en-US" sz="900">
                <a:solidFill>
                  <a:srgbClr val="6B5B64"/>
                </a:solidFill>
                <a:latin typeface="Arial"/>
                <a:ea typeface="Arial"/>
                <a:cs typeface="Arial"/>
                <a:sym typeface="Arial"/>
              </a:rPr>
              <a:t>46</a:t>
            </a:r>
            <a:endParaRPr sz="18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2026-10-08T10:38:16.401Z</dcterms:created>
  <dc:creator>Presenton</dc:creator>
</cp:coreProperties>
</file>