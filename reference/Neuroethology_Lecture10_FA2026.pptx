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Override ContentType="application/vnd.openxmlformats-officedocument.presentationml.slide+xml" PartName="/ppt/slides/slide11.xml"/>
  <Override ContentType="application/vnd.openxmlformats-officedocument.presentationml.notesSlide+xml" PartName="/ppt/notesSlides/notesSlide11.xml"/>
  <Override ContentType="application/vnd.openxmlformats-officedocument.presentationml.slide+xml" PartName="/ppt/slides/slide12.xml"/>
  <Override ContentType="application/vnd.openxmlformats-officedocument.presentationml.notesSlide+xml" PartName="/ppt/notesSlides/notesSlide12.xml"/>
  <Override ContentType="application/vnd.openxmlformats-officedocument.presentationml.slide+xml" PartName="/ppt/slides/slide13.xml"/>
  <Override ContentType="application/vnd.openxmlformats-officedocument.presentationml.notesSlide+xml" PartName="/ppt/notesSlides/notesSlide13.xml"/>
  <Override ContentType="application/vnd.openxmlformats-officedocument.presentationml.slide+xml" PartName="/ppt/slides/slide14.xml"/>
  <Override ContentType="application/vnd.openxmlformats-officedocument.presentationml.notesSlide+xml" PartName="/ppt/notesSlides/notesSlide14.xml"/>
  <Override ContentType="application/vnd.openxmlformats-officedocument.presentationml.slide+xml" PartName="/ppt/slides/slide15.xml"/>
  <Override ContentType="application/vnd.openxmlformats-officedocument.presentationml.notesSlide+xml" PartName="/ppt/notesSlides/notesSlide15.xml"/>
  <Override ContentType="application/vnd.openxmlformats-officedocument.presentationml.slide+xml" PartName="/ppt/slides/slide16.xml"/>
  <Override ContentType="application/vnd.openxmlformats-officedocument.presentationml.notesSlide+xml" PartName="/ppt/notesSlides/notesSlide16.xml"/>
  <Override ContentType="application/vnd.openxmlformats-officedocument.presentationml.slide+xml" PartName="/ppt/slides/slide17.xml"/>
  <Override ContentType="application/vnd.openxmlformats-officedocument.presentationml.notesSlide+xml" PartName="/ppt/notesSlides/notesSlide17.xml"/>
  <Override ContentType="application/vnd.openxmlformats-officedocument.presentationml.slide+xml" PartName="/ppt/slides/slide18.xml"/>
  <Override ContentType="application/vnd.openxmlformats-officedocument.presentationml.notesSlide+xml" PartName="/ppt/notesSlides/notesSlide18.xml"/>
  <Override ContentType="application/vnd.openxmlformats-officedocument.presentationml.slide+xml" PartName="/ppt/slides/slide19.xml"/>
  <Override ContentType="application/vnd.openxmlformats-officedocument.presentationml.notesSlide+xml" PartName="/ppt/notesSlides/notesSlide19.xml"/>
  <Override ContentType="application/vnd.openxmlformats-officedocument.presentationml.slide+xml" PartName="/ppt/slides/slide20.xml"/>
  <Override ContentType="application/vnd.openxmlformats-officedocument.presentationml.notesSlide+xml" PartName="/ppt/notesSlides/notesSlide20.xml"/>
  <Override ContentType="application/vnd.openxmlformats-officedocument.presentationml.slide+xml" PartName="/ppt/slides/slide21.xml"/>
  <Override ContentType="application/vnd.openxmlformats-officedocument.presentationml.notesSlide+xml" PartName="/ppt/notesSlides/notesSlide21.xml"/>
  <Override ContentType="application/vnd.openxmlformats-officedocument.presentationml.slide+xml" PartName="/ppt/slides/slide22.xml"/>
  <Override ContentType="application/vnd.openxmlformats-officedocument.presentationml.notesSlide+xml" PartName="/ppt/notesSlides/notesSlide22.xml"/>
  <Override ContentType="application/vnd.openxmlformats-officedocument.presentationml.slide+xml" PartName="/ppt/slides/slide23.xml"/>
  <Override ContentType="application/vnd.openxmlformats-officedocument.presentationml.notesSlide+xml" PartName="/ppt/notesSlides/notesSlide23.xml"/>
  <Override ContentType="application/vnd.openxmlformats-officedocument.presentationml.slide+xml" PartName="/ppt/slides/slide24.xml"/>
  <Override ContentType="application/vnd.openxmlformats-officedocument.presentationml.notesSlide+xml" PartName="/ppt/notesSlides/notesSlide24.xml"/>
  <Override ContentType="application/vnd.openxmlformats-officedocument.presentationml.slide+xml" PartName="/ppt/slides/slide25.xml"/>
  <Override ContentType="application/vnd.openxmlformats-officedocument.presentationml.notesSlide+xml" PartName="/ppt/notesSlides/notesSlide25.xml"/>
  <Override ContentType="application/vnd.openxmlformats-officedocument.presentationml.slide+xml" PartName="/ppt/slides/slide26.xml"/>
  <Override ContentType="application/vnd.openxmlformats-officedocument.presentationml.notesSlide+xml" PartName="/ppt/notesSlides/notesSlide26.xml"/>
  <Override ContentType="application/vnd.openxmlformats-officedocument.presentationml.slide+xml" PartName="/ppt/slides/slide27.xml"/>
  <Override ContentType="application/vnd.openxmlformats-officedocument.presentationml.notesSlide+xml" PartName="/ppt/notesSlides/notesSlide27.xml"/>
  <Override ContentType="application/vnd.openxmlformats-officedocument.presentationml.slide+xml" PartName="/ppt/slides/slide28.xml"/>
  <Override ContentType="application/vnd.openxmlformats-officedocument.presentationml.notesSlide+xml" PartName="/ppt/notesSlides/notesSlide28.xml"/>
  <Override ContentType="application/vnd.openxmlformats-officedocument.presentationml.slide+xml" PartName="/ppt/slides/slide29.xml"/>
  <Override ContentType="application/vnd.openxmlformats-officedocument.presentationml.notesSlide+xml" PartName="/ppt/notesSlides/notesSlide29.xml"/>
  <Override ContentType="application/vnd.openxmlformats-officedocument.presentationml.slide+xml" PartName="/ppt/slides/slide30.xml"/>
  <Override ContentType="application/vnd.openxmlformats-officedocument.presentationml.notesSlide+xml" PartName="/ppt/notesSlides/notesSlide30.xml"/>
  <Override ContentType="application/vnd.openxmlformats-officedocument.presentationml.slide+xml" PartName="/ppt/slides/slide31.xml"/>
  <Override ContentType="application/vnd.openxmlformats-officedocument.presentationml.notesSlide+xml" PartName="/ppt/notesSlides/notesSlide31.xml"/>
  <Override ContentType="application/vnd.openxmlformats-officedocument.presentationml.slide+xml" PartName="/ppt/slides/slide32.xml"/>
  <Override ContentType="application/vnd.openxmlformats-officedocument.presentationml.notesSlide+xml" PartName="/ppt/notesSlides/notesSlide32.xml"/>
  <Override ContentType="application/vnd.openxmlformats-officedocument.presentationml.slide+xml" PartName="/ppt/slides/slide33.xml"/>
  <Override ContentType="application/vnd.openxmlformats-officedocument.presentationml.notesSlide+xml" PartName="/ppt/notesSlides/notesSlide33.xml"/>
  <Override ContentType="application/vnd.openxmlformats-officedocument.presentationml.slide+xml" PartName="/ppt/slides/slide34.xml"/>
  <Override ContentType="application/vnd.openxmlformats-officedocument.presentationml.notesSlide+xml" PartName="/ppt/notesSlides/notesSlide34.xml"/>
  <Override ContentType="application/vnd.openxmlformats-officedocument.presentationml.slide+xml" PartName="/ppt/slides/slide35.xml"/>
  <Override ContentType="application/vnd.openxmlformats-officedocument.presentationml.notesSlide+xml" PartName="/ppt/notesSlides/notesSlide35.xml"/>
  <Override ContentType="application/vnd.openxmlformats-officedocument.presentationml.slide+xml" PartName="/ppt/slides/slide36.xml"/>
  <Override ContentType="application/vnd.openxmlformats-officedocument.presentationml.notesSlide+xml" PartName="/ppt/notesSlides/notesSlide36.xml"/>
  <Override ContentType="application/vnd.openxmlformats-officedocument.presentationml.slide+xml" PartName="/ppt/slides/slide37.xml"/>
  <Override ContentType="application/vnd.openxmlformats-officedocument.presentationml.notesSlide+xml" PartName="/ppt/notesSlides/notesSlide37.xml"/>
  <Override ContentType="application/vnd.openxmlformats-officedocument.presentationml.slide+xml" PartName="/ppt/slides/slide38.xml"/>
  <Override ContentType="application/vnd.openxmlformats-officedocument.presentationml.notesSlide+xml" PartName="/ppt/notesSlides/notesSlide38.xml"/>
  <Override ContentType="application/vnd.openxmlformats-officedocument.presentationml.slide+xml" PartName="/ppt/slides/slide39.xml"/>
  <Override ContentType="application/vnd.openxmlformats-officedocument.presentationml.notesSlide+xml" PartName="/ppt/notesSlides/notesSlide39.xml"/>
  <Override ContentType="application/vnd.openxmlformats-officedocument.presentationml.slide+xml" PartName="/ppt/slides/slide40.xml"/>
  <Override ContentType="application/vnd.openxmlformats-officedocument.presentationml.notesSlide+xml" PartName="/ppt/notesSlides/notesSlide40.xml"/>
  <Override ContentType="application/vnd.openxmlformats-officedocument.presentationml.slide+xml" PartName="/ppt/slides/slide41.xml"/>
  <Override ContentType="application/vnd.openxmlformats-officedocument.presentationml.notesSlide+xml" PartName="/ppt/notesSlides/notesSlide41.xml"/>
  <Override ContentType="application/vnd.openxmlformats-officedocument.presentationml.slide+xml" PartName="/ppt/slides/slide42.xml"/>
  <Override ContentType="application/vnd.openxmlformats-officedocument.presentationml.notesSlide+xml" PartName="/ppt/notesSlides/notesSlide42.xml"/>
  <Override ContentType="application/vnd.openxmlformats-officedocument.presentationml.slide+xml" PartName="/ppt/slides/slide43.xml"/>
  <Override ContentType="application/vnd.openxmlformats-officedocument.presentationml.notesSlide+xml" PartName="/ppt/notesSlides/notesSlide43.xml"/>
  <Override ContentType="application/vnd.openxmlformats-officedocument.presentationml.slide+xml" PartName="/ppt/slides/slide44.xml"/>
  <Override ContentType="application/vnd.openxmlformats-officedocument.presentationml.notesSlide+xml" PartName="/ppt/notesSlides/notesSlide44.xml"/>
  <Override ContentType="application/vnd.openxmlformats-officedocument.presentationml.slide+xml" PartName="/ppt/slides/slide45.xml"/>
  <Override ContentType="application/vnd.openxmlformats-officedocument.presentationml.notesSlide+xml" PartName="/ppt/notesSlides/notesSlide45.xml"/>
  <Override ContentType="application/vnd.openxmlformats-officedocument.presentationml.slide+xml" PartName="/ppt/slides/slide46.xml"/>
  <Override ContentType="application/vnd.openxmlformats-officedocument.presentationml.notesSlide+xml" PartName="/ppt/notesSlides/notesSlide46.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Amphibian prey capture II: pretectal predator-avoidance circuits
Lecture 10. NEUR 411. Fall 2026. Wednesday, September 16, 2026.
44 content slides follow, with a final key-takeaways slide.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Ewert JP (1970). Neural mechanisms of prey-catching and avoidance behavior in the toad (Bufo bufo L.). Brain, behavior and evolution 3: 36-56. https://doi.org/10.1159/000125462
Ewert JP (1995). Bildverarbeitung im Sehsystem der Erdkröte – Verhalten, Hirnfunktion, Künstliches Neuronales Netz. Publikationen zu wissenschaftlichen Filmen, Biologie 22: 73–150. https://av.tib.eu/resources/supplement/15148/C1805.pdf</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Ewert JP (1970). Neural mechanisms of prey-catching and avoidance behavior in the toad (Bufo bufo L.). Brain, behavior and evolution 3: 36-56. https://doi.org/10.1159/000125462
Ewert JP (1995). Bildverarbeitung im Sehsystem der Erdkröte – Verhalten, Hirnfunktion, Künstliches Neuronales Netz. Publikationen zu wissenschaftlichen Filmen, Biologie 22: 73–150. https://av.tib.eu/resources/supplement/15148/C1805.pdf</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Nakagawa H, Nishida Y (2012). Motor planning modulates sensory-motor control of collision avoidance behavior in the bullfrog, Rana catesbeiana. Biology open 1: 1094-1101. https://doi.org/10.1242/bio.20121693
The formula in slide text is a geometric derivation using explicitly defined half-size L; the original figure uses its own l convention. No simulated curve is presented as measured data.
Figure: Nakagawa &amp; Nishida (2012), Fig. 7. Original stimulus geometry; their l denotes object size.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Yamamoto K, Nakata M, Nakagawa H (2003). Input and output characteristics of collision avoidance behavior in the frog Rana catesbeiana. Brain, behavior and evolution 62: 201-211. https://doi.org/10.1159/000073272</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Wye-Dvorak J, Straznicky C, Tóth P (1992). Retinal projections in the cane toad, Bufo marinus. Brain, behavior and evolution 39: 208-218. https://doi.org/10.1159/000114118</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Ewert JP (1995). Bildverarbeitung im Sehsystem der Erdkröte – Verhalten, Hirnfunktion, Künstliches Neuronales Netz. Publikationen zu wissenschaftlichen Filmen, Biologie 22: 73–150. https://av.tib.eu/resources/supplement/15148/C1805.pdf
Wilczyniski W, Northcutt RG (1977). Afferents to the optic tectum of the leopard frog: an HRP study. The Journal of comparative neurology 173: 219-230. https://doi.org/10.1002/cne.901730202
Figure: Ewert (1995), Fig. 4b, selected cross-section. Lpd/P: pretectal region; OT: optic tract.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Ewert JP (1971). Single unit response of the Toad's (Bufo americanus) caudal thalamus to visual objects. Zeitschrift f�r Vergleichende Physiologie 74: 81-102. https://doi.org/10.1007/BF00297792
Ewert JP (1995). Bildverarbeitung im Sehsystem der Erdkröte – Verhalten, Hirnfunktion, Künstliches Neuronales Netz. Publikationen zu wissenschaftlichen Filmen, Biologie 22: 73–150. https://av.tib.eu/resources/supplement/15148/C1805.pdf
The quoted receptive-field sizes come from the common-toad research summarized in Ewert’s 1995 author report. They are approximate physiological field diameters, not anatomical dendritic measurements.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Buxbaum-Conradi H, Ewert JP (1995). Pretecto-tectal influences I. What the toad’s pretectum tells its tectum: an antidromic stimulation/recording study. Journal of Comparative Physiology A 176: 169–180. https://doi.org/10.1007/BF00239920</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Buxbaum-Conradi H, Ewert JP (1995). Pretecto-tectal influences I. What the toad’s pretectum tells its tectum: an antidromic stimulation/recording study. Journal of Comparative Physiology A 176: 169–180. https://doi.org/10.1007/BF00239920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Ewert JP (1995). Bildverarbeitung im Sehsystem der Erdkröte – Verhalten, Hirnfunktion, Künstliches Neuronales Netz. Publikationen zu wissenschaftlichen Filmen, Biologie 22: 73–150. https://av.tib.eu/resources/supplement/15148/C1805.pdf
Figure: Ewert (1995), Fig. 7c–d. Original functional model; stars encode response strength, not spike counts.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Ewert JP (1970). Neural mechanisms of prey-catching and avoidance behavior in the toad (Bufo bufo L.). Brain, behavior and evolution 3: 36-56. https://doi.org/10.1159/000125462
Ewert JP, von Wietersheim A (1974). Einfluß von Thalamus/Praetectum-Defekten auf die Antwort von Tectum-Neuronen gegenüber bewegten visuellen Mustern bei der Kröte Bufo bufo L. Journal of Comparative Physiology 92: 149–160. https://av.tib.eu/resources/supplement/15148/C1805.pdf
Ewert JP (1995). Bildverarbeitung im Sehsystem der Erdkröte – Verhalten, Hirnfunktion, Künstliches Neuronales Netz. Publikationen zu wissenschaftlichen Filmen, Biologie 22: 73–150. https://av.tib.eu/resources/supplement/15148/C1805.pdf
Figure: Ewert (1995), Fig. 3b. Author’s summary of post-lesion behavioral response relationships; R: prey-catching response.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Ewert JP (1995). Bildverarbeitung im Sehsystem der Erdkröte – Verhalten, Hirnfunktion, Künstliches Neuronales Netz. Publikationen zu wissenschaftlichen Filmen, Biologie 22: 73–150. https://av.tib.eu/resources/supplement/15148/C1805.pdf
Full original study: Schürg-Pfeiffer E, Spreckelsen C, Ewert JP (1993). Temporal discharge patterns of tectal and medullary neurons chronically recorded during snapping toward prey in toads Bufo bufo spinosus. Journal of Comparative Physiology A 173:363–376. Figure extracted from the author’s 1995 report.
Figure: Ewert (1995), Fig. 10C; recordings credited to Schürg-Pfeiffer et al. (1993). a: before lesion; b: after.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McConville J, Laming PR (2007). DC electrical stimulation of the pretectal thalamus and its effects on the feeding behavior of the toad (Bufo bufo). Developmental neurobiology 67: 875-883. https://doi.org/10.1002/dneu.20390</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Ewert JP (1995). Bildverarbeitung im Sehsystem der Erdkröte – Verhalten, Hirnfunktion, Künstliches Neuronales Netz. Publikationen zu wissenschaftlichen Filmen, Biologie 22: 73–150. https://av.tib.eu/resources/supplement/15148/C1805.pdf
Original research: Finkenstädt T, Adler NT, Allen TO, Ebbesson SOE, Ewert JP (1985). Mapping of brain activity in mesencephalic and diencephalic structures of toads during presentation of visual key stimuli: a computer assisted analysis of [14C]2DG autoradiographs. Journal of Comparative Physiology A 156:433–445. Reproduced image extracted from Ewert’s report, rotated only for legibility. Warm colors and black indicate higher uptake within this original palette.
Figure: Finkenstädt et al. (1985), reproduced in Ewert (1995), Fig. 9, sections A1/B1/C1. Antiworm / large square / worm; original color scale retained.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Kang HJ, Li XH (2007). An intracellular study of pretectal influence on the optic tectum of the frog, Rana catesbeiana. Neuroscience bulletin 23: 113-118. https://doi.org/10.1007/s12264-007-0016-z</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Ewert JP (1995). Bildverarbeitung im Sehsystem der Erdkröte – Verhalten, Hirnfunktion, Künstliches Neuronales Netz. Publikationen zu wissenschaftlichen Filmen, Biologie 22: 73–150. https://av.tib.eu/resources/supplement/15148/C1805.pdf
Kang HJ, Li XH (2007). An intracellular study of pretectal influence on the optic tectum of the frog, Rana catesbeiana. Neuroscience bulletin 23: 113-118. https://doi.org/10.1007/s12264-007-0016-z
Figure: Ewert (1995), Fig. 6C. Original intracellular tectal responses to antiworm (upper) and worm (lower) stimuli; scale bars retained.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Li XH, Kang HJ, Xu ML, Mastumoto N (2010). Intracellular and current source density analysis of pretectal input to the optic tectum of the frog. Neuroscience bulletin 26: 371-380. https://doi.org/10.1007/s12264-010-0520-4</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Li XH, Kang HJ, Xu ML, Mastumoto N (2010). Intracellular and current source density analysis of pretectal input to the optic tectum of the frog. Neuroscience bulletin 26: 371-380. https://doi.org/10.1007/s12264-010-0520-4
Kang HJ, Li XH (2007). An intracellular study of pretectal influence on the optic tectum of the frog, Rana catesbeiana. Neuroscience bulletin 23: 113-118. https://doi.org/10.1007/s12264-007-0016-z</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Kozicz T, Lázár G (1994). The origin of tectal NPY immunopositive fibers in the frog. Brain research 635: 345-348. https://doi.org/10.1016/0006-8993(94)91460-5</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Schwippert WW, Ewert JP (1995). Effect of neuropeptide-Y on tectal field potentials in the toad. Brain research 669: 150-152. https://doi.org/10.1016/0006-8993(94)01260-o
Schwippert WW, Röttgen A, Ewert JP (1998). Neuropeptide Y (NPY) or fragment NPY 13-36, but not NPY 18-36, inhibit retinotectal transfer in cane toads Bufo marinus. Neuroscience letters 253: 33-36. https://doi.org/10.1016/s0304-3940(98)00596-5</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Islam R, Prater CM, Harris BN, Carr JA (2019). Neuroendocrine modulation of predator avoidance/prey capture tradeoffs: Role of tectal NPY2R receptors. General and comparative endocrinology 282: 113214. https://doi.org/10.1016/j.ygcen.2019.113214
These are qualitative outcomes reported by Islam et al. (2019); no bar height, percentage effect, dose, or sample size has been invented. The adult Xenopus assay is distinct from classic common-toad prey-dummy work.</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Prater CM, Harris BN, Carr JA (2020). Tectal CRFR1 receptor involvement in avoidance and approach behaviors in the South African clawed frog, Xenopus laevis. Hormones and behavior 120: 104707. https://doi.org/10.1016/j.yhbeh.2020.104707
Islam R, Prater CM, Harris BN, Carr JA (2019). Neuroendocrine modulation of predator avoidance/prey capture tradeoffs: Role of tectal NPY2R receptors. General and comparative endocrinology 282: 113214. https://doi.org/10.1016/j.ygcen.2019.113214</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King JG, Lettvin JY, Gruberg ED (1999). Selective, unilateral, reversible loss of behavioral responses to looming stimuli after injection of tetrodotoxin of cadmium chloride into the frog optic nerve. Brain research 841: 20-26. https://doi.org/10.1016/s0006-8993(99)01764-3
Khakhalin AS, Koren D, Gu J, Xu H, Aizenman CD (2014). Excitation and inhibition in recurrent networks mediate collision avoidance in Xenopus tadpoles. The European journal of neuroscience 40: 2948-2962. https://doi.org/10.1111/ejn.12664</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Waldeck RF, Gruberg ER (1995). Studies on the optic chiasm of the leopard frog. I. Selective loss of visually elicited avoidance behavior after optic chiasm hemisection. Brain, behavior and evolution 46: 84-94. https://doi.org/10.1159/000113261
The recovery finding limits interpretation as permanent elimination of one fiber population. The authors inferred separable optic-nerve fiber systems from the selective, recoverable functional disruption.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Kang HJ, Li XH (2010). Response properties and receptive field organization of collision-sensitive neurons in the optic tectum of bullfrog, Rana catesbeiana. Neuroscience bulletin 26: 304-316. https://doi.org/10.1007/s12264-010-0306-8
Nakagawa H, Hongjian K (2010). Collision-sensitive neurons in the optic tectum of the bullfrog, Rana catesbeiana. Journal of neurophysiology 104: 2487-2499. https://doi.org/10.1152/jn.01055.2009</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Nakagawa H, Hongjian K (2010). Collision-sensitive neurons in the optic tectum of the bullfrog, Rana catesbeiana. Journal of neurophysiology 104: 2487-2499. https://doi.org/10.1152/jn.01055.2009
Yamamoto K, Nakata M, Nakagawa H (2003). Input and output characteristics of collision avoidance behavior in the frog Rana catesbeiana. Brain, behavior and evolution 62: 201-211. https://doi.org/10.1159/000073272</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Nakagawa H, Hongjian K (2010). Collision-sensitive neurons in the optic tectum of the bullfrog, Rana catesbeiana. Journal of neurophysiology 104: 2487-2499. https://doi.org/10.1152/jn.01055.2009
This is the response model fitted to the reported single-unit data. The proportional equation is explanatory notation, not a newly fitted model or invented dataset. The definition of L as half-size matches the original l/v analysis.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Baranauskas G, Svirskiene N, Svirskis G (2012). 20Hz membrane potential oscillations are driven by synaptic inputs in collision-detecting neurons in the frog optic tectum. Neuroscience letters 528: 196-200. https://doi.org/10.1016/j.neulet.2012.09.009</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Nakagawa H, Nishida Y (2012). Motor planning modulates sensory-motor control of collision avoidance behavior in the bullfrog, Rana catesbeiana. Biology open 1: 1094-1101. https://doi.org/10.1242/bio.20121693
Figure: Nakagawa &amp; Nishida (2012), Fig. 1. Dots: stimulus positions; short bars: escape directions.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Nakagawa H, Nishida Y (2012). Motor planning modulates sensory-motor control of collision avoidance behavior in the bullfrog, Rana catesbeiana. Biology open 1: 1094-1101. https://doi.org/10.1242/bio.20121693
Figure: Nakagawa &amp; Nishida (2012), Fig. 4. Each point is an escape event; right turns are reflected around the midline.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Nakagawa H, Nishida Y (2012). Motor planning modulates sensory-motor control of collision avoidance behavior in the bullfrog, Rana catesbeiana. Biology open 1: 1094-1101. https://doi.org/10.1242/bio.20121693
Figure: Nakagawa &amp; Nishida (2012), Fig. 6. A: turns &lt;60°; B: turns &gt;60°. Axes plot velocity versus onset angle.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Ewert JP, Framing EM, Schürg-Pfeiffer E, Weerasuriya A (1990). Responses of medullary neurons to moving visual stimuli in the common toad. I. Characterization of medial reticular neurons by extracellular recording. Journal of comparative physiology. A, Sensory, neural, and behavioral physiology 167: 495-508. https://doi.org/10.1007/bf00190820
Schwippert WW, Beneke TW, Ewert JP (1990). Responses of medullary neurons to moving visual stimuli in the common toad. II. An intracellular recording and cobalt-lysine labeling study. Journal of comparative physiology. A, Sensory, neural, and behavioral physiology 167: 509-520. https://doi.org/10.1007/bf00190821
Ewert JP (1995). Bildverarbeitung im Sehsystem der Erdkröte – Verhalten, Hirnfunktion, Künstliches Neuronales Netz. Publikationen zu wissenschaftlichen Filmen, Biologie 22: 73–150. https://av.tib.eu/resources/supplement/15148/C1805.pdf
Figure: Ewert (1995), Fig. 12, selected medullary-cell panel; original recording/labeling work: Schwippert et al. (1990).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Shen W, McKeown CR, Demas JA, Cline HT (2011). Inhibition to excitation ratio regulates visual system responses and behavior in vivo. Journal of neurophysiology 106: 2285-2302. https://doi.org/10.1152/jn.00641.2011
Dong W, Lee RH, Xu H, Yang S, Pratt KG, Cao V, Song YK, Nurmikko A, Aizenman CD (2009). Visual avoidance in Xenopus tadpoles is correlated with the maturation of visual responses in the optic tectum. Journal of neurophysiology 101: 803-815. https://doi.org/10.1152/jn.90848.2008
General channel properties define the mechanisms used to interpret these receptor-specific experiments. The slide does not assign AMPA, NMDA, or GABAA expression to a particular adult common-toad TH3/TH4 class. Developmental stage and chloride gradients constrain the sign of GABA effects.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Khakhalin AS, Koren D, Gu J, Xu H, Aizenman CD (2014). Excitation and inhibition in recurrent networks mediate collision avoidance in Xenopus tadpoles. The European journal of neuroscience 40: 2948-2962. https://doi.org/10.1111/ejn.12664</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Shen W, McKeown CR, Demas JA, Cline HT (2011). Inhibition to excitation ratio regulates visual system responses and behavior in vivo. Journal of neurophysiology 106: 2285-2302. https://doi.org/10.1152/jn.00641.2011
Figure: Shen et al. (2011), Fig. 3. Retinal-axon stimulation, isolated synaptic currents, and measured I/E ratios.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Shen W, McKeown CR, Demas JA, Cline HT (2011). Inhibition to excitation ratio regulates visual system responses and behavior in vivo. Journal of neurophysiology 106: 2285-2302. https://doi.org/10.1152/jn.00641.2011
Figure: Shen et al. (2011), Fig. 7A. Repeated visual responses and first-spike alignment; each short vertical mark denotes a spike.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Shen W, McKeown CR, Demas JA, Cline HT (2011). Inhibition to excitation ratio regulates visual system responses and behavior in vivo. Journal of neurophysiology 106: 2285-2302. https://doi.org/10.1152/jn.00641.2011
Figure: Shen et al. (2011), Fig. 9A (spiking maps) and 9C (field size). Selected original panels rearranged without altering data.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Shen W, McKeown CR, Demas JA, Cline HT (2011). Inhibition to excitation ratio regulates visual system responses and behavior in vivo. Journal of neurophysiology 106: 2285-2302. https://doi.org/10.1152/jn.00641.2011
Figure: Shen et al. (2011), Fig. 12C, E, F. ICL control comparison, diazepam exposure/washout, and swimming control; selected panels rearranged.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Dong W, Lee RH, Xu H, Yang S, Pratt KG, Cao V, Song YK, Nurmikko A, Aizenman CD (2009). Visual avoidance in Xenopus tadpoles is correlated with the maturation of visual responses in the optic tectum. Journal of neurophysiology 101: 803-815. https://doi.org/10.1152/jn.90848.2008
Shen W, McKeown CR, Demas JA, Cline HT (2011). Inhibition to excitation ratio regulates visual system responses and behavior in vivo. Journal of neurophysiology 106: 2285-2302. https://doi.org/10.1152/jn.00641.2011
Figure: Dong et al. (2009), Fig. 1A–B, data panels. Avoidance (left) and optomotor performance (right); original legends retained.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Gambrill AC, Faulkner RL, Cline HT (2018). Direct intertectal inputs are an integral component of the bilateral sensorimotor circuit for behavior in Xenopus tadpoles. Journal of neurophysiology 119: 1947-1961. https://doi.org/10.1152/jn.00051.2018
Figure: Gambrill et al. (2018), Fig. 1C. Normalized avoidance after sham surgery or intertectal transection; mean ± SE.
Original research panel or historical scientific illustration selected for analysis of methods, data, and conclusions. Crops preserve original plotted values, axes, labels, and scale bars; selected panels are rearranged only where the caption says so.</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Gambrill AC, Faulkner RL, Cline HT (2018). Direct intertectal inputs are an integral component of the bilateral sensorimotor circuit for behavior in Xenopus tadpoles. Journal of neurophysiology 119: 1947-1961. https://doi.org/10.1152/jn.00051.2018
Values and sample units are from Fig. 7D. The CTP analysis uses batches, not three individual tadpoles. These normalized values are not percentages and the experiments should not be pooled as a common dose–response curve.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Gambrill AC, Faulkner RL, Cline HT (2018). Direct intertectal inputs are an integral component of the bilateral sensorimotor circuit for behavior in Xenopus tadpoles. Journal of neurophysiology 119: 1947-1961. https://doi.org/10.1152/jn.00051.2018</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Benfey NJ, Cookson F, Foubert D, Cianfarano E, Ruge O, Benfey AT, Schohl A, Ruthazer ES (2026). Norepinephrine acts through radial astrocytes in the developing optic tectum to enhance threat detection and escape behavior. Cell reports 45: 116911. https://doi.org/10.1016/j.celrep.2025.116911
Published primary study: Benfey et al., Cell Reports (2026), DOI 10.1016/j.celrep.2025.116911. The 2025 in the DOI is not the publication year. Mechanistic claims here are limited to the verified published abstract; no receptor subtype beyond α1-adrenergic or unspecified adenosine receptors is inferred.</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Benfey NJ, Cookson F, Foubert D, Cianfarano E, Ruge O, Benfey AT, Schohl A, Ruthazer ES (2026). Norepinephrine acts through radial astrocytes in the developing optic tectum to enhance threat detection and escape behavior. Cell reports 45: 116911. https://doi.org/10.1016/j.celrep.2025.116911</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Buxbaum-Conradi H, Ewert JP (1995). Pretecto-tectal influences I. What the toad’s pretectum tells its tectum: an antidromic stimulation/recording study. Journal of Comparative Physiology A 176: 169–180. https://doi.org/10.1007/BF00239920
Islam R, Prater CM, Harris BN, Carr JA (2019). Neuroendocrine modulation of predator avoidance/prey capture tradeoffs: Role of tectal NPY2R receptors. General and comparative endocrinology 282: 113214. https://doi.org/10.1016/j.ygcen.2019.113214
Nakagawa H, Hongjian K (2010). Collision-sensitive neurons in the optic tectum of the bullfrog, Rana catesbeiana. Journal of neurophysiology 104: 2487-2499. https://doi.org/10.1152/jn.01055.2009
Shen W, McKeown CR, Demas JA, Cline HT (2011). Inhibition to excitation ratio regulates visual system responses and behavior in vivo. Journal of neurophysiology 106: 2285-2302. https://doi.org/10.1152/jn.00641.2011
Benfey NJ, Cookson F, Foubert D, Cianfarano E, Ruge O, Benfey AT, Schohl A, Ruthazer ES (2026). Norepinephrine acts through radial astrocytes in the developing optic tectum to enhance threat detection and escape behavior. Cell reports 45: 116911. https://doi.org/10.1016/j.celrep.2025.116911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8.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10.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1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1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1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2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2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2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29.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3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34.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38.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44.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46.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48.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50.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54.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56.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58.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60.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6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64.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66.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70.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FF6FC"/>
        </a:solidFill>
      </p:bgPr>
    </p:bg>
    <p:spTree>
      <p:nvGrpSpPr>
        <p:cNvPr id="1" name=""/>
        <p:cNvGrpSpPr/>
        <p:nvPr/>
      </p:nvGrpSpPr>
      <p:grpSpPr>
        <a:xfrm>
          <a:off x="0" y="0"/>
          <a:ext cx="0" cy="0"/>
          <a:chOff x="0" y="0"/>
          <a:chExt cx="0" cy="0"/>
        </a:xfrm>
      </p:grpSpPr>
      <p:sp>
        <p:nvSpPr>
          <p:cNvPr id="2" name="Shape 2"/>
          <p:cNvSpPr/>
          <p:nvPr/>
        </p:nvSpPr>
        <p:spPr>
          <a:xfrm>
            <a:off x="666750" y="704850"/>
            <a:ext cx="10782300" cy="314325"/>
          </a:xfrm>
          <a:prstGeom prst="rect">
            <a:avLst/>
          </a:prstGeom>
          <a:noFill/>
        </p:spPr>
        <p:txBody>
          <a:bodyPr anchor="t" wrap="square" tIns="0" bIns="0" lIns="0" rIns="0">
            <a:normAutofit/>
          </a:bodyPr>
          <a:lstStyle/>
          <a:p>
            <a:pPr algn="l">
              <a:lnSpc>
                <a:spcPts val="2475"/>
              </a:lnSpc>
              <a:buNone/>
            </a:pPr>
            <a:r>
              <a:rPr sz="1650" b="0" i="0" spc="150">
                <a:solidFill>
                  <a:srgbClr val="07658D"/>
                </a:solidFill>
                <a:latin typeface="Arial"/>
                <a:ea typeface="Arial"/>
              </a:rPr>
              <a:t>NEUR 411 · NEUROETHOLOGY · FALL 2026</a:t>
            </a:r>
            <a:endParaRPr lang="en-US"/>
          </a:p>
        </p:txBody>
      </p:sp>
      <p:sp>
        <p:nvSpPr>
          <p:cNvPr id="3" name="Shape 3"/>
          <p:cNvSpPr/>
          <p:nvPr/>
        </p:nvSpPr>
        <p:spPr>
          <a:xfrm>
            <a:off x="666750" y="1800225"/>
            <a:ext cx="1374874" cy="414338"/>
          </a:xfrm>
          <a:prstGeom prst="rect">
            <a:avLst/>
          </a:prstGeom>
          <a:noFill/>
        </p:spPr>
        <p:txBody>
          <a:bodyPr anchor="t" wrap="square" tIns="0" bIns="0" lIns="0" rIns="0">
            <a:normAutofit/>
          </a:bodyPr>
          <a:lstStyle/>
          <a:p>
            <a:pPr algn="l">
              <a:lnSpc>
                <a:spcPts val="3263"/>
              </a:lnSpc>
              <a:buNone/>
            </a:pPr>
            <a:r>
              <a:rPr sz="2175" b="0" i="0">
                <a:solidFill>
                  <a:srgbClr val="07658D"/>
                </a:solidFill>
                <a:latin typeface="Arial"/>
                <a:ea typeface="Arial"/>
              </a:rPr>
              <a:t>Lecture 10</a:t>
            </a:r>
            <a:endParaRPr lang="en-US"/>
          </a:p>
        </p:txBody>
      </p:sp>
      <p:sp>
        <p:nvSpPr>
          <p:cNvPr id="4" name="Shape 4"/>
          <p:cNvSpPr/>
          <p:nvPr/>
        </p:nvSpPr>
        <p:spPr>
          <a:xfrm>
            <a:off x="666750" y="2524125"/>
            <a:ext cx="10782300" cy="1129010"/>
          </a:xfrm>
          <a:prstGeom prst="rect">
            <a:avLst/>
          </a:prstGeom>
          <a:noFill/>
        </p:spPr>
        <p:txBody>
          <a:bodyPr anchor="t" wrap="square" tIns="0" bIns="0" lIns="0" rIns="0">
            <a:normAutofit/>
          </a:bodyPr>
          <a:lstStyle/>
          <a:p>
            <a:pPr algn="l">
              <a:lnSpc>
                <a:spcPts val="4446"/>
              </a:lnSpc>
              <a:buNone/>
            </a:pPr>
            <a:r>
              <a:rPr sz="3900" b="1" i="0">
                <a:solidFill>
                  <a:srgbClr val="222B33"/>
                </a:solidFill>
                <a:latin typeface="Arial"/>
                <a:ea typeface="Arial"/>
              </a:rPr>
              <a:t>Amphibian prey capture II:</a:t>
            </a:r>
            <a:r>
              <a:rPr sz="3900" b="1" i="0">
                <a:solidFill>
                  <a:srgbClr val="222B33"/>
                </a:solidFill>
                <a:latin typeface="Arial"/>
                <a:ea typeface="Arial"/>
              </a:rPr>
              <a:t xml:space="preserve">
</a:t>
            </a:r>
            <a:r>
              <a:rPr sz="3900" b="1" i="0">
                <a:solidFill>
                  <a:srgbClr val="222B33"/>
                </a:solidFill>
                <a:latin typeface="Arial"/>
                <a:ea typeface="Arial"/>
              </a:rPr>
              <a:t>pretectal predator-avoidance circuits</a:t>
            </a:r>
            <a:endParaRPr lang="en-US"/>
          </a:p>
        </p:txBody>
      </p:sp>
      <p:pic>
        <p:nvPicPr>
          <p:cNvPr id="100" name="Presenton Native Image 1" descr=""/>
          <p:cNvPicPr/>
          <p:nvPr/>
        </p:nvPicPr>
        <p:blipFill>
          <a:blip r:embed="rId2" cstate="none"/>
          <a:stretch>
            <a:fillRect/>
          </a:stretch>
        </p:blipFill>
        <p:spPr>
          <a:xfrm>
            <a:off x="666750" y="4352925"/>
            <a:ext cx="10858500" cy="19050"/>
          </a:xfrm>
          <a:prstGeom prst="rect">
            <a:avLst/>
          </a:prstGeom>
        </p:spPr>
      </p:pic>
      <p:sp>
        <p:nvSpPr>
          <p:cNvPr id="5" name="Shape 5"/>
          <p:cNvSpPr/>
          <p:nvPr/>
        </p:nvSpPr>
        <p:spPr>
          <a:xfrm>
            <a:off x="666750" y="4838700"/>
            <a:ext cx="10496550" cy="385763"/>
          </a:xfrm>
          <a:prstGeom prst="rect">
            <a:avLst/>
          </a:prstGeom>
          <a:noFill/>
        </p:spPr>
        <p:txBody>
          <a:bodyPr anchor="t" wrap="square" tIns="0" bIns="0" lIns="0" rIns="0">
            <a:normAutofit/>
          </a:bodyPr>
          <a:lstStyle/>
          <a:p>
            <a:pPr algn="l">
              <a:lnSpc>
                <a:spcPts val="3038"/>
              </a:lnSpc>
              <a:buNone/>
            </a:pPr>
            <a:r>
              <a:rPr sz="2025" b="0" i="0">
                <a:solidFill>
                  <a:srgbClr val="07658D"/>
                </a:solidFill>
                <a:latin typeface="Arial"/>
                <a:ea typeface="Arial"/>
              </a:rPr>
              <a:t>Wednesday, September 16, 2026</a:t>
            </a:r>
            <a:endParaRPr lang="en-US"/>
          </a:p>
        </p:txBody>
      </p:sp>
      <p:sp>
        <p:nvSpPr>
          <p:cNvPr id="6" name="Shape 6"/>
          <p:cNvSpPr/>
          <p:nvPr/>
        </p:nvSpPr>
        <p:spPr>
          <a:xfrm>
            <a:off x="11456938" y="6424613"/>
            <a:ext cx="182612" cy="214313"/>
          </a:xfrm>
          <a:prstGeom prst="rect">
            <a:avLst/>
          </a:prstGeom>
          <a:noFill/>
        </p:spPr>
        <p:txBody>
          <a:bodyPr anchor="t" wrap="square" tIns="0" bIns="0" lIns="0" rIns="0">
            <a:normAutofit/>
          </a:bodyPr>
          <a:lstStyle/>
          <a:p>
            <a:pPr algn="l">
              <a:lnSpc>
                <a:spcPts val="1688"/>
              </a:lnSpc>
              <a:buNone/>
            </a:pPr>
            <a:r>
              <a:rPr sz="1125" b="0" i="0">
                <a:solidFill>
                  <a:srgbClr val="4E6571"/>
                </a:solidFill>
                <a:latin typeface="Arial"/>
                <a:ea typeface="Arial"/>
              </a:rPr>
              <a:t>01</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7" name="Shape 7"/>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Threat cues suppress feeding and recruit avoidance</a:t>
            </a:r>
            <a:endParaRPr lang="en-US"/>
          </a:p>
        </p:txBody>
      </p:sp>
      <p:sp>
        <p:nvSpPr>
          <p:cNvPr id="8" name="Shape 8"/>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In the common toad, </a:t>
            </a:r>
            <a:r>
              <a:rPr sz="1800" b="1" i="0">
                <a:solidFill>
                  <a:srgbClr val="222B33"/>
                </a:solidFill>
                <a:latin typeface="Arial"/>
                <a:ea typeface="Arial"/>
              </a:rPr>
              <a:t>Bufo bufo</a:t>
            </a:r>
            <a:r>
              <a:rPr sz="1800" b="0" i="0">
                <a:solidFill>
                  <a:srgbClr val="222B33"/>
                </a:solidFill>
                <a:latin typeface="Arial"/>
                <a:ea typeface="Arial"/>
              </a:rPr>
              <a:t>, a moving object can evoke orientation and snapping, immobility, or withdrawal and escape. A predator-avoidance response is an observable defensive action; failure to snap is a different behavioral outcome and must be scored separately.</a:t>
            </a:r>
            <a:endParaRPr lang="en-US"/>
          </a:p>
        </p:txBody>
      </p:sp>
      <p:sp>
        <p:nvSpPr>
          <p:cNvPr id="9" name="Shape 9"/>
          <p:cNvSpPr/>
          <p:nvPr/>
        </p:nvSpPr>
        <p:spPr>
          <a:xfrm>
            <a:off x="571500" y="2439888"/>
            <a:ext cx="10972800" cy="1170384"/>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Pretectal lesions disrupt this selection: objects that normally fail to elicit feeding can acquire prey-catching effectiveness, while visually elicited escape is lost in the classical preparations. The animal still detects and acts on visual stimuli, but the relation between stimulus configuration and action changes.</a:t>
            </a:r>
            <a:endParaRPr lang="en-US"/>
          </a:p>
        </p:txBody>
      </p:sp>
      <p:sp>
        <p:nvSpPr>
          <p:cNvPr id="10" name="Shape 10"/>
          <p:cNvSpPr/>
          <p:nvPr/>
        </p:nvSpPr>
        <p:spPr>
          <a:xfrm>
            <a:off x="571500" y="3734098"/>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The </a:t>
            </a:r>
            <a:r>
              <a:rPr sz="1800" b="1" i="0">
                <a:solidFill>
                  <a:srgbClr val="222B33"/>
                </a:solidFill>
                <a:latin typeface="Arial"/>
                <a:ea typeface="Arial"/>
              </a:rPr>
              <a:t>pretectum</a:t>
            </a:r>
            <a:r>
              <a:rPr sz="1800" b="0" i="0">
                <a:solidFill>
                  <a:srgbClr val="222B33"/>
                </a:solidFill>
                <a:latin typeface="Arial"/>
                <a:ea typeface="Arial"/>
              </a:rPr>
              <a:t>, a group of nuclei near the diencephalon–midbrain boundary, influences the optic tectum and descending visuomotor systems. Its contribution includes restraining prey-directed activity when the visual pattern is inappropriate for feeding.</a:t>
            </a:r>
            <a:endParaRPr lang="en-US"/>
          </a:p>
        </p:txBody>
      </p:sp>
      <p:sp>
        <p:nvSpPr>
          <p:cNvPr id="11" name="Shape 11"/>
          <p:cNvSpPr/>
          <p:nvPr/>
        </p:nvSpPr>
        <p:spPr>
          <a:xfrm>
            <a:off x="571500" y="4735711"/>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Large-object processing, looming detection, and the final escape movement are distributed across interacting pathways. Their functions can be separated by comparing behavior before and after a defined neural perturbation.</a:t>
            </a:r>
            <a:endParaRPr lang="en-US"/>
          </a:p>
        </p:txBody>
      </p:sp>
      <p:pic>
        <p:nvPicPr>
          <p:cNvPr id="101" name="Presenton Native Image 2" descr=""/>
          <p:cNvPicPr/>
          <p:nvPr/>
        </p:nvPicPr>
        <p:blipFill>
          <a:blip r:embed="rId2" cstate="none"/>
          <a:stretch>
            <a:fillRect/>
          </a:stretch>
        </p:blipFill>
        <p:spPr>
          <a:xfrm>
            <a:off x="571500" y="6379369"/>
            <a:ext cx="11049000" cy="269081"/>
          </a:xfrm>
          <a:prstGeom prst="rect">
            <a:avLst/>
          </a:prstGeom>
        </p:spPr>
      </p:pic>
      <p:sp>
        <p:nvSpPr>
          <p:cNvPr id="12" name="Shape 12"/>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Ewert (1970); Ewert (1995)</a:t>
            </a:r>
            <a:endParaRPr lang="en-US"/>
          </a:p>
        </p:txBody>
      </p:sp>
      <p:sp>
        <p:nvSpPr>
          <p:cNvPr id="13" name="Shape 13"/>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02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4" name="Shape 14"/>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Object dimensions change behavioral classification</a:t>
            </a:r>
            <a:endParaRPr lang="en-US"/>
          </a:p>
        </p:txBody>
      </p:sp>
      <p:sp>
        <p:nvSpPr>
          <p:cNvPr id="15" name="Shape 15"/>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A black bar moving parallel to its long axis is a </a:t>
            </a:r>
            <a:r>
              <a:rPr sz="1800" b="1" i="0">
                <a:solidFill>
                  <a:srgbClr val="222B33"/>
                </a:solidFill>
                <a:latin typeface="Arial"/>
                <a:ea typeface="Arial"/>
              </a:rPr>
              <a:t>worm configuration</a:t>
            </a:r>
            <a:r>
              <a:rPr sz="1800" b="0" i="0">
                <a:solidFill>
                  <a:srgbClr val="222B33"/>
                </a:solidFill>
                <a:latin typeface="Arial"/>
                <a:ea typeface="Arial"/>
              </a:rPr>
              <a:t xml:space="preserve">; the same bar moving perpendicular to that axis is an </a:t>
            </a:r>
            <a:r>
              <a:rPr sz="1800" b="1" i="0">
                <a:solidFill>
                  <a:srgbClr val="222B33"/>
                </a:solidFill>
                <a:latin typeface="Arial"/>
                <a:ea typeface="Arial"/>
              </a:rPr>
              <a:t>antiworm configuration</a:t>
            </a:r>
            <a:r>
              <a:rPr sz="1800" b="0" i="0">
                <a:solidFill>
                  <a:srgbClr val="222B33"/>
                </a:solidFill>
                <a:latin typeface="Arial"/>
                <a:ea typeface="Arial"/>
              </a:rPr>
              <a:t>. These terms describe the relationship between shape and motion, not a judgment about the object’s biological identity.</a:t>
            </a:r>
            <a:endParaRPr lang="en-US"/>
          </a:p>
        </p:txBody>
      </p:sp>
      <p:sp>
        <p:nvSpPr>
          <p:cNvPr id="16" name="Shape 16"/>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Using the same bar controls its area, contrast, and physical dimensions. Changing the direction of translation alters how much of the object extends along versus across its movement. Classical experiments used, among other stimuli, a 2.5 × 30 mm bar.</a:t>
            </a:r>
            <a:endParaRPr lang="en-US"/>
          </a:p>
        </p:txBody>
      </p:sp>
      <p:sp>
        <p:nvSpPr>
          <p:cNvPr id="17" name="Shape 17"/>
          <p:cNvSpPr/>
          <p:nvPr/>
        </p:nvSpPr>
        <p:spPr>
          <a:xfrm>
            <a:off x="571500" y="3441502"/>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Worm configurations support prey-catching over an appropriate size range. Antiworm configurations suppress that response and may evoke immobility or avoidance; large, extended moving objects can elicit escape.</a:t>
            </a:r>
            <a:endParaRPr lang="en-US"/>
          </a:p>
        </p:txBody>
      </p:sp>
      <p:sp>
        <p:nvSpPr>
          <p:cNvPr id="18" name="Shape 18"/>
          <p:cNvSpPr/>
          <p:nvPr/>
        </p:nvSpPr>
        <p:spPr>
          <a:xfrm>
            <a:off x="571500" y="444311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Consequently, “nonprey” and “predator” are not interchangeable categories. An experiment must distinguish reduced approach, delayed snapping, freezing, withdrawal, and an actual escape trajectory.</a:t>
            </a:r>
            <a:endParaRPr lang="en-US"/>
          </a:p>
        </p:txBody>
      </p:sp>
      <p:pic>
        <p:nvPicPr>
          <p:cNvPr id="102" name="Presenton Native Image 3" descr=""/>
          <p:cNvPicPr/>
          <p:nvPr/>
        </p:nvPicPr>
        <p:blipFill>
          <a:blip r:embed="rId2" cstate="none"/>
          <a:stretch>
            <a:fillRect/>
          </a:stretch>
        </p:blipFill>
        <p:spPr>
          <a:xfrm>
            <a:off x="571500" y="6379369"/>
            <a:ext cx="11049000" cy="269081"/>
          </a:xfrm>
          <a:prstGeom prst="rect">
            <a:avLst/>
          </a:prstGeom>
        </p:spPr>
      </p:pic>
      <p:sp>
        <p:nvSpPr>
          <p:cNvPr id="19" name="Shape 19"/>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Ewert (1970); Ewert (1995)</a:t>
            </a:r>
            <a:endParaRPr lang="en-US"/>
          </a:p>
        </p:txBody>
      </p:sp>
      <p:sp>
        <p:nvSpPr>
          <p:cNvPr id="20" name="Shape 20"/>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03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21" name="Shape 21"/>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Looming converts approach into retinal expansion</a:t>
            </a:r>
            <a:endParaRPr lang="en-US"/>
          </a:p>
        </p:txBody>
      </p:sp>
      <p:sp>
        <p:nvSpPr>
          <p:cNvPr id="22" name="Shape 22"/>
          <p:cNvSpPr/>
          <p:nvPr/>
        </p:nvSpPr>
        <p:spPr>
          <a:xfrm>
            <a:off x="571500" y="1390650"/>
            <a:ext cx="6115050" cy="998934"/>
          </a:xfrm>
          <a:prstGeom prst="rect">
            <a:avLst/>
          </a:prstGeom>
          <a:noFill/>
        </p:spPr>
        <p:txBody>
          <a:bodyPr anchor="t" wrap="square" tIns="0" bIns="0" lIns="0" rIns="0">
            <a:normAutofit/>
          </a:bodyPr>
          <a:lstStyle/>
          <a:p>
            <a:pPr algn="l">
              <a:lnSpc>
                <a:spcPts val="1967"/>
              </a:lnSpc>
              <a:buNone/>
            </a:pPr>
            <a:r>
              <a:rPr sz="1725" b="1" i="0">
                <a:solidFill>
                  <a:srgbClr val="222B33"/>
                </a:solidFill>
                <a:latin typeface="Arial"/>
                <a:ea typeface="Arial"/>
              </a:rPr>
              <a:t>Looming</a:t>
            </a:r>
            <a:r>
              <a:rPr sz="1725" b="0" i="0">
                <a:solidFill>
                  <a:srgbClr val="222B33"/>
                </a:solidFill>
                <a:latin typeface="Arial"/>
                <a:ea typeface="Arial"/>
              </a:rPr>
              <a:t xml:space="preserve"> is the accelerating expansion of an object’s retinal image as it approaches. A computer-generated expanding square allows visual collision information to be presented without air movement, touch, or a real predator.</a:t>
            </a:r>
            <a:endParaRPr lang="en-US"/>
          </a:p>
        </p:txBody>
      </p:sp>
      <p:sp>
        <p:nvSpPr>
          <p:cNvPr id="23" name="Shape 23"/>
          <p:cNvSpPr/>
          <p:nvPr/>
        </p:nvSpPr>
        <p:spPr>
          <a:xfrm>
            <a:off x="571500" y="2465784"/>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 xml:space="preserve">For an object of half-size L approaching at constant speed v, with time to collision τ, its angular size is </a:t>
            </a:r>
            <a:r>
              <a:rPr sz="1725" b="1" i="0">
                <a:solidFill>
                  <a:srgbClr val="222B33"/>
                </a:solidFill>
                <a:latin typeface="Arial"/>
                <a:ea typeface="Arial"/>
              </a:rPr>
              <a:t>θ = 2 arctan[L/(vτ)]</a:t>
            </a:r>
            <a:r>
              <a:rPr sz="1725" b="0" i="0">
                <a:solidFill>
                  <a:srgbClr val="222B33"/>
                </a:solidFill>
                <a:latin typeface="Arial"/>
                <a:ea typeface="Arial"/>
              </a:rPr>
              <a:t>. The geometry predicts faster expansion as contact approaches even when physical speed remains constant.</a:t>
            </a:r>
            <a:endParaRPr lang="en-US"/>
          </a:p>
        </p:txBody>
      </p:sp>
      <p:sp>
        <p:nvSpPr>
          <p:cNvPr id="24" name="Shape 24"/>
          <p:cNvSpPr/>
          <p:nvPr/>
        </p:nvSpPr>
        <p:spPr>
          <a:xfrm>
            <a:off x="571500" y="3790652"/>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Nakagawa and Nishida projected simulated approaching squares above bullfrogs and recorded escape turns. The paper’s diagram specifies screen height and approach geometry, allowing stimulus size at movement onset to be converted into a visual angle.</a:t>
            </a:r>
            <a:endParaRPr lang="en-US"/>
          </a:p>
        </p:txBody>
      </p:sp>
      <p:sp>
        <p:nvSpPr>
          <p:cNvPr id="25" name="Shape 25"/>
          <p:cNvSpPr/>
          <p:nvPr/>
        </p:nvSpPr>
        <p:spPr>
          <a:xfrm>
            <a:off x="571500" y="5115520"/>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Angular size and time to collision covary within a single approach. Varying the object-size/speed ratio is necessary to test which visual variable predicts a neural or behavioral response.</a:t>
            </a:r>
            <a:endParaRPr lang="en-US"/>
          </a:p>
        </p:txBody>
      </p:sp>
      <p:pic>
        <p:nvPicPr>
          <p:cNvPr id="103" name="Presenton Native Image 4" descr=""/>
          <p:cNvPicPr/>
          <p:nvPr/>
        </p:nvPicPr>
        <p:blipFill>
          <a:blip r:embed="rId3" cstate="none"/>
          <a:stretch>
            <a:fillRect/>
          </a:stretch>
        </p:blipFill>
        <p:spPr>
          <a:xfrm>
            <a:off x="7086600" y="2134918"/>
            <a:ext cx="4533900" cy="2641743"/>
          </a:xfrm>
          <a:prstGeom prst="rect">
            <a:avLst/>
          </a:prstGeom>
        </p:spPr>
      </p:pic>
      <p:sp>
        <p:nvSpPr>
          <p:cNvPr id="26" name="Shape 26"/>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4E6571"/>
                </a:solidFill>
                <a:latin typeface="Arial"/>
                <a:ea typeface="Arial"/>
              </a:rPr>
              <a:t xml:space="preserve">Nakagawa </a:t>
            </a:r>
            <a:r>
              <a:rPr sz="1200" b="0" i="0">
                <a:solidFill>
                  <a:srgbClr val="4E6571"/>
                </a:solidFill>
                <a:latin typeface="Arial"/>
                <a:ea typeface="Arial"/>
              </a:rPr>
              <a:t>&amp;</a:t>
            </a:r>
            <a:r>
              <a:rPr sz="1200" b="0" i="0">
                <a:solidFill>
                  <a:srgbClr val="4E6571"/>
                </a:solidFill>
                <a:latin typeface="Arial"/>
                <a:ea typeface="Arial"/>
              </a:rPr>
              <a:t xml:space="preserve"> Nishida (2012), Fig. 7. Original stimulus geometry; their l denotes object size.</a:t>
            </a:r>
            <a:endParaRPr lang="en-US"/>
          </a:p>
        </p:txBody>
      </p:sp>
      <p:pic>
        <p:nvPicPr>
          <p:cNvPr id="104" name="Presenton Native Image 5" descr=""/>
          <p:cNvPicPr/>
          <p:nvPr/>
        </p:nvPicPr>
        <p:blipFill>
          <a:blip r:embed="rId2" cstate="none"/>
          <a:stretch>
            <a:fillRect/>
          </a:stretch>
        </p:blipFill>
        <p:spPr>
          <a:xfrm>
            <a:off x="571500" y="6379369"/>
            <a:ext cx="11049000" cy="269081"/>
          </a:xfrm>
          <a:prstGeom prst="rect">
            <a:avLst/>
          </a:prstGeom>
        </p:spPr>
      </p:pic>
      <p:sp>
        <p:nvSpPr>
          <p:cNvPr id="27" name="Shape 27"/>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Nakagawa </a:t>
            </a:r>
            <a:r>
              <a:rPr sz="1125" b="0" i="0">
                <a:solidFill>
                  <a:srgbClr val="4E6571"/>
                </a:solidFill>
                <a:latin typeface="Arial"/>
                <a:ea typeface="Arial"/>
              </a:rPr>
              <a:t>&amp;</a:t>
            </a:r>
            <a:r>
              <a:rPr sz="1125" b="0" i="0">
                <a:solidFill>
                  <a:srgbClr val="4E6571"/>
                </a:solidFill>
                <a:latin typeface="Arial"/>
                <a:ea typeface="Arial"/>
              </a:rPr>
              <a:t xml:space="preserve"> Nishida (2012)</a:t>
            </a:r>
            <a:endParaRPr lang="en-US"/>
          </a:p>
        </p:txBody>
      </p:sp>
      <p:sp>
        <p:nvSpPr>
          <p:cNvPr id="28" name="Shape 28"/>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04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29" name="Shape 29"/>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Escape onset can track angular size</a:t>
            </a:r>
            <a:endParaRPr lang="en-US"/>
          </a:p>
        </p:txBody>
      </p:sp>
      <p:sp>
        <p:nvSpPr>
          <p:cNvPr id="30" name="Shape 30"/>
          <p:cNvSpPr/>
          <p:nvPr/>
        </p:nvSpPr>
        <p:spPr>
          <a:xfrm>
            <a:off x="571500" y="1400175"/>
            <a:ext cx="11068050" cy="52566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 xml:space="preserve">Yamamoto and colleagues presented looming objects to bullfrogs at simulated approach speeds of </a:t>
            </a:r>
            <a:r>
              <a:rPr sz="1725" b="1" i="0">
                <a:solidFill>
                  <a:srgbClr val="222B33"/>
                </a:solidFill>
                <a:latin typeface="Arial"/>
                <a:ea typeface="Arial"/>
              </a:rPr>
              <a:t>2 and 4 m/s</a:t>
            </a:r>
            <a:r>
              <a:rPr sz="1725" b="0" i="0">
                <a:solidFill>
                  <a:srgbClr val="222B33"/>
                </a:solidFill>
                <a:latin typeface="Arial"/>
                <a:ea typeface="Arial"/>
              </a:rPr>
              <a:t>. They measured both stimulus angular size and time remaining to collision when escape began.</a:t>
            </a:r>
            <a:endParaRPr lang="en-US"/>
          </a:p>
        </p:txBody>
      </p:sp>
      <p:sp>
        <p:nvSpPr>
          <p:cNvPr id="31" name="Shape 31"/>
          <p:cNvSpPr/>
          <p:nvPr/>
        </p:nvSpPr>
        <p:spPr>
          <a:xfrm>
            <a:off x="571500" y="2011561"/>
            <a:ext cx="11068050" cy="78849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 xml:space="preserve">The two speeds produced different times to collision at response onset, whereas the angular threshold remained approximately </a:t>
            </a:r>
            <a:r>
              <a:rPr sz="1725" b="1" i="0">
                <a:solidFill>
                  <a:srgbClr val="222B33"/>
                </a:solidFill>
                <a:latin typeface="Arial"/>
                <a:ea typeface="Arial"/>
              </a:rPr>
              <a:t>20°</a:t>
            </a:r>
            <a:r>
              <a:rPr sz="1725" b="0" i="0">
                <a:solidFill>
                  <a:srgbClr val="222B33"/>
                </a:solidFill>
                <a:latin typeface="Arial"/>
                <a:ea typeface="Arial"/>
              </a:rPr>
              <a:t>. This comparison supports angular size as a useful predictor under those conditions; it does not establish a universal threshold for every escape.</a:t>
            </a:r>
            <a:endParaRPr lang="en-US"/>
          </a:p>
        </p:txBody>
      </p:sp>
      <p:pic>
        <p:nvPicPr>
          <p:cNvPr id="105" name="Presenton Native Image 6" descr=""/>
          <p:cNvPicPr/>
          <p:nvPr/>
        </p:nvPicPr>
        <p:blipFill>
          <a:blip r:embed="rId3" cstate="none"/>
          <a:stretch>
            <a:fillRect/>
          </a:stretch>
        </p:blipFill>
        <p:spPr>
          <a:xfrm>
            <a:off x="571500" y="2933402"/>
            <a:ext cx="11049000" cy="2424261"/>
          </a:xfrm>
          <a:prstGeom prst="rect">
            <a:avLst/>
          </a:prstGeom>
        </p:spPr>
      </p:pic>
      <p:pic>
        <p:nvPicPr>
          <p:cNvPr id="106" name="Presenton Native Image 7" descr=""/>
          <p:cNvPicPr/>
          <p:nvPr/>
        </p:nvPicPr>
        <p:blipFill>
          <a:blip r:embed="rId2" cstate="none"/>
          <a:stretch>
            <a:fillRect/>
          </a:stretch>
        </p:blipFill>
        <p:spPr>
          <a:xfrm>
            <a:off x="571500" y="6379369"/>
            <a:ext cx="11049000" cy="269081"/>
          </a:xfrm>
          <a:prstGeom prst="rect">
            <a:avLst/>
          </a:prstGeom>
        </p:spPr>
      </p:pic>
      <p:sp>
        <p:nvSpPr>
          <p:cNvPr id="32" name="Shape 32"/>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Yamamoto et al. (2003)</a:t>
            </a:r>
            <a:endParaRPr lang="en-US"/>
          </a:p>
        </p:txBody>
      </p:sp>
      <p:sp>
        <p:nvSpPr>
          <p:cNvPr id="33" name="Shape 33"/>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05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34" name="Shape 34"/>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Retinal signals reach tectal and nontectal targets</a:t>
            </a:r>
            <a:endParaRPr lang="en-US"/>
          </a:p>
        </p:txBody>
      </p:sp>
      <p:sp>
        <p:nvSpPr>
          <p:cNvPr id="35" name="Shape 35"/>
          <p:cNvSpPr/>
          <p:nvPr/>
        </p:nvSpPr>
        <p:spPr>
          <a:xfrm>
            <a:off x="571500" y="1400175"/>
            <a:ext cx="11068050" cy="52566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Anterograde tracing follows labeled retinal axons into the brain. In cane toads, Wye-Dvorak and colleagues applied cobaltic-lysine to the optic nerve and reconstructed retinal termination fields.</a:t>
            </a:r>
            <a:endParaRPr lang="en-US"/>
          </a:p>
        </p:txBody>
      </p:sp>
      <p:sp>
        <p:nvSpPr>
          <p:cNvPr id="36" name="Shape 36"/>
          <p:cNvSpPr/>
          <p:nvPr/>
        </p:nvSpPr>
        <p:spPr>
          <a:xfrm>
            <a:off x="571500" y="2011561"/>
            <a:ext cx="11068050" cy="78849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Most retinorecipient territory was contralateral to the labeled eye, with the tectum receiving the largest share. Smaller retinal targets provide parallel routes through which visual input can influence pretectal and other circuits.</a:t>
            </a:r>
            <a:endParaRPr lang="en-US"/>
          </a:p>
        </p:txBody>
      </p:sp>
      <p:sp>
        <p:nvSpPr>
          <p:cNvPr id="37" name="Shape 37"/>
          <p:cNvSpPr/>
          <p:nvPr/>
        </p:nvSpPr>
        <p:spPr>
          <a:xfrm>
            <a:off x="571500" y="2885777"/>
            <a:ext cx="11068050" cy="52566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 xml:space="preserve">The percentages below measure </a:t>
            </a:r>
            <a:r>
              <a:rPr sz="1725" b="1" i="0">
                <a:solidFill>
                  <a:srgbClr val="222B33"/>
                </a:solidFill>
                <a:latin typeface="Arial"/>
                <a:ea typeface="Arial"/>
              </a:rPr>
              <a:t>retinorecipient area</a:t>
            </a:r>
            <a:r>
              <a:rPr sz="1725" b="0" i="0">
                <a:solidFill>
                  <a:srgbClr val="222B33"/>
                </a:solidFill>
                <a:latin typeface="Arial"/>
                <a:ea typeface="Arial"/>
              </a:rPr>
              <a:t>. They are not percentages of retinal ganglion cells, axons, synapses, or information flow.</a:t>
            </a:r>
            <a:endParaRPr lang="en-US"/>
          </a:p>
        </p:txBody>
      </p:sp>
      <p:pic>
        <p:nvPicPr>
          <p:cNvPr id="107" name="Presenton Native Image 8" descr=""/>
          <p:cNvPicPr/>
          <p:nvPr/>
        </p:nvPicPr>
        <p:blipFill>
          <a:blip r:embed="rId3" cstate="none"/>
          <a:stretch>
            <a:fillRect/>
          </a:stretch>
        </p:blipFill>
        <p:spPr>
          <a:xfrm>
            <a:off x="571500" y="3544788"/>
            <a:ext cx="11049000" cy="1913930"/>
          </a:xfrm>
          <a:prstGeom prst="rect">
            <a:avLst/>
          </a:prstGeom>
        </p:spPr>
      </p:pic>
      <p:pic>
        <p:nvPicPr>
          <p:cNvPr id="108" name="Presenton Native Image 9" descr=""/>
          <p:cNvPicPr/>
          <p:nvPr/>
        </p:nvPicPr>
        <p:blipFill>
          <a:blip r:embed="rId2" cstate="none"/>
          <a:stretch>
            <a:fillRect/>
          </a:stretch>
        </p:blipFill>
        <p:spPr>
          <a:xfrm>
            <a:off x="571500" y="6379369"/>
            <a:ext cx="11049000" cy="269081"/>
          </a:xfrm>
          <a:prstGeom prst="rect">
            <a:avLst/>
          </a:prstGeom>
        </p:spPr>
      </p:pic>
      <p:sp>
        <p:nvSpPr>
          <p:cNvPr id="38" name="Shape 38"/>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Wye-Dvorak et al. (1992)</a:t>
            </a:r>
            <a:endParaRPr lang="en-US"/>
          </a:p>
        </p:txBody>
      </p:sp>
      <p:sp>
        <p:nvSpPr>
          <p:cNvPr id="39" name="Shape 39"/>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06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40" name="Shape 40"/>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Pretectal nuclei interact with the tectal visual map</a:t>
            </a:r>
            <a:endParaRPr lang="en-US"/>
          </a:p>
        </p:txBody>
      </p:sp>
      <p:sp>
        <p:nvSpPr>
          <p:cNvPr id="41" name="Shape 41"/>
          <p:cNvSpPr/>
          <p:nvPr/>
        </p:nvSpPr>
        <p:spPr>
          <a:xfrm>
            <a:off x="571500" y="1390650"/>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 xml:space="preserve">In Ewert’s common-toad terminology, </a:t>
            </a:r>
            <a:r>
              <a:rPr sz="1725" b="1" i="0">
                <a:solidFill>
                  <a:srgbClr val="222B33"/>
                </a:solidFill>
                <a:latin typeface="Arial"/>
                <a:ea typeface="Arial"/>
              </a:rPr>
              <a:t>Lpd</a:t>
            </a:r>
            <a:r>
              <a:rPr sz="1725" b="0" i="0">
                <a:solidFill>
                  <a:srgbClr val="222B33"/>
                </a:solidFill>
                <a:latin typeface="Arial"/>
                <a:ea typeface="Arial"/>
              </a:rPr>
              <a:t xml:space="preserve"> is the lateral posterodorsal nucleus and </a:t>
            </a:r>
            <a:r>
              <a:rPr sz="1725" b="1" i="0">
                <a:solidFill>
                  <a:srgbClr val="222B33"/>
                </a:solidFill>
                <a:latin typeface="Arial"/>
                <a:ea typeface="Arial"/>
              </a:rPr>
              <a:t>P</a:t>
            </a:r>
            <a:r>
              <a:rPr sz="1725" b="0" i="0">
                <a:solidFill>
                  <a:srgbClr val="222B33"/>
                </a:solidFill>
                <a:latin typeface="Arial"/>
                <a:ea typeface="Arial"/>
              </a:rPr>
              <a:t xml:space="preserve"> the posterocentral nucleus. Lpd and the lateral region of P constitute the pretectal territory emphasized in the prey–nonprey experiments.</a:t>
            </a:r>
            <a:endParaRPr lang="en-US"/>
          </a:p>
        </p:txBody>
      </p:sp>
      <p:sp>
        <p:nvSpPr>
          <p:cNvPr id="42" name="Shape 42"/>
          <p:cNvSpPr/>
          <p:nvPr/>
        </p:nvSpPr>
        <p:spPr>
          <a:xfrm>
            <a:off x="571500" y="2465784"/>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 xml:space="preserve">The cross-section shows these nuclei beside the optic tract. The optic tectum lies more caudally and represents locations in visual space through an ordered </a:t>
            </a:r>
            <a:r>
              <a:rPr sz="1725" b="1" i="0">
                <a:solidFill>
                  <a:srgbClr val="222B33"/>
                </a:solidFill>
                <a:latin typeface="Arial"/>
                <a:ea typeface="Arial"/>
              </a:rPr>
              <a:t>retinotopic map</a:t>
            </a:r>
            <a:r>
              <a:rPr sz="1725" b="0" i="0">
                <a:solidFill>
                  <a:srgbClr val="222B33"/>
                </a:solidFill>
                <a:latin typeface="Arial"/>
                <a:ea typeface="Arial"/>
              </a:rPr>
              <a:t>: neighboring visual positions activate neighboring neural territories.</a:t>
            </a:r>
            <a:endParaRPr lang="en-US"/>
          </a:p>
        </p:txBody>
      </p:sp>
      <p:sp>
        <p:nvSpPr>
          <p:cNvPr id="43" name="Shape 43"/>
          <p:cNvSpPr/>
          <p:nvPr/>
        </p:nvSpPr>
        <p:spPr>
          <a:xfrm>
            <a:off x="571500" y="3790652"/>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Retrograde horseradish-peroxidase tracing in leopard frogs identified several pretectal sources of tectal input, with different ipsilateral and bilateral projection patterns. A labeled source demonstrates anatomical access to the tectum.</a:t>
            </a:r>
            <a:endParaRPr lang="en-US"/>
          </a:p>
        </p:txBody>
      </p:sp>
      <p:sp>
        <p:nvSpPr>
          <p:cNvPr id="44" name="Shape 44"/>
          <p:cNvSpPr/>
          <p:nvPr/>
        </p:nvSpPr>
        <p:spPr>
          <a:xfrm>
            <a:off x="571500" y="5115520"/>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Anatomy alone does not specify whether a projection excites or inhibits its target. Response recordings and pathway stimulation are required to determine the functional sign of the influence.</a:t>
            </a:r>
            <a:endParaRPr lang="en-US"/>
          </a:p>
        </p:txBody>
      </p:sp>
      <p:pic>
        <p:nvPicPr>
          <p:cNvPr id="109" name="Presenton Native Image 10" descr=""/>
          <p:cNvPicPr/>
          <p:nvPr/>
        </p:nvPicPr>
        <p:blipFill>
          <a:blip r:embed="rId3" cstate="none"/>
          <a:stretch>
            <a:fillRect/>
          </a:stretch>
        </p:blipFill>
        <p:spPr>
          <a:xfrm>
            <a:off x="7086600" y="2443541"/>
            <a:ext cx="4533900" cy="2024495"/>
          </a:xfrm>
          <a:prstGeom prst="rect">
            <a:avLst/>
          </a:prstGeom>
        </p:spPr>
      </p:pic>
      <p:sp>
        <p:nvSpPr>
          <p:cNvPr id="45" name="Shape 45"/>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4E6571"/>
                </a:solidFill>
                <a:latin typeface="Arial"/>
                <a:ea typeface="Arial"/>
              </a:rPr>
              <a:t>Ewert (1995), Fig. 4b, selected cross-section. Lpd/P: pretectal region; OT: optic tract.</a:t>
            </a:r>
            <a:endParaRPr lang="en-US"/>
          </a:p>
        </p:txBody>
      </p:sp>
      <p:pic>
        <p:nvPicPr>
          <p:cNvPr id="110" name="Presenton Native Image 11" descr=""/>
          <p:cNvPicPr/>
          <p:nvPr/>
        </p:nvPicPr>
        <p:blipFill>
          <a:blip r:embed="rId2" cstate="none"/>
          <a:stretch>
            <a:fillRect/>
          </a:stretch>
        </p:blipFill>
        <p:spPr>
          <a:xfrm>
            <a:off x="571500" y="6379369"/>
            <a:ext cx="11049000" cy="269081"/>
          </a:xfrm>
          <a:prstGeom prst="rect">
            <a:avLst/>
          </a:prstGeom>
        </p:spPr>
      </p:pic>
      <p:sp>
        <p:nvSpPr>
          <p:cNvPr id="46" name="Shape 46"/>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Ewert (1995); Wilczynski </a:t>
            </a:r>
            <a:r>
              <a:rPr sz="1125" b="0" i="0">
                <a:solidFill>
                  <a:srgbClr val="4E6571"/>
                </a:solidFill>
                <a:latin typeface="Arial"/>
                <a:ea typeface="Arial"/>
              </a:rPr>
              <a:t>&amp;</a:t>
            </a:r>
            <a:r>
              <a:rPr sz="1125" b="0" i="0">
                <a:solidFill>
                  <a:srgbClr val="4E6571"/>
                </a:solidFill>
                <a:latin typeface="Arial"/>
                <a:ea typeface="Arial"/>
              </a:rPr>
              <a:t xml:space="preserve"> Northcutt (1977)</a:t>
            </a:r>
            <a:endParaRPr lang="en-US"/>
          </a:p>
        </p:txBody>
      </p:sp>
      <p:sp>
        <p:nvSpPr>
          <p:cNvPr id="47" name="Shape 47"/>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07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48" name="Shape 48"/>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TH3 responses emphasize extension across motion</a:t>
            </a:r>
            <a:endParaRPr lang="en-US"/>
          </a:p>
        </p:txBody>
      </p:sp>
      <p:sp>
        <p:nvSpPr>
          <p:cNvPr id="49" name="Shape 49"/>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Extracellular recordings classify pretectal neurons by the visual stimuli that change their firing. </a:t>
            </a:r>
            <a:r>
              <a:rPr sz="1800" b="1" i="0">
                <a:solidFill>
                  <a:srgbClr val="222B33"/>
                </a:solidFill>
                <a:latin typeface="Arial"/>
                <a:ea typeface="Arial"/>
              </a:rPr>
              <a:t>TH3</a:t>
            </a:r>
            <a:r>
              <a:rPr sz="1800" b="0" i="0">
                <a:solidFill>
                  <a:srgbClr val="222B33"/>
                </a:solidFill>
                <a:latin typeface="Arial"/>
                <a:ea typeface="Arial"/>
              </a:rPr>
              <a:t xml:space="preserve"> is a physiological response class, not a genetically defined cell type or a guarantee of one transmitter phenotype.</a:t>
            </a:r>
            <a:endParaRPr lang="en-US"/>
          </a:p>
        </p:txBody>
      </p:sp>
      <p:sp>
        <p:nvSpPr>
          <p:cNvPr id="50" name="Shape 50"/>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TH3 neurons respond strongly when a moving object has substantial extension perpendicular to its direction of motion. This makes their output useful for suppressing prey responses to antiworm configurations and large moving objects.</a:t>
            </a:r>
            <a:endParaRPr lang="en-US"/>
          </a:p>
        </p:txBody>
      </p:sp>
      <p:sp>
        <p:nvSpPr>
          <p:cNvPr id="51" name="Shape 51"/>
          <p:cNvSpPr/>
          <p:nvPr/>
        </p:nvSpPr>
        <p:spPr>
          <a:xfrm>
            <a:off x="571500" y="3441502"/>
            <a:ext cx="10972800" cy="1170384"/>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A </a:t>
            </a:r>
            <a:r>
              <a:rPr sz="1800" b="1" i="0">
                <a:solidFill>
                  <a:srgbClr val="222B33"/>
                </a:solidFill>
                <a:latin typeface="Arial"/>
                <a:ea typeface="Arial"/>
              </a:rPr>
              <a:t>receptive field</a:t>
            </a:r>
            <a:r>
              <a:rPr sz="1800" b="0" i="0">
                <a:solidFill>
                  <a:srgbClr val="222B33"/>
                </a:solidFill>
                <a:latin typeface="Arial"/>
                <a:ea typeface="Arial"/>
              </a:rPr>
              <a:t xml:space="preserve"> is the region of visual space whose stimulation changes a neuron’s activity. In Ewert’s common-toad studies, TH3 excitatory fields were approximately </a:t>
            </a:r>
            <a:r>
              <a:rPr sz="1800" b="1" i="0">
                <a:solidFill>
                  <a:srgbClr val="222B33"/>
                </a:solidFill>
                <a:latin typeface="Arial"/>
                <a:ea typeface="Arial"/>
              </a:rPr>
              <a:t>45°</a:t>
            </a:r>
            <a:r>
              <a:rPr sz="1800" b="0" i="0">
                <a:solidFill>
                  <a:srgbClr val="222B33"/>
                </a:solidFill>
                <a:latin typeface="Arial"/>
                <a:ea typeface="Arial"/>
              </a:rPr>
              <a:t xml:space="preserve"> across, compared with roughly </a:t>
            </a:r>
            <a:r>
              <a:rPr sz="1800" b="1" i="0">
                <a:solidFill>
                  <a:srgbClr val="222B33"/>
                </a:solidFill>
                <a:latin typeface="Arial"/>
                <a:ea typeface="Arial"/>
              </a:rPr>
              <a:t>25–30°</a:t>
            </a:r>
            <a:r>
              <a:rPr sz="1800" b="0" i="0">
                <a:solidFill>
                  <a:srgbClr val="222B33"/>
                </a:solidFill>
                <a:latin typeface="Arial"/>
                <a:ea typeface="Arial"/>
              </a:rPr>
              <a:t xml:space="preserve"> for the tectal T5.1/T5.2 classes. Larger fields permit integration over a broader region of visual space.</a:t>
            </a:r>
            <a:endParaRPr lang="en-US"/>
          </a:p>
        </p:txBody>
      </p:sp>
      <p:sp>
        <p:nvSpPr>
          <p:cNvPr id="52" name="Shape 52"/>
          <p:cNvSpPr/>
          <p:nvPr/>
        </p:nvSpPr>
        <p:spPr>
          <a:xfrm>
            <a:off x="571500" y="4735711"/>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The receptive fields are approximately radially symmetric. Configuration selectivity therefore cannot be explained simply by a vertical, bar-shaped receptive field; it depends on how visual inputs are integrated during movement.</a:t>
            </a:r>
            <a:endParaRPr lang="en-US"/>
          </a:p>
        </p:txBody>
      </p:sp>
      <p:pic>
        <p:nvPicPr>
          <p:cNvPr id="111" name="Presenton Native Image 12" descr=""/>
          <p:cNvPicPr/>
          <p:nvPr/>
        </p:nvPicPr>
        <p:blipFill>
          <a:blip r:embed="rId2" cstate="none"/>
          <a:stretch>
            <a:fillRect/>
          </a:stretch>
        </p:blipFill>
        <p:spPr>
          <a:xfrm>
            <a:off x="571500" y="6379369"/>
            <a:ext cx="11049000" cy="269081"/>
          </a:xfrm>
          <a:prstGeom prst="rect">
            <a:avLst/>
          </a:prstGeom>
        </p:spPr>
      </p:pic>
      <p:sp>
        <p:nvSpPr>
          <p:cNvPr id="53" name="Shape 53"/>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Ewert (1971); Ewert (1995)</a:t>
            </a:r>
            <a:endParaRPr lang="en-US"/>
          </a:p>
        </p:txBody>
      </p:sp>
      <p:sp>
        <p:nvSpPr>
          <p:cNvPr id="54" name="Shape 54"/>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08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55" name="Shape 55"/>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TH4 neurons report large objects and visual motion</a:t>
            </a:r>
            <a:endParaRPr lang="en-US"/>
          </a:p>
        </p:txBody>
      </p:sp>
      <p:sp>
        <p:nvSpPr>
          <p:cNvPr id="56" name="Shape 56"/>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Buxbaum-Conradi and Ewert recorded pretectal units in cane toads, </a:t>
            </a:r>
            <a:r>
              <a:rPr sz="1800" b="1" i="0">
                <a:solidFill>
                  <a:srgbClr val="222B33"/>
                </a:solidFill>
                <a:latin typeface="Arial"/>
                <a:ea typeface="Arial"/>
              </a:rPr>
              <a:t>Bufo marinus</a:t>
            </a:r>
            <a:r>
              <a:rPr sz="1800" b="0" i="0">
                <a:solidFill>
                  <a:srgbClr val="222B33"/>
                </a:solidFill>
                <a:latin typeface="Arial"/>
                <a:ea typeface="Arial"/>
              </a:rPr>
              <a:t>. Most sampled neurons belonged to the TH3 and TH4 response classes and responded particularly well to large moving objects.</a:t>
            </a:r>
            <a:endParaRPr lang="en-US"/>
          </a:p>
        </p:txBody>
      </p:sp>
      <p:sp>
        <p:nvSpPr>
          <p:cNvPr id="57" name="Shape 57"/>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TH4 projection cells could receive information from an entire monocular or binocular visual field. They also responded to textured surroundings moving across the field, without requiring one horizontal direction of movement.</a:t>
            </a:r>
            <a:endParaRPr lang="en-US"/>
          </a:p>
        </p:txBody>
      </p:sp>
      <p:sp>
        <p:nvSpPr>
          <p:cNvPr id="58" name="Shape 58"/>
          <p:cNvSpPr/>
          <p:nvPr/>
        </p:nvSpPr>
        <p:spPr>
          <a:xfrm>
            <a:off x="571500" y="3441502"/>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Such activity provides the tectum with information about broad visual events beyond the restricted receptive field of an individual prey-selective neuron. Large-object sensitivity can contribute to threat-related processing, but responsiveness alone does not establish that one TH4 cell commands escape.</a:t>
            </a:r>
            <a:endParaRPr lang="en-US"/>
          </a:p>
        </p:txBody>
      </p:sp>
      <p:sp>
        <p:nvSpPr>
          <p:cNvPr id="59" name="Shape 59"/>
          <p:cNvSpPr/>
          <p:nvPr/>
        </p:nvSpPr>
        <p:spPr>
          <a:xfrm>
            <a:off x="571500" y="444311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The authors proposed that wide-field signals could also help distinguish object motion from motion caused by the animal itself. That interpretation concerns the information available in the signal; the experiment did not isolate a complete self-motion cancellation circuit.</a:t>
            </a:r>
            <a:endParaRPr lang="en-US"/>
          </a:p>
        </p:txBody>
      </p:sp>
      <p:pic>
        <p:nvPicPr>
          <p:cNvPr id="112" name="Presenton Native Image 13" descr=""/>
          <p:cNvPicPr/>
          <p:nvPr/>
        </p:nvPicPr>
        <p:blipFill>
          <a:blip r:embed="rId2" cstate="none"/>
          <a:stretch>
            <a:fillRect/>
          </a:stretch>
        </p:blipFill>
        <p:spPr>
          <a:xfrm>
            <a:off x="571500" y="6379369"/>
            <a:ext cx="11049000" cy="269081"/>
          </a:xfrm>
          <a:prstGeom prst="rect">
            <a:avLst/>
          </a:prstGeom>
        </p:spPr>
      </p:pic>
      <p:sp>
        <p:nvSpPr>
          <p:cNvPr id="60" name="Shape 60"/>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Buxbaum-Conradi </a:t>
            </a:r>
            <a:r>
              <a:rPr sz="1125" b="0" i="0">
                <a:solidFill>
                  <a:srgbClr val="4E6571"/>
                </a:solidFill>
                <a:latin typeface="Arial"/>
                <a:ea typeface="Arial"/>
              </a:rPr>
              <a:t>&amp;</a:t>
            </a:r>
            <a:r>
              <a:rPr sz="1125" b="0" i="0">
                <a:solidFill>
                  <a:srgbClr val="4E6571"/>
                </a:solidFill>
                <a:latin typeface="Arial"/>
                <a:ea typeface="Arial"/>
              </a:rPr>
              <a:t xml:space="preserve"> Ewert (1995)</a:t>
            </a:r>
            <a:endParaRPr lang="en-US"/>
          </a:p>
        </p:txBody>
      </p:sp>
      <p:sp>
        <p:nvSpPr>
          <p:cNvPr id="61" name="Shape 61"/>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09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62" name="Shape 62"/>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A collision test identifies pretecto-tectal axons</a:t>
            </a:r>
            <a:endParaRPr lang="en-US"/>
          </a:p>
        </p:txBody>
      </p:sp>
      <p:sp>
        <p:nvSpPr>
          <p:cNvPr id="63" name="Shape 63"/>
          <p:cNvSpPr/>
          <p:nvPr/>
        </p:nvSpPr>
        <p:spPr>
          <a:xfrm>
            <a:off x="571500" y="1438275"/>
            <a:ext cx="10972800" cy="585192"/>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Electrical stimulation in the optic tectum can excite the axon of a pretectal neuron and send a spike backward toward its cell body. This reverse propagation is </a:t>
            </a:r>
            <a:r>
              <a:rPr sz="1800" b="1" i="0">
                <a:solidFill>
                  <a:srgbClr val="222B33"/>
                </a:solidFill>
                <a:latin typeface="Arial"/>
                <a:ea typeface="Arial"/>
              </a:rPr>
              <a:t>antidromic activation</a:t>
            </a:r>
            <a:r>
              <a:rPr sz="1800" b="0" i="0">
                <a:solidFill>
                  <a:srgbClr val="222B33"/>
                </a:solidFill>
                <a:latin typeface="Arial"/>
                <a:ea typeface="Arial"/>
              </a:rPr>
              <a:t>.</a:t>
            </a:r>
            <a:endParaRPr lang="en-US"/>
          </a:p>
        </p:txBody>
      </p:sp>
      <p:sp>
        <p:nvSpPr>
          <p:cNvPr id="64" name="Shape 64"/>
          <p:cNvSpPr/>
          <p:nvPr/>
        </p:nvSpPr>
        <p:spPr>
          <a:xfrm>
            <a:off x="571500" y="2147292"/>
            <a:ext cx="10972800" cy="1170384"/>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A fixed-latency response alone is insufficient to prove a direct projection: a synaptic pathway can also produce a reliable evoked spike. In a </a:t>
            </a:r>
            <a:r>
              <a:rPr sz="1800" b="1" i="0">
                <a:solidFill>
                  <a:srgbClr val="222B33"/>
                </a:solidFill>
                <a:latin typeface="Arial"/>
                <a:ea typeface="Arial"/>
              </a:rPr>
              <a:t>collision test</a:t>
            </a:r>
            <a:r>
              <a:rPr sz="1800" b="0" i="0">
                <a:solidFill>
                  <a:srgbClr val="222B33"/>
                </a:solidFill>
                <a:latin typeface="Arial"/>
                <a:ea typeface="Arial"/>
              </a:rPr>
              <a:t>, a naturally occurring spike traveling toward the tectum meets the antidromic spike on the same axon, preventing the second spike from reaching the soma.</a:t>
            </a:r>
            <a:endParaRPr lang="en-US"/>
          </a:p>
        </p:txBody>
      </p:sp>
      <p:sp>
        <p:nvSpPr>
          <p:cNvPr id="65" name="Shape 65"/>
          <p:cNvSpPr/>
          <p:nvPr/>
        </p:nvSpPr>
        <p:spPr>
          <a:xfrm>
            <a:off x="571500" y="3441502"/>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Buxbaum-Conradi and Ewert found that nearly </a:t>
            </a:r>
            <a:r>
              <a:rPr sz="1800" b="1" i="0">
                <a:solidFill>
                  <a:srgbClr val="222B33"/>
                </a:solidFill>
                <a:latin typeface="Arial"/>
                <a:ea typeface="Arial"/>
              </a:rPr>
              <a:t>one third of sampled TH3/TH4 neurons</a:t>
            </a:r>
            <a:r>
              <a:rPr sz="1800" b="0" i="0">
                <a:solidFill>
                  <a:srgbClr val="222B33"/>
                </a:solidFill>
                <a:latin typeface="Arial"/>
                <a:ea typeface="Arial"/>
              </a:rPr>
              <a:t xml:space="preserve"> satisfied the collision criterion during ipsilateral tectal stimulation. One tonically active TH1 neuron also passed the test.</a:t>
            </a:r>
            <a:endParaRPr lang="en-US"/>
          </a:p>
        </p:txBody>
      </p:sp>
      <p:sp>
        <p:nvSpPr>
          <p:cNvPr id="66" name="Shape 66"/>
          <p:cNvSpPr/>
          <p:nvPr/>
        </p:nvSpPr>
        <p:spPr>
          <a:xfrm>
            <a:off x="571500" y="444311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This establishes that identified response classes include neurons projecting directly to the tectum. It does not mean that every neuron in either class projects there, nor does it establish the transmitter released at its terminals.</a:t>
            </a:r>
            <a:endParaRPr lang="en-US"/>
          </a:p>
        </p:txBody>
      </p:sp>
      <p:pic>
        <p:nvPicPr>
          <p:cNvPr id="113" name="Presenton Native Image 14" descr=""/>
          <p:cNvPicPr/>
          <p:nvPr/>
        </p:nvPicPr>
        <p:blipFill>
          <a:blip r:embed="rId2" cstate="none"/>
          <a:stretch>
            <a:fillRect/>
          </a:stretch>
        </p:blipFill>
        <p:spPr>
          <a:xfrm>
            <a:off x="571500" y="6379369"/>
            <a:ext cx="11049000" cy="269081"/>
          </a:xfrm>
          <a:prstGeom prst="rect">
            <a:avLst/>
          </a:prstGeom>
        </p:spPr>
      </p:pic>
      <p:sp>
        <p:nvSpPr>
          <p:cNvPr id="67" name="Shape 67"/>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Buxbaum-Conradi </a:t>
            </a:r>
            <a:r>
              <a:rPr sz="1125" b="0" i="0">
                <a:solidFill>
                  <a:srgbClr val="4E6571"/>
                </a:solidFill>
                <a:latin typeface="Arial"/>
                <a:ea typeface="Arial"/>
              </a:rPr>
              <a:t>&amp;</a:t>
            </a:r>
            <a:r>
              <a:rPr sz="1125" b="0" i="0">
                <a:solidFill>
                  <a:srgbClr val="4E6571"/>
                </a:solidFill>
                <a:latin typeface="Arial"/>
                <a:ea typeface="Arial"/>
              </a:rPr>
              <a:t xml:space="preserve"> Ewert (1995)</a:t>
            </a:r>
            <a:endParaRPr lang="en-US"/>
          </a:p>
        </p:txBody>
      </p:sp>
      <p:sp>
        <p:nvSpPr>
          <p:cNvPr id="68" name="Shape 68"/>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69" name="Shape 69"/>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Parallel feature signals can produce different actions</a:t>
            </a:r>
            <a:endParaRPr lang="en-US"/>
          </a:p>
        </p:txBody>
      </p:sp>
      <p:pic>
        <p:nvPicPr>
          <p:cNvPr id="114" name="Presenton Native Image 15" descr=""/>
          <p:cNvPicPr/>
          <p:nvPr/>
        </p:nvPicPr>
        <p:blipFill>
          <a:blip r:embed="rId3" cstate="none"/>
          <a:stretch>
            <a:fillRect/>
          </a:stretch>
        </p:blipFill>
        <p:spPr>
          <a:xfrm>
            <a:off x="2083530" y="1019175"/>
            <a:ext cx="8024940" cy="2190750"/>
          </a:xfrm>
          <a:prstGeom prst="rect">
            <a:avLst/>
          </a:prstGeom>
        </p:spPr>
      </p:pic>
      <p:sp>
        <p:nvSpPr>
          <p:cNvPr id="70" name="Shape 70"/>
          <p:cNvSpPr/>
          <p:nvPr/>
        </p:nvSpPr>
        <p:spPr>
          <a:xfrm>
            <a:off x="571500" y="3267075"/>
            <a:ext cx="11068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Ewert (1995), Fig. 7c–d. Original functional model; stars encode response strength, not spike counts.</a:t>
            </a:r>
            <a:endParaRPr lang="en-US"/>
          </a:p>
        </p:txBody>
      </p:sp>
      <p:sp>
        <p:nvSpPr>
          <p:cNvPr id="71" name="Shape 71"/>
          <p:cNvSpPr/>
          <p:nvPr/>
        </p:nvSpPr>
        <p:spPr>
          <a:xfrm>
            <a:off x="571500" y="3686175"/>
            <a:ext cx="5257800" cy="972145"/>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In Ewert’s model, the upper row represents tectal T5.1 and T5.2; the lower row represents pretectal TH3 and TH4. T5.1 contributes motion-related excitation; TH3 reports extension across motion.</a:t>
            </a:r>
            <a:endParaRPr lang="en-US"/>
          </a:p>
        </p:txBody>
      </p:sp>
      <p:sp>
        <p:nvSpPr>
          <p:cNvPr id="72" name="Shape 72"/>
          <p:cNvSpPr/>
          <p:nvPr/>
        </p:nvSpPr>
        <p:spPr>
          <a:xfrm>
            <a:off x="571500" y="4724995"/>
            <a:ext cx="5257800"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For prey-selective T5.2 output, the proposed interaction is subtractive: sufficiently strong pretectal influence restrains the tectal response. For large-object-sensitive TH4 output, the model combines excitatory feature signals.</a:t>
            </a:r>
            <a:endParaRPr lang="en-US"/>
          </a:p>
        </p:txBody>
      </p:sp>
      <p:sp>
        <p:nvSpPr>
          <p:cNvPr id="73" name="Shape 73"/>
          <p:cNvSpPr/>
          <p:nvPr/>
        </p:nvSpPr>
        <p:spPr>
          <a:xfrm>
            <a:off x="6353175" y="3686175"/>
            <a:ext cx="5286375"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The antiworm stimulus is on the left; the large square is on the right. “Flucht” means escape. Filled stars indicate strong activation, open stars weak activation, and bars inhibition; the square strongly recruits TH4-associated output.</a:t>
            </a:r>
            <a:endParaRPr lang="en-US"/>
          </a:p>
        </p:txBody>
      </p:sp>
      <p:sp>
        <p:nvSpPr>
          <p:cNvPr id="74" name="Shape 74"/>
          <p:cNvSpPr/>
          <p:nvPr/>
        </p:nvSpPr>
        <p:spPr>
          <a:xfrm>
            <a:off x="6353175" y="4968032"/>
            <a:ext cx="5286375" cy="972145"/>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 xml:space="preserve">This is a </a:t>
            </a:r>
            <a:r>
              <a:rPr sz="1650" b="1" i="0">
                <a:solidFill>
                  <a:srgbClr val="222B33"/>
                </a:solidFill>
                <a:latin typeface="Arial"/>
                <a:ea typeface="Arial"/>
              </a:rPr>
              <a:t>functional hypothesis</a:t>
            </a:r>
            <a:r>
              <a:rPr sz="1650" b="0" i="0">
                <a:solidFill>
                  <a:srgbClr val="222B33"/>
                </a:solidFill>
                <a:latin typeface="Arial"/>
                <a:ea typeface="Arial"/>
              </a:rPr>
              <a:t>, not a complete synapse-by-synapse wiring diagram. Direct inhibition and recruitment of local inhibitory neurons can both produce a net pretectal suppression of tectal activity.</a:t>
            </a:r>
            <a:endParaRPr lang="en-US"/>
          </a:p>
        </p:txBody>
      </p:sp>
      <p:pic>
        <p:nvPicPr>
          <p:cNvPr id="115" name="Presenton Native Image 16" descr=""/>
          <p:cNvPicPr/>
          <p:nvPr/>
        </p:nvPicPr>
        <p:blipFill>
          <a:blip r:embed="rId2" cstate="none"/>
          <a:stretch>
            <a:fillRect/>
          </a:stretch>
        </p:blipFill>
        <p:spPr>
          <a:xfrm>
            <a:off x="571500" y="6379369"/>
            <a:ext cx="11049000" cy="269081"/>
          </a:xfrm>
          <a:prstGeom prst="rect">
            <a:avLst/>
          </a:prstGeom>
        </p:spPr>
      </p:pic>
      <p:sp>
        <p:nvSpPr>
          <p:cNvPr id="75" name="Shape 75"/>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Ewert (1995)</a:t>
            </a:r>
            <a:endParaRPr lang="en-US"/>
          </a:p>
        </p:txBody>
      </p:sp>
      <p:sp>
        <p:nvSpPr>
          <p:cNvPr id="76" name="Shape 76"/>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77" name="Shape 77"/>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Pretectal lesions broaden prey-catching responses</a:t>
            </a:r>
            <a:endParaRPr lang="en-US"/>
          </a:p>
        </p:txBody>
      </p:sp>
      <p:sp>
        <p:nvSpPr>
          <p:cNvPr id="78" name="Shape 78"/>
          <p:cNvSpPr/>
          <p:nvPr/>
        </p:nvSpPr>
        <p:spPr>
          <a:xfrm>
            <a:off x="571500" y="1390650"/>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Classical lesions of the Lpd/P region or interruption of pretecto-tectal connections reduced discrimination between prey and nonprey configurations. Objects with increased extension across their motion could now evoke prey-catching.</a:t>
            </a:r>
            <a:endParaRPr lang="en-US"/>
          </a:p>
        </p:txBody>
      </p:sp>
      <p:sp>
        <p:nvSpPr>
          <p:cNvPr id="79" name="Shape 79"/>
          <p:cNvSpPr/>
          <p:nvPr/>
        </p:nvSpPr>
        <p:spPr>
          <a:xfrm>
            <a:off x="571500" y="2715518"/>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Panel b summarizes the post-lesion relation between object dimensions and behavioral response R. The rising response to broad objects contrasts with the suppression seen in intact animals; visually elicited escape was also lost in these preparations.</a:t>
            </a:r>
            <a:endParaRPr lang="en-US"/>
          </a:p>
        </p:txBody>
      </p:sp>
      <p:sp>
        <p:nvSpPr>
          <p:cNvPr id="80" name="Shape 80"/>
          <p:cNvSpPr/>
          <p:nvPr/>
        </p:nvSpPr>
        <p:spPr>
          <a:xfrm>
            <a:off x="571500" y="4040386"/>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 xml:space="preserve">The critical outcome is a change in </a:t>
            </a:r>
            <a:r>
              <a:rPr sz="1725" b="1" i="0">
                <a:solidFill>
                  <a:srgbClr val="222B33"/>
                </a:solidFill>
                <a:latin typeface="Arial"/>
                <a:ea typeface="Arial"/>
              </a:rPr>
              <a:t>stimulus selection</a:t>
            </a:r>
            <a:r>
              <a:rPr sz="1725" b="0" i="0">
                <a:solidFill>
                  <a:srgbClr val="222B33"/>
                </a:solidFill>
                <a:latin typeface="Arial"/>
                <a:ea typeface="Arial"/>
              </a:rPr>
              <a:t>, not merely reduced activity. Preserved orientation and snapping show that the animal can still use vision to generate movement.</a:t>
            </a:r>
            <a:endParaRPr lang="en-US"/>
          </a:p>
        </p:txBody>
      </p:sp>
      <p:sp>
        <p:nvSpPr>
          <p:cNvPr id="81" name="Shape 81"/>
          <p:cNvSpPr/>
          <p:nvPr/>
        </p:nvSpPr>
        <p:spPr>
          <a:xfrm>
            <a:off x="571500" y="5115520"/>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Lesions perturb a region and its connections. Their results establish a necessary contribution of the pretectal system under the tested conditions, while additional recordings are needed to identify the affected cellular interactions.</a:t>
            </a:r>
            <a:endParaRPr lang="en-US"/>
          </a:p>
        </p:txBody>
      </p:sp>
      <p:pic>
        <p:nvPicPr>
          <p:cNvPr id="116" name="Presenton Native Image 17" descr=""/>
          <p:cNvPicPr/>
          <p:nvPr/>
        </p:nvPicPr>
        <p:blipFill>
          <a:blip r:embed="rId3" cstate="none"/>
          <a:stretch>
            <a:fillRect/>
          </a:stretch>
        </p:blipFill>
        <p:spPr>
          <a:xfrm>
            <a:off x="7134006" y="1465064"/>
            <a:ext cx="4439088" cy="3981450"/>
          </a:xfrm>
          <a:prstGeom prst="rect">
            <a:avLst/>
          </a:prstGeom>
        </p:spPr>
      </p:pic>
      <p:sp>
        <p:nvSpPr>
          <p:cNvPr id="82" name="Shape 82"/>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4E6571"/>
                </a:solidFill>
                <a:latin typeface="Arial"/>
                <a:ea typeface="Arial"/>
              </a:rPr>
              <a:t>Ewert (1995), Fig. 3b. Author’s summary of post-lesion behavioral response relationships; R: prey-catching response.</a:t>
            </a:r>
            <a:endParaRPr lang="en-US"/>
          </a:p>
        </p:txBody>
      </p:sp>
      <p:pic>
        <p:nvPicPr>
          <p:cNvPr id="117" name="Presenton Native Image 18" descr=""/>
          <p:cNvPicPr/>
          <p:nvPr/>
        </p:nvPicPr>
        <p:blipFill>
          <a:blip r:embed="rId2" cstate="none"/>
          <a:stretch>
            <a:fillRect/>
          </a:stretch>
        </p:blipFill>
        <p:spPr>
          <a:xfrm>
            <a:off x="571500" y="6379369"/>
            <a:ext cx="11049000" cy="269081"/>
          </a:xfrm>
          <a:prstGeom prst="rect">
            <a:avLst/>
          </a:prstGeom>
        </p:spPr>
      </p:pic>
      <p:sp>
        <p:nvSpPr>
          <p:cNvPr id="83" name="Shape 83"/>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Ewert (1970); Ewert </a:t>
            </a:r>
            <a:r>
              <a:rPr sz="1125" b="0" i="0">
                <a:solidFill>
                  <a:srgbClr val="4E6571"/>
                </a:solidFill>
                <a:latin typeface="Arial"/>
                <a:ea typeface="Arial"/>
              </a:rPr>
              <a:t>&amp;</a:t>
            </a:r>
            <a:r>
              <a:rPr sz="1125" b="0" i="0">
                <a:solidFill>
                  <a:srgbClr val="4E6571"/>
                </a:solidFill>
                <a:latin typeface="Arial"/>
                <a:ea typeface="Arial"/>
              </a:rPr>
              <a:t xml:space="preserve"> von Wietersheim (1974); Ewert (1995)</a:t>
            </a:r>
            <a:endParaRPr lang="en-US"/>
          </a:p>
        </p:txBody>
      </p:sp>
      <p:sp>
        <p:nvSpPr>
          <p:cNvPr id="84" name="Shape 84"/>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85" name="Shape 85"/>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Lesions release tectal responses to nonprey</a:t>
            </a:r>
            <a:endParaRPr lang="en-US"/>
          </a:p>
        </p:txBody>
      </p:sp>
      <p:sp>
        <p:nvSpPr>
          <p:cNvPr id="86" name="Shape 86"/>
          <p:cNvSpPr/>
          <p:nvPr/>
        </p:nvSpPr>
        <p:spPr>
          <a:xfrm>
            <a:off x="571500" y="1390650"/>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Chronic extracellular recording allowed tectal T5.2 activity to be measured in freely moving toads before and after an ipsilateral pretectal lesion. Antiworm and large-square stimuli tested whether neural selectivity changed with behavior.</a:t>
            </a:r>
            <a:endParaRPr lang="en-US"/>
          </a:p>
        </p:txBody>
      </p:sp>
      <p:sp>
        <p:nvSpPr>
          <p:cNvPr id="87" name="Shape 87"/>
          <p:cNvSpPr/>
          <p:nvPr/>
        </p:nvSpPr>
        <p:spPr>
          <a:xfrm>
            <a:off x="571500" y="2715518"/>
            <a:ext cx="6115050" cy="749201"/>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Before the lesion, the illustrated neuron produced little activity to either nonprey stimulus. After the lesion, both stimuli evoked strong firing and prey-directed turning.</a:t>
            </a:r>
            <a:endParaRPr lang="en-US"/>
          </a:p>
        </p:txBody>
      </p:sp>
      <p:sp>
        <p:nvSpPr>
          <p:cNvPr id="88" name="Shape 88"/>
          <p:cNvSpPr/>
          <p:nvPr/>
        </p:nvSpPr>
        <p:spPr>
          <a:xfrm>
            <a:off x="571500" y="3540919"/>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The figure combines spike events with firing-frequency plots. Asterisks mark the start of a turn, and the white bars mark its duration; the change in firing can therefore be compared directly with the behavioral response.</a:t>
            </a:r>
            <a:endParaRPr lang="en-US"/>
          </a:p>
        </p:txBody>
      </p:sp>
      <p:sp>
        <p:nvSpPr>
          <p:cNvPr id="89" name="Shape 89"/>
          <p:cNvSpPr/>
          <p:nvPr/>
        </p:nvSpPr>
        <p:spPr>
          <a:xfrm>
            <a:off x="571500" y="4616053"/>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 xml:space="preserve">The result supports </a:t>
            </a:r>
            <a:r>
              <a:rPr sz="1725" b="1" i="0">
                <a:solidFill>
                  <a:srgbClr val="222B33"/>
                </a:solidFill>
                <a:latin typeface="Arial"/>
                <a:ea typeface="Arial"/>
              </a:rPr>
              <a:t>disinhibition</a:t>
            </a:r>
            <a:r>
              <a:rPr sz="1725" b="0" i="0">
                <a:solidFill>
                  <a:srgbClr val="222B33"/>
                </a:solidFill>
                <a:latin typeface="Arial"/>
                <a:ea typeface="Arial"/>
              </a:rPr>
              <a:t>: removing a suppressive influence allows previously ineffective inputs to recruit the tectal output. It also shows why a cell’s selectivity must be interpreted in the context of its intact network.</a:t>
            </a:r>
            <a:endParaRPr lang="en-US"/>
          </a:p>
        </p:txBody>
      </p:sp>
      <p:pic>
        <p:nvPicPr>
          <p:cNvPr id="118" name="Presenton Native Image 19" descr=""/>
          <p:cNvPicPr/>
          <p:nvPr/>
        </p:nvPicPr>
        <p:blipFill>
          <a:blip r:embed="rId3" cstate="none"/>
          <a:stretch>
            <a:fillRect/>
          </a:stretch>
        </p:blipFill>
        <p:spPr>
          <a:xfrm>
            <a:off x="7086600" y="1776567"/>
            <a:ext cx="4533900" cy="3358444"/>
          </a:xfrm>
          <a:prstGeom prst="rect">
            <a:avLst/>
          </a:prstGeom>
        </p:spPr>
      </p:pic>
      <p:sp>
        <p:nvSpPr>
          <p:cNvPr id="90" name="Shape 90"/>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4E6571"/>
                </a:solidFill>
                <a:latin typeface="Arial"/>
                <a:ea typeface="Arial"/>
              </a:rPr>
              <a:t>Ewert (1995), Fig. 10C; recordings credited to Schürg-Pfeiffer et al. (1993). a: before lesion; b: after.</a:t>
            </a:r>
            <a:endParaRPr lang="en-US"/>
          </a:p>
        </p:txBody>
      </p:sp>
      <p:pic>
        <p:nvPicPr>
          <p:cNvPr id="119" name="Presenton Native Image 20" descr=""/>
          <p:cNvPicPr/>
          <p:nvPr/>
        </p:nvPicPr>
        <p:blipFill>
          <a:blip r:embed="rId2" cstate="none"/>
          <a:stretch>
            <a:fillRect/>
          </a:stretch>
        </p:blipFill>
        <p:spPr>
          <a:xfrm>
            <a:off x="571500" y="6379369"/>
            <a:ext cx="11049000" cy="269081"/>
          </a:xfrm>
          <a:prstGeom prst="rect">
            <a:avLst/>
          </a:prstGeom>
        </p:spPr>
      </p:pic>
      <p:sp>
        <p:nvSpPr>
          <p:cNvPr id="91" name="Shape 91"/>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Ewert (1995)</a:t>
            </a:r>
            <a:endParaRPr lang="en-US"/>
          </a:p>
        </p:txBody>
      </p:sp>
      <p:sp>
        <p:nvSpPr>
          <p:cNvPr id="92" name="Shape 92"/>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93" name="Shape 93"/>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Pretectal stimulation biases behavior toward avoidance</a:t>
            </a:r>
            <a:endParaRPr lang="en-US"/>
          </a:p>
        </p:txBody>
      </p:sp>
      <p:sp>
        <p:nvSpPr>
          <p:cNvPr id="94" name="Shape 94"/>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McConville and Laming applied direct-current stimulation to the pretectal surface dorsal to Lpd in common toads. Feeding was evaluated as a sequence of arousal, orientation, approach, fixation, and snapping.</a:t>
            </a:r>
            <a:endParaRPr lang="en-US"/>
          </a:p>
        </p:txBody>
      </p:sp>
      <p:sp>
        <p:nvSpPr>
          <p:cNvPr id="95" name="Shape 95"/>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With stimulation, prey cues elicited more avoidance and less approach. This complements lesion evidence: reducing pretectal influence releases feeding, whereas activating the region can shift the response in the opposite direction.</a:t>
            </a:r>
            <a:endParaRPr lang="en-US"/>
          </a:p>
        </p:txBody>
      </p:sp>
      <p:sp>
        <p:nvSpPr>
          <p:cNvPr id="96" name="Shape 96"/>
          <p:cNvSpPr/>
          <p:nvPr/>
        </p:nvSpPr>
        <p:spPr>
          <a:xfrm>
            <a:off x="571500" y="3441502"/>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The behavioral sequence matters because a reduction in food capture can arise at several stages. A change in approach and avoidance indicates altered action selection before the terminal tongue strike.</a:t>
            </a:r>
            <a:endParaRPr lang="en-US"/>
          </a:p>
        </p:txBody>
      </p:sp>
      <p:sp>
        <p:nvSpPr>
          <p:cNvPr id="97" name="Shape 97"/>
          <p:cNvSpPr/>
          <p:nvPr/>
        </p:nvSpPr>
        <p:spPr>
          <a:xfrm>
            <a:off x="571500" y="444311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Direct current can change local excitability and influence multiple neuronal elements. The authors related the effect to sustained potential shifts and inhibitory pretectal influence, but the manipulation did not selectively activate TH3, TH4, or one transmitter-defined population.</a:t>
            </a:r>
            <a:endParaRPr lang="en-US"/>
          </a:p>
        </p:txBody>
      </p:sp>
      <p:pic>
        <p:nvPicPr>
          <p:cNvPr id="120" name="Presenton Native Image 21" descr=""/>
          <p:cNvPicPr/>
          <p:nvPr/>
        </p:nvPicPr>
        <p:blipFill>
          <a:blip r:embed="rId2" cstate="none"/>
          <a:stretch>
            <a:fillRect/>
          </a:stretch>
        </p:blipFill>
        <p:spPr>
          <a:xfrm>
            <a:off x="571500" y="6379369"/>
            <a:ext cx="11049000" cy="269081"/>
          </a:xfrm>
          <a:prstGeom prst="rect">
            <a:avLst/>
          </a:prstGeom>
        </p:spPr>
      </p:pic>
      <p:sp>
        <p:nvSpPr>
          <p:cNvPr id="98" name="Shape 98"/>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McConville </a:t>
            </a:r>
            <a:r>
              <a:rPr sz="1125" b="0" i="0">
                <a:solidFill>
                  <a:srgbClr val="4E6571"/>
                </a:solidFill>
                <a:latin typeface="Arial"/>
                <a:ea typeface="Arial"/>
              </a:rPr>
              <a:t>&amp;</a:t>
            </a:r>
            <a:r>
              <a:rPr sz="1125" b="0" i="0">
                <a:solidFill>
                  <a:srgbClr val="4E6571"/>
                </a:solidFill>
                <a:latin typeface="Arial"/>
                <a:ea typeface="Arial"/>
              </a:rPr>
              <a:t xml:space="preserve"> Laming (2007)</a:t>
            </a:r>
            <a:endParaRPr lang="en-US"/>
          </a:p>
        </p:txBody>
      </p:sp>
      <p:sp>
        <p:nvSpPr>
          <p:cNvPr id="99" name="Shape 99"/>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00" name="Shape 100"/>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Metabolic maps distinguish visual conditions</a:t>
            </a:r>
            <a:endParaRPr lang="en-US"/>
          </a:p>
        </p:txBody>
      </p:sp>
      <p:pic>
        <p:nvPicPr>
          <p:cNvPr id="121" name="Presenton Native Image 22" descr=""/>
          <p:cNvPicPr/>
          <p:nvPr/>
        </p:nvPicPr>
        <p:blipFill>
          <a:blip r:embed="rId3" cstate="none"/>
          <a:stretch>
            <a:fillRect/>
          </a:stretch>
        </p:blipFill>
        <p:spPr>
          <a:xfrm>
            <a:off x="1911576" y="1019175"/>
            <a:ext cx="8368848" cy="2190750"/>
          </a:xfrm>
          <a:prstGeom prst="rect">
            <a:avLst/>
          </a:prstGeom>
        </p:spPr>
      </p:pic>
      <p:sp>
        <p:nvSpPr>
          <p:cNvPr id="101" name="Shape 101"/>
          <p:cNvSpPr/>
          <p:nvPr/>
        </p:nvSpPr>
        <p:spPr>
          <a:xfrm>
            <a:off x="571500" y="3267075"/>
            <a:ext cx="11068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Finkenstädt et al. (1985), reproduced in Ewert (1995), Fig. 9, sections A1/B1/C1. Antiworm / large square / worm; original color scale retained.</a:t>
            </a:r>
            <a:endParaRPr lang="en-US"/>
          </a:p>
        </p:txBody>
      </p:sp>
      <p:sp>
        <p:nvSpPr>
          <p:cNvPr id="102" name="Shape 102"/>
          <p:cNvSpPr/>
          <p:nvPr/>
        </p:nvSpPr>
        <p:spPr>
          <a:xfrm>
            <a:off x="571500" y="3686175"/>
            <a:ext cx="5257800"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 xml:space="preserve">After injection of </a:t>
            </a:r>
            <a:r>
              <a:rPr sz="1650" b="1" i="0">
                <a:solidFill>
                  <a:srgbClr val="222B33"/>
                </a:solidFill>
                <a:latin typeface="Arial"/>
                <a:ea typeface="Arial"/>
              </a:rPr>
              <a:t>¹⁴C-2-deoxyglucose</a:t>
            </a:r>
            <a:r>
              <a:rPr sz="1650" b="0" i="0">
                <a:solidFill>
                  <a:srgbClr val="222B33"/>
                </a:solidFill>
                <a:latin typeface="Arial"/>
                <a:ea typeface="Arial"/>
              </a:rPr>
              <a:t>, toads viewed programmed visual stimuli for 45 minutes with pauses to reduce habituation. Trapped phosphorylated tracer was then measured in serial brain sections by autoradiography.</a:t>
            </a:r>
            <a:endParaRPr lang="en-US"/>
          </a:p>
        </p:txBody>
      </p:sp>
      <p:sp>
        <p:nvSpPr>
          <p:cNvPr id="103" name="Shape 103"/>
          <p:cNvSpPr/>
          <p:nvPr/>
        </p:nvSpPr>
        <p:spPr>
          <a:xfrm>
            <a:off x="571500" y="4968032"/>
            <a:ext cx="5257800" cy="972145"/>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The displayed pretectal sections compare antiworm viewing (A), escape to a large square (B), and snapping to a worm (C). Escape produced stronger, more widespread uptake than worm viewing.</a:t>
            </a:r>
            <a:endParaRPr lang="en-US"/>
          </a:p>
        </p:txBody>
      </p:sp>
      <p:sp>
        <p:nvSpPr>
          <p:cNvPr id="104" name="Shape 104"/>
          <p:cNvSpPr/>
          <p:nvPr/>
        </p:nvSpPr>
        <p:spPr>
          <a:xfrm>
            <a:off x="6353175" y="3686175"/>
            <a:ext cx="5286375"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One eye was covered in the illustrated antiworm condition, yielding a useful hemispheric comparison. The escape and snapping conditions used binocular viewing, so their spatial patterns must be interpreted with that difference in mind.</a:t>
            </a:r>
            <a:endParaRPr lang="en-US"/>
          </a:p>
        </p:txBody>
      </p:sp>
      <p:sp>
        <p:nvSpPr>
          <p:cNvPr id="105" name="Shape 105"/>
          <p:cNvSpPr/>
          <p:nvPr/>
        </p:nvSpPr>
        <p:spPr>
          <a:xfrm>
            <a:off x="6353175" y="4968032"/>
            <a:ext cx="5286375"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The signal integrates regional metabolism over many minutes. It supports stimulus-associated differences in activity but cannot reveal individual spikes, synaptic sign, or the temporal order of circuit recruitment.</a:t>
            </a:r>
            <a:endParaRPr lang="en-US"/>
          </a:p>
        </p:txBody>
      </p:sp>
      <p:pic>
        <p:nvPicPr>
          <p:cNvPr id="122" name="Presenton Native Image 23" descr=""/>
          <p:cNvPicPr/>
          <p:nvPr/>
        </p:nvPicPr>
        <p:blipFill>
          <a:blip r:embed="rId2" cstate="none"/>
          <a:stretch>
            <a:fillRect/>
          </a:stretch>
        </p:blipFill>
        <p:spPr>
          <a:xfrm>
            <a:off x="571500" y="6379369"/>
            <a:ext cx="11049000" cy="269081"/>
          </a:xfrm>
          <a:prstGeom prst="rect">
            <a:avLst/>
          </a:prstGeom>
        </p:spPr>
      </p:pic>
      <p:sp>
        <p:nvSpPr>
          <p:cNvPr id="106" name="Shape 106"/>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Ewert (1995)</a:t>
            </a:r>
            <a:endParaRPr lang="en-US"/>
          </a:p>
        </p:txBody>
      </p:sp>
      <p:sp>
        <p:nvSpPr>
          <p:cNvPr id="107" name="Shape 107"/>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08" name="Shape 108"/>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Pretectal input predominantly inhibits tectal cells</a:t>
            </a:r>
            <a:endParaRPr lang="en-US"/>
          </a:p>
        </p:txBody>
      </p:sp>
      <p:sp>
        <p:nvSpPr>
          <p:cNvPr id="109" name="Shape 109"/>
          <p:cNvSpPr/>
          <p:nvPr/>
        </p:nvSpPr>
        <p:spPr>
          <a:xfrm>
            <a:off x="571500" y="1400175"/>
            <a:ext cx="11068050" cy="78849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Kang and Li stimulated Lpd/P while recording intracellularly from the ipsilateral optic tectum of adult bullfrogs. Recording membrane voltage reveals subthreshold synaptic responses that would be missed by counting spikes alone.</a:t>
            </a:r>
            <a:endParaRPr lang="en-US"/>
          </a:p>
        </p:txBody>
      </p:sp>
      <p:sp>
        <p:nvSpPr>
          <p:cNvPr id="110" name="Shape 110"/>
          <p:cNvSpPr/>
          <p:nvPr/>
        </p:nvSpPr>
        <p:spPr>
          <a:xfrm>
            <a:off x="571500" y="2274391"/>
            <a:ext cx="11068050" cy="78849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 xml:space="preserve">Approximately </a:t>
            </a:r>
            <a:r>
              <a:rPr sz="1725" b="1" i="0">
                <a:solidFill>
                  <a:srgbClr val="222B33"/>
                </a:solidFill>
                <a:latin typeface="Arial"/>
                <a:ea typeface="Arial"/>
              </a:rPr>
              <a:t>98% of impaled tectal cells</a:t>
            </a:r>
            <a:r>
              <a:rPr sz="1725" b="0" i="0">
                <a:solidFill>
                  <a:srgbClr val="222B33"/>
                </a:solidFill>
                <a:latin typeface="Arial"/>
                <a:ea typeface="Arial"/>
              </a:rPr>
              <a:t>, excluding antidromically identified projection cells, showed an inhibitory response. This percentage refers to the recorded sample under electrical stimulation, not all tectal neurons during natural predator viewing.</a:t>
            </a:r>
            <a:endParaRPr lang="en-US"/>
          </a:p>
        </p:txBody>
      </p:sp>
      <p:pic>
        <p:nvPicPr>
          <p:cNvPr id="123" name="Presenton Native Image 24" descr=""/>
          <p:cNvPicPr/>
          <p:nvPr/>
        </p:nvPicPr>
        <p:blipFill>
          <a:blip r:embed="rId3" cstate="none"/>
          <a:stretch>
            <a:fillRect/>
          </a:stretch>
        </p:blipFill>
        <p:spPr>
          <a:xfrm>
            <a:off x="571500" y="3196233"/>
            <a:ext cx="11049000" cy="2192238"/>
          </a:xfrm>
          <a:prstGeom prst="rect">
            <a:avLst/>
          </a:prstGeom>
        </p:spPr>
      </p:pic>
      <p:pic>
        <p:nvPicPr>
          <p:cNvPr id="124" name="Presenton Native Image 25" descr=""/>
          <p:cNvPicPr/>
          <p:nvPr/>
        </p:nvPicPr>
        <p:blipFill>
          <a:blip r:embed="rId2" cstate="none"/>
          <a:stretch>
            <a:fillRect/>
          </a:stretch>
        </p:blipFill>
        <p:spPr>
          <a:xfrm>
            <a:off x="571500" y="6379369"/>
            <a:ext cx="11049000" cy="269081"/>
          </a:xfrm>
          <a:prstGeom prst="rect">
            <a:avLst/>
          </a:prstGeom>
        </p:spPr>
      </p:pic>
      <p:sp>
        <p:nvSpPr>
          <p:cNvPr id="111" name="Shape 111"/>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Kang </a:t>
            </a:r>
            <a:r>
              <a:rPr sz="1125" b="0" i="0">
                <a:solidFill>
                  <a:srgbClr val="4E6571"/>
                </a:solidFill>
                <a:latin typeface="Arial"/>
                <a:ea typeface="Arial"/>
              </a:rPr>
              <a:t>&amp;</a:t>
            </a:r>
            <a:r>
              <a:rPr sz="1125" b="0" i="0">
                <a:solidFill>
                  <a:srgbClr val="4E6571"/>
                </a:solidFill>
                <a:latin typeface="Arial"/>
                <a:ea typeface="Arial"/>
              </a:rPr>
              <a:t xml:space="preserve"> Li (2007)</a:t>
            </a:r>
            <a:endParaRPr lang="en-US"/>
          </a:p>
        </p:txBody>
      </p:sp>
      <p:sp>
        <p:nvSpPr>
          <p:cNvPr id="112" name="Shape 112"/>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13" name="Shape 113"/>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Membrane recordings reveal excitation and inhibition</a:t>
            </a:r>
            <a:endParaRPr lang="en-US"/>
          </a:p>
        </p:txBody>
      </p:sp>
      <p:sp>
        <p:nvSpPr>
          <p:cNvPr id="114" name="Shape 114"/>
          <p:cNvSpPr/>
          <p:nvPr/>
        </p:nvSpPr>
        <p:spPr>
          <a:xfrm>
            <a:off x="571500" y="1390650"/>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 xml:space="preserve">An </a:t>
            </a:r>
            <a:r>
              <a:rPr sz="1725" b="1" i="0">
                <a:solidFill>
                  <a:srgbClr val="222B33"/>
                </a:solidFill>
                <a:latin typeface="Arial"/>
                <a:ea typeface="Arial"/>
              </a:rPr>
              <a:t>EPSP</a:t>
            </a:r>
            <a:r>
              <a:rPr sz="1725" b="0" i="0">
                <a:solidFill>
                  <a:srgbClr val="222B33"/>
                </a:solidFill>
                <a:latin typeface="Arial"/>
                <a:ea typeface="Arial"/>
              </a:rPr>
              <a:t xml:space="preserve"> promotes depolarization and spike generation. An </a:t>
            </a:r>
            <a:r>
              <a:rPr sz="1725" b="1" i="0">
                <a:solidFill>
                  <a:srgbClr val="222B33"/>
                </a:solidFill>
                <a:latin typeface="Arial"/>
                <a:ea typeface="Arial"/>
              </a:rPr>
              <a:t>IPSP</a:t>
            </a:r>
            <a:r>
              <a:rPr sz="1725" b="0" i="0">
                <a:solidFill>
                  <a:srgbClr val="222B33"/>
                </a:solidFill>
                <a:latin typeface="Arial"/>
                <a:ea typeface="Arial"/>
              </a:rPr>
              <a:t xml:space="preserve"> reduces spike probability through hyperpolarization or increased membrane conductance, which weakens the impact of concurrent excitation.</a:t>
            </a:r>
            <a:endParaRPr lang="en-US"/>
          </a:p>
        </p:txBody>
      </p:sp>
      <p:sp>
        <p:nvSpPr>
          <p:cNvPr id="115" name="Shape 115"/>
          <p:cNvSpPr/>
          <p:nvPr/>
        </p:nvSpPr>
        <p:spPr>
          <a:xfrm>
            <a:off x="571500" y="2465784"/>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In these common-toad tectal recordings, antiworm stimulation evokes little firing and can reveal inhibitory voltage responses. Worm stimulation produces stronger excitation and spikes in the same experimental comparison.</a:t>
            </a:r>
            <a:endParaRPr lang="en-US"/>
          </a:p>
        </p:txBody>
      </p:sp>
      <p:sp>
        <p:nvSpPr>
          <p:cNvPr id="116" name="Shape 116"/>
          <p:cNvSpPr/>
          <p:nvPr/>
        </p:nvSpPr>
        <p:spPr>
          <a:xfrm>
            <a:off x="571500" y="3790652"/>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 xml:space="preserve">Bullfrog pathway stimulation complements these toad recordings. Kang and Li found short-latency EPSPs consistent with </a:t>
            </a:r>
            <a:r>
              <a:rPr sz="1725" b="1" i="0">
                <a:solidFill>
                  <a:srgbClr val="222B33"/>
                </a:solidFill>
                <a:latin typeface="Arial"/>
                <a:ea typeface="Arial"/>
              </a:rPr>
              <a:t>monosynaptic input</a:t>
            </a:r>
            <a:r>
              <a:rPr sz="1725" b="0" i="0">
                <a:solidFill>
                  <a:srgbClr val="222B33"/>
                </a:solidFill>
                <a:latin typeface="Arial"/>
                <a:ea typeface="Arial"/>
              </a:rPr>
              <a:t xml:space="preserve"> (one synapse). Most IPSPs followed </a:t>
            </a:r>
            <a:r>
              <a:rPr sz="1725" b="1" i="0">
                <a:solidFill>
                  <a:srgbClr val="222B33"/>
                </a:solidFill>
                <a:latin typeface="Arial"/>
                <a:ea typeface="Arial"/>
              </a:rPr>
              <a:t>polysynaptic routes</a:t>
            </a:r>
            <a:r>
              <a:rPr sz="1725" b="0" i="0">
                <a:solidFill>
                  <a:srgbClr val="222B33"/>
                </a:solidFill>
                <a:latin typeface="Arial"/>
                <a:ea typeface="Arial"/>
              </a:rPr>
              <a:t xml:space="preserve"> (several synapses), although monosynaptic IPSPs also occurred.</a:t>
            </a:r>
            <a:endParaRPr lang="en-US"/>
          </a:p>
        </p:txBody>
      </p:sp>
      <p:sp>
        <p:nvSpPr>
          <p:cNvPr id="117" name="Shape 117"/>
          <p:cNvSpPr/>
          <p:nvPr/>
        </p:nvSpPr>
        <p:spPr>
          <a:xfrm>
            <a:off x="571500" y="5115520"/>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Thus, a suppressive pretectal effect need not imply that every pretecto-tectal connection is directly inhibitory. Excitatory projection neurons can recruit inhibitory interneurons within the target network.</a:t>
            </a:r>
            <a:endParaRPr lang="en-US"/>
          </a:p>
        </p:txBody>
      </p:sp>
      <p:pic>
        <p:nvPicPr>
          <p:cNvPr id="125" name="Presenton Native Image 26" descr=""/>
          <p:cNvPicPr/>
          <p:nvPr/>
        </p:nvPicPr>
        <p:blipFill>
          <a:blip r:embed="rId3" cstate="none"/>
          <a:stretch>
            <a:fillRect/>
          </a:stretch>
        </p:blipFill>
        <p:spPr>
          <a:xfrm>
            <a:off x="7086600" y="2249040"/>
            <a:ext cx="4533900" cy="2230737"/>
          </a:xfrm>
          <a:prstGeom prst="rect">
            <a:avLst/>
          </a:prstGeom>
        </p:spPr>
      </p:pic>
      <p:sp>
        <p:nvSpPr>
          <p:cNvPr id="118" name="Shape 118"/>
          <p:cNvSpPr/>
          <p:nvPr/>
        </p:nvSpPr>
        <p:spPr>
          <a:xfrm>
            <a:off x="7086600" y="5469434"/>
            <a:ext cx="4552950" cy="548283"/>
          </a:xfrm>
          <a:prstGeom prst="rect">
            <a:avLst/>
          </a:prstGeom>
          <a:noFill/>
        </p:spPr>
        <p:txBody>
          <a:bodyPr anchor="t" wrap="square" tIns="0" bIns="0" lIns="0" rIns="0">
            <a:normAutofit/>
          </a:bodyPr>
          <a:lstStyle/>
          <a:p>
            <a:pPr algn="l">
              <a:lnSpc>
                <a:spcPts val="1440"/>
              </a:lnSpc>
              <a:buNone/>
            </a:pPr>
            <a:r>
              <a:rPr sz="1200" b="0" i="0">
                <a:solidFill>
                  <a:srgbClr val="4E6571"/>
                </a:solidFill>
                <a:latin typeface="Arial"/>
                <a:ea typeface="Arial"/>
              </a:rPr>
              <a:t>Ewert (1995), Fig. 6C. Original intracellular tectal responses to antiworm (upper) and worm (lower) stimuli; scale bars retained.</a:t>
            </a:r>
            <a:endParaRPr lang="en-US"/>
          </a:p>
        </p:txBody>
      </p:sp>
      <p:pic>
        <p:nvPicPr>
          <p:cNvPr id="126" name="Presenton Native Image 27" descr=""/>
          <p:cNvPicPr/>
          <p:nvPr/>
        </p:nvPicPr>
        <p:blipFill>
          <a:blip r:embed="rId2" cstate="none"/>
          <a:stretch>
            <a:fillRect/>
          </a:stretch>
        </p:blipFill>
        <p:spPr>
          <a:xfrm>
            <a:off x="571500" y="6379369"/>
            <a:ext cx="11049000" cy="269081"/>
          </a:xfrm>
          <a:prstGeom prst="rect">
            <a:avLst/>
          </a:prstGeom>
        </p:spPr>
      </p:pic>
      <p:sp>
        <p:nvSpPr>
          <p:cNvPr id="119" name="Shape 119"/>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Ewert (1995); Kang </a:t>
            </a:r>
            <a:r>
              <a:rPr sz="1125" b="0" i="0">
                <a:solidFill>
                  <a:srgbClr val="4E6571"/>
                </a:solidFill>
                <a:latin typeface="Arial"/>
                <a:ea typeface="Arial"/>
              </a:rPr>
              <a:t>&amp;</a:t>
            </a:r>
            <a:r>
              <a:rPr sz="1125" b="0" i="0">
                <a:solidFill>
                  <a:srgbClr val="4E6571"/>
                </a:solidFill>
                <a:latin typeface="Arial"/>
                <a:ea typeface="Arial"/>
              </a:rPr>
              <a:t xml:space="preserve"> Li (2007)</a:t>
            </a:r>
            <a:endParaRPr lang="en-US"/>
          </a:p>
        </p:txBody>
      </p:sp>
      <p:sp>
        <p:nvSpPr>
          <p:cNvPr id="120" name="Shape 120"/>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21" name="Shape 121"/>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Laminar current flow locates pretectal input</a:t>
            </a:r>
            <a:endParaRPr lang="en-US"/>
          </a:p>
        </p:txBody>
      </p:sp>
      <p:sp>
        <p:nvSpPr>
          <p:cNvPr id="122" name="Shape 122"/>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Li and colleagues combined intracellular recordings with </a:t>
            </a:r>
            <a:r>
              <a:rPr sz="1800" b="1" i="0">
                <a:solidFill>
                  <a:srgbClr val="222B33"/>
                </a:solidFill>
                <a:latin typeface="Arial"/>
                <a:ea typeface="Arial"/>
              </a:rPr>
              <a:t>current-source density analysis</a:t>
            </a:r>
            <a:r>
              <a:rPr sz="1800" b="0" i="0">
                <a:solidFill>
                  <a:srgbClr val="222B33"/>
                </a:solidFill>
                <a:latin typeface="Arial"/>
                <a:ea typeface="Arial"/>
              </a:rPr>
              <a:t xml:space="preserve"> in bullfrog tectum. CSD estimates where extracellular current enters and leaves tissue from voltage differences measured across depth.</a:t>
            </a:r>
            <a:endParaRPr lang="en-US"/>
          </a:p>
        </p:txBody>
      </p:sp>
      <p:sp>
        <p:nvSpPr>
          <p:cNvPr id="123" name="Shape 123"/>
          <p:cNvSpPr/>
          <p:nvPr/>
        </p:nvSpPr>
        <p:spPr>
          <a:xfrm>
            <a:off x="571500" y="2439888"/>
            <a:ext cx="10972800" cy="585192"/>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Ipsilateral pretectal stimulation produced a prominent, short-latency sink in </a:t>
            </a:r>
            <a:r>
              <a:rPr sz="1800" b="1" i="0">
                <a:solidFill>
                  <a:srgbClr val="222B33"/>
                </a:solidFill>
                <a:latin typeface="Arial"/>
                <a:ea typeface="Arial"/>
              </a:rPr>
              <a:t>tectal layer 8</a:t>
            </a:r>
            <a:r>
              <a:rPr sz="1800" b="0" i="0">
                <a:solidFill>
                  <a:srgbClr val="222B33"/>
                </a:solidFill>
                <a:latin typeface="Arial"/>
                <a:ea typeface="Arial"/>
              </a:rPr>
              <a:t xml:space="preserve">. Recipient neurons were located in layers </a:t>
            </a:r>
            <a:r>
              <a:rPr sz="1800" b="1" i="0">
                <a:solidFill>
                  <a:srgbClr val="222B33"/>
                </a:solidFill>
                <a:latin typeface="Arial"/>
                <a:ea typeface="Arial"/>
              </a:rPr>
              <a:t>6 and 7</a:t>
            </a:r>
            <a:r>
              <a:rPr sz="1800" b="0" i="0">
                <a:solidFill>
                  <a:srgbClr val="222B33"/>
                </a:solidFill>
                <a:latin typeface="Arial"/>
                <a:ea typeface="Arial"/>
              </a:rPr>
              <a:t>, whose processes extend into the input-containing neuropil.</a:t>
            </a:r>
            <a:endParaRPr lang="en-US"/>
          </a:p>
        </p:txBody>
      </p:sp>
      <p:sp>
        <p:nvSpPr>
          <p:cNvPr id="124" name="Shape 124"/>
          <p:cNvSpPr/>
          <p:nvPr/>
        </p:nvSpPr>
        <p:spPr>
          <a:xfrm>
            <a:off x="571500" y="314890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The early sink was interpreted as a monosynaptic component of pretectal input. Its localization constrains where afferent activity reaches the tectal network; it does not independently identify the transmitter or receptor.</a:t>
            </a:r>
            <a:endParaRPr lang="en-US"/>
          </a:p>
        </p:txBody>
      </p:sp>
      <p:sp>
        <p:nvSpPr>
          <p:cNvPr id="125" name="Shape 125"/>
          <p:cNvSpPr/>
          <p:nvPr/>
        </p:nvSpPr>
        <p:spPr>
          <a:xfrm>
            <a:off x="571500" y="4150519"/>
            <a:ext cx="10972800" cy="1170384"/>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No second sink was detected in the reported profiles. The authors therefore proposed a spatially restricted excitatory afferent component, despite the broad inhibitory responses observed intracellularly. A missing sink is a statement about this measurement, not proof that every other synapse is absent.</a:t>
            </a:r>
            <a:endParaRPr lang="en-US"/>
          </a:p>
        </p:txBody>
      </p:sp>
      <p:pic>
        <p:nvPicPr>
          <p:cNvPr id="127" name="Presenton Native Image 28" descr=""/>
          <p:cNvPicPr/>
          <p:nvPr/>
        </p:nvPicPr>
        <p:blipFill>
          <a:blip r:embed="rId2" cstate="none"/>
          <a:stretch>
            <a:fillRect/>
          </a:stretch>
        </p:blipFill>
        <p:spPr>
          <a:xfrm>
            <a:off x="571500" y="6379369"/>
            <a:ext cx="11049000" cy="269081"/>
          </a:xfrm>
          <a:prstGeom prst="rect">
            <a:avLst/>
          </a:prstGeom>
        </p:spPr>
      </p:pic>
      <p:sp>
        <p:nvSpPr>
          <p:cNvPr id="126" name="Shape 126"/>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Li et al. (2010)</a:t>
            </a:r>
            <a:endParaRPr lang="en-US"/>
          </a:p>
        </p:txBody>
      </p:sp>
      <p:sp>
        <p:nvSpPr>
          <p:cNvPr id="127" name="Shape 127"/>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28" name="Shape 128"/>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Pretectal suppression reaches both tectal lobes</a:t>
            </a:r>
            <a:endParaRPr lang="en-US"/>
          </a:p>
        </p:txBody>
      </p:sp>
      <p:sp>
        <p:nvSpPr>
          <p:cNvPr id="129" name="Shape 129"/>
          <p:cNvSpPr/>
          <p:nvPr/>
        </p:nvSpPr>
        <p:spPr>
          <a:xfrm>
            <a:off x="571500" y="1400175"/>
            <a:ext cx="11068050" cy="78849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 xml:space="preserve">In the same bullfrog study, stimulation of pretectal nuclei also evoked responses in the </a:t>
            </a:r>
            <a:r>
              <a:rPr sz="1725" b="1" i="0">
                <a:solidFill>
                  <a:srgbClr val="222B33"/>
                </a:solidFill>
                <a:latin typeface="Arial"/>
                <a:ea typeface="Arial"/>
              </a:rPr>
              <a:t>contralateral</a:t>
            </a:r>
            <a:r>
              <a:rPr sz="1725" b="0" i="0">
                <a:solidFill>
                  <a:srgbClr val="222B33"/>
                </a:solidFill>
                <a:latin typeface="Arial"/>
                <a:ea typeface="Arial"/>
              </a:rPr>
              <a:t xml:space="preserve"> tectum. Unlike the mixture recorded ipsilaterally, the reported contralateral responses were inhibitory postsynaptic potentials.</a:t>
            </a:r>
            <a:endParaRPr lang="en-US"/>
          </a:p>
        </p:txBody>
      </p:sp>
      <p:sp>
        <p:nvSpPr>
          <p:cNvPr id="130" name="Shape 130"/>
          <p:cNvSpPr/>
          <p:nvPr/>
        </p:nvSpPr>
        <p:spPr>
          <a:xfrm>
            <a:off x="571500" y="2274391"/>
            <a:ext cx="11068050" cy="78849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 xml:space="preserve">Most contralateral IPSPs were interpreted as </a:t>
            </a:r>
            <a:r>
              <a:rPr sz="1725" b="1" i="0">
                <a:solidFill>
                  <a:srgbClr val="222B33"/>
                </a:solidFill>
                <a:latin typeface="Arial"/>
                <a:ea typeface="Arial"/>
              </a:rPr>
              <a:t>polysynaptic</a:t>
            </a:r>
            <a:r>
              <a:rPr sz="1725" b="0" i="0">
                <a:solidFill>
                  <a:srgbClr val="222B33"/>
                </a:solidFill>
                <a:latin typeface="Arial"/>
                <a:ea typeface="Arial"/>
              </a:rPr>
              <a:t>, crossing several synapses through intervening neurons. A pathway can therefore coordinate suppression across the visual system without requiring a single inhibitory axon to connect every affected neuron directly.</a:t>
            </a:r>
            <a:endParaRPr lang="en-US"/>
          </a:p>
        </p:txBody>
      </p:sp>
      <p:pic>
        <p:nvPicPr>
          <p:cNvPr id="128" name="Presenton Native Image 29" descr=""/>
          <p:cNvPicPr/>
          <p:nvPr/>
        </p:nvPicPr>
        <p:blipFill>
          <a:blip r:embed="rId3" cstate="none"/>
          <a:stretch>
            <a:fillRect/>
          </a:stretch>
        </p:blipFill>
        <p:spPr>
          <a:xfrm>
            <a:off x="571500" y="3196233"/>
            <a:ext cx="11049000" cy="2656284"/>
          </a:xfrm>
          <a:prstGeom prst="rect">
            <a:avLst/>
          </a:prstGeom>
        </p:spPr>
      </p:pic>
      <p:pic>
        <p:nvPicPr>
          <p:cNvPr id="129" name="Presenton Native Image 30" descr=""/>
          <p:cNvPicPr/>
          <p:nvPr/>
        </p:nvPicPr>
        <p:blipFill>
          <a:blip r:embed="rId2" cstate="none"/>
          <a:stretch>
            <a:fillRect/>
          </a:stretch>
        </p:blipFill>
        <p:spPr>
          <a:xfrm>
            <a:off x="571500" y="6379369"/>
            <a:ext cx="11049000" cy="269081"/>
          </a:xfrm>
          <a:prstGeom prst="rect">
            <a:avLst/>
          </a:prstGeom>
        </p:spPr>
      </p:pic>
      <p:sp>
        <p:nvSpPr>
          <p:cNvPr id="131" name="Shape 131"/>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Li et al. (2010); Kang </a:t>
            </a:r>
            <a:r>
              <a:rPr sz="1125" b="0" i="0">
                <a:solidFill>
                  <a:srgbClr val="4E6571"/>
                </a:solidFill>
                <a:latin typeface="Arial"/>
                <a:ea typeface="Arial"/>
              </a:rPr>
              <a:t>&amp;</a:t>
            </a:r>
            <a:r>
              <a:rPr sz="1125" b="0" i="0">
                <a:solidFill>
                  <a:srgbClr val="4E6571"/>
                </a:solidFill>
                <a:latin typeface="Arial"/>
                <a:ea typeface="Arial"/>
              </a:rPr>
              <a:t xml:space="preserve"> Li (2007)</a:t>
            </a:r>
            <a:endParaRPr lang="en-US"/>
          </a:p>
        </p:txBody>
      </p:sp>
      <p:sp>
        <p:nvSpPr>
          <p:cNvPr id="132" name="Shape 132"/>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33" name="Shape 133"/>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NPY-containing fibers originate in the pretectum</a:t>
            </a:r>
            <a:endParaRPr lang="en-US"/>
          </a:p>
        </p:txBody>
      </p:sp>
      <p:sp>
        <p:nvSpPr>
          <p:cNvPr id="134" name="Shape 134"/>
          <p:cNvSpPr/>
          <p:nvPr/>
        </p:nvSpPr>
        <p:spPr>
          <a:xfrm>
            <a:off x="571500" y="1400175"/>
            <a:ext cx="11068050" cy="788491"/>
          </a:xfrm>
          <a:prstGeom prst="rect">
            <a:avLst/>
          </a:prstGeom>
          <a:noFill/>
        </p:spPr>
        <p:txBody>
          <a:bodyPr anchor="t" wrap="square" tIns="0" bIns="0" lIns="0" rIns="0">
            <a:normAutofit/>
          </a:bodyPr>
          <a:lstStyle/>
          <a:p>
            <a:pPr algn="l">
              <a:lnSpc>
                <a:spcPts val="2070"/>
              </a:lnSpc>
              <a:buNone/>
            </a:pPr>
            <a:r>
              <a:rPr sz="1725" b="1" i="0">
                <a:solidFill>
                  <a:srgbClr val="222B33"/>
                </a:solidFill>
                <a:latin typeface="Arial"/>
                <a:ea typeface="Arial"/>
              </a:rPr>
              <a:t>Neuropeptide Y (NPY)</a:t>
            </a:r>
            <a:r>
              <a:rPr sz="1725" b="0" i="0">
                <a:solidFill>
                  <a:srgbClr val="222B33"/>
                </a:solidFill>
                <a:latin typeface="Arial"/>
                <a:ea typeface="Arial"/>
              </a:rPr>
              <a:t xml:space="preserve"> is a peptide transmitter. Its </a:t>
            </a:r>
            <a:r>
              <a:rPr sz="1725" b="1" i="0">
                <a:solidFill>
                  <a:srgbClr val="222B33"/>
                </a:solidFill>
                <a:latin typeface="Arial"/>
                <a:ea typeface="Arial"/>
              </a:rPr>
              <a:t>metabotropic receptors</a:t>
            </a:r>
            <a:r>
              <a:rPr sz="1725" b="0" i="0">
                <a:solidFill>
                  <a:srgbClr val="222B33"/>
                </a:solidFill>
                <a:latin typeface="Arial"/>
                <a:ea typeface="Arial"/>
              </a:rPr>
              <a:t xml:space="preserve"> act through G proteins and intracellular signaling rather than forming ion channels. Kozicz and Lázár used immunostaining and lesions to locate the source of NPY-containing fibers in the frog optic tectum.</a:t>
            </a:r>
            <a:endParaRPr lang="en-US"/>
          </a:p>
        </p:txBody>
      </p:sp>
      <p:sp>
        <p:nvSpPr>
          <p:cNvPr id="135" name="Shape 135"/>
          <p:cNvSpPr/>
          <p:nvPr/>
        </p:nvSpPr>
        <p:spPr>
          <a:xfrm>
            <a:off x="571500" y="2274391"/>
            <a:ext cx="11068050" cy="78849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NPY-positive fibers were particularly dense in retinorecipient tectal layers. Lesions of the pretectal region reduced this labeling ipsilaterally, identifying the posterior pretectal thalamic nucleus as a major extrinsic source.</a:t>
            </a:r>
            <a:endParaRPr lang="en-US"/>
          </a:p>
        </p:txBody>
      </p:sp>
      <p:sp>
        <p:nvSpPr>
          <p:cNvPr id="136" name="Shape 136"/>
          <p:cNvSpPr/>
          <p:nvPr/>
        </p:nvSpPr>
        <p:spPr>
          <a:xfrm>
            <a:off x="571500" y="3148608"/>
            <a:ext cx="11068050" cy="78849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The controls distinguish a pretectal contribution from a retinal or auditory-midbrain origin. Immunoreactivity establishes peptide content and anatomical distribution; it does not measure release during an escape.</a:t>
            </a:r>
            <a:endParaRPr lang="en-US"/>
          </a:p>
        </p:txBody>
      </p:sp>
      <p:pic>
        <p:nvPicPr>
          <p:cNvPr id="130" name="Presenton Native Image 31" descr=""/>
          <p:cNvPicPr/>
          <p:nvPr/>
        </p:nvPicPr>
        <p:blipFill>
          <a:blip r:embed="rId3" cstate="none"/>
          <a:stretch>
            <a:fillRect/>
          </a:stretch>
        </p:blipFill>
        <p:spPr>
          <a:xfrm>
            <a:off x="571500" y="4070449"/>
            <a:ext cx="11049000" cy="1728192"/>
          </a:xfrm>
          <a:prstGeom prst="rect">
            <a:avLst/>
          </a:prstGeom>
        </p:spPr>
      </p:pic>
      <p:pic>
        <p:nvPicPr>
          <p:cNvPr id="131" name="Presenton Native Image 32" descr=""/>
          <p:cNvPicPr/>
          <p:nvPr/>
        </p:nvPicPr>
        <p:blipFill>
          <a:blip r:embed="rId2" cstate="none"/>
          <a:stretch>
            <a:fillRect/>
          </a:stretch>
        </p:blipFill>
        <p:spPr>
          <a:xfrm>
            <a:off x="571500" y="6379369"/>
            <a:ext cx="11049000" cy="269081"/>
          </a:xfrm>
          <a:prstGeom prst="rect">
            <a:avLst/>
          </a:prstGeom>
        </p:spPr>
      </p:pic>
      <p:sp>
        <p:nvSpPr>
          <p:cNvPr id="137" name="Shape 137"/>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Kozicz </a:t>
            </a:r>
            <a:r>
              <a:rPr sz="1125" b="0" i="0">
                <a:solidFill>
                  <a:srgbClr val="4E6571"/>
                </a:solidFill>
                <a:latin typeface="Arial"/>
                <a:ea typeface="Arial"/>
              </a:rPr>
              <a:t>&amp;</a:t>
            </a:r>
            <a:r>
              <a:rPr sz="1125" b="0" i="0">
                <a:solidFill>
                  <a:srgbClr val="4E6571"/>
                </a:solidFill>
                <a:latin typeface="Arial"/>
                <a:ea typeface="Arial"/>
              </a:rPr>
              <a:t xml:space="preserve"> Lázár (1994)</a:t>
            </a:r>
            <a:endParaRPr lang="en-US"/>
          </a:p>
        </p:txBody>
      </p:sp>
      <p:sp>
        <p:nvSpPr>
          <p:cNvPr id="138" name="Shape 138"/>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39" name="Shape 139"/>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NPY reduces retinotectal excitation</a:t>
            </a:r>
            <a:endParaRPr lang="en-US"/>
          </a:p>
        </p:txBody>
      </p:sp>
      <p:sp>
        <p:nvSpPr>
          <p:cNvPr id="140" name="Shape 140"/>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Surface field potentials sum the extracellular effects of many activated axons and neurons. In toads, optic-nerve stimulation produces an early excitatory component that is attenuated when pretectal stimulation precedes it.</a:t>
            </a:r>
            <a:endParaRPr lang="en-US"/>
          </a:p>
        </p:txBody>
      </p:sp>
      <p:sp>
        <p:nvSpPr>
          <p:cNvPr id="141" name="Shape 141"/>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Applying NPY to the tectal surface also reduced the excitatory field-potential component. This pharmacological similarity links a peptide present in pretecto-tectal fibers to a suppressive effect on retinotectal processing.</a:t>
            </a:r>
            <a:endParaRPr lang="en-US"/>
          </a:p>
        </p:txBody>
      </p:sp>
      <p:sp>
        <p:nvSpPr>
          <p:cNvPr id="142" name="Shape 142"/>
          <p:cNvSpPr/>
          <p:nvPr/>
        </p:nvSpPr>
        <p:spPr>
          <a:xfrm>
            <a:off x="571500" y="3441502"/>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In cane toads, intact NPY strongly and persistently attenuated the initial excitatory </a:t>
            </a:r>
            <a:r>
              <a:rPr sz="1800" b="1" i="0">
                <a:solidFill>
                  <a:srgbClr val="222B33"/>
                </a:solidFill>
                <a:latin typeface="Arial"/>
                <a:ea typeface="Arial"/>
              </a:rPr>
              <a:t>N1</a:t>
            </a:r>
            <a:r>
              <a:rPr sz="1800" b="0" i="0">
                <a:solidFill>
                  <a:srgbClr val="222B33"/>
                </a:solidFill>
                <a:latin typeface="Arial"/>
                <a:ea typeface="Arial"/>
              </a:rPr>
              <a:t xml:space="preserve"> wave evoked by light offset. The fragment </a:t>
            </a:r>
            <a:r>
              <a:rPr sz="1800" b="1" i="0">
                <a:solidFill>
                  <a:srgbClr val="222B33"/>
                </a:solidFill>
                <a:latin typeface="Arial"/>
                <a:ea typeface="Arial"/>
              </a:rPr>
              <a:t>NPY 13–36</a:t>
            </a:r>
            <a:r>
              <a:rPr sz="1800" b="0" i="0">
                <a:solidFill>
                  <a:srgbClr val="222B33"/>
                </a:solidFill>
                <a:latin typeface="Arial"/>
                <a:ea typeface="Arial"/>
              </a:rPr>
              <a:t xml:space="preserve"> had a smaller effect, whereas </a:t>
            </a:r>
            <a:r>
              <a:rPr sz="1800" b="1" i="0">
                <a:solidFill>
                  <a:srgbClr val="222B33"/>
                </a:solidFill>
                <a:latin typeface="Arial"/>
                <a:ea typeface="Arial"/>
              </a:rPr>
              <a:t>NPY 18–36</a:t>
            </a:r>
            <a:r>
              <a:rPr sz="1800" b="0" i="0">
                <a:solidFill>
                  <a:srgbClr val="222B33"/>
                </a:solidFill>
                <a:latin typeface="Arial"/>
                <a:ea typeface="Arial"/>
              </a:rPr>
              <a:t xml:space="preserve"> did not produce comparable inhibition.</a:t>
            </a:r>
            <a:endParaRPr lang="en-US"/>
          </a:p>
        </p:txBody>
      </p:sp>
      <p:sp>
        <p:nvSpPr>
          <p:cNvPr id="143" name="Shape 143"/>
          <p:cNvSpPr/>
          <p:nvPr/>
        </p:nvSpPr>
        <p:spPr>
          <a:xfrm>
            <a:off x="571500" y="444311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The fragment comparison supported a </a:t>
            </a:r>
            <a:r>
              <a:rPr sz="1800" b="1" i="0">
                <a:solidFill>
                  <a:srgbClr val="222B33"/>
                </a:solidFill>
                <a:latin typeface="Arial"/>
                <a:ea typeface="Arial"/>
              </a:rPr>
              <a:t>Y2-like receptor mechanism</a:t>
            </a:r>
            <a:r>
              <a:rPr sz="1800" b="0" i="0">
                <a:solidFill>
                  <a:srgbClr val="222B33"/>
                </a:solidFill>
                <a:latin typeface="Arial"/>
                <a:ea typeface="Arial"/>
              </a:rPr>
              <a:t xml:space="preserve"> in that preparation. A population field potential cannot determine whether the critical receptor is presynaptic or postsynaptic, or identify which ion channel carries the downstream effect.</a:t>
            </a:r>
            <a:endParaRPr lang="en-US"/>
          </a:p>
        </p:txBody>
      </p:sp>
      <p:pic>
        <p:nvPicPr>
          <p:cNvPr id="132" name="Presenton Native Image 33" descr=""/>
          <p:cNvPicPr/>
          <p:nvPr/>
        </p:nvPicPr>
        <p:blipFill>
          <a:blip r:embed="rId2" cstate="none"/>
          <a:stretch>
            <a:fillRect/>
          </a:stretch>
        </p:blipFill>
        <p:spPr>
          <a:xfrm>
            <a:off x="571500" y="6379369"/>
            <a:ext cx="11049000" cy="269081"/>
          </a:xfrm>
          <a:prstGeom prst="rect">
            <a:avLst/>
          </a:prstGeom>
        </p:spPr>
      </p:pic>
      <p:sp>
        <p:nvSpPr>
          <p:cNvPr id="144" name="Shape 144"/>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Schwippert </a:t>
            </a:r>
            <a:r>
              <a:rPr sz="1125" b="0" i="0">
                <a:solidFill>
                  <a:srgbClr val="4E6571"/>
                </a:solidFill>
                <a:latin typeface="Arial"/>
                <a:ea typeface="Arial"/>
              </a:rPr>
              <a:t>&amp;</a:t>
            </a:r>
            <a:r>
              <a:rPr sz="1125" b="0" i="0">
                <a:solidFill>
                  <a:srgbClr val="4E6571"/>
                </a:solidFill>
                <a:latin typeface="Arial"/>
                <a:ea typeface="Arial"/>
              </a:rPr>
              <a:t xml:space="preserve"> Ewert (1995); Schwippert et al. (1998)</a:t>
            </a:r>
            <a:endParaRPr lang="en-US"/>
          </a:p>
        </p:txBody>
      </p:sp>
      <p:sp>
        <p:nvSpPr>
          <p:cNvPr id="145" name="Shape 145"/>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46" name="Shape 146"/>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Tectal Y2 receptors influence feeding under threat</a:t>
            </a:r>
            <a:endParaRPr lang="en-US"/>
          </a:p>
        </p:txBody>
      </p:sp>
      <p:sp>
        <p:nvSpPr>
          <p:cNvPr id="147" name="Shape 147"/>
          <p:cNvSpPr/>
          <p:nvPr/>
        </p:nvSpPr>
        <p:spPr>
          <a:xfrm>
            <a:off x="571500" y="1400175"/>
            <a:ext cx="11068050" cy="78849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 xml:space="preserve">Islam and colleagues tested adult </a:t>
            </a:r>
            <a:r>
              <a:rPr sz="1725" b="1" i="0">
                <a:solidFill>
                  <a:srgbClr val="222B33"/>
                </a:solidFill>
                <a:latin typeface="Arial"/>
                <a:ea typeface="Arial"/>
              </a:rPr>
              <a:t>Xenopus laevis</a:t>
            </a:r>
            <a:r>
              <a:rPr sz="1725" b="0" i="0">
                <a:solidFill>
                  <a:srgbClr val="222B33"/>
                </a:solidFill>
                <a:latin typeface="Arial"/>
                <a:ea typeface="Arial"/>
              </a:rPr>
              <a:t xml:space="preserve"> with food and a predator stimulus. They compared bilateral tectal NPY injection with the </a:t>
            </a:r>
            <a:r>
              <a:rPr sz="1725" b="1" i="0">
                <a:solidFill>
                  <a:srgbClr val="222B33"/>
                </a:solidFill>
                <a:latin typeface="Arial"/>
                <a:ea typeface="Arial"/>
              </a:rPr>
              <a:t>Y2 receptor antagonist BIIE0246</a:t>
            </a:r>
            <a:r>
              <a:rPr sz="1725" b="0" i="0">
                <a:solidFill>
                  <a:srgbClr val="222B33"/>
                </a:solidFill>
                <a:latin typeface="Arial"/>
                <a:ea typeface="Arial"/>
              </a:rPr>
              <a:t>, which blocks Y2-mediated signaling.</a:t>
            </a:r>
            <a:endParaRPr lang="en-US"/>
          </a:p>
        </p:txBody>
      </p:sp>
      <p:sp>
        <p:nvSpPr>
          <p:cNvPr id="148" name="Shape 148"/>
          <p:cNvSpPr/>
          <p:nvPr/>
        </p:nvSpPr>
        <p:spPr>
          <a:xfrm>
            <a:off x="571500" y="2274391"/>
            <a:ext cx="11068050" cy="78849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NPY did not significantly change total food intake at the tested doses, but it delayed food contact and reduced contact time. Separating these measures prevents a change in one stage of feeding from being mistaken for a uniform change in appetite.</a:t>
            </a:r>
            <a:endParaRPr lang="en-US"/>
          </a:p>
        </p:txBody>
      </p:sp>
      <p:pic>
        <p:nvPicPr>
          <p:cNvPr id="133" name="Presenton Native Image 34" descr=""/>
          <p:cNvPicPr/>
          <p:nvPr/>
        </p:nvPicPr>
        <p:blipFill>
          <a:blip r:embed="rId3" cstate="none"/>
          <a:stretch>
            <a:fillRect/>
          </a:stretch>
        </p:blipFill>
        <p:spPr>
          <a:xfrm>
            <a:off x="571500" y="3196233"/>
            <a:ext cx="11049000" cy="2192238"/>
          </a:xfrm>
          <a:prstGeom prst="rect">
            <a:avLst/>
          </a:prstGeom>
        </p:spPr>
      </p:pic>
      <p:pic>
        <p:nvPicPr>
          <p:cNvPr id="134" name="Presenton Native Image 35" descr=""/>
          <p:cNvPicPr/>
          <p:nvPr/>
        </p:nvPicPr>
        <p:blipFill>
          <a:blip r:embed="rId2" cstate="none"/>
          <a:stretch>
            <a:fillRect/>
          </a:stretch>
        </p:blipFill>
        <p:spPr>
          <a:xfrm>
            <a:off x="571500" y="6379369"/>
            <a:ext cx="11049000" cy="269081"/>
          </a:xfrm>
          <a:prstGeom prst="rect">
            <a:avLst/>
          </a:prstGeom>
        </p:spPr>
      </p:pic>
      <p:sp>
        <p:nvSpPr>
          <p:cNvPr id="149" name="Shape 149"/>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Islam et al. (2019)</a:t>
            </a:r>
            <a:endParaRPr lang="en-US"/>
          </a:p>
        </p:txBody>
      </p:sp>
      <p:sp>
        <p:nvSpPr>
          <p:cNvPr id="150" name="Shape 150"/>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51" name="Shape 151"/>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CRFR1 blockade does not abolish feeding suppression</a:t>
            </a:r>
            <a:endParaRPr lang="en-US"/>
          </a:p>
        </p:txBody>
      </p:sp>
      <p:sp>
        <p:nvSpPr>
          <p:cNvPr id="152" name="Shape 152"/>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1" i="0">
                <a:solidFill>
                  <a:srgbClr val="222B33"/>
                </a:solidFill>
                <a:latin typeface="Arial"/>
                <a:ea typeface="Arial"/>
              </a:rPr>
              <a:t>Corticotropin-releasing factor receptor 1 (CRFR1)</a:t>
            </a:r>
            <a:r>
              <a:rPr sz="1800" b="0" i="0">
                <a:solidFill>
                  <a:srgbClr val="222B33"/>
                </a:solidFill>
                <a:latin typeface="Arial"/>
                <a:ea typeface="Arial"/>
              </a:rPr>
              <a:t xml:space="preserve"> is a metabotropic receptor through which stress-related peptide signaling can influence neural function. Prater and colleagues tested whether tectal CRFR1 activity mediates predator-associated reductions in feeding in adult Xenopus.</a:t>
            </a:r>
            <a:endParaRPr lang="en-US"/>
          </a:p>
        </p:txBody>
      </p:sp>
      <p:sp>
        <p:nvSpPr>
          <p:cNvPr id="153" name="Shape 153"/>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Blocking tectal CRFR1 with </a:t>
            </a:r>
            <a:r>
              <a:rPr sz="1800" b="1" i="0">
                <a:solidFill>
                  <a:srgbClr val="222B33"/>
                </a:solidFill>
                <a:latin typeface="Arial"/>
                <a:ea typeface="Arial"/>
              </a:rPr>
              <a:t>NBI-27914</a:t>
            </a:r>
            <a:r>
              <a:rPr sz="1800" b="0" i="0">
                <a:solidFill>
                  <a:srgbClr val="222B33"/>
                </a:solidFill>
                <a:latin typeface="Arial"/>
                <a:ea typeface="Arial"/>
              </a:rPr>
              <a:t xml:space="preserve"> did not prevent the predator stimulus from reducing food intake. The drug nevertheless altered discrete behaviors, including effects that occurred independently of predator presence.</a:t>
            </a:r>
            <a:endParaRPr lang="en-US"/>
          </a:p>
        </p:txBody>
      </p:sp>
      <p:sp>
        <p:nvSpPr>
          <p:cNvPr id="154" name="Shape 154"/>
          <p:cNvSpPr/>
          <p:nvPr/>
        </p:nvSpPr>
        <p:spPr>
          <a:xfrm>
            <a:off x="571500" y="3441502"/>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One week of food deprivation also failed to change food intake in the presence of the predator stimulus in the reported comparison. Increased nutritional need therefore did not simply override the observed suppression.</a:t>
            </a:r>
            <a:endParaRPr lang="en-US"/>
          </a:p>
        </p:txBody>
      </p:sp>
      <p:sp>
        <p:nvSpPr>
          <p:cNvPr id="155" name="Shape 155"/>
          <p:cNvSpPr/>
          <p:nvPr/>
        </p:nvSpPr>
        <p:spPr>
          <a:xfrm>
            <a:off x="571500" y="444311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Together with the Y2 antagonist results, this experiment shows receptor-specific contributions to behavioral regulation. The negative intake result limits a simple “tectal CRFR1 causes all predator-induced feeding suppression” explanation while leaving other actions of CRF signaling possible.</a:t>
            </a:r>
            <a:endParaRPr lang="en-US"/>
          </a:p>
        </p:txBody>
      </p:sp>
      <p:pic>
        <p:nvPicPr>
          <p:cNvPr id="135" name="Presenton Native Image 36" descr=""/>
          <p:cNvPicPr/>
          <p:nvPr/>
        </p:nvPicPr>
        <p:blipFill>
          <a:blip r:embed="rId2" cstate="none"/>
          <a:stretch>
            <a:fillRect/>
          </a:stretch>
        </p:blipFill>
        <p:spPr>
          <a:xfrm>
            <a:off x="571500" y="6379369"/>
            <a:ext cx="11049000" cy="269081"/>
          </a:xfrm>
          <a:prstGeom prst="rect">
            <a:avLst/>
          </a:prstGeom>
        </p:spPr>
      </p:pic>
      <p:sp>
        <p:nvSpPr>
          <p:cNvPr id="156" name="Shape 156"/>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Prater et al. (2020); Islam et al. (2019)</a:t>
            </a:r>
            <a:endParaRPr lang="en-US"/>
          </a:p>
        </p:txBody>
      </p:sp>
      <p:sp>
        <p:nvSpPr>
          <p:cNvPr id="157" name="Shape 157"/>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58" name="Shape 158"/>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Optic-nerve blockade separates looming from prey</a:t>
            </a:r>
            <a:endParaRPr lang="en-US"/>
          </a:p>
        </p:txBody>
      </p:sp>
      <p:sp>
        <p:nvSpPr>
          <p:cNvPr id="159" name="Shape 159"/>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King and colleagues injected </a:t>
            </a:r>
            <a:r>
              <a:rPr sz="1800" b="1" i="0">
                <a:solidFill>
                  <a:srgbClr val="222B33"/>
                </a:solidFill>
                <a:latin typeface="Arial"/>
                <a:ea typeface="Arial"/>
              </a:rPr>
              <a:t>tetrodotoxin (TTX)</a:t>
            </a:r>
            <a:r>
              <a:rPr sz="1800" b="0" i="0">
                <a:solidFill>
                  <a:srgbClr val="222B33"/>
                </a:solidFill>
                <a:latin typeface="Arial"/>
                <a:ea typeface="Arial"/>
              </a:rPr>
              <a:t xml:space="preserve"> or cadmium chloride into one optic nerve. TTX blocks voltage-gated sodium channels, preventing regenerative action-potential propagation in fibers reached by an effective concentration.</a:t>
            </a:r>
            <a:endParaRPr lang="en-US"/>
          </a:p>
        </p:txBody>
      </p:sp>
      <p:sp>
        <p:nvSpPr>
          <p:cNvPr id="160" name="Shape 160"/>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The treatment eliminated responses to looming stimuli while preserving responses to prey. The behavioral loss accompanied reduced activity of retinal “dimming” units recorded in tectal layer G, linking a retinal output class to the affected visual function.</a:t>
            </a:r>
            <a:endParaRPr lang="en-US"/>
          </a:p>
        </p:txBody>
      </p:sp>
      <p:sp>
        <p:nvSpPr>
          <p:cNvPr id="161" name="Shape 161"/>
          <p:cNvSpPr/>
          <p:nvPr/>
        </p:nvSpPr>
        <p:spPr>
          <a:xfrm>
            <a:off x="571500" y="3441502"/>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The authors proposed that myelinated fibers carrying looming information were more accessible to the injected agents than the tightly packed unmyelinated fibers. The differential effect therefore does not make TTX a molecularly selective blocker of “predator neurons.”</a:t>
            </a:r>
            <a:endParaRPr lang="en-US"/>
          </a:p>
        </p:txBody>
      </p:sp>
      <p:sp>
        <p:nvSpPr>
          <p:cNvPr id="162" name="Shape 162"/>
          <p:cNvSpPr/>
          <p:nvPr/>
        </p:nvSpPr>
        <p:spPr>
          <a:xfrm>
            <a:off x="571500" y="444311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This dissociation supports parallel retinal contributions to prey and looming responses. It remains compatible with subsequent tectal computation: a required input channel need not already encode every property of an approaching collision.</a:t>
            </a:r>
            <a:endParaRPr lang="en-US"/>
          </a:p>
        </p:txBody>
      </p:sp>
      <p:pic>
        <p:nvPicPr>
          <p:cNvPr id="136" name="Presenton Native Image 37" descr=""/>
          <p:cNvPicPr/>
          <p:nvPr/>
        </p:nvPicPr>
        <p:blipFill>
          <a:blip r:embed="rId2" cstate="none"/>
          <a:stretch>
            <a:fillRect/>
          </a:stretch>
        </p:blipFill>
        <p:spPr>
          <a:xfrm>
            <a:off x="571500" y="6379369"/>
            <a:ext cx="11049000" cy="269081"/>
          </a:xfrm>
          <a:prstGeom prst="rect">
            <a:avLst/>
          </a:prstGeom>
        </p:spPr>
      </p:pic>
      <p:sp>
        <p:nvSpPr>
          <p:cNvPr id="163" name="Shape 163"/>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King et al. (1999); Khakhalin et al. (2014)</a:t>
            </a:r>
            <a:endParaRPr lang="en-US"/>
          </a:p>
        </p:txBody>
      </p:sp>
      <p:sp>
        <p:nvSpPr>
          <p:cNvPr id="164" name="Shape 164"/>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65" name="Shape 165"/>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Partial chiasm cuts selectively disrupt avoidance</a:t>
            </a:r>
            <a:endParaRPr lang="en-US"/>
          </a:p>
        </p:txBody>
      </p:sp>
      <p:sp>
        <p:nvSpPr>
          <p:cNvPr id="166" name="Shape 166"/>
          <p:cNvSpPr/>
          <p:nvPr/>
        </p:nvSpPr>
        <p:spPr>
          <a:xfrm>
            <a:off x="571500" y="1400175"/>
            <a:ext cx="11068050" cy="52566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Waldeck and Gruberg cut the anterior or posterior half of the frog optic chiasm. The animals lost responses to large looming stimuli across the visual field but continued to respond to prey.</a:t>
            </a:r>
            <a:endParaRPr lang="en-US"/>
          </a:p>
        </p:txBody>
      </p:sp>
      <p:sp>
        <p:nvSpPr>
          <p:cNvPr id="167" name="Shape 167"/>
          <p:cNvSpPr/>
          <p:nvPr/>
        </p:nvSpPr>
        <p:spPr>
          <a:xfrm>
            <a:off x="571500" y="2011561"/>
            <a:ext cx="11068050" cy="52566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The critical controls were more extensive and less extensive cuts. Their contrasting effects argue against a general loss of vision as the explanation for the selective deficit.</a:t>
            </a:r>
            <a:endParaRPr lang="en-US"/>
          </a:p>
        </p:txBody>
      </p:sp>
      <p:pic>
        <p:nvPicPr>
          <p:cNvPr id="137" name="Presenton Native Image 38" descr=""/>
          <p:cNvPicPr/>
          <p:nvPr/>
        </p:nvPicPr>
        <p:blipFill>
          <a:blip r:embed="rId3" cstate="none"/>
          <a:stretch>
            <a:fillRect/>
          </a:stretch>
        </p:blipFill>
        <p:spPr>
          <a:xfrm>
            <a:off x="571500" y="2670572"/>
            <a:ext cx="11049000" cy="2355652"/>
          </a:xfrm>
          <a:prstGeom prst="rect">
            <a:avLst/>
          </a:prstGeom>
        </p:spPr>
      </p:pic>
      <p:pic>
        <p:nvPicPr>
          <p:cNvPr id="138" name="Presenton Native Image 39" descr=""/>
          <p:cNvPicPr/>
          <p:nvPr/>
        </p:nvPicPr>
        <p:blipFill>
          <a:blip r:embed="rId2" cstate="none"/>
          <a:stretch>
            <a:fillRect/>
          </a:stretch>
        </p:blipFill>
        <p:spPr>
          <a:xfrm>
            <a:off x="571500" y="6379369"/>
            <a:ext cx="11049000" cy="269081"/>
          </a:xfrm>
          <a:prstGeom prst="rect">
            <a:avLst/>
          </a:prstGeom>
        </p:spPr>
      </p:pic>
      <p:sp>
        <p:nvSpPr>
          <p:cNvPr id="168" name="Shape 168"/>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Waldeck </a:t>
            </a:r>
            <a:r>
              <a:rPr sz="1125" b="0" i="0">
                <a:solidFill>
                  <a:srgbClr val="4E6571"/>
                </a:solidFill>
                <a:latin typeface="Arial"/>
                <a:ea typeface="Arial"/>
              </a:rPr>
              <a:t>&amp;</a:t>
            </a:r>
            <a:r>
              <a:rPr sz="1125" b="0" i="0">
                <a:solidFill>
                  <a:srgbClr val="4E6571"/>
                </a:solidFill>
                <a:latin typeface="Arial"/>
                <a:ea typeface="Arial"/>
              </a:rPr>
              <a:t xml:space="preserve"> Gruberg (1995)</a:t>
            </a:r>
            <a:endParaRPr lang="en-US"/>
          </a:p>
        </p:txBody>
      </p:sp>
      <p:sp>
        <p:nvSpPr>
          <p:cNvPr id="169" name="Shape 169"/>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70" name="Shape 170"/>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Collision selectivity requires stimulus controls</a:t>
            </a:r>
            <a:endParaRPr lang="en-US"/>
          </a:p>
        </p:txBody>
      </p:sp>
      <p:sp>
        <p:nvSpPr>
          <p:cNvPr id="171" name="Shape 171"/>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A neuron that fires to an expanding image may simply respond to motion, darkening, or increasing area. </a:t>
            </a:r>
            <a:r>
              <a:rPr sz="1800" b="1" i="0">
                <a:solidFill>
                  <a:srgbClr val="222B33"/>
                </a:solidFill>
                <a:latin typeface="Arial"/>
                <a:ea typeface="Arial"/>
              </a:rPr>
              <a:t>Collision selectivity</a:t>
            </a:r>
            <a:r>
              <a:rPr sz="1800" b="0" i="0">
                <a:solidFill>
                  <a:srgbClr val="222B33"/>
                </a:solidFill>
                <a:latin typeface="Arial"/>
                <a:ea typeface="Arial"/>
              </a:rPr>
              <a:t xml:space="preserve"> requires comparisons with stimuli that preserve some of those features while changing the predicted trajectory.</a:t>
            </a:r>
            <a:endParaRPr lang="en-US"/>
          </a:p>
        </p:txBody>
      </p:sp>
      <p:sp>
        <p:nvSpPr>
          <p:cNvPr id="172" name="Shape 172"/>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Kang and Li used a multielectrode array to characterize </a:t>
            </a:r>
            <a:r>
              <a:rPr sz="1800" b="1" i="0">
                <a:solidFill>
                  <a:srgbClr val="222B33"/>
                </a:solidFill>
                <a:latin typeface="Arial"/>
                <a:ea typeface="Arial"/>
              </a:rPr>
              <a:t>40 collision-sensitive tectal neurons</a:t>
            </a:r>
            <a:r>
              <a:rPr sz="1800" b="0" i="0">
                <a:solidFill>
                  <a:srgbClr val="222B33"/>
                </a:solidFill>
                <a:latin typeface="Arial"/>
                <a:ea typeface="Arial"/>
              </a:rPr>
              <a:t xml:space="preserve"> in bullfrogs. Looming and receding patterns, together with displaced approach trajectories, tested whether activity specifically favored an approaching collision.</a:t>
            </a:r>
            <a:endParaRPr lang="en-US"/>
          </a:p>
        </p:txBody>
      </p:sp>
      <p:sp>
        <p:nvSpPr>
          <p:cNvPr id="173" name="Shape 173"/>
          <p:cNvSpPr/>
          <p:nvPr/>
        </p:nvSpPr>
        <p:spPr>
          <a:xfrm>
            <a:off x="571500" y="3441502"/>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Their receptive-field analysis showed that a collision stimulus was effective when its </a:t>
            </a:r>
            <a:r>
              <a:rPr sz="1800" b="1" i="0">
                <a:solidFill>
                  <a:srgbClr val="222B33"/>
                </a:solidFill>
                <a:latin typeface="Arial"/>
                <a:ea typeface="Arial"/>
              </a:rPr>
              <a:t>focus of expansion</a:t>
            </a:r>
            <a:r>
              <a:rPr sz="1800" b="0" i="0">
                <a:solidFill>
                  <a:srgbClr val="222B33"/>
                </a:solidFill>
                <a:latin typeface="Arial"/>
                <a:ea typeface="Arial"/>
              </a:rPr>
              <a:t xml:space="preserve"> lay within the excitatory receptive-field center. This focus is the visual point from which the expanding edges appear to diverge.</a:t>
            </a:r>
            <a:endParaRPr lang="en-US"/>
          </a:p>
        </p:txBody>
      </p:sp>
      <p:sp>
        <p:nvSpPr>
          <p:cNvPr id="174" name="Shape 174"/>
          <p:cNvSpPr/>
          <p:nvPr/>
        </p:nvSpPr>
        <p:spPr>
          <a:xfrm>
            <a:off x="571500" y="444311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In a separate study, Nakagawa and Kang found tightly tuned collision trajectories: mean half-width at half-height was </a:t>
            </a:r>
            <a:r>
              <a:rPr sz="1800" b="1" i="0">
                <a:solidFill>
                  <a:srgbClr val="222B33"/>
                </a:solidFill>
                <a:latin typeface="Arial"/>
                <a:ea typeface="Arial"/>
              </a:rPr>
              <a:t>0.8° horizontally and 0.9° vertically</a:t>
            </a:r>
            <a:r>
              <a:rPr sz="1800" b="0" i="0">
                <a:solidFill>
                  <a:srgbClr val="222B33"/>
                </a:solidFill>
                <a:latin typeface="Arial"/>
                <a:ea typeface="Arial"/>
              </a:rPr>
              <a:t>, in the four neurons analyzed for that measure. These values describe trajectory tuning, not the full receptive-field diameter.</a:t>
            </a:r>
            <a:endParaRPr lang="en-US"/>
          </a:p>
        </p:txBody>
      </p:sp>
      <p:pic>
        <p:nvPicPr>
          <p:cNvPr id="139" name="Presenton Native Image 40" descr=""/>
          <p:cNvPicPr/>
          <p:nvPr/>
        </p:nvPicPr>
        <p:blipFill>
          <a:blip r:embed="rId2" cstate="none"/>
          <a:stretch>
            <a:fillRect/>
          </a:stretch>
        </p:blipFill>
        <p:spPr>
          <a:xfrm>
            <a:off x="571500" y="6379369"/>
            <a:ext cx="11049000" cy="269081"/>
          </a:xfrm>
          <a:prstGeom prst="rect">
            <a:avLst/>
          </a:prstGeom>
        </p:spPr>
      </p:pic>
      <p:sp>
        <p:nvSpPr>
          <p:cNvPr id="175" name="Shape 175"/>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Kang </a:t>
            </a:r>
            <a:r>
              <a:rPr sz="1125" b="0" i="0">
                <a:solidFill>
                  <a:srgbClr val="4E6571"/>
                </a:solidFill>
                <a:latin typeface="Arial"/>
                <a:ea typeface="Arial"/>
              </a:rPr>
              <a:t>&amp;</a:t>
            </a:r>
            <a:r>
              <a:rPr sz="1125" b="0" i="0">
                <a:solidFill>
                  <a:srgbClr val="4E6571"/>
                </a:solidFill>
                <a:latin typeface="Arial"/>
                <a:ea typeface="Arial"/>
              </a:rPr>
              <a:t xml:space="preserve"> Li (2010); Nakagawa </a:t>
            </a:r>
            <a:r>
              <a:rPr sz="1125" b="0" i="0">
                <a:solidFill>
                  <a:srgbClr val="4E6571"/>
                </a:solidFill>
                <a:latin typeface="Arial"/>
                <a:ea typeface="Arial"/>
              </a:rPr>
              <a:t>&amp;</a:t>
            </a:r>
            <a:r>
              <a:rPr sz="1125" b="0" i="0">
                <a:solidFill>
                  <a:srgbClr val="4E6571"/>
                </a:solidFill>
                <a:latin typeface="Arial"/>
                <a:ea typeface="Arial"/>
              </a:rPr>
              <a:t xml:space="preserve"> Kang (2010)</a:t>
            </a:r>
            <a:endParaRPr lang="en-US"/>
          </a:p>
        </p:txBody>
      </p:sp>
      <p:sp>
        <p:nvSpPr>
          <p:cNvPr id="176" name="Shape 176"/>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77" name="Shape 177"/>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Peak firing follows a characteristic angular size</a:t>
            </a:r>
            <a:endParaRPr lang="en-US"/>
          </a:p>
        </p:txBody>
      </p:sp>
      <p:sp>
        <p:nvSpPr>
          <p:cNvPr id="178" name="Shape 178"/>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Nakagawa and Kang recorded </a:t>
            </a:r>
            <a:r>
              <a:rPr sz="1800" b="1" i="0">
                <a:solidFill>
                  <a:srgbClr val="222B33"/>
                </a:solidFill>
                <a:latin typeface="Arial"/>
                <a:ea typeface="Arial"/>
              </a:rPr>
              <a:t>11 collision-sensitive tectal neurons</a:t>
            </a:r>
            <a:r>
              <a:rPr sz="1800" b="0" i="0">
                <a:solidFill>
                  <a:srgbClr val="222B33"/>
                </a:solidFill>
                <a:latin typeface="Arial"/>
                <a:ea typeface="Arial"/>
              </a:rPr>
              <a:t xml:space="preserve"> while varying the size and approach speed of simulated objects. Comparing several trajectories within the same neuron distinguishes an angular threshold from a fixed response time.</a:t>
            </a:r>
            <a:endParaRPr lang="en-US"/>
          </a:p>
        </p:txBody>
      </p:sp>
      <p:sp>
        <p:nvSpPr>
          <p:cNvPr id="179" name="Shape 179"/>
          <p:cNvSpPr/>
          <p:nvPr/>
        </p:nvSpPr>
        <p:spPr>
          <a:xfrm>
            <a:off x="571500" y="2439888"/>
            <a:ext cx="10972800" cy="585192"/>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Model fitting placed the threshold preceding peak firing at </a:t>
            </a:r>
            <a:r>
              <a:rPr sz="1800" b="1" i="0">
                <a:solidFill>
                  <a:srgbClr val="222B33"/>
                </a:solidFill>
                <a:latin typeface="Arial"/>
                <a:ea typeface="Arial"/>
              </a:rPr>
              <a:t>24.2 ± 2.6°</a:t>
            </a:r>
            <a:r>
              <a:rPr sz="1800" b="0" i="0">
                <a:solidFill>
                  <a:srgbClr val="222B33"/>
                </a:solidFill>
                <a:latin typeface="Arial"/>
                <a:ea typeface="Arial"/>
              </a:rPr>
              <a:t xml:space="preserve"> across eight neurons (mean ± SD). An independent regression analysis gave an angular estimate of </a:t>
            </a:r>
            <a:r>
              <a:rPr sz="1800" b="1" i="0">
                <a:solidFill>
                  <a:srgbClr val="222B33"/>
                </a:solidFill>
                <a:latin typeface="Arial"/>
                <a:ea typeface="Arial"/>
              </a:rPr>
              <a:t>21.1°</a:t>
            </a:r>
            <a:r>
              <a:rPr sz="1800" b="0" i="0">
                <a:solidFill>
                  <a:srgbClr val="222B33"/>
                </a:solidFill>
                <a:latin typeface="Arial"/>
                <a:ea typeface="Arial"/>
              </a:rPr>
              <a:t>.</a:t>
            </a:r>
            <a:endParaRPr lang="en-US"/>
          </a:p>
        </p:txBody>
      </p:sp>
      <p:sp>
        <p:nvSpPr>
          <p:cNvPr id="180" name="Shape 180"/>
          <p:cNvSpPr/>
          <p:nvPr/>
        </p:nvSpPr>
        <p:spPr>
          <a:xfrm>
            <a:off x="571500" y="314890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Peak timing varied systematically with the object half-size divided by approach speed, </a:t>
            </a:r>
            <a:r>
              <a:rPr sz="1800" b="1" i="0">
                <a:solidFill>
                  <a:srgbClr val="222B33"/>
                </a:solidFill>
                <a:latin typeface="Arial"/>
                <a:ea typeface="Arial"/>
              </a:rPr>
              <a:t>L/v</a:t>
            </a:r>
            <a:r>
              <a:rPr sz="1800" b="0" i="0">
                <a:solidFill>
                  <a:srgbClr val="222B33"/>
                </a:solidFill>
                <a:latin typeface="Arial"/>
                <a:ea typeface="Arial"/>
              </a:rPr>
              <a:t>. Thus, changes in the physical stimulus shifted the timing of the neural peak in a manner consistent with a similar retinal angular size.</a:t>
            </a:r>
            <a:endParaRPr lang="en-US"/>
          </a:p>
        </p:txBody>
      </p:sp>
      <p:sp>
        <p:nvSpPr>
          <p:cNvPr id="181" name="Shape 181"/>
          <p:cNvSpPr/>
          <p:nvPr/>
        </p:nvSpPr>
        <p:spPr>
          <a:xfrm>
            <a:off x="571500" y="4150519"/>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These neural thresholds approximate the behavioral angular threshold measured in bullfrogs. The agreement supports a contribution to escape timing, but the recordings alone do not demonstrate that any one recorded cell is necessary or sufficient to trigger the jump.</a:t>
            </a:r>
            <a:endParaRPr lang="en-US"/>
          </a:p>
        </p:txBody>
      </p:sp>
      <p:pic>
        <p:nvPicPr>
          <p:cNvPr id="140" name="Presenton Native Image 41" descr=""/>
          <p:cNvPicPr/>
          <p:nvPr/>
        </p:nvPicPr>
        <p:blipFill>
          <a:blip r:embed="rId2" cstate="none"/>
          <a:stretch>
            <a:fillRect/>
          </a:stretch>
        </p:blipFill>
        <p:spPr>
          <a:xfrm>
            <a:off x="571500" y="6379369"/>
            <a:ext cx="11049000" cy="269081"/>
          </a:xfrm>
          <a:prstGeom prst="rect">
            <a:avLst/>
          </a:prstGeom>
        </p:spPr>
      </p:pic>
      <p:sp>
        <p:nvSpPr>
          <p:cNvPr id="182" name="Shape 182"/>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Nakagawa </a:t>
            </a:r>
            <a:r>
              <a:rPr sz="1125" b="0" i="0">
                <a:solidFill>
                  <a:srgbClr val="4E6571"/>
                </a:solidFill>
                <a:latin typeface="Arial"/>
                <a:ea typeface="Arial"/>
              </a:rPr>
              <a:t>&amp;</a:t>
            </a:r>
            <a:r>
              <a:rPr sz="1125" b="0" i="0">
                <a:solidFill>
                  <a:srgbClr val="4E6571"/>
                </a:solidFill>
                <a:latin typeface="Arial"/>
                <a:ea typeface="Arial"/>
              </a:rPr>
              <a:t xml:space="preserve"> Kang (2010); Yamamoto et al. (2003)</a:t>
            </a:r>
            <a:endParaRPr lang="en-US"/>
          </a:p>
        </p:txBody>
      </p:sp>
      <p:sp>
        <p:nvSpPr>
          <p:cNvPr id="183" name="Shape 183"/>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84" name="Shape 184"/>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An η model combines expansion with size dependence</a:t>
            </a:r>
            <a:endParaRPr lang="en-US"/>
          </a:p>
        </p:txBody>
      </p:sp>
      <p:sp>
        <p:nvSpPr>
          <p:cNvPr id="185" name="Shape 185"/>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The bullfrog response can be described by an </a:t>
            </a:r>
            <a:r>
              <a:rPr sz="1800" b="1" i="0">
                <a:solidFill>
                  <a:srgbClr val="222B33"/>
                </a:solidFill>
                <a:latin typeface="Arial"/>
                <a:ea typeface="Arial"/>
              </a:rPr>
              <a:t>η-type function</a:t>
            </a:r>
            <a:r>
              <a:rPr sz="1800" b="0" i="0">
                <a:solidFill>
                  <a:srgbClr val="222B33"/>
                </a:solidFill>
                <a:latin typeface="Arial"/>
                <a:ea typeface="Arial"/>
              </a:rPr>
              <a:t>: r(t) ∝ θ′(t) exp[−αθ(t)]. Here θ is angular size, θ′ its rate of change, and α a fitted parameter controlling the strength of size-dependent attenuation.</a:t>
            </a:r>
            <a:endParaRPr lang="en-US"/>
          </a:p>
        </p:txBody>
      </p:sp>
      <p:sp>
        <p:nvSpPr>
          <p:cNvPr id="186" name="Shape 186"/>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As an object approaches, its expanding edges provide increasing drive through θ′. At the same time, the exponential term becomes smaller as the image grows. Multiplication produces a response that rises and then peaks before collision.</a:t>
            </a:r>
            <a:endParaRPr lang="en-US"/>
          </a:p>
        </p:txBody>
      </p:sp>
      <p:sp>
        <p:nvSpPr>
          <p:cNvPr id="187" name="Shape 187"/>
          <p:cNvSpPr/>
          <p:nvPr/>
        </p:nvSpPr>
        <p:spPr>
          <a:xfrm>
            <a:off x="571500" y="3441502"/>
            <a:ext cx="10972800" cy="585192"/>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Changing L/v shifts when the stimulus reaches a given angular size. A fitted response delay separates the visual event from the time of peak neural activity; those two times should not be conflated.</a:t>
            </a:r>
            <a:endParaRPr lang="en-US"/>
          </a:p>
        </p:txBody>
      </p:sp>
      <p:sp>
        <p:nvSpPr>
          <p:cNvPr id="188" name="Shape 188"/>
          <p:cNvSpPr/>
          <p:nvPr/>
        </p:nvSpPr>
        <p:spPr>
          <a:xfrm>
            <a:off x="571500" y="4150519"/>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The equation captures a measured input–output relationship. It does not identify α with a specific inhibitory synapse, receptor, or ion channel. Establishing the cellular implementation requires recordings and perturbations beyond a successful curve fit.</a:t>
            </a:r>
            <a:endParaRPr lang="en-US"/>
          </a:p>
        </p:txBody>
      </p:sp>
      <p:pic>
        <p:nvPicPr>
          <p:cNvPr id="141" name="Presenton Native Image 42" descr=""/>
          <p:cNvPicPr/>
          <p:nvPr/>
        </p:nvPicPr>
        <p:blipFill>
          <a:blip r:embed="rId2" cstate="none"/>
          <a:stretch>
            <a:fillRect/>
          </a:stretch>
        </p:blipFill>
        <p:spPr>
          <a:xfrm>
            <a:off x="571500" y="6379369"/>
            <a:ext cx="11049000" cy="269081"/>
          </a:xfrm>
          <a:prstGeom prst="rect">
            <a:avLst/>
          </a:prstGeom>
        </p:spPr>
      </p:pic>
      <p:sp>
        <p:nvSpPr>
          <p:cNvPr id="189" name="Shape 189"/>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Nakagawa </a:t>
            </a:r>
            <a:r>
              <a:rPr sz="1125" b="0" i="0">
                <a:solidFill>
                  <a:srgbClr val="4E6571"/>
                </a:solidFill>
                <a:latin typeface="Arial"/>
                <a:ea typeface="Arial"/>
              </a:rPr>
              <a:t>&amp;</a:t>
            </a:r>
            <a:r>
              <a:rPr sz="1125" b="0" i="0">
                <a:solidFill>
                  <a:srgbClr val="4E6571"/>
                </a:solidFill>
                <a:latin typeface="Arial"/>
                <a:ea typeface="Arial"/>
              </a:rPr>
              <a:t xml:space="preserve"> Kang (2010)</a:t>
            </a:r>
            <a:endParaRPr lang="en-US"/>
          </a:p>
        </p:txBody>
      </p:sp>
      <p:sp>
        <p:nvSpPr>
          <p:cNvPr id="190" name="Shape 190"/>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91" name="Shape 191"/>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OFF input can drive oscillatory collision responses</a:t>
            </a:r>
            <a:endParaRPr lang="en-US"/>
          </a:p>
        </p:txBody>
      </p:sp>
      <p:sp>
        <p:nvSpPr>
          <p:cNvPr id="192" name="Shape 192"/>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Baranauskas and colleagues made patch recordings in an integrated frog eye–tectum preparation. This retained retinal input while allowing membrane voltage to be measured in tectal neurons during looming, receding, and light-offset stimuli.</a:t>
            </a:r>
            <a:endParaRPr lang="en-US"/>
          </a:p>
        </p:txBody>
      </p:sp>
      <p:sp>
        <p:nvSpPr>
          <p:cNvPr id="193" name="Shape 193"/>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Of 26 visually responsive layer-6 neurons, </a:t>
            </a:r>
            <a:r>
              <a:rPr sz="1800" b="1" i="0">
                <a:solidFill>
                  <a:srgbClr val="222B33"/>
                </a:solidFill>
                <a:latin typeface="Arial"/>
                <a:ea typeface="Arial"/>
              </a:rPr>
              <a:t>22</a:t>
            </a:r>
            <a:r>
              <a:rPr sz="1800" b="0" i="0">
                <a:solidFill>
                  <a:srgbClr val="222B33"/>
                </a:solidFill>
                <a:latin typeface="Arial"/>
                <a:ea typeface="Arial"/>
              </a:rPr>
              <a:t xml:space="preserve"> met the authors’ η-type collision-detector criteria. Looming produced about </a:t>
            </a:r>
            <a:r>
              <a:rPr sz="1800" b="1" i="0">
                <a:solidFill>
                  <a:srgbClr val="222B33"/>
                </a:solidFill>
                <a:latin typeface="Arial"/>
                <a:ea typeface="Arial"/>
              </a:rPr>
              <a:t>ten times</a:t>
            </a:r>
            <a:r>
              <a:rPr sz="1800" b="0" i="0">
                <a:solidFill>
                  <a:srgbClr val="222B33"/>
                </a:solidFill>
                <a:latin typeface="Arial"/>
                <a:ea typeface="Arial"/>
              </a:rPr>
              <a:t xml:space="preserve"> as many spikes as receding stimulation in the reported comparison.</a:t>
            </a:r>
            <a:endParaRPr lang="en-US"/>
          </a:p>
        </p:txBody>
      </p:sp>
      <p:sp>
        <p:nvSpPr>
          <p:cNvPr id="194" name="Shape 194"/>
          <p:cNvSpPr/>
          <p:nvPr/>
        </p:nvSpPr>
        <p:spPr>
          <a:xfrm>
            <a:off x="571500" y="3441502"/>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Approximately </a:t>
            </a:r>
            <a:r>
              <a:rPr sz="1800" b="1" i="0">
                <a:solidFill>
                  <a:srgbClr val="222B33"/>
                </a:solidFill>
                <a:latin typeface="Arial"/>
                <a:ea typeface="Arial"/>
              </a:rPr>
              <a:t>20 Hz</a:t>
            </a:r>
            <a:r>
              <a:rPr sz="1800" b="0" i="0">
                <a:solidFill>
                  <a:srgbClr val="222B33"/>
                </a:solidFill>
                <a:latin typeface="Arial"/>
                <a:ea typeface="Arial"/>
              </a:rPr>
              <a:t xml:space="preserve"> membrane-potential oscillations occurred in </a:t>
            </a:r>
            <a:r>
              <a:rPr sz="1800" b="1" i="0">
                <a:solidFill>
                  <a:srgbClr val="222B33"/>
                </a:solidFill>
                <a:latin typeface="Arial"/>
                <a:ea typeface="Arial"/>
              </a:rPr>
              <a:t>15 of those 22 neurons</a:t>
            </a:r>
            <a:r>
              <a:rPr sz="1800" b="0" i="0">
                <a:solidFill>
                  <a:srgbClr val="222B33"/>
                </a:solidFill>
                <a:latin typeface="Arial"/>
                <a:ea typeface="Arial"/>
              </a:rPr>
              <a:t>, during looming and when the lights were turned off. Their occurrence under both conditions supports a contribution from OFF retinal signals.</a:t>
            </a:r>
            <a:endParaRPr lang="en-US"/>
          </a:p>
        </p:txBody>
      </p:sp>
      <p:sp>
        <p:nvSpPr>
          <p:cNvPr id="195" name="Shape 195"/>
          <p:cNvSpPr/>
          <p:nvPr/>
        </p:nvSpPr>
        <p:spPr>
          <a:xfrm>
            <a:off x="571500" y="444311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The authors interpreted the oscillations as synaptically driven. These recordings do not establish an intrinsic 20 Hz pacemaker, identify its ion channels, or imply that every collision-sensitive neuron needs an oscillation to respond.</a:t>
            </a:r>
            <a:endParaRPr lang="en-US"/>
          </a:p>
        </p:txBody>
      </p:sp>
      <p:pic>
        <p:nvPicPr>
          <p:cNvPr id="142" name="Presenton Native Image 43" descr=""/>
          <p:cNvPicPr/>
          <p:nvPr/>
        </p:nvPicPr>
        <p:blipFill>
          <a:blip r:embed="rId2" cstate="none"/>
          <a:stretch>
            <a:fillRect/>
          </a:stretch>
        </p:blipFill>
        <p:spPr>
          <a:xfrm>
            <a:off x="571500" y="6379369"/>
            <a:ext cx="11049000" cy="269081"/>
          </a:xfrm>
          <a:prstGeom prst="rect">
            <a:avLst/>
          </a:prstGeom>
        </p:spPr>
      </p:pic>
      <p:sp>
        <p:nvSpPr>
          <p:cNvPr id="196" name="Shape 196"/>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Baranauskas et al. (2012)</a:t>
            </a:r>
            <a:endParaRPr lang="en-US"/>
          </a:p>
        </p:txBody>
      </p:sp>
      <p:sp>
        <p:nvSpPr>
          <p:cNvPr id="197" name="Shape 197"/>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198" name="Shape 198"/>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Escape direction depends on available space</a:t>
            </a:r>
            <a:endParaRPr lang="en-US"/>
          </a:p>
        </p:txBody>
      </p:sp>
      <p:sp>
        <p:nvSpPr>
          <p:cNvPr id="199" name="Shape 199"/>
          <p:cNvSpPr/>
          <p:nvPr/>
        </p:nvSpPr>
        <p:spPr>
          <a:xfrm>
            <a:off x="571500" y="1390650"/>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Nakagawa and Nishida mapped the positions of overhead looming stimuli against the directions of bullfrog escape jumps. The original polar plot places the frog at the center; each dot locates a stimulus, and its short bar indicates the resulting escape direction.</a:t>
            </a:r>
            <a:endParaRPr lang="en-US"/>
          </a:p>
        </p:txBody>
      </p:sp>
      <p:sp>
        <p:nvSpPr>
          <p:cNvPr id="200" name="Shape 200"/>
          <p:cNvSpPr/>
          <p:nvPr/>
        </p:nvSpPr>
        <p:spPr>
          <a:xfrm>
            <a:off x="571500" y="2715518"/>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 xml:space="preserve">The apparent result is surprising: frogs often turned obliquely </a:t>
            </a:r>
            <a:r>
              <a:rPr sz="1725" b="1" i="0">
                <a:solidFill>
                  <a:srgbClr val="222B33"/>
                </a:solidFill>
                <a:latin typeface="Arial"/>
                <a:ea typeface="Arial"/>
              </a:rPr>
              <a:t>toward</a:t>
            </a:r>
            <a:r>
              <a:rPr sz="1725" b="0" i="0">
                <a:solidFill>
                  <a:srgbClr val="222B33"/>
                </a:solidFill>
                <a:latin typeface="Arial"/>
                <a:ea typeface="Arial"/>
              </a:rPr>
              <a:t xml:space="preserve"> the stimulus location. They commonly rested near a wall or corner, and their jumps were directed away from that nearby barrier.</a:t>
            </a:r>
            <a:endParaRPr lang="en-US"/>
          </a:p>
        </p:txBody>
      </p:sp>
      <p:sp>
        <p:nvSpPr>
          <p:cNvPr id="201" name="Shape 201"/>
          <p:cNvSpPr/>
          <p:nvPr/>
        </p:nvSpPr>
        <p:spPr>
          <a:xfrm>
            <a:off x="571500" y="3790652"/>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Because the stimulus approached from above, moving toward its horizontal bearing could still avoid the occupied trajectory while preventing a collision with the wall. “Escape” therefore cannot be reduced to a fixed rule of turning opposite the visual stimulus.</a:t>
            </a:r>
            <a:endParaRPr lang="en-US"/>
          </a:p>
        </p:txBody>
      </p:sp>
      <p:sp>
        <p:nvSpPr>
          <p:cNvPr id="202" name="Shape 202"/>
          <p:cNvSpPr/>
          <p:nvPr/>
        </p:nvSpPr>
        <p:spPr>
          <a:xfrm>
            <a:off x="571500" y="5115520"/>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The neural system must combine threat information with the animal’s posture and surrounding space. The experiment demonstrates context-dependent trajectories; it does not directly record the neurons encoding the barrier.</a:t>
            </a:r>
            <a:endParaRPr lang="en-US"/>
          </a:p>
        </p:txBody>
      </p:sp>
      <p:pic>
        <p:nvPicPr>
          <p:cNvPr id="143" name="Presenton Native Image 44" descr=""/>
          <p:cNvPicPr/>
          <p:nvPr/>
        </p:nvPicPr>
        <p:blipFill>
          <a:blip r:embed="rId3" cstate="none"/>
          <a:stretch>
            <a:fillRect/>
          </a:stretch>
        </p:blipFill>
        <p:spPr>
          <a:xfrm>
            <a:off x="7354798" y="1465064"/>
            <a:ext cx="3997504" cy="3981450"/>
          </a:xfrm>
          <a:prstGeom prst="rect">
            <a:avLst/>
          </a:prstGeom>
        </p:spPr>
      </p:pic>
      <p:sp>
        <p:nvSpPr>
          <p:cNvPr id="203" name="Shape 203"/>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4E6571"/>
                </a:solidFill>
                <a:latin typeface="Arial"/>
                <a:ea typeface="Arial"/>
              </a:rPr>
              <a:t xml:space="preserve">Nakagawa </a:t>
            </a:r>
            <a:r>
              <a:rPr sz="1200" b="0" i="0">
                <a:solidFill>
                  <a:srgbClr val="4E6571"/>
                </a:solidFill>
                <a:latin typeface="Arial"/>
                <a:ea typeface="Arial"/>
              </a:rPr>
              <a:t>&amp;</a:t>
            </a:r>
            <a:r>
              <a:rPr sz="1200" b="0" i="0">
                <a:solidFill>
                  <a:srgbClr val="4E6571"/>
                </a:solidFill>
                <a:latin typeface="Arial"/>
                <a:ea typeface="Arial"/>
              </a:rPr>
              <a:t xml:space="preserve"> Nishida (2012), Fig. 1. Dots: stimulus positions; short bars: escape directions.</a:t>
            </a:r>
            <a:endParaRPr lang="en-US"/>
          </a:p>
        </p:txBody>
      </p:sp>
      <p:pic>
        <p:nvPicPr>
          <p:cNvPr id="144" name="Presenton Native Image 45" descr=""/>
          <p:cNvPicPr/>
          <p:nvPr/>
        </p:nvPicPr>
        <p:blipFill>
          <a:blip r:embed="rId2" cstate="none"/>
          <a:stretch>
            <a:fillRect/>
          </a:stretch>
        </p:blipFill>
        <p:spPr>
          <a:xfrm>
            <a:off x="571500" y="6379369"/>
            <a:ext cx="11049000" cy="269081"/>
          </a:xfrm>
          <a:prstGeom prst="rect">
            <a:avLst/>
          </a:prstGeom>
        </p:spPr>
      </p:pic>
      <p:sp>
        <p:nvSpPr>
          <p:cNvPr id="204" name="Shape 204"/>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Nakagawa </a:t>
            </a:r>
            <a:r>
              <a:rPr sz="1125" b="0" i="0">
                <a:solidFill>
                  <a:srgbClr val="4E6571"/>
                </a:solidFill>
                <a:latin typeface="Arial"/>
                <a:ea typeface="Arial"/>
              </a:rPr>
              <a:t>&amp;</a:t>
            </a:r>
            <a:r>
              <a:rPr sz="1125" b="0" i="0">
                <a:solidFill>
                  <a:srgbClr val="4E6571"/>
                </a:solidFill>
                <a:latin typeface="Arial"/>
                <a:ea typeface="Arial"/>
              </a:rPr>
              <a:t xml:space="preserve"> Nishida (2012)</a:t>
            </a:r>
            <a:endParaRPr lang="en-US"/>
          </a:p>
        </p:txBody>
      </p:sp>
      <p:sp>
        <p:nvSpPr>
          <p:cNvPr id="205" name="Shape 205"/>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206" name="Shape 206"/>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Larger escape turns begin at smaller visual angles</a:t>
            </a:r>
            <a:endParaRPr lang="en-US"/>
          </a:p>
        </p:txBody>
      </p:sp>
      <p:sp>
        <p:nvSpPr>
          <p:cNvPr id="207" name="Shape 207"/>
          <p:cNvSpPr/>
          <p:nvPr/>
        </p:nvSpPr>
        <p:spPr>
          <a:xfrm>
            <a:off x="571500" y="1390650"/>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The same behavioral study compared escape-turn angle α with the looming object’s angular size at movement onset, θth. Starting at a smaller angular size means beginning earlier in the approach sequence.</a:t>
            </a:r>
            <a:endParaRPr lang="en-US"/>
          </a:p>
        </p:txBody>
      </p:sp>
      <p:sp>
        <p:nvSpPr>
          <p:cNvPr id="208" name="Shape 208"/>
          <p:cNvSpPr/>
          <p:nvPr/>
        </p:nvSpPr>
        <p:spPr>
          <a:xfrm>
            <a:off x="571500" y="2465784"/>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 xml:space="preserve">The original scatter plot shows a modest negative relationship: </a:t>
            </a:r>
            <a:r>
              <a:rPr sz="1725" b="1" i="0">
                <a:solidFill>
                  <a:srgbClr val="222B33"/>
                </a:solidFill>
                <a:latin typeface="Arial"/>
                <a:ea typeface="Arial"/>
              </a:rPr>
              <a:t xml:space="preserve">r² = 0.1145, P </a:t>
            </a:r>
            <a:r>
              <a:rPr sz="1725" b="1" i="0">
                <a:solidFill>
                  <a:srgbClr val="222B33"/>
                </a:solidFill>
                <a:latin typeface="Arial"/>
                <a:ea typeface="Arial"/>
              </a:rPr>
              <a:t>&lt;</a:t>
            </a:r>
            <a:r>
              <a:rPr sz="1725" b="1" i="0">
                <a:solidFill>
                  <a:srgbClr val="222B33"/>
                </a:solidFill>
                <a:latin typeface="Arial"/>
                <a:ea typeface="Arial"/>
              </a:rPr>
              <a:t xml:space="preserve"> 0.05</a:t>
            </a:r>
            <a:r>
              <a:rPr sz="1725" b="0" i="0">
                <a:solidFill>
                  <a:srgbClr val="222B33"/>
                </a:solidFill>
                <a:latin typeface="Arial"/>
                <a:ea typeface="Arial"/>
              </a:rPr>
              <a:t>. Larger turns tended to begin at smaller stimulus angles. Forward jumps also had a larger mean onset angle than backward jumps.</a:t>
            </a:r>
            <a:endParaRPr lang="en-US"/>
          </a:p>
        </p:txBody>
      </p:sp>
      <p:sp>
        <p:nvSpPr>
          <p:cNvPr id="209" name="Shape 209"/>
          <p:cNvSpPr/>
          <p:nvPr/>
        </p:nvSpPr>
        <p:spPr>
          <a:xfrm>
            <a:off x="571500" y="3540919"/>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The small r² means that turn angle explains only a limited portion of threshold variation. The result modifies a rigid threshold account without implying that turn amplitude determines every escape onset.</a:t>
            </a:r>
            <a:endParaRPr lang="en-US"/>
          </a:p>
        </p:txBody>
      </p:sp>
      <p:sp>
        <p:nvSpPr>
          <p:cNvPr id="210" name="Shape 210"/>
          <p:cNvSpPr/>
          <p:nvPr/>
        </p:nvSpPr>
        <p:spPr>
          <a:xfrm>
            <a:off x="571500" y="4616053"/>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Beginning a large turn earlier can provide additional time to complete it. The authors interpreted this coordination as evidence consistent with motor planning; no planning neuron or pretectal threshold-adjustment mechanism was recorded in this experiment.</a:t>
            </a:r>
            <a:endParaRPr lang="en-US"/>
          </a:p>
        </p:txBody>
      </p:sp>
      <p:pic>
        <p:nvPicPr>
          <p:cNvPr id="145" name="Presenton Native Image 46" descr=""/>
          <p:cNvPicPr/>
          <p:nvPr/>
        </p:nvPicPr>
        <p:blipFill>
          <a:blip r:embed="rId3" cstate="none"/>
          <a:stretch>
            <a:fillRect/>
          </a:stretch>
        </p:blipFill>
        <p:spPr>
          <a:xfrm>
            <a:off x="7086600" y="2045607"/>
            <a:ext cx="4533900" cy="2820365"/>
          </a:xfrm>
          <a:prstGeom prst="rect">
            <a:avLst/>
          </a:prstGeom>
        </p:spPr>
      </p:pic>
      <p:sp>
        <p:nvSpPr>
          <p:cNvPr id="211" name="Shape 211"/>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4E6571"/>
                </a:solidFill>
                <a:latin typeface="Arial"/>
                <a:ea typeface="Arial"/>
              </a:rPr>
              <a:t xml:space="preserve">Nakagawa </a:t>
            </a:r>
            <a:r>
              <a:rPr sz="1200" b="0" i="0">
                <a:solidFill>
                  <a:srgbClr val="4E6571"/>
                </a:solidFill>
                <a:latin typeface="Arial"/>
                <a:ea typeface="Arial"/>
              </a:rPr>
              <a:t>&amp;</a:t>
            </a:r>
            <a:r>
              <a:rPr sz="1200" b="0" i="0">
                <a:solidFill>
                  <a:srgbClr val="4E6571"/>
                </a:solidFill>
                <a:latin typeface="Arial"/>
                <a:ea typeface="Arial"/>
              </a:rPr>
              <a:t xml:space="preserve"> Nishida (2012), Fig. 4. Each point is an escape event; right turns are reflected around the midline.</a:t>
            </a:r>
            <a:endParaRPr lang="en-US"/>
          </a:p>
        </p:txBody>
      </p:sp>
      <p:pic>
        <p:nvPicPr>
          <p:cNvPr id="146" name="Presenton Native Image 47" descr=""/>
          <p:cNvPicPr/>
          <p:nvPr/>
        </p:nvPicPr>
        <p:blipFill>
          <a:blip r:embed="rId2" cstate="none"/>
          <a:stretch>
            <a:fillRect/>
          </a:stretch>
        </p:blipFill>
        <p:spPr>
          <a:xfrm>
            <a:off x="571500" y="6379369"/>
            <a:ext cx="11049000" cy="269081"/>
          </a:xfrm>
          <a:prstGeom prst="rect">
            <a:avLst/>
          </a:prstGeom>
        </p:spPr>
      </p:pic>
      <p:sp>
        <p:nvSpPr>
          <p:cNvPr id="212" name="Shape 212"/>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Nakagawa </a:t>
            </a:r>
            <a:r>
              <a:rPr sz="1125" b="0" i="0">
                <a:solidFill>
                  <a:srgbClr val="4E6571"/>
                </a:solidFill>
                <a:latin typeface="Arial"/>
                <a:ea typeface="Arial"/>
              </a:rPr>
              <a:t>&amp;</a:t>
            </a:r>
            <a:r>
              <a:rPr sz="1125" b="0" i="0">
                <a:solidFill>
                  <a:srgbClr val="4E6571"/>
                </a:solidFill>
                <a:latin typeface="Arial"/>
                <a:ea typeface="Arial"/>
              </a:rPr>
              <a:t xml:space="preserve"> Nishida (2012)</a:t>
            </a:r>
            <a:endParaRPr lang="en-US"/>
          </a:p>
        </p:txBody>
      </p:sp>
      <p:sp>
        <p:nvSpPr>
          <p:cNvPr id="213" name="Shape 213"/>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214" name="Shape 214"/>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Turn speed and onset timing share the motor demand</a:t>
            </a:r>
            <a:endParaRPr lang="en-US"/>
          </a:p>
        </p:txBody>
      </p:sp>
      <p:pic>
        <p:nvPicPr>
          <p:cNvPr id="147" name="Presenton Native Image 48" descr=""/>
          <p:cNvPicPr/>
          <p:nvPr/>
        </p:nvPicPr>
        <p:blipFill>
          <a:blip r:embed="rId3" cstate="none"/>
          <a:stretch>
            <a:fillRect/>
          </a:stretch>
        </p:blipFill>
        <p:spPr>
          <a:xfrm>
            <a:off x="3163222" y="1019175"/>
            <a:ext cx="5865556" cy="2190750"/>
          </a:xfrm>
          <a:prstGeom prst="rect">
            <a:avLst/>
          </a:prstGeom>
        </p:spPr>
      </p:pic>
      <p:sp>
        <p:nvSpPr>
          <p:cNvPr id="215" name="Shape 215"/>
          <p:cNvSpPr/>
          <p:nvPr/>
        </p:nvSpPr>
        <p:spPr>
          <a:xfrm>
            <a:off x="571500" y="3267075"/>
            <a:ext cx="11068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Nakagawa </a:t>
            </a:r>
            <a:r>
              <a:rPr sz="1125" b="0" i="0">
                <a:solidFill>
                  <a:srgbClr val="4E6571"/>
                </a:solidFill>
                <a:latin typeface="Arial"/>
                <a:ea typeface="Arial"/>
              </a:rPr>
              <a:t>&amp;</a:t>
            </a:r>
            <a:r>
              <a:rPr sz="1125" b="0" i="0">
                <a:solidFill>
                  <a:srgbClr val="4E6571"/>
                </a:solidFill>
                <a:latin typeface="Arial"/>
                <a:ea typeface="Arial"/>
              </a:rPr>
              <a:t xml:space="preserve"> Nishida (2012), Fig. 6. A: turns </a:t>
            </a:r>
            <a:r>
              <a:rPr sz="1125" b="0" i="0">
                <a:solidFill>
                  <a:srgbClr val="4E6571"/>
                </a:solidFill>
                <a:latin typeface="Arial"/>
                <a:ea typeface="Arial"/>
              </a:rPr>
              <a:t>&lt;</a:t>
            </a:r>
            <a:r>
              <a:rPr sz="1125" b="0" i="0">
                <a:solidFill>
                  <a:srgbClr val="4E6571"/>
                </a:solidFill>
                <a:latin typeface="Arial"/>
                <a:ea typeface="Arial"/>
              </a:rPr>
              <a:t xml:space="preserve">60°; B: turns </a:t>
            </a:r>
            <a:r>
              <a:rPr sz="1125" b="0" i="0">
                <a:solidFill>
                  <a:srgbClr val="4E6571"/>
                </a:solidFill>
                <a:latin typeface="Arial"/>
                <a:ea typeface="Arial"/>
              </a:rPr>
              <a:t>&gt;</a:t>
            </a:r>
            <a:r>
              <a:rPr sz="1125" b="0" i="0">
                <a:solidFill>
                  <a:srgbClr val="4E6571"/>
                </a:solidFill>
                <a:latin typeface="Arial"/>
                <a:ea typeface="Arial"/>
              </a:rPr>
              <a:t>60°. Axes plot velocity versus onset angle.</a:t>
            </a:r>
            <a:endParaRPr lang="en-US"/>
          </a:p>
        </p:txBody>
      </p:sp>
      <p:sp>
        <p:nvSpPr>
          <p:cNvPr id="216" name="Shape 216"/>
          <p:cNvSpPr/>
          <p:nvPr/>
        </p:nvSpPr>
        <p:spPr>
          <a:xfrm>
            <a:off x="571500" y="3686175"/>
            <a:ext cx="5257800" cy="972145"/>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For turns smaller than 60°, angular velocity scaled strongly with turn angle (</a:t>
            </a:r>
            <a:r>
              <a:rPr sz="1650" b="1" i="0">
                <a:solidFill>
                  <a:srgbClr val="222B33"/>
                </a:solidFill>
                <a:latin typeface="Arial"/>
                <a:ea typeface="Arial"/>
              </a:rPr>
              <a:t xml:space="preserve">r² = 0.7097, P </a:t>
            </a:r>
            <a:r>
              <a:rPr sz="1650" b="1" i="0">
                <a:solidFill>
                  <a:srgbClr val="222B33"/>
                </a:solidFill>
                <a:latin typeface="Arial"/>
                <a:ea typeface="Arial"/>
              </a:rPr>
              <a:t>&lt;</a:t>
            </a:r>
            <a:r>
              <a:rPr sz="1650" b="1" i="0">
                <a:solidFill>
                  <a:srgbClr val="222B33"/>
                </a:solidFill>
                <a:latin typeface="Arial"/>
                <a:ea typeface="Arial"/>
              </a:rPr>
              <a:t xml:space="preserve"> 0.05</a:t>
            </a:r>
            <a:r>
              <a:rPr sz="1650" b="0" i="0">
                <a:solidFill>
                  <a:srgbClr val="222B33"/>
                </a:solidFill>
                <a:latin typeface="Arial"/>
                <a:ea typeface="Arial"/>
              </a:rPr>
              <a:t>). For larger turns, that relation was weak and nonsignificant (</a:t>
            </a:r>
            <a:r>
              <a:rPr sz="1650" b="1" i="0">
                <a:solidFill>
                  <a:srgbClr val="222B33"/>
                </a:solidFill>
                <a:latin typeface="Arial"/>
                <a:ea typeface="Arial"/>
              </a:rPr>
              <a:t xml:space="preserve">r² = 0.065, P </a:t>
            </a:r>
            <a:r>
              <a:rPr sz="1650" b="1" i="0">
                <a:solidFill>
                  <a:srgbClr val="222B33"/>
                </a:solidFill>
                <a:latin typeface="Arial"/>
                <a:ea typeface="Arial"/>
              </a:rPr>
              <a:t>&gt;</a:t>
            </a:r>
            <a:r>
              <a:rPr sz="1650" b="1" i="0">
                <a:solidFill>
                  <a:srgbClr val="222B33"/>
                </a:solidFill>
                <a:latin typeface="Arial"/>
                <a:ea typeface="Arial"/>
              </a:rPr>
              <a:t xml:space="preserve"> 0.05</a:t>
            </a:r>
            <a:r>
              <a:rPr sz="1650" b="0" i="0">
                <a:solidFill>
                  <a:srgbClr val="222B33"/>
                </a:solidFill>
                <a:latin typeface="Arial"/>
                <a:ea typeface="Arial"/>
              </a:rPr>
              <a:t>).</a:t>
            </a:r>
            <a:endParaRPr lang="en-US"/>
          </a:p>
        </p:txBody>
      </p:sp>
      <p:sp>
        <p:nvSpPr>
          <p:cNvPr id="217" name="Shape 217"/>
          <p:cNvSpPr/>
          <p:nvPr/>
        </p:nvSpPr>
        <p:spPr>
          <a:xfrm>
            <a:off x="571500" y="4724995"/>
            <a:ext cx="5257800" cy="972145"/>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The displayed panels test a different relation: turn velocity versus stimulus angle at escape onset. For small turns, this relationship was nonsignificant; for larger turns, it was positive (</a:t>
            </a:r>
            <a:r>
              <a:rPr sz="1650" b="1" i="0">
                <a:solidFill>
                  <a:srgbClr val="222B33"/>
                </a:solidFill>
                <a:latin typeface="Arial"/>
                <a:ea typeface="Arial"/>
              </a:rPr>
              <a:t xml:space="preserve">r² = 0.1459, P </a:t>
            </a:r>
            <a:r>
              <a:rPr sz="1650" b="1" i="0">
                <a:solidFill>
                  <a:srgbClr val="222B33"/>
                </a:solidFill>
                <a:latin typeface="Arial"/>
                <a:ea typeface="Arial"/>
              </a:rPr>
              <a:t>&lt;</a:t>
            </a:r>
            <a:r>
              <a:rPr sz="1650" b="1" i="0">
                <a:solidFill>
                  <a:srgbClr val="222B33"/>
                </a:solidFill>
                <a:latin typeface="Arial"/>
                <a:ea typeface="Arial"/>
              </a:rPr>
              <a:t xml:space="preserve"> 0.05</a:t>
            </a:r>
            <a:r>
              <a:rPr sz="1650" b="0" i="0">
                <a:solidFill>
                  <a:srgbClr val="222B33"/>
                </a:solidFill>
                <a:latin typeface="Arial"/>
                <a:ea typeface="Arial"/>
              </a:rPr>
              <a:t>).</a:t>
            </a:r>
            <a:endParaRPr lang="en-US"/>
          </a:p>
        </p:txBody>
      </p:sp>
      <p:sp>
        <p:nvSpPr>
          <p:cNvPr id="218" name="Shape 218"/>
          <p:cNvSpPr/>
          <p:nvPr/>
        </p:nvSpPr>
        <p:spPr>
          <a:xfrm>
            <a:off x="6353175" y="3686175"/>
            <a:ext cx="5286375"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Together, the results suggest that small turns can be accommodated largely by changing speed, whereas larger turns also recruit a change in when movement begins. Speed and available time jointly determine whether an escape can be completed.</a:t>
            </a:r>
            <a:endParaRPr lang="en-US"/>
          </a:p>
        </p:txBody>
      </p:sp>
      <p:sp>
        <p:nvSpPr>
          <p:cNvPr id="219" name="Shape 219"/>
          <p:cNvSpPr/>
          <p:nvPr/>
        </p:nvSpPr>
        <p:spPr>
          <a:xfrm>
            <a:off x="6353175" y="4968032"/>
            <a:ext cx="5286375" cy="972145"/>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These correlations describe behavioral coordination. They constrain a sensorimotor model but do not reveal a dedicated pretectal “motor planner” or prove that the same mechanism controls every turn.</a:t>
            </a:r>
            <a:endParaRPr lang="en-US"/>
          </a:p>
        </p:txBody>
      </p:sp>
      <p:pic>
        <p:nvPicPr>
          <p:cNvPr id="148" name="Presenton Native Image 49" descr=""/>
          <p:cNvPicPr/>
          <p:nvPr/>
        </p:nvPicPr>
        <p:blipFill>
          <a:blip r:embed="rId2" cstate="none"/>
          <a:stretch>
            <a:fillRect/>
          </a:stretch>
        </p:blipFill>
        <p:spPr>
          <a:xfrm>
            <a:off x="571500" y="6379369"/>
            <a:ext cx="11049000" cy="269081"/>
          </a:xfrm>
          <a:prstGeom prst="rect">
            <a:avLst/>
          </a:prstGeom>
        </p:spPr>
      </p:pic>
      <p:sp>
        <p:nvSpPr>
          <p:cNvPr id="220" name="Shape 220"/>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Nakagawa </a:t>
            </a:r>
            <a:r>
              <a:rPr sz="1125" b="0" i="0">
                <a:solidFill>
                  <a:srgbClr val="4E6571"/>
                </a:solidFill>
                <a:latin typeface="Arial"/>
                <a:ea typeface="Arial"/>
              </a:rPr>
              <a:t>&amp;</a:t>
            </a:r>
            <a:r>
              <a:rPr sz="1125" b="0" i="0">
                <a:solidFill>
                  <a:srgbClr val="4E6571"/>
                </a:solidFill>
                <a:latin typeface="Arial"/>
                <a:ea typeface="Arial"/>
              </a:rPr>
              <a:t xml:space="preserve"> Nishida (2012)</a:t>
            </a:r>
            <a:endParaRPr lang="en-US"/>
          </a:p>
        </p:txBody>
      </p:sp>
      <p:sp>
        <p:nvSpPr>
          <p:cNvPr id="221" name="Shape 221"/>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222" name="Shape 222"/>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Medullary neurons combine visual and tactile signals</a:t>
            </a:r>
            <a:endParaRPr lang="en-US"/>
          </a:p>
        </p:txBody>
      </p:sp>
      <p:sp>
        <p:nvSpPr>
          <p:cNvPr id="223" name="Shape 223"/>
          <p:cNvSpPr/>
          <p:nvPr/>
        </p:nvSpPr>
        <p:spPr>
          <a:xfrm>
            <a:off x="571500" y="1390650"/>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Visual classification must ultimately reach circuits that organize body movement. Recordings in the common toad’s medial reticular formation identified neurons responsive to moving prey and predator configurations.</a:t>
            </a:r>
            <a:endParaRPr lang="en-US"/>
          </a:p>
        </p:txBody>
      </p:sp>
      <p:sp>
        <p:nvSpPr>
          <p:cNvPr id="224" name="Shape 224"/>
          <p:cNvSpPr/>
          <p:nvPr/>
        </p:nvSpPr>
        <p:spPr>
          <a:xfrm>
            <a:off x="571500" y="2465784"/>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Some neurons responded to both visual and tactile stimuli. Their broad receptive fields and lack of a clear local retinotopic arrangement contrast with the ordered spatial representation in the optic tectum.</a:t>
            </a:r>
            <a:endParaRPr lang="en-US"/>
          </a:p>
        </p:txBody>
      </p:sp>
      <p:sp>
        <p:nvSpPr>
          <p:cNvPr id="225" name="Shape 225"/>
          <p:cNvSpPr/>
          <p:nvPr/>
        </p:nvSpPr>
        <p:spPr>
          <a:xfrm>
            <a:off x="571500" y="3540919"/>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Intracellular recording followed by cobalt-lysine labeling linked response properties to morphology. The original panel pairs a reconstructed neuron with its response to a worm stimulus (W); this particular trace establishes visual responsiveness, rather than predator selectivity.</a:t>
            </a:r>
            <a:endParaRPr lang="en-US"/>
          </a:p>
        </p:txBody>
      </p:sp>
      <p:sp>
        <p:nvSpPr>
          <p:cNvPr id="226" name="Shape 226"/>
          <p:cNvSpPr/>
          <p:nvPr/>
        </p:nvSpPr>
        <p:spPr>
          <a:xfrm>
            <a:off x="571500" y="4865787"/>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Tonic, increasing, and cyclic activity support diverse transformations of sensory input. The complete pathway from an identified pretectal class to particular escape muscles remains incompletely mapped.</a:t>
            </a:r>
            <a:endParaRPr lang="en-US"/>
          </a:p>
        </p:txBody>
      </p:sp>
      <p:pic>
        <p:nvPicPr>
          <p:cNvPr id="149" name="Presenton Native Image 50" descr=""/>
          <p:cNvPicPr/>
          <p:nvPr/>
        </p:nvPicPr>
        <p:blipFill>
          <a:blip r:embed="rId3" cstate="none"/>
          <a:stretch>
            <a:fillRect/>
          </a:stretch>
        </p:blipFill>
        <p:spPr>
          <a:xfrm>
            <a:off x="7086600" y="1694144"/>
            <a:ext cx="4533900" cy="3523290"/>
          </a:xfrm>
          <a:prstGeom prst="rect">
            <a:avLst/>
          </a:prstGeom>
        </p:spPr>
      </p:pic>
      <p:sp>
        <p:nvSpPr>
          <p:cNvPr id="227" name="Shape 227"/>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4E6571"/>
                </a:solidFill>
                <a:latin typeface="Arial"/>
                <a:ea typeface="Arial"/>
              </a:rPr>
              <a:t>Ewert (1995), Fig. 12, selected medullary-cell panel; original recording/labeling work: Schwippert et al. (1990).</a:t>
            </a:r>
            <a:endParaRPr lang="en-US"/>
          </a:p>
        </p:txBody>
      </p:sp>
      <p:pic>
        <p:nvPicPr>
          <p:cNvPr id="150" name="Presenton Native Image 51" descr=""/>
          <p:cNvPicPr/>
          <p:nvPr/>
        </p:nvPicPr>
        <p:blipFill>
          <a:blip r:embed="rId2" cstate="none"/>
          <a:stretch>
            <a:fillRect/>
          </a:stretch>
        </p:blipFill>
        <p:spPr>
          <a:xfrm>
            <a:off x="571500" y="6379369"/>
            <a:ext cx="11049000" cy="269081"/>
          </a:xfrm>
          <a:prstGeom prst="rect">
            <a:avLst/>
          </a:prstGeom>
        </p:spPr>
      </p:pic>
      <p:sp>
        <p:nvSpPr>
          <p:cNvPr id="228" name="Shape 228"/>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Ewert et al. (1990); Schwippert et al. (1990); Ewert (1995)</a:t>
            </a:r>
            <a:endParaRPr lang="en-US"/>
          </a:p>
        </p:txBody>
      </p:sp>
      <p:sp>
        <p:nvSpPr>
          <p:cNvPr id="229" name="Shape 229"/>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230" name="Shape 230"/>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Ionotropic receptors control tectal integration</a:t>
            </a:r>
            <a:endParaRPr lang="en-US"/>
          </a:p>
        </p:txBody>
      </p:sp>
      <p:sp>
        <p:nvSpPr>
          <p:cNvPr id="231" name="Shape 231"/>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In developing Xenopus tectum, retinal excitation and local network activity converge onto neurons that generate visual responses. </a:t>
            </a:r>
            <a:r>
              <a:rPr sz="1800" b="1" i="0">
                <a:solidFill>
                  <a:srgbClr val="222B33"/>
                </a:solidFill>
                <a:latin typeface="Arial"/>
                <a:ea typeface="Arial"/>
              </a:rPr>
              <a:t>AMPA receptors</a:t>
            </a:r>
            <a:r>
              <a:rPr sz="1800" b="0" i="0">
                <a:solidFill>
                  <a:srgbClr val="222B33"/>
                </a:solidFill>
                <a:latin typeface="Arial"/>
                <a:ea typeface="Arial"/>
              </a:rPr>
              <a:t xml:space="preserve"> are glutamate-gated cation channels that provide rapid excitatory current and promote depolarization.</a:t>
            </a:r>
            <a:endParaRPr lang="en-US"/>
          </a:p>
        </p:txBody>
      </p:sp>
      <p:sp>
        <p:nvSpPr>
          <p:cNvPr id="232" name="Shape 232"/>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1" i="0">
                <a:solidFill>
                  <a:srgbClr val="222B33"/>
                </a:solidFill>
                <a:latin typeface="Arial"/>
                <a:ea typeface="Arial"/>
              </a:rPr>
              <a:t>NMDA receptors</a:t>
            </a:r>
            <a:r>
              <a:rPr sz="1800" b="0" i="0">
                <a:solidFill>
                  <a:srgbClr val="222B33"/>
                </a:solidFill>
                <a:latin typeface="Arial"/>
                <a:ea typeface="Arial"/>
              </a:rPr>
              <a:t xml:space="preserve"> also respond to glutamate, but their voltage-dependent magnesium block makes current depend on postsynaptic depolarization. Their slower current and calcium permeability can link coincident activity to integration and synaptic change.</a:t>
            </a:r>
            <a:endParaRPr lang="en-US"/>
          </a:p>
        </p:txBody>
      </p:sp>
      <p:sp>
        <p:nvSpPr>
          <p:cNvPr id="233" name="Shape 233"/>
          <p:cNvSpPr/>
          <p:nvPr/>
        </p:nvSpPr>
        <p:spPr>
          <a:xfrm>
            <a:off x="571500" y="3441502"/>
            <a:ext cx="10972800" cy="877788"/>
          </a:xfrm>
          <a:prstGeom prst="rect">
            <a:avLst/>
          </a:prstGeom>
          <a:noFill/>
        </p:spPr>
        <p:txBody>
          <a:bodyPr anchor="t" wrap="square" tIns="0" bIns="0" lIns="0" rIns="0">
            <a:normAutofit/>
          </a:bodyPr>
          <a:lstStyle/>
          <a:p>
            <a:pPr algn="l">
              <a:lnSpc>
                <a:spcPts val="2304"/>
              </a:lnSpc>
              <a:buNone/>
            </a:pPr>
            <a:r>
              <a:rPr sz="1800" b="1" i="0">
                <a:solidFill>
                  <a:srgbClr val="222B33"/>
                </a:solidFill>
                <a:latin typeface="Arial"/>
                <a:ea typeface="Arial"/>
              </a:rPr>
              <a:t>GABAA receptors</a:t>
            </a:r>
            <a:r>
              <a:rPr sz="1800" b="0" i="0">
                <a:solidFill>
                  <a:srgbClr val="222B33"/>
                </a:solidFill>
                <a:latin typeface="Arial"/>
                <a:ea typeface="Arial"/>
              </a:rPr>
              <a:t xml:space="preserve"> are ligand-gated anion channels. Their effect depends on the chloride electrochemical gradient and membrane conductance; increasing GABAA-mediated synaptic current can constrain when excitation produces spikes.</a:t>
            </a:r>
            <a:endParaRPr lang="en-US"/>
          </a:p>
        </p:txBody>
      </p:sp>
      <p:sp>
        <p:nvSpPr>
          <p:cNvPr id="234" name="Shape 234"/>
          <p:cNvSpPr/>
          <p:nvPr/>
        </p:nvSpPr>
        <p:spPr>
          <a:xfrm>
            <a:off x="571500" y="444311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Shen and colleagues measured AMPA- and GABAA-mediated currents separately and manipulated inhibitory receptor function. This connects identified receptor mechanisms to the excitation/inhibition ratio, spike output, and visually guided behavior in an intact vertebrate preparation.</a:t>
            </a:r>
            <a:endParaRPr lang="en-US"/>
          </a:p>
        </p:txBody>
      </p:sp>
      <p:pic>
        <p:nvPicPr>
          <p:cNvPr id="151" name="Presenton Native Image 52" descr=""/>
          <p:cNvPicPr/>
          <p:nvPr/>
        </p:nvPicPr>
        <p:blipFill>
          <a:blip r:embed="rId2" cstate="none"/>
          <a:stretch>
            <a:fillRect/>
          </a:stretch>
        </p:blipFill>
        <p:spPr>
          <a:xfrm>
            <a:off x="571500" y="6379369"/>
            <a:ext cx="11049000" cy="269081"/>
          </a:xfrm>
          <a:prstGeom prst="rect">
            <a:avLst/>
          </a:prstGeom>
        </p:spPr>
      </p:pic>
      <p:sp>
        <p:nvSpPr>
          <p:cNvPr id="235" name="Shape 235"/>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Shen et al. (2011); Dong et al. (2009)</a:t>
            </a:r>
            <a:endParaRPr lang="en-US"/>
          </a:p>
        </p:txBody>
      </p:sp>
      <p:sp>
        <p:nvSpPr>
          <p:cNvPr id="236" name="Shape 236"/>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237" name="Shape 237"/>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Recurrent tectal activity creates looming selectivity</a:t>
            </a:r>
            <a:endParaRPr lang="en-US"/>
          </a:p>
        </p:txBody>
      </p:sp>
      <p:sp>
        <p:nvSpPr>
          <p:cNvPr id="238" name="Shape 238"/>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Khakhalin and colleagues compared collision-avoidance behavior, optic-nerve signals, synaptic currents, and tectal spike output in Xenopus tadpoles. Selectivity for behaviorally relevant looming stimuli first emerged at the tectal stage of the tested processing sequence.</a:t>
            </a:r>
            <a:endParaRPr lang="en-US"/>
          </a:p>
        </p:txBody>
      </p:sp>
      <p:sp>
        <p:nvSpPr>
          <p:cNvPr id="239" name="Shape 239"/>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1" i="0">
                <a:solidFill>
                  <a:srgbClr val="222B33"/>
                </a:solidFill>
                <a:latin typeface="Arial"/>
                <a:ea typeface="Arial"/>
              </a:rPr>
              <a:t>Recurrent excitation</a:t>
            </a:r>
            <a:r>
              <a:rPr sz="1800" b="0" i="0">
                <a:solidFill>
                  <a:srgbClr val="222B33"/>
                </a:solidFill>
                <a:latin typeface="Arial"/>
                <a:ea typeface="Arial"/>
              </a:rPr>
              <a:t xml:space="preserve"> means that activity in tectal neurons returns through local connections to influence other tectal neurons. This allows retinal inputs arriving across space and time to interact within the network.</a:t>
            </a:r>
            <a:endParaRPr lang="en-US"/>
          </a:p>
        </p:txBody>
      </p:sp>
      <p:sp>
        <p:nvSpPr>
          <p:cNvPr id="240" name="Shape 240"/>
          <p:cNvSpPr/>
          <p:nvPr/>
        </p:nvSpPr>
        <p:spPr>
          <a:xfrm>
            <a:off x="571500" y="3441502"/>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Excitation and inhibition were temporally correlated. Inhibition regulated how strongly direct retinal input and recurrent tectal input were integrated, rather than independently sculpting stimulus selectivity through a simple delayed inhibitory signal.</a:t>
            </a:r>
            <a:endParaRPr lang="en-US"/>
          </a:p>
        </p:txBody>
      </p:sp>
      <p:sp>
        <p:nvSpPr>
          <p:cNvPr id="241" name="Shape 241"/>
          <p:cNvSpPr/>
          <p:nvPr/>
        </p:nvSpPr>
        <p:spPr>
          <a:xfrm>
            <a:off x="571500" y="444311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Both reducing and enhancing inhibition disrupted looming selectivity. Appropriate inhibitory strength therefore maintains the network regime in which an approaching collision produces a selective population response, rather than merely switching visual activity off.</a:t>
            </a:r>
            <a:endParaRPr lang="en-US"/>
          </a:p>
        </p:txBody>
      </p:sp>
      <p:pic>
        <p:nvPicPr>
          <p:cNvPr id="152" name="Presenton Native Image 53" descr=""/>
          <p:cNvPicPr/>
          <p:nvPr/>
        </p:nvPicPr>
        <p:blipFill>
          <a:blip r:embed="rId2" cstate="none"/>
          <a:stretch>
            <a:fillRect/>
          </a:stretch>
        </p:blipFill>
        <p:spPr>
          <a:xfrm>
            <a:off x="571500" y="6379369"/>
            <a:ext cx="11049000" cy="269081"/>
          </a:xfrm>
          <a:prstGeom prst="rect">
            <a:avLst/>
          </a:prstGeom>
        </p:spPr>
      </p:pic>
      <p:sp>
        <p:nvSpPr>
          <p:cNvPr id="242" name="Shape 242"/>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Khakhalin et al. (2014)</a:t>
            </a:r>
            <a:endParaRPr lang="en-US"/>
          </a:p>
        </p:txBody>
      </p:sp>
      <p:sp>
        <p:nvSpPr>
          <p:cNvPr id="243" name="Shape 243"/>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244" name="Shape 244"/>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GABAA receptor manipulations change synaptic I/E</a:t>
            </a:r>
            <a:endParaRPr lang="en-US"/>
          </a:p>
        </p:txBody>
      </p:sp>
      <p:pic>
        <p:nvPicPr>
          <p:cNvPr id="153" name="Presenton Native Image 54" descr=""/>
          <p:cNvPicPr/>
          <p:nvPr/>
        </p:nvPicPr>
        <p:blipFill>
          <a:blip r:embed="rId3" cstate="none"/>
          <a:stretch>
            <a:fillRect/>
          </a:stretch>
        </p:blipFill>
        <p:spPr>
          <a:xfrm>
            <a:off x="2543432" y="1019175"/>
            <a:ext cx="7105135" cy="2190750"/>
          </a:xfrm>
          <a:prstGeom prst="rect">
            <a:avLst/>
          </a:prstGeom>
        </p:spPr>
      </p:pic>
      <p:sp>
        <p:nvSpPr>
          <p:cNvPr id="245" name="Shape 245"/>
          <p:cNvSpPr/>
          <p:nvPr/>
        </p:nvSpPr>
        <p:spPr>
          <a:xfrm>
            <a:off x="571500" y="3267075"/>
            <a:ext cx="11068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Shen et al. (2011), Fig. 3. Retinal-axon stimulation, isolated synaptic currents, and measured I/E ratios.</a:t>
            </a:r>
            <a:endParaRPr lang="en-US"/>
          </a:p>
        </p:txBody>
      </p:sp>
      <p:sp>
        <p:nvSpPr>
          <p:cNvPr id="246" name="Shape 246"/>
          <p:cNvSpPr/>
          <p:nvPr/>
        </p:nvSpPr>
        <p:spPr>
          <a:xfrm>
            <a:off x="571500" y="3686175"/>
            <a:ext cx="5257800"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 xml:space="preserve">Shen and colleagues reduced inhibition with a </a:t>
            </a:r>
            <a:r>
              <a:rPr sz="1650" b="1" i="0">
                <a:solidFill>
                  <a:srgbClr val="222B33"/>
                </a:solidFill>
                <a:latin typeface="Arial"/>
                <a:ea typeface="Arial"/>
              </a:rPr>
              <a:t>γ2-subunit morpholino</a:t>
            </a:r>
            <a:r>
              <a:rPr sz="1650" b="0" i="0">
                <a:solidFill>
                  <a:srgbClr val="222B33"/>
                </a:solidFill>
                <a:latin typeface="Arial"/>
                <a:ea typeface="Arial"/>
              </a:rPr>
              <a:t xml:space="preserve">, an antisense reagent that reduces protein production, or an </a:t>
            </a:r>
            <a:r>
              <a:rPr sz="1650" b="1" i="0">
                <a:solidFill>
                  <a:srgbClr val="222B33"/>
                </a:solidFill>
                <a:latin typeface="Arial"/>
                <a:ea typeface="Arial"/>
              </a:rPr>
              <a:t>intracellular-loop peptide (ICL)</a:t>
            </a:r>
            <a:r>
              <a:rPr sz="1650" b="0" i="0">
                <a:solidFill>
                  <a:srgbClr val="222B33"/>
                </a:solidFill>
                <a:latin typeface="Arial"/>
                <a:ea typeface="Arial"/>
              </a:rPr>
              <a:t xml:space="preserve"> that disrupts synaptic GABAA-receptor organization.</a:t>
            </a:r>
            <a:endParaRPr lang="en-US"/>
          </a:p>
        </p:txBody>
      </p:sp>
      <p:sp>
        <p:nvSpPr>
          <p:cNvPr id="247" name="Shape 247"/>
          <p:cNvSpPr/>
          <p:nvPr/>
        </p:nvSpPr>
        <p:spPr>
          <a:xfrm>
            <a:off x="571500" y="4968032"/>
            <a:ext cx="5257800" cy="1215182"/>
          </a:xfrm>
          <a:prstGeom prst="rect">
            <a:avLst/>
          </a:prstGeom>
          <a:noFill/>
        </p:spPr>
        <p:txBody>
          <a:bodyPr anchor="t" wrap="square" tIns="0" bIns="0" lIns="0" rIns="0">
            <a:normAutofit/>
          </a:bodyPr>
          <a:lstStyle/>
          <a:p>
            <a:pPr algn="l">
              <a:lnSpc>
                <a:spcPts val="1914"/>
              </a:lnSpc>
              <a:buNone/>
            </a:pPr>
            <a:r>
              <a:rPr sz="1650" b="1" i="0">
                <a:solidFill>
                  <a:srgbClr val="222B33"/>
                </a:solidFill>
                <a:latin typeface="Arial"/>
                <a:ea typeface="Arial"/>
              </a:rPr>
              <a:t>Voltage clamp</a:t>
            </a:r>
            <a:r>
              <a:rPr sz="1650" b="0" i="0">
                <a:solidFill>
                  <a:srgbClr val="222B33"/>
                </a:solidFill>
                <a:latin typeface="Arial"/>
                <a:ea typeface="Arial"/>
              </a:rPr>
              <a:t xml:space="preserve"> holds membrane voltage fixed to measure current. Holding near 0 mV isolated inhibitory currents; near −60 mV isolated AMPA-mediated excitation. Approaching the other current’s reversal potential minimizes its contribution.</a:t>
            </a:r>
            <a:endParaRPr lang="en-US"/>
          </a:p>
        </p:txBody>
      </p:sp>
      <p:sp>
        <p:nvSpPr>
          <p:cNvPr id="248" name="Shape 248"/>
          <p:cNvSpPr/>
          <p:nvPr/>
        </p:nvSpPr>
        <p:spPr>
          <a:xfrm>
            <a:off x="6353175" y="3686175"/>
            <a:ext cx="5286375" cy="972145"/>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 xml:space="preserve">The original figure shows evoked I/E amplitude ratios of </a:t>
            </a:r>
            <a:r>
              <a:rPr sz="1650" b="1" i="0">
                <a:solidFill>
                  <a:srgbClr val="222B33"/>
                </a:solidFill>
                <a:latin typeface="Arial"/>
                <a:ea typeface="Arial"/>
              </a:rPr>
              <a:t>0.85 ± 0.12</a:t>
            </a:r>
            <a:r>
              <a:rPr sz="1650" b="0" i="0">
                <a:solidFill>
                  <a:srgbClr val="222B33"/>
                </a:solidFill>
                <a:latin typeface="Arial"/>
                <a:ea typeface="Arial"/>
              </a:rPr>
              <a:t xml:space="preserve"> in controls, </a:t>
            </a:r>
            <a:r>
              <a:rPr sz="1650" b="1" i="0">
                <a:solidFill>
                  <a:srgbClr val="222B33"/>
                </a:solidFill>
                <a:latin typeface="Arial"/>
                <a:ea typeface="Arial"/>
              </a:rPr>
              <a:t>0.28 ± 0.06</a:t>
            </a:r>
            <a:r>
              <a:rPr sz="1650" b="0" i="0">
                <a:solidFill>
                  <a:srgbClr val="222B33"/>
                </a:solidFill>
                <a:latin typeface="Arial"/>
                <a:ea typeface="Arial"/>
              </a:rPr>
              <a:t xml:space="preserve"> after γ2 knockdown, and </a:t>
            </a:r>
            <a:r>
              <a:rPr sz="1650" b="1" i="0">
                <a:solidFill>
                  <a:srgbClr val="222B33"/>
                </a:solidFill>
                <a:latin typeface="Arial"/>
                <a:ea typeface="Arial"/>
              </a:rPr>
              <a:t>1.28 ± 0.07</a:t>
            </a:r>
            <a:r>
              <a:rPr sz="1650" b="0" i="0">
                <a:solidFill>
                  <a:srgbClr val="222B33"/>
                </a:solidFill>
                <a:latin typeface="Arial"/>
                <a:ea typeface="Arial"/>
              </a:rPr>
              <a:t xml:space="preserve"> with diazepam (means ± standard error; n = 5, 4, and 4 cells).</a:t>
            </a:r>
            <a:endParaRPr lang="en-US"/>
          </a:p>
        </p:txBody>
      </p:sp>
      <p:sp>
        <p:nvSpPr>
          <p:cNvPr id="249" name="Shape 249"/>
          <p:cNvSpPr/>
          <p:nvPr/>
        </p:nvSpPr>
        <p:spPr>
          <a:xfrm>
            <a:off x="6353175" y="4724995"/>
            <a:ext cx="5286375" cy="1215182"/>
          </a:xfrm>
          <a:prstGeom prst="rect">
            <a:avLst/>
          </a:prstGeom>
          <a:noFill/>
        </p:spPr>
        <p:txBody>
          <a:bodyPr anchor="t" wrap="square" tIns="0" bIns="0" lIns="0" rIns="0">
            <a:normAutofit/>
          </a:bodyPr>
          <a:lstStyle/>
          <a:p>
            <a:pPr algn="l">
              <a:lnSpc>
                <a:spcPts val="1914"/>
              </a:lnSpc>
              <a:buNone/>
            </a:pPr>
            <a:r>
              <a:rPr sz="1650" b="1" i="0">
                <a:solidFill>
                  <a:srgbClr val="222B33"/>
                </a:solidFill>
                <a:latin typeface="Arial"/>
                <a:ea typeface="Arial"/>
              </a:rPr>
              <a:t>Diazepam</a:t>
            </a:r>
            <a:r>
              <a:rPr sz="1650" b="0" i="0">
                <a:solidFill>
                  <a:srgbClr val="222B33"/>
                </a:solidFill>
                <a:latin typeface="Arial"/>
                <a:ea typeface="Arial"/>
              </a:rPr>
              <a:t xml:space="preserve"> enhances GABAA receptor responses to GABA. The opposite manipulations permit a causal comparison of weaker and stronger inhibition while excitatory synaptic transmission is measured independently.</a:t>
            </a:r>
            <a:endParaRPr lang="en-US"/>
          </a:p>
        </p:txBody>
      </p:sp>
      <p:pic>
        <p:nvPicPr>
          <p:cNvPr id="154" name="Presenton Native Image 55" descr=""/>
          <p:cNvPicPr/>
          <p:nvPr/>
        </p:nvPicPr>
        <p:blipFill>
          <a:blip r:embed="rId2" cstate="none"/>
          <a:stretch>
            <a:fillRect/>
          </a:stretch>
        </p:blipFill>
        <p:spPr>
          <a:xfrm>
            <a:off x="571500" y="6379369"/>
            <a:ext cx="11049000" cy="269081"/>
          </a:xfrm>
          <a:prstGeom prst="rect">
            <a:avLst/>
          </a:prstGeom>
        </p:spPr>
      </p:pic>
      <p:sp>
        <p:nvSpPr>
          <p:cNvPr id="250" name="Shape 250"/>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Shen et al. (2011)</a:t>
            </a:r>
            <a:endParaRPr lang="en-US"/>
          </a:p>
        </p:txBody>
      </p:sp>
      <p:sp>
        <p:nvSpPr>
          <p:cNvPr id="251" name="Shape 251"/>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252" name="Shape 252"/>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Inhibition changes the reliability of spike timing</a:t>
            </a:r>
            <a:endParaRPr lang="en-US"/>
          </a:p>
        </p:txBody>
      </p:sp>
      <p:pic>
        <p:nvPicPr>
          <p:cNvPr id="155" name="Presenton Native Image 56" descr=""/>
          <p:cNvPicPr/>
          <p:nvPr/>
        </p:nvPicPr>
        <p:blipFill>
          <a:blip r:embed="rId3" cstate="none"/>
          <a:stretch>
            <a:fillRect/>
          </a:stretch>
        </p:blipFill>
        <p:spPr>
          <a:xfrm>
            <a:off x="2688957" y="1019175"/>
            <a:ext cx="6814086" cy="2190750"/>
          </a:xfrm>
          <a:prstGeom prst="rect">
            <a:avLst/>
          </a:prstGeom>
        </p:spPr>
      </p:pic>
      <p:sp>
        <p:nvSpPr>
          <p:cNvPr id="253" name="Shape 253"/>
          <p:cNvSpPr/>
          <p:nvPr/>
        </p:nvSpPr>
        <p:spPr>
          <a:xfrm>
            <a:off x="571500" y="3267075"/>
            <a:ext cx="11068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Shen et al. (2011), Fig. 7A. Repeated visual responses and first-spike alignment; each short vertical mark denotes a spike.</a:t>
            </a:r>
            <a:endParaRPr lang="en-US"/>
          </a:p>
        </p:txBody>
      </p:sp>
      <p:sp>
        <p:nvSpPr>
          <p:cNvPr id="254" name="Shape 254"/>
          <p:cNvSpPr/>
          <p:nvPr/>
        </p:nvSpPr>
        <p:spPr>
          <a:xfrm>
            <a:off x="571500" y="3686175"/>
            <a:ext cx="5257800"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 xml:space="preserve">For a repeated visual stimulus, </a:t>
            </a:r>
            <a:r>
              <a:rPr sz="1650" b="1" i="0">
                <a:solidFill>
                  <a:srgbClr val="222B33"/>
                </a:solidFill>
                <a:latin typeface="Arial"/>
                <a:ea typeface="Arial"/>
              </a:rPr>
              <a:t>first-spike latency</a:t>
            </a:r>
            <a:r>
              <a:rPr sz="1650" b="0" i="0">
                <a:solidFill>
                  <a:srgbClr val="222B33"/>
                </a:solidFill>
                <a:latin typeface="Arial"/>
                <a:ea typeface="Arial"/>
              </a:rPr>
              <a:t xml:space="preserve"> is the time from stimulus onset to the first evoked action potential. Its trial-to-trial variation measures temporal reliability, which can affect when downstream neurons reach threshold.</a:t>
            </a:r>
            <a:endParaRPr lang="en-US"/>
          </a:p>
        </p:txBody>
      </p:sp>
      <p:sp>
        <p:nvSpPr>
          <p:cNvPr id="255" name="Shape 255"/>
          <p:cNvSpPr/>
          <p:nvPr/>
        </p:nvSpPr>
        <p:spPr>
          <a:xfrm>
            <a:off x="571500" y="4968032"/>
            <a:ext cx="5257800" cy="1458218"/>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Shen and colleagues recorded responses to visual light offset at several luminances. Reducing inhibition with ICL or γ2 knockdown broadened the distribution of first-spike times; enhancing inhibition with diazepam narrowed it under the reported stimulus conditions.</a:t>
            </a:r>
            <a:endParaRPr lang="en-US"/>
          </a:p>
        </p:txBody>
      </p:sp>
      <p:sp>
        <p:nvSpPr>
          <p:cNvPr id="256" name="Shape 256"/>
          <p:cNvSpPr/>
          <p:nvPr/>
        </p:nvSpPr>
        <p:spPr>
          <a:xfrm>
            <a:off x="6353175" y="3686175"/>
            <a:ext cx="5286375" cy="972145"/>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The superimposed traces make this effect visible: reduced inhibition produces less precisely aligned first spikes. The coefficient of variation expresses timing dispersion relative to its mean.</a:t>
            </a:r>
            <a:endParaRPr lang="en-US"/>
          </a:p>
        </p:txBody>
      </p:sp>
      <p:sp>
        <p:nvSpPr>
          <p:cNvPr id="257" name="Shape 257"/>
          <p:cNvSpPr/>
          <p:nvPr/>
        </p:nvSpPr>
        <p:spPr>
          <a:xfrm>
            <a:off x="6353175" y="4724995"/>
            <a:ext cx="5286375"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Inhibitory input can therefore improve temporal precision even as it restrains excitation. Nevertheless, greater precision alone is insufficient for normal behavior, because excessive inhibition also changes spatial integration and output strength.</a:t>
            </a:r>
            <a:endParaRPr lang="en-US"/>
          </a:p>
        </p:txBody>
      </p:sp>
      <p:pic>
        <p:nvPicPr>
          <p:cNvPr id="156" name="Presenton Native Image 57" descr=""/>
          <p:cNvPicPr/>
          <p:nvPr/>
        </p:nvPicPr>
        <p:blipFill>
          <a:blip r:embed="rId2" cstate="none"/>
          <a:stretch>
            <a:fillRect/>
          </a:stretch>
        </p:blipFill>
        <p:spPr>
          <a:xfrm>
            <a:off x="571500" y="6379369"/>
            <a:ext cx="11049000" cy="269081"/>
          </a:xfrm>
          <a:prstGeom prst="rect">
            <a:avLst/>
          </a:prstGeom>
        </p:spPr>
      </p:pic>
      <p:sp>
        <p:nvSpPr>
          <p:cNvPr id="258" name="Shape 258"/>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Shen et al. (2011)</a:t>
            </a:r>
            <a:endParaRPr lang="en-US"/>
          </a:p>
        </p:txBody>
      </p:sp>
      <p:sp>
        <p:nvSpPr>
          <p:cNvPr id="259" name="Shape 259"/>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260" name="Shape 260"/>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Inhibition constrains the spiking receptive field</a:t>
            </a:r>
            <a:endParaRPr lang="en-US"/>
          </a:p>
        </p:txBody>
      </p:sp>
      <p:pic>
        <p:nvPicPr>
          <p:cNvPr id="157" name="Presenton Native Image 58" descr=""/>
          <p:cNvPicPr/>
          <p:nvPr/>
        </p:nvPicPr>
        <p:blipFill>
          <a:blip r:embed="rId3" cstate="none"/>
          <a:stretch>
            <a:fillRect/>
          </a:stretch>
        </p:blipFill>
        <p:spPr>
          <a:xfrm>
            <a:off x="2211691" y="1019175"/>
            <a:ext cx="7768617" cy="2190750"/>
          </a:xfrm>
          <a:prstGeom prst="rect">
            <a:avLst/>
          </a:prstGeom>
        </p:spPr>
      </p:pic>
      <p:sp>
        <p:nvSpPr>
          <p:cNvPr id="261" name="Shape 261"/>
          <p:cNvSpPr/>
          <p:nvPr/>
        </p:nvSpPr>
        <p:spPr>
          <a:xfrm>
            <a:off x="571500" y="3267075"/>
            <a:ext cx="11068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Shen et al. (2011), Fig. 9A (spiking maps) and 9C (field size). Selected original panels rearranged without altering data.</a:t>
            </a:r>
            <a:endParaRPr lang="en-US"/>
          </a:p>
        </p:txBody>
      </p:sp>
      <p:sp>
        <p:nvSpPr>
          <p:cNvPr id="262" name="Shape 262"/>
          <p:cNvSpPr/>
          <p:nvPr/>
        </p:nvSpPr>
        <p:spPr>
          <a:xfrm>
            <a:off x="571500" y="3686175"/>
            <a:ext cx="5257800"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 xml:space="preserve">A </a:t>
            </a:r>
            <a:r>
              <a:rPr sz="1650" b="1" i="0">
                <a:solidFill>
                  <a:srgbClr val="222B33"/>
                </a:solidFill>
                <a:latin typeface="Arial"/>
                <a:ea typeface="Arial"/>
              </a:rPr>
              <a:t>spiking receptive field</a:t>
            </a:r>
            <a:r>
              <a:rPr sz="1650" b="0" i="0">
                <a:solidFill>
                  <a:srgbClr val="222B33"/>
                </a:solidFill>
                <a:latin typeface="Arial"/>
                <a:ea typeface="Arial"/>
              </a:rPr>
              <a:t xml:space="preserve"> comprises stimulus locations that evoke action potentials. It can differ from the larger region delivering subthreshold synaptic input, because input must overcome the cell’s threshold and inhibition.</a:t>
            </a:r>
            <a:endParaRPr lang="en-US"/>
          </a:p>
        </p:txBody>
      </p:sp>
      <p:sp>
        <p:nvSpPr>
          <p:cNvPr id="263" name="Shape 263"/>
          <p:cNvSpPr/>
          <p:nvPr/>
        </p:nvSpPr>
        <p:spPr>
          <a:xfrm>
            <a:off x="571500" y="4968032"/>
            <a:ext cx="5257800"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 xml:space="preserve">Shen and colleagues mapped visual responses after weakening or enhancing inhibition. Mean spiking-field size was </a:t>
            </a:r>
            <a:r>
              <a:rPr sz="1650" b="1" i="0">
                <a:solidFill>
                  <a:srgbClr val="222B33"/>
                </a:solidFill>
                <a:latin typeface="Arial"/>
                <a:ea typeface="Arial"/>
              </a:rPr>
              <a:t>25.6 ± 4.7%</a:t>
            </a:r>
            <a:r>
              <a:rPr sz="1650" b="0" i="0">
                <a:solidFill>
                  <a:srgbClr val="222B33"/>
                </a:solidFill>
                <a:latin typeface="Arial"/>
                <a:ea typeface="Arial"/>
              </a:rPr>
              <a:t xml:space="preserve"> of the tested field in controls, </a:t>
            </a:r>
            <a:r>
              <a:rPr sz="1650" b="1" i="0">
                <a:solidFill>
                  <a:srgbClr val="222B33"/>
                </a:solidFill>
                <a:latin typeface="Arial"/>
                <a:ea typeface="Arial"/>
              </a:rPr>
              <a:t>48.9 ± 7.4%</a:t>
            </a:r>
            <a:r>
              <a:rPr sz="1650" b="0" i="0">
                <a:solidFill>
                  <a:srgbClr val="222B33"/>
                </a:solidFill>
                <a:latin typeface="Arial"/>
                <a:ea typeface="Arial"/>
              </a:rPr>
              <a:t xml:space="preserve"> with ICL, and </a:t>
            </a:r>
            <a:r>
              <a:rPr sz="1650" b="1" i="0">
                <a:solidFill>
                  <a:srgbClr val="222B33"/>
                </a:solidFill>
                <a:latin typeface="Arial"/>
                <a:ea typeface="Arial"/>
              </a:rPr>
              <a:t>17.6 ± 2.7%</a:t>
            </a:r>
            <a:r>
              <a:rPr sz="1650" b="0" i="0">
                <a:solidFill>
                  <a:srgbClr val="222B33"/>
                </a:solidFill>
                <a:latin typeface="Arial"/>
                <a:ea typeface="Arial"/>
              </a:rPr>
              <a:t xml:space="preserve"> with diazepam (mean ± SE; n = 17, 13, 13 cells).</a:t>
            </a:r>
            <a:endParaRPr lang="en-US"/>
          </a:p>
        </p:txBody>
      </p:sp>
      <p:sp>
        <p:nvSpPr>
          <p:cNvPr id="264" name="Shape 264"/>
          <p:cNvSpPr/>
          <p:nvPr/>
        </p:nvSpPr>
        <p:spPr>
          <a:xfrm>
            <a:off x="6353175" y="3686175"/>
            <a:ext cx="5286375"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Weaker inhibition allowed more visual locations to drive spikes. Stronger inhibition restricted the set of effective locations. Thus, the spatial information transmitted downstream depends on the balance of synaptic currents.</a:t>
            </a:r>
            <a:endParaRPr lang="en-US"/>
          </a:p>
        </p:txBody>
      </p:sp>
      <p:sp>
        <p:nvSpPr>
          <p:cNvPr id="265" name="Shape 265"/>
          <p:cNvSpPr/>
          <p:nvPr/>
        </p:nvSpPr>
        <p:spPr>
          <a:xfrm>
            <a:off x="6353175" y="4968032"/>
            <a:ext cx="5286375"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The excitatory and inhibitory synaptic receptive fields did not change in an identical manner. Output-field size is an emergent result of integration, rather than a direct anatomical measurement of the retinal projection.</a:t>
            </a:r>
            <a:endParaRPr lang="en-US"/>
          </a:p>
        </p:txBody>
      </p:sp>
      <p:pic>
        <p:nvPicPr>
          <p:cNvPr id="158" name="Presenton Native Image 59" descr=""/>
          <p:cNvPicPr/>
          <p:nvPr/>
        </p:nvPicPr>
        <p:blipFill>
          <a:blip r:embed="rId2" cstate="none"/>
          <a:stretch>
            <a:fillRect/>
          </a:stretch>
        </p:blipFill>
        <p:spPr>
          <a:xfrm>
            <a:off x="571500" y="6379369"/>
            <a:ext cx="11049000" cy="269081"/>
          </a:xfrm>
          <a:prstGeom prst="rect">
            <a:avLst/>
          </a:prstGeom>
        </p:spPr>
      </p:pic>
      <p:sp>
        <p:nvSpPr>
          <p:cNvPr id="266" name="Shape 266"/>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Shen et al. (2011)</a:t>
            </a:r>
            <a:endParaRPr lang="en-US"/>
          </a:p>
        </p:txBody>
      </p:sp>
      <p:sp>
        <p:nvSpPr>
          <p:cNvPr id="267" name="Shape 267"/>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268" name="Shape 268"/>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Both weaker and stronger inhibition impair avoidance</a:t>
            </a:r>
            <a:endParaRPr lang="en-US"/>
          </a:p>
        </p:txBody>
      </p:sp>
      <p:pic>
        <p:nvPicPr>
          <p:cNvPr id="159" name="Presenton Native Image 60" descr=""/>
          <p:cNvPicPr/>
          <p:nvPr/>
        </p:nvPicPr>
        <p:blipFill>
          <a:blip r:embed="rId3" cstate="none"/>
          <a:stretch>
            <a:fillRect/>
          </a:stretch>
        </p:blipFill>
        <p:spPr>
          <a:xfrm>
            <a:off x="3225766" y="1019175"/>
            <a:ext cx="5740468" cy="2190750"/>
          </a:xfrm>
          <a:prstGeom prst="rect">
            <a:avLst/>
          </a:prstGeom>
        </p:spPr>
      </p:pic>
      <p:sp>
        <p:nvSpPr>
          <p:cNvPr id="269" name="Shape 269"/>
          <p:cNvSpPr/>
          <p:nvPr/>
        </p:nvSpPr>
        <p:spPr>
          <a:xfrm>
            <a:off x="571500" y="3267075"/>
            <a:ext cx="11068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Shen et al. (2011), Fig. 12C, E, F. ICL control comparison, diazepam exposure/washout, and swimming control; selected panels rearranged.</a:t>
            </a:r>
            <a:endParaRPr lang="en-US"/>
          </a:p>
        </p:txBody>
      </p:sp>
      <p:sp>
        <p:nvSpPr>
          <p:cNvPr id="270" name="Shape 270"/>
          <p:cNvSpPr/>
          <p:nvPr/>
        </p:nvSpPr>
        <p:spPr>
          <a:xfrm>
            <a:off x="571500" y="3686175"/>
            <a:ext cx="5257800" cy="972145"/>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Freely swimming Xenopus tadpoles encountered moving spots of several diameters. Avoidance was scored as a sharp turn during an encounter, linking a defined visual event to a discrete motor response.</a:t>
            </a:r>
            <a:endParaRPr lang="en-US"/>
          </a:p>
        </p:txBody>
      </p:sp>
      <p:sp>
        <p:nvSpPr>
          <p:cNvPr id="271" name="Shape 271"/>
          <p:cNvSpPr/>
          <p:nvPr/>
        </p:nvSpPr>
        <p:spPr>
          <a:xfrm>
            <a:off x="571500" y="4724995"/>
            <a:ext cx="5257800"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ICL expression and γ2 knockdown reduced avoidance relative to their matched peptide or morpholino controls. The receptor manipulations therefore changed behavior as well as tectal physiology.</a:t>
            </a:r>
            <a:endParaRPr lang="en-US"/>
          </a:p>
        </p:txBody>
      </p:sp>
      <p:sp>
        <p:nvSpPr>
          <p:cNvPr id="272" name="Shape 272"/>
          <p:cNvSpPr/>
          <p:nvPr/>
        </p:nvSpPr>
        <p:spPr>
          <a:xfrm>
            <a:off x="6353175" y="3686175"/>
            <a:ext cx="5286375"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Diazepam also reduced avoidance: 10 μM exposure impaired responses, and 30 μM for one hour abolished avoidance in the reported test. Behavior recovered after a one-hour wash, showing that the drug effect was reversible.</a:t>
            </a:r>
            <a:endParaRPr lang="en-US"/>
          </a:p>
        </p:txBody>
      </p:sp>
      <p:sp>
        <p:nvSpPr>
          <p:cNvPr id="273" name="Shape 273"/>
          <p:cNvSpPr/>
          <p:nvPr/>
        </p:nvSpPr>
        <p:spPr>
          <a:xfrm>
            <a:off x="6353175" y="4968032"/>
            <a:ext cx="5286375" cy="1215182"/>
          </a:xfrm>
          <a:prstGeom prst="rect">
            <a:avLst/>
          </a:prstGeom>
          <a:noFill/>
        </p:spPr>
        <p:txBody>
          <a:bodyPr anchor="t" wrap="square" tIns="0" bIns="0" lIns="0" rIns="0">
            <a:normAutofit/>
          </a:bodyPr>
          <a:lstStyle/>
          <a:p>
            <a:pPr algn="l">
              <a:lnSpc>
                <a:spcPts val="1914"/>
              </a:lnSpc>
              <a:buNone/>
            </a:pPr>
            <a:r>
              <a:rPr sz="1650" b="0" i="0">
                <a:solidFill>
                  <a:srgbClr val="222B33"/>
                </a:solidFill>
                <a:latin typeface="Arial"/>
                <a:ea typeface="Arial"/>
              </a:rPr>
              <a:t>The original data establish a nonmonotonic relation between inhibitory strength and successful behavior. Effective visual processing requires a suitable range of inhibition; simply increasing the inhibitory current does not guarantee improved threat responses.</a:t>
            </a:r>
            <a:endParaRPr lang="en-US"/>
          </a:p>
        </p:txBody>
      </p:sp>
      <p:pic>
        <p:nvPicPr>
          <p:cNvPr id="160" name="Presenton Native Image 61" descr=""/>
          <p:cNvPicPr/>
          <p:nvPr/>
        </p:nvPicPr>
        <p:blipFill>
          <a:blip r:embed="rId2" cstate="none"/>
          <a:stretch>
            <a:fillRect/>
          </a:stretch>
        </p:blipFill>
        <p:spPr>
          <a:xfrm>
            <a:off x="571500" y="6379369"/>
            <a:ext cx="11049000" cy="269081"/>
          </a:xfrm>
          <a:prstGeom prst="rect">
            <a:avLst/>
          </a:prstGeom>
        </p:spPr>
      </p:pic>
      <p:sp>
        <p:nvSpPr>
          <p:cNvPr id="274" name="Shape 274"/>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Shen et al. (2011)</a:t>
            </a:r>
            <a:endParaRPr lang="en-US"/>
          </a:p>
        </p:txBody>
      </p:sp>
      <p:sp>
        <p:nvSpPr>
          <p:cNvPr id="275" name="Shape 275"/>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276" name="Shape 276"/>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Visual and locomotor controls distinguish the deficit</a:t>
            </a:r>
            <a:endParaRPr lang="en-US"/>
          </a:p>
        </p:txBody>
      </p:sp>
      <p:sp>
        <p:nvSpPr>
          <p:cNvPr id="277" name="Shape 277"/>
          <p:cNvSpPr/>
          <p:nvPr/>
        </p:nvSpPr>
        <p:spPr>
          <a:xfrm>
            <a:off x="571500" y="1390650"/>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 xml:space="preserve">A reduction in avoidance can reflect poor stimulus processing, inability to swim, or both. Dong and colleagues compared spot avoidance with an </a:t>
            </a:r>
            <a:r>
              <a:rPr sz="1725" b="1" i="0">
                <a:solidFill>
                  <a:srgbClr val="222B33"/>
                </a:solidFill>
                <a:latin typeface="Arial"/>
                <a:ea typeface="Arial"/>
              </a:rPr>
              <a:t>optomotor response</a:t>
            </a:r>
            <a:r>
              <a:rPr sz="1725" b="0" i="0">
                <a:solidFill>
                  <a:srgbClr val="222B33"/>
                </a:solidFill>
                <a:latin typeface="Arial"/>
                <a:ea typeface="Arial"/>
              </a:rPr>
              <a:t>, in which tadpoles swim with a drifting visual grating.</a:t>
            </a:r>
            <a:endParaRPr lang="en-US"/>
          </a:p>
        </p:txBody>
      </p:sp>
      <p:sp>
        <p:nvSpPr>
          <p:cNvPr id="278" name="Shape 278"/>
          <p:cNvSpPr/>
          <p:nvPr/>
        </p:nvSpPr>
        <p:spPr>
          <a:xfrm>
            <a:off x="571500" y="2465784"/>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Removing the tectum impaired avoidance while preserving the optomotor response. This separates the tectal requirement for the tested avoidance behavior from the ability to see broad motion and generate swimming.</a:t>
            </a:r>
            <a:endParaRPr lang="en-US"/>
          </a:p>
        </p:txBody>
      </p:sp>
      <p:sp>
        <p:nvSpPr>
          <p:cNvPr id="279" name="Shape 279"/>
          <p:cNvSpPr/>
          <p:nvPr/>
        </p:nvSpPr>
        <p:spPr>
          <a:xfrm>
            <a:off x="571500" y="3540919"/>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In Shen’s diazepam experiments, time spent swimming without the visual spots did not show a corresponding motor-response defect. Tectal delivery also reduced avoidance, whereas vehicle injection did not.</a:t>
            </a:r>
            <a:endParaRPr lang="en-US"/>
          </a:p>
        </p:txBody>
      </p:sp>
      <p:sp>
        <p:nvSpPr>
          <p:cNvPr id="280" name="Shape 280"/>
          <p:cNvSpPr/>
          <p:nvPr/>
        </p:nvSpPr>
        <p:spPr>
          <a:xfrm>
            <a:off x="571500" y="4616053"/>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These assays use moving spots or gratings, rather than the adult bullfrog’s overhead looming square. Their controls establish a tectal contribution to visual avoidance in tadpoles without implying that all preparations engage identical threat-detector populations.</a:t>
            </a:r>
            <a:endParaRPr lang="en-US"/>
          </a:p>
        </p:txBody>
      </p:sp>
      <p:pic>
        <p:nvPicPr>
          <p:cNvPr id="161" name="Presenton Native Image 62" descr=""/>
          <p:cNvPicPr/>
          <p:nvPr/>
        </p:nvPicPr>
        <p:blipFill>
          <a:blip r:embed="rId3" cstate="none"/>
          <a:stretch>
            <a:fillRect/>
          </a:stretch>
        </p:blipFill>
        <p:spPr>
          <a:xfrm>
            <a:off x="7086600" y="1993067"/>
            <a:ext cx="4533900" cy="2925445"/>
          </a:xfrm>
          <a:prstGeom prst="rect">
            <a:avLst/>
          </a:prstGeom>
        </p:spPr>
      </p:pic>
      <p:sp>
        <p:nvSpPr>
          <p:cNvPr id="281" name="Shape 281"/>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4E6571"/>
                </a:solidFill>
                <a:latin typeface="Arial"/>
                <a:ea typeface="Arial"/>
              </a:rPr>
              <a:t>Dong et al. (2009), Fig. 1A–B, data panels. Avoidance (left) and optomotor performance (right); original legends retained.</a:t>
            </a:r>
            <a:endParaRPr lang="en-US"/>
          </a:p>
        </p:txBody>
      </p:sp>
      <p:pic>
        <p:nvPicPr>
          <p:cNvPr id="162" name="Presenton Native Image 63" descr=""/>
          <p:cNvPicPr/>
          <p:nvPr/>
        </p:nvPicPr>
        <p:blipFill>
          <a:blip r:embed="rId2" cstate="none"/>
          <a:stretch>
            <a:fillRect/>
          </a:stretch>
        </p:blipFill>
        <p:spPr>
          <a:xfrm>
            <a:off x="571500" y="6379369"/>
            <a:ext cx="11049000" cy="269081"/>
          </a:xfrm>
          <a:prstGeom prst="rect">
            <a:avLst/>
          </a:prstGeom>
        </p:spPr>
      </p:pic>
      <p:sp>
        <p:nvSpPr>
          <p:cNvPr id="282" name="Shape 282"/>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Dong et al. (2009); Shen et al. (2011)</a:t>
            </a:r>
            <a:endParaRPr lang="en-US"/>
          </a:p>
        </p:txBody>
      </p:sp>
      <p:sp>
        <p:nvSpPr>
          <p:cNvPr id="283" name="Shape 283"/>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284" name="Shape 284"/>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Intertectal connections support visual avoidance</a:t>
            </a:r>
            <a:endParaRPr lang="en-US"/>
          </a:p>
        </p:txBody>
      </p:sp>
      <p:sp>
        <p:nvSpPr>
          <p:cNvPr id="285" name="Shape 285"/>
          <p:cNvSpPr/>
          <p:nvPr/>
        </p:nvSpPr>
        <p:spPr>
          <a:xfrm>
            <a:off x="571500" y="1390650"/>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 xml:space="preserve">The two optic tecta communicate through the </a:t>
            </a:r>
            <a:r>
              <a:rPr sz="1725" b="1" i="0">
                <a:solidFill>
                  <a:srgbClr val="222B33"/>
                </a:solidFill>
                <a:latin typeface="Arial"/>
                <a:ea typeface="Arial"/>
              </a:rPr>
              <a:t>intertectal commissure</a:t>
            </a:r>
            <a:r>
              <a:rPr sz="1725" b="0" i="0">
                <a:solidFill>
                  <a:srgbClr val="222B33"/>
                </a:solidFill>
                <a:latin typeface="Arial"/>
                <a:ea typeface="Arial"/>
              </a:rPr>
              <a:t>, a bundle of axons crossing between the lobes. Gambrill and colleagues cut this bundle and compared behavior with sham-operated Xenopus tadpoles.</a:t>
            </a:r>
            <a:endParaRPr lang="en-US"/>
          </a:p>
        </p:txBody>
      </p:sp>
      <p:sp>
        <p:nvSpPr>
          <p:cNvPr id="286" name="Shape 286"/>
          <p:cNvSpPr/>
          <p:nvPr/>
        </p:nvSpPr>
        <p:spPr>
          <a:xfrm>
            <a:off x="571500" y="2715518"/>
            <a:ext cx="6115050" cy="1248668"/>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Axonal imaging verified the transection. Two days later, avoidance was impaired relative to sham controls (</a:t>
            </a:r>
            <a:r>
              <a:rPr sz="1725" b="1" i="0">
                <a:solidFill>
                  <a:srgbClr val="222B33"/>
                </a:solidFill>
                <a:latin typeface="Arial"/>
                <a:ea typeface="Arial"/>
              </a:rPr>
              <a:t>P = 0.042; 36 control and 28 cut animals</a:t>
            </a:r>
            <a:r>
              <a:rPr sz="1725" b="0" i="0">
                <a:solidFill>
                  <a:srgbClr val="222B33"/>
                </a:solidFill>
                <a:latin typeface="Arial"/>
                <a:ea typeface="Arial"/>
              </a:rPr>
              <a:t>). By day 5, performance was comparable to control as intertectal axons regenerated.</a:t>
            </a:r>
            <a:endParaRPr lang="en-US"/>
          </a:p>
        </p:txBody>
      </p:sp>
      <p:sp>
        <p:nvSpPr>
          <p:cNvPr id="287" name="Shape 287"/>
          <p:cNvSpPr/>
          <p:nvPr/>
        </p:nvSpPr>
        <p:spPr>
          <a:xfrm>
            <a:off x="571500" y="4040386"/>
            <a:ext cx="6115050" cy="749201"/>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The avoidance index counts successful responses over ten encounters and is normalized to baseline. It measures behavioral performance across repeated encounters.</a:t>
            </a:r>
            <a:endParaRPr lang="en-US"/>
          </a:p>
        </p:txBody>
      </p:sp>
      <p:sp>
        <p:nvSpPr>
          <p:cNvPr id="288" name="Shape 288"/>
          <p:cNvSpPr/>
          <p:nvPr/>
        </p:nvSpPr>
        <p:spPr>
          <a:xfrm>
            <a:off x="571500" y="4865787"/>
            <a:ext cx="6115050" cy="998934"/>
          </a:xfrm>
          <a:prstGeom prst="rect">
            <a:avLst/>
          </a:prstGeom>
          <a:noFill/>
        </p:spPr>
        <p:txBody>
          <a:bodyPr anchor="t" wrap="square" tIns="0" bIns="0" lIns="0" rIns="0">
            <a:normAutofit/>
          </a:bodyPr>
          <a:lstStyle/>
          <a:p>
            <a:pPr algn="l">
              <a:lnSpc>
                <a:spcPts val="1967"/>
              </a:lnSpc>
              <a:buNone/>
            </a:pPr>
            <a:r>
              <a:rPr sz="1725" b="0" i="0">
                <a:solidFill>
                  <a:srgbClr val="222B33"/>
                </a:solidFill>
                <a:latin typeface="Arial"/>
                <a:ea typeface="Arial"/>
              </a:rPr>
              <a:t>Strong contralateral retinal input alone is therefore insufficient for normal performance: the two tectal lobes also communicate while generating coordinated visual avoidance.</a:t>
            </a:r>
            <a:endParaRPr lang="en-US"/>
          </a:p>
        </p:txBody>
      </p:sp>
      <p:pic>
        <p:nvPicPr>
          <p:cNvPr id="163" name="Presenton Native Image 64" descr=""/>
          <p:cNvPicPr/>
          <p:nvPr/>
        </p:nvPicPr>
        <p:blipFill>
          <a:blip r:embed="rId3" cstate="none"/>
          <a:stretch>
            <a:fillRect/>
          </a:stretch>
        </p:blipFill>
        <p:spPr>
          <a:xfrm>
            <a:off x="7086600" y="1862797"/>
            <a:ext cx="4533900" cy="3185984"/>
          </a:xfrm>
          <a:prstGeom prst="rect">
            <a:avLst/>
          </a:prstGeom>
        </p:spPr>
      </p:pic>
      <p:sp>
        <p:nvSpPr>
          <p:cNvPr id="289" name="Shape 289"/>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4E6571"/>
                </a:solidFill>
                <a:latin typeface="Arial"/>
                <a:ea typeface="Arial"/>
              </a:rPr>
              <a:t>Gambrill et al. (2018), Fig. 1C. Normalized avoidance after sham surgery or intertectal transection; mean ± SE.</a:t>
            </a:r>
            <a:endParaRPr lang="en-US"/>
          </a:p>
        </p:txBody>
      </p:sp>
      <p:pic>
        <p:nvPicPr>
          <p:cNvPr id="164" name="Presenton Native Image 65" descr=""/>
          <p:cNvPicPr/>
          <p:nvPr/>
        </p:nvPicPr>
        <p:blipFill>
          <a:blip r:embed="rId2" cstate="none"/>
          <a:stretch>
            <a:fillRect/>
          </a:stretch>
        </p:blipFill>
        <p:spPr>
          <a:xfrm>
            <a:off x="571500" y="6379369"/>
            <a:ext cx="11049000" cy="269081"/>
          </a:xfrm>
          <a:prstGeom prst="rect">
            <a:avLst/>
          </a:prstGeom>
        </p:spPr>
      </p:pic>
      <p:sp>
        <p:nvSpPr>
          <p:cNvPr id="290" name="Shape 290"/>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Gambrill et al. (2018)</a:t>
            </a:r>
            <a:endParaRPr lang="en-US"/>
          </a:p>
        </p:txBody>
      </p:sp>
      <p:sp>
        <p:nvSpPr>
          <p:cNvPr id="291" name="Shape 291"/>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292" name="Shape 292"/>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A unilateral synaptic imbalance changes behavior</a:t>
            </a:r>
            <a:endParaRPr lang="en-US"/>
          </a:p>
        </p:txBody>
      </p:sp>
      <p:sp>
        <p:nvSpPr>
          <p:cNvPr id="293" name="Shape 293"/>
          <p:cNvSpPr/>
          <p:nvPr/>
        </p:nvSpPr>
        <p:spPr>
          <a:xfrm>
            <a:off x="571500" y="1400175"/>
            <a:ext cx="11068050" cy="52566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 xml:space="preserve">Gambrill and colleagues altered receptor trafficking in only one tectal lobe. ICL reduced inhibitory receptor function, while a peptide from the </a:t>
            </a:r>
            <a:r>
              <a:rPr sz="1725" b="1" i="0">
                <a:solidFill>
                  <a:srgbClr val="222B33"/>
                </a:solidFill>
                <a:latin typeface="Arial"/>
                <a:ea typeface="Arial"/>
              </a:rPr>
              <a:t>GluA2 AMPA-receptor tail (CTP)</a:t>
            </a:r>
            <a:r>
              <a:rPr sz="1725" b="0" i="0">
                <a:solidFill>
                  <a:srgbClr val="222B33"/>
                </a:solidFill>
                <a:latin typeface="Arial"/>
                <a:ea typeface="Arial"/>
              </a:rPr>
              <a:t xml:space="preserve"> reduced excitatory transmission.</a:t>
            </a:r>
            <a:endParaRPr lang="en-US"/>
          </a:p>
        </p:txBody>
      </p:sp>
      <p:sp>
        <p:nvSpPr>
          <p:cNvPr id="294" name="Shape 294"/>
          <p:cNvSpPr/>
          <p:nvPr/>
        </p:nvSpPr>
        <p:spPr>
          <a:xfrm>
            <a:off x="571500" y="2011561"/>
            <a:ext cx="11068050" cy="1051322"/>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Intertectal stimulation confirmed that the manipulations shifted the AMPA/GABA current ratio in opposite directions. Both unilateral changes impaired visual avoidance, indicating that a balanced interaction between sides matters for performance. The ICL analysis uses individual tadpoles, whereas the CTP analysis uses batches; the distinct sample units constrain comparisons between effect sizes.</a:t>
            </a:r>
            <a:endParaRPr lang="en-US"/>
          </a:p>
        </p:txBody>
      </p:sp>
      <p:pic>
        <p:nvPicPr>
          <p:cNvPr id="165" name="Presenton Native Image 66" descr=""/>
          <p:cNvPicPr/>
          <p:nvPr/>
        </p:nvPicPr>
        <p:blipFill>
          <a:blip r:embed="rId3" cstate="none"/>
          <a:stretch>
            <a:fillRect/>
          </a:stretch>
        </p:blipFill>
        <p:spPr>
          <a:xfrm>
            <a:off x="571500" y="3196233"/>
            <a:ext cx="11049000" cy="1296144"/>
          </a:xfrm>
          <a:prstGeom prst="rect">
            <a:avLst/>
          </a:prstGeom>
        </p:spPr>
      </p:pic>
      <p:pic>
        <p:nvPicPr>
          <p:cNvPr id="166" name="Presenton Native Image 67" descr=""/>
          <p:cNvPicPr/>
          <p:nvPr/>
        </p:nvPicPr>
        <p:blipFill>
          <a:blip r:embed="rId2" cstate="none"/>
          <a:stretch>
            <a:fillRect/>
          </a:stretch>
        </p:blipFill>
        <p:spPr>
          <a:xfrm>
            <a:off x="571500" y="6379369"/>
            <a:ext cx="11049000" cy="269081"/>
          </a:xfrm>
          <a:prstGeom prst="rect">
            <a:avLst/>
          </a:prstGeom>
        </p:spPr>
      </p:pic>
      <p:sp>
        <p:nvSpPr>
          <p:cNvPr id="295" name="Shape 295"/>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Gambrill et al. (2018)</a:t>
            </a:r>
            <a:endParaRPr lang="en-US"/>
          </a:p>
        </p:txBody>
      </p:sp>
      <p:sp>
        <p:nvSpPr>
          <p:cNvPr id="296" name="Shape 296"/>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297" name="Shape 297"/>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Visual experience modifies bilateral circuit balance</a:t>
            </a:r>
            <a:endParaRPr lang="en-US"/>
          </a:p>
        </p:txBody>
      </p:sp>
      <p:sp>
        <p:nvSpPr>
          <p:cNvPr id="298" name="Shape 298"/>
          <p:cNvSpPr/>
          <p:nvPr/>
        </p:nvSpPr>
        <p:spPr>
          <a:xfrm>
            <a:off x="571500" y="1438275"/>
            <a:ext cx="10972800" cy="585192"/>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Gambrill and colleagues delivered patterned visual experience to one eye while controlling the other eye’s exposure. Because retinal axons cross, the two tectal lobes experienced different visual drive.</a:t>
            </a:r>
            <a:endParaRPr lang="en-US"/>
          </a:p>
        </p:txBody>
      </p:sp>
      <p:sp>
        <p:nvSpPr>
          <p:cNvPr id="299" name="Shape 299"/>
          <p:cNvSpPr/>
          <p:nvPr/>
        </p:nvSpPr>
        <p:spPr>
          <a:xfrm>
            <a:off x="571500" y="2147292"/>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Monocular experience altered intertectal synaptic function and disrupted visual avoidance. Electrophysiology identified asymmetric changes in excitatory and inhibitory transmission between the two tectal sides.</a:t>
            </a:r>
            <a:endParaRPr lang="en-US"/>
          </a:p>
        </p:txBody>
      </p:sp>
      <p:sp>
        <p:nvSpPr>
          <p:cNvPr id="300" name="Shape 300"/>
          <p:cNvSpPr/>
          <p:nvPr/>
        </p:nvSpPr>
        <p:spPr>
          <a:xfrm>
            <a:off x="571500" y="3148905"/>
            <a:ext cx="10972800" cy="1170384"/>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The study also induced intertectal synaptic plasticity by pairing presynaptic stimulation with postsynaptic depolarization. </a:t>
            </a:r>
            <a:r>
              <a:rPr sz="1800" b="1" i="0">
                <a:solidFill>
                  <a:srgbClr val="222B33"/>
                </a:solidFill>
                <a:latin typeface="Arial"/>
                <a:ea typeface="Arial"/>
              </a:rPr>
              <a:t>Spike timing-dependent plasticity</a:t>
            </a:r>
            <a:r>
              <a:rPr sz="1800" b="0" i="0">
                <a:solidFill>
                  <a:srgbClr val="222B33"/>
                </a:solidFill>
                <a:latin typeface="Arial"/>
                <a:ea typeface="Arial"/>
              </a:rPr>
              <a:t xml:space="preserve"> refers to lasting synaptic changes determined by the temporal relationship between these events; unpaired stimulation provided an essential control.</a:t>
            </a:r>
            <a:endParaRPr lang="en-US"/>
          </a:p>
        </p:txBody>
      </p:sp>
      <p:sp>
        <p:nvSpPr>
          <p:cNvPr id="301" name="Shape 301"/>
          <p:cNvSpPr/>
          <p:nvPr/>
        </p:nvSpPr>
        <p:spPr>
          <a:xfrm>
            <a:off x="571500" y="444311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Together with the unilateral receptor manipulations, these results connect experience to altered intertectal integration and behavior. They demonstrate plasticity in a developing tadpole circuit, rather than a fixed developmental identity for every adult pretectal response class.</a:t>
            </a:r>
            <a:endParaRPr lang="en-US"/>
          </a:p>
        </p:txBody>
      </p:sp>
      <p:pic>
        <p:nvPicPr>
          <p:cNvPr id="167" name="Presenton Native Image 68" descr=""/>
          <p:cNvPicPr/>
          <p:nvPr/>
        </p:nvPicPr>
        <p:blipFill>
          <a:blip r:embed="rId2" cstate="none"/>
          <a:stretch>
            <a:fillRect/>
          </a:stretch>
        </p:blipFill>
        <p:spPr>
          <a:xfrm>
            <a:off x="571500" y="6379369"/>
            <a:ext cx="11049000" cy="269081"/>
          </a:xfrm>
          <a:prstGeom prst="rect">
            <a:avLst/>
          </a:prstGeom>
        </p:spPr>
      </p:pic>
      <p:sp>
        <p:nvSpPr>
          <p:cNvPr id="302" name="Shape 302"/>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Gambrill et al. (2018)</a:t>
            </a:r>
            <a:endParaRPr lang="en-US"/>
          </a:p>
        </p:txBody>
      </p:sp>
      <p:sp>
        <p:nvSpPr>
          <p:cNvPr id="303" name="Shape 303"/>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304" name="Shape 304"/>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Norepinephrine recruits tectal radial astrocytes</a:t>
            </a:r>
            <a:endParaRPr lang="en-US"/>
          </a:p>
        </p:txBody>
      </p:sp>
      <p:sp>
        <p:nvSpPr>
          <p:cNvPr id="305" name="Shape 305"/>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Benfey and colleagues examined state-dependent visual processing in developing Xenopus. </a:t>
            </a:r>
            <a:r>
              <a:rPr sz="1800" b="1" i="0">
                <a:solidFill>
                  <a:srgbClr val="222B33"/>
                </a:solidFill>
                <a:latin typeface="Arial"/>
                <a:ea typeface="Arial"/>
              </a:rPr>
              <a:t>Norepinephrine (NE)</a:t>
            </a:r>
            <a:r>
              <a:rPr sz="1800" b="0" i="0">
                <a:solidFill>
                  <a:srgbClr val="222B33"/>
                </a:solidFill>
                <a:latin typeface="Arial"/>
                <a:ea typeface="Arial"/>
              </a:rPr>
              <a:t xml:space="preserve"> is a neuromodulator that can alter how a sensory circuit responds without changing the external stimulus.</a:t>
            </a:r>
            <a:endParaRPr lang="en-US"/>
          </a:p>
        </p:txBody>
      </p:sp>
      <p:sp>
        <p:nvSpPr>
          <p:cNvPr id="306" name="Shape 306"/>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 xml:space="preserve">NE activated brief calcium increases, or </a:t>
            </a:r>
            <a:r>
              <a:rPr sz="1800" b="1" i="0">
                <a:solidFill>
                  <a:srgbClr val="222B33"/>
                </a:solidFill>
                <a:latin typeface="Arial"/>
                <a:ea typeface="Arial"/>
              </a:rPr>
              <a:t>calcium transients</a:t>
            </a:r>
            <a:r>
              <a:rPr sz="1800" b="0" i="0">
                <a:solidFill>
                  <a:srgbClr val="222B33"/>
                </a:solidFill>
                <a:latin typeface="Arial"/>
                <a:ea typeface="Arial"/>
              </a:rPr>
              <a:t xml:space="preserve">, in tectal </a:t>
            </a:r>
            <a:r>
              <a:rPr sz="1800" b="1" i="0">
                <a:solidFill>
                  <a:srgbClr val="222B33"/>
                </a:solidFill>
                <a:latin typeface="Arial"/>
                <a:ea typeface="Arial"/>
              </a:rPr>
              <a:t>radial astrocytes</a:t>
            </a:r>
            <a:r>
              <a:rPr sz="1800" b="0" i="0">
                <a:solidFill>
                  <a:srgbClr val="222B33"/>
                </a:solidFill>
                <a:latin typeface="Arial"/>
                <a:ea typeface="Arial"/>
              </a:rPr>
              <a:t xml:space="preserve"> through </a:t>
            </a:r>
            <a:r>
              <a:rPr sz="1800" b="1" i="0">
                <a:solidFill>
                  <a:srgbClr val="222B33"/>
                </a:solidFill>
                <a:latin typeface="Arial"/>
                <a:ea typeface="Arial"/>
              </a:rPr>
              <a:t>α1-adrenergic receptors</a:t>
            </a:r>
            <a:r>
              <a:rPr sz="1800" b="0" i="0">
                <a:solidFill>
                  <a:srgbClr val="222B33"/>
                </a:solidFill>
                <a:latin typeface="Arial"/>
                <a:ea typeface="Arial"/>
              </a:rPr>
              <a:t>. These glial cells therefore participate in the response to a state-regulating chemical signal, alongside the neuronal visual circuit.</a:t>
            </a:r>
            <a:endParaRPr lang="en-US"/>
          </a:p>
        </p:txBody>
      </p:sp>
      <p:sp>
        <p:nvSpPr>
          <p:cNvPr id="307" name="Shape 307"/>
          <p:cNvSpPr/>
          <p:nvPr/>
        </p:nvSpPr>
        <p:spPr>
          <a:xfrm>
            <a:off x="571500" y="3441502"/>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NE and astrocyte activation shifted tectal responses toward looming stimuli. Astrocyte-mediated ATP/adenosine signaling reduced excitatory transmission from retinal ganglion-cell axons while leaving the measured tectal inhibitory transmission unaffected.</a:t>
            </a:r>
            <a:endParaRPr lang="en-US"/>
          </a:p>
        </p:txBody>
      </p:sp>
      <p:sp>
        <p:nvSpPr>
          <p:cNvPr id="308" name="Shape 308"/>
          <p:cNvSpPr/>
          <p:nvPr/>
        </p:nvSpPr>
        <p:spPr>
          <a:xfrm>
            <a:off x="571500" y="4443115"/>
            <a:ext cx="10972800" cy="877788"/>
          </a:xfrm>
          <a:prstGeom prst="rect">
            <a:avLst/>
          </a:prstGeom>
          <a:noFill/>
        </p:spPr>
        <p:txBody>
          <a:bodyPr anchor="t" wrap="square" tIns="0" bIns="0" lIns="0" rIns="0">
            <a:normAutofit/>
          </a:bodyPr>
          <a:lstStyle/>
          <a:p>
            <a:pPr algn="l">
              <a:lnSpc>
                <a:spcPts val="2304"/>
              </a:lnSpc>
              <a:buNone/>
            </a:pPr>
            <a:r>
              <a:rPr sz="1800" b="0" i="0">
                <a:solidFill>
                  <a:srgbClr val="222B33"/>
                </a:solidFill>
                <a:latin typeface="Arial"/>
                <a:ea typeface="Arial"/>
              </a:rPr>
              <a:t>This produces a useful mechanistic distinction: a circuit’s effective excitation/inhibition relationship can change by reducing afferent excitation, even when inhibitory synaptic current does not increase. State dependence can therefore enter before or during the integration of retinal input.</a:t>
            </a:r>
            <a:endParaRPr lang="en-US"/>
          </a:p>
        </p:txBody>
      </p:sp>
      <p:pic>
        <p:nvPicPr>
          <p:cNvPr id="168" name="Presenton Native Image 69" descr=""/>
          <p:cNvPicPr/>
          <p:nvPr/>
        </p:nvPicPr>
        <p:blipFill>
          <a:blip r:embed="rId2" cstate="none"/>
          <a:stretch>
            <a:fillRect/>
          </a:stretch>
        </p:blipFill>
        <p:spPr>
          <a:xfrm>
            <a:off x="571500" y="6379369"/>
            <a:ext cx="11049000" cy="269081"/>
          </a:xfrm>
          <a:prstGeom prst="rect">
            <a:avLst/>
          </a:prstGeom>
        </p:spPr>
      </p:pic>
      <p:sp>
        <p:nvSpPr>
          <p:cNvPr id="309" name="Shape 309"/>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Benfey et al. (2026)</a:t>
            </a:r>
            <a:endParaRPr lang="en-US"/>
          </a:p>
        </p:txBody>
      </p:sp>
      <p:sp>
        <p:nvSpPr>
          <p:cNvPr id="310" name="Shape 310"/>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311" name="Shape 311"/>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07658D"/>
                </a:solidFill>
                <a:latin typeface="Arial"/>
                <a:ea typeface="Arial"/>
              </a:rPr>
              <a:t>Astrocytic calcium and adenosine regulate selectivity</a:t>
            </a:r>
            <a:endParaRPr lang="en-US"/>
          </a:p>
        </p:txBody>
      </p:sp>
      <p:sp>
        <p:nvSpPr>
          <p:cNvPr id="312" name="Shape 312"/>
          <p:cNvSpPr/>
          <p:nvPr/>
        </p:nvSpPr>
        <p:spPr>
          <a:xfrm>
            <a:off x="571500" y="1400175"/>
            <a:ext cx="11068050" cy="78849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 xml:space="preserve">Benfey and colleagues used complementary interventions to test the pathway from neuromodulation to sensory selectivity. </a:t>
            </a:r>
            <a:r>
              <a:rPr sz="1725" b="1" i="0">
                <a:solidFill>
                  <a:srgbClr val="222B33"/>
                </a:solidFill>
                <a:latin typeface="Arial"/>
                <a:ea typeface="Arial"/>
              </a:rPr>
              <a:t>Chemogenetic activation</a:t>
            </a:r>
            <a:r>
              <a:rPr sz="1725" b="0" i="0">
                <a:solidFill>
                  <a:srgbClr val="222B33"/>
                </a:solidFill>
                <a:latin typeface="Arial"/>
                <a:ea typeface="Arial"/>
              </a:rPr>
              <a:t xml:space="preserve"> means using an introduced receptor system to activate a chosen cell population with an applied ligand.</a:t>
            </a:r>
            <a:endParaRPr lang="en-US"/>
          </a:p>
        </p:txBody>
      </p:sp>
      <p:sp>
        <p:nvSpPr>
          <p:cNvPr id="313" name="Shape 313"/>
          <p:cNvSpPr/>
          <p:nvPr/>
        </p:nvSpPr>
        <p:spPr>
          <a:xfrm>
            <a:off x="571500" y="2274391"/>
            <a:ext cx="11068050" cy="788491"/>
          </a:xfrm>
          <a:prstGeom prst="rect">
            <a:avLst/>
          </a:prstGeom>
          <a:noFill/>
        </p:spPr>
        <p:txBody>
          <a:bodyPr anchor="t" wrap="square" tIns="0" bIns="0" lIns="0" rIns="0">
            <a:normAutofit/>
          </a:bodyPr>
          <a:lstStyle/>
          <a:p>
            <a:pPr algn="l">
              <a:lnSpc>
                <a:spcPts val="2070"/>
              </a:lnSpc>
              <a:buNone/>
            </a:pPr>
            <a:r>
              <a:rPr sz="1725" b="0" i="0">
                <a:solidFill>
                  <a:srgbClr val="222B33"/>
                </a:solidFill>
                <a:latin typeface="Arial"/>
                <a:ea typeface="Arial"/>
              </a:rPr>
              <a:t xml:space="preserve">Activating tectal radial astrocytes mimicked the effect of NE and enhanced behavioral detection of looming stimuli in freely swimming tadpoles. Receptor blockade and calcium </a:t>
            </a:r>
            <a:r>
              <a:rPr sz="1725" b="1" i="0">
                <a:solidFill>
                  <a:srgbClr val="222B33"/>
                </a:solidFill>
                <a:latin typeface="Arial"/>
                <a:ea typeface="Arial"/>
              </a:rPr>
              <a:t>chelation</a:t>
            </a:r>
            <a:r>
              <a:rPr sz="1725" b="0" i="0">
                <a:solidFill>
                  <a:srgbClr val="222B33"/>
                </a:solidFill>
                <a:latin typeface="Arial"/>
                <a:ea typeface="Arial"/>
              </a:rPr>
              <a:t>, which binds free calcium, tested steps required for the selectivity shift.</a:t>
            </a:r>
            <a:endParaRPr lang="en-US"/>
          </a:p>
        </p:txBody>
      </p:sp>
      <p:pic>
        <p:nvPicPr>
          <p:cNvPr id="169" name="Presenton Native Image 70" descr=""/>
          <p:cNvPicPr/>
          <p:nvPr/>
        </p:nvPicPr>
        <p:blipFill>
          <a:blip r:embed="rId3" cstate="none"/>
          <a:stretch>
            <a:fillRect/>
          </a:stretch>
        </p:blipFill>
        <p:spPr>
          <a:xfrm>
            <a:off x="571500" y="3196233"/>
            <a:ext cx="11049000" cy="2424261"/>
          </a:xfrm>
          <a:prstGeom prst="rect">
            <a:avLst/>
          </a:prstGeom>
        </p:spPr>
      </p:pic>
      <p:pic>
        <p:nvPicPr>
          <p:cNvPr id="170" name="Presenton Native Image 71" descr=""/>
          <p:cNvPicPr/>
          <p:nvPr/>
        </p:nvPicPr>
        <p:blipFill>
          <a:blip r:embed="rId2" cstate="none"/>
          <a:stretch>
            <a:fillRect/>
          </a:stretch>
        </p:blipFill>
        <p:spPr>
          <a:xfrm>
            <a:off x="571500" y="6379369"/>
            <a:ext cx="11049000" cy="269081"/>
          </a:xfrm>
          <a:prstGeom prst="rect">
            <a:avLst/>
          </a:prstGeom>
        </p:spPr>
      </p:pic>
      <p:sp>
        <p:nvSpPr>
          <p:cNvPr id="314" name="Shape 314"/>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Benfey et al. (2026)</a:t>
            </a:r>
            <a:endParaRPr lang="en-US"/>
          </a:p>
        </p:txBody>
      </p:sp>
      <p:sp>
        <p:nvSpPr>
          <p:cNvPr id="315" name="Shape 315"/>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9FCFE"/>
        </a:solidFill>
      </p:bgPr>
    </p:bg>
    <p:spTree>
      <p:nvGrpSpPr>
        <p:cNvPr id="1" name=""/>
        <p:cNvGrpSpPr/>
        <p:nvPr/>
      </p:nvGrpSpPr>
      <p:grpSpPr>
        <a:xfrm>
          <a:off x="0" y="0"/>
          <a:ext cx="0" cy="0"/>
          <a:chOff x="0" y="0"/>
          <a:chExt cx="0" cy="0"/>
        </a:xfrm>
      </p:grpSpPr>
      <p:sp>
        <p:nvSpPr>
          <p:cNvPr id="316" name="Shape 316"/>
          <p:cNvSpPr/>
          <p:nvPr/>
        </p:nvSpPr>
        <p:spPr>
          <a:xfrm>
            <a:off x="571500" y="381000"/>
            <a:ext cx="3138488" cy="628650"/>
          </a:xfrm>
          <a:prstGeom prst="rect">
            <a:avLst/>
          </a:prstGeom>
          <a:noFill/>
        </p:spPr>
        <p:txBody>
          <a:bodyPr anchor="t" wrap="square" tIns="0" bIns="0" lIns="0" rIns="0">
            <a:normAutofit/>
          </a:bodyPr>
          <a:lstStyle/>
          <a:p>
            <a:pPr algn="l">
              <a:lnSpc>
                <a:spcPts val="4950"/>
              </a:lnSpc>
              <a:buNone/>
            </a:pPr>
            <a:r>
              <a:rPr sz="3300" b="1" i="0">
                <a:solidFill>
                  <a:srgbClr val="07658D"/>
                </a:solidFill>
                <a:latin typeface="Arial"/>
                <a:ea typeface="Arial"/>
              </a:rPr>
              <a:t>Key takeaways</a:t>
            </a:r>
            <a:endParaRPr lang="en-US"/>
          </a:p>
        </p:txBody>
      </p:sp>
      <p:sp>
        <p:nvSpPr>
          <p:cNvPr id="317" name="Shape 317"/>
          <p:cNvSpPr/>
          <p:nvPr/>
        </p:nvSpPr>
        <p:spPr>
          <a:xfrm>
            <a:off x="571500" y="1381125"/>
            <a:ext cx="5238750" cy="1086445"/>
          </a:xfrm>
          <a:prstGeom prst="rect">
            <a:avLst/>
          </a:prstGeom>
          <a:noFill/>
        </p:spPr>
        <p:txBody>
          <a:bodyPr anchor="t" wrap="square" tIns="0" bIns="0" lIns="0" rIns="0">
            <a:normAutofit/>
          </a:bodyPr>
          <a:lstStyle/>
          <a:p>
            <a:pPr algn="l">
              <a:lnSpc>
                <a:spcPts val="2139"/>
              </a:lnSpc>
              <a:buNone/>
            </a:pPr>
            <a:r>
              <a:rPr sz="1725" b="1" i="0">
                <a:solidFill>
                  <a:srgbClr val="222B33"/>
                </a:solidFill>
                <a:latin typeface="Arial"/>
                <a:ea typeface="Arial"/>
              </a:rPr>
              <a:t>Behavioral selection has several outputs.</a:t>
            </a:r>
            <a:r>
              <a:rPr sz="1725" b="0" i="0">
                <a:solidFill>
                  <a:srgbClr val="222B33"/>
                </a:solidFill>
                <a:latin typeface="Arial"/>
                <a:ea typeface="Arial"/>
              </a:rPr>
              <a:t xml:space="preserve"> Suppressed snapping, immobility, withdrawal, and escape must be measured separately; a nonprey response is not automatically a predator response.</a:t>
            </a:r>
            <a:endParaRPr lang="en-US"/>
          </a:p>
        </p:txBody>
      </p:sp>
      <p:sp>
        <p:nvSpPr>
          <p:cNvPr id="318" name="Shape 318"/>
          <p:cNvSpPr/>
          <p:nvPr/>
        </p:nvSpPr>
        <p:spPr>
          <a:xfrm>
            <a:off x="571500" y="2639020"/>
            <a:ext cx="5238750" cy="1358057"/>
          </a:xfrm>
          <a:prstGeom prst="rect">
            <a:avLst/>
          </a:prstGeom>
          <a:noFill/>
        </p:spPr>
        <p:txBody>
          <a:bodyPr anchor="t" wrap="square" tIns="0" bIns="0" lIns="0" rIns="0">
            <a:normAutofit/>
          </a:bodyPr>
          <a:lstStyle/>
          <a:p>
            <a:pPr algn="l">
              <a:lnSpc>
                <a:spcPts val="2139"/>
              </a:lnSpc>
              <a:buNone/>
            </a:pPr>
            <a:r>
              <a:rPr sz="1725" b="1" i="0">
                <a:solidFill>
                  <a:srgbClr val="222B33"/>
                </a:solidFill>
                <a:latin typeface="Arial"/>
                <a:ea typeface="Arial"/>
              </a:rPr>
              <a:t>Pretectal influence restrains tectal prey activity.</a:t>
            </a:r>
            <a:r>
              <a:rPr sz="1725" b="0" i="0">
                <a:solidFill>
                  <a:srgbClr val="222B33"/>
                </a:solidFill>
                <a:latin typeface="Arial"/>
                <a:ea typeface="Arial"/>
              </a:rPr>
              <a:t xml:space="preserve"> Projection identification, lesions, stimulation, and intracellular recordings connect pretectal visual signals to broad tectal suppression.</a:t>
            </a:r>
            <a:endParaRPr lang="en-US"/>
          </a:p>
        </p:txBody>
      </p:sp>
      <p:sp>
        <p:nvSpPr>
          <p:cNvPr id="319" name="Shape 319"/>
          <p:cNvSpPr/>
          <p:nvPr/>
        </p:nvSpPr>
        <p:spPr>
          <a:xfrm>
            <a:off x="571500" y="4168527"/>
            <a:ext cx="5238750" cy="1358057"/>
          </a:xfrm>
          <a:prstGeom prst="rect">
            <a:avLst/>
          </a:prstGeom>
          <a:noFill/>
        </p:spPr>
        <p:txBody>
          <a:bodyPr anchor="t" wrap="square" tIns="0" bIns="0" lIns="0" rIns="0">
            <a:normAutofit/>
          </a:bodyPr>
          <a:lstStyle/>
          <a:p>
            <a:pPr algn="l">
              <a:lnSpc>
                <a:spcPts val="2139"/>
              </a:lnSpc>
              <a:buNone/>
            </a:pPr>
            <a:r>
              <a:rPr sz="1725" b="1" i="0">
                <a:solidFill>
                  <a:srgbClr val="222B33"/>
                </a:solidFill>
                <a:latin typeface="Arial"/>
                <a:ea typeface="Arial"/>
              </a:rPr>
              <a:t>Transmitter mechanisms are pathway-specific.</a:t>
            </a:r>
            <a:r>
              <a:rPr sz="1725" b="0" i="0">
                <a:solidFill>
                  <a:srgbClr val="222B33"/>
                </a:solidFill>
                <a:latin typeface="Arial"/>
                <a:ea typeface="Arial"/>
              </a:rPr>
              <a:t xml:space="preserve"> NPY/Y2 signaling regulates retinotectal processing and feeding under threat; a regional inhibitory effect does not identify every synapse’s transmitter.</a:t>
            </a:r>
            <a:endParaRPr lang="en-US"/>
          </a:p>
        </p:txBody>
      </p:sp>
      <p:sp>
        <p:nvSpPr>
          <p:cNvPr id="320" name="Shape 320"/>
          <p:cNvSpPr/>
          <p:nvPr/>
        </p:nvSpPr>
        <p:spPr>
          <a:xfrm>
            <a:off x="6400800" y="1381125"/>
            <a:ext cx="5238750" cy="1086445"/>
          </a:xfrm>
          <a:prstGeom prst="rect">
            <a:avLst/>
          </a:prstGeom>
          <a:noFill/>
        </p:spPr>
        <p:txBody>
          <a:bodyPr anchor="t" wrap="square" tIns="0" bIns="0" lIns="0" rIns="0">
            <a:normAutofit/>
          </a:bodyPr>
          <a:lstStyle/>
          <a:p>
            <a:pPr algn="l">
              <a:lnSpc>
                <a:spcPts val="2139"/>
              </a:lnSpc>
              <a:buNone/>
            </a:pPr>
            <a:r>
              <a:rPr sz="1725" b="1" i="0">
                <a:solidFill>
                  <a:srgbClr val="222B33"/>
                </a:solidFill>
                <a:latin typeface="Arial"/>
                <a:ea typeface="Arial"/>
              </a:rPr>
              <a:t>Looming is a computation over changing visual geometry.</a:t>
            </a:r>
            <a:r>
              <a:rPr sz="1725" b="0" i="0">
                <a:solidFill>
                  <a:srgbClr val="222B33"/>
                </a:solidFill>
                <a:latin typeface="Arial"/>
                <a:ea typeface="Arial"/>
              </a:rPr>
              <a:t xml:space="preserve"> Angular size, expansion rate, trajectory, and motor demands jointly constrain neural peaks and escape onset.</a:t>
            </a:r>
            <a:endParaRPr lang="en-US"/>
          </a:p>
        </p:txBody>
      </p:sp>
      <p:sp>
        <p:nvSpPr>
          <p:cNvPr id="321" name="Shape 321"/>
          <p:cNvSpPr/>
          <p:nvPr/>
        </p:nvSpPr>
        <p:spPr>
          <a:xfrm>
            <a:off x="6400800" y="2639020"/>
            <a:ext cx="5238750" cy="1358057"/>
          </a:xfrm>
          <a:prstGeom prst="rect">
            <a:avLst/>
          </a:prstGeom>
          <a:noFill/>
        </p:spPr>
        <p:txBody>
          <a:bodyPr anchor="t" wrap="square" tIns="0" bIns="0" lIns="0" rIns="0">
            <a:normAutofit/>
          </a:bodyPr>
          <a:lstStyle/>
          <a:p>
            <a:pPr algn="l">
              <a:lnSpc>
                <a:spcPts val="2139"/>
              </a:lnSpc>
              <a:buNone/>
            </a:pPr>
            <a:r>
              <a:rPr sz="1725" b="1" i="0">
                <a:solidFill>
                  <a:srgbClr val="222B33"/>
                </a:solidFill>
                <a:latin typeface="Arial"/>
                <a:ea typeface="Arial"/>
              </a:rPr>
              <a:t>Useful inhibition lies within a functional range.</a:t>
            </a:r>
            <a:r>
              <a:rPr sz="1725" b="0" i="0">
                <a:solidFill>
                  <a:srgbClr val="222B33"/>
                </a:solidFill>
                <a:latin typeface="Arial"/>
                <a:ea typeface="Arial"/>
              </a:rPr>
              <a:t xml:space="preserve"> Both weaker and stronger tectal inhibition can disrupt timing, spatial integration, selectivity, and avoidance; movement controls distinguish the behavioral deficit.</a:t>
            </a:r>
            <a:endParaRPr lang="en-US"/>
          </a:p>
        </p:txBody>
      </p:sp>
      <p:sp>
        <p:nvSpPr>
          <p:cNvPr id="322" name="Shape 322"/>
          <p:cNvSpPr/>
          <p:nvPr/>
        </p:nvSpPr>
        <p:spPr>
          <a:xfrm>
            <a:off x="6400800" y="4168527"/>
            <a:ext cx="5238750" cy="1629668"/>
          </a:xfrm>
          <a:prstGeom prst="rect">
            <a:avLst/>
          </a:prstGeom>
          <a:noFill/>
        </p:spPr>
        <p:txBody>
          <a:bodyPr anchor="t" wrap="square" tIns="0" bIns="0" lIns="0" rIns="0">
            <a:normAutofit/>
          </a:bodyPr>
          <a:lstStyle/>
          <a:p>
            <a:pPr algn="l">
              <a:lnSpc>
                <a:spcPts val="2139"/>
              </a:lnSpc>
              <a:buNone/>
            </a:pPr>
            <a:r>
              <a:rPr sz="1725" b="1" i="0">
                <a:solidFill>
                  <a:srgbClr val="222B33"/>
                </a:solidFill>
                <a:latin typeface="Arial"/>
                <a:ea typeface="Arial"/>
              </a:rPr>
              <a:t>Avoidance circuits remain state- and experience-dependent.</a:t>
            </a:r>
            <a:r>
              <a:rPr sz="1725" b="0" i="0">
                <a:solidFill>
                  <a:srgbClr val="222B33"/>
                </a:solidFill>
                <a:latin typeface="Arial"/>
                <a:ea typeface="Arial"/>
              </a:rPr>
              <a:t xml:space="preserve"> Bilateral synaptic interactions and astrocyte-mediated modulation alter visual processing. Adult toad, bullfrog, and tadpole evidence must retain their experimental boundaries.</a:t>
            </a:r>
            <a:endParaRPr lang="en-US"/>
          </a:p>
        </p:txBody>
      </p:sp>
      <p:pic>
        <p:nvPicPr>
          <p:cNvPr id="171" name="Presenton Native Image 72" descr=""/>
          <p:cNvPicPr/>
          <p:nvPr/>
        </p:nvPicPr>
        <p:blipFill>
          <a:blip r:embed="rId2" cstate="none"/>
          <a:stretch>
            <a:fillRect/>
          </a:stretch>
        </p:blipFill>
        <p:spPr>
          <a:xfrm>
            <a:off x="571500" y="6379369"/>
            <a:ext cx="11049000" cy="269081"/>
          </a:xfrm>
          <a:prstGeom prst="rect">
            <a:avLst/>
          </a:prstGeom>
        </p:spPr>
      </p:pic>
      <p:sp>
        <p:nvSpPr>
          <p:cNvPr id="323" name="Shape 323"/>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 xml:space="preserve">Buxbaum-Conradi </a:t>
            </a:r>
            <a:r>
              <a:rPr sz="1125" b="0" i="0">
                <a:solidFill>
                  <a:srgbClr val="4E6571"/>
                </a:solidFill>
                <a:latin typeface="Arial"/>
                <a:ea typeface="Arial"/>
              </a:rPr>
              <a:t>&amp;</a:t>
            </a:r>
            <a:r>
              <a:rPr sz="1125" b="0" i="0">
                <a:solidFill>
                  <a:srgbClr val="4E6571"/>
                </a:solidFill>
                <a:latin typeface="Arial"/>
                <a:ea typeface="Arial"/>
              </a:rPr>
              <a:t xml:space="preserve"> Ewert (1995); Islam et al. (2019); Nakagawa </a:t>
            </a:r>
            <a:r>
              <a:rPr sz="1125" b="0" i="0">
                <a:solidFill>
                  <a:srgbClr val="4E6571"/>
                </a:solidFill>
                <a:latin typeface="Arial"/>
                <a:ea typeface="Arial"/>
              </a:rPr>
              <a:t>&amp;</a:t>
            </a:r>
            <a:r>
              <a:rPr sz="1125" b="0" i="0">
                <a:solidFill>
                  <a:srgbClr val="4E6571"/>
                </a:solidFill>
                <a:latin typeface="Arial"/>
                <a:ea typeface="Arial"/>
              </a:rPr>
              <a:t xml:space="preserve"> Kang (2010); Shen et al. (2011); Benfey et al. (2026)</a:t>
            </a:r>
            <a:endParaRPr lang="en-US"/>
          </a:p>
        </p:txBody>
      </p:sp>
      <p:sp>
        <p:nvSpPr>
          <p:cNvPr id="324" name="Shape 324"/>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4E6571"/>
                </a:solidFill>
                <a:latin typeface="Arial"/>
                <a:ea typeface="Arial"/>
              </a:rPr>
              <a:t>46</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Neuroethology_Lecture10_FA2026</dc:title>
  <dc:subject>Generated by Presenton export-core</dc:subject>
  <dc:creator>Presenton</dc:creator>
  <cp:lastModifiedBy>Presenton</cp:lastModifiedBy>
  <dcterms:created xsi:type="dcterms:W3CDTF">2026-09-12T20:23:14.279Z</dcterms:created>
  <dcterms:modified xsi:type="dcterms:W3CDTF">2026-09-12T20:23:14.279Z</dcterms:modified>
</cp:coreProperties>
</file>