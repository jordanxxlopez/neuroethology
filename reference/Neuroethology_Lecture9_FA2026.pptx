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g7ftm7Czc+Wl/LxcSIhKFlvgve8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Lecture 9: Amphibian prey capture. Visual prey recognition and tectal feature detectors. Focal species: Bufo bufo. Comparative experiments identify their species and preparation explicitly.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 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Satou M, Matsushima T, Takeuchi H, Ueda K (1985). Tongue-muscle-controlling motoneurons in the Japanese toad: topography, morphology and neuronal pathways from the 'snapping-evoking area' in the optic tectum. Journal of comparative physiology. A, Sensory, neural, and behavioral physiology 157: 717-737. https://doi.org/10.1007/bf01350070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Arend B, Becker V, Borchers HW (1979). Invariants in configurational prey selection by Bufo bufo (L.). Brain, behavior and evolution 16: 38-51. https://doi.org/10.1159/000121822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Wachowitz S, Ewert JP (1996). A key by which the toad's visual system gets access to the domain of prey. Physiology &amp; behavior 60: 877-887. https://doi.org/10.1016/0031-9384(96)00070-4</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Arend B, Becker V, Borchers HW (1979). Invariants in configurational prey selection by Bufo bufo (L.). Brain, behavior and evolution 16: 38-51. https://doi.org/10.1159/000121822</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Wachowitz S, Ewert JP (1996). A key by which the toad's visual system gets access to the domain of prey. Physiology &amp; behavior 60: 877-887. https://doi.org/10.1016/0031-9384(96)00070-4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Arend B, Becker V, Borchers HW (1979). Invariants in configurational prey selection by Bufo bufo (L.). Brain, behavior and evolution 16: 38-51. https://doi.org/10.1159/000121822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Behavioral data and direction tests: Ewert (1995), Fig. 3a. R: turning activity; xℓ1: parallel extent; xℓ2: perpendicular extent.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Ewert JP (1995). Bildverarbeitung im Sehsystem der Erdkröte: Verhalten, Hirnfunktion, Künstliches Neuronales Netz. Film C 1805. Publikationen zu wissenschaftlichen Filmen, Biologie 22: 73–150. https://av.tib.eu/resources/supplement/15148/C1805.pdf Original research data or historical scientific illustration reproduced in the author’s report. Selected panels cropped for teaching, without redrawing or changing data.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Burghagen H (1979). Configurational prey selection by Bufo, Alytes, Bombina and Hyla. Brain, behavior and evolution 16: 157-175. https://doi.org/10.1159/000121834</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Spreckelsen C, Schürg-Pfeiffer E, Ewert JP (1995). Responses of retinal and tectal neurons in non-paralyzed toads Bufo bufo and B. marinus to the real size versus angular size of objects moved at variable distance. Neuroscience letters 184: 105-108. https://doi.org/10.1016/0304-3940(94)11180-q</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Baylor DA, Lamb TD, Yau KW (1979). Responses of retinal rods to single photons. The Journal of physiology 288: 613-634. https://doi.org/10.1113/jphysiol.1979.sp012716</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Lettvin JY, Maturana HR, McCulloch WS, Pitts WH (1959). What the frog’s eye tells the frog’s brain. Proceedings of the IRE 47: 1940–1951. https://doi.org/10.1109/JRPROC.1959.287207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Lettvin et al. (1959), Fig. 3e–h. Strip responses compare straight-edge and corner entry. Original retinal-output records.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Selected original research figure excerpt, cropped without changing plotted data. Original authors retain credit.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Maturana Humberto R., Lettvin J. Y., McCulloch W. S., Pitts W. H (1960). Anatomy and Physiology of Vision in the Frog (Rana pipiens). The Journal of General Physiology 43: 129–175. https://doi.org/10.1085/jgp.43.6.129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Tsai HJ, Ewert JP (1987). Edge preference of retinal and tectal neurons in common toads (Bufo bufo) in response to worm-like moving stripes: the question of behaviorally relevant 'position indicators'. Journal of comparative physiology. A, Sensory, neural, and behavioral physiology 161: 295-304. https://doi.org/10.1007/bf00615249</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Hock FJ, von Wietersheim A (1974). Thalamus/Pretectum/Tectum: Retinale Topographie und physiologische Interaktionen bei der Kröte Bufo bufo L. Journal of Comparative Physiology 92: 343–356. https://av.tib.eu/resources/supplement/15148/C1805.pdf</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Retinal and pretectotectal topography: Ewert (1995), Fig. 5, based on the original anatomical and physiological mapping work.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Ewert JP (1995). Bildverarbeitung im Sehsystem der Erdkröte: Verhalten, Hirnfunktion, Künstliches Neuronales Netz. Film C 1805. Publikationen zu wissenschaftlichen Filmen, Biologie 22: 73–150. https://av.tib.eu/resources/supplement/15148/C1805.pdf Original research data or historical scientific illustration reproduced in the author’s report. Selected panels cropped for teaching, without redrawing or changing data.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Weerasuriya A, Ewert JP (1981). Prey-selective neurons in the toad’s optic tectum and sensorimotor interfacing: HRP studies and recording experiments. Journal of Comparative Physiology 144: 429–434. https://doi.org/10.1007/BF01326828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Toad tectal cross-section and lamination: Ewert (1995), Fig. 4c and layer inset. Original 1 mm scale bar retained.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Ewert JP (1995). Bildverarbeitung im Sehsystem der Erdkröte: Verhalten, Hirnfunktion, Künstliches Neuronales Netz. Film C 1805. Publikationen zu wissenschaftlichen Filmen, Biologie 22: 73–150. https://av.tib.eu/resources/supplement/15148/C1805.pdf Original research data or historical scientific illustration reproduced in the author’s report. Selected panels cropped for teaching, without redrawing or changing data.</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von Wietersheim A (1974). Musterauswertung durch Tectum- und Thalamus/Praetectum-Neurone im visuellen System der Kröte Bufo bufo (L.). Journal of Comparative Physiology 92: 131–148. https://doi.org/10.1007/BF00694502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 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Ewert (1995), Fig. 7a. Historical circuit hypothesis. Population symbols summarize response classes and proposed interactions.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Ewert JP (1995). Bildverarbeitung im Sehsystem der Erdkröte: Verhalten, Hirnfunktion, Künstliches Neuronales Netz. Film C 1805. Publikationen zu wissenschaftlichen Filmen, Biologie 22: 73–150. https://av.tib.eu/resources/supplement/15148/C1805.pdf Original research data or historical scientific illustration reproduced in the author’s report. Selected panels cropped for teaching, without redrawing or changing data.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von Wietersheim A (1974). Musterauswertung durch Tectum- und Thalamus/Praetectum-Neurone im visuellen System der Kröte Bufo bufo (L.). Journal of Comparative Physiology 92: 131–148. https://doi.org/10.1007/BF00694502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von Wietersheim A (1974). Einfluß von Thalamus/Praetectum-Defekten auf die Antwort von Tectum-Neuronen gegenüber bewegten visuellen Mustern bei der Kröte Bufo bufo L. Journal of Comparative Physiology 92: 149–160. https://av.tib.eu/resources/supplement/15148/C1805.pdf</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Borchers HW, Ewert JP (1979). Correlation between behavioral and neuronal activities of toads Bufo bufo (L.) in response to moving configurational prey stimuli. Behavioural processes 4: 99-106. https://doi.org/10.1016/0376-6357(79)90026-3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Intact (a) and lesioned (b) conditions: Ewert &amp; von Wietersheim (1974), reproduced in Ewert (1995), Fig. 6A.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Ewert JP (1995). Bildverarbeitung im Sehsystem der Erdkröte: Verhalten, Hirnfunktion, Künstliches Neuronales Netz. Film C 1805. Publikationen zu wissenschaftlichen Filmen, Biologie 22: 73–150. https://av.tib.eu/resources/supplement/15148/C1805.pdf Original research data or historical scientific illustration reproduced in the author’s report. Selected panels cropped for teaching, without redrawing or changing data.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Matsumoto N, Schwippert WW, Ewert J- (1986). Intracellular activity of morphologically identified neurons of the grass frog's optic tectum in response to moving configurational visual stimuli. Journal of Comparative Physiology A 159: 721-739. https://doi.org/10.1007/bf00603726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Matsumoto et al. (1986), intracellular grass-frog records, reproduced in Ewert (1995), Fig. 6C. Top: A; bottom: W.</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Ewert JP (1995). Bildverarbeitung im Sehsystem der Erdkröte: Verhalten, Hirnfunktion, Künstliches Neuronales Netz. Film C 1805. Publikationen zu wissenschaftlichen Filmen, Biologie 22: 73–150. https://av.tib.eu/resources/supplement/15148/C1805.pdf Original research data or historical scientific illustration reproduced in the author’s report. Selected panels cropped for teaching, without redrawing or changing data.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Tsai HJ, Ewert JP (1988). Influence of stationary and moving textured backgrounds on the response of visual neurons in toads (Bufo bufo L.). Brain, behavior and evolution 32: 27-38. https://doi.org/10.1159/000116530</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Burghagen H, Ewert JP (1982). Question of "head preference" in response to worm-like dummies during prey-capture of toads, Bufo bufo. Behavioural processes 7: 295-306. https://doi.org/10.1016/0376-6357(82)90002-x</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Tsai HJ, Ewert JP (1987). Edge preference of retinal and tectal neurons in common toads (Bufo bufo) in response to worm-like moving stripes: the question of behaviorally relevant 'position indicators'. Journal of comparative physiology. A, Sensory, neural, and behavioral physiology 161: 295-304. https://doi.org/10.1007/bf00615249</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Ewert J (1967). Aktivierung der Verhaltensfolge beim Beutefang der Erdkröte (Bufo bufo L.) durch elektrische Mittelhirn-Reizung. Zeitschrift f�r Vergleichende Physiologie 54: 455-481. https://doi.org/10.1007/bf00298232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 36-56. https://doi.org/10.1159/000125462</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von Wietersheim A (1974). Einfluß von Thalamus/Praetectum-Defekten auf die Antwort von Tectum-Neuronen gegenüber bewegten visuellen Mustern bei der Kröte Bufo bufo L. Journal of Comparative Physiology 92: 149–160. https://av.tib.eu/resources/supplement/15148/C1805.pdf</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(1969). [Prey-catching behavior of toads (Bufo bufo L) with diencephalic and pretectal lesions in relation to moving and stationary visual stimuli]. Pflugers Archiv : European journal of physiology 306: 210-218. https://doi.org/10.1007/bf00592432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T5.2 responses before (a) and after (b) pretectal lesion: Ewert (1995), Fig. 6B. W above, A below; original 1 s scale.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Ewert JP (1995). Bildverarbeitung im Sehsystem der Erdkröte: Verhalten, Hirnfunktion, Künstliches Neuronales Netz. Film C 1805. Publikationen zu wissenschaftlichen Filmen, Biologie 22: 73–150. https://av.tib.eu/resources/supplement/15148/C1805.pdf Original research data or historical scientific illustration reproduced in the author’s report. Selected panels cropped for teaching, without redrawing or changing data.</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Kang HJ, Li XH (2007). An intracellular study of pretectal influence on the optic tectum of the frog, Rana catesbeiana. Neuroscience bulletin 23: 113-118. https://doi.org/10.1007/s12264-007-0016-z</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Li XH, Kang HJ, Xu ML, Mastumoto N (2010). Intracellular and current source density analysis of pretectal input to the optic tectum of the frog. Neuroscience bulletin 26: 371-380. https://doi.org/10.1007/s12264-010-0520-4</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Schwippert WW, Ewert JP (1995). Effect of neuropeptide-Y on tectal field potentials in the toad. Brain research 669: 150-152. https://doi.org/10.1016/0006-8993(94)01260-o</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 181–192. https://doi.org/10.1007/BF00239921</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Schwippert WW, Röttgen A, Ewert JP (1998). Neuropeptide Y (NPY) or fragment NPY 13-36, but not NPY 18-36, inhibit retinotectal transfer in cane toads Bufo marinus. Neuroscience letters 253: 33-36. https://doi.org/10.1016/s0304-3940(98)00596-5</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 name="Google Shape;325;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Feller MB, Delaney KR, Tank DW (1996). Presynaptic calcium dynamics at the frog retinotectal synapse. Journal of neurophysiology 76: 381-400. https://doi.org/10.1152/jn.1996.76.1.381</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Hickmott PW, Constantine-Paton M (1993). The contributions of NMDA, non-NMDA, and GABA receptors to postsynaptic responses in neurons of the optic tectum. The Journal of neuroscience : the official journal of the Society for Neuroscience 13: 4339-4353. https://doi.org/10.1523/jneurosci.13-10-04339.1993</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9" name="Google Shape;349;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Kuras A, Baginskas A, Batuleviciene V (2006). Non-NMDA and NMDA receptors are involved in suprathreshold excitation of network of frog tectal neurons by a single retinal ganglion cell. Neuroscience research 54: 328-337. https://doi.org/10.1016/j.neures.2005.12.014</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 name="Google Shape;361;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Antal M (1991). Distribution of GABA immunoreactivity in the optic tectum of the frog: a light and electron microscopic study. Neuroscience 42: 879-891. https://doi.org/10.1016/0306-4522(91)90051-o</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Hickmott PW, Constantine-Paton M (1993). The contributions of NMDA, non-NMDA, and GABA receptors to postsynaptic responses in neurons of the optic tectum. The Journal of neuroscience : the official journal of the Society for Neuroscience 13: 4339-4353. https://doi.org/10.1523/jneurosci.13-10-04339.1993</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Baginskas A, Kuras A (2009). L-type Ca2+ current in frog tectal recurrent neurons determines the NMDA receptor activation on efferent neuron. Experimental brain research 193: 509-517. https://doi.org/10.1007/s00221-008-1650-z</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Baginskas A, Kuras A (2011). Muscarinic inhibition of recurrent glutamatergic excitation in frog tectum column prevents NMDA receptor activation on efferent neuron. Experimental brain research 208: 323-334. https://doi.org/10.1007/s00221-010-2484-z</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Matsumoto N, Schwippert WW, Beneke TW, Ewert JP (1991). Forebrain-mediated control of visually guided prey-catching in toads: investigation of striato-pretectal connections with intracellular recording/labeling methods. Behavioural processes 25: 27-40. https://doi.org/10.1016/0376-6357(91)90043-y</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Buxbaum-Conradi H, Ewert JP (1999). Responses of single neurons in the toad's caudal ventral striatum to moving visual stimuli and test of their efferent projection by extracellular antidromic stimulation/recording techniques. Brain, behavior and evolution 54: 338-354. https://doi.org/10.1159/000006633</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 name="Google Shape;421;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Glagow M, Ewert JP (1997). Dopaminergic modulation of visual responses in toads. I. Apomorphine-induced effects on visually directed appetitive and consummatory prey-catching behavior. Journal of comparative physiology. A, Sensory, neural, and behavioral physiology 180: 1-9. https://doi.org/10.1007/s003590050021</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Glagow M, Ewert JP (1997). Dopaminergic modulation of visual responses in toads. II. Influences of apomorphine on retinal ganglion cells and tectal cells. Journal of comparative physiology. A, Sensory, neural, and behavioral physiology 180: 11-18. https://doi.org/10.1007/s003590050022</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Finkenstädt T, Ewert JP (1988). Stimulus-specific long-term habituation of visually guided orienting behavior toward prey in toads: a 14C-2DG study. Journal of comparative physiology. A, Sensory, neural, and behavioral physiology 163: 1-11. https://doi.org/10.1007/bf00611991</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Wang D, Ewert JP (1992). Configurational pattern discrimination responsible for dishabituation in common toads Bufo bufo (L.): behavioral tests of the predictions of a neural model. Journal of comparative physiology. A, Sensory, neural, and behavioral physiology 170: 317-325. https://doi.org/10.1007/bf00191420</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9" name="Google Shape;469;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Satou M, Ewert JP (1985). The antidromic activation of tectal neurons by electrical stimuli applied to the caudal medulla oblongata in the toad, Bufo bufo L. Journal of comparative physiology. A, Sensory, neural, and behavioral physiology 157: 739-748. https://doi.org/10.1007/bf01350071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Framing EM, Schürg-Pfeiffer E, Weerasuriya A (1990). Responses of medullary neurons to moving visual stimuli in the common toad. I. Characterization of medial reticular neurons by extracellular recording. Journal of Comparative Physiology A 167: 495–508. https://av.tib.eu/resources/supplement/15148/C1805.pdf</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Collision-test records reproduced in Ewert (1995), Fig. 11B b1–b2. v: visual spike; e: electrical stimulus; a: antidromic spike.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Ewert JP (1995). Bildverarbeitung im Sehsystem der Erdkröte: Verhalten, Hirnfunktion, Künstliches Neuronales Netz. Film C 1805. Publikationen zu wissenschaftlichen Filmen, Biologie 22: 73–150. https://av.tib.eu/resources/supplement/15148/C1805.pdf Original research data or historical scientific illustration reproduced in the author’s report. Selected panels cropped for teaching, without redrawing or changing data.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reproduced collision traces are credited in Ewert (1995) to Ewert et al. (1990), Responses of medullary neurons to moving visual stimuli in the common toad. I. Journal of Comparative Physiology A 167:495–508. The Satou &amp; Ewert (1985) paper independently establishes antidromic identification of the descending tectal classes. The graph is an illustrative collision test from the cited report, not claimed as a panel from Satou &amp; Ewert (1985).</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Matsushima T, Satou M, Ueda K (1985). An electromyographic analysis of electrically-evoked prey-catching behavior by means of stimuli applied to the optic tectum in the Japanese toad. Neuroscience research 3: 154-161. https://doi.org/10.1016/0168-0102(85)90028-8</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Satou M, Matsushima T, Takeuchi H, Ueda K (1985). Tongue-muscle-controlling motoneurons in the Japanese toad: topography, morphology and neuronal pathways from the 'snapping-evoking area' in the optic tectum. Journal of comparative physiology. A, Sensory, neural, and behavioral physiology 157: 717-737. https://doi.org/10.1007/bf01350070</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7" name="Google Shape;507;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Schürg-Pfeiffer E, Spreckelsen C, Ewert JP (1993). Temporal discharge patterns of tectal and medullary neurons chronically recorded during snapping toward prey in toads Bufo bufo spinosus. Journal of Comparative Physiology A 173: 363–376. https://doi.org/10.1007/BF00212701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Schürg-Pfeiffer et al. (1993), reproduced in Ewert (1995), Fig. 10A–B. Histograms and spike records aligned to orienting.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Ewert JP (1995). Bildverarbeitung im Sehsystem der Erdkröte: Verhalten, Hirnfunktion, Künstliches Neuronales Netz. Film C 1805. Publikationen zu wissenschaftlichen Filmen, Biologie 22: 73–150. https://av.tib.eu/resources/supplement/15148/C1805.pdf Original research data or historical scientific illustration reproduced in the author’s report. Selected panels cropped for teaching, without redrawing or changing data.</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1" name="Google Shape;521;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Nishikawa KC, Gans C (1992). The role of hypoglossal sensory feedback during feeding in the marine toad, Bufo marinus. The Journal of experimental zoology 264: 245-252. https://doi.org/10.1002/jez.1402640303</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Keeffe R M, Blob R W, Blackburn D C, Mayerl C J (2022). XROMM Analysis of Feeding Mechanics in Toads: Interactions of the Tongue, Hyoid, and Pectoral Girdle. Integrative Organismal Biology 4: obac045. https://doi.org/10.1093/iob/obac045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Keeffe et al. (2022), Fig. 1. XROMM marker locations in Rhinella marina; original anatomical labels retained.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Selected original research figure excerpt, cropped without changing plotted data. Original authors retain credit.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Keeffe R M, Blob R W, Blackburn D C, Mayerl C J (2022). XROMM Analysis of Feeding Mechanics in Toads: Interactions of the Tongue, Hyoid, and Pectoral Girdle. Integrative Organismal Biology 4: obac045. https://doi.org/10.1093/iob/obac045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Keeffe et al. (2022), Fig. 3. Maximum tongue-marker separation during protrusion and retraction in three cane toads.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Selected original research figure excerpt, cropped without changing plotted data. Original authors retain credit.</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 name="Google Shape;560;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Glagow M, Ewert JP (1994). Increases of excitatory receptive fields of retinal ganglion cells in common toads under apomorphine are not associated with size preference in prey-snapping. Neuroscience letters 173: 83-86. https://doi.org/10.1016/0304-3940(94)90155-4</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Shaykevich DA, Woods GA, O'Connell LA, Hong G (2025). Chronic recording of brain activity in awake toads. Journal of neuroscience methods 419: 110449. https://doi.org/10.1016/j.jneumeth.2025.110449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Shaykevich et al. (2025), Fig. 4B and upper C, selected excerpt. Filtered awake cane-toad recordings and sorted spike waveforms.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Selected original research figure excerpt, cropped without changing plotted data. Original authors retain credit.</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6" name="Google Shape;586;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Borchers HW, Ewert JP (1979). Correlation between behavioral and neuronal activities of toads Bufo bufo (L.) in response to moving configurational prey stimuli. Behavioural processes 4: 99-106. https://doi.org/10.1016/0376-6357(79)90026-3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Hickmott PW, Constantine-Paton M (1993). The contributions of NMDA, non-NMDA, and GABA receptors to postsynaptic responses in neurons of the optic tectum. The Journal of neuroscience : the official journal of the Society for Neuroscience 13: 4339-4353. https://doi.org/10.1523/jneurosci.13-10-04339.1993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Glagow M, Ewert JP (1997). Dopaminergic modulation of visual responses in toads. I. Apomorphine-induced effects on visually directed appetitive and consummatory prey-catching behavior. Journal of comparative physiology. A, Sensory, neural, and behavioral physiology 180: 1-9. https://doi.org/10.1007/s003590050021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Nishikawa KC, Gans C (1992). The role of hypoglossal sensory feedback during feeding in the marine toad, Bufo marinus. The Journal of experimental zoology 264: 245-252. https://doi.org/10.1002/jez.1402640303</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jpg"/><Relationship Id="rId4"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1.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2.pn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6.pn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4.jpg"/><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5.jpg"/><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7.png"/><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E083C"/>
        </a:solidFill>
      </p:bgPr>
    </p:bg>
    <p:spTree>
      <p:nvGrpSpPr>
        <p:cNvPr id="18" name="Shape 18"/>
        <p:cNvGrpSpPr/>
        <p:nvPr/>
      </p:nvGrpSpPr>
      <p:grpSpPr>
        <a:xfrm>
          <a:off x="0" y="0"/>
          <a:ext cx="0" cy="0"/>
          <a:chOff x="0" y="0"/>
          <a:chExt cx="0" cy="0"/>
        </a:xfrm>
      </p:grpSpPr>
      <p:sp>
        <p:nvSpPr>
          <p:cNvPr id="19" name="Google Shape;19;p1"/>
          <p:cNvSpPr/>
          <p:nvPr/>
        </p:nvSpPr>
        <p:spPr>
          <a:xfrm>
            <a:off x="640037" y="1547635"/>
            <a:ext cx="10782300" cy="720030"/>
          </a:xfrm>
          <a:prstGeom prst="rect">
            <a:avLst/>
          </a:prstGeom>
          <a:noFill/>
          <a:ln>
            <a:noFill/>
          </a:ln>
        </p:spPr>
        <p:txBody>
          <a:bodyPr anchorCtr="0" anchor="t" bIns="0" lIns="0" spcFirstLastPara="1" rIns="0" wrap="square" tIns="0">
            <a:normAutofit/>
          </a:bodyPr>
          <a:lstStyle/>
          <a:p>
            <a:pPr indent="0" lvl="0" marL="0" marR="0" rtl="0" algn="l">
              <a:lnSpc>
                <a:spcPct val="141750"/>
              </a:lnSpc>
              <a:spcBef>
                <a:spcPts val="0"/>
              </a:spcBef>
              <a:spcAft>
                <a:spcPts val="0"/>
              </a:spcAft>
              <a:buClr>
                <a:srgbClr val="FFFFFF"/>
              </a:buClr>
              <a:buSzPts val="4000"/>
              <a:buFont typeface="Arial"/>
              <a:buNone/>
            </a:pPr>
            <a:r>
              <a:rPr b="1" i="0" lang="en-US" sz="3700" u="none" cap="none" strike="noStrike">
                <a:solidFill>
                  <a:srgbClr val="FFFFFF"/>
                </a:solidFill>
                <a:latin typeface="Arial"/>
                <a:ea typeface="Arial"/>
                <a:cs typeface="Arial"/>
                <a:sym typeface="Arial"/>
              </a:rPr>
              <a:t>Amphibian Prey Capture I</a:t>
            </a:r>
            <a:endParaRPr b="0" i="0" sz="3700" u="none" cap="none" strike="noStrike">
              <a:solidFill>
                <a:schemeClr val="dk1"/>
              </a:solidFill>
              <a:latin typeface="Calibri"/>
              <a:ea typeface="Calibri"/>
              <a:cs typeface="Calibri"/>
              <a:sym typeface="Calibri"/>
            </a:endParaRPr>
          </a:p>
        </p:txBody>
      </p:sp>
      <p:sp>
        <p:nvSpPr>
          <p:cNvPr id="20" name="Google Shape;20;p1"/>
          <p:cNvSpPr/>
          <p:nvPr/>
        </p:nvSpPr>
        <p:spPr>
          <a:xfrm>
            <a:off x="606864" y="2519542"/>
            <a:ext cx="10782300" cy="891480"/>
          </a:xfrm>
          <a:prstGeom prst="rect">
            <a:avLst/>
          </a:prstGeom>
          <a:noFill/>
          <a:ln>
            <a:noFill/>
          </a:ln>
        </p:spPr>
        <p:txBody>
          <a:bodyPr anchorCtr="0" anchor="t" bIns="0" lIns="0" spcFirstLastPara="1" rIns="0" wrap="square" tIns="0">
            <a:normAutofit/>
          </a:bodyPr>
          <a:lstStyle/>
          <a:p>
            <a:pPr indent="0" lvl="0" marL="0" marR="0" rtl="0" algn="l">
              <a:lnSpc>
                <a:spcPct val="159545"/>
              </a:lnSpc>
              <a:spcBef>
                <a:spcPts val="0"/>
              </a:spcBef>
              <a:spcAft>
                <a:spcPts val="0"/>
              </a:spcAft>
              <a:buClr>
                <a:srgbClr val="FFFFFF"/>
              </a:buClr>
              <a:buSzPts val="2200"/>
              <a:buFont typeface="Arial"/>
              <a:buNone/>
            </a:pPr>
            <a:r>
              <a:rPr b="0" i="1" lang="en-US" sz="2000" u="none" cap="none" strike="noStrike">
                <a:solidFill>
                  <a:srgbClr val="FFFFFF"/>
                </a:solidFill>
                <a:latin typeface="Arial"/>
                <a:ea typeface="Arial"/>
                <a:cs typeface="Arial"/>
                <a:sym typeface="Arial"/>
              </a:rPr>
              <a:t>Toad Visual Prey-Catching </a:t>
            </a:r>
            <a:endParaRPr sz="1200"/>
          </a:p>
          <a:p>
            <a:pPr indent="0" lvl="0" marL="0" marR="0" rtl="0" algn="l">
              <a:lnSpc>
                <a:spcPct val="159545"/>
              </a:lnSpc>
              <a:spcBef>
                <a:spcPts val="0"/>
              </a:spcBef>
              <a:spcAft>
                <a:spcPts val="0"/>
              </a:spcAft>
              <a:buClr>
                <a:srgbClr val="FFFFFF"/>
              </a:buClr>
              <a:buSzPts val="2200"/>
              <a:buFont typeface="Arial"/>
              <a:buNone/>
            </a:pPr>
            <a:r>
              <a:rPr b="0" i="1" lang="en-US" sz="2000" u="none" cap="none" strike="noStrike">
                <a:solidFill>
                  <a:srgbClr val="FFFFFF"/>
                </a:solidFill>
                <a:latin typeface="Arial"/>
                <a:ea typeface="Arial"/>
                <a:cs typeface="Arial"/>
                <a:sym typeface="Arial"/>
              </a:rPr>
              <a:t>And Tectal Feature Detectors</a:t>
            </a:r>
            <a:endParaRPr b="0" i="1" sz="2000" u="none" cap="none" strike="noStrike">
              <a:solidFill>
                <a:schemeClr val="dk1"/>
              </a:solidFill>
              <a:latin typeface="Calibri"/>
              <a:ea typeface="Calibri"/>
              <a:cs typeface="Calibri"/>
              <a:sym typeface="Calibri"/>
            </a:endParaRPr>
          </a:p>
        </p:txBody>
      </p:sp>
      <p:sp>
        <p:nvSpPr>
          <p:cNvPr id="21" name="Google Shape;21;p1"/>
          <p:cNvSpPr/>
          <p:nvPr/>
        </p:nvSpPr>
        <p:spPr>
          <a:xfrm>
            <a:off x="11456938" y="6424613"/>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FFFFFF"/>
              </a:buClr>
              <a:buSzPts val="1125"/>
              <a:buFont typeface="Arial"/>
              <a:buNone/>
            </a:pPr>
            <a:r>
              <a:rPr b="0" i="0" lang="en-US" sz="1125" u="none" cap="none" strike="noStrike">
                <a:solidFill>
                  <a:srgbClr val="FFFFFF"/>
                </a:solidFill>
                <a:latin typeface="Arial"/>
                <a:ea typeface="Arial"/>
                <a:cs typeface="Arial"/>
                <a:sym typeface="Arial"/>
              </a:rPr>
              <a:t>01</a:t>
            </a:r>
            <a:endParaRPr b="0" i="0" sz="1800" u="none" cap="none" strike="noStrike">
              <a:solidFill>
                <a:schemeClr val="dk1"/>
              </a:solidFill>
              <a:latin typeface="Calibri"/>
              <a:ea typeface="Calibri"/>
              <a:cs typeface="Calibri"/>
              <a:sym typeface="Calibri"/>
            </a:endParaRPr>
          </a:p>
        </p:txBody>
      </p:sp>
      <p:sp>
        <p:nvSpPr>
          <p:cNvPr id="22" name="Google Shape;22;p1"/>
          <p:cNvSpPr txBox="1"/>
          <p:nvPr/>
        </p:nvSpPr>
        <p:spPr>
          <a:xfrm>
            <a:off x="606887" y="753775"/>
            <a:ext cx="60960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NEUROETHOLOGY · LECTURE 9 · September 14, 2026</a:t>
            </a:r>
            <a:endParaRPr b="0" i="0" sz="1800" u="none" cap="none" strike="noStrike">
              <a:solidFill>
                <a:schemeClr val="lt1"/>
              </a:solidFill>
              <a:latin typeface="Calibri"/>
              <a:ea typeface="Calibri"/>
              <a:cs typeface="Calibri"/>
              <a:sym typeface="Calibri"/>
            </a:endParaRPr>
          </a:p>
          <a:p>
            <a:pPr indent="0" lvl="0" marL="0" marR="0" rtl="0" algn="l">
              <a:spcBef>
                <a:spcPts val="0"/>
              </a:spcBef>
              <a:spcAft>
                <a:spcPts val="0"/>
              </a:spcAft>
              <a:buClr>
                <a:schemeClr val="lt1"/>
              </a:buClr>
              <a:buSzPts val="1800"/>
              <a:buFont typeface="Calibri"/>
              <a:buNone/>
            </a:pPr>
            <a:br>
              <a:rPr b="0" i="0" lang="en-US" sz="1800" u="none" cap="none" strike="noStrike">
                <a:solidFill>
                  <a:schemeClr val="lt1"/>
                </a:solidFill>
                <a:latin typeface="Calibri"/>
                <a:ea typeface="Calibri"/>
                <a:cs typeface="Calibri"/>
                <a:sym typeface="Calibri"/>
              </a:rPr>
            </a:br>
            <a:endParaRPr b="0" i="0" sz="1800" u="none" cap="none" strike="noStrike">
              <a:solidFill>
                <a:schemeClr val="lt1"/>
              </a:solidFill>
              <a:latin typeface="Calibri"/>
              <a:ea typeface="Calibri"/>
              <a:cs typeface="Calibri"/>
              <a:sym typeface="Calibri"/>
            </a:endParaRPr>
          </a:p>
        </p:txBody>
      </p:sp>
      <p:sp>
        <p:nvSpPr>
          <p:cNvPr id="23" name="Google Shape;23;p1"/>
          <p:cNvSpPr txBox="1"/>
          <p:nvPr/>
        </p:nvSpPr>
        <p:spPr>
          <a:xfrm>
            <a:off x="606865" y="6058935"/>
            <a:ext cx="9144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CDA"/>
              </a:buClr>
              <a:buSzPts val="1100"/>
              <a:buFont typeface="Calibri"/>
              <a:buNone/>
            </a:pPr>
            <a:r>
              <a:rPr i="0" lang="en-US" sz="1100" u="none" cap="none" strike="noStrike">
                <a:solidFill>
                  <a:srgbClr val="FFFFFF"/>
                </a:solidFill>
              </a:rPr>
              <a:t>NEUROETHOLOGY   ·   FALL 2026   ·   MWF 8:30–9:50 AM</a:t>
            </a:r>
            <a:endParaRPr i="0" sz="1100" u="none" cap="none" strike="noStrike">
              <a:solidFill>
                <a:srgbClr val="FFFFFF"/>
              </a:solidFill>
            </a:endParaRPr>
          </a:p>
        </p:txBody>
      </p:sp>
      <p:sp>
        <p:nvSpPr>
          <p:cNvPr id="24" name="Google Shape;24;p1"/>
          <p:cNvSpPr txBox="1"/>
          <p:nvPr/>
        </p:nvSpPr>
        <p:spPr>
          <a:xfrm>
            <a:off x="560908" y="4787500"/>
            <a:ext cx="5420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FFFFFF"/>
                </a:solidFill>
              </a:rPr>
              <a:t>Jordan Lopez, Ph.D., </a:t>
            </a:r>
            <a:endParaRPr sz="1500">
              <a:solidFill>
                <a:srgbClr val="FFFFFF"/>
              </a:solidFill>
            </a:endParaRPr>
          </a:p>
          <a:p>
            <a:pPr indent="0" lvl="0" marL="0" rtl="0" algn="l">
              <a:spcBef>
                <a:spcPts val="0"/>
              </a:spcBef>
              <a:spcAft>
                <a:spcPts val="0"/>
              </a:spcAft>
              <a:buNone/>
            </a:pPr>
            <a:r>
              <a:rPr lang="en-US" sz="1500">
                <a:solidFill>
                  <a:srgbClr val="FFFFFF"/>
                </a:solidFill>
              </a:rPr>
              <a:t>Professor of Neurobiology &amp; Biomedical Engineering</a:t>
            </a:r>
            <a:endParaRPr sz="1500">
              <a:solidFill>
                <a:srgbClr val="FFFFFF"/>
              </a:solidFill>
            </a:endParaRPr>
          </a:p>
        </p:txBody>
      </p:sp>
      <p:pic>
        <p:nvPicPr>
          <p:cNvPr descr="life cycle - Kids | Britannica Kids | Homework Help" id="25" name="Google Shape;25;p1"/>
          <p:cNvPicPr preferRelativeResize="0"/>
          <p:nvPr/>
        </p:nvPicPr>
        <p:blipFill>
          <a:blip r:embed="rId3">
            <a:alphaModFix/>
          </a:blip>
          <a:stretch>
            <a:fillRect/>
          </a:stretch>
        </p:blipFill>
        <p:spPr>
          <a:xfrm>
            <a:off x="7163300" y="271713"/>
            <a:ext cx="4789650" cy="3271874"/>
          </a:xfrm>
          <a:prstGeom prst="rect">
            <a:avLst/>
          </a:prstGeom>
          <a:noFill/>
          <a:ln>
            <a:noFill/>
          </a:ln>
        </p:spPr>
      </p:pic>
      <p:pic>
        <p:nvPicPr>
          <p:cNvPr id="26" name="Google Shape;26;p1" title="Screenshot 2026-09-12 at 1.07.57 PM.png"/>
          <p:cNvPicPr preferRelativeResize="0"/>
          <p:nvPr/>
        </p:nvPicPr>
        <p:blipFill>
          <a:blip r:embed="rId4">
            <a:alphaModFix/>
          </a:blip>
          <a:stretch>
            <a:fillRect/>
          </a:stretch>
        </p:blipFill>
        <p:spPr>
          <a:xfrm>
            <a:off x="7163297" y="3695970"/>
            <a:ext cx="3471151" cy="3037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30" name="Shape 30"/>
        <p:cNvGrpSpPr/>
        <p:nvPr/>
      </p:nvGrpSpPr>
      <p:grpSpPr>
        <a:xfrm>
          <a:off x="0" y="0"/>
          <a:ext cx="0" cy="0"/>
          <a:chOff x="0" y="0"/>
          <a:chExt cx="0" cy="0"/>
        </a:xfrm>
      </p:grpSpPr>
      <p:sp>
        <p:nvSpPr>
          <p:cNvPr id="31" name="Google Shape;31;p2"/>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Prey capture links recognition to coordinated movement</a:t>
            </a:r>
            <a:endParaRPr b="0" i="0" sz="1800" u="none" cap="none" strike="noStrike">
              <a:solidFill>
                <a:schemeClr val="dk1"/>
              </a:solidFill>
              <a:latin typeface="Calibri"/>
              <a:ea typeface="Calibri"/>
              <a:cs typeface="Calibri"/>
              <a:sym typeface="Calibri"/>
            </a:endParaRPr>
          </a:p>
        </p:txBody>
      </p:sp>
      <p:sp>
        <p:nvSpPr>
          <p:cNvPr id="32" name="Google Shape;32;p2"/>
          <p:cNvSpPr/>
          <p:nvPr/>
        </p:nvSpPr>
        <p:spPr>
          <a:xfrm>
            <a:off x="571500" y="1012025"/>
            <a:ext cx="109728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500" u="none" cap="none" strike="noStrike">
                <a:solidFill>
                  <a:srgbClr val="28242A"/>
                </a:solidFill>
                <a:latin typeface="Arial"/>
                <a:ea typeface="Arial"/>
                <a:cs typeface="Arial"/>
                <a:sym typeface="Arial"/>
              </a:rPr>
              <a:t>An adult common toad, </a:t>
            </a:r>
            <a:r>
              <a:rPr b="1" i="0" lang="en-US" sz="1500" u="none" cap="none" strike="noStrike">
                <a:solidFill>
                  <a:srgbClr val="28242A"/>
                </a:solidFill>
                <a:latin typeface="Arial"/>
                <a:ea typeface="Arial"/>
                <a:cs typeface="Arial"/>
                <a:sym typeface="Arial"/>
              </a:rPr>
              <a:t>Bufo bufo</a:t>
            </a:r>
            <a:r>
              <a:rPr b="0" i="0" lang="en-US" sz="1500" u="none" cap="none" strike="noStrike">
                <a:solidFill>
                  <a:srgbClr val="28242A"/>
                </a:solidFill>
                <a:latin typeface="Arial"/>
                <a:ea typeface="Arial"/>
                <a:cs typeface="Arial"/>
                <a:sym typeface="Arial"/>
              </a:rPr>
              <a:t>, can orient toward a moving prey object, approach it, place it in the frontal visual field, and snap with its tongue. Swallowing and mouth wiping complete the feeding sequence.</a:t>
            </a:r>
            <a:endParaRPr b="0" i="0" sz="1500" u="none" cap="none" strike="noStrike">
              <a:solidFill>
                <a:schemeClr val="dk1"/>
              </a:solidFill>
              <a:latin typeface="Calibri"/>
              <a:ea typeface="Calibri"/>
              <a:cs typeface="Calibri"/>
              <a:sym typeface="Calibri"/>
            </a:endParaRPr>
          </a:p>
        </p:txBody>
      </p:sp>
      <p:sp>
        <p:nvSpPr>
          <p:cNvPr id="33" name="Google Shape;33;p2"/>
          <p:cNvSpPr/>
          <p:nvPr/>
        </p:nvSpPr>
        <p:spPr>
          <a:xfrm>
            <a:off x="571500" y="1847018"/>
            <a:ext cx="81120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500" u="none" cap="none" strike="noStrike">
                <a:solidFill>
                  <a:srgbClr val="28242A"/>
                </a:solidFill>
                <a:latin typeface="Arial"/>
                <a:ea typeface="Arial"/>
                <a:cs typeface="Arial"/>
                <a:sym typeface="Arial"/>
              </a:rPr>
              <a:t>Each movement changes the sensory conditions for the following action. Turning reduces the target’s eccentricity, meaning its angular distance from the forward viewing direction. Approach reduces distance until a tongue strike can reach the object.</a:t>
            </a:r>
            <a:endParaRPr b="0" i="0" sz="1500" u="none" cap="none" strike="noStrike">
              <a:solidFill>
                <a:schemeClr val="dk1"/>
              </a:solidFill>
              <a:latin typeface="Calibri"/>
              <a:ea typeface="Calibri"/>
              <a:cs typeface="Calibri"/>
              <a:sym typeface="Calibri"/>
            </a:endParaRPr>
          </a:p>
        </p:txBody>
      </p:sp>
      <p:sp>
        <p:nvSpPr>
          <p:cNvPr id="34" name="Google Shape;34;p2"/>
          <p:cNvSpPr/>
          <p:nvPr/>
        </p:nvSpPr>
        <p:spPr>
          <a:xfrm>
            <a:off x="571500" y="3326335"/>
            <a:ext cx="5388300" cy="594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1" i="0" lang="en-US" sz="1500" u="none" cap="none" strike="noStrike">
                <a:solidFill>
                  <a:srgbClr val="28242A"/>
                </a:solidFill>
                <a:latin typeface="Arial"/>
                <a:ea typeface="Arial"/>
                <a:cs typeface="Arial"/>
                <a:sym typeface="Arial"/>
              </a:rPr>
              <a:t>Prey recognition and target localization solve different problems.</a:t>
            </a:r>
            <a:r>
              <a:rPr b="0" i="0" lang="en-US" sz="1500" u="none" cap="none" strike="noStrike">
                <a:solidFill>
                  <a:srgbClr val="28242A"/>
                </a:solidFill>
                <a:latin typeface="Arial"/>
                <a:ea typeface="Arial"/>
                <a:cs typeface="Arial"/>
                <a:sym typeface="Arial"/>
              </a:rPr>
              <a:t> A moving object can possess attractive visual features while remaining too distant or too far to one side for snapping.</a:t>
            </a:r>
            <a:endParaRPr b="0" i="0" sz="1500" u="none" cap="none" strike="noStrike">
              <a:solidFill>
                <a:schemeClr val="dk1"/>
              </a:solidFill>
              <a:latin typeface="Calibri"/>
              <a:ea typeface="Calibri"/>
              <a:cs typeface="Calibri"/>
              <a:sym typeface="Calibri"/>
            </a:endParaRPr>
          </a:p>
        </p:txBody>
      </p:sp>
      <p:sp>
        <p:nvSpPr>
          <p:cNvPr id="35" name="Google Shape;35;p2"/>
          <p:cNvSpPr/>
          <p:nvPr/>
        </p:nvSpPr>
        <p:spPr>
          <a:xfrm>
            <a:off x="571500" y="4864100"/>
            <a:ext cx="51873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500" u="none" cap="none" strike="noStrike">
                <a:solidFill>
                  <a:srgbClr val="28242A"/>
                </a:solidFill>
                <a:latin typeface="Arial"/>
                <a:ea typeface="Arial"/>
                <a:cs typeface="Arial"/>
                <a:sym typeface="Arial"/>
              </a:rPr>
              <a:t>The nervous system therefore combines information about object configuration with position and behavioral state. Tectal activity contributes to releasing an appropriate action, while brainstem circuits coordinate the muscles that execute it.</a:t>
            </a:r>
            <a:endParaRPr b="0" i="0" sz="1500" u="none" cap="none" strike="noStrike">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37" name="Google Shape;37;p2"/>
          <p:cNvSpPr/>
          <p:nvPr/>
        </p:nvSpPr>
        <p:spPr>
          <a:xfrm>
            <a:off x="571500" y="6434138"/>
            <a:ext cx="2123629"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Ewert (1970); Satou et al. (1985)</a:t>
            </a:r>
            <a:endParaRPr b="0" i="0" sz="1800" u="none" cap="none" strike="noStrike">
              <a:solidFill>
                <a:schemeClr val="dk1"/>
              </a:solidFill>
              <a:latin typeface="Calibri"/>
              <a:ea typeface="Calibri"/>
              <a:cs typeface="Calibri"/>
              <a:sym typeface="Calibri"/>
            </a:endParaRPr>
          </a:p>
        </p:txBody>
      </p:sp>
      <p:sp>
        <p:nvSpPr>
          <p:cNvPr id="38" name="Google Shape;38;p2"/>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02</a:t>
            </a:r>
            <a:endParaRPr b="0" i="0" sz="1800" u="none" cap="none" strike="noStrike">
              <a:solidFill>
                <a:schemeClr val="dk1"/>
              </a:solidFill>
              <a:latin typeface="Calibri"/>
              <a:ea typeface="Calibri"/>
              <a:cs typeface="Calibri"/>
              <a:sym typeface="Calibri"/>
            </a:endParaRPr>
          </a:p>
        </p:txBody>
      </p:sp>
      <p:pic>
        <p:nvPicPr>
          <p:cNvPr id="39" name="Google Shape;39;p2" title="Screenshot 2026-09-12 at 1.17.33 PM.png"/>
          <p:cNvPicPr preferRelativeResize="0"/>
          <p:nvPr/>
        </p:nvPicPr>
        <p:blipFill>
          <a:blip r:embed="rId4">
            <a:alphaModFix/>
          </a:blip>
          <a:stretch>
            <a:fillRect/>
          </a:stretch>
        </p:blipFill>
        <p:spPr>
          <a:xfrm>
            <a:off x="5959800" y="3719000"/>
            <a:ext cx="5927398" cy="2104111"/>
          </a:xfrm>
          <a:prstGeom prst="rect">
            <a:avLst/>
          </a:prstGeom>
          <a:noFill/>
          <a:ln>
            <a:noFill/>
          </a:ln>
        </p:spPr>
      </p:pic>
      <p:pic>
        <p:nvPicPr>
          <p:cNvPr id="40" name="Google Shape;40;p2" title="Screenshot 2026-09-12 at 1.18.10 PM.png"/>
          <p:cNvPicPr preferRelativeResize="0"/>
          <p:nvPr/>
        </p:nvPicPr>
        <p:blipFill>
          <a:blip r:embed="rId5">
            <a:alphaModFix/>
          </a:blip>
          <a:stretch>
            <a:fillRect/>
          </a:stretch>
        </p:blipFill>
        <p:spPr>
          <a:xfrm>
            <a:off x="9394923" y="1479775"/>
            <a:ext cx="2361801" cy="17329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44" name="Shape 44"/>
        <p:cNvGrpSpPr/>
        <p:nvPr/>
      </p:nvGrpSpPr>
      <p:grpSpPr>
        <a:xfrm>
          <a:off x="0" y="0"/>
          <a:ext cx="0" cy="0"/>
          <a:chOff x="0" y="0"/>
          <a:chExt cx="0" cy="0"/>
        </a:xfrm>
      </p:grpSpPr>
      <p:sp>
        <p:nvSpPr>
          <p:cNvPr id="45" name="Google Shape;45;p3"/>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Worm and antiworm describe motion-relative geometry</a:t>
            </a:r>
            <a:endParaRPr b="0" i="0" sz="1800" u="none" cap="none" strike="noStrike">
              <a:solidFill>
                <a:schemeClr val="dk1"/>
              </a:solidFill>
              <a:latin typeface="Calibri"/>
              <a:ea typeface="Calibri"/>
              <a:cs typeface="Calibri"/>
              <a:sym typeface="Calibri"/>
            </a:endParaRPr>
          </a:p>
        </p:txBody>
      </p:sp>
      <p:sp>
        <p:nvSpPr>
          <p:cNvPr id="46" name="Google Shape;46;p3"/>
          <p:cNvSpPr/>
          <p:nvPr/>
        </p:nvSpPr>
        <p:spPr>
          <a:xfrm>
            <a:off x="571500" y="1259288"/>
            <a:ext cx="11068200" cy="836400"/>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28242A"/>
              </a:buClr>
              <a:buSzPts val="1800"/>
              <a:buFont typeface="Arial"/>
              <a:buNone/>
            </a:pPr>
            <a:r>
              <a:rPr b="0" i="0" lang="en-US" sz="1500" u="none" cap="none" strike="noStrike">
                <a:solidFill>
                  <a:srgbClr val="28242A"/>
                </a:solidFill>
                <a:latin typeface="Arial"/>
                <a:ea typeface="Arial"/>
                <a:cs typeface="Arial"/>
                <a:sym typeface="Arial"/>
              </a:rPr>
              <a:t>A </a:t>
            </a:r>
            <a:r>
              <a:rPr b="1" i="0" lang="en-US" sz="1500" u="none" cap="none" strike="noStrike">
                <a:solidFill>
                  <a:srgbClr val="28242A"/>
                </a:solidFill>
                <a:latin typeface="Arial"/>
                <a:ea typeface="Arial"/>
                <a:cs typeface="Arial"/>
                <a:sym typeface="Arial"/>
              </a:rPr>
              <a:t>worm configuration</a:t>
            </a:r>
            <a:r>
              <a:rPr b="0" i="0" lang="en-US" sz="1500" u="none" cap="none" strike="noStrike">
                <a:solidFill>
                  <a:srgbClr val="28242A"/>
                </a:solidFill>
                <a:latin typeface="Arial"/>
                <a:ea typeface="Arial"/>
                <a:cs typeface="Arial"/>
                <a:sym typeface="Arial"/>
              </a:rPr>
              <a:t> is an elongated bar moving parallel to its long axis. An </a:t>
            </a:r>
            <a:r>
              <a:rPr b="1" i="0" lang="en-US" sz="1500" u="none" cap="none" strike="noStrike">
                <a:solidFill>
                  <a:srgbClr val="28242A"/>
                </a:solidFill>
                <a:latin typeface="Arial"/>
                <a:ea typeface="Arial"/>
                <a:cs typeface="Arial"/>
                <a:sym typeface="Arial"/>
              </a:rPr>
              <a:t>antiworm configuration</a:t>
            </a:r>
            <a:r>
              <a:rPr b="0" i="0" lang="en-US" sz="1500" u="none" cap="none" strike="noStrike">
                <a:solidFill>
                  <a:srgbClr val="28242A"/>
                </a:solidFill>
                <a:latin typeface="Arial"/>
                <a:ea typeface="Arial"/>
                <a:cs typeface="Arial"/>
                <a:sym typeface="Arial"/>
              </a:rPr>
              <a:t> is the same bar moving perpendicular to that axis. These names identify experimental stimuli, rather than taxonomic categories.</a:t>
            </a:r>
            <a:endParaRPr b="0" i="0" sz="1500" u="none" cap="none" strike="noStrike">
              <a:solidFill>
                <a:schemeClr val="dk1"/>
              </a:solidFill>
              <a:latin typeface="Calibri"/>
              <a:ea typeface="Calibri"/>
              <a:cs typeface="Calibri"/>
              <a:sym typeface="Calibri"/>
            </a:endParaRPr>
          </a:p>
        </p:txBody>
      </p:sp>
      <p:sp>
        <p:nvSpPr>
          <p:cNvPr id="47" name="Google Shape;47;p3"/>
          <p:cNvSpPr/>
          <p:nvPr/>
        </p:nvSpPr>
        <p:spPr>
          <a:xfrm>
            <a:off x="571500" y="2239340"/>
            <a:ext cx="11068200" cy="836400"/>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28242A"/>
              </a:buClr>
              <a:buSzPts val="1800"/>
              <a:buFont typeface="Arial"/>
              <a:buNone/>
            </a:pPr>
            <a:r>
              <a:rPr b="0" i="0" lang="en-US" sz="1500" u="none" cap="none" strike="noStrike">
                <a:solidFill>
                  <a:srgbClr val="28242A"/>
                </a:solidFill>
                <a:latin typeface="Arial"/>
                <a:ea typeface="Arial"/>
                <a:cs typeface="Arial"/>
                <a:sym typeface="Arial"/>
              </a:rPr>
              <a:t>Rotating the bar while holding its area, contrast, and speed constant changes the relation between shape and movement. This comparison tests configurational discrimination without substituting a larger or darker object.</a:t>
            </a:r>
            <a:endParaRPr b="0" i="0" sz="1500" u="none" cap="none" strike="noStrike">
              <a:solidFill>
                <a:schemeClr val="dk1"/>
              </a:solidFill>
              <a:latin typeface="Calibri"/>
              <a:ea typeface="Calibri"/>
              <a:cs typeface="Calibri"/>
              <a:sym typeface="Calibri"/>
            </a:endParaRPr>
          </a:p>
        </p:txBody>
      </p:sp>
      <p:sp>
        <p:nvSpPr>
          <p:cNvPr id="48" name="Google Shape;48;p3"/>
          <p:cNvSpPr/>
          <p:nvPr/>
        </p:nvSpPr>
        <p:spPr>
          <a:xfrm>
            <a:off x="561900" y="3150305"/>
            <a:ext cx="11068200" cy="557400"/>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28242A"/>
              </a:buClr>
              <a:buSzPts val="1800"/>
              <a:buFont typeface="Arial"/>
              <a:buNone/>
            </a:pPr>
            <a:r>
              <a:rPr b="0" i="0" lang="en-US" sz="1500" u="none" cap="none" strike="noStrike">
                <a:solidFill>
                  <a:srgbClr val="28242A"/>
                </a:solidFill>
                <a:latin typeface="Arial"/>
                <a:ea typeface="Arial"/>
                <a:cs typeface="Arial"/>
                <a:sym typeface="Arial"/>
              </a:rPr>
              <a:t>Let x∥ denote extent parallel to motion and x⊥ extent perpendicular to motion. The visual system evaluates their relationship within a range of sizes and speeds that can release prey catching.</a:t>
            </a:r>
            <a:endParaRPr b="0" i="0" sz="1500" u="none" cap="none" strike="noStrike">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571500" y="4269866"/>
            <a:ext cx="11048999" cy="1743670"/>
          </a:xfrm>
          <a:prstGeom prst="rect">
            <a:avLst/>
          </a:prstGeom>
          <a:noFill/>
          <a:ln>
            <a:noFill/>
          </a:ln>
        </p:spPr>
      </p:pic>
      <p:pic>
        <p:nvPicPr>
          <p:cNvPr id="50" name="Google Shape;50;p3"/>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51" name="Google Shape;51;p3"/>
          <p:cNvSpPr/>
          <p:nvPr/>
        </p:nvSpPr>
        <p:spPr>
          <a:xfrm>
            <a:off x="571500" y="6434138"/>
            <a:ext cx="3019127"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Ewert et al. (1979); Wachowitz &amp; Ewert (1996)</a:t>
            </a:r>
            <a:endParaRPr b="0" i="0" sz="1800" u="none" cap="none" strike="noStrike">
              <a:solidFill>
                <a:schemeClr val="dk1"/>
              </a:solidFill>
              <a:latin typeface="Calibri"/>
              <a:ea typeface="Calibri"/>
              <a:cs typeface="Calibri"/>
              <a:sym typeface="Calibri"/>
            </a:endParaRPr>
          </a:p>
        </p:txBody>
      </p:sp>
      <p:sp>
        <p:nvSpPr>
          <p:cNvPr id="52" name="Google Shape;52;p3"/>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03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56" name="Shape 56"/>
        <p:cNvGrpSpPr/>
        <p:nvPr/>
      </p:nvGrpSpPr>
      <p:grpSpPr>
        <a:xfrm>
          <a:off x="0" y="0"/>
          <a:ext cx="0" cy="0"/>
          <a:chOff x="0" y="0"/>
          <a:chExt cx="0" cy="0"/>
        </a:xfrm>
      </p:grpSpPr>
      <p:sp>
        <p:nvSpPr>
          <p:cNvPr id="57" name="Google Shape;57;p4"/>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Configuration survives rotation and contrast reversal</a:t>
            </a:r>
            <a:endParaRPr b="0" i="0" sz="1800" u="none" cap="none" strike="noStrike">
              <a:solidFill>
                <a:schemeClr val="dk1"/>
              </a:solidFill>
              <a:latin typeface="Calibri"/>
              <a:ea typeface="Calibri"/>
              <a:cs typeface="Calibri"/>
              <a:sym typeface="Calibri"/>
            </a:endParaRPr>
          </a:p>
        </p:txBody>
      </p:sp>
      <p:sp>
        <p:nvSpPr>
          <p:cNvPr id="58" name="Google Shape;58;p4"/>
          <p:cNvSpPr/>
          <p:nvPr/>
        </p:nvSpPr>
        <p:spPr>
          <a:xfrm>
            <a:off x="571500" y="1001987"/>
            <a:ext cx="109728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500" u="none" cap="none" strike="noStrike">
                <a:solidFill>
                  <a:srgbClr val="28242A"/>
                </a:solidFill>
                <a:latin typeface="Arial"/>
                <a:ea typeface="Arial"/>
                <a:cs typeface="Arial"/>
                <a:sym typeface="Arial"/>
              </a:rPr>
              <a:t>Ewert and colleagues varied movement direction, stimulus–background contrast polarity, and motion velocity in </a:t>
            </a:r>
            <a:r>
              <a:rPr b="1" i="0" lang="en-US" sz="1500" u="none" cap="none" strike="noStrike">
                <a:solidFill>
                  <a:srgbClr val="28242A"/>
                </a:solidFill>
                <a:latin typeface="Arial"/>
                <a:ea typeface="Arial"/>
                <a:cs typeface="Arial"/>
                <a:sym typeface="Arial"/>
              </a:rPr>
              <a:t>Bufo bufo</a:t>
            </a:r>
            <a:r>
              <a:rPr b="0" i="0" lang="en-US" sz="1500" u="none" cap="none" strike="noStrike">
                <a:solidFill>
                  <a:srgbClr val="28242A"/>
                </a:solidFill>
                <a:latin typeface="Arial"/>
                <a:ea typeface="Arial"/>
                <a:cs typeface="Arial"/>
                <a:sym typeface="Arial"/>
              </a:rPr>
              <a:t>. Toads continued to distinguish bars aligned with movement from bars aligned across it.</a:t>
            </a:r>
            <a:endParaRPr b="0" i="0" sz="1500" u="none" cap="none" strike="noStrike">
              <a:solidFill>
                <a:schemeClr val="dk1"/>
              </a:solidFill>
              <a:latin typeface="Calibri"/>
              <a:ea typeface="Calibri"/>
              <a:cs typeface="Calibri"/>
              <a:sym typeface="Calibri"/>
            </a:endParaRPr>
          </a:p>
        </p:txBody>
      </p:sp>
      <p:sp>
        <p:nvSpPr>
          <p:cNvPr id="59" name="Google Shape;59;p4"/>
          <p:cNvSpPr/>
          <p:nvPr/>
        </p:nvSpPr>
        <p:spPr>
          <a:xfrm>
            <a:off x="571500" y="1800936"/>
            <a:ext cx="59850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1" i="0" lang="en-US" sz="1500" u="none" cap="none" strike="noStrike">
                <a:solidFill>
                  <a:srgbClr val="28242A"/>
                </a:solidFill>
                <a:latin typeface="Arial"/>
                <a:ea typeface="Arial"/>
                <a:cs typeface="Arial"/>
                <a:sym typeface="Arial"/>
              </a:rPr>
              <a:t>Contrast polarity</a:t>
            </a:r>
            <a:r>
              <a:rPr b="0" i="0" lang="en-US" sz="1500" u="none" cap="none" strike="noStrike">
                <a:solidFill>
                  <a:srgbClr val="28242A"/>
                </a:solidFill>
                <a:latin typeface="Arial"/>
                <a:ea typeface="Arial"/>
                <a:cs typeface="Arial"/>
                <a:sym typeface="Arial"/>
              </a:rPr>
              <a:t> specifies whether the object is darker or lighter than its background. Preserved configurational discrimination across polarity means that a preference cannot be explained solely by the amount of darkness in the object.</a:t>
            </a:r>
            <a:endParaRPr b="0" i="0" sz="1500" u="none" cap="none" strike="noStrike">
              <a:solidFill>
                <a:schemeClr val="dk1"/>
              </a:solidFill>
              <a:latin typeface="Calibri"/>
              <a:ea typeface="Calibri"/>
              <a:cs typeface="Calibri"/>
              <a:sym typeface="Calibri"/>
            </a:endParaRPr>
          </a:p>
        </p:txBody>
      </p:sp>
      <p:sp>
        <p:nvSpPr>
          <p:cNvPr id="60" name="Google Shape;60;p4"/>
          <p:cNvSpPr/>
          <p:nvPr/>
        </p:nvSpPr>
        <p:spPr>
          <a:xfrm>
            <a:off x="571500" y="3117714"/>
            <a:ext cx="6706500" cy="594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500" u="none" cap="none" strike="noStrike">
                <a:solidFill>
                  <a:srgbClr val="28242A"/>
                </a:solidFill>
                <a:latin typeface="Arial"/>
                <a:ea typeface="Arial"/>
                <a:cs typeface="Arial"/>
                <a:sym typeface="Arial"/>
              </a:rPr>
              <a:t>Likewise, a bar moving vertically can be attractive when its long axis is vertical. A horizontal bar is not intrinsically a prey stimulus. The relevant reference frame follows the direction of movement.</a:t>
            </a:r>
            <a:endParaRPr b="0" i="0" sz="1500" u="none" cap="none" strike="noStrike">
              <a:solidFill>
                <a:schemeClr val="dk1"/>
              </a:solidFill>
              <a:latin typeface="Calibri"/>
              <a:ea typeface="Calibri"/>
              <a:cs typeface="Calibri"/>
              <a:sym typeface="Calibri"/>
            </a:endParaRPr>
          </a:p>
        </p:txBody>
      </p:sp>
      <p:sp>
        <p:nvSpPr>
          <p:cNvPr id="61" name="Google Shape;61;p4"/>
          <p:cNvSpPr/>
          <p:nvPr/>
        </p:nvSpPr>
        <p:spPr>
          <a:xfrm>
            <a:off x="3490325" y="4221975"/>
            <a:ext cx="3933300" cy="8913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500" u="none" cap="none" strike="noStrike">
                <a:solidFill>
                  <a:srgbClr val="28242A"/>
                </a:solidFill>
                <a:latin typeface="Arial"/>
                <a:ea typeface="Arial"/>
                <a:cs typeface="Arial"/>
                <a:sym typeface="Arial"/>
              </a:rPr>
              <a:t>This invariance holds within the conditions tested. It does not imply identical response rates at every contrast or velocity, or reliable recognition when a stimulus becomes too small, too large, or difficult to resolve.</a:t>
            </a:r>
            <a:endParaRPr b="0" i="0" sz="1500" u="none" cap="none" strike="noStrike">
              <a:solidFill>
                <a:schemeClr val="dk1"/>
              </a:solidFill>
              <a:latin typeface="Calibri"/>
              <a:ea typeface="Calibri"/>
              <a:cs typeface="Calibri"/>
              <a:sym typeface="Calibri"/>
            </a:endParaRPr>
          </a:p>
        </p:txBody>
      </p:sp>
      <p:pic>
        <p:nvPicPr>
          <p:cNvPr id="62" name="Google Shape;62;p4"/>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63" name="Google Shape;63;p4"/>
          <p:cNvSpPr/>
          <p:nvPr/>
        </p:nvSpPr>
        <p:spPr>
          <a:xfrm>
            <a:off x="571500" y="6434138"/>
            <a:ext cx="1213545"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Ewert et al. (1979)</a:t>
            </a:r>
            <a:endParaRPr b="0" i="0" sz="1800" u="none" cap="none" strike="noStrike">
              <a:solidFill>
                <a:schemeClr val="dk1"/>
              </a:solidFill>
              <a:latin typeface="Calibri"/>
              <a:ea typeface="Calibri"/>
              <a:cs typeface="Calibri"/>
              <a:sym typeface="Calibri"/>
            </a:endParaRPr>
          </a:p>
        </p:txBody>
      </p:sp>
      <p:sp>
        <p:nvSpPr>
          <p:cNvPr id="64" name="Google Shape;64;p4"/>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04</a:t>
            </a:r>
            <a:endParaRPr b="0" i="0" sz="1800" u="none" cap="none" strike="noStrike">
              <a:solidFill>
                <a:schemeClr val="dk1"/>
              </a:solidFill>
              <a:latin typeface="Calibri"/>
              <a:ea typeface="Calibri"/>
              <a:cs typeface="Calibri"/>
              <a:sym typeface="Calibri"/>
            </a:endParaRPr>
          </a:p>
        </p:txBody>
      </p:sp>
      <p:pic>
        <p:nvPicPr>
          <p:cNvPr id="65" name="Google Shape;65;p4" title="Screenshot 2026-09-12 at 1.07.57 PM.png"/>
          <p:cNvPicPr preferRelativeResize="0"/>
          <p:nvPr/>
        </p:nvPicPr>
        <p:blipFill>
          <a:blip r:embed="rId4">
            <a:alphaModFix/>
          </a:blip>
          <a:stretch>
            <a:fillRect/>
          </a:stretch>
        </p:blipFill>
        <p:spPr>
          <a:xfrm>
            <a:off x="7570197" y="1790145"/>
            <a:ext cx="3471151" cy="3037250"/>
          </a:xfrm>
          <a:prstGeom prst="rect">
            <a:avLst/>
          </a:prstGeom>
          <a:noFill/>
          <a:ln>
            <a:noFill/>
          </a:ln>
        </p:spPr>
      </p:pic>
      <p:pic>
        <p:nvPicPr>
          <p:cNvPr id="66" name="Google Shape;66;p4" title="Screenshot 2026-09-12 at 1.25.07 PM.png"/>
          <p:cNvPicPr preferRelativeResize="0"/>
          <p:nvPr/>
        </p:nvPicPr>
        <p:blipFill rotWithShape="1">
          <a:blip r:embed="rId5">
            <a:alphaModFix/>
          </a:blip>
          <a:srcRect b="31394" l="0" r="4031" t="0"/>
          <a:stretch/>
        </p:blipFill>
        <p:spPr>
          <a:xfrm>
            <a:off x="491300" y="4137225"/>
            <a:ext cx="2782199" cy="20792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70" name="Shape 70"/>
        <p:cNvGrpSpPr/>
        <p:nvPr/>
      </p:nvGrpSpPr>
      <p:grpSpPr>
        <a:xfrm>
          <a:off x="0" y="0"/>
          <a:ext cx="0" cy="0"/>
          <a:chOff x="0" y="0"/>
          <a:chExt cx="0" cy="0"/>
        </a:xfrm>
      </p:grpSpPr>
      <p:sp>
        <p:nvSpPr>
          <p:cNvPr id="71" name="Google Shape;71;p5"/>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Prey attractiveness varies across a stimulus continuum</a:t>
            </a:r>
            <a:endParaRPr b="0" i="0" sz="1800" u="none" cap="none" strike="noStrike">
              <a:solidFill>
                <a:schemeClr val="dk1"/>
              </a:solidFill>
              <a:latin typeface="Calibri"/>
              <a:ea typeface="Calibri"/>
              <a:cs typeface="Calibri"/>
              <a:sym typeface="Calibri"/>
            </a:endParaRPr>
          </a:p>
        </p:txBody>
      </p:sp>
      <p:sp>
        <p:nvSpPr>
          <p:cNvPr id="72" name="Google Shape;72;p5"/>
          <p:cNvSpPr/>
          <p:nvPr/>
        </p:nvSpPr>
        <p:spPr>
          <a:xfrm>
            <a:off x="571500" y="137160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525" u="none" cap="none" strike="noStrike">
                <a:solidFill>
                  <a:srgbClr val="28242A"/>
                </a:solidFill>
                <a:latin typeface="Arial"/>
                <a:ea typeface="Arial"/>
                <a:cs typeface="Arial"/>
                <a:sym typeface="Arial"/>
              </a:rPr>
              <a:t>Ewert’s dimensional test begins with a small square and extends it parallel to motion, perpendicular to motion, or in both dimensions. The plotted response R measures </a:t>
            </a:r>
            <a:r>
              <a:rPr b="1" i="0" lang="en-US" sz="1525" u="none" cap="none" strike="noStrike">
                <a:solidFill>
                  <a:srgbClr val="28242A"/>
                </a:solidFill>
                <a:latin typeface="Arial"/>
                <a:ea typeface="Arial"/>
                <a:cs typeface="Arial"/>
                <a:sym typeface="Arial"/>
              </a:rPr>
              <a:t>prey-oriented turns per unit time</a:t>
            </a:r>
            <a:r>
              <a:rPr b="0" i="0" lang="en-US" sz="1525" u="none" cap="none" strike="noStrike">
                <a:solidFill>
                  <a:srgbClr val="28242A"/>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73" name="Google Shape;73;p5"/>
          <p:cNvSpPr/>
          <p:nvPr/>
        </p:nvSpPr>
        <p:spPr>
          <a:xfrm>
            <a:off x="571500" y="2446734"/>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525" u="none" cap="none" strike="noStrike">
                <a:solidFill>
                  <a:srgbClr val="28242A"/>
                </a:solidFill>
                <a:latin typeface="Arial"/>
                <a:ea typeface="Arial"/>
                <a:cs typeface="Arial"/>
                <a:sym typeface="Arial"/>
              </a:rPr>
              <a:t>Extending the object along its movement direction supports prey catching over the tested range. Extending it across that direction suppresses responding. Increasing both dimensions eventually produces an unattractive large object.</a:t>
            </a:r>
            <a:endParaRPr b="0" i="0" sz="1600" u="none" cap="none" strike="noStrike">
              <a:solidFill>
                <a:schemeClr val="dk1"/>
              </a:solidFill>
              <a:latin typeface="Calibri"/>
              <a:ea typeface="Calibri"/>
              <a:cs typeface="Calibri"/>
              <a:sym typeface="Calibri"/>
            </a:endParaRPr>
          </a:p>
        </p:txBody>
      </p:sp>
      <p:sp>
        <p:nvSpPr>
          <p:cNvPr id="74" name="Google Shape;74;p5"/>
          <p:cNvSpPr/>
          <p:nvPr/>
        </p:nvSpPr>
        <p:spPr>
          <a:xfrm>
            <a:off x="571500" y="3771602"/>
            <a:ext cx="6115050" cy="749201"/>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525" u="none" cap="none" strike="noStrike">
                <a:solidFill>
                  <a:srgbClr val="28242A"/>
                </a:solidFill>
                <a:latin typeface="Arial"/>
                <a:ea typeface="Arial"/>
                <a:cs typeface="Arial"/>
                <a:sym typeface="Arial"/>
              </a:rPr>
              <a:t>The figure therefore describes a graded stimulus–response relation. A single rectangular “worm” is one effective member of a broader class of moving configurations.</a:t>
            </a:r>
            <a:endParaRPr b="0" i="0" sz="1600" u="none" cap="none" strike="noStrike">
              <a:solidFill>
                <a:schemeClr val="dk1"/>
              </a:solidFill>
              <a:latin typeface="Calibri"/>
              <a:ea typeface="Calibri"/>
              <a:cs typeface="Calibri"/>
              <a:sym typeface="Calibri"/>
            </a:endParaRPr>
          </a:p>
        </p:txBody>
      </p:sp>
      <p:sp>
        <p:nvSpPr>
          <p:cNvPr id="75" name="Google Shape;75;p5"/>
          <p:cNvSpPr/>
          <p:nvPr/>
        </p:nvSpPr>
        <p:spPr>
          <a:xfrm>
            <a:off x="571500" y="4817582"/>
            <a:ext cx="6115200" cy="749100"/>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525" u="none" cap="none" strike="noStrike">
                <a:solidFill>
                  <a:srgbClr val="28242A"/>
                </a:solidFill>
                <a:latin typeface="Arial"/>
                <a:ea typeface="Arial"/>
                <a:cs typeface="Arial"/>
                <a:sym typeface="Arial"/>
              </a:rPr>
              <a:t>The independent variables are the two extents, x∥ and x⊥. The direction examples at right show why physical orientation alone cannot predict the response.</a:t>
            </a:r>
            <a:endParaRPr b="0" i="0" sz="1600" u="none" cap="none" strike="noStrike">
              <a:solidFill>
                <a:schemeClr val="dk1"/>
              </a:solidFill>
              <a:latin typeface="Calibri"/>
              <a:ea typeface="Calibri"/>
              <a:cs typeface="Calibri"/>
              <a:sym typeface="Calibri"/>
            </a:endParaRPr>
          </a:p>
        </p:txBody>
      </p:sp>
      <p:pic>
        <p:nvPicPr>
          <p:cNvPr id="76" name="Google Shape;76;p5"/>
          <p:cNvPicPr preferRelativeResize="0"/>
          <p:nvPr/>
        </p:nvPicPr>
        <p:blipFill rotWithShape="1">
          <a:blip r:embed="rId3">
            <a:alphaModFix/>
          </a:blip>
          <a:srcRect b="0" l="0" r="0" t="0"/>
          <a:stretch/>
        </p:blipFill>
        <p:spPr>
          <a:xfrm>
            <a:off x="7086600" y="1642828"/>
            <a:ext cx="4533900" cy="3648246"/>
          </a:xfrm>
          <a:prstGeom prst="rect">
            <a:avLst/>
          </a:prstGeom>
          <a:noFill/>
          <a:ln>
            <a:noFill/>
          </a:ln>
        </p:spPr>
      </p:pic>
      <p:sp>
        <p:nvSpPr>
          <p:cNvPr id="77" name="Google Shape;77;p5"/>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E545A"/>
              </a:buClr>
              <a:buSzPts val="1200"/>
              <a:buFont typeface="Arial"/>
              <a:buNone/>
            </a:pPr>
            <a:r>
              <a:rPr b="0" i="0" lang="en-US" sz="1200" u="none" cap="none" strike="noStrike">
                <a:solidFill>
                  <a:srgbClr val="5E545A"/>
                </a:solidFill>
                <a:latin typeface="Arial"/>
                <a:ea typeface="Arial"/>
                <a:cs typeface="Arial"/>
                <a:sym typeface="Arial"/>
              </a:rPr>
              <a:t>Behavioral data and direction tests: Ewert (1995), Fig. 3a. R: turning activity; xℓ1: parallel extent; xℓ2: perpendicular extent.</a:t>
            </a:r>
            <a:endParaRPr b="0" i="0" sz="1800" u="none" cap="none" strike="noStrike">
              <a:solidFill>
                <a:schemeClr val="dk1"/>
              </a:solidFill>
              <a:latin typeface="Calibri"/>
              <a:ea typeface="Calibri"/>
              <a:cs typeface="Calibri"/>
              <a:sym typeface="Calibri"/>
            </a:endParaRPr>
          </a:p>
        </p:txBody>
      </p:sp>
      <p:pic>
        <p:nvPicPr>
          <p:cNvPr id="78" name="Google Shape;78;p5"/>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79" name="Google Shape;79;p5"/>
          <p:cNvSpPr/>
          <p:nvPr/>
        </p:nvSpPr>
        <p:spPr>
          <a:xfrm>
            <a:off x="571500" y="6434138"/>
            <a:ext cx="4426595"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Wachowitz &amp; Ewert (1996); Ewert et al. (1979); Figure: Ewert (1995)</a:t>
            </a:r>
            <a:endParaRPr b="0" i="0" sz="1800" u="none" cap="none" strike="noStrike">
              <a:solidFill>
                <a:schemeClr val="dk1"/>
              </a:solidFill>
              <a:latin typeface="Calibri"/>
              <a:ea typeface="Calibri"/>
              <a:cs typeface="Calibri"/>
              <a:sym typeface="Calibri"/>
            </a:endParaRPr>
          </a:p>
        </p:txBody>
      </p:sp>
      <p:sp>
        <p:nvSpPr>
          <p:cNvPr id="80" name="Google Shape;80;p5"/>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05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84" name="Shape 84"/>
        <p:cNvGrpSpPr/>
        <p:nvPr/>
      </p:nvGrpSpPr>
      <p:grpSpPr>
        <a:xfrm>
          <a:off x="0" y="0"/>
          <a:ext cx="0" cy="0"/>
          <a:chOff x="0" y="0"/>
          <a:chExt cx="0" cy="0"/>
        </a:xfrm>
      </p:grpSpPr>
      <p:sp>
        <p:nvSpPr>
          <p:cNvPr id="85" name="Google Shape;85;p6"/>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Early preferences coexist with species differences</a:t>
            </a:r>
            <a:endParaRPr b="0" i="0" sz="1800" u="none" cap="none" strike="noStrike">
              <a:solidFill>
                <a:schemeClr val="dk1"/>
              </a:solidFill>
              <a:latin typeface="Calibri"/>
              <a:ea typeface="Calibri"/>
              <a:cs typeface="Calibri"/>
              <a:sym typeface="Calibri"/>
            </a:endParaRPr>
          </a:p>
        </p:txBody>
      </p:sp>
      <p:sp>
        <p:nvSpPr>
          <p:cNvPr id="86" name="Google Shape;86;p6"/>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Experiments on newly metamorphosed </a:t>
            </a:r>
            <a:r>
              <a:rPr b="1" i="0" lang="en-US" sz="1800" u="none" cap="none" strike="noStrike">
                <a:solidFill>
                  <a:srgbClr val="28242A"/>
                </a:solidFill>
                <a:latin typeface="Arial"/>
                <a:ea typeface="Arial"/>
                <a:cs typeface="Arial"/>
                <a:sym typeface="Arial"/>
              </a:rPr>
              <a:t>Alytes obstetricans</a:t>
            </a:r>
            <a:r>
              <a:rPr b="0" i="0" lang="en-US" sz="1800" u="none" cap="none" strike="noStrike">
                <a:solidFill>
                  <a:srgbClr val="28242A"/>
                </a:solidFill>
                <a:latin typeface="Arial"/>
                <a:ea typeface="Arial"/>
                <a:cs typeface="Arial"/>
                <a:sym typeface="Arial"/>
              </a:rPr>
              <a:t>, the common midwife toad, found preferences for wormlike objects immediately after metamorphosis. Such early expression limits explanations that require extensive practice catching elongated prey.</a:t>
            </a:r>
            <a:endParaRPr b="0" i="0" sz="1800" u="none" cap="none" strike="noStrike">
              <a:solidFill>
                <a:schemeClr val="dk1"/>
              </a:solidFill>
              <a:latin typeface="Calibri"/>
              <a:ea typeface="Calibri"/>
              <a:cs typeface="Calibri"/>
              <a:sym typeface="Calibri"/>
            </a:endParaRPr>
          </a:p>
        </p:txBody>
      </p:sp>
      <p:sp>
        <p:nvSpPr>
          <p:cNvPr id="87" name="Google Shape;87;p6"/>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Comparisons among Bufo, Alytes, Bombina, and Hyla revealed shared configurational components, together with differences in preferred absolute prey size. Body size and mouth size constrain which objects an animal can capture and ingest.</a:t>
            </a:r>
            <a:endParaRPr b="0" i="0" sz="1800" u="none" cap="none" strike="noStrike">
              <a:solidFill>
                <a:schemeClr val="dk1"/>
              </a:solidFill>
              <a:latin typeface="Calibri"/>
              <a:ea typeface="Calibri"/>
              <a:cs typeface="Calibri"/>
              <a:sym typeface="Calibri"/>
            </a:endParaRPr>
          </a:p>
        </p:txBody>
      </p:sp>
      <p:sp>
        <p:nvSpPr>
          <p:cNvPr id="88" name="Google Shape;88;p6"/>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An early preference does not establish that experience has no effect. The comparative study also described specialization during development, and subsequent experiments demonstrated modifications of prey-directed responding.</a:t>
            </a:r>
            <a:endParaRPr b="0" i="0" sz="1800" u="none" cap="none" strike="noStrike">
              <a:solidFill>
                <a:schemeClr val="dk1"/>
              </a:solidFill>
              <a:latin typeface="Calibri"/>
              <a:ea typeface="Calibri"/>
              <a:cs typeface="Calibri"/>
              <a:sym typeface="Calibri"/>
            </a:endParaRPr>
          </a:p>
        </p:txBody>
      </p:sp>
      <p:sp>
        <p:nvSpPr>
          <p:cNvPr id="89" name="Google Shape;89;p6"/>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appropriate biological claim is that species-typical visual biases can guide initial behavior while development and experience adjust how those biases influence action. Results from one anuran species cannot automatically specify another species’ preferred dimensions.</a:t>
            </a:r>
            <a:endParaRPr b="0" i="0" sz="1800" u="none" cap="none" strike="noStrike">
              <a:solidFill>
                <a:schemeClr val="dk1"/>
              </a:solidFill>
              <a:latin typeface="Calibri"/>
              <a:ea typeface="Calibri"/>
              <a:cs typeface="Calibri"/>
              <a:sym typeface="Calibri"/>
            </a:endParaRPr>
          </a:p>
        </p:txBody>
      </p:sp>
      <p:pic>
        <p:nvPicPr>
          <p:cNvPr id="90" name="Google Shape;90;p6"/>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91" name="Google Shape;91;p6"/>
          <p:cNvSpPr/>
          <p:nvPr/>
        </p:nvSpPr>
        <p:spPr>
          <a:xfrm>
            <a:off x="571500" y="6434138"/>
            <a:ext cx="1782514"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Ewert &amp; Burghagen (1979)</a:t>
            </a:r>
            <a:endParaRPr b="0" i="0" sz="1800" u="none" cap="none" strike="noStrike">
              <a:solidFill>
                <a:schemeClr val="dk1"/>
              </a:solidFill>
              <a:latin typeface="Calibri"/>
              <a:ea typeface="Calibri"/>
              <a:cs typeface="Calibri"/>
              <a:sym typeface="Calibri"/>
            </a:endParaRPr>
          </a:p>
        </p:txBody>
      </p:sp>
      <p:sp>
        <p:nvSpPr>
          <p:cNvPr id="92" name="Google Shape;92;p6"/>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06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96" name="Shape 96"/>
        <p:cNvGrpSpPr/>
        <p:nvPr/>
      </p:nvGrpSpPr>
      <p:grpSpPr>
        <a:xfrm>
          <a:off x="0" y="0"/>
          <a:ext cx="0" cy="0"/>
          <a:chOff x="0" y="0"/>
          <a:chExt cx="0" cy="0"/>
        </a:xfrm>
      </p:grpSpPr>
      <p:sp>
        <p:nvSpPr>
          <p:cNvPr id="97" name="Google Shape;97;p7"/>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Retinal image size and physical prey size can diverge</a:t>
            </a:r>
            <a:endParaRPr b="0" i="0" sz="1800" u="none" cap="none" strike="noStrike">
              <a:solidFill>
                <a:schemeClr val="dk1"/>
              </a:solidFill>
              <a:latin typeface="Calibri"/>
              <a:ea typeface="Calibri"/>
              <a:cs typeface="Calibri"/>
              <a:sym typeface="Calibri"/>
            </a:endParaRPr>
          </a:p>
        </p:txBody>
      </p:sp>
      <p:sp>
        <p:nvSpPr>
          <p:cNvPr id="98" name="Google Shape;98;p7"/>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1" i="0" lang="en-US" sz="1800" u="none" cap="none" strike="noStrike">
                <a:solidFill>
                  <a:srgbClr val="28242A"/>
                </a:solidFill>
                <a:latin typeface="Arial"/>
                <a:ea typeface="Arial"/>
                <a:cs typeface="Arial"/>
                <a:sym typeface="Arial"/>
              </a:rPr>
              <a:t>Angular size</a:t>
            </a:r>
            <a:r>
              <a:rPr b="0" i="0" lang="en-US" sz="1800" u="none" cap="none" strike="noStrike">
                <a:solidFill>
                  <a:srgbClr val="28242A"/>
                </a:solidFill>
                <a:latin typeface="Arial"/>
                <a:ea typeface="Arial"/>
                <a:cs typeface="Arial"/>
                <a:sym typeface="Arial"/>
              </a:rPr>
              <a:t> is the angle an object subtends at the eye. A nearby small object and a distant large object can produce the same angular extent, so retinal size alone cannot uniquely specify physical size.</a:t>
            </a:r>
            <a:endParaRPr b="0" i="0" sz="1800" u="none" cap="none" strike="noStrike">
              <a:solidFill>
                <a:schemeClr val="dk1"/>
              </a:solidFill>
              <a:latin typeface="Calibri"/>
              <a:ea typeface="Calibri"/>
              <a:cs typeface="Calibri"/>
              <a:sym typeface="Calibri"/>
            </a:endParaRPr>
          </a:p>
        </p:txBody>
      </p:sp>
      <p:sp>
        <p:nvSpPr>
          <p:cNvPr id="99" name="Google Shape;99;p7"/>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Spreckelsen and colleagues recorded retinal and tectal neurons while moving objects of different real sizes at different distances. In non-paralyzed toads, tectal neurons showed sensitivity to real object size that retinal neurons did not show.</a:t>
            </a:r>
            <a:endParaRPr b="0" i="0" sz="1800" u="none" cap="none" strike="noStrike">
              <a:solidFill>
                <a:schemeClr val="dk1"/>
              </a:solidFill>
              <a:latin typeface="Calibri"/>
              <a:ea typeface="Calibri"/>
              <a:cs typeface="Calibri"/>
              <a:sym typeface="Calibri"/>
            </a:endParaRPr>
          </a:p>
        </p:txBody>
      </p:sp>
      <p:sp>
        <p:nvSpPr>
          <p:cNvPr id="100" name="Google Shape;100;p7"/>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Earlier recordings in muscle-paralyzed animals had not revealed comparable size constancy. Preserving the animal’s physiological and motor condition therefore changes which computations the preparation can reveal.</a:t>
            </a:r>
            <a:endParaRPr b="0" i="0" sz="1800" u="none" cap="none" strike="noStrike">
              <a:solidFill>
                <a:schemeClr val="dk1"/>
              </a:solidFill>
              <a:latin typeface="Calibri"/>
              <a:ea typeface="Calibri"/>
              <a:cs typeface="Calibri"/>
              <a:sym typeface="Calibri"/>
            </a:endParaRPr>
          </a:p>
        </p:txBody>
      </p:sp>
      <p:sp>
        <p:nvSpPr>
          <p:cNvPr id="101" name="Google Shape;101;p7"/>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experiment places the relevant transformation beyond the retinal output and shows why immobilized preparations require careful interpretation. It does not by itself identify whether accommodation, binocular signals, or another distance cue supplies the missing information.</a:t>
            </a:r>
            <a:endParaRPr b="0" i="0" sz="1800" u="none" cap="none" strike="noStrike">
              <a:solidFill>
                <a:schemeClr val="dk1"/>
              </a:solidFill>
              <a:latin typeface="Calibri"/>
              <a:ea typeface="Calibri"/>
              <a:cs typeface="Calibri"/>
              <a:sym typeface="Calibri"/>
            </a:endParaRPr>
          </a:p>
        </p:txBody>
      </p:sp>
      <p:pic>
        <p:nvPicPr>
          <p:cNvPr id="102" name="Google Shape;102;p7"/>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103" name="Google Shape;103;p7"/>
          <p:cNvSpPr/>
          <p:nvPr/>
        </p:nvSpPr>
        <p:spPr>
          <a:xfrm>
            <a:off x="571500" y="6434138"/>
            <a:ext cx="1633389"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Spreckelsen et al. (1995)</a:t>
            </a:r>
            <a:endParaRPr b="0" i="0" sz="1800" u="none" cap="none" strike="noStrike">
              <a:solidFill>
                <a:schemeClr val="dk1"/>
              </a:solidFill>
              <a:latin typeface="Calibri"/>
              <a:ea typeface="Calibri"/>
              <a:cs typeface="Calibri"/>
              <a:sym typeface="Calibri"/>
            </a:endParaRPr>
          </a:p>
        </p:txBody>
      </p:sp>
      <p:sp>
        <p:nvSpPr>
          <p:cNvPr id="104" name="Google Shape;104;p7"/>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07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108" name="Shape 108"/>
        <p:cNvGrpSpPr/>
        <p:nvPr/>
      </p:nvGrpSpPr>
      <p:grpSpPr>
        <a:xfrm>
          <a:off x="0" y="0"/>
          <a:ext cx="0" cy="0"/>
          <a:chOff x="0" y="0"/>
          <a:chExt cx="0" cy="0"/>
        </a:xfrm>
      </p:grpSpPr>
      <p:sp>
        <p:nvSpPr>
          <p:cNvPr id="109" name="Google Shape;109;p8"/>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Light changes membrane current before neurons spike</a:t>
            </a:r>
            <a:endParaRPr b="0" i="0" sz="1800" u="none" cap="none" strike="noStrike">
              <a:solidFill>
                <a:schemeClr val="dk1"/>
              </a:solidFill>
              <a:latin typeface="Calibri"/>
              <a:ea typeface="Calibri"/>
              <a:cs typeface="Calibri"/>
              <a:sym typeface="Calibri"/>
            </a:endParaRPr>
          </a:p>
        </p:txBody>
      </p:sp>
      <p:sp>
        <p:nvSpPr>
          <p:cNvPr id="110" name="Google Shape;110;p8"/>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Baylor, Lamb, and Yau recorded current from individual toad rod outer segments with a </a:t>
            </a:r>
            <a:r>
              <a:rPr b="1" i="0" lang="en-US" sz="1800" u="none" cap="none" strike="noStrike">
                <a:solidFill>
                  <a:srgbClr val="28242A"/>
                </a:solidFill>
                <a:latin typeface="Arial"/>
                <a:ea typeface="Arial"/>
                <a:cs typeface="Arial"/>
                <a:sym typeface="Arial"/>
              </a:rPr>
              <a:t>suction electrode</a:t>
            </a:r>
            <a:r>
              <a:rPr b="0" i="0" lang="en-US" sz="1800" u="none" cap="none" strike="noStrike">
                <a:solidFill>
                  <a:srgbClr val="28242A"/>
                </a:solidFill>
                <a:latin typeface="Arial"/>
                <a:ea typeface="Arial"/>
                <a:cs typeface="Arial"/>
                <a:sym typeface="Arial"/>
              </a:rPr>
              <a:t>. This method electrically isolates part of a cell while allowing controlled light flashes to stimulate its photopigment.</a:t>
            </a:r>
            <a:endParaRPr b="0" i="0" sz="1800" u="none" cap="none" strike="noStrike">
              <a:solidFill>
                <a:schemeClr val="dk1"/>
              </a:solidFill>
              <a:latin typeface="Calibri"/>
              <a:ea typeface="Calibri"/>
              <a:cs typeface="Calibri"/>
              <a:sym typeface="Calibri"/>
            </a:endParaRPr>
          </a:p>
        </p:txBody>
      </p:sp>
      <p:sp>
        <p:nvSpPr>
          <p:cNvPr id="111" name="Google Shape;111;p8"/>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With very dim flashes, response-amplitude histograms contained a peak near zero and another near </a:t>
            </a:r>
            <a:r>
              <a:rPr b="1" i="0" lang="en-US" sz="1800" u="none" cap="none" strike="noStrike">
                <a:solidFill>
                  <a:srgbClr val="28242A"/>
                </a:solidFill>
                <a:latin typeface="Arial"/>
                <a:ea typeface="Arial"/>
                <a:cs typeface="Arial"/>
                <a:sym typeface="Arial"/>
              </a:rPr>
              <a:t>1 pA</a:t>
            </a:r>
            <a:r>
              <a:rPr b="0" i="0" lang="en-US" sz="1800" u="none" cap="none" strike="noStrike">
                <a:solidFill>
                  <a:srgbClr val="28242A"/>
                </a:solidFill>
                <a:latin typeface="Arial"/>
                <a:ea typeface="Arial"/>
                <a:cs typeface="Arial"/>
                <a:sym typeface="Arial"/>
              </a:rPr>
              <a:t>. The nonzero event corresponded to approximately </a:t>
            </a:r>
            <a:r>
              <a:rPr b="1" i="0" lang="en-US" sz="1800" u="none" cap="none" strike="noStrike">
                <a:solidFill>
                  <a:srgbClr val="28242A"/>
                </a:solidFill>
                <a:latin typeface="Arial"/>
                <a:ea typeface="Arial"/>
                <a:cs typeface="Arial"/>
                <a:sym typeface="Arial"/>
              </a:rPr>
              <a:t>5% of the standing dark current</a:t>
            </a:r>
            <a:r>
              <a:rPr b="0" i="0" lang="en-US" sz="1800" u="none" cap="none" strike="noStrike">
                <a:solidFill>
                  <a:srgbClr val="28242A"/>
                </a:solidFill>
                <a:latin typeface="Arial"/>
                <a:ea typeface="Arial"/>
                <a:cs typeface="Arial"/>
                <a:sym typeface="Arial"/>
              </a:rPr>
              <a:t>. Increasing flash intensity changed the probability of obtaining a response.</a:t>
            </a:r>
            <a:endParaRPr b="0" i="0" sz="1800" u="none" cap="none" strike="noStrike">
              <a:solidFill>
                <a:schemeClr val="dk1"/>
              </a:solidFill>
              <a:latin typeface="Calibri"/>
              <a:ea typeface="Calibri"/>
              <a:cs typeface="Calibri"/>
              <a:sym typeface="Calibri"/>
            </a:endParaRPr>
          </a:p>
        </p:txBody>
      </p:sp>
      <p:sp>
        <p:nvSpPr>
          <p:cNvPr id="112" name="Google Shape;112;p8"/>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quantal response reflects the effect of a single photoisomerization, the light-driven change in a pigment molecule. Rods convert this event into a graded electrical signal rather than an action potential.</a:t>
            </a:r>
            <a:endParaRPr b="0" i="0" sz="1800" u="none" cap="none" strike="noStrike">
              <a:solidFill>
                <a:schemeClr val="dk1"/>
              </a:solidFill>
              <a:latin typeface="Calibri"/>
              <a:ea typeface="Calibri"/>
              <a:cs typeface="Calibri"/>
              <a:sym typeface="Calibri"/>
            </a:endParaRPr>
          </a:p>
        </p:txBody>
      </p:sp>
      <p:sp>
        <p:nvSpPr>
          <p:cNvPr id="113" name="Google Shape;113;p8"/>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Light reduces the inward dark current and hyperpolarizes the photoreceptor. Retinal circuits then transform these local luminance signals into ganglion-cell spike patterns that describe contrast and movement.</a:t>
            </a:r>
            <a:endParaRPr b="0" i="0" sz="1800" u="none" cap="none" strike="noStrike">
              <a:solidFill>
                <a:schemeClr val="dk1"/>
              </a:solidFill>
              <a:latin typeface="Calibri"/>
              <a:ea typeface="Calibri"/>
              <a:cs typeface="Calibri"/>
              <a:sym typeface="Calibri"/>
            </a:endParaRPr>
          </a:p>
        </p:txBody>
      </p:sp>
      <p:pic>
        <p:nvPicPr>
          <p:cNvPr id="114" name="Google Shape;114;p8"/>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115" name="Google Shape;115;p8"/>
          <p:cNvSpPr/>
          <p:nvPr/>
        </p:nvSpPr>
        <p:spPr>
          <a:xfrm>
            <a:off x="571500" y="6434138"/>
            <a:ext cx="1258788"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Baylor et al. (1979)</a:t>
            </a:r>
            <a:endParaRPr b="0" i="0" sz="1800" u="none" cap="none" strike="noStrike">
              <a:solidFill>
                <a:schemeClr val="dk1"/>
              </a:solidFill>
              <a:latin typeface="Calibri"/>
              <a:ea typeface="Calibri"/>
              <a:cs typeface="Calibri"/>
              <a:sym typeface="Calibri"/>
            </a:endParaRPr>
          </a:p>
        </p:txBody>
      </p:sp>
      <p:sp>
        <p:nvSpPr>
          <p:cNvPr id="116" name="Google Shape;116;p8"/>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08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120" name="Shape 120"/>
        <p:cNvGrpSpPr/>
        <p:nvPr/>
      </p:nvGrpSpPr>
      <p:grpSpPr>
        <a:xfrm>
          <a:off x="0" y="0"/>
          <a:ext cx="0" cy="0"/>
          <a:chOff x="0" y="0"/>
          <a:chExt cx="0" cy="0"/>
        </a:xfrm>
      </p:grpSpPr>
      <p:sp>
        <p:nvSpPr>
          <p:cNvPr id="121" name="Google Shape;121;p9"/>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Retinal output already distinguishes visual features</a:t>
            </a:r>
            <a:endParaRPr b="0" i="0" sz="1800" u="none" cap="none" strike="noStrike">
              <a:solidFill>
                <a:schemeClr val="dk1"/>
              </a:solidFill>
              <a:latin typeface="Calibri"/>
              <a:ea typeface="Calibri"/>
              <a:cs typeface="Calibri"/>
              <a:sym typeface="Calibri"/>
            </a:endParaRPr>
          </a:p>
        </p:txBody>
      </p:sp>
      <p:sp>
        <p:nvSpPr>
          <p:cNvPr id="122" name="Google Shape;122;p9"/>
          <p:cNvSpPr/>
          <p:nvPr/>
        </p:nvSpPr>
        <p:spPr>
          <a:xfrm>
            <a:off x="571500" y="137160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Lettvin and colleagues recorded frog retinal ganglion-cell axons and their tectal endings while presenting controlled shapes. A </a:t>
            </a:r>
            <a:r>
              <a:rPr b="1" i="0" lang="en-US" sz="1725" u="none" cap="none" strike="noStrike">
                <a:solidFill>
                  <a:srgbClr val="28242A"/>
                </a:solidFill>
                <a:latin typeface="Arial"/>
                <a:ea typeface="Arial"/>
                <a:cs typeface="Arial"/>
                <a:sym typeface="Arial"/>
              </a:rPr>
              <a:t>receptive field</a:t>
            </a:r>
            <a:r>
              <a:rPr b="0" i="0" lang="en-US" sz="1725" u="none" cap="none" strike="noStrike">
                <a:solidFill>
                  <a:srgbClr val="28242A"/>
                </a:solidFill>
                <a:latin typeface="Arial"/>
                <a:ea typeface="Arial"/>
                <a:cs typeface="Arial"/>
                <a:sym typeface="Arial"/>
              </a:rPr>
              <a:t> is the region of visual space in which stimulation changes a neuron’s activity.</a:t>
            </a:r>
            <a:endParaRPr b="0" i="0" sz="1800" u="none" cap="none" strike="noStrike">
              <a:solidFill>
                <a:schemeClr val="dk1"/>
              </a:solidFill>
              <a:latin typeface="Calibri"/>
              <a:ea typeface="Calibri"/>
              <a:cs typeface="Calibri"/>
              <a:sym typeface="Calibri"/>
            </a:endParaRPr>
          </a:p>
        </p:txBody>
      </p:sp>
      <p:sp>
        <p:nvSpPr>
          <p:cNvPr id="123" name="Google Shape;123;p9"/>
          <p:cNvSpPr/>
          <p:nvPr/>
        </p:nvSpPr>
        <p:spPr>
          <a:xfrm>
            <a:off x="571500" y="2446734"/>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In these original records, an elongated dark strip gives little response when a straight edge leads, but a corner can evoke spikes. The comparison changes local boundary geometry while retaining a dark moving object.</a:t>
            </a:r>
            <a:endParaRPr b="0" i="0" sz="1800" u="none" cap="none" strike="noStrike">
              <a:solidFill>
                <a:schemeClr val="dk1"/>
              </a:solidFill>
              <a:latin typeface="Calibri"/>
              <a:ea typeface="Calibri"/>
              <a:cs typeface="Calibri"/>
              <a:sym typeface="Calibri"/>
            </a:endParaRPr>
          </a:p>
        </p:txBody>
      </p:sp>
      <p:sp>
        <p:nvSpPr>
          <p:cNvPr id="124" name="Google Shape;124;p9"/>
          <p:cNvSpPr/>
          <p:nvPr/>
        </p:nvSpPr>
        <p:spPr>
          <a:xfrm>
            <a:off x="571500" y="3521869"/>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 upper traces monitor the visual stimulus and the lower traces show neural activity. Thus the retina transmits selective responses to image structure, rather than a uniform stream proportional to local brightness.</a:t>
            </a:r>
            <a:endParaRPr b="0" i="0" sz="1800" u="none" cap="none" strike="noStrike">
              <a:solidFill>
                <a:schemeClr val="dk1"/>
              </a:solidFill>
              <a:latin typeface="Calibri"/>
              <a:ea typeface="Calibri"/>
              <a:cs typeface="Calibri"/>
              <a:sym typeface="Calibri"/>
            </a:endParaRPr>
          </a:p>
        </p:txBody>
      </p:sp>
      <p:sp>
        <p:nvSpPr>
          <p:cNvPr id="125" name="Google Shape;125;p9"/>
          <p:cNvSpPr/>
          <p:nvPr/>
        </p:nvSpPr>
        <p:spPr>
          <a:xfrm>
            <a:off x="571500" y="4597003"/>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These are frog retinal recordings. Their historical “convexity detector” designation does not identify the later toad tectal T5.2 class, and a selective sensory response alone does not establish control of prey capture.</a:t>
            </a:r>
            <a:endParaRPr b="0" i="0" sz="1800" u="none" cap="none" strike="noStrike">
              <a:solidFill>
                <a:schemeClr val="dk1"/>
              </a:solidFill>
              <a:latin typeface="Calibri"/>
              <a:ea typeface="Calibri"/>
              <a:cs typeface="Calibri"/>
              <a:sym typeface="Calibri"/>
            </a:endParaRPr>
          </a:p>
        </p:txBody>
      </p:sp>
      <p:pic>
        <p:nvPicPr>
          <p:cNvPr id="126" name="Google Shape;126;p9"/>
          <p:cNvPicPr preferRelativeResize="0"/>
          <p:nvPr/>
        </p:nvPicPr>
        <p:blipFill rotWithShape="1">
          <a:blip r:embed="rId3">
            <a:alphaModFix/>
          </a:blip>
          <a:srcRect b="0" l="0" r="0" t="0"/>
          <a:stretch/>
        </p:blipFill>
        <p:spPr>
          <a:xfrm>
            <a:off x="7086600" y="2400737"/>
            <a:ext cx="4533900" cy="2132428"/>
          </a:xfrm>
          <a:prstGeom prst="rect">
            <a:avLst/>
          </a:prstGeom>
          <a:noFill/>
          <a:ln>
            <a:noFill/>
          </a:ln>
        </p:spPr>
      </p:pic>
      <p:sp>
        <p:nvSpPr>
          <p:cNvPr id="127" name="Google Shape;127;p9"/>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E545A"/>
              </a:buClr>
              <a:buSzPts val="1200"/>
              <a:buFont typeface="Arial"/>
              <a:buNone/>
            </a:pPr>
            <a:r>
              <a:rPr b="0" i="0" lang="en-US" sz="1200" u="none" cap="none" strike="noStrike">
                <a:solidFill>
                  <a:srgbClr val="5E545A"/>
                </a:solidFill>
                <a:latin typeface="Arial"/>
                <a:ea typeface="Arial"/>
                <a:cs typeface="Arial"/>
                <a:sym typeface="Arial"/>
              </a:rPr>
              <a:t>Lettvin et al. (1959), Fig. 3e–h. Strip responses compare straight-edge and corner entry. Original retinal-output records.</a:t>
            </a:r>
            <a:endParaRPr b="0" i="0" sz="1800" u="none" cap="none" strike="noStrike">
              <a:solidFill>
                <a:schemeClr val="dk1"/>
              </a:solidFill>
              <a:latin typeface="Calibri"/>
              <a:ea typeface="Calibri"/>
              <a:cs typeface="Calibri"/>
              <a:sym typeface="Calibri"/>
            </a:endParaRPr>
          </a:p>
        </p:txBody>
      </p:sp>
      <p:pic>
        <p:nvPicPr>
          <p:cNvPr id="128" name="Google Shape;128;p9"/>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129" name="Google Shape;129;p9"/>
          <p:cNvSpPr/>
          <p:nvPr/>
        </p:nvSpPr>
        <p:spPr>
          <a:xfrm>
            <a:off x="571500" y="6434138"/>
            <a:ext cx="1287066"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Lettvin et al. (1959)</a:t>
            </a:r>
            <a:endParaRPr b="0" i="0" sz="1800" u="none" cap="none" strike="noStrike">
              <a:solidFill>
                <a:schemeClr val="dk1"/>
              </a:solidFill>
              <a:latin typeface="Calibri"/>
              <a:ea typeface="Calibri"/>
              <a:cs typeface="Calibri"/>
              <a:sym typeface="Calibri"/>
            </a:endParaRPr>
          </a:p>
        </p:txBody>
      </p:sp>
      <p:sp>
        <p:nvSpPr>
          <p:cNvPr id="130" name="Google Shape;130;p9"/>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09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134" name="Shape 134"/>
        <p:cNvGrpSpPr/>
        <p:nvPr/>
      </p:nvGrpSpPr>
      <p:grpSpPr>
        <a:xfrm>
          <a:off x="0" y="0"/>
          <a:ext cx="0" cy="0"/>
          <a:chOff x="0" y="0"/>
          <a:chExt cx="0" cy="0"/>
        </a:xfrm>
      </p:grpSpPr>
      <p:sp>
        <p:nvSpPr>
          <p:cNvPr id="135" name="Google Shape;135;p10"/>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Parallel retinal channels emphasize different image events</a:t>
            </a:r>
            <a:endParaRPr b="0" i="0" sz="1800" u="none" cap="none" strike="noStrike">
              <a:solidFill>
                <a:schemeClr val="dk1"/>
              </a:solidFill>
              <a:latin typeface="Calibri"/>
              <a:ea typeface="Calibri"/>
              <a:cs typeface="Calibri"/>
              <a:sym typeface="Calibri"/>
            </a:endParaRPr>
          </a:p>
        </p:txBody>
      </p:sp>
      <p:sp>
        <p:nvSpPr>
          <p:cNvPr id="136" name="Google Shape;136;p10"/>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Maturana and colleagues combined anatomy with single-fiber physiology in </a:t>
            </a:r>
            <a:r>
              <a:rPr b="1" i="0" lang="en-US" sz="1800" u="none" cap="none" strike="noStrike">
                <a:solidFill>
                  <a:srgbClr val="28242A"/>
                </a:solidFill>
                <a:latin typeface="Arial"/>
                <a:ea typeface="Arial"/>
                <a:cs typeface="Arial"/>
                <a:sym typeface="Arial"/>
              </a:rPr>
              <a:t>Rana pipiens</a:t>
            </a:r>
            <a:r>
              <a:rPr b="0" i="0" lang="en-US" sz="1800" u="none" cap="none" strike="noStrike">
                <a:solidFill>
                  <a:srgbClr val="28242A"/>
                </a:solidFill>
                <a:latin typeface="Arial"/>
                <a:ea typeface="Arial"/>
                <a:cs typeface="Arial"/>
                <a:sym typeface="Arial"/>
              </a:rPr>
              <a:t>. They distinguished retinal outputs associated with local contrast, small convex dark objects, moving boundaries, and overall dimming.</a:t>
            </a:r>
            <a:endParaRPr b="0" i="0" sz="1800" u="none" cap="none" strike="noStrike">
              <a:solidFill>
                <a:schemeClr val="dk1"/>
              </a:solidFill>
              <a:latin typeface="Calibri"/>
              <a:ea typeface="Calibri"/>
              <a:cs typeface="Calibri"/>
              <a:sym typeface="Calibri"/>
            </a:endParaRPr>
          </a:p>
        </p:txBody>
      </p:sp>
      <p:sp>
        <p:nvSpPr>
          <p:cNvPr id="137" name="Google Shape;137;p10"/>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These channels provide partially different descriptions of the same scene. A dark moving object can activate several populations, with each population emphasizing particular spatial or temporal features.</a:t>
            </a:r>
            <a:endParaRPr b="0" i="0" sz="1800" u="none" cap="none" strike="noStrike">
              <a:solidFill>
                <a:schemeClr val="dk1"/>
              </a:solidFill>
              <a:latin typeface="Calibri"/>
              <a:ea typeface="Calibri"/>
              <a:cs typeface="Calibri"/>
              <a:sym typeface="Calibri"/>
            </a:endParaRPr>
          </a:p>
        </p:txBody>
      </p:sp>
      <p:sp>
        <p:nvSpPr>
          <p:cNvPr id="138" name="Google Shape;138;p10"/>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1" i="0" lang="en-US" sz="1800" u="none" cap="none" strike="noStrike">
                <a:solidFill>
                  <a:srgbClr val="28242A"/>
                </a:solidFill>
                <a:latin typeface="Arial"/>
                <a:ea typeface="Arial"/>
                <a:cs typeface="Arial"/>
                <a:sym typeface="Arial"/>
              </a:rPr>
              <a:t>ON and OFF responses</a:t>
            </a:r>
            <a:r>
              <a:rPr b="0" i="0" lang="en-US" sz="1800" u="none" cap="none" strike="noStrike">
                <a:solidFill>
                  <a:srgbClr val="28242A"/>
                </a:solidFill>
                <a:latin typeface="Arial"/>
                <a:ea typeface="Arial"/>
                <a:cs typeface="Arial"/>
                <a:sym typeface="Arial"/>
              </a:rPr>
              <a:t> refer to responses associated with increases and decreases in light. In toad work, R2 and R3 denote physiological retinal classes, with different contributions to object configuration and edge responses.</a:t>
            </a:r>
            <a:endParaRPr b="0" i="0" sz="1800" u="none" cap="none" strike="noStrike">
              <a:solidFill>
                <a:schemeClr val="dk1"/>
              </a:solidFill>
              <a:latin typeface="Calibri"/>
              <a:ea typeface="Calibri"/>
              <a:cs typeface="Calibri"/>
              <a:sym typeface="Calibri"/>
            </a:endParaRPr>
          </a:p>
        </p:txBody>
      </p:sp>
      <p:sp>
        <p:nvSpPr>
          <p:cNvPr id="139" name="Google Shape;139;p10"/>
          <p:cNvSpPr/>
          <p:nvPr/>
        </p:nvSpPr>
        <p:spPr>
          <a:xfrm>
            <a:off x="571500" y="4445198"/>
            <a:ext cx="10972800" cy="118824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Class names describe response properties under specified tests. They should not be equated automatically with unique molecular cell types, nor transferred unchanged between species. Tectal circuitry must integrate these retinal signals to obtain the selectivity measured during prey recognition.</a:t>
            </a:r>
            <a:endParaRPr b="0" i="0" sz="1800" u="none" cap="none" strike="noStrike">
              <a:solidFill>
                <a:schemeClr val="dk1"/>
              </a:solidFill>
              <a:latin typeface="Calibri"/>
              <a:ea typeface="Calibri"/>
              <a:cs typeface="Calibri"/>
              <a:sym typeface="Calibri"/>
            </a:endParaRPr>
          </a:p>
        </p:txBody>
      </p:sp>
      <p:pic>
        <p:nvPicPr>
          <p:cNvPr id="140" name="Google Shape;140;p10"/>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141" name="Google Shape;141;p10"/>
          <p:cNvSpPr/>
          <p:nvPr/>
        </p:nvSpPr>
        <p:spPr>
          <a:xfrm>
            <a:off x="571500" y="6434138"/>
            <a:ext cx="2828330"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Maturana et al. (1960); Tsai &amp; Ewert (1987)</a:t>
            </a:r>
            <a:endParaRPr b="0" i="0" sz="1800" u="none" cap="none" strike="noStrike">
              <a:solidFill>
                <a:schemeClr val="dk1"/>
              </a:solidFill>
              <a:latin typeface="Calibri"/>
              <a:ea typeface="Calibri"/>
              <a:cs typeface="Calibri"/>
              <a:sym typeface="Calibri"/>
            </a:endParaRPr>
          </a:p>
        </p:txBody>
      </p:sp>
      <p:sp>
        <p:nvSpPr>
          <p:cNvPr id="142" name="Google Shape;142;p10"/>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10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146" name="Shape 146"/>
        <p:cNvGrpSpPr/>
        <p:nvPr/>
      </p:nvGrpSpPr>
      <p:grpSpPr>
        <a:xfrm>
          <a:off x="0" y="0"/>
          <a:ext cx="0" cy="0"/>
          <a:chOff x="0" y="0"/>
          <a:chExt cx="0" cy="0"/>
        </a:xfrm>
      </p:grpSpPr>
      <p:sp>
        <p:nvSpPr>
          <p:cNvPr id="147" name="Google Shape;147;p11"/>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Retinotopy preserves where a visual event occurred</a:t>
            </a:r>
            <a:endParaRPr b="0" i="0" sz="1800" u="none" cap="none" strike="noStrike">
              <a:solidFill>
                <a:schemeClr val="dk1"/>
              </a:solidFill>
              <a:latin typeface="Calibri"/>
              <a:ea typeface="Calibri"/>
              <a:cs typeface="Calibri"/>
              <a:sym typeface="Calibri"/>
            </a:endParaRPr>
          </a:p>
        </p:txBody>
      </p:sp>
      <p:sp>
        <p:nvSpPr>
          <p:cNvPr id="148" name="Google Shape;148;p11"/>
          <p:cNvSpPr/>
          <p:nvPr/>
        </p:nvSpPr>
        <p:spPr>
          <a:xfrm>
            <a:off x="571500" y="137160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1" i="0" lang="en-US" sz="1725" u="none" cap="none" strike="noStrike">
                <a:solidFill>
                  <a:srgbClr val="28242A"/>
                </a:solidFill>
                <a:latin typeface="Arial"/>
                <a:ea typeface="Arial"/>
                <a:cs typeface="Arial"/>
                <a:sym typeface="Arial"/>
              </a:rPr>
              <a:t>Retinotopy</a:t>
            </a:r>
            <a:r>
              <a:rPr b="0" i="0" lang="en-US" sz="1725" u="none" cap="none" strike="noStrike">
                <a:solidFill>
                  <a:srgbClr val="28242A"/>
                </a:solidFill>
                <a:latin typeface="Arial"/>
                <a:ea typeface="Arial"/>
                <a:cs typeface="Arial"/>
                <a:sym typeface="Arial"/>
              </a:rPr>
              <a:t> is an orderly correspondence between locations in the retina and locations in a central visual structure. Neighboring retinal locations generally project to neighboring positions in a tectal map.</a:t>
            </a:r>
            <a:endParaRPr b="0" i="0" sz="1800" u="none" cap="none" strike="noStrike">
              <a:solidFill>
                <a:schemeClr val="dk1"/>
              </a:solidFill>
              <a:latin typeface="Calibri"/>
              <a:ea typeface="Calibri"/>
              <a:cs typeface="Calibri"/>
              <a:sym typeface="Calibri"/>
            </a:endParaRPr>
          </a:p>
        </p:txBody>
      </p:sp>
      <p:sp>
        <p:nvSpPr>
          <p:cNvPr id="149" name="Google Shape;149;p11"/>
          <p:cNvSpPr/>
          <p:nvPr/>
        </p:nvSpPr>
        <p:spPr>
          <a:xfrm>
            <a:off x="571500" y="2446734"/>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 original diagram compares retinal projections to the pretectal region and optic tectum. Matching numbers represent retinal positions. “Sehnerv” labels the optic nerve. The pretectal region lies rostral to the tectum, near the diencephalon–midbrain boundary.</a:t>
            </a:r>
            <a:endParaRPr b="0" i="0" sz="1800" u="none" cap="none" strike="noStrike">
              <a:solidFill>
                <a:schemeClr val="dk1"/>
              </a:solidFill>
              <a:latin typeface="Calibri"/>
              <a:ea typeface="Calibri"/>
              <a:cs typeface="Calibri"/>
              <a:sym typeface="Calibri"/>
            </a:endParaRPr>
          </a:p>
        </p:txBody>
      </p:sp>
      <p:sp>
        <p:nvSpPr>
          <p:cNvPr id="150" name="Google Shape;150;p11"/>
          <p:cNvSpPr/>
          <p:nvPr/>
        </p:nvSpPr>
        <p:spPr>
          <a:xfrm>
            <a:off x="571500" y="3771602"/>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For a toad to turn toward prey, selective activity must retain positional information. A population that signals an attractive configuration everywhere with no spatial organization would not specify the direction of the target.</a:t>
            </a:r>
            <a:endParaRPr b="0" i="0" sz="1800" u="none" cap="none" strike="noStrike">
              <a:solidFill>
                <a:schemeClr val="dk1"/>
              </a:solidFill>
              <a:latin typeface="Calibri"/>
              <a:ea typeface="Calibri"/>
              <a:cs typeface="Calibri"/>
              <a:sym typeface="Calibri"/>
            </a:endParaRPr>
          </a:p>
        </p:txBody>
      </p:sp>
      <p:sp>
        <p:nvSpPr>
          <p:cNvPr id="151" name="Google Shape;151;p11"/>
          <p:cNvSpPr/>
          <p:nvPr/>
        </p:nvSpPr>
        <p:spPr>
          <a:xfrm>
            <a:off x="571500" y="4846737"/>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Topographic connections also let pretectal influences act on corresponding parts of tectal space. The diagram describes pathway organization, while the strength and synaptic sign of interactions require physiological experiments.</a:t>
            </a:r>
            <a:endParaRPr b="0" i="0" sz="1800" u="none" cap="none" strike="noStrike">
              <a:solidFill>
                <a:schemeClr val="dk1"/>
              </a:solidFill>
              <a:latin typeface="Calibri"/>
              <a:ea typeface="Calibri"/>
              <a:cs typeface="Calibri"/>
              <a:sym typeface="Calibri"/>
            </a:endParaRPr>
          </a:p>
        </p:txBody>
      </p:sp>
      <p:pic>
        <p:nvPicPr>
          <p:cNvPr id="152" name="Google Shape;152;p11"/>
          <p:cNvPicPr preferRelativeResize="0"/>
          <p:nvPr/>
        </p:nvPicPr>
        <p:blipFill rotWithShape="1">
          <a:blip r:embed="rId3">
            <a:alphaModFix/>
          </a:blip>
          <a:srcRect b="0" l="0" r="0" t="0"/>
          <a:stretch/>
        </p:blipFill>
        <p:spPr>
          <a:xfrm>
            <a:off x="7086600" y="1847925"/>
            <a:ext cx="4533900" cy="3052165"/>
          </a:xfrm>
          <a:prstGeom prst="rect">
            <a:avLst/>
          </a:prstGeom>
          <a:noFill/>
          <a:ln>
            <a:noFill/>
          </a:ln>
        </p:spPr>
      </p:pic>
      <p:sp>
        <p:nvSpPr>
          <p:cNvPr id="153" name="Google Shape;153;p11"/>
          <p:cNvSpPr/>
          <p:nvPr/>
        </p:nvSpPr>
        <p:spPr>
          <a:xfrm>
            <a:off x="7086600" y="5500241"/>
            <a:ext cx="4552950" cy="557659"/>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E545A"/>
              </a:buClr>
              <a:buSzPts val="1200"/>
              <a:buFont typeface="Arial"/>
              <a:buNone/>
            </a:pPr>
            <a:r>
              <a:rPr b="0" i="0" lang="en-US" sz="1200" u="none" cap="none" strike="noStrike">
                <a:solidFill>
                  <a:srgbClr val="5E545A"/>
                </a:solidFill>
                <a:latin typeface="Arial"/>
                <a:ea typeface="Arial"/>
                <a:cs typeface="Arial"/>
                <a:sym typeface="Arial"/>
              </a:rPr>
              <a:t>Retinal and pretectotectal topography: Ewert (1995), Fig. 5, based on the original anatomical and physiological mapping work.</a:t>
            </a:r>
            <a:endParaRPr b="0" i="0" sz="1800" u="none" cap="none" strike="noStrike">
              <a:solidFill>
                <a:schemeClr val="dk1"/>
              </a:solidFill>
              <a:latin typeface="Calibri"/>
              <a:ea typeface="Calibri"/>
              <a:cs typeface="Calibri"/>
              <a:sym typeface="Calibri"/>
            </a:endParaRPr>
          </a:p>
        </p:txBody>
      </p:sp>
      <p:pic>
        <p:nvPicPr>
          <p:cNvPr id="154" name="Google Shape;154;p11"/>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155" name="Google Shape;155;p11"/>
          <p:cNvSpPr/>
          <p:nvPr/>
        </p:nvSpPr>
        <p:spPr>
          <a:xfrm>
            <a:off x="571500" y="6434138"/>
            <a:ext cx="26210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Ewert et al. (1974); Figure: Ewert (1995)</a:t>
            </a:r>
            <a:endParaRPr b="0" i="0" sz="1800" u="none" cap="none" strike="noStrike">
              <a:solidFill>
                <a:schemeClr val="dk1"/>
              </a:solidFill>
              <a:latin typeface="Calibri"/>
              <a:ea typeface="Calibri"/>
              <a:cs typeface="Calibri"/>
              <a:sym typeface="Calibri"/>
            </a:endParaRPr>
          </a:p>
        </p:txBody>
      </p:sp>
      <p:sp>
        <p:nvSpPr>
          <p:cNvPr id="156" name="Google Shape;156;p11"/>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11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160" name="Shape 160"/>
        <p:cNvGrpSpPr/>
        <p:nvPr/>
      </p:nvGrpSpPr>
      <p:grpSpPr>
        <a:xfrm>
          <a:off x="0" y="0"/>
          <a:ext cx="0" cy="0"/>
          <a:chOff x="0" y="0"/>
          <a:chExt cx="0" cy="0"/>
        </a:xfrm>
      </p:grpSpPr>
      <p:sp>
        <p:nvSpPr>
          <p:cNvPr id="161" name="Google Shape;161;p12"/>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Tectal laminae connect retinal input to deeper output</a:t>
            </a:r>
            <a:endParaRPr b="0" i="0" sz="1800" u="none" cap="none" strike="noStrike">
              <a:solidFill>
                <a:schemeClr val="dk1"/>
              </a:solidFill>
              <a:latin typeface="Calibri"/>
              <a:ea typeface="Calibri"/>
              <a:cs typeface="Calibri"/>
              <a:sym typeface="Calibri"/>
            </a:endParaRPr>
          </a:p>
        </p:txBody>
      </p:sp>
      <p:sp>
        <p:nvSpPr>
          <p:cNvPr id="162" name="Google Shape;162;p12"/>
          <p:cNvSpPr/>
          <p:nvPr/>
        </p:nvSpPr>
        <p:spPr>
          <a:xfrm>
            <a:off x="571500" y="1371600"/>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 </a:t>
            </a:r>
            <a:r>
              <a:rPr b="1" i="0" lang="en-US" sz="1725" u="none" cap="none" strike="noStrike">
                <a:solidFill>
                  <a:srgbClr val="28242A"/>
                </a:solidFill>
                <a:latin typeface="Arial"/>
                <a:ea typeface="Arial"/>
                <a:cs typeface="Arial"/>
                <a:sym typeface="Arial"/>
              </a:rPr>
              <a:t>optic tectum</a:t>
            </a:r>
            <a:r>
              <a:rPr b="0" i="0" lang="en-US" sz="1725" u="none" cap="none" strike="noStrike">
                <a:solidFill>
                  <a:srgbClr val="28242A"/>
                </a:solidFill>
                <a:latin typeface="Arial"/>
                <a:ea typeface="Arial"/>
                <a:cs typeface="Arial"/>
                <a:sym typeface="Arial"/>
              </a:rPr>
              <a:t> is a layered midbrain structure. Retinal axons terminate in superficial neuropil, the tissue containing axons, dendrites, and synapses. Deeper neurons extend dendrites toward this input and contribute descending projections.</a:t>
            </a:r>
            <a:endParaRPr b="0" i="0" sz="1800" u="none" cap="none" strike="noStrike">
              <a:solidFill>
                <a:schemeClr val="dk1"/>
              </a:solidFill>
              <a:latin typeface="Calibri"/>
              <a:ea typeface="Calibri"/>
              <a:cs typeface="Calibri"/>
              <a:sym typeface="Calibri"/>
            </a:endParaRPr>
          </a:p>
        </p:txBody>
      </p:sp>
      <p:sp>
        <p:nvSpPr>
          <p:cNvPr id="163" name="Google Shape;163;p12"/>
          <p:cNvSpPr/>
          <p:nvPr/>
        </p:nvSpPr>
        <p:spPr>
          <a:xfrm>
            <a:off x="571500" y="2696468"/>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Weerasuriya and Ewert recorded prey-selective responses between tectal layers </a:t>
            </a:r>
            <a:r>
              <a:rPr b="1" i="0" lang="en-US" sz="1725" u="none" cap="none" strike="noStrike">
                <a:solidFill>
                  <a:srgbClr val="28242A"/>
                </a:solidFill>
                <a:latin typeface="Arial"/>
                <a:ea typeface="Arial"/>
                <a:cs typeface="Arial"/>
                <a:sym typeface="Arial"/>
              </a:rPr>
              <a:t>6 and 8</a:t>
            </a:r>
            <a:r>
              <a:rPr b="0" i="0" lang="en-US" sz="1725" u="none" cap="none" strike="noStrike">
                <a:solidFill>
                  <a:srgbClr val="28242A"/>
                </a:solidFill>
                <a:latin typeface="Arial"/>
                <a:ea typeface="Arial"/>
                <a:cs typeface="Arial"/>
                <a:sym typeface="Arial"/>
              </a:rPr>
              <a:t> in common toads. Tracer injections near the hypoglossal nucleus labeled tectal neurons and fibers associated with descending pathways.</a:t>
            </a:r>
            <a:endParaRPr b="0" i="0" sz="1800" u="none" cap="none" strike="noStrike">
              <a:solidFill>
                <a:schemeClr val="dk1"/>
              </a:solidFill>
              <a:latin typeface="Calibri"/>
              <a:ea typeface="Calibri"/>
              <a:cs typeface="Calibri"/>
              <a:sym typeface="Calibri"/>
            </a:endParaRPr>
          </a:p>
        </p:txBody>
      </p:sp>
      <p:sp>
        <p:nvSpPr>
          <p:cNvPr id="164" name="Google Shape;164;p12"/>
          <p:cNvSpPr/>
          <p:nvPr/>
        </p:nvSpPr>
        <p:spPr>
          <a:xfrm>
            <a:off x="571500" y="3771602"/>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 histological panel shows a cross-section of the tectum and its lamination. OT denotes optic tectum, OV the optic ventricle, and the numbered inset identifies successive layers.</a:t>
            </a:r>
            <a:endParaRPr b="0" i="0" sz="1800" u="none" cap="none" strike="noStrike">
              <a:solidFill>
                <a:schemeClr val="dk1"/>
              </a:solidFill>
              <a:latin typeface="Calibri"/>
              <a:ea typeface="Calibri"/>
              <a:cs typeface="Calibri"/>
              <a:sym typeface="Calibri"/>
            </a:endParaRPr>
          </a:p>
        </p:txBody>
      </p:sp>
      <p:sp>
        <p:nvSpPr>
          <p:cNvPr id="165" name="Google Shape;165;p12"/>
          <p:cNvSpPr/>
          <p:nvPr/>
        </p:nvSpPr>
        <p:spPr>
          <a:xfrm>
            <a:off x="571500" y="4846737"/>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Anatomical overlap supports a substrate for sensorimotor transformation. Tracing from a brain region, however, does not prove that every labeled neuron has the same visual selectivity or makes a direct synapse onto a tongue motoneuron.</a:t>
            </a:r>
            <a:endParaRPr b="0" i="0" sz="1800" u="none" cap="none" strike="noStrike">
              <a:solidFill>
                <a:schemeClr val="dk1"/>
              </a:solidFill>
              <a:latin typeface="Calibri"/>
              <a:ea typeface="Calibri"/>
              <a:cs typeface="Calibri"/>
              <a:sym typeface="Calibri"/>
            </a:endParaRPr>
          </a:p>
        </p:txBody>
      </p:sp>
      <p:pic>
        <p:nvPicPr>
          <p:cNvPr id="166" name="Google Shape;166;p12"/>
          <p:cNvPicPr preferRelativeResize="0"/>
          <p:nvPr/>
        </p:nvPicPr>
        <p:blipFill rotWithShape="1">
          <a:blip r:embed="rId3">
            <a:alphaModFix/>
          </a:blip>
          <a:srcRect b="0" l="0" r="0" t="0"/>
          <a:stretch/>
        </p:blipFill>
        <p:spPr>
          <a:xfrm>
            <a:off x="7086600" y="2349497"/>
            <a:ext cx="4533900" cy="2234908"/>
          </a:xfrm>
          <a:prstGeom prst="rect">
            <a:avLst/>
          </a:prstGeom>
          <a:noFill/>
          <a:ln>
            <a:noFill/>
          </a:ln>
        </p:spPr>
      </p:pic>
      <p:sp>
        <p:nvSpPr>
          <p:cNvPr id="167" name="Google Shape;167;p12"/>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E545A"/>
              </a:buClr>
              <a:buSzPts val="1200"/>
              <a:buFont typeface="Arial"/>
              <a:buNone/>
            </a:pPr>
            <a:r>
              <a:rPr b="0" i="0" lang="en-US" sz="1200" u="none" cap="none" strike="noStrike">
                <a:solidFill>
                  <a:srgbClr val="5E545A"/>
                </a:solidFill>
                <a:latin typeface="Arial"/>
                <a:ea typeface="Arial"/>
                <a:cs typeface="Arial"/>
                <a:sym typeface="Arial"/>
              </a:rPr>
              <a:t>Toad tectal cross-section and lamination: Ewert (1995), Fig. 4c and layer inset. Original 1 mm scale bar retained.</a:t>
            </a:r>
            <a:endParaRPr b="0" i="0" sz="1800" u="none" cap="none" strike="noStrike">
              <a:solidFill>
                <a:schemeClr val="dk1"/>
              </a:solidFill>
              <a:latin typeface="Calibri"/>
              <a:ea typeface="Calibri"/>
              <a:cs typeface="Calibri"/>
              <a:sym typeface="Calibri"/>
            </a:endParaRPr>
          </a:p>
        </p:txBody>
      </p:sp>
      <p:pic>
        <p:nvPicPr>
          <p:cNvPr id="168" name="Google Shape;168;p12"/>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169" name="Google Shape;169;p12"/>
          <p:cNvSpPr/>
          <p:nvPr/>
        </p:nvSpPr>
        <p:spPr>
          <a:xfrm>
            <a:off x="571500" y="6434138"/>
            <a:ext cx="327124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Weerasuriya &amp; Ewert (1981); Figure: Ewert (1995)</a:t>
            </a:r>
            <a:endParaRPr b="0" i="0" sz="1800" u="none" cap="none" strike="noStrike">
              <a:solidFill>
                <a:schemeClr val="dk1"/>
              </a:solidFill>
              <a:latin typeface="Calibri"/>
              <a:ea typeface="Calibri"/>
              <a:cs typeface="Calibri"/>
              <a:sym typeface="Calibri"/>
            </a:endParaRPr>
          </a:p>
        </p:txBody>
      </p:sp>
      <p:sp>
        <p:nvSpPr>
          <p:cNvPr id="170" name="Google Shape;170;p12"/>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12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174" name="Shape 174"/>
        <p:cNvGrpSpPr/>
        <p:nvPr/>
      </p:nvGrpSpPr>
      <p:grpSpPr>
        <a:xfrm>
          <a:off x="0" y="0"/>
          <a:ext cx="0" cy="0"/>
          <a:chOff x="0" y="0"/>
          <a:chExt cx="0" cy="0"/>
        </a:xfrm>
      </p:grpSpPr>
      <p:sp>
        <p:nvSpPr>
          <p:cNvPr id="175" name="Google Shape;175;p13"/>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T5.2 selectivity depends on interacting visual pathways</a:t>
            </a:r>
            <a:endParaRPr b="0" i="0" sz="1800" u="none" cap="none" strike="noStrike">
              <a:solidFill>
                <a:schemeClr val="dk1"/>
              </a:solidFill>
              <a:latin typeface="Calibri"/>
              <a:ea typeface="Calibri"/>
              <a:cs typeface="Calibri"/>
              <a:sym typeface="Calibri"/>
            </a:endParaRPr>
          </a:p>
        </p:txBody>
      </p:sp>
      <p:sp>
        <p:nvSpPr>
          <p:cNvPr id="176" name="Google Shape;176;p13"/>
          <p:cNvSpPr/>
          <p:nvPr/>
        </p:nvSpPr>
        <p:spPr>
          <a:xfrm>
            <a:off x="571500" y="1371600"/>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Toad </a:t>
            </a:r>
            <a:r>
              <a:rPr b="1" i="0" lang="en-US" sz="1725" u="none" cap="none" strike="noStrike">
                <a:solidFill>
                  <a:srgbClr val="28242A"/>
                </a:solidFill>
                <a:latin typeface="Arial"/>
                <a:ea typeface="Arial"/>
                <a:cs typeface="Arial"/>
                <a:sym typeface="Arial"/>
              </a:rPr>
              <a:t>T5.1 neurons</a:t>
            </a:r>
            <a:r>
              <a:rPr b="0" i="0" lang="en-US" sz="1725" u="none" cap="none" strike="noStrike">
                <a:solidFill>
                  <a:srgbClr val="28242A"/>
                </a:solidFill>
                <a:latin typeface="Arial"/>
                <a:ea typeface="Arial"/>
                <a:cs typeface="Arial"/>
                <a:sym typeface="Arial"/>
              </a:rPr>
              <a:t> preferentially respond when an object extends along its movement direction. </a:t>
            </a:r>
            <a:r>
              <a:rPr b="1" i="0" lang="en-US" sz="1725" u="none" cap="none" strike="noStrike">
                <a:solidFill>
                  <a:srgbClr val="28242A"/>
                </a:solidFill>
                <a:latin typeface="Arial"/>
                <a:ea typeface="Arial"/>
                <a:cs typeface="Arial"/>
                <a:sym typeface="Arial"/>
              </a:rPr>
              <a:t>T5.2 neurons</a:t>
            </a:r>
            <a:r>
              <a:rPr b="0" i="0" lang="en-US" sz="1725" u="none" cap="none" strike="noStrike">
                <a:solidFill>
                  <a:srgbClr val="28242A"/>
                </a:solidFill>
                <a:latin typeface="Arial"/>
                <a:ea typeface="Arial"/>
                <a:cs typeface="Arial"/>
                <a:sym typeface="Arial"/>
              </a:rPr>
              <a:t> additionally respond weakly when the object extends across that direction, bringing their tuning closer to prey preference.</a:t>
            </a:r>
            <a:endParaRPr b="0" i="0" sz="1800" u="none" cap="none" strike="noStrike">
              <a:solidFill>
                <a:schemeClr val="dk1"/>
              </a:solidFill>
              <a:latin typeface="Calibri"/>
              <a:ea typeface="Calibri"/>
              <a:cs typeface="Calibri"/>
              <a:sym typeface="Calibri"/>
            </a:endParaRPr>
          </a:p>
        </p:txBody>
      </p:sp>
      <p:sp>
        <p:nvSpPr>
          <p:cNvPr id="177" name="Google Shape;177;p13"/>
          <p:cNvSpPr/>
          <p:nvPr/>
        </p:nvSpPr>
        <p:spPr>
          <a:xfrm>
            <a:off x="571500" y="2696468"/>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Pretectal </a:t>
            </a:r>
            <a:r>
              <a:rPr b="1" i="0" lang="en-US" sz="1725" u="none" cap="none" strike="noStrike">
                <a:solidFill>
                  <a:srgbClr val="28242A"/>
                </a:solidFill>
                <a:latin typeface="Arial"/>
                <a:ea typeface="Arial"/>
                <a:cs typeface="Arial"/>
                <a:sym typeface="Arial"/>
              </a:rPr>
              <a:t>TH3 neurons</a:t>
            </a:r>
            <a:r>
              <a:rPr b="0" i="0" lang="en-US" sz="1725" u="none" cap="none" strike="noStrike">
                <a:solidFill>
                  <a:srgbClr val="28242A"/>
                </a:solidFill>
                <a:latin typeface="Arial"/>
                <a:ea typeface="Arial"/>
                <a:cs typeface="Arial"/>
                <a:sym typeface="Arial"/>
              </a:rPr>
              <a:t> respond strongly to transverse extent and large moving patterns. In the historical circuit model, tectal excitation combines with pretectal inhibition to make T5.2 responses more selective.</a:t>
            </a:r>
            <a:endParaRPr b="0" i="0" sz="1800" u="none" cap="none" strike="noStrike">
              <a:solidFill>
                <a:schemeClr val="dk1"/>
              </a:solidFill>
              <a:latin typeface="Calibri"/>
              <a:ea typeface="Calibri"/>
              <a:cs typeface="Calibri"/>
              <a:sym typeface="Calibri"/>
            </a:endParaRPr>
          </a:p>
        </p:txBody>
      </p:sp>
      <p:sp>
        <p:nvSpPr>
          <p:cNvPr id="178" name="Google Shape;178;p13"/>
          <p:cNvSpPr/>
          <p:nvPr/>
        </p:nvSpPr>
        <p:spPr>
          <a:xfrm>
            <a:off x="571500" y="3771602"/>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 diagram summarizes physiological relationships between populations. Arrowheads indicate excitation and blunt endings inhibition. “Beutefang” means prey catching and “Flucht” escape.</a:t>
            </a:r>
            <a:endParaRPr b="0" i="0" sz="1800" u="none" cap="none" strike="noStrike">
              <a:solidFill>
                <a:schemeClr val="dk1"/>
              </a:solidFill>
              <a:latin typeface="Calibri"/>
              <a:ea typeface="Calibri"/>
              <a:cs typeface="Calibri"/>
              <a:sym typeface="Calibri"/>
            </a:endParaRPr>
          </a:p>
        </p:txBody>
      </p:sp>
      <p:sp>
        <p:nvSpPr>
          <p:cNvPr id="179" name="Google Shape;179;p13"/>
          <p:cNvSpPr/>
          <p:nvPr/>
        </p:nvSpPr>
        <p:spPr>
          <a:xfrm>
            <a:off x="571500" y="4846737"/>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This is a </a:t>
            </a:r>
            <a:r>
              <a:rPr b="1" i="0" lang="en-US" sz="1725" u="none" cap="none" strike="noStrike">
                <a:solidFill>
                  <a:srgbClr val="28242A"/>
                </a:solidFill>
                <a:latin typeface="Arial"/>
                <a:ea typeface="Arial"/>
                <a:cs typeface="Arial"/>
                <a:sym typeface="Arial"/>
              </a:rPr>
              <a:t>functional model</a:t>
            </a:r>
            <a:r>
              <a:rPr b="0" i="0" lang="en-US" sz="1725" u="none" cap="none" strike="noStrike">
                <a:solidFill>
                  <a:srgbClr val="28242A"/>
                </a:solidFill>
                <a:latin typeface="Arial"/>
                <a:ea typeface="Arial"/>
                <a:cs typeface="Arial"/>
                <a:sym typeface="Arial"/>
              </a:rPr>
              <a:t>, not a complete cellular wiring diagram. A line between two named classes does not establish one direct synapse, one neurotransmitter, or a mathematically exact ratio computation in each neuron.</a:t>
            </a:r>
            <a:endParaRPr b="0" i="0" sz="1800" u="none" cap="none" strike="noStrike">
              <a:solidFill>
                <a:schemeClr val="dk1"/>
              </a:solidFill>
              <a:latin typeface="Calibri"/>
              <a:ea typeface="Calibri"/>
              <a:cs typeface="Calibri"/>
              <a:sym typeface="Calibri"/>
            </a:endParaRPr>
          </a:p>
        </p:txBody>
      </p:sp>
      <p:pic>
        <p:nvPicPr>
          <p:cNvPr id="180" name="Google Shape;180;p13"/>
          <p:cNvPicPr preferRelativeResize="0"/>
          <p:nvPr/>
        </p:nvPicPr>
        <p:blipFill rotWithShape="1">
          <a:blip r:embed="rId3">
            <a:alphaModFix/>
          </a:blip>
          <a:srcRect b="0" l="0" r="0" t="0"/>
          <a:stretch/>
        </p:blipFill>
        <p:spPr>
          <a:xfrm>
            <a:off x="7086600" y="1681892"/>
            <a:ext cx="4533900" cy="3384233"/>
          </a:xfrm>
          <a:prstGeom prst="rect">
            <a:avLst/>
          </a:prstGeom>
          <a:noFill/>
          <a:ln>
            <a:noFill/>
          </a:ln>
        </p:spPr>
      </p:pic>
      <p:sp>
        <p:nvSpPr>
          <p:cNvPr id="181" name="Google Shape;181;p13"/>
          <p:cNvSpPr/>
          <p:nvPr/>
        </p:nvSpPr>
        <p:spPr>
          <a:xfrm>
            <a:off x="7086600" y="5500241"/>
            <a:ext cx="4552950" cy="557659"/>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E545A"/>
              </a:buClr>
              <a:buSzPts val="1200"/>
              <a:buFont typeface="Arial"/>
              <a:buNone/>
            </a:pPr>
            <a:r>
              <a:rPr b="0" i="0" lang="en-US" sz="1200" u="none" cap="none" strike="noStrike">
                <a:solidFill>
                  <a:srgbClr val="5E545A"/>
                </a:solidFill>
                <a:latin typeface="Arial"/>
                <a:ea typeface="Arial"/>
                <a:cs typeface="Arial"/>
                <a:sym typeface="Arial"/>
              </a:rPr>
              <a:t>Ewert (1995), Fig. 7a. Historical circuit hypothesis. Population symbols summarize response classes and proposed interactions.</a:t>
            </a:r>
            <a:endParaRPr b="0" i="0" sz="1800" u="none" cap="none" strike="noStrike">
              <a:solidFill>
                <a:schemeClr val="dk1"/>
              </a:solidFill>
              <a:latin typeface="Calibri"/>
              <a:ea typeface="Calibri"/>
              <a:cs typeface="Calibri"/>
              <a:sym typeface="Calibri"/>
            </a:endParaRPr>
          </a:p>
        </p:txBody>
      </p:sp>
      <p:pic>
        <p:nvPicPr>
          <p:cNvPr id="182" name="Google Shape;182;p13"/>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183" name="Google Shape;183;p13"/>
          <p:cNvSpPr/>
          <p:nvPr/>
        </p:nvSpPr>
        <p:spPr>
          <a:xfrm>
            <a:off x="571500" y="6434138"/>
            <a:ext cx="5210175"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Ewert &amp; von Wietersheim (1974); Schwippert et al. (1995); Figure: Ewert (1995)</a:t>
            </a:r>
            <a:endParaRPr b="0" i="0" sz="1800" u="none" cap="none" strike="noStrike">
              <a:solidFill>
                <a:schemeClr val="dk1"/>
              </a:solidFill>
              <a:latin typeface="Calibri"/>
              <a:ea typeface="Calibri"/>
              <a:cs typeface="Calibri"/>
              <a:sym typeface="Calibri"/>
            </a:endParaRPr>
          </a:p>
        </p:txBody>
      </p:sp>
      <p:sp>
        <p:nvSpPr>
          <p:cNvPr id="184" name="Google Shape;184;p13"/>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13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188" name="Shape 188"/>
        <p:cNvGrpSpPr/>
        <p:nvPr/>
      </p:nvGrpSpPr>
      <p:grpSpPr>
        <a:xfrm>
          <a:off x="0" y="0"/>
          <a:ext cx="0" cy="0"/>
          <a:chOff x="0" y="0"/>
          <a:chExt cx="0" cy="0"/>
        </a:xfrm>
      </p:grpSpPr>
      <p:sp>
        <p:nvSpPr>
          <p:cNvPr id="189" name="Google Shape;189;p14"/>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Tectal tuning resembles behavioral prey preference</a:t>
            </a:r>
            <a:endParaRPr b="0" i="0" sz="1800" u="none" cap="none" strike="noStrike">
              <a:solidFill>
                <a:schemeClr val="dk1"/>
              </a:solidFill>
              <a:latin typeface="Calibri"/>
              <a:ea typeface="Calibri"/>
              <a:cs typeface="Calibri"/>
              <a:sym typeface="Calibri"/>
            </a:endParaRPr>
          </a:p>
        </p:txBody>
      </p:sp>
      <p:pic>
        <p:nvPicPr>
          <p:cNvPr id="190" name="Google Shape;190;p14"/>
          <p:cNvPicPr preferRelativeResize="0"/>
          <p:nvPr/>
        </p:nvPicPr>
        <p:blipFill rotWithShape="1">
          <a:blip r:embed="rId3">
            <a:alphaModFix/>
          </a:blip>
          <a:srcRect b="0" l="0" r="0" t="0"/>
          <a:stretch/>
        </p:blipFill>
        <p:spPr>
          <a:xfrm>
            <a:off x="3200848" y="1019175"/>
            <a:ext cx="5790304" cy="2381250"/>
          </a:xfrm>
          <a:prstGeom prst="rect">
            <a:avLst/>
          </a:prstGeom>
          <a:noFill/>
          <a:ln>
            <a:noFill/>
          </a:ln>
        </p:spPr>
      </p:pic>
      <p:sp>
        <p:nvSpPr>
          <p:cNvPr id="191" name="Google Shape;191;p14"/>
          <p:cNvSpPr/>
          <p:nvPr/>
        </p:nvSpPr>
        <p:spPr>
          <a:xfrm>
            <a:off x="571500" y="3505200"/>
            <a:ext cx="11068050" cy="164306"/>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Intact (a) and lesioned (b) conditions: Ewert &amp; von Wietersheim (1974), reproduced in Ewert (1995), Fig. 6A.</a:t>
            </a:r>
            <a:endParaRPr b="0" i="0" sz="1800" u="none" cap="none" strike="noStrike">
              <a:solidFill>
                <a:schemeClr val="dk1"/>
              </a:solidFill>
              <a:latin typeface="Calibri"/>
              <a:ea typeface="Calibri"/>
              <a:cs typeface="Calibri"/>
              <a:sym typeface="Calibri"/>
            </a:endParaRPr>
          </a:p>
        </p:txBody>
      </p:sp>
      <p:sp>
        <p:nvSpPr>
          <p:cNvPr id="192" name="Google Shape;192;p14"/>
          <p:cNvSpPr/>
          <p:nvPr/>
        </p:nvSpPr>
        <p:spPr>
          <a:xfrm>
            <a:off x="571500" y="3829050"/>
            <a:ext cx="5257800" cy="972145"/>
          </a:xfrm>
          <a:prstGeom prst="rect">
            <a:avLst/>
          </a:prstGeom>
          <a:noFill/>
          <a:ln>
            <a:noFill/>
          </a:ln>
        </p:spPr>
        <p:txBody>
          <a:bodyPr anchorCtr="0" anchor="t" bIns="0" lIns="0" spcFirstLastPara="1" rIns="0" wrap="square" tIns="0">
            <a:normAutofit/>
          </a:bodyPr>
          <a:lstStyle/>
          <a:p>
            <a:pPr indent="0" lvl="0" marL="0" marR="0" rtl="0" algn="l">
              <a:lnSpc>
                <a:spcPct val="116000"/>
              </a:lnSpc>
              <a:spcBef>
                <a:spcPts val="0"/>
              </a:spcBef>
              <a:spcAft>
                <a:spcPts val="0"/>
              </a:spcAft>
              <a:buClr>
                <a:srgbClr val="28242A"/>
              </a:buClr>
              <a:buSzPts val="1650"/>
              <a:buFont typeface="Arial"/>
              <a:buNone/>
            </a:pPr>
            <a:r>
              <a:rPr b="0" i="0" lang="en-US" sz="1650" u="none" cap="none" strike="noStrike">
                <a:solidFill>
                  <a:srgbClr val="28242A"/>
                </a:solidFill>
                <a:latin typeface="Arial"/>
                <a:ea typeface="Arial"/>
                <a:cs typeface="Arial"/>
                <a:sym typeface="Arial"/>
              </a:rPr>
              <a:t>The graphs plot T5.2 firing against stimulus extent. From a </a:t>
            </a:r>
            <a:r>
              <a:rPr b="1" i="0" lang="en-US" sz="1650" u="none" cap="none" strike="noStrike">
                <a:solidFill>
                  <a:srgbClr val="28242A"/>
                </a:solidFill>
                <a:latin typeface="Arial"/>
                <a:ea typeface="Arial"/>
                <a:cs typeface="Arial"/>
                <a:sym typeface="Arial"/>
              </a:rPr>
              <a:t>2° × 2° square</a:t>
            </a:r>
            <a:r>
              <a:rPr b="0" i="0" lang="en-US" sz="1650" u="none" cap="none" strike="noStrike">
                <a:solidFill>
                  <a:srgbClr val="28242A"/>
                </a:solidFill>
                <a:latin typeface="Arial"/>
                <a:ea typeface="Arial"/>
                <a:cs typeface="Arial"/>
                <a:sym typeface="Arial"/>
              </a:rPr>
              <a:t>, the experimenters increased parallel extent (W), perpendicular extent (A), or both dimensions (Q).</a:t>
            </a:r>
            <a:endParaRPr b="0" i="0" sz="1800" u="none" cap="none" strike="noStrike">
              <a:solidFill>
                <a:schemeClr val="dk1"/>
              </a:solidFill>
              <a:latin typeface="Calibri"/>
              <a:ea typeface="Calibri"/>
              <a:cs typeface="Calibri"/>
              <a:sym typeface="Calibri"/>
            </a:endParaRPr>
          </a:p>
        </p:txBody>
      </p:sp>
      <p:sp>
        <p:nvSpPr>
          <p:cNvPr id="193" name="Google Shape;193;p14"/>
          <p:cNvSpPr/>
          <p:nvPr/>
        </p:nvSpPr>
        <p:spPr>
          <a:xfrm>
            <a:off x="571500" y="4867870"/>
            <a:ext cx="5257800" cy="972145"/>
          </a:xfrm>
          <a:prstGeom prst="rect">
            <a:avLst/>
          </a:prstGeom>
          <a:noFill/>
          <a:ln>
            <a:noFill/>
          </a:ln>
        </p:spPr>
        <p:txBody>
          <a:bodyPr anchorCtr="0" anchor="t" bIns="0" lIns="0" spcFirstLastPara="1" rIns="0" wrap="square" tIns="0">
            <a:normAutofit/>
          </a:bodyPr>
          <a:lstStyle/>
          <a:p>
            <a:pPr indent="0" lvl="0" marL="0" marR="0" rtl="0" algn="l">
              <a:lnSpc>
                <a:spcPct val="116000"/>
              </a:lnSpc>
              <a:spcBef>
                <a:spcPts val="0"/>
              </a:spcBef>
              <a:spcAft>
                <a:spcPts val="0"/>
              </a:spcAft>
              <a:buClr>
                <a:srgbClr val="28242A"/>
              </a:buClr>
              <a:buSzPts val="1650"/>
              <a:buFont typeface="Arial"/>
              <a:buNone/>
            </a:pPr>
            <a:r>
              <a:rPr b="0" i="0" lang="en-US" sz="1650" u="none" cap="none" strike="noStrike">
                <a:solidFill>
                  <a:srgbClr val="28242A"/>
                </a:solidFill>
                <a:latin typeface="Arial"/>
                <a:ea typeface="Arial"/>
                <a:cs typeface="Arial"/>
                <a:sym typeface="Arial"/>
              </a:rPr>
              <a:t>Wormlike motion elicited stronger responses than antiworm motion. Tuning is nonmonotonic: the largest preferred stimuli elicited less firing than intermediate sizes.</a:t>
            </a:r>
            <a:endParaRPr b="0" i="0" sz="1800" u="none" cap="none" strike="noStrike">
              <a:solidFill>
                <a:schemeClr val="dk1"/>
              </a:solidFill>
              <a:latin typeface="Calibri"/>
              <a:ea typeface="Calibri"/>
              <a:cs typeface="Calibri"/>
              <a:sym typeface="Calibri"/>
            </a:endParaRPr>
          </a:p>
        </p:txBody>
      </p:sp>
      <p:sp>
        <p:nvSpPr>
          <p:cNvPr id="194" name="Google Shape;194;p14"/>
          <p:cNvSpPr/>
          <p:nvPr/>
        </p:nvSpPr>
        <p:spPr>
          <a:xfrm>
            <a:off x="6353175" y="3829050"/>
            <a:ext cx="5286375" cy="972145"/>
          </a:xfrm>
          <a:prstGeom prst="rect">
            <a:avLst/>
          </a:prstGeom>
          <a:noFill/>
          <a:ln>
            <a:noFill/>
          </a:ln>
        </p:spPr>
        <p:txBody>
          <a:bodyPr anchorCtr="0" anchor="t" bIns="0" lIns="0" spcFirstLastPara="1" rIns="0" wrap="square" tIns="0">
            <a:normAutofit/>
          </a:bodyPr>
          <a:lstStyle/>
          <a:p>
            <a:pPr indent="0" lvl="0" marL="0" marR="0" rtl="0" algn="l">
              <a:lnSpc>
                <a:spcPct val="116000"/>
              </a:lnSpc>
              <a:spcBef>
                <a:spcPts val="0"/>
              </a:spcBef>
              <a:spcAft>
                <a:spcPts val="0"/>
              </a:spcAft>
              <a:buClr>
                <a:srgbClr val="28242A"/>
              </a:buClr>
              <a:buSzPts val="1650"/>
              <a:buFont typeface="Arial"/>
              <a:buNone/>
            </a:pPr>
            <a:r>
              <a:rPr b="0" i="0" lang="en-US" sz="1650" u="none" cap="none" strike="noStrike">
                <a:solidFill>
                  <a:srgbClr val="28242A"/>
                </a:solidFill>
                <a:latin typeface="Arial"/>
                <a:ea typeface="Arial"/>
                <a:cs typeface="Arial"/>
                <a:sym typeface="Arial"/>
              </a:rPr>
              <a:t>The source reports </a:t>
            </a:r>
            <a:r>
              <a:rPr b="1" i="0" lang="en-US" sz="1650" u="none" cap="none" strike="noStrike">
                <a:solidFill>
                  <a:srgbClr val="28242A"/>
                </a:solidFill>
                <a:latin typeface="Arial"/>
                <a:ea typeface="Arial"/>
                <a:cs typeface="Arial"/>
                <a:sym typeface="Arial"/>
              </a:rPr>
              <a:t>20 neurons per condition</a:t>
            </a:r>
            <a:r>
              <a:rPr b="0" i="0" lang="en-US" sz="1650" u="none" cap="none" strike="noStrike">
                <a:solidFill>
                  <a:srgbClr val="28242A"/>
                </a:solidFill>
                <a:latin typeface="Arial"/>
                <a:ea typeface="Arial"/>
                <a:cs typeface="Arial"/>
                <a:sym typeface="Arial"/>
              </a:rPr>
              <a:t>, tested at </a:t>
            </a:r>
            <a:r>
              <a:rPr b="1" i="0" lang="en-US" sz="1650" u="none" cap="none" strike="noStrike">
                <a:solidFill>
                  <a:srgbClr val="28242A"/>
                </a:solidFill>
                <a:latin typeface="Arial"/>
                <a:ea typeface="Arial"/>
                <a:cs typeface="Arial"/>
                <a:sym typeface="Arial"/>
              </a:rPr>
              <a:t>7.6°/s</a:t>
            </a:r>
            <a:r>
              <a:rPr b="0" i="0" lang="en-US" sz="1650" u="none" cap="none" strike="noStrike">
                <a:solidFill>
                  <a:srgbClr val="28242A"/>
                </a:solidFill>
                <a:latin typeface="Arial"/>
                <a:ea typeface="Arial"/>
                <a:cs typeface="Arial"/>
                <a:sym typeface="Arial"/>
              </a:rPr>
              <a:t>. Left: intact toads. Right: pretectal lesions broaden responses. Axes show impulses/s and degrees of visual angle.</a:t>
            </a:r>
            <a:endParaRPr b="0" i="0" sz="1800" u="none" cap="none" strike="noStrike">
              <a:solidFill>
                <a:schemeClr val="dk1"/>
              </a:solidFill>
              <a:latin typeface="Calibri"/>
              <a:ea typeface="Calibri"/>
              <a:cs typeface="Calibri"/>
              <a:sym typeface="Calibri"/>
            </a:endParaRPr>
          </a:p>
        </p:txBody>
      </p:sp>
      <p:sp>
        <p:nvSpPr>
          <p:cNvPr id="195" name="Google Shape;195;p14"/>
          <p:cNvSpPr/>
          <p:nvPr/>
        </p:nvSpPr>
        <p:spPr>
          <a:xfrm>
            <a:off x="6353175" y="4867870"/>
            <a:ext cx="5286375" cy="1458218"/>
          </a:xfrm>
          <a:prstGeom prst="rect">
            <a:avLst/>
          </a:prstGeom>
          <a:noFill/>
          <a:ln>
            <a:noFill/>
          </a:ln>
        </p:spPr>
        <p:txBody>
          <a:bodyPr anchorCtr="0" anchor="t" bIns="0" lIns="0" spcFirstLastPara="1" rIns="0" wrap="square" tIns="0">
            <a:normAutofit/>
          </a:bodyPr>
          <a:lstStyle/>
          <a:p>
            <a:pPr indent="0" lvl="0" marL="0" marR="0" rtl="0" algn="l">
              <a:lnSpc>
                <a:spcPct val="116000"/>
              </a:lnSpc>
              <a:spcBef>
                <a:spcPts val="0"/>
              </a:spcBef>
              <a:spcAft>
                <a:spcPts val="0"/>
              </a:spcAft>
              <a:buClr>
                <a:srgbClr val="28242A"/>
              </a:buClr>
              <a:buSzPts val="1650"/>
              <a:buFont typeface="Arial"/>
              <a:buNone/>
            </a:pPr>
            <a:r>
              <a:rPr b="0" i="0" lang="en-US" sz="1650" u="none" cap="none" strike="noStrike">
                <a:solidFill>
                  <a:srgbClr val="28242A"/>
                </a:solidFill>
                <a:latin typeface="Arial"/>
                <a:ea typeface="Arial"/>
                <a:cs typeface="Arial"/>
                <a:sym typeface="Arial"/>
              </a:rPr>
              <a:t>Borchers and Ewert’s separate correlation analysis found that T5.2 output best matched behavioral preference among the tested classes. Such correspondence identifies a candidate neural representation; causal involvement requires perturbation.</a:t>
            </a:r>
            <a:endParaRPr b="0" i="0" sz="1800" u="none" cap="none" strike="noStrike">
              <a:solidFill>
                <a:schemeClr val="dk1"/>
              </a:solidFill>
              <a:latin typeface="Calibri"/>
              <a:ea typeface="Calibri"/>
              <a:cs typeface="Calibri"/>
              <a:sym typeface="Calibri"/>
            </a:endParaRPr>
          </a:p>
        </p:txBody>
      </p:sp>
      <p:pic>
        <p:nvPicPr>
          <p:cNvPr id="196" name="Google Shape;196;p14"/>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197" name="Google Shape;197;p14"/>
          <p:cNvSpPr/>
          <p:nvPr/>
        </p:nvSpPr>
        <p:spPr>
          <a:xfrm>
            <a:off x="571500" y="6434138"/>
            <a:ext cx="5259288"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Ewert &amp; von Wietersheim (1974); Borchers &amp; Ewert (1979); Figure: Ewert (1995)</a:t>
            </a:r>
            <a:endParaRPr b="0" i="0" sz="1800" u="none" cap="none" strike="noStrike">
              <a:solidFill>
                <a:schemeClr val="dk1"/>
              </a:solidFill>
              <a:latin typeface="Calibri"/>
              <a:ea typeface="Calibri"/>
              <a:cs typeface="Calibri"/>
              <a:sym typeface="Calibri"/>
            </a:endParaRPr>
          </a:p>
        </p:txBody>
      </p:sp>
      <p:sp>
        <p:nvSpPr>
          <p:cNvPr id="198" name="Google Shape;198;p14"/>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14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202" name="Shape 202"/>
        <p:cNvGrpSpPr/>
        <p:nvPr/>
      </p:nvGrpSpPr>
      <p:grpSpPr>
        <a:xfrm>
          <a:off x="0" y="0"/>
          <a:ext cx="0" cy="0"/>
          <a:chOff x="0" y="0"/>
          <a:chExt cx="0" cy="0"/>
        </a:xfrm>
      </p:grpSpPr>
      <p:sp>
        <p:nvSpPr>
          <p:cNvPr id="203" name="Google Shape;203;p15"/>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Intracellular records reveal excitation and suppression</a:t>
            </a:r>
            <a:endParaRPr b="0" i="0" sz="1800" u="none" cap="none" strike="noStrike">
              <a:solidFill>
                <a:schemeClr val="dk1"/>
              </a:solidFill>
              <a:latin typeface="Calibri"/>
              <a:ea typeface="Calibri"/>
              <a:cs typeface="Calibri"/>
              <a:sym typeface="Calibri"/>
            </a:endParaRPr>
          </a:p>
        </p:txBody>
      </p:sp>
      <p:sp>
        <p:nvSpPr>
          <p:cNvPr id="204" name="Google Shape;204;p15"/>
          <p:cNvSpPr/>
          <p:nvPr/>
        </p:nvSpPr>
        <p:spPr>
          <a:xfrm>
            <a:off x="571500" y="1371600"/>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Matsumoto and colleagues recorded inside morphologically identified tectal neurons in the grass frog, </a:t>
            </a:r>
            <a:r>
              <a:rPr b="1" i="0" lang="en-US" sz="1725" u="none" cap="none" strike="noStrike">
                <a:solidFill>
                  <a:srgbClr val="28242A"/>
                </a:solidFill>
                <a:latin typeface="Arial"/>
                <a:ea typeface="Arial"/>
                <a:cs typeface="Arial"/>
                <a:sym typeface="Arial"/>
              </a:rPr>
              <a:t>Rana temporaria</a:t>
            </a:r>
            <a:r>
              <a:rPr b="0" i="0" lang="en-US" sz="1725" u="none" cap="none" strike="noStrike">
                <a:solidFill>
                  <a:srgbClr val="28242A"/>
                </a:solidFill>
                <a:latin typeface="Arial"/>
                <a:ea typeface="Arial"/>
                <a:cs typeface="Arial"/>
                <a:sym typeface="Arial"/>
              </a:rPr>
              <a:t>, while presenting moving configurations. Intracellular voltage reveals synaptic events that extracellular spike counts cannot show.</a:t>
            </a:r>
            <a:endParaRPr b="0" i="0" sz="1800" u="none" cap="none" strike="noStrike">
              <a:solidFill>
                <a:schemeClr val="dk1"/>
              </a:solidFill>
              <a:latin typeface="Calibri"/>
              <a:ea typeface="Calibri"/>
              <a:cs typeface="Calibri"/>
              <a:sym typeface="Calibri"/>
            </a:endParaRPr>
          </a:p>
        </p:txBody>
      </p:sp>
      <p:sp>
        <p:nvSpPr>
          <p:cNvPr id="205" name="Google Shape;205;p15"/>
          <p:cNvSpPr/>
          <p:nvPr/>
        </p:nvSpPr>
        <p:spPr>
          <a:xfrm>
            <a:off x="571500" y="2696468"/>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In these T5.2 examples, wormlike motion produces depolarizing activity and spikes. Antiworm motion produces weaker excitation or a hyperpolarizing response. Each column shows a distinct response example.</a:t>
            </a:r>
            <a:endParaRPr b="0" i="0" sz="1800" u="none" cap="none" strike="noStrike">
              <a:solidFill>
                <a:schemeClr val="dk1"/>
              </a:solidFill>
              <a:latin typeface="Calibri"/>
              <a:ea typeface="Calibri"/>
              <a:cs typeface="Calibri"/>
              <a:sym typeface="Calibri"/>
            </a:endParaRPr>
          </a:p>
        </p:txBody>
      </p:sp>
      <p:sp>
        <p:nvSpPr>
          <p:cNvPr id="206" name="Google Shape;206;p15"/>
          <p:cNvSpPr/>
          <p:nvPr/>
        </p:nvSpPr>
        <p:spPr>
          <a:xfrm>
            <a:off x="571500" y="3771602"/>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An </a:t>
            </a:r>
            <a:r>
              <a:rPr b="1" i="0" lang="en-US" sz="1725" u="none" cap="none" strike="noStrike">
                <a:solidFill>
                  <a:srgbClr val="28242A"/>
                </a:solidFill>
                <a:latin typeface="Arial"/>
                <a:ea typeface="Arial"/>
                <a:cs typeface="Arial"/>
                <a:sym typeface="Arial"/>
              </a:rPr>
              <a:t>EPSP</a:t>
            </a:r>
            <a:r>
              <a:rPr b="0" i="0" lang="en-US" sz="1725" u="none" cap="none" strike="noStrike">
                <a:solidFill>
                  <a:srgbClr val="28242A"/>
                </a:solidFill>
                <a:latin typeface="Arial"/>
                <a:ea typeface="Arial"/>
                <a:cs typeface="Arial"/>
                <a:sym typeface="Arial"/>
              </a:rPr>
              <a:t>, or excitatory postsynaptic potential, moves voltage toward spike threshold. An </a:t>
            </a:r>
            <a:r>
              <a:rPr b="1" i="0" lang="en-US" sz="1725" u="none" cap="none" strike="noStrike">
                <a:solidFill>
                  <a:srgbClr val="28242A"/>
                </a:solidFill>
                <a:latin typeface="Arial"/>
                <a:ea typeface="Arial"/>
                <a:cs typeface="Arial"/>
                <a:sym typeface="Arial"/>
              </a:rPr>
              <a:t>IPSP</a:t>
            </a:r>
            <a:r>
              <a:rPr b="0" i="0" lang="en-US" sz="1725" u="none" cap="none" strike="noStrike">
                <a:solidFill>
                  <a:srgbClr val="28242A"/>
                </a:solidFill>
                <a:latin typeface="Arial"/>
                <a:ea typeface="Arial"/>
                <a:cs typeface="Arial"/>
                <a:sym typeface="Arial"/>
              </a:rPr>
              <a:t>, or inhibitory postsynaptic potential, reduces excitability by changing membrane conductance and, in these records, can move voltage more negative.</a:t>
            </a:r>
            <a:endParaRPr b="0" i="0" sz="1800" u="none" cap="none" strike="noStrike">
              <a:solidFill>
                <a:schemeClr val="dk1"/>
              </a:solidFill>
              <a:latin typeface="Calibri"/>
              <a:ea typeface="Calibri"/>
              <a:cs typeface="Calibri"/>
              <a:sym typeface="Calibri"/>
            </a:endParaRPr>
          </a:p>
        </p:txBody>
      </p:sp>
      <p:sp>
        <p:nvSpPr>
          <p:cNvPr id="207" name="Google Shape;207;p15"/>
          <p:cNvSpPr/>
          <p:nvPr/>
        </p:nvSpPr>
        <p:spPr>
          <a:xfrm>
            <a:off x="571500" y="509647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 </a:t>
            </a:r>
            <a:r>
              <a:rPr b="1" i="0" lang="en-US" sz="1725" u="none" cap="none" strike="noStrike">
                <a:solidFill>
                  <a:srgbClr val="28242A"/>
                </a:solidFill>
                <a:latin typeface="Arial"/>
                <a:ea typeface="Arial"/>
                <a:cs typeface="Arial"/>
                <a:sym typeface="Arial"/>
              </a:rPr>
              <a:t>5 mV and 0.5 s</a:t>
            </a:r>
            <a:r>
              <a:rPr b="0" i="0" lang="en-US" sz="1725" u="none" cap="none" strike="noStrike">
                <a:solidFill>
                  <a:srgbClr val="28242A"/>
                </a:solidFill>
                <a:latin typeface="Arial"/>
                <a:ea typeface="Arial"/>
                <a:cs typeface="Arial"/>
                <a:sym typeface="Arial"/>
              </a:rPr>
              <a:t> scale bars specify amplitude and time. These findings support synaptic construction of prey selectivity, but the visual recordings alone do not identify the inhibitory transmitter or the presynaptic cell class.</a:t>
            </a:r>
            <a:endParaRPr b="0" i="0" sz="1800" u="none" cap="none" strike="noStrike">
              <a:solidFill>
                <a:schemeClr val="dk1"/>
              </a:solidFill>
              <a:latin typeface="Calibri"/>
              <a:ea typeface="Calibri"/>
              <a:cs typeface="Calibri"/>
              <a:sym typeface="Calibri"/>
            </a:endParaRPr>
          </a:p>
        </p:txBody>
      </p:sp>
      <p:pic>
        <p:nvPicPr>
          <p:cNvPr id="208" name="Google Shape;208;p15"/>
          <p:cNvPicPr preferRelativeResize="0"/>
          <p:nvPr/>
        </p:nvPicPr>
        <p:blipFill rotWithShape="1">
          <a:blip r:embed="rId3">
            <a:alphaModFix/>
          </a:blip>
          <a:srcRect b="0" l="0" r="0" t="0"/>
          <a:stretch/>
        </p:blipFill>
        <p:spPr>
          <a:xfrm>
            <a:off x="7086600" y="2377071"/>
            <a:ext cx="4533900" cy="2179760"/>
          </a:xfrm>
          <a:prstGeom prst="rect">
            <a:avLst/>
          </a:prstGeom>
          <a:noFill/>
          <a:ln>
            <a:noFill/>
          </a:ln>
        </p:spPr>
      </p:pic>
      <p:sp>
        <p:nvSpPr>
          <p:cNvPr id="209" name="Google Shape;209;p15"/>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E545A"/>
              </a:buClr>
              <a:buSzPts val="1200"/>
              <a:buFont typeface="Arial"/>
              <a:buNone/>
            </a:pPr>
            <a:r>
              <a:rPr b="0" i="0" lang="en-US" sz="1200" u="none" cap="none" strike="noStrike">
                <a:solidFill>
                  <a:srgbClr val="5E545A"/>
                </a:solidFill>
                <a:latin typeface="Arial"/>
                <a:ea typeface="Arial"/>
                <a:cs typeface="Arial"/>
                <a:sym typeface="Arial"/>
              </a:rPr>
              <a:t>Matsumoto et al. (1986), intracellular grass-frog records, reproduced in Ewert (1995), Fig. 6C. Top: A; bottom: W.</a:t>
            </a:r>
            <a:endParaRPr b="0" i="0" sz="1800" u="none" cap="none" strike="noStrike">
              <a:solidFill>
                <a:schemeClr val="dk1"/>
              </a:solidFill>
              <a:latin typeface="Calibri"/>
              <a:ea typeface="Calibri"/>
              <a:cs typeface="Calibri"/>
              <a:sym typeface="Calibri"/>
            </a:endParaRPr>
          </a:p>
        </p:txBody>
      </p:sp>
      <p:pic>
        <p:nvPicPr>
          <p:cNvPr id="210" name="Google Shape;210;p15"/>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211" name="Google Shape;211;p15"/>
          <p:cNvSpPr/>
          <p:nvPr/>
        </p:nvSpPr>
        <p:spPr>
          <a:xfrm>
            <a:off x="571500" y="6434138"/>
            <a:ext cx="3014216"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Matsumoto et al. (1986); Figure: Ewert (1995)</a:t>
            </a:r>
            <a:endParaRPr b="0" i="0" sz="1800" u="none" cap="none" strike="noStrike">
              <a:solidFill>
                <a:schemeClr val="dk1"/>
              </a:solidFill>
              <a:latin typeface="Calibri"/>
              <a:ea typeface="Calibri"/>
              <a:cs typeface="Calibri"/>
              <a:sym typeface="Calibri"/>
            </a:endParaRPr>
          </a:p>
        </p:txBody>
      </p:sp>
      <p:sp>
        <p:nvSpPr>
          <p:cNvPr id="212" name="Google Shape;212;p15"/>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15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216" name="Shape 216"/>
        <p:cNvGrpSpPr/>
        <p:nvPr/>
      </p:nvGrpSpPr>
      <p:grpSpPr>
        <a:xfrm>
          <a:off x="0" y="0"/>
          <a:ext cx="0" cy="0"/>
          <a:chOff x="0" y="0"/>
          <a:chExt cx="0" cy="0"/>
        </a:xfrm>
      </p:grpSpPr>
      <p:sp>
        <p:nvSpPr>
          <p:cNvPr id="217" name="Google Shape;217;p16"/>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A moving background suppresses responses to prey cues</a:t>
            </a:r>
            <a:endParaRPr b="0" i="0" sz="1800" u="none" cap="none" strike="noStrike">
              <a:solidFill>
                <a:schemeClr val="dk1"/>
              </a:solidFill>
              <a:latin typeface="Calibri"/>
              <a:ea typeface="Calibri"/>
              <a:cs typeface="Calibri"/>
              <a:sym typeface="Calibri"/>
            </a:endParaRPr>
          </a:p>
        </p:txBody>
      </p:sp>
      <p:sp>
        <p:nvSpPr>
          <p:cNvPr id="218" name="Google Shape;218;p16"/>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Tsai and Ewert compared responses to a moving object against stationary and moving black–white textures. A stationary textured background produced little change in the tested neurons’ responses to black objects.</a:t>
            </a:r>
            <a:endParaRPr b="0" i="0" sz="1800" u="none" cap="none" strike="noStrike">
              <a:solidFill>
                <a:schemeClr val="dk1"/>
              </a:solidFill>
              <a:latin typeface="Calibri"/>
              <a:ea typeface="Calibri"/>
              <a:cs typeface="Calibri"/>
              <a:sym typeface="Calibri"/>
            </a:endParaRPr>
          </a:p>
        </p:txBody>
      </p:sp>
      <p:sp>
        <p:nvSpPr>
          <p:cNvPr id="219" name="Google Shape;219;p16"/>
          <p:cNvSpPr/>
          <p:nvPr/>
        </p:nvSpPr>
        <p:spPr>
          <a:xfrm>
            <a:off x="571500" y="2434233"/>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When the background moved with the object at the same speed, responses declined. Suppression was strongest in </a:t>
            </a:r>
            <a:r>
              <a:rPr b="1" i="0" lang="en-US" sz="1800" u="none" cap="none" strike="noStrike">
                <a:solidFill>
                  <a:srgbClr val="28242A"/>
                </a:solidFill>
                <a:latin typeface="Arial"/>
                <a:ea typeface="Arial"/>
                <a:cs typeface="Arial"/>
                <a:sym typeface="Arial"/>
              </a:rPr>
              <a:t>T5.2 neurons</a:t>
            </a:r>
            <a:r>
              <a:rPr b="0" i="0" lang="en-US" sz="1800" u="none" cap="none" strike="noStrike">
                <a:solidFill>
                  <a:srgbClr val="28242A"/>
                </a:solidFill>
                <a:latin typeface="Arial"/>
                <a:ea typeface="Arial"/>
                <a:cs typeface="Arial"/>
                <a:sym typeface="Arial"/>
              </a:rPr>
              <a:t> and weakest in retinal R3 neurons among the classes compared.</a:t>
            </a:r>
            <a:endParaRPr b="0" i="0" sz="1800" u="none" cap="none" strike="noStrike">
              <a:solidFill>
                <a:schemeClr val="dk1"/>
              </a:solidFill>
              <a:latin typeface="Calibri"/>
              <a:ea typeface="Calibri"/>
              <a:cs typeface="Calibri"/>
              <a:sym typeface="Calibri"/>
            </a:endParaRPr>
          </a:p>
        </p:txBody>
      </p:sp>
      <p:sp>
        <p:nvSpPr>
          <p:cNvPr id="220" name="Google Shape;220;p16"/>
          <p:cNvSpPr/>
          <p:nvPr/>
        </p:nvSpPr>
        <p:spPr>
          <a:xfrm>
            <a:off x="571500" y="3142655"/>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This control separates object motion from broad image motion. When a toad moves, many stationary environmental features shift across the retina together. A response to local movement alone would confuse these features with independently moving prey.</a:t>
            </a:r>
            <a:endParaRPr b="0" i="0" sz="1800" u="none" cap="none" strike="noStrike">
              <a:solidFill>
                <a:schemeClr val="dk1"/>
              </a:solidFill>
              <a:latin typeface="Calibri"/>
              <a:ea typeface="Calibri"/>
              <a:cs typeface="Calibri"/>
              <a:sym typeface="Calibri"/>
            </a:endParaRPr>
          </a:p>
        </p:txBody>
      </p:sp>
      <p:sp>
        <p:nvSpPr>
          <p:cNvPr id="221" name="Google Shape;221;p16"/>
          <p:cNvSpPr/>
          <p:nvPr/>
        </p:nvSpPr>
        <p:spPr>
          <a:xfrm>
            <a:off x="571500" y="414813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authors proposed pretectotectal inhibition as a source of masking. The recordings establish differential suppression across processing stages. Assigning the complete effect to one pathway requires additional manipulations of that pathway.</a:t>
            </a:r>
            <a:endParaRPr b="0" i="0" sz="1800" u="none" cap="none" strike="noStrike">
              <a:solidFill>
                <a:schemeClr val="dk1"/>
              </a:solidFill>
              <a:latin typeface="Calibri"/>
              <a:ea typeface="Calibri"/>
              <a:cs typeface="Calibri"/>
              <a:sym typeface="Calibri"/>
            </a:endParaRPr>
          </a:p>
        </p:txBody>
      </p:sp>
      <p:pic>
        <p:nvPicPr>
          <p:cNvPr id="222" name="Google Shape;222;p16"/>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223" name="Google Shape;223;p16"/>
          <p:cNvSpPr/>
          <p:nvPr/>
        </p:nvSpPr>
        <p:spPr>
          <a:xfrm>
            <a:off x="571500" y="6434138"/>
            <a:ext cx="1287066"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Tsai &amp; Ewert (1988)</a:t>
            </a:r>
            <a:endParaRPr b="0" i="0" sz="1800" u="none" cap="none" strike="noStrike">
              <a:solidFill>
                <a:schemeClr val="dk1"/>
              </a:solidFill>
              <a:latin typeface="Calibri"/>
              <a:ea typeface="Calibri"/>
              <a:cs typeface="Calibri"/>
              <a:sym typeface="Calibri"/>
            </a:endParaRPr>
          </a:p>
        </p:txBody>
      </p:sp>
      <p:sp>
        <p:nvSpPr>
          <p:cNvPr id="224" name="Google Shape;224;p16"/>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16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228" name="Shape 228"/>
        <p:cNvGrpSpPr/>
        <p:nvPr/>
      </p:nvGrpSpPr>
      <p:grpSpPr>
        <a:xfrm>
          <a:off x="0" y="0"/>
          <a:ext cx="0" cy="0"/>
          <a:chOff x="0" y="0"/>
          <a:chExt cx="0" cy="0"/>
        </a:xfrm>
      </p:grpSpPr>
      <p:sp>
        <p:nvSpPr>
          <p:cNvPr id="229" name="Google Shape;229;p17"/>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Contrast determines which end of a bar attracts attack</a:t>
            </a:r>
            <a:endParaRPr b="0" i="0" sz="1800" u="none" cap="none" strike="noStrike">
              <a:solidFill>
                <a:schemeClr val="dk1"/>
              </a:solidFill>
              <a:latin typeface="Calibri"/>
              <a:ea typeface="Calibri"/>
              <a:cs typeface="Calibri"/>
              <a:sym typeface="Calibri"/>
            </a:endParaRPr>
          </a:p>
        </p:txBody>
      </p:sp>
      <p:sp>
        <p:nvSpPr>
          <p:cNvPr id="230" name="Google Shape;230;p17"/>
          <p:cNvSpPr/>
          <p:nvPr/>
        </p:nvSpPr>
        <p:spPr>
          <a:xfrm>
            <a:off x="571500" y="1428750"/>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Burghagen and Ewert presented wormlike moving stripes and measured where toads fixated and snapped. A </a:t>
            </a:r>
            <a:r>
              <a:rPr b="1" i="0" lang="en-US" sz="1800" u="none" cap="none" strike="noStrike">
                <a:solidFill>
                  <a:srgbClr val="28242A"/>
                </a:solidFill>
                <a:latin typeface="Arial"/>
                <a:ea typeface="Arial"/>
                <a:cs typeface="Arial"/>
                <a:sym typeface="Arial"/>
              </a:rPr>
              <a:t>black stripe on a white background</a:t>
            </a:r>
            <a:r>
              <a:rPr b="0" i="0" lang="en-US" sz="1800" u="none" cap="none" strike="noStrike">
                <a:solidFill>
                  <a:srgbClr val="28242A"/>
                </a:solidFill>
                <a:latin typeface="Arial"/>
                <a:ea typeface="Arial"/>
                <a:cs typeface="Arial"/>
                <a:sym typeface="Arial"/>
              </a:rPr>
              <a:t> attracted responses toward its leading end.</a:t>
            </a:r>
            <a:endParaRPr b="0" i="0" sz="1800" u="none" cap="none" strike="noStrike">
              <a:solidFill>
                <a:schemeClr val="dk1"/>
              </a:solidFill>
              <a:latin typeface="Calibri"/>
              <a:ea typeface="Calibri"/>
              <a:cs typeface="Calibri"/>
              <a:sym typeface="Calibri"/>
            </a:endParaRPr>
          </a:p>
        </p:txBody>
      </p:sp>
      <p:sp>
        <p:nvSpPr>
          <p:cNvPr id="231" name="Google Shape;231;p17"/>
          <p:cNvSpPr/>
          <p:nvPr/>
        </p:nvSpPr>
        <p:spPr>
          <a:xfrm>
            <a:off x="571500" y="2137172"/>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Reversing contrast produced the critical result: a </a:t>
            </a:r>
            <a:r>
              <a:rPr b="1" i="0" lang="en-US" sz="1800" u="none" cap="none" strike="noStrike">
                <a:solidFill>
                  <a:srgbClr val="28242A"/>
                </a:solidFill>
                <a:latin typeface="Arial"/>
                <a:ea typeface="Arial"/>
                <a:cs typeface="Arial"/>
                <a:sym typeface="Arial"/>
              </a:rPr>
              <a:t>white stripe on a black background</a:t>
            </a:r>
            <a:r>
              <a:rPr b="0" i="0" lang="en-US" sz="1800" u="none" cap="none" strike="noStrike">
                <a:solidFill>
                  <a:srgbClr val="28242A"/>
                </a:solidFill>
                <a:latin typeface="Arial"/>
                <a:ea typeface="Arial"/>
                <a:cs typeface="Arial"/>
                <a:sym typeface="Arial"/>
              </a:rPr>
              <a:t> attracted responses toward its trailing end. The preference followed the contrast transition, even though the same physical end could still lead the motion.</a:t>
            </a:r>
            <a:endParaRPr b="0" i="0" sz="1800" u="none" cap="none" strike="noStrike">
              <a:solidFill>
                <a:schemeClr val="dk1"/>
              </a:solidFill>
              <a:latin typeface="Calibri"/>
              <a:ea typeface="Calibri"/>
              <a:cs typeface="Calibri"/>
              <a:sym typeface="Calibri"/>
            </a:endParaRPr>
          </a:p>
        </p:txBody>
      </p:sp>
      <p:sp>
        <p:nvSpPr>
          <p:cNvPr id="232" name="Google Shape;232;p17"/>
          <p:cNvSpPr/>
          <p:nvPr/>
        </p:nvSpPr>
        <p:spPr>
          <a:xfrm>
            <a:off x="571500" y="3142655"/>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This experiment challenges an interpretation in which a toad recognizes an anatomical “head” in an elongated dummy. The artificial target has no head, and its preferred end changes with luminance arrangement.</a:t>
            </a:r>
            <a:endParaRPr b="0" i="0" sz="1800" u="none" cap="none" strike="noStrike">
              <a:solidFill>
                <a:schemeClr val="dk1"/>
              </a:solidFill>
              <a:latin typeface="Calibri"/>
              <a:ea typeface="Calibri"/>
              <a:cs typeface="Calibri"/>
              <a:sym typeface="Calibri"/>
            </a:endParaRPr>
          </a:p>
        </p:txBody>
      </p:sp>
      <p:sp>
        <p:nvSpPr>
          <p:cNvPr id="233" name="Google Shape;233;p17"/>
          <p:cNvSpPr/>
          <p:nvPr/>
        </p:nvSpPr>
        <p:spPr>
          <a:xfrm>
            <a:off x="571500" y="414813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useful positional cue is therefore a visual boundary with a particular contrast history. Shape classification and localization interact, because a neuron must both respond to an effective object and indicate a suitable point toward which the animal can aim.</a:t>
            </a:r>
            <a:endParaRPr b="0" i="0" sz="1800" u="none" cap="none" strike="noStrike">
              <a:solidFill>
                <a:schemeClr val="dk1"/>
              </a:solidFill>
              <a:latin typeface="Calibri"/>
              <a:ea typeface="Calibri"/>
              <a:cs typeface="Calibri"/>
              <a:sym typeface="Calibri"/>
            </a:endParaRPr>
          </a:p>
        </p:txBody>
      </p:sp>
      <p:pic>
        <p:nvPicPr>
          <p:cNvPr id="234" name="Google Shape;234;p17"/>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235" name="Google Shape;235;p17"/>
          <p:cNvSpPr/>
          <p:nvPr/>
        </p:nvSpPr>
        <p:spPr>
          <a:xfrm>
            <a:off x="571500" y="6434138"/>
            <a:ext cx="1782514"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Burghagen &amp; Ewert (1982)</a:t>
            </a:r>
            <a:endParaRPr b="0" i="0" sz="1800" u="none" cap="none" strike="noStrike">
              <a:solidFill>
                <a:schemeClr val="dk1"/>
              </a:solidFill>
              <a:latin typeface="Calibri"/>
              <a:ea typeface="Calibri"/>
              <a:cs typeface="Calibri"/>
              <a:sym typeface="Calibri"/>
            </a:endParaRPr>
          </a:p>
        </p:txBody>
      </p:sp>
      <p:sp>
        <p:nvSpPr>
          <p:cNvPr id="236" name="Google Shape;236;p17"/>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17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240" name="Shape 240"/>
        <p:cNvGrpSpPr/>
        <p:nvPr/>
      </p:nvGrpSpPr>
      <p:grpSpPr>
        <a:xfrm>
          <a:off x="0" y="0"/>
          <a:ext cx="0" cy="0"/>
          <a:chOff x="0" y="0"/>
          <a:chExt cx="0" cy="0"/>
        </a:xfrm>
      </p:grpSpPr>
      <p:sp>
        <p:nvSpPr>
          <p:cNvPr id="241" name="Google Shape;241;p18"/>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T5.2 edge-response ratios parallel the aiming bias</a:t>
            </a:r>
            <a:endParaRPr b="0" i="0" sz="1800" u="none" cap="none" strike="noStrike">
              <a:solidFill>
                <a:schemeClr val="dk1"/>
              </a:solidFill>
              <a:latin typeface="Calibri"/>
              <a:ea typeface="Calibri"/>
              <a:cs typeface="Calibri"/>
              <a:sym typeface="Calibri"/>
            </a:endParaRPr>
          </a:p>
        </p:txBody>
      </p:sp>
      <p:sp>
        <p:nvSpPr>
          <p:cNvPr id="242" name="Google Shape;242;p18"/>
          <p:cNvSpPr/>
          <p:nvPr/>
        </p:nvSpPr>
        <p:spPr>
          <a:xfrm>
            <a:off x="571500" y="1362075"/>
            <a:ext cx="11068050" cy="557510"/>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Tsai and Ewert recorded responses to the leading and trailing edges of a </a:t>
            </a:r>
            <a:r>
              <a:rPr b="1" i="0" lang="en-US" sz="1800" u="none" cap="none" strike="noStrike">
                <a:solidFill>
                  <a:srgbClr val="28242A"/>
                </a:solidFill>
                <a:latin typeface="Arial"/>
                <a:ea typeface="Arial"/>
                <a:cs typeface="Arial"/>
                <a:sym typeface="Arial"/>
              </a:rPr>
              <a:t>3° × 30° moving stripe</a:t>
            </a:r>
            <a:r>
              <a:rPr b="0" i="0" lang="en-US" sz="1800" u="none" cap="none" strike="noStrike">
                <a:solidFill>
                  <a:srgbClr val="28242A"/>
                </a:solidFill>
                <a:latin typeface="Arial"/>
                <a:ea typeface="Arial"/>
                <a:cs typeface="Arial"/>
                <a:sym typeface="Arial"/>
              </a:rPr>
              <a:t>. The table gives the reported leading:trailing response ratios, normalized to a trailing response of 1.</a:t>
            </a:r>
            <a:endParaRPr b="0" i="0" sz="1800" u="none" cap="none" strike="noStrike">
              <a:solidFill>
                <a:schemeClr val="dk1"/>
              </a:solidFill>
              <a:latin typeface="Calibri"/>
              <a:ea typeface="Calibri"/>
              <a:cs typeface="Calibri"/>
              <a:sym typeface="Calibri"/>
            </a:endParaRPr>
          </a:p>
        </p:txBody>
      </p:sp>
      <p:sp>
        <p:nvSpPr>
          <p:cNvPr id="243" name="Google Shape;243;p18"/>
          <p:cNvSpPr/>
          <p:nvPr/>
        </p:nvSpPr>
        <p:spPr>
          <a:xfrm>
            <a:off x="571500" y="2005310"/>
            <a:ext cx="11068050" cy="557510"/>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For T5.2 neurons, contrast reversal changes a strong leading-edge preference into a trailing-edge preference. Retinal R3 responses show a related bias, whereas R2 responses are closer to equal.</a:t>
            </a:r>
            <a:endParaRPr b="0" i="0" sz="1800" u="none" cap="none" strike="noStrike">
              <a:solidFill>
                <a:schemeClr val="dk1"/>
              </a:solidFill>
              <a:latin typeface="Calibri"/>
              <a:ea typeface="Calibri"/>
              <a:cs typeface="Calibri"/>
              <a:sym typeface="Calibri"/>
            </a:endParaRPr>
          </a:p>
        </p:txBody>
      </p:sp>
      <p:sp>
        <p:nvSpPr>
          <p:cNvPr id="244" name="Google Shape;244;p18"/>
          <p:cNvSpPr/>
          <p:nvPr/>
        </p:nvSpPr>
        <p:spPr>
          <a:xfrm>
            <a:off x="571500" y="2648545"/>
            <a:ext cx="11068050" cy="836265"/>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These ratios compare responses within each cell class and contrast condition. They are not absolute firing rates and cannot be used to rank total spike output across classes. The edge asymmetry remained independent of horizontal movement direction in the tested conditions.</a:t>
            </a:r>
            <a:endParaRPr b="0" i="0" sz="1800" u="none" cap="none" strike="noStrike">
              <a:solidFill>
                <a:schemeClr val="dk1"/>
              </a:solidFill>
              <a:latin typeface="Calibri"/>
              <a:ea typeface="Calibri"/>
              <a:cs typeface="Calibri"/>
              <a:sym typeface="Calibri"/>
            </a:endParaRPr>
          </a:p>
        </p:txBody>
      </p:sp>
      <p:pic>
        <p:nvPicPr>
          <p:cNvPr id="245" name="Google Shape;245;p18"/>
          <p:cNvPicPr preferRelativeResize="0"/>
          <p:nvPr/>
        </p:nvPicPr>
        <p:blipFill rotWithShape="1">
          <a:blip r:embed="rId3">
            <a:alphaModFix/>
          </a:blip>
          <a:srcRect b="0" l="0" r="0" t="0"/>
          <a:stretch/>
        </p:blipFill>
        <p:spPr>
          <a:xfrm>
            <a:off x="571500" y="3618161"/>
            <a:ext cx="11049000" cy="1743670"/>
          </a:xfrm>
          <a:prstGeom prst="rect">
            <a:avLst/>
          </a:prstGeom>
          <a:noFill/>
          <a:ln>
            <a:noFill/>
          </a:ln>
        </p:spPr>
      </p:pic>
      <p:pic>
        <p:nvPicPr>
          <p:cNvPr id="246" name="Google Shape;246;p18"/>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247" name="Google Shape;247;p18"/>
          <p:cNvSpPr/>
          <p:nvPr/>
        </p:nvSpPr>
        <p:spPr>
          <a:xfrm>
            <a:off x="571500" y="6434138"/>
            <a:ext cx="1287066"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Tsai &amp; Ewert (1987)</a:t>
            </a:r>
            <a:endParaRPr b="0" i="0" sz="1800" u="none" cap="none" strike="noStrike">
              <a:solidFill>
                <a:schemeClr val="dk1"/>
              </a:solidFill>
              <a:latin typeface="Calibri"/>
              <a:ea typeface="Calibri"/>
              <a:cs typeface="Calibri"/>
              <a:sym typeface="Calibri"/>
            </a:endParaRPr>
          </a:p>
        </p:txBody>
      </p:sp>
      <p:sp>
        <p:nvSpPr>
          <p:cNvPr id="248" name="Google Shape;248;p18"/>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18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252" name="Shape 252"/>
        <p:cNvGrpSpPr/>
        <p:nvPr/>
      </p:nvGrpSpPr>
      <p:grpSpPr>
        <a:xfrm>
          <a:off x="0" y="0"/>
          <a:ext cx="0" cy="0"/>
          <a:chOff x="0" y="0"/>
          <a:chExt cx="0" cy="0"/>
        </a:xfrm>
      </p:grpSpPr>
      <p:sp>
        <p:nvSpPr>
          <p:cNvPr id="253" name="Google Shape;253;p19"/>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Tectal stimulation can release spatially directed behavior</a:t>
            </a:r>
            <a:endParaRPr b="0" i="0" sz="1800" u="none" cap="none" strike="noStrike">
              <a:solidFill>
                <a:schemeClr val="dk1"/>
              </a:solidFill>
              <a:latin typeface="Calibri"/>
              <a:ea typeface="Calibri"/>
              <a:cs typeface="Calibri"/>
              <a:sym typeface="Calibri"/>
            </a:endParaRPr>
          </a:p>
        </p:txBody>
      </p:sp>
      <p:sp>
        <p:nvSpPr>
          <p:cNvPr id="254" name="Google Shape;254;p19"/>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Ewert electrically stimulated localized midbrain sites in freely moving common toads. Tectal stimulation could elicit prey-oriented turning, and stimulation in appropriate regions could also release snapping without a visible prey object.</a:t>
            </a:r>
            <a:endParaRPr b="0" i="0" sz="1800" u="none" cap="none" strike="noStrike">
              <a:solidFill>
                <a:schemeClr val="dk1"/>
              </a:solidFill>
              <a:latin typeface="Calibri"/>
              <a:ea typeface="Calibri"/>
              <a:cs typeface="Calibri"/>
              <a:sym typeface="Calibri"/>
            </a:endParaRPr>
          </a:p>
        </p:txBody>
      </p:sp>
      <p:sp>
        <p:nvSpPr>
          <p:cNvPr id="255" name="Google Shape;255;p19"/>
          <p:cNvSpPr/>
          <p:nvPr/>
        </p:nvSpPr>
        <p:spPr>
          <a:xfrm>
            <a:off x="571500" y="2434233"/>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direction of an evoked orienting response depended on the stimulated location in the tectal representation. This relates a sensory map to a spatially directed motor output.</a:t>
            </a:r>
            <a:endParaRPr b="0" i="0" sz="1800" u="none" cap="none" strike="noStrike">
              <a:solidFill>
                <a:schemeClr val="dk1"/>
              </a:solidFill>
              <a:latin typeface="Calibri"/>
              <a:ea typeface="Calibri"/>
              <a:cs typeface="Calibri"/>
              <a:sym typeface="Calibri"/>
            </a:endParaRPr>
          </a:p>
        </p:txBody>
      </p:sp>
      <p:sp>
        <p:nvSpPr>
          <p:cNvPr id="256" name="Google Shape;256;p19"/>
          <p:cNvSpPr/>
          <p:nvPr/>
        </p:nvSpPr>
        <p:spPr>
          <a:xfrm>
            <a:off x="571500" y="3142655"/>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Electrical stimulation supplies a </a:t>
            </a:r>
            <a:r>
              <a:rPr b="1" i="0" lang="en-US" sz="1800" u="none" cap="none" strike="noStrike">
                <a:solidFill>
                  <a:srgbClr val="28242A"/>
                </a:solidFill>
                <a:latin typeface="Arial"/>
                <a:ea typeface="Arial"/>
                <a:cs typeface="Arial"/>
                <a:sym typeface="Arial"/>
              </a:rPr>
              <a:t>sufficiency test</a:t>
            </a:r>
            <a:r>
              <a:rPr b="0" i="0" lang="en-US" sz="1800" u="none" cap="none" strike="noStrike">
                <a:solidFill>
                  <a:srgbClr val="28242A"/>
                </a:solidFill>
                <a:latin typeface="Arial"/>
                <a:ea typeface="Arial"/>
                <a:cs typeface="Arial"/>
                <a:sym typeface="Arial"/>
              </a:rPr>
              <a:t> at the level of the activated tissue: excitation there can recruit the behavior. Comparison across stimulation sites helps separate spatial organization from a general increase in movement.</a:t>
            </a:r>
            <a:endParaRPr b="0" i="0" sz="1800" u="none" cap="none" strike="noStrike">
              <a:solidFill>
                <a:schemeClr val="dk1"/>
              </a:solidFill>
              <a:latin typeface="Calibri"/>
              <a:ea typeface="Calibri"/>
              <a:cs typeface="Calibri"/>
              <a:sym typeface="Calibri"/>
            </a:endParaRPr>
          </a:p>
        </p:txBody>
      </p:sp>
      <p:sp>
        <p:nvSpPr>
          <p:cNvPr id="257" name="Google Shape;257;p19"/>
          <p:cNvSpPr/>
          <p:nvPr/>
        </p:nvSpPr>
        <p:spPr>
          <a:xfrm>
            <a:off x="571500" y="414813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Current can activate multiple neurons and passing axons. Consequently, an evoked snap does not prove that one T5.2 cell normally commands the entire action, or that the stimulated region contains every neuron required to generate the tongue’s muscle sequence.</a:t>
            </a:r>
            <a:endParaRPr b="0" i="0" sz="1800" u="none" cap="none" strike="noStrike">
              <a:solidFill>
                <a:schemeClr val="dk1"/>
              </a:solidFill>
              <a:latin typeface="Calibri"/>
              <a:ea typeface="Calibri"/>
              <a:cs typeface="Calibri"/>
              <a:sym typeface="Calibri"/>
            </a:endParaRPr>
          </a:p>
        </p:txBody>
      </p:sp>
      <p:pic>
        <p:nvPicPr>
          <p:cNvPr id="258" name="Google Shape;258;p19"/>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259" name="Google Shape;259;p19"/>
          <p:cNvSpPr/>
          <p:nvPr/>
        </p:nvSpPr>
        <p:spPr>
          <a:xfrm>
            <a:off x="571500" y="6434138"/>
            <a:ext cx="1759893"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Ewert (1967); Ewert (1970)</a:t>
            </a:r>
            <a:endParaRPr b="0" i="0" sz="1800" u="none" cap="none" strike="noStrike">
              <a:solidFill>
                <a:schemeClr val="dk1"/>
              </a:solidFill>
              <a:latin typeface="Calibri"/>
              <a:ea typeface="Calibri"/>
              <a:cs typeface="Calibri"/>
              <a:sym typeface="Calibri"/>
            </a:endParaRPr>
          </a:p>
        </p:txBody>
      </p:sp>
      <p:sp>
        <p:nvSpPr>
          <p:cNvPr id="260" name="Google Shape;260;p19"/>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19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264" name="Shape 264"/>
        <p:cNvGrpSpPr/>
        <p:nvPr/>
      </p:nvGrpSpPr>
      <p:grpSpPr>
        <a:xfrm>
          <a:off x="0" y="0"/>
          <a:ext cx="0" cy="0"/>
          <a:chOff x="0" y="0"/>
          <a:chExt cx="0" cy="0"/>
        </a:xfrm>
      </p:grpSpPr>
      <p:sp>
        <p:nvSpPr>
          <p:cNvPr id="265" name="Google Shape;265;p20"/>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Pretectal lesions broaden tectal visual responses</a:t>
            </a:r>
            <a:endParaRPr b="0" i="0" sz="1800" u="none" cap="none" strike="noStrike">
              <a:solidFill>
                <a:schemeClr val="dk1"/>
              </a:solidFill>
              <a:latin typeface="Calibri"/>
              <a:ea typeface="Calibri"/>
              <a:cs typeface="Calibri"/>
              <a:sym typeface="Calibri"/>
            </a:endParaRPr>
          </a:p>
        </p:txBody>
      </p:sp>
      <p:sp>
        <p:nvSpPr>
          <p:cNvPr id="266" name="Google Shape;266;p20"/>
          <p:cNvSpPr/>
          <p:nvPr/>
        </p:nvSpPr>
        <p:spPr>
          <a:xfrm>
            <a:off x="571500" y="137160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These recordings compare the same toad T5.2 neuron before and after an ipsilateral pretectal lesion. Before the lesion, wormlike motion produces a much stronger response than antiworm motion.</a:t>
            </a:r>
            <a:endParaRPr b="0" i="0" sz="1800" u="none" cap="none" strike="noStrike">
              <a:solidFill>
                <a:schemeClr val="dk1"/>
              </a:solidFill>
              <a:latin typeface="Calibri"/>
              <a:ea typeface="Calibri"/>
              <a:cs typeface="Calibri"/>
              <a:sym typeface="Calibri"/>
            </a:endParaRPr>
          </a:p>
        </p:txBody>
      </p:sp>
      <p:sp>
        <p:nvSpPr>
          <p:cNvPr id="267" name="Google Shape;267;p20"/>
          <p:cNvSpPr/>
          <p:nvPr/>
        </p:nvSpPr>
        <p:spPr>
          <a:xfrm>
            <a:off x="571500" y="2446734"/>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After the lesion, the antiworm stimulus elicits substantial firing. The manipulation changes </a:t>
            </a:r>
            <a:r>
              <a:rPr b="1" i="0" lang="en-US" sz="1725" u="none" cap="none" strike="noStrike">
                <a:solidFill>
                  <a:srgbClr val="28242A"/>
                </a:solidFill>
                <a:latin typeface="Arial"/>
                <a:ea typeface="Arial"/>
                <a:cs typeface="Arial"/>
                <a:sym typeface="Arial"/>
              </a:rPr>
              <a:t>stimulus selectivity</a:t>
            </a:r>
            <a:r>
              <a:rPr b="0" i="0" lang="en-US" sz="1725" u="none" cap="none" strike="noStrike">
                <a:solidFill>
                  <a:srgbClr val="28242A"/>
                </a:solidFill>
                <a:latin typeface="Arial"/>
                <a:ea typeface="Arial"/>
                <a:cs typeface="Arial"/>
                <a:sym typeface="Arial"/>
              </a:rPr>
              <a:t>, rather than merely removing the capacity to respond visually.</a:t>
            </a:r>
            <a:endParaRPr b="0" i="0" sz="1800" u="none" cap="none" strike="noStrike">
              <a:solidFill>
                <a:schemeClr val="dk1"/>
              </a:solidFill>
              <a:latin typeface="Calibri"/>
              <a:ea typeface="Calibri"/>
              <a:cs typeface="Calibri"/>
              <a:sym typeface="Calibri"/>
            </a:endParaRPr>
          </a:p>
        </p:txBody>
      </p:sp>
      <p:sp>
        <p:nvSpPr>
          <p:cNvPr id="268" name="Google Shape;268;p20"/>
          <p:cNvSpPr/>
          <p:nvPr/>
        </p:nvSpPr>
        <p:spPr>
          <a:xfrm>
            <a:off x="571500" y="3521869"/>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Behavioral lesion experiments likewise found excessive prey-oriented responses to moving objects that intact animals usually reject. Preserving tectal responsiveness while weakening discrimination supports an inhibitory contribution from the pretectal region.</a:t>
            </a:r>
            <a:endParaRPr b="0" i="0" sz="1800" u="none" cap="none" strike="noStrike">
              <a:solidFill>
                <a:schemeClr val="dk1"/>
              </a:solidFill>
              <a:latin typeface="Calibri"/>
              <a:ea typeface="Calibri"/>
              <a:cs typeface="Calibri"/>
              <a:sym typeface="Calibri"/>
            </a:endParaRPr>
          </a:p>
        </p:txBody>
      </p:sp>
      <p:sp>
        <p:nvSpPr>
          <p:cNvPr id="269" name="Google Shape;269;p20"/>
          <p:cNvSpPr/>
          <p:nvPr/>
        </p:nvSpPr>
        <p:spPr>
          <a:xfrm>
            <a:off x="571500" y="4846737"/>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 within-neuron comparison is especially useful because electrode location and the tested stimuli remain comparable. A regional lesion can interrupt several cell types or axons, however, so its effects do not identify a unique inhibitory synapse.</a:t>
            </a:r>
            <a:endParaRPr b="0" i="0" sz="1800" u="none" cap="none" strike="noStrike">
              <a:solidFill>
                <a:schemeClr val="dk1"/>
              </a:solidFill>
              <a:latin typeface="Calibri"/>
              <a:ea typeface="Calibri"/>
              <a:cs typeface="Calibri"/>
              <a:sym typeface="Calibri"/>
            </a:endParaRPr>
          </a:p>
        </p:txBody>
      </p:sp>
      <p:pic>
        <p:nvPicPr>
          <p:cNvPr id="270" name="Google Shape;270;p20"/>
          <p:cNvPicPr preferRelativeResize="0"/>
          <p:nvPr/>
        </p:nvPicPr>
        <p:blipFill rotWithShape="1">
          <a:blip r:embed="rId3">
            <a:alphaModFix/>
          </a:blip>
          <a:srcRect b="0" l="0" r="0" t="0"/>
          <a:stretch/>
        </p:blipFill>
        <p:spPr>
          <a:xfrm>
            <a:off x="7086600" y="2651163"/>
            <a:ext cx="4533900" cy="1631576"/>
          </a:xfrm>
          <a:prstGeom prst="rect">
            <a:avLst/>
          </a:prstGeom>
          <a:noFill/>
          <a:ln>
            <a:noFill/>
          </a:ln>
        </p:spPr>
      </p:pic>
      <p:sp>
        <p:nvSpPr>
          <p:cNvPr id="271" name="Google Shape;271;p20"/>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E545A"/>
              </a:buClr>
              <a:buSzPts val="1200"/>
              <a:buFont typeface="Arial"/>
              <a:buNone/>
            </a:pPr>
            <a:r>
              <a:rPr b="0" i="0" lang="en-US" sz="1200" u="none" cap="none" strike="noStrike">
                <a:solidFill>
                  <a:srgbClr val="5E545A"/>
                </a:solidFill>
                <a:latin typeface="Arial"/>
                <a:ea typeface="Arial"/>
                <a:cs typeface="Arial"/>
                <a:sym typeface="Arial"/>
              </a:rPr>
              <a:t>T5.2 responses before (a) and after (b) pretectal lesion: Ewert (1995), Fig. 6B. W above, A below; original 1 s scale.</a:t>
            </a:r>
            <a:endParaRPr b="0" i="0" sz="1800" u="none" cap="none" strike="noStrike">
              <a:solidFill>
                <a:schemeClr val="dk1"/>
              </a:solidFill>
              <a:latin typeface="Calibri"/>
              <a:ea typeface="Calibri"/>
              <a:cs typeface="Calibri"/>
              <a:sym typeface="Calibri"/>
            </a:endParaRPr>
          </a:p>
        </p:txBody>
      </p:sp>
      <p:pic>
        <p:nvPicPr>
          <p:cNvPr id="272" name="Google Shape;272;p20"/>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273" name="Google Shape;273;p20"/>
          <p:cNvSpPr/>
          <p:nvPr/>
        </p:nvSpPr>
        <p:spPr>
          <a:xfrm>
            <a:off x="571500" y="6434138"/>
            <a:ext cx="4480024"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Ewert &amp; von Wietersheim (1974); Ewert (1969); Figure: Ewert (1995)</a:t>
            </a:r>
            <a:endParaRPr b="0" i="0" sz="1800" u="none" cap="none" strike="noStrike">
              <a:solidFill>
                <a:schemeClr val="dk1"/>
              </a:solidFill>
              <a:latin typeface="Calibri"/>
              <a:ea typeface="Calibri"/>
              <a:cs typeface="Calibri"/>
              <a:sym typeface="Calibri"/>
            </a:endParaRPr>
          </a:p>
        </p:txBody>
      </p:sp>
      <p:sp>
        <p:nvSpPr>
          <p:cNvPr id="274" name="Google Shape;274;p20"/>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20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278" name="Shape 278"/>
        <p:cNvGrpSpPr/>
        <p:nvPr/>
      </p:nvGrpSpPr>
      <p:grpSpPr>
        <a:xfrm>
          <a:off x="0" y="0"/>
          <a:ext cx="0" cy="0"/>
          <a:chOff x="0" y="0"/>
          <a:chExt cx="0" cy="0"/>
        </a:xfrm>
      </p:grpSpPr>
      <p:sp>
        <p:nvSpPr>
          <p:cNvPr id="279" name="Google Shape;279;p21"/>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Pretectal stimulation evokes inhibitory synaptic potentials</a:t>
            </a:r>
            <a:endParaRPr b="0" i="0" sz="1800" u="none" cap="none" strike="noStrike">
              <a:solidFill>
                <a:schemeClr val="dk1"/>
              </a:solidFill>
              <a:latin typeface="Calibri"/>
              <a:ea typeface="Calibri"/>
              <a:cs typeface="Calibri"/>
              <a:sym typeface="Calibri"/>
            </a:endParaRPr>
          </a:p>
        </p:txBody>
      </p:sp>
      <p:sp>
        <p:nvSpPr>
          <p:cNvPr id="280" name="Google Shape;280;p21"/>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Kang and Li stimulated pretectal nuclei while recording intracellularly from the ipsilateral optic tectum of adult bullfrogs, </a:t>
            </a:r>
            <a:r>
              <a:rPr b="1" i="0" lang="en-US" sz="1800" u="none" cap="none" strike="noStrike">
                <a:solidFill>
                  <a:srgbClr val="28242A"/>
                </a:solidFill>
                <a:latin typeface="Arial"/>
                <a:ea typeface="Arial"/>
                <a:cs typeface="Arial"/>
                <a:sym typeface="Arial"/>
              </a:rPr>
              <a:t>Rana catesbeiana</a:t>
            </a:r>
            <a:r>
              <a:rPr b="0" i="0" lang="en-US" sz="1800" u="none" cap="none" strike="noStrike">
                <a:solidFill>
                  <a:srgbClr val="28242A"/>
                </a:solidFill>
                <a:latin typeface="Arial"/>
                <a:ea typeface="Arial"/>
                <a:cs typeface="Arial"/>
                <a:sym typeface="Arial"/>
              </a:rPr>
              <a:t>. This approach measures the synaptic response more directly than a change in behavior.</a:t>
            </a:r>
            <a:endParaRPr b="0" i="0" sz="1800" u="none" cap="none" strike="noStrike">
              <a:solidFill>
                <a:schemeClr val="dk1"/>
              </a:solidFill>
              <a:latin typeface="Calibri"/>
              <a:ea typeface="Calibri"/>
              <a:cs typeface="Calibri"/>
              <a:sym typeface="Calibri"/>
            </a:endParaRPr>
          </a:p>
        </p:txBody>
      </p:sp>
      <p:sp>
        <p:nvSpPr>
          <p:cNvPr id="281" name="Google Shape;281;p21"/>
          <p:cNvSpPr/>
          <p:nvPr/>
        </p:nvSpPr>
        <p:spPr>
          <a:xfrm>
            <a:off x="571500" y="2434233"/>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main responses were a pure IPSP or an EPSP followed by an IPSP. Approximately </a:t>
            </a:r>
            <a:r>
              <a:rPr b="1" i="0" lang="en-US" sz="1800" u="none" cap="none" strike="noStrike">
                <a:solidFill>
                  <a:srgbClr val="28242A"/>
                </a:solidFill>
                <a:latin typeface="Arial"/>
                <a:ea typeface="Arial"/>
                <a:cs typeface="Arial"/>
                <a:sym typeface="Arial"/>
              </a:rPr>
              <a:t>98% of impaled tectal cells</a:t>
            </a:r>
            <a:r>
              <a:rPr b="0" i="0" lang="en-US" sz="1800" u="none" cap="none" strike="noStrike">
                <a:solidFill>
                  <a:srgbClr val="28242A"/>
                </a:solidFill>
                <a:latin typeface="Arial"/>
                <a:ea typeface="Arial"/>
                <a:cs typeface="Arial"/>
                <a:sym typeface="Arial"/>
              </a:rPr>
              <a:t>, excluding antidromically identified projection cells, showed an inhibitory component.</a:t>
            </a:r>
            <a:endParaRPr b="0" i="0" sz="1800" u="none" cap="none" strike="noStrike">
              <a:solidFill>
                <a:schemeClr val="dk1"/>
              </a:solidFill>
              <a:latin typeface="Calibri"/>
              <a:ea typeface="Calibri"/>
              <a:cs typeface="Calibri"/>
              <a:sym typeface="Calibri"/>
            </a:endParaRPr>
          </a:p>
        </p:txBody>
      </p:sp>
      <p:sp>
        <p:nvSpPr>
          <p:cNvPr id="282" name="Google Shape;282;p21"/>
          <p:cNvSpPr/>
          <p:nvPr/>
        </p:nvSpPr>
        <p:spPr>
          <a:xfrm>
            <a:off x="571500" y="3142655"/>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Short-latency EPSPs supported monosynaptic excitation. Most IPSPs appeared to involve multiple synapses, although some were consistent with a direct inhibitory connection.</a:t>
            </a:r>
            <a:endParaRPr b="0" i="0" sz="1800" u="none" cap="none" strike="noStrike">
              <a:solidFill>
                <a:schemeClr val="dk1"/>
              </a:solidFill>
              <a:latin typeface="Calibri"/>
              <a:ea typeface="Calibri"/>
              <a:cs typeface="Calibri"/>
              <a:sym typeface="Calibri"/>
            </a:endParaRPr>
          </a:p>
        </p:txBody>
      </p:sp>
      <p:sp>
        <p:nvSpPr>
          <p:cNvPr id="283" name="Google Shape;283;p21"/>
          <p:cNvSpPr/>
          <p:nvPr/>
        </p:nvSpPr>
        <p:spPr>
          <a:xfrm>
            <a:off x="571500" y="3851077"/>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dominant circuit effect can therefore be suppression even when some afferents initially excite tectal neurons. A pretectal input may recruit local inhibition, and mixed responses caution against representing every pretectotectal connection as a single direct inhibitory axon.</a:t>
            </a:r>
            <a:endParaRPr b="0" i="0" sz="1800" u="none" cap="none" strike="noStrike">
              <a:solidFill>
                <a:schemeClr val="dk1"/>
              </a:solidFill>
              <a:latin typeface="Calibri"/>
              <a:ea typeface="Calibri"/>
              <a:cs typeface="Calibri"/>
              <a:sym typeface="Calibri"/>
            </a:endParaRPr>
          </a:p>
        </p:txBody>
      </p:sp>
      <p:pic>
        <p:nvPicPr>
          <p:cNvPr id="284" name="Google Shape;284;p21"/>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285" name="Google Shape;285;p21"/>
          <p:cNvSpPr/>
          <p:nvPr/>
        </p:nvSpPr>
        <p:spPr>
          <a:xfrm>
            <a:off x="571500" y="6434138"/>
            <a:ext cx="1104305"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Kang &amp; Li (2007)</a:t>
            </a:r>
            <a:endParaRPr b="0" i="0" sz="1800" u="none" cap="none" strike="noStrike">
              <a:solidFill>
                <a:schemeClr val="dk1"/>
              </a:solidFill>
              <a:latin typeface="Calibri"/>
              <a:ea typeface="Calibri"/>
              <a:cs typeface="Calibri"/>
              <a:sym typeface="Calibri"/>
            </a:endParaRPr>
          </a:p>
        </p:txBody>
      </p:sp>
      <p:sp>
        <p:nvSpPr>
          <p:cNvPr id="286" name="Google Shape;286;p21"/>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21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290" name="Shape 290"/>
        <p:cNvGrpSpPr/>
        <p:nvPr/>
      </p:nvGrpSpPr>
      <p:grpSpPr>
        <a:xfrm>
          <a:off x="0" y="0"/>
          <a:ext cx="0" cy="0"/>
          <a:chOff x="0" y="0"/>
          <a:chExt cx="0" cy="0"/>
        </a:xfrm>
      </p:grpSpPr>
      <p:sp>
        <p:nvSpPr>
          <p:cNvPr id="291" name="Google Shape;291;p22"/>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Inhibitory influence extends across the two tectal sides</a:t>
            </a:r>
            <a:endParaRPr b="0" i="0" sz="1800" u="none" cap="none" strike="noStrike">
              <a:solidFill>
                <a:schemeClr val="dk1"/>
              </a:solidFill>
              <a:latin typeface="Calibri"/>
              <a:ea typeface="Calibri"/>
              <a:cs typeface="Calibri"/>
              <a:sym typeface="Calibri"/>
            </a:endParaRPr>
          </a:p>
        </p:txBody>
      </p:sp>
      <p:sp>
        <p:nvSpPr>
          <p:cNvPr id="292" name="Google Shape;292;p22"/>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Li and colleagues combined intracellular recording with </a:t>
            </a:r>
            <a:r>
              <a:rPr b="1" i="0" lang="en-US" sz="1800" u="none" cap="none" strike="noStrike">
                <a:solidFill>
                  <a:srgbClr val="28242A"/>
                </a:solidFill>
                <a:latin typeface="Arial"/>
                <a:ea typeface="Arial"/>
                <a:cs typeface="Arial"/>
                <a:sym typeface="Arial"/>
              </a:rPr>
              <a:t>current-source density analysis</a:t>
            </a:r>
            <a:r>
              <a:rPr b="0" i="0" lang="en-US" sz="1800" u="none" cap="none" strike="noStrike">
                <a:solidFill>
                  <a:srgbClr val="28242A"/>
                </a:solidFill>
                <a:latin typeface="Arial"/>
                <a:ea typeface="Arial"/>
                <a:cs typeface="Arial"/>
                <a:sym typeface="Arial"/>
              </a:rPr>
              <a:t>, which estimates the locations of transmembrane current flow from extracellular voltage measured across tissue depth.</a:t>
            </a:r>
            <a:endParaRPr b="0" i="0" sz="1800" u="none" cap="none" strike="noStrike">
              <a:solidFill>
                <a:schemeClr val="dk1"/>
              </a:solidFill>
              <a:latin typeface="Calibri"/>
              <a:ea typeface="Calibri"/>
              <a:cs typeface="Calibri"/>
              <a:sym typeface="Calibri"/>
            </a:endParaRPr>
          </a:p>
        </p:txBody>
      </p:sp>
      <p:sp>
        <p:nvSpPr>
          <p:cNvPr id="293" name="Google Shape;293;p22"/>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Pretectal stimulation evoked IPSPs in the contralateral tectum, with most responses interpreted as polysynaptic. The ipsilateral analysis identified a short-latency current sink in superficial layer 8 and recipient neurons in layers 6 and 7.</a:t>
            </a:r>
            <a:endParaRPr b="0" i="0" sz="1800" u="none" cap="none" strike="noStrike">
              <a:solidFill>
                <a:schemeClr val="dk1"/>
              </a:solidFill>
              <a:latin typeface="Calibri"/>
              <a:ea typeface="Calibri"/>
              <a:cs typeface="Calibri"/>
              <a:sym typeface="Calibri"/>
            </a:endParaRPr>
          </a:p>
        </p:txBody>
      </p:sp>
      <p:sp>
        <p:nvSpPr>
          <p:cNvPr id="294" name="Google Shape;294;p22"/>
          <p:cNvSpPr/>
          <p:nvPr/>
        </p:nvSpPr>
        <p:spPr>
          <a:xfrm>
            <a:off x="571500" y="3439716"/>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A current sink marks net inward transmembrane current in the sampled region. It does not, by itself, name a transmitter or establish that the final effect on an output neuron is excitation.</a:t>
            </a:r>
            <a:endParaRPr b="0" i="0" sz="1800" u="none" cap="none" strike="noStrike">
              <a:solidFill>
                <a:schemeClr val="dk1"/>
              </a:solidFill>
              <a:latin typeface="Calibri"/>
              <a:ea typeface="Calibri"/>
              <a:cs typeface="Calibri"/>
              <a:sym typeface="Calibri"/>
            </a:endParaRPr>
          </a:p>
        </p:txBody>
      </p:sp>
      <p:sp>
        <p:nvSpPr>
          <p:cNvPr id="295" name="Google Shape;295;p22"/>
          <p:cNvSpPr/>
          <p:nvPr/>
        </p:nvSpPr>
        <p:spPr>
          <a:xfrm>
            <a:off x="571500" y="414813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Together, the two methods relate pathway effects to tectal lamination and demonstrate bilateral suppressive influence in frogs. Direct cell recording identifies voltage changes, while spatial current analysis constrains where the underlying synaptic activity occurs.</a:t>
            </a:r>
            <a:endParaRPr b="0" i="0" sz="1800" u="none" cap="none" strike="noStrike">
              <a:solidFill>
                <a:schemeClr val="dk1"/>
              </a:solidFill>
              <a:latin typeface="Calibri"/>
              <a:ea typeface="Calibri"/>
              <a:cs typeface="Calibri"/>
              <a:sym typeface="Calibri"/>
            </a:endParaRPr>
          </a:p>
        </p:txBody>
      </p:sp>
      <p:pic>
        <p:nvPicPr>
          <p:cNvPr id="296" name="Google Shape;296;p22"/>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297" name="Google Shape;297;p22"/>
          <p:cNvSpPr/>
          <p:nvPr/>
        </p:nvSpPr>
        <p:spPr>
          <a:xfrm>
            <a:off x="571500" y="6434138"/>
            <a:ext cx="942380"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Li et al. (2010)</a:t>
            </a:r>
            <a:endParaRPr b="0" i="0" sz="1800" u="none" cap="none" strike="noStrike">
              <a:solidFill>
                <a:schemeClr val="dk1"/>
              </a:solidFill>
              <a:latin typeface="Calibri"/>
              <a:ea typeface="Calibri"/>
              <a:cs typeface="Calibri"/>
              <a:sym typeface="Calibri"/>
            </a:endParaRPr>
          </a:p>
        </p:txBody>
      </p:sp>
      <p:sp>
        <p:nvSpPr>
          <p:cNvPr id="298" name="Google Shape;298;p22"/>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22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302" name="Shape 302"/>
        <p:cNvGrpSpPr/>
        <p:nvPr/>
      </p:nvGrpSpPr>
      <p:grpSpPr>
        <a:xfrm>
          <a:off x="0" y="0"/>
          <a:ext cx="0" cy="0"/>
          <a:chOff x="0" y="0"/>
          <a:chExt cx="0" cy="0"/>
        </a:xfrm>
      </p:grpSpPr>
      <p:sp>
        <p:nvSpPr>
          <p:cNvPr id="303" name="Google Shape;303;p23"/>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Neuropeptide Y attenuates retinotectal transmission</a:t>
            </a:r>
            <a:endParaRPr b="0" i="0" sz="1800" u="none" cap="none" strike="noStrike">
              <a:solidFill>
                <a:schemeClr val="dk1"/>
              </a:solidFill>
              <a:latin typeface="Calibri"/>
              <a:ea typeface="Calibri"/>
              <a:cs typeface="Calibri"/>
              <a:sym typeface="Calibri"/>
            </a:endParaRPr>
          </a:p>
        </p:txBody>
      </p:sp>
      <p:sp>
        <p:nvSpPr>
          <p:cNvPr id="304" name="Google Shape;304;p23"/>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Schwippert and Ewert electrically stimulated the optic nerve and recorded a surface </a:t>
            </a:r>
            <a:r>
              <a:rPr b="1" i="0" lang="en-US" sz="1800" u="none" cap="none" strike="noStrike">
                <a:solidFill>
                  <a:srgbClr val="28242A"/>
                </a:solidFill>
                <a:latin typeface="Arial"/>
                <a:ea typeface="Arial"/>
                <a:cs typeface="Arial"/>
                <a:sym typeface="Arial"/>
              </a:rPr>
              <a:t>field potential</a:t>
            </a:r>
            <a:r>
              <a:rPr b="0" i="0" lang="en-US" sz="1800" u="none" cap="none" strike="noStrike">
                <a:solidFill>
                  <a:srgbClr val="28242A"/>
                </a:solidFill>
                <a:latin typeface="Arial"/>
                <a:ea typeface="Arial"/>
                <a:cs typeface="Arial"/>
                <a:sym typeface="Arial"/>
              </a:rPr>
              <a:t> in the toad tectum. A field potential sums extracellular voltage generated by many nearby active elements.</a:t>
            </a:r>
            <a:endParaRPr b="0" i="0" sz="1800" u="none" cap="none" strike="noStrike">
              <a:solidFill>
                <a:schemeClr val="dk1"/>
              </a:solidFill>
              <a:latin typeface="Calibri"/>
              <a:ea typeface="Calibri"/>
              <a:cs typeface="Calibri"/>
              <a:sym typeface="Calibri"/>
            </a:endParaRPr>
          </a:p>
        </p:txBody>
      </p:sp>
      <p:sp>
        <p:nvSpPr>
          <p:cNvPr id="305" name="Google Shape;305;p23"/>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early positive deflections reflected arriving axonal activity. A subsequent negative component, N, was interpreted as largely excitatory postsynaptic activity. Preceding optic-nerve stimulation with pretectal stimulation strongly reduced this N component.</a:t>
            </a:r>
            <a:endParaRPr b="0" i="0" sz="1800" u="none" cap="none" strike="noStrike">
              <a:solidFill>
                <a:schemeClr val="dk1"/>
              </a:solidFill>
              <a:latin typeface="Calibri"/>
              <a:ea typeface="Calibri"/>
              <a:cs typeface="Calibri"/>
              <a:sym typeface="Calibri"/>
            </a:endParaRPr>
          </a:p>
        </p:txBody>
      </p:sp>
      <p:sp>
        <p:nvSpPr>
          <p:cNvPr id="306" name="Google Shape;306;p23"/>
          <p:cNvSpPr/>
          <p:nvPr/>
        </p:nvSpPr>
        <p:spPr>
          <a:xfrm>
            <a:off x="571500" y="3439716"/>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Applying </a:t>
            </a:r>
            <a:r>
              <a:rPr b="1" i="0" lang="en-US" sz="1800" u="none" cap="none" strike="noStrike">
                <a:solidFill>
                  <a:srgbClr val="28242A"/>
                </a:solidFill>
                <a:latin typeface="Arial"/>
                <a:ea typeface="Arial"/>
                <a:cs typeface="Arial"/>
                <a:sym typeface="Arial"/>
              </a:rPr>
              <a:t>neuropeptide Y, or NPY</a:t>
            </a:r>
            <a:r>
              <a:rPr b="0" i="0" lang="en-US" sz="1800" u="none" cap="none" strike="noStrike">
                <a:solidFill>
                  <a:srgbClr val="28242A"/>
                </a:solidFill>
                <a:latin typeface="Arial"/>
                <a:ea typeface="Arial"/>
                <a:cs typeface="Arial"/>
                <a:sym typeface="Arial"/>
              </a:rPr>
              <a:t>, to the tectal surface also reduced the N wave. The peptide therefore reproduced a suppressive effect on retinal information transfer into tectal circuitry.</a:t>
            </a:r>
            <a:endParaRPr b="0" i="0" sz="1800" u="none" cap="none" strike="noStrike">
              <a:solidFill>
                <a:schemeClr val="dk1"/>
              </a:solidFill>
              <a:latin typeface="Calibri"/>
              <a:ea typeface="Calibri"/>
              <a:cs typeface="Calibri"/>
              <a:sym typeface="Calibri"/>
            </a:endParaRPr>
          </a:p>
        </p:txBody>
      </p:sp>
      <p:sp>
        <p:nvSpPr>
          <p:cNvPr id="307" name="Google Shape;307;p23"/>
          <p:cNvSpPr/>
          <p:nvPr/>
        </p:nvSpPr>
        <p:spPr>
          <a:xfrm>
            <a:off x="571500" y="414813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Electrical stimulation controls the timing of afferent input, and comparison before and after treatment reveals the effect on the evoked response. Similar suppression supports a candidate mechanism but does not establish that NPY alone accounts for every effect of pretectal stimulation.</a:t>
            </a:r>
            <a:endParaRPr b="0" i="0" sz="1800" u="none" cap="none" strike="noStrike">
              <a:solidFill>
                <a:schemeClr val="dk1"/>
              </a:solidFill>
              <a:latin typeface="Calibri"/>
              <a:ea typeface="Calibri"/>
              <a:cs typeface="Calibri"/>
              <a:sym typeface="Calibri"/>
            </a:endParaRPr>
          </a:p>
        </p:txBody>
      </p:sp>
      <p:pic>
        <p:nvPicPr>
          <p:cNvPr id="308" name="Google Shape;308;p23"/>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309" name="Google Shape;309;p23"/>
          <p:cNvSpPr/>
          <p:nvPr/>
        </p:nvSpPr>
        <p:spPr>
          <a:xfrm>
            <a:off x="571500" y="6434138"/>
            <a:ext cx="3420368"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Schwippert &amp; Ewert (1995); Schwippert et al. (1995)</a:t>
            </a:r>
            <a:endParaRPr b="0" i="0" sz="1800" u="none" cap="none" strike="noStrike">
              <a:solidFill>
                <a:schemeClr val="dk1"/>
              </a:solidFill>
              <a:latin typeface="Calibri"/>
              <a:ea typeface="Calibri"/>
              <a:cs typeface="Calibri"/>
              <a:sym typeface="Calibri"/>
            </a:endParaRPr>
          </a:p>
        </p:txBody>
      </p:sp>
      <p:sp>
        <p:nvSpPr>
          <p:cNvPr id="310" name="Google Shape;310;p23"/>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23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314" name="Shape 314"/>
        <p:cNvGrpSpPr/>
        <p:nvPr/>
      </p:nvGrpSpPr>
      <p:grpSpPr>
        <a:xfrm>
          <a:off x="0" y="0"/>
          <a:ext cx="0" cy="0"/>
          <a:chOff x="0" y="0"/>
          <a:chExt cx="0" cy="0"/>
        </a:xfrm>
      </p:grpSpPr>
      <p:sp>
        <p:nvSpPr>
          <p:cNvPr id="315" name="Google Shape;315;p24"/>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Peptide fragments constrain the receptor interpretation</a:t>
            </a:r>
            <a:endParaRPr b="0" i="0" sz="1800" u="none" cap="none" strike="noStrike">
              <a:solidFill>
                <a:schemeClr val="dk1"/>
              </a:solidFill>
              <a:latin typeface="Calibri"/>
              <a:ea typeface="Calibri"/>
              <a:cs typeface="Calibri"/>
              <a:sym typeface="Calibri"/>
            </a:endParaRPr>
          </a:p>
        </p:txBody>
      </p:sp>
      <p:sp>
        <p:nvSpPr>
          <p:cNvPr id="316" name="Google Shape;316;p24"/>
          <p:cNvSpPr/>
          <p:nvPr/>
        </p:nvSpPr>
        <p:spPr>
          <a:xfrm>
            <a:off x="571500" y="1428750"/>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In cane toads, then named </a:t>
            </a:r>
            <a:r>
              <a:rPr b="1" i="0" lang="en-US" sz="1800" u="none" cap="none" strike="noStrike">
                <a:solidFill>
                  <a:srgbClr val="28242A"/>
                </a:solidFill>
                <a:latin typeface="Arial"/>
                <a:ea typeface="Arial"/>
                <a:cs typeface="Arial"/>
                <a:sym typeface="Arial"/>
              </a:rPr>
              <a:t>Bufo marinus</a:t>
            </a:r>
            <a:r>
              <a:rPr b="0" i="0" lang="en-US" sz="1800" u="none" cap="none" strike="noStrike">
                <a:solidFill>
                  <a:srgbClr val="28242A"/>
                </a:solidFill>
                <a:latin typeface="Arial"/>
                <a:ea typeface="Arial"/>
                <a:cs typeface="Arial"/>
                <a:sym typeface="Arial"/>
              </a:rPr>
              <a:t>, Schwippert and colleagues measured tectal responses to diffuse light transitions after applying NPY or related peptide fragments.</a:t>
            </a:r>
            <a:endParaRPr b="0" i="0" sz="1800" u="none" cap="none" strike="noStrike">
              <a:solidFill>
                <a:schemeClr val="dk1"/>
              </a:solidFill>
              <a:latin typeface="Calibri"/>
              <a:ea typeface="Calibri"/>
              <a:cs typeface="Calibri"/>
              <a:sym typeface="Calibri"/>
            </a:endParaRPr>
          </a:p>
        </p:txBody>
      </p:sp>
      <p:sp>
        <p:nvSpPr>
          <p:cNvPr id="317" name="Google Shape;317;p24"/>
          <p:cNvSpPr/>
          <p:nvPr/>
        </p:nvSpPr>
        <p:spPr>
          <a:xfrm>
            <a:off x="571500" y="2137172"/>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NPY strongly and persistently reduced the initial negative response to light OFF. </a:t>
            </a:r>
            <a:r>
              <a:rPr b="1" i="0" lang="en-US" sz="1800" u="none" cap="none" strike="noStrike">
                <a:solidFill>
                  <a:srgbClr val="28242A"/>
                </a:solidFill>
                <a:latin typeface="Arial"/>
                <a:ea typeface="Arial"/>
                <a:cs typeface="Arial"/>
                <a:sym typeface="Arial"/>
              </a:rPr>
              <a:t>NPY 13–36</a:t>
            </a:r>
            <a:r>
              <a:rPr b="0" i="0" lang="en-US" sz="1800" u="none" cap="none" strike="noStrike">
                <a:solidFill>
                  <a:srgbClr val="28242A"/>
                </a:solidFill>
                <a:latin typeface="Arial"/>
                <a:ea typeface="Arial"/>
                <a:cs typeface="Arial"/>
                <a:sym typeface="Arial"/>
              </a:rPr>
              <a:t>, used as a Y2-receptor agonist, produced a smaller suppression. </a:t>
            </a:r>
            <a:r>
              <a:rPr b="1" i="0" lang="en-US" sz="1800" u="none" cap="none" strike="noStrike">
                <a:solidFill>
                  <a:srgbClr val="28242A"/>
                </a:solidFill>
                <a:latin typeface="Arial"/>
                <a:ea typeface="Arial"/>
                <a:cs typeface="Arial"/>
                <a:sym typeface="Arial"/>
              </a:rPr>
              <a:t>NPY 18–36</a:t>
            </a:r>
            <a:r>
              <a:rPr b="0" i="0" lang="en-US" sz="1800" u="none" cap="none" strike="noStrike">
                <a:solidFill>
                  <a:srgbClr val="28242A"/>
                </a:solidFill>
                <a:latin typeface="Arial"/>
                <a:ea typeface="Arial"/>
                <a:cs typeface="Arial"/>
                <a:sym typeface="Arial"/>
              </a:rPr>
              <a:t> did not produce a comparable effect.</a:t>
            </a:r>
            <a:endParaRPr b="0" i="0" sz="1800" u="none" cap="none" strike="noStrike">
              <a:solidFill>
                <a:schemeClr val="dk1"/>
              </a:solidFill>
              <a:latin typeface="Calibri"/>
              <a:ea typeface="Calibri"/>
              <a:cs typeface="Calibri"/>
              <a:sym typeface="Calibri"/>
            </a:endParaRPr>
          </a:p>
        </p:txBody>
      </p:sp>
      <p:sp>
        <p:nvSpPr>
          <p:cNvPr id="318" name="Google Shape;318;p24"/>
          <p:cNvSpPr/>
          <p:nvPr/>
        </p:nvSpPr>
        <p:spPr>
          <a:xfrm>
            <a:off x="571500" y="3142655"/>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These pharmacological comparisons support a </a:t>
            </a:r>
            <a:r>
              <a:rPr b="1" i="0" lang="en-US" sz="1800" u="none" cap="none" strike="noStrike">
                <a:solidFill>
                  <a:srgbClr val="28242A"/>
                </a:solidFill>
                <a:latin typeface="Arial"/>
                <a:ea typeface="Arial"/>
                <a:cs typeface="Arial"/>
                <a:sym typeface="Arial"/>
              </a:rPr>
              <a:t>Y2-like receptor mechanism</a:t>
            </a:r>
            <a:r>
              <a:rPr b="0" i="0" lang="en-US" sz="1800" u="none" cap="none" strike="noStrike">
                <a:solidFill>
                  <a:srgbClr val="28242A"/>
                </a:solidFill>
                <a:latin typeface="Arial"/>
                <a:ea typeface="Arial"/>
                <a:cs typeface="Arial"/>
                <a:sym typeface="Arial"/>
              </a:rPr>
              <a:t>. A receptor agonist activates a receptor, whereas an antagonist blocks its activation. Comparing related peptides helps test whether suppression follows a specific molecular interaction.</a:t>
            </a:r>
            <a:endParaRPr b="0" i="0" sz="1800" u="none" cap="none" strike="noStrike">
              <a:solidFill>
                <a:schemeClr val="dk1"/>
              </a:solidFill>
              <a:latin typeface="Calibri"/>
              <a:ea typeface="Calibri"/>
              <a:cs typeface="Calibri"/>
              <a:sym typeface="Calibri"/>
            </a:endParaRPr>
          </a:p>
        </p:txBody>
      </p:sp>
      <p:sp>
        <p:nvSpPr>
          <p:cNvPr id="319" name="Google Shape;319;p24"/>
          <p:cNvSpPr/>
          <p:nvPr/>
        </p:nvSpPr>
        <p:spPr>
          <a:xfrm>
            <a:off x="571500" y="414813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Y receptors are metabotropic receptors, which act through intracellular signaling rather than opening a transmitter-gated pore directly. These experiments do not locate all relevant receptors on identified T5.2 neurons or prove a particular downstream ion channel in that cell class.</a:t>
            </a:r>
            <a:endParaRPr b="0" i="0" sz="1800" u="none" cap="none" strike="noStrike">
              <a:solidFill>
                <a:schemeClr val="dk1"/>
              </a:solidFill>
              <a:latin typeface="Calibri"/>
              <a:ea typeface="Calibri"/>
              <a:cs typeface="Calibri"/>
              <a:sym typeface="Calibri"/>
            </a:endParaRPr>
          </a:p>
        </p:txBody>
      </p:sp>
      <p:pic>
        <p:nvPicPr>
          <p:cNvPr id="320" name="Google Shape;320;p24"/>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321" name="Google Shape;321;p24"/>
          <p:cNvSpPr/>
          <p:nvPr/>
        </p:nvSpPr>
        <p:spPr>
          <a:xfrm>
            <a:off x="571500" y="6434138"/>
            <a:ext cx="1582043"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Schwippert et al. (1998)</a:t>
            </a:r>
            <a:endParaRPr b="0" i="0" sz="1800" u="none" cap="none" strike="noStrike">
              <a:solidFill>
                <a:schemeClr val="dk1"/>
              </a:solidFill>
              <a:latin typeface="Calibri"/>
              <a:ea typeface="Calibri"/>
              <a:cs typeface="Calibri"/>
              <a:sym typeface="Calibri"/>
            </a:endParaRPr>
          </a:p>
        </p:txBody>
      </p:sp>
      <p:sp>
        <p:nvSpPr>
          <p:cNvPr id="322" name="Google Shape;322;p24"/>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24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326" name="Shape 326"/>
        <p:cNvGrpSpPr/>
        <p:nvPr/>
      </p:nvGrpSpPr>
      <p:grpSpPr>
        <a:xfrm>
          <a:off x="0" y="0"/>
          <a:ext cx="0" cy="0"/>
          <a:chOff x="0" y="0"/>
          <a:chExt cx="0" cy="0"/>
        </a:xfrm>
      </p:grpSpPr>
      <p:sp>
        <p:nvSpPr>
          <p:cNvPr id="327" name="Google Shape;327;p25"/>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Presynaptic calcium couples retinal spikes to transmission</a:t>
            </a:r>
            <a:endParaRPr b="0" i="0" sz="1800" u="none" cap="none" strike="noStrike">
              <a:solidFill>
                <a:schemeClr val="dk1"/>
              </a:solidFill>
              <a:latin typeface="Calibri"/>
              <a:ea typeface="Calibri"/>
              <a:cs typeface="Calibri"/>
              <a:sym typeface="Calibri"/>
            </a:endParaRPr>
          </a:p>
        </p:txBody>
      </p:sp>
      <p:sp>
        <p:nvSpPr>
          <p:cNvPr id="328" name="Google Shape;328;p25"/>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Feller and colleagues loaded the frog retinotectal system with a fluorescent calcium indicator and electrically stimulated the optic nerve. Fluorescence changes reported calcium entry into retinal axons and their terminals.</a:t>
            </a:r>
            <a:endParaRPr b="0" i="0" sz="1800" u="none" cap="none" strike="noStrike">
              <a:solidFill>
                <a:schemeClr val="dk1"/>
              </a:solidFill>
              <a:latin typeface="Calibri"/>
              <a:ea typeface="Calibri"/>
              <a:cs typeface="Calibri"/>
              <a:sym typeface="Calibri"/>
            </a:endParaRPr>
          </a:p>
        </p:txBody>
      </p:sp>
      <p:sp>
        <p:nvSpPr>
          <p:cNvPr id="329" name="Google Shape;329;p25"/>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Blocking postsynaptic non-NMDA glutamate receptors greatly reduced tectal field potentials while leaving the calcium transient largely unchanged. This control distinguished a presynaptic calcium signal from the postsynaptic response it normally drives.</a:t>
            </a:r>
            <a:endParaRPr b="0" i="0" sz="1800" u="none" cap="none" strike="noStrike">
              <a:solidFill>
                <a:schemeClr val="dk1"/>
              </a:solidFill>
              <a:latin typeface="Calibri"/>
              <a:ea typeface="Calibri"/>
              <a:cs typeface="Calibri"/>
              <a:sym typeface="Calibri"/>
            </a:endParaRPr>
          </a:p>
        </p:txBody>
      </p:sp>
      <p:sp>
        <p:nvSpPr>
          <p:cNvPr id="330" name="Google Shape;330;p25"/>
          <p:cNvSpPr/>
          <p:nvPr/>
        </p:nvSpPr>
        <p:spPr>
          <a:xfrm>
            <a:off x="571500" y="3439716"/>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calcium-channel blocker </a:t>
            </a:r>
            <a:r>
              <a:rPr b="1" i="0" lang="en-US" sz="1800" u="none" cap="none" strike="noStrike">
                <a:solidFill>
                  <a:srgbClr val="28242A"/>
                </a:solidFill>
                <a:latin typeface="Arial"/>
                <a:ea typeface="Arial"/>
                <a:cs typeface="Arial"/>
                <a:sym typeface="Arial"/>
              </a:rPr>
              <a:t>ω-conotoxin GVIA</a:t>
            </a:r>
            <a:r>
              <a:rPr b="0" i="0" lang="en-US" sz="1800" u="none" cap="none" strike="noStrike">
                <a:solidFill>
                  <a:srgbClr val="28242A"/>
                </a:solidFill>
                <a:latin typeface="Arial"/>
                <a:ea typeface="Arial"/>
                <a:cs typeface="Arial"/>
                <a:sym typeface="Arial"/>
              </a:rPr>
              <a:t> reduced calcium influx by approximately </a:t>
            </a:r>
            <a:r>
              <a:rPr b="1" i="0" lang="en-US" sz="1800" u="none" cap="none" strike="noStrike">
                <a:solidFill>
                  <a:srgbClr val="28242A"/>
                </a:solidFill>
                <a:latin typeface="Arial"/>
                <a:ea typeface="Arial"/>
                <a:cs typeface="Arial"/>
                <a:sym typeface="Arial"/>
              </a:rPr>
              <a:t>60–70%</a:t>
            </a:r>
            <a:r>
              <a:rPr b="0" i="0" lang="en-US" sz="1800" u="none" cap="none" strike="noStrike">
                <a:solidFill>
                  <a:srgbClr val="28242A"/>
                </a:solidFill>
                <a:latin typeface="Arial"/>
                <a:ea typeface="Arial"/>
                <a:cs typeface="Arial"/>
                <a:sym typeface="Arial"/>
              </a:rPr>
              <a:t>. </a:t>
            </a:r>
            <a:r>
              <a:rPr b="1" i="0" lang="en-US" sz="1800" u="none" cap="none" strike="noStrike">
                <a:solidFill>
                  <a:srgbClr val="28242A"/>
                </a:solidFill>
                <a:latin typeface="Arial"/>
                <a:ea typeface="Arial"/>
                <a:cs typeface="Arial"/>
                <a:sym typeface="Arial"/>
              </a:rPr>
              <a:t>ω-Agatoxin IVA</a:t>
            </a:r>
            <a:r>
              <a:rPr b="0" i="0" lang="en-US" sz="1800" u="none" cap="none" strike="noStrike">
                <a:solidFill>
                  <a:srgbClr val="28242A"/>
                </a:solidFill>
                <a:latin typeface="Arial"/>
                <a:ea typeface="Arial"/>
                <a:cs typeface="Arial"/>
                <a:sym typeface="Arial"/>
              </a:rPr>
              <a:t> produced a much smaller effect, approximately </a:t>
            </a:r>
            <a:r>
              <a:rPr b="1" i="0" lang="en-US" sz="1800" u="none" cap="none" strike="noStrike">
                <a:solidFill>
                  <a:srgbClr val="28242A"/>
                </a:solidFill>
                <a:latin typeface="Arial"/>
                <a:ea typeface="Arial"/>
                <a:cs typeface="Arial"/>
                <a:sym typeface="Arial"/>
              </a:rPr>
              <a:t>10%</a:t>
            </a:r>
            <a:r>
              <a:rPr b="0" i="0" lang="en-US" sz="1800" u="none" cap="none" strike="noStrike">
                <a:solidFill>
                  <a:srgbClr val="28242A"/>
                </a:solidFill>
                <a:latin typeface="Arial"/>
                <a:ea typeface="Arial"/>
                <a:cs typeface="Arial"/>
                <a:sym typeface="Arial"/>
              </a:rPr>
              <a:t>, in the tested preparations.</a:t>
            </a:r>
            <a:endParaRPr b="0" i="0" sz="1800" u="none" cap="none" strike="noStrike">
              <a:solidFill>
                <a:schemeClr val="dk1"/>
              </a:solidFill>
              <a:latin typeface="Calibri"/>
              <a:ea typeface="Calibri"/>
              <a:cs typeface="Calibri"/>
              <a:sym typeface="Calibri"/>
            </a:endParaRPr>
          </a:p>
        </p:txBody>
      </p:sp>
      <p:sp>
        <p:nvSpPr>
          <p:cNvPr id="331" name="Google Shape;331;p25"/>
          <p:cNvSpPr/>
          <p:nvPr/>
        </p:nvSpPr>
        <p:spPr>
          <a:xfrm>
            <a:off x="571500" y="4148138"/>
            <a:ext cx="10972800" cy="118824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Thus a retinal action potential opens voltage-gated calcium channels, and terminal calcium promotes transmitter release. The blocker sensitivity supports a major contribution from conotoxin-sensitive, N-type channels in this frog preparation. It does not establish the channel composition of every toad retinal synapse.</a:t>
            </a:r>
            <a:endParaRPr b="0" i="0" sz="1800" u="none" cap="none" strike="noStrike">
              <a:solidFill>
                <a:schemeClr val="dk1"/>
              </a:solidFill>
              <a:latin typeface="Calibri"/>
              <a:ea typeface="Calibri"/>
              <a:cs typeface="Calibri"/>
              <a:sym typeface="Calibri"/>
            </a:endParaRPr>
          </a:p>
        </p:txBody>
      </p:sp>
      <p:pic>
        <p:nvPicPr>
          <p:cNvPr id="332" name="Google Shape;332;p25"/>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333" name="Google Shape;333;p25"/>
          <p:cNvSpPr/>
          <p:nvPr/>
        </p:nvSpPr>
        <p:spPr>
          <a:xfrm>
            <a:off x="571500" y="6434138"/>
            <a:ext cx="119866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Feller et al. (1996)</a:t>
            </a:r>
            <a:endParaRPr b="0" i="0" sz="1800" u="none" cap="none" strike="noStrike">
              <a:solidFill>
                <a:schemeClr val="dk1"/>
              </a:solidFill>
              <a:latin typeface="Calibri"/>
              <a:ea typeface="Calibri"/>
              <a:cs typeface="Calibri"/>
              <a:sym typeface="Calibri"/>
            </a:endParaRPr>
          </a:p>
        </p:txBody>
      </p:sp>
      <p:sp>
        <p:nvSpPr>
          <p:cNvPr id="334" name="Google Shape;334;p25"/>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25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338" name="Shape 338"/>
        <p:cNvGrpSpPr/>
        <p:nvPr/>
      </p:nvGrpSpPr>
      <p:grpSpPr>
        <a:xfrm>
          <a:off x="0" y="0"/>
          <a:ext cx="0" cy="0"/>
          <a:chOff x="0" y="0"/>
          <a:chExt cx="0" cy="0"/>
        </a:xfrm>
      </p:grpSpPr>
      <p:sp>
        <p:nvSpPr>
          <p:cNvPr id="339" name="Google Shape;339;p26"/>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Glutamate receptors shape direct and recurrent excitation</a:t>
            </a:r>
            <a:endParaRPr b="0" i="0" sz="1800" u="none" cap="none" strike="noStrike">
              <a:solidFill>
                <a:schemeClr val="dk1"/>
              </a:solidFill>
              <a:latin typeface="Calibri"/>
              <a:ea typeface="Calibri"/>
              <a:cs typeface="Calibri"/>
              <a:sym typeface="Calibri"/>
            </a:endParaRPr>
          </a:p>
        </p:txBody>
      </p:sp>
      <p:sp>
        <p:nvSpPr>
          <p:cNvPr id="340" name="Google Shape;340;p26"/>
          <p:cNvSpPr/>
          <p:nvPr/>
        </p:nvSpPr>
        <p:spPr>
          <a:xfrm>
            <a:off x="571500" y="1428750"/>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Hickmott and Constantine-Paton stimulated the optic tract in brain slices from </a:t>
            </a:r>
            <a:r>
              <a:rPr b="1" i="0" lang="en-US" sz="1800" u="none" cap="none" strike="noStrike">
                <a:solidFill>
                  <a:srgbClr val="28242A"/>
                </a:solidFill>
                <a:latin typeface="Arial"/>
                <a:ea typeface="Arial"/>
                <a:cs typeface="Arial"/>
                <a:sym typeface="Arial"/>
              </a:rPr>
              <a:t>Rana pipiens tadpoles</a:t>
            </a:r>
            <a:r>
              <a:rPr b="0" i="0" lang="en-US" sz="1800" u="none" cap="none" strike="noStrike">
                <a:solidFill>
                  <a:srgbClr val="28242A"/>
                </a:solidFill>
                <a:latin typeface="Arial"/>
                <a:ea typeface="Arial"/>
                <a:cs typeface="Arial"/>
                <a:sym typeface="Arial"/>
              </a:rPr>
              <a:t> and recorded tectal neurons with whole-cell electrodes.</a:t>
            </a:r>
            <a:endParaRPr b="0" i="0" sz="1800" u="none" cap="none" strike="noStrike">
              <a:solidFill>
                <a:schemeClr val="dk1"/>
              </a:solidFill>
              <a:latin typeface="Calibri"/>
              <a:ea typeface="Calibri"/>
              <a:cs typeface="Calibri"/>
              <a:sym typeface="Calibri"/>
            </a:endParaRPr>
          </a:p>
        </p:txBody>
      </p:sp>
      <p:sp>
        <p:nvSpPr>
          <p:cNvPr id="341" name="Google Shape;341;p26"/>
          <p:cNvSpPr/>
          <p:nvPr/>
        </p:nvSpPr>
        <p:spPr>
          <a:xfrm>
            <a:off x="571500" y="2137172"/>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1" i="0" lang="en-US" sz="1800" u="none" cap="none" strike="noStrike">
                <a:solidFill>
                  <a:srgbClr val="28242A"/>
                </a:solidFill>
                <a:latin typeface="Arial"/>
                <a:ea typeface="Arial"/>
                <a:cs typeface="Arial"/>
                <a:sym typeface="Arial"/>
              </a:rPr>
              <a:t>CNQX</a:t>
            </a:r>
            <a:r>
              <a:rPr b="0" i="0" lang="en-US" sz="1800" u="none" cap="none" strike="noStrike">
                <a:solidFill>
                  <a:srgbClr val="28242A"/>
                </a:solidFill>
                <a:latin typeface="Arial"/>
                <a:ea typeface="Arial"/>
                <a:cs typeface="Arial"/>
                <a:sym typeface="Arial"/>
              </a:rPr>
              <a:t>, a non-NMDA glutamate-receptor antagonist, reduced both direct and polysynaptic responses. </a:t>
            </a:r>
            <a:r>
              <a:rPr b="1" i="0" lang="en-US" sz="1800" u="none" cap="none" strike="noStrike">
                <a:solidFill>
                  <a:srgbClr val="28242A"/>
                </a:solidFill>
                <a:latin typeface="Arial"/>
                <a:ea typeface="Arial"/>
                <a:cs typeface="Arial"/>
                <a:sym typeface="Arial"/>
              </a:rPr>
              <a:t>APV</a:t>
            </a:r>
            <a:r>
              <a:rPr b="0" i="0" lang="en-US" sz="1800" u="none" cap="none" strike="noStrike">
                <a:solidFill>
                  <a:srgbClr val="28242A"/>
                </a:solidFill>
                <a:latin typeface="Arial"/>
                <a:ea typeface="Arial"/>
                <a:cs typeface="Arial"/>
                <a:sym typeface="Arial"/>
              </a:rPr>
              <a:t>, an NMDA-receptor antagonist, strongly reduced polysynaptic activity and also reduced direct responses when the recorded neuron was depolarized.</a:t>
            </a:r>
            <a:endParaRPr b="0" i="0" sz="1800" u="none" cap="none" strike="noStrike">
              <a:solidFill>
                <a:schemeClr val="dk1"/>
              </a:solidFill>
              <a:latin typeface="Calibri"/>
              <a:ea typeface="Calibri"/>
              <a:cs typeface="Calibri"/>
              <a:sym typeface="Calibri"/>
            </a:endParaRPr>
          </a:p>
        </p:txBody>
      </p:sp>
      <p:sp>
        <p:nvSpPr>
          <p:cNvPr id="342" name="Google Shape;342;p26"/>
          <p:cNvSpPr/>
          <p:nvPr/>
        </p:nvSpPr>
        <p:spPr>
          <a:xfrm>
            <a:off x="571500" y="3142655"/>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AMPA-type receptors carry fast excitatory current. NMDA receptors require glutamate and sufficient depolarization to relieve the channel’s magnesium block. Their contribution therefore depends on membrane voltage and the preceding activity.</a:t>
            </a:r>
            <a:endParaRPr b="0" i="0" sz="1800" u="none" cap="none" strike="noStrike">
              <a:solidFill>
                <a:schemeClr val="dk1"/>
              </a:solidFill>
              <a:latin typeface="Calibri"/>
              <a:ea typeface="Calibri"/>
              <a:cs typeface="Calibri"/>
              <a:sym typeface="Calibri"/>
            </a:endParaRPr>
          </a:p>
        </p:txBody>
      </p:sp>
      <p:sp>
        <p:nvSpPr>
          <p:cNvPr id="343" name="Google Shape;343;p26"/>
          <p:cNvSpPr/>
          <p:nvPr/>
        </p:nvSpPr>
        <p:spPr>
          <a:xfrm>
            <a:off x="571500" y="414813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A </a:t>
            </a:r>
            <a:r>
              <a:rPr b="1" i="0" lang="en-US" sz="1800" u="none" cap="none" strike="noStrike">
                <a:solidFill>
                  <a:srgbClr val="28242A"/>
                </a:solidFill>
                <a:latin typeface="Arial"/>
                <a:ea typeface="Arial"/>
                <a:cs typeface="Arial"/>
                <a:sym typeface="Arial"/>
              </a:rPr>
              <a:t>monosynaptic response</a:t>
            </a:r>
            <a:r>
              <a:rPr b="0" i="0" lang="en-US" sz="1800" u="none" cap="none" strike="noStrike">
                <a:solidFill>
                  <a:srgbClr val="28242A"/>
                </a:solidFill>
                <a:latin typeface="Arial"/>
                <a:ea typeface="Arial"/>
                <a:cs typeface="Arial"/>
                <a:sym typeface="Arial"/>
              </a:rPr>
              <a:t> crosses one synapse from the stimulated afferent. A polysynaptic response recruits additional neurons. These results show how a brief retinal input can initiate activity whose duration and strength depend on local tectal circuitry.</a:t>
            </a:r>
            <a:endParaRPr b="0" i="0" sz="1800" u="none" cap="none" strike="noStrike">
              <a:solidFill>
                <a:schemeClr val="dk1"/>
              </a:solidFill>
              <a:latin typeface="Calibri"/>
              <a:ea typeface="Calibri"/>
              <a:cs typeface="Calibri"/>
              <a:sym typeface="Calibri"/>
            </a:endParaRPr>
          </a:p>
        </p:txBody>
      </p:sp>
      <p:pic>
        <p:nvPicPr>
          <p:cNvPr id="344" name="Google Shape;344;p26"/>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345" name="Google Shape;345;p26"/>
          <p:cNvSpPr/>
          <p:nvPr/>
        </p:nvSpPr>
        <p:spPr>
          <a:xfrm>
            <a:off x="571500" y="6434138"/>
            <a:ext cx="2508349"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Hickmott &amp; Constantine-Paton (1993)</a:t>
            </a:r>
            <a:endParaRPr b="0" i="0" sz="1800" u="none" cap="none" strike="noStrike">
              <a:solidFill>
                <a:schemeClr val="dk1"/>
              </a:solidFill>
              <a:latin typeface="Calibri"/>
              <a:ea typeface="Calibri"/>
              <a:cs typeface="Calibri"/>
              <a:sym typeface="Calibri"/>
            </a:endParaRPr>
          </a:p>
        </p:txBody>
      </p:sp>
      <p:sp>
        <p:nvSpPr>
          <p:cNvPr id="346" name="Google Shape;346;p26"/>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26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350" name="Shape 350"/>
        <p:cNvGrpSpPr/>
        <p:nvPr/>
      </p:nvGrpSpPr>
      <p:grpSpPr>
        <a:xfrm>
          <a:off x="0" y="0"/>
          <a:ext cx="0" cy="0"/>
          <a:chOff x="0" y="0"/>
          <a:chExt cx="0" cy="0"/>
        </a:xfrm>
      </p:grpSpPr>
      <p:sp>
        <p:nvSpPr>
          <p:cNvPr id="351" name="Google Shape;351;p27"/>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A retinal burst can recruit a higher tectal activity state</a:t>
            </a:r>
            <a:endParaRPr b="0" i="0" sz="1800" u="none" cap="none" strike="noStrike">
              <a:solidFill>
                <a:schemeClr val="dk1"/>
              </a:solidFill>
              <a:latin typeface="Calibri"/>
              <a:ea typeface="Calibri"/>
              <a:cs typeface="Calibri"/>
              <a:sym typeface="Calibri"/>
            </a:endParaRPr>
          </a:p>
        </p:txBody>
      </p:sp>
      <p:sp>
        <p:nvSpPr>
          <p:cNvPr id="352" name="Google Shape;352;p27"/>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Kuras and colleagues tested responses to intense bursts in individual frog retinotectal fibers in vivo. A sufficiently strong burst recruited an NMDA-dependent response and suprathreshold activity in tectal output neurons.</a:t>
            </a:r>
            <a:endParaRPr b="0" i="0" sz="1800" u="none" cap="none" strike="noStrike">
              <a:solidFill>
                <a:schemeClr val="dk1"/>
              </a:solidFill>
              <a:latin typeface="Calibri"/>
              <a:ea typeface="Calibri"/>
              <a:cs typeface="Calibri"/>
              <a:sym typeface="Calibri"/>
            </a:endParaRPr>
          </a:p>
        </p:txBody>
      </p:sp>
      <p:sp>
        <p:nvSpPr>
          <p:cNvPr id="353" name="Google Shape;353;p27"/>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1" i="0" lang="en-US" sz="1800" u="none" cap="none" strike="noStrike">
                <a:solidFill>
                  <a:srgbClr val="28242A"/>
                </a:solidFill>
                <a:latin typeface="Arial"/>
                <a:ea typeface="Arial"/>
                <a:cs typeface="Arial"/>
                <a:sym typeface="Arial"/>
              </a:rPr>
              <a:t>Temporal summation</a:t>
            </a:r>
            <a:r>
              <a:rPr b="0" i="0" lang="en-US" sz="1800" u="none" cap="none" strike="noStrike">
                <a:solidFill>
                  <a:srgbClr val="28242A"/>
                </a:solidFill>
                <a:latin typeface="Arial"/>
                <a:ea typeface="Arial"/>
                <a:cs typeface="Arial"/>
                <a:sym typeface="Arial"/>
              </a:rPr>
              <a:t> occurs when successive excitatory potentials overlap before the preceding response has decayed. Repeated fast excitation can depolarize a neuron enough to relieve NMDA-channel magnesium block.</a:t>
            </a:r>
            <a:endParaRPr b="0" i="0" sz="1800" u="none" cap="none" strike="noStrike">
              <a:solidFill>
                <a:schemeClr val="dk1"/>
              </a:solidFill>
              <a:latin typeface="Calibri"/>
              <a:ea typeface="Calibri"/>
              <a:cs typeface="Calibri"/>
              <a:sym typeface="Calibri"/>
            </a:endParaRPr>
          </a:p>
        </p:txBody>
      </p:sp>
      <p:sp>
        <p:nvSpPr>
          <p:cNvPr id="354" name="Google Shape;354;p27"/>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Recurrent excitation, in which tectal neurons re-excite other members of the local circuit, can reinforce this transition. The authors proposed that both afferent summation and recurrent input contribute.</a:t>
            </a:r>
            <a:endParaRPr b="0" i="0" sz="1800" u="none" cap="none" strike="noStrike">
              <a:solidFill>
                <a:schemeClr val="dk1"/>
              </a:solidFill>
              <a:latin typeface="Calibri"/>
              <a:ea typeface="Calibri"/>
              <a:cs typeface="Calibri"/>
              <a:sym typeface="Calibri"/>
            </a:endParaRPr>
          </a:p>
        </p:txBody>
      </p:sp>
      <p:sp>
        <p:nvSpPr>
          <p:cNvPr id="355" name="Google Shape;355;p27"/>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experiment links the temporal pattern of retinal firing to the recruitment of descending output. Electrical activation of a fiber does not show that a single retinal neuron naturally identifies prey or independently commands a complete capture sequence.</a:t>
            </a:r>
            <a:endParaRPr b="0" i="0" sz="1800" u="none" cap="none" strike="noStrike">
              <a:solidFill>
                <a:schemeClr val="dk1"/>
              </a:solidFill>
              <a:latin typeface="Calibri"/>
              <a:ea typeface="Calibri"/>
              <a:cs typeface="Calibri"/>
              <a:sym typeface="Calibri"/>
            </a:endParaRPr>
          </a:p>
        </p:txBody>
      </p:sp>
      <p:pic>
        <p:nvPicPr>
          <p:cNvPr id="356" name="Google Shape;356;p27"/>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357" name="Google Shape;357;p27"/>
          <p:cNvSpPr/>
          <p:nvPr/>
        </p:nvSpPr>
        <p:spPr>
          <a:xfrm>
            <a:off x="571500" y="6434138"/>
            <a:ext cx="1212205"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Kuras et al. (2006)</a:t>
            </a:r>
            <a:endParaRPr b="0" i="0" sz="1800" u="none" cap="none" strike="noStrike">
              <a:solidFill>
                <a:schemeClr val="dk1"/>
              </a:solidFill>
              <a:latin typeface="Calibri"/>
              <a:ea typeface="Calibri"/>
              <a:cs typeface="Calibri"/>
              <a:sym typeface="Calibri"/>
            </a:endParaRPr>
          </a:p>
        </p:txBody>
      </p:sp>
      <p:sp>
        <p:nvSpPr>
          <p:cNvPr id="358" name="Google Shape;358;p27"/>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27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362" name="Shape 362"/>
        <p:cNvGrpSpPr/>
        <p:nvPr/>
      </p:nvGrpSpPr>
      <p:grpSpPr>
        <a:xfrm>
          <a:off x="0" y="0"/>
          <a:ext cx="0" cy="0"/>
          <a:chOff x="0" y="0"/>
          <a:chExt cx="0" cy="0"/>
        </a:xfrm>
      </p:grpSpPr>
      <p:sp>
        <p:nvSpPr>
          <p:cNvPr id="363" name="Google Shape;363;p28"/>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Local GABA circuits can restrict tectal excitation</a:t>
            </a:r>
            <a:endParaRPr b="0" i="0" sz="1800" u="none" cap="none" strike="noStrike">
              <a:solidFill>
                <a:schemeClr val="dk1"/>
              </a:solidFill>
              <a:latin typeface="Calibri"/>
              <a:ea typeface="Calibri"/>
              <a:cs typeface="Calibri"/>
              <a:sym typeface="Calibri"/>
            </a:endParaRPr>
          </a:p>
        </p:txBody>
      </p:sp>
      <p:sp>
        <p:nvSpPr>
          <p:cNvPr id="364" name="Google Shape;364;p28"/>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Antal used light and electron microscopy to examine </a:t>
            </a:r>
            <a:r>
              <a:rPr b="1" i="0" lang="en-US" sz="1800" u="none" cap="none" strike="noStrike">
                <a:solidFill>
                  <a:srgbClr val="28242A"/>
                </a:solidFill>
                <a:latin typeface="Arial"/>
                <a:ea typeface="Arial"/>
                <a:cs typeface="Arial"/>
                <a:sym typeface="Arial"/>
              </a:rPr>
              <a:t>GABA immunoreactivity</a:t>
            </a:r>
            <a:r>
              <a:rPr b="0" i="0" lang="en-US" sz="1800" u="none" cap="none" strike="noStrike">
                <a:solidFill>
                  <a:srgbClr val="28242A"/>
                </a:solidFill>
                <a:latin typeface="Arial"/>
                <a:ea typeface="Arial"/>
                <a:cs typeface="Arial"/>
                <a:sym typeface="Arial"/>
              </a:rPr>
              <a:t> in the optic tectum of Rana esculenta. Antibody labeling identifies cellular structures containing the inhibitory transmitter gamma-aminobutyric acid.</a:t>
            </a:r>
            <a:endParaRPr b="0" i="0" sz="1800" u="none" cap="none" strike="noStrike">
              <a:solidFill>
                <a:schemeClr val="dk1"/>
              </a:solidFill>
              <a:latin typeface="Calibri"/>
              <a:ea typeface="Calibri"/>
              <a:cs typeface="Calibri"/>
              <a:sym typeface="Calibri"/>
            </a:endParaRPr>
          </a:p>
        </p:txBody>
      </p:sp>
      <p:sp>
        <p:nvSpPr>
          <p:cNvPr id="365" name="Google Shape;365;p28"/>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Nearly one-third of tectal neurons were immunoreactive. The reported proportions differed by layer: </a:t>
            </a:r>
            <a:r>
              <a:rPr b="1" i="0" lang="en-US" sz="1800" u="none" cap="none" strike="noStrike">
                <a:solidFill>
                  <a:srgbClr val="28242A"/>
                </a:solidFill>
                <a:latin typeface="Arial"/>
                <a:ea typeface="Arial"/>
                <a:cs typeface="Arial"/>
                <a:sym typeface="Arial"/>
              </a:rPr>
              <a:t>61% in layer 9</a:t>
            </a:r>
            <a:r>
              <a:rPr b="0" i="0" lang="en-US" sz="1800" u="none" cap="none" strike="noStrike">
                <a:solidFill>
                  <a:srgbClr val="28242A"/>
                </a:solidFill>
                <a:latin typeface="Arial"/>
                <a:ea typeface="Arial"/>
                <a:cs typeface="Arial"/>
                <a:sym typeface="Arial"/>
              </a:rPr>
              <a:t>, </a:t>
            </a:r>
            <a:r>
              <a:rPr b="1" i="0" lang="en-US" sz="1800" u="none" cap="none" strike="noStrike">
                <a:solidFill>
                  <a:srgbClr val="28242A"/>
                </a:solidFill>
                <a:latin typeface="Arial"/>
                <a:ea typeface="Arial"/>
                <a:cs typeface="Arial"/>
                <a:sym typeface="Arial"/>
              </a:rPr>
              <a:t>21% in layer 7</a:t>
            </a:r>
            <a:r>
              <a:rPr b="0" i="0" lang="en-US" sz="1800" u="none" cap="none" strike="noStrike">
                <a:solidFill>
                  <a:srgbClr val="28242A"/>
                </a:solidFill>
                <a:latin typeface="Arial"/>
                <a:ea typeface="Arial"/>
                <a:cs typeface="Arial"/>
                <a:sym typeface="Arial"/>
              </a:rPr>
              <a:t>, and </a:t>
            </a:r>
            <a:r>
              <a:rPr b="1" i="0" lang="en-US" sz="1800" u="none" cap="none" strike="noStrike">
                <a:solidFill>
                  <a:srgbClr val="28242A"/>
                </a:solidFill>
                <a:latin typeface="Arial"/>
                <a:ea typeface="Arial"/>
                <a:cs typeface="Arial"/>
                <a:sym typeface="Arial"/>
              </a:rPr>
              <a:t>27% in layer 6</a:t>
            </a:r>
            <a:r>
              <a:rPr b="0" i="0" lang="en-US" sz="1800" u="none" cap="none" strike="noStrike">
                <a:solidFill>
                  <a:srgbClr val="28242A"/>
                </a:solidFill>
                <a:latin typeface="Arial"/>
                <a:ea typeface="Arial"/>
                <a:cs typeface="Arial"/>
                <a:sym typeface="Arial"/>
              </a:rPr>
              <a:t>. Labeled axon terminals and dendrites occurred throughout the plexiform layers.</a:t>
            </a:r>
            <a:endParaRPr b="0" i="0" sz="1800" u="none" cap="none" strike="noStrike">
              <a:solidFill>
                <a:schemeClr val="dk1"/>
              </a:solidFill>
              <a:latin typeface="Calibri"/>
              <a:ea typeface="Calibri"/>
              <a:cs typeface="Calibri"/>
              <a:sym typeface="Calibri"/>
            </a:endParaRPr>
          </a:p>
        </p:txBody>
      </p:sp>
      <p:sp>
        <p:nvSpPr>
          <p:cNvPr id="366" name="Google Shape;366;p28"/>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1" i="0" lang="en-US" sz="1800" u="none" cap="none" strike="noStrike">
                <a:solidFill>
                  <a:srgbClr val="28242A"/>
                </a:solidFill>
                <a:latin typeface="Arial"/>
                <a:ea typeface="Arial"/>
                <a:cs typeface="Arial"/>
                <a:sym typeface="Arial"/>
              </a:rPr>
              <a:t>GABA type A receptors</a:t>
            </a:r>
            <a:r>
              <a:rPr b="0" i="0" lang="en-US" sz="1800" u="none" cap="none" strike="noStrike">
                <a:solidFill>
                  <a:srgbClr val="28242A"/>
                </a:solidFill>
                <a:latin typeface="Arial"/>
                <a:ea typeface="Arial"/>
                <a:cs typeface="Arial"/>
                <a:sym typeface="Arial"/>
              </a:rPr>
              <a:t> are transmitter-gated anion channels. Increasing their conductance can oppose excitation through hyperpolarization or by shunting incoming current, depending on the chloride gradient and membrane voltage.</a:t>
            </a:r>
            <a:endParaRPr b="0" i="0" sz="1800" u="none" cap="none" strike="noStrike">
              <a:solidFill>
                <a:schemeClr val="dk1"/>
              </a:solidFill>
              <a:latin typeface="Calibri"/>
              <a:ea typeface="Calibri"/>
              <a:cs typeface="Calibri"/>
              <a:sym typeface="Calibri"/>
            </a:endParaRPr>
          </a:p>
        </p:txBody>
      </p:sp>
      <p:sp>
        <p:nvSpPr>
          <p:cNvPr id="367" name="Google Shape;367;p28"/>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Consistent with an inhibitory role, blocking these receptors with bicuculline increased polysynaptic tectal responses in the tadpole slice study. These findings support local inhibitory control but do not identify every pretectal suppressive influence as GABAergic.</a:t>
            </a:r>
            <a:endParaRPr b="0" i="0" sz="1800" u="none" cap="none" strike="noStrike">
              <a:solidFill>
                <a:schemeClr val="dk1"/>
              </a:solidFill>
              <a:latin typeface="Calibri"/>
              <a:ea typeface="Calibri"/>
              <a:cs typeface="Calibri"/>
              <a:sym typeface="Calibri"/>
            </a:endParaRPr>
          </a:p>
        </p:txBody>
      </p:sp>
      <p:pic>
        <p:nvPicPr>
          <p:cNvPr id="368" name="Google Shape;368;p28"/>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369" name="Google Shape;369;p28"/>
          <p:cNvSpPr/>
          <p:nvPr/>
        </p:nvSpPr>
        <p:spPr>
          <a:xfrm>
            <a:off x="571500" y="6434138"/>
            <a:ext cx="3381673"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Antal (1991); Hickmott &amp; Constantine-Paton (1993)</a:t>
            </a:r>
            <a:endParaRPr b="0" i="0" sz="1800" u="none" cap="none" strike="noStrike">
              <a:solidFill>
                <a:schemeClr val="dk1"/>
              </a:solidFill>
              <a:latin typeface="Calibri"/>
              <a:ea typeface="Calibri"/>
              <a:cs typeface="Calibri"/>
              <a:sym typeface="Calibri"/>
            </a:endParaRPr>
          </a:p>
        </p:txBody>
      </p:sp>
      <p:sp>
        <p:nvSpPr>
          <p:cNvPr id="370" name="Google Shape;370;p28"/>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28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374" name="Shape 374"/>
        <p:cNvGrpSpPr/>
        <p:nvPr/>
      </p:nvGrpSpPr>
      <p:grpSpPr>
        <a:xfrm>
          <a:off x="0" y="0"/>
          <a:ext cx="0" cy="0"/>
          <a:chOff x="0" y="0"/>
          <a:chExt cx="0" cy="0"/>
        </a:xfrm>
      </p:grpSpPr>
      <p:sp>
        <p:nvSpPr>
          <p:cNvPr id="375" name="Google Shape;375;p29"/>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L-type calcium current can support recurrent excitation</a:t>
            </a:r>
            <a:endParaRPr b="0" i="0" sz="1800" u="none" cap="none" strike="noStrike">
              <a:solidFill>
                <a:schemeClr val="dk1"/>
              </a:solidFill>
              <a:latin typeface="Calibri"/>
              <a:ea typeface="Calibri"/>
              <a:cs typeface="Calibri"/>
              <a:sym typeface="Calibri"/>
            </a:endParaRPr>
          </a:p>
        </p:txBody>
      </p:sp>
      <p:sp>
        <p:nvSpPr>
          <p:cNvPr id="376" name="Google Shape;376;p29"/>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Baginskas and Kuras studied a local frog tectal network in which recurrent pear-shaped neurons help amplify retinal input. Their experiments linked a slow </a:t>
            </a:r>
            <a:r>
              <a:rPr b="1" i="0" lang="en-US" sz="1800" u="none" cap="none" strike="noStrike">
                <a:solidFill>
                  <a:srgbClr val="28242A"/>
                </a:solidFill>
                <a:latin typeface="Arial"/>
                <a:ea typeface="Arial"/>
                <a:cs typeface="Arial"/>
                <a:sym typeface="Arial"/>
              </a:rPr>
              <a:t>L-type calcium current</a:t>
            </a:r>
            <a:r>
              <a:rPr b="0" i="0" lang="en-US" sz="1800" u="none" cap="none" strike="noStrike">
                <a:solidFill>
                  <a:srgbClr val="28242A"/>
                </a:solidFill>
                <a:latin typeface="Arial"/>
                <a:ea typeface="Arial"/>
                <a:cs typeface="Arial"/>
                <a:sym typeface="Arial"/>
              </a:rPr>
              <a:t> to recruitment of an NMDA-dependent high-activity state.</a:t>
            </a:r>
            <a:endParaRPr b="0" i="0" sz="1800" u="none" cap="none" strike="noStrike">
              <a:solidFill>
                <a:schemeClr val="dk1"/>
              </a:solidFill>
              <a:latin typeface="Calibri"/>
              <a:ea typeface="Calibri"/>
              <a:cs typeface="Calibri"/>
              <a:sym typeface="Calibri"/>
            </a:endParaRPr>
          </a:p>
        </p:txBody>
      </p:sp>
      <p:sp>
        <p:nvSpPr>
          <p:cNvPr id="377" name="Google Shape;377;p29"/>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A modest reduction of that calcium current prevented NMDA-receptor recruitment and the transition at which the efferent neuron fired. Efferent denotes a neuron carrying output away from the local circuit.</a:t>
            </a:r>
            <a:endParaRPr b="0" i="0" sz="1800" u="none" cap="none" strike="noStrike">
              <a:solidFill>
                <a:schemeClr val="dk1"/>
              </a:solidFill>
              <a:latin typeface="Calibri"/>
              <a:ea typeface="Calibri"/>
              <a:cs typeface="Calibri"/>
              <a:sym typeface="Calibri"/>
            </a:endParaRPr>
          </a:p>
        </p:txBody>
      </p:sp>
      <p:sp>
        <p:nvSpPr>
          <p:cNvPr id="378" name="Google Shape;378;p29"/>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L-type channels open with depolarization and can support a prolonged dendritic current. NMDA channels are glutamate-gated and voltage-dependent because of magnesium block. The two mechanisms can therefore cooperate without being the same channel.</a:t>
            </a:r>
            <a:endParaRPr b="0" i="0" sz="1800" u="none" cap="none" strike="noStrike">
              <a:solidFill>
                <a:schemeClr val="dk1"/>
              </a:solidFill>
              <a:latin typeface="Calibri"/>
              <a:ea typeface="Calibri"/>
              <a:cs typeface="Calibri"/>
              <a:sym typeface="Calibri"/>
            </a:endParaRPr>
          </a:p>
        </p:txBody>
      </p:sp>
      <p:sp>
        <p:nvSpPr>
          <p:cNvPr id="379" name="Google Shape;379;p29"/>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This work gives a cellular explanation for sustained tectal excitability in the studied frog network. Its pear-shaped recurrent neurons should not be assigned automatically to a named Ewert toad class without matching morphology, physiology, and connectivity.</a:t>
            </a:r>
            <a:endParaRPr b="0" i="0" sz="1800" u="none" cap="none" strike="noStrike">
              <a:solidFill>
                <a:schemeClr val="dk1"/>
              </a:solidFill>
              <a:latin typeface="Calibri"/>
              <a:ea typeface="Calibri"/>
              <a:cs typeface="Calibri"/>
              <a:sym typeface="Calibri"/>
            </a:endParaRPr>
          </a:p>
        </p:txBody>
      </p:sp>
      <p:pic>
        <p:nvPicPr>
          <p:cNvPr id="380" name="Google Shape;380;p29"/>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381" name="Google Shape;381;p29"/>
          <p:cNvSpPr/>
          <p:nvPr/>
        </p:nvSpPr>
        <p:spPr>
          <a:xfrm>
            <a:off x="571500" y="6434138"/>
            <a:ext cx="1708696"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Baginskas &amp; Kuras (2009)</a:t>
            </a:r>
            <a:endParaRPr b="0" i="0" sz="1800" u="none" cap="none" strike="noStrike">
              <a:solidFill>
                <a:schemeClr val="dk1"/>
              </a:solidFill>
              <a:latin typeface="Calibri"/>
              <a:ea typeface="Calibri"/>
              <a:cs typeface="Calibri"/>
              <a:sym typeface="Calibri"/>
            </a:endParaRPr>
          </a:p>
        </p:txBody>
      </p:sp>
      <p:sp>
        <p:nvSpPr>
          <p:cNvPr id="382" name="Google Shape;382;p29"/>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29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386" name="Shape 386"/>
        <p:cNvGrpSpPr/>
        <p:nvPr/>
      </p:nvGrpSpPr>
      <p:grpSpPr>
        <a:xfrm>
          <a:off x="0" y="0"/>
          <a:ext cx="0" cy="0"/>
          <a:chOff x="0" y="0"/>
          <a:chExt cx="0" cy="0"/>
        </a:xfrm>
      </p:grpSpPr>
      <p:sp>
        <p:nvSpPr>
          <p:cNvPr id="387" name="Google Shape;387;p30"/>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Muscarinic receptors can suppress recurrent amplification</a:t>
            </a:r>
            <a:endParaRPr b="0" i="0" sz="1800" u="none" cap="none" strike="noStrike">
              <a:solidFill>
                <a:schemeClr val="dk1"/>
              </a:solidFill>
              <a:latin typeface="Calibri"/>
              <a:ea typeface="Calibri"/>
              <a:cs typeface="Calibri"/>
              <a:sym typeface="Calibri"/>
            </a:endParaRPr>
          </a:p>
        </p:txBody>
      </p:sp>
      <p:sp>
        <p:nvSpPr>
          <p:cNvPr id="388" name="Google Shape;388;p30"/>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Baginskas and Kuras stimulated individual retinal inputs while recording activity in frog tectal columns. The glutamate antagonist </a:t>
            </a:r>
            <a:r>
              <a:rPr b="1" i="0" lang="en-US" sz="1800" u="none" cap="none" strike="noStrike">
                <a:solidFill>
                  <a:srgbClr val="28242A"/>
                </a:solidFill>
                <a:latin typeface="Arial"/>
                <a:ea typeface="Arial"/>
                <a:cs typeface="Arial"/>
                <a:sym typeface="Arial"/>
              </a:rPr>
              <a:t>kynurenic acid, 500 μM</a:t>
            </a:r>
            <a:r>
              <a:rPr b="0" i="0" lang="en-US" sz="1800" u="none" cap="none" strike="noStrike">
                <a:solidFill>
                  <a:srgbClr val="28242A"/>
                </a:solidFill>
                <a:latin typeface="Arial"/>
                <a:ea typeface="Arial"/>
                <a:cs typeface="Arial"/>
                <a:sym typeface="Arial"/>
              </a:rPr>
              <a:t>, depressed recurrent excitation, whereas </a:t>
            </a:r>
            <a:r>
              <a:rPr b="1" i="0" lang="en-US" sz="1800" u="none" cap="none" strike="noStrike">
                <a:solidFill>
                  <a:srgbClr val="28242A"/>
                </a:solidFill>
                <a:latin typeface="Arial"/>
                <a:ea typeface="Arial"/>
                <a:cs typeface="Arial"/>
                <a:sym typeface="Arial"/>
              </a:rPr>
              <a:t>d-tubocurarine, 10 μM</a:t>
            </a:r>
            <a:r>
              <a:rPr b="0" i="0" lang="en-US" sz="1800" u="none" cap="none" strike="noStrike">
                <a:solidFill>
                  <a:srgbClr val="28242A"/>
                </a:solidFill>
                <a:latin typeface="Arial"/>
                <a:ea typeface="Arial"/>
                <a:cs typeface="Arial"/>
                <a:sym typeface="Arial"/>
              </a:rPr>
              <a:t>, did not.</a:t>
            </a:r>
            <a:endParaRPr b="0" i="0" sz="1800" u="none" cap="none" strike="noStrike">
              <a:solidFill>
                <a:schemeClr val="dk1"/>
              </a:solidFill>
              <a:latin typeface="Calibri"/>
              <a:ea typeface="Calibri"/>
              <a:cs typeface="Calibri"/>
              <a:sym typeface="Calibri"/>
            </a:endParaRPr>
          </a:p>
        </p:txBody>
      </p:sp>
      <p:sp>
        <p:nvSpPr>
          <p:cNvPr id="389" name="Google Shape;389;p30"/>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This comparison supported glutamatergic recurrent transmission. Activating muscarinic acetylcholine receptors with </a:t>
            </a:r>
            <a:r>
              <a:rPr b="1" i="0" lang="en-US" sz="1800" u="none" cap="none" strike="noStrike">
                <a:solidFill>
                  <a:srgbClr val="28242A"/>
                </a:solidFill>
                <a:latin typeface="Arial"/>
                <a:ea typeface="Arial"/>
                <a:cs typeface="Arial"/>
                <a:sym typeface="Arial"/>
              </a:rPr>
              <a:t>carbamylcholine, 100 μM</a:t>
            </a:r>
            <a:r>
              <a:rPr b="0" i="0" lang="en-US" sz="1800" u="none" cap="none" strike="noStrike">
                <a:solidFill>
                  <a:srgbClr val="28242A"/>
                </a:solidFill>
                <a:latin typeface="Arial"/>
                <a:ea typeface="Arial"/>
                <a:cs typeface="Arial"/>
                <a:sym typeface="Arial"/>
              </a:rPr>
              <a:t>, or </a:t>
            </a:r>
            <a:r>
              <a:rPr b="1" i="0" lang="en-US" sz="1800" u="none" cap="none" strike="noStrike">
                <a:solidFill>
                  <a:srgbClr val="28242A"/>
                </a:solidFill>
                <a:latin typeface="Arial"/>
                <a:ea typeface="Arial"/>
                <a:cs typeface="Arial"/>
                <a:sym typeface="Arial"/>
              </a:rPr>
              <a:t>oxotremorine-M, 10 μM</a:t>
            </a:r>
            <a:r>
              <a:rPr b="0" i="0" lang="en-US" sz="1800" u="none" cap="none" strike="noStrike">
                <a:solidFill>
                  <a:srgbClr val="28242A"/>
                </a:solidFill>
                <a:latin typeface="Arial"/>
                <a:ea typeface="Arial"/>
                <a:cs typeface="Arial"/>
                <a:sym typeface="Arial"/>
              </a:rPr>
              <a:t>, then reduced that recurrent excitation.</a:t>
            </a:r>
            <a:endParaRPr b="0" i="0" sz="1800" u="none" cap="none" strike="noStrike">
              <a:solidFill>
                <a:schemeClr val="dk1"/>
              </a:solidFill>
              <a:latin typeface="Calibri"/>
              <a:ea typeface="Calibri"/>
              <a:cs typeface="Calibri"/>
              <a:sym typeface="Calibri"/>
            </a:endParaRPr>
          </a:p>
        </p:txBody>
      </p:sp>
      <p:sp>
        <p:nvSpPr>
          <p:cNvPr id="390" name="Google Shape;390;p30"/>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1" i="0" lang="en-US" sz="1800" u="none" cap="none" strike="noStrike">
                <a:solidFill>
                  <a:srgbClr val="28242A"/>
                </a:solidFill>
                <a:latin typeface="Arial"/>
                <a:ea typeface="Arial"/>
                <a:cs typeface="Arial"/>
                <a:sym typeface="Arial"/>
              </a:rPr>
              <a:t>Muscarinic receptors</a:t>
            </a:r>
            <a:r>
              <a:rPr b="0" i="0" lang="en-US" sz="1800" u="none" cap="none" strike="noStrike">
                <a:solidFill>
                  <a:srgbClr val="28242A"/>
                </a:solidFill>
                <a:latin typeface="Arial"/>
                <a:ea typeface="Arial"/>
                <a:cs typeface="Arial"/>
                <a:sym typeface="Arial"/>
              </a:rPr>
              <a:t> are metabotropic acetylcholine receptors. Their action here differed from a fast excitatory nicotinic response: they reduced the circuit amplification required for NMDA-dependent output.</a:t>
            </a:r>
            <a:endParaRPr b="0" i="0" sz="1800" u="none" cap="none" strike="noStrike">
              <a:solidFill>
                <a:schemeClr val="dk1"/>
              </a:solidFill>
              <a:latin typeface="Calibri"/>
              <a:ea typeface="Calibri"/>
              <a:cs typeface="Calibri"/>
              <a:sym typeface="Calibri"/>
            </a:endParaRPr>
          </a:p>
        </p:txBody>
      </p:sp>
      <p:sp>
        <p:nvSpPr>
          <p:cNvPr id="391" name="Google Shape;391;p30"/>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authors proposed a presynaptic location on recurrent terminals. The demonstrated physiological effect is suppression of recurrent transmission and output recruitment. The proposed receptor location remains a more specific mechanistic interpretation than the measured network response.</a:t>
            </a:r>
            <a:endParaRPr b="0" i="0" sz="1800" u="none" cap="none" strike="noStrike">
              <a:solidFill>
                <a:schemeClr val="dk1"/>
              </a:solidFill>
              <a:latin typeface="Calibri"/>
              <a:ea typeface="Calibri"/>
              <a:cs typeface="Calibri"/>
              <a:sym typeface="Calibri"/>
            </a:endParaRPr>
          </a:p>
        </p:txBody>
      </p:sp>
      <p:pic>
        <p:nvPicPr>
          <p:cNvPr id="392" name="Google Shape;392;p30"/>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393" name="Google Shape;393;p30"/>
          <p:cNvSpPr/>
          <p:nvPr/>
        </p:nvSpPr>
        <p:spPr>
          <a:xfrm>
            <a:off x="571500" y="6434138"/>
            <a:ext cx="1708696"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Baginskas &amp; Kuras (2011)</a:t>
            </a:r>
            <a:endParaRPr b="0" i="0" sz="1800" u="none" cap="none" strike="noStrike">
              <a:solidFill>
                <a:schemeClr val="dk1"/>
              </a:solidFill>
              <a:latin typeface="Calibri"/>
              <a:ea typeface="Calibri"/>
              <a:cs typeface="Calibri"/>
              <a:sym typeface="Calibri"/>
            </a:endParaRPr>
          </a:p>
        </p:txBody>
      </p:sp>
      <p:sp>
        <p:nvSpPr>
          <p:cNvPr id="394" name="Google Shape;394;p30"/>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30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398" name="Shape 398"/>
        <p:cNvGrpSpPr/>
        <p:nvPr/>
      </p:nvGrpSpPr>
      <p:grpSpPr>
        <a:xfrm>
          <a:off x="0" y="0"/>
          <a:ext cx="0" cy="0"/>
          <a:chOff x="0" y="0"/>
          <a:chExt cx="0" cy="0"/>
        </a:xfrm>
      </p:grpSpPr>
      <p:sp>
        <p:nvSpPr>
          <p:cNvPr id="399" name="Google Shape;399;p31"/>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The striatum can release tectal circuits from inhibition</a:t>
            </a:r>
            <a:endParaRPr b="0" i="0" sz="1800" u="none" cap="none" strike="noStrike">
              <a:solidFill>
                <a:schemeClr val="dk1"/>
              </a:solidFill>
              <a:latin typeface="Calibri"/>
              <a:ea typeface="Calibri"/>
              <a:cs typeface="Calibri"/>
              <a:sym typeface="Calibri"/>
            </a:endParaRPr>
          </a:p>
        </p:txBody>
      </p:sp>
      <p:sp>
        <p:nvSpPr>
          <p:cNvPr id="400" name="Google Shape;400;p31"/>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In anuran lesion experiments, removal of the telencephalon or caudal striatum suppressed visually guided prey catching. An additional pretectal lesion could restore excessive, poorly selective responding.</a:t>
            </a:r>
            <a:endParaRPr b="0" i="0" sz="1800" u="none" cap="none" strike="noStrike">
              <a:solidFill>
                <a:schemeClr val="dk1"/>
              </a:solidFill>
              <a:latin typeface="Calibri"/>
              <a:ea typeface="Calibri"/>
              <a:cs typeface="Calibri"/>
              <a:sym typeface="Calibri"/>
            </a:endParaRPr>
          </a:p>
        </p:txBody>
      </p:sp>
      <p:sp>
        <p:nvSpPr>
          <p:cNvPr id="401" name="Google Shape;401;p31"/>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This pattern supports </a:t>
            </a:r>
            <a:r>
              <a:rPr b="1" i="0" lang="en-US" sz="1800" u="none" cap="none" strike="noStrike">
                <a:solidFill>
                  <a:srgbClr val="28242A"/>
                </a:solidFill>
                <a:latin typeface="Arial"/>
                <a:ea typeface="Arial"/>
                <a:cs typeface="Arial"/>
                <a:sym typeface="Arial"/>
              </a:rPr>
              <a:t>disinhibition</a:t>
            </a:r>
            <a:r>
              <a:rPr b="0" i="0" lang="en-US" sz="1800" u="none" cap="none" strike="noStrike">
                <a:solidFill>
                  <a:srgbClr val="28242A"/>
                </a:solidFill>
                <a:latin typeface="Arial"/>
                <a:ea typeface="Arial"/>
                <a:cs typeface="Arial"/>
                <a:sym typeface="Arial"/>
              </a:rPr>
              <a:t>: one pathway inhibits an inhibitory pathway, thereby permitting downstream activity. Reduced striatal inhibition could leave stronger pretectal suppression of the tectum.</a:t>
            </a:r>
            <a:endParaRPr b="0" i="0" sz="1800" u="none" cap="none" strike="noStrike">
              <a:solidFill>
                <a:schemeClr val="dk1"/>
              </a:solidFill>
              <a:latin typeface="Calibri"/>
              <a:ea typeface="Calibri"/>
              <a:cs typeface="Calibri"/>
              <a:sym typeface="Calibri"/>
            </a:endParaRPr>
          </a:p>
        </p:txBody>
      </p:sp>
      <p:sp>
        <p:nvSpPr>
          <p:cNvPr id="402" name="Google Shape;402;p31"/>
          <p:cNvSpPr/>
          <p:nvPr/>
        </p:nvSpPr>
        <p:spPr>
          <a:xfrm>
            <a:off x="571500" y="3439716"/>
            <a:ext cx="10972800" cy="118824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Matsumoto and colleagues tested the striatum-to-pretectum connection by stimulating the caudal ventral striatum or lateral forebrain bundle while recording intracellularly in the pretectal region. Some cells showed pure IPSPs with </a:t>
            </a:r>
            <a:r>
              <a:rPr b="1" i="0" lang="en-US" sz="1800" u="none" cap="none" strike="noStrike">
                <a:solidFill>
                  <a:srgbClr val="28242A"/>
                </a:solidFill>
                <a:latin typeface="Arial"/>
                <a:ea typeface="Arial"/>
                <a:cs typeface="Arial"/>
                <a:sym typeface="Arial"/>
              </a:rPr>
              <a:t>2–3 ms latencies</a:t>
            </a:r>
            <a:r>
              <a:rPr b="0" i="0" lang="en-US" sz="1800" u="none" cap="none" strike="noStrike">
                <a:solidFill>
                  <a:srgbClr val="28242A"/>
                </a:solidFill>
                <a:latin typeface="Arial"/>
                <a:ea typeface="Arial"/>
                <a:cs typeface="Arial"/>
                <a:sym typeface="Arial"/>
              </a:rPr>
              <a:t>, consistent with a short, potentially monosynaptic pathway.</a:t>
            </a:r>
            <a:endParaRPr b="0" i="0" sz="1800" u="none" cap="none" strike="noStrike">
              <a:solidFill>
                <a:schemeClr val="dk1"/>
              </a:solidFill>
              <a:latin typeface="Calibri"/>
              <a:ea typeface="Calibri"/>
              <a:cs typeface="Calibri"/>
              <a:sym typeface="Calibri"/>
            </a:endParaRPr>
          </a:p>
        </p:txBody>
      </p:sp>
      <p:sp>
        <p:nvSpPr>
          <p:cNvPr id="403" name="Google Shape;403;p31"/>
          <p:cNvSpPr/>
          <p:nvPr/>
        </p:nvSpPr>
        <p:spPr>
          <a:xfrm>
            <a:off x="571500" y="4742259"/>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Many other cells showed sequential excitation and inhibition. The net gating effect therefore emerges from a more varied circuit than a two-line cartoon. These results do not justify importing the complete mammalian basal-ganglia pathway scheme into the toad.</a:t>
            </a:r>
            <a:endParaRPr b="0" i="0" sz="1800" u="none" cap="none" strike="noStrike">
              <a:solidFill>
                <a:schemeClr val="dk1"/>
              </a:solidFill>
              <a:latin typeface="Calibri"/>
              <a:ea typeface="Calibri"/>
              <a:cs typeface="Calibri"/>
              <a:sym typeface="Calibri"/>
            </a:endParaRPr>
          </a:p>
        </p:txBody>
      </p:sp>
      <p:pic>
        <p:nvPicPr>
          <p:cNvPr id="404" name="Google Shape;404;p31"/>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405" name="Google Shape;405;p31"/>
          <p:cNvSpPr/>
          <p:nvPr/>
        </p:nvSpPr>
        <p:spPr>
          <a:xfrm>
            <a:off x="571500" y="6434138"/>
            <a:ext cx="1606748"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Matsumoto et al. (1991)</a:t>
            </a:r>
            <a:endParaRPr b="0" i="0" sz="1800" u="none" cap="none" strike="noStrike">
              <a:solidFill>
                <a:schemeClr val="dk1"/>
              </a:solidFill>
              <a:latin typeface="Calibri"/>
              <a:ea typeface="Calibri"/>
              <a:cs typeface="Calibri"/>
              <a:sym typeface="Calibri"/>
            </a:endParaRPr>
          </a:p>
        </p:txBody>
      </p:sp>
      <p:sp>
        <p:nvSpPr>
          <p:cNvPr id="406" name="Google Shape;406;p31"/>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31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410" name="Shape 410"/>
        <p:cNvGrpSpPr/>
        <p:nvPr/>
      </p:nvGrpSpPr>
      <p:grpSpPr>
        <a:xfrm>
          <a:off x="0" y="0"/>
          <a:ext cx="0" cy="0"/>
          <a:chOff x="0" y="0"/>
          <a:chExt cx="0" cy="0"/>
        </a:xfrm>
      </p:grpSpPr>
      <p:sp>
        <p:nvSpPr>
          <p:cNvPr id="411" name="Google Shape;411;p32"/>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Striatal neurons carry diverse visual signals</a:t>
            </a:r>
            <a:endParaRPr b="0" i="0" sz="1800" u="none" cap="none" strike="noStrike">
              <a:solidFill>
                <a:schemeClr val="dk1"/>
              </a:solidFill>
              <a:latin typeface="Calibri"/>
              <a:ea typeface="Calibri"/>
              <a:cs typeface="Calibri"/>
              <a:sym typeface="Calibri"/>
            </a:endParaRPr>
          </a:p>
        </p:txBody>
      </p:sp>
      <p:sp>
        <p:nvSpPr>
          <p:cNvPr id="412" name="Google Shape;412;p32"/>
          <p:cNvSpPr/>
          <p:nvPr/>
        </p:nvSpPr>
        <p:spPr>
          <a:xfrm>
            <a:off x="571500" y="1362075"/>
            <a:ext cx="11068050" cy="801439"/>
          </a:xfrm>
          <a:prstGeom prst="rect">
            <a:avLst/>
          </a:prstGeom>
          <a:noFill/>
          <a:ln>
            <a:noFill/>
          </a:ln>
        </p:spPr>
        <p:txBody>
          <a:bodyPr anchorCtr="0" anchor="t" bIns="0" lIns="0" spcFirstLastPara="1" rIns="0" wrap="square" tIns="0">
            <a:normAutofit/>
          </a:bodyPr>
          <a:lstStyle/>
          <a:p>
            <a:pPr indent="0" lvl="0" marL="0" marR="0" rtl="0" algn="l">
              <a:lnSpc>
                <a:spcPct val="122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Buxbaum-Conradi and Ewert recorded </a:t>
            </a:r>
            <a:r>
              <a:rPr b="1" i="0" lang="en-US" sz="1725" u="none" cap="none" strike="noStrike">
                <a:solidFill>
                  <a:srgbClr val="28242A"/>
                </a:solidFill>
                <a:latin typeface="Arial"/>
                <a:ea typeface="Arial"/>
                <a:cs typeface="Arial"/>
                <a:sym typeface="Arial"/>
              </a:rPr>
              <a:t>104 neurons</a:t>
            </a:r>
            <a:r>
              <a:rPr b="0" i="0" lang="en-US" sz="1725" u="none" cap="none" strike="noStrike">
                <a:solidFill>
                  <a:srgbClr val="28242A"/>
                </a:solidFill>
                <a:latin typeface="Arial"/>
                <a:ea typeface="Arial"/>
                <a:cs typeface="Arial"/>
                <a:sym typeface="Arial"/>
              </a:rPr>
              <a:t> in the cane toad’s caudal ventral striatum. The sample contained broad motion responses, compact-object preferences, configurational responses, and visual suppression.</a:t>
            </a:r>
            <a:endParaRPr b="0" i="0" sz="1800" u="none" cap="none" strike="noStrike">
              <a:solidFill>
                <a:schemeClr val="dk1"/>
              </a:solidFill>
              <a:latin typeface="Calibri"/>
              <a:ea typeface="Calibri"/>
              <a:cs typeface="Calibri"/>
              <a:sym typeface="Calibri"/>
            </a:endParaRPr>
          </a:p>
        </p:txBody>
      </p:sp>
      <p:sp>
        <p:nvSpPr>
          <p:cNvPr id="413" name="Google Shape;413;p32"/>
          <p:cNvSpPr/>
          <p:nvPr/>
        </p:nvSpPr>
        <p:spPr>
          <a:xfrm>
            <a:off x="571500" y="2249239"/>
            <a:ext cx="11068050" cy="534293"/>
          </a:xfrm>
          <a:prstGeom prst="rect">
            <a:avLst/>
          </a:prstGeom>
          <a:noFill/>
          <a:ln>
            <a:noFill/>
          </a:ln>
        </p:spPr>
        <p:txBody>
          <a:bodyPr anchorCtr="0" anchor="t" bIns="0" lIns="0" spcFirstLastPara="1" rIns="0" wrap="square" tIns="0">
            <a:normAutofit/>
          </a:bodyPr>
          <a:lstStyle/>
          <a:p>
            <a:pPr indent="0" lvl="0" marL="0" marR="0" rtl="0" algn="l">
              <a:lnSpc>
                <a:spcPct val="122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 table gives the published proportions. Receptive fields covered the contralateral field in </a:t>
            </a:r>
            <a:r>
              <a:rPr b="1" i="0" lang="en-US" sz="1725" u="none" cap="none" strike="noStrike">
                <a:solidFill>
                  <a:srgbClr val="28242A"/>
                </a:solidFill>
                <a:latin typeface="Arial"/>
                <a:ea typeface="Arial"/>
                <a:cs typeface="Arial"/>
                <a:sym typeface="Arial"/>
              </a:rPr>
              <a:t>46%</a:t>
            </a:r>
            <a:r>
              <a:rPr b="0" i="0" lang="en-US" sz="1725" u="none" cap="none" strike="noStrike">
                <a:solidFill>
                  <a:srgbClr val="28242A"/>
                </a:solidFill>
                <a:latin typeface="Arial"/>
                <a:ea typeface="Arial"/>
                <a:cs typeface="Arial"/>
                <a:sym typeface="Arial"/>
              </a:rPr>
              <a:t> of cells and the entire visual field in </a:t>
            </a:r>
            <a:r>
              <a:rPr b="1" i="0" lang="en-US" sz="1725" u="none" cap="none" strike="noStrike">
                <a:solidFill>
                  <a:srgbClr val="28242A"/>
                </a:solidFill>
                <a:latin typeface="Arial"/>
                <a:ea typeface="Arial"/>
                <a:cs typeface="Arial"/>
                <a:sym typeface="Arial"/>
              </a:rPr>
              <a:t>54%</a:t>
            </a:r>
            <a:r>
              <a:rPr b="0" i="0" lang="en-US" sz="1725" u="none" cap="none" strike="noStrike">
                <a:solidFill>
                  <a:srgbClr val="28242A"/>
                </a:solidFill>
                <a:latin typeface="Arial"/>
                <a:ea typeface="Arial"/>
                <a:cs typeface="Arial"/>
                <a:sym typeface="Arial"/>
              </a:rPr>
              <a:t>. These broad fields differ from a narrowly localized retinal representation.</a:t>
            </a:r>
            <a:endParaRPr b="0" i="0" sz="1800" u="none" cap="none" strike="noStrike">
              <a:solidFill>
                <a:schemeClr val="dk1"/>
              </a:solidFill>
              <a:latin typeface="Calibri"/>
              <a:ea typeface="Calibri"/>
              <a:cs typeface="Calibri"/>
              <a:sym typeface="Calibri"/>
            </a:endParaRPr>
          </a:p>
        </p:txBody>
      </p:sp>
      <p:sp>
        <p:nvSpPr>
          <p:cNvPr id="414" name="Google Shape;414;p32"/>
          <p:cNvSpPr/>
          <p:nvPr/>
        </p:nvSpPr>
        <p:spPr>
          <a:xfrm>
            <a:off x="571500" y="2869257"/>
            <a:ext cx="11068050" cy="801439"/>
          </a:xfrm>
          <a:prstGeom prst="rect">
            <a:avLst/>
          </a:prstGeom>
          <a:noFill/>
          <a:ln>
            <a:noFill/>
          </a:ln>
        </p:spPr>
        <p:txBody>
          <a:bodyPr anchorCtr="0" anchor="t" bIns="0" lIns="0" spcFirstLastPara="1" rIns="0" wrap="square" tIns="0">
            <a:normAutofit/>
          </a:bodyPr>
          <a:lstStyle/>
          <a:p>
            <a:pPr indent="0" lvl="0" marL="0" marR="0" rtl="0" algn="l">
              <a:lnSpc>
                <a:spcPct val="122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Some recorded neurons could be driven antidromically through the lateral forebrain bundle, supporting a caudal output route. The study establishes visual access to striatal circuitry. Its interpretation in terms of attention is a functional proposal, rather than a direct measurement of an internal attentional state.</a:t>
            </a:r>
            <a:endParaRPr b="0" i="0" sz="1800" u="none" cap="none" strike="noStrike">
              <a:solidFill>
                <a:schemeClr val="dk1"/>
              </a:solidFill>
              <a:latin typeface="Calibri"/>
              <a:ea typeface="Calibri"/>
              <a:cs typeface="Calibri"/>
              <a:sym typeface="Calibri"/>
            </a:endParaRPr>
          </a:p>
        </p:txBody>
      </p:sp>
      <p:pic>
        <p:nvPicPr>
          <p:cNvPr id="415" name="Google Shape;415;p32"/>
          <p:cNvPicPr preferRelativeResize="0"/>
          <p:nvPr/>
        </p:nvPicPr>
        <p:blipFill rotWithShape="1">
          <a:blip r:embed="rId3">
            <a:alphaModFix/>
          </a:blip>
          <a:srcRect b="0" l="0" r="0" t="0"/>
          <a:stretch/>
        </p:blipFill>
        <p:spPr>
          <a:xfrm>
            <a:off x="571500" y="3804047"/>
            <a:ext cx="11049000" cy="2319933"/>
          </a:xfrm>
          <a:prstGeom prst="rect">
            <a:avLst/>
          </a:prstGeom>
          <a:noFill/>
          <a:ln>
            <a:noFill/>
          </a:ln>
        </p:spPr>
      </p:pic>
      <p:pic>
        <p:nvPicPr>
          <p:cNvPr id="416" name="Google Shape;416;p32"/>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417" name="Google Shape;417;p32"/>
          <p:cNvSpPr/>
          <p:nvPr/>
        </p:nvSpPr>
        <p:spPr>
          <a:xfrm>
            <a:off x="571500" y="6434138"/>
            <a:ext cx="2249388"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Buxbaum-Conradi &amp; Ewert (1999)</a:t>
            </a:r>
            <a:endParaRPr b="0" i="0" sz="1800" u="none" cap="none" strike="noStrike">
              <a:solidFill>
                <a:schemeClr val="dk1"/>
              </a:solidFill>
              <a:latin typeface="Calibri"/>
              <a:ea typeface="Calibri"/>
              <a:cs typeface="Calibri"/>
              <a:sym typeface="Calibri"/>
            </a:endParaRPr>
          </a:p>
        </p:txBody>
      </p:sp>
      <p:sp>
        <p:nvSpPr>
          <p:cNvPr id="418" name="Google Shape;418;p32"/>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32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422" name="Shape 422"/>
        <p:cNvGrpSpPr/>
        <p:nvPr/>
      </p:nvGrpSpPr>
      <p:grpSpPr>
        <a:xfrm>
          <a:off x="0" y="0"/>
          <a:ext cx="0" cy="0"/>
          <a:chOff x="0" y="0"/>
          <a:chExt cx="0" cy="0"/>
        </a:xfrm>
      </p:grpSpPr>
      <p:sp>
        <p:nvSpPr>
          <p:cNvPr id="423" name="Google Shape;423;p33"/>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Dopamine manipulations separate turning from snapping</a:t>
            </a:r>
            <a:endParaRPr b="0" i="0" sz="1800" u="none" cap="none" strike="noStrike">
              <a:solidFill>
                <a:schemeClr val="dk1"/>
              </a:solidFill>
              <a:latin typeface="Calibri"/>
              <a:ea typeface="Calibri"/>
              <a:cs typeface="Calibri"/>
              <a:sym typeface="Calibri"/>
            </a:endParaRPr>
          </a:p>
        </p:txBody>
      </p:sp>
      <p:sp>
        <p:nvSpPr>
          <p:cNvPr id="424" name="Google Shape;424;p33"/>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Glagow and Ewert administered </a:t>
            </a:r>
            <a:r>
              <a:rPr b="1" i="0" lang="en-US" sz="1800" u="none" cap="none" strike="noStrike">
                <a:solidFill>
                  <a:srgbClr val="28242A"/>
                </a:solidFill>
                <a:latin typeface="Arial"/>
                <a:ea typeface="Arial"/>
                <a:cs typeface="Arial"/>
                <a:sym typeface="Arial"/>
              </a:rPr>
              <a:t>apomorphine</a:t>
            </a:r>
            <a:r>
              <a:rPr b="0" i="0" lang="en-US" sz="1800" u="none" cap="none" strike="noStrike">
                <a:solidFill>
                  <a:srgbClr val="28242A"/>
                </a:solidFill>
                <a:latin typeface="Arial"/>
                <a:ea typeface="Arial"/>
                <a:cs typeface="Arial"/>
                <a:sym typeface="Arial"/>
              </a:rPr>
              <a:t>, a dopamine D1/D2-receptor agonist, to common toads. Prey-oriented turning and lunging decreased, while snapping toward nearby frontal prey increased in a dose-dependent manner.</a:t>
            </a:r>
            <a:endParaRPr b="0" i="0" sz="1800" u="none" cap="none" strike="noStrike">
              <a:solidFill>
                <a:schemeClr val="dk1"/>
              </a:solidFill>
              <a:latin typeface="Calibri"/>
              <a:ea typeface="Calibri"/>
              <a:cs typeface="Calibri"/>
              <a:sym typeface="Calibri"/>
            </a:endParaRPr>
          </a:p>
        </p:txBody>
      </p:sp>
      <p:sp>
        <p:nvSpPr>
          <p:cNvPr id="425" name="Google Shape;425;p33"/>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facilitation of snapping peaked approximately </a:t>
            </a:r>
            <a:r>
              <a:rPr b="1" i="0" lang="en-US" sz="1800" u="none" cap="none" strike="noStrike">
                <a:solidFill>
                  <a:srgbClr val="28242A"/>
                </a:solidFill>
                <a:latin typeface="Arial"/>
                <a:ea typeface="Arial"/>
                <a:cs typeface="Arial"/>
                <a:sym typeface="Arial"/>
              </a:rPr>
              <a:t>15–35 minutes</a:t>
            </a:r>
            <a:r>
              <a:rPr b="0" i="0" lang="en-US" sz="1800" u="none" cap="none" strike="noStrike">
                <a:solidFill>
                  <a:srgbClr val="28242A"/>
                </a:solidFill>
                <a:latin typeface="Arial"/>
                <a:ea typeface="Arial"/>
                <a:cs typeface="Arial"/>
                <a:sym typeface="Arial"/>
              </a:rPr>
              <a:t> after injection. Turning recovered at about </a:t>
            </a:r>
            <a:r>
              <a:rPr b="1" i="0" lang="en-US" sz="1800" u="none" cap="none" strike="noStrike">
                <a:solidFill>
                  <a:srgbClr val="28242A"/>
                </a:solidFill>
                <a:latin typeface="Arial"/>
                <a:ea typeface="Arial"/>
                <a:cs typeface="Arial"/>
                <a:sym typeface="Arial"/>
              </a:rPr>
              <a:t>90 minutes</a:t>
            </a:r>
            <a:r>
              <a:rPr b="0" i="0" lang="en-US" sz="1800" u="none" cap="none" strike="noStrike">
                <a:solidFill>
                  <a:srgbClr val="28242A"/>
                </a:solidFill>
                <a:latin typeface="Arial"/>
                <a:ea typeface="Arial"/>
                <a:cs typeface="Arial"/>
                <a:sym typeface="Arial"/>
              </a:rPr>
              <a:t> and showed a facilitatory rebound. Pretreatment with the dopamine antagonist </a:t>
            </a:r>
            <a:r>
              <a:rPr b="1" i="0" lang="en-US" sz="1800" u="none" cap="none" strike="noStrike">
                <a:solidFill>
                  <a:srgbClr val="28242A"/>
                </a:solidFill>
                <a:latin typeface="Arial"/>
                <a:ea typeface="Arial"/>
                <a:cs typeface="Arial"/>
                <a:sym typeface="Arial"/>
              </a:rPr>
              <a:t>haloperidol</a:t>
            </a:r>
            <a:r>
              <a:rPr b="0" i="0" lang="en-US" sz="1800" u="none" cap="none" strike="noStrike">
                <a:solidFill>
                  <a:srgbClr val="28242A"/>
                </a:solidFill>
                <a:latin typeface="Arial"/>
                <a:ea typeface="Arial"/>
                <a:cs typeface="Arial"/>
                <a:sym typeface="Arial"/>
              </a:rPr>
              <a:t> prevented the measured apomorphine effects.</a:t>
            </a:r>
            <a:endParaRPr b="0" i="0" sz="1800" u="none" cap="none" strike="noStrike">
              <a:solidFill>
                <a:schemeClr val="dk1"/>
              </a:solidFill>
              <a:latin typeface="Calibri"/>
              <a:ea typeface="Calibri"/>
              <a:cs typeface="Calibri"/>
              <a:sym typeface="Calibri"/>
            </a:endParaRPr>
          </a:p>
        </p:txBody>
      </p:sp>
      <p:sp>
        <p:nvSpPr>
          <p:cNvPr id="426" name="Google Shape;426;p33"/>
          <p:cNvSpPr/>
          <p:nvPr/>
        </p:nvSpPr>
        <p:spPr>
          <a:xfrm>
            <a:off x="571500" y="3439716"/>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dissociation shows that prey capture contains components with different modulatory sensitivities. An animal can retain the ability to snap while showing little pursuit.</a:t>
            </a:r>
            <a:endParaRPr b="0" i="0" sz="1800" u="none" cap="none" strike="noStrike">
              <a:solidFill>
                <a:schemeClr val="dk1"/>
              </a:solidFill>
              <a:latin typeface="Calibri"/>
              <a:ea typeface="Calibri"/>
              <a:cs typeface="Calibri"/>
              <a:sym typeface="Calibri"/>
            </a:endParaRPr>
          </a:p>
        </p:txBody>
      </p:sp>
      <p:sp>
        <p:nvSpPr>
          <p:cNvPr id="427" name="Google Shape;427;p33"/>
          <p:cNvSpPr/>
          <p:nvPr/>
        </p:nvSpPr>
        <p:spPr>
          <a:xfrm>
            <a:off x="571500" y="414813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species comparison is essential: in cane toads, apomorphine suppressed both turning and snapping. Systemic drug delivery also acts at multiple sites, so these results cannot identify a single dopamine receptor subtype or brain region as the sole controller.</a:t>
            </a:r>
            <a:endParaRPr b="0" i="0" sz="1800" u="none" cap="none" strike="noStrike">
              <a:solidFill>
                <a:schemeClr val="dk1"/>
              </a:solidFill>
              <a:latin typeface="Calibri"/>
              <a:ea typeface="Calibri"/>
              <a:cs typeface="Calibri"/>
              <a:sym typeface="Calibri"/>
            </a:endParaRPr>
          </a:p>
        </p:txBody>
      </p:sp>
      <p:pic>
        <p:nvPicPr>
          <p:cNvPr id="428" name="Google Shape;428;p33"/>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429" name="Google Shape;429;p33"/>
          <p:cNvSpPr/>
          <p:nvPr/>
        </p:nvSpPr>
        <p:spPr>
          <a:xfrm>
            <a:off x="571500" y="6434138"/>
            <a:ext cx="1535460"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Glagow &amp; Ewert (1997)</a:t>
            </a:r>
            <a:endParaRPr b="0" i="0" sz="1800" u="none" cap="none" strike="noStrike">
              <a:solidFill>
                <a:schemeClr val="dk1"/>
              </a:solidFill>
              <a:latin typeface="Calibri"/>
              <a:ea typeface="Calibri"/>
              <a:cs typeface="Calibri"/>
              <a:sym typeface="Calibri"/>
            </a:endParaRPr>
          </a:p>
        </p:txBody>
      </p:sp>
      <p:sp>
        <p:nvSpPr>
          <p:cNvPr id="430" name="Google Shape;430;p33"/>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33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434" name="Shape 434"/>
        <p:cNvGrpSpPr/>
        <p:nvPr/>
      </p:nvGrpSpPr>
      <p:grpSpPr>
        <a:xfrm>
          <a:off x="0" y="0"/>
          <a:ext cx="0" cy="0"/>
          <a:chOff x="0" y="0"/>
          <a:chExt cx="0" cy="0"/>
        </a:xfrm>
      </p:grpSpPr>
      <p:sp>
        <p:nvSpPr>
          <p:cNvPr id="435" name="Google Shape;435;p34"/>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More retinal firing can accompany less tectal output</a:t>
            </a:r>
            <a:endParaRPr b="0" i="0" sz="1800" u="none" cap="none" strike="noStrike">
              <a:solidFill>
                <a:schemeClr val="dk1"/>
              </a:solidFill>
              <a:latin typeface="Calibri"/>
              <a:ea typeface="Calibri"/>
              <a:cs typeface="Calibri"/>
              <a:sym typeface="Calibri"/>
            </a:endParaRPr>
          </a:p>
        </p:txBody>
      </p:sp>
      <p:sp>
        <p:nvSpPr>
          <p:cNvPr id="436" name="Google Shape;436;p34"/>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After systemic apomorphine in common toads, retinal R2 and R3 responses to moving objects increased, and their excitatory receptive-field diameters approximately doubled. At the same time, T5.1 and T5.2 discharge rates decreased.</a:t>
            </a:r>
            <a:endParaRPr b="0" i="0" sz="1800" u="none" cap="none" strike="noStrike">
              <a:solidFill>
                <a:schemeClr val="dk1"/>
              </a:solidFill>
              <a:latin typeface="Calibri"/>
              <a:ea typeface="Calibri"/>
              <a:cs typeface="Calibri"/>
              <a:sym typeface="Calibri"/>
            </a:endParaRPr>
          </a:p>
        </p:txBody>
      </p:sp>
      <p:sp>
        <p:nvSpPr>
          <p:cNvPr id="437" name="Google Shape;437;p34"/>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tectal receptive-field diameters did not show the same expansion, and the basic configurational discrimination pattern persisted. The drug therefore changed excitability at different stages in different directions.</a:t>
            </a:r>
            <a:endParaRPr b="0" i="0" sz="1800" u="none" cap="none" strike="noStrike">
              <a:solidFill>
                <a:schemeClr val="dk1"/>
              </a:solidFill>
              <a:latin typeface="Calibri"/>
              <a:ea typeface="Calibri"/>
              <a:cs typeface="Calibri"/>
              <a:sym typeface="Calibri"/>
            </a:endParaRPr>
          </a:p>
        </p:txBody>
      </p:sp>
      <p:sp>
        <p:nvSpPr>
          <p:cNvPr id="438" name="Google Shape;438;p34"/>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A </a:t>
            </a:r>
            <a:r>
              <a:rPr b="1" i="0" lang="en-US" sz="1800" u="none" cap="none" strike="noStrike">
                <a:solidFill>
                  <a:srgbClr val="28242A"/>
                </a:solidFill>
                <a:latin typeface="Arial"/>
                <a:ea typeface="Arial"/>
                <a:cs typeface="Arial"/>
                <a:sym typeface="Arial"/>
              </a:rPr>
              <a:t>gain change</a:t>
            </a:r>
            <a:r>
              <a:rPr b="0" i="0" lang="en-US" sz="1800" u="none" cap="none" strike="noStrike">
                <a:solidFill>
                  <a:srgbClr val="28242A"/>
                </a:solidFill>
                <a:latin typeface="Arial"/>
                <a:ea typeface="Arial"/>
                <a:cs typeface="Arial"/>
                <a:sym typeface="Arial"/>
              </a:rPr>
              <a:t> alters response magnitude. A change in selectivity alters the relative responses to different stimuli. These effects must be measured separately, because a neuron can retain a preference while its overall firing declines.</a:t>
            </a:r>
            <a:endParaRPr b="0" i="0" sz="1800" u="none" cap="none" strike="noStrike">
              <a:solidFill>
                <a:schemeClr val="dk1"/>
              </a:solidFill>
              <a:latin typeface="Calibri"/>
              <a:ea typeface="Calibri"/>
              <a:cs typeface="Calibri"/>
              <a:sym typeface="Calibri"/>
            </a:endParaRPr>
          </a:p>
        </p:txBody>
      </p:sp>
      <p:sp>
        <p:nvSpPr>
          <p:cNvPr id="439" name="Google Shape;439;p34"/>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authors proposed enhanced pretectal suppression of tectal output as one explanation. The results directly establish the retinal–tectal dissociation. They do not prove that higher sensory input inevitably produces a stronger behavioral response.</a:t>
            </a:r>
            <a:endParaRPr b="0" i="0" sz="1800" u="none" cap="none" strike="noStrike">
              <a:solidFill>
                <a:schemeClr val="dk1"/>
              </a:solidFill>
              <a:latin typeface="Calibri"/>
              <a:ea typeface="Calibri"/>
              <a:cs typeface="Calibri"/>
              <a:sym typeface="Calibri"/>
            </a:endParaRPr>
          </a:p>
        </p:txBody>
      </p:sp>
      <p:pic>
        <p:nvPicPr>
          <p:cNvPr id="440" name="Google Shape;440;p34"/>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441" name="Google Shape;441;p34"/>
          <p:cNvSpPr/>
          <p:nvPr/>
        </p:nvSpPr>
        <p:spPr>
          <a:xfrm>
            <a:off x="571500" y="6434138"/>
            <a:ext cx="1535460"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Glagow &amp; Ewert (1997)</a:t>
            </a:r>
            <a:endParaRPr b="0" i="0" sz="1800" u="none" cap="none" strike="noStrike">
              <a:solidFill>
                <a:schemeClr val="dk1"/>
              </a:solidFill>
              <a:latin typeface="Calibri"/>
              <a:ea typeface="Calibri"/>
              <a:cs typeface="Calibri"/>
              <a:sym typeface="Calibri"/>
            </a:endParaRPr>
          </a:p>
        </p:txBody>
      </p:sp>
      <p:sp>
        <p:nvSpPr>
          <p:cNvPr id="442" name="Google Shape;442;p34"/>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34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446" name="Shape 446"/>
        <p:cNvGrpSpPr/>
        <p:nvPr/>
      </p:nvGrpSpPr>
      <p:grpSpPr>
        <a:xfrm>
          <a:off x="0" y="0"/>
          <a:ext cx="0" cy="0"/>
          <a:chOff x="0" y="0"/>
          <a:chExt cx="0" cy="0"/>
        </a:xfrm>
      </p:grpSpPr>
      <p:sp>
        <p:nvSpPr>
          <p:cNvPr id="447" name="Google Shape;447;p35"/>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Habituation alters activity in a distributed circuit</a:t>
            </a:r>
            <a:endParaRPr b="0" i="0" sz="1800" u="none" cap="none" strike="noStrike">
              <a:solidFill>
                <a:schemeClr val="dk1"/>
              </a:solidFill>
              <a:latin typeface="Calibri"/>
              <a:ea typeface="Calibri"/>
              <a:cs typeface="Calibri"/>
              <a:sym typeface="Calibri"/>
            </a:endParaRPr>
          </a:p>
        </p:txBody>
      </p:sp>
      <p:sp>
        <p:nvSpPr>
          <p:cNvPr id="448" name="Google Shape;448;p35"/>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1" i="0" lang="en-US" sz="1800" u="none" cap="none" strike="noStrike">
                <a:solidFill>
                  <a:srgbClr val="28242A"/>
                </a:solidFill>
                <a:latin typeface="Arial"/>
                <a:ea typeface="Arial"/>
                <a:cs typeface="Arial"/>
                <a:sym typeface="Arial"/>
              </a:rPr>
              <a:t>Habituation</a:t>
            </a:r>
            <a:r>
              <a:rPr b="0" i="0" lang="en-US" sz="1800" u="none" cap="none" strike="noStrike">
                <a:solidFill>
                  <a:srgbClr val="28242A"/>
                </a:solidFill>
                <a:latin typeface="Arial"/>
                <a:ea typeface="Arial"/>
                <a:cs typeface="Arial"/>
                <a:sym typeface="Arial"/>
              </a:rPr>
              <a:t> is a decrease in responding after repeated stimulation that cannot be explained simply by sensory loss or exhausted muscles. In toads, repeated presentation of a prey dummy can reduce orienting in a stimulus-specific manner.</a:t>
            </a:r>
            <a:endParaRPr b="0" i="0" sz="1800" u="none" cap="none" strike="noStrike">
              <a:solidFill>
                <a:schemeClr val="dk1"/>
              </a:solidFill>
              <a:latin typeface="Calibri"/>
              <a:ea typeface="Calibri"/>
              <a:cs typeface="Calibri"/>
              <a:sym typeface="Calibri"/>
            </a:endParaRPr>
          </a:p>
        </p:txBody>
      </p:sp>
      <p:sp>
        <p:nvSpPr>
          <p:cNvPr id="449" name="Google Shape;449;p35"/>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Finkenstädt and Ewert compared glucose utilization in habituated and non-habituated animals with the </a:t>
            </a:r>
            <a:r>
              <a:rPr b="1" i="0" lang="en-US" sz="1800" u="none" cap="none" strike="noStrike">
                <a:solidFill>
                  <a:srgbClr val="28242A"/>
                </a:solidFill>
                <a:latin typeface="Arial"/>
                <a:ea typeface="Arial"/>
                <a:cs typeface="Arial"/>
                <a:sym typeface="Arial"/>
              </a:rPr>
              <a:t>¹⁴C-2-deoxyglucose method</a:t>
            </a:r>
            <a:r>
              <a:rPr b="0" i="0" lang="en-US" sz="1800" u="none" cap="none" strike="noStrike">
                <a:solidFill>
                  <a:srgbClr val="28242A"/>
                </a:solidFill>
                <a:latin typeface="Arial"/>
                <a:ea typeface="Arial"/>
                <a:cs typeface="Arial"/>
                <a:sym typeface="Arial"/>
              </a:rPr>
              <a:t>. This metabolic tracer accumulates in relation to local glucose use over the measurement interval.</a:t>
            </a:r>
            <a:endParaRPr b="0" i="0" sz="1800" u="none" cap="none" strike="noStrike">
              <a:solidFill>
                <a:schemeClr val="dk1"/>
              </a:solidFill>
              <a:latin typeface="Calibri"/>
              <a:ea typeface="Calibri"/>
              <a:cs typeface="Calibri"/>
              <a:sym typeface="Calibri"/>
            </a:endParaRPr>
          </a:p>
        </p:txBody>
      </p:sp>
      <p:sp>
        <p:nvSpPr>
          <p:cNvPr id="450" name="Google Shape;450;p35"/>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Habituated toads showed reduced uptake in ventral tectal layers and several motor-associated regions, but increased uptake in ventromedial pallium, part of the preoptic area, and dorsal hypothalamus. Pallial lesions delayed habituation.</a:t>
            </a:r>
            <a:endParaRPr b="0" i="0" sz="1800" u="none" cap="none" strike="noStrike">
              <a:solidFill>
                <a:schemeClr val="dk1"/>
              </a:solidFill>
              <a:latin typeface="Calibri"/>
              <a:ea typeface="Calibri"/>
              <a:cs typeface="Calibri"/>
              <a:sym typeface="Calibri"/>
            </a:endParaRPr>
          </a:p>
        </p:txBody>
      </p:sp>
      <p:sp>
        <p:nvSpPr>
          <p:cNvPr id="451" name="Google Shape;451;p35"/>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combination supports participation of circuitry beyond the sensory–motor pathway itself. Increased metabolic labeling does not specify whether a population excites or inhibits its targets, and reduced movement can contribute to metabolic differences in motor regions.</a:t>
            </a:r>
            <a:endParaRPr b="0" i="0" sz="1800" u="none" cap="none" strike="noStrike">
              <a:solidFill>
                <a:schemeClr val="dk1"/>
              </a:solidFill>
              <a:latin typeface="Calibri"/>
              <a:ea typeface="Calibri"/>
              <a:cs typeface="Calibri"/>
              <a:sym typeface="Calibri"/>
            </a:endParaRPr>
          </a:p>
        </p:txBody>
      </p:sp>
      <p:pic>
        <p:nvPicPr>
          <p:cNvPr id="452" name="Google Shape;452;p35"/>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453" name="Google Shape;453;p35"/>
          <p:cNvSpPr/>
          <p:nvPr/>
        </p:nvSpPr>
        <p:spPr>
          <a:xfrm>
            <a:off x="571500" y="6434138"/>
            <a:ext cx="1814810"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Finkenstädt &amp; Ewert (1988)</a:t>
            </a:r>
            <a:endParaRPr b="0" i="0" sz="1800" u="none" cap="none" strike="noStrike">
              <a:solidFill>
                <a:schemeClr val="dk1"/>
              </a:solidFill>
              <a:latin typeface="Calibri"/>
              <a:ea typeface="Calibri"/>
              <a:cs typeface="Calibri"/>
              <a:sym typeface="Calibri"/>
            </a:endParaRPr>
          </a:p>
        </p:txBody>
      </p:sp>
      <p:sp>
        <p:nvSpPr>
          <p:cNvPr id="454" name="Google Shape;454;p35"/>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35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458" name="Shape 458"/>
        <p:cNvGrpSpPr/>
        <p:nvPr/>
      </p:nvGrpSpPr>
      <p:grpSpPr>
        <a:xfrm>
          <a:off x="0" y="0"/>
          <a:ext cx="0" cy="0"/>
          <a:chOff x="0" y="0"/>
          <a:chExt cx="0" cy="0"/>
        </a:xfrm>
      </p:grpSpPr>
      <p:sp>
        <p:nvSpPr>
          <p:cNvPr id="459" name="Google Shape;459;p36"/>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Dishabituation experiments can reject part of a neural model</a:t>
            </a:r>
            <a:endParaRPr b="0" i="0" sz="1800" u="none" cap="none" strike="noStrike">
              <a:solidFill>
                <a:schemeClr val="dk1"/>
              </a:solidFill>
              <a:latin typeface="Calibri"/>
              <a:ea typeface="Calibri"/>
              <a:cs typeface="Calibri"/>
              <a:sym typeface="Calibri"/>
            </a:endParaRPr>
          </a:p>
        </p:txBody>
      </p:sp>
      <p:sp>
        <p:nvSpPr>
          <p:cNvPr id="460" name="Google Shape;460;p36"/>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Wang and Ewert tested a model that used temporal neural responses to explain discrimination among wormlike stimuli. It predicted how a hierarchy of </a:t>
            </a:r>
            <a:r>
              <a:rPr b="1" i="0" lang="en-US" sz="1800" u="none" cap="none" strike="noStrike">
                <a:solidFill>
                  <a:srgbClr val="28242A"/>
                </a:solidFill>
                <a:latin typeface="Arial"/>
                <a:ea typeface="Arial"/>
                <a:cs typeface="Arial"/>
                <a:sym typeface="Arial"/>
              </a:rPr>
              <a:t>dishabituation</a:t>
            </a:r>
            <a:r>
              <a:rPr b="0" i="0" lang="en-US" sz="1800" u="none" cap="none" strike="noStrike">
                <a:solidFill>
                  <a:srgbClr val="28242A"/>
                </a:solidFill>
                <a:latin typeface="Arial"/>
                <a:ea typeface="Arial"/>
                <a:cs typeface="Arial"/>
                <a:sym typeface="Arial"/>
              </a:rPr>
              <a:t>, renewed responding after a changed stimulus, should change under contrast reversal or reduced stimulus size.</a:t>
            </a:r>
            <a:endParaRPr b="0" i="0" sz="1800" u="none" cap="none" strike="noStrike">
              <a:solidFill>
                <a:schemeClr val="dk1"/>
              </a:solidFill>
              <a:latin typeface="Calibri"/>
              <a:ea typeface="Calibri"/>
              <a:cs typeface="Calibri"/>
              <a:sym typeface="Calibri"/>
            </a:endParaRPr>
          </a:p>
        </p:txBody>
      </p:sp>
      <p:sp>
        <p:nvSpPr>
          <p:cNvPr id="461" name="Google Shape;461;p36"/>
          <p:cNvSpPr/>
          <p:nvPr/>
        </p:nvSpPr>
        <p:spPr>
          <a:xfrm>
            <a:off x="571500" y="2434233"/>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contrast-reversal comparison supported the prediction. The size-reduction comparison did not. Additional experiments instead supported size invariance in the discrimination tested.</a:t>
            </a:r>
            <a:endParaRPr b="0" i="0" sz="1800" u="none" cap="none" strike="noStrike">
              <a:solidFill>
                <a:schemeClr val="dk1"/>
              </a:solidFill>
              <a:latin typeface="Calibri"/>
              <a:ea typeface="Calibri"/>
              <a:cs typeface="Calibri"/>
              <a:sym typeface="Calibri"/>
            </a:endParaRPr>
          </a:p>
        </p:txBody>
      </p:sp>
      <p:sp>
        <p:nvSpPr>
          <p:cNvPr id="462" name="Google Shape;462;p36"/>
          <p:cNvSpPr/>
          <p:nvPr/>
        </p:nvSpPr>
        <p:spPr>
          <a:xfrm>
            <a:off x="571500" y="3142655"/>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failure is informative: a model can reproduce one behavioral relationship yet rely on a mechanism that gives the wrong prediction under another controlled change.</a:t>
            </a:r>
            <a:endParaRPr b="0" i="0" sz="1800" u="none" cap="none" strike="noStrike">
              <a:solidFill>
                <a:schemeClr val="dk1"/>
              </a:solidFill>
              <a:latin typeface="Calibri"/>
              <a:ea typeface="Calibri"/>
              <a:cs typeface="Calibri"/>
              <a:sym typeface="Calibri"/>
            </a:endParaRPr>
          </a:p>
        </p:txBody>
      </p:sp>
      <p:sp>
        <p:nvSpPr>
          <p:cNvPr id="463" name="Google Shape;463;p36"/>
          <p:cNvSpPr/>
          <p:nvPr/>
        </p:nvSpPr>
        <p:spPr>
          <a:xfrm>
            <a:off x="571500" y="3851077"/>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study also distinguished the process of habituating to one stimulus from the process of renewed responding to a second. Recovery of behavior therefore cannot be treated automatically as erasure of the first stimulus’s learned effect, or as a direct readout of one synapse.</a:t>
            </a:r>
            <a:endParaRPr b="0" i="0" sz="1800" u="none" cap="none" strike="noStrike">
              <a:solidFill>
                <a:schemeClr val="dk1"/>
              </a:solidFill>
              <a:latin typeface="Calibri"/>
              <a:ea typeface="Calibri"/>
              <a:cs typeface="Calibri"/>
              <a:sym typeface="Calibri"/>
            </a:endParaRPr>
          </a:p>
        </p:txBody>
      </p:sp>
      <p:pic>
        <p:nvPicPr>
          <p:cNvPr id="464" name="Google Shape;464;p36"/>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465" name="Google Shape;465;p36"/>
          <p:cNvSpPr/>
          <p:nvPr/>
        </p:nvSpPr>
        <p:spPr>
          <a:xfrm>
            <a:off x="571500" y="6434138"/>
            <a:ext cx="1416993"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Wang &amp; Ewert (1992)</a:t>
            </a:r>
            <a:endParaRPr b="0" i="0" sz="1800" u="none" cap="none" strike="noStrike">
              <a:solidFill>
                <a:schemeClr val="dk1"/>
              </a:solidFill>
              <a:latin typeface="Calibri"/>
              <a:ea typeface="Calibri"/>
              <a:cs typeface="Calibri"/>
              <a:sym typeface="Calibri"/>
            </a:endParaRPr>
          </a:p>
        </p:txBody>
      </p:sp>
      <p:sp>
        <p:nvSpPr>
          <p:cNvPr id="466" name="Google Shape;466;p36"/>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36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470" name="Shape 470"/>
        <p:cNvGrpSpPr/>
        <p:nvPr/>
      </p:nvGrpSpPr>
      <p:grpSpPr>
        <a:xfrm>
          <a:off x="0" y="0"/>
          <a:ext cx="0" cy="0"/>
          <a:chOff x="0" y="0"/>
          <a:chExt cx="0" cy="0"/>
        </a:xfrm>
      </p:grpSpPr>
      <p:sp>
        <p:nvSpPr>
          <p:cNvPr id="471" name="Google Shape;471;p37"/>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Antidromic collision tests identify a descending axon</a:t>
            </a:r>
            <a:endParaRPr b="0" i="0" sz="1800" u="none" cap="none" strike="noStrike">
              <a:solidFill>
                <a:schemeClr val="dk1"/>
              </a:solidFill>
              <a:latin typeface="Calibri"/>
              <a:ea typeface="Calibri"/>
              <a:cs typeface="Calibri"/>
              <a:sym typeface="Calibri"/>
            </a:endParaRPr>
          </a:p>
        </p:txBody>
      </p:sp>
      <p:sp>
        <p:nvSpPr>
          <p:cNvPr id="472" name="Google Shape;472;p37"/>
          <p:cNvSpPr/>
          <p:nvPr/>
        </p:nvSpPr>
        <p:spPr>
          <a:xfrm>
            <a:off x="571500" y="137160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1" i="0" lang="en-US" sz="1725" u="none" cap="none" strike="noStrike">
                <a:solidFill>
                  <a:srgbClr val="28242A"/>
                </a:solidFill>
                <a:latin typeface="Arial"/>
                <a:ea typeface="Arial"/>
                <a:cs typeface="Arial"/>
                <a:sym typeface="Arial"/>
              </a:rPr>
              <a:t>Antidromic stimulation</a:t>
            </a:r>
            <a:r>
              <a:rPr b="0" i="0" lang="en-US" sz="1725" u="none" cap="none" strike="noStrike">
                <a:solidFill>
                  <a:srgbClr val="28242A"/>
                </a:solidFill>
                <a:latin typeface="Arial"/>
                <a:ea typeface="Arial"/>
                <a:cs typeface="Arial"/>
                <a:sym typeface="Arial"/>
              </a:rPr>
              <a:t> drives a spike backward along an axon toward its cell body. Satou and Ewert stimulated the caudal medulla while recording physiologically classified neurons in the toad tectum.</a:t>
            </a:r>
            <a:endParaRPr b="0" i="0" sz="1800" u="none" cap="none" strike="noStrike">
              <a:solidFill>
                <a:schemeClr val="dk1"/>
              </a:solidFill>
              <a:latin typeface="Calibri"/>
              <a:ea typeface="Calibri"/>
              <a:cs typeface="Calibri"/>
              <a:sym typeface="Calibri"/>
            </a:endParaRPr>
          </a:p>
        </p:txBody>
      </p:sp>
      <p:sp>
        <p:nvSpPr>
          <p:cNvPr id="473" name="Google Shape;473;p37"/>
          <p:cNvSpPr/>
          <p:nvPr/>
        </p:nvSpPr>
        <p:spPr>
          <a:xfrm>
            <a:off x="571500" y="2446734"/>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An evoked spike with stable latency suggests a direct axonal route. A stronger test is </a:t>
            </a:r>
            <a:r>
              <a:rPr b="1" i="0" lang="en-US" sz="1725" u="none" cap="none" strike="noStrike">
                <a:solidFill>
                  <a:srgbClr val="28242A"/>
                </a:solidFill>
                <a:latin typeface="Arial"/>
                <a:ea typeface="Arial"/>
                <a:cs typeface="Arial"/>
                <a:sym typeface="Arial"/>
              </a:rPr>
              <a:t>collision</a:t>
            </a:r>
            <a:r>
              <a:rPr b="0" i="0" lang="en-US" sz="1725" u="none" cap="none" strike="noStrike">
                <a:solidFill>
                  <a:srgbClr val="28242A"/>
                </a:solidFill>
                <a:latin typeface="Arial"/>
                <a:ea typeface="Arial"/>
                <a:cs typeface="Arial"/>
                <a:sym typeface="Arial"/>
              </a:rPr>
              <a:t>: a naturally initiated spike traveling down the same axon prevents a backward spike from reaching the recording site at the appropriate interval.</a:t>
            </a:r>
            <a:endParaRPr b="0" i="0" sz="1800" u="none" cap="none" strike="noStrike">
              <a:solidFill>
                <a:schemeClr val="dk1"/>
              </a:solidFill>
              <a:latin typeface="Calibri"/>
              <a:ea typeface="Calibri"/>
              <a:cs typeface="Calibri"/>
              <a:sym typeface="Calibri"/>
            </a:endParaRPr>
          </a:p>
        </p:txBody>
      </p:sp>
      <p:sp>
        <p:nvSpPr>
          <p:cNvPr id="474" name="Google Shape;474;p37"/>
          <p:cNvSpPr/>
          <p:nvPr/>
        </p:nvSpPr>
        <p:spPr>
          <a:xfrm>
            <a:off x="571500" y="3771602"/>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In the illustrated test, the evoked response remains with a </a:t>
            </a:r>
            <a:r>
              <a:rPr b="1" i="0" lang="en-US" sz="1725" u="none" cap="none" strike="noStrike">
                <a:solidFill>
                  <a:srgbClr val="28242A"/>
                </a:solidFill>
                <a:latin typeface="Arial"/>
                <a:ea typeface="Arial"/>
                <a:cs typeface="Arial"/>
                <a:sym typeface="Arial"/>
              </a:rPr>
              <a:t>9.5 ms</a:t>
            </a:r>
            <a:r>
              <a:rPr b="0" i="0" lang="en-US" sz="1725" u="none" cap="none" strike="noStrike">
                <a:solidFill>
                  <a:srgbClr val="28242A"/>
                </a:solidFill>
                <a:latin typeface="Arial"/>
                <a:ea typeface="Arial"/>
                <a:cs typeface="Arial"/>
                <a:sym typeface="Arial"/>
              </a:rPr>
              <a:t> interval between the visually triggered spike and medullary stimulus, but disappears at </a:t>
            </a:r>
            <a:r>
              <a:rPr b="1" i="0" lang="en-US" sz="1725" u="none" cap="none" strike="noStrike">
                <a:solidFill>
                  <a:srgbClr val="28242A"/>
                </a:solidFill>
                <a:latin typeface="Arial"/>
                <a:ea typeface="Arial"/>
                <a:cs typeface="Arial"/>
                <a:sym typeface="Arial"/>
              </a:rPr>
              <a:t>3.3 ms</a:t>
            </a:r>
            <a:r>
              <a:rPr b="0" i="0" lang="en-US" sz="1725" u="none" cap="none" strike="noStrike">
                <a:solidFill>
                  <a:srgbClr val="28242A"/>
                </a:solidFill>
                <a:latin typeface="Arial"/>
                <a:ea typeface="Arial"/>
                <a:cs typeface="Arial"/>
                <a:sym typeface="Arial"/>
              </a:rPr>
              <a:t>. The two spikes encounter refractory membrane along the same axon.</a:t>
            </a:r>
            <a:endParaRPr b="0" i="0" sz="1800" u="none" cap="none" strike="noStrike">
              <a:solidFill>
                <a:schemeClr val="dk1"/>
              </a:solidFill>
              <a:latin typeface="Calibri"/>
              <a:ea typeface="Calibri"/>
              <a:cs typeface="Calibri"/>
              <a:sym typeface="Calibri"/>
            </a:endParaRPr>
          </a:p>
        </p:txBody>
      </p:sp>
      <p:sp>
        <p:nvSpPr>
          <p:cNvPr id="475" name="Google Shape;475;p37"/>
          <p:cNvSpPr/>
          <p:nvPr/>
        </p:nvSpPr>
        <p:spPr>
          <a:xfrm>
            <a:off x="571500" y="509647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This establishes a descending projection from the recorded cell. It does not establish a direct synapse onto a motoneuron or show that the cell alone is sufficient to generate snapping.</a:t>
            </a:r>
            <a:endParaRPr b="0" i="0" sz="1800" u="none" cap="none" strike="noStrike">
              <a:solidFill>
                <a:schemeClr val="dk1"/>
              </a:solidFill>
              <a:latin typeface="Calibri"/>
              <a:ea typeface="Calibri"/>
              <a:cs typeface="Calibri"/>
              <a:sym typeface="Calibri"/>
            </a:endParaRPr>
          </a:p>
        </p:txBody>
      </p:sp>
      <p:pic>
        <p:nvPicPr>
          <p:cNvPr id="476" name="Google Shape;476;p37"/>
          <p:cNvPicPr preferRelativeResize="0"/>
          <p:nvPr/>
        </p:nvPicPr>
        <p:blipFill rotWithShape="1">
          <a:blip r:embed="rId3">
            <a:alphaModFix/>
          </a:blip>
          <a:srcRect b="0" l="0" r="0" t="0"/>
          <a:stretch/>
        </p:blipFill>
        <p:spPr>
          <a:xfrm>
            <a:off x="7417490" y="1442889"/>
            <a:ext cx="3872120" cy="4048125"/>
          </a:xfrm>
          <a:prstGeom prst="rect">
            <a:avLst/>
          </a:prstGeom>
          <a:noFill/>
          <a:ln>
            <a:noFill/>
          </a:ln>
        </p:spPr>
      </p:pic>
      <p:sp>
        <p:nvSpPr>
          <p:cNvPr id="477" name="Google Shape;477;p37"/>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E545A"/>
              </a:buClr>
              <a:buSzPts val="1200"/>
              <a:buFont typeface="Arial"/>
              <a:buNone/>
            </a:pPr>
            <a:r>
              <a:rPr b="0" i="0" lang="en-US" sz="1200" u="none" cap="none" strike="noStrike">
                <a:solidFill>
                  <a:srgbClr val="5E545A"/>
                </a:solidFill>
                <a:latin typeface="Arial"/>
                <a:ea typeface="Arial"/>
                <a:cs typeface="Arial"/>
                <a:sym typeface="Arial"/>
              </a:rPr>
              <a:t>Collision-test records reproduced in Ewert (1995), Fig. 11B b1–b2. v: visual spike; e: electrical stimulus; a: antidromic spike.</a:t>
            </a:r>
            <a:endParaRPr b="0" i="0" sz="1800" u="none" cap="none" strike="noStrike">
              <a:solidFill>
                <a:schemeClr val="dk1"/>
              </a:solidFill>
              <a:latin typeface="Calibri"/>
              <a:ea typeface="Calibri"/>
              <a:cs typeface="Calibri"/>
              <a:sym typeface="Calibri"/>
            </a:endParaRPr>
          </a:p>
        </p:txBody>
      </p:sp>
      <p:pic>
        <p:nvPicPr>
          <p:cNvPr id="478" name="Google Shape;478;p37"/>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479" name="Google Shape;479;p37"/>
          <p:cNvSpPr/>
          <p:nvPr/>
        </p:nvSpPr>
        <p:spPr>
          <a:xfrm>
            <a:off x="571500" y="6434138"/>
            <a:ext cx="409292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Satou &amp; Ewert (1985); Ewert et al. (1990); Figure: Ewert (1995)</a:t>
            </a:r>
            <a:endParaRPr b="0" i="0" sz="1800" u="none" cap="none" strike="noStrike">
              <a:solidFill>
                <a:schemeClr val="dk1"/>
              </a:solidFill>
              <a:latin typeface="Calibri"/>
              <a:ea typeface="Calibri"/>
              <a:cs typeface="Calibri"/>
              <a:sym typeface="Calibri"/>
            </a:endParaRPr>
          </a:p>
        </p:txBody>
      </p:sp>
      <p:sp>
        <p:nvSpPr>
          <p:cNvPr id="480" name="Google Shape;480;p37"/>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37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484" name="Shape 484"/>
        <p:cNvGrpSpPr/>
        <p:nvPr/>
      </p:nvGrpSpPr>
      <p:grpSpPr>
        <a:xfrm>
          <a:off x="0" y="0"/>
          <a:ext cx="0" cy="0"/>
          <a:chOff x="0" y="0"/>
          <a:chExt cx="0" cy="0"/>
        </a:xfrm>
      </p:grpSpPr>
      <p:sp>
        <p:nvSpPr>
          <p:cNvPr id="485" name="Google Shape;485;p38"/>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Tectal stimulation recruits an organized muscle sequence</a:t>
            </a:r>
            <a:endParaRPr b="0" i="0" sz="1800" u="none" cap="none" strike="noStrike">
              <a:solidFill>
                <a:schemeClr val="dk1"/>
              </a:solidFill>
              <a:latin typeface="Calibri"/>
              <a:ea typeface="Calibri"/>
              <a:cs typeface="Calibri"/>
              <a:sym typeface="Calibri"/>
            </a:endParaRPr>
          </a:p>
        </p:txBody>
      </p:sp>
      <p:sp>
        <p:nvSpPr>
          <p:cNvPr id="486" name="Google Shape;486;p38"/>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Matsushima and colleagues recorded electromyograms from </a:t>
            </a:r>
            <a:r>
              <a:rPr b="1" i="0" lang="en-US" sz="1800" u="none" cap="none" strike="noStrike">
                <a:solidFill>
                  <a:srgbClr val="28242A"/>
                </a:solidFill>
                <a:latin typeface="Arial"/>
                <a:ea typeface="Arial"/>
                <a:cs typeface="Arial"/>
                <a:sym typeface="Arial"/>
              </a:rPr>
              <a:t>seven head-region muscles</a:t>
            </a:r>
            <a:r>
              <a:rPr b="0" i="0" lang="en-US" sz="1800" u="none" cap="none" strike="noStrike">
                <a:solidFill>
                  <a:srgbClr val="28242A"/>
                </a:solidFill>
                <a:latin typeface="Arial"/>
                <a:ea typeface="Arial"/>
                <a:cs typeface="Arial"/>
                <a:sym typeface="Arial"/>
              </a:rPr>
              <a:t> during electrically evoked snapping in freely moving Japanese toads. An </a:t>
            </a:r>
            <a:r>
              <a:rPr b="1" i="0" lang="en-US" sz="1800" u="none" cap="none" strike="noStrike">
                <a:solidFill>
                  <a:srgbClr val="28242A"/>
                </a:solidFill>
                <a:latin typeface="Arial"/>
                <a:ea typeface="Arial"/>
                <a:cs typeface="Arial"/>
                <a:sym typeface="Arial"/>
              </a:rPr>
              <a:t>EMG</a:t>
            </a:r>
            <a:r>
              <a:rPr b="0" i="0" lang="en-US" sz="1800" u="none" cap="none" strike="noStrike">
                <a:solidFill>
                  <a:srgbClr val="28242A"/>
                </a:solidFill>
                <a:latin typeface="Arial"/>
                <a:ea typeface="Arial"/>
                <a:cs typeface="Arial"/>
                <a:sym typeface="Arial"/>
              </a:rPr>
              <a:t> measures the summed electrical activity of nearby muscle fibers.</a:t>
            </a:r>
            <a:endParaRPr b="0" i="0" sz="1800" u="none" cap="none" strike="noStrike">
              <a:solidFill>
                <a:schemeClr val="dk1"/>
              </a:solidFill>
              <a:latin typeface="Calibri"/>
              <a:ea typeface="Calibri"/>
              <a:cs typeface="Calibri"/>
              <a:sym typeface="Calibri"/>
            </a:endParaRPr>
          </a:p>
        </p:txBody>
      </p:sp>
      <p:sp>
        <p:nvSpPr>
          <p:cNvPr id="487" name="Google Shape;487;p38"/>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sampled muscles included jaw openers and closers, tongue protractor and retractor muscles, and muscles associated with hyoid stabilization. Their activation patterns corresponded to the observed jaw and tongue movements.</a:t>
            </a:r>
            <a:endParaRPr b="0" i="0" sz="1800" u="none" cap="none" strike="noStrike">
              <a:solidFill>
                <a:schemeClr val="dk1"/>
              </a:solidFill>
              <a:latin typeface="Calibri"/>
              <a:ea typeface="Calibri"/>
              <a:cs typeface="Calibri"/>
              <a:sym typeface="Calibri"/>
            </a:endParaRPr>
          </a:p>
        </p:txBody>
      </p:sp>
      <p:sp>
        <p:nvSpPr>
          <p:cNvPr id="488" name="Google Shape;488;p38"/>
          <p:cNvSpPr/>
          <p:nvPr/>
        </p:nvSpPr>
        <p:spPr>
          <a:xfrm>
            <a:off x="571500" y="3439716"/>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Five of the seven muscles showed all-or-none recruitment associated with eliciting a snap. Sternohyoideus and geniohyoideus did not follow that simple pattern.</a:t>
            </a:r>
            <a:endParaRPr b="0" i="0" sz="1800" u="none" cap="none" strike="noStrike">
              <a:solidFill>
                <a:schemeClr val="dk1"/>
              </a:solidFill>
              <a:latin typeface="Calibri"/>
              <a:ea typeface="Calibri"/>
              <a:cs typeface="Calibri"/>
              <a:sym typeface="Calibri"/>
            </a:endParaRPr>
          </a:p>
        </p:txBody>
      </p:sp>
      <p:sp>
        <p:nvSpPr>
          <p:cNvPr id="489" name="Google Shape;489;p38"/>
          <p:cNvSpPr/>
          <p:nvPr/>
        </p:nvSpPr>
        <p:spPr>
          <a:xfrm>
            <a:off x="571500" y="4148138"/>
            <a:ext cx="10972800" cy="118824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This result supports recruitment of coordinated motor circuitry after tectal activation. All-or-none recruitment means that a recognizable event appears once conditions are sufficient. It does not imply that every contraction has identical force, or that every detail of the movement is fixed across prey distances.</a:t>
            </a:r>
            <a:endParaRPr b="0" i="0" sz="1800" u="none" cap="none" strike="noStrike">
              <a:solidFill>
                <a:schemeClr val="dk1"/>
              </a:solidFill>
              <a:latin typeface="Calibri"/>
              <a:ea typeface="Calibri"/>
              <a:cs typeface="Calibri"/>
              <a:sym typeface="Calibri"/>
            </a:endParaRPr>
          </a:p>
        </p:txBody>
      </p:sp>
      <p:pic>
        <p:nvPicPr>
          <p:cNvPr id="490" name="Google Shape;490;p38"/>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491" name="Google Shape;491;p38"/>
          <p:cNvSpPr/>
          <p:nvPr/>
        </p:nvSpPr>
        <p:spPr>
          <a:xfrm>
            <a:off x="571500" y="6434138"/>
            <a:ext cx="1656011"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Matsushima et al. (1985)</a:t>
            </a:r>
            <a:endParaRPr b="0" i="0" sz="1800" u="none" cap="none" strike="noStrike">
              <a:solidFill>
                <a:schemeClr val="dk1"/>
              </a:solidFill>
              <a:latin typeface="Calibri"/>
              <a:ea typeface="Calibri"/>
              <a:cs typeface="Calibri"/>
              <a:sym typeface="Calibri"/>
            </a:endParaRPr>
          </a:p>
        </p:txBody>
      </p:sp>
      <p:sp>
        <p:nvSpPr>
          <p:cNvPr id="492" name="Google Shape;492;p38"/>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38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496" name="Shape 496"/>
        <p:cNvGrpSpPr/>
        <p:nvPr/>
      </p:nvGrpSpPr>
      <p:grpSpPr>
        <a:xfrm>
          <a:off x="0" y="0"/>
          <a:ext cx="0" cy="0"/>
          <a:chOff x="0" y="0"/>
          <a:chExt cx="0" cy="0"/>
        </a:xfrm>
      </p:grpSpPr>
      <p:sp>
        <p:nvSpPr>
          <p:cNvPr id="497" name="Google Shape;497;p39"/>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Tongue motoneurons integrate excitation and inhibition</a:t>
            </a:r>
            <a:endParaRPr b="0" i="0" sz="1800" u="none" cap="none" strike="noStrike">
              <a:solidFill>
                <a:schemeClr val="dk1"/>
              </a:solidFill>
              <a:latin typeface="Calibri"/>
              <a:ea typeface="Calibri"/>
              <a:cs typeface="Calibri"/>
              <a:sym typeface="Calibri"/>
            </a:endParaRPr>
          </a:p>
        </p:txBody>
      </p:sp>
      <p:sp>
        <p:nvSpPr>
          <p:cNvPr id="498" name="Google Shape;498;p39"/>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Satou and colleagues identified Japanese-toad tongue motoneurons by antidromic activation through their peripheral nerves and intracellular staining. </a:t>
            </a:r>
            <a:r>
              <a:rPr b="1" i="0" lang="en-US" sz="1800" u="none" cap="none" strike="noStrike">
                <a:solidFill>
                  <a:srgbClr val="28242A"/>
                </a:solidFill>
                <a:latin typeface="Arial"/>
                <a:ea typeface="Arial"/>
                <a:cs typeface="Arial"/>
                <a:sym typeface="Arial"/>
              </a:rPr>
              <a:t>Protractor motoneurons</a:t>
            </a:r>
            <a:r>
              <a:rPr b="0" i="0" lang="en-US" sz="1800" u="none" cap="none" strike="noStrike">
                <a:solidFill>
                  <a:srgbClr val="28242A"/>
                </a:solidFill>
                <a:latin typeface="Arial"/>
                <a:ea typeface="Arial"/>
                <a:cs typeface="Arial"/>
                <a:sym typeface="Arial"/>
              </a:rPr>
              <a:t> occupied a more caudal region of the hypoglossal nucleus, and </a:t>
            </a:r>
            <a:r>
              <a:rPr b="1" i="0" lang="en-US" sz="1800" u="none" cap="none" strike="noStrike">
                <a:solidFill>
                  <a:srgbClr val="28242A"/>
                </a:solidFill>
                <a:latin typeface="Arial"/>
                <a:ea typeface="Arial"/>
                <a:cs typeface="Arial"/>
                <a:sym typeface="Arial"/>
              </a:rPr>
              <a:t>retractor motoneurons</a:t>
            </a:r>
            <a:r>
              <a:rPr b="0" i="0" lang="en-US" sz="1800" u="none" cap="none" strike="noStrike">
                <a:solidFill>
                  <a:srgbClr val="28242A"/>
                </a:solidFill>
                <a:latin typeface="Arial"/>
                <a:ea typeface="Arial"/>
                <a:cs typeface="Arial"/>
                <a:sym typeface="Arial"/>
              </a:rPr>
              <a:t> a more rostral region.</a:t>
            </a:r>
            <a:endParaRPr b="0" i="0" sz="1800" u="none" cap="none" strike="noStrike">
              <a:solidFill>
                <a:schemeClr val="dk1"/>
              </a:solidFill>
              <a:latin typeface="Calibri"/>
              <a:ea typeface="Calibri"/>
              <a:cs typeface="Calibri"/>
              <a:sym typeface="Calibri"/>
            </a:endParaRPr>
          </a:p>
        </p:txBody>
      </p:sp>
      <p:sp>
        <p:nvSpPr>
          <p:cNvPr id="499" name="Google Shape;499;p39"/>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Single electrical pulses in the tectal snapping-evoking region commonly produced IPSPs in both classes. Stronger repetitive stimulation could recruit large, sustained EPSPs that overcame the inhibition.</a:t>
            </a:r>
            <a:endParaRPr b="0" i="0" sz="1800" u="none" cap="none" strike="noStrike">
              <a:solidFill>
                <a:schemeClr val="dk1"/>
              </a:solidFill>
              <a:latin typeface="Calibri"/>
              <a:ea typeface="Calibri"/>
              <a:cs typeface="Calibri"/>
              <a:sym typeface="Calibri"/>
            </a:endParaRPr>
          </a:p>
        </p:txBody>
      </p:sp>
      <p:sp>
        <p:nvSpPr>
          <p:cNvPr id="500" name="Google Shape;500;p39"/>
          <p:cNvSpPr/>
          <p:nvPr/>
        </p:nvSpPr>
        <p:spPr>
          <a:xfrm>
            <a:off x="571500" y="3439716"/>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Thus descending activation does not translate into a simple one-spike, one-contraction command. Temporal recruitment and the balance of excitation and inhibition shape the motor response.</a:t>
            </a:r>
            <a:endParaRPr b="0" i="0" sz="1800" u="none" cap="none" strike="noStrike">
              <a:solidFill>
                <a:schemeClr val="dk1"/>
              </a:solidFill>
              <a:latin typeface="Calibri"/>
              <a:ea typeface="Calibri"/>
              <a:cs typeface="Calibri"/>
              <a:sym typeface="Calibri"/>
            </a:endParaRPr>
          </a:p>
        </p:txBody>
      </p:sp>
      <p:sp>
        <p:nvSpPr>
          <p:cNvPr id="501" name="Google Shape;501;p39"/>
          <p:cNvSpPr/>
          <p:nvPr/>
        </p:nvSpPr>
        <p:spPr>
          <a:xfrm>
            <a:off x="571500" y="414813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extensive dendritic fields of these motoneurons provide an anatomical substrate for integrating multiple inputs. Separate protractor and retractor pools allow the brainstem to coordinate outward tongue movement with its subsequent withdrawal.</a:t>
            </a:r>
            <a:endParaRPr b="0" i="0" sz="1800" u="none" cap="none" strike="noStrike">
              <a:solidFill>
                <a:schemeClr val="dk1"/>
              </a:solidFill>
              <a:latin typeface="Calibri"/>
              <a:ea typeface="Calibri"/>
              <a:cs typeface="Calibri"/>
              <a:sym typeface="Calibri"/>
            </a:endParaRPr>
          </a:p>
        </p:txBody>
      </p:sp>
      <p:pic>
        <p:nvPicPr>
          <p:cNvPr id="502" name="Google Shape;502;p39"/>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503" name="Google Shape;503;p39"/>
          <p:cNvSpPr/>
          <p:nvPr/>
        </p:nvSpPr>
        <p:spPr>
          <a:xfrm>
            <a:off x="571500" y="6434138"/>
            <a:ext cx="1215628"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Satou et al. (1985)</a:t>
            </a:r>
            <a:endParaRPr b="0" i="0" sz="1800" u="none" cap="none" strike="noStrike">
              <a:solidFill>
                <a:schemeClr val="dk1"/>
              </a:solidFill>
              <a:latin typeface="Calibri"/>
              <a:ea typeface="Calibri"/>
              <a:cs typeface="Calibri"/>
              <a:sym typeface="Calibri"/>
            </a:endParaRPr>
          </a:p>
        </p:txBody>
      </p:sp>
      <p:sp>
        <p:nvSpPr>
          <p:cNvPr id="504" name="Google Shape;504;p39"/>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39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508" name="Shape 508"/>
        <p:cNvGrpSpPr/>
        <p:nvPr/>
      </p:nvGrpSpPr>
      <p:grpSpPr>
        <a:xfrm>
          <a:off x="0" y="0"/>
          <a:ext cx="0" cy="0"/>
          <a:chOff x="0" y="0"/>
          <a:chExt cx="0" cy="0"/>
        </a:xfrm>
      </p:grpSpPr>
      <p:sp>
        <p:nvSpPr>
          <p:cNvPr id="509" name="Google Shape;509;p40"/>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T5.2 firing changes around prey-directed movement</a:t>
            </a:r>
            <a:endParaRPr b="0" i="0" sz="1800" u="none" cap="none" strike="noStrike">
              <a:solidFill>
                <a:schemeClr val="dk1"/>
              </a:solidFill>
              <a:latin typeface="Calibri"/>
              <a:ea typeface="Calibri"/>
              <a:cs typeface="Calibri"/>
              <a:sym typeface="Calibri"/>
            </a:endParaRPr>
          </a:p>
        </p:txBody>
      </p:sp>
      <p:sp>
        <p:nvSpPr>
          <p:cNvPr id="510" name="Google Shape;510;p40"/>
          <p:cNvSpPr/>
          <p:nvPr/>
        </p:nvSpPr>
        <p:spPr>
          <a:xfrm>
            <a:off x="571500" y="137160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Chronic recordings in freely moving toads linked T5.2 firing to behavior. In the illustrated orienting trial, activity rises before the turn; the asterisk and white bar mark movement onset and duration.</a:t>
            </a:r>
            <a:endParaRPr b="0" i="0" sz="1800" u="none" cap="none" strike="noStrike">
              <a:solidFill>
                <a:schemeClr val="dk1"/>
              </a:solidFill>
              <a:latin typeface="Calibri"/>
              <a:ea typeface="Calibri"/>
              <a:cs typeface="Calibri"/>
              <a:sym typeface="Calibri"/>
            </a:endParaRPr>
          </a:p>
        </p:txBody>
      </p:sp>
      <p:sp>
        <p:nvSpPr>
          <p:cNvPr id="511" name="Google Shape;511;p40"/>
          <p:cNvSpPr/>
          <p:nvPr/>
        </p:nvSpPr>
        <p:spPr>
          <a:xfrm>
            <a:off x="571500" y="2446734"/>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 worm stimulus produces this premotor increase in a responsive animal, while the antiworm stimulus produces little activity. The comparison at right shows weak responses when the animal is not motivated to catch prey.</a:t>
            </a:r>
            <a:endParaRPr b="0" i="0" sz="1800" u="none" cap="none" strike="noStrike">
              <a:solidFill>
                <a:schemeClr val="dk1"/>
              </a:solidFill>
              <a:latin typeface="Calibri"/>
              <a:ea typeface="Calibri"/>
              <a:cs typeface="Calibri"/>
              <a:sym typeface="Calibri"/>
            </a:endParaRPr>
          </a:p>
        </p:txBody>
      </p:sp>
      <p:sp>
        <p:nvSpPr>
          <p:cNvPr id="512" name="Google Shape;512;p40"/>
          <p:cNvSpPr/>
          <p:nvPr/>
        </p:nvSpPr>
        <p:spPr>
          <a:xfrm>
            <a:off x="571500" y="3521869"/>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Schürg-Pfeiffer and colleagues also found different timing during snapping: the strike begins near the firing peak, activity stops during the snap, and some cells show rebound activity afterward.</a:t>
            </a:r>
            <a:endParaRPr b="0" i="0" sz="1800" u="none" cap="none" strike="noStrike">
              <a:solidFill>
                <a:schemeClr val="dk1"/>
              </a:solidFill>
              <a:latin typeface="Calibri"/>
              <a:ea typeface="Calibri"/>
              <a:cs typeface="Calibri"/>
              <a:sym typeface="Calibri"/>
            </a:endParaRPr>
          </a:p>
        </p:txBody>
      </p:sp>
      <p:sp>
        <p:nvSpPr>
          <p:cNvPr id="513" name="Google Shape;513;p40"/>
          <p:cNvSpPr/>
          <p:nvPr/>
        </p:nvSpPr>
        <p:spPr>
          <a:xfrm>
            <a:off x="571500" y="4597003"/>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 signals therefore combine visual selectivity with behavioral state and movement timing. A firing increase that precedes movement supports a premotor role but does not, on its own, distinguish causal drive from shared input or feedback within a larger circuit.</a:t>
            </a:r>
            <a:endParaRPr b="0" i="0" sz="1800" u="none" cap="none" strike="noStrike">
              <a:solidFill>
                <a:schemeClr val="dk1"/>
              </a:solidFill>
              <a:latin typeface="Calibri"/>
              <a:ea typeface="Calibri"/>
              <a:cs typeface="Calibri"/>
              <a:sym typeface="Calibri"/>
            </a:endParaRPr>
          </a:p>
        </p:txBody>
      </p:sp>
      <p:pic>
        <p:nvPicPr>
          <p:cNvPr id="514" name="Google Shape;514;p40"/>
          <p:cNvPicPr preferRelativeResize="0"/>
          <p:nvPr/>
        </p:nvPicPr>
        <p:blipFill rotWithShape="1">
          <a:blip r:embed="rId3">
            <a:alphaModFix/>
          </a:blip>
          <a:srcRect b="0" l="0" r="0" t="0"/>
          <a:stretch/>
        </p:blipFill>
        <p:spPr>
          <a:xfrm>
            <a:off x="7086600" y="1715986"/>
            <a:ext cx="4533900" cy="3501930"/>
          </a:xfrm>
          <a:prstGeom prst="rect">
            <a:avLst/>
          </a:prstGeom>
          <a:noFill/>
          <a:ln>
            <a:noFill/>
          </a:ln>
        </p:spPr>
      </p:pic>
      <p:sp>
        <p:nvSpPr>
          <p:cNvPr id="515" name="Google Shape;515;p40"/>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E545A"/>
              </a:buClr>
              <a:buSzPts val="1200"/>
              <a:buFont typeface="Arial"/>
              <a:buNone/>
            </a:pPr>
            <a:r>
              <a:rPr b="0" i="0" lang="en-US" sz="1200" u="none" cap="none" strike="noStrike">
                <a:solidFill>
                  <a:srgbClr val="5E545A"/>
                </a:solidFill>
                <a:latin typeface="Arial"/>
                <a:ea typeface="Arial"/>
                <a:cs typeface="Arial"/>
                <a:sym typeface="Arial"/>
              </a:rPr>
              <a:t>Schürg-Pfeiffer et al. (1993), reproduced in Ewert (1995), Fig. 10A–B. Histograms and spike records aligned to orienting.</a:t>
            </a:r>
            <a:endParaRPr b="0" i="0" sz="1800" u="none" cap="none" strike="noStrike">
              <a:solidFill>
                <a:schemeClr val="dk1"/>
              </a:solidFill>
              <a:latin typeface="Calibri"/>
              <a:ea typeface="Calibri"/>
              <a:cs typeface="Calibri"/>
              <a:sym typeface="Calibri"/>
            </a:endParaRPr>
          </a:p>
        </p:txBody>
      </p:sp>
      <p:pic>
        <p:nvPicPr>
          <p:cNvPr id="516" name="Google Shape;516;p40"/>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517" name="Google Shape;517;p40"/>
          <p:cNvSpPr/>
          <p:nvPr/>
        </p:nvSpPr>
        <p:spPr>
          <a:xfrm>
            <a:off x="571500" y="6434138"/>
            <a:ext cx="3244155"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Schürg-Pfeiffer et al. (1993); Figure: Ewert (1995)</a:t>
            </a:r>
            <a:endParaRPr b="0" i="0" sz="1800" u="none" cap="none" strike="noStrike">
              <a:solidFill>
                <a:schemeClr val="dk1"/>
              </a:solidFill>
              <a:latin typeface="Calibri"/>
              <a:ea typeface="Calibri"/>
              <a:cs typeface="Calibri"/>
              <a:sym typeface="Calibri"/>
            </a:endParaRPr>
          </a:p>
        </p:txBody>
      </p:sp>
      <p:sp>
        <p:nvSpPr>
          <p:cNvPr id="518" name="Google Shape;518;p40"/>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40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522" name="Shape 522"/>
        <p:cNvGrpSpPr/>
        <p:nvPr/>
      </p:nvGrpSpPr>
      <p:grpSpPr>
        <a:xfrm>
          <a:off x="0" y="0"/>
          <a:ext cx="0" cy="0"/>
          <a:chOff x="0" y="0"/>
          <a:chExt cx="0" cy="0"/>
        </a:xfrm>
      </p:grpSpPr>
      <p:sp>
        <p:nvSpPr>
          <p:cNvPr id="523" name="Google Shape;523;p41"/>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Tongue sensory feedback helps permit mouth opening</a:t>
            </a:r>
            <a:endParaRPr b="0" i="0" sz="1800" u="none" cap="none" strike="noStrike">
              <a:solidFill>
                <a:schemeClr val="dk1"/>
              </a:solidFill>
              <a:latin typeface="Calibri"/>
              <a:ea typeface="Calibri"/>
              <a:cs typeface="Calibri"/>
              <a:sym typeface="Calibri"/>
            </a:endParaRPr>
          </a:p>
        </p:txBody>
      </p:sp>
      <p:sp>
        <p:nvSpPr>
          <p:cNvPr id="524" name="Google Shape;524;p41"/>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Nishikawa and Gans combined high-speed video, EMG, nerve recordings, muscle stimulation, and selective loss of sensory input in cane toads. </a:t>
            </a:r>
            <a:r>
              <a:rPr b="1" i="0" lang="en-US" sz="1800" u="none" cap="none" strike="noStrike">
                <a:solidFill>
                  <a:srgbClr val="28242A"/>
                </a:solidFill>
                <a:latin typeface="Arial"/>
                <a:ea typeface="Arial"/>
                <a:cs typeface="Arial"/>
                <a:sym typeface="Arial"/>
              </a:rPr>
              <a:t>Deafferentation</a:t>
            </a:r>
            <a:r>
              <a:rPr b="0" i="0" lang="en-US" sz="1800" u="none" cap="none" strike="noStrike">
                <a:solidFill>
                  <a:srgbClr val="28242A"/>
                </a:solidFill>
                <a:latin typeface="Arial"/>
                <a:ea typeface="Arial"/>
                <a:cs typeface="Arial"/>
                <a:sym typeface="Arial"/>
              </a:rPr>
              <a:t> removes incoming sensory information while aiming to preserve the relevant motor pathway.</a:t>
            </a:r>
            <a:endParaRPr b="0" i="0" sz="1800" u="none" cap="none" strike="noStrike">
              <a:solidFill>
                <a:schemeClr val="dk1"/>
              </a:solidFill>
              <a:latin typeface="Calibri"/>
              <a:ea typeface="Calibri"/>
              <a:cs typeface="Calibri"/>
              <a:sym typeface="Calibri"/>
            </a:endParaRPr>
          </a:p>
        </p:txBody>
      </p:sp>
      <p:sp>
        <p:nvSpPr>
          <p:cNvPr id="525" name="Google Shape;525;p41"/>
          <p:cNvSpPr/>
          <p:nvPr/>
        </p:nvSpPr>
        <p:spPr>
          <a:xfrm>
            <a:off x="571500" y="2434233"/>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Bilateral deafferentation of the hypoglossal nerves prevented normal mouth opening during feeding. Recordings supported a sensory signal from the tongue that suppresses activity in the jaw-closing, or levator, muscles.</a:t>
            </a:r>
            <a:endParaRPr b="0" i="0" sz="1800" u="none" cap="none" strike="noStrike">
              <a:solidFill>
                <a:schemeClr val="dk1"/>
              </a:solidFill>
              <a:latin typeface="Calibri"/>
              <a:ea typeface="Calibri"/>
              <a:cs typeface="Calibri"/>
              <a:sym typeface="Calibri"/>
            </a:endParaRPr>
          </a:p>
        </p:txBody>
      </p:sp>
      <p:sp>
        <p:nvSpPr>
          <p:cNvPr id="526" name="Google Shape;526;p41"/>
          <p:cNvSpPr/>
          <p:nvPr/>
        </p:nvSpPr>
        <p:spPr>
          <a:xfrm>
            <a:off x="571500" y="3439716"/>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This feedback helps coordinate tongue protraction with opening of the mouth. Removing a sensory pathway can therefore disrupt an apparently ballistic feeding action, even when the descending visual trigger remains available.</a:t>
            </a:r>
            <a:endParaRPr b="0" i="0" sz="1800" u="none" cap="none" strike="noStrike">
              <a:solidFill>
                <a:schemeClr val="dk1"/>
              </a:solidFill>
              <a:latin typeface="Calibri"/>
              <a:ea typeface="Calibri"/>
              <a:cs typeface="Calibri"/>
              <a:sym typeface="Calibri"/>
            </a:endParaRPr>
          </a:p>
        </p:txBody>
      </p:sp>
      <p:sp>
        <p:nvSpPr>
          <p:cNvPr id="527" name="Google Shape;527;p41"/>
          <p:cNvSpPr/>
          <p:nvPr/>
        </p:nvSpPr>
        <p:spPr>
          <a:xfrm>
            <a:off x="571500" y="4445198"/>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evidence supports sensorimotor coordination within the capture sequence. A motor pattern generator should consequently be understood as circuitry whose output can incorporate sensory feedback, rather than as a mechanism that must run independently of all peripheral information.</a:t>
            </a:r>
            <a:endParaRPr b="0" i="0" sz="1800" u="none" cap="none" strike="noStrike">
              <a:solidFill>
                <a:schemeClr val="dk1"/>
              </a:solidFill>
              <a:latin typeface="Calibri"/>
              <a:ea typeface="Calibri"/>
              <a:cs typeface="Calibri"/>
              <a:sym typeface="Calibri"/>
            </a:endParaRPr>
          </a:p>
        </p:txBody>
      </p:sp>
      <p:pic>
        <p:nvPicPr>
          <p:cNvPr id="528" name="Google Shape;528;p41"/>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529" name="Google Shape;529;p41"/>
          <p:cNvSpPr/>
          <p:nvPr/>
        </p:nvSpPr>
        <p:spPr>
          <a:xfrm>
            <a:off x="571500" y="6434138"/>
            <a:ext cx="1676698"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Nishikawa &amp; Gans (1992)</a:t>
            </a:r>
            <a:endParaRPr b="0" i="0" sz="1800" u="none" cap="none" strike="noStrike">
              <a:solidFill>
                <a:schemeClr val="dk1"/>
              </a:solidFill>
              <a:latin typeface="Calibri"/>
              <a:ea typeface="Calibri"/>
              <a:cs typeface="Calibri"/>
              <a:sym typeface="Calibri"/>
            </a:endParaRPr>
          </a:p>
        </p:txBody>
      </p:sp>
      <p:sp>
        <p:nvSpPr>
          <p:cNvPr id="530" name="Google Shape;530;p41"/>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41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534" name="Shape 534"/>
        <p:cNvGrpSpPr/>
        <p:nvPr/>
      </p:nvGrpSpPr>
      <p:grpSpPr>
        <a:xfrm>
          <a:off x="0" y="0"/>
          <a:ext cx="0" cy="0"/>
          <a:chOff x="0" y="0"/>
          <a:chExt cx="0" cy="0"/>
        </a:xfrm>
      </p:grpSpPr>
      <p:sp>
        <p:nvSpPr>
          <p:cNvPr id="535" name="Google Shape;535;p42"/>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X-ray markers reveal the mechanics of prey capture</a:t>
            </a:r>
            <a:endParaRPr b="0" i="0" sz="1800" u="none" cap="none" strike="noStrike">
              <a:solidFill>
                <a:schemeClr val="dk1"/>
              </a:solidFill>
              <a:latin typeface="Calibri"/>
              <a:ea typeface="Calibri"/>
              <a:cs typeface="Calibri"/>
              <a:sym typeface="Calibri"/>
            </a:endParaRPr>
          </a:p>
        </p:txBody>
      </p:sp>
      <p:sp>
        <p:nvSpPr>
          <p:cNvPr id="536" name="Google Shape;536;p42"/>
          <p:cNvSpPr/>
          <p:nvPr/>
        </p:nvSpPr>
        <p:spPr>
          <a:xfrm>
            <a:off x="571500" y="1371600"/>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Keeffe and colleagues used </a:t>
            </a:r>
            <a:r>
              <a:rPr b="1" i="0" lang="en-US" sz="1725" u="none" cap="none" strike="noStrike">
                <a:solidFill>
                  <a:srgbClr val="28242A"/>
                </a:solidFill>
                <a:latin typeface="Arial"/>
                <a:ea typeface="Arial"/>
                <a:cs typeface="Arial"/>
                <a:sym typeface="Arial"/>
              </a:rPr>
              <a:t>XROMM</a:t>
            </a:r>
            <a:r>
              <a:rPr b="0" i="0" lang="en-US" sz="1725" u="none" cap="none" strike="noStrike">
                <a:solidFill>
                  <a:srgbClr val="28242A"/>
                </a:solidFill>
                <a:latin typeface="Arial"/>
                <a:ea typeface="Arial"/>
                <a:cs typeface="Arial"/>
                <a:sym typeface="Arial"/>
              </a:rPr>
              <a:t>, X-ray Reconstruction of Moving Morphology, to measure feeding in cane toads. Implanted markers and two X-ray views reconstructed three-dimensional motion of structures hidden from ordinary video.</a:t>
            </a:r>
            <a:endParaRPr b="0" i="0" sz="1800" u="none" cap="none" strike="noStrike">
              <a:solidFill>
                <a:schemeClr val="dk1"/>
              </a:solidFill>
              <a:latin typeface="Calibri"/>
              <a:ea typeface="Calibri"/>
              <a:cs typeface="Calibri"/>
              <a:sym typeface="Calibri"/>
            </a:endParaRPr>
          </a:p>
        </p:txBody>
      </p:sp>
      <p:sp>
        <p:nvSpPr>
          <p:cNvPr id="537" name="Google Shape;537;p42"/>
          <p:cNvSpPr/>
          <p:nvPr/>
        </p:nvSpPr>
        <p:spPr>
          <a:xfrm>
            <a:off x="571500" y="2696468"/>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 panel shows marker locations used to relate tongue movement to the skull, jaw, hyoid, and pectoral girdle. The hyoid is a skeletal apparatus in the floor of the mouth, linked to the tongue by muscles.</a:t>
            </a:r>
            <a:endParaRPr b="0" i="0" sz="1800" u="none" cap="none" strike="noStrike">
              <a:solidFill>
                <a:schemeClr val="dk1"/>
              </a:solidFill>
              <a:latin typeface="Calibri"/>
              <a:ea typeface="Calibri"/>
              <a:cs typeface="Calibri"/>
              <a:sym typeface="Calibri"/>
            </a:endParaRPr>
          </a:p>
        </p:txBody>
      </p:sp>
      <p:sp>
        <p:nvSpPr>
          <p:cNvPr id="538" name="Google Shape;538;p42"/>
          <p:cNvSpPr/>
          <p:nvPr/>
        </p:nvSpPr>
        <p:spPr>
          <a:xfrm>
            <a:off x="571500" y="3771602"/>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These anatomical reference points make it possible to separate movement of the tongue from movement of the entire head. They connect the muscle commands studied electrophysiologically to the mechanical actions that contact and transport prey.</a:t>
            </a:r>
            <a:endParaRPr b="0" i="0" sz="1800" u="none" cap="none" strike="noStrike">
              <a:solidFill>
                <a:schemeClr val="dk1"/>
              </a:solidFill>
              <a:latin typeface="Calibri"/>
              <a:ea typeface="Calibri"/>
              <a:cs typeface="Calibri"/>
              <a:sym typeface="Calibri"/>
            </a:endParaRPr>
          </a:p>
        </p:txBody>
      </p:sp>
      <p:pic>
        <p:nvPicPr>
          <p:cNvPr id="539" name="Google Shape;539;p42"/>
          <p:cNvPicPr preferRelativeResize="0"/>
          <p:nvPr/>
        </p:nvPicPr>
        <p:blipFill rotWithShape="1">
          <a:blip r:embed="rId3">
            <a:alphaModFix/>
          </a:blip>
          <a:srcRect b="0" l="0" r="0" t="0"/>
          <a:stretch/>
        </p:blipFill>
        <p:spPr>
          <a:xfrm>
            <a:off x="7086600" y="2448424"/>
            <a:ext cx="4533900" cy="2037054"/>
          </a:xfrm>
          <a:prstGeom prst="rect">
            <a:avLst/>
          </a:prstGeom>
          <a:noFill/>
          <a:ln>
            <a:noFill/>
          </a:ln>
        </p:spPr>
      </p:pic>
      <p:sp>
        <p:nvSpPr>
          <p:cNvPr id="540" name="Google Shape;540;p42"/>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E545A"/>
              </a:buClr>
              <a:buSzPts val="1200"/>
              <a:buFont typeface="Arial"/>
              <a:buNone/>
            </a:pPr>
            <a:r>
              <a:rPr b="0" i="0" lang="en-US" sz="1200" u="none" cap="none" strike="noStrike">
                <a:solidFill>
                  <a:srgbClr val="5E545A"/>
                </a:solidFill>
                <a:latin typeface="Arial"/>
                <a:ea typeface="Arial"/>
                <a:cs typeface="Arial"/>
                <a:sym typeface="Arial"/>
              </a:rPr>
              <a:t>Keeffe et al. (2022), Fig. 1. XROMM marker locations in Rhinella marina; original anatomical labels retained.</a:t>
            </a:r>
            <a:endParaRPr b="0" i="0" sz="1800" u="none" cap="none" strike="noStrike">
              <a:solidFill>
                <a:schemeClr val="dk1"/>
              </a:solidFill>
              <a:latin typeface="Calibri"/>
              <a:ea typeface="Calibri"/>
              <a:cs typeface="Calibri"/>
              <a:sym typeface="Calibri"/>
            </a:endParaRPr>
          </a:p>
        </p:txBody>
      </p:sp>
      <p:pic>
        <p:nvPicPr>
          <p:cNvPr id="541" name="Google Shape;541;p42"/>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542" name="Google Shape;542;p42"/>
          <p:cNvSpPr/>
          <p:nvPr/>
        </p:nvSpPr>
        <p:spPr>
          <a:xfrm>
            <a:off x="571500" y="6434138"/>
            <a:ext cx="1259086"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Keeffe et al. (2022)</a:t>
            </a:r>
            <a:endParaRPr b="0" i="0" sz="1800" u="none" cap="none" strike="noStrike">
              <a:solidFill>
                <a:schemeClr val="dk1"/>
              </a:solidFill>
              <a:latin typeface="Calibri"/>
              <a:ea typeface="Calibri"/>
              <a:cs typeface="Calibri"/>
              <a:sym typeface="Calibri"/>
            </a:endParaRPr>
          </a:p>
        </p:txBody>
      </p:sp>
      <p:sp>
        <p:nvSpPr>
          <p:cNvPr id="543" name="Google Shape;543;p42"/>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42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547" name="Shape 547"/>
        <p:cNvGrpSpPr/>
        <p:nvPr/>
      </p:nvGrpSpPr>
      <p:grpSpPr>
        <a:xfrm>
          <a:off x="0" y="0"/>
          <a:ext cx="0" cy="0"/>
          <a:chOff x="0" y="0"/>
          <a:chExt cx="0" cy="0"/>
        </a:xfrm>
      </p:grpSpPr>
      <p:sp>
        <p:nvSpPr>
          <p:cNvPr id="548" name="Google Shape;548;p43"/>
          <p:cNvSpPr/>
          <p:nvPr/>
        </p:nvSpPr>
        <p:spPr>
          <a:xfrm>
            <a:off x="571500" y="352425"/>
            <a:ext cx="11068050" cy="860822"/>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Tongue retraction can stretch the tongue beyond protrusion</a:t>
            </a:r>
            <a:endParaRPr b="0" i="0" sz="1800" u="none" cap="none" strike="noStrike">
              <a:solidFill>
                <a:schemeClr val="dk1"/>
              </a:solidFill>
              <a:latin typeface="Calibri"/>
              <a:ea typeface="Calibri"/>
              <a:cs typeface="Calibri"/>
              <a:sym typeface="Calibri"/>
            </a:endParaRPr>
          </a:p>
        </p:txBody>
      </p:sp>
      <p:sp>
        <p:nvSpPr>
          <p:cNvPr id="549" name="Google Shape;549;p43"/>
          <p:cNvSpPr/>
          <p:nvPr/>
        </p:nvSpPr>
        <p:spPr>
          <a:xfrm>
            <a:off x="571500" y="137160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These original box and violin plots compare maximum tongue-marker separation during outward protrusion and subsequent retraction. The dataset contains </a:t>
            </a:r>
            <a:r>
              <a:rPr b="1" i="0" lang="en-US" sz="1725" u="none" cap="none" strike="noStrike">
                <a:solidFill>
                  <a:srgbClr val="28242A"/>
                </a:solidFill>
                <a:latin typeface="Arial"/>
                <a:ea typeface="Arial"/>
                <a:cs typeface="Arial"/>
                <a:sym typeface="Arial"/>
              </a:rPr>
              <a:t>15, 13, and 16 feeding events</a:t>
            </a:r>
            <a:r>
              <a:rPr b="0" i="0" lang="en-US" sz="1725" u="none" cap="none" strike="noStrike">
                <a:solidFill>
                  <a:srgbClr val="28242A"/>
                </a:solidFill>
                <a:latin typeface="Arial"/>
                <a:ea typeface="Arial"/>
                <a:cs typeface="Arial"/>
                <a:sym typeface="Arial"/>
              </a:rPr>
              <a:t> for the three toads.</a:t>
            </a:r>
            <a:endParaRPr b="0" i="0" sz="1800" u="none" cap="none" strike="noStrike">
              <a:solidFill>
                <a:schemeClr val="dk1"/>
              </a:solidFill>
              <a:latin typeface="Calibri"/>
              <a:ea typeface="Calibri"/>
              <a:cs typeface="Calibri"/>
              <a:sym typeface="Calibri"/>
            </a:endParaRPr>
          </a:p>
        </p:txBody>
      </p:sp>
      <p:sp>
        <p:nvSpPr>
          <p:cNvPr id="550" name="Google Shape;550;p43"/>
          <p:cNvSpPr/>
          <p:nvPr/>
        </p:nvSpPr>
        <p:spPr>
          <a:xfrm>
            <a:off x="571500" y="2446734"/>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 tongue often stretched more during posterior movement than during the outward strike. Prey transport and swallowing therefore impose substantial mechanical demands after contact with the target.</a:t>
            </a:r>
            <a:endParaRPr b="0" i="0" sz="1800" u="none" cap="none" strike="noStrike">
              <a:solidFill>
                <a:schemeClr val="dk1"/>
              </a:solidFill>
              <a:latin typeface="Calibri"/>
              <a:ea typeface="Calibri"/>
              <a:cs typeface="Calibri"/>
              <a:sym typeface="Calibri"/>
            </a:endParaRPr>
          </a:p>
        </p:txBody>
      </p:sp>
      <p:sp>
        <p:nvSpPr>
          <p:cNvPr id="551" name="Google Shape;551;p43"/>
          <p:cNvSpPr/>
          <p:nvPr/>
        </p:nvSpPr>
        <p:spPr>
          <a:xfrm>
            <a:off x="571500" y="3521869"/>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 center lines are medians, boxes delimit the middle half of events, and violin widths summarize their distribution. Repeated strikes sample each animal’s variability; they are not independent additional animals.</a:t>
            </a:r>
            <a:endParaRPr b="0" i="0" sz="1800" u="none" cap="none" strike="noStrike">
              <a:solidFill>
                <a:schemeClr val="dk1"/>
              </a:solidFill>
              <a:latin typeface="Calibri"/>
              <a:ea typeface="Calibri"/>
              <a:cs typeface="Calibri"/>
              <a:sym typeface="Calibri"/>
            </a:endParaRPr>
          </a:p>
        </p:txBody>
      </p:sp>
      <p:sp>
        <p:nvSpPr>
          <p:cNvPr id="552" name="Google Shape;552;p43"/>
          <p:cNvSpPr/>
          <p:nvPr/>
        </p:nvSpPr>
        <p:spPr>
          <a:xfrm>
            <a:off x="571500" y="4597003"/>
            <a:ext cx="6115050" cy="749201"/>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 result explains why a complete account of feeding must include retraction and swallowing as well as visually triggered protraction.</a:t>
            </a:r>
            <a:endParaRPr b="0" i="0" sz="1800" u="none" cap="none" strike="noStrike">
              <a:solidFill>
                <a:schemeClr val="dk1"/>
              </a:solidFill>
              <a:latin typeface="Calibri"/>
              <a:ea typeface="Calibri"/>
              <a:cs typeface="Calibri"/>
              <a:sym typeface="Calibri"/>
            </a:endParaRPr>
          </a:p>
        </p:txBody>
      </p:sp>
      <p:pic>
        <p:nvPicPr>
          <p:cNvPr id="553" name="Google Shape;553;p43"/>
          <p:cNvPicPr preferRelativeResize="0"/>
          <p:nvPr/>
        </p:nvPicPr>
        <p:blipFill rotWithShape="1">
          <a:blip r:embed="rId3">
            <a:alphaModFix/>
          </a:blip>
          <a:srcRect b="0" l="0" r="0" t="0"/>
          <a:stretch/>
        </p:blipFill>
        <p:spPr>
          <a:xfrm>
            <a:off x="7086600" y="1857355"/>
            <a:ext cx="4533900" cy="3219192"/>
          </a:xfrm>
          <a:prstGeom prst="rect">
            <a:avLst/>
          </a:prstGeom>
          <a:noFill/>
          <a:ln>
            <a:noFill/>
          </a:ln>
        </p:spPr>
      </p:pic>
      <p:sp>
        <p:nvSpPr>
          <p:cNvPr id="554" name="Google Shape;554;p43"/>
          <p:cNvSpPr/>
          <p:nvPr/>
        </p:nvSpPr>
        <p:spPr>
          <a:xfrm>
            <a:off x="7086600" y="5605314"/>
            <a:ext cx="4552950" cy="371773"/>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E545A"/>
              </a:buClr>
              <a:buSzPts val="1200"/>
              <a:buFont typeface="Arial"/>
              <a:buNone/>
            </a:pPr>
            <a:r>
              <a:rPr b="0" i="0" lang="en-US" sz="1200" u="none" cap="none" strike="noStrike">
                <a:solidFill>
                  <a:srgbClr val="5E545A"/>
                </a:solidFill>
                <a:latin typeface="Arial"/>
                <a:ea typeface="Arial"/>
                <a:cs typeface="Arial"/>
                <a:sym typeface="Arial"/>
              </a:rPr>
              <a:t>Keeffe et al. (2022), Fig. 3. Maximum tongue-marker separation during protrusion and retraction in three cane toads.</a:t>
            </a:r>
            <a:endParaRPr b="0" i="0" sz="1800" u="none" cap="none" strike="noStrike">
              <a:solidFill>
                <a:schemeClr val="dk1"/>
              </a:solidFill>
              <a:latin typeface="Calibri"/>
              <a:ea typeface="Calibri"/>
              <a:cs typeface="Calibri"/>
              <a:sym typeface="Calibri"/>
            </a:endParaRPr>
          </a:p>
        </p:txBody>
      </p:sp>
      <p:pic>
        <p:nvPicPr>
          <p:cNvPr id="555" name="Google Shape;555;p43"/>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556" name="Google Shape;556;p43"/>
          <p:cNvSpPr/>
          <p:nvPr/>
        </p:nvSpPr>
        <p:spPr>
          <a:xfrm>
            <a:off x="571500" y="6434138"/>
            <a:ext cx="1259086"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Keeffe et al. (2022)</a:t>
            </a:r>
            <a:endParaRPr b="0" i="0" sz="1800" u="none" cap="none" strike="noStrike">
              <a:solidFill>
                <a:schemeClr val="dk1"/>
              </a:solidFill>
              <a:latin typeface="Calibri"/>
              <a:ea typeface="Calibri"/>
              <a:cs typeface="Calibri"/>
              <a:sym typeface="Calibri"/>
            </a:endParaRPr>
          </a:p>
        </p:txBody>
      </p:sp>
      <p:sp>
        <p:nvSpPr>
          <p:cNvPr id="557" name="Google Shape;557;p43"/>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43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561" name="Shape 561"/>
        <p:cNvGrpSpPr/>
        <p:nvPr/>
      </p:nvGrpSpPr>
      <p:grpSpPr>
        <a:xfrm>
          <a:off x="0" y="0"/>
          <a:ext cx="0" cy="0"/>
          <a:chOff x="0" y="0"/>
          <a:chExt cx="0" cy="0"/>
        </a:xfrm>
      </p:grpSpPr>
      <p:sp>
        <p:nvSpPr>
          <p:cNvPr id="562" name="Google Shape;562;p44"/>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Larger retinal fields leave prey-size preference unchanged</a:t>
            </a:r>
            <a:endParaRPr b="0" i="0" sz="1800" u="none" cap="none" strike="noStrike">
              <a:solidFill>
                <a:schemeClr val="dk1"/>
              </a:solidFill>
              <a:latin typeface="Calibri"/>
              <a:ea typeface="Calibri"/>
              <a:cs typeface="Calibri"/>
              <a:sym typeface="Calibri"/>
            </a:endParaRPr>
          </a:p>
        </p:txBody>
      </p:sp>
      <p:sp>
        <p:nvSpPr>
          <p:cNvPr id="563" name="Google Shape;563;p44"/>
          <p:cNvSpPr/>
          <p:nvPr/>
        </p:nvSpPr>
        <p:spPr>
          <a:xfrm>
            <a:off x="571500" y="1428750"/>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Glagow and Ewert directly compared a drug-induced retinal change with prey-size preference in common toads. Apomorphine approximately doubled the diameters of R2 and R3 excitatory receptive fields and increased their responses.</a:t>
            </a:r>
            <a:endParaRPr b="0" i="0" sz="1800" u="none" cap="none" strike="noStrike">
              <a:solidFill>
                <a:schemeClr val="dk1"/>
              </a:solidFill>
              <a:latin typeface="Calibri"/>
              <a:ea typeface="Calibri"/>
              <a:cs typeface="Calibri"/>
              <a:sym typeface="Calibri"/>
            </a:endParaRPr>
          </a:p>
        </p:txBody>
      </p:sp>
      <p:sp>
        <p:nvSpPr>
          <p:cNvPr id="564" name="Google Shape;564;p44"/>
          <p:cNvSpPr/>
          <p:nvPr/>
        </p:nvSpPr>
        <p:spPr>
          <a:xfrm>
            <a:off x="571500" y="2434233"/>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Behavioral snapping increased overall, but the preferred prey size did </a:t>
            </a:r>
            <a:r>
              <a:rPr b="1" i="0" lang="en-US" sz="1800" u="none" cap="none" strike="noStrike">
                <a:solidFill>
                  <a:srgbClr val="28242A"/>
                </a:solidFill>
                <a:latin typeface="Arial"/>
                <a:ea typeface="Arial"/>
                <a:cs typeface="Arial"/>
                <a:sym typeface="Arial"/>
              </a:rPr>
              <a:t>not</a:t>
            </a:r>
            <a:r>
              <a:rPr b="0" i="0" lang="en-US" sz="1800" u="none" cap="none" strike="noStrike">
                <a:solidFill>
                  <a:srgbClr val="28242A"/>
                </a:solidFill>
                <a:latin typeface="Arial"/>
                <a:ea typeface="Arial"/>
                <a:cs typeface="Arial"/>
                <a:sym typeface="Arial"/>
              </a:rPr>
              <a:t> shift correspondingly. The predicted behavioral consequence of a simple retinal-size rule therefore failed.</a:t>
            </a:r>
            <a:endParaRPr b="0" i="0" sz="1800" u="none" cap="none" strike="noStrike">
              <a:solidFill>
                <a:schemeClr val="dk1"/>
              </a:solidFill>
              <a:latin typeface="Calibri"/>
              <a:ea typeface="Calibri"/>
              <a:cs typeface="Calibri"/>
              <a:sym typeface="Calibri"/>
            </a:endParaRPr>
          </a:p>
        </p:txBody>
      </p:sp>
      <p:sp>
        <p:nvSpPr>
          <p:cNvPr id="565" name="Google Shape;565;p44"/>
          <p:cNvSpPr/>
          <p:nvPr/>
        </p:nvSpPr>
        <p:spPr>
          <a:xfrm>
            <a:off x="571500" y="3142655"/>
            <a:ext cx="10972800" cy="594122"/>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A receptive field specifies where a stimulus influences a neuron. It is not identical to the size of the object that the animal should classify as suitable prey.</a:t>
            </a:r>
            <a:endParaRPr b="0" i="0" sz="1800" u="none" cap="none" strike="noStrike">
              <a:solidFill>
                <a:schemeClr val="dk1"/>
              </a:solidFill>
              <a:latin typeface="Calibri"/>
              <a:ea typeface="Calibri"/>
              <a:cs typeface="Calibri"/>
              <a:sym typeface="Calibri"/>
            </a:endParaRPr>
          </a:p>
        </p:txBody>
      </p:sp>
      <p:sp>
        <p:nvSpPr>
          <p:cNvPr id="566" name="Google Shape;566;p44"/>
          <p:cNvSpPr/>
          <p:nvPr/>
        </p:nvSpPr>
        <p:spPr>
          <a:xfrm>
            <a:off x="571500" y="3851077"/>
            <a:ext cx="10972800" cy="89118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8242A"/>
              </a:buClr>
              <a:buSzPts val="1800"/>
              <a:buFont typeface="Arial"/>
              <a:buNone/>
            </a:pPr>
            <a:r>
              <a:rPr b="0" i="0" lang="en-US" sz="1800" u="none" cap="none" strike="noStrike">
                <a:solidFill>
                  <a:srgbClr val="28242A"/>
                </a:solidFill>
                <a:latin typeface="Arial"/>
                <a:ea typeface="Arial"/>
                <a:cs typeface="Arial"/>
                <a:sym typeface="Arial"/>
              </a:rPr>
              <a:t>The dissociation indicates that downstream interactions contribute to size evaluation. This experiment also illustrates the distinction between response gain and feature preference: increasing the likelihood of snapping need not change the size that evokes the strongest preference.</a:t>
            </a:r>
            <a:endParaRPr b="0" i="0" sz="1800" u="none" cap="none" strike="noStrike">
              <a:solidFill>
                <a:schemeClr val="dk1"/>
              </a:solidFill>
              <a:latin typeface="Calibri"/>
              <a:ea typeface="Calibri"/>
              <a:cs typeface="Calibri"/>
              <a:sym typeface="Calibri"/>
            </a:endParaRPr>
          </a:p>
        </p:txBody>
      </p:sp>
      <p:pic>
        <p:nvPicPr>
          <p:cNvPr id="567" name="Google Shape;567;p44"/>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568" name="Google Shape;568;p44"/>
          <p:cNvSpPr/>
          <p:nvPr/>
        </p:nvSpPr>
        <p:spPr>
          <a:xfrm>
            <a:off x="571500" y="6434138"/>
            <a:ext cx="1535460"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Glagow &amp; Ewert (1994)</a:t>
            </a:r>
            <a:endParaRPr b="0" i="0" sz="1800" u="none" cap="none" strike="noStrike">
              <a:solidFill>
                <a:schemeClr val="dk1"/>
              </a:solidFill>
              <a:latin typeface="Calibri"/>
              <a:ea typeface="Calibri"/>
              <a:cs typeface="Calibri"/>
              <a:sym typeface="Calibri"/>
            </a:endParaRPr>
          </a:p>
        </p:txBody>
      </p:sp>
      <p:sp>
        <p:nvSpPr>
          <p:cNvPr id="569" name="Google Shape;569;p44"/>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44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9"/>
        </a:solidFill>
      </p:bgPr>
    </p:bg>
    <p:spTree>
      <p:nvGrpSpPr>
        <p:cNvPr id="573" name="Shape 573"/>
        <p:cNvGrpSpPr/>
        <p:nvPr/>
      </p:nvGrpSpPr>
      <p:grpSpPr>
        <a:xfrm>
          <a:off x="0" y="0"/>
          <a:ext cx="0" cy="0"/>
          <a:chOff x="0" y="0"/>
          <a:chExt cx="0" cy="0"/>
        </a:xfrm>
      </p:grpSpPr>
      <p:sp>
        <p:nvSpPr>
          <p:cNvPr id="574" name="Google Shape;574;p45"/>
          <p:cNvSpPr/>
          <p:nvPr/>
        </p:nvSpPr>
        <p:spPr>
          <a:xfrm>
            <a:off x="571500" y="352425"/>
            <a:ext cx="11068050" cy="430411"/>
          </a:xfrm>
          <a:prstGeom prst="rect">
            <a:avLst/>
          </a:prstGeom>
          <a:noFill/>
          <a:ln>
            <a:noFill/>
          </a:ln>
        </p:spPr>
        <p:txBody>
          <a:bodyPr anchorCtr="0" anchor="t" bIns="0" lIns="0" spcFirstLastPara="1" rIns="0" wrap="square" tIns="0">
            <a:normAutofit/>
          </a:bodyPr>
          <a:lstStyle/>
          <a:p>
            <a:pPr indent="0" lvl="0" marL="0" marR="0" rtl="0" algn="l">
              <a:lnSpc>
                <a:spcPct val="113000"/>
              </a:lnSpc>
              <a:spcBef>
                <a:spcPts val="0"/>
              </a:spcBef>
              <a:spcAft>
                <a:spcPts val="0"/>
              </a:spcAft>
              <a:buClr>
                <a:srgbClr val="B33455"/>
              </a:buClr>
              <a:buSzPts val="3000"/>
              <a:buFont typeface="Arial"/>
              <a:buNone/>
            </a:pPr>
            <a:r>
              <a:rPr b="1" i="0" lang="en-US" sz="3000" u="none" cap="none" strike="noStrike">
                <a:solidFill>
                  <a:srgbClr val="B33455"/>
                </a:solidFill>
                <a:latin typeface="Arial"/>
                <a:ea typeface="Arial"/>
                <a:cs typeface="Arial"/>
                <a:sym typeface="Arial"/>
              </a:rPr>
              <a:t>Chronic recordings reveal activity in awake toads</a:t>
            </a:r>
            <a:endParaRPr b="0" i="0" sz="1800" u="none" cap="none" strike="noStrike">
              <a:solidFill>
                <a:schemeClr val="dk1"/>
              </a:solidFill>
              <a:latin typeface="Calibri"/>
              <a:ea typeface="Calibri"/>
              <a:cs typeface="Calibri"/>
              <a:sym typeface="Calibri"/>
            </a:endParaRPr>
          </a:p>
        </p:txBody>
      </p:sp>
      <p:sp>
        <p:nvSpPr>
          <p:cNvPr id="575" name="Google Shape;575;p45"/>
          <p:cNvSpPr/>
          <p:nvPr/>
        </p:nvSpPr>
        <p:spPr>
          <a:xfrm>
            <a:off x="571500" y="1371600"/>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Shaykevich and colleagues implanted flexible mesh electrodes in </a:t>
            </a:r>
            <a:r>
              <a:rPr b="1" i="0" lang="en-US" sz="1725" u="none" cap="none" strike="noStrike">
                <a:solidFill>
                  <a:srgbClr val="28242A"/>
                </a:solidFill>
                <a:latin typeface="Arial"/>
                <a:ea typeface="Arial"/>
                <a:cs typeface="Arial"/>
                <a:sym typeface="Arial"/>
              </a:rPr>
              <a:t>Rhinella marina</a:t>
            </a:r>
            <a:r>
              <a:rPr b="0" i="0" lang="en-US" sz="1725" u="none" cap="none" strike="noStrike">
                <a:solidFill>
                  <a:srgbClr val="28242A"/>
                </a:solidFill>
                <a:latin typeface="Arial"/>
                <a:ea typeface="Arial"/>
                <a:cs typeface="Arial"/>
                <a:sym typeface="Arial"/>
              </a:rPr>
              <a:t> and recorded telencephalic activity from awake toads across multiple days. The traces show extracellular signals and spike waveforms separated by spike sorting.</a:t>
            </a:r>
            <a:endParaRPr b="0" i="0" sz="1800" u="none" cap="none" strike="noStrike">
              <a:solidFill>
                <a:schemeClr val="dk1"/>
              </a:solidFill>
              <a:latin typeface="Calibri"/>
              <a:ea typeface="Calibri"/>
              <a:cs typeface="Calibri"/>
              <a:sym typeface="Calibri"/>
            </a:endParaRPr>
          </a:p>
        </p:txBody>
      </p:sp>
      <p:sp>
        <p:nvSpPr>
          <p:cNvPr id="576" name="Google Shape;576;p45"/>
          <p:cNvSpPr/>
          <p:nvPr/>
        </p:nvSpPr>
        <p:spPr>
          <a:xfrm>
            <a:off x="571500" y="2696468"/>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The study obtained recordings across </a:t>
            </a:r>
            <a:r>
              <a:rPr b="1" i="0" lang="en-US" sz="1725" u="none" cap="none" strike="noStrike">
                <a:solidFill>
                  <a:srgbClr val="28242A"/>
                </a:solidFill>
                <a:latin typeface="Arial"/>
                <a:ea typeface="Arial"/>
                <a:cs typeface="Arial"/>
                <a:sym typeface="Arial"/>
              </a:rPr>
              <a:t>five consecutive days in five awake toads</a:t>
            </a:r>
            <a:r>
              <a:rPr b="0" i="0" lang="en-US" sz="1725" u="none" cap="none" strike="noStrike">
                <a:solidFill>
                  <a:srgbClr val="28242A"/>
                </a:solidFill>
                <a:latin typeface="Arial"/>
                <a:ea typeface="Arial"/>
                <a:cs typeface="Arial"/>
                <a:sym typeface="Arial"/>
              </a:rPr>
              <a:t>, and across </a:t>
            </a:r>
            <a:r>
              <a:rPr b="1" i="0" lang="en-US" sz="1725" u="none" cap="none" strike="noStrike">
                <a:solidFill>
                  <a:srgbClr val="28242A"/>
                </a:solidFill>
                <a:latin typeface="Arial"/>
                <a:ea typeface="Arial"/>
                <a:cs typeface="Arial"/>
                <a:sym typeface="Arial"/>
              </a:rPr>
              <a:t>15 weeks in one toad recorded under anesthesia</a:t>
            </a:r>
            <a:r>
              <a:rPr b="0" i="0" lang="en-US" sz="1725" u="none" cap="none" strike="noStrike">
                <a:solidFill>
                  <a:srgbClr val="28242A"/>
                </a:solidFill>
                <a:latin typeface="Arial"/>
                <a:ea typeface="Arial"/>
                <a:cs typeface="Arial"/>
                <a:sym typeface="Arial"/>
              </a:rPr>
              <a:t>. These are distinct cohorts and recording conditions.</a:t>
            </a:r>
            <a:endParaRPr b="0" i="0" sz="1800" u="none" cap="none" strike="noStrike">
              <a:solidFill>
                <a:schemeClr val="dk1"/>
              </a:solidFill>
              <a:latin typeface="Calibri"/>
              <a:ea typeface="Calibri"/>
              <a:cs typeface="Calibri"/>
              <a:sym typeface="Calibri"/>
            </a:endParaRPr>
          </a:p>
        </p:txBody>
      </p:sp>
      <p:sp>
        <p:nvSpPr>
          <p:cNvPr id="577" name="Google Shape;577;p45"/>
          <p:cNvSpPr/>
          <p:nvPr/>
        </p:nvSpPr>
        <p:spPr>
          <a:xfrm>
            <a:off x="571500" y="3771602"/>
            <a:ext cx="6115050" cy="1248668"/>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Spike sorting groups recorded waveforms into candidate neuronal units. Stable-looking waveforms support tracking, but electrode maintenance and distinguishing single-unit from multi-unit activity remain experimental constraints.</a:t>
            </a:r>
            <a:endParaRPr b="0" i="0" sz="1800" u="none" cap="none" strike="noStrike">
              <a:solidFill>
                <a:schemeClr val="dk1"/>
              </a:solidFill>
              <a:latin typeface="Calibri"/>
              <a:ea typeface="Calibri"/>
              <a:cs typeface="Calibri"/>
              <a:sym typeface="Calibri"/>
            </a:endParaRPr>
          </a:p>
        </p:txBody>
      </p:sp>
      <p:sp>
        <p:nvSpPr>
          <p:cNvPr id="578" name="Google Shape;578;p45"/>
          <p:cNvSpPr/>
          <p:nvPr/>
        </p:nvSpPr>
        <p:spPr>
          <a:xfrm>
            <a:off x="571500" y="5096470"/>
            <a:ext cx="6115050" cy="998934"/>
          </a:xfrm>
          <a:prstGeom prst="rect">
            <a:avLst/>
          </a:prstGeom>
          <a:noFill/>
          <a:ln>
            <a:noFill/>
          </a:ln>
        </p:spPr>
        <p:txBody>
          <a:bodyPr anchorCtr="0" anchor="t" bIns="0" lIns="0" spcFirstLastPara="1" rIns="0" wrap="square" tIns="0">
            <a:normAutofit/>
          </a:bodyPr>
          <a:lstStyle/>
          <a:p>
            <a:pPr indent="0" lvl="0" marL="0" marR="0" rtl="0" algn="l">
              <a:lnSpc>
                <a:spcPct val="114028"/>
              </a:lnSpc>
              <a:spcBef>
                <a:spcPts val="0"/>
              </a:spcBef>
              <a:spcAft>
                <a:spcPts val="0"/>
              </a:spcAft>
              <a:buClr>
                <a:srgbClr val="28242A"/>
              </a:buClr>
              <a:buSzPts val="1725"/>
              <a:buFont typeface="Arial"/>
              <a:buNone/>
            </a:pPr>
            <a:r>
              <a:rPr b="0" i="0" lang="en-US" sz="1725" u="none" cap="none" strike="noStrike">
                <a:solidFill>
                  <a:srgbClr val="28242A"/>
                </a:solidFill>
                <a:latin typeface="Arial"/>
                <a:ea typeface="Arial"/>
                <a:cs typeface="Arial"/>
                <a:sym typeface="Arial"/>
              </a:rPr>
              <a:t>This study demonstrates chronic recording capability in the telencephalon. It did not record Ewert’s tectal prey-selective classes or directly establish a neural mechanism of prey recognition.</a:t>
            </a:r>
            <a:endParaRPr b="0" i="0" sz="1800" u="none" cap="none" strike="noStrike">
              <a:solidFill>
                <a:schemeClr val="dk1"/>
              </a:solidFill>
              <a:latin typeface="Calibri"/>
              <a:ea typeface="Calibri"/>
              <a:cs typeface="Calibri"/>
              <a:sym typeface="Calibri"/>
            </a:endParaRPr>
          </a:p>
        </p:txBody>
      </p:sp>
      <p:pic>
        <p:nvPicPr>
          <p:cNvPr id="579" name="Google Shape;579;p45"/>
          <p:cNvPicPr preferRelativeResize="0"/>
          <p:nvPr/>
        </p:nvPicPr>
        <p:blipFill rotWithShape="1">
          <a:blip r:embed="rId3">
            <a:alphaModFix/>
          </a:blip>
          <a:srcRect b="0" l="0" r="0" t="0"/>
          <a:stretch/>
        </p:blipFill>
        <p:spPr>
          <a:xfrm>
            <a:off x="7086600" y="2079786"/>
            <a:ext cx="4533900" cy="2588445"/>
          </a:xfrm>
          <a:prstGeom prst="rect">
            <a:avLst/>
          </a:prstGeom>
          <a:noFill/>
          <a:ln>
            <a:noFill/>
          </a:ln>
        </p:spPr>
      </p:pic>
      <p:sp>
        <p:nvSpPr>
          <p:cNvPr id="580" name="Google Shape;580;p45"/>
          <p:cNvSpPr/>
          <p:nvPr/>
        </p:nvSpPr>
        <p:spPr>
          <a:xfrm>
            <a:off x="7086600" y="5500241"/>
            <a:ext cx="4552950" cy="557659"/>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5E545A"/>
              </a:buClr>
              <a:buSzPts val="1200"/>
              <a:buFont typeface="Arial"/>
              <a:buNone/>
            </a:pPr>
            <a:r>
              <a:rPr b="0" i="0" lang="en-US" sz="1200" u="none" cap="none" strike="noStrike">
                <a:solidFill>
                  <a:srgbClr val="5E545A"/>
                </a:solidFill>
                <a:latin typeface="Arial"/>
                <a:ea typeface="Arial"/>
                <a:cs typeface="Arial"/>
                <a:sym typeface="Arial"/>
              </a:rPr>
              <a:t>Shaykevich et al. (2025), Fig. 4B and upper C, selected excerpt. Filtered awake cane-toad recordings and sorted spike waveforms.</a:t>
            </a:r>
            <a:endParaRPr b="0" i="0" sz="1800" u="none" cap="none" strike="noStrike">
              <a:solidFill>
                <a:schemeClr val="dk1"/>
              </a:solidFill>
              <a:latin typeface="Calibri"/>
              <a:ea typeface="Calibri"/>
              <a:cs typeface="Calibri"/>
              <a:sym typeface="Calibri"/>
            </a:endParaRPr>
          </a:p>
        </p:txBody>
      </p:sp>
      <p:pic>
        <p:nvPicPr>
          <p:cNvPr id="581" name="Google Shape;581;p45"/>
          <p:cNvPicPr preferRelativeResize="0"/>
          <p:nvPr/>
        </p:nvPicPr>
        <p:blipFill rotWithShape="1">
          <a:blip r:embed="rId4">
            <a:alphaModFix/>
          </a:blip>
          <a:srcRect b="0" l="0" r="0" t="0"/>
          <a:stretch/>
        </p:blipFill>
        <p:spPr>
          <a:xfrm>
            <a:off x="571500" y="6329363"/>
            <a:ext cx="11049000" cy="319088"/>
          </a:xfrm>
          <a:prstGeom prst="rect">
            <a:avLst/>
          </a:prstGeom>
          <a:noFill/>
          <a:ln>
            <a:noFill/>
          </a:ln>
        </p:spPr>
      </p:pic>
      <p:sp>
        <p:nvSpPr>
          <p:cNvPr id="582" name="Google Shape;582;p45"/>
          <p:cNvSpPr/>
          <p:nvPr/>
        </p:nvSpPr>
        <p:spPr>
          <a:xfrm>
            <a:off x="571500" y="6434138"/>
            <a:ext cx="157073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Shaykevich et al. (2025)</a:t>
            </a:r>
            <a:endParaRPr b="0" i="0" sz="1800" u="none" cap="none" strike="noStrike">
              <a:solidFill>
                <a:schemeClr val="dk1"/>
              </a:solidFill>
              <a:latin typeface="Calibri"/>
              <a:ea typeface="Calibri"/>
              <a:cs typeface="Calibri"/>
              <a:sym typeface="Calibri"/>
            </a:endParaRPr>
          </a:p>
        </p:txBody>
      </p:sp>
      <p:sp>
        <p:nvSpPr>
          <p:cNvPr id="583" name="Google Shape;583;p45"/>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45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E083C"/>
        </a:solidFill>
      </p:bgPr>
    </p:bg>
    <p:spTree>
      <p:nvGrpSpPr>
        <p:cNvPr id="587" name="Shape 587"/>
        <p:cNvGrpSpPr/>
        <p:nvPr/>
      </p:nvGrpSpPr>
      <p:grpSpPr>
        <a:xfrm>
          <a:off x="0" y="0"/>
          <a:ext cx="0" cy="0"/>
          <a:chOff x="0" y="0"/>
          <a:chExt cx="0" cy="0"/>
        </a:xfrm>
      </p:grpSpPr>
      <p:sp>
        <p:nvSpPr>
          <p:cNvPr id="588" name="Google Shape;588;p46"/>
          <p:cNvSpPr/>
          <p:nvPr/>
        </p:nvSpPr>
        <p:spPr>
          <a:xfrm>
            <a:off x="571500" y="381000"/>
            <a:ext cx="3138488" cy="6286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B33455"/>
              </a:buClr>
              <a:buSzPts val="3300"/>
              <a:buFont typeface="Arial"/>
              <a:buNone/>
            </a:pPr>
            <a:r>
              <a:rPr b="1" i="0" lang="en-US" sz="3300" u="none" cap="none" strike="noStrike">
                <a:solidFill>
                  <a:srgbClr val="FFFFFF"/>
                </a:solidFill>
                <a:latin typeface="Arial"/>
                <a:ea typeface="Arial"/>
                <a:cs typeface="Arial"/>
                <a:sym typeface="Arial"/>
              </a:rPr>
              <a:t>Key takeaways</a:t>
            </a:r>
            <a:endParaRPr b="0" i="0" sz="1800" u="none" cap="none" strike="noStrike">
              <a:solidFill>
                <a:srgbClr val="FFFFFF"/>
              </a:solidFill>
              <a:latin typeface="Calibri"/>
              <a:ea typeface="Calibri"/>
              <a:cs typeface="Calibri"/>
              <a:sym typeface="Calibri"/>
            </a:endParaRPr>
          </a:p>
        </p:txBody>
      </p:sp>
      <p:sp>
        <p:nvSpPr>
          <p:cNvPr id="589" name="Google Shape;589;p46"/>
          <p:cNvSpPr/>
          <p:nvPr/>
        </p:nvSpPr>
        <p:spPr>
          <a:xfrm>
            <a:off x="571500" y="1067625"/>
            <a:ext cx="5238900" cy="1095300"/>
          </a:xfrm>
          <a:prstGeom prst="rect">
            <a:avLst/>
          </a:prstGeom>
          <a:noFill/>
          <a:ln>
            <a:noFill/>
          </a:ln>
        </p:spPr>
        <p:txBody>
          <a:bodyPr anchorCtr="0" anchor="t" bIns="0" lIns="0" spcFirstLastPara="1" rIns="0" wrap="square" tIns="0">
            <a:normAutofit/>
          </a:bodyPr>
          <a:lstStyle/>
          <a:p>
            <a:pPr indent="0" lvl="0" marL="0" marR="0" rtl="0" algn="l">
              <a:lnSpc>
                <a:spcPct val="124985"/>
              </a:lnSpc>
              <a:spcBef>
                <a:spcPts val="0"/>
              </a:spcBef>
              <a:spcAft>
                <a:spcPts val="0"/>
              </a:spcAft>
              <a:buClr>
                <a:srgbClr val="28242A"/>
              </a:buClr>
              <a:buSzPts val="1725"/>
              <a:buFont typeface="Arial"/>
              <a:buNone/>
            </a:pPr>
            <a:r>
              <a:rPr b="1" i="0" lang="en-US" sz="1525" u="none" cap="none" strike="noStrike">
                <a:solidFill>
                  <a:srgbClr val="FFFFFF"/>
                </a:solidFill>
                <a:latin typeface="Arial"/>
                <a:ea typeface="Arial"/>
                <a:cs typeface="Arial"/>
                <a:sym typeface="Arial"/>
              </a:rPr>
              <a:t>Prey recognition is relational.</a:t>
            </a:r>
            <a:r>
              <a:rPr b="0" i="0" lang="en-US" sz="1525" u="none" cap="none" strike="noStrike">
                <a:solidFill>
                  <a:srgbClr val="FFFFFF"/>
                </a:solidFill>
                <a:latin typeface="Arial"/>
                <a:ea typeface="Arial"/>
                <a:cs typeface="Arial"/>
                <a:sym typeface="Arial"/>
              </a:rPr>
              <a:t> The common toad evaluates an object’s extent along and across its movement direction. The same bar can change its effectiveness when that relationship changes.</a:t>
            </a:r>
            <a:endParaRPr b="0" i="0" sz="1600" u="none" cap="none" strike="noStrike">
              <a:solidFill>
                <a:srgbClr val="FFFFFF"/>
              </a:solidFill>
              <a:latin typeface="Calibri"/>
              <a:ea typeface="Calibri"/>
              <a:cs typeface="Calibri"/>
              <a:sym typeface="Calibri"/>
            </a:endParaRPr>
          </a:p>
        </p:txBody>
      </p:sp>
      <p:sp>
        <p:nvSpPr>
          <p:cNvPr id="590" name="Google Shape;590;p46"/>
          <p:cNvSpPr/>
          <p:nvPr/>
        </p:nvSpPr>
        <p:spPr>
          <a:xfrm>
            <a:off x="571500" y="2647950"/>
            <a:ext cx="5238750" cy="1369219"/>
          </a:xfrm>
          <a:prstGeom prst="rect">
            <a:avLst/>
          </a:prstGeom>
          <a:noFill/>
          <a:ln>
            <a:noFill/>
          </a:ln>
        </p:spPr>
        <p:txBody>
          <a:bodyPr anchorCtr="0" anchor="t" bIns="0" lIns="0" spcFirstLastPara="1" rIns="0" wrap="square" tIns="0">
            <a:normAutofit/>
          </a:bodyPr>
          <a:lstStyle/>
          <a:p>
            <a:pPr indent="0" lvl="0" marL="0" marR="0" rtl="0" algn="l">
              <a:lnSpc>
                <a:spcPct val="124985"/>
              </a:lnSpc>
              <a:spcBef>
                <a:spcPts val="0"/>
              </a:spcBef>
              <a:spcAft>
                <a:spcPts val="0"/>
              </a:spcAft>
              <a:buClr>
                <a:srgbClr val="28242A"/>
              </a:buClr>
              <a:buSzPts val="1725"/>
              <a:buFont typeface="Arial"/>
              <a:buNone/>
            </a:pPr>
            <a:r>
              <a:rPr b="1" i="0" lang="en-US" sz="1525" u="none" cap="none" strike="noStrike">
                <a:solidFill>
                  <a:srgbClr val="FFFFFF"/>
                </a:solidFill>
                <a:latin typeface="Arial"/>
                <a:ea typeface="Arial"/>
                <a:cs typeface="Arial"/>
                <a:sym typeface="Arial"/>
              </a:rPr>
              <a:t>Selective retinal signals remain incomplete.</a:t>
            </a:r>
            <a:r>
              <a:rPr b="0" i="0" lang="en-US" sz="1525" u="none" cap="none" strike="noStrike">
                <a:solidFill>
                  <a:srgbClr val="FFFFFF"/>
                </a:solidFill>
                <a:latin typeface="Arial"/>
                <a:ea typeface="Arial"/>
                <a:cs typeface="Arial"/>
                <a:sym typeface="Arial"/>
              </a:rPr>
              <a:t> Retinal output encodes contrast and motion, while tectal and pretectal interactions contribute to configurational selectivity, background suppression, and target localization.</a:t>
            </a:r>
            <a:endParaRPr b="0" i="0" sz="1600" u="none" cap="none" strike="noStrike">
              <a:solidFill>
                <a:srgbClr val="FFFFFF"/>
              </a:solidFill>
              <a:latin typeface="Calibri"/>
              <a:ea typeface="Calibri"/>
              <a:cs typeface="Calibri"/>
              <a:sym typeface="Calibri"/>
            </a:endParaRPr>
          </a:p>
        </p:txBody>
      </p:sp>
      <p:sp>
        <p:nvSpPr>
          <p:cNvPr id="591" name="Google Shape;591;p46"/>
          <p:cNvSpPr/>
          <p:nvPr/>
        </p:nvSpPr>
        <p:spPr>
          <a:xfrm>
            <a:off x="571500" y="4188619"/>
            <a:ext cx="5238750" cy="1369219"/>
          </a:xfrm>
          <a:prstGeom prst="rect">
            <a:avLst/>
          </a:prstGeom>
          <a:noFill/>
          <a:ln>
            <a:noFill/>
          </a:ln>
        </p:spPr>
        <p:txBody>
          <a:bodyPr anchorCtr="0" anchor="t" bIns="0" lIns="0" spcFirstLastPara="1" rIns="0" wrap="square" tIns="0">
            <a:normAutofit/>
          </a:bodyPr>
          <a:lstStyle/>
          <a:p>
            <a:pPr indent="0" lvl="0" marL="0" marR="0" rtl="0" algn="l">
              <a:lnSpc>
                <a:spcPct val="124985"/>
              </a:lnSpc>
              <a:spcBef>
                <a:spcPts val="0"/>
              </a:spcBef>
              <a:spcAft>
                <a:spcPts val="0"/>
              </a:spcAft>
              <a:buClr>
                <a:srgbClr val="28242A"/>
              </a:buClr>
              <a:buSzPts val="1725"/>
              <a:buFont typeface="Arial"/>
              <a:buNone/>
            </a:pPr>
            <a:r>
              <a:rPr b="1" i="0" lang="en-US" sz="1525" u="none" cap="none" strike="noStrike">
                <a:solidFill>
                  <a:srgbClr val="FFFFFF"/>
                </a:solidFill>
                <a:latin typeface="Arial"/>
                <a:ea typeface="Arial"/>
                <a:cs typeface="Arial"/>
                <a:sym typeface="Arial"/>
              </a:rPr>
              <a:t>T5.2 is a functional response class.</a:t>
            </a:r>
            <a:r>
              <a:rPr b="0" i="0" lang="en-US" sz="1525" u="none" cap="none" strike="noStrike">
                <a:solidFill>
                  <a:srgbClr val="FFFFFF"/>
                </a:solidFill>
                <a:latin typeface="Arial"/>
                <a:ea typeface="Arial"/>
                <a:cs typeface="Arial"/>
                <a:sym typeface="Arial"/>
              </a:rPr>
              <a:t> Its firing resembles prey preference and changes around movement. Recordings, lesions, stimulation, and axonal identification provide different pieces of the causal explanation.</a:t>
            </a:r>
            <a:endParaRPr b="0" i="0" sz="1600" u="none" cap="none" strike="noStrike">
              <a:solidFill>
                <a:srgbClr val="FFFFFF"/>
              </a:solidFill>
              <a:latin typeface="Calibri"/>
              <a:ea typeface="Calibri"/>
              <a:cs typeface="Calibri"/>
              <a:sym typeface="Calibri"/>
            </a:endParaRPr>
          </a:p>
        </p:txBody>
      </p:sp>
      <p:sp>
        <p:nvSpPr>
          <p:cNvPr id="592" name="Google Shape;592;p46"/>
          <p:cNvSpPr/>
          <p:nvPr/>
        </p:nvSpPr>
        <p:spPr>
          <a:xfrm>
            <a:off x="6400800" y="1067625"/>
            <a:ext cx="5238900" cy="1369200"/>
          </a:xfrm>
          <a:prstGeom prst="rect">
            <a:avLst/>
          </a:prstGeom>
          <a:noFill/>
          <a:ln>
            <a:noFill/>
          </a:ln>
        </p:spPr>
        <p:txBody>
          <a:bodyPr anchorCtr="0" anchor="t" bIns="0" lIns="0" spcFirstLastPara="1" rIns="0" wrap="square" tIns="0">
            <a:normAutofit/>
          </a:bodyPr>
          <a:lstStyle/>
          <a:p>
            <a:pPr indent="0" lvl="0" marL="0" marR="0" rtl="0" algn="l">
              <a:lnSpc>
                <a:spcPct val="124985"/>
              </a:lnSpc>
              <a:spcBef>
                <a:spcPts val="0"/>
              </a:spcBef>
              <a:spcAft>
                <a:spcPts val="0"/>
              </a:spcAft>
              <a:buClr>
                <a:srgbClr val="28242A"/>
              </a:buClr>
              <a:buSzPts val="1725"/>
              <a:buFont typeface="Arial"/>
              <a:buNone/>
            </a:pPr>
            <a:r>
              <a:rPr b="1" i="0" lang="en-US" sz="1525" u="none" cap="none" strike="noStrike">
                <a:solidFill>
                  <a:srgbClr val="FFFFFF"/>
                </a:solidFill>
                <a:latin typeface="Arial"/>
                <a:ea typeface="Arial"/>
                <a:cs typeface="Arial"/>
                <a:sym typeface="Arial"/>
              </a:rPr>
              <a:t>Excitability depends on synapses and state.</a:t>
            </a:r>
            <a:r>
              <a:rPr b="0" i="0" lang="en-US" sz="1525" u="none" cap="none" strike="noStrike">
                <a:solidFill>
                  <a:srgbClr val="FFFFFF"/>
                </a:solidFill>
                <a:latin typeface="Arial"/>
                <a:ea typeface="Arial"/>
                <a:cs typeface="Arial"/>
                <a:sym typeface="Arial"/>
              </a:rPr>
              <a:t> Glutamatergic excitation, inhibition, and modulatory pathways regulate transmission. Receptor and channel findings must retain their species and preparation labels.</a:t>
            </a:r>
            <a:endParaRPr b="0" i="0" sz="1600" u="none" cap="none" strike="noStrike">
              <a:solidFill>
                <a:srgbClr val="FFFFFF"/>
              </a:solidFill>
              <a:latin typeface="Calibri"/>
              <a:ea typeface="Calibri"/>
              <a:cs typeface="Calibri"/>
              <a:sym typeface="Calibri"/>
            </a:endParaRPr>
          </a:p>
        </p:txBody>
      </p:sp>
      <p:sp>
        <p:nvSpPr>
          <p:cNvPr id="593" name="Google Shape;593;p46"/>
          <p:cNvSpPr/>
          <p:nvPr/>
        </p:nvSpPr>
        <p:spPr>
          <a:xfrm>
            <a:off x="6400800" y="2921794"/>
            <a:ext cx="5238750" cy="1643063"/>
          </a:xfrm>
          <a:prstGeom prst="rect">
            <a:avLst/>
          </a:prstGeom>
          <a:noFill/>
          <a:ln>
            <a:noFill/>
          </a:ln>
        </p:spPr>
        <p:txBody>
          <a:bodyPr anchorCtr="0" anchor="t" bIns="0" lIns="0" spcFirstLastPara="1" rIns="0" wrap="square" tIns="0">
            <a:normAutofit/>
          </a:bodyPr>
          <a:lstStyle/>
          <a:p>
            <a:pPr indent="0" lvl="0" marL="0" marR="0" rtl="0" algn="l">
              <a:lnSpc>
                <a:spcPct val="124985"/>
              </a:lnSpc>
              <a:spcBef>
                <a:spcPts val="0"/>
              </a:spcBef>
              <a:spcAft>
                <a:spcPts val="0"/>
              </a:spcAft>
              <a:buClr>
                <a:srgbClr val="28242A"/>
              </a:buClr>
              <a:buSzPts val="1725"/>
              <a:buFont typeface="Arial"/>
              <a:buNone/>
            </a:pPr>
            <a:r>
              <a:rPr b="1" i="0" lang="en-US" sz="1525" u="none" cap="none" strike="noStrike">
                <a:solidFill>
                  <a:srgbClr val="FFFFFF"/>
                </a:solidFill>
                <a:latin typeface="Arial"/>
                <a:ea typeface="Arial"/>
                <a:cs typeface="Arial"/>
                <a:sym typeface="Arial"/>
              </a:rPr>
              <a:t>Capture requires coordinated downstream circuitry.</a:t>
            </a:r>
            <a:r>
              <a:rPr b="0" i="0" lang="en-US" sz="1525" u="none" cap="none" strike="noStrike">
                <a:solidFill>
                  <a:srgbClr val="FFFFFF"/>
                </a:solidFill>
                <a:latin typeface="Arial"/>
                <a:ea typeface="Arial"/>
                <a:cs typeface="Arial"/>
                <a:sym typeface="Arial"/>
              </a:rPr>
              <a:t> Descending tectal signals recruit brainstem networks and distinct muscle pools. Tongue sensory feedback helps coordinate the jaw, and swallowing imposes additional mechanical demands.</a:t>
            </a:r>
            <a:endParaRPr b="0" i="0" sz="1600" u="none" cap="none" strike="noStrike">
              <a:solidFill>
                <a:srgbClr val="FFFFFF"/>
              </a:solidFill>
              <a:latin typeface="Calibri"/>
              <a:ea typeface="Calibri"/>
              <a:cs typeface="Calibri"/>
              <a:sym typeface="Calibri"/>
            </a:endParaRPr>
          </a:p>
        </p:txBody>
      </p:sp>
      <p:sp>
        <p:nvSpPr>
          <p:cNvPr id="594" name="Google Shape;594;p46"/>
          <p:cNvSpPr/>
          <p:nvPr/>
        </p:nvSpPr>
        <p:spPr>
          <a:xfrm>
            <a:off x="6400800" y="4736306"/>
            <a:ext cx="5238750" cy="1369219"/>
          </a:xfrm>
          <a:prstGeom prst="rect">
            <a:avLst/>
          </a:prstGeom>
          <a:noFill/>
          <a:ln>
            <a:noFill/>
          </a:ln>
        </p:spPr>
        <p:txBody>
          <a:bodyPr anchorCtr="0" anchor="t" bIns="0" lIns="0" spcFirstLastPara="1" rIns="0" wrap="square" tIns="0">
            <a:normAutofit/>
          </a:bodyPr>
          <a:lstStyle/>
          <a:p>
            <a:pPr indent="0" lvl="0" marL="0" marR="0" rtl="0" algn="l">
              <a:lnSpc>
                <a:spcPct val="124985"/>
              </a:lnSpc>
              <a:spcBef>
                <a:spcPts val="0"/>
              </a:spcBef>
              <a:spcAft>
                <a:spcPts val="0"/>
              </a:spcAft>
              <a:buClr>
                <a:srgbClr val="28242A"/>
              </a:buClr>
              <a:buSzPts val="1725"/>
              <a:buFont typeface="Arial"/>
              <a:buNone/>
            </a:pPr>
            <a:r>
              <a:rPr b="1" i="0" lang="en-US" sz="1525" u="none" cap="none" strike="noStrike">
                <a:solidFill>
                  <a:srgbClr val="FFFFFF"/>
                </a:solidFill>
                <a:latin typeface="Arial"/>
                <a:ea typeface="Arial"/>
                <a:cs typeface="Arial"/>
                <a:sym typeface="Arial"/>
              </a:rPr>
              <a:t>A mechanistic account must predict dissociations.</a:t>
            </a:r>
            <a:r>
              <a:rPr b="0" i="0" lang="en-US" sz="1525" u="none" cap="none" strike="noStrike">
                <a:solidFill>
                  <a:srgbClr val="FFFFFF"/>
                </a:solidFill>
                <a:latin typeface="Arial"/>
                <a:ea typeface="Arial"/>
                <a:cs typeface="Arial"/>
                <a:sym typeface="Arial"/>
              </a:rPr>
              <a:t> Increased retinal firing can coexist with reduced tectal output. Turning can decline while snapping increases. A model must explain these separations as well as normal prey catching.</a:t>
            </a:r>
            <a:endParaRPr b="0" i="0" sz="1600" u="none" cap="none" strike="noStrike">
              <a:solidFill>
                <a:srgbClr val="FFFFFF"/>
              </a:solidFill>
              <a:latin typeface="Calibri"/>
              <a:ea typeface="Calibri"/>
              <a:cs typeface="Calibri"/>
              <a:sym typeface="Calibri"/>
            </a:endParaRPr>
          </a:p>
        </p:txBody>
      </p:sp>
      <p:pic>
        <p:nvPicPr>
          <p:cNvPr id="595" name="Google Shape;595;p46"/>
          <p:cNvPicPr preferRelativeResize="0"/>
          <p:nvPr/>
        </p:nvPicPr>
        <p:blipFill rotWithShape="1">
          <a:blip r:embed="rId3">
            <a:alphaModFix/>
          </a:blip>
          <a:srcRect b="0" l="0" r="0" t="0"/>
          <a:stretch/>
        </p:blipFill>
        <p:spPr>
          <a:xfrm>
            <a:off x="571500" y="6329363"/>
            <a:ext cx="11049000" cy="319088"/>
          </a:xfrm>
          <a:prstGeom prst="rect">
            <a:avLst/>
          </a:prstGeom>
          <a:noFill/>
          <a:ln>
            <a:noFill/>
          </a:ln>
        </p:spPr>
      </p:pic>
      <p:sp>
        <p:nvSpPr>
          <p:cNvPr id="596" name="Google Shape;596;p46"/>
          <p:cNvSpPr/>
          <p:nvPr/>
        </p:nvSpPr>
        <p:spPr>
          <a:xfrm>
            <a:off x="571500" y="6434138"/>
            <a:ext cx="7520434"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CCCCCC"/>
                </a:solidFill>
                <a:latin typeface="Arial"/>
                <a:ea typeface="Arial"/>
                <a:cs typeface="Arial"/>
                <a:sym typeface="Arial"/>
              </a:rPr>
              <a:t>Borchers &amp; Ewert (1979); Hickmott &amp; Constantine-Paton (1993); Glagow &amp; Ewert (1997); Nishikawa &amp; Gans (1992)</a:t>
            </a:r>
            <a:endParaRPr b="0" i="0" sz="1800" u="none" cap="none" strike="noStrike">
              <a:solidFill>
                <a:srgbClr val="CCCCCC"/>
              </a:solidFill>
              <a:latin typeface="Calibri"/>
              <a:ea typeface="Calibri"/>
              <a:cs typeface="Calibri"/>
              <a:sym typeface="Calibri"/>
            </a:endParaRPr>
          </a:p>
        </p:txBody>
      </p:sp>
      <p:sp>
        <p:nvSpPr>
          <p:cNvPr id="597" name="Google Shape;597;p46"/>
          <p:cNvSpPr/>
          <p:nvPr/>
        </p:nvSpPr>
        <p:spPr>
          <a:xfrm>
            <a:off x="11456938" y="6434138"/>
            <a:ext cx="182612" cy="214313"/>
          </a:xfrm>
          <a:prstGeom prst="rect">
            <a:avLst/>
          </a:prstGeom>
          <a:noFill/>
          <a:ln>
            <a:noFill/>
          </a:ln>
        </p:spPr>
        <p:txBody>
          <a:bodyPr anchorCtr="0" anchor="t" bIns="0" lIns="0" spcFirstLastPara="1" rIns="0" wrap="square" tIns="0">
            <a:normAutofit/>
          </a:bodyPr>
          <a:lstStyle/>
          <a:p>
            <a:pPr indent="0" lvl="0" marL="0" marR="0" rtl="0" algn="l">
              <a:lnSpc>
                <a:spcPct val="150044"/>
              </a:lnSpc>
              <a:spcBef>
                <a:spcPts val="0"/>
              </a:spcBef>
              <a:spcAft>
                <a:spcPts val="0"/>
              </a:spcAft>
              <a:buClr>
                <a:srgbClr val="5E545A"/>
              </a:buClr>
              <a:buSzPts val="1125"/>
              <a:buFont typeface="Arial"/>
              <a:buNone/>
            </a:pPr>
            <a:r>
              <a:rPr b="0" i="0" lang="en-US" sz="1125" u="none" cap="none" strike="noStrike">
                <a:solidFill>
                  <a:srgbClr val="5E545A"/>
                </a:solidFill>
                <a:latin typeface="Arial"/>
                <a:ea typeface="Arial"/>
                <a:cs typeface="Arial"/>
                <a:sym typeface="Arial"/>
              </a:rPr>
              <a:t>46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2026-09-12T19:38:29Z</dcterms:created>
  <dc:creator>Presenton</dc:creator>
</cp:coreProperties>
</file>