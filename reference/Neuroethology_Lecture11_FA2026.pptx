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Insect vision I: the fly optomotor response and the Reichardt elementary motion detector
Lecture 11. NEUR 411. Friday, September 18, 2026.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Bahl A, Ammer G, Schilling T, Borst A (2013). Object tracking in motion-blind flies. Nature neuroscience 16: 730-738. https://doi.org/10.1038/nn.3386
Haikala V, Joesch M, Borst A, Mauss AS (2013). Optogenetic control of fly optomotor responses. The Journal of neuroscience : the official journal of the Society for Neuroscience 33: 13927-13934. https://doi.org/10.1523/jneurosci.0340-13.2013
Henning M, Ramos-Traslosheros G, Gür B, Silies M (2022). Populations of local direction-selective cells encode global motion patterns generated by self-motion. Science advances 8: eabi7112. https://doi.org/10.1126/sciadv.abi7112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Salazar-Gatzimas E, Chen J, Creamer MS, Mano O, Mandel HB, Matulis CA, Pottackal J, Clark DA (2016). Direct Measurement of Correlation Responses in Drosophila Elementary Motion Detectors Reveals Fast Timescale Tuning. Neuron 92: 227-239. https://doi.org/10.1016/j.neuron.2016.09.017
Haikala V, Joesch M, Borst A, Mauss AS (2013). Optogenetic control of fly optomotor responses. The Journal of neuroscience : the official journal of the Society for Neuroscience 33: 13927-13934. https://doi.org/10.1523/jneurosci.0340-13.2013
Bahl A, Ammer G, Schilling T, Borst A (2013). Object tracking in motion-blind flies. Nature neuroscience 16: 730-738. https://doi.org/10.1038/nn.3386</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Behnia R, Clark DA, Carter AG, Clandinin TR, Desplan C (2014). Processing properties of ON and OFF pathways for Drosophila motion detection. Nature 512: 427-430. https://doi.org/10.1038/nature13427
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 e40025. https://doi.org/10.7554/elife.40025
Figure credit: Behnia et al. (2014), Fig. 1B. Selected anatomical pathways. LPTCs: lobula plate tangential cells.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Hardie RC, Minke B (1992). The trp gene is essential for a light-activated Ca2+ channel in Drosophila photoreceptors. Neuron 8: 643-651. https://doi.org/10.1016/0896-6273(92)90086-s
Behnia R, Clark DA, Carter AG, Clandinin TR, Desplan C (2014). Processing properties of ON and OFF pathways for Drosophila motion detection. Nature 512: 427-430. https://doi.org/10.1038/nature13427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Gengs C, Leung HT, Skingsley DR, Iovchev MI, Yin Z, Semenov EP, Burg MG, Hardie RC, Pak WL (2002). The target of Drosophila photoreceptor synaptic transmission is a histamine-gated chloride channel encoded by ort (hclA). The Journal of biological chemistry 277: 42113-42120. https://doi.org/10.1074/jbc.m207133200
Behnia R, Clark DA, Carter AG, Clandinin TR, Desplan C (2014). Processing properties of ON and OFF pathways for Drosophila motion detection. Nature 512: 427-430. https://doi.org/10.1038/nature13427
Clark DA, Bursztyn L, Horowitz MA, Schnitzer MJ, Clandinin TR (2011). Defining the computational structure of the motion detector in Drosophila. Neuron 70: 1165-1177. https://doi.org/10.1016/j.neuron.2011.05.023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Hassenstein B, Reichardt W (1956). Systemtheoretische Analyse der Zeit-, Reihenfolgen- und Vorzeichenauswertung bei der Bewegungsperzeption des Rüsselkäfers Chlorophanus. Zeitschrift für Naturforschung B 11: 513–524. https://doi.org/10.1515/znb-1956-9-1004
Clark DA, Bursztyn L, Horowitz MA, Schnitzer MJ, Clandinin TR (2011). Defining the computational structure of the motion detector in Drosophila. Neuron 70: 1165-1177. https://doi.org/10.1016/j.neuron.2011.05.023
Salazar-Gatzimas E, Chen J, Creamer MS, Mano O, Mandel HB, Matulis CA, Pottackal J, Clark DA (2016). Direct Measurement of Correlation Responses in Drosophila Elementary Motion Detectors Reveals Fast Timescale Tuning. Neuron 92: 227-239. https://doi.org/10.1016/j.neuron.2016.09.017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Hassenstein B, Reichardt W (1956). Systemtheoretische Analyse der Zeit-, Reihenfolgen- und Vorzeichenauswertung bei der Bewegungsperzeption des Rüsselkäfers Chlorophanus. Zeitschrift für Naturforschung B 11: 513–524. https://doi.org/10.1515/znb-1956-9-1004
Haag J, Denk W, Borst A (2004). Fly motion vision is based on Reichardt detectors regardless of the signal-to-noise ratio. Proceedings of the National Academy of Sciences of the United States of America 101: 16333-16338. https://doi.org/10.1073/pnas.0407368101
Behnia R, Clark DA, Carter AG, Clandinin TR, Desplan C (2014). Processing properties of ON and OFF pathways for Drosophila motion detection. Nature 512: 427-430. https://doi.org/10.1038/nature13427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Behnia R, Clark DA, Carter AG, Clandinin TR, Desplan C (2014). Processing properties of ON and OFF pathways for Drosophila motion detection. Nature 512: 427-430. https://doi.org/10.1038/nature13427
Hassenstein B, Reichardt W (1956). Systemtheoretische Analyse der Zeit-, Reihenfolgen- und Vorzeichenauswertung bei der Bewegungsperzeption des Rüsselkäfers Chlorophanus. Zeitschrift für Naturforschung B 11: 513–524. https://doi.org/10.1515/znb-1956-9-1004
Groschner LN, Malis JG, Zuidinga B, Borst A (2022). A biophysical account of multiplication by a single neuron. Nature 603: 119-123. https://doi.org/10.1038/s41586-022-04428-3
Figure credit: Behnia et al. (2014), Fig. 1A. Model half-detector. τ: temporal filtering. M: multiplication.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Hassenstein B, Reichardt W (1956). Systemtheoretische Analyse der Zeit-, Reihenfolgen- und Vorzeichenauswertung bei der Bewegungsperzeption des Rüsselkäfers Chlorophanus. Zeitschrift für Naturforschung B 11: 513–524. https://doi.org/10.1515/znb-1956-9-1004
Mauss AS, Pankova K, Arenz A, Nern A, Rubin GM, Borst A (2015). Neural Circuit to Integrate Opposing Motions in the Visual Field. Cell 162: 351-362. https://doi.org/10.1016/j.cell.2015.06.035
Salazar-Gatzimas E, Chen J, Creamer MS, Mano O, Mandel HB, Matulis CA, Pottackal J, Clark DA (2016). Direct Measurement of Correlation Responses in Drosophila Elementary Motion Detectors Reveals Fast Timescale Tuning. Neuron 92: 227-239. https://doi.org/10.1016/j.neuron.2016.09.017</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Haag J, Denk W, Borst A (2004). Fly motion vision is based on Reichardt detectors regardless of the signal-to-noise ratio. Proceedings of the National Academy of Sciences of the United States of America 101: 16333-16338. https://doi.org/10.1073/pnas.0407368101
Single S, Borst A (1998). Dendritic integration and its role in computing image velocity. Science (New York, N.Y.) 281: 1848-1850. https://doi.org/10.1126/science.281.5384.1848</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Clark DA, Bursztyn L, Horowitz MA, Schnitzer MJ, Clandinin TR (2011). Defining the computational structure of the motion detector in Drosophila. Neuron 70: 1165-1177. https://doi.org/10.1016/j.neuron.2011.05.023
Eichner H, Joesch M, Schnell B, Reiff DF, Borst A (2011). Internal structure of the fly elementary motion detector. Neuron 70: 1155-1164. https://doi.org/10.1016/j.neuron.2011.03.028
Leonhardt A, Meier M, Serbe E, Eichner H, Borst A (2017). Neural mechanisms underlying sensitivity to reverse-phi motion in the fly. PloS one 12: e0189019. https://doi.org/10.1371/journal.pone.0189019</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Salazar-Gatzimas E, Chen J, Creamer MS, Mano O, Mandel HB, Matulis CA, Pottackal J, Clark DA (2016). Direct Measurement of Correlation Responses in Drosophila Elementary Motion Detectors Reveals Fast Timescale Tuning. Neuron 92: 227-239. https://doi.org/10.1016/j.neuron.2016.09.017
Figure credit: Salazar-Gatzimas et al. (2016), Fig. 1E–F. E: n = 15 flies. F: experimental n = 15, driver control n = 15, effector control n = 20.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Schnell B, Raghu SV, Nern A, Borst A (2012). Columnar cells necessary for motion responses of wide-field visual interneurons in Drosophila. Journal of comparative physiology. A, Neuroethology, sensory, neural, and behavioral physiology 198: 389-395. https://doi.org/10.1007/s00359-012-0716-3
Figure credit: Schnell et al. (2012), Fig. 2. Original voltage traces and group means. TS: temperature shift. PD/ND: preferred/null direction.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Joesch M, Schnell B, Raghu SV, Reiff DF, Borst A (2010). ON and OFF pathways in Drosophila motion vision. Nature 468: 300-304. https://doi.org/10.1038/nature09545
Clark DA, Bursztyn L, Horowitz MA, Schnitzer MJ, Clandinin TR (2011). Defining the computational structure of the motion detector in Drosophila. Neuron 70: 1165-1177. https://doi.org/10.1016/j.neuron.2011.05.023
Behnia R, Clark DA, Carter AG, Clandinin TR, Desplan C (2014). Processing properties of ON and OFF pathways for Drosophila motion detection. Nature 512: 427-430. https://doi.org/10.1038/nature13427</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Behnia R, Clark DA, Carter AG, Clandinin TR, Desplan C (2014). Processing properties of ON and OFF pathways for Drosophila motion detection. Nature 512: 427-430. https://doi.org/10.1038/nature13427
Clark DA, Bursztyn L, Horowitz MA, Schnitzer MJ, Clandinin TR (2011). Defining the computational structure of the motion detector in Drosophila. Neuron 70: 1165-1177. https://doi.org/10.1016/j.neuron.2011.05.023
Figure credit: Behnia et al. (2014), Fig. 2A. Mean voltage ± SEM. The lower trace in each group overlays the two cell types.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Behnia R, Clark DA, Carter AG, Clandinin TR, Desplan C (2014). Processing properties of ON and OFF pathways for Drosophila motion detection. Nature 512: 427-430. https://doi.org/10.1038/nature13427
Takemura SY, Nern A, Chklovskii DB, Scheffer LK, Rubin GM, Meinertzhagen IA (2017). The comprehensive connectome of a neural substrate for 'ON' motion detection in Drosophila. eLife 6: e24394. https://doi.org/10.7554/elife.24394
Arenz A, Drews MS, Richter FG, Ammer G, Borst A (2017). The Temporal Tuning of the Drosophila Motion Detectors Is Determined by the Dynamics of Their Input Elements. Current biology : CB 27: 929-944. https://doi.org/10.1016/j.cub.2017.01.051
Figure credit: Behnia et al. (2014), Fig. 3B,E, stacked. ON: Mi1 n = 7, Tm3 n = 11. OFF: Tm1 n = 15, Tm2 n = 14.</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Maisak MS, Haag J, Ammer G, Serbe E, Meier M, Leonhardt A, Schilling T, Bahl A, Rubin GM, Nern A, Dickson BJ, Reiff DF, Hopp E, Borst A (2013). A directional tuning map of Drosophila elementary motion detectors. Nature 500: 212-216. https://doi.org/10.1038/nature12320
Henning M, Ramos-Traslosheros G, Gür B, Silies M (2022). Populations of local direction-selective cells encode global motion patterns generated by self-motion. Science advances 8: eabi7112. https://doi.org/10.1126/sciadv.abi7112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Gruntman E, Romani S, Reiser MB (2018). Simple integration of fast excitation and offset, delayed inhibition computes directional selectivity in Drosophila. Nature neuroscience 21: 250-257. https://doi.org/10.1038/s41593-017-0046-4
Leong JC, Esch JJ, Poole B, Ganguli S, Clandinin TR (2016). Direction Selectivity in Drosophila Emerges from Preferred-Direction Enhancement and Null-Direction Suppression. The Journal of neuroscience : the official journal of the Society for Neuroscience 36: 8078-8092. https://doi.org/10.1523/jneurosci.1272-16.2016
Behnia R, Clark DA, Carter AG, Clandinin TR, Desplan C (2014). Processing properties of ON and OFF pathways for Drosophila motion detection. Nature 512: 427-430. https://doi.org/10.1038/nature13427</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Takemura SY, Nern A, Chklovskii DB, Scheffer LK, Rubin GM, Meinertzhagen IA (2017). The comprehensive connectome of a neural substrate for 'ON' motion detection in Drosophila. eLife 6: e24394. https://doi.org/10.7554/elife.24394
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 e40025. https://doi.org/10.7554/elife.40025
Figure credit: Takemura et al. (2017), Fig. 4C. Original synaptic distributions on T4a–d dendrites. Colored contacts identify input classes.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Groschner LN, Malis JG, Zuidinga B, Borst A (2022). A biophysical account of multiplication by a single neuron. Nature 603: 119-123. https://doi.org/10.1038/s41586-022-04428-3
Strother JA, Wu ST, Wong AM, Nern A, Rogers EM, Le JQ, Rubin GM, Reiser MB (2017). The Emergence of Directional Selectivity in the Visual Motion Pathway of Drosophila. Neuron 94: 168-182.e10. https://doi.org/10.1016/j.neuron.2017.03.010
Takemura SY, Nern A, Chklovskii DB, Scheffer LK, Rubin GM, Meinertzhagen IA (2017). The comprehensive connectome of a neural substrate for 'ON' motion detection in Drosophila. eLife 6: e24394. https://doi.org/10.7554/elife.24394</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Haag J, Arenz A, Serbe E, Gabbiani F, Borst A (2016). Complementary mechanisms create direction selectivity in the fly. eLife 5: e17421. https://doi.org/10.7554/elife.17421
Gruntman E, Romani S, Reiser MB (2018). Simple integration of fast excitation and offset, delayed inhibition computes directional selectivity in Drosophila. Nature neuroscience 21: 250-257. https://doi.org/10.1038/s41593-017-0046-4
Figure credit: Haag et al. (2016), Fig. 3A. Three-step apparent motion. Thick traces: measured response. Thin traces: summed single-flash responses.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Haag J, Arenz A, Serbe E, Gabbiani F, Borst A (2016). Complementary mechanisms create direction selectivity in the fly. eLife 5: e17421. https://doi.org/10.7554/elife.17421
Takemura SY, Nern A, Chklovskii DB, Scheffer LK, Rubin GM, Meinertzhagen IA (2017). The comprehensive connectome of a neural substrate for 'ON' motion detection in Drosophila. eLife 6: e24394. https://doi.org/10.7554/elife.24394
Figure credit: Haag et al. (2016), Fig. 3B. Two-step apparent motion at different positions. Mean ± SEM, 15 cells in 11 flies.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Gruntman E, Romani S, Reiser MB (2018). Simple integration of fast excitation and offset, delayed inhibition computes directional selectivity in Drosophila. Nature neuroscience 21: 250-257. https://doi.org/10.1038/s41593-017-0046-4
Haag J, Arenz A, Serbe E, Gabbiani F, Borst A (2016). Complementary mechanisms create direction selectivity in the fly. eLife 5: e17421. https://doi.org/10.7554/elife.17421
Figure credit: Gruntman et al. (2018), Fig. 1C–D. Direction-aligned voltage responses and direction-selectivity index. Four speeds: 14, 28, 56, and 112°/s.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Gruntman E, Romani S, Reiser MB (2018). Simple integration of fast excitation and offset, delayed inhibition computes directional selectivity in Drosophila. Nature neuroscience 21: 250-257. https://doi.org/10.1038/s41593-017-0046-4
Groschner LN, Malis JG, Zuidinga B, Borst A (2022). A biophysical account of multiplication by a single neuron. Nature 603: 119-123. https://doi.org/10.1038/s41586-022-04428-3
Figure credit: Gruntman et al. (2018), Fig. 2C. Normalized peak depolarization and hyperpolarization across stimulus positions.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Gruntman E, Romani S, Reiser MB (2018). Simple integration of fast excitation and offset, delayed inhibition computes directional selectivity in Drosophila. Nature neuroscience 21: 250-257. https://doi.org/10.1038/s41593-017-0046-4
Groschner LN, Malis JG, Zuidinga B, Borst A (2022). A biophysical account of multiplication by a single neuron. Nature 603: 119-123. https://doi.org/10.1038/s41586-022-04428-3
Gruntman E, Romani S, Reiser MB (2019). The computation of directional selectivity in the Drosophila OFF motion pathway. eLife 8: e50706. https://doi.org/10.7554/elife.50706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Groschner LN, Malis JG, Zuidinga B, Borst A (2022). A biophysical account of multiplication by a single neuron. Nature 603: 119-123. https://doi.org/10.1038/s41586-022-04428-3
Strother JA, Wu ST, Wong AM, Nern A, Rogers EM, Le JQ, Rubin GM, Reiser MB (2017). The Emergence of Directional Selectivity in the Visual Motion Pathway of Drosophila. Neuron 94: 168-182.e10. https://doi.org/10.1016/j.neuron.2017.03.010
Figure credit: Groschner et al. (2022), Fig. 2D–E. Repeated glutamate application and current injection. Thin lines: cells. Thick lines: mean ± SEM.</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Groschner LN, Malis JG, Zuidinga B, Borst A (2022). A biophysical account of multiplication by a single neuron. Nature 603: 119-123. https://doi.org/10.1038/s41586-022-04428-3
Takemura SY, Nern A, Chklovskii DB, Scheffer LK, Rubin GM, Meinertzhagen IA (2017). The comprehensive connectome of a neural substrate for 'ON' motion detection in Drosophila. eLife 6: e24394. https://doi.org/10.7554/elife.24394
Figure credit: Groschner et al. (2022), Fig. 5C. Control n = 25, GluClα RNAi n = 17, Nmdar1 RNAi n = 12 cells. Ldir: directional tuning index.</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 e40025. https://doi.org/10.7554/elife.40025
Gruntman E, Romani S, Reiser MB (2019). The computation of directional selectivity in the Drosophila OFF motion pathway. eLife 8: e50706. https://doi.org/10.7554/elife.50706
Arenz A, Drews MS, Richter FG, Ammer G, Borst A (2017). The Temporal Tuning of the Drosophila Motion Detectors Is Determined by the Dynamics of Their Input Elements. Current biology : CB 27: 929-944. https://doi.org/10.1016/j.cub.2017.01.051</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Gruntman E, Romani S, Reiser MB (2019). The computation of directional selectivity in the Drosophila OFF motion pathway. eLife 8: e50706. https://doi.org/10.7554/elife.50706
Figure credit: Gruntman et al. (2019), Fig. 2B. Mean voltage for 160 ms flashes. Green: leading side. Black: center. Pink: trailing side.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Gruntman E, Romani S, Reiser MB (2019). The computation of directional selectivity in the Drosophila OFF motion pathway. eLife 8: e50706. https://doi.org/10.7554/elife.50706
Leong JC, Esch JJ, Poole B, Ganguli S, Clandinin TR (2016). Direction Selectivity in Drosophila Emerges from Preferred-Direction Enhancement and Null-Direction Suppression. The Journal of neuroscience : the official journal of the Society for Neuroscience 36: 8078-8092. https://doi.org/10.1523/jneurosci.1272-16.2016
Figure credit: Gruntman et al. (2019), Fig. 3D, 4.5°-wide bars at 40 and 160 ms. Boxplots compare preferred and null directions and deviations from summed responses.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Leong JC, Esch JJ, Poole B, Ganguli S, Clandinin TR (2016). Direction Selectivity in Drosophila Emerges from Preferred-Direction Enhancement and Null-Direction Suppression. The Journal of neuroscience : the official journal of the Society for Neuroscience 36: 8078-8092. https://doi.org/10.1523/jneurosci.1272-16.2016
Gruntman E, Romani S, Reiser MB (2018). Simple integration of fast excitation and offset, delayed inhibition computes directional selectivity in Drosophila. Nature neuroscience 21: 250-257. https://doi.org/10.1038/s41593-017-0046-4
Gruntman E, Romani S, Reiser MB (2019). The computation of directional selectivity in the Drosophila OFF motion pathway. eLife 8: e50706. https://doi.org/10.7554/elife.50706
Groschner LN, Malis JG, Zuidinga B, Borst A (2022). A biophysical account of multiplication by a single neuron. Nature 603: 119-123. https://doi.org/10.1038/s41586-022-04428-3</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Haag J, Arenz A, Serbe E, Gabbiani F, Borst A (2016). Complementary mechanisms create direction selectivity in the fly. eLife 5: e17421. https://doi.org/10.7554/elife.17421
Takemura SY, Nern A, Chklovskii DB, Scheffer LK, Rubin GM, Meinertzhagen IA (2017). The comprehensive connectome of a neural substrate for 'ON' motion detection in Drosophila. eLife 6: e24394. https://doi.org/10.7554/elife.24394
Figure credit: Haag et al. (2016), Fig. 6. Calcium responses with intact or blocked output. Mean ± SEM, with separate normalization.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Mauss AS, Meier M, Serbe E, Borst A (2014). Optogenetic and pharmacologic dissection of feedforward inhibition in Drosophila motion vision. The Journal of neuroscience : the official journal of the Society for Neuroscience 34: 2254-2263. https://doi.org/10.1523/jneurosci.3938-13.2014
Figure credit: Mauss et al. (2014), Fig. 2A–C, with the shared scale bar from F. Panel C: experimental n = 7, control n = 4 cells.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Mauss AS, Meier M, Serbe E, Borst A (2014). Optogenetic and pharmacologic dissection of feedforward inhibition in Drosophila motion vision. The Journal of neuroscience : the official journal of the Society for Neuroscience 34: 2254-2263. https://doi.org/10.1523/jneurosci.3938-13.2014</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Mauss AS, Pankova K, Arenz A, Nern A, Rubin GM, Borst A (2015). Neural Circuit to Integrate Opposing Motions in the Visual Field. Cell 162: 351-362. https://doi.org/10.1016/j.cell.2015.06.035
Mauss AS, Meier M, Serbe E, Borst A (2014). Optogenetic and pharmacologic dissection of feedforward inhibition in Drosophila motion vision. The Journal of neuroscience : the official journal of the Society for Neuroscience 34: 2254-2263. https://doi.org/10.1523/jneurosci.3938-13.2014
Haag J, Arenz A, Serbe E, Gabbiani F, Borst A (2016). Complementary mechanisms create direction selectivity in the fly. eLife 5: e17421. https://doi.org/10.7554/elife.17421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Single S, Borst A (1998). Dendritic integration and its role in computing image velocity. Science (New York, N.Y.) 281: 1848-1850. https://doi.org/10.1126/science.281.5384.1848
Haag J, Denk W, Borst A (2004). Fly motion vision is based on Reichardt detectors regardless of the signal-to-noise ratio. Proceedings of the National Academy of Sciences of the United States of America 101: 16333-16338. https://doi.org/10.1073/pnas.0407368101
Henning M, Ramos-Traslosheros G, Gür B, Silies M (2022). Populations of local direction-selective cells encode global motion patterns generated by self-motion. Science advances 8: eabi7112. https://doi.org/10.1126/sciadv.abi7112</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Haikala V, Joesch M, Borst A, Mauss AS (2013). Optogenetic control of fly optomotor responses. The Journal of neuroscience : the official journal of the Society for Neuroscience 33: 13927-13934. https://doi.org/10.1523/jneurosci.0340-13.2013
Figure credit: Haikala et al. (2013), Fig. 4B. Blind-fly flight assay, mean ± SEM. LWB–RWB: left minus right wingbeat amplitude. Significant comparisons: p &lt; 0.01.</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Chiappe ME, Seelig JD, Reiser MB, Jayaraman V (2010). Walking modulates speed sensitivity in Drosophila motion vision. Current biology : CB 20: 1470-1475. https://doi.org/10.1016/j.cub.2010.06.072
Figure credit: Chiappe et al. (2010), Fig. 4B–C. Mean ± SEM. Gain equals walking response divided by stationary response at the same frequency.</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Maimon G, Straw AD, Dickinson MH (2010). Active flight increases the gain of visual motion processing in Drosophila. Nature neuroscience 13: 393-399. https://doi.org/10.1038/nn.2492
Suver MP, Mamiya A, Dickinson MH (2012). Octopamine neurons mediate flight-induced modulation of visual processing in Drosophila. Current biology : CB 22: 2294-2302. https://doi.org/10.1016/j.cub.2012.10.034</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Arenz A, Drews MS, Richter FG, Ammer G, Borst A (2017). The Temporal Tuning of the Drosophila Motion Detectors Is Determined by the Dynamics of Their Input Elements. Current biology : CB 27: 929-944. https://doi.org/10.1016/j.cub.2017.01.051
Suver MP, Mamiya A, Dickinson MH (2012). Octopamine neurons mediate flight-induced modulation of visual processing in Drosophila. Current biology : CB 22: 2294-2302. https://doi.org/10.1016/j.cub.2012.10.034
Behnia R, Clark DA, Carter AG, Clandinin TR, Desplan C (2014). Processing properties of ON and OFF pathways for Drosophila motion detection. Nature 512: 427-430. https://doi.org/10.1038/nature13427</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Henning M, Ramos-Traslosheros G, Gür B, Silies M (2022). Populations of local direction-selective cells encode global motion patterns generated by self-motion. Science advances 8: eabi7112. https://doi.org/10.1126/sciadv.abi7112
Maisak MS, Haag J, Ammer G, Serbe E, Meier M, Leonhardt A, Schilling T, Bahl A, Rubin GM, Nern A, Dickson BJ, Reiff DF, Hopp E, Borst A (2013). A directional tuning map of Drosophila elementary motion detectors. Nature 500: 212-216. https://doi.org/10.1038/nature12320
Figure credit: Henning et al. (2022), Fig. 5, layer-A panels. T4 vectors: red. T5 vectors: blue. Measured positions and directions from 14 flies.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Bahl A, Ammer G, Schilling T, Borst A (2013). Object tracking in motion-blind flies. Nature neuroscience 16: 730-738. https://doi.org/10.1038/nn.3386
Groschner LN, Malis JG, Zuidinga B, Borst A (2022). A biophysical account of multiplication by a single neuron. Nature 603: 119-123. https://doi.org/10.1038/s41586-022-04428-3
Figure credit: Groschner et al. (2022), Fig. 5F, curves and group comparisons placed side by side. Experimental n = 20 flies. Parental and Nmdar1 RNAi controls included.</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Hassenstein B, Reichardt W (1956). Systemtheoretische Analyse der Zeit-, Reihenfolgen- und Vorzeichenauswertung bei der Bewegungsperzeption des Rüsselkäfers Chlorophanus. Zeitschrift für Naturforschung B 11: 513–524. https://doi.org/10.1515/znb-1956-9-1004
Maisak MS, Haag J, Ammer G, Serbe E, Meier M, Leonhardt A, Schilling T, Bahl A, Rubin GM, Nern A, Dickson BJ, Reiff DF, Hopp E, Borst A (2013). A directional tuning map of Drosophila elementary motion detectors. Nature 500: 212-216. https://doi.org/10.1038/nature12320
Groschner LN, Malis JG, Zuidinga B, Borst A (2022). A biophysical account of multiplication by a single neuron. Nature 603: 119-123. https://doi.org/10.1038/s41586-022-04428-3
Mauss AS, Pankova K, Arenz A, Nern A, Rubin GM, Borst A (2015). Neural Circuit to Integrate Opposing Motions in the Visual Field. Cell 162: 351-362. https://doi.org/10.1016/j.cell.2015.06.035
Henning M, Ramos-Traslosheros G, Gür B, Silies M (2022). Populations of local direction-selective cells encode global motion patterns generated by self-motion. Science advances 8: eabi7112. https://doi.org/10.1126/sciadv.abi7112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1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2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2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2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6.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4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4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4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47.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0.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4.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58.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60.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64.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6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70.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7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E6E9"/>
        </a:solidFill>
      </p:bgPr>
    </p:bg>
    <p:spTree>
      <p:nvGrpSpPr>
        <p:cNvPr id="1" name=""/>
        <p:cNvGrpSpPr/>
        <p:nvPr/>
      </p:nvGrpSpPr>
      <p:grpSpPr>
        <a:xfrm>
          <a:off x="0" y="0"/>
          <a:ext cx="0" cy="0"/>
          <a:chOff x="0" y="0"/>
          <a:chExt cx="0" cy="0"/>
        </a:xfrm>
      </p:grpSpPr>
      <p:sp>
        <p:nvSpPr>
          <p:cNvPr id="2" name="Shape 2"/>
          <p:cNvSpPr/>
          <p:nvPr/>
        </p:nvSpPr>
        <p:spPr>
          <a:xfrm>
            <a:off x="666750" y="685800"/>
            <a:ext cx="10687050" cy="314325"/>
          </a:xfrm>
          <a:prstGeom prst="rect">
            <a:avLst/>
          </a:prstGeom>
          <a:noFill/>
        </p:spPr>
        <p:txBody>
          <a:bodyPr anchor="t" wrap="square" tIns="0" bIns="0" lIns="0" rIns="0">
            <a:normAutofit/>
          </a:bodyPr>
          <a:lstStyle/>
          <a:p>
            <a:pPr algn="l">
              <a:lnSpc>
                <a:spcPts val="2475"/>
              </a:lnSpc>
              <a:buNone/>
            </a:pPr>
            <a:r>
              <a:rPr sz="1650" b="0" i="0" spc="150">
                <a:solidFill>
                  <a:srgbClr val="AF172D"/>
                </a:solidFill>
                <a:latin typeface="Arial"/>
                <a:ea typeface="Arial"/>
              </a:rPr>
              <a:t>NEUR 411 · NEUROETHOLOGY · FALL 2026</a:t>
            </a:r>
            <a:endParaRPr lang="en-US"/>
          </a:p>
        </p:txBody>
      </p:sp>
      <p:sp>
        <p:nvSpPr>
          <p:cNvPr id="3" name="Shape 3"/>
          <p:cNvSpPr/>
          <p:nvPr/>
        </p:nvSpPr>
        <p:spPr>
          <a:xfrm>
            <a:off x="666750" y="1771650"/>
            <a:ext cx="1374874" cy="414338"/>
          </a:xfrm>
          <a:prstGeom prst="rect">
            <a:avLst/>
          </a:prstGeom>
          <a:noFill/>
        </p:spPr>
        <p:txBody>
          <a:bodyPr anchor="t" wrap="square" tIns="0" bIns="0" lIns="0" rIns="0">
            <a:normAutofit/>
          </a:bodyPr>
          <a:lstStyle/>
          <a:p>
            <a:pPr algn="l">
              <a:lnSpc>
                <a:spcPts val="3263"/>
              </a:lnSpc>
              <a:buNone/>
            </a:pPr>
            <a:r>
              <a:rPr sz="2175" b="0" i="0">
                <a:solidFill>
                  <a:srgbClr val="AF172D"/>
                </a:solidFill>
                <a:latin typeface="Arial"/>
                <a:ea typeface="Arial"/>
              </a:rPr>
              <a:t>Lecture 11</a:t>
            </a:r>
            <a:endParaRPr lang="en-US"/>
          </a:p>
        </p:txBody>
      </p:sp>
      <p:sp>
        <p:nvSpPr>
          <p:cNvPr id="4" name="Shape 4"/>
          <p:cNvSpPr/>
          <p:nvPr/>
        </p:nvSpPr>
        <p:spPr>
          <a:xfrm>
            <a:off x="666750" y="2419350"/>
            <a:ext cx="10877550" cy="1623864"/>
          </a:xfrm>
          <a:prstGeom prst="rect">
            <a:avLst/>
          </a:prstGeom>
          <a:noFill/>
        </p:spPr>
        <p:txBody>
          <a:bodyPr anchor="t" wrap="square" tIns="0" bIns="0" lIns="0" rIns="0">
            <a:normAutofit/>
          </a:bodyPr>
          <a:lstStyle/>
          <a:p>
            <a:pPr algn="l">
              <a:lnSpc>
                <a:spcPts val="4263"/>
              </a:lnSpc>
              <a:buNone/>
            </a:pPr>
            <a:r>
              <a:rPr sz="3675" b="1" i="0">
                <a:solidFill>
                  <a:srgbClr val="25262B"/>
                </a:solidFill>
                <a:latin typeface="Arial"/>
                <a:ea typeface="Arial"/>
              </a:rPr>
              <a:t>Insect vision I:</a:t>
            </a:r>
            <a:r>
              <a:rPr sz="3675" b="1" i="0">
                <a:solidFill>
                  <a:srgbClr val="25262B"/>
                </a:solidFill>
                <a:latin typeface="Arial"/>
                <a:ea typeface="Arial"/>
              </a:rPr>
              <a:t xml:space="preserve">
</a:t>
            </a:r>
            <a:r>
              <a:rPr sz="3675" b="1" i="0">
                <a:solidFill>
                  <a:srgbClr val="25262B"/>
                </a:solidFill>
                <a:latin typeface="Arial"/>
                <a:ea typeface="Arial"/>
              </a:rPr>
              <a:t>the fly optomotor response and the</a:t>
            </a:r>
            <a:r>
              <a:rPr sz="3675" b="1" i="0">
                <a:solidFill>
                  <a:srgbClr val="25262B"/>
                </a:solidFill>
                <a:latin typeface="Arial"/>
                <a:ea typeface="Arial"/>
              </a:rPr>
              <a:t xml:space="preserve">
</a:t>
            </a:r>
            <a:r>
              <a:rPr sz="3675" b="1" i="0">
                <a:solidFill>
                  <a:srgbClr val="25262B"/>
                </a:solidFill>
                <a:latin typeface="Arial"/>
                <a:ea typeface="Arial"/>
              </a:rPr>
              <a:t>Reichardt elementary motion detector</a:t>
            </a:r>
            <a:endParaRPr lang="en-US"/>
          </a:p>
        </p:txBody>
      </p:sp>
      <p:pic>
        <p:nvPicPr>
          <p:cNvPr id="100" name="Presenton Native Image 1" descr=""/>
          <p:cNvPicPr/>
          <p:nvPr/>
        </p:nvPicPr>
        <p:blipFill>
          <a:blip r:embed="rId2" cstate="none"/>
          <a:stretch>
            <a:fillRect/>
          </a:stretch>
        </p:blipFill>
        <p:spPr>
          <a:xfrm>
            <a:off x="666750" y="4552950"/>
            <a:ext cx="10858500" cy="19050"/>
          </a:xfrm>
          <a:prstGeom prst="rect">
            <a:avLst/>
          </a:prstGeom>
        </p:spPr>
      </p:pic>
      <p:sp>
        <p:nvSpPr>
          <p:cNvPr id="5" name="Shape 5"/>
          <p:cNvSpPr/>
          <p:nvPr/>
        </p:nvSpPr>
        <p:spPr>
          <a:xfrm>
            <a:off x="666750" y="5019675"/>
            <a:ext cx="3301752" cy="385763"/>
          </a:xfrm>
          <a:prstGeom prst="rect">
            <a:avLst/>
          </a:prstGeom>
          <a:noFill/>
        </p:spPr>
        <p:txBody>
          <a:bodyPr anchor="t" wrap="square" tIns="0" bIns="0" lIns="0" rIns="0">
            <a:normAutofit/>
          </a:bodyPr>
          <a:lstStyle/>
          <a:p>
            <a:pPr algn="l">
              <a:lnSpc>
                <a:spcPts val="3038"/>
              </a:lnSpc>
              <a:buNone/>
            </a:pPr>
            <a:r>
              <a:rPr sz="2025" b="0" i="0">
                <a:solidFill>
                  <a:srgbClr val="AF172D"/>
                </a:solidFill>
                <a:latin typeface="Arial"/>
                <a:ea typeface="Arial"/>
              </a:rPr>
              <a:t>Friday, September 18, 2026</a:t>
            </a:r>
            <a:endParaRPr lang="en-US"/>
          </a:p>
        </p:txBody>
      </p:sp>
      <p:sp>
        <p:nvSpPr>
          <p:cNvPr id="6" name="Shape 6"/>
          <p:cNvSpPr/>
          <p:nvPr/>
        </p:nvSpPr>
        <p:spPr>
          <a:xfrm>
            <a:off x="11456938" y="6424613"/>
            <a:ext cx="182612" cy="214313"/>
          </a:xfrm>
          <a:prstGeom prst="rect">
            <a:avLst/>
          </a:prstGeom>
          <a:noFill/>
        </p:spPr>
        <p:txBody>
          <a:bodyPr anchor="t" wrap="square" tIns="0" bIns="0" lIns="0" rIns="0">
            <a:normAutofit/>
          </a:bodyPr>
          <a:lstStyle/>
          <a:p>
            <a:pPr algn="l">
              <a:lnSpc>
                <a:spcPts val="1688"/>
              </a:lnSpc>
              <a:buNone/>
            </a:pPr>
            <a:r>
              <a:rPr sz="1125" b="0" i="0">
                <a:solidFill>
                  <a:srgbClr val="665B60"/>
                </a:solidFill>
                <a:latin typeface="Arial"/>
                <a:ea typeface="Arial"/>
              </a:rPr>
              <a:t>01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7" name="Shape 7"/>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The fly optomotor response</a:t>
            </a:r>
            <a:endParaRPr lang="en-US"/>
          </a:p>
        </p:txBody>
      </p:sp>
      <p:sp>
        <p:nvSpPr>
          <p:cNvPr id="8" name="Shape 8"/>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An </a:t>
            </a:r>
            <a:r>
              <a:rPr sz="1800" b="1" i="0">
                <a:solidFill>
                  <a:srgbClr val="25262B"/>
                </a:solidFill>
                <a:latin typeface="Arial"/>
                <a:ea typeface="Arial"/>
              </a:rPr>
              <a:t>optomotor response</a:t>
            </a:r>
            <a:r>
              <a:rPr sz="1800" b="0" i="0">
                <a:solidFill>
                  <a:srgbClr val="25262B"/>
                </a:solidFill>
                <a:latin typeface="Arial"/>
                <a:ea typeface="Arial"/>
              </a:rPr>
              <a:t xml:space="preserve"> is a compensatory movement driven by motion across the visual field. A fly viewing a rotating panorama commonly turns in the same direction as the panorama, reducing unwanted image motion.</a:t>
            </a:r>
            <a:endParaRPr lang="en-US"/>
          </a:p>
        </p:txBody>
      </p:sp>
      <p:sp>
        <p:nvSpPr>
          <p:cNvPr id="9" name="Shape 9"/>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The feedback variable is </a:t>
            </a:r>
            <a:r>
              <a:rPr sz="1800" b="1" i="0">
                <a:solidFill>
                  <a:srgbClr val="25262B"/>
                </a:solidFill>
                <a:latin typeface="Arial"/>
                <a:ea typeface="Arial"/>
              </a:rPr>
              <a:t>retinal slip</a:t>
            </a:r>
            <a:r>
              <a:rPr sz="1800" b="0" i="0">
                <a:solidFill>
                  <a:srgbClr val="25262B"/>
                </a:solidFill>
                <a:latin typeface="Arial"/>
                <a:ea typeface="Arial"/>
              </a:rPr>
              <a:t xml:space="preserve">, the movement of an image relative to the eye. </a:t>
            </a:r>
            <a:r>
              <a:rPr sz="1800" b="1" i="0">
                <a:solidFill>
                  <a:srgbClr val="25262B"/>
                </a:solidFill>
                <a:latin typeface="Arial"/>
                <a:ea typeface="Arial"/>
              </a:rPr>
              <a:t>Optic flow</a:t>
            </a:r>
            <a:r>
              <a:rPr sz="1800" b="0" i="0">
                <a:solidFill>
                  <a:srgbClr val="25262B"/>
                </a:solidFill>
                <a:latin typeface="Arial"/>
                <a:ea typeface="Arial"/>
              </a:rPr>
              <a:t xml:space="preserve"> describes the pattern of these local image velocities across the visual field. Rotation and translation generate different global patterns.</a:t>
            </a:r>
            <a:endParaRPr lang="en-US"/>
          </a:p>
        </p:txBody>
      </p:sp>
      <p:sp>
        <p:nvSpPr>
          <p:cNvPr id="10" name="Shape 10"/>
          <p:cNvSpPr/>
          <p:nvPr/>
        </p:nvSpPr>
        <p:spPr>
          <a:xfrm>
            <a:off x="571500" y="3441502"/>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During flight, unequal left and right wing strokes generate steering torque. Walking flies adjust leg movements, while head movements can stabilize gaze.</a:t>
            </a:r>
            <a:endParaRPr lang="en-US"/>
          </a:p>
        </p:txBody>
      </p:sp>
      <p:sp>
        <p:nvSpPr>
          <p:cNvPr id="11" name="Shape 11"/>
          <p:cNvSpPr/>
          <p:nvPr/>
        </p:nvSpPr>
        <p:spPr>
          <a:xfrm>
            <a:off x="571500" y="4150519"/>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A local motion signal is ambiguous about its cause. Wide-field circuits combine signals across visual space to guide the appropriate motor response.</a:t>
            </a:r>
            <a:endParaRPr lang="en-US"/>
          </a:p>
        </p:txBody>
      </p:sp>
      <p:pic>
        <p:nvPicPr>
          <p:cNvPr id="101" name="Presenton Native Image 2" descr=""/>
          <p:cNvPicPr/>
          <p:nvPr/>
        </p:nvPicPr>
        <p:blipFill>
          <a:blip r:embed="rId2" cstate="none"/>
          <a:stretch>
            <a:fillRect/>
          </a:stretch>
        </p:blipFill>
        <p:spPr>
          <a:xfrm>
            <a:off x="571500" y="6379369"/>
            <a:ext cx="11049000" cy="269081"/>
          </a:xfrm>
          <a:prstGeom prst="rect">
            <a:avLst/>
          </a:prstGeom>
        </p:spPr>
      </p:pic>
      <p:sp>
        <p:nvSpPr>
          <p:cNvPr id="12" name="Shape 1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Bahl et al. (2013); Haikala et al. (2013); Henning et al. (2022)</a:t>
            </a:r>
            <a:endParaRPr lang="en-US"/>
          </a:p>
        </p:txBody>
      </p:sp>
      <p:sp>
        <p:nvSpPr>
          <p:cNvPr id="13" name="Shape 1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4" name="Shape 1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Open-loop and closed-loop experiments</a:t>
            </a:r>
            <a:endParaRPr lang="en-US"/>
          </a:p>
        </p:txBody>
      </p:sp>
      <p:sp>
        <p:nvSpPr>
          <p:cNvPr id="15" name="Shape 15"/>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A tethered fly can attempt a turn without changing its actual body heading. The preparation therefore determines what the behavioral measurement means.</a:t>
            </a:r>
            <a:endParaRPr lang="en-US"/>
          </a:p>
        </p:txBody>
      </p:sp>
      <p:sp>
        <p:nvSpPr>
          <p:cNvPr id="16" name="Shape 16"/>
          <p:cNvSpPr/>
          <p:nvPr/>
        </p:nvSpPr>
        <p:spPr>
          <a:xfrm>
            <a:off x="571500" y="2011561"/>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 xml:space="preserve">In </a:t>
            </a:r>
            <a:r>
              <a:rPr sz="1725" b="1" i="0">
                <a:solidFill>
                  <a:srgbClr val="25262B"/>
                </a:solidFill>
                <a:latin typeface="Arial"/>
                <a:ea typeface="Arial"/>
              </a:rPr>
              <a:t>open loop</a:t>
            </a:r>
            <a:r>
              <a:rPr sz="1725" b="0" i="0">
                <a:solidFill>
                  <a:srgbClr val="25262B"/>
                </a:solidFill>
                <a:latin typeface="Arial"/>
                <a:ea typeface="Arial"/>
              </a:rPr>
              <a:t xml:space="preserve">, the experimenter controls the stimulus independently of the response. In </a:t>
            </a:r>
            <a:r>
              <a:rPr sz="1725" b="1" i="0">
                <a:solidFill>
                  <a:srgbClr val="25262B"/>
                </a:solidFill>
                <a:latin typeface="Arial"/>
                <a:ea typeface="Arial"/>
              </a:rPr>
              <a:t>closed loop</a:t>
            </a:r>
            <a:r>
              <a:rPr sz="1725" b="0" i="0">
                <a:solidFill>
                  <a:srgbClr val="25262B"/>
                </a:solidFill>
                <a:latin typeface="Arial"/>
                <a:ea typeface="Arial"/>
              </a:rPr>
              <a:t>, measured steering changes the displayed scene, allowing the fly to influence subsequent input. Feedback gain specifies how strongly the display responds to the animal.</a:t>
            </a:r>
            <a:endParaRPr lang="en-US"/>
          </a:p>
        </p:txBody>
      </p:sp>
      <p:pic>
        <p:nvPicPr>
          <p:cNvPr id="102" name="Presenton Native Image 3" descr=""/>
          <p:cNvPicPr/>
          <p:nvPr/>
        </p:nvPicPr>
        <p:blipFill>
          <a:blip r:embed="rId3" cstate="none"/>
          <a:stretch>
            <a:fillRect/>
          </a:stretch>
        </p:blipFill>
        <p:spPr>
          <a:xfrm>
            <a:off x="571500" y="2933402"/>
            <a:ext cx="11049000" cy="1728192"/>
          </a:xfrm>
          <a:prstGeom prst="rect">
            <a:avLst/>
          </a:prstGeom>
        </p:spPr>
      </p:pic>
      <p:pic>
        <p:nvPicPr>
          <p:cNvPr id="103" name="Presenton Native Image 4" descr=""/>
          <p:cNvPicPr/>
          <p:nvPr/>
        </p:nvPicPr>
        <p:blipFill>
          <a:blip r:embed="rId2" cstate="none"/>
          <a:stretch>
            <a:fillRect/>
          </a:stretch>
        </p:blipFill>
        <p:spPr>
          <a:xfrm>
            <a:off x="571500" y="6379369"/>
            <a:ext cx="11049000" cy="269081"/>
          </a:xfrm>
          <a:prstGeom prst="rect">
            <a:avLst/>
          </a:prstGeom>
        </p:spPr>
      </p:pic>
      <p:sp>
        <p:nvSpPr>
          <p:cNvPr id="17" name="Shape 17"/>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Salazar-Gatzimas et al. (2016); Haikala et al. (2013); Bahl et al. (2013)</a:t>
            </a:r>
            <a:endParaRPr lang="en-US"/>
          </a:p>
        </p:txBody>
      </p:sp>
      <p:sp>
        <p:nvSpPr>
          <p:cNvPr id="18" name="Shape 18"/>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03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9" name="Shape 19"/>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Retinotopic pathways through the optic lobe</a:t>
            </a:r>
            <a:endParaRPr lang="en-US"/>
          </a:p>
        </p:txBody>
      </p:sp>
      <p:sp>
        <p:nvSpPr>
          <p:cNvPr id="20" name="Shape 20"/>
          <p:cNvSpPr/>
          <p:nvPr/>
        </p:nvSpPr>
        <p:spPr>
          <a:xfrm>
            <a:off x="571500" y="1390650"/>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The compound eye samples visual space with repeated units called </a:t>
            </a:r>
            <a:r>
              <a:rPr sz="1725" b="1" i="0">
                <a:solidFill>
                  <a:srgbClr val="25262B"/>
                </a:solidFill>
                <a:latin typeface="Arial"/>
                <a:ea typeface="Arial"/>
              </a:rPr>
              <a:t>ommatidia</a:t>
            </a:r>
            <a:r>
              <a:rPr sz="1725" b="0" i="0">
                <a:solidFill>
                  <a:srgbClr val="25262B"/>
                </a:solidFill>
                <a:latin typeface="Arial"/>
                <a:ea typeface="Arial"/>
              </a:rPr>
              <a:t>. R1–R6 photoreceptors provide the major input to the motion pathways considered here.</a:t>
            </a:r>
            <a:endParaRPr lang="en-US"/>
          </a:p>
        </p:txBody>
      </p:sp>
      <p:sp>
        <p:nvSpPr>
          <p:cNvPr id="21" name="Shape 21"/>
          <p:cNvSpPr/>
          <p:nvPr/>
        </p:nvSpPr>
        <p:spPr>
          <a:xfrm>
            <a:off x="571500" y="2216051"/>
            <a:ext cx="6115050" cy="1248668"/>
          </a:xfrm>
          <a:prstGeom prst="rect">
            <a:avLst/>
          </a:prstGeom>
          <a:noFill/>
        </p:spPr>
        <p:txBody>
          <a:bodyPr anchor="t" wrap="square" tIns="0" bIns="0" lIns="0" rIns="0">
            <a:normAutofit/>
          </a:bodyPr>
          <a:lstStyle/>
          <a:p>
            <a:pPr algn="l">
              <a:lnSpc>
                <a:spcPts val="1967"/>
              </a:lnSpc>
              <a:buNone/>
            </a:pPr>
            <a:r>
              <a:rPr sz="1725" b="1" i="0">
                <a:solidFill>
                  <a:srgbClr val="25262B"/>
                </a:solidFill>
                <a:latin typeface="Arial"/>
                <a:ea typeface="Arial"/>
              </a:rPr>
              <a:t>Retinotopy</a:t>
            </a:r>
            <a:r>
              <a:rPr sz="1725" b="0" i="0">
                <a:solidFill>
                  <a:srgbClr val="25262B"/>
                </a:solidFill>
                <a:latin typeface="Arial"/>
                <a:ea typeface="Arial"/>
              </a:rPr>
              <a:t xml:space="preserve"> preserves neighborhood relations from the visual field through successive neural columns. Adjacent columns therefore carry signals from nearby image locations, providing comparisons needed for motion detection.</a:t>
            </a:r>
            <a:endParaRPr lang="en-US"/>
          </a:p>
        </p:txBody>
      </p:sp>
      <p:sp>
        <p:nvSpPr>
          <p:cNvPr id="22" name="Shape 22"/>
          <p:cNvSpPr/>
          <p:nvPr/>
        </p:nvSpPr>
        <p:spPr>
          <a:xfrm>
            <a:off x="571500" y="3540919"/>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Lamina neurons relay signals into the medulla. T4 dendrites receive ON-pathway input in medulla layer M10. T5 dendrites receive OFF-pathway input in lobula layer Lo1.</a:t>
            </a:r>
            <a:endParaRPr lang="en-US"/>
          </a:p>
        </p:txBody>
      </p:sp>
      <p:sp>
        <p:nvSpPr>
          <p:cNvPr id="23" name="Shape 23"/>
          <p:cNvSpPr/>
          <p:nvPr/>
        </p:nvSpPr>
        <p:spPr>
          <a:xfrm>
            <a:off x="571500" y="4366320"/>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Both classes send axons to the lobula plate. Their terminals converge on wide-field neurons according to preferred direction. The illustration shows selected routes and omits additional inputs identified by later connectomic studies.</a:t>
            </a:r>
            <a:endParaRPr lang="en-US"/>
          </a:p>
        </p:txBody>
      </p:sp>
      <p:pic>
        <p:nvPicPr>
          <p:cNvPr id="104" name="Presenton Native Image 5" descr=""/>
          <p:cNvPicPr/>
          <p:nvPr/>
        </p:nvPicPr>
        <p:blipFill>
          <a:blip r:embed="rId3" cstate="none"/>
          <a:stretch>
            <a:fillRect/>
          </a:stretch>
        </p:blipFill>
        <p:spPr>
          <a:xfrm>
            <a:off x="7872605" y="1465064"/>
            <a:ext cx="2961889" cy="3981450"/>
          </a:xfrm>
          <a:prstGeom prst="rect">
            <a:avLst/>
          </a:prstGeom>
        </p:spPr>
      </p:pic>
      <p:sp>
        <p:nvSpPr>
          <p:cNvPr id="24" name="Shape 24"/>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Behnia et al. (2014), Fig. 1B. Selected anatomical pathways. LPTCs: lobula plate tangential cells.</a:t>
            </a:r>
            <a:endParaRPr lang="en-US"/>
          </a:p>
        </p:txBody>
      </p:sp>
      <p:pic>
        <p:nvPicPr>
          <p:cNvPr id="105" name="Presenton Native Image 6" descr=""/>
          <p:cNvPicPr/>
          <p:nvPr/>
        </p:nvPicPr>
        <p:blipFill>
          <a:blip r:embed="rId2" cstate="none"/>
          <a:stretch>
            <a:fillRect/>
          </a:stretch>
        </p:blipFill>
        <p:spPr>
          <a:xfrm>
            <a:off x="571500" y="6379369"/>
            <a:ext cx="11049000" cy="269081"/>
          </a:xfrm>
          <a:prstGeom prst="rect">
            <a:avLst/>
          </a:prstGeom>
        </p:spPr>
      </p:pic>
      <p:sp>
        <p:nvSpPr>
          <p:cNvPr id="25" name="Shape 25"/>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Behnia et al. (2014); Shinomiya et al. (2019)</a:t>
            </a:r>
            <a:endParaRPr lang="en-US"/>
          </a:p>
        </p:txBody>
      </p:sp>
      <p:sp>
        <p:nvSpPr>
          <p:cNvPr id="26" name="Shape 26"/>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04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7" name="Shape 27"/>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Phototransduction generates a graded signal</a:t>
            </a:r>
            <a:endParaRPr lang="en-US"/>
          </a:p>
        </p:txBody>
      </p:sp>
      <p:sp>
        <p:nvSpPr>
          <p:cNvPr id="28" name="Shape 28"/>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In a fly photoreceptor, photon absorption activates rhodopsin and a signaling cascade involving phospholipase C. Light-sensitive cation channels generate a depolarizing current. Calcium entry also contributes to response regulation.</a:t>
            </a:r>
            <a:endParaRPr lang="en-US"/>
          </a:p>
        </p:txBody>
      </p:sp>
      <p:sp>
        <p:nvSpPr>
          <p:cNvPr id="29" name="Shape 29"/>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1" i="0">
                <a:solidFill>
                  <a:srgbClr val="25262B"/>
                </a:solidFill>
                <a:latin typeface="Arial"/>
                <a:ea typeface="Arial"/>
              </a:rPr>
              <a:t>Depolarization</a:t>
            </a:r>
            <a:r>
              <a:rPr sz="1800" b="0" i="0">
                <a:solidFill>
                  <a:srgbClr val="25262B"/>
                </a:solidFill>
                <a:latin typeface="Arial"/>
                <a:ea typeface="Arial"/>
              </a:rPr>
              <a:t xml:space="preserve"> makes membrane voltage less negative. The resulting graded signal varies continuously with stimulation. Direction information requires subsequent comparison of signals across space and time.</a:t>
            </a:r>
            <a:endParaRPr lang="en-US"/>
          </a:p>
        </p:txBody>
      </p:sp>
      <p:sp>
        <p:nvSpPr>
          <p:cNvPr id="30" name="Shape 30"/>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Hardie and Minke compared wild-type and </a:t>
            </a:r>
            <a:r>
              <a:rPr sz="1800" b="1" i="0">
                <a:solidFill>
                  <a:srgbClr val="25262B"/>
                </a:solidFill>
                <a:latin typeface="Arial"/>
                <a:ea typeface="Arial"/>
              </a:rPr>
              <a:t>trp</a:t>
            </a:r>
            <a:r>
              <a:rPr sz="1800" b="0" i="0">
                <a:solidFill>
                  <a:srgbClr val="25262B"/>
                </a:solidFill>
                <a:latin typeface="Arial"/>
                <a:ea typeface="Arial"/>
              </a:rPr>
              <a:t xml:space="preserve"> mutant photoreceptors using whole-cell recordings. The mutation removed a major calcium-permeable component, and sustained responses to intense illumination decayed abnormally.</a:t>
            </a:r>
            <a:endParaRPr lang="en-US"/>
          </a:p>
        </p:txBody>
      </p:sp>
      <p:sp>
        <p:nvSpPr>
          <p:cNvPr id="31" name="Shape 31"/>
          <p:cNvSpPr/>
          <p:nvPr/>
        </p:nvSpPr>
        <p:spPr>
          <a:xfrm>
            <a:off x="571500" y="4443115"/>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TRP-dependent current therefore helps maintain the light response. The experiment links a molecular defect to an electrical phenotype at the first stage of visual processing.</a:t>
            </a:r>
            <a:endParaRPr lang="en-US"/>
          </a:p>
        </p:txBody>
      </p:sp>
      <p:pic>
        <p:nvPicPr>
          <p:cNvPr id="106" name="Presenton Native Image 7" descr=""/>
          <p:cNvPicPr/>
          <p:nvPr/>
        </p:nvPicPr>
        <p:blipFill>
          <a:blip r:embed="rId2" cstate="none"/>
          <a:stretch>
            <a:fillRect/>
          </a:stretch>
        </p:blipFill>
        <p:spPr>
          <a:xfrm>
            <a:off x="571500" y="6379369"/>
            <a:ext cx="11049000" cy="269081"/>
          </a:xfrm>
          <a:prstGeom prst="rect">
            <a:avLst/>
          </a:prstGeom>
        </p:spPr>
      </p:pic>
      <p:sp>
        <p:nvSpPr>
          <p:cNvPr id="32" name="Shape 3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Hardie </a:t>
            </a:r>
            <a:r>
              <a:rPr sz="1125" b="0" i="0">
                <a:solidFill>
                  <a:srgbClr val="665B60"/>
                </a:solidFill>
                <a:latin typeface="Arial"/>
                <a:ea typeface="Arial"/>
              </a:rPr>
              <a:t>&amp;</a:t>
            </a:r>
            <a:r>
              <a:rPr sz="1125" b="0" i="0">
                <a:solidFill>
                  <a:srgbClr val="665B60"/>
                </a:solidFill>
                <a:latin typeface="Arial"/>
                <a:ea typeface="Arial"/>
              </a:rPr>
              <a:t xml:space="preserve"> Minke (1992); Behnia et al. (2014)</a:t>
            </a:r>
            <a:endParaRPr lang="en-US"/>
          </a:p>
        </p:txBody>
      </p:sp>
      <p:sp>
        <p:nvSpPr>
          <p:cNvPr id="33" name="Shape 3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05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34" name="Shape 3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Histamine reverses the sign at the first synapse</a:t>
            </a:r>
            <a:endParaRPr lang="en-US"/>
          </a:p>
        </p:txBody>
      </p:sp>
      <p:sp>
        <p:nvSpPr>
          <p:cNvPr id="35" name="Shape 35"/>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R1–R6 photoreceptors release </a:t>
            </a:r>
            <a:r>
              <a:rPr sz="1800" b="1" i="0">
                <a:solidFill>
                  <a:srgbClr val="25262B"/>
                </a:solidFill>
                <a:latin typeface="Arial"/>
                <a:ea typeface="Arial"/>
              </a:rPr>
              <a:t>histamine</a:t>
            </a:r>
            <a:r>
              <a:rPr sz="1800" b="0" i="0">
                <a:solidFill>
                  <a:srgbClr val="25262B"/>
                </a:solidFill>
                <a:latin typeface="Arial"/>
                <a:ea typeface="Arial"/>
              </a:rPr>
              <a:t xml:space="preserve"> onto lamina targets. Histamine activates Ort-containing ligand-gated chloride channels on L1/L2 neurons. A </a:t>
            </a:r>
            <a:r>
              <a:rPr sz="1800" b="1" i="0">
                <a:solidFill>
                  <a:srgbClr val="25262B"/>
                </a:solidFill>
                <a:latin typeface="Arial"/>
                <a:ea typeface="Arial"/>
              </a:rPr>
              <a:t>ligand-gated channel</a:t>
            </a:r>
            <a:r>
              <a:rPr sz="1800" b="0" i="0">
                <a:solidFill>
                  <a:srgbClr val="25262B"/>
                </a:solidFill>
                <a:latin typeface="Arial"/>
                <a:ea typeface="Arial"/>
              </a:rPr>
              <a:t xml:space="preserve"> opens when a signaling molecule binds to it.</a:t>
            </a:r>
            <a:endParaRPr lang="en-US"/>
          </a:p>
        </p:txBody>
      </p:sp>
      <p:sp>
        <p:nvSpPr>
          <p:cNvPr id="36" name="Shape 36"/>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Opening these channels increases chloride conductance and drives voltage toward the chloride reversal potential. Light increments depolarize photoreceptors while hyperpolarizing L1/L2 under the recorded conditions.</a:t>
            </a:r>
            <a:endParaRPr lang="en-US"/>
          </a:p>
        </p:txBody>
      </p:sp>
      <p:sp>
        <p:nvSpPr>
          <p:cNvPr id="37" name="Shape 37"/>
          <p:cNvSpPr/>
          <p:nvPr/>
        </p:nvSpPr>
        <p:spPr>
          <a:xfrm>
            <a:off x="571500" y="3441502"/>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Gengs and colleagues linked </a:t>
            </a:r>
            <a:r>
              <a:rPr sz="1800" b="1" i="0">
                <a:solidFill>
                  <a:srgbClr val="25262B"/>
                </a:solidFill>
                <a:latin typeface="Arial"/>
                <a:ea typeface="Arial"/>
              </a:rPr>
              <a:t>ort</a:t>
            </a:r>
            <a:r>
              <a:rPr sz="1800" b="0" i="0">
                <a:solidFill>
                  <a:srgbClr val="25262B"/>
                </a:solidFill>
                <a:latin typeface="Arial"/>
                <a:ea typeface="Arial"/>
              </a:rPr>
              <a:t xml:space="preserve"> mutations to defective photoreceptor transmission and rescued the phenotype with receptor cDNA. This connected a molecularly identified channel to its native synaptic function.</a:t>
            </a:r>
            <a:endParaRPr lang="en-US"/>
          </a:p>
        </p:txBody>
      </p:sp>
      <p:sp>
        <p:nvSpPr>
          <p:cNvPr id="38" name="Shape 38"/>
          <p:cNvSpPr/>
          <p:nvPr/>
        </p:nvSpPr>
        <p:spPr>
          <a:xfrm>
            <a:off x="571500" y="444311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Both L1 and L2 respond to brightness increments and decrements. Later ON/OFF specialization therefore requires additional processing. Pathway names describe contributions to computation rather than exclusive responsiveness at every stage.</a:t>
            </a:r>
            <a:endParaRPr lang="en-US"/>
          </a:p>
        </p:txBody>
      </p:sp>
      <p:pic>
        <p:nvPicPr>
          <p:cNvPr id="107" name="Presenton Native Image 8" descr=""/>
          <p:cNvPicPr/>
          <p:nvPr/>
        </p:nvPicPr>
        <p:blipFill>
          <a:blip r:embed="rId2" cstate="none"/>
          <a:stretch>
            <a:fillRect/>
          </a:stretch>
        </p:blipFill>
        <p:spPr>
          <a:xfrm>
            <a:off x="571500" y="6379369"/>
            <a:ext cx="11049000" cy="269081"/>
          </a:xfrm>
          <a:prstGeom prst="rect">
            <a:avLst/>
          </a:prstGeom>
        </p:spPr>
      </p:pic>
      <p:sp>
        <p:nvSpPr>
          <p:cNvPr id="39" name="Shape 3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Gengs et al. (2002); Behnia et al. (2014); Clark et al. (2011)</a:t>
            </a:r>
            <a:endParaRPr lang="en-US"/>
          </a:p>
        </p:txBody>
      </p:sp>
      <p:sp>
        <p:nvSpPr>
          <p:cNvPr id="40" name="Shape 4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06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41" name="Shape 41"/>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Direction requires space and time</a:t>
            </a:r>
            <a:endParaRPr lang="en-US"/>
          </a:p>
        </p:txBody>
      </p:sp>
      <p:sp>
        <p:nvSpPr>
          <p:cNvPr id="42" name="Shape 42"/>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A photoreceptor reports a sequence of local intensities. An increasing signal could result from a bright edge entering its field, altered illumination, or eye movement. A single intensity trace cannot determine direction.</a:t>
            </a:r>
            <a:endParaRPr lang="en-US"/>
          </a:p>
        </p:txBody>
      </p:sp>
      <p:sp>
        <p:nvSpPr>
          <p:cNvPr id="43" name="Shape 43"/>
          <p:cNvSpPr/>
          <p:nvPr/>
        </p:nvSpPr>
        <p:spPr>
          <a:xfrm>
            <a:off x="571500" y="2439888"/>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Consider neighboring locations A and B. A feature moving from A toward B generates related contrast changes at A first and B later. Reversing motion reverses this order.</a:t>
            </a:r>
            <a:endParaRPr lang="en-US"/>
          </a:p>
        </p:txBody>
      </p:sp>
      <p:sp>
        <p:nvSpPr>
          <p:cNvPr id="44" name="Shape 44"/>
          <p:cNvSpPr/>
          <p:nvPr/>
        </p:nvSpPr>
        <p:spPr>
          <a:xfrm>
            <a:off x="571500" y="3148905"/>
            <a:ext cx="10972800" cy="877788"/>
          </a:xfrm>
          <a:prstGeom prst="rect">
            <a:avLst/>
          </a:prstGeom>
          <a:noFill/>
        </p:spPr>
        <p:txBody>
          <a:bodyPr anchor="t" wrap="square" tIns="0" bIns="0" lIns="0" rIns="0">
            <a:normAutofit/>
          </a:bodyPr>
          <a:lstStyle/>
          <a:p>
            <a:pPr algn="l">
              <a:lnSpc>
                <a:spcPts val="2304"/>
              </a:lnSpc>
              <a:buNone/>
            </a:pPr>
            <a:r>
              <a:rPr sz="1800" b="1" i="0">
                <a:solidFill>
                  <a:srgbClr val="25262B"/>
                </a:solidFill>
                <a:latin typeface="Arial"/>
                <a:ea typeface="Arial"/>
              </a:rPr>
              <a:t>Contrast</a:t>
            </a:r>
            <a:r>
              <a:rPr sz="1800" b="0" i="0">
                <a:solidFill>
                  <a:srgbClr val="25262B"/>
                </a:solidFill>
                <a:latin typeface="Arial"/>
                <a:ea typeface="Arial"/>
              </a:rPr>
              <a:t xml:space="preserve"> expresses a luminance difference relative to a reference level. Positive and negative signals can represent bright and dark features. Motion computations compare how signals at different positions covary over time.</a:t>
            </a:r>
            <a:endParaRPr lang="en-US"/>
          </a:p>
        </p:txBody>
      </p:sp>
      <p:sp>
        <p:nvSpPr>
          <p:cNvPr id="45" name="Shape 45"/>
          <p:cNvSpPr/>
          <p:nvPr/>
        </p:nvSpPr>
        <p:spPr>
          <a:xfrm>
            <a:off x="571500" y="4150519"/>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A direction-selective mechanism must distinguish A-before-B from B-before-A. Spatially offset signals with asymmetric temporal filtering provide this comparison, while nonlinear interaction makes output sensitive to their coincidence.</a:t>
            </a:r>
            <a:endParaRPr lang="en-US"/>
          </a:p>
        </p:txBody>
      </p:sp>
      <p:pic>
        <p:nvPicPr>
          <p:cNvPr id="108" name="Presenton Native Image 9" descr=""/>
          <p:cNvPicPr/>
          <p:nvPr/>
        </p:nvPicPr>
        <p:blipFill>
          <a:blip r:embed="rId2" cstate="none"/>
          <a:stretch>
            <a:fillRect/>
          </a:stretch>
        </p:blipFill>
        <p:spPr>
          <a:xfrm>
            <a:off x="571500" y="6379369"/>
            <a:ext cx="11049000" cy="269081"/>
          </a:xfrm>
          <a:prstGeom prst="rect">
            <a:avLst/>
          </a:prstGeom>
        </p:spPr>
      </p:pic>
      <p:sp>
        <p:nvSpPr>
          <p:cNvPr id="46" name="Shape 4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Hassenstein </a:t>
            </a:r>
            <a:r>
              <a:rPr sz="1125" b="0" i="0">
                <a:solidFill>
                  <a:srgbClr val="665B60"/>
                </a:solidFill>
                <a:latin typeface="Arial"/>
                <a:ea typeface="Arial"/>
              </a:rPr>
              <a:t>&amp;</a:t>
            </a:r>
            <a:r>
              <a:rPr sz="1125" b="0" i="0">
                <a:solidFill>
                  <a:srgbClr val="665B60"/>
                </a:solidFill>
                <a:latin typeface="Arial"/>
                <a:ea typeface="Arial"/>
              </a:rPr>
              <a:t xml:space="preserve"> Reichardt (1956); Clark et al. (2011); Salazar-Gatzimas et al. (2016)</a:t>
            </a:r>
            <a:endParaRPr lang="en-US"/>
          </a:p>
        </p:txBody>
      </p:sp>
      <p:sp>
        <p:nvSpPr>
          <p:cNvPr id="47" name="Shape 4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48" name="Shape 4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The original Hassenstein–Reichardt experiments</a:t>
            </a:r>
            <a:endParaRPr lang="en-US"/>
          </a:p>
        </p:txBody>
      </p:sp>
      <p:sp>
        <p:nvSpPr>
          <p:cNvPr id="49" name="Shape 49"/>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Hassenstein and Reichardt developed their early model from optomotor behavior in the beetle </a:t>
            </a:r>
            <a:r>
              <a:rPr sz="1800" b="1" i="0">
                <a:solidFill>
                  <a:srgbClr val="25262B"/>
                </a:solidFill>
                <a:latin typeface="Arial"/>
                <a:ea typeface="Arial"/>
              </a:rPr>
              <a:t>Chlorophanus</a:t>
            </a:r>
            <a:r>
              <a:rPr sz="1800" b="0" i="0">
                <a:solidFill>
                  <a:srgbClr val="25262B"/>
                </a:solidFill>
                <a:latin typeface="Arial"/>
                <a:ea typeface="Arial"/>
              </a:rPr>
              <a:t>. The historical work established a computational proposal in another insect before its extensive application to flies.</a:t>
            </a:r>
            <a:endParaRPr lang="en-US"/>
          </a:p>
        </p:txBody>
      </p:sp>
      <p:sp>
        <p:nvSpPr>
          <p:cNvPr id="50" name="Shape 50"/>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Controlled sequences of luminance changes separated spatial displacement from temporal order and contrast sign. Discrete stimulation could evoke directional behavior without a continuously translating object.</a:t>
            </a:r>
            <a:endParaRPr lang="en-US"/>
          </a:p>
        </p:txBody>
      </p:sp>
      <p:sp>
        <p:nvSpPr>
          <p:cNvPr id="51" name="Shape 51"/>
          <p:cNvSpPr/>
          <p:nvPr/>
        </p:nvSpPr>
        <p:spPr>
          <a:xfrm>
            <a:off x="571500" y="3441502"/>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The model compares neighboring visual signals after delaying one relative to the other. A multiplication step links output to the joint occurrence of those signals.</a:t>
            </a:r>
            <a:endParaRPr lang="en-US"/>
          </a:p>
        </p:txBody>
      </p:sp>
      <p:sp>
        <p:nvSpPr>
          <p:cNvPr id="52" name="Shape 52"/>
          <p:cNvSpPr/>
          <p:nvPr/>
        </p:nvSpPr>
        <p:spPr>
          <a:xfrm>
            <a:off x="571500" y="4150519"/>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A successful behavioral model specifies an input–output relationship. Identifying a neuron as a delay element or a synapse as a multiplier additionally requires physiological recordings, anatomy, and selective manipulation in the relevant species.</a:t>
            </a:r>
            <a:endParaRPr lang="en-US"/>
          </a:p>
        </p:txBody>
      </p:sp>
      <p:pic>
        <p:nvPicPr>
          <p:cNvPr id="109" name="Presenton Native Image 10" descr=""/>
          <p:cNvPicPr/>
          <p:nvPr/>
        </p:nvPicPr>
        <p:blipFill>
          <a:blip r:embed="rId2" cstate="none"/>
          <a:stretch>
            <a:fillRect/>
          </a:stretch>
        </p:blipFill>
        <p:spPr>
          <a:xfrm>
            <a:off x="571500" y="6379369"/>
            <a:ext cx="11049000" cy="269081"/>
          </a:xfrm>
          <a:prstGeom prst="rect">
            <a:avLst/>
          </a:prstGeom>
        </p:spPr>
      </p:pic>
      <p:sp>
        <p:nvSpPr>
          <p:cNvPr id="53" name="Shape 53"/>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Hassenstein </a:t>
            </a:r>
            <a:r>
              <a:rPr sz="1125" b="0" i="0">
                <a:solidFill>
                  <a:srgbClr val="665B60"/>
                </a:solidFill>
                <a:latin typeface="Arial"/>
                <a:ea typeface="Arial"/>
              </a:rPr>
              <a:t>&amp;</a:t>
            </a:r>
            <a:r>
              <a:rPr sz="1125" b="0" i="0">
                <a:solidFill>
                  <a:srgbClr val="665B60"/>
                </a:solidFill>
                <a:latin typeface="Arial"/>
                <a:ea typeface="Arial"/>
              </a:rPr>
              <a:t xml:space="preserve"> Reichardt (1956); Haag et al. (2004); Behnia et al. (2014)</a:t>
            </a:r>
            <a:endParaRPr lang="en-US"/>
          </a:p>
        </p:txBody>
      </p:sp>
      <p:sp>
        <p:nvSpPr>
          <p:cNvPr id="54" name="Shape 54"/>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08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55" name="Shape 55"/>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Delay and multiplication in an elementary detector</a:t>
            </a:r>
            <a:endParaRPr lang="en-US"/>
          </a:p>
        </p:txBody>
      </p:sp>
      <p:sp>
        <p:nvSpPr>
          <p:cNvPr id="56" name="Shape 56"/>
          <p:cNvSpPr/>
          <p:nvPr/>
        </p:nvSpPr>
        <p:spPr>
          <a:xfrm>
            <a:off x="571500" y="1390650"/>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illustrated half-detector prefers motion from input 1 toward input 2. A signal at input 1 passes through a temporal filter before interacting with input 2.</a:t>
            </a:r>
            <a:endParaRPr lang="en-US"/>
          </a:p>
        </p:txBody>
      </p:sp>
      <p:sp>
        <p:nvSpPr>
          <p:cNvPr id="57" name="Shape 57"/>
          <p:cNvSpPr/>
          <p:nvPr/>
        </p:nvSpPr>
        <p:spPr>
          <a:xfrm>
            <a:off x="571500" y="2216051"/>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A </a:t>
            </a:r>
            <a:r>
              <a:rPr sz="1725" b="1" i="0">
                <a:solidFill>
                  <a:srgbClr val="25262B"/>
                </a:solidFill>
                <a:latin typeface="Arial"/>
                <a:ea typeface="Arial"/>
              </a:rPr>
              <a:t>temporal filter</a:t>
            </a:r>
            <a:r>
              <a:rPr sz="1725" b="0" i="0">
                <a:solidFill>
                  <a:srgbClr val="25262B"/>
                </a:solidFill>
                <a:latin typeface="Arial"/>
                <a:ea typeface="Arial"/>
              </a:rPr>
              <a:t xml:space="preserve"> weights recent stimulus history. A low-pass filter smooths rapid changes and can delay a response peak. This differs from producing a perfectly timed copy of a pulse.</a:t>
            </a:r>
            <a:endParaRPr lang="en-US"/>
          </a:p>
        </p:txBody>
      </p:sp>
      <p:sp>
        <p:nvSpPr>
          <p:cNvPr id="58" name="Shape 58"/>
          <p:cNvSpPr/>
          <p:nvPr/>
        </p:nvSpPr>
        <p:spPr>
          <a:xfrm>
            <a:off x="571500" y="3291185"/>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During suitable rightward motion, the delayed input-1 response overlaps the later input-2 response. Multiplication yields a larger signal when both are active together. Reverse-order stimulation produces less overlap.</a:t>
            </a:r>
            <a:endParaRPr lang="en-US"/>
          </a:p>
        </p:txBody>
      </p:sp>
      <p:sp>
        <p:nvSpPr>
          <p:cNvPr id="59" name="Shape 59"/>
          <p:cNvSpPr/>
          <p:nvPr/>
        </p:nvSpPr>
        <p:spPr>
          <a:xfrm>
            <a:off x="571500" y="4366320"/>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M denotes a mathematical operation in this schematic. Experiments test which arrangements of excitatory and inhibitory conductances can implement comparable enhancement over a measured stimulus range.</a:t>
            </a:r>
            <a:endParaRPr lang="en-US"/>
          </a:p>
        </p:txBody>
      </p:sp>
      <p:pic>
        <p:nvPicPr>
          <p:cNvPr id="110" name="Presenton Native Image 11" descr=""/>
          <p:cNvPicPr/>
          <p:nvPr/>
        </p:nvPicPr>
        <p:blipFill>
          <a:blip r:embed="rId3" cstate="none"/>
          <a:stretch>
            <a:fillRect/>
          </a:stretch>
        </p:blipFill>
        <p:spPr>
          <a:xfrm>
            <a:off x="7546938" y="1465064"/>
            <a:ext cx="3613223" cy="3981450"/>
          </a:xfrm>
          <a:prstGeom prst="rect">
            <a:avLst/>
          </a:prstGeom>
        </p:spPr>
      </p:pic>
      <p:sp>
        <p:nvSpPr>
          <p:cNvPr id="60" name="Shape 60"/>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Behnia et al. (2014), Fig. 1A. Model half-detector. τ: temporal filtering. M: multiplication.</a:t>
            </a:r>
            <a:endParaRPr lang="en-US"/>
          </a:p>
        </p:txBody>
      </p:sp>
      <p:pic>
        <p:nvPicPr>
          <p:cNvPr id="111" name="Presenton Native Image 12" descr=""/>
          <p:cNvPicPr/>
          <p:nvPr/>
        </p:nvPicPr>
        <p:blipFill>
          <a:blip r:embed="rId2" cstate="none"/>
          <a:stretch>
            <a:fillRect/>
          </a:stretch>
        </p:blipFill>
        <p:spPr>
          <a:xfrm>
            <a:off x="571500" y="6379369"/>
            <a:ext cx="11049000" cy="269081"/>
          </a:xfrm>
          <a:prstGeom prst="rect">
            <a:avLst/>
          </a:prstGeom>
        </p:spPr>
      </p:pic>
      <p:sp>
        <p:nvSpPr>
          <p:cNvPr id="61" name="Shape 61"/>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Behnia et al. (2014); Hassenstein </a:t>
            </a:r>
            <a:r>
              <a:rPr sz="1125" b="0" i="0">
                <a:solidFill>
                  <a:srgbClr val="665B60"/>
                </a:solidFill>
                <a:latin typeface="Arial"/>
                <a:ea typeface="Arial"/>
              </a:rPr>
              <a:t>&amp;</a:t>
            </a:r>
            <a:r>
              <a:rPr sz="1125" b="0" i="0">
                <a:solidFill>
                  <a:srgbClr val="665B60"/>
                </a:solidFill>
                <a:latin typeface="Arial"/>
                <a:ea typeface="Arial"/>
              </a:rPr>
              <a:t xml:space="preserve"> Reichardt (1956); Groschner et al. (2022)</a:t>
            </a:r>
            <a:endParaRPr lang="en-US"/>
          </a:p>
        </p:txBody>
      </p:sp>
      <p:sp>
        <p:nvSpPr>
          <p:cNvPr id="62" name="Shape 62"/>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09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63" name="Shape 63"/>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Opponent subtraction gives a signed output</a:t>
            </a:r>
            <a:endParaRPr lang="en-US"/>
          </a:p>
        </p:txBody>
      </p:sp>
      <p:sp>
        <p:nvSpPr>
          <p:cNvPr id="64" name="Shape 64"/>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 xml:space="preserve">A complete Reichardt detector compares mirror-symmetric half-detectors. For contrast inputs a(t) and b(t), a common expression is </a:t>
            </a:r>
            <a:r>
              <a:rPr sz="1725" b="1" i="0">
                <a:solidFill>
                  <a:srgbClr val="25262B"/>
                </a:solidFill>
                <a:latin typeface="Arial"/>
                <a:ea typeface="Arial"/>
              </a:rPr>
              <a:t>R(t) = aτ(t)b(t) − bτ(t)a(t)</a:t>
            </a:r>
            <a:r>
              <a:rPr sz="1725" b="0" i="0">
                <a:solidFill>
                  <a:srgbClr val="25262B"/>
                </a:solidFill>
                <a:latin typeface="Arial"/>
                <a:ea typeface="Arial"/>
              </a:rPr>
              <a:t>. Here aτ(t) and bτ(t) denote temporally filtered inputs.</a:t>
            </a:r>
            <a:endParaRPr lang="en-US"/>
          </a:p>
        </p:txBody>
      </p:sp>
      <p:sp>
        <p:nvSpPr>
          <p:cNvPr id="65" name="Shape 65"/>
          <p:cNvSpPr/>
          <p:nvPr/>
        </p:nvSpPr>
        <p:spPr>
          <a:xfrm>
            <a:off x="571500" y="2011561"/>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The first product favors A-before-B, while the second favors B-before-A. Their difference changes sign when direction reverses. Subtraction reduces nondirectional components shared by the branches.</a:t>
            </a:r>
            <a:endParaRPr lang="en-US"/>
          </a:p>
        </p:txBody>
      </p:sp>
      <p:sp>
        <p:nvSpPr>
          <p:cNvPr id="66" name="Shape 66"/>
          <p:cNvSpPr/>
          <p:nvPr/>
        </p:nvSpPr>
        <p:spPr>
          <a:xfrm>
            <a:off x="571500" y="2622947"/>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A signed population output can emerge when downstream neurons combine oppositely tuned cells, even when each cell’s activity is nonnegative.</a:t>
            </a:r>
            <a:endParaRPr lang="en-US"/>
          </a:p>
        </p:txBody>
      </p:sp>
      <p:pic>
        <p:nvPicPr>
          <p:cNvPr id="112" name="Presenton Native Image 13" descr=""/>
          <p:cNvPicPr/>
          <p:nvPr/>
        </p:nvPicPr>
        <p:blipFill>
          <a:blip r:embed="rId3" cstate="none"/>
          <a:stretch>
            <a:fillRect/>
          </a:stretch>
        </p:blipFill>
        <p:spPr>
          <a:xfrm>
            <a:off x="571500" y="3281958"/>
            <a:ext cx="11049000" cy="1728192"/>
          </a:xfrm>
          <a:prstGeom prst="rect">
            <a:avLst/>
          </a:prstGeom>
        </p:spPr>
      </p:pic>
      <p:pic>
        <p:nvPicPr>
          <p:cNvPr id="113" name="Presenton Native Image 14" descr=""/>
          <p:cNvPicPr/>
          <p:nvPr/>
        </p:nvPicPr>
        <p:blipFill>
          <a:blip r:embed="rId2" cstate="none"/>
          <a:stretch>
            <a:fillRect/>
          </a:stretch>
        </p:blipFill>
        <p:spPr>
          <a:xfrm>
            <a:off x="571500" y="6379369"/>
            <a:ext cx="11049000" cy="269081"/>
          </a:xfrm>
          <a:prstGeom prst="rect">
            <a:avLst/>
          </a:prstGeom>
        </p:spPr>
      </p:pic>
      <p:sp>
        <p:nvSpPr>
          <p:cNvPr id="67" name="Shape 67"/>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Hassenstein </a:t>
            </a:r>
            <a:r>
              <a:rPr sz="1125" b="0" i="0">
                <a:solidFill>
                  <a:srgbClr val="665B60"/>
                </a:solidFill>
                <a:latin typeface="Arial"/>
                <a:ea typeface="Arial"/>
              </a:rPr>
              <a:t>&amp;</a:t>
            </a:r>
            <a:r>
              <a:rPr sz="1125" b="0" i="0">
                <a:solidFill>
                  <a:srgbClr val="665B60"/>
                </a:solidFill>
                <a:latin typeface="Arial"/>
                <a:ea typeface="Arial"/>
              </a:rPr>
              <a:t xml:space="preserve"> Reichardt (1956); Mauss et al. (2015); Salazar-Gatzimas et al. (2016)</a:t>
            </a:r>
            <a:endParaRPr lang="en-US"/>
          </a:p>
        </p:txBody>
      </p:sp>
      <p:sp>
        <p:nvSpPr>
          <p:cNvPr id="68" name="Shape 68"/>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69" name="Shape 69"/>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Temporal frequency and image velocity</a:t>
            </a:r>
            <a:endParaRPr lang="en-US"/>
          </a:p>
        </p:txBody>
      </p:sp>
      <p:sp>
        <p:nvSpPr>
          <p:cNvPr id="70" name="Shape 70"/>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 xml:space="preserve">For a drifting grating, </a:t>
            </a:r>
            <a:r>
              <a:rPr sz="1725" b="1" i="0">
                <a:solidFill>
                  <a:srgbClr val="25262B"/>
                </a:solidFill>
                <a:latin typeface="Arial"/>
                <a:ea typeface="Arial"/>
              </a:rPr>
              <a:t>f = v/λ</a:t>
            </a:r>
            <a:r>
              <a:rPr sz="1725" b="0" i="0">
                <a:solidFill>
                  <a:srgbClr val="25262B"/>
                </a:solidFill>
                <a:latin typeface="Arial"/>
                <a:ea typeface="Arial"/>
              </a:rPr>
              <a:t>, where f is temporal frequency, v is angular velocity, and λ is angular spatial wavelength. Temporal frequency counts contrast cycles passing a fixed retinal location each second.</a:t>
            </a:r>
            <a:endParaRPr lang="en-US"/>
          </a:p>
        </p:txBody>
      </p:sp>
      <p:sp>
        <p:nvSpPr>
          <p:cNvPr id="71" name="Shape 71"/>
          <p:cNvSpPr/>
          <p:nvPr/>
        </p:nvSpPr>
        <p:spPr>
          <a:xfrm>
            <a:off x="571500" y="2011561"/>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Reichardt responses depend on pattern as well as speed. Changing wavelength can shift the velocity producing the strongest response while preferred temporal frequency remains similar.</a:t>
            </a:r>
            <a:endParaRPr lang="en-US"/>
          </a:p>
        </p:txBody>
      </p:sp>
      <p:sp>
        <p:nvSpPr>
          <p:cNvPr id="72" name="Shape 72"/>
          <p:cNvSpPr/>
          <p:nvPr/>
        </p:nvSpPr>
        <p:spPr>
          <a:xfrm>
            <a:off x="571500" y="2622947"/>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Haag, Denk, and Borst tested this signature across luminance and contrast. Wavelength dependence persisted across the tested signal-to-noise range. The examples below are calculations, separate from those experimental measurements.</a:t>
            </a:r>
            <a:endParaRPr lang="en-US"/>
          </a:p>
        </p:txBody>
      </p:sp>
      <p:pic>
        <p:nvPicPr>
          <p:cNvPr id="114" name="Presenton Native Image 15" descr=""/>
          <p:cNvPicPr/>
          <p:nvPr/>
        </p:nvPicPr>
        <p:blipFill>
          <a:blip r:embed="rId3" cstate="none"/>
          <a:stretch>
            <a:fillRect/>
          </a:stretch>
        </p:blipFill>
        <p:spPr>
          <a:xfrm>
            <a:off x="571500" y="3544788"/>
            <a:ext cx="11049000" cy="1728192"/>
          </a:xfrm>
          <a:prstGeom prst="rect">
            <a:avLst/>
          </a:prstGeom>
        </p:spPr>
      </p:pic>
      <p:pic>
        <p:nvPicPr>
          <p:cNvPr id="115" name="Presenton Native Image 16" descr=""/>
          <p:cNvPicPr/>
          <p:nvPr/>
        </p:nvPicPr>
        <p:blipFill>
          <a:blip r:embed="rId2" cstate="none"/>
          <a:stretch>
            <a:fillRect/>
          </a:stretch>
        </p:blipFill>
        <p:spPr>
          <a:xfrm>
            <a:off x="571500" y="6379369"/>
            <a:ext cx="11049000" cy="269081"/>
          </a:xfrm>
          <a:prstGeom prst="rect">
            <a:avLst/>
          </a:prstGeom>
        </p:spPr>
      </p:pic>
      <p:sp>
        <p:nvSpPr>
          <p:cNvPr id="73" name="Shape 73"/>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Haag et al. (2004); Single </a:t>
            </a:r>
            <a:r>
              <a:rPr sz="1125" b="0" i="0">
                <a:solidFill>
                  <a:srgbClr val="665B60"/>
                </a:solidFill>
                <a:latin typeface="Arial"/>
                <a:ea typeface="Arial"/>
              </a:rPr>
              <a:t>&amp;</a:t>
            </a:r>
            <a:r>
              <a:rPr sz="1125" b="0" i="0">
                <a:solidFill>
                  <a:srgbClr val="665B60"/>
                </a:solidFill>
                <a:latin typeface="Arial"/>
                <a:ea typeface="Arial"/>
              </a:rPr>
              <a:t xml:space="preserve"> Borst (1998)</a:t>
            </a:r>
            <a:endParaRPr lang="en-US"/>
          </a:p>
        </p:txBody>
      </p:sp>
      <p:sp>
        <p:nvSpPr>
          <p:cNvPr id="74" name="Shape 74"/>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75" name="Shape 75"/>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Contrast reversal and reverse-phi motion</a:t>
            </a:r>
            <a:endParaRPr lang="en-US"/>
          </a:p>
        </p:txBody>
      </p:sp>
      <p:sp>
        <p:nvSpPr>
          <p:cNvPr id="76" name="Shape 76"/>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 xml:space="preserve">In ordinary apparent motion, a displaced feature retains its contrast sign. In </a:t>
            </a:r>
            <a:r>
              <a:rPr sz="1725" b="1" i="0">
                <a:solidFill>
                  <a:srgbClr val="25262B"/>
                </a:solidFill>
                <a:latin typeface="Arial"/>
                <a:ea typeface="Arial"/>
              </a:rPr>
              <a:t>reverse-phi motion</a:t>
            </a:r>
            <a:r>
              <a:rPr sz="1725" b="0" i="0">
                <a:solidFill>
                  <a:srgbClr val="25262B"/>
                </a:solidFill>
                <a:latin typeface="Arial"/>
                <a:ea typeface="Arial"/>
              </a:rPr>
              <a:t>, displacement accompanies contrast reversal, such as bright becoming dark.</a:t>
            </a:r>
            <a:endParaRPr lang="en-US"/>
          </a:p>
        </p:txBody>
      </p:sp>
      <p:sp>
        <p:nvSpPr>
          <p:cNvPr id="77" name="Shape 77"/>
          <p:cNvSpPr/>
          <p:nvPr/>
        </p:nvSpPr>
        <p:spPr>
          <a:xfrm>
            <a:off x="571500" y="2011561"/>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The simplest correlator predicts a response reversal because the product of opposite-sign signals is negative. Flies can consequently turn opposite to the physical displacement of the pattern.</a:t>
            </a:r>
            <a:endParaRPr lang="en-US"/>
          </a:p>
        </p:txBody>
      </p:sp>
      <p:sp>
        <p:nvSpPr>
          <p:cNvPr id="78" name="Shape 78"/>
          <p:cNvSpPr/>
          <p:nvPr/>
        </p:nvSpPr>
        <p:spPr>
          <a:xfrm>
            <a:off x="571500" y="2622947"/>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ON/OFF pathways complicate this calculation. Rectification suppresses one polarity, while tonic signals and additional interactions preserve sensitivity to some contrast-reversing sequences. Stimulus timing and luminance history matter when comparing predictions.</a:t>
            </a:r>
            <a:endParaRPr lang="en-US"/>
          </a:p>
        </p:txBody>
      </p:sp>
      <p:pic>
        <p:nvPicPr>
          <p:cNvPr id="116" name="Presenton Native Image 17" descr=""/>
          <p:cNvPicPr/>
          <p:nvPr/>
        </p:nvPicPr>
        <p:blipFill>
          <a:blip r:embed="rId3" cstate="none"/>
          <a:stretch>
            <a:fillRect/>
          </a:stretch>
        </p:blipFill>
        <p:spPr>
          <a:xfrm>
            <a:off x="571500" y="3544788"/>
            <a:ext cx="11049000" cy="1728192"/>
          </a:xfrm>
          <a:prstGeom prst="rect">
            <a:avLst/>
          </a:prstGeom>
        </p:spPr>
      </p:pic>
      <p:pic>
        <p:nvPicPr>
          <p:cNvPr id="117" name="Presenton Native Image 18" descr=""/>
          <p:cNvPicPr/>
          <p:nvPr/>
        </p:nvPicPr>
        <p:blipFill>
          <a:blip r:embed="rId2" cstate="none"/>
          <a:stretch>
            <a:fillRect/>
          </a:stretch>
        </p:blipFill>
        <p:spPr>
          <a:xfrm>
            <a:off x="571500" y="6379369"/>
            <a:ext cx="11049000" cy="269081"/>
          </a:xfrm>
          <a:prstGeom prst="rect">
            <a:avLst/>
          </a:prstGeom>
        </p:spPr>
      </p:pic>
      <p:sp>
        <p:nvSpPr>
          <p:cNvPr id="79" name="Shape 7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Clark et al. (2011); Eichner et al. (2011); Leonhardt et al. (2017)</a:t>
            </a:r>
            <a:endParaRPr lang="en-US"/>
          </a:p>
        </p:txBody>
      </p:sp>
      <p:sp>
        <p:nvSpPr>
          <p:cNvPr id="80" name="Shape 8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81" name="Shape 81"/>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Measured sensitivity to temporal correlations</a:t>
            </a:r>
            <a:endParaRPr lang="en-US"/>
          </a:p>
        </p:txBody>
      </p:sp>
      <p:pic>
        <p:nvPicPr>
          <p:cNvPr id="118" name="Presenton Native Image 19" descr=""/>
          <p:cNvPicPr/>
          <p:nvPr/>
        </p:nvPicPr>
        <p:blipFill>
          <a:blip r:embed="rId3" cstate="none"/>
          <a:stretch>
            <a:fillRect/>
          </a:stretch>
        </p:blipFill>
        <p:spPr>
          <a:xfrm>
            <a:off x="2604765" y="1019175"/>
            <a:ext cx="6982470" cy="2190750"/>
          </a:xfrm>
          <a:prstGeom prst="rect">
            <a:avLst/>
          </a:prstGeom>
        </p:spPr>
      </p:pic>
      <p:sp>
        <p:nvSpPr>
          <p:cNvPr id="82" name="Shape 82"/>
          <p:cNvSpPr/>
          <p:nvPr/>
        </p:nvSpPr>
        <p:spPr>
          <a:xfrm>
            <a:off x="571500" y="3286125"/>
            <a:ext cx="11068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Salazar-Gatzimas et al. (2016), Fig. 1E–F. E: n = 15 flies. F: experimental n = 15, driver control n = 15, effector control n = 20.</a:t>
            </a:r>
            <a:endParaRPr lang="en-US"/>
          </a:p>
        </p:txBody>
      </p:sp>
      <p:sp>
        <p:nvSpPr>
          <p:cNvPr id="83" name="Shape 83"/>
          <p:cNvSpPr/>
          <p:nvPr/>
        </p:nvSpPr>
        <p:spPr>
          <a:xfrm>
            <a:off x="571500" y="3733800"/>
            <a:ext cx="525780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Salazar-Gatzimas and colleagues presented panoramic noise with controlled spatial and temporal correlations to flies walking on a ball. The stimulus isolated a correlation interval without translating a recognizable object.</a:t>
            </a:r>
            <a:endParaRPr lang="en-US"/>
          </a:p>
        </p:txBody>
      </p:sp>
      <p:sp>
        <p:nvSpPr>
          <p:cNvPr id="84" name="Shape 84"/>
          <p:cNvSpPr/>
          <p:nvPr/>
        </p:nvSpPr>
        <p:spPr>
          <a:xfrm>
            <a:off x="571500" y="5049143"/>
            <a:ext cx="525780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Panel E plots measured turning velocity against interval. Fifteen flies responded most strongly at </a:t>
            </a:r>
            <a:r>
              <a:rPr sz="1725" b="1" i="0">
                <a:solidFill>
                  <a:srgbClr val="25262B"/>
                </a:solidFill>
                <a:latin typeface="Arial"/>
                <a:ea typeface="Arial"/>
              </a:rPr>
              <a:t>11–22 ms</a:t>
            </a:r>
            <a:r>
              <a:rPr sz="1725" b="0" i="0">
                <a:solidFill>
                  <a:srgbClr val="25262B"/>
                </a:solidFill>
                <a:latin typeface="Arial"/>
                <a:ea typeface="Arial"/>
              </a:rPr>
              <a:t>. Positive and negative correlations drove turns with opposite signs. Shading represents SEM.</a:t>
            </a:r>
            <a:endParaRPr lang="en-US"/>
          </a:p>
        </p:txBody>
      </p:sp>
      <p:sp>
        <p:nvSpPr>
          <p:cNvPr id="85" name="Shape 85"/>
          <p:cNvSpPr/>
          <p:nvPr/>
        </p:nvSpPr>
        <p:spPr>
          <a:xfrm>
            <a:off x="6353175" y="3733800"/>
            <a:ext cx="5286375"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Panel F tests necessity. Blocking T4/T5 output with temperature-sensitive shibire abolished correlation-driven turning, while both genetic controls retained it.</a:t>
            </a:r>
            <a:endParaRPr lang="en-US"/>
          </a:p>
        </p:txBody>
      </p:sp>
      <p:sp>
        <p:nvSpPr>
          <p:cNvPr id="86" name="Shape 86"/>
          <p:cNvSpPr/>
          <p:nvPr/>
        </p:nvSpPr>
        <p:spPr>
          <a:xfrm>
            <a:off x="6353175" y="4799409"/>
            <a:ext cx="5286375"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intervals characterize this stimulus and preparation. They constrain the computation but cannot be equated with the decay constant of every contributing neuron.</a:t>
            </a:r>
            <a:endParaRPr lang="en-US"/>
          </a:p>
        </p:txBody>
      </p:sp>
      <p:pic>
        <p:nvPicPr>
          <p:cNvPr id="119" name="Presenton Native Image 20" descr=""/>
          <p:cNvPicPr/>
          <p:nvPr/>
        </p:nvPicPr>
        <p:blipFill>
          <a:blip r:embed="rId2" cstate="none"/>
          <a:stretch>
            <a:fillRect/>
          </a:stretch>
        </p:blipFill>
        <p:spPr>
          <a:xfrm>
            <a:off x="571500" y="6379369"/>
            <a:ext cx="11049000" cy="269081"/>
          </a:xfrm>
          <a:prstGeom prst="rect">
            <a:avLst/>
          </a:prstGeom>
        </p:spPr>
      </p:pic>
      <p:sp>
        <p:nvSpPr>
          <p:cNvPr id="87" name="Shape 87"/>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Salazar-Gatzimas et al. (2016)</a:t>
            </a:r>
            <a:endParaRPr lang="en-US"/>
          </a:p>
        </p:txBody>
      </p:sp>
      <p:sp>
        <p:nvSpPr>
          <p:cNvPr id="88" name="Shape 88"/>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89" name="Shape 89"/>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T4/T5 output is necessary for motion responses</a:t>
            </a:r>
            <a:endParaRPr lang="en-US"/>
          </a:p>
        </p:txBody>
      </p:sp>
      <p:sp>
        <p:nvSpPr>
          <p:cNvPr id="90" name="Shape 90"/>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Schnell and colleagues recorded from wide-field lobula plate neurons while blocking T4/T5 output. Temperature-sensitive </a:t>
            </a:r>
            <a:r>
              <a:rPr sz="1725" b="1" i="0">
                <a:solidFill>
                  <a:srgbClr val="25262B"/>
                </a:solidFill>
                <a:latin typeface="Arial"/>
                <a:ea typeface="Arial"/>
              </a:rPr>
              <a:t>shibire</a:t>
            </a:r>
            <a:r>
              <a:rPr sz="1725" b="0" i="0">
                <a:solidFill>
                  <a:srgbClr val="25262B"/>
                </a:solidFill>
                <a:latin typeface="Arial"/>
                <a:ea typeface="Arial"/>
              </a:rPr>
              <a:t xml:space="preserve"> disrupts synaptic vesicle recycling at restrictive temperature.</a:t>
            </a:r>
            <a:endParaRPr lang="en-US"/>
          </a:p>
        </p:txBody>
      </p:sp>
      <p:sp>
        <p:nvSpPr>
          <p:cNvPr id="91" name="Shape 91"/>
          <p:cNvSpPr/>
          <p:nvPr/>
        </p:nvSpPr>
        <p:spPr>
          <a:xfrm>
            <a:off x="571500" y="2465784"/>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Before blockade, preferred-direction gratings depolarized the recorded cells and null-direction gratings hyperpolarized them. After blockade, both directional responses were nearly abolished.</a:t>
            </a:r>
            <a:endParaRPr lang="en-US"/>
          </a:p>
        </p:txBody>
      </p:sp>
      <p:sp>
        <p:nvSpPr>
          <p:cNvPr id="92" name="Shape 92"/>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lower panels show substantial residual responses to uniform light transitions. Preserved flicker responses demonstrate that recorded neurons remained responsive to visual input.</a:t>
            </a:r>
            <a:endParaRPr lang="en-US"/>
          </a:p>
        </p:txBody>
      </p:sp>
      <p:sp>
        <p:nvSpPr>
          <p:cNvPr id="93" name="Shape 93"/>
          <p:cNvSpPr/>
          <p:nvPr/>
        </p:nvSpPr>
        <p:spPr>
          <a:xfrm>
            <a:off x="571500" y="4616053"/>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Temperature-treated genetic controls retained motion responses. An independent manipulation using the inward-rectifier potassium channel Kir2.1 supported the conclusion: T4/T5 supply principal motion-sensitive input, while additional pathways convey luminance changes.</a:t>
            </a:r>
            <a:endParaRPr lang="en-US"/>
          </a:p>
        </p:txBody>
      </p:sp>
      <p:pic>
        <p:nvPicPr>
          <p:cNvPr id="120" name="Presenton Native Image 21" descr=""/>
          <p:cNvPicPr/>
          <p:nvPr/>
        </p:nvPicPr>
        <p:blipFill>
          <a:blip r:embed="rId3" cstate="none"/>
          <a:stretch>
            <a:fillRect/>
          </a:stretch>
        </p:blipFill>
        <p:spPr>
          <a:xfrm>
            <a:off x="7086600" y="1535024"/>
            <a:ext cx="4533900" cy="3841531"/>
          </a:xfrm>
          <a:prstGeom prst="rect">
            <a:avLst/>
          </a:prstGeom>
        </p:spPr>
      </p:pic>
      <p:sp>
        <p:nvSpPr>
          <p:cNvPr id="94" name="Shape 94"/>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Schnell et al. (2012), Fig. 2. Original voltage traces and group means. TS: temperature shift. PD/ND: preferred/null direction.</a:t>
            </a:r>
            <a:endParaRPr lang="en-US"/>
          </a:p>
        </p:txBody>
      </p:sp>
      <p:pic>
        <p:nvPicPr>
          <p:cNvPr id="121" name="Presenton Native Image 22" descr=""/>
          <p:cNvPicPr/>
          <p:nvPr/>
        </p:nvPicPr>
        <p:blipFill>
          <a:blip r:embed="rId2" cstate="none"/>
          <a:stretch>
            <a:fillRect/>
          </a:stretch>
        </p:blipFill>
        <p:spPr>
          <a:xfrm>
            <a:off x="571500" y="6379369"/>
            <a:ext cx="11049000" cy="269081"/>
          </a:xfrm>
          <a:prstGeom prst="rect">
            <a:avLst/>
          </a:prstGeom>
        </p:spPr>
      </p:pic>
      <p:sp>
        <p:nvSpPr>
          <p:cNvPr id="95" name="Shape 95"/>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Schnell et al. (2012)</a:t>
            </a:r>
            <a:endParaRPr lang="en-US"/>
          </a:p>
        </p:txBody>
      </p:sp>
      <p:sp>
        <p:nvSpPr>
          <p:cNvPr id="96" name="Shape 96"/>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97" name="Shape 97"/>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L1 and L2 contribute differently to ON and OFF motion</a:t>
            </a:r>
            <a:endParaRPr lang="en-US"/>
          </a:p>
        </p:txBody>
      </p:sp>
      <p:sp>
        <p:nvSpPr>
          <p:cNvPr id="98" name="Shape 98"/>
          <p:cNvSpPr/>
          <p:nvPr/>
        </p:nvSpPr>
        <p:spPr>
          <a:xfrm>
            <a:off x="571500" y="1438275"/>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An </a:t>
            </a:r>
            <a:r>
              <a:rPr sz="1800" b="1" i="0">
                <a:solidFill>
                  <a:srgbClr val="25262B"/>
                </a:solidFill>
                <a:latin typeface="Arial"/>
                <a:ea typeface="Arial"/>
              </a:rPr>
              <a:t>ON edge</a:t>
            </a:r>
            <a:r>
              <a:rPr sz="1800" b="0" i="0">
                <a:solidFill>
                  <a:srgbClr val="25262B"/>
                </a:solidFill>
                <a:latin typeface="Arial"/>
                <a:ea typeface="Arial"/>
              </a:rPr>
              <a:t xml:space="preserve"> increases luminance at a location, whereas an </a:t>
            </a:r>
            <a:r>
              <a:rPr sz="1800" b="1" i="0">
                <a:solidFill>
                  <a:srgbClr val="25262B"/>
                </a:solidFill>
                <a:latin typeface="Arial"/>
                <a:ea typeface="Arial"/>
              </a:rPr>
              <a:t>OFF edge</a:t>
            </a:r>
            <a:r>
              <a:rPr sz="1800" b="0" i="0">
                <a:solidFill>
                  <a:srgbClr val="25262B"/>
                </a:solidFill>
                <a:latin typeface="Arial"/>
                <a:ea typeface="Arial"/>
              </a:rPr>
              <a:t xml:space="preserve"> decreases it. A moving grating contains both transitions and can conceal pathway differences.</a:t>
            </a:r>
            <a:endParaRPr lang="en-US"/>
          </a:p>
        </p:txBody>
      </p:sp>
      <p:sp>
        <p:nvSpPr>
          <p:cNvPr id="99" name="Shape 99"/>
          <p:cNvSpPr/>
          <p:nvPr/>
        </p:nvSpPr>
        <p:spPr>
          <a:xfrm>
            <a:off x="571500" y="2147292"/>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Joesch and colleagues combined selective lamina manipulations with downstream voltage recordings. Blocking L1 impaired ON-edge responses, whereas blocking L2 impaired OFF-edge responses.</a:t>
            </a:r>
            <a:endParaRPr lang="en-US"/>
          </a:p>
        </p:txBody>
      </p:sp>
      <p:sp>
        <p:nvSpPr>
          <p:cNvPr id="100" name="Shape 100"/>
          <p:cNvSpPr/>
          <p:nvPr/>
        </p:nvSpPr>
        <p:spPr>
          <a:xfrm>
            <a:off x="571500" y="2856309"/>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Restoring photoreceptor input to a single pathway could nevertheless support strong grating responses. Electrical coupling between L1 and L2 offered an explanation for the apparent discrepancy between blocking and restoration.</a:t>
            </a:r>
            <a:endParaRPr lang="en-US"/>
          </a:p>
        </p:txBody>
      </p:sp>
      <p:sp>
        <p:nvSpPr>
          <p:cNvPr id="101" name="Shape 101"/>
          <p:cNvSpPr/>
          <p:nvPr/>
        </p:nvSpPr>
        <p:spPr>
          <a:xfrm>
            <a:off x="571500" y="3857923"/>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These results concern pathway contributions under particular stimulus conditions. Subsequent work showed OFF-motion contributions from L1 and L3, and demonstrated that both L1 and L2 encode brightness changes of either sign.</a:t>
            </a:r>
            <a:endParaRPr lang="en-US"/>
          </a:p>
        </p:txBody>
      </p:sp>
      <p:pic>
        <p:nvPicPr>
          <p:cNvPr id="122" name="Presenton Native Image 23" descr=""/>
          <p:cNvPicPr/>
          <p:nvPr/>
        </p:nvPicPr>
        <p:blipFill>
          <a:blip r:embed="rId2" cstate="none"/>
          <a:stretch>
            <a:fillRect/>
          </a:stretch>
        </p:blipFill>
        <p:spPr>
          <a:xfrm>
            <a:off x="571500" y="6379369"/>
            <a:ext cx="11049000" cy="269081"/>
          </a:xfrm>
          <a:prstGeom prst="rect">
            <a:avLst/>
          </a:prstGeom>
        </p:spPr>
      </p:pic>
      <p:sp>
        <p:nvSpPr>
          <p:cNvPr id="102" name="Shape 10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Joesch et al. (2010); Clark et al. (2011); Behnia et al. (2014)</a:t>
            </a:r>
            <a:endParaRPr lang="en-US"/>
          </a:p>
        </p:txBody>
      </p:sp>
      <p:sp>
        <p:nvSpPr>
          <p:cNvPr id="103" name="Shape 10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04" name="Shape 10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Rectification in medulla relay neurons</a:t>
            </a:r>
            <a:endParaRPr lang="en-US"/>
          </a:p>
        </p:txBody>
      </p:sp>
      <p:sp>
        <p:nvSpPr>
          <p:cNvPr id="105" name="Shape 105"/>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1" i="0">
                <a:solidFill>
                  <a:srgbClr val="25262B"/>
                </a:solidFill>
                <a:latin typeface="Arial"/>
                <a:ea typeface="Arial"/>
              </a:rPr>
              <a:t>Rectification</a:t>
            </a:r>
            <a:r>
              <a:rPr sz="1725" b="0" i="0">
                <a:solidFill>
                  <a:srgbClr val="25262B"/>
                </a:solidFill>
                <a:latin typeface="Arial"/>
                <a:ea typeface="Arial"/>
              </a:rPr>
              <a:t xml:space="preserve"> means transmitting one sign of an input more strongly than the other. This helps convert bipolar lamina signals into pathways specialized for brightness increments or decrements.</a:t>
            </a:r>
            <a:endParaRPr lang="en-US"/>
          </a:p>
        </p:txBody>
      </p:sp>
      <p:sp>
        <p:nvSpPr>
          <p:cNvPr id="106" name="Shape 106"/>
          <p:cNvSpPr/>
          <p:nvPr/>
        </p:nvSpPr>
        <p:spPr>
          <a:xfrm>
            <a:off x="571500" y="2465784"/>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Behnia and colleagues made whole-cell recordings from identified medulla neurons in awake, immobilized flies. Mi1 and Tm3 depolarized strongly at light onset and responded more weakly with opposite polarity at offset.</a:t>
            </a:r>
            <a:endParaRPr lang="en-US"/>
          </a:p>
        </p:txBody>
      </p:sp>
      <p:sp>
        <p:nvSpPr>
          <p:cNvPr id="107" name="Shape 107"/>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Brief flashes, repeated flashes, and a one-second step reveal transient and sustained response components. The displayed measurements included seven Mi1 and ten Tm3 cells.</a:t>
            </a:r>
            <a:endParaRPr lang="en-US"/>
          </a:p>
        </p:txBody>
      </p:sp>
      <p:sp>
        <p:nvSpPr>
          <p:cNvPr id="108" name="Shape 108"/>
          <p:cNvSpPr/>
          <p:nvPr/>
        </p:nvSpPr>
        <p:spPr>
          <a:xfrm>
            <a:off x="571500" y="4616053"/>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Tm1 and Tm2 showed complementary emphasis on brightness decrements. These relays supply contrast-dependent input to motion detectors, but their responses lacked the strong directional selectivity characteristic of T4/T5.</a:t>
            </a:r>
            <a:endParaRPr lang="en-US"/>
          </a:p>
        </p:txBody>
      </p:sp>
      <p:pic>
        <p:nvPicPr>
          <p:cNvPr id="123" name="Presenton Native Image 24" descr=""/>
          <p:cNvPicPr/>
          <p:nvPr/>
        </p:nvPicPr>
        <p:blipFill>
          <a:blip r:embed="rId3" cstate="none"/>
          <a:stretch>
            <a:fillRect/>
          </a:stretch>
        </p:blipFill>
        <p:spPr>
          <a:xfrm>
            <a:off x="7086600" y="1957297"/>
            <a:ext cx="4533900" cy="2996985"/>
          </a:xfrm>
          <a:prstGeom prst="rect">
            <a:avLst/>
          </a:prstGeom>
        </p:spPr>
      </p:pic>
      <p:sp>
        <p:nvSpPr>
          <p:cNvPr id="109" name="Shape 109"/>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Behnia et al. (2014), Fig. 2A. Mean voltage ± SEM. The lower trace in each group overlays the two cell types.</a:t>
            </a:r>
            <a:endParaRPr lang="en-US"/>
          </a:p>
        </p:txBody>
      </p:sp>
      <p:pic>
        <p:nvPicPr>
          <p:cNvPr id="124" name="Presenton Native Image 25" descr=""/>
          <p:cNvPicPr/>
          <p:nvPr/>
        </p:nvPicPr>
        <p:blipFill>
          <a:blip r:embed="rId2" cstate="none"/>
          <a:stretch>
            <a:fillRect/>
          </a:stretch>
        </p:blipFill>
        <p:spPr>
          <a:xfrm>
            <a:off x="571500" y="6379369"/>
            <a:ext cx="11049000" cy="269081"/>
          </a:xfrm>
          <a:prstGeom prst="rect">
            <a:avLst/>
          </a:prstGeom>
        </p:spPr>
      </p:pic>
      <p:sp>
        <p:nvSpPr>
          <p:cNvPr id="110" name="Shape 11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Behnia et al. (2014); Clark et al. (2011)</a:t>
            </a:r>
            <a:endParaRPr lang="en-US"/>
          </a:p>
        </p:txBody>
      </p:sp>
      <p:sp>
        <p:nvSpPr>
          <p:cNvPr id="111" name="Shape 11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12" name="Shape 11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Measured temporal filters in the input pathways</a:t>
            </a:r>
            <a:endParaRPr lang="en-US"/>
          </a:p>
        </p:txBody>
      </p:sp>
      <p:sp>
        <p:nvSpPr>
          <p:cNvPr id="113" name="Shape 113"/>
          <p:cNvSpPr/>
          <p:nvPr/>
        </p:nvSpPr>
        <p:spPr>
          <a:xfrm>
            <a:off x="571500" y="1390650"/>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A </a:t>
            </a:r>
            <a:r>
              <a:rPr sz="1725" b="1" i="0">
                <a:solidFill>
                  <a:srgbClr val="25262B"/>
                </a:solidFill>
                <a:latin typeface="Arial"/>
                <a:ea typeface="Arial"/>
              </a:rPr>
              <a:t>linear temporal filter</a:t>
            </a:r>
            <a:r>
              <a:rPr sz="1725" b="0" i="0">
                <a:solidFill>
                  <a:srgbClr val="25262B"/>
                </a:solidFill>
                <a:latin typeface="Arial"/>
                <a:ea typeface="Arial"/>
              </a:rPr>
              <a:t xml:space="preserve"> estimates how preceding stimulus fluctuations contribute to voltage. Behnia and colleagues derived filters from random luminance stimulation.</a:t>
            </a:r>
            <a:endParaRPr lang="en-US"/>
          </a:p>
        </p:txBody>
      </p:sp>
      <p:sp>
        <p:nvSpPr>
          <p:cNvPr id="114" name="Shape 114"/>
          <p:cNvSpPr/>
          <p:nvPr/>
        </p:nvSpPr>
        <p:spPr>
          <a:xfrm>
            <a:off x="571500" y="2216051"/>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Mi1 filters peaked at </a:t>
            </a:r>
            <a:r>
              <a:rPr sz="1725" b="1" i="0">
                <a:solidFill>
                  <a:srgbClr val="25262B"/>
                </a:solidFill>
                <a:latin typeface="Arial"/>
                <a:ea typeface="Arial"/>
              </a:rPr>
              <a:t>71 ± 3.8 ms</a:t>
            </a:r>
            <a:r>
              <a:rPr sz="1725" b="0" i="0">
                <a:solidFill>
                  <a:srgbClr val="25262B"/>
                </a:solidFill>
                <a:latin typeface="Arial"/>
                <a:ea typeface="Arial"/>
              </a:rPr>
              <a:t xml:space="preserve">, compared with </a:t>
            </a:r>
            <a:r>
              <a:rPr sz="1725" b="1" i="0">
                <a:solidFill>
                  <a:srgbClr val="25262B"/>
                </a:solidFill>
                <a:latin typeface="Arial"/>
                <a:ea typeface="Arial"/>
              </a:rPr>
              <a:t>53 ± 5.2 ms</a:t>
            </a:r>
            <a:r>
              <a:rPr sz="1725" b="0" i="0">
                <a:solidFill>
                  <a:srgbClr val="25262B"/>
                </a:solidFill>
                <a:latin typeface="Arial"/>
                <a:ea typeface="Arial"/>
              </a:rPr>
              <a:t xml:space="preserve"> for Tm3. The 18 ms difference had p </a:t>
            </a:r>
            <a:r>
              <a:rPr sz="1725" b="0" i="0">
                <a:solidFill>
                  <a:srgbClr val="25262B"/>
                </a:solidFill>
                <a:latin typeface="Arial"/>
                <a:ea typeface="Arial"/>
              </a:rPr>
              <a:t>&lt;</a:t>
            </a:r>
            <a:r>
              <a:rPr sz="1725" b="0" i="0">
                <a:solidFill>
                  <a:srgbClr val="25262B"/>
                </a:solidFill>
                <a:latin typeface="Arial"/>
                <a:ea typeface="Arial"/>
              </a:rPr>
              <a:t xml:space="preserve"> 0.01. Tm1 peaked at </a:t>
            </a:r>
            <a:r>
              <a:rPr sz="1725" b="1" i="0">
                <a:solidFill>
                  <a:srgbClr val="25262B"/>
                </a:solidFill>
                <a:latin typeface="Arial"/>
                <a:ea typeface="Arial"/>
              </a:rPr>
              <a:t>56 ± 3.8 ms</a:t>
            </a:r>
            <a:r>
              <a:rPr sz="1725" b="0" i="0">
                <a:solidFill>
                  <a:srgbClr val="25262B"/>
                </a:solidFill>
                <a:latin typeface="Arial"/>
                <a:ea typeface="Arial"/>
              </a:rPr>
              <a:t xml:space="preserve">, compared with </a:t>
            </a:r>
            <a:r>
              <a:rPr sz="1725" b="1" i="0">
                <a:solidFill>
                  <a:srgbClr val="25262B"/>
                </a:solidFill>
                <a:latin typeface="Arial"/>
                <a:ea typeface="Arial"/>
              </a:rPr>
              <a:t>43 ± 2.7 ms</a:t>
            </a:r>
            <a:r>
              <a:rPr sz="1725" b="0" i="0">
                <a:solidFill>
                  <a:srgbClr val="25262B"/>
                </a:solidFill>
                <a:latin typeface="Arial"/>
                <a:ea typeface="Arial"/>
              </a:rPr>
              <a:t xml:space="preserve"> for Tm2, a 13 ms difference with p </a:t>
            </a:r>
            <a:r>
              <a:rPr sz="1725" b="0" i="0">
                <a:solidFill>
                  <a:srgbClr val="25262B"/>
                </a:solidFill>
                <a:latin typeface="Arial"/>
                <a:ea typeface="Arial"/>
              </a:rPr>
              <a:t>&lt;</a:t>
            </a:r>
            <a:r>
              <a:rPr sz="1725" b="0" i="0">
                <a:solidFill>
                  <a:srgbClr val="25262B"/>
                </a:solidFill>
                <a:latin typeface="Arial"/>
                <a:ea typeface="Arial"/>
              </a:rPr>
              <a:t xml:space="preserve"> 0.002.</a:t>
            </a:r>
            <a:endParaRPr lang="en-US"/>
          </a:p>
        </p:txBody>
      </p:sp>
      <p:sp>
        <p:nvSpPr>
          <p:cNvPr id="115" name="Shape 115"/>
          <p:cNvSpPr/>
          <p:nvPr/>
        </p:nvSpPr>
        <p:spPr>
          <a:xfrm>
            <a:off x="571500" y="3291185"/>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These are mean peak times ± SEM, incorporating processing throughout the upstream pathway rather than measuring axonal conduction alone.</a:t>
            </a:r>
            <a:endParaRPr lang="en-US"/>
          </a:p>
        </p:txBody>
      </p:sp>
      <p:sp>
        <p:nvSpPr>
          <p:cNvPr id="116" name="Shape 116"/>
          <p:cNvSpPr/>
          <p:nvPr/>
        </p:nvSpPr>
        <p:spPr>
          <a:xfrm>
            <a:off x="571500" y="4116586"/>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delays constrain candidate computations. Circuit assignments additionally require positions, signs, and strengths of synaptic inputs, which later connectomic studies expanded.</a:t>
            </a:r>
            <a:endParaRPr lang="en-US"/>
          </a:p>
        </p:txBody>
      </p:sp>
      <p:pic>
        <p:nvPicPr>
          <p:cNvPr id="125" name="Presenton Native Image 26" descr=""/>
          <p:cNvPicPr/>
          <p:nvPr/>
        </p:nvPicPr>
        <p:blipFill>
          <a:blip r:embed="rId3" cstate="none"/>
          <a:stretch>
            <a:fillRect/>
          </a:stretch>
        </p:blipFill>
        <p:spPr>
          <a:xfrm>
            <a:off x="7674677" y="1465064"/>
            <a:ext cx="3357746" cy="3981450"/>
          </a:xfrm>
          <a:prstGeom prst="rect">
            <a:avLst/>
          </a:prstGeom>
        </p:spPr>
      </p:pic>
      <p:sp>
        <p:nvSpPr>
          <p:cNvPr id="117" name="Shape 117"/>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Behnia et al. (2014), Fig. 3B,E, stacked. ON: Mi1 n = 7, Tm3 n = 11. OFF: Tm1 n = 15, Tm2 n = 14.</a:t>
            </a:r>
            <a:endParaRPr lang="en-US"/>
          </a:p>
        </p:txBody>
      </p:sp>
      <p:pic>
        <p:nvPicPr>
          <p:cNvPr id="126" name="Presenton Native Image 27" descr=""/>
          <p:cNvPicPr/>
          <p:nvPr/>
        </p:nvPicPr>
        <p:blipFill>
          <a:blip r:embed="rId2" cstate="none"/>
          <a:stretch>
            <a:fillRect/>
          </a:stretch>
        </p:blipFill>
        <p:spPr>
          <a:xfrm>
            <a:off x="571500" y="6379369"/>
            <a:ext cx="11049000" cy="269081"/>
          </a:xfrm>
          <a:prstGeom prst="rect">
            <a:avLst/>
          </a:prstGeom>
        </p:spPr>
      </p:pic>
      <p:sp>
        <p:nvSpPr>
          <p:cNvPr id="118" name="Shape 11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Behnia et al. (2014); Takemura et al. (2017); Arenz et al. (2017)</a:t>
            </a:r>
            <a:endParaRPr lang="en-US"/>
          </a:p>
        </p:txBody>
      </p:sp>
      <p:sp>
        <p:nvSpPr>
          <p:cNvPr id="119" name="Shape 11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20" name="Shape 12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T4 and T5 encode direction and edge polarity</a:t>
            </a:r>
            <a:endParaRPr lang="en-US"/>
          </a:p>
        </p:txBody>
      </p:sp>
      <p:sp>
        <p:nvSpPr>
          <p:cNvPr id="121" name="Shape 121"/>
          <p:cNvSpPr/>
          <p:nvPr/>
        </p:nvSpPr>
        <p:spPr>
          <a:xfrm>
            <a:off x="571500" y="1400175"/>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Maisak and colleagues imaged T4/T5 calcium using GCaMP5. T4 preferred moving brightness increments, whereas T5 preferred decrements. Cells with matching directional preferences terminated in the same lobula plate layer.</a:t>
            </a:r>
            <a:endParaRPr lang="en-US"/>
          </a:p>
        </p:txBody>
      </p:sp>
      <p:sp>
        <p:nvSpPr>
          <p:cNvPr id="122" name="Shape 122"/>
          <p:cNvSpPr/>
          <p:nvPr/>
        </p:nvSpPr>
        <p:spPr>
          <a:xfrm>
            <a:off x="571500" y="2274391"/>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Selective output blockade linked tuning to function. T4 blockade compromised ON-edge responses and turning, while T5 blockade compromised OFF-edge responses and turning. Gratings contain both transitions, so selective deficits depend on stimulus composition.</a:t>
            </a:r>
            <a:endParaRPr lang="en-US"/>
          </a:p>
        </p:txBody>
      </p:sp>
      <p:sp>
        <p:nvSpPr>
          <p:cNvPr id="123" name="Shape 123"/>
          <p:cNvSpPr/>
          <p:nvPr/>
        </p:nvSpPr>
        <p:spPr>
          <a:xfrm>
            <a:off x="571500" y="3148608"/>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The four-direction map below describes traditional local preferences. Larger visual-field measurements reveal systematic variation within each projection layer.</a:t>
            </a:r>
            <a:endParaRPr lang="en-US"/>
          </a:p>
        </p:txBody>
      </p:sp>
      <p:pic>
        <p:nvPicPr>
          <p:cNvPr id="127" name="Presenton Native Image 28" descr=""/>
          <p:cNvPicPr/>
          <p:nvPr/>
        </p:nvPicPr>
        <p:blipFill>
          <a:blip r:embed="rId3" cstate="none"/>
          <a:stretch>
            <a:fillRect/>
          </a:stretch>
        </p:blipFill>
        <p:spPr>
          <a:xfrm>
            <a:off x="571500" y="3807619"/>
            <a:ext cx="11049000" cy="1913930"/>
          </a:xfrm>
          <a:prstGeom prst="rect">
            <a:avLst/>
          </a:prstGeom>
        </p:spPr>
      </p:pic>
      <p:pic>
        <p:nvPicPr>
          <p:cNvPr id="128" name="Presenton Native Image 29" descr=""/>
          <p:cNvPicPr/>
          <p:nvPr/>
        </p:nvPicPr>
        <p:blipFill>
          <a:blip r:embed="rId2" cstate="none"/>
          <a:stretch>
            <a:fillRect/>
          </a:stretch>
        </p:blipFill>
        <p:spPr>
          <a:xfrm>
            <a:off x="571500" y="6379369"/>
            <a:ext cx="11049000" cy="269081"/>
          </a:xfrm>
          <a:prstGeom prst="rect">
            <a:avLst/>
          </a:prstGeom>
        </p:spPr>
      </p:pic>
      <p:sp>
        <p:nvSpPr>
          <p:cNvPr id="124" name="Shape 12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Maisak et al. (2013); Henning et al. (2022)</a:t>
            </a:r>
            <a:endParaRPr lang="en-US"/>
          </a:p>
        </p:txBody>
      </p:sp>
      <p:sp>
        <p:nvSpPr>
          <p:cNvPr id="125" name="Shape 12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26" name="Shape 12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Calcium signals and membrane voltage</a:t>
            </a:r>
            <a:endParaRPr lang="en-US"/>
          </a:p>
        </p:txBody>
      </p:sp>
      <p:sp>
        <p:nvSpPr>
          <p:cNvPr id="127" name="Shape 127"/>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Calcium imaging and electrophysiology report different transformations of activity. Calcium fluorescence depends on calcium entry, buffering, clearance, and indicator kinetics.</a:t>
            </a:r>
            <a:endParaRPr lang="en-US"/>
          </a:p>
        </p:txBody>
      </p:sp>
      <p:sp>
        <p:nvSpPr>
          <p:cNvPr id="128" name="Shape 128"/>
          <p:cNvSpPr/>
          <p:nvPr/>
        </p:nvSpPr>
        <p:spPr>
          <a:xfrm>
            <a:off x="571500" y="2011561"/>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 xml:space="preserve">For fluorescence, </a:t>
            </a:r>
            <a:r>
              <a:rPr sz="1725" b="1" i="0">
                <a:solidFill>
                  <a:srgbClr val="25262B"/>
                </a:solidFill>
                <a:latin typeface="Arial"/>
                <a:ea typeface="Arial"/>
              </a:rPr>
              <a:t>ΔF/F = (F − F₀)/F₀</a:t>
            </a:r>
            <a:r>
              <a:rPr sz="1725" b="0" i="0">
                <a:solidFill>
                  <a:srgbClr val="25262B"/>
                </a:solidFill>
                <a:latin typeface="Arial"/>
                <a:ea typeface="Arial"/>
              </a:rPr>
              <a:t>, where F₀ is a reference level. A nonlinear calcium signal can amplify a small difference between voltage responses.</a:t>
            </a:r>
            <a:endParaRPr lang="en-US"/>
          </a:p>
        </p:txBody>
      </p:sp>
      <p:sp>
        <p:nvSpPr>
          <p:cNvPr id="129" name="Shape 129"/>
          <p:cNvSpPr/>
          <p:nvPr/>
        </p:nvSpPr>
        <p:spPr>
          <a:xfrm>
            <a:off x="571500" y="2622947"/>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Whole-cell recordings resolve rapid depolarization and hyperpolarization, but somatic voltage can differ from dendritic voltage. Comparisons require matched stimulus size, timing, and recording compartment. These distinctions help reconcile different accounts of the motion computation.</a:t>
            </a:r>
            <a:endParaRPr lang="en-US"/>
          </a:p>
        </p:txBody>
      </p:sp>
      <p:pic>
        <p:nvPicPr>
          <p:cNvPr id="129" name="Presenton Native Image 30" descr=""/>
          <p:cNvPicPr/>
          <p:nvPr/>
        </p:nvPicPr>
        <p:blipFill>
          <a:blip r:embed="rId3" cstate="none"/>
          <a:stretch>
            <a:fillRect/>
          </a:stretch>
        </p:blipFill>
        <p:spPr>
          <a:xfrm>
            <a:off x="571500" y="3544788"/>
            <a:ext cx="11049000" cy="2424261"/>
          </a:xfrm>
          <a:prstGeom prst="rect">
            <a:avLst/>
          </a:prstGeom>
        </p:spPr>
      </p:pic>
      <p:pic>
        <p:nvPicPr>
          <p:cNvPr id="130" name="Presenton Native Image 31" descr=""/>
          <p:cNvPicPr/>
          <p:nvPr/>
        </p:nvPicPr>
        <p:blipFill>
          <a:blip r:embed="rId2" cstate="none"/>
          <a:stretch>
            <a:fillRect/>
          </a:stretch>
        </p:blipFill>
        <p:spPr>
          <a:xfrm>
            <a:off x="571500" y="6379369"/>
            <a:ext cx="11049000" cy="269081"/>
          </a:xfrm>
          <a:prstGeom prst="rect">
            <a:avLst/>
          </a:prstGeom>
        </p:spPr>
      </p:pic>
      <p:sp>
        <p:nvSpPr>
          <p:cNvPr id="130" name="Shape 13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Gruntman et al. (2018); Leong et al. (2016); Behnia et al. (2014)</a:t>
            </a:r>
            <a:endParaRPr lang="en-US"/>
          </a:p>
        </p:txBody>
      </p:sp>
      <p:sp>
        <p:nvSpPr>
          <p:cNvPr id="131" name="Shape 13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32" name="Shape 13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Spatially segregated inputs on a T4 dendrite</a:t>
            </a:r>
            <a:endParaRPr lang="en-US"/>
          </a:p>
        </p:txBody>
      </p:sp>
      <p:pic>
        <p:nvPicPr>
          <p:cNvPr id="131" name="Presenton Native Image 32" descr=""/>
          <p:cNvPicPr/>
          <p:nvPr/>
        </p:nvPicPr>
        <p:blipFill>
          <a:blip r:embed="rId3" cstate="none"/>
          <a:stretch>
            <a:fillRect/>
          </a:stretch>
        </p:blipFill>
        <p:spPr>
          <a:xfrm>
            <a:off x="2723810" y="1019175"/>
            <a:ext cx="6744380" cy="2190750"/>
          </a:xfrm>
          <a:prstGeom prst="rect">
            <a:avLst/>
          </a:prstGeom>
        </p:spPr>
      </p:pic>
      <p:sp>
        <p:nvSpPr>
          <p:cNvPr id="133" name="Shape 133"/>
          <p:cNvSpPr/>
          <p:nvPr/>
        </p:nvSpPr>
        <p:spPr>
          <a:xfrm>
            <a:off x="571500" y="3286125"/>
            <a:ext cx="11068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Takemura et al. (2017), Fig. 4C. Original synaptic distributions on T4a–d dendrites. Colored contacts identify input classes.</a:t>
            </a:r>
            <a:endParaRPr lang="en-US"/>
          </a:p>
        </p:txBody>
      </p:sp>
      <p:sp>
        <p:nvSpPr>
          <p:cNvPr id="134" name="Shape 134"/>
          <p:cNvSpPr/>
          <p:nvPr/>
        </p:nvSpPr>
        <p:spPr>
          <a:xfrm>
            <a:off x="571500" y="3733800"/>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A </a:t>
            </a:r>
            <a:r>
              <a:rPr sz="1725" b="1" i="0">
                <a:solidFill>
                  <a:srgbClr val="25262B"/>
                </a:solidFill>
                <a:latin typeface="Arial"/>
                <a:ea typeface="Arial"/>
              </a:rPr>
              <a:t>connectome</a:t>
            </a:r>
            <a:r>
              <a:rPr sz="1725" b="0" i="0">
                <a:solidFill>
                  <a:srgbClr val="25262B"/>
                </a:solidFill>
                <a:latin typeface="Arial"/>
                <a:ea typeface="Arial"/>
              </a:rPr>
              <a:t xml:space="preserve"> maps connections at synaptic resolution. Takemura and colleagues reconstructed seven medulla columns and identified multiple T4 input classes.</a:t>
            </a:r>
            <a:endParaRPr lang="en-US"/>
          </a:p>
        </p:txBody>
      </p:sp>
      <p:sp>
        <p:nvSpPr>
          <p:cNvPr id="135" name="Shape 135"/>
          <p:cNvSpPr/>
          <p:nvPr/>
        </p:nvSpPr>
        <p:spPr>
          <a:xfrm>
            <a:off x="571500" y="4799409"/>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Mi9 synapses cluster near dendritic tips, Mi1 and Tm3 occupy more central regions, and Mi4, C3, and CT1 contact the proximal region. Each location samples a different spatially offset source.</a:t>
            </a:r>
            <a:endParaRPr lang="en-US"/>
          </a:p>
        </p:txBody>
      </p:sp>
      <p:sp>
        <p:nvSpPr>
          <p:cNvPr id="136" name="Shape 136"/>
          <p:cNvSpPr/>
          <p:nvPr/>
        </p:nvSpPr>
        <p:spPr>
          <a:xfrm>
            <a:off x="6353175" y="3733800"/>
            <a:ext cx="5286375"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Mi9 accounted for </a:t>
            </a:r>
            <a:r>
              <a:rPr sz="1725" b="1" i="0">
                <a:solidFill>
                  <a:srgbClr val="25262B"/>
                </a:solidFill>
                <a:latin typeface="Arial"/>
                <a:ea typeface="Arial"/>
              </a:rPr>
              <a:t>13.3%</a:t>
            </a:r>
            <a:r>
              <a:rPr sz="1725" b="0" i="0">
                <a:solidFill>
                  <a:srgbClr val="25262B"/>
                </a:solidFill>
                <a:latin typeface="Arial"/>
                <a:ea typeface="Arial"/>
              </a:rPr>
              <a:t xml:space="preserve">, Mi4 for </a:t>
            </a:r>
            <a:r>
              <a:rPr sz="1725" b="1" i="0">
                <a:solidFill>
                  <a:srgbClr val="25262B"/>
                </a:solidFill>
                <a:latin typeface="Arial"/>
                <a:ea typeface="Arial"/>
              </a:rPr>
              <a:t>6.4%</a:t>
            </a:r>
            <a:r>
              <a:rPr sz="1725" b="0" i="0">
                <a:solidFill>
                  <a:srgbClr val="25262B"/>
                </a:solidFill>
                <a:latin typeface="Arial"/>
                <a:ea typeface="Arial"/>
              </a:rPr>
              <a:t xml:space="preserve">, and C3 for </a:t>
            </a:r>
            <a:r>
              <a:rPr sz="1725" b="1" i="0">
                <a:solidFill>
                  <a:srgbClr val="25262B"/>
                </a:solidFill>
                <a:latin typeface="Arial"/>
                <a:ea typeface="Arial"/>
              </a:rPr>
              <a:t>3.9%</a:t>
            </a:r>
            <a:r>
              <a:rPr sz="1725" b="0" i="0">
                <a:solidFill>
                  <a:srgbClr val="25262B"/>
                </a:solidFill>
                <a:latin typeface="Arial"/>
                <a:ea typeface="Arial"/>
              </a:rPr>
              <a:t xml:space="preserve"> of T4 input contacts in the reconstructed dataset. Contact fractions describe anatomy and cannot directly substitute for physiological synaptic strengths.</a:t>
            </a:r>
            <a:endParaRPr lang="en-US"/>
          </a:p>
        </p:txBody>
      </p:sp>
      <p:sp>
        <p:nvSpPr>
          <p:cNvPr id="137" name="Shape 137"/>
          <p:cNvSpPr/>
          <p:nvPr/>
        </p:nvSpPr>
        <p:spPr>
          <a:xfrm>
            <a:off x="6353175" y="5049143"/>
            <a:ext cx="5286375"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arrangement constrains enhancement and suppression models. Transmitter identity, receptor expression, and input timing determine how these contacts change membrane voltage during motion.</a:t>
            </a:r>
            <a:endParaRPr lang="en-US"/>
          </a:p>
        </p:txBody>
      </p:sp>
      <p:pic>
        <p:nvPicPr>
          <p:cNvPr id="132" name="Presenton Native Image 33" descr=""/>
          <p:cNvPicPr/>
          <p:nvPr/>
        </p:nvPicPr>
        <p:blipFill>
          <a:blip r:embed="rId2" cstate="none"/>
          <a:stretch>
            <a:fillRect/>
          </a:stretch>
        </p:blipFill>
        <p:spPr>
          <a:xfrm>
            <a:off x="571500" y="6379369"/>
            <a:ext cx="11049000" cy="269081"/>
          </a:xfrm>
          <a:prstGeom prst="rect">
            <a:avLst/>
          </a:prstGeom>
        </p:spPr>
      </p:pic>
      <p:sp>
        <p:nvSpPr>
          <p:cNvPr id="138" name="Shape 13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Takemura et al. (2017); Shinomiya et al. (2019)</a:t>
            </a:r>
            <a:endParaRPr lang="en-US"/>
          </a:p>
        </p:txBody>
      </p:sp>
      <p:sp>
        <p:nvSpPr>
          <p:cNvPr id="139" name="Shape 13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40" name="Shape 14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Transmitters and receptors set the synaptic sign</a:t>
            </a:r>
            <a:endParaRPr lang="en-US"/>
          </a:p>
        </p:txBody>
      </p:sp>
      <p:sp>
        <p:nvSpPr>
          <p:cNvPr id="141" name="Shape 141"/>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A transmitter’s effect depends on its receptor and ionic driving force. Glutamate can inhibit a fly visual neuron by opening chloride channels, while acetylcholine commonly supplies excitation.</a:t>
            </a:r>
            <a:endParaRPr lang="en-US"/>
          </a:p>
        </p:txBody>
      </p:sp>
      <p:sp>
        <p:nvSpPr>
          <p:cNvPr id="142" name="Shape 142"/>
          <p:cNvSpPr/>
          <p:nvPr/>
        </p:nvSpPr>
        <p:spPr>
          <a:xfrm>
            <a:off x="571500" y="2011561"/>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Central cholinergic inputs and spatially offset inhibitory inputs interact on T4 dendrites. Molecular expression supports candidate receptor assignments, while direct transmitter application and receptor perturbation test their physiological effects.</a:t>
            </a:r>
            <a:endParaRPr lang="en-US"/>
          </a:p>
        </p:txBody>
      </p:sp>
      <p:sp>
        <p:nvSpPr>
          <p:cNvPr id="143" name="Shape 143"/>
          <p:cNvSpPr/>
          <p:nvPr/>
        </p:nvSpPr>
        <p:spPr>
          <a:xfrm>
            <a:off x="571500" y="2885777"/>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The table distinguishes established transmitter classes from the specific receptor mechanism tested for Mi9-associated inhibition. A contact alone cannot determine whether its effect is excitatory, inhibitory, or modulatory.</a:t>
            </a:r>
            <a:endParaRPr lang="en-US"/>
          </a:p>
        </p:txBody>
      </p:sp>
      <p:pic>
        <p:nvPicPr>
          <p:cNvPr id="133" name="Presenton Native Image 34" descr=""/>
          <p:cNvPicPr/>
          <p:nvPr/>
        </p:nvPicPr>
        <p:blipFill>
          <a:blip r:embed="rId3" cstate="none"/>
          <a:stretch>
            <a:fillRect/>
          </a:stretch>
        </p:blipFill>
        <p:spPr>
          <a:xfrm>
            <a:off x="571500" y="3807619"/>
            <a:ext cx="11049000" cy="1728192"/>
          </a:xfrm>
          <a:prstGeom prst="rect">
            <a:avLst/>
          </a:prstGeom>
        </p:spPr>
      </p:pic>
      <p:pic>
        <p:nvPicPr>
          <p:cNvPr id="134" name="Presenton Native Image 35" descr=""/>
          <p:cNvPicPr/>
          <p:nvPr/>
        </p:nvPicPr>
        <p:blipFill>
          <a:blip r:embed="rId2" cstate="none"/>
          <a:stretch>
            <a:fillRect/>
          </a:stretch>
        </p:blipFill>
        <p:spPr>
          <a:xfrm>
            <a:off x="571500" y="6379369"/>
            <a:ext cx="11049000" cy="269081"/>
          </a:xfrm>
          <a:prstGeom prst="rect">
            <a:avLst/>
          </a:prstGeom>
        </p:spPr>
      </p:pic>
      <p:sp>
        <p:nvSpPr>
          <p:cNvPr id="144" name="Shape 14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Groschner et al. (2022); Strother et al. (2017); Takemura et al. (2017)</a:t>
            </a:r>
            <a:endParaRPr lang="en-US"/>
          </a:p>
        </p:txBody>
      </p:sp>
      <p:sp>
        <p:nvSpPr>
          <p:cNvPr id="145" name="Shape 14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46" name="Shape 14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Apparent motion isolates nonlinear interactions</a:t>
            </a:r>
            <a:endParaRPr lang="en-US"/>
          </a:p>
        </p:txBody>
      </p:sp>
      <p:pic>
        <p:nvPicPr>
          <p:cNvPr id="135" name="Presenton Native Image 36" descr=""/>
          <p:cNvPicPr/>
          <p:nvPr/>
        </p:nvPicPr>
        <p:blipFill>
          <a:blip r:embed="rId3" cstate="none"/>
          <a:stretch>
            <a:fillRect/>
          </a:stretch>
        </p:blipFill>
        <p:spPr>
          <a:xfrm>
            <a:off x="3605286" y="1019175"/>
            <a:ext cx="4981428" cy="2190750"/>
          </a:xfrm>
          <a:prstGeom prst="rect">
            <a:avLst/>
          </a:prstGeom>
        </p:spPr>
      </p:pic>
      <p:sp>
        <p:nvSpPr>
          <p:cNvPr id="147" name="Shape 147"/>
          <p:cNvSpPr/>
          <p:nvPr/>
        </p:nvSpPr>
        <p:spPr>
          <a:xfrm>
            <a:off x="571500" y="3286125"/>
            <a:ext cx="11068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Haag et al. (2016), Fig. 3A. Three-step apparent motion. Thick traces: measured response. Thin traces: summed single-flash responses.</a:t>
            </a:r>
            <a:endParaRPr lang="en-US"/>
          </a:p>
        </p:txBody>
      </p:sp>
      <p:sp>
        <p:nvSpPr>
          <p:cNvPr id="148" name="Shape 148"/>
          <p:cNvSpPr/>
          <p:nvPr/>
        </p:nvSpPr>
        <p:spPr>
          <a:xfrm>
            <a:off x="571500" y="3733800"/>
            <a:ext cx="525780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Haag and colleagues presented sequential brief flashes at neighboring positions while imaging T4 calcium. The displayed experiment uses three positions. Reversing their order reverses apparent motion without changing the sampled locations.</a:t>
            </a:r>
            <a:endParaRPr lang="en-US"/>
          </a:p>
        </p:txBody>
      </p:sp>
      <p:sp>
        <p:nvSpPr>
          <p:cNvPr id="149" name="Shape 149"/>
          <p:cNvSpPr/>
          <p:nvPr/>
        </p:nvSpPr>
        <p:spPr>
          <a:xfrm>
            <a:off x="571500" y="5049143"/>
            <a:ext cx="525780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They compared the sequence response with the time-aligned sum of responses to each flash alone. A larger sequence response indicates enhancement, while a smaller response indicates suppression.</a:t>
            </a:r>
            <a:endParaRPr lang="en-US"/>
          </a:p>
        </p:txBody>
      </p:sp>
      <p:sp>
        <p:nvSpPr>
          <p:cNvPr id="150" name="Shape 150"/>
          <p:cNvSpPr/>
          <p:nvPr/>
        </p:nvSpPr>
        <p:spPr>
          <a:xfrm>
            <a:off x="6353175" y="3733800"/>
            <a:ext cx="5286375"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T4 responses showed preferred-direction enhancement and null-direction suppression in different regions of the receptive field. The single-flash sum supplied the essential linear comparison.</a:t>
            </a:r>
            <a:endParaRPr lang="en-US"/>
          </a:p>
        </p:txBody>
      </p:sp>
      <p:sp>
        <p:nvSpPr>
          <p:cNvPr id="151" name="Shape 151"/>
          <p:cNvSpPr/>
          <p:nvPr/>
        </p:nvSpPr>
        <p:spPr>
          <a:xfrm>
            <a:off x="6353175" y="5049143"/>
            <a:ext cx="5286375"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These results identify nonlinear interactions in calcium. Membrane recordings and receptor perturbations test the synaptic conductances that generate the electrical response.</a:t>
            </a:r>
            <a:endParaRPr lang="en-US"/>
          </a:p>
        </p:txBody>
      </p:sp>
      <p:pic>
        <p:nvPicPr>
          <p:cNvPr id="136" name="Presenton Native Image 37" descr=""/>
          <p:cNvPicPr/>
          <p:nvPr/>
        </p:nvPicPr>
        <p:blipFill>
          <a:blip r:embed="rId2" cstate="none"/>
          <a:stretch>
            <a:fillRect/>
          </a:stretch>
        </p:blipFill>
        <p:spPr>
          <a:xfrm>
            <a:off x="571500" y="6379369"/>
            <a:ext cx="11049000" cy="269081"/>
          </a:xfrm>
          <a:prstGeom prst="rect">
            <a:avLst/>
          </a:prstGeom>
        </p:spPr>
      </p:pic>
      <p:sp>
        <p:nvSpPr>
          <p:cNvPr id="152" name="Shape 15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Haag et al. (2016); Gruntman et al. (2018)</a:t>
            </a:r>
            <a:endParaRPr lang="en-US"/>
          </a:p>
        </p:txBody>
      </p:sp>
      <p:sp>
        <p:nvSpPr>
          <p:cNvPr id="153" name="Shape 15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54" name="Shape 15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Enhancement and suppression occupy different positions</a:t>
            </a:r>
            <a:endParaRPr lang="en-US"/>
          </a:p>
        </p:txBody>
      </p:sp>
      <p:sp>
        <p:nvSpPr>
          <p:cNvPr id="155" name="Shape 155"/>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A </a:t>
            </a:r>
            <a:r>
              <a:rPr sz="1725" b="1" i="0">
                <a:solidFill>
                  <a:srgbClr val="25262B"/>
                </a:solidFill>
                <a:latin typeface="Arial"/>
                <a:ea typeface="Arial"/>
              </a:rPr>
              <a:t>receptive field</a:t>
            </a:r>
            <a:r>
              <a:rPr sz="1725" b="0" i="0">
                <a:solidFill>
                  <a:srgbClr val="25262B"/>
                </a:solidFill>
                <a:latin typeface="Arial"/>
                <a:ea typeface="Arial"/>
              </a:rPr>
              <a:t xml:space="preserve"> is the region of sensory space in which stimulation influences a neuron. Mapping the same flash sequence across positions reveals where nonlinear interactions occur.</a:t>
            </a:r>
            <a:endParaRPr lang="en-US"/>
          </a:p>
        </p:txBody>
      </p:sp>
      <p:sp>
        <p:nvSpPr>
          <p:cNvPr id="156" name="Shape 156"/>
          <p:cNvSpPr/>
          <p:nvPr/>
        </p:nvSpPr>
        <p:spPr>
          <a:xfrm>
            <a:off x="571500" y="2465784"/>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Haag and colleagues tested T4 cells with apparent motion along their preferred–null axis. Preferred-direction enhancement and null-direction suppression were spatially displaced rather than uniformly distributed across the field.</a:t>
            </a:r>
            <a:endParaRPr lang="en-US"/>
          </a:p>
        </p:txBody>
      </p:sp>
      <p:sp>
        <p:nvSpPr>
          <p:cNvPr id="157" name="Shape 157"/>
          <p:cNvSpPr/>
          <p:nvPr/>
        </p:nvSpPr>
        <p:spPr>
          <a:xfrm>
            <a:off x="571500" y="3790652"/>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The population measurements comprised </a:t>
            </a:r>
            <a:r>
              <a:rPr sz="1725" b="1" i="0">
                <a:solidFill>
                  <a:srgbClr val="25262B"/>
                </a:solidFill>
                <a:latin typeface="Arial"/>
                <a:ea typeface="Arial"/>
              </a:rPr>
              <a:t>15 cells from 11 flies</a:t>
            </a:r>
            <a:r>
              <a:rPr sz="1725" b="0" i="0">
                <a:solidFill>
                  <a:srgbClr val="25262B"/>
                </a:solidFill>
                <a:latin typeface="Arial"/>
                <a:ea typeface="Arial"/>
              </a:rPr>
              <a:t>. Position-specific effects constrain models more strongly than an overall direction-tuning curve alone.</a:t>
            </a:r>
            <a:endParaRPr lang="en-US"/>
          </a:p>
        </p:txBody>
      </p:sp>
      <p:sp>
        <p:nvSpPr>
          <p:cNvPr id="158" name="Shape 158"/>
          <p:cNvSpPr/>
          <p:nvPr/>
        </p:nvSpPr>
        <p:spPr>
          <a:xfrm>
            <a:off x="571500" y="4616053"/>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A circuit can combine an enhancing interaction on one side with a suppressing interaction on the other. Anatomical input positions and measured response delays determine which stimulus order engages each component.</a:t>
            </a:r>
            <a:endParaRPr lang="en-US"/>
          </a:p>
        </p:txBody>
      </p:sp>
      <p:pic>
        <p:nvPicPr>
          <p:cNvPr id="137" name="Presenton Native Image 38" descr=""/>
          <p:cNvPicPr/>
          <p:nvPr/>
        </p:nvPicPr>
        <p:blipFill>
          <a:blip r:embed="rId3" cstate="none"/>
          <a:stretch>
            <a:fillRect/>
          </a:stretch>
        </p:blipFill>
        <p:spPr>
          <a:xfrm>
            <a:off x="7086600" y="1768020"/>
            <a:ext cx="4533900" cy="3375538"/>
          </a:xfrm>
          <a:prstGeom prst="rect">
            <a:avLst/>
          </a:prstGeom>
        </p:spPr>
      </p:pic>
      <p:sp>
        <p:nvSpPr>
          <p:cNvPr id="159" name="Shape 159"/>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Haag et al. (2016), Fig. 3B. Two-step apparent motion at different positions. Mean ± SEM, 15 cells in 11 flies.</a:t>
            </a:r>
            <a:endParaRPr lang="en-US"/>
          </a:p>
        </p:txBody>
      </p:sp>
      <p:pic>
        <p:nvPicPr>
          <p:cNvPr id="138" name="Presenton Native Image 39" descr=""/>
          <p:cNvPicPr/>
          <p:nvPr/>
        </p:nvPicPr>
        <p:blipFill>
          <a:blip r:embed="rId2" cstate="none"/>
          <a:stretch>
            <a:fillRect/>
          </a:stretch>
        </p:blipFill>
        <p:spPr>
          <a:xfrm>
            <a:off x="571500" y="6379369"/>
            <a:ext cx="11049000" cy="269081"/>
          </a:xfrm>
          <a:prstGeom prst="rect">
            <a:avLst/>
          </a:prstGeom>
        </p:spPr>
      </p:pic>
      <p:sp>
        <p:nvSpPr>
          <p:cNvPr id="160" name="Shape 16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Haag et al. (2016); Takemura et al. (2017)</a:t>
            </a:r>
            <a:endParaRPr lang="en-US"/>
          </a:p>
        </p:txBody>
      </p:sp>
      <p:sp>
        <p:nvSpPr>
          <p:cNvPr id="161" name="Shape 16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62" name="Shape 16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T4 voltage reveals direction-selective depolarization</a:t>
            </a:r>
            <a:endParaRPr lang="en-US"/>
          </a:p>
        </p:txBody>
      </p:sp>
      <p:sp>
        <p:nvSpPr>
          <p:cNvPr id="163" name="Shape 163"/>
          <p:cNvSpPr/>
          <p:nvPr/>
        </p:nvSpPr>
        <p:spPr>
          <a:xfrm>
            <a:off x="571500" y="1390650"/>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Gruntman and colleagues recorded T4 membrane voltage with whole-cell electrodes. Moving ON bars produced larger depolarizations in preferred than null directions.</a:t>
            </a:r>
            <a:endParaRPr lang="en-US"/>
          </a:p>
        </p:txBody>
      </p:sp>
      <p:sp>
        <p:nvSpPr>
          <p:cNvPr id="164" name="Shape 164"/>
          <p:cNvSpPr/>
          <p:nvPr/>
        </p:nvSpPr>
        <p:spPr>
          <a:xfrm>
            <a:off x="571500" y="2216051"/>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The experiments tested </a:t>
            </a:r>
            <a:r>
              <a:rPr sz="1725" b="1" i="0">
                <a:solidFill>
                  <a:srgbClr val="25262B"/>
                </a:solidFill>
                <a:latin typeface="Arial"/>
                <a:ea typeface="Arial"/>
              </a:rPr>
              <a:t>14–112°/s</a:t>
            </a:r>
            <a:r>
              <a:rPr sz="1725" b="0" i="0">
                <a:solidFill>
                  <a:srgbClr val="25262B"/>
                </a:solidFill>
                <a:latin typeface="Arial"/>
                <a:ea typeface="Arial"/>
              </a:rPr>
              <a:t xml:space="preserve"> and recorded </a:t>
            </a:r>
            <a:r>
              <a:rPr sz="1725" b="1" i="0">
                <a:solidFill>
                  <a:srgbClr val="25262B"/>
                </a:solidFill>
                <a:latin typeface="Arial"/>
                <a:ea typeface="Arial"/>
              </a:rPr>
              <a:t>17 cells</a:t>
            </a:r>
            <a:r>
              <a:rPr sz="1725" b="0" i="0">
                <a:solidFill>
                  <a:srgbClr val="25262B"/>
                </a:solidFill>
                <a:latin typeface="Arial"/>
                <a:ea typeface="Arial"/>
              </a:rPr>
              <a:t>. Directional differences in peak amplitude and response dynamics appeared in the voltage signal itself.</a:t>
            </a:r>
            <a:endParaRPr lang="en-US"/>
          </a:p>
        </p:txBody>
      </p:sp>
      <p:sp>
        <p:nvSpPr>
          <p:cNvPr id="165" name="Shape 165"/>
          <p:cNvSpPr/>
          <p:nvPr/>
        </p:nvSpPr>
        <p:spPr>
          <a:xfrm>
            <a:off x="571500" y="3041452"/>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Panel D reports </a:t>
            </a:r>
            <a:r>
              <a:rPr sz="1725" b="1" i="0">
                <a:solidFill>
                  <a:srgbClr val="25262B"/>
                </a:solidFill>
                <a:latin typeface="Arial"/>
                <a:ea typeface="Arial"/>
              </a:rPr>
              <a:t>DSI = [R(PD) − R(ND)]/R(PD)</a:t>
            </a:r>
            <a:r>
              <a:rPr sz="1725" b="0" i="0">
                <a:solidFill>
                  <a:srgbClr val="25262B"/>
                </a:solidFill>
                <a:latin typeface="Arial"/>
                <a:ea typeface="Arial"/>
              </a:rPr>
              <a:t>. R is response amplitude estimated using the 0.995 voltage quantile, a robust peak estimate.</a:t>
            </a:r>
            <a:endParaRPr lang="en-US"/>
          </a:p>
        </p:txBody>
      </p:sp>
      <p:sp>
        <p:nvSpPr>
          <p:cNvPr id="166" name="Shape 166"/>
          <p:cNvSpPr/>
          <p:nvPr/>
        </p:nvSpPr>
        <p:spPr>
          <a:xfrm>
            <a:off x="571500" y="3866852"/>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Selectivity was stronger at slower speeds. The study emphasized delayed inhibition and null-direction suppression. Comparisons with calcium-based enhancement require matched stimulus conditions and recording compartments.</a:t>
            </a:r>
            <a:endParaRPr lang="en-US"/>
          </a:p>
        </p:txBody>
      </p:sp>
      <p:pic>
        <p:nvPicPr>
          <p:cNvPr id="139" name="Presenton Native Image 40" descr=""/>
          <p:cNvPicPr/>
          <p:nvPr/>
        </p:nvPicPr>
        <p:blipFill>
          <a:blip r:embed="rId3" cstate="none"/>
          <a:stretch>
            <a:fillRect/>
          </a:stretch>
        </p:blipFill>
        <p:spPr>
          <a:xfrm>
            <a:off x="7086600" y="1577519"/>
            <a:ext cx="4533900" cy="3573780"/>
          </a:xfrm>
          <a:prstGeom prst="rect">
            <a:avLst/>
          </a:prstGeom>
        </p:spPr>
      </p:pic>
      <p:sp>
        <p:nvSpPr>
          <p:cNvPr id="167" name="Shape 167"/>
          <p:cNvSpPr/>
          <p:nvPr/>
        </p:nvSpPr>
        <p:spPr>
          <a:xfrm>
            <a:off x="7086600" y="5469434"/>
            <a:ext cx="4552950" cy="548283"/>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Gruntman et al. (2018), Fig. 1C–D. Direction-aligned voltage responses and direction-selectivity index. Four speeds: 14, 28, 56, and 112°/s.</a:t>
            </a:r>
            <a:endParaRPr lang="en-US"/>
          </a:p>
        </p:txBody>
      </p:sp>
      <p:pic>
        <p:nvPicPr>
          <p:cNvPr id="140" name="Presenton Native Image 41" descr=""/>
          <p:cNvPicPr/>
          <p:nvPr/>
        </p:nvPicPr>
        <p:blipFill>
          <a:blip r:embed="rId2" cstate="none"/>
          <a:stretch>
            <a:fillRect/>
          </a:stretch>
        </p:blipFill>
        <p:spPr>
          <a:xfrm>
            <a:off x="571500" y="6379369"/>
            <a:ext cx="11049000" cy="269081"/>
          </a:xfrm>
          <a:prstGeom prst="rect">
            <a:avLst/>
          </a:prstGeom>
        </p:spPr>
      </p:pic>
      <p:sp>
        <p:nvSpPr>
          <p:cNvPr id="168" name="Shape 16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Gruntman et al. (2018); Haag et al. (2016)</a:t>
            </a:r>
            <a:endParaRPr lang="en-US"/>
          </a:p>
        </p:txBody>
      </p:sp>
      <p:sp>
        <p:nvSpPr>
          <p:cNvPr id="169" name="Shape 16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70" name="Shape 17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The spatial profile of T4 excitation and inhibition</a:t>
            </a:r>
            <a:endParaRPr lang="en-US"/>
          </a:p>
        </p:txBody>
      </p:sp>
      <p:sp>
        <p:nvSpPr>
          <p:cNvPr id="171" name="Shape 171"/>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Stationary flashes separate receptive-field structure from motion. Gruntman and colleagues placed bright bars at successive positions along each T4 neuron’s preferred–null axis.</a:t>
            </a:r>
            <a:endParaRPr lang="en-US"/>
          </a:p>
        </p:txBody>
      </p:sp>
      <p:sp>
        <p:nvSpPr>
          <p:cNvPr id="172" name="Shape 172"/>
          <p:cNvSpPr/>
          <p:nvPr/>
        </p:nvSpPr>
        <p:spPr>
          <a:xfrm>
            <a:off x="571500" y="2465784"/>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Central stimulation produced depolarization. Spatially displaced stimuli revealed hyperpolarizing components with different timing. A moving bar encounters these components in a direction-dependent order.</a:t>
            </a:r>
            <a:endParaRPr lang="en-US"/>
          </a:p>
        </p:txBody>
      </p:sp>
      <p:sp>
        <p:nvSpPr>
          <p:cNvPr id="173" name="Shape 173"/>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When inhibitory influence overlaps excitation during null-direction motion, the voltage response is reduced. Reversing the sequence changes that overlap and preserves a larger preferred-direction response.</a:t>
            </a:r>
            <a:endParaRPr lang="en-US"/>
          </a:p>
        </p:txBody>
      </p:sp>
      <p:sp>
        <p:nvSpPr>
          <p:cNvPr id="174" name="Shape 174"/>
          <p:cNvSpPr/>
          <p:nvPr/>
        </p:nvSpPr>
        <p:spPr>
          <a:xfrm>
            <a:off x="571500" y="4616053"/>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recorded receptive-field structure supports a conductance model that predicts responses to moving stimuli. Hyperpolarization provides evidence about voltage, while receptor perturbation is required to identify the underlying transmitter and channel.</a:t>
            </a:r>
            <a:endParaRPr lang="en-US"/>
          </a:p>
        </p:txBody>
      </p:sp>
      <p:pic>
        <p:nvPicPr>
          <p:cNvPr id="141" name="Presenton Native Image 42" descr=""/>
          <p:cNvPicPr/>
          <p:nvPr/>
        </p:nvPicPr>
        <p:blipFill>
          <a:blip r:embed="rId3" cstate="none"/>
          <a:stretch>
            <a:fillRect/>
          </a:stretch>
        </p:blipFill>
        <p:spPr>
          <a:xfrm>
            <a:off x="7290120" y="1465064"/>
            <a:ext cx="4126859" cy="3981450"/>
          </a:xfrm>
          <a:prstGeom prst="rect">
            <a:avLst/>
          </a:prstGeom>
        </p:spPr>
      </p:pic>
      <p:sp>
        <p:nvSpPr>
          <p:cNvPr id="175" name="Shape 175"/>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Gruntman et al. (2018), Fig. 2C. Normalized peak depolarization and hyperpolarization across stimulus positions.</a:t>
            </a:r>
            <a:endParaRPr lang="en-US"/>
          </a:p>
        </p:txBody>
      </p:sp>
      <p:pic>
        <p:nvPicPr>
          <p:cNvPr id="142" name="Presenton Native Image 43" descr=""/>
          <p:cNvPicPr/>
          <p:nvPr/>
        </p:nvPicPr>
        <p:blipFill>
          <a:blip r:embed="rId2" cstate="none"/>
          <a:stretch>
            <a:fillRect/>
          </a:stretch>
        </p:blipFill>
        <p:spPr>
          <a:xfrm>
            <a:off x="571500" y="6379369"/>
            <a:ext cx="11049000" cy="269081"/>
          </a:xfrm>
          <a:prstGeom prst="rect">
            <a:avLst/>
          </a:prstGeom>
        </p:spPr>
      </p:pic>
      <p:sp>
        <p:nvSpPr>
          <p:cNvPr id="176" name="Shape 17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Gruntman et al. (2018); Groschner et al. (2022)</a:t>
            </a:r>
            <a:endParaRPr lang="en-US"/>
          </a:p>
        </p:txBody>
      </p:sp>
      <p:sp>
        <p:nvSpPr>
          <p:cNvPr id="177" name="Shape 17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78" name="Shape 17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Conductance interactions and shunting inhibition</a:t>
            </a:r>
            <a:endParaRPr lang="en-US"/>
          </a:p>
        </p:txBody>
      </p:sp>
      <p:sp>
        <p:nvSpPr>
          <p:cNvPr id="179" name="Shape 179"/>
          <p:cNvSpPr/>
          <p:nvPr/>
        </p:nvSpPr>
        <p:spPr>
          <a:xfrm>
            <a:off x="571500" y="1438275"/>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A </a:t>
            </a:r>
            <a:r>
              <a:rPr sz="1800" b="1" i="0">
                <a:solidFill>
                  <a:srgbClr val="25262B"/>
                </a:solidFill>
                <a:latin typeface="Arial"/>
                <a:ea typeface="Arial"/>
              </a:rPr>
              <a:t>conductance</a:t>
            </a:r>
            <a:r>
              <a:rPr sz="1800" b="0" i="0">
                <a:solidFill>
                  <a:srgbClr val="25262B"/>
                </a:solidFill>
                <a:latin typeface="Arial"/>
                <a:ea typeface="Arial"/>
              </a:rPr>
              <a:t xml:space="preserve"> describes how readily ions cross a membrane. Its effect depends on the difference between membrane voltage and the associated reversal potential.</a:t>
            </a:r>
            <a:endParaRPr lang="en-US"/>
          </a:p>
        </p:txBody>
      </p:sp>
      <p:sp>
        <p:nvSpPr>
          <p:cNvPr id="180" name="Shape 180"/>
          <p:cNvSpPr/>
          <p:nvPr/>
        </p:nvSpPr>
        <p:spPr>
          <a:xfrm>
            <a:off x="571500" y="2147292"/>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A passive model is </a:t>
            </a:r>
            <a:r>
              <a:rPr sz="1800" b="1" i="0">
                <a:solidFill>
                  <a:srgbClr val="25262B"/>
                </a:solidFill>
                <a:latin typeface="Arial"/>
                <a:ea typeface="Arial"/>
              </a:rPr>
              <a:t>C dV/dt = gL(EL − V) + gE(EE − V) + gI(EI − V)</a:t>
            </a:r>
            <a:r>
              <a:rPr sz="1800" b="0" i="0">
                <a:solidFill>
                  <a:srgbClr val="25262B"/>
                </a:solidFill>
                <a:latin typeface="Arial"/>
                <a:ea typeface="Arial"/>
              </a:rPr>
              <a:t>. C is capacitance. L, E, and I denote leak, excitation, and inhibition.</a:t>
            </a:r>
            <a:endParaRPr lang="en-US"/>
          </a:p>
        </p:txBody>
      </p:sp>
      <p:sp>
        <p:nvSpPr>
          <p:cNvPr id="181" name="Shape 181"/>
          <p:cNvSpPr/>
          <p:nvPr/>
        </p:nvSpPr>
        <p:spPr>
          <a:xfrm>
            <a:off x="571500" y="2856309"/>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An inhibitory conductance can reduce excitability with little hyperpolarization. Increased total conductance lowers input resistance and diminishes the voltage caused by an excitatory current. This is </a:t>
            </a:r>
            <a:r>
              <a:rPr sz="1800" b="1" i="0">
                <a:solidFill>
                  <a:srgbClr val="25262B"/>
                </a:solidFill>
                <a:latin typeface="Arial"/>
                <a:ea typeface="Arial"/>
              </a:rPr>
              <a:t>shunting inhibition</a:t>
            </a:r>
            <a:r>
              <a:rPr sz="1800" b="0" i="0">
                <a:solidFill>
                  <a:srgbClr val="25262B"/>
                </a:solidFill>
                <a:latin typeface="Arial"/>
                <a:ea typeface="Arial"/>
              </a:rPr>
              <a:t>.</a:t>
            </a:r>
            <a:endParaRPr lang="en-US"/>
          </a:p>
        </p:txBody>
      </p:sp>
      <p:sp>
        <p:nvSpPr>
          <p:cNvPr id="182" name="Shape 182"/>
          <p:cNvSpPr/>
          <p:nvPr/>
        </p:nvSpPr>
        <p:spPr>
          <a:xfrm>
            <a:off x="571500" y="3857923"/>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Removing that conductance raises resistance. Excitation arriving during release from inhibition can produce a disproportionately large voltage change. Multiplication-like interactions can consequently emerge from passive membrane properties.</a:t>
            </a:r>
            <a:endParaRPr lang="en-US"/>
          </a:p>
        </p:txBody>
      </p:sp>
      <p:pic>
        <p:nvPicPr>
          <p:cNvPr id="143" name="Presenton Native Image 44" descr=""/>
          <p:cNvPicPr/>
          <p:nvPr/>
        </p:nvPicPr>
        <p:blipFill>
          <a:blip r:embed="rId2" cstate="none"/>
          <a:stretch>
            <a:fillRect/>
          </a:stretch>
        </p:blipFill>
        <p:spPr>
          <a:xfrm>
            <a:off x="571500" y="6379369"/>
            <a:ext cx="11049000" cy="269081"/>
          </a:xfrm>
          <a:prstGeom prst="rect">
            <a:avLst/>
          </a:prstGeom>
        </p:spPr>
      </p:pic>
      <p:sp>
        <p:nvSpPr>
          <p:cNvPr id="183" name="Shape 183"/>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Gruntman et al. (2018); Groschner et al. (2022); Gruntman et al. (2019)</a:t>
            </a:r>
            <a:endParaRPr lang="en-US"/>
          </a:p>
        </p:txBody>
      </p:sp>
      <p:sp>
        <p:nvSpPr>
          <p:cNvPr id="184" name="Shape 184"/>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85" name="Shape 185"/>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Glutamate changes T4 input resistance</a:t>
            </a:r>
            <a:endParaRPr lang="en-US"/>
          </a:p>
        </p:txBody>
      </p:sp>
      <p:pic>
        <p:nvPicPr>
          <p:cNvPr id="144" name="Presenton Native Image 45" descr=""/>
          <p:cNvPicPr/>
          <p:nvPr/>
        </p:nvPicPr>
        <p:blipFill>
          <a:blip r:embed="rId3" cstate="none"/>
          <a:stretch>
            <a:fillRect/>
          </a:stretch>
        </p:blipFill>
        <p:spPr>
          <a:xfrm>
            <a:off x="2686726" y="1019175"/>
            <a:ext cx="6818547" cy="2190750"/>
          </a:xfrm>
          <a:prstGeom prst="rect">
            <a:avLst/>
          </a:prstGeom>
        </p:spPr>
      </p:pic>
      <p:sp>
        <p:nvSpPr>
          <p:cNvPr id="186" name="Shape 186"/>
          <p:cNvSpPr/>
          <p:nvPr/>
        </p:nvSpPr>
        <p:spPr>
          <a:xfrm>
            <a:off x="571500" y="3286125"/>
            <a:ext cx="11068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Groschner et al. (2022), Fig. 2D–E. Repeated glutamate application and current injection. Thin lines: cells. Thick lines: mean ± SEM.</a:t>
            </a:r>
            <a:endParaRPr lang="en-US"/>
          </a:p>
        </p:txBody>
      </p:sp>
      <p:sp>
        <p:nvSpPr>
          <p:cNvPr id="187" name="Shape 187"/>
          <p:cNvSpPr/>
          <p:nvPr/>
        </p:nvSpPr>
        <p:spPr>
          <a:xfrm>
            <a:off x="571500" y="3733800"/>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Groschner and colleagues applied glutamate to T4 dendrites while measuring voltage responses to injected current. </a:t>
            </a:r>
            <a:r>
              <a:rPr sz="1725" b="1" i="0">
                <a:solidFill>
                  <a:srgbClr val="25262B"/>
                </a:solidFill>
                <a:latin typeface="Arial"/>
                <a:ea typeface="Arial"/>
              </a:rPr>
              <a:t>Input resistance</a:t>
            </a:r>
            <a:r>
              <a:rPr sz="1725" b="0" i="0">
                <a:solidFill>
                  <a:srgbClr val="25262B"/>
                </a:solidFill>
                <a:latin typeface="Arial"/>
                <a:ea typeface="Arial"/>
              </a:rPr>
              <a:t xml:space="preserve"> is voltage change divided by current change.</a:t>
            </a:r>
            <a:endParaRPr lang="en-US"/>
          </a:p>
        </p:txBody>
      </p:sp>
      <p:sp>
        <p:nvSpPr>
          <p:cNvPr id="188" name="Shape 188"/>
          <p:cNvSpPr/>
          <p:nvPr/>
        </p:nvSpPr>
        <p:spPr>
          <a:xfrm>
            <a:off x="571500" y="4799409"/>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Glutamate reduced input resistance by </a:t>
            </a:r>
            <a:r>
              <a:rPr sz="1725" b="1" i="0">
                <a:solidFill>
                  <a:srgbClr val="25262B"/>
                </a:solidFill>
                <a:latin typeface="Arial"/>
                <a:ea typeface="Arial"/>
              </a:rPr>
              <a:t>25.27%</a:t>
            </a:r>
            <a:r>
              <a:rPr sz="1725" b="0" i="0">
                <a:solidFill>
                  <a:srgbClr val="25262B"/>
                </a:solidFill>
                <a:latin typeface="Arial"/>
                <a:ea typeface="Arial"/>
              </a:rPr>
              <a:t xml:space="preserve"> on average. The effect reversed between applications, visible as alternating low and high resistance in control cells.</a:t>
            </a:r>
            <a:endParaRPr lang="en-US"/>
          </a:p>
        </p:txBody>
      </p:sp>
      <p:sp>
        <p:nvSpPr>
          <p:cNvPr id="189" name="Shape 189"/>
          <p:cNvSpPr/>
          <p:nvPr/>
        </p:nvSpPr>
        <p:spPr>
          <a:xfrm>
            <a:off x="6353175" y="3733800"/>
            <a:ext cx="5286375"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RNA interference against </a:t>
            </a:r>
            <a:r>
              <a:rPr sz="1725" b="1" i="0">
                <a:solidFill>
                  <a:srgbClr val="25262B"/>
                </a:solidFill>
                <a:latin typeface="Arial"/>
                <a:ea typeface="Arial"/>
              </a:rPr>
              <a:t>GluClα</a:t>
            </a:r>
            <a:r>
              <a:rPr sz="1725" b="0" i="0">
                <a:solidFill>
                  <a:srgbClr val="25262B"/>
                </a:solidFill>
                <a:latin typeface="Arial"/>
                <a:ea typeface="Arial"/>
              </a:rPr>
              <a:t>, a glutamate-gated chloride channel, abolished the change. The resistance assay included 17 controls and 14 knockdown cells.</a:t>
            </a:r>
            <a:endParaRPr lang="en-US"/>
          </a:p>
        </p:txBody>
      </p:sp>
      <p:sp>
        <p:nvSpPr>
          <p:cNvPr id="190" name="Shape 190"/>
          <p:cNvSpPr/>
          <p:nvPr/>
        </p:nvSpPr>
        <p:spPr>
          <a:xfrm>
            <a:off x="6353175" y="4799409"/>
            <a:ext cx="5286375" cy="1498402"/>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This identifies a receptor-mediated conductance regulating excitability. Mi9-derived glutamate can suppress T4 until a luminance change reduces that input. Direct transmitter application tests postsynaptic sensitivity, while circuit recordings establish sensory timing.</a:t>
            </a:r>
            <a:endParaRPr lang="en-US"/>
          </a:p>
        </p:txBody>
      </p:sp>
      <p:pic>
        <p:nvPicPr>
          <p:cNvPr id="145" name="Presenton Native Image 46" descr=""/>
          <p:cNvPicPr/>
          <p:nvPr/>
        </p:nvPicPr>
        <p:blipFill>
          <a:blip r:embed="rId2" cstate="none"/>
          <a:stretch>
            <a:fillRect/>
          </a:stretch>
        </p:blipFill>
        <p:spPr>
          <a:xfrm>
            <a:off x="571500" y="6379369"/>
            <a:ext cx="11049000" cy="269081"/>
          </a:xfrm>
          <a:prstGeom prst="rect">
            <a:avLst/>
          </a:prstGeom>
        </p:spPr>
      </p:pic>
      <p:sp>
        <p:nvSpPr>
          <p:cNvPr id="191" name="Shape 191"/>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Groschner et al. (2022); Strother et al. (2017)</a:t>
            </a:r>
            <a:endParaRPr lang="en-US"/>
          </a:p>
        </p:txBody>
      </p:sp>
      <p:sp>
        <p:nvSpPr>
          <p:cNvPr id="192" name="Shape 192"/>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193" name="Shape 193"/>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Disinhibition sharpens T4 directional tuning</a:t>
            </a:r>
            <a:endParaRPr lang="en-US"/>
          </a:p>
        </p:txBody>
      </p:sp>
      <p:sp>
        <p:nvSpPr>
          <p:cNvPr id="194" name="Shape 194"/>
          <p:cNvSpPr/>
          <p:nvPr/>
        </p:nvSpPr>
        <p:spPr>
          <a:xfrm>
            <a:off x="571500" y="1390650"/>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Mi9 hyperpolarizes when light enters its receptive field. Reduced glutamate release can close GluClα channels and briefly raise T4 resistance before central excitation arrives.</a:t>
            </a:r>
            <a:endParaRPr lang="en-US"/>
          </a:p>
        </p:txBody>
      </p:sp>
      <p:sp>
        <p:nvSpPr>
          <p:cNvPr id="195" name="Shape 195"/>
          <p:cNvSpPr/>
          <p:nvPr/>
        </p:nvSpPr>
        <p:spPr>
          <a:xfrm>
            <a:off x="571500" y="2216051"/>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In Groschner and colleagues’ ON-edge experiments, control responses </a:t>
            </a:r>
            <a:r>
              <a:rPr sz="1725" b="1" i="0">
                <a:solidFill>
                  <a:srgbClr val="25262B"/>
                </a:solidFill>
                <a:latin typeface="Arial"/>
                <a:ea typeface="Arial"/>
              </a:rPr>
              <a:t>60° away from the preferred direction</a:t>
            </a:r>
            <a:r>
              <a:rPr sz="1725" b="0" i="0">
                <a:solidFill>
                  <a:srgbClr val="25262B"/>
                </a:solidFill>
                <a:latin typeface="Arial"/>
                <a:ea typeface="Arial"/>
              </a:rPr>
              <a:t xml:space="preserve"> averaged </a:t>
            </a:r>
            <a:r>
              <a:rPr sz="1725" b="1" i="0">
                <a:solidFill>
                  <a:srgbClr val="25262B"/>
                </a:solidFill>
                <a:latin typeface="Arial"/>
                <a:ea typeface="Arial"/>
              </a:rPr>
              <a:t>72.97%</a:t>
            </a:r>
            <a:r>
              <a:rPr sz="1725" b="0" i="0">
                <a:solidFill>
                  <a:srgbClr val="25262B"/>
                </a:solidFill>
                <a:latin typeface="Arial"/>
                <a:ea typeface="Arial"/>
              </a:rPr>
              <a:t xml:space="preserve"> of the preferred response. GluClα-knockdown responses remained at </a:t>
            </a:r>
            <a:r>
              <a:rPr sz="1725" b="1" i="0">
                <a:solidFill>
                  <a:srgbClr val="25262B"/>
                </a:solidFill>
                <a:latin typeface="Arial"/>
                <a:ea typeface="Arial"/>
              </a:rPr>
              <a:t>89.62%</a:t>
            </a:r>
            <a:r>
              <a:rPr sz="1725" b="0" i="0">
                <a:solidFill>
                  <a:srgbClr val="25262B"/>
                </a:solidFill>
                <a:latin typeface="Arial"/>
                <a:ea typeface="Arial"/>
              </a:rPr>
              <a:t>, indicating broader tuning.</a:t>
            </a:r>
            <a:endParaRPr lang="en-US"/>
          </a:p>
        </p:txBody>
      </p:sp>
      <p:sp>
        <p:nvSpPr>
          <p:cNvPr id="196" name="Shape 196"/>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comparison includes GFP controls, GluClα RNAi, and Nmdar1 RNAi controls. The directionality index decreased after GluClα knockdown, with p = 0.0002 for the reported post hoc comparison.</a:t>
            </a:r>
            <a:endParaRPr lang="en-US"/>
          </a:p>
        </p:txBody>
      </p:sp>
      <p:sp>
        <p:nvSpPr>
          <p:cNvPr id="197" name="Shape 197"/>
          <p:cNvSpPr/>
          <p:nvPr/>
        </p:nvSpPr>
        <p:spPr>
          <a:xfrm>
            <a:off x="571500" y="4616053"/>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Knockdown also alters resting voltage and resistance. Its effect therefore reflects the complete conductance mechanism, including selective amplification through release from inhibition.</a:t>
            </a:r>
            <a:endParaRPr lang="en-US"/>
          </a:p>
        </p:txBody>
      </p:sp>
      <p:pic>
        <p:nvPicPr>
          <p:cNvPr id="146" name="Presenton Native Image 47" descr=""/>
          <p:cNvPicPr/>
          <p:nvPr/>
        </p:nvPicPr>
        <p:blipFill>
          <a:blip r:embed="rId3" cstate="none"/>
          <a:stretch>
            <a:fillRect/>
          </a:stretch>
        </p:blipFill>
        <p:spPr>
          <a:xfrm>
            <a:off x="7086600" y="1526977"/>
            <a:ext cx="4533900" cy="3857625"/>
          </a:xfrm>
          <a:prstGeom prst="rect">
            <a:avLst/>
          </a:prstGeom>
        </p:spPr>
      </p:pic>
      <p:sp>
        <p:nvSpPr>
          <p:cNvPr id="198" name="Shape 198"/>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Groschner et al. (2022), Fig. 5C. Control n = 25, GluClα RNAi n = 17, Nmdar1 RNAi n = 12 cells. Ldir: directional tuning index.</a:t>
            </a:r>
            <a:endParaRPr lang="en-US"/>
          </a:p>
        </p:txBody>
      </p:sp>
      <p:pic>
        <p:nvPicPr>
          <p:cNvPr id="147" name="Presenton Native Image 48" descr=""/>
          <p:cNvPicPr/>
          <p:nvPr/>
        </p:nvPicPr>
        <p:blipFill>
          <a:blip r:embed="rId2" cstate="none"/>
          <a:stretch>
            <a:fillRect/>
          </a:stretch>
        </p:blipFill>
        <p:spPr>
          <a:xfrm>
            <a:off x="571500" y="6379369"/>
            <a:ext cx="11049000" cy="269081"/>
          </a:xfrm>
          <a:prstGeom prst="rect">
            <a:avLst/>
          </a:prstGeom>
        </p:spPr>
      </p:pic>
      <p:sp>
        <p:nvSpPr>
          <p:cNvPr id="199" name="Shape 19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Groschner et al. (2022); Takemura et al. (2017)</a:t>
            </a:r>
            <a:endParaRPr lang="en-US"/>
          </a:p>
        </p:txBody>
      </p:sp>
      <p:sp>
        <p:nvSpPr>
          <p:cNvPr id="200" name="Shape 20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01" name="Shape 201"/>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The OFF pathway has a different input circuit</a:t>
            </a:r>
            <a:endParaRPr lang="en-US"/>
          </a:p>
        </p:txBody>
      </p:sp>
      <p:sp>
        <p:nvSpPr>
          <p:cNvPr id="202" name="Shape 202"/>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T5 receives dark-edge information through several transmedullary neurons. Reconstructions place Tm1, Tm2, and Tm4 inputs near the central dendritic region, Tm9 toward the tip, and CT1 toward the base.</a:t>
            </a:r>
            <a:endParaRPr lang="en-US"/>
          </a:p>
        </p:txBody>
      </p:sp>
      <p:sp>
        <p:nvSpPr>
          <p:cNvPr id="203" name="Shape 203"/>
          <p:cNvSpPr/>
          <p:nvPr/>
        </p:nvSpPr>
        <p:spPr>
          <a:xfrm>
            <a:off x="571500" y="2439888"/>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This resembles T4’s spatial organization, but transmitter assignments differ. Tm9 supplies cholinergic input to T5, whereas the distal Mi9 input to T4 is glutamatergic.</a:t>
            </a:r>
            <a:endParaRPr lang="en-US"/>
          </a:p>
        </p:txBody>
      </p:sp>
      <p:sp>
        <p:nvSpPr>
          <p:cNvPr id="204" name="Shape 204"/>
          <p:cNvSpPr/>
          <p:nvPr/>
        </p:nvSpPr>
        <p:spPr>
          <a:xfrm>
            <a:off x="571500" y="3148905"/>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CT1 is a large GABAergic neuron with repeated local branches. Its broad anatomy does not establish that every branch carries the same global signal.</a:t>
            </a:r>
            <a:endParaRPr lang="en-US"/>
          </a:p>
        </p:txBody>
      </p:sp>
      <p:sp>
        <p:nvSpPr>
          <p:cNvPr id="205" name="Shape 205"/>
          <p:cNvSpPr/>
          <p:nvPr/>
        </p:nvSpPr>
        <p:spPr>
          <a:xfrm>
            <a:off x="571500" y="3857923"/>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Similar directional outputs can emerge from circuits with different excitatory sources, inhibitory partners, and postsynaptic receptors. Anatomy constrains these possibilities, while physiological tests determine how the inputs interact.</a:t>
            </a:r>
            <a:endParaRPr lang="en-US"/>
          </a:p>
        </p:txBody>
      </p:sp>
      <p:pic>
        <p:nvPicPr>
          <p:cNvPr id="148" name="Presenton Native Image 49" descr=""/>
          <p:cNvPicPr/>
          <p:nvPr/>
        </p:nvPicPr>
        <p:blipFill>
          <a:blip r:embed="rId2" cstate="none"/>
          <a:stretch>
            <a:fillRect/>
          </a:stretch>
        </p:blipFill>
        <p:spPr>
          <a:xfrm>
            <a:off x="571500" y="6379369"/>
            <a:ext cx="11049000" cy="269081"/>
          </a:xfrm>
          <a:prstGeom prst="rect">
            <a:avLst/>
          </a:prstGeom>
        </p:spPr>
      </p:pic>
      <p:sp>
        <p:nvSpPr>
          <p:cNvPr id="206" name="Shape 20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Shinomiya et al. (2019); Gruntman et al. (2019); Arenz et al. (2017)</a:t>
            </a:r>
            <a:endParaRPr lang="en-US"/>
          </a:p>
        </p:txBody>
      </p:sp>
      <p:sp>
        <p:nvSpPr>
          <p:cNvPr id="207" name="Shape 20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08" name="Shape 20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Spatially offset hyperpolarization in T5</a:t>
            </a:r>
            <a:endParaRPr lang="en-US"/>
          </a:p>
        </p:txBody>
      </p:sp>
      <p:sp>
        <p:nvSpPr>
          <p:cNvPr id="209" name="Shape 209"/>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Gruntman and colleagues recorded T5 voltage while presenting OFF flashes at mapped positions. Dark bars evoked a central depolarizing field and spatially offset hyperpolarization.</a:t>
            </a:r>
            <a:endParaRPr lang="en-US"/>
          </a:p>
        </p:txBody>
      </p:sp>
      <p:sp>
        <p:nvSpPr>
          <p:cNvPr id="210" name="Shape 210"/>
          <p:cNvSpPr/>
          <p:nvPr/>
        </p:nvSpPr>
        <p:spPr>
          <a:xfrm>
            <a:off x="571500" y="2465784"/>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The selected traces compare dynamics across receptive-field positions. Leading-side responses rose and decayed differently from trailing-side responses. These comparisons used </a:t>
            </a:r>
            <a:r>
              <a:rPr sz="1725" b="1" i="0">
                <a:solidFill>
                  <a:srgbClr val="25262B"/>
                </a:solidFill>
                <a:latin typeface="Arial"/>
                <a:ea typeface="Arial"/>
              </a:rPr>
              <a:t>17 cells</a:t>
            </a:r>
            <a:r>
              <a:rPr sz="1725" b="0" i="0">
                <a:solidFill>
                  <a:srgbClr val="25262B"/>
                </a:solidFill>
                <a:latin typeface="Arial"/>
                <a:ea typeface="Arial"/>
              </a:rPr>
              <a:t xml:space="preserve"> and 160 ms flashes.</a:t>
            </a:r>
            <a:endParaRPr lang="en-US"/>
          </a:p>
        </p:txBody>
      </p:sp>
      <p:sp>
        <p:nvSpPr>
          <p:cNvPr id="211" name="Shape 211"/>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At some positions, hyperpolarization persisted beyond stimulus offset. It could therefore overlap subsequent excitation in a moving sequence and contribute to directional suppression.</a:t>
            </a:r>
            <a:endParaRPr lang="en-US"/>
          </a:p>
        </p:txBody>
      </p:sp>
      <p:sp>
        <p:nvSpPr>
          <p:cNvPr id="212" name="Shape 212"/>
          <p:cNvSpPr/>
          <p:nvPr/>
        </p:nvSpPr>
        <p:spPr>
          <a:xfrm>
            <a:off x="571500" y="4616053"/>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Hyperpolarization alone cannot distinguish direct inhibition from withdrawal of excitation. Models using these different mechanisms made distinct predictions for moving bars and gratings. The direct-inhibition model better captured the measured responses.</a:t>
            </a:r>
            <a:endParaRPr lang="en-US"/>
          </a:p>
        </p:txBody>
      </p:sp>
      <p:pic>
        <p:nvPicPr>
          <p:cNvPr id="149" name="Presenton Native Image 50" descr=""/>
          <p:cNvPicPr/>
          <p:nvPr/>
        </p:nvPicPr>
        <p:blipFill>
          <a:blip r:embed="rId3" cstate="none"/>
          <a:stretch>
            <a:fillRect/>
          </a:stretch>
        </p:blipFill>
        <p:spPr>
          <a:xfrm>
            <a:off x="8248135" y="1465064"/>
            <a:ext cx="2210830" cy="3981450"/>
          </a:xfrm>
          <a:prstGeom prst="rect">
            <a:avLst/>
          </a:prstGeom>
        </p:spPr>
      </p:pic>
      <p:sp>
        <p:nvSpPr>
          <p:cNvPr id="213" name="Shape 213"/>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Gruntman et al. (2019), Fig. 2B. Mean voltage for 160 ms flashes. Green: leading side. Black: center. Pink: trailing side.</a:t>
            </a:r>
            <a:endParaRPr lang="en-US"/>
          </a:p>
        </p:txBody>
      </p:sp>
      <p:pic>
        <p:nvPicPr>
          <p:cNvPr id="150" name="Presenton Native Image 51" descr=""/>
          <p:cNvPicPr/>
          <p:nvPr/>
        </p:nvPicPr>
        <p:blipFill>
          <a:blip r:embed="rId2" cstate="none"/>
          <a:stretch>
            <a:fillRect/>
          </a:stretch>
        </p:blipFill>
        <p:spPr>
          <a:xfrm>
            <a:off x="571500" y="6379369"/>
            <a:ext cx="11049000" cy="269081"/>
          </a:xfrm>
          <a:prstGeom prst="rect">
            <a:avLst/>
          </a:prstGeom>
        </p:spPr>
      </p:pic>
      <p:sp>
        <p:nvSpPr>
          <p:cNvPr id="214" name="Shape 21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Gruntman et al. (2019)</a:t>
            </a:r>
            <a:endParaRPr lang="en-US"/>
          </a:p>
        </p:txBody>
      </p:sp>
      <p:sp>
        <p:nvSpPr>
          <p:cNvPr id="215" name="Shape 21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16" name="Shape 21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Pairwise OFF flashes test the T5 computation</a:t>
            </a:r>
            <a:endParaRPr lang="en-US"/>
          </a:p>
        </p:txBody>
      </p:sp>
      <p:sp>
        <p:nvSpPr>
          <p:cNvPr id="217" name="Shape 217"/>
          <p:cNvSpPr/>
          <p:nvPr/>
        </p:nvSpPr>
        <p:spPr>
          <a:xfrm>
            <a:off x="571500" y="1390650"/>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investigators compared sequential OFF-flash responses with the time-aligned sum of responses to each component. A response above the sum supports enhancement. A response below it supports suppression.</a:t>
            </a:r>
            <a:endParaRPr lang="en-US"/>
          </a:p>
        </p:txBody>
      </p:sp>
      <p:sp>
        <p:nvSpPr>
          <p:cNvPr id="218" name="Shape 218"/>
          <p:cNvSpPr/>
          <p:nvPr/>
        </p:nvSpPr>
        <p:spPr>
          <a:xfrm>
            <a:off x="571500" y="2465784"/>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Across tested positions and durations, the voltage data showed robust null-direction suppression. Preferred-direction responses did not show corresponding systematic enhancement.</a:t>
            </a:r>
            <a:endParaRPr lang="en-US"/>
          </a:p>
        </p:txBody>
      </p:sp>
      <p:sp>
        <p:nvSpPr>
          <p:cNvPr id="219" name="Shape 219"/>
          <p:cNvSpPr/>
          <p:nvPr/>
        </p:nvSpPr>
        <p:spPr>
          <a:xfrm>
            <a:off x="571500" y="3540919"/>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top row quantifies directional differences. The middle and bottom rows measure deviations from linear summation for preferred and null directions. Negative values in the bottom row indicate suppression.</a:t>
            </a:r>
            <a:endParaRPr lang="en-US"/>
          </a:p>
        </p:txBody>
      </p:sp>
      <p:sp>
        <p:nvSpPr>
          <p:cNvPr id="220" name="Shape 220"/>
          <p:cNvSpPr/>
          <p:nvPr/>
        </p:nvSpPr>
        <p:spPr>
          <a:xfrm>
            <a:off x="571500" y="4616053"/>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This conclusion concerns the tested T5 voltage responses and stimuli. Calcium measurements or different stimulation regimes can reveal additional nonlinearities, so comparisons require matched measurement levels.</a:t>
            </a:r>
            <a:endParaRPr lang="en-US"/>
          </a:p>
        </p:txBody>
      </p:sp>
      <p:pic>
        <p:nvPicPr>
          <p:cNvPr id="151" name="Presenton Native Image 52" descr=""/>
          <p:cNvPicPr/>
          <p:nvPr/>
        </p:nvPicPr>
        <p:blipFill>
          <a:blip r:embed="rId3" cstate="none"/>
          <a:stretch>
            <a:fillRect/>
          </a:stretch>
        </p:blipFill>
        <p:spPr>
          <a:xfrm>
            <a:off x="7086600" y="1478406"/>
            <a:ext cx="4533900" cy="3772005"/>
          </a:xfrm>
          <a:prstGeom prst="rect">
            <a:avLst/>
          </a:prstGeom>
        </p:spPr>
      </p:pic>
      <p:sp>
        <p:nvSpPr>
          <p:cNvPr id="221" name="Shape 221"/>
          <p:cNvSpPr/>
          <p:nvPr/>
        </p:nvSpPr>
        <p:spPr>
          <a:xfrm>
            <a:off x="7086600" y="5469434"/>
            <a:ext cx="4552950" cy="548283"/>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Gruntman et al. (2019), Fig. 3D, 4.5°-wide bars at 40 and 160 ms. Boxplots compare preferred and null directions and deviations from summed responses.</a:t>
            </a:r>
            <a:endParaRPr lang="en-US"/>
          </a:p>
        </p:txBody>
      </p:sp>
      <p:pic>
        <p:nvPicPr>
          <p:cNvPr id="152" name="Presenton Native Image 53" descr=""/>
          <p:cNvPicPr/>
          <p:nvPr/>
        </p:nvPicPr>
        <p:blipFill>
          <a:blip r:embed="rId2" cstate="none"/>
          <a:stretch>
            <a:fillRect/>
          </a:stretch>
        </p:blipFill>
        <p:spPr>
          <a:xfrm>
            <a:off x="571500" y="6379369"/>
            <a:ext cx="11049000" cy="269081"/>
          </a:xfrm>
          <a:prstGeom prst="rect">
            <a:avLst/>
          </a:prstGeom>
        </p:spPr>
      </p:pic>
      <p:sp>
        <p:nvSpPr>
          <p:cNvPr id="222" name="Shape 22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Gruntman et al. (2019); Leong et al. (2016)</a:t>
            </a:r>
            <a:endParaRPr lang="en-US"/>
          </a:p>
        </p:txBody>
      </p:sp>
      <p:sp>
        <p:nvSpPr>
          <p:cNvPr id="223" name="Shape 22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24" name="Shape 22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Algorithmic models and biological mechanisms</a:t>
            </a:r>
            <a:endParaRPr lang="en-US"/>
          </a:p>
        </p:txBody>
      </p:sp>
      <p:sp>
        <p:nvSpPr>
          <p:cNvPr id="225" name="Shape 225"/>
          <p:cNvSpPr/>
          <p:nvPr/>
        </p:nvSpPr>
        <p:spPr>
          <a:xfrm>
            <a:off x="571500" y="1400175"/>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The Reichardt model emphasizes preferred-direction enhancement through correlation-like interaction. The Barlow–Levick model emphasizes null-direction suppression. Both can generate directional outputs, especially after opponent subtraction.</a:t>
            </a:r>
            <a:endParaRPr lang="en-US"/>
          </a:p>
        </p:txBody>
      </p:sp>
      <p:sp>
        <p:nvSpPr>
          <p:cNvPr id="226" name="Shape 226"/>
          <p:cNvSpPr/>
          <p:nvPr/>
        </p:nvSpPr>
        <p:spPr>
          <a:xfrm>
            <a:off x="571500" y="2274391"/>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A final turning response can conceal whether the local circuit enhanced one sequence or suppressed its reverse. Measuring internal signals helps distinguish these accounts.</a:t>
            </a:r>
            <a:endParaRPr lang="en-US"/>
          </a:p>
        </p:txBody>
      </p:sp>
      <p:sp>
        <p:nvSpPr>
          <p:cNvPr id="227" name="Shape 227"/>
          <p:cNvSpPr/>
          <p:nvPr/>
        </p:nvSpPr>
        <p:spPr>
          <a:xfrm>
            <a:off x="571500" y="2885777"/>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Fly circuits contain more inputs than the simplest two-branch diagrams. Conductance interactions, rectification, and downstream calcium transformations contribute different nonlinearities.</a:t>
            </a:r>
            <a:endParaRPr lang="en-US"/>
          </a:p>
        </p:txBody>
      </p:sp>
      <p:pic>
        <p:nvPicPr>
          <p:cNvPr id="153" name="Presenton Native Image 54" descr=""/>
          <p:cNvPicPr/>
          <p:nvPr/>
        </p:nvPicPr>
        <p:blipFill>
          <a:blip r:embed="rId3" cstate="none"/>
          <a:stretch>
            <a:fillRect/>
          </a:stretch>
        </p:blipFill>
        <p:spPr>
          <a:xfrm>
            <a:off x="571500" y="3544788"/>
            <a:ext cx="11049000" cy="1960215"/>
          </a:xfrm>
          <a:prstGeom prst="rect">
            <a:avLst/>
          </a:prstGeom>
        </p:spPr>
      </p:pic>
      <p:pic>
        <p:nvPicPr>
          <p:cNvPr id="154" name="Presenton Native Image 55" descr=""/>
          <p:cNvPicPr/>
          <p:nvPr/>
        </p:nvPicPr>
        <p:blipFill>
          <a:blip r:embed="rId2" cstate="none"/>
          <a:stretch>
            <a:fillRect/>
          </a:stretch>
        </p:blipFill>
        <p:spPr>
          <a:xfrm>
            <a:off x="571500" y="6379369"/>
            <a:ext cx="11049000" cy="269081"/>
          </a:xfrm>
          <a:prstGeom prst="rect">
            <a:avLst/>
          </a:prstGeom>
        </p:spPr>
      </p:pic>
      <p:sp>
        <p:nvSpPr>
          <p:cNvPr id="228" name="Shape 228"/>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Leong et al. (2016); Gruntman et al. (2018); Gruntman et al. (2019); Groschner et al. (2022)</a:t>
            </a:r>
            <a:endParaRPr lang="en-US"/>
          </a:p>
        </p:txBody>
      </p:sp>
      <p:sp>
        <p:nvSpPr>
          <p:cNvPr id="229" name="Shape 229"/>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30" name="Shape 230"/>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Local direction selectivity survives output blockade</a:t>
            </a:r>
            <a:endParaRPr lang="en-US"/>
          </a:p>
        </p:txBody>
      </p:sp>
      <p:sp>
        <p:nvSpPr>
          <p:cNvPr id="231" name="Shape 231"/>
          <p:cNvSpPr/>
          <p:nvPr/>
        </p:nvSpPr>
        <p:spPr>
          <a:xfrm>
            <a:off x="571500" y="1390650"/>
            <a:ext cx="6115050" cy="749201"/>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If T4/T5 direction selectivity depended on reciprocal interactions through their outputs, blocking synaptic release should remove that selectivity.</a:t>
            </a:r>
            <a:endParaRPr lang="en-US"/>
          </a:p>
        </p:txBody>
      </p:sp>
      <p:sp>
        <p:nvSpPr>
          <p:cNvPr id="232" name="Shape 232"/>
          <p:cNvSpPr/>
          <p:nvPr/>
        </p:nvSpPr>
        <p:spPr>
          <a:xfrm>
            <a:off x="571500" y="2216051"/>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Haag and colleagues expressed tetanus toxin light chain in T4/T5 neurons and measured their calcium responses. Strong preferred-direction tuning remained despite output blockade.</a:t>
            </a:r>
            <a:endParaRPr lang="en-US"/>
          </a:p>
        </p:txBody>
      </p:sp>
      <p:sp>
        <p:nvSpPr>
          <p:cNvPr id="233" name="Shape 233"/>
          <p:cNvSpPr/>
          <p:nvPr/>
        </p:nvSpPr>
        <p:spPr>
          <a:xfrm>
            <a:off x="571500" y="3291185"/>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upper panels compare temporal-frequency tuning, and the lower panels compare direction tuning at 1 Hz. Controls included 15 flies for frequency tuning and seven for direction tuning. Each blocked group included nine flies.</a:t>
            </a:r>
            <a:endParaRPr lang="en-US"/>
          </a:p>
        </p:txBody>
      </p:sp>
      <p:sp>
        <p:nvSpPr>
          <p:cNvPr id="234" name="Shape 234"/>
          <p:cNvSpPr/>
          <p:nvPr/>
        </p:nvSpPr>
        <p:spPr>
          <a:xfrm>
            <a:off x="571500" y="4616053"/>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This places the essential local computation upstream of effective T4/T5 output. It argues against a requirement for output-mediated opponent feedback in the tested responses, while leaving room for recurrent effects under other conditions.</a:t>
            </a:r>
            <a:endParaRPr lang="en-US"/>
          </a:p>
        </p:txBody>
      </p:sp>
      <p:pic>
        <p:nvPicPr>
          <p:cNvPr id="155" name="Presenton Native Image 56" descr=""/>
          <p:cNvPicPr/>
          <p:nvPr/>
        </p:nvPicPr>
        <p:blipFill>
          <a:blip r:embed="rId3" cstate="none"/>
          <a:stretch>
            <a:fillRect/>
          </a:stretch>
        </p:blipFill>
        <p:spPr>
          <a:xfrm>
            <a:off x="7086600" y="1713476"/>
            <a:ext cx="4533900" cy="3484626"/>
          </a:xfrm>
          <a:prstGeom prst="rect">
            <a:avLst/>
          </a:prstGeom>
        </p:spPr>
      </p:pic>
      <p:sp>
        <p:nvSpPr>
          <p:cNvPr id="235" name="Shape 235"/>
          <p:cNvSpPr/>
          <p:nvPr/>
        </p:nvSpPr>
        <p:spPr>
          <a:xfrm>
            <a:off x="7086600" y="5560814"/>
            <a:ext cx="4552950" cy="365522"/>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Haag et al. (2016), Fig. 6. Calcium responses with intact or blocked output. Mean ± SEM, with separate normalization.</a:t>
            </a:r>
            <a:endParaRPr lang="en-US"/>
          </a:p>
        </p:txBody>
      </p:sp>
      <p:pic>
        <p:nvPicPr>
          <p:cNvPr id="156" name="Presenton Native Image 57" descr=""/>
          <p:cNvPicPr/>
          <p:nvPr/>
        </p:nvPicPr>
        <p:blipFill>
          <a:blip r:embed="rId2" cstate="none"/>
          <a:stretch>
            <a:fillRect/>
          </a:stretch>
        </p:blipFill>
        <p:spPr>
          <a:xfrm>
            <a:off x="571500" y="6379369"/>
            <a:ext cx="11049000" cy="269081"/>
          </a:xfrm>
          <a:prstGeom prst="rect">
            <a:avLst/>
          </a:prstGeom>
        </p:spPr>
      </p:pic>
      <p:sp>
        <p:nvSpPr>
          <p:cNvPr id="236" name="Shape 236"/>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Haag et al. (2016); Takemura et al. (2017)</a:t>
            </a:r>
            <a:endParaRPr lang="en-US"/>
          </a:p>
        </p:txBody>
      </p:sp>
      <p:sp>
        <p:nvSpPr>
          <p:cNvPr id="237" name="Shape 237"/>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38" name="Shape 238"/>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T4/T5 recruit excitation and delayed inhibition</a:t>
            </a:r>
            <a:endParaRPr lang="en-US"/>
          </a:p>
        </p:txBody>
      </p:sp>
      <p:pic>
        <p:nvPicPr>
          <p:cNvPr id="157" name="Presenton Native Image 58" descr=""/>
          <p:cNvPicPr/>
          <p:nvPr/>
        </p:nvPicPr>
        <p:blipFill>
          <a:blip r:embed="rId3" cstate="none"/>
          <a:stretch>
            <a:fillRect/>
          </a:stretch>
        </p:blipFill>
        <p:spPr>
          <a:xfrm>
            <a:off x="2098511" y="1019175"/>
            <a:ext cx="7994978" cy="2190750"/>
          </a:xfrm>
          <a:prstGeom prst="rect">
            <a:avLst/>
          </a:prstGeom>
        </p:spPr>
      </p:pic>
      <p:sp>
        <p:nvSpPr>
          <p:cNvPr id="239" name="Shape 239"/>
          <p:cNvSpPr/>
          <p:nvPr/>
        </p:nvSpPr>
        <p:spPr>
          <a:xfrm>
            <a:off x="571500" y="3286125"/>
            <a:ext cx="11068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Mauss et al. (2014), Fig. 2A–C, with the shared scale bar from F. Panel C: experimental n = 7, control n = 4 cells.</a:t>
            </a:r>
            <a:endParaRPr lang="en-US"/>
          </a:p>
        </p:txBody>
      </p:sp>
      <p:sp>
        <p:nvSpPr>
          <p:cNvPr id="240" name="Shape 240"/>
          <p:cNvSpPr/>
          <p:nvPr/>
        </p:nvSpPr>
        <p:spPr>
          <a:xfrm>
            <a:off x="571500" y="3733800"/>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Mauss and colleagues expressed channelrhodopsin in T4/T5 and recorded from downstream tangential cells. A brief light pulse directly activated the targeted neurons.</a:t>
            </a:r>
            <a:endParaRPr lang="en-US"/>
          </a:p>
        </p:txBody>
      </p:sp>
      <p:sp>
        <p:nvSpPr>
          <p:cNvPr id="241" name="Shape 241"/>
          <p:cNvSpPr/>
          <p:nvPr/>
        </p:nvSpPr>
        <p:spPr>
          <a:xfrm>
            <a:off x="571500" y="4799409"/>
            <a:ext cx="525780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A rapid postsynaptic depolarization preceded hyperpolarization. Both components persisted in </a:t>
            </a:r>
            <a:r>
              <a:rPr sz="1725" b="1" i="0">
                <a:solidFill>
                  <a:srgbClr val="25262B"/>
                </a:solidFill>
                <a:latin typeface="Arial"/>
                <a:ea typeface="Arial"/>
              </a:rPr>
              <a:t>norpA</a:t>
            </a:r>
            <a:r>
              <a:rPr sz="1725" b="0" i="0">
                <a:solidFill>
                  <a:srgbClr val="25262B"/>
                </a:solidFill>
                <a:latin typeface="Arial"/>
                <a:ea typeface="Arial"/>
              </a:rPr>
              <a:t xml:space="preserve"> flies lacking normal phototransduction, supporting transmission through the optogenetic pathway.</a:t>
            </a:r>
            <a:endParaRPr lang="en-US"/>
          </a:p>
        </p:txBody>
      </p:sp>
      <p:sp>
        <p:nvSpPr>
          <p:cNvPr id="242" name="Shape 242"/>
          <p:cNvSpPr/>
          <p:nvPr/>
        </p:nvSpPr>
        <p:spPr>
          <a:xfrm>
            <a:off x="6353175" y="3733800"/>
            <a:ext cx="5286375"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Controls lacking channelrhodopsin separated ordinary visual responses from actuator-driven responses. The inhibitory phase follows activation of the targeted T4/T5 population.</a:t>
            </a:r>
            <a:endParaRPr lang="en-US"/>
          </a:p>
        </p:txBody>
      </p:sp>
      <p:sp>
        <p:nvSpPr>
          <p:cNvPr id="243" name="Shape 243"/>
          <p:cNvSpPr/>
          <p:nvPr/>
        </p:nvSpPr>
        <p:spPr>
          <a:xfrm>
            <a:off x="6353175" y="4799409"/>
            <a:ext cx="5286375"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Cholinergic T4/T5 output recruits direct excitation and indirect inhibition. A biphasic trace cannot establish release of opposing transmitters by T4/T5. Pharmacology tests the intervening synapses.</a:t>
            </a:r>
            <a:endParaRPr lang="en-US"/>
          </a:p>
        </p:txBody>
      </p:sp>
      <p:pic>
        <p:nvPicPr>
          <p:cNvPr id="158" name="Presenton Native Image 59" descr=""/>
          <p:cNvPicPr/>
          <p:nvPr/>
        </p:nvPicPr>
        <p:blipFill>
          <a:blip r:embed="rId2" cstate="none"/>
          <a:stretch>
            <a:fillRect/>
          </a:stretch>
        </p:blipFill>
        <p:spPr>
          <a:xfrm>
            <a:off x="571500" y="6379369"/>
            <a:ext cx="11049000" cy="269081"/>
          </a:xfrm>
          <a:prstGeom prst="rect">
            <a:avLst/>
          </a:prstGeom>
        </p:spPr>
      </p:pic>
      <p:sp>
        <p:nvSpPr>
          <p:cNvPr id="244" name="Shape 24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Mauss et al. (2014)</a:t>
            </a:r>
            <a:endParaRPr lang="en-US"/>
          </a:p>
        </p:txBody>
      </p:sp>
      <p:sp>
        <p:nvSpPr>
          <p:cNvPr id="245" name="Shape 24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46" name="Shape 24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Pharmacology separates synaptic mechanisms</a:t>
            </a:r>
            <a:endParaRPr lang="en-US"/>
          </a:p>
        </p:txBody>
      </p:sp>
      <p:sp>
        <p:nvSpPr>
          <p:cNvPr id="247" name="Shape 247"/>
          <p:cNvSpPr/>
          <p:nvPr/>
        </p:nvSpPr>
        <p:spPr>
          <a:xfrm>
            <a:off x="571500" y="1400175"/>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Applied acetylcholine depolarized tangential cells even when low-calcium, high-magnesium saline suppressed network transmission, supporting a direct excitatory action.</a:t>
            </a:r>
            <a:endParaRPr lang="en-US"/>
          </a:p>
        </p:txBody>
      </p:sp>
      <p:sp>
        <p:nvSpPr>
          <p:cNvPr id="248" name="Shape 248"/>
          <p:cNvSpPr/>
          <p:nvPr/>
        </p:nvSpPr>
        <p:spPr>
          <a:xfrm>
            <a:off x="571500" y="2011561"/>
            <a:ext cx="11068050" cy="52566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The delayed inhibitory response depended on network transmission. Antagonist experiments separated cholinergic excitation from chloride-mediated inhibition.</a:t>
            </a:r>
            <a:endParaRPr lang="en-US"/>
          </a:p>
        </p:txBody>
      </p:sp>
      <p:sp>
        <p:nvSpPr>
          <p:cNvPr id="249" name="Shape 249"/>
          <p:cNvSpPr/>
          <p:nvPr/>
        </p:nvSpPr>
        <p:spPr>
          <a:xfrm>
            <a:off x="571500" y="2622947"/>
            <a:ext cx="11068050" cy="788491"/>
          </a:xfrm>
          <a:prstGeom prst="rect">
            <a:avLst/>
          </a:prstGeom>
          <a:noFill/>
        </p:spPr>
        <p:txBody>
          <a:bodyPr anchor="t" wrap="square" tIns="0" bIns="0" lIns="0" rIns="0">
            <a:normAutofit/>
          </a:bodyPr>
          <a:lstStyle/>
          <a:p>
            <a:pPr algn="l">
              <a:lnSpc>
                <a:spcPts val="2070"/>
              </a:lnSpc>
              <a:buNone/>
            </a:pPr>
            <a:r>
              <a:rPr sz="1725" b="0" i="0">
                <a:solidFill>
                  <a:srgbClr val="25262B"/>
                </a:solidFill>
                <a:latin typeface="Arial"/>
                <a:ea typeface="Arial"/>
              </a:rPr>
              <a:t>Picrotoxin reduced both GABA and glutamate responses here. Its effect alone therefore could not identify the inhibitory transmitter. Percentages below refer to normalized response components, rather than receptor occupancy.</a:t>
            </a:r>
            <a:endParaRPr lang="en-US"/>
          </a:p>
        </p:txBody>
      </p:sp>
      <p:pic>
        <p:nvPicPr>
          <p:cNvPr id="159" name="Presenton Native Image 60" descr=""/>
          <p:cNvPicPr/>
          <p:nvPr/>
        </p:nvPicPr>
        <p:blipFill>
          <a:blip r:embed="rId3" cstate="none"/>
          <a:stretch>
            <a:fillRect/>
          </a:stretch>
        </p:blipFill>
        <p:spPr>
          <a:xfrm>
            <a:off x="571500" y="3544788"/>
            <a:ext cx="11049000" cy="2192238"/>
          </a:xfrm>
          <a:prstGeom prst="rect">
            <a:avLst/>
          </a:prstGeom>
        </p:spPr>
      </p:pic>
      <p:pic>
        <p:nvPicPr>
          <p:cNvPr id="160" name="Presenton Native Image 61" descr=""/>
          <p:cNvPicPr/>
          <p:nvPr/>
        </p:nvPicPr>
        <p:blipFill>
          <a:blip r:embed="rId2" cstate="none"/>
          <a:stretch>
            <a:fillRect/>
          </a:stretch>
        </p:blipFill>
        <p:spPr>
          <a:xfrm>
            <a:off x="571500" y="6379369"/>
            <a:ext cx="11049000" cy="269081"/>
          </a:xfrm>
          <a:prstGeom prst="rect">
            <a:avLst/>
          </a:prstGeom>
        </p:spPr>
      </p:pic>
      <p:sp>
        <p:nvSpPr>
          <p:cNvPr id="250" name="Shape 25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Mauss et al. (2014)</a:t>
            </a:r>
            <a:endParaRPr lang="en-US"/>
          </a:p>
        </p:txBody>
      </p:sp>
      <p:sp>
        <p:nvSpPr>
          <p:cNvPr id="251" name="Shape 25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52" name="Shape 25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Lobula plate interneurons implement opponency</a:t>
            </a:r>
            <a:endParaRPr lang="en-US"/>
          </a:p>
        </p:txBody>
      </p:sp>
      <p:sp>
        <p:nvSpPr>
          <p:cNvPr id="253" name="Shape 253"/>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Local lobula plate interneurons, called </a:t>
            </a:r>
            <a:r>
              <a:rPr sz="1800" b="1" i="0">
                <a:solidFill>
                  <a:srgbClr val="25262B"/>
                </a:solidFill>
                <a:latin typeface="Arial"/>
                <a:ea typeface="Arial"/>
              </a:rPr>
              <a:t>LPi neurons</a:t>
            </a:r>
            <a:r>
              <a:rPr sz="1800" b="0" i="0">
                <a:solidFill>
                  <a:srgbClr val="25262B"/>
                </a:solidFill>
                <a:latin typeface="Arial"/>
                <a:ea typeface="Arial"/>
              </a:rPr>
              <a:t>, connect neighboring layers with opposite directional preferences. T4/T5 can excite tangential cells directly while recruiting inhibition of an oppositely tuned pathway.</a:t>
            </a:r>
            <a:endParaRPr lang="en-US"/>
          </a:p>
        </p:txBody>
      </p:sp>
      <p:sp>
        <p:nvSpPr>
          <p:cNvPr id="254" name="Shape 254"/>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Mauss and colleagues combined anatomy, molecular characterization, recordings, and manipulation to identify this circuit. The interneurons convey direction-selective inhibition and help reject inappropriate responses to complex motion patterns.</a:t>
            </a:r>
            <a:endParaRPr lang="en-US"/>
          </a:p>
        </p:txBody>
      </p:sp>
      <p:sp>
        <p:nvSpPr>
          <p:cNvPr id="255" name="Shape 255"/>
          <p:cNvSpPr/>
          <p:nvPr/>
        </p:nvSpPr>
        <p:spPr>
          <a:xfrm>
            <a:off x="571500" y="3441502"/>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This processing stage follows the generation of direction selectivity in a T4 or T5 dendrite. Local detectors already carry directional information before converging on the opponent circuit.</a:t>
            </a:r>
            <a:endParaRPr lang="en-US"/>
          </a:p>
        </p:txBody>
      </p:sp>
      <p:sp>
        <p:nvSpPr>
          <p:cNvPr id="256" name="Shape 256"/>
          <p:cNvSpPr/>
          <p:nvPr/>
        </p:nvSpPr>
        <p:spPr>
          <a:xfrm>
            <a:off x="571500" y="4150519"/>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With competing stimulus directions, the balance of excitatory and inhibitory population activity determines wide-field output. The spatial arrangement helps retain the pattern associated with relevant optic flow.</a:t>
            </a:r>
            <a:endParaRPr lang="en-US"/>
          </a:p>
        </p:txBody>
      </p:sp>
      <p:pic>
        <p:nvPicPr>
          <p:cNvPr id="161" name="Presenton Native Image 62" descr=""/>
          <p:cNvPicPr/>
          <p:nvPr/>
        </p:nvPicPr>
        <p:blipFill>
          <a:blip r:embed="rId2" cstate="none"/>
          <a:stretch>
            <a:fillRect/>
          </a:stretch>
        </p:blipFill>
        <p:spPr>
          <a:xfrm>
            <a:off x="571500" y="6379369"/>
            <a:ext cx="11049000" cy="269081"/>
          </a:xfrm>
          <a:prstGeom prst="rect">
            <a:avLst/>
          </a:prstGeom>
        </p:spPr>
      </p:pic>
      <p:sp>
        <p:nvSpPr>
          <p:cNvPr id="257" name="Shape 257"/>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Mauss et al. (2015); Mauss et al. (2014); Haag et al. (2016)</a:t>
            </a:r>
            <a:endParaRPr lang="en-US"/>
          </a:p>
        </p:txBody>
      </p:sp>
      <p:sp>
        <p:nvSpPr>
          <p:cNvPr id="258" name="Shape 258"/>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59" name="Shape 259"/>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Wide-field integration in HS and VS neurons</a:t>
            </a:r>
            <a:endParaRPr lang="en-US"/>
          </a:p>
        </p:txBody>
      </p:sp>
      <p:sp>
        <p:nvSpPr>
          <p:cNvPr id="260" name="Shape 260"/>
          <p:cNvSpPr/>
          <p:nvPr/>
        </p:nvSpPr>
        <p:spPr>
          <a:xfrm>
            <a:off x="571500" y="1438275"/>
            <a:ext cx="10972800" cy="585192"/>
          </a:xfrm>
          <a:prstGeom prst="rect">
            <a:avLst/>
          </a:prstGeom>
          <a:noFill/>
        </p:spPr>
        <p:txBody>
          <a:bodyPr anchor="t" wrap="square" tIns="0" bIns="0" lIns="0" rIns="0">
            <a:normAutofit/>
          </a:bodyPr>
          <a:lstStyle/>
          <a:p>
            <a:pPr algn="l">
              <a:lnSpc>
                <a:spcPts val="2304"/>
              </a:lnSpc>
              <a:buNone/>
            </a:pPr>
            <a:r>
              <a:rPr sz="1800" b="1" i="0">
                <a:solidFill>
                  <a:srgbClr val="25262B"/>
                </a:solidFill>
                <a:latin typeface="Arial"/>
                <a:ea typeface="Arial"/>
              </a:rPr>
              <a:t>Horizontal-system (HS)</a:t>
            </a:r>
            <a:r>
              <a:rPr sz="1800" b="0" i="0">
                <a:solidFill>
                  <a:srgbClr val="25262B"/>
                </a:solidFill>
                <a:latin typeface="Arial"/>
                <a:ea typeface="Arial"/>
              </a:rPr>
              <a:t xml:space="preserve"> and </a:t>
            </a:r>
            <a:r>
              <a:rPr sz="1800" b="1" i="0">
                <a:solidFill>
                  <a:srgbClr val="25262B"/>
                </a:solidFill>
                <a:latin typeface="Arial"/>
                <a:ea typeface="Arial"/>
              </a:rPr>
              <a:t>vertical-system (VS)</a:t>
            </a:r>
            <a:r>
              <a:rPr sz="1800" b="0" i="0">
                <a:solidFill>
                  <a:srgbClr val="25262B"/>
                </a:solidFill>
                <a:latin typeface="Arial"/>
                <a:ea typeface="Arial"/>
              </a:rPr>
              <a:t xml:space="preserve"> neurons extend broad dendrites through the lobula plate. Their receptive fields pool signals from many local motion detectors.</a:t>
            </a:r>
            <a:endParaRPr lang="en-US"/>
          </a:p>
        </p:txBody>
      </p:sp>
      <p:sp>
        <p:nvSpPr>
          <p:cNvPr id="261" name="Shape 261"/>
          <p:cNvSpPr/>
          <p:nvPr/>
        </p:nvSpPr>
        <p:spPr>
          <a:xfrm>
            <a:off x="571500" y="2147292"/>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Individual detector responses depend on texture, contrast, and pattern phase. Spatial integration can reduce fluctuations associated with individual features while preserving directional population signals.</a:t>
            </a:r>
            <a:endParaRPr lang="en-US"/>
          </a:p>
        </p:txBody>
      </p:sp>
      <p:sp>
        <p:nvSpPr>
          <p:cNvPr id="262" name="Shape 262"/>
          <p:cNvSpPr/>
          <p:nvPr/>
        </p:nvSpPr>
        <p:spPr>
          <a:xfrm>
            <a:off x="571500" y="314890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Single and Borst measured dendritic calcium and output signals in fly tangential cells. Local dendritic activity retained pattern-dependent modulations, whereas integration reduced these modulations at the output.</a:t>
            </a:r>
            <a:endParaRPr lang="en-US"/>
          </a:p>
        </p:txBody>
      </p:sp>
      <p:sp>
        <p:nvSpPr>
          <p:cNvPr id="263" name="Shape 263"/>
          <p:cNvSpPr/>
          <p:nvPr/>
        </p:nvSpPr>
        <p:spPr>
          <a:xfrm>
            <a:off x="571500" y="4150519"/>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Responses still depend on stimulus and circuit state. Spatial weights and the preferred directions of contributing detectors determine which global flow patterns a wide-field cell represents. Anatomy and behavioral intervention establish how those patterns guide movement.</a:t>
            </a:r>
            <a:endParaRPr lang="en-US"/>
          </a:p>
        </p:txBody>
      </p:sp>
      <p:pic>
        <p:nvPicPr>
          <p:cNvPr id="162" name="Presenton Native Image 63" descr=""/>
          <p:cNvPicPr/>
          <p:nvPr/>
        </p:nvPicPr>
        <p:blipFill>
          <a:blip r:embed="rId2" cstate="none"/>
          <a:stretch>
            <a:fillRect/>
          </a:stretch>
        </p:blipFill>
        <p:spPr>
          <a:xfrm>
            <a:off x="571500" y="6379369"/>
            <a:ext cx="11049000" cy="269081"/>
          </a:xfrm>
          <a:prstGeom prst="rect">
            <a:avLst/>
          </a:prstGeom>
        </p:spPr>
      </p:pic>
      <p:sp>
        <p:nvSpPr>
          <p:cNvPr id="264" name="Shape 26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Single </a:t>
            </a:r>
            <a:r>
              <a:rPr sz="1125" b="0" i="0">
                <a:solidFill>
                  <a:srgbClr val="665B60"/>
                </a:solidFill>
                <a:latin typeface="Arial"/>
                <a:ea typeface="Arial"/>
              </a:rPr>
              <a:t>&amp;</a:t>
            </a:r>
            <a:r>
              <a:rPr sz="1125" b="0" i="0">
                <a:solidFill>
                  <a:srgbClr val="665B60"/>
                </a:solidFill>
                <a:latin typeface="Arial"/>
                <a:ea typeface="Arial"/>
              </a:rPr>
              <a:t xml:space="preserve"> Borst (1998); Haag et al. (2004); Henning et al. (2022)</a:t>
            </a:r>
            <a:endParaRPr lang="en-US"/>
          </a:p>
        </p:txBody>
      </p:sp>
      <p:sp>
        <p:nvSpPr>
          <p:cNvPr id="265" name="Shape 26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66" name="Shape 26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Activating HS neurons produces steering signals</a:t>
            </a:r>
            <a:endParaRPr lang="en-US"/>
          </a:p>
        </p:txBody>
      </p:sp>
      <p:pic>
        <p:nvPicPr>
          <p:cNvPr id="163" name="Presenton Native Image 64" descr=""/>
          <p:cNvPicPr/>
          <p:nvPr/>
        </p:nvPicPr>
        <p:blipFill>
          <a:blip r:embed="rId3" cstate="none"/>
          <a:stretch>
            <a:fillRect/>
          </a:stretch>
        </p:blipFill>
        <p:spPr>
          <a:xfrm>
            <a:off x="3162778" y="1019175"/>
            <a:ext cx="5866444" cy="2190750"/>
          </a:xfrm>
          <a:prstGeom prst="rect">
            <a:avLst/>
          </a:prstGeom>
        </p:spPr>
      </p:pic>
      <p:sp>
        <p:nvSpPr>
          <p:cNvPr id="267" name="Shape 267"/>
          <p:cNvSpPr/>
          <p:nvPr/>
        </p:nvSpPr>
        <p:spPr>
          <a:xfrm>
            <a:off x="571500" y="3286125"/>
            <a:ext cx="11068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Haikala et al. (2013), Fig. 4B. Blind-fly flight assay, mean ± SEM. LWB–RWB: left minus right wingbeat amplitude. Significant comparisons: p </a:t>
            </a:r>
            <a:r>
              <a:rPr sz="1125" b="0" i="0">
                <a:solidFill>
                  <a:srgbClr val="665B60"/>
                </a:solidFill>
                <a:latin typeface="Arial"/>
                <a:ea typeface="Arial"/>
              </a:rPr>
              <a:t>&lt;</a:t>
            </a:r>
            <a:r>
              <a:rPr sz="1125" b="0" i="0">
                <a:solidFill>
                  <a:srgbClr val="665B60"/>
                </a:solidFill>
                <a:latin typeface="Arial"/>
                <a:ea typeface="Arial"/>
              </a:rPr>
              <a:t xml:space="preserve"> 0.01.</a:t>
            </a:r>
            <a:endParaRPr lang="en-US"/>
          </a:p>
        </p:txBody>
      </p:sp>
      <p:sp>
        <p:nvSpPr>
          <p:cNvPr id="268" name="Shape 268"/>
          <p:cNvSpPr/>
          <p:nvPr/>
        </p:nvSpPr>
        <p:spPr>
          <a:xfrm>
            <a:off x="571500" y="3733800"/>
            <a:ext cx="525780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Haikala and colleagues expressed ChR2-C128S, a long-lasting channelrhodopsin variant, in HS neurons. Blue light opened the channel, and a longer-wavelength pulse terminated its conducting state.</a:t>
            </a:r>
            <a:endParaRPr lang="en-US"/>
          </a:p>
        </p:txBody>
      </p:sp>
      <p:sp>
        <p:nvSpPr>
          <p:cNvPr id="269" name="Shape 269"/>
          <p:cNvSpPr/>
          <p:nvPr/>
        </p:nvSpPr>
        <p:spPr>
          <a:xfrm>
            <a:off x="571500" y="5049143"/>
            <a:ext cx="525780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In phototransduction-defective </a:t>
            </a:r>
            <a:r>
              <a:rPr sz="1725" b="1" i="0">
                <a:solidFill>
                  <a:srgbClr val="25262B"/>
                </a:solidFill>
                <a:latin typeface="Arial"/>
                <a:ea typeface="Arial"/>
              </a:rPr>
              <a:t>norpA</a:t>
            </a:r>
            <a:r>
              <a:rPr sz="1725" b="0" i="0">
                <a:solidFill>
                  <a:srgbClr val="25262B"/>
                </a:solidFill>
                <a:latin typeface="Arial"/>
                <a:ea typeface="Arial"/>
              </a:rPr>
              <a:t xml:space="preserve"> flies, unilateral activation produced sustained wingbeat asymmetry despite failure of ordinary visual stimulation. Targeted HS activity can therefore drive steering.</a:t>
            </a:r>
            <a:endParaRPr lang="en-US"/>
          </a:p>
        </p:txBody>
      </p:sp>
      <p:sp>
        <p:nvSpPr>
          <p:cNvPr id="270" name="Shape 270"/>
          <p:cNvSpPr/>
          <p:nvPr/>
        </p:nvSpPr>
        <p:spPr>
          <a:xfrm>
            <a:off x="6353175" y="3733800"/>
            <a:ext cx="5286375"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data compare 29 experimental flies with 31 controls lacking dietary retinal and 29 driver-only controls. Retinal is the actuator’s light-absorbing cofactor.</a:t>
            </a:r>
            <a:endParaRPr lang="en-US"/>
          </a:p>
        </p:txBody>
      </p:sp>
      <p:sp>
        <p:nvSpPr>
          <p:cNvPr id="271" name="Shape 271"/>
          <p:cNvSpPr/>
          <p:nvPr/>
        </p:nvSpPr>
        <p:spPr>
          <a:xfrm>
            <a:off x="6353175" y="4799409"/>
            <a:ext cx="5286375"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measurement is left–right wingbeat difference, a signal related to yaw torque rather than a free-flight trajectory. The experiment supports sufficiency of targeted HS activity for a component of optomotor steering.</a:t>
            </a:r>
            <a:endParaRPr lang="en-US"/>
          </a:p>
        </p:txBody>
      </p:sp>
      <p:pic>
        <p:nvPicPr>
          <p:cNvPr id="164" name="Presenton Native Image 65" descr=""/>
          <p:cNvPicPr/>
          <p:nvPr/>
        </p:nvPicPr>
        <p:blipFill>
          <a:blip r:embed="rId2" cstate="none"/>
          <a:stretch>
            <a:fillRect/>
          </a:stretch>
        </p:blipFill>
        <p:spPr>
          <a:xfrm>
            <a:off x="571500" y="6379369"/>
            <a:ext cx="11049000" cy="269081"/>
          </a:xfrm>
          <a:prstGeom prst="rect">
            <a:avLst/>
          </a:prstGeom>
        </p:spPr>
      </p:pic>
      <p:sp>
        <p:nvSpPr>
          <p:cNvPr id="272" name="Shape 27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Haikala et al. (2013)</a:t>
            </a:r>
            <a:endParaRPr lang="en-US"/>
          </a:p>
        </p:txBody>
      </p:sp>
      <p:sp>
        <p:nvSpPr>
          <p:cNvPr id="273" name="Shape 27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74" name="Shape 27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Walking changes visual motion sensitivity</a:t>
            </a:r>
            <a:endParaRPr lang="en-US"/>
          </a:p>
        </p:txBody>
      </p:sp>
      <p:pic>
        <p:nvPicPr>
          <p:cNvPr id="165" name="Presenton Native Image 66" descr=""/>
          <p:cNvPicPr/>
          <p:nvPr/>
        </p:nvPicPr>
        <p:blipFill>
          <a:blip r:embed="rId3" cstate="none"/>
          <a:stretch>
            <a:fillRect/>
          </a:stretch>
        </p:blipFill>
        <p:spPr>
          <a:xfrm>
            <a:off x="3960171" y="1019175"/>
            <a:ext cx="4271657" cy="2190750"/>
          </a:xfrm>
          <a:prstGeom prst="rect">
            <a:avLst/>
          </a:prstGeom>
        </p:spPr>
      </p:pic>
      <p:sp>
        <p:nvSpPr>
          <p:cNvPr id="275" name="Shape 275"/>
          <p:cNvSpPr/>
          <p:nvPr/>
        </p:nvSpPr>
        <p:spPr>
          <a:xfrm>
            <a:off x="571500" y="3286125"/>
            <a:ext cx="11068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Chiappe et al. (2010), Fig. 4B–C. Mean ± SEM. Gain equals walking response divided by stationary response at the same frequency.</a:t>
            </a:r>
            <a:endParaRPr lang="en-US"/>
          </a:p>
        </p:txBody>
      </p:sp>
      <p:sp>
        <p:nvSpPr>
          <p:cNvPr id="276" name="Shape 276"/>
          <p:cNvSpPr/>
          <p:nvPr/>
        </p:nvSpPr>
        <p:spPr>
          <a:xfrm>
            <a:off x="571500" y="3733800"/>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Chiappe and colleagues imaged HSN dendritic calcium while tethered flies walked on a ball. Identical gratings were presented during walking and stationary periods.</a:t>
            </a:r>
            <a:endParaRPr lang="en-US"/>
          </a:p>
        </p:txBody>
      </p:sp>
      <p:sp>
        <p:nvSpPr>
          <p:cNvPr id="277" name="Shape 277"/>
          <p:cNvSpPr/>
          <p:nvPr/>
        </p:nvSpPr>
        <p:spPr>
          <a:xfrm>
            <a:off x="571500" y="4799409"/>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Walking increased response amplitude and shifted tuning toward higher temporal frequencies. The change differed across stimulus frequencies rather than uniformly multiplying every response.</a:t>
            </a:r>
            <a:endParaRPr lang="en-US"/>
          </a:p>
        </p:txBody>
      </p:sp>
      <p:sp>
        <p:nvSpPr>
          <p:cNvPr id="278" name="Shape 278"/>
          <p:cNvSpPr/>
          <p:nvPr/>
        </p:nvSpPr>
        <p:spPr>
          <a:xfrm>
            <a:off x="6353175" y="3733800"/>
            <a:ext cx="5286375"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Population curves included eight flies at most frequencies and six at 0.25 and 10 Hz. Responses were normalized to each fly’s maximum stationary response. Values above one exceed that reference.</a:t>
            </a:r>
            <a:endParaRPr lang="en-US"/>
          </a:p>
        </p:txBody>
      </p:sp>
      <p:sp>
        <p:nvSpPr>
          <p:cNvPr id="279" name="Shape 279"/>
          <p:cNvSpPr/>
          <p:nvPr/>
        </p:nvSpPr>
        <p:spPr>
          <a:xfrm>
            <a:off x="6353175" y="4799409"/>
            <a:ext cx="5286375"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Behavioral state changes the operating range of the motion pathway. A preferred frequency measured at rest cannot automatically describe processing during locomotion. The plotted gain compares states at each stimulus frequency.</a:t>
            </a:r>
            <a:endParaRPr lang="en-US"/>
          </a:p>
        </p:txBody>
      </p:sp>
      <p:pic>
        <p:nvPicPr>
          <p:cNvPr id="166" name="Presenton Native Image 67" descr=""/>
          <p:cNvPicPr/>
          <p:nvPr/>
        </p:nvPicPr>
        <p:blipFill>
          <a:blip r:embed="rId2" cstate="none"/>
          <a:stretch>
            <a:fillRect/>
          </a:stretch>
        </p:blipFill>
        <p:spPr>
          <a:xfrm>
            <a:off x="571500" y="6379369"/>
            <a:ext cx="11049000" cy="269081"/>
          </a:xfrm>
          <a:prstGeom prst="rect">
            <a:avLst/>
          </a:prstGeom>
        </p:spPr>
      </p:pic>
      <p:sp>
        <p:nvSpPr>
          <p:cNvPr id="280" name="Shape 28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Chiappe et al. (2010)</a:t>
            </a:r>
            <a:endParaRPr lang="en-US"/>
          </a:p>
        </p:txBody>
      </p:sp>
      <p:sp>
        <p:nvSpPr>
          <p:cNvPr id="281" name="Shape 28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82" name="Shape 282"/>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Flight gain and octopaminergic modulation</a:t>
            </a:r>
            <a:endParaRPr lang="en-US"/>
          </a:p>
        </p:txBody>
      </p:sp>
      <p:sp>
        <p:nvSpPr>
          <p:cNvPr id="283" name="Shape 283"/>
          <p:cNvSpPr/>
          <p:nvPr/>
        </p:nvSpPr>
        <p:spPr>
          <a:xfrm>
            <a:off x="571500" y="1438275"/>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Maimon and colleagues recorded VS neurons during tethered flight and rest. Peak-to-peak visual responses approximately </a:t>
            </a:r>
            <a:r>
              <a:rPr sz="1800" b="1" i="0">
                <a:solidFill>
                  <a:srgbClr val="25262B"/>
                </a:solidFill>
                <a:latin typeface="Arial"/>
                <a:ea typeface="Arial"/>
              </a:rPr>
              <a:t>doubled during flight</a:t>
            </a:r>
            <a:r>
              <a:rPr sz="1800" b="0" i="0">
                <a:solidFill>
                  <a:srgbClr val="25262B"/>
                </a:solidFill>
                <a:latin typeface="Arial"/>
                <a:ea typeface="Arial"/>
              </a:rPr>
              <a:t>. Passive resistance decreased, suggesting stronger upstream synaptic drive rather than increased resistance in the recorded cell.</a:t>
            </a:r>
            <a:endParaRPr lang="en-US"/>
          </a:p>
        </p:txBody>
      </p:sp>
      <p:sp>
        <p:nvSpPr>
          <p:cNvPr id="284" name="Shape 284"/>
          <p:cNvSpPr/>
          <p:nvPr/>
        </p:nvSpPr>
        <p:spPr>
          <a:xfrm>
            <a:off x="571500" y="2439888"/>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 xml:space="preserve">Suver and colleagues tested </a:t>
            </a:r>
            <a:r>
              <a:rPr sz="1800" b="1" i="0">
                <a:solidFill>
                  <a:srgbClr val="25262B"/>
                </a:solidFill>
                <a:latin typeface="Arial"/>
                <a:ea typeface="Arial"/>
              </a:rPr>
              <a:t>octopamine</a:t>
            </a:r>
            <a:r>
              <a:rPr sz="1800" b="0" i="0">
                <a:solidFill>
                  <a:srgbClr val="25262B"/>
                </a:solidFill>
                <a:latin typeface="Arial"/>
                <a:ea typeface="Arial"/>
              </a:rPr>
              <a:t>, an invertebrate neuromodulator. Applying it to quiescent flies produced an enhancement resembling the flight effect. Optic-lobe-projecting octopamine neurons increased activity during flight.</a:t>
            </a:r>
            <a:endParaRPr lang="en-US"/>
          </a:p>
        </p:txBody>
      </p:sp>
      <p:sp>
        <p:nvSpPr>
          <p:cNvPr id="285" name="Shape 285"/>
          <p:cNvSpPr/>
          <p:nvPr/>
        </p:nvSpPr>
        <p:spPr>
          <a:xfrm>
            <a:off x="571500" y="3441502"/>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Genetic activation and suppression showed that these neurons were sufficient and necessary for the measured flight-dependent boost.</a:t>
            </a:r>
            <a:endParaRPr lang="en-US"/>
          </a:p>
        </p:txBody>
      </p:sp>
      <p:sp>
        <p:nvSpPr>
          <p:cNvPr id="286" name="Shape 286"/>
          <p:cNvSpPr/>
          <p:nvPr/>
        </p:nvSpPr>
        <p:spPr>
          <a:xfrm>
            <a:off x="571500" y="4150519"/>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Neuromodulation adjusts sensory processing according to behavioral state. These experiments establish an octopaminergic contribution. Identifying each downstream receptor and ionic target requires additional cell-specific evidence.</a:t>
            </a:r>
            <a:endParaRPr lang="en-US"/>
          </a:p>
        </p:txBody>
      </p:sp>
      <p:pic>
        <p:nvPicPr>
          <p:cNvPr id="167" name="Presenton Native Image 68" descr=""/>
          <p:cNvPicPr/>
          <p:nvPr/>
        </p:nvPicPr>
        <p:blipFill>
          <a:blip r:embed="rId2" cstate="none"/>
          <a:stretch>
            <a:fillRect/>
          </a:stretch>
        </p:blipFill>
        <p:spPr>
          <a:xfrm>
            <a:off x="571500" y="6379369"/>
            <a:ext cx="11049000" cy="269081"/>
          </a:xfrm>
          <a:prstGeom prst="rect">
            <a:avLst/>
          </a:prstGeom>
        </p:spPr>
      </p:pic>
      <p:sp>
        <p:nvSpPr>
          <p:cNvPr id="287" name="Shape 287"/>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Maimon et al. (2010); Suver et al. (2012)</a:t>
            </a:r>
            <a:endParaRPr lang="en-US"/>
          </a:p>
        </p:txBody>
      </p:sp>
      <p:sp>
        <p:nvSpPr>
          <p:cNvPr id="288" name="Shape 288"/>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89" name="Shape 289"/>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Input dynamics determine temporal tuning</a:t>
            </a:r>
            <a:endParaRPr lang="en-US"/>
          </a:p>
        </p:txBody>
      </p:sp>
      <p:sp>
        <p:nvSpPr>
          <p:cNvPr id="290" name="Shape 290"/>
          <p:cNvSpPr/>
          <p:nvPr/>
        </p:nvSpPr>
        <p:spPr>
          <a:xfrm>
            <a:off x="571500" y="1438275"/>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Temporal filtering is distributed across presynaptic cell types. Fast transient signals and slower sustained signals interact differently as image speed changes.</a:t>
            </a:r>
            <a:endParaRPr lang="en-US"/>
          </a:p>
        </p:txBody>
      </p:sp>
      <p:sp>
        <p:nvSpPr>
          <p:cNvPr id="291" name="Shape 291"/>
          <p:cNvSpPr/>
          <p:nvPr/>
        </p:nvSpPr>
        <p:spPr>
          <a:xfrm>
            <a:off x="571500" y="2147292"/>
            <a:ext cx="10972800" cy="877788"/>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Arenz and colleagues measured the spatiotemporal responses of columnar inputs to T4/T5 using two-photon imaging. Their data constrained models combining central, enhancing, and suppressing components.</a:t>
            </a:r>
            <a:endParaRPr lang="en-US"/>
          </a:p>
        </p:txBody>
      </p:sp>
      <p:sp>
        <p:nvSpPr>
          <p:cNvPr id="292" name="Shape 292"/>
          <p:cNvSpPr/>
          <p:nvPr/>
        </p:nvSpPr>
        <p:spPr>
          <a:xfrm>
            <a:off x="571500" y="3148905"/>
            <a:ext cx="10972800" cy="585192"/>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Activating octopamine receptors shifted T4/T5 tuning toward higher frequencies. The accompanying acceleration of input-neuron dynamics accounted for the shift in their model.</a:t>
            </a:r>
            <a:endParaRPr lang="en-US"/>
          </a:p>
        </p:txBody>
      </p:sp>
      <p:sp>
        <p:nvSpPr>
          <p:cNvPr id="293" name="Shape 293"/>
          <p:cNvSpPr/>
          <p:nvPr/>
        </p:nvSpPr>
        <p:spPr>
          <a:xfrm>
            <a:off x="571500" y="3857923"/>
            <a:ext cx="10972800" cy="1170384"/>
          </a:xfrm>
          <a:prstGeom prst="rect">
            <a:avLst/>
          </a:prstGeom>
          <a:noFill/>
        </p:spPr>
        <p:txBody>
          <a:bodyPr anchor="t" wrap="square" tIns="0" bIns="0" lIns="0" rIns="0">
            <a:normAutofit/>
          </a:bodyPr>
          <a:lstStyle/>
          <a:p>
            <a:pPr algn="l">
              <a:lnSpc>
                <a:spcPts val="2304"/>
              </a:lnSpc>
              <a:buNone/>
            </a:pPr>
            <a:r>
              <a:rPr sz="1800" b="0" i="0">
                <a:solidFill>
                  <a:srgbClr val="25262B"/>
                </a:solidFill>
                <a:latin typeface="Arial"/>
                <a:ea typeface="Arial"/>
              </a:rPr>
              <a:t>This connects state modulation to timing within the motion computation. The explanation combines measured changes in neuronal dynamics with a model of their consequences. Multiple processing stages contribute delays, and additional cell-specific experiments are needed to assign each effect to particular receptors or ion channels.</a:t>
            </a:r>
            <a:endParaRPr lang="en-US"/>
          </a:p>
        </p:txBody>
      </p:sp>
      <p:pic>
        <p:nvPicPr>
          <p:cNvPr id="168" name="Presenton Native Image 69" descr=""/>
          <p:cNvPicPr/>
          <p:nvPr/>
        </p:nvPicPr>
        <p:blipFill>
          <a:blip r:embed="rId2" cstate="none"/>
          <a:stretch>
            <a:fillRect/>
          </a:stretch>
        </p:blipFill>
        <p:spPr>
          <a:xfrm>
            <a:off x="571500" y="6379369"/>
            <a:ext cx="11049000" cy="269081"/>
          </a:xfrm>
          <a:prstGeom prst="rect">
            <a:avLst/>
          </a:prstGeom>
        </p:spPr>
      </p:pic>
      <p:sp>
        <p:nvSpPr>
          <p:cNvPr id="294" name="Shape 294"/>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Arenz et al. (2017); Suver et al. (2012); Behnia et al. (2014)</a:t>
            </a:r>
            <a:endParaRPr lang="en-US"/>
          </a:p>
        </p:txBody>
      </p:sp>
      <p:sp>
        <p:nvSpPr>
          <p:cNvPr id="295" name="Shape 295"/>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296" name="Shape 296"/>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Local direction maps reflect global optic flow</a:t>
            </a:r>
            <a:endParaRPr lang="en-US"/>
          </a:p>
        </p:txBody>
      </p:sp>
      <p:pic>
        <p:nvPicPr>
          <p:cNvPr id="169" name="Presenton Native Image 70" descr=""/>
          <p:cNvPicPr/>
          <p:nvPr/>
        </p:nvPicPr>
        <p:blipFill>
          <a:blip r:embed="rId3" cstate="none"/>
          <a:stretch>
            <a:fillRect/>
          </a:stretch>
        </p:blipFill>
        <p:spPr>
          <a:xfrm>
            <a:off x="1428750" y="1025525"/>
            <a:ext cx="9334500" cy="2178050"/>
          </a:xfrm>
          <a:prstGeom prst="rect">
            <a:avLst/>
          </a:prstGeom>
        </p:spPr>
      </p:pic>
      <p:sp>
        <p:nvSpPr>
          <p:cNvPr id="297" name="Shape 297"/>
          <p:cNvSpPr/>
          <p:nvPr/>
        </p:nvSpPr>
        <p:spPr>
          <a:xfrm>
            <a:off x="571500" y="3286125"/>
            <a:ext cx="11068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Henning et al. (2022), Fig. 5, layer-A panels. T4 vectors: red. T5 vectors: blue. Measured positions and directions from 14 flies.</a:t>
            </a:r>
            <a:endParaRPr lang="en-US"/>
          </a:p>
        </p:txBody>
      </p:sp>
      <p:sp>
        <p:nvSpPr>
          <p:cNvPr id="298" name="Shape 298"/>
          <p:cNvSpPr/>
          <p:nvPr/>
        </p:nvSpPr>
        <p:spPr>
          <a:xfrm>
            <a:off x="571500" y="3733800"/>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 xml:space="preserve">Henning and colleagues used perspective-corrected stimuli to map T4/T5 over visual space. They recorded </a:t>
            </a:r>
            <a:r>
              <a:rPr sz="1725" b="1" i="0">
                <a:solidFill>
                  <a:srgbClr val="25262B"/>
                </a:solidFill>
                <a:latin typeface="Arial"/>
                <a:ea typeface="Arial"/>
              </a:rPr>
              <a:t>3,537 units in 14 flies</a:t>
            </a:r>
            <a:r>
              <a:rPr sz="1725" b="0" i="0">
                <a:solidFill>
                  <a:srgbClr val="25262B"/>
                </a:solidFill>
                <a:latin typeface="Arial"/>
                <a:ea typeface="Arial"/>
              </a:rPr>
              <a:t>, including 1,376 T4 and 2,161 T5 units.</a:t>
            </a:r>
            <a:endParaRPr lang="en-US"/>
          </a:p>
        </p:txBody>
      </p:sp>
      <p:sp>
        <p:nvSpPr>
          <p:cNvPr id="299" name="Shape 299"/>
          <p:cNvSpPr/>
          <p:nvPr/>
        </p:nvSpPr>
        <p:spPr>
          <a:xfrm>
            <a:off x="571500" y="4799409"/>
            <a:ext cx="525780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Preference varied systematically with receptive-field location. The displayed layer-A populations differ in diagonal tuning, with additional variation across each map.</a:t>
            </a:r>
            <a:endParaRPr lang="en-US"/>
          </a:p>
        </p:txBody>
      </p:sp>
      <p:sp>
        <p:nvSpPr>
          <p:cNvPr id="300" name="Shape 300"/>
          <p:cNvSpPr/>
          <p:nvPr/>
        </p:nvSpPr>
        <p:spPr>
          <a:xfrm>
            <a:off x="6353175" y="3733800"/>
            <a:ext cx="5286375"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dataset supported six functional tuning groups despite four anatomical projection layers. Population patterns matched global flow fields associated with self-motion.</a:t>
            </a:r>
            <a:endParaRPr lang="en-US"/>
          </a:p>
        </p:txBody>
      </p:sp>
      <p:sp>
        <p:nvSpPr>
          <p:cNvPr id="301" name="Shape 301"/>
          <p:cNvSpPr/>
          <p:nvPr/>
        </p:nvSpPr>
        <p:spPr>
          <a:xfrm>
            <a:off x="6353175" y="4799409"/>
            <a:ext cx="5286375" cy="1498402"/>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The four-cardinal-direction diagram is therefore a local approximation. Optic-flow computation depends on where each detector samples the eye, as well as its projection layer and ON/OFF identity. Local neural diversity contributes to the population representation.</a:t>
            </a:r>
            <a:endParaRPr lang="en-US"/>
          </a:p>
        </p:txBody>
      </p:sp>
      <p:pic>
        <p:nvPicPr>
          <p:cNvPr id="170" name="Presenton Native Image 71" descr=""/>
          <p:cNvPicPr/>
          <p:nvPr/>
        </p:nvPicPr>
        <p:blipFill>
          <a:blip r:embed="rId2" cstate="none"/>
          <a:stretch>
            <a:fillRect/>
          </a:stretch>
        </p:blipFill>
        <p:spPr>
          <a:xfrm>
            <a:off x="571500" y="6379369"/>
            <a:ext cx="11049000" cy="269081"/>
          </a:xfrm>
          <a:prstGeom prst="rect">
            <a:avLst/>
          </a:prstGeom>
        </p:spPr>
      </p:pic>
      <p:sp>
        <p:nvSpPr>
          <p:cNvPr id="302" name="Shape 302"/>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Henning et al. (2022); Maisak et al. (2013)</a:t>
            </a:r>
            <a:endParaRPr lang="en-US"/>
          </a:p>
        </p:txBody>
      </p:sp>
      <p:sp>
        <p:nvSpPr>
          <p:cNvPr id="303" name="Shape 303"/>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304" name="Shape 304"/>
          <p:cNvSpPr/>
          <p:nvPr/>
        </p:nvSpPr>
        <p:spPr>
          <a:xfrm>
            <a:off x="571500" y="333375"/>
            <a:ext cx="11068050" cy="426690"/>
          </a:xfrm>
          <a:prstGeom prst="rect">
            <a:avLst/>
          </a:prstGeom>
          <a:noFill/>
        </p:spPr>
        <p:txBody>
          <a:bodyPr anchor="t" wrap="square" tIns="0" bIns="0" lIns="0" rIns="0">
            <a:normAutofit/>
          </a:bodyPr>
          <a:lstStyle/>
          <a:p>
            <a:pPr algn="l">
              <a:lnSpc>
                <a:spcPts val="3360"/>
              </a:lnSpc>
              <a:buNone/>
            </a:pPr>
            <a:r>
              <a:rPr sz="3000" b="1" i="0">
                <a:solidFill>
                  <a:srgbClr val="AF172D"/>
                </a:solidFill>
                <a:latin typeface="Arial"/>
                <a:ea typeface="Arial"/>
              </a:rPr>
              <a:t>Motion stabilization and object fixation</a:t>
            </a:r>
            <a:endParaRPr lang="en-US"/>
          </a:p>
        </p:txBody>
      </p:sp>
      <p:sp>
        <p:nvSpPr>
          <p:cNvPr id="305" name="Shape 305"/>
          <p:cNvSpPr/>
          <p:nvPr/>
        </p:nvSpPr>
        <p:spPr>
          <a:xfrm>
            <a:off x="571500" y="1390650"/>
            <a:ext cx="6115050" cy="749201"/>
          </a:xfrm>
          <a:prstGeom prst="rect">
            <a:avLst/>
          </a:prstGeom>
          <a:noFill/>
        </p:spPr>
        <p:txBody>
          <a:bodyPr anchor="t" wrap="square" tIns="0" bIns="0" lIns="0" rIns="0">
            <a:normAutofit/>
          </a:bodyPr>
          <a:lstStyle/>
          <a:p>
            <a:pPr algn="l">
              <a:lnSpc>
                <a:spcPts val="1967"/>
              </a:lnSpc>
              <a:buNone/>
            </a:pPr>
            <a:r>
              <a:rPr sz="1725" b="1" i="0">
                <a:solidFill>
                  <a:srgbClr val="25262B"/>
                </a:solidFill>
                <a:latin typeface="Arial"/>
                <a:ea typeface="Arial"/>
              </a:rPr>
              <a:t>Fixation</a:t>
            </a:r>
            <a:r>
              <a:rPr sz="1725" b="0" i="0">
                <a:solidFill>
                  <a:srgbClr val="25262B"/>
                </a:solidFill>
                <a:latin typeface="Arial"/>
                <a:ea typeface="Arial"/>
              </a:rPr>
              <a:t xml:space="preserve"> keeps an object near a selected retinal position. It uses position information as well as motion, allowing performance to differ from panorama-driven turning.</a:t>
            </a:r>
            <a:endParaRPr lang="en-US"/>
          </a:p>
        </p:txBody>
      </p:sp>
      <p:sp>
        <p:nvSpPr>
          <p:cNvPr id="306" name="Shape 306"/>
          <p:cNvSpPr/>
          <p:nvPr/>
        </p:nvSpPr>
        <p:spPr>
          <a:xfrm>
            <a:off x="571500" y="2216051"/>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Bahl and colleagues blocked T4/T5 and observed loss of the optomotor response, while black-bar fixation persisted with reduced performance. A parallel position-sensitive circuit supported part of fixation.</a:t>
            </a:r>
            <a:endParaRPr lang="en-US"/>
          </a:p>
        </p:txBody>
      </p:sp>
      <p:sp>
        <p:nvSpPr>
          <p:cNvPr id="307" name="Shape 307"/>
          <p:cNvSpPr/>
          <p:nvPr/>
        </p:nvSpPr>
        <p:spPr>
          <a:xfrm>
            <a:off x="571500" y="3291185"/>
            <a:ext cx="6115050" cy="998934"/>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Groschner and colleagues instead altered GluClα signaling. Walking responses increased selectively for moving ON edges, consistent with broader tuning. OFF edges provided a polarity comparison.</a:t>
            </a:r>
            <a:endParaRPr lang="en-US"/>
          </a:p>
        </p:txBody>
      </p:sp>
      <p:sp>
        <p:nvSpPr>
          <p:cNvPr id="308" name="Shape 308"/>
          <p:cNvSpPr/>
          <p:nvPr/>
        </p:nvSpPr>
        <p:spPr>
          <a:xfrm>
            <a:off x="571500" y="4366320"/>
            <a:ext cx="6115050" cy="1248668"/>
          </a:xfrm>
          <a:prstGeom prst="rect">
            <a:avLst/>
          </a:prstGeom>
          <a:noFill/>
        </p:spPr>
        <p:txBody>
          <a:bodyPr anchor="t" wrap="square" tIns="0" bIns="0" lIns="0" rIns="0">
            <a:normAutofit/>
          </a:bodyPr>
          <a:lstStyle/>
          <a:p>
            <a:pPr algn="l">
              <a:lnSpc>
                <a:spcPts val="1967"/>
              </a:lnSpc>
              <a:buNone/>
            </a:pPr>
            <a:r>
              <a:rPr sz="1725" b="0" i="0">
                <a:solidFill>
                  <a:srgbClr val="25262B"/>
                </a:solidFill>
                <a:latin typeface="Arial"/>
                <a:ea typeface="Arial"/>
              </a:rPr>
              <a:t>Complete pathway blockade and altered tuning produce different outcomes. Behavioral performance depends on the information represented by a population, its downstream readout, and other visual pathways available to support the task.</a:t>
            </a:r>
            <a:endParaRPr lang="en-US"/>
          </a:p>
        </p:txBody>
      </p:sp>
      <p:pic>
        <p:nvPicPr>
          <p:cNvPr id="171" name="Presenton Native Image 72" descr=""/>
          <p:cNvPicPr/>
          <p:nvPr/>
        </p:nvPicPr>
        <p:blipFill>
          <a:blip r:embed="rId3" cstate="none"/>
          <a:stretch>
            <a:fillRect/>
          </a:stretch>
        </p:blipFill>
        <p:spPr>
          <a:xfrm>
            <a:off x="7086600" y="1398416"/>
            <a:ext cx="4533900" cy="3931986"/>
          </a:xfrm>
          <a:prstGeom prst="rect">
            <a:avLst/>
          </a:prstGeom>
        </p:spPr>
      </p:pic>
      <p:sp>
        <p:nvSpPr>
          <p:cNvPr id="309" name="Shape 309"/>
          <p:cNvSpPr/>
          <p:nvPr/>
        </p:nvSpPr>
        <p:spPr>
          <a:xfrm>
            <a:off x="7086600" y="5469434"/>
            <a:ext cx="4552950" cy="548283"/>
          </a:xfrm>
          <a:prstGeom prst="rect">
            <a:avLst/>
          </a:prstGeom>
          <a:noFill/>
        </p:spPr>
        <p:txBody>
          <a:bodyPr anchor="t" wrap="square" tIns="0" bIns="0" lIns="0" rIns="0">
            <a:normAutofit/>
          </a:bodyPr>
          <a:lstStyle/>
          <a:p>
            <a:pPr algn="l">
              <a:lnSpc>
                <a:spcPts val="1440"/>
              </a:lnSpc>
              <a:buNone/>
            </a:pPr>
            <a:r>
              <a:rPr sz="1200" b="0" i="0">
                <a:solidFill>
                  <a:srgbClr val="665B60"/>
                </a:solidFill>
                <a:latin typeface="Arial"/>
                <a:ea typeface="Arial"/>
              </a:rPr>
              <a:t>Groschner et al. (2022), Fig. 5F, curves and group comparisons placed side by side. Experimental n = 20 flies. Parental and Nmdar1 RNAi controls included.</a:t>
            </a:r>
            <a:endParaRPr lang="en-US"/>
          </a:p>
        </p:txBody>
      </p:sp>
      <p:pic>
        <p:nvPicPr>
          <p:cNvPr id="172" name="Presenton Native Image 73" descr=""/>
          <p:cNvPicPr/>
          <p:nvPr/>
        </p:nvPicPr>
        <p:blipFill>
          <a:blip r:embed="rId2" cstate="none"/>
          <a:stretch>
            <a:fillRect/>
          </a:stretch>
        </p:blipFill>
        <p:spPr>
          <a:xfrm>
            <a:off x="571500" y="6379369"/>
            <a:ext cx="11049000" cy="269081"/>
          </a:xfrm>
          <a:prstGeom prst="rect">
            <a:avLst/>
          </a:prstGeom>
        </p:spPr>
      </p:pic>
      <p:sp>
        <p:nvSpPr>
          <p:cNvPr id="310" name="Shape 310"/>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Bahl et al. (2013); Groschner et al. (2022)</a:t>
            </a:r>
            <a:endParaRPr lang="en-US"/>
          </a:p>
        </p:txBody>
      </p:sp>
      <p:sp>
        <p:nvSpPr>
          <p:cNvPr id="311" name="Shape 311"/>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AFA"/>
        </a:solidFill>
      </p:bgPr>
    </p:bg>
    <p:spTree>
      <p:nvGrpSpPr>
        <p:cNvPr id="1" name=""/>
        <p:cNvGrpSpPr/>
        <p:nvPr/>
      </p:nvGrpSpPr>
      <p:grpSpPr>
        <a:xfrm>
          <a:off x="0" y="0"/>
          <a:ext cx="0" cy="0"/>
          <a:chOff x="0" y="0"/>
          <a:chExt cx="0" cy="0"/>
        </a:xfrm>
      </p:grpSpPr>
      <p:sp>
        <p:nvSpPr>
          <p:cNvPr id="312" name="Shape 312"/>
          <p:cNvSpPr/>
          <p:nvPr/>
        </p:nvSpPr>
        <p:spPr>
          <a:xfrm>
            <a:off x="571500" y="381000"/>
            <a:ext cx="3138488" cy="628650"/>
          </a:xfrm>
          <a:prstGeom prst="rect">
            <a:avLst/>
          </a:prstGeom>
          <a:noFill/>
        </p:spPr>
        <p:txBody>
          <a:bodyPr anchor="t" wrap="square" tIns="0" bIns="0" lIns="0" rIns="0">
            <a:normAutofit/>
          </a:bodyPr>
          <a:lstStyle/>
          <a:p>
            <a:pPr algn="l">
              <a:lnSpc>
                <a:spcPts val="4950"/>
              </a:lnSpc>
              <a:buNone/>
            </a:pPr>
            <a:r>
              <a:rPr sz="3300" b="1" i="0">
                <a:solidFill>
                  <a:srgbClr val="AF172D"/>
                </a:solidFill>
                <a:latin typeface="Arial"/>
                <a:ea typeface="Arial"/>
              </a:rPr>
              <a:t>Key takeaways</a:t>
            </a:r>
            <a:endParaRPr lang="en-US"/>
          </a:p>
        </p:txBody>
      </p:sp>
      <p:sp>
        <p:nvSpPr>
          <p:cNvPr id="313" name="Shape 313"/>
          <p:cNvSpPr/>
          <p:nvPr/>
        </p:nvSpPr>
        <p:spPr>
          <a:xfrm>
            <a:off x="571500" y="1381125"/>
            <a:ext cx="5238750" cy="1629668"/>
          </a:xfrm>
          <a:prstGeom prst="rect">
            <a:avLst/>
          </a:prstGeom>
          <a:noFill/>
        </p:spPr>
        <p:txBody>
          <a:bodyPr anchor="t" wrap="square" tIns="0" bIns="0" lIns="0" rIns="0">
            <a:normAutofit/>
          </a:bodyPr>
          <a:lstStyle/>
          <a:p>
            <a:pPr algn="l">
              <a:lnSpc>
                <a:spcPts val="2139"/>
              </a:lnSpc>
              <a:buNone/>
            </a:pPr>
            <a:r>
              <a:rPr sz="1725" b="1" i="0">
                <a:solidFill>
                  <a:srgbClr val="25262B"/>
                </a:solidFill>
                <a:latin typeface="Arial"/>
                <a:ea typeface="Arial"/>
              </a:rPr>
              <a:t>Optomotor behavior uses retinal slip as feedback.</a:t>
            </a:r>
            <a:r>
              <a:rPr sz="1725" b="0" i="0">
                <a:solidFill>
                  <a:srgbClr val="25262B"/>
                </a:solidFill>
                <a:latin typeface="Arial"/>
                <a:ea typeface="Arial"/>
              </a:rPr>
              <a:t xml:space="preserve"> Local signals influence head movement, walking turns, and flight steering. Tethered assays measure attempted movement, while closed-loop performance also depends on feedback dynamics.</a:t>
            </a:r>
            <a:endParaRPr lang="en-US"/>
          </a:p>
        </p:txBody>
      </p:sp>
      <p:sp>
        <p:nvSpPr>
          <p:cNvPr id="314" name="Shape 314"/>
          <p:cNvSpPr/>
          <p:nvPr/>
        </p:nvSpPr>
        <p:spPr>
          <a:xfrm>
            <a:off x="571500" y="3182243"/>
            <a:ext cx="5238750" cy="1358057"/>
          </a:xfrm>
          <a:prstGeom prst="rect">
            <a:avLst/>
          </a:prstGeom>
          <a:noFill/>
        </p:spPr>
        <p:txBody>
          <a:bodyPr anchor="t" wrap="square" tIns="0" bIns="0" lIns="0" rIns="0">
            <a:normAutofit/>
          </a:bodyPr>
          <a:lstStyle/>
          <a:p>
            <a:pPr algn="l">
              <a:lnSpc>
                <a:spcPts val="2139"/>
              </a:lnSpc>
              <a:buNone/>
            </a:pPr>
            <a:r>
              <a:rPr sz="1725" b="1" i="0">
                <a:solidFill>
                  <a:srgbClr val="25262B"/>
                </a:solidFill>
                <a:latin typeface="Arial"/>
                <a:ea typeface="Arial"/>
              </a:rPr>
              <a:t>The Reichardt detector compares space across time.</a:t>
            </a:r>
            <a:r>
              <a:rPr sz="1725" b="0" i="0">
                <a:solidFill>
                  <a:srgbClr val="25262B"/>
                </a:solidFill>
                <a:latin typeface="Arial"/>
                <a:ea typeface="Arial"/>
              </a:rPr>
              <a:t xml:space="preserve"> Asymmetric filtering and nonlinear interaction favor a particular sequence. Opponent subtraction creates a signed signal. Spatial wavelength and contrast also influence output.</a:t>
            </a:r>
            <a:endParaRPr lang="en-US"/>
          </a:p>
        </p:txBody>
      </p:sp>
      <p:sp>
        <p:nvSpPr>
          <p:cNvPr id="315" name="Shape 315"/>
          <p:cNvSpPr/>
          <p:nvPr/>
        </p:nvSpPr>
        <p:spPr>
          <a:xfrm>
            <a:off x="571500" y="4711750"/>
            <a:ext cx="5238750" cy="1086445"/>
          </a:xfrm>
          <a:prstGeom prst="rect">
            <a:avLst/>
          </a:prstGeom>
          <a:noFill/>
        </p:spPr>
        <p:txBody>
          <a:bodyPr anchor="t" wrap="square" tIns="0" bIns="0" lIns="0" rIns="0">
            <a:normAutofit/>
          </a:bodyPr>
          <a:lstStyle/>
          <a:p>
            <a:pPr algn="l">
              <a:lnSpc>
                <a:spcPts val="2139"/>
              </a:lnSpc>
              <a:buNone/>
            </a:pPr>
            <a:r>
              <a:rPr sz="1725" b="1" i="0">
                <a:solidFill>
                  <a:srgbClr val="25262B"/>
                </a:solidFill>
                <a:latin typeface="Arial"/>
                <a:ea typeface="Arial"/>
              </a:rPr>
              <a:t>T4 and T5 separate ON and OFF motion.</a:t>
            </a:r>
            <a:r>
              <a:rPr sz="1725" b="0" i="0">
                <a:solidFill>
                  <a:srgbClr val="25262B"/>
                </a:solidFill>
                <a:latin typeface="Arial"/>
                <a:ea typeface="Arial"/>
              </a:rPr>
              <a:t xml:space="preserve"> Inputs differ in timing and synaptic sign. Matching direction preferences converge in lobula plate layers for wide-field integration.</a:t>
            </a:r>
            <a:endParaRPr lang="en-US"/>
          </a:p>
        </p:txBody>
      </p:sp>
      <p:sp>
        <p:nvSpPr>
          <p:cNvPr id="316" name="Shape 316"/>
          <p:cNvSpPr/>
          <p:nvPr/>
        </p:nvSpPr>
        <p:spPr>
          <a:xfrm>
            <a:off x="6400800" y="1381125"/>
            <a:ext cx="5238750" cy="1629668"/>
          </a:xfrm>
          <a:prstGeom prst="rect">
            <a:avLst/>
          </a:prstGeom>
          <a:noFill/>
        </p:spPr>
        <p:txBody>
          <a:bodyPr anchor="t" wrap="square" tIns="0" bIns="0" lIns="0" rIns="0">
            <a:normAutofit/>
          </a:bodyPr>
          <a:lstStyle/>
          <a:p>
            <a:pPr algn="l">
              <a:lnSpc>
                <a:spcPts val="2139"/>
              </a:lnSpc>
              <a:buNone/>
            </a:pPr>
            <a:r>
              <a:rPr sz="1725" b="1" i="0">
                <a:solidFill>
                  <a:srgbClr val="25262B"/>
                </a:solidFill>
                <a:latin typeface="Arial"/>
                <a:ea typeface="Arial"/>
              </a:rPr>
              <a:t>Synaptic conductances implement the computation.</a:t>
            </a:r>
            <a:r>
              <a:rPr sz="1725" b="0" i="0">
                <a:solidFill>
                  <a:srgbClr val="25262B"/>
                </a:solidFill>
                <a:latin typeface="Arial"/>
                <a:ea typeface="Arial"/>
              </a:rPr>
              <a:t xml:space="preserve"> Spatially offset excitation and inhibition shape tuning. GluClα-dependent shunting and release from inhibition provide a demonstrated molecular contribution to T4 selectivity.</a:t>
            </a:r>
            <a:endParaRPr lang="en-US"/>
          </a:p>
        </p:txBody>
      </p:sp>
      <p:sp>
        <p:nvSpPr>
          <p:cNvPr id="317" name="Shape 317"/>
          <p:cNvSpPr/>
          <p:nvPr/>
        </p:nvSpPr>
        <p:spPr>
          <a:xfrm>
            <a:off x="6400800" y="3182243"/>
            <a:ext cx="5238750" cy="1358057"/>
          </a:xfrm>
          <a:prstGeom prst="rect">
            <a:avLst/>
          </a:prstGeom>
          <a:noFill/>
        </p:spPr>
        <p:txBody>
          <a:bodyPr anchor="t" wrap="square" tIns="0" bIns="0" lIns="0" rIns="0">
            <a:normAutofit/>
          </a:bodyPr>
          <a:lstStyle/>
          <a:p>
            <a:pPr algn="l">
              <a:lnSpc>
                <a:spcPts val="2139"/>
              </a:lnSpc>
              <a:buNone/>
            </a:pPr>
            <a:r>
              <a:rPr sz="1725" b="1" i="0">
                <a:solidFill>
                  <a:srgbClr val="25262B"/>
                </a:solidFill>
                <a:latin typeface="Arial"/>
                <a:ea typeface="Arial"/>
              </a:rPr>
              <a:t>Causal evidence requires appropriate comparisons.</a:t>
            </a:r>
            <a:r>
              <a:rPr sz="1725" b="0" i="0">
                <a:solidFill>
                  <a:srgbClr val="25262B"/>
                </a:solidFill>
                <a:latin typeface="Arial"/>
                <a:ea typeface="Arial"/>
              </a:rPr>
              <a:t xml:space="preserve"> Flicker responses, genetic controls, single-flash sums, receptor perturbations, and optogenetic controls connect specific mechanisms to neuronal activity and measured behavior.</a:t>
            </a:r>
            <a:endParaRPr lang="en-US"/>
          </a:p>
        </p:txBody>
      </p:sp>
      <p:sp>
        <p:nvSpPr>
          <p:cNvPr id="318" name="Shape 318"/>
          <p:cNvSpPr/>
          <p:nvPr/>
        </p:nvSpPr>
        <p:spPr>
          <a:xfrm>
            <a:off x="6400800" y="4711750"/>
            <a:ext cx="5238750" cy="1358057"/>
          </a:xfrm>
          <a:prstGeom prst="rect">
            <a:avLst/>
          </a:prstGeom>
          <a:noFill/>
        </p:spPr>
        <p:txBody>
          <a:bodyPr anchor="t" wrap="square" tIns="0" bIns="0" lIns="0" rIns="0">
            <a:normAutofit/>
          </a:bodyPr>
          <a:lstStyle/>
          <a:p>
            <a:pPr algn="l">
              <a:lnSpc>
                <a:spcPts val="2139"/>
              </a:lnSpc>
              <a:buNone/>
            </a:pPr>
            <a:r>
              <a:rPr sz="1725" b="1" i="0">
                <a:solidFill>
                  <a:srgbClr val="25262B"/>
                </a:solidFill>
                <a:latin typeface="Arial"/>
                <a:ea typeface="Arial"/>
              </a:rPr>
              <a:t>Motion processing depends on spatial context and state.</a:t>
            </a:r>
            <a:r>
              <a:rPr sz="1725" b="0" i="0">
                <a:solidFill>
                  <a:srgbClr val="25262B"/>
                </a:solidFill>
                <a:latin typeface="Arial"/>
                <a:ea typeface="Arial"/>
              </a:rPr>
              <a:t xml:space="preserve"> Preference varies across the eye, and locomotion changes gain and timing. Object fixation can recruit pathways that remain functional after motion-channel blockade.</a:t>
            </a:r>
            <a:endParaRPr lang="en-US"/>
          </a:p>
        </p:txBody>
      </p:sp>
      <p:pic>
        <p:nvPicPr>
          <p:cNvPr id="173" name="Presenton Native Image 74" descr=""/>
          <p:cNvPicPr/>
          <p:nvPr/>
        </p:nvPicPr>
        <p:blipFill>
          <a:blip r:embed="rId2" cstate="none"/>
          <a:stretch>
            <a:fillRect/>
          </a:stretch>
        </p:blipFill>
        <p:spPr>
          <a:xfrm>
            <a:off x="571500" y="6379369"/>
            <a:ext cx="11049000" cy="269081"/>
          </a:xfrm>
          <a:prstGeom prst="rect">
            <a:avLst/>
          </a:prstGeom>
        </p:spPr>
      </p:pic>
      <p:sp>
        <p:nvSpPr>
          <p:cNvPr id="319" name="Shape 319"/>
          <p:cNvSpPr/>
          <p:nvPr/>
        </p:nvSpPr>
        <p:spPr>
          <a:xfrm>
            <a:off x="571500" y="6484144"/>
            <a:ext cx="10306050"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 xml:space="preserve">Hassenstein </a:t>
            </a:r>
            <a:r>
              <a:rPr sz="1125" b="0" i="0">
                <a:solidFill>
                  <a:srgbClr val="665B60"/>
                </a:solidFill>
                <a:latin typeface="Arial"/>
                <a:ea typeface="Arial"/>
              </a:rPr>
              <a:t>&amp;</a:t>
            </a:r>
            <a:r>
              <a:rPr sz="1125" b="0" i="0">
                <a:solidFill>
                  <a:srgbClr val="665B60"/>
                </a:solidFill>
                <a:latin typeface="Arial"/>
                <a:ea typeface="Arial"/>
              </a:rPr>
              <a:t xml:space="preserve"> Reichardt (1956); Maisak et al. (2013); Groschner et al. (2022); Mauss et al. (2015); Henning et al. (2022)</a:t>
            </a:r>
            <a:endParaRPr lang="en-US"/>
          </a:p>
        </p:txBody>
      </p:sp>
      <p:sp>
        <p:nvSpPr>
          <p:cNvPr id="320" name="Shape 320"/>
          <p:cNvSpPr/>
          <p:nvPr/>
        </p:nvSpPr>
        <p:spPr>
          <a:xfrm>
            <a:off x="11456938" y="6484144"/>
            <a:ext cx="182612" cy="164306"/>
          </a:xfrm>
          <a:prstGeom prst="rect">
            <a:avLst/>
          </a:prstGeom>
          <a:noFill/>
        </p:spPr>
        <p:txBody>
          <a:bodyPr anchor="t" wrap="square" tIns="0" bIns="0" lIns="0" rIns="0">
            <a:normAutofit/>
          </a:bodyPr>
          <a:lstStyle/>
          <a:p>
            <a:pPr algn="l">
              <a:lnSpc>
                <a:spcPts val="1294"/>
              </a:lnSpc>
              <a:buNone/>
            </a:pPr>
            <a:r>
              <a:rPr sz="1125" b="0" i="0">
                <a:solidFill>
                  <a:srgbClr val="665B60"/>
                </a:solidFill>
                <a:latin typeface="Arial"/>
                <a:ea typeface="Arial"/>
              </a:rPr>
              <a:t>44</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Neuroethology_Lecture11_FA2026</dc:title>
  <dc:subject>Generated by Presenton export-core</dc:subject>
  <dc:creator>Presenton</dc:creator>
  <cp:lastModifiedBy>Presenton</cp:lastModifiedBy>
  <dcterms:created xsi:type="dcterms:W3CDTF">2026-10-08T00:27:34.994Z</dcterms:created>
  <dcterms:modified xsi:type="dcterms:W3CDTF">2026-10-08T00:27:34.994Z</dcterms:modified>
</cp:coreProperties>
</file>