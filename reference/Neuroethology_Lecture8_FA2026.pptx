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tECzaQtpTkMliU+2AEgvYnTsv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002/cne.902150104"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Wilson DM, Weis-Fogh T (1962). Patterned Activity of Co-Ordinated Motor Units, Studied in Flying Locusts Journal of Experimental Biology 39: 643-667. https://doi.org/10.1242/jeb.39.4.643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 Schildberger K, Stevenson PA. (2008). A muscarinic cholinergic mechanism underlies activation of the central pattern generator for locust flight. The Journal of experimental biology 211: 2346-2357. https://doi.org/10.1242/jeb.017384</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 name="Google Shape;42;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Wilson DM, Weis-Fogh T (1962). Patterned Activity of Co-Ordinated Motor Units, Studied in Flying Locusts Journal of Experimental Biology 39: 643-667. https://doi.org/10.1242/jeb.39.4.643</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Usherwood PN, Machili P, Leaf G. (1968). L-Glutamate at insect excitatory nerve-muscle synapses. Nature 219: 1169-1172. https://doi.org/10.1038/2191169a0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DM, Weis-Fogh T (1962). Patterned Activity of Co-Ordinated Motor Units, Studied in Flying Locusts Journal of Experimental Biology 39: 643-667. https://doi.org/10.1242/jeb.39.4.643</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Robertson RM, Pearson KG. (1983). Interneurons in the flight system of the locust: distribution, connections, and resetting properties. The Journal of comparative neurology 215: 33-50. </a:t>
            </a:r>
            <a:r>
              <a:rPr lang="en-US" sz="1200" u="sng">
                <a:solidFill>
                  <a:schemeClr val="hlink"/>
                </a:solidFill>
                <a:latin typeface="Calibri"/>
                <a:ea typeface="Calibri"/>
                <a:cs typeface="Calibri"/>
                <a:sym typeface="Calibri"/>
                <a:hlinkClick r:id="rId2"/>
              </a:rPr>
              <a:t>https://doi.org/10.1002/cne.902150104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 3. Delayed excitation from 30 1 to 50 1 and feedback inhibition from 50 1 to 30 1, A: diagrammaticrepresentation of connections between 30 1 and 50 1. B: Simultaneous recordings from 30 1 and 50 1 during a flightsequence. At the end a portion of traces has been enlarged to show a spike in 30 1 followed by a spike in 501followed by an IPSP in 301 (sequence indicated by dotted lines). Note that this expanded record was taken whenthe preparation was not expressing flight rhythm. C: delayed excitatory con :ction from 301 to 501. Note latencyof 6 ms, This is about twice the value of short-latency connections. D: short-latency IPSP from 501 to 30 1. Notethat this IPSP can be discerned in C although the gain of the 301 trace is not as great. B, C, and D were taken fromsame experiment. In this and all subsequent figures DL trace is a monitor of activity of dorsal longitudinalmotoneurons recorded either electromyographically or en passant from the nerve root containing their axons (seeMETHODS); inhibitory connections are diagrammed as Jilled circles and excitatory connections are diagrammed asT-bars; method used to display neuronal interconnections is to overlay multiple sweeps of oscilloscope triggered offrising phase of spike of presynaptic neuron.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Rillich J, Stevenson PA, Pflueger HJ. (2013). Flight and walking in locusts-cholinergic co-activation, temporal coupling and its modulation by biogenic amines. PloS one 8: e62899. https://doi.org/10.1371/journal.pone.0062899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1B; Rillich et al. (2013), CC BY. Scale bar: 60 ms. Selected original panel(s), cropped from the cited paper without changing plotted data. Copyright remains with the original rights holder.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Wilson DM (1961). The Central Nervous Control of Flight in A Locust Journal of Experimental Biology 38: 471-490. https://doi.org/10.1242/jeb.38.2.471</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Stevenson PA, Kutsch W (1987). A reconsideration of the central pattern generator concept for locust flight Journal of Comparative Physiology A 161: 115-129. https://doi.org/10.1007/bf00609460</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Camhi JM (1969). Locust Wind Receptors Journal of Experimental Biology 50: 335-348. https://doi.org/10.1242/jeb.50.2.335</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Camhi JM (1969). Locust Wind Receptors Journal of Experimental Biology 50: 349-362. https://doi.org/10.1242/jeb.50.2.349</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Tyrer NM, Bacon JP, Davies CA (1979). Sensory projections from the wind-sensitive head hairs of the locust Schistocerca gregaria Cell and Tissue Research 203: 79–92. https://doi.org/10.1007/BF00234330</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Bacon JP, Möhl B (1983). The tritocerebral commissure giant (TCG) wind-sensitive interneurone in the locust. I. Its activity in straight flight Journal of Comparative Physiology 150: 439–452. https://doi.org/10.1007/BF00609570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 Schildberger K, Stevenson PA. (2008). A muscarinic cholinergic mechanism underlies activation of the central pattern generator for locust flight. The Journal of experimental biology 211: 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4A; Buhl et al. (2008). Ganglia and TCG morphology; scale bar: 1 mm. Selected original panel(s), cropped from the cited paper without changing plotted data. Copyright remains with the original rights holder.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Bacon JP, Möhl B (1983). The tritocerebral commissure giant (TCG) wind-sensitive interneurone in the locust. I. Its activity in straight flight Journal of Comparative Physiology 150: 439–452. https://doi.org/10.1007/BF00609570</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Möhl B, Bacon JP (1983). The tritocerebral commissure giant (TCG) wind-sensitive interneurone in the locust. II. Directional sensitivity and role in flight stabilisation Journal of Comparative Physiology 150: 453–465. https://doi.org/10.1007/BF00609571</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Möhl B, Bacon JP (1983). The tritocerebral commissure giant (TCG) wind-sensitive interneurone in the locust. II. Directional sensitivity and role in flight stabilisation Journal of Comparative Physiology 150: 453–465. https://doi.org/10.1007/BF00609571</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Camhi JM (1969). Locust Wind Receptors Journal of Experimental Biology 50: 363-373. https://doi.org/10.1242/jeb.50.2.363</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Pearson KG, Reye DN, Parsons DW, Bicker G. (1985). Flight-initiating interneurons in the locust. Journal of neurophysiology 53: 910-925. https://doi.org/10.1152/jn.1985.53.4.910</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Fuchs E, Kutsch W, Ayali A. (2003). Neural correlates to flight-related density-dependent phase characteristics in locusts. Journal of neurobiology 57: 152-162. https://doi.org/10.1002/neu.10261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Ayali A, Fuchs E, Kutsch W (2004). Neurophysiological studies of flight-related density-dependent phase characteristics in locusts Acta Biologica Hungarica 55: 137–141. https://d-nb.info/121893641X/34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1A–B; Ayali et al. (2004). Same investigators’ primary results; stimulus speeds retained. Selected original panel(s), cropped from the cited paper without changing plotted data. Copyright remains with the original rights holder.</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Robertson RM, Pearson KG. (1983). Interneurons in the flight system of the locust: distribution, connections, and resetting properties. The Journal of comparative neurology 215: 33-50. https://doi.org/10.1002/cne.902150104</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Robertson RM, Pearson KG. (1985). Neural circuits in the flight system of the locust. Journal of neurophysiology 53: 110-128. https://doi.org/10.1152/jn.1985.53.1.110</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Robertson RM, Pearson KG. (1985). Neural circuits in the flight system of the locust. Journal of neurophysiology 53: 110-128. https://doi.org/10.1152/jn.1985.53.1.110</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Robertson RM, Reye DN. (1988). A local circuit interaction in the flight system of the locust. The Journal of neuroscience : the official journal of the Society for Neuroscience 8: 3929-3936. https://doi.org/10.1523/jneurosci.08-10-03929.1988</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Burrows M. (1975). Monosynaptic connexions between wing stretch receptors and flight motoneurones of the locust. The Journal of experimental biology 62: 189-219. https://doi.org/10.1242/jeb.62.1.189</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Fischer H, Wolf H, Büschges A (2002). The locust tegula: kinematic parameters and activity pattern during the wing stroke Journal of Experimental Biology 205: 1531-1545. https://doi.org/10.1242/jeb.205.11.1531</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Pearson KG, Wolf H (1988). Connections of Hindwing Tegulae with Flight Neurones in the Locust, Locusta Migratoria Journal of Experimental Biology 135: 381-409. https://doi.org/10.1242/jeb.135.1.381</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Wolf H (1993). The Locust Tegula: Significance for Flight Rhythm Generation, Wing Movement Control and Aerodynamic Force Production Journal of Experimental Biology 182: 229-253. https://doi.org/10.1242/jeb.182.1.229</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Ausborn J, Stein W, Wolf H. (2007). Frequency control of motor patterning by negative sensory feedback. The Journal of neuroscience : the official journal of the Society for Neuroscience 27: 9319-9328. https://doi.org/10.1523/jneurosci.0907-07.2007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2A; Ausborn et al. (2007). Selected recording panel; scale bar: 50 ms. Selected original panel(s), cropped from the cited paper without changing plotted data. Copyright remains with the original rights holder.</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Ausborn J, Stein W, Wolf H. (2007). Frequency control of motor patterning by negative sensory feedback. The Journal of neuroscience : the official journal of the Society for Neuroscience 27: 9319-9328. https://doi.org/10.1523/jneurosci.0907-07.2007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5C–D; Ausborn et al. (2007). EPSP = excitatory postsynaptic potential; normalized responses. Selected original panel(s), cropped from the cited paper without changing plotted data. Copyright remains with the original rights holder.</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Ausborn J, Stein W, Wolf H. (2007). Frequency control of motor patterning by negative sensory feedback. The Journal of neuroscience : the official journal of the Society for Neuroscience 27: 9319-9328. https://doi.org/10.1523/jneurosci.0907-07.2007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6F; Ausborn et al. (2007). Population change in frequency, N = 9 animals; mean ± SD. Selected original panel(s), cropped from the cited paper without changing plotted data. Copyright remains with the original rights holder.</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Ausborn J, Stein W, Wolf H. (2007). Frequency control of motor patterning by negative sensory feedback. The Journal of neuroscience : the official journal of the Society for Neuroscience 27: 9319-9328. https://doi.org/10.1523/jneurosci.0907-07.2007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4C; Ausborn et al. (2007). Computational model. T = threshold-strength modeled input. Selected original panel(s), cropped from the cited paper without changing plotted data. Copyright remains with the original rights holder.</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Ramirez JM, Pearson KG. (1993). Alteration of bursting properties in interneurons during locust flight. Journal of neurophysiology 70: 2148-2160. https://doi.org/10.1152/jn.1993.70.5.2148</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Ramirez JM, Pearson KG. (1991). Octopaminergic modulation of interneurons in the flight system of the locust. Journal of neurophysiology 66: 1522-1537. https://doi.org/10.1152/jn.1991.66.5.1522</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Ausborn J, Stein W, Wolf H. (2007). Frequency control of motor patterning by negative sensory feedback. The Journal of neuroscience : the official journal of the Society for Neuroscience 27: 9319-9328. https://doi.org/10.1523/jneurosci.0907-07.2007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Ramirez JM, Pearson KG. (1991). Octopaminergic modulation of interneurons in the flight system of the locust. Journal of neurophysiology 66: 1522-1537. https://doi.org/10.1152/jn.1991.66.5.1522</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Leitch B, Pitman RM. (1995). Modulation of transmitter release from the terminals of the locust wing stretch receptor neuron by muscarinic antagonists. Journal of neurobiology 28: 455-464. https://doi.org/10.1002/neu.480280406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 Schildberger K, Stevenson PA. (2008). A muscarinic cholinergic mechanism underlies activation of the central pattern generator for locust flight. The Journal of experimental biology 211: 2346-2357. https://doi.org/10.1242/jeb.017384</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Buhl E, Schildberger K, Stevenson PA. (2008). A muscarinic cholinergic mechanism underlies activation of the central pattern generator for locust flight. The Journal of experimental biology 211: 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1B; Buhl et al. (2008). Shared source scales: upper 10 s, lower 100 ms. E = elevator; D = depressor. Selected original panel(s), cropped from the cited paper without changing plotted data. Copyright remains with the original rights holder.</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Buhl E, Schildberger K, Stevenson PA. (2008). A muscarinic cholinergic mechanism underlies activation of the central pattern generator for locust flight. The Journal of experimental biology 211: 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4C; Buhl et al. (2008). Control, atropine, and 30 min washout; scale bar: 100 ms. Selected original panel(s), cropped from the cited paper without changing plotted data. Copyright remains with the original rights holder.</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Buhl E, Schildberger K, Stevenson PA. (2008). A muscarinic cholinergic mechanism underlies activation of the central pattern generator for locust flight. The Journal of experimental biology 211: 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6C; Buhl et al. (2008). Wind-induced activity after reserpine. Shared source scales: upper 10 s, lower 100 ms. Selected original panel(s), cropped from the cited paper without changing plotted data. Copyright remains with the original rights holder.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Leitch B, Judge S, Pitman RM. (2003). Octopaminergic modulation of synaptic transmission between an identified sensory afferent and flight motoneuron in the locust. The Journal of comparative neurology 462: 55-70. https://doi.org/10.1002/cne.10698</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Mentel T, Duch C, Stypa H, Wegener G, Müller U, Pflüger HJ. (2003). Central modulatory neurons control fuel selection in flight muscle of migratory locust. The Journal of neuroscience : the official journal of the Society for Neuroscience 23: 1109-1113. https://doi.org/10.1523/jneurosci.23-04-01109.2003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1A–B; Mentel et al. (2003). Paired muscle measurements; right-hand bars show mean + SD. Selected original panel(s), cropped from the cited paper without changing plotted data. Copyright remains with the original rights holder.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Source discrepancy: the Fig. 1B panel labels n = 20 whereas the paper caption reports n = 29. The slide does not resolve this discrepancy or present an invented reconciled sample size.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Mentel T, Duch C, Stypa H, Wegener G, Müller U, Pflüger HJ. (2003). Central modulatory neurons control fuel selection in flight muscle of migratory locust. The Journal of neuroscience : the official journal of the Society for Neuroscience 23: 1109-1113. https://doi.org/10.1523/jneurosci.23-04-01109.2003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3A–B; Mentel et al. (2003). A: 10 paired animals; B: 9. Means + SD; F2,6P₂ in nmol/g fresh weight. Selected original panel(s), cropped from the cited paper without changing plotted data. Copyright remains with the original rights holder.</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 name="Google Shape;532;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Wu BS, Walker VK, Robertson RM. (2001). Heat shock-induced thermoprotection of action potentials in the locust flight system. Journal of neurobiology 49: 188-199. https://doi.org/10.1002/neu.1074</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Büschges A, Pearson KG (1991). Adaptive Modifications in the Flight System of the Locust After the Removal Of Wing Proprioceptors Journal of Experimental Biology 157: 313-333. https://doi.org/10.1242/jeb.157.1.313</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6" name="Google Shape;556;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Gee C, Robertson R. (1996). Recovery of the flight system following ablation of the tegulae in immature adult locusts The Journal of experimental biology 199: 1395-1403. https://doi.org/10.1242/jeb.199.6.1395</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Rillich J, Stevenson PA, Pflueger HJ. (2013). Flight and walking in locusts-cholinergic co-activation, temporal coupling and its modulation by biogenic amines. PloS one 8: e62899. https://doi.org/10.1371/journal.pone.0062899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attribution: Original Fig. 3Ai; Rillich et al. (2013), CC BY. Pilocarpine-induced wing and leg activity; scale bar: 5 s. Selected original panel(s), cropped from the cited paper without changing plotted data. Copyright remains with the original rights holder.</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Reichert H, Rowell CH. (1985). Integration of nonphaselocked exteroceptive information in the control of rhythmic flight in the locust. Journal of neurophysiology 53: 1201-1218. https://doi.org/10.1152/jn.1985.53.5.1201</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4" name="Google Shape;594;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Synthesis of the primary research cited throughout the lecture. No new empirical claims.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8.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2.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8.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5.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0.pn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1.jp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4.jp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2.pn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A30"/>
        </a:solidFill>
      </p:bgPr>
    </p:bg>
    <p:spTree>
      <p:nvGrpSpPr>
        <p:cNvPr id="18" name="Shape 18"/>
        <p:cNvGrpSpPr/>
        <p:nvPr/>
      </p:nvGrpSpPr>
      <p:grpSpPr>
        <a:xfrm>
          <a:off x="0" y="0"/>
          <a:ext cx="0" cy="0"/>
          <a:chOff x="0" y="0"/>
          <a:chExt cx="0" cy="0"/>
        </a:xfrm>
      </p:grpSpPr>
      <p:sp>
        <p:nvSpPr>
          <p:cNvPr id="19" name="Google Shape;19;p1"/>
          <p:cNvSpPr/>
          <p:nvPr/>
        </p:nvSpPr>
        <p:spPr>
          <a:xfrm>
            <a:off x="666750" y="809625"/>
            <a:ext cx="6581378" cy="3143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CD1D7"/>
              </a:buClr>
              <a:buSzPts val="1650"/>
              <a:buFont typeface="Arial"/>
              <a:buNone/>
            </a:pPr>
            <a:r>
              <a:rPr b="0" i="0" lang="en-US" sz="1650" u="none" cap="none" strike="noStrike">
                <a:solidFill>
                  <a:srgbClr val="CCD1D7"/>
                </a:solidFill>
                <a:latin typeface="Arial"/>
                <a:ea typeface="Arial"/>
                <a:cs typeface="Arial"/>
                <a:sym typeface="Arial"/>
              </a:rPr>
              <a:t>NEUROETHOLOGY ·</a:t>
            </a:r>
            <a:r>
              <a:rPr lang="en-US" sz="1650">
                <a:solidFill>
                  <a:srgbClr val="CCD1D7"/>
                </a:solidFill>
              </a:rPr>
              <a:t> LECTURE 8</a:t>
            </a:r>
            <a:r>
              <a:rPr lang="en-US" sz="1650">
                <a:solidFill>
                  <a:srgbClr val="CCD1D7"/>
                </a:solidFill>
              </a:rPr>
              <a:t> · September 11, 2026</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666750" y="1353363"/>
            <a:ext cx="10687200" cy="7200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FFFFFF"/>
              </a:buClr>
              <a:buSzPts val="5250"/>
              <a:buFont typeface="Arial"/>
              <a:buNone/>
            </a:pPr>
            <a:r>
              <a:rPr b="1" i="0" lang="en-US" sz="5250" u="none" cap="none" strike="noStrike">
                <a:solidFill>
                  <a:srgbClr val="FFFFFF"/>
                </a:solidFill>
                <a:latin typeface="Arial"/>
                <a:ea typeface="Arial"/>
                <a:cs typeface="Arial"/>
                <a:sym typeface="Arial"/>
              </a:rPr>
              <a:t>Locust flight</a:t>
            </a:r>
            <a:endParaRPr b="0" i="0" sz="1800" u="none" cap="none" strike="noStrike">
              <a:solidFill>
                <a:schemeClr val="dk1"/>
              </a:solidFill>
              <a:latin typeface="Calibri"/>
              <a:ea typeface="Calibri"/>
              <a:cs typeface="Calibri"/>
              <a:sym typeface="Calibri"/>
            </a:endParaRPr>
          </a:p>
        </p:txBody>
      </p:sp>
      <p:sp>
        <p:nvSpPr>
          <p:cNvPr id="21" name="Google Shape;21;p1"/>
          <p:cNvSpPr/>
          <p:nvPr/>
        </p:nvSpPr>
        <p:spPr>
          <a:xfrm>
            <a:off x="666750" y="2302793"/>
            <a:ext cx="10687200" cy="876600"/>
          </a:xfrm>
          <a:prstGeom prst="rect">
            <a:avLst/>
          </a:prstGeom>
          <a:noFill/>
          <a:ln>
            <a:noFill/>
          </a:ln>
        </p:spPr>
        <p:txBody>
          <a:bodyPr anchorCtr="0" anchor="t" bIns="0" lIns="0" spcFirstLastPara="1" rIns="0" wrap="square" tIns="0">
            <a:normAutofit/>
          </a:bodyPr>
          <a:lstStyle/>
          <a:p>
            <a:pPr indent="0" lvl="0" marL="0" marR="0" rtl="0" algn="l">
              <a:lnSpc>
                <a:spcPct val="118017"/>
              </a:lnSpc>
              <a:spcBef>
                <a:spcPts val="0"/>
              </a:spcBef>
              <a:spcAft>
                <a:spcPts val="0"/>
              </a:spcAft>
              <a:buClr>
                <a:srgbClr val="E4E7EB"/>
              </a:buClr>
              <a:buSzPts val="2925"/>
              <a:buFont typeface="Arial"/>
              <a:buNone/>
            </a:pPr>
            <a:r>
              <a:rPr b="0" i="1" lang="en-US" sz="2225" u="none" cap="none" strike="noStrike">
                <a:solidFill>
                  <a:srgbClr val="E4E7EB"/>
                </a:solidFill>
                <a:latin typeface="Arial"/>
                <a:ea typeface="Arial"/>
                <a:cs typeface="Arial"/>
                <a:sym typeface="Arial"/>
              </a:rPr>
              <a:t>Wind-sensitive interneurons</a:t>
            </a:r>
            <a:br>
              <a:rPr b="0" i="1" lang="en-US" sz="2225" u="none" cap="none" strike="noStrike">
                <a:solidFill>
                  <a:srgbClr val="E4E7EB"/>
                </a:solidFill>
                <a:latin typeface="Arial"/>
                <a:ea typeface="Arial"/>
                <a:cs typeface="Arial"/>
                <a:sym typeface="Arial"/>
              </a:rPr>
            </a:br>
            <a:r>
              <a:rPr b="0" i="1" lang="en-US" sz="2225" u="none" cap="none" strike="noStrike">
                <a:solidFill>
                  <a:srgbClr val="E4E7EB"/>
                </a:solidFill>
                <a:latin typeface="Arial"/>
                <a:ea typeface="Arial"/>
                <a:cs typeface="Arial"/>
                <a:sym typeface="Arial"/>
              </a:rPr>
              <a:t>and the flight central pattern generator</a:t>
            </a:r>
            <a:endParaRPr b="0" i="1" sz="1100" u="none" cap="none" strike="noStrike">
              <a:solidFill>
                <a:schemeClr val="dk1"/>
              </a:solidFill>
              <a:latin typeface="Calibri"/>
              <a:ea typeface="Calibri"/>
              <a:cs typeface="Calibri"/>
              <a:sym typeface="Calibri"/>
            </a:endParaRPr>
          </a:p>
        </p:txBody>
      </p:sp>
      <p:sp>
        <p:nvSpPr>
          <p:cNvPr id="22" name="Google Shape;22;p1"/>
          <p:cNvSpPr/>
          <p:nvPr/>
        </p:nvSpPr>
        <p:spPr>
          <a:xfrm>
            <a:off x="11409313" y="641508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CCD1D7"/>
              </a:buClr>
              <a:buSzPts val="1125"/>
              <a:buFont typeface="Arial"/>
              <a:buNone/>
            </a:pPr>
            <a:r>
              <a:rPr b="0" i="0" lang="en-US" sz="1125" u="none" cap="none" strike="noStrike">
                <a:solidFill>
                  <a:srgbClr val="CCD1D7"/>
                </a:solidFill>
                <a:latin typeface="Arial"/>
                <a:ea typeface="Arial"/>
                <a:cs typeface="Arial"/>
                <a:sym typeface="Arial"/>
              </a:rPr>
              <a:t>01</a:t>
            </a:r>
            <a:endParaRPr b="0" i="0" sz="1800" u="none" cap="none" strike="noStrike">
              <a:solidFill>
                <a:schemeClr val="dk1"/>
              </a:solidFill>
              <a:latin typeface="Calibri"/>
              <a:ea typeface="Calibri"/>
              <a:cs typeface="Calibri"/>
              <a:sym typeface="Calibri"/>
            </a:endParaRPr>
          </a:p>
        </p:txBody>
      </p:sp>
      <p:pic>
        <p:nvPicPr>
          <p:cNvPr id="23" name="Google Shape;23;p1" title="Screenshot 2026-09-11 at 5.21.33 PM.png"/>
          <p:cNvPicPr preferRelativeResize="0"/>
          <p:nvPr/>
        </p:nvPicPr>
        <p:blipFill>
          <a:blip r:embed="rId3">
            <a:alphaModFix/>
          </a:blip>
          <a:stretch>
            <a:fillRect/>
          </a:stretch>
        </p:blipFill>
        <p:spPr>
          <a:xfrm>
            <a:off x="7932325" y="3510550"/>
            <a:ext cx="3477000" cy="2396087"/>
          </a:xfrm>
          <a:prstGeom prst="rect">
            <a:avLst/>
          </a:prstGeom>
          <a:noFill/>
          <a:ln>
            <a:noFill/>
          </a:ln>
        </p:spPr>
      </p:pic>
      <p:sp>
        <p:nvSpPr>
          <p:cNvPr id="24" name="Google Shape;24;p1"/>
          <p:cNvSpPr txBox="1"/>
          <p:nvPr/>
        </p:nvSpPr>
        <p:spPr>
          <a:xfrm>
            <a:off x="666740" y="6049410"/>
            <a:ext cx="9144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CDA"/>
              </a:buClr>
              <a:buSzPts val="1100"/>
              <a:buFont typeface="Calibri"/>
              <a:buNone/>
            </a:pPr>
            <a:r>
              <a:rPr i="0" lang="en-US" sz="1100" u="none" cap="none" strike="noStrike">
                <a:solidFill>
                  <a:srgbClr val="C9CCDA"/>
                </a:solidFill>
              </a:rPr>
              <a:t>NEUROETHOLOGY   ·   FALL 2026   ·   MWF 8:30–9:50 AM</a:t>
            </a:r>
            <a:endParaRPr i="0" sz="1100" u="none" cap="none" strike="noStrike">
              <a:solidFill>
                <a:srgbClr val="000000"/>
              </a:solidFill>
            </a:endParaRPr>
          </a:p>
        </p:txBody>
      </p:sp>
      <p:sp>
        <p:nvSpPr>
          <p:cNvPr id="25" name="Google Shape;25;p1"/>
          <p:cNvSpPr txBox="1"/>
          <p:nvPr/>
        </p:nvSpPr>
        <p:spPr>
          <a:xfrm>
            <a:off x="560908" y="4787500"/>
            <a:ext cx="5420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FFFFFF"/>
                </a:solidFill>
              </a:rPr>
              <a:t>Jordan Lopez, Ph.D., </a:t>
            </a:r>
            <a:endParaRPr sz="1500">
              <a:solidFill>
                <a:srgbClr val="FFFFFF"/>
              </a:solidFill>
            </a:endParaRPr>
          </a:p>
          <a:p>
            <a:pPr indent="0" lvl="0" marL="0" rtl="0" algn="l">
              <a:spcBef>
                <a:spcPts val="0"/>
              </a:spcBef>
              <a:spcAft>
                <a:spcPts val="0"/>
              </a:spcAft>
              <a:buNone/>
            </a:pPr>
            <a:r>
              <a:rPr lang="en-US" sz="1500">
                <a:solidFill>
                  <a:srgbClr val="FFFFFF"/>
                </a:solidFill>
              </a:rPr>
              <a:t>Professor of Neurobiology &amp; Biomedical Engineering</a:t>
            </a:r>
            <a:endParaRPr sz="1500">
              <a:solidFill>
                <a:srgbClr val="FFFFFF"/>
              </a:solidFill>
            </a:endParaRPr>
          </a:p>
        </p:txBody>
      </p:sp>
      <p:pic>
        <p:nvPicPr>
          <p:cNvPr id="26" name="Google Shape;26;p1"/>
          <p:cNvPicPr preferRelativeResize="0"/>
          <p:nvPr/>
        </p:nvPicPr>
        <p:blipFill>
          <a:blip r:embed="rId4">
            <a:alphaModFix/>
          </a:blip>
          <a:stretch>
            <a:fillRect/>
          </a:stretch>
        </p:blipFill>
        <p:spPr>
          <a:xfrm>
            <a:off x="7533575" y="472175"/>
            <a:ext cx="4190775" cy="28077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0" name="Shape 30"/>
        <p:cNvGrpSpPr/>
        <p:nvPr/>
      </p:nvGrpSpPr>
      <p:grpSpPr>
        <a:xfrm>
          <a:off x="0" y="0"/>
          <a:ext cx="0" cy="0"/>
          <a:chOff x="0" y="0"/>
          <a:chExt cx="0" cy="0"/>
        </a:xfrm>
      </p:grpSpPr>
      <p:sp>
        <p:nvSpPr>
          <p:cNvPr id="31" name="Google Shape;31;p2"/>
          <p:cNvSpPr/>
          <p:nvPr/>
        </p:nvSpPr>
        <p:spPr>
          <a:xfrm>
            <a:off x="571500" y="297047"/>
            <a:ext cx="11068200" cy="430500"/>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Locust flight is a coordinated sensorimotor behavior</a:t>
            </a:r>
            <a:endParaRPr b="0" i="0" sz="1800" u="none" cap="none" strike="noStrike">
              <a:solidFill>
                <a:schemeClr val="dk1"/>
              </a:solidFill>
              <a:latin typeface="Calibri"/>
              <a:ea typeface="Calibri"/>
              <a:cs typeface="Calibri"/>
              <a:sym typeface="Calibri"/>
            </a:endParaRPr>
          </a:p>
        </p:txBody>
      </p:sp>
      <p:sp>
        <p:nvSpPr>
          <p:cNvPr id="32" name="Google Shape;32;p2"/>
          <p:cNvSpPr/>
          <p:nvPr/>
        </p:nvSpPr>
        <p:spPr>
          <a:xfrm>
            <a:off x="571500" y="995625"/>
            <a:ext cx="112437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600" u="none" cap="none" strike="noStrike">
                <a:solidFill>
                  <a:srgbClr val="242A31"/>
                </a:solidFill>
                <a:latin typeface="Arial"/>
                <a:ea typeface="Arial"/>
                <a:cs typeface="Arial"/>
                <a:sym typeface="Arial"/>
              </a:rPr>
              <a:t>During sustained flight, the forewings and hindwings cycle through elevation and depression while wing rotation determines how the moving surfaces interact with air. </a:t>
            </a:r>
            <a:r>
              <a:rPr lang="en-US" sz="1600">
                <a:solidFill>
                  <a:srgbClr val="242A31"/>
                </a:solidFill>
              </a:rPr>
              <a:t>A </a:t>
            </a:r>
            <a:r>
              <a:rPr b="0" i="0" lang="en-US" sz="1600" u="none" cap="none" strike="noStrike">
                <a:solidFill>
                  <a:srgbClr val="242A31"/>
                </a:solidFill>
                <a:latin typeface="Arial"/>
                <a:ea typeface="Arial"/>
                <a:cs typeface="Arial"/>
                <a:sym typeface="Arial"/>
              </a:rPr>
              <a:t>typical wingbeat frequency is approximately </a:t>
            </a:r>
            <a:r>
              <a:rPr b="1" i="0" lang="en-US" sz="1600" u="none" cap="none" strike="noStrike">
                <a:solidFill>
                  <a:srgbClr val="242A31"/>
                </a:solidFill>
                <a:latin typeface="Arial"/>
                <a:ea typeface="Arial"/>
                <a:cs typeface="Arial"/>
                <a:sym typeface="Arial"/>
              </a:rPr>
              <a:t>20–25 Hz</a:t>
            </a:r>
            <a:r>
              <a:rPr b="0" i="0" lang="en-US" sz="1600" u="none" cap="none" strike="noStrike">
                <a:solidFill>
                  <a:srgbClr val="242A31"/>
                </a:solidFill>
                <a:latin typeface="Arial"/>
                <a:ea typeface="Arial"/>
                <a:cs typeface="Arial"/>
                <a:sym typeface="Arial"/>
              </a:rPr>
              <a:t>, giving only about 40–50 ms to organize each cycle.</a:t>
            </a:r>
            <a:endParaRPr b="0" i="0" sz="1600" u="none" cap="none" strike="noStrike">
              <a:solidFill>
                <a:schemeClr val="dk1"/>
              </a:solidFill>
              <a:latin typeface="Calibri"/>
              <a:ea typeface="Calibri"/>
              <a:cs typeface="Calibri"/>
              <a:sym typeface="Calibri"/>
            </a:endParaRPr>
          </a:p>
        </p:txBody>
      </p:sp>
      <p:sp>
        <p:nvSpPr>
          <p:cNvPr id="33" name="Google Shape;33;p2"/>
          <p:cNvSpPr/>
          <p:nvPr/>
        </p:nvSpPr>
        <p:spPr>
          <a:xfrm>
            <a:off x="571500" y="2383400"/>
            <a:ext cx="74976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1" i="0" lang="en-US" sz="1600" u="none" cap="none" strike="noStrike">
                <a:solidFill>
                  <a:srgbClr val="242A31"/>
                </a:solidFill>
                <a:latin typeface="Arial"/>
                <a:ea typeface="Arial"/>
                <a:cs typeface="Arial"/>
                <a:sym typeface="Arial"/>
              </a:rPr>
              <a:t>Elevator muscles</a:t>
            </a:r>
            <a:r>
              <a:rPr b="0" i="0" lang="en-US" sz="1600" u="none" cap="none" strike="noStrike">
                <a:solidFill>
                  <a:srgbClr val="242A31"/>
                </a:solidFill>
                <a:latin typeface="Arial"/>
                <a:ea typeface="Arial"/>
                <a:cs typeface="Arial"/>
                <a:sym typeface="Arial"/>
              </a:rPr>
              <a:t> lift a wing; </a:t>
            </a:r>
            <a:r>
              <a:rPr b="1" i="0" lang="en-US" sz="1600" u="none" cap="none" strike="noStrike">
                <a:solidFill>
                  <a:srgbClr val="242A31"/>
                </a:solidFill>
                <a:latin typeface="Arial"/>
                <a:ea typeface="Arial"/>
                <a:cs typeface="Arial"/>
                <a:sym typeface="Arial"/>
              </a:rPr>
              <a:t>depressor muscles</a:t>
            </a:r>
            <a:r>
              <a:rPr b="0" i="0" lang="en-US" sz="1600" u="none" cap="none" strike="noStrike">
                <a:solidFill>
                  <a:srgbClr val="242A31"/>
                </a:solidFill>
                <a:latin typeface="Arial"/>
                <a:ea typeface="Arial"/>
                <a:cs typeface="Arial"/>
                <a:sym typeface="Arial"/>
              </a:rPr>
              <a:t> lower it. Their activation must alternate with reproducible timing, but bilateral differences in muscle timing and recruitment also permit corrective steering.</a:t>
            </a:r>
            <a:endParaRPr b="0" i="0" sz="1600" u="none" cap="none" strike="noStrike">
              <a:solidFill>
                <a:schemeClr val="dk1"/>
              </a:solidFill>
              <a:latin typeface="Calibri"/>
              <a:ea typeface="Calibri"/>
              <a:cs typeface="Calibri"/>
              <a:sym typeface="Calibri"/>
            </a:endParaRPr>
          </a:p>
        </p:txBody>
      </p:sp>
      <p:sp>
        <p:nvSpPr>
          <p:cNvPr id="34" name="Google Shape;34;p2"/>
          <p:cNvSpPr/>
          <p:nvPr/>
        </p:nvSpPr>
        <p:spPr>
          <a:xfrm>
            <a:off x="571500" y="3541688"/>
            <a:ext cx="7398000" cy="1188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600" u="none" cap="none" strike="noStrike">
                <a:solidFill>
                  <a:srgbClr val="242A31"/>
                </a:solidFill>
                <a:latin typeface="Arial"/>
                <a:ea typeface="Arial"/>
                <a:cs typeface="Arial"/>
                <a:sym typeface="Arial"/>
              </a:rPr>
              <a:t>Flight therefore requires several interacting operations: selecting the airborne state, generating repeated motor commands, matching those commands to the actual wing movement, and adjusting force and direction. Wind-sensitive pathways influence this system, but wind does not specify every muscle contraction.</a:t>
            </a:r>
            <a:endParaRPr b="0" i="0" sz="1600" u="none" cap="none" strike="noStrike">
              <a:solidFill>
                <a:schemeClr val="dk1"/>
              </a:solidFill>
              <a:latin typeface="Calibri"/>
              <a:ea typeface="Calibri"/>
              <a:cs typeface="Calibri"/>
              <a:sym typeface="Calibri"/>
            </a:endParaRPr>
          </a:p>
        </p:txBody>
      </p:sp>
      <p:sp>
        <p:nvSpPr>
          <p:cNvPr id="35" name="Google Shape;35;p2"/>
          <p:cNvSpPr/>
          <p:nvPr/>
        </p:nvSpPr>
        <p:spPr>
          <a:xfrm>
            <a:off x="609600" y="5493447"/>
            <a:ext cx="109728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600" u="none" cap="none" strike="noStrike">
                <a:solidFill>
                  <a:srgbClr val="242A31"/>
                </a:solidFill>
                <a:latin typeface="Arial"/>
                <a:ea typeface="Arial"/>
                <a:cs typeface="Arial"/>
                <a:sym typeface="Arial"/>
              </a:rPr>
              <a:t>Most experiments discussed here use the migratory locust, </a:t>
            </a:r>
            <a:r>
              <a:rPr b="1" i="0" lang="en-US" sz="1600" u="none" cap="none" strike="noStrike">
                <a:solidFill>
                  <a:srgbClr val="242A31"/>
                </a:solidFill>
                <a:latin typeface="Arial"/>
                <a:ea typeface="Arial"/>
                <a:cs typeface="Arial"/>
                <a:sym typeface="Arial"/>
              </a:rPr>
              <a:t>Locusta migratoria</a:t>
            </a:r>
            <a:r>
              <a:rPr b="0" i="0" lang="en-US" sz="1600" u="none" cap="none" strike="noStrike">
                <a:solidFill>
                  <a:srgbClr val="242A31"/>
                </a:solidFill>
                <a:latin typeface="Arial"/>
                <a:ea typeface="Arial"/>
                <a:cs typeface="Arial"/>
                <a:sym typeface="Arial"/>
              </a:rPr>
              <a:t>, or the desert locust, </a:t>
            </a:r>
            <a:r>
              <a:rPr b="1" i="0" lang="en-US" sz="1600" u="none" cap="none" strike="noStrike">
                <a:solidFill>
                  <a:srgbClr val="242A31"/>
                </a:solidFill>
                <a:latin typeface="Arial"/>
                <a:ea typeface="Arial"/>
                <a:cs typeface="Arial"/>
                <a:sym typeface="Arial"/>
              </a:rPr>
              <a:t>Schistocerca gregaria</a:t>
            </a:r>
            <a:r>
              <a:rPr b="0" i="0" lang="en-US" sz="1600" u="none" cap="none" strike="noStrike">
                <a:solidFill>
                  <a:srgbClr val="242A31"/>
                </a:solidFill>
                <a:latin typeface="Arial"/>
                <a:ea typeface="Arial"/>
                <a:cs typeface="Arial"/>
                <a:sym typeface="Arial"/>
              </a:rPr>
              <a:t>. Findings are identified by preparation and species where this changes their interpretation.</a:t>
            </a:r>
            <a:endParaRPr b="0" i="0" sz="1600" u="none" cap="none" strike="noStrike">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571500" y="6384741"/>
            <a:ext cx="11048999" cy="319088"/>
          </a:xfrm>
          <a:prstGeom prst="rect">
            <a:avLst/>
          </a:prstGeom>
          <a:noFill/>
          <a:ln>
            <a:noFill/>
          </a:ln>
        </p:spPr>
      </p:pic>
      <p:sp>
        <p:nvSpPr>
          <p:cNvPr id="37" name="Google Shape;37;p2"/>
          <p:cNvSpPr/>
          <p:nvPr/>
        </p:nvSpPr>
        <p:spPr>
          <a:xfrm>
            <a:off x="571500" y="6500591"/>
            <a:ext cx="2989500" cy="214200"/>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Wilson &amp; Weis-Fogh (1962); Buhl et al. (2008)</a:t>
            </a:r>
            <a:endParaRPr b="0" i="0" sz="1800" u="none" cap="none" strike="noStrike">
              <a:solidFill>
                <a:schemeClr val="dk1"/>
              </a:solidFill>
              <a:latin typeface="Calibri"/>
              <a:ea typeface="Calibri"/>
              <a:cs typeface="Calibri"/>
              <a:sym typeface="Calibri"/>
            </a:endParaRPr>
          </a:p>
        </p:txBody>
      </p:sp>
      <p:sp>
        <p:nvSpPr>
          <p:cNvPr id="38" name="Google Shape;38;p2"/>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02</a:t>
            </a:r>
            <a:endParaRPr b="0" i="0" sz="1800" u="none" cap="none" strike="noStrike">
              <a:solidFill>
                <a:schemeClr val="dk1"/>
              </a:solidFill>
              <a:latin typeface="Calibri"/>
              <a:ea typeface="Calibri"/>
              <a:cs typeface="Calibri"/>
              <a:sym typeface="Calibri"/>
            </a:endParaRPr>
          </a:p>
        </p:txBody>
      </p:sp>
      <p:pic>
        <p:nvPicPr>
          <p:cNvPr id="39" name="Google Shape;39;p2" title="Screenshot 2026-09-12 at 12.15.19 PM.png"/>
          <p:cNvPicPr preferRelativeResize="0"/>
          <p:nvPr/>
        </p:nvPicPr>
        <p:blipFill>
          <a:blip r:embed="rId4">
            <a:alphaModFix/>
          </a:blip>
          <a:stretch>
            <a:fillRect/>
          </a:stretch>
        </p:blipFill>
        <p:spPr>
          <a:xfrm>
            <a:off x="8188275" y="1795675"/>
            <a:ext cx="3315591" cy="35299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3" name="Shape 43"/>
        <p:cNvGrpSpPr/>
        <p:nvPr/>
      </p:nvGrpSpPr>
      <p:grpSpPr>
        <a:xfrm>
          <a:off x="0" y="0"/>
          <a:ext cx="0" cy="0"/>
          <a:chOff x="0" y="0"/>
          <a:chExt cx="0" cy="0"/>
        </a:xfrm>
      </p:grpSpPr>
      <p:sp>
        <p:nvSpPr>
          <p:cNvPr id="44" name="Google Shape;44;p3"/>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Wing motion depends on the timing of muscle activation</a:t>
            </a:r>
            <a:endParaRPr b="0" i="0" sz="1800" u="none" cap="none" strike="noStrike">
              <a:solidFill>
                <a:schemeClr val="dk1"/>
              </a:solidFill>
              <a:latin typeface="Calibri"/>
              <a:ea typeface="Calibri"/>
              <a:cs typeface="Calibri"/>
              <a:sym typeface="Calibri"/>
            </a:endParaRPr>
          </a:p>
        </p:txBody>
      </p:sp>
      <p:sp>
        <p:nvSpPr>
          <p:cNvPr id="45" name="Google Shape;45;p3"/>
          <p:cNvSpPr/>
          <p:nvPr/>
        </p:nvSpPr>
        <p:spPr>
          <a:xfrm>
            <a:off x="571500" y="1100650"/>
            <a:ext cx="78201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600" u="none" cap="none" strike="noStrike">
                <a:solidFill>
                  <a:srgbClr val="242A31"/>
                </a:solidFill>
                <a:latin typeface="Arial"/>
                <a:ea typeface="Arial"/>
                <a:cs typeface="Arial"/>
                <a:sym typeface="Arial"/>
              </a:rPr>
              <a:t>Locust flight muscles operate synchronously: neural activation is closely coupled to individual wing strokes. This permits simultaneous muscle recordings and wing observations to relate motor-unit firing to a particular mechanical event.</a:t>
            </a:r>
            <a:endParaRPr b="0" i="0" sz="1600" u="none" cap="none" strike="noStrike">
              <a:solidFill>
                <a:schemeClr val="dk1"/>
              </a:solidFill>
              <a:latin typeface="Calibri"/>
              <a:ea typeface="Calibri"/>
              <a:cs typeface="Calibri"/>
              <a:sym typeface="Calibri"/>
            </a:endParaRPr>
          </a:p>
        </p:txBody>
      </p:sp>
      <p:sp>
        <p:nvSpPr>
          <p:cNvPr id="46" name="Google Shape;46;p3"/>
          <p:cNvSpPr/>
          <p:nvPr/>
        </p:nvSpPr>
        <p:spPr>
          <a:xfrm>
            <a:off x="571500" y="2288900"/>
            <a:ext cx="75978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600" u="none" cap="none" strike="noStrike">
                <a:solidFill>
                  <a:srgbClr val="242A31"/>
                </a:solidFill>
                <a:latin typeface="Arial"/>
                <a:ea typeface="Arial"/>
                <a:cs typeface="Arial"/>
                <a:sym typeface="Arial"/>
              </a:rPr>
              <a:t>A </a:t>
            </a:r>
            <a:r>
              <a:rPr b="1" i="0" lang="en-US" sz="1600" u="none" cap="none" strike="noStrike">
                <a:solidFill>
                  <a:srgbClr val="242A31"/>
                </a:solidFill>
                <a:latin typeface="Arial"/>
                <a:ea typeface="Arial"/>
                <a:cs typeface="Arial"/>
                <a:sym typeface="Arial"/>
              </a:rPr>
              <a:t>motor unit</a:t>
            </a:r>
            <a:r>
              <a:rPr b="0" i="0" lang="en-US" sz="1600" u="none" cap="none" strike="noStrike">
                <a:solidFill>
                  <a:srgbClr val="242A31"/>
                </a:solidFill>
                <a:latin typeface="Arial"/>
                <a:ea typeface="Arial"/>
                <a:cs typeface="Arial"/>
                <a:sym typeface="Arial"/>
              </a:rPr>
              <a:t> consists of one motoneuron and the muscle fibers it innervates. Wilson and Weis-Fogh recorded identified flight-muscle units while varying flight performance. A unit generally fired once per stroke, but some units were inactive during low-power flight.</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571500" y="3662600"/>
            <a:ext cx="75978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600" u="none" cap="none" strike="noStrike">
                <a:solidFill>
                  <a:srgbClr val="242A31"/>
                </a:solidFill>
                <a:latin typeface="Arial"/>
                <a:ea typeface="Arial"/>
                <a:cs typeface="Arial"/>
                <a:sym typeface="Arial"/>
              </a:rPr>
              <a:t>As power increased, additional units became active and some produced two or more spikes per stroke. Thus flight intensity can change through </a:t>
            </a:r>
            <a:r>
              <a:rPr b="1" i="0" lang="en-US" sz="1600" u="none" cap="none" strike="noStrike">
                <a:solidFill>
                  <a:srgbClr val="242A31"/>
                </a:solidFill>
                <a:latin typeface="Arial"/>
                <a:ea typeface="Arial"/>
                <a:cs typeface="Arial"/>
                <a:sym typeface="Arial"/>
              </a:rPr>
              <a:t>recruitment</a:t>
            </a:r>
            <a:r>
              <a:rPr b="0" i="0" lang="en-US" sz="1600" u="none" cap="none" strike="noStrike">
                <a:solidFill>
                  <a:srgbClr val="242A31"/>
                </a:solidFill>
                <a:latin typeface="Arial"/>
                <a:ea typeface="Arial"/>
                <a:cs typeface="Arial"/>
                <a:sym typeface="Arial"/>
              </a:rPr>
              <a:t> and spike number without replacing the overall elevator–depressor sequence.</a:t>
            </a:r>
            <a:endParaRPr b="0" i="0" sz="1600" u="none" cap="none" strike="noStrike">
              <a:solidFill>
                <a:schemeClr val="dk1"/>
              </a:solidFill>
              <a:latin typeface="Calibri"/>
              <a:ea typeface="Calibri"/>
              <a:cs typeface="Calibri"/>
              <a:sym typeface="Calibri"/>
            </a:endParaRPr>
          </a:p>
        </p:txBody>
      </p:sp>
      <p:sp>
        <p:nvSpPr>
          <p:cNvPr id="48" name="Google Shape;48;p3"/>
          <p:cNvSpPr/>
          <p:nvPr/>
        </p:nvSpPr>
        <p:spPr>
          <a:xfrm>
            <a:off x="571500" y="4899875"/>
            <a:ext cx="7597800" cy="1188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600" u="none" cap="none" strike="noStrike">
                <a:solidFill>
                  <a:srgbClr val="242A31"/>
                </a:solidFill>
                <a:latin typeface="Arial"/>
                <a:ea typeface="Arial"/>
                <a:cs typeface="Arial"/>
                <a:sym typeface="Arial"/>
              </a:rPr>
              <a:t>Wing twist is a separate mechanical variable from wing elevation. Activity in muscles acting on the wing base can change wing orientation and aerodynamic force even when the basic rhythm remains recognizable. Muscle timing, recruitment, and wing kinematics must therefore be measured separately.</a:t>
            </a:r>
            <a:endParaRPr b="0" i="0" sz="1600" u="none" cap="none" strike="noStrike">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50" name="Google Shape;50;p3"/>
          <p:cNvSpPr/>
          <p:nvPr/>
        </p:nvSpPr>
        <p:spPr>
          <a:xfrm>
            <a:off x="571500" y="6434138"/>
            <a:ext cx="1796207"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Wilson &amp; Weis-Fogh (1962)</a:t>
            </a:r>
            <a:endParaRPr b="0" i="0" sz="1800" u="none" cap="none" strike="noStrike">
              <a:solidFill>
                <a:schemeClr val="dk1"/>
              </a:solidFill>
              <a:latin typeface="Calibri"/>
              <a:ea typeface="Calibri"/>
              <a:cs typeface="Calibri"/>
              <a:sym typeface="Calibri"/>
            </a:endParaRPr>
          </a:p>
        </p:txBody>
      </p:sp>
      <p:sp>
        <p:nvSpPr>
          <p:cNvPr id="51" name="Google Shape;51;p3"/>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03</a:t>
            </a:r>
            <a:endParaRPr b="0" i="0" sz="1800" u="none" cap="none" strike="noStrike">
              <a:solidFill>
                <a:schemeClr val="dk1"/>
              </a:solidFill>
              <a:latin typeface="Calibri"/>
              <a:ea typeface="Calibri"/>
              <a:cs typeface="Calibri"/>
              <a:sym typeface="Calibri"/>
            </a:endParaRPr>
          </a:p>
        </p:txBody>
      </p:sp>
      <p:pic>
        <p:nvPicPr>
          <p:cNvPr id="52" name="Google Shape;52;p3" title="Screenshot 2026-09-12 at 12.24.42 PM.png"/>
          <p:cNvPicPr preferRelativeResize="0"/>
          <p:nvPr/>
        </p:nvPicPr>
        <p:blipFill>
          <a:blip r:embed="rId4">
            <a:alphaModFix/>
          </a:blip>
          <a:stretch>
            <a:fillRect/>
          </a:stretch>
        </p:blipFill>
        <p:spPr>
          <a:xfrm>
            <a:off x="8701800" y="2682474"/>
            <a:ext cx="2582624" cy="3524498"/>
          </a:xfrm>
          <a:prstGeom prst="rect">
            <a:avLst/>
          </a:prstGeom>
          <a:noFill/>
          <a:ln>
            <a:noFill/>
          </a:ln>
        </p:spPr>
      </p:pic>
      <p:pic>
        <p:nvPicPr>
          <p:cNvPr id="53" name="Google Shape;53;p3" title="Screenshot 2026-09-12 at 12.27.00 PM.png"/>
          <p:cNvPicPr preferRelativeResize="0"/>
          <p:nvPr/>
        </p:nvPicPr>
        <p:blipFill>
          <a:blip r:embed="rId5">
            <a:alphaModFix/>
          </a:blip>
          <a:stretch>
            <a:fillRect/>
          </a:stretch>
        </p:blipFill>
        <p:spPr>
          <a:xfrm>
            <a:off x="8640623" y="919825"/>
            <a:ext cx="2704975" cy="16402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57" name="Shape 57"/>
        <p:cNvGrpSpPr/>
        <p:nvPr/>
      </p:nvGrpSpPr>
      <p:grpSpPr>
        <a:xfrm>
          <a:off x="0" y="0"/>
          <a:ext cx="0" cy="0"/>
          <a:chOff x="0" y="0"/>
          <a:chExt cx="0" cy="0"/>
        </a:xfrm>
      </p:grpSpPr>
      <p:sp>
        <p:nvSpPr>
          <p:cNvPr id="58" name="Google Shape;58;p4"/>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From a motor spike to force production</a:t>
            </a:r>
            <a:endParaRPr b="0" i="0" sz="1800" u="none" cap="none" strike="noStrike">
              <a:solidFill>
                <a:schemeClr val="dk1"/>
              </a:solidFill>
              <a:latin typeface="Calibri"/>
              <a:ea typeface="Calibri"/>
              <a:cs typeface="Calibri"/>
              <a:sym typeface="Calibri"/>
            </a:endParaRPr>
          </a:p>
        </p:txBody>
      </p:sp>
      <p:sp>
        <p:nvSpPr>
          <p:cNvPr id="59" name="Google Shape;59;p4"/>
          <p:cNvSpPr/>
          <p:nvPr/>
        </p:nvSpPr>
        <p:spPr>
          <a:xfrm>
            <a:off x="571500" y="1090075"/>
            <a:ext cx="109728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600" u="none" cap="none" strike="noStrike">
                <a:solidFill>
                  <a:srgbClr val="242A31"/>
                </a:solidFill>
                <a:latin typeface="Arial"/>
                <a:ea typeface="Arial"/>
                <a:cs typeface="Arial"/>
                <a:sym typeface="Arial"/>
              </a:rPr>
              <a:t>A </a:t>
            </a:r>
            <a:r>
              <a:rPr lang="en-US" sz="1600">
                <a:solidFill>
                  <a:srgbClr val="242A31"/>
                </a:solidFill>
              </a:rPr>
              <a:t>motor neuron</a:t>
            </a:r>
            <a:r>
              <a:rPr b="0" i="0" lang="en-US" sz="1600" u="none" cap="none" strike="noStrike">
                <a:solidFill>
                  <a:srgbClr val="242A31"/>
                </a:solidFill>
                <a:latin typeface="Arial"/>
                <a:ea typeface="Arial"/>
                <a:cs typeface="Arial"/>
                <a:sym typeface="Arial"/>
              </a:rPr>
              <a:t> action potential travels into its peripheral axon and reaches neuromuscular terminals. Depolarization opens voltage-gated Ca²⁺ channels; Ca²⁺ entry promotes transmitter release from synaptic vesicles.</a:t>
            </a:r>
            <a:endParaRPr b="0" i="0" sz="1600" u="none" cap="none" strike="noStrike">
              <a:solidFill>
                <a:schemeClr val="dk1"/>
              </a:solidFill>
              <a:latin typeface="Calibri"/>
              <a:ea typeface="Calibri"/>
              <a:cs typeface="Calibri"/>
              <a:sym typeface="Calibri"/>
            </a:endParaRPr>
          </a:p>
        </p:txBody>
      </p:sp>
      <p:sp>
        <p:nvSpPr>
          <p:cNvPr id="60" name="Google Shape;60;p4"/>
          <p:cNvSpPr/>
          <p:nvPr/>
        </p:nvSpPr>
        <p:spPr>
          <a:xfrm>
            <a:off x="571500" y="1883883"/>
            <a:ext cx="11068200" cy="1188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600" u="none" cap="none" strike="noStrike">
                <a:solidFill>
                  <a:srgbClr val="242A31"/>
                </a:solidFill>
                <a:latin typeface="Arial"/>
                <a:ea typeface="Arial"/>
                <a:cs typeface="Arial"/>
                <a:sym typeface="Arial"/>
              </a:rPr>
              <a:t>At insect excitatory neuromuscular junctions, </a:t>
            </a:r>
            <a:r>
              <a:rPr b="1" i="0" lang="en-US" sz="1600" u="none" cap="none" strike="noStrike">
                <a:solidFill>
                  <a:srgbClr val="242A31"/>
                </a:solidFill>
                <a:latin typeface="Arial"/>
                <a:ea typeface="Arial"/>
                <a:cs typeface="Arial"/>
                <a:sym typeface="Arial"/>
              </a:rPr>
              <a:t>L-glutamate</a:t>
            </a:r>
            <a:r>
              <a:rPr b="0" i="0" lang="en-US" sz="1600" u="none" cap="none" strike="noStrike">
                <a:solidFill>
                  <a:srgbClr val="242A31"/>
                </a:solidFill>
                <a:latin typeface="Arial"/>
                <a:ea typeface="Arial"/>
                <a:cs typeface="Arial"/>
                <a:sym typeface="Arial"/>
              </a:rPr>
              <a:t> activates postsynaptic ionotropic receptors. These receptors are ligand-gated channels: transmitter binding rapidly increases membrane conductance and produces an excitatory junctional potential. This differs from the central cholinergic pathways that activate the flight network.</a:t>
            </a:r>
            <a:endParaRPr b="0" i="0" sz="1600" u="none" cap="none" strike="noStrike">
              <a:solidFill>
                <a:schemeClr val="dk1"/>
              </a:solidFill>
              <a:latin typeface="Calibri"/>
              <a:ea typeface="Calibri"/>
              <a:cs typeface="Calibri"/>
              <a:sym typeface="Calibri"/>
            </a:endParaRPr>
          </a:p>
        </p:txBody>
      </p:sp>
      <p:sp>
        <p:nvSpPr>
          <p:cNvPr id="61" name="Google Shape;61;p4"/>
          <p:cNvSpPr/>
          <p:nvPr/>
        </p:nvSpPr>
        <p:spPr>
          <a:xfrm>
            <a:off x="571500" y="3071192"/>
            <a:ext cx="110682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600" u="none" cap="none" strike="noStrike">
                <a:solidFill>
                  <a:srgbClr val="242A31"/>
                </a:solidFill>
                <a:latin typeface="Arial"/>
                <a:ea typeface="Arial"/>
                <a:cs typeface="Arial"/>
                <a:sym typeface="Arial"/>
              </a:rPr>
              <a:t>Muscle excitation increases intracellular Ca²⁺ availability, allowing the contractile apparatus to generate force. Force also depends on muscle length, shortening velocity, and activation history; an electrical spike is therefore a command to the muscle, rather than a direct measurement of lift.</a:t>
            </a:r>
            <a:endParaRPr b="0" i="0" sz="1600" u="none" cap="none" strike="noStrike">
              <a:solidFill>
                <a:schemeClr val="dk1"/>
              </a:solidFill>
              <a:latin typeface="Calibri"/>
              <a:ea typeface="Calibri"/>
              <a:cs typeface="Calibri"/>
              <a:sym typeface="Calibri"/>
            </a:endParaRPr>
          </a:p>
        </p:txBody>
      </p:sp>
      <p:sp>
        <p:nvSpPr>
          <p:cNvPr id="62" name="Google Shape;62;p4"/>
          <p:cNvSpPr/>
          <p:nvPr/>
        </p:nvSpPr>
        <p:spPr>
          <a:xfrm>
            <a:off x="571500" y="4223692"/>
            <a:ext cx="5389200" cy="1188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600" u="none" cap="none" strike="noStrike">
                <a:solidFill>
                  <a:srgbClr val="242A31"/>
                </a:solidFill>
                <a:latin typeface="Arial"/>
                <a:ea typeface="Arial"/>
                <a:cs typeface="Arial"/>
                <a:sym typeface="Arial"/>
              </a:rPr>
              <a:t>Usherwood, Machili, and Leaf tested glutamate action at insect nerve–muscle synapses. Wilson and Weis-Fogh related motor-unit firing to flight mechanics. Together these experiments connect synaptic excitation to a mechanically adjustable output; they do not identify every receptor subunit in locust flight muscle.</a:t>
            </a:r>
            <a:endParaRPr b="0" i="0" sz="1600" u="none" cap="none" strike="noStrike">
              <a:solidFill>
                <a:schemeClr val="dk1"/>
              </a:solidFill>
              <a:latin typeface="Calibri"/>
              <a:ea typeface="Calibri"/>
              <a:cs typeface="Calibri"/>
              <a:sym typeface="Calibri"/>
            </a:endParaRPr>
          </a:p>
        </p:txBody>
      </p:sp>
      <p:pic>
        <p:nvPicPr>
          <p:cNvPr id="63" name="Google Shape;63;p4"/>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64" name="Google Shape;64;p4"/>
          <p:cNvSpPr/>
          <p:nvPr/>
        </p:nvSpPr>
        <p:spPr>
          <a:xfrm>
            <a:off x="571500" y="6434138"/>
            <a:ext cx="3456980"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Usherwood et al. (1968); Wilson &amp; Weis-Fogh (1962)</a:t>
            </a:r>
            <a:endParaRPr b="0" i="0" sz="1800" u="none" cap="none" strike="noStrike">
              <a:solidFill>
                <a:schemeClr val="dk1"/>
              </a:solidFill>
              <a:latin typeface="Calibri"/>
              <a:ea typeface="Calibri"/>
              <a:cs typeface="Calibri"/>
              <a:sym typeface="Calibri"/>
            </a:endParaRPr>
          </a:p>
        </p:txBody>
      </p:sp>
      <p:sp>
        <p:nvSpPr>
          <p:cNvPr id="65" name="Google Shape;65;p4"/>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04</a:t>
            </a:r>
            <a:endParaRPr b="0" i="0" sz="1800" u="none" cap="none" strike="noStrike">
              <a:solidFill>
                <a:schemeClr val="dk1"/>
              </a:solidFill>
              <a:latin typeface="Calibri"/>
              <a:ea typeface="Calibri"/>
              <a:cs typeface="Calibri"/>
              <a:sym typeface="Calibri"/>
            </a:endParaRPr>
          </a:p>
        </p:txBody>
      </p:sp>
      <p:pic>
        <p:nvPicPr>
          <p:cNvPr descr="Locust motoneuron, flight muscle, and wing movement pathway" id="66" name="Google Shape;66;p4"/>
          <p:cNvPicPr preferRelativeResize="0"/>
          <p:nvPr/>
        </p:nvPicPr>
        <p:blipFill>
          <a:blip r:embed="rId4">
            <a:alphaModFix/>
          </a:blip>
          <a:stretch>
            <a:fillRect/>
          </a:stretch>
        </p:blipFill>
        <p:spPr>
          <a:xfrm>
            <a:off x="6175500" y="3898075"/>
            <a:ext cx="5445000" cy="2214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70" name="Shape 70"/>
        <p:cNvGrpSpPr/>
        <p:nvPr/>
      </p:nvGrpSpPr>
      <p:grpSpPr>
        <a:xfrm>
          <a:off x="0" y="0"/>
          <a:ext cx="0" cy="0"/>
          <a:chOff x="0" y="0"/>
          <a:chExt cx="0" cy="0"/>
        </a:xfrm>
      </p:grpSpPr>
      <p:sp>
        <p:nvSpPr>
          <p:cNvPr id="71" name="Google Shape;71;p5"/>
          <p:cNvSpPr/>
          <p:nvPr/>
        </p:nvSpPr>
        <p:spPr>
          <a:xfrm>
            <a:off x="452437" y="352425"/>
            <a:ext cx="11068200" cy="860700"/>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The flight network occupies a distributed ventral nerve cord</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4837800" y="939262"/>
            <a:ext cx="67065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The mesothoracic and metathoracic ganglia supply the forewing and hindwing systems. A </a:t>
            </a:r>
            <a:r>
              <a:rPr b="1" i="0" lang="en-US" sz="1500" u="none" cap="none" strike="noStrike">
                <a:solidFill>
                  <a:srgbClr val="242A31"/>
                </a:solidFill>
                <a:latin typeface="Arial"/>
                <a:ea typeface="Arial"/>
                <a:cs typeface="Arial"/>
                <a:sym typeface="Arial"/>
              </a:rPr>
              <a:t>ganglion</a:t>
            </a:r>
            <a:r>
              <a:rPr b="0" i="0" lang="en-US" sz="1500" u="none" cap="none" strike="noStrike">
                <a:solidFill>
                  <a:srgbClr val="242A31"/>
                </a:solidFill>
                <a:latin typeface="Arial"/>
                <a:ea typeface="Arial"/>
                <a:cs typeface="Arial"/>
                <a:sym typeface="Arial"/>
              </a:rPr>
              <a:t> contains neuronal cell bodies and neuropil, the region where axons and dendrites form most synaptic interactions. Longitudinal connectives carry information between ganglia.</a:t>
            </a:r>
            <a:endParaRPr b="0" i="0" sz="1500" u="none" cap="none" strike="noStrike">
              <a:solidFill>
                <a:schemeClr val="dk1"/>
              </a:solidFill>
              <a:latin typeface="Calibri"/>
              <a:ea typeface="Calibri"/>
              <a:cs typeface="Calibri"/>
              <a:sym typeface="Calibri"/>
            </a:endParaRPr>
          </a:p>
        </p:txBody>
      </p:sp>
      <p:sp>
        <p:nvSpPr>
          <p:cNvPr id="73" name="Google Shape;73;p5"/>
          <p:cNvSpPr/>
          <p:nvPr/>
        </p:nvSpPr>
        <p:spPr>
          <a:xfrm>
            <a:off x="4837800" y="2230567"/>
            <a:ext cx="67065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Intracellular recording followed by neuronal staining revealed flight interneurons throughout the thoracic ganglia and the anterior abdominal components associated with the metathoracic complex. Some cells have serial homologues; others are identifiable individual neurons.</a:t>
            </a:r>
            <a:endParaRPr b="0" i="0" sz="1500" u="none" cap="none" strike="noStrike">
              <a:solidFill>
                <a:schemeClr val="dk1"/>
              </a:solidFill>
              <a:latin typeface="Calibri"/>
              <a:ea typeface="Calibri"/>
              <a:cs typeface="Calibri"/>
              <a:sym typeface="Calibri"/>
            </a:endParaRPr>
          </a:p>
        </p:txBody>
      </p:sp>
      <p:sp>
        <p:nvSpPr>
          <p:cNvPr id="74" name="Google Shape;74;p5"/>
          <p:cNvSpPr/>
          <p:nvPr/>
        </p:nvSpPr>
        <p:spPr>
          <a:xfrm>
            <a:off x="494780" y="3778525"/>
            <a:ext cx="69636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Interneurons can influence both forewing and hindwing motoneurons. The anatomical organization therefore does not reduce to an independent forewing oscillator beside an independent hindwing oscillator.</a:t>
            </a:r>
            <a:endParaRPr b="0" i="0" sz="1500" u="none" cap="none" strike="noStrike">
              <a:solidFill>
                <a:schemeClr val="dk1"/>
              </a:solidFill>
              <a:latin typeface="Calibri"/>
              <a:ea typeface="Calibri"/>
              <a:cs typeface="Calibri"/>
              <a:sym typeface="Calibri"/>
            </a:endParaRPr>
          </a:p>
        </p:txBody>
      </p:sp>
      <p:sp>
        <p:nvSpPr>
          <p:cNvPr id="75" name="Google Shape;75;p5"/>
          <p:cNvSpPr/>
          <p:nvPr/>
        </p:nvSpPr>
        <p:spPr>
          <a:xfrm>
            <a:off x="492125" y="5024233"/>
            <a:ext cx="69636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lang="en-US" sz="1500">
                <a:solidFill>
                  <a:srgbClr val="242A31"/>
                </a:solidFill>
              </a:rPr>
              <a:t>I</a:t>
            </a:r>
            <a:r>
              <a:rPr b="0" i="0" lang="en-US" sz="1500" u="none" cap="none" strike="noStrike">
                <a:solidFill>
                  <a:srgbClr val="242A31"/>
                </a:solidFill>
                <a:latin typeface="Arial"/>
                <a:ea typeface="Arial"/>
                <a:cs typeface="Arial"/>
                <a:sym typeface="Arial"/>
              </a:rPr>
              <a:t>nterneuron such as </a:t>
            </a:r>
            <a:r>
              <a:rPr b="1" i="0" lang="en-US" sz="1500" u="none" cap="none" strike="noStrike">
                <a:solidFill>
                  <a:srgbClr val="242A31"/>
                </a:solidFill>
                <a:latin typeface="Arial"/>
                <a:ea typeface="Arial"/>
                <a:cs typeface="Arial"/>
                <a:sym typeface="Arial"/>
              </a:rPr>
              <a:t>301</a:t>
            </a:r>
            <a:r>
              <a:rPr b="0" i="0" lang="en-US" sz="1500" u="none" cap="none" strike="noStrike">
                <a:solidFill>
                  <a:srgbClr val="242A31"/>
                </a:solidFill>
                <a:latin typeface="Arial"/>
                <a:ea typeface="Arial"/>
                <a:cs typeface="Arial"/>
                <a:sym typeface="Arial"/>
              </a:rPr>
              <a:t> or </a:t>
            </a:r>
            <a:r>
              <a:rPr b="1" i="0" lang="en-US" sz="1500" u="none" cap="none" strike="noStrike">
                <a:solidFill>
                  <a:srgbClr val="242A31"/>
                </a:solidFill>
                <a:latin typeface="Arial"/>
                <a:ea typeface="Arial"/>
                <a:cs typeface="Arial"/>
                <a:sym typeface="Arial"/>
              </a:rPr>
              <a:t>501</a:t>
            </a:r>
            <a:r>
              <a:rPr b="0" i="0" lang="en-US" sz="1500" u="none" cap="none" strike="noStrike">
                <a:solidFill>
                  <a:srgbClr val="242A31"/>
                </a:solidFill>
                <a:latin typeface="Arial"/>
                <a:ea typeface="Arial"/>
                <a:cs typeface="Arial"/>
                <a:sym typeface="Arial"/>
              </a:rPr>
              <a:t> is an experimentally identified cell class, not a molecular receptor type. Repeated identification by anatomy, recording position, and physiology lets investigators compare the same circuit elements across animals.</a:t>
            </a:r>
            <a:endParaRPr b="0" i="0" sz="1500" u="none" cap="none" strike="noStrike">
              <a:solidFill>
                <a:schemeClr val="dk1"/>
              </a:solidFill>
              <a:latin typeface="Calibri"/>
              <a:ea typeface="Calibri"/>
              <a:cs typeface="Calibri"/>
              <a:sym typeface="Calibri"/>
            </a:endParaRPr>
          </a:p>
        </p:txBody>
      </p:sp>
      <p:pic>
        <p:nvPicPr>
          <p:cNvPr id="76" name="Google Shape;76;p5"/>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77" name="Google Shape;77;p5"/>
          <p:cNvSpPr/>
          <p:nvPr/>
        </p:nvSpPr>
        <p:spPr>
          <a:xfrm>
            <a:off x="571500" y="6434138"/>
            <a:ext cx="1894731"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Robertson &amp; Pearson (1983)</a:t>
            </a:r>
            <a:endParaRPr b="0" i="0" sz="1800" u="none" cap="none" strike="noStrike">
              <a:solidFill>
                <a:schemeClr val="dk1"/>
              </a:solidFill>
              <a:latin typeface="Calibri"/>
              <a:ea typeface="Calibri"/>
              <a:cs typeface="Calibri"/>
              <a:sym typeface="Calibri"/>
            </a:endParaRPr>
          </a:p>
        </p:txBody>
      </p:sp>
      <p:sp>
        <p:nvSpPr>
          <p:cNvPr id="78" name="Google Shape;78;p5"/>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05</a:t>
            </a:r>
            <a:endParaRPr b="0" i="0" sz="1800" u="none" cap="none" strike="noStrike">
              <a:solidFill>
                <a:schemeClr val="dk1"/>
              </a:solidFill>
              <a:latin typeface="Calibri"/>
              <a:ea typeface="Calibri"/>
              <a:cs typeface="Calibri"/>
              <a:sym typeface="Calibri"/>
            </a:endParaRPr>
          </a:p>
        </p:txBody>
      </p:sp>
      <p:pic>
        <p:nvPicPr>
          <p:cNvPr id="79" name="Google Shape;79;p5" title="Screenshot 2026-09-12 at 12.37.00 PM.png"/>
          <p:cNvPicPr preferRelativeResize="0"/>
          <p:nvPr/>
        </p:nvPicPr>
        <p:blipFill>
          <a:blip r:embed="rId4">
            <a:alphaModFix/>
          </a:blip>
          <a:stretch>
            <a:fillRect/>
          </a:stretch>
        </p:blipFill>
        <p:spPr>
          <a:xfrm>
            <a:off x="489275" y="920775"/>
            <a:ext cx="4217717" cy="2635525"/>
          </a:xfrm>
          <a:prstGeom prst="rect">
            <a:avLst/>
          </a:prstGeom>
          <a:noFill/>
          <a:ln>
            <a:noFill/>
          </a:ln>
        </p:spPr>
      </p:pic>
      <p:pic>
        <p:nvPicPr>
          <p:cNvPr id="80" name="Google Shape;80;p5" title="Screenshot 2026-09-12 at 12.48.35 PM.png"/>
          <p:cNvPicPr preferRelativeResize="0"/>
          <p:nvPr/>
        </p:nvPicPr>
        <p:blipFill>
          <a:blip r:embed="rId5">
            <a:alphaModFix/>
          </a:blip>
          <a:stretch>
            <a:fillRect/>
          </a:stretch>
        </p:blipFill>
        <p:spPr>
          <a:xfrm>
            <a:off x="7775709" y="3553275"/>
            <a:ext cx="3773720" cy="26355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84" name="Shape 84"/>
        <p:cNvGrpSpPr/>
        <p:nvPr/>
      </p:nvGrpSpPr>
      <p:grpSpPr>
        <a:xfrm>
          <a:off x="0" y="0"/>
          <a:ext cx="0" cy="0"/>
          <a:chOff x="0" y="0"/>
          <a:chExt cx="0" cy="0"/>
        </a:xfrm>
      </p:grpSpPr>
      <p:sp>
        <p:nvSpPr>
          <p:cNvPr id="85" name="Google Shape;85;p6"/>
          <p:cNvSpPr/>
          <p:nvPr/>
        </p:nvSpPr>
        <p:spPr>
          <a:xfrm>
            <a:off x="571500" y="338665"/>
            <a:ext cx="11068200" cy="430500"/>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Muscle recordings quantify rhythm and phase</a:t>
            </a:r>
            <a:endParaRPr b="0" i="0" sz="1800" u="none" cap="none" strike="noStrike">
              <a:solidFill>
                <a:schemeClr val="dk1"/>
              </a:solidFill>
              <a:latin typeface="Calibri"/>
              <a:ea typeface="Calibri"/>
              <a:cs typeface="Calibri"/>
              <a:sym typeface="Calibri"/>
            </a:endParaRPr>
          </a:p>
        </p:txBody>
      </p:sp>
      <p:sp>
        <p:nvSpPr>
          <p:cNvPr id="86" name="Google Shape;86;p6"/>
          <p:cNvSpPr/>
          <p:nvPr/>
        </p:nvSpPr>
        <p:spPr>
          <a:xfrm>
            <a:off x="571500" y="1025963"/>
            <a:ext cx="6115200" cy="999000"/>
          </a:xfrm>
          <a:prstGeom prst="rect">
            <a:avLst/>
          </a:prstGeom>
          <a:noFill/>
          <a:ln>
            <a:noFill/>
          </a:ln>
        </p:spPr>
        <p:txBody>
          <a:bodyPr anchorCtr="0" anchor="t" bIns="0" lIns="0" spcFirstLastPara="1" rIns="0" wrap="square" tIns="0">
            <a:normAutofit/>
          </a:bodyPr>
          <a:lstStyle/>
          <a:p>
            <a:pPr indent="0" lvl="0" marL="0" marR="0" rtl="0" algn="l">
              <a:lnSpc>
                <a:spcPct val="114029"/>
              </a:lnSpc>
              <a:spcBef>
                <a:spcPts val="0"/>
              </a:spcBef>
              <a:spcAft>
                <a:spcPts val="0"/>
              </a:spcAft>
              <a:buClr>
                <a:srgbClr val="242A31"/>
              </a:buClr>
              <a:buSzPts val="1725"/>
              <a:buFont typeface="Arial"/>
              <a:buNone/>
            </a:pPr>
            <a:r>
              <a:rPr b="0" i="0" lang="en-US" sz="1500" u="none" cap="none" strike="noStrike">
                <a:solidFill>
                  <a:srgbClr val="242A31"/>
                </a:solidFill>
                <a:latin typeface="Arial"/>
                <a:ea typeface="Arial"/>
                <a:cs typeface="Arial"/>
                <a:sym typeface="Arial"/>
              </a:rPr>
              <a:t>An </a:t>
            </a:r>
            <a:r>
              <a:rPr b="1" i="0" lang="en-US" sz="1500" u="none" cap="none" strike="noStrike">
                <a:solidFill>
                  <a:srgbClr val="242A31"/>
                </a:solidFill>
                <a:latin typeface="Arial"/>
                <a:ea typeface="Arial"/>
                <a:cs typeface="Arial"/>
                <a:sym typeface="Arial"/>
              </a:rPr>
              <a:t>electromyogram (EMG)</a:t>
            </a:r>
            <a:r>
              <a:rPr b="0" i="0" lang="en-US" sz="1500" u="none" cap="none" strike="noStrike">
                <a:solidFill>
                  <a:srgbClr val="242A31"/>
                </a:solidFill>
                <a:latin typeface="Arial"/>
                <a:ea typeface="Arial"/>
                <a:cs typeface="Arial"/>
                <a:sym typeface="Arial"/>
              </a:rPr>
              <a:t> records electrical activity in a muscle. </a:t>
            </a:r>
            <a:endParaRPr b="0" i="0" sz="1500" u="none" cap="none" strike="noStrike">
              <a:solidFill>
                <a:srgbClr val="242A31"/>
              </a:solidFill>
              <a:latin typeface="Arial"/>
              <a:ea typeface="Arial"/>
              <a:cs typeface="Arial"/>
              <a:sym typeface="Arial"/>
            </a:endParaRPr>
          </a:p>
          <a:p>
            <a:pPr indent="0" lvl="0" marL="0" marR="0" rtl="0" algn="l">
              <a:lnSpc>
                <a:spcPct val="114029"/>
              </a:lnSpc>
              <a:spcBef>
                <a:spcPts val="0"/>
              </a:spcBef>
              <a:spcAft>
                <a:spcPts val="0"/>
              </a:spcAft>
              <a:buClr>
                <a:srgbClr val="242A31"/>
              </a:buClr>
              <a:buSzPts val="1725"/>
              <a:buFont typeface="Arial"/>
              <a:buNone/>
            </a:pPr>
            <a:r>
              <a:t/>
            </a:r>
            <a:endParaRPr sz="1500">
              <a:solidFill>
                <a:srgbClr val="242A31"/>
              </a:solidFill>
            </a:endParaRPr>
          </a:p>
          <a:p>
            <a:pPr indent="0" lvl="0" marL="0" marR="0" rtl="0" algn="l">
              <a:lnSpc>
                <a:spcPct val="114028"/>
              </a:lnSpc>
              <a:spcBef>
                <a:spcPts val="0"/>
              </a:spcBef>
              <a:spcAft>
                <a:spcPts val="0"/>
              </a:spcAft>
              <a:buClr>
                <a:srgbClr val="242A31"/>
              </a:buClr>
              <a:buSzPts val="1725"/>
              <a:buFont typeface="Arial"/>
              <a:buNone/>
            </a:pPr>
            <a:r>
              <a:rPr b="1" i="0" lang="en-US" sz="1500" u="none" cap="none" strike="noStrike">
                <a:solidFill>
                  <a:srgbClr val="242A31"/>
                </a:solidFill>
              </a:rPr>
              <a:t>WE-M113 is a wing elevator and WD-M127 is a wing depressor. </a:t>
            </a:r>
            <a:r>
              <a:rPr b="0" i="0" lang="en-US" sz="1500" u="none" cap="none" strike="noStrike">
                <a:solidFill>
                  <a:srgbClr val="242A31"/>
                </a:solidFill>
                <a:latin typeface="Arial"/>
                <a:ea typeface="Arial"/>
                <a:cs typeface="Arial"/>
                <a:sym typeface="Arial"/>
              </a:rPr>
              <a:t>Alternation establishes a flight-like motor pattern in the preparation.</a:t>
            </a:r>
            <a:endParaRPr b="0" i="0" sz="1500" u="none" cap="none" strike="noStrike">
              <a:solidFill>
                <a:schemeClr val="dk1"/>
              </a:solidFill>
              <a:latin typeface="Calibri"/>
              <a:ea typeface="Calibri"/>
              <a:cs typeface="Calibri"/>
              <a:sym typeface="Calibri"/>
            </a:endParaRPr>
          </a:p>
        </p:txBody>
      </p:sp>
      <p:sp>
        <p:nvSpPr>
          <p:cNvPr id="87" name="Google Shape;87;p6"/>
          <p:cNvSpPr/>
          <p:nvPr/>
        </p:nvSpPr>
        <p:spPr>
          <a:xfrm>
            <a:off x="571500" y="2357384"/>
            <a:ext cx="6115200" cy="999000"/>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500" u="none" cap="none" strike="noStrike">
                <a:solidFill>
                  <a:srgbClr val="242A31"/>
                </a:solidFill>
                <a:latin typeface="Arial"/>
                <a:ea typeface="Arial"/>
                <a:cs typeface="Arial"/>
                <a:sym typeface="Arial"/>
              </a:rPr>
              <a:t>The cycle period </a:t>
            </a:r>
            <a:r>
              <a:rPr b="1" i="0" lang="en-US" sz="1500" u="none" cap="none" strike="noStrike">
                <a:solidFill>
                  <a:srgbClr val="242A31"/>
                </a:solidFill>
                <a:latin typeface="Arial"/>
                <a:ea typeface="Arial"/>
                <a:cs typeface="Arial"/>
                <a:sym typeface="Arial"/>
              </a:rPr>
              <a:t>T</a:t>
            </a:r>
            <a:r>
              <a:rPr b="0" i="0" lang="en-US" sz="1500" u="none" cap="none" strike="noStrike">
                <a:solidFill>
                  <a:srgbClr val="242A31"/>
                </a:solidFill>
                <a:latin typeface="Arial"/>
                <a:ea typeface="Arial"/>
                <a:cs typeface="Arial"/>
                <a:sym typeface="Arial"/>
              </a:rPr>
              <a:t> is the interval between successive depressor events. Frequency is </a:t>
            </a:r>
            <a:r>
              <a:rPr b="1" i="0" lang="en-US" sz="1500" u="none" cap="none" strike="noStrike">
                <a:solidFill>
                  <a:srgbClr val="242A31"/>
                </a:solidFill>
                <a:latin typeface="Arial"/>
                <a:ea typeface="Arial"/>
                <a:cs typeface="Arial"/>
                <a:sym typeface="Arial"/>
              </a:rPr>
              <a:t>f = 1/T</a:t>
            </a:r>
            <a:r>
              <a:rPr b="0" i="0" lang="en-US" sz="1500" u="none" cap="none" strike="noStrike">
                <a:solidFill>
                  <a:srgbClr val="242A31"/>
                </a:solidFill>
                <a:latin typeface="Arial"/>
                <a:ea typeface="Arial"/>
                <a:cs typeface="Arial"/>
                <a:sym typeface="Arial"/>
              </a:rPr>
              <a:t>. Elevator phase is </a:t>
            </a:r>
            <a:r>
              <a:rPr b="1" i="0" lang="en-US" sz="1500" u="none" cap="none" strike="noStrike">
                <a:solidFill>
                  <a:srgbClr val="242A31"/>
                </a:solidFill>
                <a:latin typeface="Arial"/>
                <a:ea typeface="Arial"/>
                <a:cs typeface="Arial"/>
                <a:sym typeface="Arial"/>
              </a:rPr>
              <a:t>φE = (tE − tD)/T</a:t>
            </a:r>
            <a:r>
              <a:rPr b="0" i="0" lang="en-US" sz="1500" u="none" cap="none" strike="noStrike">
                <a:solidFill>
                  <a:srgbClr val="242A31"/>
                </a:solidFill>
                <a:latin typeface="Arial"/>
                <a:ea typeface="Arial"/>
                <a:cs typeface="Arial"/>
                <a:sym typeface="Arial"/>
              </a:rPr>
              <a:t>, measured from the preceding depressor event.</a:t>
            </a:r>
            <a:endParaRPr b="0" i="0" sz="1500" u="none" cap="none" strike="noStrike">
              <a:solidFill>
                <a:schemeClr val="dk1"/>
              </a:solidFill>
              <a:latin typeface="Calibri"/>
              <a:ea typeface="Calibri"/>
              <a:cs typeface="Calibri"/>
              <a:sym typeface="Calibri"/>
            </a:endParaRPr>
          </a:p>
        </p:txBody>
      </p:sp>
      <p:sp>
        <p:nvSpPr>
          <p:cNvPr id="88" name="Google Shape;88;p6"/>
          <p:cNvSpPr/>
          <p:nvPr/>
        </p:nvSpPr>
        <p:spPr>
          <a:xfrm>
            <a:off x="571500" y="3432519"/>
            <a:ext cx="6115200" cy="999000"/>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500" u="none" cap="none" strike="noStrike">
                <a:solidFill>
                  <a:srgbClr val="242A31"/>
                </a:solidFill>
                <a:latin typeface="Arial"/>
                <a:ea typeface="Arial"/>
                <a:cs typeface="Arial"/>
                <a:sym typeface="Arial"/>
              </a:rPr>
              <a:t>A change in phase means that an elevator fires earlier or later within the cycle; a change in frequency means that the entire cycle is shorter or longer. These are distinct circuit effects.</a:t>
            </a:r>
            <a:endParaRPr b="0" i="0" sz="1500" u="none" cap="none" strike="noStrike">
              <a:solidFill>
                <a:schemeClr val="dk1"/>
              </a:solidFill>
              <a:latin typeface="Calibri"/>
              <a:ea typeface="Calibri"/>
              <a:cs typeface="Calibri"/>
              <a:sym typeface="Calibri"/>
            </a:endParaRPr>
          </a:p>
        </p:txBody>
      </p:sp>
      <p:sp>
        <p:nvSpPr>
          <p:cNvPr id="89" name="Google Shape;89;p6"/>
          <p:cNvSpPr/>
          <p:nvPr/>
        </p:nvSpPr>
        <p:spPr>
          <a:xfrm>
            <a:off x="571500" y="4507653"/>
            <a:ext cx="6115200" cy="999000"/>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1" i="0" lang="en-US" sz="1500" u="none" cap="none" strike="noStrike">
                <a:solidFill>
                  <a:srgbClr val="242A31"/>
                </a:solidFill>
                <a:latin typeface="Arial"/>
                <a:ea typeface="Arial"/>
                <a:cs typeface="Arial"/>
                <a:sym typeface="Arial"/>
              </a:rPr>
              <a:t>Fictive flight</a:t>
            </a:r>
            <a:r>
              <a:rPr b="0" i="0" lang="en-US" sz="1500" u="none" cap="none" strike="noStrike">
                <a:solidFill>
                  <a:srgbClr val="242A31"/>
                </a:solidFill>
                <a:latin typeface="Arial"/>
                <a:ea typeface="Arial"/>
                <a:cs typeface="Arial"/>
                <a:sym typeface="Arial"/>
              </a:rPr>
              <a:t> is patterned neural or muscle output in a reduced preparation. It reveals motor coordination, but actual wing motion and aerodynamic force require additional measurements.</a:t>
            </a:r>
            <a:endParaRPr b="0" i="0" sz="1500" u="none" cap="none" strike="noStrike">
              <a:solidFill>
                <a:schemeClr val="dk1"/>
              </a:solidFill>
              <a:latin typeface="Calibri"/>
              <a:ea typeface="Calibri"/>
              <a:cs typeface="Calibri"/>
              <a:sym typeface="Calibri"/>
            </a:endParaRPr>
          </a:p>
        </p:txBody>
      </p:sp>
      <p:pic>
        <p:nvPicPr>
          <p:cNvPr id="90" name="Google Shape;90;p6"/>
          <p:cNvPicPr preferRelativeResize="0"/>
          <p:nvPr/>
        </p:nvPicPr>
        <p:blipFill rotWithShape="1">
          <a:blip r:embed="rId3">
            <a:alphaModFix/>
          </a:blip>
          <a:srcRect b="0" l="0" r="0" t="0"/>
          <a:stretch/>
        </p:blipFill>
        <p:spPr>
          <a:xfrm>
            <a:off x="7883400" y="1025987"/>
            <a:ext cx="3573550" cy="1550250"/>
          </a:xfrm>
          <a:prstGeom prst="rect">
            <a:avLst/>
          </a:prstGeom>
          <a:noFill/>
          <a:ln>
            <a:noFill/>
          </a:ln>
        </p:spPr>
      </p:pic>
      <p:sp>
        <p:nvSpPr>
          <p:cNvPr id="91" name="Google Shape;91;p6"/>
          <p:cNvSpPr/>
          <p:nvPr/>
        </p:nvSpPr>
        <p:spPr>
          <a:xfrm>
            <a:off x="7638900" y="2802207"/>
            <a:ext cx="4553100" cy="186000"/>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1B; Rillich et al. (2013), CC BY. Scale bar: 60 ms.</a:t>
            </a:r>
            <a:endParaRPr b="0" i="0" sz="1800" u="none" cap="none" strike="noStrike">
              <a:solidFill>
                <a:schemeClr val="dk1"/>
              </a:solidFill>
              <a:latin typeface="Calibri"/>
              <a:ea typeface="Calibri"/>
              <a:cs typeface="Calibri"/>
              <a:sym typeface="Calibri"/>
            </a:endParaRPr>
          </a:p>
        </p:txBody>
      </p:sp>
      <p:pic>
        <p:nvPicPr>
          <p:cNvPr id="92" name="Google Shape;92;p6"/>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93" name="Google Shape;93;p6"/>
          <p:cNvSpPr/>
          <p:nvPr/>
        </p:nvSpPr>
        <p:spPr>
          <a:xfrm>
            <a:off x="571500" y="6434138"/>
            <a:ext cx="1223814"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Rillich et al. (2013)</a:t>
            </a:r>
            <a:endParaRPr b="0" i="0" sz="1800" u="none" cap="none" strike="noStrike">
              <a:solidFill>
                <a:schemeClr val="dk1"/>
              </a:solidFill>
              <a:latin typeface="Calibri"/>
              <a:ea typeface="Calibri"/>
              <a:cs typeface="Calibri"/>
              <a:sym typeface="Calibri"/>
            </a:endParaRPr>
          </a:p>
        </p:txBody>
      </p:sp>
      <p:sp>
        <p:nvSpPr>
          <p:cNvPr id="94" name="Google Shape;94;p6"/>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06</a:t>
            </a:r>
            <a:endParaRPr b="0" i="0" sz="1800" u="none" cap="none" strike="noStrike">
              <a:solidFill>
                <a:schemeClr val="dk1"/>
              </a:solidFill>
              <a:latin typeface="Calibri"/>
              <a:ea typeface="Calibri"/>
              <a:cs typeface="Calibri"/>
              <a:sym typeface="Calibri"/>
            </a:endParaRPr>
          </a:p>
        </p:txBody>
      </p:sp>
      <p:pic>
        <p:nvPicPr>
          <p:cNvPr id="95" name="Google Shape;95;p6" title="Rillich_2013_Fig2B_Locust_Elevator_Phase.png"/>
          <p:cNvPicPr preferRelativeResize="0"/>
          <p:nvPr/>
        </p:nvPicPr>
        <p:blipFill>
          <a:blip r:embed="rId5">
            <a:alphaModFix/>
          </a:blip>
          <a:stretch>
            <a:fillRect/>
          </a:stretch>
        </p:blipFill>
        <p:spPr>
          <a:xfrm>
            <a:off x="7812662" y="3214163"/>
            <a:ext cx="3715026" cy="2994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99" name="Shape 99"/>
        <p:cNvGrpSpPr/>
        <p:nvPr/>
      </p:nvGrpSpPr>
      <p:grpSpPr>
        <a:xfrm>
          <a:off x="0" y="0"/>
          <a:ext cx="0" cy="0"/>
          <a:chOff x="0" y="0"/>
          <a:chExt cx="0" cy="0"/>
        </a:xfrm>
      </p:grpSpPr>
      <p:sp>
        <p:nvSpPr>
          <p:cNvPr id="100" name="Google Shape;100;p7"/>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2700" u="none" cap="none" strike="noStrike">
                <a:solidFill>
                  <a:srgbClr val="242A31"/>
                </a:solidFill>
                <a:latin typeface="Arial"/>
                <a:ea typeface="Arial"/>
                <a:cs typeface="Arial"/>
                <a:sym typeface="Arial"/>
              </a:rPr>
              <a:t>Deafferentation tests whether movement creates the rhythm</a:t>
            </a:r>
            <a:endParaRPr b="0" i="0" sz="1500" u="none" cap="none" strike="noStrike">
              <a:solidFill>
                <a:schemeClr val="dk1"/>
              </a:solidFill>
              <a:latin typeface="Calibri"/>
              <a:ea typeface="Calibri"/>
              <a:cs typeface="Calibri"/>
              <a:sym typeface="Calibri"/>
            </a:endParaRPr>
          </a:p>
        </p:txBody>
      </p:sp>
      <p:sp>
        <p:nvSpPr>
          <p:cNvPr id="101" name="Google Shape;101;p7"/>
          <p:cNvSpPr/>
          <p:nvPr/>
        </p:nvSpPr>
        <p:spPr>
          <a:xfrm>
            <a:off x="571500" y="941175"/>
            <a:ext cx="108855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A reflex-chain hypothesis proposes that one movement activates sensory receptors that trigger the next movement. If this chain generates the entire flight rhythm, removing movement-related sensory input should eliminate the repeating motor sequence.</a:t>
            </a:r>
            <a:endParaRPr b="0" i="0" sz="1500" u="none" cap="none" strike="noStrike">
              <a:solidFill>
                <a:schemeClr val="dk1"/>
              </a:solidFill>
              <a:latin typeface="Calibri"/>
              <a:ea typeface="Calibri"/>
              <a:cs typeface="Calibri"/>
              <a:sym typeface="Calibri"/>
            </a:endParaRPr>
          </a:p>
        </p:txBody>
      </p:sp>
      <p:sp>
        <p:nvSpPr>
          <p:cNvPr id="102" name="Google Shape;102;p7"/>
          <p:cNvSpPr/>
          <p:nvPr/>
        </p:nvSpPr>
        <p:spPr>
          <a:xfrm>
            <a:off x="571500" y="1832475"/>
            <a:ext cx="61956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Wilson removed phasic sensory input from the wings and recorded flight-muscle activity. </a:t>
            </a:r>
            <a:r>
              <a:rPr b="1" i="0" lang="en-US" sz="1500" u="none" cap="none" strike="noStrike">
                <a:solidFill>
                  <a:srgbClr val="242A31"/>
                </a:solidFill>
              </a:rPr>
              <a:t>Sustained wind on the head or stimulation of the nerve cord could still activate patterned output</a:t>
            </a:r>
            <a:r>
              <a:rPr b="0" i="0" lang="en-US" sz="1500" u="none" cap="none" strike="noStrike">
                <a:solidFill>
                  <a:srgbClr val="242A31"/>
                </a:solidFill>
                <a:latin typeface="Arial"/>
                <a:ea typeface="Arial"/>
                <a:cs typeface="Arial"/>
                <a:sym typeface="Arial"/>
              </a:rPr>
              <a:t>, even though the wings could no longer provide their normal cycle-by-cycle feedback.</a:t>
            </a:r>
            <a:endParaRPr b="0" i="0" sz="1500" u="none" cap="none" strike="noStrike">
              <a:solidFill>
                <a:schemeClr val="dk1"/>
              </a:solidFill>
              <a:latin typeface="Calibri"/>
              <a:ea typeface="Calibri"/>
              <a:cs typeface="Calibri"/>
              <a:sym typeface="Calibri"/>
            </a:endParaRPr>
          </a:p>
        </p:txBody>
      </p:sp>
      <p:sp>
        <p:nvSpPr>
          <p:cNvPr id="103" name="Google Shape;103;p7"/>
          <p:cNvSpPr/>
          <p:nvPr/>
        </p:nvSpPr>
        <p:spPr>
          <a:xfrm>
            <a:off x="571500" y="3325675"/>
            <a:ext cx="61383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The remaining pattern was slower and less complete than intact flight. The crucial result was persistence of organized rhythmic activity, which demonstrates a </a:t>
            </a:r>
            <a:r>
              <a:rPr b="1" i="0" lang="en-US" sz="1500" u="none" cap="none" strike="noStrike">
                <a:solidFill>
                  <a:srgbClr val="242A31"/>
                </a:solidFill>
                <a:latin typeface="Arial"/>
                <a:ea typeface="Arial"/>
                <a:cs typeface="Arial"/>
                <a:sym typeface="Arial"/>
              </a:rPr>
              <a:t>central pattern generator (CPG)</a:t>
            </a:r>
            <a:r>
              <a:rPr b="0" i="0" lang="en-US" sz="1500" u="none" cap="none" strike="noStrike">
                <a:solidFill>
                  <a:srgbClr val="242A31"/>
                </a:solidFill>
                <a:latin typeface="Arial"/>
                <a:ea typeface="Arial"/>
                <a:cs typeface="Arial"/>
                <a:sym typeface="Arial"/>
              </a:rPr>
              <a:t>: a central network capable of generating rhythmic output without rhythmic sensory instruction.</a:t>
            </a:r>
            <a:endParaRPr b="0" i="0" sz="1500" u="none" cap="none" strike="noStrike">
              <a:solidFill>
                <a:schemeClr val="dk1"/>
              </a:solidFill>
              <a:latin typeface="Calibri"/>
              <a:ea typeface="Calibri"/>
              <a:cs typeface="Calibri"/>
              <a:sym typeface="Calibri"/>
            </a:endParaRPr>
          </a:p>
        </p:txBody>
      </p:sp>
      <p:sp>
        <p:nvSpPr>
          <p:cNvPr id="104" name="Google Shape;104;p7"/>
          <p:cNvSpPr/>
          <p:nvPr/>
        </p:nvSpPr>
        <p:spPr>
          <a:xfrm>
            <a:off x="571500" y="4955475"/>
            <a:ext cx="66813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1" i="0" lang="en-US" sz="1500" u="none" cap="none" strike="noStrike">
                <a:solidFill>
                  <a:srgbClr val="242A31"/>
                </a:solidFill>
                <a:latin typeface="Arial"/>
                <a:ea typeface="Arial"/>
                <a:cs typeface="Arial"/>
                <a:sym typeface="Arial"/>
              </a:rPr>
              <a:t>Deafferentation</a:t>
            </a:r>
            <a:r>
              <a:rPr b="0" i="0" lang="en-US" sz="1500" u="none" cap="none" strike="noStrike">
                <a:solidFill>
                  <a:srgbClr val="242A31"/>
                </a:solidFill>
                <a:latin typeface="Arial"/>
                <a:ea typeface="Arial"/>
                <a:cs typeface="Arial"/>
                <a:sym typeface="Arial"/>
              </a:rPr>
              <a:t> means removal of afferent, or incoming sensory, signals. It does not necessarily remove all sensory inputs, descending excitation, or neuromodulators. This experiment establishes central rhythm-generating capacity while leaving room for powerful sensory regulation.</a:t>
            </a:r>
            <a:endParaRPr b="0" i="0" sz="1500" u="none" cap="none" strike="noStrike">
              <a:solidFill>
                <a:schemeClr val="dk1"/>
              </a:solidFill>
              <a:latin typeface="Calibri"/>
              <a:ea typeface="Calibri"/>
              <a:cs typeface="Calibri"/>
              <a:sym typeface="Calibri"/>
            </a:endParaRPr>
          </a:p>
        </p:txBody>
      </p:sp>
      <p:pic>
        <p:nvPicPr>
          <p:cNvPr id="105" name="Google Shape;105;p7"/>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106" name="Google Shape;106;p7"/>
          <p:cNvSpPr/>
          <p:nvPr/>
        </p:nvSpPr>
        <p:spPr>
          <a:xfrm>
            <a:off x="571500" y="6434138"/>
            <a:ext cx="918716"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Wilson (1961)</a:t>
            </a:r>
            <a:endParaRPr b="0" i="0" sz="1800" u="none" cap="none" strike="noStrike">
              <a:solidFill>
                <a:schemeClr val="dk1"/>
              </a:solidFill>
              <a:latin typeface="Calibri"/>
              <a:ea typeface="Calibri"/>
              <a:cs typeface="Calibri"/>
              <a:sym typeface="Calibri"/>
            </a:endParaRPr>
          </a:p>
        </p:txBody>
      </p:sp>
      <p:sp>
        <p:nvSpPr>
          <p:cNvPr id="107" name="Google Shape;107;p7"/>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07</a:t>
            </a:r>
            <a:endParaRPr b="0" i="0" sz="1800" u="none" cap="none" strike="noStrike">
              <a:solidFill>
                <a:schemeClr val="dk1"/>
              </a:solidFill>
              <a:latin typeface="Calibri"/>
              <a:ea typeface="Calibri"/>
              <a:cs typeface="Calibri"/>
              <a:sym typeface="Calibri"/>
            </a:endParaRPr>
          </a:p>
        </p:txBody>
      </p:sp>
      <p:pic>
        <p:nvPicPr>
          <p:cNvPr id="108" name="Google Shape;108;p7" title="Wilson_1961_Deafferented_Flight_Recordings.png"/>
          <p:cNvPicPr preferRelativeResize="0"/>
          <p:nvPr/>
        </p:nvPicPr>
        <p:blipFill>
          <a:blip r:embed="rId4">
            <a:alphaModFix/>
          </a:blip>
          <a:stretch>
            <a:fillRect/>
          </a:stretch>
        </p:blipFill>
        <p:spPr>
          <a:xfrm>
            <a:off x="7585125" y="3723425"/>
            <a:ext cx="4273499" cy="2285000"/>
          </a:xfrm>
          <a:prstGeom prst="rect">
            <a:avLst/>
          </a:prstGeom>
          <a:noFill/>
          <a:ln>
            <a:noFill/>
          </a:ln>
        </p:spPr>
      </p:pic>
      <p:pic>
        <p:nvPicPr>
          <p:cNvPr id="109" name="Google Shape;109;p7" title="Wilson_1968_Locust_Preparation.png"/>
          <p:cNvPicPr preferRelativeResize="0"/>
          <p:nvPr/>
        </p:nvPicPr>
        <p:blipFill>
          <a:blip r:embed="rId5">
            <a:alphaModFix/>
          </a:blip>
          <a:stretch>
            <a:fillRect/>
          </a:stretch>
        </p:blipFill>
        <p:spPr>
          <a:xfrm>
            <a:off x="7928781" y="1706275"/>
            <a:ext cx="3586175" cy="1902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13" name="Shape 113"/>
        <p:cNvGrpSpPr/>
        <p:nvPr/>
      </p:nvGrpSpPr>
      <p:grpSpPr>
        <a:xfrm>
          <a:off x="0" y="0"/>
          <a:ext cx="0" cy="0"/>
          <a:chOff x="0" y="0"/>
          <a:chExt cx="0" cy="0"/>
        </a:xfrm>
      </p:grpSpPr>
      <p:sp>
        <p:nvSpPr>
          <p:cNvPr id="114" name="Google Shape;114;p8"/>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An isolated ganglion can express a flight-like motor pattern</a:t>
            </a:r>
            <a:endParaRPr b="0" i="0" sz="1800" u="none" cap="none" strike="noStrike">
              <a:solidFill>
                <a:schemeClr val="dk1"/>
              </a:solidFill>
              <a:latin typeface="Calibri"/>
              <a:ea typeface="Calibri"/>
              <a:cs typeface="Calibri"/>
              <a:sym typeface="Calibri"/>
            </a:endParaRPr>
          </a:p>
        </p:txBody>
      </p:sp>
      <p:sp>
        <p:nvSpPr>
          <p:cNvPr id="115" name="Google Shape;115;p8"/>
          <p:cNvSpPr/>
          <p:nvPr/>
        </p:nvSpPr>
        <p:spPr>
          <a:xfrm>
            <a:off x="571500" y="1085850"/>
            <a:ext cx="109728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Stevenson and Kutsch extended the isolation approach by examining progressively reduced nerve-cord preparations. Octopamine enabled isolated thoracic preparations, including the metathoracic ganglion, to express major temporal relationships of the flight motor pattern.</a:t>
            </a:r>
            <a:endParaRPr b="0" i="0" sz="1500" u="none" cap="none" strike="noStrike">
              <a:solidFill>
                <a:schemeClr val="dk1"/>
              </a:solidFill>
              <a:latin typeface="Calibri"/>
              <a:ea typeface="Calibri"/>
              <a:cs typeface="Calibri"/>
              <a:sym typeface="Calibri"/>
            </a:endParaRPr>
          </a:p>
        </p:txBody>
      </p:sp>
      <p:sp>
        <p:nvSpPr>
          <p:cNvPr id="116" name="Google Shape;116;p8"/>
          <p:cNvSpPr/>
          <p:nvPr/>
        </p:nvSpPr>
        <p:spPr>
          <a:xfrm>
            <a:off x="609600" y="2215150"/>
            <a:ext cx="63288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This result localizes an important part of the rhythm-generating machinery to thoracic circuitry. The brain is not required to issue a separate command for every wingbeat, although brain pathways normally help initiate and control flight.</a:t>
            </a:r>
            <a:endParaRPr b="0" i="0" sz="1500" u="none" cap="none" strike="noStrike">
              <a:solidFill>
                <a:schemeClr val="dk1"/>
              </a:solidFill>
              <a:latin typeface="Calibri"/>
              <a:ea typeface="Calibri"/>
              <a:cs typeface="Calibri"/>
              <a:sym typeface="Calibri"/>
            </a:endParaRPr>
          </a:p>
        </p:txBody>
      </p:sp>
      <p:sp>
        <p:nvSpPr>
          <p:cNvPr id="117" name="Google Shape;117;p8"/>
          <p:cNvSpPr/>
          <p:nvPr/>
        </p:nvSpPr>
        <p:spPr>
          <a:xfrm>
            <a:off x="571500" y="3592125"/>
            <a:ext cx="59004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The preparation requires an appropriate </a:t>
            </a:r>
            <a:r>
              <a:rPr b="1" i="0" lang="en-US" sz="1500" u="none" cap="none" strike="noStrike">
                <a:solidFill>
                  <a:srgbClr val="242A31"/>
                </a:solidFill>
                <a:latin typeface="Arial"/>
                <a:ea typeface="Arial"/>
                <a:cs typeface="Arial"/>
                <a:sym typeface="Arial"/>
              </a:rPr>
              <a:t>excitability state</a:t>
            </a:r>
            <a:r>
              <a:rPr b="0" i="0" lang="en-US" sz="1500" u="none" cap="none" strike="noStrike">
                <a:solidFill>
                  <a:srgbClr val="242A31"/>
                </a:solidFill>
                <a:latin typeface="Arial"/>
                <a:ea typeface="Arial"/>
                <a:cs typeface="Arial"/>
                <a:sym typeface="Arial"/>
              </a:rPr>
              <a:t>: neurons must be responsive enough for recurrent interactions and intrinsic membrane properties to generate sustained activity. Pharmacological activation supplies an experimental drive that substitutes for some missing inputs.</a:t>
            </a:r>
            <a:endParaRPr b="0" i="0" sz="1500" u="none" cap="none" strike="noStrike">
              <a:solidFill>
                <a:schemeClr val="dk1"/>
              </a:solidFill>
              <a:latin typeface="Calibri"/>
              <a:ea typeface="Calibri"/>
              <a:cs typeface="Calibri"/>
              <a:sym typeface="Calibri"/>
            </a:endParaRPr>
          </a:p>
        </p:txBody>
      </p:sp>
      <p:sp>
        <p:nvSpPr>
          <p:cNvPr id="118" name="Google Shape;118;p8"/>
          <p:cNvSpPr/>
          <p:nvPr/>
        </p:nvSpPr>
        <p:spPr>
          <a:xfrm>
            <a:off x="571500" y="5369123"/>
            <a:ext cx="109728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An isolated preparation demonstrates what the remaining circuit can produce under the tested conditions. Its slower rhythm and altered sensory context make it insufficient, by itself, to explain intact flight frequency, steering, or the natural transmitter that initiates flight.</a:t>
            </a:r>
            <a:endParaRPr b="0" i="0" sz="1500" u="none" cap="none" strike="noStrike">
              <a:solidFill>
                <a:schemeClr val="dk1"/>
              </a:solidFill>
              <a:latin typeface="Calibri"/>
              <a:ea typeface="Calibri"/>
              <a:cs typeface="Calibri"/>
              <a:sym typeface="Calibri"/>
            </a:endParaRPr>
          </a:p>
        </p:txBody>
      </p:sp>
      <p:pic>
        <p:nvPicPr>
          <p:cNvPr id="119" name="Google Shape;119;p8"/>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120" name="Google Shape;120;p8"/>
          <p:cNvSpPr/>
          <p:nvPr/>
        </p:nvSpPr>
        <p:spPr>
          <a:xfrm>
            <a:off x="571500" y="6434138"/>
            <a:ext cx="1793825"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Stevenson &amp; Kutsch (1987)</a:t>
            </a:r>
            <a:endParaRPr b="0" i="0" sz="1800" u="none" cap="none" strike="noStrike">
              <a:solidFill>
                <a:schemeClr val="dk1"/>
              </a:solidFill>
              <a:latin typeface="Calibri"/>
              <a:ea typeface="Calibri"/>
              <a:cs typeface="Calibri"/>
              <a:sym typeface="Calibri"/>
            </a:endParaRPr>
          </a:p>
        </p:txBody>
      </p:sp>
      <p:sp>
        <p:nvSpPr>
          <p:cNvPr id="121" name="Google Shape;121;p8"/>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08</a:t>
            </a:r>
            <a:endParaRPr b="0" i="0" sz="1800" u="none" cap="none" strike="noStrike">
              <a:solidFill>
                <a:schemeClr val="dk1"/>
              </a:solidFill>
              <a:latin typeface="Calibri"/>
              <a:ea typeface="Calibri"/>
              <a:cs typeface="Calibri"/>
              <a:sym typeface="Calibri"/>
            </a:endParaRPr>
          </a:p>
        </p:txBody>
      </p:sp>
      <p:pic>
        <p:nvPicPr>
          <p:cNvPr id="122" name="Google Shape;122;p8" title="Screenshot 2026-09-12 at 1.36.33 PM.png"/>
          <p:cNvPicPr preferRelativeResize="0"/>
          <p:nvPr/>
        </p:nvPicPr>
        <p:blipFill>
          <a:blip r:embed="rId4">
            <a:alphaModFix/>
          </a:blip>
          <a:stretch>
            <a:fillRect/>
          </a:stretch>
        </p:blipFill>
        <p:spPr>
          <a:xfrm>
            <a:off x="7452900" y="1925300"/>
            <a:ext cx="4434299" cy="2816906"/>
          </a:xfrm>
          <a:prstGeom prst="rect">
            <a:avLst/>
          </a:prstGeom>
          <a:noFill/>
          <a:ln>
            <a:noFill/>
          </a:ln>
        </p:spPr>
      </p:pic>
      <p:sp>
        <p:nvSpPr>
          <p:cNvPr id="123" name="Google Shape;123;p8"/>
          <p:cNvSpPr txBox="1"/>
          <p:nvPr/>
        </p:nvSpPr>
        <p:spPr>
          <a:xfrm>
            <a:off x="7452900" y="4762500"/>
            <a:ext cx="4434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t>Octopamine evokes flight-like motor activity in the isolated metathoracic ganglion. Stevenson &amp; Kutsch (1987), Fig. 11A–C</a:t>
            </a:r>
            <a:endParaRPr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27" name="Shape 127"/>
        <p:cNvGrpSpPr/>
        <p:nvPr/>
      </p:nvGrpSpPr>
      <p:grpSpPr>
        <a:xfrm>
          <a:off x="0" y="0"/>
          <a:ext cx="0" cy="0"/>
          <a:chOff x="0" y="0"/>
          <a:chExt cx="0" cy="0"/>
        </a:xfrm>
      </p:grpSpPr>
      <p:sp>
        <p:nvSpPr>
          <p:cNvPr id="128" name="Google Shape;128;p9"/>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Wind-sensitive hairs convert airflow into spikes</a:t>
            </a:r>
            <a:endParaRPr b="0" i="0" sz="1800" u="none" cap="none" strike="noStrike">
              <a:solidFill>
                <a:schemeClr val="dk1"/>
              </a:solidFill>
              <a:latin typeface="Calibri"/>
              <a:ea typeface="Calibri"/>
              <a:cs typeface="Calibri"/>
              <a:sym typeface="Calibri"/>
            </a:endParaRPr>
          </a:p>
        </p:txBody>
      </p:sp>
      <p:sp>
        <p:nvSpPr>
          <p:cNvPr id="129" name="Google Shape;129;p9"/>
          <p:cNvSpPr/>
          <p:nvPr/>
        </p:nvSpPr>
        <p:spPr>
          <a:xfrm>
            <a:off x="571500" y="981075"/>
            <a:ext cx="109728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Head hairs act as mechanical levers. Airflow bends the shaft, moving structures at the socket and deforming the sensory ending. The resulting receptor current changes membrane potential; sufficient depolarization produces action potentials in the afferent neuron.</a:t>
            </a:r>
            <a:endParaRPr b="0" i="0" sz="1500" u="none" cap="none" strike="noStrike">
              <a:solidFill>
                <a:schemeClr val="dk1"/>
              </a:solidFill>
              <a:latin typeface="Calibri"/>
              <a:ea typeface="Calibri"/>
              <a:cs typeface="Calibri"/>
              <a:sym typeface="Calibri"/>
            </a:endParaRPr>
          </a:p>
        </p:txBody>
      </p:sp>
      <p:sp>
        <p:nvSpPr>
          <p:cNvPr id="130" name="Google Shape;130;p9"/>
          <p:cNvSpPr/>
          <p:nvPr/>
        </p:nvSpPr>
        <p:spPr>
          <a:xfrm>
            <a:off x="5404950" y="1946800"/>
            <a:ext cx="61395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Camhi recorded from individual wind-sensitive receptors while varying airflow direction. Their responses were directionally tuned and adapted slowly during sustained stimulation. Preferred direction was related to the curvature and mechanical organization of the hair.</a:t>
            </a:r>
            <a:endParaRPr b="0" i="0" sz="1500" u="none" cap="none" strike="noStrike">
              <a:solidFill>
                <a:schemeClr val="dk1"/>
              </a:solidFill>
              <a:latin typeface="Calibri"/>
              <a:ea typeface="Calibri"/>
              <a:cs typeface="Calibri"/>
              <a:sym typeface="Calibri"/>
            </a:endParaRPr>
          </a:p>
        </p:txBody>
      </p:sp>
      <p:sp>
        <p:nvSpPr>
          <p:cNvPr id="131" name="Google Shape;131;p9"/>
          <p:cNvSpPr/>
          <p:nvPr/>
        </p:nvSpPr>
        <p:spPr>
          <a:xfrm>
            <a:off x="5404800" y="3344475"/>
            <a:ext cx="61395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Directionality can arise before any central computation: asymmetric aerodynamic drag, socket elasticity, and the position of the dendritic attachment make equal air speeds from different directions produce unequal sensory responses.</a:t>
            </a:r>
            <a:endParaRPr b="0" i="0" sz="1500" u="none" cap="none" strike="noStrike">
              <a:solidFill>
                <a:schemeClr val="dk1"/>
              </a:solidFill>
              <a:latin typeface="Calibri"/>
              <a:ea typeface="Calibri"/>
              <a:cs typeface="Calibri"/>
              <a:sym typeface="Calibri"/>
            </a:endParaRPr>
          </a:p>
        </p:txBody>
      </p:sp>
      <p:sp>
        <p:nvSpPr>
          <p:cNvPr id="132" name="Google Shape;132;p9"/>
          <p:cNvSpPr/>
          <p:nvPr/>
        </p:nvSpPr>
        <p:spPr>
          <a:xfrm>
            <a:off x="5404800" y="4751250"/>
            <a:ext cx="61395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1" i="0" lang="en-US" sz="1500" u="none" cap="none" strike="noStrike">
                <a:solidFill>
                  <a:srgbClr val="242A31"/>
                </a:solidFill>
                <a:latin typeface="Arial"/>
                <a:ea typeface="Arial"/>
                <a:cs typeface="Arial"/>
                <a:sym typeface="Arial"/>
              </a:rPr>
              <a:t>Adaptation</a:t>
            </a:r>
            <a:r>
              <a:rPr b="0" i="0" lang="en-US" sz="1500" u="none" cap="none" strike="noStrike">
                <a:solidFill>
                  <a:srgbClr val="242A31"/>
                </a:solidFill>
                <a:latin typeface="Arial"/>
                <a:ea typeface="Arial"/>
                <a:cs typeface="Arial"/>
                <a:sym typeface="Arial"/>
              </a:rPr>
              <a:t> is a decline in response during a maintained stimulus. Slowly adapting hairs can continue reporting ongoing airflow. These experiments establish mechanical and physiological tuning, but do not identify the molecular mechanotransduction channel in the recorded receptors.</a:t>
            </a:r>
            <a:endParaRPr b="0" i="0" sz="1500" u="none" cap="none" strike="noStrike">
              <a:solidFill>
                <a:schemeClr val="dk1"/>
              </a:solidFill>
              <a:latin typeface="Calibri"/>
              <a:ea typeface="Calibri"/>
              <a:cs typeface="Calibri"/>
              <a:sym typeface="Calibri"/>
            </a:endParaRPr>
          </a:p>
        </p:txBody>
      </p:sp>
      <p:pic>
        <p:nvPicPr>
          <p:cNvPr id="133" name="Google Shape;133;p9"/>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134" name="Google Shape;134;p9"/>
          <p:cNvSpPr/>
          <p:nvPr/>
        </p:nvSpPr>
        <p:spPr>
          <a:xfrm>
            <a:off x="571500" y="6434138"/>
            <a:ext cx="898029"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Camhi (1969)</a:t>
            </a:r>
            <a:endParaRPr b="0" i="0" sz="1800" u="none" cap="none" strike="noStrike">
              <a:solidFill>
                <a:schemeClr val="dk1"/>
              </a:solidFill>
              <a:latin typeface="Calibri"/>
              <a:ea typeface="Calibri"/>
              <a:cs typeface="Calibri"/>
              <a:sym typeface="Calibri"/>
            </a:endParaRPr>
          </a:p>
        </p:txBody>
      </p:sp>
      <p:sp>
        <p:nvSpPr>
          <p:cNvPr id="135" name="Google Shape;135;p9"/>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09</a:t>
            </a:r>
            <a:endParaRPr b="0" i="0" sz="1800" u="none" cap="none" strike="noStrike">
              <a:solidFill>
                <a:schemeClr val="dk1"/>
              </a:solidFill>
              <a:latin typeface="Calibri"/>
              <a:ea typeface="Calibri"/>
              <a:cs typeface="Calibri"/>
              <a:sym typeface="Calibri"/>
            </a:endParaRPr>
          </a:p>
        </p:txBody>
      </p:sp>
      <p:pic>
        <p:nvPicPr>
          <p:cNvPr id="136" name="Google Shape;136;p9" title="Locust_Head_Hair_Locations.png"/>
          <p:cNvPicPr preferRelativeResize="0"/>
          <p:nvPr/>
        </p:nvPicPr>
        <p:blipFill>
          <a:blip r:embed="rId4">
            <a:alphaModFix/>
          </a:blip>
          <a:stretch>
            <a:fillRect/>
          </a:stretch>
        </p:blipFill>
        <p:spPr>
          <a:xfrm>
            <a:off x="571500" y="1946804"/>
            <a:ext cx="3277050" cy="2659750"/>
          </a:xfrm>
          <a:prstGeom prst="rect">
            <a:avLst/>
          </a:prstGeom>
          <a:noFill/>
          <a:ln>
            <a:noFill/>
          </a:ln>
        </p:spPr>
      </p:pic>
      <p:pic>
        <p:nvPicPr>
          <p:cNvPr id="137" name="Google Shape;137;p9" title="Locust_Thoracic_Hair_Sensory_Neuron.png"/>
          <p:cNvPicPr preferRelativeResize="0"/>
          <p:nvPr/>
        </p:nvPicPr>
        <p:blipFill>
          <a:blip r:embed="rId5">
            <a:alphaModFix/>
          </a:blip>
          <a:stretch>
            <a:fillRect/>
          </a:stretch>
        </p:blipFill>
        <p:spPr>
          <a:xfrm>
            <a:off x="3404700" y="3873975"/>
            <a:ext cx="1773250" cy="2249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41" name="Shape 141"/>
        <p:cNvGrpSpPr/>
        <p:nvPr/>
      </p:nvGrpSpPr>
      <p:grpSpPr>
        <a:xfrm>
          <a:off x="0" y="0"/>
          <a:ext cx="0" cy="0"/>
          <a:chOff x="0" y="0"/>
          <a:chExt cx="0" cy="0"/>
        </a:xfrm>
      </p:grpSpPr>
      <p:sp>
        <p:nvSpPr>
          <p:cNvPr id="142" name="Google Shape;142;p10"/>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Wind interneurons emphasize different stimulus features</a:t>
            </a:r>
            <a:endParaRPr b="0" i="0" sz="1800" u="none" cap="none" strike="noStrike">
              <a:solidFill>
                <a:schemeClr val="dk1"/>
              </a:solidFill>
              <a:latin typeface="Calibri"/>
              <a:ea typeface="Calibri"/>
              <a:cs typeface="Calibri"/>
              <a:sym typeface="Calibri"/>
            </a:endParaRPr>
          </a:p>
        </p:txBody>
      </p:sp>
      <p:sp>
        <p:nvSpPr>
          <p:cNvPr id="143" name="Google Shape;143;p10"/>
          <p:cNvSpPr/>
          <p:nvPr/>
        </p:nvSpPr>
        <p:spPr>
          <a:xfrm>
            <a:off x="571500" y="1362075"/>
            <a:ext cx="11068050" cy="877788"/>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Camhi varied wind direction and acceleration while recording central interneurons. The response categories below describe measured physiological properties; they are not four demonstrated molecular cell types.</a:t>
            </a:r>
            <a:endParaRPr b="0" i="0" sz="1500" u="none" cap="none" strike="noStrike">
              <a:solidFill>
                <a:schemeClr val="dk1"/>
              </a:solidFill>
              <a:latin typeface="Calibri"/>
              <a:ea typeface="Calibri"/>
              <a:cs typeface="Calibri"/>
              <a:sym typeface="Calibri"/>
            </a:endParaRPr>
          </a:p>
        </p:txBody>
      </p:sp>
      <p:sp>
        <p:nvSpPr>
          <p:cNvPr id="144" name="Google Shape;144;p10"/>
          <p:cNvSpPr/>
          <p:nvPr/>
        </p:nvSpPr>
        <p:spPr>
          <a:xfrm>
            <a:off x="571500" y="2354163"/>
            <a:ext cx="11068050" cy="877788"/>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Convergence from hairs with different preferred directions can explain how a central neuron combines wind intensity, direction, and change. Excitation and inhibition must be considered together: more incoming spikes do not necessarily produce more output from every interneuron.</a:t>
            </a:r>
            <a:endParaRPr b="0" i="0" sz="1500" u="none" cap="none" strike="noStrike">
              <a:solidFill>
                <a:schemeClr val="dk1"/>
              </a:solidFill>
              <a:latin typeface="Calibri"/>
              <a:ea typeface="Calibri"/>
              <a:cs typeface="Calibri"/>
              <a:sym typeface="Calibri"/>
            </a:endParaRPr>
          </a:p>
        </p:txBody>
      </p:sp>
      <p:pic>
        <p:nvPicPr>
          <p:cNvPr id="145" name="Google Shape;145;p10"/>
          <p:cNvPicPr preferRelativeResize="0"/>
          <p:nvPr/>
        </p:nvPicPr>
        <p:blipFill rotWithShape="1">
          <a:blip r:embed="rId3">
            <a:alphaModFix/>
          </a:blip>
          <a:srcRect b="0" l="0" r="0" t="0"/>
          <a:stretch/>
        </p:blipFill>
        <p:spPr>
          <a:xfrm>
            <a:off x="581025" y="3733215"/>
            <a:ext cx="11049000" cy="2199680"/>
          </a:xfrm>
          <a:prstGeom prst="rect">
            <a:avLst/>
          </a:prstGeom>
          <a:noFill/>
          <a:ln>
            <a:noFill/>
          </a:ln>
        </p:spPr>
      </p:pic>
      <p:pic>
        <p:nvPicPr>
          <p:cNvPr id="146" name="Google Shape;146;p10"/>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147" name="Google Shape;147;p10"/>
          <p:cNvSpPr/>
          <p:nvPr/>
        </p:nvSpPr>
        <p:spPr>
          <a:xfrm>
            <a:off x="571500" y="6434138"/>
            <a:ext cx="898029"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Camhi (1969)</a:t>
            </a:r>
            <a:endParaRPr b="0" i="0" sz="1800" u="none" cap="none" strike="noStrike">
              <a:solidFill>
                <a:schemeClr val="dk1"/>
              </a:solidFill>
              <a:latin typeface="Calibri"/>
              <a:ea typeface="Calibri"/>
              <a:cs typeface="Calibri"/>
              <a:sym typeface="Calibri"/>
            </a:endParaRPr>
          </a:p>
        </p:txBody>
      </p:sp>
      <p:sp>
        <p:nvSpPr>
          <p:cNvPr id="148" name="Google Shape;148;p10"/>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10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52" name="Shape 152"/>
        <p:cNvGrpSpPr/>
        <p:nvPr/>
      </p:nvGrpSpPr>
      <p:grpSpPr>
        <a:xfrm>
          <a:off x="0" y="0"/>
          <a:ext cx="0" cy="0"/>
          <a:chOff x="0" y="0"/>
          <a:chExt cx="0" cy="0"/>
        </a:xfrm>
      </p:grpSpPr>
      <p:sp>
        <p:nvSpPr>
          <p:cNvPr id="153" name="Google Shape;153;p11"/>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Head-hair afferents project beyond the brain</a:t>
            </a:r>
            <a:endParaRPr b="0" i="0" sz="1800" u="none" cap="none" strike="noStrike">
              <a:solidFill>
                <a:schemeClr val="dk1"/>
              </a:solidFill>
              <a:latin typeface="Calibri"/>
              <a:ea typeface="Calibri"/>
              <a:cs typeface="Calibri"/>
              <a:sym typeface="Calibri"/>
            </a:endParaRPr>
          </a:p>
        </p:txBody>
      </p:sp>
      <p:sp>
        <p:nvSpPr>
          <p:cNvPr id="154" name="Google Shape;154;p11"/>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Tyrer, Bacon, and Davies filled wind-sensitive hair afferents with cobalt and visualized their central projections. This method traces the trajectory and branching pattern of individual sensory axons; it does not directly measure synaptic transmission.</a:t>
            </a:r>
            <a:endParaRPr b="0" i="0" sz="1500" u="none" cap="none" strike="noStrike">
              <a:solidFill>
                <a:schemeClr val="dk1"/>
              </a:solidFill>
              <a:latin typeface="Calibri"/>
              <a:ea typeface="Calibri"/>
              <a:cs typeface="Calibri"/>
              <a:sym typeface="Calibri"/>
            </a:endParaRPr>
          </a:p>
        </p:txBody>
      </p:sp>
      <p:sp>
        <p:nvSpPr>
          <p:cNvPr id="155" name="Google Shape;155;p11"/>
          <p:cNvSpPr/>
          <p:nvPr/>
        </p:nvSpPr>
        <p:spPr>
          <a:xfrm>
            <a:off x="571500" y="2434233"/>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The filled afferents passed through the brain into the suboesophageal ganglion. Some continued into the prothoracic ganglion and a smaller number reached the mesothoracic ganglion.</a:t>
            </a:r>
            <a:endParaRPr b="0" i="0" sz="1500" u="none" cap="none" strike="noStrike">
              <a:solidFill>
                <a:schemeClr val="dk1"/>
              </a:solidFill>
              <a:latin typeface="Calibri"/>
              <a:ea typeface="Calibri"/>
              <a:cs typeface="Calibri"/>
              <a:sym typeface="Calibri"/>
            </a:endParaRPr>
          </a:p>
        </p:txBody>
      </p:sp>
      <p:sp>
        <p:nvSpPr>
          <p:cNvPr id="156" name="Google Shape;156;p11"/>
          <p:cNvSpPr/>
          <p:nvPr/>
        </p:nvSpPr>
        <p:spPr>
          <a:xfrm>
            <a:off x="571500" y="3142655"/>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Wind information therefore enters a distributed central pathway. A simple diagram in which every head receptor terminates in the brain and all subsequent transmission is through one descending interneuron would omit demonstrated sensory projections.</a:t>
            </a:r>
            <a:endParaRPr b="0" i="0" sz="1500" u="none" cap="none" strike="noStrike">
              <a:solidFill>
                <a:schemeClr val="dk1"/>
              </a:solidFill>
              <a:latin typeface="Calibri"/>
              <a:ea typeface="Calibri"/>
              <a:cs typeface="Calibri"/>
              <a:sym typeface="Calibri"/>
            </a:endParaRPr>
          </a:p>
        </p:txBody>
      </p:sp>
      <p:sp>
        <p:nvSpPr>
          <p:cNvPr id="157" name="Google Shape;157;p11"/>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500" u="none" cap="none" strike="noStrike">
                <a:solidFill>
                  <a:srgbClr val="242A31"/>
                </a:solidFill>
                <a:latin typeface="Arial"/>
                <a:ea typeface="Arial"/>
                <a:cs typeface="Arial"/>
                <a:sym typeface="Arial"/>
              </a:rPr>
              <a:t>An anatomical overlap identifies places where interaction is possible. Establishing a functional connection additionally requires evidence such as a postsynaptic potential following afferent stimulation, a reproducible latency, and an appropriate response to interruption of the pathway.</a:t>
            </a:r>
            <a:endParaRPr b="0" i="0" sz="1500" u="none" cap="none" strike="noStrike">
              <a:solidFill>
                <a:schemeClr val="dk1"/>
              </a:solidFill>
              <a:latin typeface="Calibri"/>
              <a:ea typeface="Calibri"/>
              <a:cs typeface="Calibri"/>
              <a:sym typeface="Calibri"/>
            </a:endParaRPr>
          </a:p>
        </p:txBody>
      </p:sp>
      <p:pic>
        <p:nvPicPr>
          <p:cNvPr id="158" name="Google Shape;158;p11"/>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159" name="Google Shape;159;p11"/>
          <p:cNvSpPr/>
          <p:nvPr/>
        </p:nvSpPr>
        <p:spPr>
          <a:xfrm>
            <a:off x="571500" y="6434138"/>
            <a:ext cx="1175891"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Tyrer et al. (1979)</a:t>
            </a:r>
            <a:endParaRPr b="0" i="0" sz="1800" u="none" cap="none" strike="noStrike">
              <a:solidFill>
                <a:schemeClr val="dk1"/>
              </a:solidFill>
              <a:latin typeface="Calibri"/>
              <a:ea typeface="Calibri"/>
              <a:cs typeface="Calibri"/>
              <a:sym typeface="Calibri"/>
            </a:endParaRPr>
          </a:p>
        </p:txBody>
      </p:sp>
      <p:sp>
        <p:nvSpPr>
          <p:cNvPr id="160" name="Google Shape;160;p11"/>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11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64" name="Shape 164"/>
        <p:cNvGrpSpPr/>
        <p:nvPr/>
      </p:nvGrpSpPr>
      <p:grpSpPr>
        <a:xfrm>
          <a:off x="0" y="0"/>
          <a:ext cx="0" cy="0"/>
          <a:chOff x="0" y="0"/>
          <a:chExt cx="0" cy="0"/>
        </a:xfrm>
      </p:grpSpPr>
      <p:sp>
        <p:nvSpPr>
          <p:cNvPr id="165" name="Google Shape;165;p12"/>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The TCG links head sensation to thoracic circuits</a:t>
            </a:r>
            <a:endParaRPr b="0" i="0" sz="1800" u="none" cap="none" strike="noStrike">
              <a:solidFill>
                <a:schemeClr val="dk1"/>
              </a:solidFill>
              <a:latin typeface="Calibri"/>
              <a:ea typeface="Calibri"/>
              <a:cs typeface="Calibri"/>
              <a:sym typeface="Calibri"/>
            </a:endParaRPr>
          </a:p>
        </p:txBody>
      </p:sp>
      <p:sp>
        <p:nvSpPr>
          <p:cNvPr id="166" name="Google Shape;166;p12"/>
          <p:cNvSpPr/>
          <p:nvPr/>
        </p:nvSpPr>
        <p:spPr>
          <a:xfrm>
            <a:off x="571500" y="1371600"/>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a:t>
            </a:r>
            <a:r>
              <a:rPr b="1" i="0" lang="en-US" sz="1725" u="none" cap="none" strike="noStrike">
                <a:solidFill>
                  <a:srgbClr val="242A31"/>
                </a:solidFill>
                <a:latin typeface="Arial"/>
                <a:ea typeface="Arial"/>
                <a:cs typeface="Arial"/>
                <a:sym typeface="Arial"/>
              </a:rPr>
              <a:t>tritocerebral commissure giant (TCG)</a:t>
            </a:r>
            <a:r>
              <a:rPr b="0" i="0" lang="en-US" sz="1725" u="none" cap="none" strike="noStrike">
                <a:solidFill>
                  <a:srgbClr val="242A31"/>
                </a:solidFill>
                <a:latin typeface="Arial"/>
                <a:ea typeface="Arial"/>
                <a:cs typeface="Arial"/>
                <a:sym typeface="Arial"/>
              </a:rPr>
              <a:t> is a large identified interneuron with brain branches and a descending axon. The original stained preparation shows its relationship to the brain, suboesophageal region, and prothoracic ganglion.</a:t>
            </a:r>
            <a:endParaRPr b="0" i="0" sz="1800" u="none" cap="none" strike="noStrike">
              <a:solidFill>
                <a:schemeClr val="dk1"/>
              </a:solidFill>
              <a:latin typeface="Calibri"/>
              <a:ea typeface="Calibri"/>
              <a:cs typeface="Calibri"/>
              <a:sym typeface="Calibri"/>
            </a:endParaRPr>
          </a:p>
        </p:txBody>
      </p:sp>
      <p:sp>
        <p:nvSpPr>
          <p:cNvPr id="167" name="Google Shape;167;p12"/>
          <p:cNvSpPr/>
          <p:nvPr/>
        </p:nvSpPr>
        <p:spPr>
          <a:xfrm>
            <a:off x="571500" y="2696468"/>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TCG neurons respond to wind and visual conditions, so their output reflects more than one sensory modality. A </a:t>
            </a:r>
            <a:r>
              <a:rPr b="1" i="0" lang="en-US" sz="1725" u="none" cap="none" strike="noStrike">
                <a:solidFill>
                  <a:srgbClr val="242A31"/>
                </a:solidFill>
                <a:latin typeface="Arial"/>
                <a:ea typeface="Arial"/>
                <a:cs typeface="Arial"/>
                <a:sym typeface="Arial"/>
              </a:rPr>
              <a:t>bimodal</a:t>
            </a:r>
            <a:r>
              <a:rPr b="0" i="0" lang="en-US" sz="1725" u="none" cap="none" strike="noStrike">
                <a:solidFill>
                  <a:srgbClr val="242A31"/>
                </a:solidFill>
                <a:latin typeface="Arial"/>
                <a:ea typeface="Arial"/>
                <a:cs typeface="Arial"/>
                <a:sym typeface="Arial"/>
              </a:rPr>
              <a:t> neuron receives information associated with two stimulus modalities.</a:t>
            </a:r>
            <a:endParaRPr b="0" i="0" sz="1800" u="none" cap="none" strike="noStrike">
              <a:solidFill>
                <a:schemeClr val="dk1"/>
              </a:solidFill>
              <a:latin typeface="Calibri"/>
              <a:ea typeface="Calibri"/>
              <a:cs typeface="Calibri"/>
              <a:sym typeface="Calibri"/>
            </a:endParaRPr>
          </a:p>
        </p:txBody>
      </p:sp>
      <p:sp>
        <p:nvSpPr>
          <p:cNvPr id="168" name="Google Shape;168;p12"/>
          <p:cNvSpPr/>
          <p:nvPr/>
        </p:nvSpPr>
        <p:spPr>
          <a:xfrm>
            <a:off x="571500" y="3771602"/>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Head-hair fields provide direction-dependent excitation and inhibition. These convergent inputs transform the distributed receptor activity into signals that can influence thoracic flight circuitry.</a:t>
            </a:r>
            <a:endParaRPr b="0" i="0" sz="1800" u="none" cap="none" strike="noStrike">
              <a:solidFill>
                <a:schemeClr val="dk1"/>
              </a:solidFill>
              <a:latin typeface="Calibri"/>
              <a:ea typeface="Calibri"/>
              <a:cs typeface="Calibri"/>
              <a:sym typeface="Calibri"/>
            </a:endParaRPr>
          </a:p>
        </p:txBody>
      </p:sp>
      <p:sp>
        <p:nvSpPr>
          <p:cNvPr id="169" name="Google Shape;169;p12"/>
          <p:cNvSpPr/>
          <p:nvPr/>
        </p:nvSpPr>
        <p:spPr>
          <a:xfrm>
            <a:off x="571500" y="4846737"/>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A descending axon supplies a route for control; it does not establish that the neuron is a dedicated command switch. Natural firing, imposed stimulation, and selective interruption must be compared to determine its contribution.</a:t>
            </a:r>
            <a:endParaRPr b="0" i="0" sz="1800" u="none" cap="none" strike="noStrike">
              <a:solidFill>
                <a:schemeClr val="dk1"/>
              </a:solidFill>
              <a:latin typeface="Calibri"/>
              <a:ea typeface="Calibri"/>
              <a:cs typeface="Calibri"/>
              <a:sym typeface="Calibri"/>
            </a:endParaRPr>
          </a:p>
        </p:txBody>
      </p:sp>
      <p:pic>
        <p:nvPicPr>
          <p:cNvPr id="170" name="Google Shape;170;p12"/>
          <p:cNvPicPr preferRelativeResize="0"/>
          <p:nvPr/>
        </p:nvPicPr>
        <p:blipFill rotWithShape="1">
          <a:blip r:embed="rId3">
            <a:alphaModFix/>
          </a:blip>
          <a:srcRect b="0" l="0" r="0" t="0"/>
          <a:stretch/>
        </p:blipFill>
        <p:spPr>
          <a:xfrm>
            <a:off x="8820902" y="1442889"/>
            <a:ext cx="1065296" cy="4048125"/>
          </a:xfrm>
          <a:prstGeom prst="rect">
            <a:avLst/>
          </a:prstGeom>
          <a:noFill/>
          <a:ln>
            <a:noFill/>
          </a:ln>
        </p:spPr>
      </p:pic>
      <p:sp>
        <p:nvSpPr>
          <p:cNvPr id="171" name="Google Shape;171;p12"/>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4A; Buhl et al. (2008). Ganglia and TCG morphology; scale bar: 1 mm.</a:t>
            </a:r>
            <a:endParaRPr b="0" i="0" sz="1800" u="none" cap="none" strike="noStrike">
              <a:solidFill>
                <a:schemeClr val="dk1"/>
              </a:solidFill>
              <a:latin typeface="Calibri"/>
              <a:ea typeface="Calibri"/>
              <a:cs typeface="Calibri"/>
              <a:sym typeface="Calibri"/>
            </a:endParaRPr>
          </a:p>
        </p:txBody>
      </p:sp>
      <p:pic>
        <p:nvPicPr>
          <p:cNvPr id="172" name="Google Shape;172;p12"/>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173" name="Google Shape;173;p12"/>
          <p:cNvSpPr/>
          <p:nvPr/>
        </p:nvSpPr>
        <p:spPr>
          <a:xfrm>
            <a:off x="571500" y="6434138"/>
            <a:ext cx="2598539"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Bacon &amp; Möhl (1983); Buhl et al. (2008)</a:t>
            </a:r>
            <a:endParaRPr b="0" i="0" sz="1800" u="none" cap="none" strike="noStrike">
              <a:solidFill>
                <a:schemeClr val="dk1"/>
              </a:solidFill>
              <a:latin typeface="Calibri"/>
              <a:ea typeface="Calibri"/>
              <a:cs typeface="Calibri"/>
              <a:sym typeface="Calibri"/>
            </a:endParaRPr>
          </a:p>
        </p:txBody>
      </p:sp>
      <p:sp>
        <p:nvSpPr>
          <p:cNvPr id="174" name="Google Shape;174;p12"/>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12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78" name="Shape 178"/>
        <p:cNvGrpSpPr/>
        <p:nvPr/>
      </p:nvGrpSpPr>
      <p:grpSpPr>
        <a:xfrm>
          <a:off x="0" y="0"/>
          <a:ext cx="0" cy="0"/>
          <a:chOff x="0" y="0"/>
          <a:chExt cx="0" cy="0"/>
        </a:xfrm>
      </p:grpSpPr>
      <p:sp>
        <p:nvSpPr>
          <p:cNvPr id="179" name="Google Shape;179;p13"/>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Wingbeat-locked sensory firing can arise through reafference</a:t>
            </a:r>
            <a:endParaRPr b="0" i="0" sz="1800" u="none" cap="none" strike="noStrike">
              <a:solidFill>
                <a:schemeClr val="dk1"/>
              </a:solidFill>
              <a:latin typeface="Calibri"/>
              <a:ea typeface="Calibri"/>
              <a:cs typeface="Calibri"/>
              <a:sym typeface="Calibri"/>
            </a:endParaRPr>
          </a:p>
        </p:txBody>
      </p:sp>
      <p:sp>
        <p:nvSpPr>
          <p:cNvPr id="180" name="Google Shape;180;p13"/>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During flight, TCG spikes often occur in bursts near depressor activation. A correlation between these bursts and the motor rhythm could suggest that the TCG is part of the central oscillator, but it could also arise from sensory consequences of wing movement.</a:t>
            </a:r>
            <a:endParaRPr b="0" i="0" sz="1800" u="none" cap="none" strike="noStrike">
              <a:solidFill>
                <a:schemeClr val="dk1"/>
              </a:solidFill>
              <a:latin typeface="Calibri"/>
              <a:ea typeface="Calibri"/>
              <a:cs typeface="Calibri"/>
              <a:sym typeface="Calibri"/>
            </a:endParaRPr>
          </a:p>
        </p:txBody>
      </p:sp>
      <p:sp>
        <p:nvSpPr>
          <p:cNvPr id="181" name="Google Shape;181;p13"/>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Bacon and Möhl manipulated the wind-sensitive hairs and antennae while recording TCG activity. The rhythmic input was associated with flight-generated airflow and head movement. Such sensory signals produced by the animal’s own actions are called </a:t>
            </a:r>
            <a:r>
              <a:rPr b="1" i="0" lang="en-US" sz="1800" u="none" cap="none" strike="noStrike">
                <a:solidFill>
                  <a:srgbClr val="242A31"/>
                </a:solidFill>
                <a:latin typeface="Arial"/>
                <a:ea typeface="Arial"/>
                <a:cs typeface="Arial"/>
                <a:sym typeface="Arial"/>
              </a:rPr>
              <a:t>reafference</a:t>
            </a:r>
            <a:r>
              <a:rPr b="0" i="0" lang="en-US" sz="1800" u="none" cap="none" strike="noStrike">
                <a:solidFill>
                  <a:srgbClr val="242A31"/>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182" name="Google Shape;182;p13"/>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Different head-hair fields contributed excitation or inhibition. The resulting TCG response was particularly effective at wingbeat frequencies around 20–25 Hz. Waxing the hairs and immobilizing the antennae altered flight timing and slowed the rhythm.</a:t>
            </a:r>
            <a:endParaRPr b="0" i="0" sz="1800" u="none" cap="none" strike="noStrike">
              <a:solidFill>
                <a:schemeClr val="dk1"/>
              </a:solidFill>
              <a:latin typeface="Calibri"/>
              <a:ea typeface="Calibri"/>
              <a:cs typeface="Calibri"/>
              <a:sym typeface="Calibri"/>
            </a:endParaRPr>
          </a:p>
        </p:txBody>
      </p:sp>
      <p:sp>
        <p:nvSpPr>
          <p:cNvPr id="183" name="Google Shape;183;p13"/>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experiment separates two sources of rhythmic activity: an internally generated oscillation and a sensory response entrained by movement. A neuron can fire once per cycle and influence that cycle without being its primary rhythm generator.</a:t>
            </a:r>
            <a:endParaRPr b="0" i="0" sz="1800" u="none" cap="none" strike="noStrike">
              <a:solidFill>
                <a:schemeClr val="dk1"/>
              </a:solidFill>
              <a:latin typeface="Calibri"/>
              <a:ea typeface="Calibri"/>
              <a:cs typeface="Calibri"/>
              <a:sym typeface="Calibri"/>
            </a:endParaRPr>
          </a:p>
        </p:txBody>
      </p:sp>
      <p:pic>
        <p:nvPicPr>
          <p:cNvPr id="184" name="Google Shape;184;p13"/>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185" name="Google Shape;185;p13"/>
          <p:cNvSpPr/>
          <p:nvPr/>
        </p:nvSpPr>
        <p:spPr>
          <a:xfrm>
            <a:off x="571500" y="6434138"/>
            <a:ext cx="1405235"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Bacon &amp; Möhl (1983)</a:t>
            </a:r>
            <a:endParaRPr b="0" i="0" sz="1800" u="none" cap="none" strike="noStrike">
              <a:solidFill>
                <a:schemeClr val="dk1"/>
              </a:solidFill>
              <a:latin typeface="Calibri"/>
              <a:ea typeface="Calibri"/>
              <a:cs typeface="Calibri"/>
              <a:sym typeface="Calibri"/>
            </a:endParaRPr>
          </a:p>
        </p:txBody>
      </p:sp>
      <p:sp>
        <p:nvSpPr>
          <p:cNvPr id="186" name="Google Shape;186;p13"/>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13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90" name="Shape 190"/>
        <p:cNvGrpSpPr/>
        <p:nvPr/>
      </p:nvGrpSpPr>
      <p:grpSpPr>
        <a:xfrm>
          <a:off x="0" y="0"/>
          <a:ext cx="0" cy="0"/>
          <a:chOff x="0" y="0"/>
          <a:chExt cx="0" cy="0"/>
        </a:xfrm>
      </p:grpSpPr>
      <p:sp>
        <p:nvSpPr>
          <p:cNvPr id="191" name="Google Shape;191;p14"/>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Yaw is encoded by TCG burst timing and spike number</a:t>
            </a:r>
            <a:endParaRPr b="0" i="0" sz="1800" u="none" cap="none" strike="noStrike">
              <a:solidFill>
                <a:schemeClr val="dk1"/>
              </a:solidFill>
              <a:latin typeface="Calibri"/>
              <a:ea typeface="Calibri"/>
              <a:cs typeface="Calibri"/>
              <a:sym typeface="Calibri"/>
            </a:endParaRPr>
          </a:p>
        </p:txBody>
      </p:sp>
      <p:sp>
        <p:nvSpPr>
          <p:cNvPr id="192" name="Google Shape;192;p14"/>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1" i="0" lang="en-US" sz="1800" u="none" cap="none" strike="noStrike">
                <a:solidFill>
                  <a:srgbClr val="242A31"/>
                </a:solidFill>
                <a:latin typeface="Arial"/>
                <a:ea typeface="Arial"/>
                <a:cs typeface="Arial"/>
                <a:sym typeface="Arial"/>
              </a:rPr>
              <a:t>Yaw</a:t>
            </a:r>
            <a:r>
              <a:rPr b="0" i="0" lang="en-US" sz="1800" u="none" cap="none" strike="noStrike">
                <a:solidFill>
                  <a:srgbClr val="242A31"/>
                </a:solidFill>
                <a:latin typeface="Arial"/>
                <a:ea typeface="Arial"/>
                <a:cs typeface="Arial"/>
                <a:sym typeface="Arial"/>
              </a:rPr>
              <a:t> is rotation about the body’s vertical axis. A yaw disturbance changes the direction of airflow across the two sides of the head, allowing wind-sensitive pathways to report a deviation from the current flight direction.</a:t>
            </a:r>
            <a:endParaRPr b="0" i="0" sz="1800" u="none" cap="none" strike="noStrike">
              <a:solidFill>
                <a:schemeClr val="dk1"/>
              </a:solidFill>
              <a:latin typeface="Calibri"/>
              <a:ea typeface="Calibri"/>
              <a:cs typeface="Calibri"/>
              <a:sym typeface="Calibri"/>
            </a:endParaRPr>
          </a:p>
        </p:txBody>
      </p:sp>
      <p:sp>
        <p:nvSpPr>
          <p:cNvPr id="193" name="Google Shape;193;p14"/>
          <p:cNvSpPr/>
          <p:nvPr/>
        </p:nvSpPr>
        <p:spPr>
          <a:xfrm>
            <a:off x="571500" y="2434233"/>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Möhl and Bacon varied wind direction during flight and recorded the paired TCG neurons. The left and right cells showed different directional sensitivities; removing selected hair inputs reduced this sensitivity. Mutual inhibition between the two TCGs was not required to explain the directional response.</a:t>
            </a:r>
            <a:endParaRPr b="0" i="0" sz="1800" u="none" cap="none" strike="noStrike">
              <a:solidFill>
                <a:schemeClr val="dk1"/>
              </a:solidFill>
              <a:latin typeface="Calibri"/>
              <a:ea typeface="Calibri"/>
              <a:cs typeface="Calibri"/>
              <a:sym typeface="Calibri"/>
            </a:endParaRPr>
          </a:p>
        </p:txBody>
      </p:sp>
      <p:sp>
        <p:nvSpPr>
          <p:cNvPr id="194" name="Google Shape;194;p14"/>
          <p:cNvSpPr/>
          <p:nvPr/>
        </p:nvSpPr>
        <p:spPr>
          <a:xfrm>
            <a:off x="571500" y="3736777"/>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yaw signal appeared in the number of spikes per wingbeat burst and in when the burst began. The interval between spikes within a burst remained approximately </a:t>
            </a:r>
            <a:r>
              <a:rPr b="1" i="0" lang="en-US" sz="1800" u="none" cap="none" strike="noStrike">
                <a:solidFill>
                  <a:srgbClr val="242A31"/>
                </a:solidFill>
                <a:latin typeface="Arial"/>
                <a:ea typeface="Arial"/>
                <a:cs typeface="Arial"/>
                <a:sym typeface="Arial"/>
              </a:rPr>
              <a:t>4 ms</a:t>
            </a:r>
            <a:r>
              <a:rPr b="0" i="0" lang="en-US" sz="1800" u="none" cap="none" strike="noStrike">
                <a:solidFill>
                  <a:srgbClr val="242A31"/>
                </a:solidFill>
                <a:latin typeface="Arial"/>
                <a:ea typeface="Arial"/>
                <a:cs typeface="Arial"/>
                <a:sym typeface="Arial"/>
              </a:rPr>
              <a:t> over the tested conditions.</a:t>
            </a:r>
            <a:endParaRPr b="0" i="0" sz="1800" u="none" cap="none" strike="noStrike">
              <a:solidFill>
                <a:schemeClr val="dk1"/>
              </a:solidFill>
              <a:latin typeface="Calibri"/>
              <a:ea typeface="Calibri"/>
              <a:cs typeface="Calibri"/>
              <a:sym typeface="Calibri"/>
            </a:endParaRPr>
          </a:p>
        </p:txBody>
      </p:sp>
      <p:sp>
        <p:nvSpPr>
          <p:cNvPr id="195" name="Google Shape;195;p14"/>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Thus a motor system can read both a </a:t>
            </a:r>
            <a:r>
              <a:rPr b="1" i="0" lang="en-US" sz="1800" u="none" cap="none" strike="noStrike">
                <a:solidFill>
                  <a:srgbClr val="242A31"/>
                </a:solidFill>
                <a:latin typeface="Arial"/>
                <a:ea typeface="Arial"/>
                <a:cs typeface="Arial"/>
                <a:sym typeface="Arial"/>
              </a:rPr>
              <a:t>rate-related variable</a:t>
            </a:r>
            <a:r>
              <a:rPr b="0" i="0" lang="en-US" sz="1800" u="none" cap="none" strike="noStrike">
                <a:solidFill>
                  <a:srgbClr val="242A31"/>
                </a:solidFill>
                <a:latin typeface="Arial"/>
                <a:ea typeface="Arial"/>
                <a:cs typeface="Arial"/>
                <a:sym typeface="Arial"/>
              </a:rPr>
              <a:t>—spikes per burst—and a </a:t>
            </a:r>
            <a:r>
              <a:rPr b="1" i="0" lang="en-US" sz="1800" u="none" cap="none" strike="noStrike">
                <a:solidFill>
                  <a:srgbClr val="242A31"/>
                </a:solidFill>
                <a:latin typeface="Arial"/>
                <a:ea typeface="Arial"/>
                <a:cs typeface="Arial"/>
                <a:sym typeface="Arial"/>
              </a:rPr>
              <a:t>temporal variable</a:t>
            </a:r>
            <a:r>
              <a:rPr b="0" i="0" lang="en-US" sz="1800" u="none" cap="none" strike="noStrike">
                <a:solidFill>
                  <a:srgbClr val="242A31"/>
                </a:solidFill>
                <a:latin typeface="Arial"/>
                <a:ea typeface="Arial"/>
                <a:cs typeface="Arial"/>
                <a:sym typeface="Arial"/>
              </a:rPr>
              <a:t>—burst onset within the wingbeat. Averaging spikes across many cycles would discard part of the directional information available to the circuit.</a:t>
            </a:r>
            <a:endParaRPr b="0" i="0" sz="1800" u="none" cap="none" strike="noStrike">
              <a:solidFill>
                <a:schemeClr val="dk1"/>
              </a:solidFill>
              <a:latin typeface="Calibri"/>
              <a:ea typeface="Calibri"/>
              <a:cs typeface="Calibri"/>
              <a:sym typeface="Calibri"/>
            </a:endParaRPr>
          </a:p>
        </p:txBody>
      </p:sp>
      <p:pic>
        <p:nvPicPr>
          <p:cNvPr id="196" name="Google Shape;196;p14"/>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197" name="Google Shape;197;p14"/>
          <p:cNvSpPr/>
          <p:nvPr/>
        </p:nvSpPr>
        <p:spPr>
          <a:xfrm>
            <a:off x="571500" y="6434138"/>
            <a:ext cx="1405235"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Möhl &amp; Bacon (1983)</a:t>
            </a:r>
            <a:endParaRPr b="0" i="0" sz="1800" u="none" cap="none" strike="noStrike">
              <a:solidFill>
                <a:schemeClr val="dk1"/>
              </a:solidFill>
              <a:latin typeface="Calibri"/>
              <a:ea typeface="Calibri"/>
              <a:cs typeface="Calibri"/>
              <a:sym typeface="Calibri"/>
            </a:endParaRPr>
          </a:p>
        </p:txBody>
      </p:sp>
      <p:sp>
        <p:nvSpPr>
          <p:cNvPr id="198" name="Google Shape;198;p14"/>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14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02" name="Shape 202"/>
        <p:cNvGrpSpPr/>
        <p:nvPr/>
      </p:nvGrpSpPr>
      <p:grpSpPr>
        <a:xfrm>
          <a:off x="0" y="0"/>
          <a:ext cx="0" cy="0"/>
          <a:chOff x="0" y="0"/>
          <a:chExt cx="0" cy="0"/>
        </a:xfrm>
      </p:grpSpPr>
      <p:sp>
        <p:nvSpPr>
          <p:cNvPr id="203" name="Google Shape;203;p15"/>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Stimulating the TCG tests a causal role in steering</a:t>
            </a:r>
            <a:endParaRPr b="0" i="0" sz="1800" u="none" cap="none" strike="noStrike">
              <a:solidFill>
                <a:schemeClr val="dk1"/>
              </a:solidFill>
              <a:latin typeface="Calibri"/>
              <a:ea typeface="Calibri"/>
              <a:cs typeface="Calibri"/>
              <a:sym typeface="Calibri"/>
            </a:endParaRPr>
          </a:p>
        </p:txBody>
      </p:sp>
      <p:sp>
        <p:nvSpPr>
          <p:cNvPr id="204" name="Google Shape;204;p15"/>
          <p:cNvSpPr/>
          <p:nvPr/>
        </p:nvSpPr>
        <p:spPr>
          <a:xfrm>
            <a:off x="571500" y="1428750"/>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 sensory neuron’s response to yaw does not by itself show that its spikes alter flight. Möhl and Bacon therefore electrically stimulated the TCG and measured changes in flight-muscle timing.</a:t>
            </a:r>
            <a:endParaRPr b="0" i="0" sz="1800" u="none" cap="none" strike="noStrike">
              <a:solidFill>
                <a:schemeClr val="dk1"/>
              </a:solidFill>
              <a:latin typeface="Calibri"/>
              <a:ea typeface="Calibri"/>
              <a:cs typeface="Calibri"/>
              <a:sym typeface="Calibri"/>
            </a:endParaRPr>
          </a:p>
        </p:txBody>
      </p:sp>
      <p:sp>
        <p:nvSpPr>
          <p:cNvPr id="205" name="Google Shape;205;p15"/>
          <p:cNvSpPr/>
          <p:nvPr/>
        </p:nvSpPr>
        <p:spPr>
          <a:xfrm>
            <a:off x="571500" y="2137172"/>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induced timing changes resembled those produced by directional wind stimuli. This links an identified descending neuron to a motor adjustment appropriate for yaw correction, going beyond a correlation between wind direction and neural firing.</a:t>
            </a:r>
            <a:endParaRPr b="0" i="0" sz="1800" u="none" cap="none" strike="noStrike">
              <a:solidFill>
                <a:schemeClr val="dk1"/>
              </a:solidFill>
              <a:latin typeface="Calibri"/>
              <a:ea typeface="Calibri"/>
              <a:cs typeface="Calibri"/>
              <a:sym typeface="Calibri"/>
            </a:endParaRPr>
          </a:p>
        </p:txBody>
      </p:sp>
      <p:sp>
        <p:nvSpPr>
          <p:cNvPr id="206" name="Google Shape;206;p15"/>
          <p:cNvSpPr/>
          <p:nvPr/>
        </p:nvSpPr>
        <p:spPr>
          <a:xfrm>
            <a:off x="571500" y="3142655"/>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sensory manipulation and the neural stimulation answer different questions. Selective hair manipulations test where directional information enters the pathway; stimulation tests whether increased activity in that pathway can influence the motor output.</a:t>
            </a:r>
            <a:endParaRPr b="0" i="0" sz="1800" u="none" cap="none" strike="noStrike">
              <a:solidFill>
                <a:schemeClr val="dk1"/>
              </a:solidFill>
              <a:latin typeface="Calibri"/>
              <a:ea typeface="Calibri"/>
              <a:cs typeface="Calibri"/>
              <a:sym typeface="Calibri"/>
            </a:endParaRPr>
          </a:p>
        </p:txBody>
      </p:sp>
      <p:sp>
        <p:nvSpPr>
          <p:cNvPr id="207" name="Google Shape;207;p15"/>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result supports a contribution to steering rather than exclusive control of steering. Electrical stimulation imposes an experimental spike pattern, and other descending pathways, visual inputs, and wing proprioceptors remain relevant to the response of an intact animal.</a:t>
            </a:r>
            <a:endParaRPr b="0" i="0" sz="1800" u="none" cap="none" strike="noStrike">
              <a:solidFill>
                <a:schemeClr val="dk1"/>
              </a:solidFill>
              <a:latin typeface="Calibri"/>
              <a:ea typeface="Calibri"/>
              <a:cs typeface="Calibri"/>
              <a:sym typeface="Calibri"/>
            </a:endParaRPr>
          </a:p>
        </p:txBody>
      </p:sp>
      <p:pic>
        <p:nvPicPr>
          <p:cNvPr id="208" name="Google Shape;208;p15"/>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209" name="Google Shape;209;p15"/>
          <p:cNvSpPr/>
          <p:nvPr/>
        </p:nvSpPr>
        <p:spPr>
          <a:xfrm>
            <a:off x="571500" y="6434138"/>
            <a:ext cx="1405235"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Möhl &amp; Bacon (1983)</a:t>
            </a:r>
            <a:endParaRPr b="0" i="0" sz="1800" u="none" cap="none" strike="noStrike">
              <a:solidFill>
                <a:schemeClr val="dk1"/>
              </a:solidFill>
              <a:latin typeface="Calibri"/>
              <a:ea typeface="Calibri"/>
              <a:cs typeface="Calibri"/>
              <a:sym typeface="Calibri"/>
            </a:endParaRPr>
          </a:p>
        </p:txBody>
      </p:sp>
      <p:sp>
        <p:nvSpPr>
          <p:cNvPr id="210" name="Google Shape;210;p15"/>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15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14" name="Shape 214"/>
        <p:cNvGrpSpPr/>
        <p:nvPr/>
      </p:nvGrpSpPr>
      <p:grpSpPr>
        <a:xfrm>
          <a:off x="0" y="0"/>
          <a:ext cx="0" cy="0"/>
          <a:chOff x="0" y="0"/>
          <a:chExt cx="0" cy="0"/>
        </a:xfrm>
      </p:grpSpPr>
      <p:sp>
        <p:nvSpPr>
          <p:cNvPr id="215" name="Google Shape;215;p16"/>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Takeoff latency excludes a purely peripheral trigger</a:t>
            </a:r>
            <a:endParaRPr b="0" i="0" sz="1800" u="none" cap="none" strike="noStrike">
              <a:solidFill>
                <a:schemeClr val="dk1"/>
              </a:solidFill>
              <a:latin typeface="Calibri"/>
              <a:ea typeface="Calibri"/>
              <a:cs typeface="Calibri"/>
              <a:sym typeface="Calibri"/>
            </a:endParaRPr>
          </a:p>
        </p:txBody>
      </p:sp>
      <p:sp>
        <p:nvSpPr>
          <p:cNvPr id="216" name="Google Shape;216;p16"/>
          <p:cNvSpPr/>
          <p:nvPr/>
        </p:nvSpPr>
        <p:spPr>
          <a:xfrm>
            <a:off x="571500" y="1362075"/>
            <a:ext cx="11068050" cy="877788"/>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Camhi compared wing opening after controlled sensory stimulation with wing opening during a free jump. The earliest free-jump response occurred before the measured wind and tarsal pathways could account for it.</a:t>
            </a:r>
            <a:endParaRPr b="0" i="0" sz="1800" u="none" cap="none" strike="noStrike">
              <a:solidFill>
                <a:schemeClr val="dk1"/>
              </a:solidFill>
              <a:latin typeface="Calibri"/>
              <a:ea typeface="Calibri"/>
              <a:cs typeface="Calibri"/>
              <a:sym typeface="Calibri"/>
            </a:endParaRPr>
          </a:p>
        </p:txBody>
      </p:sp>
      <p:sp>
        <p:nvSpPr>
          <p:cNvPr id="217" name="Google Shape;217;p16"/>
          <p:cNvSpPr/>
          <p:nvPr/>
        </p:nvSpPr>
        <p:spPr>
          <a:xfrm>
            <a:off x="571500" y="2354163"/>
            <a:ext cx="11068050" cy="1170384"/>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242A31"/>
              </a:buClr>
              <a:buSzPts val="1800"/>
              <a:buFont typeface="Arial"/>
              <a:buNone/>
            </a:pPr>
            <a:r>
              <a:rPr b="1" i="0" lang="en-US" sz="1800" u="none" cap="none" strike="noStrike">
                <a:solidFill>
                  <a:srgbClr val="242A31"/>
                </a:solidFill>
                <a:latin typeface="Arial"/>
                <a:ea typeface="Arial"/>
                <a:cs typeface="Arial"/>
                <a:sym typeface="Arial"/>
              </a:rPr>
              <a:t>Response latency</a:t>
            </a:r>
            <a:r>
              <a:rPr b="0" i="0" lang="en-US" sz="1800" u="none" cap="none" strike="noStrike">
                <a:solidFill>
                  <a:srgbClr val="242A31"/>
                </a:solidFill>
                <a:latin typeface="Arial"/>
                <a:ea typeface="Arial"/>
                <a:cs typeface="Arial"/>
                <a:sym typeface="Arial"/>
              </a:rPr>
              <a:t> is the interval between a defined initiating event and a defined response. The comparison supports central coordination between jumping and wing opening; it does not identify a particular command neuron. Wind and loss of foot contact can still reinforce or maintain flight after takeoff.</a:t>
            </a:r>
            <a:endParaRPr b="0" i="0" sz="1800" u="none" cap="none" strike="noStrike">
              <a:solidFill>
                <a:schemeClr val="dk1"/>
              </a:solidFill>
              <a:latin typeface="Calibri"/>
              <a:ea typeface="Calibri"/>
              <a:cs typeface="Calibri"/>
              <a:sym typeface="Calibri"/>
            </a:endParaRPr>
          </a:p>
        </p:txBody>
      </p:sp>
      <p:pic>
        <p:nvPicPr>
          <p:cNvPr id="218" name="Google Shape;218;p16"/>
          <p:cNvPicPr preferRelativeResize="0"/>
          <p:nvPr/>
        </p:nvPicPr>
        <p:blipFill rotWithShape="1">
          <a:blip r:embed="rId3">
            <a:alphaModFix/>
          </a:blip>
          <a:srcRect b="0" l="0" r="0" t="0"/>
          <a:stretch/>
        </p:blipFill>
        <p:spPr>
          <a:xfrm>
            <a:off x="571500" y="3686473"/>
            <a:ext cx="11049000" cy="2239566"/>
          </a:xfrm>
          <a:prstGeom prst="rect">
            <a:avLst/>
          </a:prstGeom>
          <a:noFill/>
          <a:ln>
            <a:noFill/>
          </a:ln>
        </p:spPr>
      </p:pic>
      <p:pic>
        <p:nvPicPr>
          <p:cNvPr id="219" name="Google Shape;219;p16"/>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220" name="Google Shape;220;p16"/>
          <p:cNvSpPr/>
          <p:nvPr/>
        </p:nvSpPr>
        <p:spPr>
          <a:xfrm>
            <a:off x="571500" y="6434138"/>
            <a:ext cx="898029"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Camhi (1969)</a:t>
            </a:r>
            <a:endParaRPr b="0" i="0" sz="1800" u="none" cap="none" strike="noStrike">
              <a:solidFill>
                <a:schemeClr val="dk1"/>
              </a:solidFill>
              <a:latin typeface="Calibri"/>
              <a:ea typeface="Calibri"/>
              <a:cs typeface="Calibri"/>
              <a:sym typeface="Calibri"/>
            </a:endParaRPr>
          </a:p>
        </p:txBody>
      </p:sp>
      <p:sp>
        <p:nvSpPr>
          <p:cNvPr id="221" name="Google Shape;221;p16"/>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16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25" name="Shape 225"/>
        <p:cNvGrpSpPr/>
        <p:nvPr/>
      </p:nvGrpSpPr>
      <p:grpSpPr>
        <a:xfrm>
          <a:off x="0" y="0"/>
          <a:ext cx="0" cy="0"/>
          <a:chOff x="0" y="0"/>
          <a:chExt cx="0" cy="0"/>
        </a:xfrm>
      </p:grpSpPr>
      <p:sp>
        <p:nvSpPr>
          <p:cNvPr id="226" name="Google Shape;226;p17"/>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Interneuron 404 supplies a tonic flight-related drive</a:t>
            </a:r>
            <a:endParaRPr b="0" i="0" sz="1800" u="none" cap="none" strike="noStrike">
              <a:solidFill>
                <a:schemeClr val="dk1"/>
              </a:solidFill>
              <a:latin typeface="Calibri"/>
              <a:ea typeface="Calibri"/>
              <a:cs typeface="Calibri"/>
              <a:sym typeface="Calibri"/>
            </a:endParaRPr>
          </a:p>
        </p:txBody>
      </p:sp>
      <p:sp>
        <p:nvSpPr>
          <p:cNvPr id="227" name="Google Shape;227;p17"/>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Pearson and colleagues recorded identified mesothoracic interneuron </a:t>
            </a:r>
            <a:r>
              <a:rPr b="1" i="0" lang="en-US" sz="1800" u="none" cap="none" strike="noStrike">
                <a:solidFill>
                  <a:srgbClr val="242A31"/>
                </a:solidFill>
                <a:latin typeface="Arial"/>
                <a:ea typeface="Arial"/>
                <a:cs typeface="Arial"/>
                <a:sym typeface="Arial"/>
              </a:rPr>
              <a:t>404</a:t>
            </a:r>
            <a:r>
              <a:rPr b="0" i="0" lang="en-US" sz="1800" u="none" cap="none" strike="noStrike">
                <a:solidFill>
                  <a:srgbClr val="242A31"/>
                </a:solidFill>
                <a:latin typeface="Arial"/>
                <a:ea typeface="Arial"/>
                <a:cs typeface="Arial"/>
                <a:sym typeface="Arial"/>
              </a:rPr>
              <a:t> during flight evoked by wind or reduced illumination. Its discharge was sustained, and firing frequency covaried approximately linearly with flight frequency.</a:t>
            </a:r>
            <a:endParaRPr b="0" i="0" sz="1800" u="none" cap="none" strike="noStrike">
              <a:solidFill>
                <a:schemeClr val="dk1"/>
              </a:solidFill>
              <a:latin typeface="Calibri"/>
              <a:ea typeface="Calibri"/>
              <a:cs typeface="Calibri"/>
              <a:sym typeface="Calibri"/>
            </a:endParaRPr>
          </a:p>
        </p:txBody>
      </p:sp>
      <p:sp>
        <p:nvSpPr>
          <p:cNvPr id="228" name="Google Shape;228;p17"/>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Depolarizing 404 often initiated flight-like activity. Hyperpolarizing it could slow, terminate, or prevent flight, although these effects were not obligatory in every trial. No rhythmic input from the flight CPG was detected in the recorded cell.</a:t>
            </a:r>
            <a:endParaRPr b="0" i="0" sz="1800" u="none" cap="none" strike="noStrike">
              <a:solidFill>
                <a:schemeClr val="dk1"/>
              </a:solidFill>
              <a:latin typeface="Calibri"/>
              <a:ea typeface="Calibri"/>
              <a:cs typeface="Calibri"/>
              <a:sym typeface="Calibri"/>
            </a:endParaRPr>
          </a:p>
        </p:txBody>
      </p:sp>
      <p:sp>
        <p:nvSpPr>
          <p:cNvPr id="229" name="Google Shape;229;p17"/>
          <p:cNvSpPr/>
          <p:nvPr/>
        </p:nvSpPr>
        <p:spPr>
          <a:xfrm>
            <a:off x="571500" y="3439716"/>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 </a:t>
            </a:r>
            <a:r>
              <a:rPr b="1" i="0" lang="en-US" sz="1800" u="none" cap="none" strike="noStrike">
                <a:solidFill>
                  <a:srgbClr val="242A31"/>
                </a:solidFill>
                <a:latin typeface="Arial"/>
                <a:ea typeface="Arial"/>
                <a:cs typeface="Arial"/>
                <a:sym typeface="Arial"/>
              </a:rPr>
              <a:t>tonic drive</a:t>
            </a:r>
            <a:r>
              <a:rPr b="0" i="0" lang="en-US" sz="1800" u="none" cap="none" strike="noStrike">
                <a:solidFill>
                  <a:srgbClr val="242A31"/>
                </a:solidFill>
                <a:latin typeface="Arial"/>
                <a:ea typeface="Arial"/>
                <a:cs typeface="Arial"/>
                <a:sym typeface="Arial"/>
              </a:rPr>
              <a:t> is maintained excitation that changes the operating state of a circuit. The downstream network converts this relatively unpatterned input into the alternating activity of wing muscles.</a:t>
            </a:r>
            <a:endParaRPr b="0" i="0" sz="1800" u="none" cap="none" strike="noStrike">
              <a:solidFill>
                <a:schemeClr val="dk1"/>
              </a:solidFill>
              <a:latin typeface="Calibri"/>
              <a:ea typeface="Calibri"/>
              <a:cs typeface="Calibri"/>
              <a:sym typeface="Calibri"/>
            </a:endParaRPr>
          </a:p>
        </p:txBody>
      </p:sp>
      <p:sp>
        <p:nvSpPr>
          <p:cNvPr id="230" name="Google Shape;230;p17"/>
          <p:cNvSpPr/>
          <p:nvPr/>
        </p:nvSpPr>
        <p:spPr>
          <a:xfrm>
            <a:off x="571500" y="4148138"/>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These observations support 404 as one contributor to flight activation and speed regulation. Sufficiency in some preparations does not establish that this single neuron is always necessary. Kick-associated bursts also suggest a possible route for coordinating takeoff, but that proposed role requires separate causal evidence.</a:t>
            </a:r>
            <a:endParaRPr b="0" i="0" sz="1800" u="none" cap="none" strike="noStrike">
              <a:solidFill>
                <a:schemeClr val="dk1"/>
              </a:solidFill>
              <a:latin typeface="Calibri"/>
              <a:ea typeface="Calibri"/>
              <a:cs typeface="Calibri"/>
              <a:sym typeface="Calibri"/>
            </a:endParaRPr>
          </a:p>
        </p:txBody>
      </p:sp>
      <p:pic>
        <p:nvPicPr>
          <p:cNvPr id="231" name="Google Shape;231;p17"/>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232" name="Google Shape;232;p17"/>
          <p:cNvSpPr/>
          <p:nvPr/>
        </p:nvSpPr>
        <p:spPr>
          <a:xfrm>
            <a:off x="571500" y="6434138"/>
            <a:ext cx="1380083"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Pearson et al. (1985)</a:t>
            </a:r>
            <a:endParaRPr b="0" i="0" sz="1800" u="none" cap="none" strike="noStrike">
              <a:solidFill>
                <a:schemeClr val="dk1"/>
              </a:solidFill>
              <a:latin typeface="Calibri"/>
              <a:ea typeface="Calibri"/>
              <a:cs typeface="Calibri"/>
              <a:sym typeface="Calibri"/>
            </a:endParaRPr>
          </a:p>
        </p:txBody>
      </p:sp>
      <p:sp>
        <p:nvSpPr>
          <p:cNvPr id="233" name="Google Shape;233;p17"/>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17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37" name="Shape 237"/>
        <p:cNvGrpSpPr/>
        <p:nvPr/>
      </p:nvGrpSpPr>
      <p:grpSpPr>
        <a:xfrm>
          <a:off x="0" y="0"/>
          <a:ext cx="0" cy="0"/>
          <a:chOff x="0" y="0"/>
          <a:chExt cx="0" cy="0"/>
        </a:xfrm>
      </p:grpSpPr>
      <p:sp>
        <p:nvSpPr>
          <p:cNvPr id="238" name="Google Shape;238;p18"/>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Population density changes the gain of wind pathways</a:t>
            </a:r>
            <a:endParaRPr b="0" i="0" sz="1800" u="none" cap="none" strike="noStrike">
              <a:solidFill>
                <a:schemeClr val="dk1"/>
              </a:solidFill>
              <a:latin typeface="Calibri"/>
              <a:ea typeface="Calibri"/>
              <a:cs typeface="Calibri"/>
              <a:sym typeface="Calibri"/>
            </a:endParaRPr>
          </a:p>
        </p:txBody>
      </p:sp>
      <p:sp>
        <p:nvSpPr>
          <p:cNvPr id="239" name="Google Shape;239;p18"/>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Gregarious and solitary desert locusts received controlled one-second wind stimuli at 1, 2, or 3 m/s. Dark bars represent gregarious animals; light bars represent solitary animals.</a:t>
            </a:r>
            <a:endParaRPr b="0" i="0" sz="1800" u="none" cap="none" strike="noStrike">
              <a:solidFill>
                <a:schemeClr val="dk1"/>
              </a:solidFill>
              <a:latin typeface="Calibri"/>
              <a:ea typeface="Calibri"/>
              <a:cs typeface="Calibri"/>
              <a:sym typeface="Calibri"/>
            </a:endParaRPr>
          </a:p>
        </p:txBody>
      </p:sp>
      <p:sp>
        <p:nvSpPr>
          <p:cNvPr id="240" name="Google Shape;240;p18"/>
          <p:cNvSpPr/>
          <p:nvPr/>
        </p:nvSpPr>
        <p:spPr>
          <a:xfrm>
            <a:off x="571500" y="2446734"/>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1" i="0" lang="en-US" sz="1725" u="none" cap="none" strike="noStrike">
                <a:solidFill>
                  <a:srgbClr val="242A31"/>
                </a:solidFill>
                <a:latin typeface="Arial"/>
                <a:ea typeface="Arial"/>
                <a:cs typeface="Arial"/>
                <a:sym typeface="Arial"/>
              </a:rPr>
              <a:t>Panel A:</a:t>
            </a:r>
            <a:r>
              <a:rPr b="0" i="0" lang="en-US" sz="1725" u="none" cap="none" strike="noStrike">
                <a:solidFill>
                  <a:srgbClr val="242A31"/>
                </a:solidFill>
                <a:latin typeface="Arial"/>
                <a:ea typeface="Arial"/>
                <a:cs typeface="Arial"/>
                <a:sym typeface="Arial"/>
              </a:rPr>
              <a:t> the probability of initiating flight was higher in gregarious locusts. </a:t>
            </a:r>
            <a:r>
              <a:rPr b="1" i="0" lang="en-US" sz="1725" u="none" cap="none" strike="noStrike">
                <a:solidFill>
                  <a:srgbClr val="242A31"/>
                </a:solidFill>
                <a:latin typeface="Arial"/>
                <a:ea typeface="Arial"/>
                <a:cs typeface="Arial"/>
                <a:sym typeface="Arial"/>
              </a:rPr>
              <a:t>Panel B:</a:t>
            </a:r>
            <a:r>
              <a:rPr b="0" i="0" lang="en-US" sz="1725" u="none" cap="none" strike="noStrike">
                <a:solidFill>
                  <a:srgbClr val="242A31"/>
                </a:solidFill>
                <a:latin typeface="Arial"/>
                <a:ea typeface="Arial"/>
                <a:cs typeface="Arial"/>
                <a:sym typeface="Arial"/>
              </a:rPr>
              <a:t> TCG responses to the same wind speeds were also stronger. Repeated stimuli were presented within each animal.</a:t>
            </a:r>
            <a:endParaRPr b="0" i="0" sz="1800" u="none" cap="none" strike="noStrike">
              <a:solidFill>
                <a:schemeClr val="dk1"/>
              </a:solidFill>
              <a:latin typeface="Calibri"/>
              <a:ea typeface="Calibri"/>
              <a:cs typeface="Calibri"/>
              <a:sym typeface="Calibri"/>
            </a:endParaRPr>
          </a:p>
        </p:txBody>
      </p:sp>
      <p:sp>
        <p:nvSpPr>
          <p:cNvPr id="241" name="Google Shape;241;p18"/>
          <p:cNvSpPr/>
          <p:nvPr/>
        </p:nvSpPr>
        <p:spPr>
          <a:xfrm>
            <a:off x="571500" y="3521869"/>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Solitary locusts had more forehead wind-sensitive hairs, yet weaker TCG output and stronger adaptation. Receptor number alone therefore did not predict the signal reaching flight-control circuitry.</a:t>
            </a:r>
            <a:endParaRPr b="0" i="0" sz="1800" u="none" cap="none" strike="noStrike">
              <a:solidFill>
                <a:schemeClr val="dk1"/>
              </a:solidFill>
              <a:latin typeface="Calibri"/>
              <a:ea typeface="Calibri"/>
              <a:cs typeface="Calibri"/>
              <a:sym typeface="Calibri"/>
            </a:endParaRPr>
          </a:p>
        </p:txBody>
      </p:sp>
      <p:sp>
        <p:nvSpPr>
          <p:cNvPr id="242" name="Google Shape;242;p18"/>
          <p:cNvSpPr/>
          <p:nvPr/>
        </p:nvSpPr>
        <p:spPr>
          <a:xfrm>
            <a:off x="571500" y="4597003"/>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comparison identifies a physiological correlate of density-dependent behavior. It does not establish that the measured TCG difference is the sole cause of the behavioral difference.</a:t>
            </a:r>
            <a:endParaRPr b="0" i="0" sz="1800" u="none" cap="none" strike="noStrike">
              <a:solidFill>
                <a:schemeClr val="dk1"/>
              </a:solidFill>
              <a:latin typeface="Calibri"/>
              <a:ea typeface="Calibri"/>
              <a:cs typeface="Calibri"/>
              <a:sym typeface="Calibri"/>
            </a:endParaRPr>
          </a:p>
        </p:txBody>
      </p:sp>
      <p:pic>
        <p:nvPicPr>
          <p:cNvPr id="243" name="Google Shape;243;p18"/>
          <p:cNvPicPr preferRelativeResize="0"/>
          <p:nvPr/>
        </p:nvPicPr>
        <p:blipFill rotWithShape="1">
          <a:blip r:embed="rId3">
            <a:alphaModFix/>
          </a:blip>
          <a:srcRect b="0" l="0" r="0" t="0"/>
          <a:stretch/>
        </p:blipFill>
        <p:spPr>
          <a:xfrm>
            <a:off x="8225153" y="1442889"/>
            <a:ext cx="2256794" cy="4048125"/>
          </a:xfrm>
          <a:prstGeom prst="rect">
            <a:avLst/>
          </a:prstGeom>
          <a:noFill/>
          <a:ln>
            <a:noFill/>
          </a:ln>
        </p:spPr>
      </p:pic>
      <p:sp>
        <p:nvSpPr>
          <p:cNvPr id="244" name="Google Shape;244;p18"/>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1A–B; Ayali et al. (2004). Same investigators’ primary results; stimulus speeds retained.</a:t>
            </a:r>
            <a:endParaRPr b="0" i="0" sz="1800" u="none" cap="none" strike="noStrike">
              <a:solidFill>
                <a:schemeClr val="dk1"/>
              </a:solidFill>
              <a:latin typeface="Calibri"/>
              <a:ea typeface="Calibri"/>
              <a:cs typeface="Calibri"/>
              <a:sym typeface="Calibri"/>
            </a:endParaRPr>
          </a:p>
        </p:txBody>
      </p:sp>
      <p:pic>
        <p:nvPicPr>
          <p:cNvPr id="245" name="Google Shape;245;p18"/>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246" name="Google Shape;246;p18"/>
          <p:cNvSpPr/>
          <p:nvPr/>
        </p:nvSpPr>
        <p:spPr>
          <a:xfrm>
            <a:off x="571500" y="6434138"/>
            <a:ext cx="2423368"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Fuchs et al. (2003); Ayali et al. (2004)</a:t>
            </a:r>
            <a:endParaRPr b="0" i="0" sz="1800" u="none" cap="none" strike="noStrike">
              <a:solidFill>
                <a:schemeClr val="dk1"/>
              </a:solidFill>
              <a:latin typeface="Calibri"/>
              <a:ea typeface="Calibri"/>
              <a:cs typeface="Calibri"/>
              <a:sym typeface="Calibri"/>
            </a:endParaRPr>
          </a:p>
        </p:txBody>
      </p:sp>
      <p:sp>
        <p:nvSpPr>
          <p:cNvPr id="247" name="Google Shape;247;p18"/>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18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51" name="Shape 251"/>
        <p:cNvGrpSpPr/>
        <p:nvPr/>
      </p:nvGrpSpPr>
      <p:grpSpPr>
        <a:xfrm>
          <a:off x="0" y="0"/>
          <a:ext cx="0" cy="0"/>
          <a:chOff x="0" y="0"/>
          <a:chExt cx="0" cy="0"/>
        </a:xfrm>
      </p:grpSpPr>
      <p:sp>
        <p:nvSpPr>
          <p:cNvPr id="252" name="Google Shape;252;p19"/>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Rhythm generation and motor timing can be separated experimentally</a:t>
            </a:r>
            <a:endParaRPr b="0" i="0" sz="1800" u="none" cap="none" strike="noStrike">
              <a:solidFill>
                <a:schemeClr val="dk1"/>
              </a:solidFill>
              <a:latin typeface="Calibri"/>
              <a:ea typeface="Calibri"/>
              <a:cs typeface="Calibri"/>
              <a:sym typeface="Calibri"/>
            </a:endParaRPr>
          </a:p>
        </p:txBody>
      </p:sp>
      <p:sp>
        <p:nvSpPr>
          <p:cNvPr id="253" name="Google Shape;253;p19"/>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Robertson and Pearson recorded and stained interneurons while delivering brief intracellular current pulses. Some cells strongly influenced flight motoneurons through short-latency connections, whereas others changed the timing of subsequent flight cycles.</a:t>
            </a:r>
            <a:endParaRPr b="0" i="0" sz="1800" u="none" cap="none" strike="noStrike">
              <a:solidFill>
                <a:schemeClr val="dk1"/>
              </a:solidFill>
              <a:latin typeface="Calibri"/>
              <a:ea typeface="Calibri"/>
              <a:cs typeface="Calibri"/>
              <a:sym typeface="Calibri"/>
            </a:endParaRPr>
          </a:p>
        </p:txBody>
      </p:sp>
      <p:sp>
        <p:nvSpPr>
          <p:cNvPr id="254" name="Google Shape;254;p19"/>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Among the identified cells in that study, ten premotor interneurons did not reset the rhythm when depolarized. Three groups of rhythm-resetting interneurons did not show the same short-latency motoneuron connections.</a:t>
            </a:r>
            <a:endParaRPr b="0" i="0" sz="1800" u="none" cap="none" strike="noStrike">
              <a:solidFill>
                <a:schemeClr val="dk1"/>
              </a:solidFill>
              <a:latin typeface="Calibri"/>
              <a:ea typeface="Calibri"/>
              <a:cs typeface="Calibri"/>
              <a:sym typeface="Calibri"/>
            </a:endParaRPr>
          </a:p>
        </p:txBody>
      </p:sp>
      <p:sp>
        <p:nvSpPr>
          <p:cNvPr id="255" name="Google Shape;255;p19"/>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 </a:t>
            </a:r>
            <a:r>
              <a:rPr b="1" i="0" lang="en-US" sz="1800" u="none" cap="none" strike="noStrike">
                <a:solidFill>
                  <a:srgbClr val="242A31"/>
                </a:solidFill>
                <a:latin typeface="Arial"/>
                <a:ea typeface="Arial"/>
                <a:cs typeface="Arial"/>
                <a:sym typeface="Arial"/>
              </a:rPr>
              <a:t>premotor interneuron</a:t>
            </a:r>
            <a:r>
              <a:rPr b="0" i="0" lang="en-US" sz="1800" u="none" cap="none" strike="noStrike">
                <a:solidFill>
                  <a:srgbClr val="242A31"/>
                </a:solidFill>
                <a:latin typeface="Arial"/>
                <a:ea typeface="Arial"/>
                <a:cs typeface="Arial"/>
                <a:sym typeface="Arial"/>
              </a:rPr>
              <a:t> directly or indirectly shapes motoneuron activity. A </a:t>
            </a:r>
            <a:r>
              <a:rPr b="1" i="0" lang="en-US" sz="1800" u="none" cap="none" strike="noStrike">
                <a:solidFill>
                  <a:srgbClr val="242A31"/>
                </a:solidFill>
                <a:latin typeface="Arial"/>
                <a:ea typeface="Arial"/>
                <a:cs typeface="Arial"/>
                <a:sym typeface="Arial"/>
              </a:rPr>
              <a:t>pattern-generator interneuron</a:t>
            </a:r>
            <a:r>
              <a:rPr b="0" i="0" lang="en-US" sz="1800" u="none" cap="none" strike="noStrike">
                <a:solidFill>
                  <a:srgbClr val="242A31"/>
                </a:solidFill>
                <a:latin typeface="Arial"/>
                <a:ea typeface="Arial"/>
                <a:cs typeface="Arial"/>
                <a:sym typeface="Arial"/>
              </a:rPr>
              <a:t> contributes to the dynamics that determine when cycles occur. These are functional assignments based on perturbation, rather than labels derived only from rhythmic firing.</a:t>
            </a:r>
            <a:endParaRPr b="0" i="0" sz="1800" u="none" cap="none" strike="noStrike">
              <a:solidFill>
                <a:schemeClr val="dk1"/>
              </a:solidFill>
              <a:latin typeface="Calibri"/>
              <a:ea typeface="Calibri"/>
              <a:cs typeface="Calibri"/>
              <a:sym typeface="Calibri"/>
            </a:endParaRPr>
          </a:p>
        </p:txBody>
      </p:sp>
      <p:sp>
        <p:nvSpPr>
          <p:cNvPr id="256" name="Google Shape;256;p19"/>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This partial separation allows a steering pathway to adjust the timing or strength of selected muscles without necessarily changing the wingbeat period. It also explains why a distributed network can generate a simple-looking alternating motor output.</a:t>
            </a:r>
            <a:endParaRPr b="0" i="0" sz="1800" u="none" cap="none" strike="noStrike">
              <a:solidFill>
                <a:schemeClr val="dk1"/>
              </a:solidFill>
              <a:latin typeface="Calibri"/>
              <a:ea typeface="Calibri"/>
              <a:cs typeface="Calibri"/>
              <a:sym typeface="Calibri"/>
            </a:endParaRPr>
          </a:p>
        </p:txBody>
      </p:sp>
      <p:pic>
        <p:nvPicPr>
          <p:cNvPr id="257" name="Google Shape;257;p19"/>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258" name="Google Shape;258;p19"/>
          <p:cNvSpPr/>
          <p:nvPr/>
        </p:nvSpPr>
        <p:spPr>
          <a:xfrm>
            <a:off x="571500" y="6434138"/>
            <a:ext cx="1894731"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Robertson &amp; Pearson (1983)</a:t>
            </a:r>
            <a:endParaRPr b="0" i="0" sz="1800" u="none" cap="none" strike="noStrike">
              <a:solidFill>
                <a:schemeClr val="dk1"/>
              </a:solidFill>
              <a:latin typeface="Calibri"/>
              <a:ea typeface="Calibri"/>
              <a:cs typeface="Calibri"/>
              <a:sym typeface="Calibri"/>
            </a:endParaRPr>
          </a:p>
        </p:txBody>
      </p:sp>
      <p:sp>
        <p:nvSpPr>
          <p:cNvPr id="259" name="Google Shape;259;p19"/>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19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63" name="Shape 263"/>
        <p:cNvGrpSpPr/>
        <p:nvPr/>
      </p:nvGrpSpPr>
      <p:grpSpPr>
        <a:xfrm>
          <a:off x="0" y="0"/>
          <a:ext cx="0" cy="0"/>
          <a:chOff x="0" y="0"/>
          <a:chExt cx="0" cy="0"/>
        </a:xfrm>
      </p:grpSpPr>
      <p:sp>
        <p:nvSpPr>
          <p:cNvPr id="264" name="Google Shape;264;p20"/>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A phase reset reveals access to the oscillator</a:t>
            </a:r>
            <a:endParaRPr b="0" i="0" sz="1800" u="none" cap="none" strike="noStrike">
              <a:solidFill>
                <a:schemeClr val="dk1"/>
              </a:solidFill>
              <a:latin typeface="Calibri"/>
              <a:ea typeface="Calibri"/>
              <a:cs typeface="Calibri"/>
              <a:sym typeface="Calibri"/>
            </a:endParaRPr>
          </a:p>
        </p:txBody>
      </p:sp>
      <p:sp>
        <p:nvSpPr>
          <p:cNvPr id="265" name="Google Shape;265;p20"/>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Suppose a brief stimulus advances one elevator event. If later cycles return to the timing expected before stimulation, the perturbation may have affected only the motor output. If subsequent cycles remain shifted, the stimulus has changed the oscillator’s phase.</a:t>
            </a:r>
            <a:endParaRPr b="0" i="0" sz="1800" u="none" cap="none" strike="noStrike">
              <a:solidFill>
                <a:schemeClr val="dk1"/>
              </a:solidFill>
              <a:latin typeface="Calibri"/>
              <a:ea typeface="Calibri"/>
              <a:cs typeface="Calibri"/>
              <a:sym typeface="Calibri"/>
            </a:endParaRPr>
          </a:p>
        </p:txBody>
      </p:sp>
      <p:sp>
        <p:nvSpPr>
          <p:cNvPr id="266" name="Google Shape;266;p20"/>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Robertson and Pearson injected brief current pulses into interneurons </a:t>
            </a:r>
            <a:r>
              <a:rPr b="1" i="0" lang="en-US" sz="1800" u="none" cap="none" strike="noStrike">
                <a:solidFill>
                  <a:srgbClr val="242A31"/>
                </a:solidFill>
                <a:latin typeface="Arial"/>
                <a:ea typeface="Arial"/>
                <a:cs typeface="Arial"/>
                <a:sym typeface="Arial"/>
              </a:rPr>
              <a:t>301</a:t>
            </a:r>
            <a:r>
              <a:rPr b="0" i="0" lang="en-US" sz="1800" u="none" cap="none" strike="noStrike">
                <a:solidFill>
                  <a:srgbClr val="242A31"/>
                </a:solidFill>
                <a:latin typeface="Arial"/>
                <a:ea typeface="Arial"/>
                <a:cs typeface="Arial"/>
                <a:sym typeface="Arial"/>
              </a:rPr>
              <a:t> and </a:t>
            </a:r>
            <a:r>
              <a:rPr b="1" i="0" lang="en-US" sz="1800" u="none" cap="none" strike="noStrike">
                <a:solidFill>
                  <a:srgbClr val="242A31"/>
                </a:solidFill>
                <a:latin typeface="Arial"/>
                <a:ea typeface="Arial"/>
                <a:cs typeface="Arial"/>
                <a:sym typeface="Arial"/>
              </a:rPr>
              <a:t>501</a:t>
            </a:r>
            <a:r>
              <a:rPr b="0" i="0" lang="en-US" sz="1800" u="none" cap="none" strike="noStrike">
                <a:solidFill>
                  <a:srgbClr val="242A31"/>
                </a:solidFill>
                <a:latin typeface="Arial"/>
                <a:ea typeface="Arial"/>
                <a:cs typeface="Arial"/>
                <a:sym typeface="Arial"/>
              </a:rPr>
              <a:t> during flight-pattern activity. Both could reset the rhythm, establishing access to the network that organizes successive cycles.</a:t>
            </a:r>
            <a:endParaRPr b="0" i="0" sz="1800" u="none" cap="none" strike="noStrike">
              <a:solidFill>
                <a:schemeClr val="dk1"/>
              </a:solidFill>
              <a:latin typeface="Calibri"/>
              <a:ea typeface="Calibri"/>
              <a:cs typeface="Calibri"/>
              <a:sym typeface="Calibri"/>
            </a:endParaRPr>
          </a:p>
        </p:txBody>
      </p:sp>
      <p:sp>
        <p:nvSpPr>
          <p:cNvPr id="267" name="Google Shape;267;p20"/>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 </a:t>
            </a:r>
            <a:r>
              <a:rPr b="1" i="0" lang="en-US" sz="1800" u="none" cap="none" strike="noStrike">
                <a:solidFill>
                  <a:srgbClr val="242A31"/>
                </a:solidFill>
                <a:latin typeface="Arial"/>
                <a:ea typeface="Arial"/>
                <a:cs typeface="Arial"/>
                <a:sym typeface="Arial"/>
              </a:rPr>
              <a:t>phase-resetting response</a:t>
            </a:r>
            <a:r>
              <a:rPr b="0" i="0" lang="en-US" sz="1800" u="none" cap="none" strike="noStrike">
                <a:solidFill>
                  <a:srgbClr val="242A31"/>
                </a:solidFill>
                <a:latin typeface="Arial"/>
                <a:ea typeface="Arial"/>
                <a:cs typeface="Arial"/>
                <a:sym typeface="Arial"/>
              </a:rPr>
              <a:t> depends on when in the ongoing cycle the perturbation is delivered. The same input can have different effects when recipient neurons are depolarized, inhibited, or recovering from the preceding burst.</a:t>
            </a:r>
            <a:endParaRPr b="0" i="0" sz="1800" u="none" cap="none" strike="noStrike">
              <a:solidFill>
                <a:schemeClr val="dk1"/>
              </a:solidFill>
              <a:latin typeface="Calibri"/>
              <a:ea typeface="Calibri"/>
              <a:cs typeface="Calibri"/>
              <a:sym typeface="Calibri"/>
            </a:endParaRPr>
          </a:p>
        </p:txBody>
      </p:sp>
      <p:sp>
        <p:nvSpPr>
          <p:cNvPr id="268" name="Google Shape;268;p20"/>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Resetting is stronger evidence for participation in rhythm generation than phase-locked firing alone. It still does not establish that the stimulated neuron is an autonomous pacemaker, because a pulse can reset a recurrent network through one of its connected elements.</a:t>
            </a:r>
            <a:endParaRPr b="0" i="0" sz="1800" u="none" cap="none" strike="noStrike">
              <a:solidFill>
                <a:schemeClr val="dk1"/>
              </a:solidFill>
              <a:latin typeface="Calibri"/>
              <a:ea typeface="Calibri"/>
              <a:cs typeface="Calibri"/>
              <a:sym typeface="Calibri"/>
            </a:endParaRPr>
          </a:p>
        </p:txBody>
      </p:sp>
      <p:pic>
        <p:nvPicPr>
          <p:cNvPr id="269" name="Google Shape;269;p20"/>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270" name="Google Shape;270;p20"/>
          <p:cNvSpPr/>
          <p:nvPr/>
        </p:nvSpPr>
        <p:spPr>
          <a:xfrm>
            <a:off x="571500" y="6434138"/>
            <a:ext cx="1894731"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Robertson &amp; Pearson (1985)</a:t>
            </a:r>
            <a:endParaRPr b="0" i="0" sz="1800" u="none" cap="none" strike="noStrike">
              <a:solidFill>
                <a:schemeClr val="dk1"/>
              </a:solidFill>
              <a:latin typeface="Calibri"/>
              <a:ea typeface="Calibri"/>
              <a:cs typeface="Calibri"/>
              <a:sym typeface="Calibri"/>
            </a:endParaRPr>
          </a:p>
        </p:txBody>
      </p:sp>
      <p:sp>
        <p:nvSpPr>
          <p:cNvPr id="271" name="Google Shape;271;p20"/>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20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75" name="Shape 275"/>
        <p:cNvGrpSpPr/>
        <p:nvPr/>
      </p:nvGrpSpPr>
      <p:grpSpPr>
        <a:xfrm>
          <a:off x="0" y="0"/>
          <a:ext cx="0" cy="0"/>
          <a:chOff x="0" y="0"/>
          <a:chExt cx="0" cy="0"/>
        </a:xfrm>
      </p:grpSpPr>
      <p:sp>
        <p:nvSpPr>
          <p:cNvPr id="276" name="Google Shape;276;p21"/>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Delayed excitation can be produced by disinhibition</a:t>
            </a:r>
            <a:endParaRPr b="0" i="0" sz="1800" u="none" cap="none" strike="noStrike">
              <a:solidFill>
                <a:schemeClr val="dk1"/>
              </a:solidFill>
              <a:latin typeface="Calibri"/>
              <a:ea typeface="Calibri"/>
              <a:cs typeface="Calibri"/>
              <a:sym typeface="Calibri"/>
            </a:endParaRPr>
          </a:p>
        </p:txBody>
      </p:sp>
      <p:sp>
        <p:nvSpPr>
          <p:cNvPr id="277" name="Google Shape;277;p21"/>
          <p:cNvSpPr/>
          <p:nvPr/>
        </p:nvSpPr>
        <p:spPr>
          <a:xfrm>
            <a:off x="571500" y="1428750"/>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Paired intracellular recordings showed an asymmetric interaction: interneuron 501 inhibited 301 with short latency, whereas activating 301 produced a strong but delayed excitatory effect in 501.</a:t>
            </a:r>
            <a:endParaRPr b="0" i="0" sz="1800" u="none" cap="none" strike="noStrike">
              <a:solidFill>
                <a:schemeClr val="dk1"/>
              </a:solidFill>
              <a:latin typeface="Calibri"/>
              <a:ea typeface="Calibri"/>
              <a:cs typeface="Calibri"/>
              <a:sym typeface="Calibri"/>
            </a:endParaRPr>
          </a:p>
        </p:txBody>
      </p:sp>
      <p:sp>
        <p:nvSpPr>
          <p:cNvPr id="278" name="Google Shape;278;p21"/>
          <p:cNvSpPr/>
          <p:nvPr/>
        </p:nvSpPr>
        <p:spPr>
          <a:xfrm>
            <a:off x="571500" y="2137172"/>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delayed response in 501 reversed when that cell was hyperpolarized. Picrotoxin blocked the delayed excitation and also blocked inhibitory responses produced by 301 in other cells. These observations motivated an indirect mechanism.</a:t>
            </a:r>
            <a:endParaRPr b="0" i="0" sz="1800" u="none" cap="none" strike="noStrike">
              <a:solidFill>
                <a:schemeClr val="dk1"/>
              </a:solidFill>
              <a:latin typeface="Calibri"/>
              <a:ea typeface="Calibri"/>
              <a:cs typeface="Calibri"/>
              <a:sym typeface="Calibri"/>
            </a:endParaRPr>
          </a:p>
        </p:txBody>
      </p:sp>
      <p:sp>
        <p:nvSpPr>
          <p:cNvPr id="279" name="Google Shape;279;p21"/>
          <p:cNvSpPr/>
          <p:nvPr/>
        </p:nvSpPr>
        <p:spPr>
          <a:xfrm>
            <a:off x="571500" y="3142655"/>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In the proposed circuit, 301 inhibits an unidentified neuron that normally releases inhibitory transmitter onto 501. Reducing this tonic inhibition allows 501 to depolarize. </a:t>
            </a:r>
            <a:r>
              <a:rPr b="1" i="0" lang="en-US" sz="1800" u="none" cap="none" strike="noStrike">
                <a:solidFill>
                  <a:srgbClr val="242A31"/>
                </a:solidFill>
                <a:latin typeface="Arial"/>
                <a:ea typeface="Arial"/>
                <a:cs typeface="Arial"/>
                <a:sym typeface="Arial"/>
              </a:rPr>
              <a:t>Disinhibition</a:t>
            </a:r>
            <a:r>
              <a:rPr b="0" i="0" lang="en-US" sz="1800" u="none" cap="none" strike="noStrike">
                <a:solidFill>
                  <a:srgbClr val="242A31"/>
                </a:solidFill>
                <a:latin typeface="Arial"/>
                <a:ea typeface="Arial"/>
                <a:cs typeface="Arial"/>
                <a:sym typeface="Arial"/>
              </a:rPr>
              <a:t> is excitation achieved by suppressing an inhibitory influence.</a:t>
            </a:r>
            <a:endParaRPr b="0" i="0" sz="1800" u="none" cap="none" strike="noStrike">
              <a:solidFill>
                <a:schemeClr val="dk1"/>
              </a:solidFill>
              <a:latin typeface="Calibri"/>
              <a:ea typeface="Calibri"/>
              <a:cs typeface="Calibri"/>
              <a:sym typeface="Calibri"/>
            </a:endParaRPr>
          </a:p>
        </p:txBody>
      </p:sp>
      <p:sp>
        <p:nvSpPr>
          <p:cNvPr id="280" name="Google Shape;280;p21"/>
          <p:cNvSpPr/>
          <p:nvPr/>
        </p:nvSpPr>
        <p:spPr>
          <a:xfrm>
            <a:off x="571500" y="4148138"/>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intermediate neuron and its complete molecular signaling pathway were not identified. Picrotoxin sensitivity supports involvement of an inhibitory conductance, but does not justify assigning a particular receptor subunit or treating the proposed disynaptic pathway as a fully established wiring diagram.</a:t>
            </a:r>
            <a:endParaRPr b="0" i="0" sz="1800" u="none" cap="none" strike="noStrike">
              <a:solidFill>
                <a:schemeClr val="dk1"/>
              </a:solidFill>
              <a:latin typeface="Calibri"/>
              <a:ea typeface="Calibri"/>
              <a:cs typeface="Calibri"/>
              <a:sym typeface="Calibri"/>
            </a:endParaRPr>
          </a:p>
        </p:txBody>
      </p:sp>
      <p:pic>
        <p:nvPicPr>
          <p:cNvPr id="281" name="Google Shape;281;p21"/>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282" name="Google Shape;282;p21"/>
          <p:cNvSpPr/>
          <p:nvPr/>
        </p:nvSpPr>
        <p:spPr>
          <a:xfrm>
            <a:off x="571500" y="6434138"/>
            <a:ext cx="1894731"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Robertson &amp; Pearson (1985)</a:t>
            </a:r>
            <a:endParaRPr b="0" i="0" sz="1800" u="none" cap="none" strike="noStrike">
              <a:solidFill>
                <a:schemeClr val="dk1"/>
              </a:solidFill>
              <a:latin typeface="Calibri"/>
              <a:ea typeface="Calibri"/>
              <a:cs typeface="Calibri"/>
              <a:sym typeface="Calibri"/>
            </a:endParaRPr>
          </a:p>
        </p:txBody>
      </p:sp>
      <p:sp>
        <p:nvSpPr>
          <p:cNvPr id="283" name="Google Shape;283;p21"/>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21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87" name="Shape 287"/>
        <p:cNvGrpSpPr/>
        <p:nvPr/>
      </p:nvGrpSpPr>
      <p:grpSpPr>
        <a:xfrm>
          <a:off x="0" y="0"/>
          <a:ext cx="0" cy="0"/>
          <a:chOff x="0" y="0"/>
          <a:chExt cx="0" cy="0"/>
        </a:xfrm>
      </p:grpSpPr>
      <p:sp>
        <p:nvSpPr>
          <p:cNvPr id="288" name="Google Shape;288;p22"/>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A spiking interneuron can also communicate below threshold</a:t>
            </a:r>
            <a:endParaRPr b="0" i="0" sz="1800" u="none" cap="none" strike="noStrike">
              <a:solidFill>
                <a:schemeClr val="dk1"/>
              </a:solidFill>
              <a:latin typeface="Calibri"/>
              <a:ea typeface="Calibri"/>
              <a:cs typeface="Calibri"/>
              <a:sym typeface="Calibri"/>
            </a:endParaRPr>
          </a:p>
        </p:txBody>
      </p:sp>
      <p:sp>
        <p:nvSpPr>
          <p:cNvPr id="289" name="Google Shape;289;p22"/>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An action potential is an all-or-none event, but local synaptic output need not depend exclusively on action potentials. </a:t>
            </a:r>
            <a:r>
              <a:rPr b="1" i="0" lang="en-US" sz="1800" u="none" cap="none" strike="noStrike">
                <a:solidFill>
                  <a:srgbClr val="242A31"/>
                </a:solidFill>
                <a:latin typeface="Arial"/>
                <a:ea typeface="Arial"/>
                <a:cs typeface="Arial"/>
                <a:sym typeface="Arial"/>
              </a:rPr>
              <a:t>Graded transmission</a:t>
            </a:r>
            <a:r>
              <a:rPr b="0" i="0" lang="en-US" sz="1800" u="none" cap="none" strike="noStrike">
                <a:solidFill>
                  <a:srgbClr val="242A31"/>
                </a:solidFill>
                <a:latin typeface="Arial"/>
                <a:ea typeface="Arial"/>
                <a:cs typeface="Arial"/>
                <a:sym typeface="Arial"/>
              </a:rPr>
              <a:t> means that transmitter release varies continuously with presynaptic membrane potential.</a:t>
            </a:r>
            <a:endParaRPr b="0" i="0" sz="1800" u="none" cap="none" strike="noStrike">
              <a:solidFill>
                <a:schemeClr val="dk1"/>
              </a:solidFill>
              <a:latin typeface="Calibri"/>
              <a:ea typeface="Calibri"/>
              <a:cs typeface="Calibri"/>
              <a:sym typeface="Calibri"/>
            </a:endParaRPr>
          </a:p>
        </p:txBody>
      </p:sp>
      <p:sp>
        <p:nvSpPr>
          <p:cNvPr id="290" name="Google Shape;290;p22"/>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Robertson and Reye compared subthreshold and suprathreshold current injection into interneuron 301. Subthreshold changes affected local feedback to the stimulated cell, whereas spike-generating stimulation also affected the contralateral 301 pathway.</a:t>
            </a:r>
            <a:endParaRPr b="0" i="0" sz="1800" u="none" cap="none" strike="noStrike">
              <a:solidFill>
                <a:schemeClr val="dk1"/>
              </a:solidFill>
              <a:latin typeface="Calibri"/>
              <a:ea typeface="Calibri"/>
              <a:cs typeface="Calibri"/>
              <a:sym typeface="Calibri"/>
            </a:endParaRPr>
          </a:p>
        </p:txBody>
      </p:sp>
      <p:sp>
        <p:nvSpPr>
          <p:cNvPr id="291" name="Google Shape;291;p22"/>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This distinction supports local graded interactions within a neuron that also sends spikes through longer pathways. A cell therefore cannot be classified as using only graded signals merely because it has local branches, or only spikes merely because it generates action potentials.</a:t>
            </a:r>
            <a:endParaRPr b="0" i="0" sz="1800" u="none" cap="none" strike="noStrike">
              <a:solidFill>
                <a:schemeClr val="dk1"/>
              </a:solidFill>
              <a:latin typeface="Calibri"/>
              <a:ea typeface="Calibri"/>
              <a:cs typeface="Calibri"/>
              <a:sym typeface="Calibri"/>
            </a:endParaRPr>
          </a:p>
        </p:txBody>
      </p:sp>
      <p:sp>
        <p:nvSpPr>
          <p:cNvPr id="292" name="Google Shape;292;p22"/>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For the flight circuit, subthreshold voltage can regulate recurrent inhibition before a propagated spike occurs. Intracellular recordings are essential here: an extracellular spike train alone would miss the membrane-potential changes that contribute to local network dynamics.</a:t>
            </a:r>
            <a:endParaRPr b="0" i="0" sz="1800" u="none" cap="none" strike="noStrike">
              <a:solidFill>
                <a:schemeClr val="dk1"/>
              </a:solidFill>
              <a:latin typeface="Calibri"/>
              <a:ea typeface="Calibri"/>
              <a:cs typeface="Calibri"/>
              <a:sym typeface="Calibri"/>
            </a:endParaRPr>
          </a:p>
        </p:txBody>
      </p:sp>
      <p:pic>
        <p:nvPicPr>
          <p:cNvPr id="293" name="Google Shape;293;p22"/>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294" name="Google Shape;294;p22"/>
          <p:cNvSpPr/>
          <p:nvPr/>
        </p:nvSpPr>
        <p:spPr>
          <a:xfrm>
            <a:off x="571500" y="6434138"/>
            <a:ext cx="1665387"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Robertson &amp; Reye (1988)</a:t>
            </a:r>
            <a:endParaRPr b="0" i="0" sz="1800" u="none" cap="none" strike="noStrike">
              <a:solidFill>
                <a:schemeClr val="dk1"/>
              </a:solidFill>
              <a:latin typeface="Calibri"/>
              <a:ea typeface="Calibri"/>
              <a:cs typeface="Calibri"/>
              <a:sym typeface="Calibri"/>
            </a:endParaRPr>
          </a:p>
        </p:txBody>
      </p:sp>
      <p:sp>
        <p:nvSpPr>
          <p:cNvPr id="295" name="Google Shape;295;p22"/>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22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99" name="Shape 299"/>
        <p:cNvGrpSpPr/>
        <p:nvPr/>
      </p:nvGrpSpPr>
      <p:grpSpPr>
        <a:xfrm>
          <a:off x="0" y="0"/>
          <a:ext cx="0" cy="0"/>
          <a:chOff x="0" y="0"/>
          <a:chExt cx="0" cy="0"/>
        </a:xfrm>
      </p:grpSpPr>
      <p:sp>
        <p:nvSpPr>
          <p:cNvPr id="300" name="Google Shape;300;p23"/>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Wing stretch receptors provide movement-dependent negative feedback</a:t>
            </a:r>
            <a:endParaRPr b="0" i="0" sz="1800" u="none" cap="none" strike="noStrike">
              <a:solidFill>
                <a:schemeClr val="dk1"/>
              </a:solidFill>
              <a:latin typeface="Calibri"/>
              <a:ea typeface="Calibri"/>
              <a:cs typeface="Calibri"/>
              <a:sym typeface="Calibri"/>
            </a:endParaRPr>
          </a:p>
        </p:txBody>
      </p:sp>
      <p:sp>
        <p:nvSpPr>
          <p:cNvPr id="301" name="Google Shape;301;p23"/>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Burrows recorded the wing stretch receptor together with identified motoneurons. Wing elevation and its velocity altered sensory discharge. A receptor spike excited ipsilateral depressors and inhibited elevator motoneurons.</a:t>
            </a:r>
            <a:endParaRPr b="0" i="0" sz="1800" u="none" cap="none" strike="noStrike">
              <a:solidFill>
                <a:schemeClr val="dk1"/>
              </a:solidFill>
              <a:latin typeface="Calibri"/>
              <a:ea typeface="Calibri"/>
              <a:cs typeface="Calibri"/>
              <a:sym typeface="Calibri"/>
            </a:endParaRPr>
          </a:p>
        </p:txBody>
      </p:sp>
      <p:sp>
        <p:nvSpPr>
          <p:cNvPr id="302" name="Google Shape;302;p23"/>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At the connection to depressor motoneuron </a:t>
            </a:r>
            <a:r>
              <a:rPr b="1" i="0" lang="en-US" sz="1800" u="none" cap="none" strike="noStrike">
                <a:solidFill>
                  <a:srgbClr val="242A31"/>
                </a:solidFill>
                <a:latin typeface="Arial"/>
                <a:ea typeface="Arial"/>
                <a:cs typeface="Arial"/>
                <a:sym typeface="Arial"/>
              </a:rPr>
              <a:t>BA1</a:t>
            </a:r>
            <a:r>
              <a:rPr b="0" i="0" lang="en-US" sz="1800" u="none" cap="none" strike="noStrike">
                <a:solidFill>
                  <a:srgbClr val="242A31"/>
                </a:solidFill>
                <a:latin typeface="Arial"/>
                <a:ea typeface="Arial"/>
                <a:cs typeface="Arial"/>
                <a:sym typeface="Arial"/>
              </a:rPr>
              <a:t>, the excitatory postsynaptic potential followed with an approximately </a:t>
            </a:r>
            <a:r>
              <a:rPr b="1" i="0" lang="en-US" sz="1800" u="none" cap="none" strike="noStrike">
                <a:solidFill>
                  <a:srgbClr val="242A31"/>
                </a:solidFill>
                <a:latin typeface="Arial"/>
                <a:ea typeface="Arial"/>
                <a:cs typeface="Arial"/>
                <a:sym typeface="Arial"/>
              </a:rPr>
              <a:t>1 ms latency</a:t>
            </a:r>
            <a:r>
              <a:rPr b="0" i="0" lang="en-US" sz="1800" u="none" cap="none" strike="noStrike">
                <a:solidFill>
                  <a:srgbClr val="242A31"/>
                </a:solidFill>
                <a:latin typeface="Arial"/>
                <a:ea typeface="Arial"/>
                <a:cs typeface="Arial"/>
                <a:sym typeface="Arial"/>
              </a:rPr>
              <a:t>, remained tightly timed, and followed stimulation at up to 125 Hz. This supported a direct, monosynaptic connection.</a:t>
            </a:r>
            <a:endParaRPr b="0" i="0" sz="1800" u="none" cap="none" strike="noStrike">
              <a:solidFill>
                <a:schemeClr val="dk1"/>
              </a:solidFill>
              <a:latin typeface="Calibri"/>
              <a:ea typeface="Calibri"/>
              <a:cs typeface="Calibri"/>
              <a:sym typeface="Calibri"/>
            </a:endParaRPr>
          </a:p>
        </p:txBody>
      </p:sp>
      <p:sp>
        <p:nvSpPr>
          <p:cNvPr id="303" name="Google Shape;303;p23"/>
          <p:cNvSpPr/>
          <p:nvPr/>
        </p:nvSpPr>
        <p:spPr>
          <a:xfrm>
            <a:off x="571500" y="3439716"/>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An </a:t>
            </a:r>
            <a:r>
              <a:rPr b="1" i="0" lang="en-US" sz="1800" u="none" cap="none" strike="noStrike">
                <a:solidFill>
                  <a:srgbClr val="242A31"/>
                </a:solidFill>
                <a:latin typeface="Arial"/>
                <a:ea typeface="Arial"/>
                <a:cs typeface="Arial"/>
                <a:sym typeface="Arial"/>
              </a:rPr>
              <a:t>EPSP</a:t>
            </a:r>
            <a:r>
              <a:rPr b="0" i="0" lang="en-US" sz="1800" u="none" cap="none" strike="noStrike">
                <a:solidFill>
                  <a:srgbClr val="242A31"/>
                </a:solidFill>
                <a:latin typeface="Arial"/>
                <a:ea typeface="Arial"/>
                <a:cs typeface="Arial"/>
                <a:sym typeface="Arial"/>
              </a:rPr>
              <a:t> increases the probability of postsynaptic firing; an </a:t>
            </a:r>
            <a:r>
              <a:rPr b="1" i="0" lang="en-US" sz="1800" u="none" cap="none" strike="noStrike">
                <a:solidFill>
                  <a:srgbClr val="242A31"/>
                </a:solidFill>
                <a:latin typeface="Arial"/>
                <a:ea typeface="Arial"/>
                <a:cs typeface="Arial"/>
                <a:sym typeface="Arial"/>
              </a:rPr>
              <a:t>IPSP</a:t>
            </a:r>
            <a:r>
              <a:rPr b="0" i="0" lang="en-US" sz="1800" u="none" cap="none" strike="noStrike">
                <a:solidFill>
                  <a:srgbClr val="242A31"/>
                </a:solidFill>
                <a:latin typeface="Arial"/>
                <a:ea typeface="Arial"/>
                <a:cs typeface="Arial"/>
                <a:sym typeface="Arial"/>
              </a:rPr>
              <a:t> reduces it. The longer 4–6 ms latency of elevator inhibition did not provide equivalent evidence for a direct connection.</a:t>
            </a:r>
            <a:endParaRPr b="0" i="0" sz="1800" u="none" cap="none" strike="noStrike">
              <a:solidFill>
                <a:schemeClr val="dk1"/>
              </a:solidFill>
              <a:latin typeface="Calibri"/>
              <a:ea typeface="Calibri"/>
              <a:cs typeface="Calibri"/>
              <a:sym typeface="Calibri"/>
            </a:endParaRPr>
          </a:p>
        </p:txBody>
      </p:sp>
      <p:sp>
        <p:nvSpPr>
          <p:cNvPr id="304" name="Google Shape;304;p23"/>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functional sign is negative feedback: increasing elevation activates a pathway that favors depression and opposes further elevation. This sensory signal can help terminate one movement phase while the central network continues to generate the recurring sequence.</a:t>
            </a:r>
            <a:endParaRPr b="0" i="0" sz="1800" u="none" cap="none" strike="noStrike">
              <a:solidFill>
                <a:schemeClr val="dk1"/>
              </a:solidFill>
              <a:latin typeface="Calibri"/>
              <a:ea typeface="Calibri"/>
              <a:cs typeface="Calibri"/>
              <a:sym typeface="Calibri"/>
            </a:endParaRPr>
          </a:p>
        </p:txBody>
      </p:sp>
      <p:pic>
        <p:nvPicPr>
          <p:cNvPr id="305" name="Google Shape;305;p23"/>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06" name="Google Shape;306;p23"/>
          <p:cNvSpPr/>
          <p:nvPr/>
        </p:nvSpPr>
        <p:spPr>
          <a:xfrm>
            <a:off x="571500" y="6434138"/>
            <a:ext cx="1029593"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Burrows (1975)</a:t>
            </a:r>
            <a:endParaRPr b="0" i="0" sz="1800" u="none" cap="none" strike="noStrike">
              <a:solidFill>
                <a:schemeClr val="dk1"/>
              </a:solidFill>
              <a:latin typeface="Calibri"/>
              <a:ea typeface="Calibri"/>
              <a:cs typeface="Calibri"/>
              <a:sym typeface="Calibri"/>
            </a:endParaRPr>
          </a:p>
        </p:txBody>
      </p:sp>
      <p:sp>
        <p:nvSpPr>
          <p:cNvPr id="307" name="Google Shape;307;p23"/>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23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11" name="Shape 311"/>
        <p:cNvGrpSpPr/>
        <p:nvPr/>
      </p:nvGrpSpPr>
      <p:grpSpPr>
        <a:xfrm>
          <a:off x="0" y="0"/>
          <a:ext cx="0" cy="0"/>
          <a:chOff x="0" y="0"/>
          <a:chExt cx="0" cy="0"/>
        </a:xfrm>
      </p:grpSpPr>
      <p:sp>
        <p:nvSpPr>
          <p:cNvPr id="312" name="Google Shape;312;p24"/>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The tegula reports a specific part of the wing cycle</a:t>
            </a:r>
            <a:endParaRPr b="0" i="0" sz="1800" u="none" cap="none" strike="noStrike">
              <a:solidFill>
                <a:schemeClr val="dk1"/>
              </a:solidFill>
              <a:latin typeface="Calibri"/>
              <a:ea typeface="Calibri"/>
              <a:cs typeface="Calibri"/>
              <a:sym typeface="Calibri"/>
            </a:endParaRPr>
          </a:p>
        </p:txBody>
      </p:sp>
      <p:sp>
        <p:nvSpPr>
          <p:cNvPr id="313" name="Google Shape;313;p24"/>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a:t>
            </a:r>
            <a:r>
              <a:rPr b="1" i="0" lang="en-US" sz="1800" u="none" cap="none" strike="noStrike">
                <a:solidFill>
                  <a:srgbClr val="242A31"/>
                </a:solidFill>
                <a:latin typeface="Arial"/>
                <a:ea typeface="Arial"/>
                <a:cs typeface="Arial"/>
                <a:sym typeface="Arial"/>
              </a:rPr>
              <a:t>tegula</a:t>
            </a:r>
            <a:r>
              <a:rPr b="0" i="0" lang="en-US" sz="1800" u="none" cap="none" strike="noStrike">
                <a:solidFill>
                  <a:srgbClr val="242A31"/>
                </a:solidFill>
                <a:latin typeface="Arial"/>
                <a:ea typeface="Arial"/>
                <a:cs typeface="Arial"/>
                <a:sym typeface="Arial"/>
              </a:rPr>
              <a:t> is a mechanosensory structure at the wing base. Wing movement deforms its sensory apparatus, producing a burst of afferent spikes during the downstroke. It supplies proprioception: information about the animal’s own movement.</a:t>
            </a:r>
            <a:endParaRPr b="0" i="0" sz="1800" u="none" cap="none" strike="noStrike">
              <a:solidFill>
                <a:schemeClr val="dk1"/>
              </a:solidFill>
              <a:latin typeface="Calibri"/>
              <a:ea typeface="Calibri"/>
              <a:cs typeface="Calibri"/>
              <a:sym typeface="Calibri"/>
            </a:endParaRPr>
          </a:p>
        </p:txBody>
      </p:sp>
      <p:sp>
        <p:nvSpPr>
          <p:cNvPr id="314" name="Google Shape;314;p24"/>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Fischer, Wolf, and Büschges measured the three-dimensional movement of the tegula together with sensory activity. Burst latency and duration depended on the mechanical trajectory and angular velocity of the wing.</a:t>
            </a:r>
            <a:endParaRPr b="0" i="0" sz="1800" u="none" cap="none" strike="noStrike">
              <a:solidFill>
                <a:schemeClr val="dk1"/>
              </a:solidFill>
              <a:latin typeface="Calibri"/>
              <a:ea typeface="Calibri"/>
              <a:cs typeface="Calibri"/>
              <a:sym typeface="Calibri"/>
            </a:endParaRPr>
          </a:p>
        </p:txBody>
      </p:sp>
      <p:sp>
        <p:nvSpPr>
          <p:cNvPr id="315" name="Google Shape;315;p24"/>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timing of the burst remained approximately tied to a particular phase of the wing cycle and was relatively independent of stroke amplitude under the tested conditions. Thus the tegula is better understood as a dynamic movement sensor than as a switch triggered at one universal wing angle.</a:t>
            </a:r>
            <a:endParaRPr b="0" i="0" sz="1800" u="none" cap="none" strike="noStrike">
              <a:solidFill>
                <a:schemeClr val="dk1"/>
              </a:solidFill>
              <a:latin typeface="Calibri"/>
              <a:ea typeface="Calibri"/>
              <a:cs typeface="Calibri"/>
              <a:sym typeface="Calibri"/>
            </a:endParaRPr>
          </a:p>
        </p:txBody>
      </p:sp>
      <p:sp>
        <p:nvSpPr>
          <p:cNvPr id="316" name="Google Shape;316;p24"/>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This coding property is useful because the network must know when the downstroke has progressed far enough to begin preparing elevation. A mechanically generated signal can align the neural transition with the actual movement, even when aerodynamic loading changes.</a:t>
            </a:r>
            <a:endParaRPr b="0" i="0" sz="1800" u="none" cap="none" strike="noStrike">
              <a:solidFill>
                <a:schemeClr val="dk1"/>
              </a:solidFill>
              <a:latin typeface="Calibri"/>
              <a:ea typeface="Calibri"/>
              <a:cs typeface="Calibri"/>
              <a:sym typeface="Calibri"/>
            </a:endParaRPr>
          </a:p>
        </p:txBody>
      </p:sp>
      <p:pic>
        <p:nvPicPr>
          <p:cNvPr id="317" name="Google Shape;317;p24"/>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18" name="Google Shape;318;p24"/>
          <p:cNvSpPr/>
          <p:nvPr/>
        </p:nvSpPr>
        <p:spPr>
          <a:xfrm>
            <a:off x="571500" y="6434138"/>
            <a:ext cx="130656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Fischer et al. (2002)</a:t>
            </a:r>
            <a:endParaRPr b="0" i="0" sz="1800" u="none" cap="none" strike="noStrike">
              <a:solidFill>
                <a:schemeClr val="dk1"/>
              </a:solidFill>
              <a:latin typeface="Calibri"/>
              <a:ea typeface="Calibri"/>
              <a:cs typeface="Calibri"/>
              <a:sym typeface="Calibri"/>
            </a:endParaRPr>
          </a:p>
        </p:txBody>
      </p:sp>
      <p:sp>
        <p:nvSpPr>
          <p:cNvPr id="319" name="Google Shape;319;p24"/>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24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23" name="Shape 323"/>
        <p:cNvGrpSpPr/>
        <p:nvPr/>
      </p:nvGrpSpPr>
      <p:grpSpPr>
        <a:xfrm>
          <a:off x="0" y="0"/>
          <a:ext cx="0" cy="0"/>
          <a:chOff x="0" y="0"/>
          <a:chExt cx="0" cy="0"/>
        </a:xfrm>
      </p:grpSpPr>
      <p:sp>
        <p:nvSpPr>
          <p:cNvPr id="324" name="Google Shape;324;p25"/>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Tegula input recruits elevators through direct and indirect paths</a:t>
            </a:r>
            <a:endParaRPr b="0" i="0" sz="1800" u="none" cap="none" strike="noStrike">
              <a:solidFill>
                <a:schemeClr val="dk1"/>
              </a:solidFill>
              <a:latin typeface="Calibri"/>
              <a:ea typeface="Calibri"/>
              <a:cs typeface="Calibri"/>
              <a:sym typeface="Calibri"/>
            </a:endParaRPr>
          </a:p>
        </p:txBody>
      </p:sp>
      <p:sp>
        <p:nvSpPr>
          <p:cNvPr id="325" name="Google Shape;325;p25"/>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Pearson and Wolf selectively stimulated hindwing tegula afferents in </a:t>
            </a:r>
            <a:r>
              <a:rPr b="1" i="0" lang="en-US" sz="1800" u="none" cap="none" strike="noStrike">
                <a:solidFill>
                  <a:srgbClr val="242A31"/>
                </a:solidFill>
                <a:latin typeface="Arial"/>
                <a:ea typeface="Arial"/>
                <a:cs typeface="Arial"/>
                <a:sym typeface="Arial"/>
              </a:rPr>
              <a:t>Locusta migratoria</a:t>
            </a:r>
            <a:r>
              <a:rPr b="0" i="0" lang="en-US" sz="1800" u="none" cap="none" strike="noStrike">
                <a:solidFill>
                  <a:srgbClr val="242A31"/>
                </a:solidFill>
                <a:latin typeface="Arial"/>
                <a:ea typeface="Arial"/>
                <a:cs typeface="Arial"/>
                <a:sym typeface="Arial"/>
              </a:rPr>
              <a:t> while recording motoneurons and interneurons. Two groups of afferents with different conduction velocities contributed to direct excitation of ipsilateral hindwing elevators.</a:t>
            </a:r>
            <a:endParaRPr b="0" i="0" sz="1800" u="none" cap="none" strike="noStrike">
              <a:solidFill>
                <a:schemeClr val="dk1"/>
              </a:solidFill>
              <a:latin typeface="Calibri"/>
              <a:ea typeface="Calibri"/>
              <a:cs typeface="Calibri"/>
              <a:sym typeface="Calibri"/>
            </a:endParaRPr>
          </a:p>
        </p:txBody>
      </p:sp>
      <p:sp>
        <p:nvSpPr>
          <p:cNvPr id="326" name="Google Shape;326;p25"/>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Other elevator effects, including those reaching the opposite side and the forewing system, involved interneurons. Depressor inhibition also occurred through interneuronal pathways. The same sensory event can therefore coordinate several muscles rather than activating only its nearest target.</a:t>
            </a:r>
            <a:endParaRPr b="0" i="0" sz="1800" u="none" cap="none" strike="noStrike">
              <a:solidFill>
                <a:schemeClr val="dk1"/>
              </a:solidFill>
              <a:latin typeface="Calibri"/>
              <a:ea typeface="Calibri"/>
              <a:cs typeface="Calibri"/>
              <a:sym typeface="Calibri"/>
            </a:endParaRPr>
          </a:p>
        </p:txBody>
      </p:sp>
      <p:sp>
        <p:nvSpPr>
          <p:cNvPr id="327" name="Google Shape;327;p25"/>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Hyperpolarizing a participating interneuron reduced a motoneuron’s tegula-evoked EPSP. This intervention supports a functional relay because suppressing the proposed intermediate weakens transmission to the motor output.</a:t>
            </a:r>
            <a:endParaRPr b="0" i="0" sz="1800" u="none" cap="none" strike="noStrike">
              <a:solidFill>
                <a:schemeClr val="dk1"/>
              </a:solidFill>
              <a:latin typeface="Calibri"/>
              <a:ea typeface="Calibri"/>
              <a:cs typeface="Calibri"/>
              <a:sym typeface="Calibri"/>
            </a:endParaRPr>
          </a:p>
        </p:txBody>
      </p:sp>
      <p:sp>
        <p:nvSpPr>
          <p:cNvPr id="328" name="Google Shape;328;p25"/>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circuit provides a route from downstroke-related sensation to the following elevator phase. Direct and indirect connections must be distinguished experimentally, and connectivity described in one locust species should not automatically be assumed identical in another.</a:t>
            </a:r>
            <a:endParaRPr b="0" i="0" sz="1800" u="none" cap="none" strike="noStrike">
              <a:solidFill>
                <a:schemeClr val="dk1"/>
              </a:solidFill>
              <a:latin typeface="Calibri"/>
              <a:ea typeface="Calibri"/>
              <a:cs typeface="Calibri"/>
              <a:sym typeface="Calibri"/>
            </a:endParaRPr>
          </a:p>
        </p:txBody>
      </p:sp>
      <p:pic>
        <p:nvPicPr>
          <p:cNvPr id="329" name="Google Shape;329;p25"/>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30" name="Google Shape;330;p25"/>
          <p:cNvSpPr/>
          <p:nvPr/>
        </p:nvSpPr>
        <p:spPr>
          <a:xfrm>
            <a:off x="571500" y="6434138"/>
            <a:ext cx="149959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Pearson &amp; Wolf (1988)</a:t>
            </a:r>
            <a:endParaRPr b="0" i="0" sz="1800" u="none" cap="none" strike="noStrike">
              <a:solidFill>
                <a:schemeClr val="dk1"/>
              </a:solidFill>
              <a:latin typeface="Calibri"/>
              <a:ea typeface="Calibri"/>
              <a:cs typeface="Calibri"/>
              <a:sym typeface="Calibri"/>
            </a:endParaRPr>
          </a:p>
        </p:txBody>
      </p:sp>
      <p:sp>
        <p:nvSpPr>
          <p:cNvPr id="331" name="Google Shape;331;p25"/>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25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35" name="Shape 335"/>
        <p:cNvGrpSpPr/>
        <p:nvPr/>
      </p:nvGrpSpPr>
      <p:grpSpPr>
        <a:xfrm>
          <a:off x="0" y="0"/>
          <a:ext cx="0" cy="0"/>
          <a:chOff x="0" y="0"/>
          <a:chExt cx="0" cy="0"/>
        </a:xfrm>
      </p:grpSpPr>
      <p:sp>
        <p:nvSpPr>
          <p:cNvPr id="336" name="Google Shape;336;p26"/>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Removing the tegula changes timing, wing motion, and lift</a:t>
            </a:r>
            <a:endParaRPr b="0" i="0" sz="1800" u="none" cap="none" strike="noStrike">
              <a:solidFill>
                <a:schemeClr val="dk1"/>
              </a:solidFill>
              <a:latin typeface="Calibri"/>
              <a:ea typeface="Calibri"/>
              <a:cs typeface="Calibri"/>
              <a:sym typeface="Calibri"/>
            </a:endParaRPr>
          </a:p>
        </p:txBody>
      </p:sp>
      <p:sp>
        <p:nvSpPr>
          <p:cNvPr id="337" name="Google Shape;337;p26"/>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Wolf combined tegula manipulation with recordings of flight-muscle activity and measurements of wing movement and aerodynamic output. This linked a sensory perturbation to consequences at several levels of the motor system.</a:t>
            </a:r>
            <a:endParaRPr b="0" i="0" sz="1800" u="none" cap="none" strike="noStrike">
              <a:solidFill>
                <a:schemeClr val="dk1"/>
              </a:solidFill>
              <a:latin typeface="Calibri"/>
              <a:ea typeface="Calibri"/>
              <a:cs typeface="Calibri"/>
              <a:sym typeface="Calibri"/>
            </a:endParaRPr>
          </a:p>
        </p:txBody>
      </p:sp>
      <p:sp>
        <p:nvSpPr>
          <p:cNvPr id="338" name="Google Shape;338;p26"/>
          <p:cNvSpPr/>
          <p:nvPr/>
        </p:nvSpPr>
        <p:spPr>
          <a:xfrm>
            <a:off x="571500" y="2434233"/>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After tegula removal, elevator activity occurred later. The wing began its upstroke later and spent longer near the bottom of the stroke. The altered trajectory was associated with reduced net lift.</a:t>
            </a:r>
            <a:endParaRPr b="0" i="0" sz="1800" u="none" cap="none" strike="noStrike">
              <a:solidFill>
                <a:schemeClr val="dk1"/>
              </a:solidFill>
              <a:latin typeface="Calibri"/>
              <a:ea typeface="Calibri"/>
              <a:cs typeface="Calibri"/>
              <a:sym typeface="Calibri"/>
            </a:endParaRPr>
          </a:p>
        </p:txBody>
      </p:sp>
      <p:sp>
        <p:nvSpPr>
          <p:cNvPr id="339" name="Google Shape;339;p26"/>
          <p:cNvSpPr/>
          <p:nvPr/>
        </p:nvSpPr>
        <p:spPr>
          <a:xfrm>
            <a:off x="571500" y="3142655"/>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causal chain is specific: loss of downstroke feedback delays the neural phase transition; the delayed command shifts the mechanical reversal; the changed wing trajectory reduces aerodynamic performance. Persistence of a rhythm is therefore not evidence that the missing feedback was unimportant.</a:t>
            </a:r>
            <a:endParaRPr b="0" i="0" sz="1800" u="none" cap="none" strike="noStrike">
              <a:solidFill>
                <a:schemeClr val="dk1"/>
              </a:solidFill>
              <a:latin typeface="Calibri"/>
              <a:ea typeface="Calibri"/>
              <a:cs typeface="Calibri"/>
              <a:sym typeface="Calibri"/>
            </a:endParaRPr>
          </a:p>
        </p:txBody>
      </p:sp>
      <p:sp>
        <p:nvSpPr>
          <p:cNvPr id="340" name="Google Shape;340;p26"/>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Electrical tegula stimulation could reset the motor pattern toward elevation. This complementary perturbation strengthens the interpretation that tegula input helps determine the downstroke-to-upstroke transition, rather than merely monitoring a transition generated elsewhere.</a:t>
            </a:r>
            <a:endParaRPr b="0" i="0" sz="1800" u="none" cap="none" strike="noStrike">
              <a:solidFill>
                <a:schemeClr val="dk1"/>
              </a:solidFill>
              <a:latin typeface="Calibri"/>
              <a:ea typeface="Calibri"/>
              <a:cs typeface="Calibri"/>
              <a:sym typeface="Calibri"/>
            </a:endParaRPr>
          </a:p>
        </p:txBody>
      </p:sp>
      <p:pic>
        <p:nvPicPr>
          <p:cNvPr id="341" name="Google Shape;341;p26"/>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42" name="Google Shape;342;p26"/>
          <p:cNvSpPr/>
          <p:nvPr/>
        </p:nvSpPr>
        <p:spPr>
          <a:xfrm>
            <a:off x="571500" y="6434138"/>
            <a:ext cx="771376"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Wolf (1993)</a:t>
            </a:r>
            <a:endParaRPr b="0" i="0" sz="1800" u="none" cap="none" strike="noStrike">
              <a:solidFill>
                <a:schemeClr val="dk1"/>
              </a:solidFill>
              <a:latin typeface="Calibri"/>
              <a:ea typeface="Calibri"/>
              <a:cs typeface="Calibri"/>
              <a:sym typeface="Calibri"/>
            </a:endParaRPr>
          </a:p>
        </p:txBody>
      </p:sp>
      <p:sp>
        <p:nvSpPr>
          <p:cNvPr id="343" name="Google Shape;343;p26"/>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26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47" name="Shape 347"/>
        <p:cNvGrpSpPr/>
        <p:nvPr/>
      </p:nvGrpSpPr>
      <p:grpSpPr>
        <a:xfrm>
          <a:off x="0" y="0"/>
          <a:ext cx="0" cy="0"/>
          <a:chOff x="0" y="0"/>
          <a:chExt cx="0" cy="0"/>
        </a:xfrm>
      </p:grpSpPr>
      <p:sp>
        <p:nvSpPr>
          <p:cNvPr id="348" name="Google Shape;348;p27"/>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Tegula stimulation resets both neural and mechanical events</a:t>
            </a:r>
            <a:endParaRPr b="0" i="0" sz="1800" u="none" cap="none" strike="noStrike">
              <a:solidFill>
                <a:schemeClr val="dk1"/>
              </a:solidFill>
              <a:latin typeface="Calibri"/>
              <a:ea typeface="Calibri"/>
              <a:cs typeface="Calibri"/>
              <a:sym typeface="Calibri"/>
            </a:endParaRPr>
          </a:p>
        </p:txBody>
      </p:sp>
      <p:sp>
        <p:nvSpPr>
          <p:cNvPr id="349" name="Google Shape;349;p27"/>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original records superimpose responses to brief tegula stimulation delivered at different phases of flight. </a:t>
            </a:r>
            <a:r>
              <a:rPr b="1" i="0" lang="en-US" sz="1725" u="none" cap="none" strike="noStrike">
                <a:solidFill>
                  <a:srgbClr val="242A31"/>
                </a:solidFill>
                <a:latin typeface="Arial"/>
                <a:ea typeface="Arial"/>
                <a:cs typeface="Arial"/>
                <a:sym typeface="Arial"/>
              </a:rPr>
              <a:t>wp</a:t>
            </a:r>
            <a:r>
              <a:rPr b="0" i="0" lang="en-US" sz="1725" u="none" cap="none" strike="noStrike">
                <a:solidFill>
                  <a:srgbClr val="242A31"/>
                </a:solidFill>
                <a:latin typeface="Arial"/>
                <a:ea typeface="Arial"/>
                <a:cs typeface="Arial"/>
                <a:sym typeface="Arial"/>
              </a:rPr>
              <a:t> denotes wing position; </a:t>
            </a:r>
            <a:r>
              <a:rPr b="1" i="0" lang="en-US" sz="1725" u="none" cap="none" strike="noStrike">
                <a:solidFill>
                  <a:srgbClr val="242A31"/>
                </a:solidFill>
                <a:latin typeface="Arial"/>
                <a:ea typeface="Arial"/>
                <a:cs typeface="Arial"/>
                <a:sym typeface="Arial"/>
              </a:rPr>
              <a:t>EL</a:t>
            </a:r>
            <a:r>
              <a:rPr b="0" i="0" lang="en-US" sz="1725" u="none" cap="none" strike="noStrike">
                <a:solidFill>
                  <a:srgbClr val="242A31"/>
                </a:solidFill>
                <a:latin typeface="Arial"/>
                <a:ea typeface="Arial"/>
                <a:cs typeface="Arial"/>
                <a:sym typeface="Arial"/>
              </a:rPr>
              <a:t> is an elevator motoneuron; EMG traces report muscle activity.</a:t>
            </a:r>
            <a:endParaRPr b="0" i="0" sz="1800" u="none" cap="none" strike="noStrike">
              <a:solidFill>
                <a:schemeClr val="dk1"/>
              </a:solidFill>
              <a:latin typeface="Calibri"/>
              <a:ea typeface="Calibri"/>
              <a:cs typeface="Calibri"/>
              <a:sym typeface="Calibri"/>
            </a:endParaRPr>
          </a:p>
        </p:txBody>
      </p:sp>
      <p:sp>
        <p:nvSpPr>
          <p:cNvPr id="350" name="Google Shape;350;p27"/>
          <p:cNvSpPr/>
          <p:nvPr/>
        </p:nvSpPr>
        <p:spPr>
          <a:xfrm>
            <a:off x="571500" y="2446734"/>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Before stimulation, the traces occupy different phases. After the stimulus train, their subsequent trajectories converge: elevator-related activity and wing movement are brought into a common temporal relationship.</a:t>
            </a:r>
            <a:endParaRPr b="0" i="0" sz="1800" u="none" cap="none" strike="noStrike">
              <a:solidFill>
                <a:schemeClr val="dk1"/>
              </a:solidFill>
              <a:latin typeface="Calibri"/>
              <a:ea typeface="Calibri"/>
              <a:cs typeface="Calibri"/>
              <a:sym typeface="Calibri"/>
            </a:endParaRPr>
          </a:p>
        </p:txBody>
      </p:sp>
      <p:sp>
        <p:nvSpPr>
          <p:cNvPr id="351" name="Google Shape;351;p27"/>
          <p:cNvSpPr/>
          <p:nvPr/>
        </p:nvSpPr>
        <p:spPr>
          <a:xfrm>
            <a:off x="571500" y="3521869"/>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This is a reset of the ongoing sensorimotor cycle, rather than a sensory response that leaves later cycles unchanged. The retained 50 ms scale bar makes the response comparable to a wingbeat period.</a:t>
            </a:r>
            <a:endParaRPr b="0" i="0" sz="1800" u="none" cap="none" strike="noStrike">
              <a:solidFill>
                <a:schemeClr val="dk1"/>
              </a:solidFill>
              <a:latin typeface="Calibri"/>
              <a:ea typeface="Calibri"/>
              <a:cs typeface="Calibri"/>
              <a:sym typeface="Calibri"/>
            </a:endParaRPr>
          </a:p>
        </p:txBody>
      </p:sp>
      <p:sp>
        <p:nvSpPr>
          <p:cNvPr id="352" name="Google Shape;352;p27"/>
          <p:cNvSpPr/>
          <p:nvPr/>
        </p:nvSpPr>
        <p:spPr>
          <a:xfrm>
            <a:off x="571500" y="4597003"/>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experiment shows that proprioception can alter the phase of a centrally generated rhythm. Central generation and strong feedback control are compatible properties of the same flight system.</a:t>
            </a:r>
            <a:endParaRPr b="0" i="0" sz="1800" u="none" cap="none" strike="noStrike">
              <a:solidFill>
                <a:schemeClr val="dk1"/>
              </a:solidFill>
              <a:latin typeface="Calibri"/>
              <a:ea typeface="Calibri"/>
              <a:cs typeface="Calibri"/>
              <a:sym typeface="Calibri"/>
            </a:endParaRPr>
          </a:p>
        </p:txBody>
      </p:sp>
      <p:pic>
        <p:nvPicPr>
          <p:cNvPr id="353" name="Google Shape;353;p27"/>
          <p:cNvPicPr preferRelativeResize="0"/>
          <p:nvPr/>
        </p:nvPicPr>
        <p:blipFill rotWithShape="1">
          <a:blip r:embed="rId3">
            <a:alphaModFix/>
          </a:blip>
          <a:srcRect b="0" l="0" r="0" t="0"/>
          <a:stretch/>
        </p:blipFill>
        <p:spPr>
          <a:xfrm>
            <a:off x="7086600" y="2280393"/>
            <a:ext cx="4533900" cy="2373116"/>
          </a:xfrm>
          <a:prstGeom prst="rect">
            <a:avLst/>
          </a:prstGeom>
          <a:noFill/>
          <a:ln>
            <a:noFill/>
          </a:ln>
        </p:spPr>
      </p:pic>
      <p:sp>
        <p:nvSpPr>
          <p:cNvPr id="354" name="Google Shape;354;p27"/>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2A; Ausborn et al. (2007). Selected recording panel; scale bar: 50 ms.</a:t>
            </a:r>
            <a:endParaRPr b="0" i="0" sz="1800" u="none" cap="none" strike="noStrike">
              <a:solidFill>
                <a:schemeClr val="dk1"/>
              </a:solidFill>
              <a:latin typeface="Calibri"/>
              <a:ea typeface="Calibri"/>
              <a:cs typeface="Calibri"/>
              <a:sym typeface="Calibri"/>
            </a:endParaRPr>
          </a:p>
        </p:txBody>
      </p:sp>
      <p:pic>
        <p:nvPicPr>
          <p:cNvPr id="355" name="Google Shape;355;p27"/>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356" name="Google Shape;356;p27"/>
          <p:cNvSpPr/>
          <p:nvPr/>
        </p:nvSpPr>
        <p:spPr>
          <a:xfrm>
            <a:off x="571500" y="6434138"/>
            <a:ext cx="1400324"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Ausborn et al. (2007)</a:t>
            </a:r>
            <a:endParaRPr b="0" i="0" sz="1800" u="none" cap="none" strike="noStrike">
              <a:solidFill>
                <a:schemeClr val="dk1"/>
              </a:solidFill>
              <a:latin typeface="Calibri"/>
              <a:ea typeface="Calibri"/>
              <a:cs typeface="Calibri"/>
              <a:sym typeface="Calibri"/>
            </a:endParaRPr>
          </a:p>
        </p:txBody>
      </p:sp>
      <p:sp>
        <p:nvSpPr>
          <p:cNvPr id="357" name="Google Shape;357;p27"/>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27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61" name="Shape 361"/>
        <p:cNvGrpSpPr/>
        <p:nvPr/>
      </p:nvGrpSpPr>
      <p:grpSpPr>
        <a:xfrm>
          <a:off x="0" y="0"/>
          <a:ext cx="0" cy="0"/>
          <a:chOff x="0" y="0"/>
          <a:chExt cx="0" cy="0"/>
        </a:xfrm>
      </p:grpSpPr>
      <p:sp>
        <p:nvSpPr>
          <p:cNvPr id="362" name="Google Shape;362;p28"/>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Closed-loop stimulation isolates the strength of feedback</a:t>
            </a:r>
            <a:endParaRPr b="0" i="0" sz="1800" u="none" cap="none" strike="noStrike">
              <a:solidFill>
                <a:schemeClr val="dk1"/>
              </a:solidFill>
              <a:latin typeface="Calibri"/>
              <a:ea typeface="Calibri"/>
              <a:cs typeface="Calibri"/>
              <a:sym typeface="Calibri"/>
            </a:endParaRPr>
          </a:p>
        </p:txBody>
      </p:sp>
      <p:sp>
        <p:nvSpPr>
          <p:cNvPr id="363" name="Google Shape;363;p28"/>
          <p:cNvSpPr/>
          <p:nvPr/>
        </p:nvSpPr>
        <p:spPr>
          <a:xfrm>
            <a:off x="571500" y="1371600"/>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Ausborn and colleagues recorded depressor activity and used each cycle to schedule stimulation of the tegula nerve. The computer adjusted pulse timing and number according to the measured cycle period, closing an artificial sensory feedback loop.</a:t>
            </a:r>
            <a:endParaRPr b="0" i="0" sz="1800" u="none" cap="none" strike="noStrike">
              <a:solidFill>
                <a:schemeClr val="dk1"/>
              </a:solidFill>
              <a:latin typeface="Calibri"/>
              <a:ea typeface="Calibri"/>
              <a:cs typeface="Calibri"/>
              <a:sym typeface="Calibri"/>
            </a:endParaRPr>
          </a:p>
        </p:txBody>
      </p:sp>
      <p:sp>
        <p:nvSpPr>
          <p:cNvPr id="364" name="Google Shape;364;p28"/>
          <p:cNvSpPr/>
          <p:nvPr/>
        </p:nvSpPr>
        <p:spPr>
          <a:xfrm>
            <a:off x="571500" y="2696468"/>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Stimulus voltage controlled afferent recruitment. The compound nerve response increased with stimulus strength. </a:t>
            </a:r>
            <a:r>
              <a:rPr b="1" i="0" lang="en-US" sz="1725" u="none" cap="none" strike="noStrike">
                <a:solidFill>
                  <a:srgbClr val="242A31"/>
                </a:solidFill>
                <a:latin typeface="Arial"/>
                <a:ea typeface="Arial"/>
                <a:cs typeface="Arial"/>
                <a:sym typeface="Arial"/>
              </a:rPr>
              <a:t>C–D:</a:t>
            </a:r>
            <a:r>
              <a:rPr b="0" i="0" lang="en-US" sz="1725" u="none" cap="none" strike="noStrike">
                <a:solidFill>
                  <a:srgbClr val="242A31"/>
                </a:solidFill>
                <a:latin typeface="Arial"/>
                <a:ea typeface="Arial"/>
                <a:cs typeface="Arial"/>
                <a:sym typeface="Arial"/>
              </a:rPr>
              <a:t> EPSPs in interneuron 511 increased correspondingly.</a:t>
            </a:r>
            <a:endParaRPr b="0" i="0" sz="1800" u="none" cap="none" strike="noStrike">
              <a:solidFill>
                <a:schemeClr val="dk1"/>
              </a:solidFill>
              <a:latin typeface="Calibri"/>
              <a:ea typeface="Calibri"/>
              <a:cs typeface="Calibri"/>
              <a:sym typeface="Calibri"/>
            </a:endParaRPr>
          </a:p>
        </p:txBody>
      </p:sp>
      <p:sp>
        <p:nvSpPr>
          <p:cNvPr id="365" name="Google Shape;365;p28"/>
          <p:cNvSpPr/>
          <p:nvPr/>
        </p:nvSpPr>
        <p:spPr>
          <a:xfrm>
            <a:off x="571500" y="3771602"/>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1" i="0" lang="en-US" sz="1725" u="none" cap="none" strike="noStrike">
                <a:solidFill>
                  <a:srgbClr val="242A31"/>
                </a:solidFill>
                <a:latin typeface="Arial"/>
                <a:ea typeface="Arial"/>
                <a:cs typeface="Arial"/>
                <a:sym typeface="Arial"/>
              </a:rPr>
              <a:t>T</a:t>
            </a:r>
            <a:r>
              <a:rPr b="0" i="0" lang="en-US" sz="1725" u="none" cap="none" strike="noStrike">
                <a:solidFill>
                  <a:srgbClr val="242A31"/>
                </a:solidFill>
                <a:latin typeface="Arial"/>
                <a:ea typeface="Arial"/>
                <a:cs typeface="Arial"/>
                <a:sym typeface="Arial"/>
              </a:rPr>
              <a:t> denotes the electrical recruitment threshold. Increasing stimulation above T changes the recruited population; it should not be described as selectively strengthening every individual synapse.</a:t>
            </a:r>
            <a:endParaRPr b="0" i="0" sz="1800" u="none" cap="none" strike="noStrike">
              <a:solidFill>
                <a:schemeClr val="dk1"/>
              </a:solidFill>
              <a:latin typeface="Calibri"/>
              <a:ea typeface="Calibri"/>
              <a:cs typeface="Calibri"/>
              <a:sym typeface="Calibri"/>
            </a:endParaRPr>
          </a:p>
        </p:txBody>
      </p:sp>
      <p:sp>
        <p:nvSpPr>
          <p:cNvPr id="366" name="Google Shape;366;p28"/>
          <p:cNvSpPr/>
          <p:nvPr/>
        </p:nvSpPr>
        <p:spPr>
          <a:xfrm>
            <a:off x="571500" y="4846737"/>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manipulation check connects the experimental control variable—voltage—to a neural consequence. The following frequency measurements can therefore be interpreted as responses to systematically varied afferent input.</a:t>
            </a:r>
            <a:endParaRPr b="0" i="0" sz="1800" u="none" cap="none" strike="noStrike">
              <a:solidFill>
                <a:schemeClr val="dk1"/>
              </a:solidFill>
              <a:latin typeface="Calibri"/>
              <a:ea typeface="Calibri"/>
              <a:cs typeface="Calibri"/>
              <a:sym typeface="Calibri"/>
            </a:endParaRPr>
          </a:p>
        </p:txBody>
      </p:sp>
      <p:pic>
        <p:nvPicPr>
          <p:cNvPr id="367" name="Google Shape;367;p28"/>
          <p:cNvPicPr preferRelativeResize="0"/>
          <p:nvPr/>
        </p:nvPicPr>
        <p:blipFill rotWithShape="1">
          <a:blip r:embed="rId3">
            <a:alphaModFix/>
          </a:blip>
          <a:srcRect b="0" l="0" r="0" t="0"/>
          <a:stretch/>
        </p:blipFill>
        <p:spPr>
          <a:xfrm>
            <a:off x="7086600" y="2208794"/>
            <a:ext cx="4533900" cy="2516315"/>
          </a:xfrm>
          <a:prstGeom prst="rect">
            <a:avLst/>
          </a:prstGeom>
          <a:noFill/>
          <a:ln>
            <a:noFill/>
          </a:ln>
        </p:spPr>
      </p:pic>
      <p:sp>
        <p:nvSpPr>
          <p:cNvPr id="368" name="Google Shape;368;p28"/>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5C–D; Ausborn et al. (2007). EPSP = excitatory postsynaptic potential; normalized responses.</a:t>
            </a:r>
            <a:endParaRPr b="0" i="0" sz="1800" u="none" cap="none" strike="noStrike">
              <a:solidFill>
                <a:schemeClr val="dk1"/>
              </a:solidFill>
              <a:latin typeface="Calibri"/>
              <a:ea typeface="Calibri"/>
              <a:cs typeface="Calibri"/>
              <a:sym typeface="Calibri"/>
            </a:endParaRPr>
          </a:p>
        </p:txBody>
      </p:sp>
      <p:pic>
        <p:nvPicPr>
          <p:cNvPr id="369" name="Google Shape;369;p28"/>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370" name="Google Shape;370;p28"/>
          <p:cNvSpPr/>
          <p:nvPr/>
        </p:nvSpPr>
        <p:spPr>
          <a:xfrm>
            <a:off x="571500" y="6434138"/>
            <a:ext cx="1400324"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Ausborn et al. (2007)</a:t>
            </a:r>
            <a:endParaRPr b="0" i="0" sz="1800" u="none" cap="none" strike="noStrike">
              <a:solidFill>
                <a:schemeClr val="dk1"/>
              </a:solidFill>
              <a:latin typeface="Calibri"/>
              <a:ea typeface="Calibri"/>
              <a:cs typeface="Calibri"/>
              <a:sym typeface="Calibri"/>
            </a:endParaRPr>
          </a:p>
        </p:txBody>
      </p:sp>
      <p:sp>
        <p:nvSpPr>
          <p:cNvPr id="371" name="Google Shape;371;p28"/>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28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75" name="Shape 375"/>
        <p:cNvGrpSpPr/>
        <p:nvPr/>
      </p:nvGrpSpPr>
      <p:grpSpPr>
        <a:xfrm>
          <a:off x="0" y="0"/>
          <a:ext cx="0" cy="0"/>
          <a:chOff x="0" y="0"/>
          <a:chExt cx="0" cy="0"/>
        </a:xfrm>
      </p:grpSpPr>
      <p:sp>
        <p:nvSpPr>
          <p:cNvPr id="376" name="Google Shape;376;p29"/>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Feedback strength has a nonmonotonic effect on frequency</a:t>
            </a:r>
            <a:endParaRPr b="0" i="0" sz="1800" u="none" cap="none" strike="noStrike">
              <a:solidFill>
                <a:schemeClr val="dk1"/>
              </a:solidFill>
              <a:latin typeface="Calibri"/>
              <a:ea typeface="Calibri"/>
              <a:cs typeface="Calibri"/>
              <a:sym typeface="Calibri"/>
            </a:endParaRPr>
          </a:p>
        </p:txBody>
      </p:sp>
      <p:sp>
        <p:nvSpPr>
          <p:cNvPr id="377" name="Google Shape;377;p29"/>
          <p:cNvSpPr/>
          <p:nvPr/>
        </p:nvSpPr>
        <p:spPr>
          <a:xfrm>
            <a:off x="571500" y="1371600"/>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In the population data, weak suprathreshold tegula stimulation increased flight-cycle frequency. Stronger stimulation progressively reduced this increase; four of nine animals fell below their unstimulated frequency at high stimulus strength.</a:t>
            </a:r>
            <a:endParaRPr b="0" i="0" sz="1800" u="none" cap="none" strike="noStrike">
              <a:solidFill>
                <a:schemeClr val="dk1"/>
              </a:solidFill>
              <a:latin typeface="Calibri"/>
              <a:ea typeface="Calibri"/>
              <a:cs typeface="Calibri"/>
              <a:sym typeface="Calibri"/>
            </a:endParaRPr>
          </a:p>
        </p:txBody>
      </p:sp>
      <p:sp>
        <p:nvSpPr>
          <p:cNvPr id="378" name="Google Shape;378;p29"/>
          <p:cNvSpPr/>
          <p:nvPr/>
        </p:nvSpPr>
        <p:spPr>
          <a:xfrm>
            <a:off x="571500" y="2696468"/>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In one reported animal, frequency rose from </a:t>
            </a:r>
            <a:r>
              <a:rPr b="1" i="0" lang="en-US" sz="1725" u="none" cap="none" strike="noStrike">
                <a:solidFill>
                  <a:srgbClr val="242A31"/>
                </a:solidFill>
                <a:latin typeface="Arial"/>
                <a:ea typeface="Arial"/>
                <a:cs typeface="Arial"/>
                <a:sym typeface="Arial"/>
              </a:rPr>
              <a:t>10.32 ± 0.65 Hz</a:t>
            </a:r>
            <a:r>
              <a:rPr b="0" i="0" lang="en-US" sz="1725" u="none" cap="none" strike="noStrike">
                <a:solidFill>
                  <a:srgbClr val="242A31"/>
                </a:solidFill>
                <a:latin typeface="Arial"/>
                <a:ea typeface="Arial"/>
                <a:cs typeface="Arial"/>
                <a:sym typeface="Arial"/>
              </a:rPr>
              <a:t> below threshold to </a:t>
            </a:r>
            <a:r>
              <a:rPr b="1" i="0" lang="en-US" sz="1725" u="none" cap="none" strike="noStrike">
                <a:solidFill>
                  <a:srgbClr val="242A31"/>
                </a:solidFill>
                <a:latin typeface="Arial"/>
                <a:ea typeface="Arial"/>
                <a:cs typeface="Arial"/>
                <a:sym typeface="Arial"/>
              </a:rPr>
              <a:t>13.13 ± 0.37 Hz</a:t>
            </a:r>
            <a:r>
              <a:rPr b="0" i="0" lang="en-US" sz="1725" u="none" cap="none" strike="noStrike">
                <a:solidFill>
                  <a:srgbClr val="242A31"/>
                </a:solidFill>
                <a:latin typeface="Arial"/>
                <a:ea typeface="Arial"/>
                <a:cs typeface="Arial"/>
                <a:sym typeface="Arial"/>
              </a:rPr>
              <a:t> at threshold. These values are means ± SD across repeated measurements, not across independent animals.</a:t>
            </a:r>
            <a:endParaRPr b="0" i="0" sz="1800" u="none" cap="none" strike="noStrike">
              <a:solidFill>
                <a:schemeClr val="dk1"/>
              </a:solidFill>
              <a:latin typeface="Calibri"/>
              <a:ea typeface="Calibri"/>
              <a:cs typeface="Calibri"/>
              <a:sym typeface="Calibri"/>
            </a:endParaRPr>
          </a:p>
        </p:txBody>
      </p:sp>
      <p:sp>
        <p:nvSpPr>
          <p:cNvPr id="379" name="Google Shape;379;p29"/>
          <p:cNvSpPr/>
          <p:nvPr/>
        </p:nvSpPr>
        <p:spPr>
          <a:xfrm>
            <a:off x="571500" y="3771602"/>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original population panel summarizes </a:t>
            </a:r>
            <a:r>
              <a:rPr b="1" i="0" lang="en-US" sz="1725" u="none" cap="none" strike="noStrike">
                <a:solidFill>
                  <a:srgbClr val="242A31"/>
                </a:solidFill>
                <a:latin typeface="Arial"/>
                <a:ea typeface="Arial"/>
                <a:cs typeface="Arial"/>
                <a:sym typeface="Arial"/>
              </a:rPr>
              <a:t>nine animals</a:t>
            </a:r>
            <a:r>
              <a:rPr b="0" i="0" lang="en-US" sz="1725" u="none" cap="none" strike="noStrike">
                <a:solidFill>
                  <a:srgbClr val="242A31"/>
                </a:solidFill>
                <a:latin typeface="Arial"/>
                <a:ea typeface="Arial"/>
                <a:cs typeface="Arial"/>
                <a:sym typeface="Arial"/>
              </a:rPr>
              <a:t> and plots change relative to baseline. Stronger sensory input therefore did not produce a monotonic increase in motor frequency.</a:t>
            </a:r>
            <a:endParaRPr b="0" i="0" sz="1800" u="none" cap="none" strike="noStrike">
              <a:solidFill>
                <a:schemeClr val="dk1"/>
              </a:solidFill>
              <a:latin typeface="Calibri"/>
              <a:ea typeface="Calibri"/>
              <a:cs typeface="Calibri"/>
              <a:sym typeface="Calibri"/>
            </a:endParaRPr>
          </a:p>
        </p:txBody>
      </p:sp>
      <p:sp>
        <p:nvSpPr>
          <p:cNvPr id="380" name="Google Shape;380;p29"/>
          <p:cNvSpPr/>
          <p:nvPr/>
        </p:nvSpPr>
        <p:spPr>
          <a:xfrm>
            <a:off x="571500" y="4846737"/>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result constrains mechanism: a feedback pathway that excites the next movement phase can accelerate a weakly driven oscillator, yet prolong that phase when its excitation becomes sufficiently strong.</a:t>
            </a:r>
            <a:endParaRPr b="0" i="0" sz="1800" u="none" cap="none" strike="noStrike">
              <a:solidFill>
                <a:schemeClr val="dk1"/>
              </a:solidFill>
              <a:latin typeface="Calibri"/>
              <a:ea typeface="Calibri"/>
              <a:cs typeface="Calibri"/>
              <a:sym typeface="Calibri"/>
            </a:endParaRPr>
          </a:p>
        </p:txBody>
      </p:sp>
      <p:pic>
        <p:nvPicPr>
          <p:cNvPr id="381" name="Google Shape;381;p29"/>
          <p:cNvPicPr preferRelativeResize="0"/>
          <p:nvPr/>
        </p:nvPicPr>
        <p:blipFill rotWithShape="1">
          <a:blip r:embed="rId3">
            <a:alphaModFix/>
          </a:blip>
          <a:srcRect b="0" l="0" r="0" t="0"/>
          <a:stretch/>
        </p:blipFill>
        <p:spPr>
          <a:xfrm>
            <a:off x="7086600" y="2058297"/>
            <a:ext cx="4533900" cy="2817308"/>
          </a:xfrm>
          <a:prstGeom prst="rect">
            <a:avLst/>
          </a:prstGeom>
          <a:noFill/>
          <a:ln>
            <a:noFill/>
          </a:ln>
        </p:spPr>
      </p:pic>
      <p:sp>
        <p:nvSpPr>
          <p:cNvPr id="382" name="Google Shape;382;p29"/>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6F; Ausborn et al. (2007). Population change in frequency, N = 9 animals; mean ± SD.</a:t>
            </a:r>
            <a:endParaRPr b="0" i="0" sz="1800" u="none" cap="none" strike="noStrike">
              <a:solidFill>
                <a:schemeClr val="dk1"/>
              </a:solidFill>
              <a:latin typeface="Calibri"/>
              <a:ea typeface="Calibri"/>
              <a:cs typeface="Calibri"/>
              <a:sym typeface="Calibri"/>
            </a:endParaRPr>
          </a:p>
        </p:txBody>
      </p:sp>
      <p:pic>
        <p:nvPicPr>
          <p:cNvPr id="383" name="Google Shape;383;p29"/>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384" name="Google Shape;384;p29"/>
          <p:cNvSpPr/>
          <p:nvPr/>
        </p:nvSpPr>
        <p:spPr>
          <a:xfrm>
            <a:off x="571500" y="6434138"/>
            <a:ext cx="1400324"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Ausborn et al. (2007)</a:t>
            </a:r>
            <a:endParaRPr b="0" i="0" sz="1800" u="none" cap="none" strike="noStrike">
              <a:solidFill>
                <a:schemeClr val="dk1"/>
              </a:solidFill>
              <a:latin typeface="Calibri"/>
              <a:ea typeface="Calibri"/>
              <a:cs typeface="Calibri"/>
              <a:sym typeface="Calibri"/>
            </a:endParaRPr>
          </a:p>
        </p:txBody>
      </p:sp>
      <p:sp>
        <p:nvSpPr>
          <p:cNvPr id="385" name="Google Shape;385;p29"/>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29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89" name="Shape 389"/>
        <p:cNvGrpSpPr/>
        <p:nvPr/>
      </p:nvGrpSpPr>
      <p:grpSpPr>
        <a:xfrm>
          <a:off x="0" y="0"/>
          <a:ext cx="0" cy="0"/>
          <a:chOff x="0" y="0"/>
          <a:chExt cx="0" cy="0"/>
        </a:xfrm>
      </p:grpSpPr>
      <p:sp>
        <p:nvSpPr>
          <p:cNvPr id="390" name="Google Shape;390;p30"/>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A circuit model explains how excessive feedback slows cycling</a:t>
            </a:r>
            <a:endParaRPr b="0" i="0" sz="1800" u="none" cap="none" strike="noStrike">
              <a:solidFill>
                <a:schemeClr val="dk1"/>
              </a:solidFill>
              <a:latin typeface="Calibri"/>
              <a:ea typeface="Calibri"/>
              <a:cs typeface="Calibri"/>
              <a:sym typeface="Calibri"/>
            </a:endParaRPr>
          </a:p>
        </p:txBody>
      </p:sp>
      <p:sp>
        <p:nvSpPr>
          <p:cNvPr id="391" name="Google Shape;391;p30"/>
          <p:cNvSpPr/>
          <p:nvPr/>
        </p:nvSpPr>
        <p:spPr>
          <a:xfrm>
            <a:off x="571500" y="1371600"/>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published model used identified flight-network connections and conductance-based neurons. Tegula input excited elevator-related elements and influenced the recurrent network that alternates elevator and depressor phases.</a:t>
            </a:r>
            <a:endParaRPr b="0" i="0" sz="1800" u="none" cap="none" strike="noStrike">
              <a:solidFill>
                <a:schemeClr val="dk1"/>
              </a:solidFill>
              <a:latin typeface="Calibri"/>
              <a:ea typeface="Calibri"/>
              <a:cs typeface="Calibri"/>
              <a:sym typeface="Calibri"/>
            </a:endParaRPr>
          </a:p>
        </p:txBody>
      </p:sp>
      <p:sp>
        <p:nvSpPr>
          <p:cNvPr id="392" name="Google Shape;392;p30"/>
          <p:cNvSpPr/>
          <p:nvPr/>
        </p:nvSpPr>
        <p:spPr>
          <a:xfrm>
            <a:off x="571500" y="2696468"/>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Weak feedback brought elevator activity forward and shortened the cycle. Stronger excitation kept elevator-related activity active longer, delaying the next depressor phase and lengthening the cycle again.</a:t>
            </a:r>
            <a:endParaRPr b="0" i="0" sz="1800" u="none" cap="none" strike="noStrike">
              <a:solidFill>
                <a:schemeClr val="dk1"/>
              </a:solidFill>
              <a:latin typeface="Calibri"/>
              <a:ea typeface="Calibri"/>
              <a:cs typeface="Calibri"/>
              <a:sym typeface="Calibri"/>
            </a:endParaRPr>
          </a:p>
        </p:txBody>
      </p:sp>
      <p:sp>
        <p:nvSpPr>
          <p:cNvPr id="393" name="Google Shape;393;p30"/>
          <p:cNvSpPr/>
          <p:nvPr/>
        </p:nvSpPr>
        <p:spPr>
          <a:xfrm>
            <a:off x="571500" y="3771602"/>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original model curve rises and then falls. Its simulated frequency was </a:t>
            </a:r>
            <a:r>
              <a:rPr b="1" i="0" lang="en-US" sz="1725" u="none" cap="none" strike="noStrike">
                <a:solidFill>
                  <a:srgbClr val="242A31"/>
                </a:solidFill>
                <a:latin typeface="Arial"/>
                <a:ea typeface="Arial"/>
                <a:cs typeface="Arial"/>
                <a:sym typeface="Arial"/>
              </a:rPr>
              <a:t>9.73 Hz</a:t>
            </a:r>
            <a:r>
              <a:rPr b="0" i="0" lang="en-US" sz="1725" u="none" cap="none" strike="noStrike">
                <a:solidFill>
                  <a:srgbClr val="242A31"/>
                </a:solidFill>
                <a:latin typeface="Arial"/>
                <a:ea typeface="Arial"/>
                <a:cs typeface="Arial"/>
                <a:sym typeface="Arial"/>
              </a:rPr>
              <a:t> without feedback, </a:t>
            </a:r>
            <a:r>
              <a:rPr b="1" i="0" lang="en-US" sz="1725" u="none" cap="none" strike="noStrike">
                <a:solidFill>
                  <a:srgbClr val="242A31"/>
                </a:solidFill>
                <a:latin typeface="Arial"/>
                <a:ea typeface="Arial"/>
                <a:cs typeface="Arial"/>
                <a:sym typeface="Arial"/>
              </a:rPr>
              <a:t>17.48 Hz</a:t>
            </a:r>
            <a:r>
              <a:rPr b="0" i="0" lang="en-US" sz="1725" u="none" cap="none" strike="noStrike">
                <a:solidFill>
                  <a:srgbClr val="242A31"/>
                </a:solidFill>
                <a:latin typeface="Arial"/>
                <a:ea typeface="Arial"/>
                <a:cs typeface="Arial"/>
                <a:sym typeface="Arial"/>
              </a:rPr>
              <a:t> at threshold-strength input, and </a:t>
            </a:r>
            <a:r>
              <a:rPr b="1" i="0" lang="en-US" sz="1725" u="none" cap="none" strike="noStrike">
                <a:solidFill>
                  <a:srgbClr val="242A31"/>
                </a:solidFill>
                <a:latin typeface="Arial"/>
                <a:ea typeface="Arial"/>
                <a:cs typeface="Arial"/>
                <a:sym typeface="Arial"/>
              </a:rPr>
              <a:t>10.15 Hz</a:t>
            </a:r>
            <a:r>
              <a:rPr b="0" i="0" lang="en-US" sz="1725" u="none" cap="none" strike="noStrike">
                <a:solidFill>
                  <a:srgbClr val="242A31"/>
                </a:solidFill>
                <a:latin typeface="Arial"/>
                <a:ea typeface="Arial"/>
                <a:cs typeface="Arial"/>
                <a:sym typeface="Arial"/>
              </a:rPr>
              <a:t> at ten times that input.</a:t>
            </a:r>
            <a:endParaRPr b="0" i="0" sz="1800" u="none" cap="none" strike="noStrike">
              <a:solidFill>
                <a:schemeClr val="dk1"/>
              </a:solidFill>
              <a:latin typeface="Calibri"/>
              <a:ea typeface="Calibri"/>
              <a:cs typeface="Calibri"/>
              <a:sym typeface="Calibri"/>
            </a:endParaRPr>
          </a:p>
        </p:txBody>
      </p:sp>
      <p:sp>
        <p:nvSpPr>
          <p:cNvPr id="394" name="Google Shape;394;p30"/>
          <p:cNvSpPr/>
          <p:nvPr/>
        </p:nvSpPr>
        <p:spPr>
          <a:xfrm>
            <a:off x="571500" y="4846737"/>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These are </a:t>
            </a:r>
            <a:r>
              <a:rPr b="1" i="0" lang="en-US" sz="1725" u="none" cap="none" strike="noStrike">
                <a:solidFill>
                  <a:srgbClr val="242A31"/>
                </a:solidFill>
                <a:latin typeface="Arial"/>
                <a:ea typeface="Arial"/>
                <a:cs typeface="Arial"/>
                <a:sym typeface="Arial"/>
              </a:rPr>
              <a:t>simulation outputs</a:t>
            </a:r>
            <a:r>
              <a:rPr b="0" i="0" lang="en-US" sz="1725" u="none" cap="none" strike="noStrike">
                <a:solidFill>
                  <a:srgbClr val="242A31"/>
                </a:solidFill>
                <a:latin typeface="Arial"/>
                <a:ea typeface="Arial"/>
                <a:cs typeface="Arial"/>
                <a:sym typeface="Arial"/>
              </a:rPr>
              <a:t>, not additional animal measurements. Agreement with the experimental curve supports this mechanism, but a reduced model omits cells and does not uniquely prove that every modeled connection causes the intact behavior.</a:t>
            </a:r>
            <a:endParaRPr b="0" i="0" sz="1800" u="none" cap="none" strike="noStrike">
              <a:solidFill>
                <a:schemeClr val="dk1"/>
              </a:solidFill>
              <a:latin typeface="Calibri"/>
              <a:ea typeface="Calibri"/>
              <a:cs typeface="Calibri"/>
              <a:sym typeface="Calibri"/>
            </a:endParaRPr>
          </a:p>
        </p:txBody>
      </p:sp>
      <p:pic>
        <p:nvPicPr>
          <p:cNvPr id="395" name="Google Shape;395;p30"/>
          <p:cNvPicPr preferRelativeResize="0"/>
          <p:nvPr/>
        </p:nvPicPr>
        <p:blipFill rotWithShape="1">
          <a:blip r:embed="rId3">
            <a:alphaModFix/>
          </a:blip>
          <a:srcRect b="0" l="0" r="0" t="0"/>
          <a:stretch/>
        </p:blipFill>
        <p:spPr>
          <a:xfrm>
            <a:off x="7086600" y="1462695"/>
            <a:ext cx="4533900" cy="4008512"/>
          </a:xfrm>
          <a:prstGeom prst="rect">
            <a:avLst/>
          </a:prstGeom>
          <a:noFill/>
          <a:ln>
            <a:noFill/>
          </a:ln>
        </p:spPr>
      </p:pic>
      <p:sp>
        <p:nvSpPr>
          <p:cNvPr id="396" name="Google Shape;396;p30"/>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4C; Ausborn et al. (2007). Computational model. T = threshold-strength modeled input.</a:t>
            </a:r>
            <a:endParaRPr b="0" i="0" sz="1800" u="none" cap="none" strike="noStrike">
              <a:solidFill>
                <a:schemeClr val="dk1"/>
              </a:solidFill>
              <a:latin typeface="Calibri"/>
              <a:ea typeface="Calibri"/>
              <a:cs typeface="Calibri"/>
              <a:sym typeface="Calibri"/>
            </a:endParaRPr>
          </a:p>
        </p:txBody>
      </p:sp>
      <p:pic>
        <p:nvPicPr>
          <p:cNvPr id="397" name="Google Shape;397;p30"/>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398" name="Google Shape;398;p30"/>
          <p:cNvSpPr/>
          <p:nvPr/>
        </p:nvSpPr>
        <p:spPr>
          <a:xfrm>
            <a:off x="571500" y="6434138"/>
            <a:ext cx="1400324"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Ausborn et al. (2007)</a:t>
            </a:r>
            <a:endParaRPr b="0" i="0" sz="1800" u="none" cap="none" strike="noStrike">
              <a:solidFill>
                <a:schemeClr val="dk1"/>
              </a:solidFill>
              <a:latin typeface="Calibri"/>
              <a:ea typeface="Calibri"/>
              <a:cs typeface="Calibri"/>
              <a:sym typeface="Calibri"/>
            </a:endParaRPr>
          </a:p>
        </p:txBody>
      </p:sp>
      <p:sp>
        <p:nvSpPr>
          <p:cNvPr id="399" name="Google Shape;399;p30"/>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30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03" name="Shape 403"/>
        <p:cNvGrpSpPr/>
        <p:nvPr/>
      </p:nvGrpSpPr>
      <p:grpSpPr>
        <a:xfrm>
          <a:off x="0" y="0"/>
          <a:ext cx="0" cy="0"/>
          <a:chOff x="0" y="0"/>
          <a:chExt cx="0" cy="0"/>
        </a:xfrm>
      </p:grpSpPr>
      <p:sp>
        <p:nvSpPr>
          <p:cNvPr id="404" name="Google Shape;404;p31"/>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Flight state changes how interneurons amplify sensory input</a:t>
            </a:r>
            <a:endParaRPr b="0" i="0" sz="1800" u="none" cap="none" strike="noStrike">
              <a:solidFill>
                <a:schemeClr val="dk1"/>
              </a:solidFill>
              <a:latin typeface="Calibri"/>
              <a:ea typeface="Calibri"/>
              <a:cs typeface="Calibri"/>
              <a:sym typeface="Calibri"/>
            </a:endParaRPr>
          </a:p>
        </p:txBody>
      </p:sp>
      <p:sp>
        <p:nvSpPr>
          <p:cNvPr id="405" name="Google Shape;405;p31"/>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Ramirez and Pearson examined interneurons </a:t>
            </a:r>
            <a:r>
              <a:rPr b="1" i="0" lang="en-US" sz="1800" u="none" cap="none" strike="noStrike">
                <a:solidFill>
                  <a:srgbClr val="242A31"/>
                </a:solidFill>
                <a:latin typeface="Arial"/>
                <a:ea typeface="Arial"/>
                <a:cs typeface="Arial"/>
                <a:sym typeface="Arial"/>
              </a:rPr>
              <a:t>566 and 567</a:t>
            </a:r>
            <a:r>
              <a:rPr b="0" i="0" lang="en-US" sz="1800" u="none" cap="none" strike="noStrike">
                <a:solidFill>
                  <a:srgbClr val="242A31"/>
                </a:solidFill>
                <a:latin typeface="Arial"/>
                <a:ea typeface="Arial"/>
                <a:cs typeface="Arial"/>
                <a:sym typeface="Arial"/>
              </a:rPr>
              <a:t>, which relay hindwing tegula information toward elevator motoneurons. Intracellular recordings allowed sensory-evoked responses to be compared during rest and during flight.</a:t>
            </a:r>
            <a:endParaRPr b="0" i="0" sz="1800" u="none" cap="none" strike="noStrike">
              <a:solidFill>
                <a:schemeClr val="dk1"/>
              </a:solidFill>
              <a:latin typeface="Calibri"/>
              <a:ea typeface="Calibri"/>
              <a:cs typeface="Calibri"/>
              <a:sym typeface="Calibri"/>
            </a:endParaRPr>
          </a:p>
        </p:txBody>
      </p:sp>
      <p:sp>
        <p:nvSpPr>
          <p:cNvPr id="406" name="Google Shape;406;p31"/>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For interneuron 566, bursting was expressed during flight in </a:t>
            </a:r>
            <a:r>
              <a:rPr b="1" i="0" lang="en-US" sz="1800" u="none" cap="none" strike="noStrike">
                <a:solidFill>
                  <a:srgbClr val="242A31"/>
                </a:solidFill>
                <a:latin typeface="Arial"/>
                <a:ea typeface="Arial"/>
                <a:cs typeface="Arial"/>
                <a:sym typeface="Arial"/>
              </a:rPr>
              <a:t>14 of 14</a:t>
            </a:r>
            <a:r>
              <a:rPr b="0" i="0" lang="en-US" sz="1800" u="none" cap="none" strike="noStrike">
                <a:solidFill>
                  <a:srgbClr val="242A31"/>
                </a:solidFill>
                <a:latin typeface="Arial"/>
                <a:ea typeface="Arial"/>
                <a:cs typeface="Arial"/>
                <a:sym typeface="Arial"/>
              </a:rPr>
              <a:t> tested animals. At rest, tegula stimulation did not evoke bursts in </a:t>
            </a:r>
            <a:r>
              <a:rPr b="1" i="0" lang="en-US" sz="1800" u="none" cap="none" strike="noStrike">
                <a:solidFill>
                  <a:srgbClr val="242A31"/>
                </a:solidFill>
                <a:latin typeface="Arial"/>
                <a:ea typeface="Arial"/>
                <a:cs typeface="Arial"/>
                <a:sym typeface="Arial"/>
              </a:rPr>
              <a:t>seven</a:t>
            </a:r>
            <a:r>
              <a:rPr b="0" i="0" lang="en-US" sz="1800" u="none" cap="none" strike="noStrike">
                <a:solidFill>
                  <a:srgbClr val="242A31"/>
                </a:solidFill>
                <a:latin typeface="Arial"/>
                <a:ea typeface="Arial"/>
                <a:cs typeface="Arial"/>
                <a:sym typeface="Arial"/>
              </a:rPr>
              <a:t> tested preparations; direct depolarizing current produced weak bursts in only </a:t>
            </a:r>
            <a:r>
              <a:rPr b="1" i="0" lang="en-US" sz="1800" u="none" cap="none" strike="noStrike">
                <a:solidFill>
                  <a:srgbClr val="242A31"/>
                </a:solidFill>
                <a:latin typeface="Arial"/>
                <a:ea typeface="Arial"/>
                <a:cs typeface="Arial"/>
                <a:sym typeface="Arial"/>
              </a:rPr>
              <a:t>three of nine</a:t>
            </a:r>
            <a:r>
              <a:rPr b="0" i="0" lang="en-US" sz="1800" u="none" cap="none" strike="noStrike">
                <a:solidFill>
                  <a:srgbClr val="242A31"/>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07" name="Google Shape;407;p31"/>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 </a:t>
            </a:r>
            <a:r>
              <a:rPr b="1" i="0" lang="en-US" sz="1800" u="none" cap="none" strike="noStrike">
                <a:solidFill>
                  <a:srgbClr val="242A31"/>
                </a:solidFill>
                <a:latin typeface="Arial"/>
                <a:ea typeface="Arial"/>
                <a:cs typeface="Arial"/>
                <a:sym typeface="Arial"/>
              </a:rPr>
              <a:t>burst</a:t>
            </a:r>
            <a:r>
              <a:rPr b="0" i="0" lang="en-US" sz="1800" u="none" cap="none" strike="noStrike">
                <a:solidFill>
                  <a:srgbClr val="242A31"/>
                </a:solidFill>
                <a:latin typeface="Arial"/>
                <a:ea typeface="Arial"/>
                <a:cs typeface="Arial"/>
                <a:sym typeface="Arial"/>
              </a:rPr>
              <a:t> is a cluster of action potentials supported by a depolarizing episode. During flight, a sensory EPSP could trigger a larger burst response, amplifying the afferent input. Without afferent input, the membrane oscillations could remain below burst threshold.</a:t>
            </a:r>
            <a:endParaRPr b="0" i="0" sz="1800" u="none" cap="none" strike="noStrike">
              <a:solidFill>
                <a:schemeClr val="dk1"/>
              </a:solidFill>
              <a:latin typeface="Calibri"/>
              <a:ea typeface="Calibri"/>
              <a:cs typeface="Calibri"/>
              <a:sym typeface="Calibri"/>
            </a:endParaRPr>
          </a:p>
        </p:txBody>
      </p:sp>
      <p:sp>
        <p:nvSpPr>
          <p:cNvPr id="408" name="Google Shape;408;p31"/>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cell’s input–output relation is therefore conditional on behavioral state. The same anatomical pathway can transmit a modest EPSP at rest and recruit a much stronger motor influence during flight, without requiring new synapses to be constructed for each bout.</a:t>
            </a:r>
            <a:endParaRPr b="0" i="0" sz="1800" u="none" cap="none" strike="noStrike">
              <a:solidFill>
                <a:schemeClr val="dk1"/>
              </a:solidFill>
              <a:latin typeface="Calibri"/>
              <a:ea typeface="Calibri"/>
              <a:cs typeface="Calibri"/>
              <a:sym typeface="Calibri"/>
            </a:endParaRPr>
          </a:p>
        </p:txBody>
      </p:sp>
      <p:pic>
        <p:nvPicPr>
          <p:cNvPr id="409" name="Google Shape;409;p31"/>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410" name="Google Shape;410;p31"/>
          <p:cNvSpPr/>
          <p:nvPr/>
        </p:nvSpPr>
        <p:spPr>
          <a:xfrm>
            <a:off x="571500" y="6434138"/>
            <a:ext cx="1739057"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Ramirez &amp; Pearson (1993)</a:t>
            </a:r>
            <a:endParaRPr b="0" i="0" sz="1800" u="none" cap="none" strike="noStrike">
              <a:solidFill>
                <a:schemeClr val="dk1"/>
              </a:solidFill>
              <a:latin typeface="Calibri"/>
              <a:ea typeface="Calibri"/>
              <a:cs typeface="Calibri"/>
              <a:sym typeface="Calibri"/>
            </a:endParaRPr>
          </a:p>
        </p:txBody>
      </p:sp>
      <p:sp>
        <p:nvSpPr>
          <p:cNvPr id="411" name="Google Shape;411;p31"/>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31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15" name="Shape 415"/>
        <p:cNvGrpSpPr/>
        <p:nvPr/>
      </p:nvGrpSpPr>
      <p:grpSpPr>
        <a:xfrm>
          <a:off x="0" y="0"/>
          <a:ext cx="0" cy="0"/>
          <a:chOff x="0" y="0"/>
          <a:chExt cx="0" cy="0"/>
        </a:xfrm>
      </p:grpSpPr>
      <p:sp>
        <p:nvSpPr>
          <p:cNvPr id="416" name="Google Shape;416;p32"/>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Octopamine can reveal plateau potentials and intrinsic bursting</a:t>
            </a:r>
            <a:endParaRPr b="0" i="0" sz="1800" u="none" cap="none" strike="noStrike">
              <a:solidFill>
                <a:schemeClr val="dk1"/>
              </a:solidFill>
              <a:latin typeface="Calibri"/>
              <a:ea typeface="Calibri"/>
              <a:cs typeface="Calibri"/>
              <a:sym typeface="Calibri"/>
            </a:endParaRPr>
          </a:p>
        </p:txBody>
      </p:sp>
      <p:sp>
        <p:nvSpPr>
          <p:cNvPr id="417" name="Google Shape;417;p32"/>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In isolated metathoracic ganglia, Ramirez and Pearson applied octopamine while recording identified flight interneurons. Brief depolarizing current or tegula input could trigger sustained depolarization that outlasted the initiating stimulus.</a:t>
            </a:r>
            <a:endParaRPr b="0" i="0" sz="1800" u="none" cap="none" strike="noStrike">
              <a:solidFill>
                <a:schemeClr val="dk1"/>
              </a:solidFill>
              <a:latin typeface="Calibri"/>
              <a:ea typeface="Calibri"/>
              <a:cs typeface="Calibri"/>
              <a:sym typeface="Calibri"/>
            </a:endParaRPr>
          </a:p>
        </p:txBody>
      </p:sp>
      <p:sp>
        <p:nvSpPr>
          <p:cNvPr id="418" name="Google Shape;418;p32"/>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 </a:t>
            </a:r>
            <a:r>
              <a:rPr b="1" i="0" lang="en-US" sz="1800" u="none" cap="none" strike="noStrike">
                <a:solidFill>
                  <a:srgbClr val="242A31"/>
                </a:solidFill>
                <a:latin typeface="Arial"/>
                <a:ea typeface="Arial"/>
                <a:cs typeface="Arial"/>
                <a:sym typeface="Arial"/>
              </a:rPr>
              <a:t>plateau potential</a:t>
            </a:r>
            <a:r>
              <a:rPr b="0" i="0" lang="en-US" sz="1800" u="none" cap="none" strike="noStrike">
                <a:solidFill>
                  <a:srgbClr val="242A31"/>
                </a:solidFill>
                <a:latin typeface="Arial"/>
                <a:ea typeface="Arial"/>
                <a:cs typeface="Arial"/>
                <a:sym typeface="Arial"/>
              </a:rPr>
              <a:t> is a prolonged depolarized state supported by regenerative membrane processes. Hyperpolarizing current could terminate the plateau, and a maintained hyperpolarizing bias could prevent it from being triggered.</a:t>
            </a:r>
            <a:endParaRPr b="0" i="0" sz="1800" u="none" cap="none" strike="noStrike">
              <a:solidFill>
                <a:schemeClr val="dk1"/>
              </a:solidFill>
              <a:latin typeface="Calibri"/>
              <a:ea typeface="Calibri"/>
              <a:cs typeface="Calibri"/>
              <a:sym typeface="Calibri"/>
            </a:endParaRPr>
          </a:p>
        </p:txBody>
      </p:sp>
      <p:sp>
        <p:nvSpPr>
          <p:cNvPr id="419" name="Google Shape;419;p32"/>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Longer depolarizing pulses elicited repeated bursts whose frequency depended on injected current. Reported bursts lasted about </a:t>
            </a:r>
            <a:r>
              <a:rPr b="1" i="0" lang="en-US" sz="1800" u="none" cap="none" strike="noStrike">
                <a:solidFill>
                  <a:srgbClr val="242A31"/>
                </a:solidFill>
                <a:latin typeface="Arial"/>
                <a:ea typeface="Arial"/>
                <a:cs typeface="Arial"/>
                <a:sym typeface="Arial"/>
              </a:rPr>
              <a:t>50–75 ms</a:t>
            </a:r>
            <a:r>
              <a:rPr b="0" i="0" lang="en-US" sz="1800" u="none" cap="none" strike="noStrike">
                <a:solidFill>
                  <a:srgbClr val="242A31"/>
                </a:solidFill>
                <a:latin typeface="Arial"/>
                <a:ea typeface="Arial"/>
                <a:cs typeface="Arial"/>
                <a:sym typeface="Arial"/>
              </a:rPr>
              <a:t>, with repetition frequencies of </a:t>
            </a:r>
            <a:r>
              <a:rPr b="1" i="0" lang="en-US" sz="1800" u="none" cap="none" strike="noStrike">
                <a:solidFill>
                  <a:srgbClr val="242A31"/>
                </a:solidFill>
                <a:latin typeface="Arial"/>
                <a:ea typeface="Arial"/>
                <a:cs typeface="Arial"/>
                <a:sym typeface="Arial"/>
              </a:rPr>
              <a:t>4–16 Hz</a:t>
            </a:r>
            <a:r>
              <a:rPr b="0" i="0" lang="en-US" sz="1800" u="none" cap="none" strike="noStrike">
                <a:solidFill>
                  <a:srgbClr val="242A31"/>
                </a:solidFill>
                <a:latin typeface="Arial"/>
                <a:ea typeface="Arial"/>
                <a:cs typeface="Arial"/>
                <a:sym typeface="Arial"/>
              </a:rPr>
              <a:t>, resembling activity in the corresponding deafferented flight preparation.</a:t>
            </a:r>
            <a:endParaRPr b="0" i="0" sz="1800" u="none" cap="none" strike="noStrike">
              <a:solidFill>
                <a:schemeClr val="dk1"/>
              </a:solidFill>
              <a:latin typeface="Calibri"/>
              <a:ea typeface="Calibri"/>
              <a:cs typeface="Calibri"/>
              <a:sym typeface="Calibri"/>
            </a:endParaRPr>
          </a:p>
        </p:txBody>
      </p:sp>
      <p:sp>
        <p:nvSpPr>
          <p:cNvPr id="420" name="Google Shape;420;p32"/>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observations demonstrate modulator-dependent intrinsic dynamics. They support a contribution of plateau and bursting properties to network activity, but do not establish a single pacemaker neuron or identify the complete set of ionic currents responsible for the plateau.</a:t>
            </a:r>
            <a:endParaRPr b="0" i="0" sz="1800" u="none" cap="none" strike="noStrike">
              <a:solidFill>
                <a:schemeClr val="dk1"/>
              </a:solidFill>
              <a:latin typeface="Calibri"/>
              <a:ea typeface="Calibri"/>
              <a:cs typeface="Calibri"/>
              <a:sym typeface="Calibri"/>
            </a:endParaRPr>
          </a:p>
        </p:txBody>
      </p:sp>
      <p:pic>
        <p:nvPicPr>
          <p:cNvPr id="421" name="Google Shape;421;p32"/>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422" name="Google Shape;422;p32"/>
          <p:cNvSpPr/>
          <p:nvPr/>
        </p:nvSpPr>
        <p:spPr>
          <a:xfrm>
            <a:off x="571500" y="6434138"/>
            <a:ext cx="1739057"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Ramirez &amp; Pearson (1991)</a:t>
            </a:r>
            <a:endParaRPr b="0" i="0" sz="1800" u="none" cap="none" strike="noStrike">
              <a:solidFill>
                <a:schemeClr val="dk1"/>
              </a:solidFill>
              <a:latin typeface="Calibri"/>
              <a:ea typeface="Calibri"/>
              <a:cs typeface="Calibri"/>
              <a:sym typeface="Calibri"/>
            </a:endParaRPr>
          </a:p>
        </p:txBody>
      </p:sp>
      <p:sp>
        <p:nvSpPr>
          <p:cNvPr id="423" name="Google Shape;423;p32"/>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32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27" name="Shape 427"/>
        <p:cNvGrpSpPr/>
        <p:nvPr/>
      </p:nvGrpSpPr>
      <p:grpSpPr>
        <a:xfrm>
          <a:off x="0" y="0"/>
          <a:ext cx="0" cy="0"/>
          <a:chOff x="0" y="0"/>
          <a:chExt cx="0" cy="0"/>
        </a:xfrm>
      </p:grpSpPr>
      <p:sp>
        <p:nvSpPr>
          <p:cNvPr id="428" name="Google Shape;428;p33"/>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Membrane conductances set the threshold for a burst</a:t>
            </a:r>
            <a:endParaRPr b="0" i="0" sz="1800" u="none" cap="none" strike="noStrike">
              <a:solidFill>
                <a:schemeClr val="dk1"/>
              </a:solidFill>
              <a:latin typeface="Calibri"/>
              <a:ea typeface="Calibri"/>
              <a:cs typeface="Calibri"/>
              <a:sym typeface="Calibri"/>
            </a:endParaRPr>
          </a:p>
        </p:txBody>
      </p:sp>
      <p:sp>
        <p:nvSpPr>
          <p:cNvPr id="429" name="Google Shape;429;p33"/>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Membrane voltage changes according to the balance of inward and outward currents. A conductance-based description writes </a:t>
            </a:r>
            <a:r>
              <a:rPr b="1" i="0" lang="en-US" sz="1800" u="none" cap="none" strike="noStrike">
                <a:solidFill>
                  <a:srgbClr val="242A31"/>
                </a:solidFill>
                <a:latin typeface="Arial"/>
                <a:ea typeface="Arial"/>
                <a:cs typeface="Arial"/>
                <a:sym typeface="Arial"/>
              </a:rPr>
              <a:t>Iion = gion(V − Eion)</a:t>
            </a:r>
            <a:r>
              <a:rPr b="0" i="0" lang="en-US" sz="1800" u="none" cap="none" strike="noStrike">
                <a:solidFill>
                  <a:srgbClr val="242A31"/>
                </a:solidFill>
                <a:latin typeface="Arial"/>
                <a:ea typeface="Arial"/>
                <a:cs typeface="Arial"/>
                <a:sym typeface="Arial"/>
              </a:rPr>
              <a:t>: current depends on channel conductance, membrane voltage, and the ion’s reversal potential.</a:t>
            </a:r>
            <a:endParaRPr b="0" i="0" sz="1800" u="none" cap="none" strike="noStrike">
              <a:solidFill>
                <a:schemeClr val="dk1"/>
              </a:solidFill>
              <a:latin typeface="Calibri"/>
              <a:ea typeface="Calibri"/>
              <a:cs typeface="Calibri"/>
              <a:sym typeface="Calibri"/>
            </a:endParaRPr>
          </a:p>
        </p:txBody>
      </p:sp>
      <p:sp>
        <p:nvSpPr>
          <p:cNvPr id="430" name="Google Shape;430;p33"/>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Fast voltage-gated Na⁺ conductance supports action-potential depolarization, while voltage-gated K⁺ conductance contributes to repolarization. Synaptic conductances shift the voltage from which these spike-generating channels are recruited.</a:t>
            </a:r>
            <a:endParaRPr b="0" i="0" sz="1800" u="none" cap="none" strike="noStrike">
              <a:solidFill>
                <a:schemeClr val="dk1"/>
              </a:solidFill>
              <a:latin typeface="Calibri"/>
              <a:ea typeface="Calibri"/>
              <a:cs typeface="Calibri"/>
              <a:sym typeface="Calibri"/>
            </a:endParaRPr>
          </a:p>
        </p:txBody>
      </p:sp>
      <p:sp>
        <p:nvSpPr>
          <p:cNvPr id="431" name="Google Shape;431;p33"/>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In the Ausborn flight model, Hodgkin–Huxley-type membrane equations supplied spike-generating dynamics. Recurrent excitation and inhibition then shaped when modeled neurons entered and left their active phases.</a:t>
            </a:r>
            <a:endParaRPr b="0" i="0" sz="1800" u="none" cap="none" strike="noStrike">
              <a:solidFill>
                <a:schemeClr val="dk1"/>
              </a:solidFill>
              <a:latin typeface="Calibri"/>
              <a:ea typeface="Calibri"/>
              <a:cs typeface="Calibri"/>
              <a:sym typeface="Calibri"/>
            </a:endParaRPr>
          </a:p>
        </p:txBody>
      </p:sp>
      <p:sp>
        <p:nvSpPr>
          <p:cNvPr id="432" name="Google Shape;432;p33"/>
          <p:cNvSpPr/>
          <p:nvPr/>
        </p:nvSpPr>
        <p:spPr>
          <a:xfrm>
            <a:off x="571500" y="4445198"/>
            <a:ext cx="10972800" cy="1485305"/>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An experimentally observed plateau requires a net regenerative depolarizing process, but its waveform alone does not identify a particular Na⁺ or Ca²⁺ channel. Assigning the mechanism requires current measurements and selective perturbations. The distinction matters when interpreting octopamine-induced bursting: the cellular phenomenon is established more firmly than its complete molecular implementation.</a:t>
            </a:r>
            <a:endParaRPr b="0" i="0" sz="1800" u="none" cap="none" strike="noStrike">
              <a:solidFill>
                <a:schemeClr val="dk1"/>
              </a:solidFill>
              <a:latin typeface="Calibri"/>
              <a:ea typeface="Calibri"/>
              <a:cs typeface="Calibri"/>
              <a:sym typeface="Calibri"/>
            </a:endParaRPr>
          </a:p>
        </p:txBody>
      </p:sp>
      <p:pic>
        <p:nvPicPr>
          <p:cNvPr id="433" name="Google Shape;433;p33"/>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434" name="Google Shape;434;p33"/>
          <p:cNvSpPr/>
          <p:nvPr/>
        </p:nvSpPr>
        <p:spPr>
          <a:xfrm>
            <a:off x="571500" y="6434138"/>
            <a:ext cx="3195638"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Ausborn et al. (2007); Ramirez &amp; Pearson (1991)</a:t>
            </a:r>
            <a:endParaRPr b="0" i="0" sz="1800" u="none" cap="none" strike="noStrike">
              <a:solidFill>
                <a:schemeClr val="dk1"/>
              </a:solidFill>
              <a:latin typeface="Calibri"/>
              <a:ea typeface="Calibri"/>
              <a:cs typeface="Calibri"/>
              <a:sym typeface="Calibri"/>
            </a:endParaRPr>
          </a:p>
        </p:txBody>
      </p:sp>
      <p:sp>
        <p:nvSpPr>
          <p:cNvPr id="435" name="Google Shape;435;p33"/>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33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39" name="Shape 439"/>
        <p:cNvGrpSpPr/>
        <p:nvPr/>
      </p:nvGrpSpPr>
      <p:grpSpPr>
        <a:xfrm>
          <a:off x="0" y="0"/>
          <a:ext cx="0" cy="0"/>
          <a:chOff x="0" y="0"/>
          <a:chExt cx="0" cy="0"/>
        </a:xfrm>
      </p:grpSpPr>
      <p:sp>
        <p:nvSpPr>
          <p:cNvPr id="440" name="Google Shape;440;p34"/>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Acetylcholine acts through fast and modulatory receptors</a:t>
            </a:r>
            <a:endParaRPr b="0" i="0" sz="1800" u="none" cap="none" strike="noStrike">
              <a:solidFill>
                <a:schemeClr val="dk1"/>
              </a:solidFill>
              <a:latin typeface="Calibri"/>
              <a:ea typeface="Calibri"/>
              <a:cs typeface="Calibri"/>
              <a:sym typeface="Calibri"/>
            </a:endParaRPr>
          </a:p>
        </p:txBody>
      </p:sp>
      <p:sp>
        <p:nvSpPr>
          <p:cNvPr id="441" name="Google Shape;441;p34"/>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1" i="0" lang="en-US" sz="1800" u="none" cap="none" strike="noStrike">
                <a:solidFill>
                  <a:srgbClr val="242A31"/>
                </a:solidFill>
                <a:latin typeface="Arial"/>
                <a:ea typeface="Arial"/>
                <a:cs typeface="Arial"/>
                <a:sym typeface="Arial"/>
              </a:rPr>
              <a:t>Nicotinic acetylcholine receptors</a:t>
            </a:r>
            <a:r>
              <a:rPr b="0" i="0" lang="en-US" sz="1800" u="none" cap="none" strike="noStrike">
                <a:solidFill>
                  <a:srgbClr val="242A31"/>
                </a:solidFill>
                <a:latin typeface="Arial"/>
                <a:ea typeface="Arial"/>
                <a:cs typeface="Arial"/>
                <a:sym typeface="Arial"/>
              </a:rPr>
              <a:t> are ligand-gated ion channels. Their rapid conductance changes can produce an EPSP. </a:t>
            </a:r>
            <a:r>
              <a:rPr b="1" i="0" lang="en-US" sz="1800" u="none" cap="none" strike="noStrike">
                <a:solidFill>
                  <a:srgbClr val="242A31"/>
                </a:solidFill>
                <a:latin typeface="Arial"/>
                <a:ea typeface="Arial"/>
                <a:cs typeface="Arial"/>
                <a:sym typeface="Arial"/>
              </a:rPr>
              <a:t>Muscarinic receptors</a:t>
            </a:r>
            <a:r>
              <a:rPr b="0" i="0" lang="en-US" sz="1800" u="none" cap="none" strike="noStrike">
                <a:solidFill>
                  <a:srgbClr val="242A31"/>
                </a:solidFill>
                <a:latin typeface="Arial"/>
                <a:ea typeface="Arial"/>
                <a:cs typeface="Arial"/>
                <a:sym typeface="Arial"/>
              </a:rPr>
              <a:t> act through G proteins and intracellular signaling, allowing acetylcholine to change network excitability on a different timescale.</a:t>
            </a:r>
            <a:endParaRPr b="0" i="0" sz="1800" u="none" cap="none" strike="noStrike">
              <a:solidFill>
                <a:schemeClr val="dk1"/>
              </a:solidFill>
              <a:latin typeface="Calibri"/>
              <a:ea typeface="Calibri"/>
              <a:cs typeface="Calibri"/>
              <a:sym typeface="Calibri"/>
            </a:endParaRPr>
          </a:p>
        </p:txBody>
      </p:sp>
      <p:sp>
        <p:nvSpPr>
          <p:cNvPr id="442" name="Google Shape;442;p34"/>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At the locust stretch-receptor-to-BA1 connection, gallamine and α-bungarotoxin reduced transmission, supporting a nicotinic postsynaptic component. Inhibition of choline uptake also reduced the EPSP, consistent with dependence on acetylcholine synthesis.</a:t>
            </a:r>
            <a:endParaRPr b="0" i="0" sz="1800" u="none" cap="none" strike="noStrike">
              <a:solidFill>
                <a:schemeClr val="dk1"/>
              </a:solidFill>
              <a:latin typeface="Calibri"/>
              <a:ea typeface="Calibri"/>
              <a:cs typeface="Calibri"/>
              <a:sym typeface="Calibri"/>
            </a:endParaRPr>
          </a:p>
        </p:txBody>
      </p:sp>
      <p:sp>
        <p:nvSpPr>
          <p:cNvPr id="443" name="Google Shape;443;p34"/>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Muscarinic antagonists increased the same sensory EPSP in the tested preparation. Leitch and Pitman interpreted this as evidence for muscarinic regulation that normally restrains release, rather than treating all cholinergic actions as equivalent excitation.</a:t>
            </a:r>
            <a:endParaRPr b="0" i="0" sz="1800" u="none" cap="none" strike="noStrike">
              <a:solidFill>
                <a:schemeClr val="dk1"/>
              </a:solidFill>
              <a:latin typeface="Calibri"/>
              <a:ea typeface="Calibri"/>
              <a:cs typeface="Calibri"/>
              <a:sym typeface="Calibri"/>
            </a:endParaRPr>
          </a:p>
        </p:txBody>
      </p:sp>
      <p:sp>
        <p:nvSpPr>
          <p:cNvPr id="444" name="Google Shape;444;p34"/>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Receptor location and signaling mechanism determine the effect. Blocking a fast sensory EPSP and blocking a slower flight-activating influence can therefore produce different outcomes even when acetylcholine is involved in both pathways.</a:t>
            </a:r>
            <a:endParaRPr b="0" i="0" sz="1800" u="none" cap="none" strike="noStrike">
              <a:solidFill>
                <a:schemeClr val="dk1"/>
              </a:solidFill>
              <a:latin typeface="Calibri"/>
              <a:ea typeface="Calibri"/>
              <a:cs typeface="Calibri"/>
              <a:sym typeface="Calibri"/>
            </a:endParaRPr>
          </a:p>
        </p:txBody>
      </p:sp>
      <p:pic>
        <p:nvPicPr>
          <p:cNvPr id="445" name="Google Shape;445;p34"/>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446" name="Google Shape;446;p34"/>
          <p:cNvSpPr/>
          <p:nvPr/>
        </p:nvSpPr>
        <p:spPr>
          <a:xfrm>
            <a:off x="571500" y="6434138"/>
            <a:ext cx="271879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Leitch &amp; Pitman (1995); Buhl et al. (2008)</a:t>
            </a:r>
            <a:endParaRPr b="0" i="0" sz="1800" u="none" cap="none" strike="noStrike">
              <a:solidFill>
                <a:schemeClr val="dk1"/>
              </a:solidFill>
              <a:latin typeface="Calibri"/>
              <a:ea typeface="Calibri"/>
              <a:cs typeface="Calibri"/>
              <a:sym typeface="Calibri"/>
            </a:endParaRPr>
          </a:p>
        </p:txBody>
      </p:sp>
      <p:sp>
        <p:nvSpPr>
          <p:cNvPr id="447" name="Google Shape;447;p34"/>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34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51" name="Shape 451"/>
        <p:cNvGrpSpPr/>
        <p:nvPr/>
      </p:nvGrpSpPr>
      <p:grpSpPr>
        <a:xfrm>
          <a:off x="0" y="0"/>
          <a:ext cx="0" cy="0"/>
          <a:chOff x="0" y="0"/>
          <a:chExt cx="0" cy="0"/>
        </a:xfrm>
      </p:grpSpPr>
      <p:sp>
        <p:nvSpPr>
          <p:cNvPr id="452" name="Google Shape;452;p35"/>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Muscarinic activation evokes coordinated flight output</a:t>
            </a:r>
            <a:endParaRPr b="0" i="0" sz="1800" u="none" cap="none" strike="noStrike">
              <a:solidFill>
                <a:schemeClr val="dk1"/>
              </a:solidFill>
              <a:latin typeface="Calibri"/>
              <a:ea typeface="Calibri"/>
              <a:cs typeface="Calibri"/>
              <a:sym typeface="Calibri"/>
            </a:endParaRPr>
          </a:p>
        </p:txBody>
      </p:sp>
      <p:sp>
        <p:nvSpPr>
          <p:cNvPr id="453" name="Google Shape;453;p35"/>
          <p:cNvSpPr/>
          <p:nvPr/>
        </p:nvSpPr>
        <p:spPr>
          <a:xfrm>
            <a:off x="571500" y="1371600"/>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Buhl and colleagues applied cholinergic drugs to deafferented preparations and recorded elevator and depressor muscles. </a:t>
            </a:r>
            <a:r>
              <a:rPr b="1" i="0" lang="en-US" sz="1725" u="none" cap="none" strike="noStrike">
                <a:solidFill>
                  <a:srgbClr val="242A31"/>
                </a:solidFill>
                <a:latin typeface="Arial"/>
                <a:ea typeface="Arial"/>
                <a:cs typeface="Arial"/>
                <a:sym typeface="Arial"/>
              </a:rPr>
              <a:t>Pilocarpine</a:t>
            </a:r>
            <a:r>
              <a:rPr b="0" i="0" lang="en-US" sz="1725" u="none" cap="none" strike="noStrike">
                <a:solidFill>
                  <a:srgbClr val="242A31"/>
                </a:solidFill>
                <a:latin typeface="Arial"/>
                <a:ea typeface="Arial"/>
                <a:cs typeface="Arial"/>
                <a:sym typeface="Arial"/>
              </a:rPr>
              <a:t>, a muscarinic agonist, produced coordinated flight activity in 53 of 56 preparations.</a:t>
            </a:r>
            <a:endParaRPr b="0" i="0" sz="1800" u="none" cap="none" strike="noStrike">
              <a:solidFill>
                <a:schemeClr val="dk1"/>
              </a:solidFill>
              <a:latin typeface="Calibri"/>
              <a:ea typeface="Calibri"/>
              <a:cs typeface="Calibri"/>
              <a:sym typeface="Calibri"/>
            </a:endParaRPr>
          </a:p>
        </p:txBody>
      </p:sp>
      <p:sp>
        <p:nvSpPr>
          <p:cNvPr id="454" name="Google Shape;454;p35"/>
          <p:cNvSpPr/>
          <p:nvPr/>
        </p:nvSpPr>
        <p:spPr>
          <a:xfrm>
            <a:off x="571500" y="2696468"/>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original panel shows repeated flight bouts above and alternating muscle events below. In the timing sample, 5 mM pilocarpine produced </a:t>
            </a:r>
            <a:r>
              <a:rPr b="1" i="0" lang="en-US" sz="1725" u="none" cap="none" strike="noStrike">
                <a:solidFill>
                  <a:srgbClr val="242A31"/>
                </a:solidFill>
                <a:latin typeface="Arial"/>
                <a:ea typeface="Arial"/>
                <a:cs typeface="Arial"/>
                <a:sym typeface="Arial"/>
              </a:rPr>
              <a:t>11.5 ± 1.9 Hz</a:t>
            </a:r>
            <a:r>
              <a:rPr b="0" i="0" lang="en-US" sz="1725" u="none" cap="none" strike="noStrike">
                <a:solidFill>
                  <a:srgbClr val="242A31"/>
                </a:solidFill>
                <a:latin typeface="Arial"/>
                <a:ea typeface="Arial"/>
                <a:cs typeface="Arial"/>
                <a:sym typeface="Arial"/>
              </a:rPr>
              <a:t>, compared with </a:t>
            </a:r>
            <a:r>
              <a:rPr b="1" i="0" lang="en-US" sz="1725" u="none" cap="none" strike="noStrike">
                <a:solidFill>
                  <a:srgbClr val="242A31"/>
                </a:solidFill>
                <a:latin typeface="Arial"/>
                <a:ea typeface="Arial"/>
                <a:cs typeface="Arial"/>
                <a:sym typeface="Arial"/>
              </a:rPr>
              <a:t>8.6 ± 1.5 Hz</a:t>
            </a:r>
            <a:r>
              <a:rPr b="0" i="0" lang="en-US" sz="1725" u="none" cap="none" strike="noStrike">
                <a:solidFill>
                  <a:srgbClr val="242A31"/>
                </a:solidFill>
                <a:latin typeface="Arial"/>
                <a:ea typeface="Arial"/>
                <a:cs typeface="Arial"/>
                <a:sym typeface="Arial"/>
              </a:rPr>
              <a:t> during wind-induced activity.</a:t>
            </a:r>
            <a:endParaRPr b="0" i="0" sz="1800" u="none" cap="none" strike="noStrike">
              <a:solidFill>
                <a:schemeClr val="dk1"/>
              </a:solidFill>
              <a:latin typeface="Calibri"/>
              <a:ea typeface="Calibri"/>
              <a:cs typeface="Calibri"/>
              <a:sym typeface="Calibri"/>
            </a:endParaRPr>
          </a:p>
        </p:txBody>
      </p:sp>
      <p:sp>
        <p:nvSpPr>
          <p:cNvPr id="455" name="Google Shape;455;p35"/>
          <p:cNvSpPr/>
          <p:nvPr/>
        </p:nvSpPr>
        <p:spPr>
          <a:xfrm>
            <a:off x="571500" y="3771602"/>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Carbachol, which acts at both receptor classes, produced </a:t>
            </a:r>
            <a:r>
              <a:rPr b="1" i="0" lang="en-US" sz="1725" u="none" cap="none" strike="noStrike">
                <a:solidFill>
                  <a:srgbClr val="242A31"/>
                </a:solidFill>
                <a:latin typeface="Arial"/>
                <a:ea typeface="Arial"/>
                <a:cs typeface="Arial"/>
                <a:sym typeface="Arial"/>
              </a:rPr>
              <a:t>18.1 ± 3.5 Hz</a:t>
            </a:r>
            <a:r>
              <a:rPr b="0" i="0" lang="en-US" sz="1725" u="none" cap="none" strike="noStrike">
                <a:solidFill>
                  <a:srgbClr val="242A31"/>
                </a:solidFill>
                <a:latin typeface="Arial"/>
                <a:ea typeface="Arial"/>
                <a:cs typeface="Arial"/>
                <a:sym typeface="Arial"/>
              </a:rPr>
              <a:t> at 5 mM. Nicotine at 1 mM produced uncoordinated activity in six tested preparations, rather than the flight pattern.</a:t>
            </a:r>
            <a:endParaRPr b="0" i="0" sz="1800" u="none" cap="none" strike="noStrike">
              <a:solidFill>
                <a:schemeClr val="dk1"/>
              </a:solidFill>
              <a:latin typeface="Calibri"/>
              <a:ea typeface="Calibri"/>
              <a:cs typeface="Calibri"/>
              <a:sym typeface="Calibri"/>
            </a:endParaRPr>
          </a:p>
        </p:txBody>
      </p:sp>
      <p:sp>
        <p:nvSpPr>
          <p:cNvPr id="456" name="Google Shape;456;p35"/>
          <p:cNvSpPr/>
          <p:nvPr/>
        </p:nvSpPr>
        <p:spPr>
          <a:xfrm>
            <a:off x="571500" y="4846737"/>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Frequency values are means ± SD from 20 cycles in each of five animals. Bath concentrations establish pharmacological effects; they are not measurements of endogenous transmitter concentration at a synapse.</a:t>
            </a:r>
            <a:endParaRPr b="0" i="0" sz="1800" u="none" cap="none" strike="noStrike">
              <a:solidFill>
                <a:schemeClr val="dk1"/>
              </a:solidFill>
              <a:latin typeface="Calibri"/>
              <a:ea typeface="Calibri"/>
              <a:cs typeface="Calibri"/>
              <a:sym typeface="Calibri"/>
            </a:endParaRPr>
          </a:p>
        </p:txBody>
      </p:sp>
      <p:pic>
        <p:nvPicPr>
          <p:cNvPr id="457" name="Google Shape;457;p35"/>
          <p:cNvPicPr preferRelativeResize="0"/>
          <p:nvPr/>
        </p:nvPicPr>
        <p:blipFill rotWithShape="1">
          <a:blip r:embed="rId3">
            <a:alphaModFix/>
          </a:blip>
          <a:srcRect b="0" l="0" r="0" t="0"/>
          <a:stretch/>
        </p:blipFill>
        <p:spPr>
          <a:xfrm>
            <a:off x="7086600" y="1941912"/>
            <a:ext cx="4533900" cy="3050078"/>
          </a:xfrm>
          <a:prstGeom prst="rect">
            <a:avLst/>
          </a:prstGeom>
          <a:noFill/>
          <a:ln>
            <a:noFill/>
          </a:ln>
        </p:spPr>
      </p:pic>
      <p:sp>
        <p:nvSpPr>
          <p:cNvPr id="458" name="Google Shape;458;p35"/>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1B; Buhl et al. (2008). Shared source scales: upper 10 s, lower 100 ms. E = elevator; D = depressor.</a:t>
            </a:r>
            <a:endParaRPr b="0" i="0" sz="1800" u="none" cap="none" strike="noStrike">
              <a:solidFill>
                <a:schemeClr val="dk1"/>
              </a:solidFill>
              <a:latin typeface="Calibri"/>
              <a:ea typeface="Calibri"/>
              <a:cs typeface="Calibri"/>
              <a:sym typeface="Calibri"/>
            </a:endParaRPr>
          </a:p>
        </p:txBody>
      </p:sp>
      <p:pic>
        <p:nvPicPr>
          <p:cNvPr id="459" name="Google Shape;459;p35"/>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460" name="Google Shape;460;p35"/>
          <p:cNvSpPr/>
          <p:nvPr/>
        </p:nvSpPr>
        <p:spPr>
          <a:xfrm>
            <a:off x="571500" y="6434138"/>
            <a:ext cx="1137047"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Buhl et al. (2008)</a:t>
            </a:r>
            <a:endParaRPr b="0" i="0" sz="1800" u="none" cap="none" strike="noStrike">
              <a:solidFill>
                <a:schemeClr val="dk1"/>
              </a:solidFill>
              <a:latin typeface="Calibri"/>
              <a:ea typeface="Calibri"/>
              <a:cs typeface="Calibri"/>
              <a:sym typeface="Calibri"/>
            </a:endParaRPr>
          </a:p>
        </p:txBody>
      </p:sp>
      <p:sp>
        <p:nvSpPr>
          <p:cNvPr id="461" name="Google Shape;461;p35"/>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35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65" name="Shape 465"/>
        <p:cNvGrpSpPr/>
        <p:nvPr/>
      </p:nvGrpSpPr>
      <p:grpSpPr>
        <a:xfrm>
          <a:off x="0" y="0"/>
          <a:ext cx="0" cy="0"/>
          <a:chOff x="0" y="0"/>
          <a:chExt cx="0" cy="0"/>
        </a:xfrm>
      </p:grpSpPr>
      <p:sp>
        <p:nvSpPr>
          <p:cNvPr id="466" name="Google Shape;466;p36"/>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Reversible receptor block interrupts TCG-evoked flight</a:t>
            </a:r>
            <a:endParaRPr b="0" i="0" sz="1800" u="none" cap="none" strike="noStrike">
              <a:solidFill>
                <a:schemeClr val="dk1"/>
              </a:solidFill>
              <a:latin typeface="Calibri"/>
              <a:ea typeface="Calibri"/>
              <a:cs typeface="Calibri"/>
              <a:sym typeface="Calibri"/>
            </a:endParaRPr>
          </a:p>
        </p:txBody>
      </p:sp>
      <p:sp>
        <p:nvSpPr>
          <p:cNvPr id="467" name="Google Shape;467;p36"/>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Buhl and colleagues stimulated the TCG and recorded hindwing elevator and depressor muscles. In the control record, stimulation initiated coordinated flight-pattern activity.</a:t>
            </a:r>
            <a:endParaRPr b="0" i="0" sz="1800" u="none" cap="none" strike="noStrike">
              <a:solidFill>
                <a:schemeClr val="dk1"/>
              </a:solidFill>
              <a:latin typeface="Calibri"/>
              <a:ea typeface="Calibri"/>
              <a:cs typeface="Calibri"/>
              <a:sym typeface="Calibri"/>
            </a:endParaRPr>
          </a:p>
        </p:txBody>
      </p:sp>
      <p:sp>
        <p:nvSpPr>
          <p:cNvPr id="468" name="Google Shape;468;p36"/>
          <p:cNvSpPr/>
          <p:nvPr/>
        </p:nvSpPr>
        <p:spPr>
          <a:xfrm>
            <a:off x="571500" y="2446734"/>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After </a:t>
            </a:r>
            <a:r>
              <a:rPr b="1" i="0" lang="en-US" sz="1725" u="none" cap="none" strike="noStrike">
                <a:solidFill>
                  <a:srgbClr val="242A31"/>
                </a:solidFill>
                <a:latin typeface="Arial"/>
                <a:ea typeface="Arial"/>
                <a:cs typeface="Arial"/>
                <a:sym typeface="Arial"/>
              </a:rPr>
              <a:t>10 mM atropine</a:t>
            </a:r>
            <a:r>
              <a:rPr b="0" i="0" lang="en-US" sz="1725" u="none" cap="none" strike="noStrike">
                <a:solidFill>
                  <a:srgbClr val="242A31"/>
                </a:solidFill>
                <a:latin typeface="Arial"/>
                <a:ea typeface="Arial"/>
                <a:cs typeface="Arial"/>
                <a:sym typeface="Arial"/>
              </a:rPr>
              <a:t> was applied to the thoracic ganglia, the same stimulation failed to produce the coordinated pattern. Following washout, flight activity returned. The within-preparation recovery argues against irreversible recording failure or tissue damage.</a:t>
            </a:r>
            <a:endParaRPr b="0" i="0" sz="1800" u="none" cap="none" strike="noStrike">
              <a:solidFill>
                <a:schemeClr val="dk1"/>
              </a:solidFill>
              <a:latin typeface="Calibri"/>
              <a:ea typeface="Calibri"/>
              <a:cs typeface="Calibri"/>
              <a:sym typeface="Calibri"/>
            </a:endParaRPr>
          </a:p>
        </p:txBody>
      </p:sp>
      <p:sp>
        <p:nvSpPr>
          <p:cNvPr id="469" name="Google Shape;469;p36"/>
          <p:cNvSpPr/>
          <p:nvPr/>
        </p:nvSpPr>
        <p:spPr>
          <a:xfrm>
            <a:off x="571500" y="3771602"/>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block localizes a muscarinic requirement downstream of the stimulation site. It supports cholinergic activation of the thoracic flight network, but does not by itself establish that the TCG releases acetylcholine directly onto the rhythm-generating neurons.</a:t>
            </a:r>
            <a:endParaRPr b="0" i="0" sz="1800" u="none" cap="none" strike="noStrike">
              <a:solidFill>
                <a:schemeClr val="dk1"/>
              </a:solidFill>
              <a:latin typeface="Calibri"/>
              <a:ea typeface="Calibri"/>
              <a:cs typeface="Calibri"/>
              <a:sym typeface="Calibri"/>
            </a:endParaRPr>
          </a:p>
        </p:txBody>
      </p:sp>
      <p:sp>
        <p:nvSpPr>
          <p:cNvPr id="470" name="Google Shape;470;p36"/>
          <p:cNvSpPr/>
          <p:nvPr/>
        </p:nvSpPr>
        <p:spPr>
          <a:xfrm>
            <a:off x="571500" y="5096470"/>
            <a:ext cx="6115050" cy="749201"/>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A cholinergic intermediate remains possible. Identifying the transmitter in a particular neuron requires additional evidence beyond a postsynaptic antagonist effect.</a:t>
            </a:r>
            <a:endParaRPr b="0" i="0" sz="1800" u="none" cap="none" strike="noStrike">
              <a:solidFill>
                <a:schemeClr val="dk1"/>
              </a:solidFill>
              <a:latin typeface="Calibri"/>
              <a:ea typeface="Calibri"/>
              <a:cs typeface="Calibri"/>
              <a:sym typeface="Calibri"/>
            </a:endParaRPr>
          </a:p>
        </p:txBody>
      </p:sp>
      <p:pic>
        <p:nvPicPr>
          <p:cNvPr id="471" name="Google Shape;471;p36"/>
          <p:cNvPicPr preferRelativeResize="0"/>
          <p:nvPr/>
        </p:nvPicPr>
        <p:blipFill rotWithShape="1">
          <a:blip r:embed="rId3">
            <a:alphaModFix/>
          </a:blip>
          <a:srcRect b="0" l="0" r="0" t="0"/>
          <a:stretch/>
        </p:blipFill>
        <p:spPr>
          <a:xfrm>
            <a:off x="7918951" y="1442889"/>
            <a:ext cx="2869197" cy="4048125"/>
          </a:xfrm>
          <a:prstGeom prst="rect">
            <a:avLst/>
          </a:prstGeom>
          <a:noFill/>
          <a:ln>
            <a:noFill/>
          </a:ln>
        </p:spPr>
      </p:pic>
      <p:sp>
        <p:nvSpPr>
          <p:cNvPr id="472" name="Google Shape;472;p36"/>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4C; Buhl et al. (2008). Control, atropine, and 30 min washout; scale bar: 100 ms.</a:t>
            </a:r>
            <a:endParaRPr b="0" i="0" sz="1800" u="none" cap="none" strike="noStrike">
              <a:solidFill>
                <a:schemeClr val="dk1"/>
              </a:solidFill>
              <a:latin typeface="Calibri"/>
              <a:ea typeface="Calibri"/>
              <a:cs typeface="Calibri"/>
              <a:sym typeface="Calibri"/>
            </a:endParaRPr>
          </a:p>
        </p:txBody>
      </p:sp>
      <p:pic>
        <p:nvPicPr>
          <p:cNvPr id="473" name="Google Shape;473;p36"/>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474" name="Google Shape;474;p36"/>
          <p:cNvSpPr/>
          <p:nvPr/>
        </p:nvSpPr>
        <p:spPr>
          <a:xfrm>
            <a:off x="571500" y="6434138"/>
            <a:ext cx="1137047"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Buhl et al. (2008)</a:t>
            </a:r>
            <a:endParaRPr b="0" i="0" sz="1800" u="none" cap="none" strike="noStrike">
              <a:solidFill>
                <a:schemeClr val="dk1"/>
              </a:solidFill>
              <a:latin typeface="Calibri"/>
              <a:ea typeface="Calibri"/>
              <a:cs typeface="Calibri"/>
              <a:sym typeface="Calibri"/>
            </a:endParaRPr>
          </a:p>
        </p:txBody>
      </p:sp>
      <p:sp>
        <p:nvSpPr>
          <p:cNvPr id="475" name="Google Shape;475;p36"/>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36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79" name="Shape 479"/>
        <p:cNvGrpSpPr/>
        <p:nvPr/>
      </p:nvGrpSpPr>
      <p:grpSpPr>
        <a:xfrm>
          <a:off x="0" y="0"/>
          <a:ext cx="0" cy="0"/>
          <a:chOff x="0" y="0"/>
          <a:chExt cx="0" cy="0"/>
        </a:xfrm>
      </p:grpSpPr>
      <p:sp>
        <p:nvSpPr>
          <p:cNvPr id="480" name="Google Shape;480;p37"/>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Amine depletion separates flight activation from facilitation</a:t>
            </a:r>
            <a:endParaRPr b="0" i="0" sz="1800" u="none" cap="none" strike="noStrike">
              <a:solidFill>
                <a:schemeClr val="dk1"/>
              </a:solidFill>
              <a:latin typeface="Calibri"/>
              <a:ea typeface="Calibri"/>
              <a:cs typeface="Calibri"/>
              <a:sym typeface="Calibri"/>
            </a:endParaRPr>
          </a:p>
        </p:txBody>
      </p:sp>
      <p:sp>
        <p:nvSpPr>
          <p:cNvPr id="481" name="Google Shape;481;p37"/>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Reserpine treatment reduced biogenic-amine stores. Separate immunostaining compared octopamine labeling after vehicle treatment with labeling after reserpine; loss of labeling provided a manipulation check.</a:t>
            </a:r>
            <a:endParaRPr b="0" i="0" sz="1800" u="none" cap="none" strike="noStrike">
              <a:solidFill>
                <a:schemeClr val="dk1"/>
              </a:solidFill>
              <a:latin typeface="Calibri"/>
              <a:ea typeface="Calibri"/>
              <a:cs typeface="Calibri"/>
              <a:sym typeface="Calibri"/>
            </a:endParaRPr>
          </a:p>
        </p:txBody>
      </p:sp>
      <p:sp>
        <p:nvSpPr>
          <p:cNvPr id="482" name="Google Shape;482;p37"/>
          <p:cNvSpPr/>
          <p:nvPr/>
        </p:nvSpPr>
        <p:spPr>
          <a:xfrm>
            <a:off x="571500" y="2446734"/>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Despite depletion, wind still evoked coordinated flight activity, and pilocarpine could also activate the motor pattern. The records therefore challenge the claim that octopamine release is an obligatory trigger for every flight bout.</a:t>
            </a:r>
            <a:endParaRPr b="0" i="0" sz="1800" u="none" cap="none" strike="noStrike">
              <a:solidFill>
                <a:schemeClr val="dk1"/>
              </a:solidFill>
              <a:latin typeface="Calibri"/>
              <a:ea typeface="Calibri"/>
              <a:cs typeface="Calibri"/>
              <a:sym typeface="Calibri"/>
            </a:endParaRPr>
          </a:p>
        </p:txBody>
      </p:sp>
      <p:sp>
        <p:nvSpPr>
          <p:cNvPr id="483" name="Google Shape;483;p37"/>
          <p:cNvSpPr/>
          <p:nvPr/>
        </p:nvSpPr>
        <p:spPr>
          <a:xfrm>
            <a:off x="571500" y="3771602"/>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combined evidence supports a muscarinic activation mechanism while allowing octopamine to facilitate excitability and alter the motor pattern. Drug-induced flight and the natural requirement for a transmitter are different questions.</a:t>
            </a:r>
            <a:endParaRPr b="0" i="0" sz="1800" u="none" cap="none" strike="noStrike">
              <a:solidFill>
                <a:schemeClr val="dk1"/>
              </a:solidFill>
              <a:latin typeface="Calibri"/>
              <a:ea typeface="Calibri"/>
              <a:cs typeface="Calibri"/>
              <a:sym typeface="Calibri"/>
            </a:endParaRPr>
          </a:p>
        </p:txBody>
      </p:sp>
      <p:sp>
        <p:nvSpPr>
          <p:cNvPr id="484" name="Google Shape;484;p37"/>
          <p:cNvSpPr/>
          <p:nvPr/>
        </p:nvSpPr>
        <p:spPr>
          <a:xfrm>
            <a:off x="571500" y="5096470"/>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Reduced immunoreactivity is evidence of depletion, not a quantitative demonstration that every amine molecule has disappeared. The conclusion is strongest when depletion, receptor block, and washout results are considered together.</a:t>
            </a:r>
            <a:endParaRPr b="0" i="0" sz="1800" u="none" cap="none" strike="noStrike">
              <a:solidFill>
                <a:schemeClr val="dk1"/>
              </a:solidFill>
              <a:latin typeface="Calibri"/>
              <a:ea typeface="Calibri"/>
              <a:cs typeface="Calibri"/>
              <a:sym typeface="Calibri"/>
            </a:endParaRPr>
          </a:p>
        </p:txBody>
      </p:sp>
      <p:pic>
        <p:nvPicPr>
          <p:cNvPr id="485" name="Google Shape;485;p37"/>
          <p:cNvPicPr preferRelativeResize="0"/>
          <p:nvPr/>
        </p:nvPicPr>
        <p:blipFill rotWithShape="1">
          <a:blip r:embed="rId3">
            <a:alphaModFix/>
          </a:blip>
          <a:srcRect b="0" l="0" r="0" t="0"/>
          <a:stretch/>
        </p:blipFill>
        <p:spPr>
          <a:xfrm>
            <a:off x="7086600" y="1849273"/>
            <a:ext cx="4533900" cy="3235356"/>
          </a:xfrm>
          <a:prstGeom prst="rect">
            <a:avLst/>
          </a:prstGeom>
          <a:noFill/>
          <a:ln>
            <a:noFill/>
          </a:ln>
        </p:spPr>
      </p:pic>
      <p:sp>
        <p:nvSpPr>
          <p:cNvPr id="486" name="Google Shape;486;p37"/>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6C; Buhl et al. (2008). Wind-induced activity after reserpine. Shared source scales: upper 10 s, lower 100 ms.</a:t>
            </a:r>
            <a:endParaRPr b="0" i="0" sz="1800" u="none" cap="none" strike="noStrike">
              <a:solidFill>
                <a:schemeClr val="dk1"/>
              </a:solidFill>
              <a:latin typeface="Calibri"/>
              <a:ea typeface="Calibri"/>
              <a:cs typeface="Calibri"/>
              <a:sym typeface="Calibri"/>
            </a:endParaRPr>
          </a:p>
        </p:txBody>
      </p:sp>
      <p:pic>
        <p:nvPicPr>
          <p:cNvPr id="487" name="Google Shape;487;p37"/>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488" name="Google Shape;488;p37"/>
          <p:cNvSpPr/>
          <p:nvPr/>
        </p:nvSpPr>
        <p:spPr>
          <a:xfrm>
            <a:off x="571500" y="6434138"/>
            <a:ext cx="1137047"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Buhl et al. (2008)</a:t>
            </a:r>
            <a:endParaRPr b="0" i="0" sz="1800" u="none" cap="none" strike="noStrike">
              <a:solidFill>
                <a:schemeClr val="dk1"/>
              </a:solidFill>
              <a:latin typeface="Calibri"/>
              <a:ea typeface="Calibri"/>
              <a:cs typeface="Calibri"/>
              <a:sym typeface="Calibri"/>
            </a:endParaRPr>
          </a:p>
        </p:txBody>
      </p:sp>
      <p:sp>
        <p:nvSpPr>
          <p:cNvPr id="489" name="Google Shape;489;p37"/>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37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493" name="Shape 493"/>
        <p:cNvGrpSpPr/>
        <p:nvPr/>
      </p:nvGrpSpPr>
      <p:grpSpPr>
        <a:xfrm>
          <a:off x="0" y="0"/>
          <a:ext cx="0" cy="0"/>
          <a:chOff x="0" y="0"/>
          <a:chExt cx="0" cy="0"/>
        </a:xfrm>
      </p:grpSpPr>
      <p:sp>
        <p:nvSpPr>
          <p:cNvPr id="494" name="Google Shape;494;p38"/>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Octopamine can weaken a specific excitatory sensory synapse</a:t>
            </a:r>
            <a:endParaRPr b="0" i="0" sz="1800" u="none" cap="none" strike="noStrike">
              <a:solidFill>
                <a:schemeClr val="dk1"/>
              </a:solidFill>
              <a:latin typeface="Calibri"/>
              <a:ea typeface="Calibri"/>
              <a:cs typeface="Calibri"/>
              <a:sym typeface="Calibri"/>
            </a:endParaRPr>
          </a:p>
        </p:txBody>
      </p:sp>
      <p:sp>
        <p:nvSpPr>
          <p:cNvPr id="495" name="Google Shape;495;p38"/>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Leitch, Judge, and Pitman recorded the stretch-receptor-to-BA1 connection while applying octopamine, serotonin, or dopamine. At </a:t>
            </a:r>
            <a:r>
              <a:rPr b="1" i="0" lang="en-US" sz="1800" u="none" cap="none" strike="noStrike">
                <a:solidFill>
                  <a:srgbClr val="242A31"/>
                </a:solidFill>
                <a:latin typeface="Arial"/>
                <a:ea typeface="Arial"/>
                <a:cs typeface="Arial"/>
                <a:sym typeface="Arial"/>
              </a:rPr>
              <a:t>10⁻⁴ M</a:t>
            </a:r>
            <a:r>
              <a:rPr b="0" i="0" lang="en-US" sz="1800" u="none" cap="none" strike="noStrike">
                <a:solidFill>
                  <a:srgbClr val="242A31"/>
                </a:solidFill>
                <a:latin typeface="Arial"/>
                <a:ea typeface="Arial"/>
                <a:cs typeface="Arial"/>
                <a:sym typeface="Arial"/>
              </a:rPr>
              <a:t>, each amine reversibly reduced the sensory-evoked EPSP.</a:t>
            </a:r>
            <a:endParaRPr b="0" i="0" sz="1800" u="none" cap="none" strike="noStrike">
              <a:solidFill>
                <a:schemeClr val="dk1"/>
              </a:solidFill>
              <a:latin typeface="Calibri"/>
              <a:ea typeface="Calibri"/>
              <a:cs typeface="Calibri"/>
              <a:sym typeface="Calibri"/>
            </a:endParaRPr>
          </a:p>
        </p:txBody>
      </p:sp>
      <p:sp>
        <p:nvSpPr>
          <p:cNvPr id="496" name="Google Shape;496;p38"/>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reduction occurred without a corresponding change in the motoneuron’s resting membrane potential or input resistance. Responses to locally applied acetylcholine were also reduced, supporting an effect that included postsynaptic nicotinic receptor function.</a:t>
            </a:r>
            <a:endParaRPr b="0" i="0" sz="1800" u="none" cap="none" strike="noStrike">
              <a:solidFill>
                <a:schemeClr val="dk1"/>
              </a:solidFill>
              <a:latin typeface="Calibri"/>
              <a:ea typeface="Calibri"/>
              <a:cs typeface="Calibri"/>
              <a:sym typeface="Calibri"/>
            </a:endParaRPr>
          </a:p>
        </p:txBody>
      </p:sp>
      <p:sp>
        <p:nvSpPr>
          <p:cNvPr id="497" name="Google Shape;497;p38"/>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octopamine effect persisted in the presence of the muscarinic antagonist scopolamine. It therefore could not be explained simply by recruitment of the previously described muscarinic inhibition of transmitter release.</a:t>
            </a:r>
            <a:endParaRPr b="0" i="0" sz="1800" u="none" cap="none" strike="noStrike">
              <a:solidFill>
                <a:schemeClr val="dk1"/>
              </a:solidFill>
              <a:latin typeface="Calibri"/>
              <a:ea typeface="Calibri"/>
              <a:cs typeface="Calibri"/>
              <a:sym typeface="Calibri"/>
            </a:endParaRPr>
          </a:p>
        </p:txBody>
      </p:sp>
      <p:sp>
        <p:nvSpPr>
          <p:cNvPr id="498" name="Google Shape;498;p38"/>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 modulator can facilitate one aspect of flight and depress a particular sensory pathway. Its net behavioral effect depends on receptor distribution and circuit location. Bath sensitivity alone also does not establish when an endogenous aminergic neuron releases transmitter at that synapse.</a:t>
            </a:r>
            <a:endParaRPr b="0" i="0" sz="1800" u="none" cap="none" strike="noStrike">
              <a:solidFill>
                <a:schemeClr val="dk1"/>
              </a:solidFill>
              <a:latin typeface="Calibri"/>
              <a:ea typeface="Calibri"/>
              <a:cs typeface="Calibri"/>
              <a:sym typeface="Calibri"/>
            </a:endParaRPr>
          </a:p>
        </p:txBody>
      </p:sp>
      <p:pic>
        <p:nvPicPr>
          <p:cNvPr id="499" name="Google Shape;499;p38"/>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500" name="Google Shape;500;p38"/>
          <p:cNvSpPr/>
          <p:nvPr/>
        </p:nvSpPr>
        <p:spPr>
          <a:xfrm>
            <a:off x="571500" y="6434138"/>
            <a:ext cx="1231404"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Leitch et al. (2003)</a:t>
            </a:r>
            <a:endParaRPr b="0" i="0" sz="1800" u="none" cap="none" strike="noStrike">
              <a:solidFill>
                <a:schemeClr val="dk1"/>
              </a:solidFill>
              <a:latin typeface="Calibri"/>
              <a:ea typeface="Calibri"/>
              <a:cs typeface="Calibri"/>
              <a:sym typeface="Calibri"/>
            </a:endParaRPr>
          </a:p>
        </p:txBody>
      </p:sp>
      <p:sp>
        <p:nvSpPr>
          <p:cNvPr id="501" name="Google Shape;501;p38"/>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38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505" name="Shape 505"/>
        <p:cNvGrpSpPr/>
        <p:nvPr/>
      </p:nvGrpSpPr>
      <p:grpSpPr>
        <a:xfrm>
          <a:off x="0" y="0"/>
          <a:ext cx="0" cy="0"/>
          <a:chOff x="0" y="0"/>
          <a:chExt cx="0" cy="0"/>
        </a:xfrm>
      </p:grpSpPr>
      <p:sp>
        <p:nvSpPr>
          <p:cNvPr id="506" name="Google Shape;506;p39"/>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DUM neurons prepare flight-muscle carbohydrate metabolism</a:t>
            </a:r>
            <a:endParaRPr b="0" i="0" sz="1800" u="none" cap="none" strike="noStrike">
              <a:solidFill>
                <a:schemeClr val="dk1"/>
              </a:solidFill>
              <a:latin typeface="Calibri"/>
              <a:ea typeface="Calibri"/>
              <a:cs typeface="Calibri"/>
              <a:sym typeface="Calibri"/>
            </a:endParaRPr>
          </a:p>
        </p:txBody>
      </p:sp>
      <p:sp>
        <p:nvSpPr>
          <p:cNvPr id="507" name="Google Shape;507;p39"/>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1" i="0" lang="en-US" sz="1725" u="none" cap="none" strike="noStrike">
                <a:solidFill>
                  <a:srgbClr val="242A31"/>
                </a:solidFill>
                <a:latin typeface="Arial"/>
                <a:ea typeface="Arial"/>
                <a:cs typeface="Arial"/>
                <a:sym typeface="Arial"/>
              </a:rPr>
              <a:t>Dorsal unpaired median (DUM) neurons</a:t>
            </a:r>
            <a:r>
              <a:rPr b="0" i="0" lang="en-US" sz="1725" u="none" cap="none" strike="noStrike">
                <a:solidFill>
                  <a:srgbClr val="242A31"/>
                </a:solidFill>
                <a:latin typeface="Arial"/>
                <a:ea typeface="Arial"/>
                <a:cs typeface="Arial"/>
                <a:sym typeface="Arial"/>
              </a:rPr>
              <a:t> provide octopaminergic modulation. The subset supplying flight muscles is active at rest and selectively inhibited during flight, linking its action to preparation for takeoff.</a:t>
            </a:r>
            <a:endParaRPr b="0" i="0" sz="1800" u="none" cap="none" strike="noStrike">
              <a:solidFill>
                <a:schemeClr val="dk1"/>
              </a:solidFill>
              <a:latin typeface="Calibri"/>
              <a:ea typeface="Calibri"/>
              <a:cs typeface="Calibri"/>
              <a:sym typeface="Calibri"/>
            </a:endParaRPr>
          </a:p>
        </p:txBody>
      </p:sp>
      <p:sp>
        <p:nvSpPr>
          <p:cNvPr id="508" name="Google Shape;508;p39"/>
          <p:cNvSpPr/>
          <p:nvPr/>
        </p:nvSpPr>
        <p:spPr>
          <a:xfrm>
            <a:off x="571500" y="2446734"/>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Mentel and colleagues stimulated DUM axons at </a:t>
            </a:r>
            <a:r>
              <a:rPr b="1" i="0" lang="en-US" sz="1725" u="none" cap="none" strike="noStrike">
                <a:solidFill>
                  <a:srgbClr val="242A31"/>
                </a:solidFill>
                <a:latin typeface="Arial"/>
                <a:ea typeface="Arial"/>
                <a:cs typeface="Arial"/>
                <a:sym typeface="Arial"/>
              </a:rPr>
              <a:t>1 Hz for 20 min</a:t>
            </a:r>
            <a:r>
              <a:rPr b="0" i="0" lang="en-US" sz="1725" u="none" cap="none" strike="noStrike">
                <a:solidFill>
                  <a:srgbClr val="242A31"/>
                </a:solidFill>
                <a:latin typeface="Arial"/>
                <a:ea typeface="Arial"/>
                <a:cs typeface="Arial"/>
                <a:sym typeface="Arial"/>
              </a:rPr>
              <a:t>. One muscle was denervated, allowing the contralateral muscles of the same locust to serve as stimulated and control comparisons.</a:t>
            </a:r>
            <a:endParaRPr b="0" i="0" sz="1800" u="none" cap="none" strike="noStrike">
              <a:solidFill>
                <a:schemeClr val="dk1"/>
              </a:solidFill>
              <a:latin typeface="Calibri"/>
              <a:ea typeface="Calibri"/>
              <a:cs typeface="Calibri"/>
              <a:sym typeface="Calibri"/>
            </a:endParaRPr>
          </a:p>
        </p:txBody>
      </p:sp>
      <p:sp>
        <p:nvSpPr>
          <p:cNvPr id="509" name="Google Shape;509;p39"/>
          <p:cNvSpPr/>
          <p:nvPr/>
        </p:nvSpPr>
        <p:spPr>
          <a:xfrm>
            <a:off x="571500" y="3521869"/>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Panel B shows increased </a:t>
            </a:r>
            <a:r>
              <a:rPr b="1" i="0" lang="en-US" sz="1725" u="none" cap="none" strike="noStrike">
                <a:solidFill>
                  <a:srgbClr val="242A31"/>
                </a:solidFill>
                <a:latin typeface="Arial"/>
                <a:ea typeface="Arial"/>
                <a:cs typeface="Arial"/>
                <a:sym typeface="Arial"/>
              </a:rPr>
              <a:t>fructose 2,6-bisphosphate (F2,6P₂)</a:t>
            </a:r>
            <a:r>
              <a:rPr b="0" i="0" lang="en-US" sz="1725" u="none" cap="none" strike="noStrike">
                <a:solidFill>
                  <a:srgbClr val="242A31"/>
                </a:solidFill>
                <a:latin typeface="Arial"/>
                <a:ea typeface="Arial"/>
                <a:cs typeface="Arial"/>
                <a:sym typeface="Arial"/>
              </a:rPr>
              <a:t> in the innervated muscle. This metabolite promotes glycolysis, the pathway that breaks down carbohydrate to support ATP production.</a:t>
            </a:r>
            <a:endParaRPr b="0" i="0" sz="1800" u="none" cap="none" strike="noStrike">
              <a:solidFill>
                <a:schemeClr val="dk1"/>
              </a:solidFill>
              <a:latin typeface="Calibri"/>
              <a:ea typeface="Calibri"/>
              <a:cs typeface="Calibri"/>
              <a:sym typeface="Calibri"/>
            </a:endParaRPr>
          </a:p>
        </p:txBody>
      </p:sp>
      <p:sp>
        <p:nvSpPr>
          <p:cNvPr id="510" name="Google Shape;510;p39"/>
          <p:cNvSpPr/>
          <p:nvPr/>
        </p:nvSpPr>
        <p:spPr>
          <a:xfrm>
            <a:off x="571500" y="4597003"/>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Thus central neuronal activity regulates a muscle’s metabolic readiness as well as its electrical activation. These modulatory neurons alter muscle physiology without issuing each contraction command.</a:t>
            </a:r>
            <a:endParaRPr b="0" i="0" sz="1800" u="none" cap="none" strike="noStrike">
              <a:solidFill>
                <a:schemeClr val="dk1"/>
              </a:solidFill>
              <a:latin typeface="Calibri"/>
              <a:ea typeface="Calibri"/>
              <a:cs typeface="Calibri"/>
              <a:sym typeface="Calibri"/>
            </a:endParaRPr>
          </a:p>
        </p:txBody>
      </p:sp>
      <p:pic>
        <p:nvPicPr>
          <p:cNvPr id="511" name="Google Shape;511;p39"/>
          <p:cNvPicPr preferRelativeResize="0"/>
          <p:nvPr/>
        </p:nvPicPr>
        <p:blipFill rotWithShape="1">
          <a:blip r:embed="rId3">
            <a:alphaModFix/>
          </a:blip>
          <a:srcRect b="0" l="0" r="0" t="0"/>
          <a:stretch/>
        </p:blipFill>
        <p:spPr>
          <a:xfrm>
            <a:off x="7671709" y="1442889"/>
            <a:ext cx="3363681" cy="4048125"/>
          </a:xfrm>
          <a:prstGeom prst="rect">
            <a:avLst/>
          </a:prstGeom>
          <a:noFill/>
          <a:ln>
            <a:noFill/>
          </a:ln>
        </p:spPr>
      </p:pic>
      <p:sp>
        <p:nvSpPr>
          <p:cNvPr id="512" name="Google Shape;512;p39"/>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1A–B; Mentel et al. (2003). Paired muscle measurements; right-hand bars show mean + SD.</a:t>
            </a:r>
            <a:endParaRPr b="0" i="0" sz="1800" u="none" cap="none" strike="noStrike">
              <a:solidFill>
                <a:schemeClr val="dk1"/>
              </a:solidFill>
              <a:latin typeface="Calibri"/>
              <a:ea typeface="Calibri"/>
              <a:cs typeface="Calibri"/>
              <a:sym typeface="Calibri"/>
            </a:endParaRPr>
          </a:p>
        </p:txBody>
      </p:sp>
      <p:pic>
        <p:nvPicPr>
          <p:cNvPr id="513" name="Google Shape;513;p39"/>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514" name="Google Shape;514;p39"/>
          <p:cNvSpPr/>
          <p:nvPr/>
        </p:nvSpPr>
        <p:spPr>
          <a:xfrm>
            <a:off x="571500" y="6434138"/>
            <a:ext cx="1298079"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Mentel et al. (2003)</a:t>
            </a:r>
            <a:endParaRPr b="0" i="0" sz="1800" u="none" cap="none" strike="noStrike">
              <a:solidFill>
                <a:schemeClr val="dk1"/>
              </a:solidFill>
              <a:latin typeface="Calibri"/>
              <a:ea typeface="Calibri"/>
              <a:cs typeface="Calibri"/>
              <a:sym typeface="Calibri"/>
            </a:endParaRPr>
          </a:p>
        </p:txBody>
      </p:sp>
      <p:sp>
        <p:nvSpPr>
          <p:cNvPr id="515" name="Google Shape;515;p39"/>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39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519" name="Shape 519"/>
        <p:cNvGrpSpPr/>
        <p:nvPr/>
      </p:nvGrpSpPr>
      <p:grpSpPr>
        <a:xfrm>
          <a:off x="0" y="0"/>
          <a:ext cx="0" cy="0"/>
          <a:chOff x="0" y="0"/>
          <a:chExt cx="0" cy="0"/>
        </a:xfrm>
      </p:grpSpPr>
      <p:sp>
        <p:nvSpPr>
          <p:cNvPr id="520" name="Google Shape;520;p40"/>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PKA is necessary but insufficient for the metabolic response</a:t>
            </a:r>
            <a:endParaRPr b="0" i="0" sz="1800" u="none" cap="none" strike="noStrike">
              <a:solidFill>
                <a:schemeClr val="dk1"/>
              </a:solidFill>
              <a:latin typeface="Calibri"/>
              <a:ea typeface="Calibri"/>
              <a:cs typeface="Calibri"/>
              <a:sym typeface="Calibri"/>
            </a:endParaRPr>
          </a:p>
        </p:txBody>
      </p:sp>
      <p:sp>
        <p:nvSpPr>
          <p:cNvPr id="521" name="Google Shape;521;p40"/>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Octopamine signaling can recruit </a:t>
            </a:r>
            <a:r>
              <a:rPr b="1" i="0" lang="en-US" sz="1725" u="none" cap="none" strike="noStrike">
                <a:solidFill>
                  <a:srgbClr val="242A31"/>
                </a:solidFill>
                <a:latin typeface="Arial"/>
                <a:ea typeface="Arial"/>
                <a:cs typeface="Arial"/>
                <a:sym typeface="Arial"/>
              </a:rPr>
              <a:t>cyclic AMP (cAMP)</a:t>
            </a:r>
            <a:r>
              <a:rPr b="0" i="0" lang="en-US" sz="1725" u="none" cap="none" strike="noStrike">
                <a:solidFill>
                  <a:srgbClr val="242A31"/>
                </a:solidFill>
                <a:latin typeface="Arial"/>
                <a:ea typeface="Arial"/>
                <a:cs typeface="Arial"/>
                <a:sym typeface="Arial"/>
              </a:rPr>
              <a:t> and </a:t>
            </a:r>
            <a:r>
              <a:rPr b="1" i="0" lang="en-US" sz="1725" u="none" cap="none" strike="noStrike">
                <a:solidFill>
                  <a:srgbClr val="242A31"/>
                </a:solidFill>
                <a:latin typeface="Arial"/>
                <a:ea typeface="Arial"/>
                <a:cs typeface="Arial"/>
                <a:sym typeface="Arial"/>
              </a:rPr>
              <a:t>protein kinase A (PKA)</a:t>
            </a:r>
            <a:r>
              <a:rPr b="0" i="0" lang="en-US" sz="1725" u="none" cap="none" strike="noStrike">
                <a:solidFill>
                  <a:srgbClr val="242A31"/>
                </a:solidFill>
                <a:latin typeface="Arial"/>
                <a:ea typeface="Arial"/>
                <a:cs typeface="Arial"/>
                <a:sym typeface="Arial"/>
              </a:rPr>
              <a:t>. PKA phosphorylates target proteins, changing their activity rather than directly carrying a membrane current.</a:t>
            </a:r>
            <a:endParaRPr b="0" i="0" sz="1800" u="none" cap="none" strike="noStrike">
              <a:solidFill>
                <a:schemeClr val="dk1"/>
              </a:solidFill>
              <a:latin typeface="Calibri"/>
              <a:ea typeface="Calibri"/>
              <a:cs typeface="Calibri"/>
              <a:sym typeface="Calibri"/>
            </a:endParaRPr>
          </a:p>
        </p:txBody>
      </p:sp>
      <p:sp>
        <p:nvSpPr>
          <p:cNvPr id="522" name="Google Shape;522;p40"/>
          <p:cNvSpPr/>
          <p:nvPr/>
        </p:nvSpPr>
        <p:spPr>
          <a:xfrm>
            <a:off x="571500" y="2446734"/>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1" i="0" lang="en-US" sz="1725" u="none" cap="none" strike="noStrike">
                <a:solidFill>
                  <a:srgbClr val="242A31"/>
                </a:solidFill>
                <a:latin typeface="Arial"/>
                <a:ea typeface="Arial"/>
                <a:cs typeface="Arial"/>
                <a:sym typeface="Arial"/>
              </a:rPr>
              <a:t>Panel A:</a:t>
            </a:r>
            <a:r>
              <a:rPr b="0" i="0" lang="en-US" sz="1725" u="none" cap="none" strike="noStrike">
                <a:solidFill>
                  <a:srgbClr val="242A31"/>
                </a:solidFill>
                <a:latin typeface="Arial"/>
                <a:ea typeface="Arial"/>
                <a:cs typeface="Arial"/>
                <a:sym typeface="Arial"/>
              </a:rPr>
              <a:t> during DUM stimulation, injecting the PKA inhibitor KT5720 reduced the F2,6P₂ response compared with vehicle in the contralateral muscle. The paired comparison supports a requirement for PKA activity.</a:t>
            </a:r>
            <a:endParaRPr b="0" i="0" sz="1800" u="none" cap="none" strike="noStrike">
              <a:solidFill>
                <a:schemeClr val="dk1"/>
              </a:solidFill>
              <a:latin typeface="Calibri"/>
              <a:ea typeface="Calibri"/>
              <a:cs typeface="Calibri"/>
              <a:sym typeface="Calibri"/>
            </a:endParaRPr>
          </a:p>
        </p:txBody>
      </p:sp>
      <p:sp>
        <p:nvSpPr>
          <p:cNvPr id="523" name="Google Shape;523;p40"/>
          <p:cNvSpPr/>
          <p:nvPr/>
        </p:nvSpPr>
        <p:spPr>
          <a:xfrm>
            <a:off x="571500" y="3521869"/>
            <a:ext cx="6115050" cy="749201"/>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1" i="0" lang="en-US" sz="1725" u="none" cap="none" strike="noStrike">
                <a:solidFill>
                  <a:srgbClr val="242A31"/>
                </a:solidFill>
                <a:latin typeface="Arial"/>
                <a:ea typeface="Arial"/>
                <a:cs typeface="Arial"/>
                <a:sym typeface="Arial"/>
              </a:rPr>
              <a:t>Panel B:</a:t>
            </a:r>
            <a:r>
              <a:rPr b="0" i="0" lang="en-US" sz="1725" u="none" cap="none" strike="noStrike">
                <a:solidFill>
                  <a:srgbClr val="242A31"/>
                </a:solidFill>
                <a:latin typeface="Arial"/>
                <a:ea typeface="Arial"/>
                <a:cs typeface="Arial"/>
                <a:sym typeface="Arial"/>
              </a:rPr>
              <a:t> 8-bromo-cAMP activated PKA but did not reproduce the increase in F2,6P₂. PKA activation alone was therefore insufficient under the tested conditions.</a:t>
            </a:r>
            <a:endParaRPr b="0" i="0" sz="1800" u="none" cap="none" strike="noStrike">
              <a:solidFill>
                <a:schemeClr val="dk1"/>
              </a:solidFill>
              <a:latin typeface="Calibri"/>
              <a:ea typeface="Calibri"/>
              <a:cs typeface="Calibri"/>
              <a:sym typeface="Calibri"/>
            </a:endParaRPr>
          </a:p>
        </p:txBody>
      </p:sp>
      <p:sp>
        <p:nvSpPr>
          <p:cNvPr id="524" name="Google Shape;524;p40"/>
          <p:cNvSpPr/>
          <p:nvPr/>
        </p:nvSpPr>
        <p:spPr>
          <a:xfrm>
            <a:off x="571500" y="434727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The authors proposed a parallel calcium-dependent contribution. The requirement for additional signaling follows from the experiment; the complete parallel pathway was not established by these two manipulations.</a:t>
            </a:r>
            <a:endParaRPr b="0" i="0" sz="1800" u="none" cap="none" strike="noStrike">
              <a:solidFill>
                <a:schemeClr val="dk1"/>
              </a:solidFill>
              <a:latin typeface="Calibri"/>
              <a:ea typeface="Calibri"/>
              <a:cs typeface="Calibri"/>
              <a:sym typeface="Calibri"/>
            </a:endParaRPr>
          </a:p>
        </p:txBody>
      </p:sp>
      <p:pic>
        <p:nvPicPr>
          <p:cNvPr id="525" name="Google Shape;525;p40"/>
          <p:cNvPicPr preferRelativeResize="0"/>
          <p:nvPr/>
        </p:nvPicPr>
        <p:blipFill rotWithShape="1">
          <a:blip r:embed="rId3">
            <a:alphaModFix/>
          </a:blip>
          <a:srcRect b="0" l="0" r="0" t="0"/>
          <a:stretch/>
        </p:blipFill>
        <p:spPr>
          <a:xfrm>
            <a:off x="7910364" y="1442889"/>
            <a:ext cx="2886372" cy="4048125"/>
          </a:xfrm>
          <a:prstGeom prst="rect">
            <a:avLst/>
          </a:prstGeom>
          <a:noFill/>
          <a:ln>
            <a:noFill/>
          </a:ln>
        </p:spPr>
      </p:pic>
      <p:sp>
        <p:nvSpPr>
          <p:cNvPr id="526" name="Google Shape;526;p40"/>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3A–B; Mentel et al. (2003). A: 10 paired animals; B: 9. Means + SD; F2,6P₂ in nmol/g fresh weight.</a:t>
            </a:r>
            <a:endParaRPr b="0" i="0" sz="1800" u="none" cap="none" strike="noStrike">
              <a:solidFill>
                <a:schemeClr val="dk1"/>
              </a:solidFill>
              <a:latin typeface="Calibri"/>
              <a:ea typeface="Calibri"/>
              <a:cs typeface="Calibri"/>
              <a:sym typeface="Calibri"/>
            </a:endParaRPr>
          </a:p>
        </p:txBody>
      </p:sp>
      <p:pic>
        <p:nvPicPr>
          <p:cNvPr id="527" name="Google Shape;527;p40"/>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528" name="Google Shape;528;p40"/>
          <p:cNvSpPr/>
          <p:nvPr/>
        </p:nvSpPr>
        <p:spPr>
          <a:xfrm>
            <a:off x="571500" y="6434138"/>
            <a:ext cx="1298079"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Mentel et al. (2003)</a:t>
            </a:r>
            <a:endParaRPr b="0" i="0" sz="1800" u="none" cap="none" strike="noStrike">
              <a:solidFill>
                <a:schemeClr val="dk1"/>
              </a:solidFill>
              <a:latin typeface="Calibri"/>
              <a:ea typeface="Calibri"/>
              <a:cs typeface="Calibri"/>
              <a:sym typeface="Calibri"/>
            </a:endParaRPr>
          </a:p>
        </p:txBody>
      </p:sp>
      <p:sp>
        <p:nvSpPr>
          <p:cNvPr id="529" name="Google Shape;529;p40"/>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40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533" name="Shape 533"/>
        <p:cNvGrpSpPr/>
        <p:nvPr/>
      </p:nvGrpSpPr>
      <p:grpSpPr>
        <a:xfrm>
          <a:off x="0" y="0"/>
          <a:ext cx="0" cy="0"/>
          <a:chOff x="0" y="0"/>
          <a:chExt cx="0" cy="0"/>
        </a:xfrm>
      </p:grpSpPr>
      <p:sp>
        <p:nvSpPr>
          <p:cNvPr id="534" name="Google Shape;534;p41"/>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Heat shock changes action potentials and protects flight circuitry</a:t>
            </a:r>
            <a:endParaRPr b="0" i="0" sz="1800" u="none" cap="none" strike="noStrike">
              <a:solidFill>
                <a:schemeClr val="dk1"/>
              </a:solidFill>
              <a:latin typeface="Calibri"/>
              <a:ea typeface="Calibri"/>
              <a:cs typeface="Calibri"/>
              <a:sym typeface="Calibri"/>
            </a:endParaRPr>
          </a:p>
        </p:txBody>
      </p:sp>
      <p:sp>
        <p:nvSpPr>
          <p:cNvPr id="535" name="Google Shape;535;p41"/>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Wu, Walker, and Robertson exposed locusts to </a:t>
            </a:r>
            <a:r>
              <a:rPr b="1" i="0" lang="en-US" sz="1800" u="none" cap="none" strike="noStrike">
                <a:solidFill>
                  <a:srgbClr val="242A31"/>
                </a:solidFill>
                <a:latin typeface="Arial"/>
                <a:ea typeface="Arial"/>
                <a:cs typeface="Arial"/>
                <a:sym typeface="Arial"/>
              </a:rPr>
              <a:t>45°C for three hours</a:t>
            </a:r>
            <a:r>
              <a:rPr b="0" i="0" lang="en-US" sz="1800" u="none" cap="none" strike="noStrike">
                <a:solidFill>
                  <a:srgbClr val="242A31"/>
                </a:solidFill>
                <a:latin typeface="Arial"/>
                <a:ea typeface="Arial"/>
                <a:cs typeface="Arial"/>
                <a:sym typeface="Arial"/>
              </a:rPr>
              <a:t>, then compared their flight system with untreated controls. They recorded muscle timing during tethered flight and intracellular action potentials during subsequent heating.</a:t>
            </a:r>
            <a:endParaRPr b="0" i="0" sz="1800" u="none" cap="none" strike="noStrike">
              <a:solidFill>
                <a:schemeClr val="dk1"/>
              </a:solidFill>
              <a:latin typeface="Calibri"/>
              <a:ea typeface="Calibri"/>
              <a:cs typeface="Calibri"/>
              <a:sym typeface="Calibri"/>
            </a:endParaRPr>
          </a:p>
        </p:txBody>
      </p:sp>
      <p:sp>
        <p:nvSpPr>
          <p:cNvPr id="536" name="Google Shape;536;p41"/>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Prior heat shock broadened motoneuron action potentials and protected spike generation against failure at higher temperatures. At room temperature, representative elevator–depressor timing and the capacity to generate a steering response remained intact.</a:t>
            </a:r>
            <a:endParaRPr b="0" i="0" sz="1800" u="none" cap="none" strike="noStrike">
              <a:solidFill>
                <a:schemeClr val="dk1"/>
              </a:solidFill>
              <a:latin typeface="Calibri"/>
              <a:ea typeface="Calibri"/>
              <a:cs typeface="Calibri"/>
              <a:sym typeface="Calibri"/>
            </a:endParaRPr>
          </a:p>
        </p:txBody>
      </p:sp>
      <p:sp>
        <p:nvSpPr>
          <p:cNvPr id="537" name="Google Shape;537;p41"/>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Tetraethylammonium (</a:t>
            </a:r>
            <a:r>
              <a:rPr b="1" i="0" lang="en-US" sz="1800" u="none" cap="none" strike="noStrike">
                <a:solidFill>
                  <a:srgbClr val="242A31"/>
                </a:solidFill>
                <a:latin typeface="Arial"/>
                <a:ea typeface="Arial"/>
                <a:cs typeface="Arial"/>
                <a:sym typeface="Arial"/>
              </a:rPr>
              <a:t>TEA</a:t>
            </a:r>
            <a:r>
              <a:rPr b="0" i="0" lang="en-US" sz="1800" u="none" cap="none" strike="noStrike">
                <a:solidFill>
                  <a:srgbClr val="242A31"/>
                </a:solidFill>
                <a:latin typeface="Arial"/>
                <a:ea typeface="Arial"/>
                <a:cs typeface="Arial"/>
                <a:sym typeface="Arial"/>
              </a:rPr>
              <a:t>), a blocker of potassium currents, mimicked the protective effect. Because K⁺ currents contribute to repolarization, reducing their action can broaden the spike and change its sensitivity to temperature.</a:t>
            </a:r>
            <a:endParaRPr b="0" i="0" sz="1800" u="none" cap="none" strike="noStrike">
              <a:solidFill>
                <a:schemeClr val="dk1"/>
              </a:solidFill>
              <a:latin typeface="Calibri"/>
              <a:ea typeface="Calibri"/>
              <a:cs typeface="Calibri"/>
              <a:sym typeface="Calibri"/>
            </a:endParaRPr>
          </a:p>
        </p:txBody>
      </p:sp>
      <p:sp>
        <p:nvSpPr>
          <p:cNvPr id="538" name="Google Shape;538;p41"/>
          <p:cNvSpPr/>
          <p:nvPr/>
        </p:nvSpPr>
        <p:spPr>
          <a:xfrm>
            <a:off x="571500" y="4445198"/>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results support a hypothesis involving K⁺-channel modulation. They do not identify one channel subtype or show that a longer spike is sufficient to explain every aspect of heat tolerance. The experiment nevertheless links membrane physiology, environmental history, and retained motor function.</a:t>
            </a:r>
            <a:endParaRPr b="0" i="0" sz="1800" u="none" cap="none" strike="noStrike">
              <a:solidFill>
                <a:schemeClr val="dk1"/>
              </a:solidFill>
              <a:latin typeface="Calibri"/>
              <a:ea typeface="Calibri"/>
              <a:cs typeface="Calibri"/>
              <a:sym typeface="Calibri"/>
            </a:endParaRPr>
          </a:p>
        </p:txBody>
      </p:sp>
      <p:pic>
        <p:nvPicPr>
          <p:cNvPr id="539" name="Google Shape;539;p41"/>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540" name="Google Shape;540;p41"/>
          <p:cNvSpPr/>
          <p:nvPr/>
        </p:nvSpPr>
        <p:spPr>
          <a:xfrm>
            <a:off x="571500" y="6434138"/>
            <a:ext cx="1050429"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Wu et al. (2001)</a:t>
            </a:r>
            <a:endParaRPr b="0" i="0" sz="1800" u="none" cap="none" strike="noStrike">
              <a:solidFill>
                <a:schemeClr val="dk1"/>
              </a:solidFill>
              <a:latin typeface="Calibri"/>
              <a:ea typeface="Calibri"/>
              <a:cs typeface="Calibri"/>
              <a:sym typeface="Calibri"/>
            </a:endParaRPr>
          </a:p>
        </p:txBody>
      </p:sp>
      <p:sp>
        <p:nvSpPr>
          <p:cNvPr id="541" name="Google Shape;541;p41"/>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41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545" name="Shape 545"/>
        <p:cNvGrpSpPr/>
        <p:nvPr/>
      </p:nvGrpSpPr>
      <p:grpSpPr>
        <a:xfrm>
          <a:off x="0" y="0"/>
          <a:ext cx="0" cy="0"/>
          <a:chOff x="0" y="0"/>
          <a:chExt cx="0" cy="0"/>
        </a:xfrm>
      </p:grpSpPr>
      <p:sp>
        <p:nvSpPr>
          <p:cNvPr id="546" name="Google Shape;546;p42"/>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The flight network compensates after tegula loss</a:t>
            </a:r>
            <a:endParaRPr b="0" i="0" sz="1800" u="none" cap="none" strike="noStrike">
              <a:solidFill>
                <a:schemeClr val="dk1"/>
              </a:solidFill>
              <a:latin typeface="Calibri"/>
              <a:ea typeface="Calibri"/>
              <a:cs typeface="Calibri"/>
              <a:sym typeface="Calibri"/>
            </a:endParaRPr>
          </a:p>
        </p:txBody>
      </p:sp>
      <p:sp>
        <p:nvSpPr>
          <p:cNvPr id="547" name="Google Shape;547;p42"/>
          <p:cNvSpPr/>
          <p:nvPr/>
        </p:nvSpPr>
        <p:spPr>
          <a:xfrm>
            <a:off x="571500" y="1428750"/>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Büschges and Pearson removed tegula input and followed the flight pattern over subsequent days. Initially, wingbeat frequency fell and the interval from depressor to elevator activity increased.</a:t>
            </a:r>
            <a:endParaRPr b="0" i="0" sz="1800" u="none" cap="none" strike="noStrike">
              <a:solidFill>
                <a:schemeClr val="dk1"/>
              </a:solidFill>
              <a:latin typeface="Calibri"/>
              <a:ea typeface="Calibri"/>
              <a:cs typeface="Calibri"/>
              <a:sym typeface="Calibri"/>
            </a:endParaRPr>
          </a:p>
        </p:txBody>
      </p:sp>
      <p:sp>
        <p:nvSpPr>
          <p:cNvPr id="548" name="Google Shape;548;p42"/>
          <p:cNvSpPr/>
          <p:nvPr/>
        </p:nvSpPr>
        <p:spPr>
          <a:xfrm>
            <a:off x="571500" y="2137172"/>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Recovery began within the first day and continued for up to about two weeks. Approximately </a:t>
            </a:r>
            <a:r>
              <a:rPr b="1" i="0" lang="en-US" sz="1800" u="none" cap="none" strike="noStrike">
                <a:solidFill>
                  <a:srgbClr val="242A31"/>
                </a:solidFill>
                <a:latin typeface="Arial"/>
                <a:ea typeface="Arial"/>
                <a:cs typeface="Arial"/>
                <a:sym typeface="Arial"/>
              </a:rPr>
              <a:t>80%</a:t>
            </a:r>
            <a:r>
              <a:rPr b="0" i="0" lang="en-US" sz="1800" u="none" cap="none" strike="noStrike">
                <a:solidFill>
                  <a:srgbClr val="242A31"/>
                </a:solidFill>
                <a:latin typeface="Arial"/>
                <a:ea typeface="Arial"/>
                <a:cs typeface="Arial"/>
                <a:sym typeface="Arial"/>
              </a:rPr>
              <a:t> of animals showed nearly complete recovery of the measured flight-pattern parameters.</a:t>
            </a:r>
            <a:endParaRPr b="0" i="0" sz="1800" u="none" cap="none" strike="noStrike">
              <a:solidFill>
                <a:schemeClr val="dk1"/>
              </a:solidFill>
              <a:latin typeface="Calibri"/>
              <a:ea typeface="Calibri"/>
              <a:cs typeface="Calibri"/>
              <a:sym typeface="Calibri"/>
            </a:endParaRPr>
          </a:p>
        </p:txBody>
      </p:sp>
      <p:sp>
        <p:nvSpPr>
          <p:cNvPr id="549" name="Google Shape;549;p42"/>
          <p:cNvSpPr/>
          <p:nvPr/>
        </p:nvSpPr>
        <p:spPr>
          <a:xfrm>
            <a:off x="571500" y="2845594"/>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Intracellular observations implicated changes in the use of remaining sensory inputs. Removing the remaining afferent input eliminated the recovered advantage: recovered and unoperated animals then expressed similar deafferented patterns.</a:t>
            </a:r>
            <a:endParaRPr b="0" i="0" sz="1800" u="none" cap="none" strike="noStrike">
              <a:solidFill>
                <a:schemeClr val="dk1"/>
              </a:solidFill>
              <a:latin typeface="Calibri"/>
              <a:ea typeface="Calibri"/>
              <a:cs typeface="Calibri"/>
              <a:sym typeface="Calibri"/>
            </a:endParaRPr>
          </a:p>
        </p:txBody>
      </p:sp>
      <p:sp>
        <p:nvSpPr>
          <p:cNvPr id="550" name="Google Shape;550;p42"/>
          <p:cNvSpPr/>
          <p:nvPr/>
        </p:nvSpPr>
        <p:spPr>
          <a:xfrm>
            <a:off x="571500" y="3851077"/>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This result argues for compensation through available sensory pathways rather than regeneration of the removed tegula. </a:t>
            </a:r>
            <a:r>
              <a:rPr b="1" i="0" lang="en-US" sz="1800" u="none" cap="none" strike="noStrike">
                <a:solidFill>
                  <a:srgbClr val="242A31"/>
                </a:solidFill>
                <a:latin typeface="Arial"/>
                <a:ea typeface="Arial"/>
                <a:cs typeface="Arial"/>
                <a:sym typeface="Arial"/>
              </a:rPr>
              <a:t>Functional compensation</a:t>
            </a:r>
            <a:r>
              <a:rPr b="0" i="0" lang="en-US" sz="1800" u="none" cap="none" strike="noStrike">
                <a:solidFill>
                  <a:srgbClr val="242A31"/>
                </a:solidFill>
                <a:latin typeface="Arial"/>
                <a:ea typeface="Arial"/>
                <a:cs typeface="Arial"/>
                <a:sym typeface="Arial"/>
              </a:rPr>
              <a:t> means that the system restores an output by changing how surviving components contribute; it need not recreate the original circuit operation exactly.</a:t>
            </a:r>
            <a:endParaRPr b="0" i="0" sz="1800" u="none" cap="none" strike="noStrike">
              <a:solidFill>
                <a:schemeClr val="dk1"/>
              </a:solidFill>
              <a:latin typeface="Calibri"/>
              <a:ea typeface="Calibri"/>
              <a:cs typeface="Calibri"/>
              <a:sym typeface="Calibri"/>
            </a:endParaRPr>
          </a:p>
        </p:txBody>
      </p:sp>
      <p:pic>
        <p:nvPicPr>
          <p:cNvPr id="551" name="Google Shape;551;p42"/>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552" name="Google Shape;552;p42"/>
          <p:cNvSpPr/>
          <p:nvPr/>
        </p:nvSpPr>
        <p:spPr>
          <a:xfrm>
            <a:off x="571500" y="6434138"/>
            <a:ext cx="1840557"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Büschges &amp; Pearson (1991)</a:t>
            </a:r>
            <a:endParaRPr b="0" i="0" sz="1800" u="none" cap="none" strike="noStrike">
              <a:solidFill>
                <a:schemeClr val="dk1"/>
              </a:solidFill>
              <a:latin typeface="Calibri"/>
              <a:ea typeface="Calibri"/>
              <a:cs typeface="Calibri"/>
              <a:sym typeface="Calibri"/>
            </a:endParaRPr>
          </a:p>
        </p:txBody>
      </p:sp>
      <p:sp>
        <p:nvSpPr>
          <p:cNvPr id="553" name="Google Shape;553;p42"/>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42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557" name="Shape 557"/>
        <p:cNvGrpSpPr/>
        <p:nvPr/>
      </p:nvGrpSpPr>
      <p:grpSpPr>
        <a:xfrm>
          <a:off x="0" y="0"/>
          <a:ext cx="0" cy="0"/>
          <a:chOff x="0" y="0"/>
          <a:chExt cx="0" cy="0"/>
        </a:xfrm>
      </p:grpSpPr>
      <p:sp>
        <p:nvSpPr>
          <p:cNvPr id="558" name="Google Shape;558;p43"/>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Adult maturation preserves the capacity for compensation</a:t>
            </a:r>
            <a:endParaRPr b="0" i="0" sz="1800" u="none" cap="none" strike="noStrike">
              <a:solidFill>
                <a:schemeClr val="dk1"/>
              </a:solidFill>
              <a:latin typeface="Calibri"/>
              <a:ea typeface="Calibri"/>
              <a:cs typeface="Calibri"/>
              <a:sym typeface="Calibri"/>
            </a:endParaRPr>
          </a:p>
        </p:txBody>
      </p:sp>
      <p:sp>
        <p:nvSpPr>
          <p:cNvPr id="559" name="Google Shape;559;p43"/>
          <p:cNvSpPr/>
          <p:nvPr/>
        </p:nvSpPr>
        <p:spPr>
          <a:xfrm>
            <a:off x="571500" y="1428750"/>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Gee and Robertson compared tegula ablation in locusts </a:t>
            </a:r>
            <a:r>
              <a:rPr b="1" i="0" lang="en-US" sz="1800" u="none" cap="none" strike="noStrike">
                <a:solidFill>
                  <a:srgbClr val="242A31"/>
                </a:solidFill>
                <a:latin typeface="Arial"/>
                <a:ea typeface="Arial"/>
                <a:cs typeface="Arial"/>
                <a:sym typeface="Arial"/>
              </a:rPr>
              <a:t>one day after the adult molt</a:t>
            </a:r>
            <a:r>
              <a:rPr b="0" i="0" lang="en-US" sz="1800" u="none" cap="none" strike="noStrike">
                <a:solidFill>
                  <a:srgbClr val="242A31"/>
                </a:solidFill>
                <a:latin typeface="Arial"/>
                <a:ea typeface="Arial"/>
                <a:cs typeface="Arial"/>
                <a:sym typeface="Arial"/>
              </a:rPr>
              <a:t> with ablation </a:t>
            </a:r>
            <a:r>
              <a:rPr b="1" i="0" lang="en-US" sz="1800" u="none" cap="none" strike="noStrike">
                <a:solidFill>
                  <a:srgbClr val="242A31"/>
                </a:solidFill>
                <a:latin typeface="Arial"/>
                <a:ea typeface="Arial"/>
                <a:cs typeface="Arial"/>
                <a:sym typeface="Arial"/>
              </a:rPr>
              <a:t>two weeks after the adult molt</a:t>
            </a:r>
            <a:r>
              <a:rPr b="0" i="0" lang="en-US" sz="1800" u="none" cap="none" strike="noStrike">
                <a:solidFill>
                  <a:srgbClr val="242A31"/>
                </a:solidFill>
                <a:latin typeface="Arial"/>
                <a:ea typeface="Arial"/>
                <a:cs typeface="Arial"/>
                <a:sym typeface="Arial"/>
              </a:rPr>
              <a:t>. They removed either the hindwing tegulae or all tegulae.</a:t>
            </a:r>
            <a:endParaRPr b="0" i="0" sz="1800" u="none" cap="none" strike="noStrike">
              <a:solidFill>
                <a:schemeClr val="dk1"/>
              </a:solidFill>
              <a:latin typeface="Calibri"/>
              <a:ea typeface="Calibri"/>
              <a:cs typeface="Calibri"/>
              <a:sym typeface="Calibri"/>
            </a:endParaRPr>
          </a:p>
        </p:txBody>
      </p:sp>
      <p:sp>
        <p:nvSpPr>
          <p:cNvPr id="560" name="Google Shape;560;p43"/>
          <p:cNvSpPr/>
          <p:nvPr/>
        </p:nvSpPr>
        <p:spPr>
          <a:xfrm>
            <a:off x="571500" y="2137172"/>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Wingbeat frequency was followed with a stroboscope in tethered flight. EMG recordings in recovered animals provided an independent measure of the temporal organization of the motor pattern.</a:t>
            </a:r>
            <a:endParaRPr b="0" i="0" sz="1800" u="none" cap="none" strike="noStrike">
              <a:solidFill>
                <a:schemeClr val="dk1"/>
              </a:solidFill>
              <a:latin typeface="Calibri"/>
              <a:ea typeface="Calibri"/>
              <a:cs typeface="Calibri"/>
              <a:sym typeface="Calibri"/>
            </a:endParaRPr>
          </a:p>
        </p:txBody>
      </p:sp>
      <p:sp>
        <p:nvSpPr>
          <p:cNvPr id="561" name="Google Shape;561;p43"/>
          <p:cNvSpPr/>
          <p:nvPr/>
        </p:nvSpPr>
        <p:spPr>
          <a:xfrm>
            <a:off x="571500" y="2845594"/>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two age groups retained comparable capacity to recover from proprioceptor loss. The mature flight system therefore remains capable of functional adjustment; compensation is not restricted to the earliest period of adult maturation.</a:t>
            </a:r>
            <a:endParaRPr b="0" i="0" sz="1800" u="none" cap="none" strike="noStrike">
              <a:solidFill>
                <a:schemeClr val="dk1"/>
              </a:solidFill>
              <a:latin typeface="Calibri"/>
              <a:ea typeface="Calibri"/>
              <a:cs typeface="Calibri"/>
              <a:sym typeface="Calibri"/>
            </a:endParaRPr>
          </a:p>
        </p:txBody>
      </p:sp>
      <p:sp>
        <p:nvSpPr>
          <p:cNvPr id="562" name="Google Shape;562;p43"/>
          <p:cNvSpPr/>
          <p:nvPr/>
        </p:nvSpPr>
        <p:spPr>
          <a:xfrm>
            <a:off x="571500" y="3851077"/>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Agreement between wingbeat and EMG measures strengthens the conclusion for the measured behavior. Comparable recovery does not establish identical cellular mechanisms at both ages, and normal tethered cycling alone does not demonstrate complete restoration of free-flight maneuvering.</a:t>
            </a:r>
            <a:endParaRPr b="0" i="0" sz="1800" u="none" cap="none" strike="noStrike">
              <a:solidFill>
                <a:schemeClr val="dk1"/>
              </a:solidFill>
              <a:latin typeface="Calibri"/>
              <a:ea typeface="Calibri"/>
              <a:cs typeface="Calibri"/>
              <a:sym typeface="Calibri"/>
            </a:endParaRPr>
          </a:p>
        </p:txBody>
      </p:sp>
      <p:pic>
        <p:nvPicPr>
          <p:cNvPr id="563" name="Google Shape;563;p43"/>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564" name="Google Shape;564;p43"/>
          <p:cNvSpPr/>
          <p:nvPr/>
        </p:nvSpPr>
        <p:spPr>
          <a:xfrm>
            <a:off x="571500" y="6434138"/>
            <a:ext cx="1610469"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Gee &amp; Robertson (1996)</a:t>
            </a:r>
            <a:endParaRPr b="0" i="0" sz="1800" u="none" cap="none" strike="noStrike">
              <a:solidFill>
                <a:schemeClr val="dk1"/>
              </a:solidFill>
              <a:latin typeface="Calibri"/>
              <a:ea typeface="Calibri"/>
              <a:cs typeface="Calibri"/>
              <a:sym typeface="Calibri"/>
            </a:endParaRPr>
          </a:p>
        </p:txBody>
      </p:sp>
      <p:sp>
        <p:nvSpPr>
          <p:cNvPr id="565" name="Google Shape;565;p43"/>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43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569" name="Shape 569"/>
        <p:cNvGrpSpPr/>
        <p:nvPr/>
      </p:nvGrpSpPr>
      <p:grpSpPr>
        <a:xfrm>
          <a:off x="0" y="0"/>
          <a:ext cx="0" cy="0"/>
          <a:chOff x="0" y="0"/>
          <a:chExt cx="0" cy="0"/>
        </a:xfrm>
      </p:grpSpPr>
      <p:sp>
        <p:nvSpPr>
          <p:cNvPr id="570" name="Google Shape;570;p44"/>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Walking and flight patterns can coexist in a reduced preparation</a:t>
            </a:r>
            <a:endParaRPr b="0" i="0" sz="1800" u="none" cap="none" strike="noStrike">
              <a:solidFill>
                <a:schemeClr val="dk1"/>
              </a:solidFill>
              <a:latin typeface="Calibri"/>
              <a:ea typeface="Calibri"/>
              <a:cs typeface="Calibri"/>
              <a:sym typeface="Calibri"/>
            </a:endParaRPr>
          </a:p>
        </p:txBody>
      </p:sp>
      <p:sp>
        <p:nvSpPr>
          <p:cNvPr id="571" name="Google Shape;571;p44"/>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Rillich and colleagues recorded wing-muscle EMGs together with leg motor nerves during pharmacological activation. </a:t>
            </a:r>
            <a:r>
              <a:rPr b="1" i="0" lang="en-US" sz="1725" u="none" cap="none" strike="noStrike">
                <a:solidFill>
                  <a:srgbClr val="242A31"/>
                </a:solidFill>
                <a:latin typeface="Arial"/>
                <a:ea typeface="Arial"/>
                <a:cs typeface="Arial"/>
                <a:sym typeface="Arial"/>
              </a:rPr>
              <a:t>N3B</a:t>
            </a:r>
            <a:r>
              <a:rPr b="0" i="0" lang="en-US" sz="1725" u="none" cap="none" strike="noStrike">
                <a:solidFill>
                  <a:srgbClr val="242A31"/>
                </a:solidFill>
                <a:latin typeface="Arial"/>
                <a:ea typeface="Arial"/>
                <a:cs typeface="Arial"/>
                <a:sym typeface="Arial"/>
              </a:rPr>
              <a:t> and </a:t>
            </a:r>
            <a:r>
              <a:rPr b="1" i="0" lang="en-US" sz="1725" u="none" cap="none" strike="noStrike">
                <a:solidFill>
                  <a:srgbClr val="242A31"/>
                </a:solidFill>
                <a:latin typeface="Arial"/>
                <a:ea typeface="Arial"/>
                <a:cs typeface="Arial"/>
                <a:sym typeface="Arial"/>
              </a:rPr>
              <a:t>N5A</a:t>
            </a:r>
            <a:r>
              <a:rPr b="0" i="0" lang="en-US" sz="1725" u="none" cap="none" strike="noStrike">
                <a:solidFill>
                  <a:srgbClr val="242A31"/>
                </a:solidFill>
                <a:latin typeface="Arial"/>
                <a:ea typeface="Arial"/>
                <a:cs typeface="Arial"/>
                <a:sym typeface="Arial"/>
              </a:rPr>
              <a:t> report leg output; </a:t>
            </a:r>
            <a:r>
              <a:rPr b="1" i="0" lang="en-US" sz="1725" u="none" cap="none" strike="noStrike">
                <a:solidFill>
                  <a:srgbClr val="242A31"/>
                </a:solidFill>
                <a:latin typeface="Arial"/>
                <a:ea typeface="Arial"/>
                <a:cs typeface="Arial"/>
                <a:sym typeface="Arial"/>
              </a:rPr>
              <a:t>WE</a:t>
            </a:r>
            <a:r>
              <a:rPr b="0" i="0" lang="en-US" sz="1725" u="none" cap="none" strike="noStrike">
                <a:solidFill>
                  <a:srgbClr val="242A31"/>
                </a:solidFill>
                <a:latin typeface="Arial"/>
                <a:ea typeface="Arial"/>
                <a:cs typeface="Arial"/>
                <a:sym typeface="Arial"/>
              </a:rPr>
              <a:t> and </a:t>
            </a:r>
            <a:r>
              <a:rPr b="1" i="0" lang="en-US" sz="1725" u="none" cap="none" strike="noStrike">
                <a:solidFill>
                  <a:srgbClr val="242A31"/>
                </a:solidFill>
                <a:latin typeface="Arial"/>
                <a:ea typeface="Arial"/>
                <a:cs typeface="Arial"/>
                <a:sym typeface="Arial"/>
              </a:rPr>
              <a:t>WD</a:t>
            </a:r>
            <a:r>
              <a:rPr b="0" i="0" lang="en-US" sz="1725" u="none" cap="none" strike="noStrike">
                <a:solidFill>
                  <a:srgbClr val="242A31"/>
                </a:solidFill>
                <a:latin typeface="Arial"/>
                <a:ea typeface="Arial"/>
                <a:cs typeface="Arial"/>
                <a:sym typeface="Arial"/>
              </a:rPr>
              <a:t> report wing elevators and depressors.</a:t>
            </a:r>
            <a:endParaRPr b="0" i="0" sz="1800" u="none" cap="none" strike="noStrike">
              <a:solidFill>
                <a:schemeClr val="dk1"/>
              </a:solidFill>
              <a:latin typeface="Calibri"/>
              <a:ea typeface="Calibri"/>
              <a:cs typeface="Calibri"/>
              <a:sym typeface="Calibri"/>
            </a:endParaRPr>
          </a:p>
        </p:txBody>
      </p:sp>
      <p:sp>
        <p:nvSpPr>
          <p:cNvPr id="572" name="Google Shape;572;p44"/>
          <p:cNvSpPr/>
          <p:nvPr/>
        </p:nvSpPr>
        <p:spPr>
          <a:xfrm>
            <a:off x="571500" y="2446734"/>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In this pilocarpine record, slow alternating leg activity coexists with the much faster flight pattern. At 1 mM pilocarpine, both patterns were observed in 70% of 27 preparations.</a:t>
            </a:r>
            <a:endParaRPr b="0" i="0" sz="1800" u="none" cap="none" strike="noStrike">
              <a:solidFill>
                <a:schemeClr val="dk1"/>
              </a:solidFill>
              <a:latin typeface="Calibri"/>
              <a:ea typeface="Calibri"/>
              <a:cs typeface="Calibri"/>
              <a:sym typeface="Calibri"/>
            </a:endParaRPr>
          </a:p>
        </p:txBody>
      </p:sp>
      <p:sp>
        <p:nvSpPr>
          <p:cNvPr id="573" name="Google Shape;573;p44"/>
          <p:cNvSpPr/>
          <p:nvPr/>
        </p:nvSpPr>
        <p:spPr>
          <a:xfrm>
            <a:off x="571500" y="3521869"/>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Octopamine favored flight more strongly, whereas tyramine favored walking-related activity and weaker coordination with flight. Neuromodulatory state therefore influences which motor networks are expressed and how they interact.</a:t>
            </a:r>
            <a:endParaRPr b="0" i="0" sz="1800" u="none" cap="none" strike="noStrike">
              <a:solidFill>
                <a:schemeClr val="dk1"/>
              </a:solidFill>
              <a:latin typeface="Calibri"/>
              <a:ea typeface="Calibri"/>
              <a:cs typeface="Calibri"/>
              <a:sym typeface="Calibri"/>
            </a:endParaRPr>
          </a:p>
        </p:txBody>
      </p:sp>
      <p:sp>
        <p:nvSpPr>
          <p:cNvPr id="574" name="Google Shape;574;p44"/>
          <p:cNvSpPr/>
          <p:nvPr/>
        </p:nvSpPr>
        <p:spPr>
          <a:xfrm>
            <a:off x="571500" y="4846737"/>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42A31"/>
              </a:buClr>
              <a:buSzPts val="1725"/>
              <a:buFont typeface="Arial"/>
              <a:buNone/>
            </a:pPr>
            <a:r>
              <a:rPr b="0" i="0" lang="en-US" sz="1725" u="none" cap="none" strike="noStrike">
                <a:solidFill>
                  <a:srgbClr val="242A31"/>
                </a:solidFill>
                <a:latin typeface="Arial"/>
                <a:ea typeface="Arial"/>
                <a:cs typeface="Arial"/>
                <a:sym typeface="Arial"/>
              </a:rPr>
              <a:t>Coexpression argues against obligatory mutual exclusion within the reduced circuitry. It does not imply that an intact locust normally walks and flies simultaneously: descending control, contact signals, and biomechanics are altered in this preparation.</a:t>
            </a:r>
            <a:endParaRPr b="0" i="0" sz="1800" u="none" cap="none" strike="noStrike">
              <a:solidFill>
                <a:schemeClr val="dk1"/>
              </a:solidFill>
              <a:latin typeface="Calibri"/>
              <a:ea typeface="Calibri"/>
              <a:cs typeface="Calibri"/>
              <a:sym typeface="Calibri"/>
            </a:endParaRPr>
          </a:p>
        </p:txBody>
      </p:sp>
      <p:pic>
        <p:nvPicPr>
          <p:cNvPr id="575" name="Google Shape;575;p44"/>
          <p:cNvPicPr preferRelativeResize="0"/>
          <p:nvPr/>
        </p:nvPicPr>
        <p:blipFill rotWithShape="1">
          <a:blip r:embed="rId3">
            <a:alphaModFix/>
          </a:blip>
          <a:srcRect b="0" l="0" r="0" t="0"/>
          <a:stretch/>
        </p:blipFill>
        <p:spPr>
          <a:xfrm>
            <a:off x="7086600" y="1889942"/>
            <a:ext cx="4533900" cy="3154017"/>
          </a:xfrm>
          <a:prstGeom prst="rect">
            <a:avLst/>
          </a:prstGeom>
          <a:noFill/>
          <a:ln>
            <a:noFill/>
          </a:ln>
        </p:spPr>
      </p:pic>
      <p:sp>
        <p:nvSpPr>
          <p:cNvPr id="576" name="Google Shape;576;p44"/>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25B66"/>
              </a:buClr>
              <a:buSzPts val="1200"/>
              <a:buFont typeface="Arial"/>
              <a:buNone/>
            </a:pPr>
            <a:r>
              <a:rPr b="0" i="0" lang="en-US" sz="1200" u="none" cap="none" strike="noStrike">
                <a:solidFill>
                  <a:srgbClr val="525B66"/>
                </a:solidFill>
                <a:latin typeface="Arial"/>
                <a:ea typeface="Arial"/>
                <a:cs typeface="Arial"/>
                <a:sym typeface="Arial"/>
              </a:rPr>
              <a:t>Original Fig. 3Ai; Rillich et al. (2013), CC BY. Pilocarpine-induced wing and leg activity; scale bar: 5 s.</a:t>
            </a:r>
            <a:endParaRPr b="0" i="0" sz="1800" u="none" cap="none" strike="noStrike">
              <a:solidFill>
                <a:schemeClr val="dk1"/>
              </a:solidFill>
              <a:latin typeface="Calibri"/>
              <a:ea typeface="Calibri"/>
              <a:cs typeface="Calibri"/>
              <a:sym typeface="Calibri"/>
            </a:endParaRPr>
          </a:p>
        </p:txBody>
      </p:sp>
      <p:pic>
        <p:nvPicPr>
          <p:cNvPr id="577" name="Google Shape;577;p44"/>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578" name="Google Shape;578;p44"/>
          <p:cNvSpPr/>
          <p:nvPr/>
        </p:nvSpPr>
        <p:spPr>
          <a:xfrm>
            <a:off x="571500" y="6434138"/>
            <a:ext cx="1223814"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Rillich et al. (2013)</a:t>
            </a:r>
            <a:endParaRPr b="0" i="0" sz="1800" u="none" cap="none" strike="noStrike">
              <a:solidFill>
                <a:schemeClr val="dk1"/>
              </a:solidFill>
              <a:latin typeface="Calibri"/>
              <a:ea typeface="Calibri"/>
              <a:cs typeface="Calibri"/>
              <a:sym typeface="Calibri"/>
            </a:endParaRPr>
          </a:p>
        </p:txBody>
      </p:sp>
      <p:sp>
        <p:nvSpPr>
          <p:cNvPr id="579" name="Google Shape;579;p44"/>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44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583" name="Shape 583"/>
        <p:cNvGrpSpPr/>
        <p:nvPr/>
      </p:nvGrpSpPr>
      <p:grpSpPr>
        <a:xfrm>
          <a:off x="0" y="0"/>
          <a:ext cx="0" cy="0"/>
          <a:chOff x="0" y="0"/>
          <a:chExt cx="0" cy="0"/>
        </a:xfrm>
      </p:grpSpPr>
      <p:sp>
        <p:nvSpPr>
          <p:cNvPr id="584" name="Google Shape;584;p45"/>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242A31"/>
              </a:buClr>
              <a:buSzPts val="3000"/>
              <a:buFont typeface="Arial"/>
              <a:buNone/>
            </a:pPr>
            <a:r>
              <a:rPr b="1" i="0" lang="en-US" sz="3000" u="none" cap="none" strike="noStrike">
                <a:solidFill>
                  <a:srgbClr val="242A31"/>
                </a:solidFill>
                <a:latin typeface="Arial"/>
                <a:ea typeface="Arial"/>
                <a:cs typeface="Arial"/>
                <a:sym typeface="Arial"/>
              </a:rPr>
              <a:t>The central rhythm gates sensory corrections into the right phase</a:t>
            </a:r>
            <a:endParaRPr b="0" i="0" sz="1800" u="none" cap="none" strike="noStrike">
              <a:solidFill>
                <a:schemeClr val="dk1"/>
              </a:solidFill>
              <a:latin typeface="Calibri"/>
              <a:ea typeface="Calibri"/>
              <a:cs typeface="Calibri"/>
              <a:sym typeface="Calibri"/>
            </a:endParaRPr>
          </a:p>
        </p:txBody>
      </p:sp>
      <p:sp>
        <p:nvSpPr>
          <p:cNvPr id="585" name="Google Shape;585;p45"/>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Reichert and Rowell studied signals from the </a:t>
            </a:r>
            <a:r>
              <a:rPr b="1" i="0" lang="en-US" sz="1800" u="none" cap="none" strike="noStrike">
                <a:solidFill>
                  <a:srgbClr val="242A31"/>
                </a:solidFill>
                <a:latin typeface="Arial"/>
                <a:ea typeface="Arial"/>
                <a:cs typeface="Arial"/>
                <a:sym typeface="Arial"/>
              </a:rPr>
              <a:t>ocelli</a:t>
            </a:r>
            <a:r>
              <a:rPr b="0" i="0" lang="en-US" sz="1800" u="none" cap="none" strike="noStrike">
                <a:solidFill>
                  <a:srgbClr val="242A31"/>
                </a:solidFill>
                <a:latin typeface="Arial"/>
                <a:ea typeface="Arial"/>
                <a:cs typeface="Arial"/>
                <a:sym typeface="Arial"/>
              </a:rPr>
              <a:t>, the simple eyes that provide rapid information relevant to flight orientation. Descending neurons conveyed this sensory input to thoracic motoneurons both directly and through premotor interneurons.</a:t>
            </a:r>
            <a:endParaRPr b="0" i="0" sz="1800" u="none" cap="none" strike="noStrike">
              <a:solidFill>
                <a:schemeClr val="dk1"/>
              </a:solidFill>
              <a:latin typeface="Calibri"/>
              <a:ea typeface="Calibri"/>
              <a:cs typeface="Calibri"/>
              <a:sym typeface="Calibri"/>
            </a:endParaRPr>
          </a:p>
        </p:txBody>
      </p:sp>
      <p:sp>
        <p:nvSpPr>
          <p:cNvPr id="586" name="Google Shape;586;p45"/>
          <p:cNvSpPr/>
          <p:nvPr/>
        </p:nvSpPr>
        <p:spPr>
          <a:xfrm>
            <a:off x="571500" y="2434233"/>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indirect pathway had stronger effects on motoneurons. Its thoracic interneurons also received rhythmic drive from the central flight oscillator, remaining modulated even after deafferentation.</a:t>
            </a:r>
            <a:endParaRPr b="0" i="0" sz="1800" u="none" cap="none" strike="noStrike">
              <a:solidFill>
                <a:schemeClr val="dk1"/>
              </a:solidFill>
              <a:latin typeface="Calibri"/>
              <a:ea typeface="Calibri"/>
              <a:cs typeface="Calibri"/>
              <a:sym typeface="Calibri"/>
            </a:endParaRPr>
          </a:p>
        </p:txBody>
      </p:sp>
      <p:sp>
        <p:nvSpPr>
          <p:cNvPr id="587" name="Google Shape;587;p45"/>
          <p:cNvSpPr/>
          <p:nvPr/>
        </p:nvSpPr>
        <p:spPr>
          <a:xfrm>
            <a:off x="571500" y="3142655"/>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Ocellar input could influence interneuron firing when it arrived during an appropriate depolarized phase. The same sensory signal was less effective during the opposing phase. This is </a:t>
            </a:r>
            <a:r>
              <a:rPr b="1" i="0" lang="en-US" sz="1800" u="none" cap="none" strike="noStrike">
                <a:solidFill>
                  <a:srgbClr val="242A31"/>
                </a:solidFill>
                <a:latin typeface="Arial"/>
                <a:ea typeface="Arial"/>
                <a:cs typeface="Arial"/>
                <a:sym typeface="Arial"/>
              </a:rPr>
              <a:t>phase-dependent gating</a:t>
            </a:r>
            <a:r>
              <a:rPr b="0" i="0" lang="en-US" sz="1800" u="none" cap="none" strike="noStrike">
                <a:solidFill>
                  <a:srgbClr val="242A31"/>
                </a:solidFill>
                <a:latin typeface="Arial"/>
                <a:ea typeface="Arial"/>
                <a:cs typeface="Arial"/>
                <a:sym typeface="Arial"/>
              </a:rPr>
              <a:t>: the current state of the oscillator regulates transmission through a sensory pathway.</a:t>
            </a:r>
            <a:endParaRPr b="0" i="0" sz="1800" u="none" cap="none" strike="noStrike">
              <a:solidFill>
                <a:schemeClr val="dk1"/>
              </a:solidFill>
              <a:latin typeface="Calibri"/>
              <a:ea typeface="Calibri"/>
              <a:cs typeface="Calibri"/>
              <a:sym typeface="Calibri"/>
            </a:endParaRPr>
          </a:p>
        </p:txBody>
      </p:sp>
      <p:sp>
        <p:nvSpPr>
          <p:cNvPr id="588" name="Google Shape;588;p45"/>
          <p:cNvSpPr/>
          <p:nvPr/>
        </p:nvSpPr>
        <p:spPr>
          <a:xfrm>
            <a:off x="571500" y="4445198"/>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42A31"/>
              </a:buClr>
              <a:buSzPts val="1800"/>
              <a:buFont typeface="Arial"/>
              <a:buNone/>
            </a:pPr>
            <a:r>
              <a:rPr b="0" i="0" lang="en-US" sz="1800" u="none" cap="none" strike="noStrike">
                <a:solidFill>
                  <a:srgbClr val="242A31"/>
                </a:solidFill>
                <a:latin typeface="Arial"/>
                <a:ea typeface="Arial"/>
                <a:cs typeface="Arial"/>
                <a:sym typeface="Arial"/>
              </a:rPr>
              <a:t>The mechanism converts a disturbance that can occur at any time into a correction delivered when the relevant muscle can use it. Locust flight emerges from this continuous interaction among descending sensory information, central rhythmic activity, membrane excitability, and feedback from the moving wings.</a:t>
            </a:r>
            <a:endParaRPr b="0" i="0" sz="1800" u="none" cap="none" strike="noStrike">
              <a:solidFill>
                <a:schemeClr val="dk1"/>
              </a:solidFill>
              <a:latin typeface="Calibri"/>
              <a:ea typeface="Calibri"/>
              <a:cs typeface="Calibri"/>
              <a:sym typeface="Calibri"/>
            </a:endParaRPr>
          </a:p>
        </p:txBody>
      </p:sp>
      <p:pic>
        <p:nvPicPr>
          <p:cNvPr id="589" name="Google Shape;589;p45"/>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590" name="Google Shape;590;p45"/>
          <p:cNvSpPr/>
          <p:nvPr/>
        </p:nvSpPr>
        <p:spPr>
          <a:xfrm>
            <a:off x="571500" y="6434138"/>
            <a:ext cx="1641128"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Reichert &amp; Rowell (1985)</a:t>
            </a:r>
            <a:endParaRPr b="0" i="0" sz="1800" u="none" cap="none" strike="noStrike">
              <a:solidFill>
                <a:schemeClr val="dk1"/>
              </a:solidFill>
              <a:latin typeface="Calibri"/>
              <a:ea typeface="Calibri"/>
              <a:cs typeface="Calibri"/>
              <a:sym typeface="Calibri"/>
            </a:endParaRPr>
          </a:p>
        </p:txBody>
      </p:sp>
      <p:sp>
        <p:nvSpPr>
          <p:cNvPr id="591" name="Google Shape;591;p45"/>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25B66"/>
              </a:buClr>
              <a:buSzPts val="1125"/>
              <a:buFont typeface="Arial"/>
              <a:buNone/>
            </a:pPr>
            <a:r>
              <a:rPr b="0" i="0" lang="en-US" sz="1125" u="none" cap="none" strike="noStrike">
                <a:solidFill>
                  <a:srgbClr val="525B66"/>
                </a:solidFill>
                <a:latin typeface="Arial"/>
                <a:ea typeface="Arial"/>
                <a:cs typeface="Arial"/>
                <a:sym typeface="Arial"/>
              </a:rPr>
              <a:t>45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A30"/>
        </a:solidFill>
      </p:bgPr>
    </p:bg>
    <p:spTree>
      <p:nvGrpSpPr>
        <p:cNvPr id="595" name="Shape 595"/>
        <p:cNvGrpSpPr/>
        <p:nvPr/>
      </p:nvGrpSpPr>
      <p:grpSpPr>
        <a:xfrm>
          <a:off x="0" y="0"/>
          <a:ext cx="0" cy="0"/>
          <a:chOff x="0" y="0"/>
          <a:chExt cx="0" cy="0"/>
        </a:xfrm>
      </p:grpSpPr>
      <p:sp>
        <p:nvSpPr>
          <p:cNvPr id="596" name="Google Shape;596;p46"/>
          <p:cNvSpPr/>
          <p:nvPr/>
        </p:nvSpPr>
        <p:spPr>
          <a:xfrm>
            <a:off x="571500" y="381000"/>
            <a:ext cx="3138488" cy="6286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FFFF"/>
              </a:buClr>
              <a:buSzPts val="3300"/>
              <a:buFont typeface="Arial"/>
              <a:buNone/>
            </a:pPr>
            <a:r>
              <a:rPr b="1" i="0" lang="en-US" sz="3300" u="none" cap="none" strike="noStrike">
                <a:solidFill>
                  <a:srgbClr val="FFFFFF"/>
                </a:solidFill>
                <a:latin typeface="Arial"/>
                <a:ea typeface="Arial"/>
                <a:cs typeface="Arial"/>
                <a:sym typeface="Arial"/>
              </a:rPr>
              <a:t>Key takeaways</a:t>
            </a:r>
            <a:endParaRPr b="0" i="0" sz="1800" u="none" cap="none" strike="noStrike">
              <a:solidFill>
                <a:schemeClr val="dk1"/>
              </a:solidFill>
              <a:latin typeface="Calibri"/>
              <a:ea typeface="Calibri"/>
              <a:cs typeface="Calibri"/>
              <a:sym typeface="Calibri"/>
            </a:endParaRPr>
          </a:p>
        </p:txBody>
      </p:sp>
      <p:sp>
        <p:nvSpPr>
          <p:cNvPr id="597" name="Google Shape;597;p46"/>
          <p:cNvSpPr/>
          <p:nvPr/>
        </p:nvSpPr>
        <p:spPr>
          <a:xfrm>
            <a:off x="571500" y="1371600"/>
            <a:ext cx="5238750" cy="1369219"/>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FFFFFF"/>
              </a:buClr>
              <a:buSzPts val="1725"/>
              <a:buFont typeface="Arial"/>
              <a:buNone/>
            </a:pPr>
            <a:r>
              <a:rPr b="1" i="0" lang="en-US" sz="1725" u="none" cap="none" strike="noStrike">
                <a:solidFill>
                  <a:srgbClr val="FFFFFF"/>
                </a:solidFill>
                <a:latin typeface="Arial"/>
                <a:ea typeface="Arial"/>
                <a:cs typeface="Arial"/>
                <a:sym typeface="Arial"/>
              </a:rPr>
              <a:t>A CPG supplies the recurring sequence.</a:t>
            </a:r>
            <a:r>
              <a:rPr b="0" i="0" lang="en-US" sz="1725" u="none" cap="none" strike="noStrike">
                <a:solidFill>
                  <a:srgbClr val="FFFFFF"/>
                </a:solidFill>
                <a:latin typeface="Arial"/>
                <a:ea typeface="Arial"/>
                <a:cs typeface="Arial"/>
                <a:sym typeface="Arial"/>
              </a:rPr>
              <a:t> Rhythmic output persists without phasic wing feedback, but this demonstrates central capacity—not independence from sensory input or excitatory drive.</a:t>
            </a:r>
            <a:endParaRPr b="0" i="0" sz="1800" u="none" cap="none" strike="noStrike">
              <a:solidFill>
                <a:schemeClr val="dk1"/>
              </a:solidFill>
              <a:latin typeface="Calibri"/>
              <a:ea typeface="Calibri"/>
              <a:cs typeface="Calibri"/>
              <a:sym typeface="Calibri"/>
            </a:endParaRPr>
          </a:p>
        </p:txBody>
      </p:sp>
      <p:sp>
        <p:nvSpPr>
          <p:cNvPr id="598" name="Google Shape;598;p46"/>
          <p:cNvSpPr/>
          <p:nvPr/>
        </p:nvSpPr>
        <p:spPr>
          <a:xfrm>
            <a:off x="571500" y="2855119"/>
            <a:ext cx="5238750" cy="1369219"/>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FFFFFF"/>
              </a:buClr>
              <a:buSzPts val="1725"/>
              <a:buFont typeface="Arial"/>
              <a:buNone/>
            </a:pPr>
            <a:r>
              <a:rPr b="1" i="0" lang="en-US" sz="1725" u="none" cap="none" strike="noStrike">
                <a:solidFill>
                  <a:srgbClr val="FFFFFF"/>
                </a:solidFill>
                <a:latin typeface="Arial"/>
                <a:ea typeface="Arial"/>
                <a:cs typeface="Arial"/>
                <a:sym typeface="Arial"/>
              </a:rPr>
              <a:t>Wind pathways help activate and steer flight.</a:t>
            </a:r>
            <a:r>
              <a:rPr b="0" i="0" lang="en-US" sz="1725" u="none" cap="none" strike="noStrike">
                <a:solidFill>
                  <a:srgbClr val="FFFFFF"/>
                </a:solidFill>
                <a:latin typeface="Arial"/>
                <a:ea typeface="Arial"/>
                <a:cs typeface="Arial"/>
                <a:sym typeface="Arial"/>
              </a:rPr>
              <a:t> Hair mechanics shape directional responses; TCG and other interneurons transform those signals. Rhythmic sensory firing can arise from reafference.</a:t>
            </a:r>
            <a:endParaRPr b="0" i="0" sz="1800" u="none" cap="none" strike="noStrike">
              <a:solidFill>
                <a:schemeClr val="dk1"/>
              </a:solidFill>
              <a:latin typeface="Calibri"/>
              <a:ea typeface="Calibri"/>
              <a:cs typeface="Calibri"/>
              <a:sym typeface="Calibri"/>
            </a:endParaRPr>
          </a:p>
        </p:txBody>
      </p:sp>
      <p:sp>
        <p:nvSpPr>
          <p:cNvPr id="599" name="Google Shape;599;p46"/>
          <p:cNvSpPr/>
          <p:nvPr/>
        </p:nvSpPr>
        <p:spPr>
          <a:xfrm>
            <a:off x="571500" y="4338638"/>
            <a:ext cx="5238750" cy="1369219"/>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FFFFFF"/>
              </a:buClr>
              <a:buSzPts val="1725"/>
              <a:buFont typeface="Arial"/>
              <a:buNone/>
            </a:pPr>
            <a:r>
              <a:rPr b="1" i="0" lang="en-US" sz="1725" u="none" cap="none" strike="noStrike">
                <a:solidFill>
                  <a:srgbClr val="FFFFFF"/>
                </a:solidFill>
                <a:latin typeface="Arial"/>
                <a:ea typeface="Arial"/>
                <a:cs typeface="Arial"/>
                <a:sym typeface="Arial"/>
              </a:rPr>
              <a:t>Wing feedback controls phase and performance.</a:t>
            </a:r>
            <a:r>
              <a:rPr b="0" i="0" lang="en-US" sz="1725" u="none" cap="none" strike="noStrike">
                <a:solidFill>
                  <a:srgbClr val="FFFFFF"/>
                </a:solidFill>
                <a:latin typeface="Arial"/>
                <a:ea typeface="Arial"/>
                <a:cs typeface="Arial"/>
                <a:sym typeface="Arial"/>
              </a:rPr>
              <a:t> Stretch receptors oppose excessive elevation; tegula input advances elevator recruitment. Excessively strong feedback can prolong activity and slow cycling.</a:t>
            </a:r>
            <a:endParaRPr b="0" i="0" sz="1800" u="none" cap="none" strike="noStrike">
              <a:solidFill>
                <a:schemeClr val="dk1"/>
              </a:solidFill>
              <a:latin typeface="Calibri"/>
              <a:ea typeface="Calibri"/>
              <a:cs typeface="Calibri"/>
              <a:sym typeface="Calibri"/>
            </a:endParaRPr>
          </a:p>
        </p:txBody>
      </p:sp>
      <p:sp>
        <p:nvSpPr>
          <p:cNvPr id="600" name="Google Shape;600;p46"/>
          <p:cNvSpPr/>
          <p:nvPr/>
        </p:nvSpPr>
        <p:spPr>
          <a:xfrm>
            <a:off x="6400800" y="1371600"/>
            <a:ext cx="5238750" cy="1369219"/>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FFFFFF"/>
              </a:buClr>
              <a:buSzPts val="1725"/>
              <a:buFont typeface="Arial"/>
              <a:buNone/>
            </a:pPr>
            <a:r>
              <a:rPr b="1" i="0" lang="en-US" sz="1725" u="none" cap="none" strike="noStrike">
                <a:solidFill>
                  <a:srgbClr val="FFFFFF"/>
                </a:solidFill>
                <a:latin typeface="Arial"/>
                <a:ea typeface="Arial"/>
                <a:cs typeface="Arial"/>
                <a:sym typeface="Arial"/>
              </a:rPr>
              <a:t>Cellular state determines circuit operation.</a:t>
            </a:r>
            <a:r>
              <a:rPr b="0" i="0" lang="en-US" sz="1725" u="none" cap="none" strike="noStrike">
                <a:solidFill>
                  <a:srgbClr val="FFFFFF"/>
                </a:solidFill>
                <a:latin typeface="Arial"/>
                <a:ea typeface="Arial"/>
                <a:cs typeface="Arial"/>
                <a:sym typeface="Arial"/>
              </a:rPr>
              <a:t> Graded transmission, inhibition, plateau potentials, and state-dependent bursting alter how the same sensory input reaches motoneurons.</a:t>
            </a:r>
            <a:endParaRPr b="0" i="0" sz="1800" u="none" cap="none" strike="noStrike">
              <a:solidFill>
                <a:schemeClr val="dk1"/>
              </a:solidFill>
              <a:latin typeface="Calibri"/>
              <a:ea typeface="Calibri"/>
              <a:cs typeface="Calibri"/>
              <a:sym typeface="Calibri"/>
            </a:endParaRPr>
          </a:p>
        </p:txBody>
      </p:sp>
      <p:sp>
        <p:nvSpPr>
          <p:cNvPr id="601" name="Google Shape;601;p46"/>
          <p:cNvSpPr/>
          <p:nvPr/>
        </p:nvSpPr>
        <p:spPr>
          <a:xfrm>
            <a:off x="6400800" y="2855119"/>
            <a:ext cx="5238750" cy="1369219"/>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FFFFFF"/>
              </a:buClr>
              <a:buSzPts val="1725"/>
              <a:buFont typeface="Arial"/>
              <a:buNone/>
            </a:pPr>
            <a:r>
              <a:rPr b="1" i="0" lang="en-US" sz="1725" u="none" cap="none" strike="noStrike">
                <a:solidFill>
                  <a:srgbClr val="FFFFFF"/>
                </a:solidFill>
                <a:latin typeface="Arial"/>
                <a:ea typeface="Arial"/>
                <a:cs typeface="Arial"/>
                <a:sym typeface="Arial"/>
              </a:rPr>
              <a:t>Modulation has several targets.</a:t>
            </a:r>
            <a:r>
              <a:rPr b="0" i="0" lang="en-US" sz="1725" u="none" cap="none" strike="noStrike">
                <a:solidFill>
                  <a:srgbClr val="FFFFFF"/>
                </a:solidFill>
                <a:latin typeface="Arial"/>
                <a:ea typeface="Arial"/>
                <a:cs typeface="Arial"/>
                <a:sym typeface="Arial"/>
              </a:rPr>
              <a:t> Muscarinic signaling supports flight activation; octopamine changes neural and muscle properties. PKA is required but insufficient for the measured metabolic response.</a:t>
            </a:r>
            <a:endParaRPr b="0" i="0" sz="1800" u="none" cap="none" strike="noStrike">
              <a:solidFill>
                <a:schemeClr val="dk1"/>
              </a:solidFill>
              <a:latin typeface="Calibri"/>
              <a:ea typeface="Calibri"/>
              <a:cs typeface="Calibri"/>
              <a:sym typeface="Calibri"/>
            </a:endParaRPr>
          </a:p>
        </p:txBody>
      </p:sp>
      <p:sp>
        <p:nvSpPr>
          <p:cNvPr id="602" name="Google Shape;602;p46"/>
          <p:cNvSpPr/>
          <p:nvPr/>
        </p:nvSpPr>
        <p:spPr>
          <a:xfrm>
            <a:off x="6400800" y="4338638"/>
            <a:ext cx="5238750" cy="1643063"/>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FFFFFF"/>
              </a:buClr>
              <a:buSzPts val="1725"/>
              <a:buFont typeface="Arial"/>
              <a:buNone/>
            </a:pPr>
            <a:r>
              <a:rPr b="1" i="0" lang="en-US" sz="1725" u="none" cap="none" strike="noStrike">
                <a:solidFill>
                  <a:srgbClr val="FFFFFF"/>
                </a:solidFill>
                <a:latin typeface="Arial"/>
                <a:ea typeface="Arial"/>
                <a:cs typeface="Arial"/>
                <a:sym typeface="Arial"/>
              </a:rPr>
              <a:t>Mechanistic conclusions depend on the intervention.</a:t>
            </a:r>
            <a:r>
              <a:rPr b="0" i="0" lang="en-US" sz="1725" u="none" cap="none" strike="noStrike">
                <a:solidFill>
                  <a:srgbClr val="FFFFFF"/>
                </a:solidFill>
                <a:latin typeface="Arial"/>
                <a:ea typeface="Arial"/>
                <a:cs typeface="Arial"/>
                <a:sym typeface="Arial"/>
              </a:rPr>
              <a:t> Resetting tests oscillator access; block and washout test reversibility; paired controls isolate treatment effects; recovery tests compensation. Model agreement supports an explanation without uniquely proving it.</a:t>
            </a:r>
            <a:endParaRPr b="0" i="0" sz="1800" u="none" cap="none" strike="noStrike">
              <a:solidFill>
                <a:schemeClr val="dk1"/>
              </a:solidFill>
              <a:latin typeface="Calibri"/>
              <a:ea typeface="Calibri"/>
              <a:cs typeface="Calibri"/>
              <a:sym typeface="Calibri"/>
            </a:endParaRPr>
          </a:p>
        </p:txBody>
      </p:sp>
      <p:pic>
        <p:nvPicPr>
          <p:cNvPr id="603" name="Google Shape;603;p46"/>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604" name="Google Shape;604;p46"/>
          <p:cNvSpPr/>
          <p:nvPr/>
        </p:nvSpPr>
        <p:spPr>
          <a:xfrm>
            <a:off x="571500" y="6434138"/>
            <a:ext cx="4923086"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CCD1D7"/>
              </a:buClr>
              <a:buSzPts val="1125"/>
              <a:buFont typeface="Arial"/>
              <a:buNone/>
            </a:pPr>
            <a:r>
              <a:rPr b="0" i="0" lang="en-US" sz="1125" u="none" cap="none" strike="noStrike">
                <a:solidFill>
                  <a:srgbClr val="CCD1D7"/>
                </a:solidFill>
                <a:latin typeface="Arial"/>
                <a:ea typeface="Arial"/>
                <a:cs typeface="Arial"/>
                <a:sym typeface="Arial"/>
              </a:rPr>
              <a:t>Wilson (1961); Ausborn et al. (2007); Buhl et al. (2008); Mentel et al. (2003)</a:t>
            </a:r>
            <a:endParaRPr b="0" i="0" sz="1800" u="none" cap="none" strike="noStrike">
              <a:solidFill>
                <a:schemeClr val="dk1"/>
              </a:solidFill>
              <a:latin typeface="Calibri"/>
              <a:ea typeface="Calibri"/>
              <a:cs typeface="Calibri"/>
              <a:sym typeface="Calibri"/>
            </a:endParaRPr>
          </a:p>
        </p:txBody>
      </p:sp>
      <p:sp>
        <p:nvSpPr>
          <p:cNvPr id="605" name="Google Shape;605;p46"/>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CCD1D7"/>
              </a:buClr>
              <a:buSzPts val="1125"/>
              <a:buFont typeface="Arial"/>
              <a:buNone/>
            </a:pPr>
            <a:r>
              <a:rPr b="0" i="0" lang="en-US" sz="1125" u="none" cap="none" strike="noStrike">
                <a:solidFill>
                  <a:srgbClr val="CCD1D7"/>
                </a:solidFill>
                <a:latin typeface="Arial"/>
                <a:ea typeface="Arial"/>
                <a:cs typeface="Arial"/>
                <a:sym typeface="Arial"/>
              </a:rPr>
              <a:t>46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2026-09-12T01:01:47Z</dcterms:created>
  <dc:creator>Presenton</dc:creator>
</cp:coreProperties>
</file>